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7"/>
  </p:notesMasterIdLst>
  <p:sldIdLst>
    <p:sldId id="369" r:id="rId3"/>
    <p:sldId id="371" r:id="rId4"/>
    <p:sldId id="352" r:id="rId5"/>
    <p:sldId id="354" r:id="rId6"/>
    <p:sldId id="386" r:id="rId7"/>
    <p:sldId id="313" r:id="rId8"/>
    <p:sldId id="419" r:id="rId9"/>
    <p:sldId id="299" r:id="rId10"/>
    <p:sldId id="364" r:id="rId11"/>
    <p:sldId id="306" r:id="rId12"/>
    <p:sldId id="308" r:id="rId13"/>
    <p:sldId id="333" r:id="rId14"/>
    <p:sldId id="334" r:id="rId15"/>
    <p:sldId id="335" r:id="rId16"/>
    <p:sldId id="336" r:id="rId17"/>
    <p:sldId id="421" r:id="rId18"/>
    <p:sldId id="422" r:id="rId19"/>
    <p:sldId id="423" r:id="rId20"/>
    <p:sldId id="424" r:id="rId21"/>
    <p:sldId id="418" r:id="rId22"/>
    <p:sldId id="368" r:id="rId23"/>
    <p:sldId id="367" r:id="rId24"/>
    <p:sldId id="322" r:id="rId25"/>
    <p:sldId id="323" r:id="rId26"/>
    <p:sldId id="328" r:id="rId27"/>
    <p:sldId id="429" r:id="rId28"/>
    <p:sldId id="387" r:id="rId29"/>
    <p:sldId id="321" r:id="rId30"/>
    <p:sldId id="372" r:id="rId31"/>
    <p:sldId id="349" r:id="rId32"/>
    <p:sldId id="320" r:id="rId33"/>
    <p:sldId id="420" r:id="rId34"/>
    <p:sldId id="311" r:id="rId35"/>
    <p:sldId id="284" r:id="rId36"/>
    <p:sldId id="330" r:id="rId37"/>
    <p:sldId id="373" r:id="rId38"/>
    <p:sldId id="289" r:id="rId39"/>
    <p:sldId id="314" r:id="rId40"/>
    <p:sldId id="341" r:id="rId41"/>
    <p:sldId id="383" r:id="rId42"/>
    <p:sldId id="370" r:id="rId43"/>
    <p:sldId id="385" r:id="rId44"/>
    <p:sldId id="384" r:id="rId45"/>
    <p:sldId id="356" r:id="rId46"/>
    <p:sldId id="357" r:id="rId48"/>
    <p:sldId id="430" r:id="rId49"/>
    <p:sldId id="431" r:id="rId50"/>
    <p:sldId id="432" r:id="rId51"/>
    <p:sldId id="433" r:id="rId52"/>
    <p:sldId id="434" r:id="rId53"/>
    <p:sldId id="435" r:id="rId54"/>
  </p:sldIdLst>
  <p:sldSz cx="9144000" cy="6858000" type="screen4x3"/>
  <p:notesSz cx="6858000" cy="9144000"/>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CC66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77" d="100"/>
          <a:sy n="77" d="100"/>
        </p:scale>
        <p:origin x="-70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notesMaster" Target="notesMasters/notesMaster1.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5D4AFA-B773-4E0E-8FD4-8111C0E5851B}" type="datetimeFigureOut">
              <a:rPr lang="en-US" smtClean="0"/>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F5036C-8871-4A56-8E57-531CE8473202}"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miter lim="800000"/>
          </a:ln>
        </p:spPr>
        <p:txBody>
          <a:bodyPr/>
          <a:lstStyle/>
          <a:p>
            <a:pPr eaLnBrk="1" hangingPunct="1"/>
            <a:fld id="{16F96034-B3E2-4373-BA83-8A9619F264F8}" type="slidenum">
              <a:rPr lang="en-US" altLang="ms-MY" smtClean="0"/>
            </a:fld>
            <a:endParaRPr lang="en-US" altLang="ms-MY" smtClean="0"/>
          </a:p>
        </p:txBody>
      </p:sp>
      <p:sp>
        <p:nvSpPr>
          <p:cNvPr id="37891" name="Rectangle 2"/>
          <p:cNvSpPr>
            <a:spLocks noGrp="1" noRot="1" noChangeAspect="1" noChangeArrowheads="1" noTextEdit="1"/>
          </p:cNvSpPr>
          <p:nvPr>
            <p:ph type="sldImg"/>
          </p:nvPr>
        </p:nvSpPr>
        <p:spPr/>
      </p:sp>
      <p:sp>
        <p:nvSpPr>
          <p:cNvPr id="37892" name="Rectangle 3"/>
          <p:cNvSpPr>
            <a:spLocks noGrp="1" noChangeArrowheads="1"/>
          </p:cNvSpPr>
          <p:nvPr>
            <p:ph type="body" idx="1"/>
          </p:nvPr>
        </p:nvSpPr>
        <p:spPr>
          <a:noFill/>
        </p:spPr>
        <p:txBody>
          <a:bodyPr/>
          <a:lstStyle/>
          <a:p>
            <a:pPr eaLnBrk="1" hangingPunct="1"/>
            <a:endParaRPr lang="ms-MY" altLang="ms-MY"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miter lim="800000"/>
          </a:ln>
        </p:spPr>
        <p:txBody>
          <a:bodyPr/>
          <a:lstStyle/>
          <a:p>
            <a:pPr eaLnBrk="1" hangingPunct="1"/>
            <a:fld id="{D0447F6F-5EFB-4AB8-9ECE-4A68BF6BFD17}" type="slidenum">
              <a:rPr lang="en-US" altLang="ms-MY" smtClean="0"/>
            </a:fld>
            <a:endParaRPr lang="en-US" altLang="ms-MY" smtClean="0"/>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p:spPr>
        <p:txBody>
          <a:bodyPr/>
          <a:lstStyle/>
          <a:p>
            <a:pPr eaLnBrk="1" hangingPunct="1"/>
            <a:endParaRPr lang="ms-MY" altLang="ms-MY"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A K Datta</a:t>
            </a:r>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A K Datta</a:t>
            </a:r>
            <a:endParaRPr lang="en-US"/>
          </a:p>
        </p:txBody>
      </p:sp>
      <p:sp>
        <p:nvSpPr>
          <p:cNvPr id="8" name="Footer Placeholder 7"/>
          <p:cNvSpPr>
            <a:spLocks noGrp="1"/>
          </p:cNvSpPr>
          <p:nvPr>
            <p:ph type="ftr" sz="quarter" idx="11"/>
          </p:nvPr>
        </p:nvSpPr>
        <p:spPr/>
        <p:txBody>
          <a:bodyPr/>
          <a:lstStyle/>
          <a:p>
            <a:r>
              <a:rPr lang="en-IN" smtClean="0"/>
              <a:t>Ph.D course work on Research Methodology</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A K Datta</a:t>
            </a:r>
            <a:endParaRPr lang="en-US"/>
          </a:p>
        </p:txBody>
      </p:sp>
      <p:sp>
        <p:nvSpPr>
          <p:cNvPr id="4" name="Footer Placeholder 3"/>
          <p:cNvSpPr>
            <a:spLocks noGrp="1"/>
          </p:cNvSpPr>
          <p:nvPr>
            <p:ph type="ftr" sz="quarter" idx="11"/>
          </p:nvPr>
        </p:nvSpPr>
        <p:spPr/>
        <p:txBody>
          <a:bodyPr/>
          <a:lstStyle/>
          <a:p>
            <a:r>
              <a:rPr lang="en-IN"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A K Datta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r>
              <a:rPr lang="en-US" smtClean="0"/>
              <a:t>A K Datta</a:t>
            </a:r>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r>
              <a:rPr lang="en-US" smtClean="0"/>
              <a:t>A K Datta</a:t>
            </a:r>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ms-MY"/>
          </a:p>
        </p:txBody>
      </p:sp>
      <p:sp>
        <p:nvSpPr>
          <p:cNvPr id="3" name="Text Placeholder 2"/>
          <p:cNvSpPr>
            <a:spLocks noGrp="1"/>
          </p:cNvSpPr>
          <p:nvPr>
            <p:ph type="body" sz="half" idx="1"/>
          </p:nvPr>
        </p:nvSpPr>
        <p:spPr>
          <a:xfrm>
            <a:off x="457200" y="1600200"/>
            <a:ext cx="4038600" cy="45259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ms-MY"/>
          </a:p>
        </p:txBody>
      </p:sp>
      <p:sp>
        <p:nvSpPr>
          <p:cNvPr id="4" name="Content Placeholder 3"/>
          <p:cNvSpPr>
            <a:spLocks noGrp="1"/>
          </p:cNvSpPr>
          <p:nvPr>
            <p:ph sz="half" idx="2"/>
          </p:nvPr>
        </p:nvSpPr>
        <p:spPr>
          <a:xfrm>
            <a:off x="4648200" y="1600200"/>
            <a:ext cx="4038600" cy="45259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ms-MY"/>
          </a:p>
        </p:txBody>
      </p:sp>
      <p:sp>
        <p:nvSpPr>
          <p:cNvPr id="5" name="Rectangle 4"/>
          <p:cNvSpPr>
            <a:spLocks noGrp="1" noChangeArrowheads="1"/>
          </p:cNvSpPr>
          <p:nvPr>
            <p:ph type="dt" sz="half" idx="10"/>
          </p:nvPr>
        </p:nvSpPr>
        <p:spPr/>
        <p:txBody>
          <a:bodyPr/>
          <a:lstStyle>
            <a:lvl1pPr>
              <a:defRPr/>
            </a:lvl1pPr>
          </a:lstStyle>
          <a:p>
            <a:pPr>
              <a:defRPr/>
            </a:pPr>
            <a:endParaRPr lang="en-US" altLang="ms-MY"/>
          </a:p>
        </p:txBody>
      </p:sp>
      <p:sp>
        <p:nvSpPr>
          <p:cNvPr id="6" name="Rectangle 5"/>
          <p:cNvSpPr>
            <a:spLocks noGrp="1" noChangeArrowheads="1"/>
          </p:cNvSpPr>
          <p:nvPr>
            <p:ph type="ftr" sz="quarter" idx="11"/>
          </p:nvPr>
        </p:nvSpPr>
        <p:spPr/>
        <p:txBody>
          <a:bodyPr/>
          <a:lstStyle>
            <a:lvl1pPr>
              <a:defRPr/>
            </a:lvl1pPr>
          </a:lstStyle>
          <a:p>
            <a:pPr>
              <a:defRPr/>
            </a:pPr>
            <a:endParaRPr lang="en-US" altLang="ms-MY"/>
          </a:p>
        </p:txBody>
      </p:sp>
      <p:sp>
        <p:nvSpPr>
          <p:cNvPr id="7" name="Rectangle 6"/>
          <p:cNvSpPr>
            <a:spLocks noGrp="1" noChangeArrowheads="1"/>
          </p:cNvSpPr>
          <p:nvPr>
            <p:ph type="sldNum" sz="quarter" idx="12"/>
          </p:nvPr>
        </p:nvSpPr>
        <p:spPr/>
        <p:txBody>
          <a:bodyPr/>
          <a:lstStyle>
            <a:lvl1pPr>
              <a:defRPr/>
            </a:lvl1pPr>
          </a:lstStyle>
          <a:p>
            <a:pPr>
              <a:defRPr/>
            </a:pPr>
            <a:fld id="{24541BD8-0BA5-4CA2-8BB1-D0C05D785C8D}" type="slidenum">
              <a:rPr lang="en-US" altLang="ms-MY"/>
            </a:fld>
            <a:endParaRPr lang="en-US" altLang="ms-MY"/>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xfrm>
            <a:off x="7162800" y="6324600"/>
            <a:ext cx="1905000" cy="457200"/>
          </a:xfrm>
          <a:prstGeom prst="rect">
            <a:avLst/>
          </a:prstGeom>
        </p:spPr>
        <p:txBody>
          <a:bodyPr/>
          <a:lstStyle>
            <a:lvl1pPr algn="r">
              <a:defRPr/>
            </a:lvl1pPr>
          </a:lstStyle>
          <a:p>
            <a:pPr>
              <a:defRPr/>
            </a:pPr>
            <a:fld id="{B8D32025-A3FA-4314-BFB9-E4B77CAB6DC4}" type="slidenum">
              <a:rPr lang="en-US"/>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A K Datta</a:t>
            </a:r>
            <a:endParaRPr lang="en-US"/>
          </a:p>
        </p:txBody>
      </p:sp>
      <p:sp>
        <p:nvSpPr>
          <p:cNvPr id="5" name="Footer Placeholder 4"/>
          <p:cNvSpPr>
            <a:spLocks noGrp="1"/>
          </p:cNvSpPr>
          <p:nvPr>
            <p:ph type="ftr" sz="quarter" idx="3"/>
          </p:nvPr>
        </p:nvSpPr>
        <p:spPr>
          <a:xfrm>
            <a:off x="2667000" y="6356350"/>
            <a:ext cx="3733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smtClean="0"/>
              <a:t>Ph.D. course work on Research Methodology</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pic>
        <p:nvPicPr>
          <p:cNvPr id="7" name="Picture 1" descr="C:\Users\A K DATTA\Desktop\topicbacks3.jpg"/>
          <p:cNvPicPr>
            <a:picLocks noChangeAspect="1" noChangeArrowheads="1"/>
          </p:cNvPicPr>
          <p:nvPr userDrawn="1"/>
        </p:nvPicPr>
        <p:blipFill>
          <a:blip r:embed="rId14">
            <a:lum bright="70000" contrast="-70000"/>
          </a:blip>
          <a:srcRect/>
          <a:stretch>
            <a:fillRect/>
          </a:stretch>
        </p:blipFill>
        <p:spPr bwMode="auto">
          <a:xfrm>
            <a:off x="28647" y="0"/>
            <a:ext cx="9115353" cy="6324600"/>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microsoft.com/office/2007/relationships/media" Target="file:///C:\Users\Asit%20Datta\Desktop\IIA%20RM%2024\IIA%20RM%202024\Tilt%20Brush_%20Painting%20from%20a%20new%20perspective%20-%20YouTube%20(360p).mp4" TargetMode="External"/><Relationship Id="rId1" Type="http://schemas.openxmlformats.org/officeDocument/2006/relationships/video" Target="file:///C:\Users\Asit%20Datta\Desktop\IIA%20RM%2024\IIA%20RM%202024\Tilt%20Brush_%20Painting%20from%20a%20new%20perspective%20-%20YouTube%20(360p).mp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117762" name="Picture 2" descr="C:\Users\A K DATTA\Desktop\images.jpg"/>
          <p:cNvPicPr>
            <a:picLocks noChangeAspect="1" noChangeArrowheads="1"/>
          </p:cNvPicPr>
          <p:nvPr/>
        </p:nvPicPr>
        <p:blipFill>
          <a:blip r:embed="rId1">
            <a:clrChange>
              <a:clrFrom>
                <a:srgbClr val="FFFFFF"/>
              </a:clrFrom>
              <a:clrTo>
                <a:srgbClr val="FFFFFF">
                  <a:alpha val="0"/>
                </a:srgbClr>
              </a:clrTo>
            </a:clrChange>
            <a:lum contrast="30000"/>
          </a:blip>
          <a:srcRect l="2662" t="4001" r="5482" b="3976"/>
          <a:stretch>
            <a:fillRect/>
          </a:stretch>
        </p:blipFill>
        <p:spPr bwMode="auto">
          <a:xfrm>
            <a:off x="1857356" y="2357430"/>
            <a:ext cx="5257800" cy="3505200"/>
          </a:xfrm>
          <a:prstGeom prst="rect">
            <a:avLst/>
          </a:prstGeom>
          <a:noFill/>
        </p:spPr>
      </p:pic>
      <p:sp>
        <p:nvSpPr>
          <p:cNvPr id="7" name="TextBox 6"/>
          <p:cNvSpPr txBox="1"/>
          <p:nvPr/>
        </p:nvSpPr>
        <p:spPr>
          <a:xfrm>
            <a:off x="714348" y="785794"/>
            <a:ext cx="7848600" cy="646331"/>
          </a:xfrm>
          <a:prstGeom prst="rect">
            <a:avLst/>
          </a:prstGeom>
          <a:noFill/>
        </p:spPr>
        <p:txBody>
          <a:bodyPr wrap="square" rtlCol="0">
            <a:spAutoFit/>
          </a:bodyPr>
          <a:lstStyle/>
          <a:p>
            <a:pPr algn="ctr"/>
            <a:r>
              <a:rPr lang="en-IN" sz="3600" b="1" dirty="0" smtClean="0">
                <a:solidFill>
                  <a:srgbClr val="006600"/>
                </a:solidFill>
                <a:latin typeface="Bookman Old Style" pitchFamily="18" charset="0"/>
              </a:rPr>
              <a:t>Research is a search for truth?</a:t>
            </a:r>
            <a:endParaRPr lang="en-IN" sz="3600" b="1" dirty="0">
              <a:solidFill>
                <a:srgbClr val="006600"/>
              </a:solidFill>
              <a:latin typeface="Bookman Old Style"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extBox 6"/>
          <p:cNvSpPr txBox="1"/>
          <p:nvPr/>
        </p:nvSpPr>
        <p:spPr>
          <a:xfrm>
            <a:off x="381000" y="2057400"/>
            <a:ext cx="8534400" cy="1200329"/>
          </a:xfrm>
          <a:prstGeom prst="rect">
            <a:avLst/>
          </a:prstGeom>
          <a:noFill/>
        </p:spPr>
        <p:txBody>
          <a:bodyPr wrap="square" rtlCol="0">
            <a:spAutoFit/>
          </a:bodyPr>
          <a:lstStyle/>
          <a:p>
            <a:pPr algn="ctr"/>
            <a:r>
              <a:rPr lang="en-IN" sz="3600" dirty="0" smtClean="0">
                <a:latin typeface="Times New Roman" panose="02020603050405020304" pitchFamily="18" charset="0"/>
                <a:cs typeface="Times New Roman" panose="02020603050405020304" pitchFamily="18" charset="0"/>
              </a:rPr>
              <a:t>Research is the professional quest  for truth, based on appropriate knowledge</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457200" y="188641"/>
            <a:ext cx="8381999" cy="725759"/>
          </a:xfrm>
        </p:spPr>
        <p:txBody>
          <a:bodyPr>
            <a:normAutofit fontScale="90000"/>
            <a:scene3d>
              <a:camera prst="orthographicFront"/>
              <a:lightRig rig="threePt" dir="t"/>
            </a:scene3d>
            <a:sp3d extrusionH="57150">
              <a:bevelT w="38100" h="38100"/>
            </a:sp3d>
          </a:bodyPr>
          <a:lstStyle/>
          <a:p>
            <a:pPr>
              <a:defRPr/>
            </a:pPr>
            <a:r>
              <a:rPr lang="en-US" dirty="0">
                <a:effectLst/>
              </a:rPr>
              <a:t> </a:t>
            </a:r>
            <a:r>
              <a:rPr lang="en-US" sz="4000" dirty="0">
                <a:solidFill>
                  <a:srgbClr val="008000"/>
                </a:solidFill>
                <a:effectLst>
                  <a:reflection blurRad="6350" stA="60000" endA="900" endPos="58000" dir="5400000" sy="-100000" algn="bl" rotWithShape="0"/>
                </a:effectLst>
              </a:rPr>
              <a:t>Research </a:t>
            </a:r>
            <a:r>
              <a:rPr lang="en-US" sz="4000" dirty="0" smtClean="0">
                <a:solidFill>
                  <a:srgbClr val="008000"/>
                </a:solidFill>
                <a:effectLst>
                  <a:reflection blurRad="6350" stA="60000" endA="900" endPos="58000" dir="5400000" sy="-100000" algn="bl" rotWithShape="0"/>
                </a:effectLst>
              </a:rPr>
              <a:t>Methodology</a:t>
            </a:r>
            <a:endParaRPr lang="en-US" sz="4000" dirty="0">
              <a:solidFill>
                <a:srgbClr val="008000"/>
              </a:solidFill>
              <a:effectLst>
                <a:reflection blurRad="6350" stA="60000" endA="900" endPos="58000" dir="5400000" sy="-100000" algn="bl" rotWithShape="0"/>
              </a:effectLst>
            </a:endParaRPr>
          </a:p>
        </p:txBody>
      </p:sp>
      <p:sp>
        <p:nvSpPr>
          <p:cNvPr id="14339" name="Subtitle 7"/>
          <p:cNvSpPr>
            <a:spLocks noGrp="1"/>
          </p:cNvSpPr>
          <p:nvPr>
            <p:ph type="subTitle" idx="1"/>
          </p:nvPr>
        </p:nvSpPr>
        <p:spPr>
          <a:xfrm>
            <a:off x="304800" y="990600"/>
            <a:ext cx="8610600" cy="2895600"/>
          </a:xfrm>
        </p:spPr>
        <p:txBody>
          <a:bodyPr>
            <a:noAutofit/>
          </a:bodyPr>
          <a:lstStyle/>
          <a:p>
            <a:pPr algn="just"/>
            <a:r>
              <a:rPr lang="en-US" altLang="en-US" sz="2800" dirty="0" smtClean="0">
                <a:solidFill>
                  <a:schemeClr val="tx1"/>
                </a:solidFill>
                <a:cs typeface="Times New Roman" panose="02020603050405020304" pitchFamily="18" charset="0"/>
              </a:rPr>
              <a:t>Research methodology is an over-arching term relating to the </a:t>
            </a:r>
            <a:r>
              <a:rPr lang="en-US" altLang="en-US" sz="2800" dirty="0" smtClean="0">
                <a:solidFill>
                  <a:srgbClr val="7030A0"/>
                </a:solidFill>
                <a:cs typeface="Times New Roman" panose="02020603050405020304" pitchFamily="18" charset="0"/>
              </a:rPr>
              <a:t>development of knowledge and the nature of that knowledge</a:t>
            </a:r>
            <a:endParaRPr lang="en-GB" altLang="ms-MY" sz="2800" dirty="0" smtClean="0">
              <a:solidFill>
                <a:srgbClr val="7030A0"/>
              </a:solidFill>
              <a:cs typeface="Times New Roman" panose="02020603050405020304" pitchFamily="18" charset="0"/>
            </a:endParaRPr>
          </a:p>
          <a:p>
            <a:pPr algn="just"/>
            <a:endParaRPr lang="en-GB" altLang="ms-MY" sz="1050" dirty="0" smtClean="0">
              <a:cs typeface="Times New Roman" panose="02020603050405020304" pitchFamily="18" charset="0"/>
            </a:endParaRPr>
          </a:p>
          <a:p>
            <a:pPr algn="just"/>
            <a:r>
              <a:rPr lang="en-GB" altLang="ms-MY" sz="2800" dirty="0" smtClean="0">
                <a:solidFill>
                  <a:schemeClr val="tx1"/>
                </a:solidFill>
                <a:cs typeface="Times New Roman" panose="02020603050405020304" pitchFamily="18" charset="0"/>
              </a:rPr>
              <a:t>Refers to the progress of </a:t>
            </a:r>
            <a:r>
              <a:rPr lang="en-GB" altLang="ms-MY" sz="2800" dirty="0" smtClean="0">
                <a:solidFill>
                  <a:srgbClr val="7030A0"/>
                </a:solidFill>
                <a:cs typeface="Times New Roman" panose="02020603050405020304" pitchFamily="18" charset="0"/>
              </a:rPr>
              <a:t>scientific practice</a:t>
            </a:r>
            <a:r>
              <a:rPr lang="en-GB" altLang="ms-MY" sz="2800" dirty="0" smtClean="0">
                <a:solidFill>
                  <a:schemeClr val="tx1"/>
                </a:solidFill>
                <a:cs typeface="Times New Roman" panose="02020603050405020304" pitchFamily="18" charset="0"/>
              </a:rPr>
              <a:t> based on philosophies and assumptions about the world and the nature of truth and knowledge</a:t>
            </a:r>
            <a:endParaRPr lang="en-GB" altLang="ms-MY" sz="2800" dirty="0" smtClean="0">
              <a:solidFill>
                <a:schemeClr val="tx1"/>
              </a:solidFill>
              <a:cs typeface="Times New Roman" panose="02020603050405020304" pitchFamily="18" charset="0"/>
            </a:endParaRPr>
          </a:p>
          <a:p>
            <a:endParaRPr lang="en-US" altLang="en-US" sz="2800" dirty="0" smtClean="0">
              <a:solidFill>
                <a:schemeClr val="tx1"/>
              </a:solidFill>
            </a:endParaRPr>
          </a:p>
          <a:p>
            <a:endParaRPr lang="en-US" altLang="en-US" sz="2800" dirty="0" smtClean="0">
              <a:solidFill>
                <a:schemeClr val="tx1"/>
              </a:solidFill>
            </a:endParaRPr>
          </a:p>
        </p:txBody>
      </p:sp>
      <p:sp>
        <p:nvSpPr>
          <p:cNvPr id="14340" name="Subtitle 7"/>
          <p:cNvSpPr txBox="1"/>
          <p:nvPr/>
        </p:nvSpPr>
        <p:spPr bwMode="auto">
          <a:xfrm>
            <a:off x="228600" y="4818380"/>
            <a:ext cx="8702675" cy="1752600"/>
          </a:xfrm>
          <a:prstGeom prst="rect">
            <a:avLst/>
          </a:prstGeom>
          <a:noFill/>
          <a:ln w="9525">
            <a:noFill/>
            <a:miter lim="800000"/>
          </a:ln>
        </p:spPr>
        <p:txBody>
          <a:bodyPr tIns="0"/>
          <a:lstStyle/>
          <a:p>
            <a:pPr marL="27305">
              <a:spcBef>
                <a:spcPts val="600"/>
              </a:spcBef>
              <a:buClr>
                <a:schemeClr val="accent1"/>
              </a:buClr>
              <a:buSzPct val="80000"/>
              <a:buFont typeface="Wingdings 2" panose="05020102010507070707" pitchFamily="18" charset="2"/>
              <a:buNone/>
            </a:pPr>
            <a:r>
              <a:rPr lang="en-US" altLang="en-US" sz="2800" dirty="0">
                <a:solidFill>
                  <a:srgbClr val="090E2A"/>
                </a:solidFill>
              </a:rPr>
              <a:t>A paradigm is </a:t>
            </a:r>
            <a:r>
              <a:rPr lang="en-US" altLang="en-US" sz="2800" dirty="0" smtClean="0">
                <a:solidFill>
                  <a:srgbClr val="090E2A"/>
                </a:solidFill>
              </a:rPr>
              <a:t> a </a:t>
            </a:r>
            <a:r>
              <a:rPr lang="en-US" altLang="en-US" sz="2800" dirty="0">
                <a:solidFill>
                  <a:srgbClr val="090E2A"/>
                </a:solidFill>
              </a:rPr>
              <a:t>basic set of beliefs that guide </a:t>
            </a:r>
            <a:r>
              <a:rPr lang="en-US" altLang="en-US" sz="2800" dirty="0" smtClean="0">
                <a:solidFill>
                  <a:srgbClr val="090E2A"/>
                </a:solidFill>
              </a:rPr>
              <a:t>action</a:t>
            </a:r>
            <a:endParaRPr lang="en-US" altLang="en-US" sz="2800" dirty="0" smtClean="0">
              <a:solidFill>
                <a:srgbClr val="090E2A"/>
              </a:solidFill>
            </a:endParaRPr>
          </a:p>
          <a:p>
            <a:pPr marL="27305">
              <a:spcBef>
                <a:spcPts val="600"/>
              </a:spcBef>
              <a:buClr>
                <a:schemeClr val="accent1"/>
              </a:buClr>
              <a:buSzPct val="80000"/>
              <a:buFont typeface="Wingdings 2" panose="05020102010507070707" pitchFamily="18" charset="2"/>
              <a:buNone/>
            </a:pPr>
            <a:endParaRPr lang="en-US" altLang="en-US" sz="900" dirty="0" smtClean="0">
              <a:solidFill>
                <a:srgbClr val="090E2A"/>
              </a:solidFill>
            </a:endParaRPr>
          </a:p>
          <a:p>
            <a:pPr marL="27305">
              <a:spcBef>
                <a:spcPts val="600"/>
              </a:spcBef>
              <a:buClr>
                <a:schemeClr val="accent1"/>
              </a:buClr>
              <a:buSzPct val="80000"/>
            </a:pPr>
            <a:r>
              <a:rPr lang="en-GB" altLang="ms-MY" sz="2800" dirty="0" smtClean="0"/>
              <a:t>Paradigms offer a framework comprising an accepted set of theories, methods, and ways of defining data</a:t>
            </a:r>
            <a:endParaRPr lang="en-GB" altLang="ms-MY" sz="2800" dirty="0" smtClean="0"/>
          </a:p>
          <a:p>
            <a:pPr marL="27305">
              <a:spcBef>
                <a:spcPts val="600"/>
              </a:spcBef>
              <a:buClr>
                <a:schemeClr val="accent1"/>
              </a:buClr>
              <a:buSzPct val="80000"/>
              <a:buFont typeface="Wingdings 2" panose="05020102010507070707" pitchFamily="18" charset="2"/>
              <a:buNone/>
            </a:pPr>
            <a:endParaRPr lang="en-US" altLang="en-US" sz="2400" dirty="0">
              <a:solidFill>
                <a:srgbClr val="090E2A"/>
              </a:solidFill>
              <a:latin typeface="Trebuchet MS" panose="020B0603020202020204" pitchFamily="34" charset="0"/>
            </a:endParaRPr>
          </a:p>
        </p:txBody>
      </p:sp>
      <p:sp>
        <p:nvSpPr>
          <p:cNvPr id="5" name="Rectangle 2"/>
          <p:cNvSpPr txBox="1">
            <a:spLocks noChangeArrowheads="1"/>
          </p:cNvSpPr>
          <p:nvPr/>
        </p:nvSpPr>
        <p:spPr>
          <a:xfrm>
            <a:off x="457200" y="3962400"/>
            <a:ext cx="8458200" cy="748665"/>
          </a:xfrm>
          <a:prstGeom prst="rect">
            <a:avLst/>
          </a:prstGeom>
        </p:spPr>
        <p:txBody>
          <a:bodyPr vert="horz" lIns="91440" tIns="45720" rIns="91440" bIns="45720" rtlCol="0" anchor="ctr">
            <a:normAutofit/>
          </a:bodyPr>
          <a:lstStyle/>
          <a:p>
            <a:pPr marL="320040" marR="0" lvl="0" indent="-320040" algn="ctr" defTabSz="914400" rtl="0" eaLnBrk="1" fontAlgn="auto" latinLnBrk="0" hangingPunct="1">
              <a:lnSpc>
                <a:spcPct val="100000"/>
              </a:lnSpc>
              <a:spcBef>
                <a:spcPct val="0"/>
              </a:spcBef>
              <a:spcAft>
                <a:spcPts val="0"/>
              </a:spcAft>
              <a:buClr>
                <a:schemeClr val="accent6">
                  <a:lumMod val="75000"/>
                </a:schemeClr>
              </a:buClr>
              <a:buSzTx/>
              <a:buFontTx/>
              <a:buNone/>
              <a:defRPr/>
            </a:pPr>
            <a:r>
              <a:rPr kumimoji="0" lang="en-US" altLang="ms-MY" sz="3600" b="0" i="0" u="none" strike="noStrike" kern="1200" cap="none" spc="0" normalizeH="0" baseline="0" noProof="0" dirty="0" smtClean="0">
                <a:ln>
                  <a:noFill/>
                </a:ln>
                <a:solidFill>
                  <a:srgbClr val="006600"/>
                </a:solidFill>
                <a:effectLst>
                  <a:reflection blurRad="6350" stA="60000" endA="900" endPos="58000" dir="5400000" sy="-100000" algn="bl" rotWithShape="0"/>
                </a:effectLst>
                <a:uLnTx/>
                <a:uFillTx/>
                <a:latin typeface="+mj-lt"/>
                <a:ea typeface="+mj-ea"/>
                <a:cs typeface="+mj-cs"/>
              </a:rPr>
              <a:t>Research Paradigm</a:t>
            </a:r>
            <a:endParaRPr kumimoji="0" lang="en-US" altLang="ms-MY" sz="3600" b="0" i="0" u="none" strike="noStrike" kern="1200" cap="none" spc="0" normalizeH="0" baseline="0" noProof="0" dirty="0" smtClean="0">
              <a:ln>
                <a:noFill/>
              </a:ln>
              <a:solidFill>
                <a:srgbClr val="006600"/>
              </a:solidFill>
              <a:effectLst>
                <a:reflection blurRad="6350" stA="60000" endA="900" endPos="58000" dir="5400000" sy="-100000" algn="bl" rotWithShape="0"/>
              </a:effectLst>
              <a:uLnTx/>
              <a:uFillTx/>
              <a:latin typeface="+mj-lt"/>
              <a:ea typeface="+mj-ea"/>
              <a:cs typeface="+mj-cs"/>
            </a:endParaRPr>
          </a:p>
        </p:txBody>
      </p:sp>
    </p:spTree>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type="body" idx="4294967295"/>
          </p:nvPr>
        </p:nvSpPr>
        <p:spPr>
          <a:xfrm>
            <a:off x="381000" y="1371600"/>
            <a:ext cx="8458200" cy="5105400"/>
          </a:xfrm>
          <a:prstGeom prst="rect">
            <a:avLst/>
          </a:prstGeom>
        </p:spPr>
        <p:txBody>
          <a:bodyPr>
            <a:noAutofit/>
          </a:bodyPr>
          <a:lstStyle/>
          <a:p>
            <a:r>
              <a:rPr lang="en-US" altLang="en-US" sz="2800" b="1" dirty="0" smtClean="0">
                <a:solidFill>
                  <a:srgbClr val="008000"/>
                </a:solidFill>
                <a:latin typeface="Book Antiqua" pitchFamily="18" charset="0"/>
                <a:ea typeface="MS PGothic" pitchFamily="34" charset="-128"/>
              </a:rPr>
              <a:t>O</a:t>
            </a:r>
            <a:r>
              <a:rPr lang="en-GB" altLang="en-US" sz="2800" b="1" dirty="0" err="1" smtClean="0">
                <a:solidFill>
                  <a:srgbClr val="008000"/>
                </a:solidFill>
                <a:latin typeface="Book Antiqua" pitchFamily="18" charset="0"/>
                <a:ea typeface="MS PGothic" pitchFamily="34" charset="-128"/>
              </a:rPr>
              <a:t>ntology</a:t>
            </a:r>
            <a:r>
              <a:rPr lang="en-GB" altLang="en-US" sz="2800" dirty="0" smtClean="0">
                <a:latin typeface="Book Antiqua" pitchFamily="18" charset="0"/>
                <a:ea typeface="MS PGothic" pitchFamily="34" charset="-128"/>
              </a:rPr>
              <a:t>: ways of constructing </a:t>
            </a:r>
            <a:r>
              <a:rPr lang="en-GB" altLang="en-US" sz="2800" dirty="0" smtClean="0">
                <a:solidFill>
                  <a:srgbClr val="7030A0"/>
                </a:solidFill>
                <a:latin typeface="Book Antiqua" pitchFamily="18" charset="0"/>
                <a:ea typeface="MS PGothic" pitchFamily="34" charset="-128"/>
              </a:rPr>
              <a:t>reality</a:t>
            </a:r>
            <a:r>
              <a:rPr lang="en-GB" altLang="en-US" sz="2800" dirty="0" smtClean="0">
                <a:latin typeface="Book Antiqua" pitchFamily="18" charset="0"/>
                <a:ea typeface="MS PGothic" pitchFamily="34" charset="-128"/>
              </a:rPr>
              <a:t>, “how things really are” and “how things really work”.. </a:t>
            </a:r>
            <a:endParaRPr lang="en-GB" altLang="en-US" sz="2800" dirty="0" smtClean="0">
              <a:latin typeface="Book Antiqua" pitchFamily="18" charset="0"/>
              <a:ea typeface="MS PGothic" pitchFamily="34" charset="-128"/>
            </a:endParaRPr>
          </a:p>
          <a:p>
            <a:endParaRPr lang="en-US" altLang="en-US" sz="2800" dirty="0" smtClean="0">
              <a:latin typeface="Book Antiqua" pitchFamily="18" charset="0"/>
              <a:ea typeface="MS PGothic" pitchFamily="34" charset="-128"/>
            </a:endParaRPr>
          </a:p>
          <a:p>
            <a:r>
              <a:rPr lang="en-US" altLang="en-US" sz="2800" b="1" dirty="0" smtClean="0">
                <a:solidFill>
                  <a:srgbClr val="008000"/>
                </a:solidFill>
                <a:latin typeface="Book Antiqua" pitchFamily="18" charset="0"/>
                <a:ea typeface="MS PGothic" pitchFamily="34" charset="-128"/>
              </a:rPr>
              <a:t>E</a:t>
            </a:r>
            <a:r>
              <a:rPr lang="en-GB" altLang="en-US" sz="2800" b="1" dirty="0" err="1" smtClean="0">
                <a:solidFill>
                  <a:srgbClr val="008000"/>
                </a:solidFill>
                <a:latin typeface="Book Antiqua" pitchFamily="18" charset="0"/>
                <a:ea typeface="MS PGothic" pitchFamily="34" charset="-128"/>
              </a:rPr>
              <a:t>pistemology</a:t>
            </a:r>
            <a:r>
              <a:rPr lang="en-GB" altLang="en-US" sz="2800" dirty="0" smtClean="0">
                <a:latin typeface="Book Antiqua" pitchFamily="18" charset="0"/>
                <a:ea typeface="MS PGothic" pitchFamily="34" charset="-128"/>
              </a:rPr>
              <a:t>: different forms of </a:t>
            </a:r>
            <a:r>
              <a:rPr lang="en-GB" altLang="en-US" sz="2800" dirty="0" smtClean="0">
                <a:solidFill>
                  <a:srgbClr val="7030A0"/>
                </a:solidFill>
                <a:latin typeface="Book Antiqua" pitchFamily="18" charset="0"/>
                <a:ea typeface="MS PGothic" pitchFamily="34" charset="-128"/>
              </a:rPr>
              <a:t>knowledge</a:t>
            </a:r>
            <a:r>
              <a:rPr lang="en-GB" altLang="en-US" sz="2800" dirty="0" smtClean="0">
                <a:latin typeface="Book Antiqua" pitchFamily="18" charset="0"/>
                <a:ea typeface="MS PGothic" pitchFamily="34" charset="-128"/>
              </a:rPr>
              <a:t> of that reality, what nature of relationship exists between the inquirer and the inquired? </a:t>
            </a:r>
            <a:r>
              <a:rPr lang="en-GB" altLang="en-US" sz="2800" b="1" dirty="0" smtClean="0">
                <a:latin typeface="Book Antiqua" pitchFamily="18" charset="0"/>
                <a:ea typeface="MS PGothic" pitchFamily="34" charset="-128"/>
              </a:rPr>
              <a:t>How do we know, that we know?</a:t>
            </a:r>
            <a:endParaRPr lang="en-GB" altLang="en-US" sz="2800" b="1" dirty="0" smtClean="0">
              <a:latin typeface="Book Antiqua" pitchFamily="18" charset="0"/>
              <a:ea typeface="MS PGothic" pitchFamily="34" charset="-128"/>
            </a:endParaRPr>
          </a:p>
          <a:p>
            <a:endParaRPr lang="en-US" altLang="en-US" sz="2800" dirty="0" smtClean="0">
              <a:latin typeface="Book Antiqua" pitchFamily="18" charset="0"/>
              <a:ea typeface="MS PGothic" pitchFamily="34" charset="-128"/>
            </a:endParaRPr>
          </a:p>
          <a:p>
            <a:r>
              <a:rPr lang="en-GB" altLang="en-US" sz="2800" b="1" dirty="0" smtClean="0">
                <a:solidFill>
                  <a:srgbClr val="008000"/>
                </a:solidFill>
                <a:latin typeface="Book Antiqua" pitchFamily="18" charset="0"/>
                <a:ea typeface="MS PGothic" pitchFamily="34" charset="-128"/>
              </a:rPr>
              <a:t>Methodology</a:t>
            </a:r>
            <a:r>
              <a:rPr lang="en-GB" altLang="en-US" sz="2800" dirty="0" smtClean="0">
                <a:latin typeface="Book Antiqua" pitchFamily="18" charset="0"/>
                <a:ea typeface="MS PGothic" pitchFamily="34" charset="-128"/>
              </a:rPr>
              <a:t>: What </a:t>
            </a:r>
            <a:r>
              <a:rPr lang="en-GB" altLang="en-US" sz="2800" b="1" dirty="0" smtClean="0">
                <a:solidFill>
                  <a:srgbClr val="7030A0"/>
                </a:solidFill>
                <a:latin typeface="Book Antiqua" pitchFamily="18" charset="0"/>
                <a:ea typeface="MS PGothic" pitchFamily="34" charset="-128"/>
              </a:rPr>
              <a:t>tools</a:t>
            </a:r>
            <a:r>
              <a:rPr lang="en-GB" altLang="en-US" sz="2800" dirty="0" smtClean="0">
                <a:latin typeface="Book Antiqua" pitchFamily="18" charset="0"/>
                <a:ea typeface="MS PGothic" pitchFamily="34" charset="-128"/>
              </a:rPr>
              <a:t> do we use to know  that reality?</a:t>
            </a:r>
            <a:endParaRPr lang="en-US" altLang="en-US" sz="2800" dirty="0" smtClean="0">
              <a:latin typeface="Book Antiqua" pitchFamily="18" charset="0"/>
              <a:ea typeface="MS PGothic" pitchFamily="34" charset="-128"/>
            </a:endParaRPr>
          </a:p>
          <a:p>
            <a:endParaRPr lang="en-US" altLang="en-US" sz="2800" dirty="0" smtClean="0">
              <a:latin typeface="Book Antiqua" pitchFamily="18" charset="0"/>
              <a:ea typeface="MS PGothic" pitchFamily="34" charset="-128"/>
            </a:endParaRPr>
          </a:p>
        </p:txBody>
      </p:sp>
      <p:sp>
        <p:nvSpPr>
          <p:cNvPr id="3" name="Rectangle 2"/>
          <p:cNvSpPr txBox="1">
            <a:spLocks noChangeArrowheads="1"/>
          </p:cNvSpPr>
          <p:nvPr/>
        </p:nvSpPr>
        <p:spPr>
          <a:xfrm>
            <a:off x="381000" y="228600"/>
            <a:ext cx="8458200" cy="1143000"/>
          </a:xfrm>
          <a:prstGeom prst="rect">
            <a:avLst/>
          </a:prstGeom>
        </p:spPr>
        <p:txBody>
          <a:bodyPr/>
          <a:lstStyle/>
          <a:p>
            <a:pPr marL="319405" indent="-319405" algn="ctr">
              <a:buClr>
                <a:srgbClr val="C3260C"/>
              </a:buClr>
              <a:buSzPct val="128000"/>
              <a:defRPr/>
            </a:pPr>
            <a:r>
              <a:rPr lang="en-US" sz="3600" b="1" dirty="0" smtClean="0">
                <a:solidFill>
                  <a:srgbClr val="008000"/>
                </a:solidFill>
                <a:effectLst>
                  <a:reflection blurRad="6350" stA="55000" endA="300" endPos="45500" dir="5400000" sy="-100000" algn="bl" rotWithShape="0"/>
                </a:effectLst>
                <a:latin typeface="+mn-lt"/>
                <a:ea typeface="MS PGothic" pitchFamily="34" charset="-128"/>
                <a:cs typeface="+mj-cs"/>
              </a:rPr>
              <a:t>Philosophy of Research </a:t>
            </a:r>
            <a:endParaRPr lang="en-US" sz="3600" b="1" dirty="0">
              <a:solidFill>
                <a:srgbClr val="008000"/>
              </a:solidFill>
              <a:effectLst>
                <a:reflection blurRad="6350" stA="55000" endA="300" endPos="45500" dir="5400000" sy="-100000" algn="bl" rotWithShape="0"/>
              </a:effectLst>
              <a:latin typeface="+mn-lt"/>
              <a:ea typeface="MS PGothic" pitchFamily="34" charset="-128"/>
              <a:cs typeface="+mj-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A K Datta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grpSp>
        <p:nvGrpSpPr>
          <p:cNvPr id="10" name="Group 9"/>
          <p:cNvGrpSpPr/>
          <p:nvPr/>
        </p:nvGrpSpPr>
        <p:grpSpPr>
          <a:xfrm>
            <a:off x="1524000" y="304800"/>
            <a:ext cx="6084000" cy="5972805"/>
            <a:chOff x="1524000" y="304800"/>
            <a:chExt cx="6084000" cy="5972805"/>
          </a:xfrm>
        </p:grpSpPr>
        <p:pic>
          <p:nvPicPr>
            <p:cNvPr id="5" name="Picture 2" descr="C:\Users\A K DATTA\Desktop\epistemology\funny-optical-illusions-147-e1363698659353.jpg"/>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1524000" y="304800"/>
              <a:ext cx="6084000" cy="5972805"/>
            </a:xfrm>
            <a:prstGeom prst="rect">
              <a:avLst/>
            </a:prstGeom>
            <a:noFill/>
          </p:spPr>
        </p:pic>
        <p:sp>
          <p:nvSpPr>
            <p:cNvPr id="6" name="Rectangle 5"/>
            <p:cNvSpPr/>
            <p:nvPr/>
          </p:nvSpPr>
          <p:spPr>
            <a:xfrm>
              <a:off x="3276600" y="1143000"/>
              <a:ext cx="2473754" cy="584775"/>
            </a:xfrm>
            <a:prstGeom prst="rect">
              <a:avLst/>
            </a:prstGeom>
          </p:spPr>
          <p:txBody>
            <a:bodyPr wrap="none">
              <a:spAutoFit/>
            </a:bodyPr>
            <a:lstStyle/>
            <a:p>
              <a:pPr lvl="0"/>
              <a:r>
                <a:rPr lang="en-US" sz="3200" b="1" dirty="0" smtClean="0">
                  <a:solidFill>
                    <a:schemeClr val="bg1"/>
                  </a:solidFill>
                </a:rPr>
                <a:t>Epistemology</a:t>
              </a:r>
              <a:endParaRPr lang="en-US" sz="3200" b="1" dirty="0">
                <a:solidFill>
                  <a:schemeClr val="bg1"/>
                </a:solidFill>
              </a:endParaRPr>
            </a:p>
          </p:txBody>
        </p:sp>
        <p:sp>
          <p:nvSpPr>
            <p:cNvPr id="7" name="Rectangle 6"/>
            <p:cNvSpPr/>
            <p:nvPr/>
          </p:nvSpPr>
          <p:spPr>
            <a:xfrm rot="3507681">
              <a:off x="1409895" y="4423508"/>
              <a:ext cx="2482154" cy="584775"/>
            </a:xfrm>
            <a:prstGeom prst="rect">
              <a:avLst/>
            </a:prstGeom>
          </p:spPr>
          <p:txBody>
            <a:bodyPr wrap="none">
              <a:spAutoFit/>
            </a:bodyPr>
            <a:lstStyle/>
            <a:p>
              <a:pPr lvl="0"/>
              <a:r>
                <a:rPr lang="en-US" sz="3200" b="1" dirty="0" smtClean="0">
                  <a:solidFill>
                    <a:schemeClr val="bg1"/>
                  </a:solidFill>
                </a:rPr>
                <a:t>Methodology</a:t>
              </a:r>
              <a:endParaRPr lang="en-US" sz="3200" b="1" dirty="0">
                <a:solidFill>
                  <a:schemeClr val="bg1"/>
                </a:solidFill>
              </a:endParaRPr>
            </a:p>
          </p:txBody>
        </p:sp>
        <p:sp>
          <p:nvSpPr>
            <p:cNvPr id="8" name="TextBox 2"/>
            <p:cNvSpPr txBox="1">
              <a:spLocks noChangeArrowheads="1"/>
            </p:cNvSpPr>
            <p:nvPr/>
          </p:nvSpPr>
          <p:spPr bwMode="auto">
            <a:xfrm>
              <a:off x="3657600" y="2667000"/>
              <a:ext cx="2209800" cy="1323439"/>
            </a:xfrm>
            <a:prstGeom prst="rect">
              <a:avLst/>
            </a:prstGeom>
            <a:noFill/>
            <a:ln w="9525">
              <a:noFill/>
              <a:miter lim="800000"/>
            </a:ln>
          </p:spPr>
          <p:txBody>
            <a:bodyPr wrap="square">
              <a:spAutoFit/>
            </a:bodyPr>
            <a:lstStyle/>
            <a:p>
              <a:pPr eaLnBrk="0" hangingPunct="0"/>
              <a:r>
                <a:rPr lang="en-US" altLang="en-US" sz="4000" dirty="0" smtClean="0"/>
                <a:t>Research Paradigm</a:t>
              </a:r>
              <a:endParaRPr lang="en-US" altLang="en-US" sz="4000" dirty="0"/>
            </a:p>
          </p:txBody>
        </p:sp>
        <p:sp>
          <p:nvSpPr>
            <p:cNvPr id="9" name="TextBox 8"/>
            <p:cNvSpPr txBox="1"/>
            <p:nvPr/>
          </p:nvSpPr>
          <p:spPr>
            <a:xfrm rot="18238759">
              <a:off x="5446774" y="3991434"/>
              <a:ext cx="1981200" cy="584775"/>
            </a:xfrm>
            <a:prstGeom prst="rect">
              <a:avLst/>
            </a:prstGeom>
            <a:noFill/>
          </p:spPr>
          <p:txBody>
            <a:bodyPr wrap="square" rtlCol="0">
              <a:spAutoFit/>
            </a:bodyPr>
            <a:lstStyle/>
            <a:p>
              <a:r>
                <a:rPr lang="en-IN" sz="3200" dirty="0" smtClean="0">
                  <a:solidFill>
                    <a:schemeClr val="bg1"/>
                  </a:solidFill>
                </a:rPr>
                <a:t>Ontology</a:t>
              </a:r>
              <a:endParaRPr lang="en-IN" sz="3200" dirty="0">
                <a:solidFill>
                  <a:schemeClr val="bg1"/>
                </a:solidFill>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C:\Users\A K DATTA\Desktop\epistemology\images (3).jpg"/>
          <p:cNvPicPr>
            <a:picLocks noChangeAspect="1" noChangeArrowheads="1"/>
          </p:cNvPicPr>
          <p:nvPr/>
        </p:nvPicPr>
        <p:blipFill>
          <a:blip r:embed="rId1">
            <a:lum contrast="20000"/>
          </a:blip>
          <a:srcRect/>
          <a:stretch>
            <a:fillRect/>
          </a:stretch>
        </p:blipFill>
        <p:spPr bwMode="auto">
          <a:xfrm>
            <a:off x="2133600" y="1219200"/>
            <a:ext cx="5207191" cy="3457575"/>
          </a:xfrm>
          <a:prstGeom prst="rect">
            <a:avLst/>
          </a:prstGeom>
          <a:noFill/>
        </p:spPr>
      </p:pic>
      <p:pic>
        <p:nvPicPr>
          <p:cNvPr id="66563" name="Picture 3" descr="C:\Users\A K DATTA\Desktop\epistemology\images (4).jpg"/>
          <p:cNvPicPr>
            <a:picLocks noChangeAspect="1" noChangeArrowheads="1"/>
          </p:cNvPicPr>
          <p:nvPr/>
        </p:nvPicPr>
        <p:blipFill>
          <a:blip r:embed="rId2"/>
          <a:srcRect/>
          <a:stretch>
            <a:fillRect/>
          </a:stretch>
        </p:blipFill>
        <p:spPr bwMode="auto">
          <a:xfrm>
            <a:off x="2133600" y="1600200"/>
            <a:ext cx="5181600" cy="2681287"/>
          </a:xfrm>
          <a:prstGeom prst="rect">
            <a:avLst/>
          </a:prstGeom>
          <a:noFill/>
        </p:spPr>
      </p:pic>
      <p:sp>
        <p:nvSpPr>
          <p:cNvPr id="4" name="Date Placeholder 3"/>
          <p:cNvSpPr>
            <a:spLocks noGrp="1"/>
          </p:cNvSpPr>
          <p:nvPr>
            <p:ph type="dt" sz="half" idx="10"/>
          </p:nvPr>
        </p:nvSpPr>
        <p:spPr/>
        <p:txBody>
          <a:bodyPr/>
          <a:lstStyle/>
          <a:p>
            <a:r>
              <a:rPr lang="en-US" smtClean="0"/>
              <a:t>A K Datta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
        <p:nvSpPr>
          <p:cNvPr id="7" name="TextBox 6"/>
          <p:cNvSpPr txBox="1"/>
          <p:nvPr/>
        </p:nvSpPr>
        <p:spPr>
          <a:xfrm>
            <a:off x="1066800" y="5181600"/>
            <a:ext cx="7239000" cy="646331"/>
          </a:xfrm>
          <a:prstGeom prst="rect">
            <a:avLst/>
          </a:prstGeom>
          <a:noFill/>
        </p:spPr>
        <p:txBody>
          <a:bodyPr wrap="square" rtlCol="0">
            <a:spAutoFit/>
          </a:bodyPr>
          <a:lstStyle/>
          <a:p>
            <a:pPr algn="ctr"/>
            <a:r>
              <a:rPr lang="en-IN" sz="3600" dirty="0" smtClean="0">
                <a:solidFill>
                  <a:srgbClr val="008000"/>
                </a:solidFill>
              </a:rPr>
              <a:t>Is there any thing like absolute truth ?</a:t>
            </a:r>
            <a:endParaRPr lang="en-IN" sz="3600" dirty="0">
              <a:solidFill>
                <a:srgbClr val="008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563"/>
                                        </p:tgtEl>
                                        <p:attrNameLst>
                                          <p:attrName>style.visibility</p:attrName>
                                        </p:attrNameLst>
                                      </p:cBhvr>
                                      <p:to>
                                        <p:strVal val="visible"/>
                                      </p:to>
                                    </p:set>
                                    <p:animEffect transition="in" filter="blinds(horizontal)">
                                      <p:cBhvr>
                                        <p:cTn id="7" dur="500"/>
                                        <p:tgtEl>
                                          <p:spTgt spid="665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blinds(horizontal)">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lstStyle/>
          <a:p>
            <a:r>
              <a:rPr lang="en-US" dirty="0" smtClean="0">
                <a:solidFill>
                  <a:srgbClr val="006600"/>
                </a:solidFill>
                <a:latin typeface="Book Antiqua" pitchFamily="18" charset="0"/>
              </a:rPr>
              <a:t>What is the truth</a:t>
            </a:r>
            <a:endParaRPr lang="en-IN" dirty="0">
              <a:solidFill>
                <a:srgbClr val="006600"/>
              </a:solidFill>
              <a:latin typeface="Book Antiqua" pitchFamily="18" charset="0"/>
            </a:endParaRPr>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Rectangle 6"/>
          <p:cNvSpPr/>
          <p:nvPr/>
        </p:nvSpPr>
        <p:spPr>
          <a:xfrm>
            <a:off x="428596" y="1214423"/>
            <a:ext cx="8429684" cy="1733808"/>
          </a:xfrm>
          <a:prstGeom prst="rect">
            <a:avLst/>
          </a:prstGeom>
        </p:spPr>
        <p:txBody>
          <a:bodyPr wrap="square">
            <a:spAutoFit/>
          </a:bodyPr>
          <a:lstStyle/>
          <a:p>
            <a:pPr>
              <a:lnSpc>
                <a:spcPts val="3200"/>
              </a:lnSpc>
            </a:pPr>
            <a:r>
              <a:rPr lang="en-IN" sz="2400" dirty="0" smtClean="0">
                <a:latin typeface="Book Antiqua" pitchFamily="18" charset="0"/>
              </a:rPr>
              <a:t>Truth is defined as, ‘quality or state of being true’ or ‘a fact or belief that is accepted as true.’</a:t>
            </a:r>
            <a:r>
              <a:rPr lang="en-IN" sz="2400" dirty="0" smtClean="0"/>
              <a:t> </a:t>
            </a:r>
            <a:endParaRPr lang="en-IN" sz="2400" dirty="0" smtClean="0"/>
          </a:p>
          <a:p>
            <a:pPr>
              <a:lnSpc>
                <a:spcPts val="3200"/>
              </a:lnSpc>
            </a:pPr>
            <a:r>
              <a:rPr lang="en-IN" sz="2400" dirty="0" smtClean="0"/>
              <a:t>						Oxford dictionary</a:t>
            </a:r>
            <a:r>
              <a:rPr lang="en-US" sz="2400" dirty="0" smtClean="0">
                <a:latin typeface="Book Antiqua" pitchFamily="18" charset="0"/>
              </a:rPr>
              <a:t>					</a:t>
            </a:r>
            <a:endParaRPr lang="en-IN" sz="2400" dirty="0">
              <a:latin typeface="Book Antiqua" pitchFamily="18" charset="0"/>
            </a:endParaRPr>
          </a:p>
        </p:txBody>
      </p:sp>
      <p:sp>
        <p:nvSpPr>
          <p:cNvPr id="10" name="Content Placeholder 2"/>
          <p:cNvSpPr>
            <a:spLocks noGrp="1"/>
          </p:cNvSpPr>
          <p:nvPr>
            <p:ph sz="quarter" idx="1"/>
          </p:nvPr>
        </p:nvSpPr>
        <p:spPr>
          <a:xfrm>
            <a:off x="285720" y="3071810"/>
            <a:ext cx="8610600" cy="2857520"/>
          </a:xfrm>
        </p:spPr>
        <p:txBody>
          <a:bodyPr>
            <a:noAutofit/>
          </a:bodyPr>
          <a:lstStyle/>
          <a:p>
            <a:pPr marL="274320" indent="-274320">
              <a:spcBef>
                <a:spcPts val="580"/>
              </a:spcBef>
              <a:buNone/>
              <a:defRPr/>
            </a:pPr>
            <a:r>
              <a:rPr lang="en-US" sz="2800" dirty="0" smtClean="0">
                <a:cs typeface="Times New Roman" panose="02020603050405020304" pitchFamily="18" charset="0"/>
              </a:rPr>
              <a:t>“There is no truth. There is only perception.” </a:t>
            </a:r>
            <a:endParaRPr lang="en-US" sz="2800" dirty="0" smtClean="0">
              <a:cs typeface="Times New Roman" panose="02020603050405020304" pitchFamily="18" charset="0"/>
            </a:endParaRPr>
          </a:p>
          <a:p>
            <a:pPr marL="274320" indent="-274320">
              <a:spcBef>
                <a:spcPts val="580"/>
              </a:spcBef>
              <a:buNone/>
              <a:defRPr/>
            </a:pPr>
            <a:r>
              <a:rPr lang="en-US" sz="2800" dirty="0" smtClean="0">
                <a:cs typeface="Times New Roman" panose="02020603050405020304" pitchFamily="18" charset="0"/>
              </a:rPr>
              <a:t>                                                             </a:t>
            </a:r>
            <a:r>
              <a:rPr lang="en-US" sz="2000" b="1" dirty="0" err="1" smtClean="0">
                <a:cs typeface="Times New Roman" panose="02020603050405020304" pitchFamily="18" charset="0"/>
              </a:rPr>
              <a:t>Gustave</a:t>
            </a:r>
            <a:r>
              <a:rPr lang="en-US" sz="2000" b="1" dirty="0" smtClean="0">
                <a:cs typeface="Times New Roman" panose="02020603050405020304" pitchFamily="18" charset="0"/>
              </a:rPr>
              <a:t> Flaubert</a:t>
            </a:r>
            <a:endParaRPr lang="en-US" sz="2800" b="1" dirty="0" smtClean="0">
              <a:cs typeface="Times New Roman" panose="02020603050405020304" pitchFamily="18" charset="0"/>
            </a:endParaRPr>
          </a:p>
          <a:p>
            <a:pPr marL="274320" indent="-274320">
              <a:spcBef>
                <a:spcPts val="580"/>
              </a:spcBef>
              <a:buNone/>
              <a:defRPr/>
            </a:pPr>
            <a:r>
              <a:rPr lang="en-US" sz="2800" dirty="0" smtClean="0">
                <a:cs typeface="Times New Roman" panose="02020603050405020304" pitchFamily="18" charset="0"/>
              </a:rPr>
              <a:t>“Everything we hear is an opinion, not a fact. Everything we see is a perspective, not the truth.” </a:t>
            </a:r>
            <a:endParaRPr lang="en-US" sz="2800" dirty="0" smtClean="0">
              <a:cs typeface="Times New Roman" panose="02020603050405020304" pitchFamily="18" charset="0"/>
            </a:endParaRPr>
          </a:p>
          <a:p>
            <a:pPr marL="274320" indent="-274320">
              <a:spcBef>
                <a:spcPts val="580"/>
              </a:spcBef>
              <a:buNone/>
              <a:defRPr/>
            </a:pPr>
            <a:r>
              <a:rPr lang="en-US" sz="2800" dirty="0" smtClean="0">
                <a:cs typeface="Times New Roman" panose="02020603050405020304" pitchFamily="18" charset="0"/>
              </a:rPr>
              <a:t>                                                              </a:t>
            </a:r>
            <a:r>
              <a:rPr lang="en-US" sz="2000" b="1" dirty="0" smtClean="0">
                <a:cs typeface="Times New Roman" panose="02020603050405020304" pitchFamily="18" charset="0"/>
              </a:rPr>
              <a:t>Marcus Aurelius</a:t>
            </a:r>
            <a:endParaRPr lang="en-US" sz="2000" b="1" dirty="0" smtClean="0">
              <a:cs typeface="Times New Roman" panose="02020603050405020304" pitchFamily="18" charset="0"/>
            </a:endParaRPr>
          </a:p>
          <a:p>
            <a:pPr marL="274320" indent="-274320" eaLnBrk="1" fontAlgn="auto" hangingPunct="1">
              <a:lnSpc>
                <a:spcPts val="2700"/>
              </a:lnSpc>
              <a:spcBef>
                <a:spcPts val="0"/>
              </a:spcBef>
              <a:spcAft>
                <a:spcPts val="0"/>
              </a:spcAft>
              <a:buFont typeface="Wingdings 2" panose="05020102010507070707"/>
              <a:buNone/>
              <a:defRPr/>
            </a:pPr>
            <a:endParaRPr lang="en-US" sz="2800" dirty="0" smtClean="0">
              <a:cs typeface="Times New Roman" panose="02020603050405020304" pitchFamily="18" charset="0"/>
            </a:endParaRPr>
          </a:p>
          <a:p>
            <a:pPr marL="274320" indent="-274320" eaLnBrk="1" fontAlgn="auto" hangingPunct="1">
              <a:lnSpc>
                <a:spcPts val="2700"/>
              </a:lnSpc>
              <a:spcBef>
                <a:spcPts val="0"/>
              </a:spcBef>
              <a:spcAft>
                <a:spcPts val="0"/>
              </a:spcAft>
              <a:buFont typeface="Wingdings 2" panose="05020102010507070707"/>
              <a:buNone/>
              <a:defRPr/>
            </a:pPr>
            <a:r>
              <a:rPr lang="en-US" sz="2000" b="1" dirty="0" smtClean="0">
                <a:cs typeface="Times New Roman" panose="02020603050405020304" pitchFamily="18" charset="0"/>
              </a:rPr>
              <a:t> </a:t>
            </a:r>
            <a:endParaRPr lang="en-US" sz="2800" b="1" dirty="0"/>
          </a:p>
          <a:p>
            <a:pPr marL="274320" indent="-274320" eaLnBrk="1" fontAlgn="auto" hangingPunct="1">
              <a:spcBef>
                <a:spcPts val="580"/>
              </a:spcBef>
              <a:spcAft>
                <a:spcPts val="0"/>
              </a:spcAft>
              <a:buFont typeface="Wingdings 2" panose="05020102010507070707"/>
              <a:buNone/>
              <a:defRPr/>
            </a:pPr>
            <a:endParaRPr lang="en-US" dirty="0" smtClean="0"/>
          </a:p>
          <a:p>
            <a:pPr marL="274320" indent="-274320" eaLnBrk="1" fontAlgn="auto" hangingPunct="1">
              <a:spcBef>
                <a:spcPts val="580"/>
              </a:spcBef>
              <a:spcAft>
                <a:spcPts val="0"/>
              </a:spcAft>
              <a:buFont typeface="Wingdings 2" panose="05020102010507070707"/>
              <a:buNone/>
              <a:defRPr/>
            </a:pPr>
            <a:endParaRPr lang="en-US" dirty="0"/>
          </a:p>
          <a:p>
            <a:pPr marL="274320" indent="-274320" eaLnBrk="1" fontAlgn="auto" hangingPunct="1">
              <a:spcBef>
                <a:spcPts val="580"/>
              </a:spcBef>
              <a:spcAft>
                <a:spcPts val="0"/>
              </a:spcAft>
              <a:buFont typeface="Wingdings 2" panose="05020102010507070707"/>
              <a:buNone/>
              <a:defRPr/>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152400"/>
            <a:ext cx="8229600" cy="838200"/>
          </a:xfrm>
        </p:spPr>
        <p:txBody>
          <a:bodyPr/>
          <a:lstStyle/>
          <a:p>
            <a:r>
              <a:rPr lang="en-US" dirty="0" smtClean="0"/>
              <a:t> </a:t>
            </a:r>
            <a:r>
              <a:rPr lang="en-US" sz="4000" dirty="0" smtClean="0">
                <a:solidFill>
                  <a:srgbClr val="008000"/>
                </a:solidFill>
              </a:rPr>
              <a:t>Absolutism VS Relativism</a:t>
            </a:r>
            <a:endParaRPr lang="en-US" sz="4000" dirty="0" smtClean="0">
              <a:solidFill>
                <a:srgbClr val="008000"/>
              </a:solidFill>
            </a:endParaRPr>
          </a:p>
        </p:txBody>
      </p:sp>
      <p:sp>
        <p:nvSpPr>
          <p:cNvPr id="3" name="Content Placeholder 2"/>
          <p:cNvSpPr>
            <a:spLocks noGrp="1"/>
          </p:cNvSpPr>
          <p:nvPr>
            <p:ph sz="quarter" idx="1"/>
          </p:nvPr>
        </p:nvSpPr>
        <p:spPr>
          <a:xfrm>
            <a:off x="228600" y="1371600"/>
            <a:ext cx="8686800" cy="3200400"/>
          </a:xfrm>
        </p:spPr>
        <p:txBody>
          <a:bodyPr>
            <a:noAutofit/>
          </a:bodyPr>
          <a:lstStyle/>
          <a:p>
            <a:pPr marL="274320" indent="-274320" eaLnBrk="1" fontAlgn="auto" hangingPunct="1">
              <a:spcBef>
                <a:spcPts val="580"/>
              </a:spcBef>
              <a:spcAft>
                <a:spcPts val="0"/>
              </a:spcAft>
              <a:buFont typeface="Wingdings 2" panose="05020102010507070707"/>
              <a:buNone/>
              <a:defRPr/>
            </a:pPr>
            <a:r>
              <a:rPr lang="en-US" sz="2800" b="1" dirty="0" smtClean="0">
                <a:solidFill>
                  <a:srgbClr val="7030A0"/>
                </a:solidFill>
                <a:cs typeface="Times New Roman" panose="02020603050405020304" pitchFamily="18" charset="0"/>
              </a:rPr>
              <a:t>Absolutism</a:t>
            </a:r>
            <a:r>
              <a:rPr lang="en-US" sz="2800" dirty="0" smtClean="0">
                <a:cs typeface="Times New Roman" panose="02020603050405020304" pitchFamily="18" charset="0"/>
              </a:rPr>
              <a:t>: truth is independent of our knowledge and beliefs.  </a:t>
            </a:r>
            <a:endParaRPr lang="en-US" sz="2800" dirty="0" smtClean="0">
              <a:cs typeface="Times New Roman" panose="02020603050405020304" pitchFamily="18" charset="0"/>
            </a:endParaRPr>
          </a:p>
          <a:p>
            <a:pPr marL="274320" indent="-274320" eaLnBrk="1" fontAlgn="auto" hangingPunct="1">
              <a:spcBef>
                <a:spcPts val="580"/>
              </a:spcBef>
              <a:spcAft>
                <a:spcPts val="0"/>
              </a:spcAft>
              <a:buFont typeface="Wingdings 2" panose="05020102010507070707"/>
              <a:buChar char=""/>
              <a:defRPr/>
            </a:pPr>
            <a:endParaRPr lang="en-US" sz="2800" dirty="0" smtClean="0">
              <a:cs typeface="Times New Roman" panose="02020603050405020304" pitchFamily="18" charset="0"/>
            </a:endParaRPr>
          </a:p>
          <a:p>
            <a:pPr marL="274320" indent="-274320" eaLnBrk="1" fontAlgn="auto" hangingPunct="1">
              <a:spcBef>
                <a:spcPts val="580"/>
              </a:spcBef>
              <a:spcAft>
                <a:spcPts val="0"/>
              </a:spcAft>
              <a:buFont typeface="Wingdings 2" panose="05020102010507070707"/>
              <a:buNone/>
              <a:defRPr/>
            </a:pPr>
            <a:r>
              <a:rPr lang="en-US" sz="2800" b="1" dirty="0" smtClean="0">
                <a:solidFill>
                  <a:srgbClr val="7030A0"/>
                </a:solidFill>
                <a:cs typeface="Times New Roman" panose="02020603050405020304" pitchFamily="18" charset="0"/>
              </a:rPr>
              <a:t>Relativism</a:t>
            </a:r>
            <a:r>
              <a:rPr lang="en-US" sz="2800" dirty="0" smtClean="0">
                <a:cs typeface="Times New Roman" panose="02020603050405020304" pitchFamily="18" charset="0"/>
              </a:rPr>
              <a:t>: there is no absolute truth. What is true for me may be false for you. Truth is a construction, and every person may construct truth differently. Every  person’s version of truth is equally legitimate.</a:t>
            </a:r>
            <a:endParaRPr lang="en-US" sz="2800" dirty="0" smtClean="0">
              <a:cs typeface="Times New Roman" panose="02020603050405020304" pitchFamily="18" charset="0"/>
            </a:endParaRPr>
          </a:p>
          <a:p>
            <a:pPr marL="274320" indent="-274320" eaLnBrk="1" fontAlgn="auto" hangingPunct="1">
              <a:spcBef>
                <a:spcPts val="580"/>
              </a:spcBef>
              <a:spcAft>
                <a:spcPts val="0"/>
              </a:spcAft>
              <a:buFont typeface="Wingdings 2" panose="05020102010507070707"/>
              <a:buChar char=""/>
              <a:defRPr/>
            </a:pPr>
            <a:endParaRPr lang="en-US" sz="2800" dirty="0" smtClean="0">
              <a:cs typeface="Times New Roman" panose="02020603050405020304" pitchFamily="18" charset="0"/>
            </a:endParaRPr>
          </a:p>
          <a:p>
            <a:pPr marL="274320" indent="-274320" algn="ctr" eaLnBrk="1" fontAlgn="auto" hangingPunct="1">
              <a:spcBef>
                <a:spcPts val="580"/>
              </a:spcBef>
              <a:spcAft>
                <a:spcPts val="0"/>
              </a:spcAft>
              <a:buNone/>
              <a:defRPr/>
            </a:pPr>
            <a:endParaRPr lang="en-US" sz="2800" dirty="0" smtClean="0"/>
          </a:p>
          <a:p>
            <a:pPr marL="274320" indent="-274320" eaLnBrk="1" fontAlgn="auto" hangingPunct="1">
              <a:spcBef>
                <a:spcPts val="580"/>
              </a:spcBef>
              <a:spcAft>
                <a:spcPts val="0"/>
              </a:spcAft>
              <a:buFont typeface="Wingdings 2" panose="05020102010507070707"/>
              <a:buNone/>
              <a:defRPr/>
            </a:pPr>
            <a:endParaRPr lang="en-US" sz="2800" dirty="0" smtClean="0"/>
          </a:p>
        </p:txBody>
      </p:sp>
      <p:sp>
        <p:nvSpPr>
          <p:cNvPr id="5" name="Date Placeholder 4"/>
          <p:cNvSpPr>
            <a:spLocks noGrp="1"/>
          </p:cNvSpPr>
          <p:nvPr>
            <p:ph type="dt" sz="half" idx="10"/>
          </p:nvPr>
        </p:nvSpPr>
        <p:spPr/>
        <p:txBody>
          <a:bodyPr/>
          <a:lstStyle/>
          <a:p>
            <a:r>
              <a:rPr lang="en-US" smtClean="0"/>
              <a:t>A K Datta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Footer Placeholder 6"/>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Rectangle 6"/>
          <p:cNvSpPr/>
          <p:nvPr/>
        </p:nvSpPr>
        <p:spPr>
          <a:xfrm>
            <a:off x="0" y="228600"/>
            <a:ext cx="8839200" cy="6331585"/>
          </a:xfrm>
          <a:prstGeom prst="rect">
            <a:avLst/>
          </a:prstGeom>
        </p:spPr>
        <p:txBody>
          <a:bodyPr wrap="square">
            <a:spAutoFit/>
          </a:bodyPr>
          <a:lstStyle/>
          <a:p>
            <a:pPr marL="274320" indent="-274320" algn="ctr">
              <a:spcBef>
                <a:spcPts val="580"/>
              </a:spcBef>
              <a:defRPr/>
            </a:pPr>
            <a:r>
              <a:rPr lang="en-US" sz="4400" dirty="0" smtClean="0">
                <a:solidFill>
                  <a:srgbClr val="008000"/>
                </a:solidFill>
                <a:cs typeface="Times New Roman" panose="02020603050405020304" pitchFamily="18" charset="0"/>
              </a:rPr>
              <a:t>The paradox of relativism</a:t>
            </a:r>
            <a:r>
              <a:rPr lang="en-US" sz="3200" dirty="0" smtClean="0">
                <a:cs typeface="Times New Roman" panose="02020603050405020304" pitchFamily="18" charset="0"/>
              </a:rPr>
              <a:t>. </a:t>
            </a:r>
            <a:endParaRPr lang="en-US" sz="3200" dirty="0" smtClean="0">
              <a:cs typeface="Times New Roman" panose="02020603050405020304" pitchFamily="18" charset="0"/>
            </a:endParaRPr>
          </a:p>
          <a:p>
            <a:pPr marL="274320" indent="-274320" algn="ctr">
              <a:spcBef>
                <a:spcPts val="580"/>
              </a:spcBef>
              <a:defRPr/>
            </a:pPr>
            <a:endParaRPr lang="en-US" sz="2400" dirty="0" smtClean="0">
              <a:cs typeface="Times New Roman" panose="02020603050405020304" pitchFamily="18" charset="0"/>
            </a:endParaRPr>
          </a:p>
          <a:p>
            <a:pPr marL="548640" lvl="1">
              <a:spcBef>
                <a:spcPts val="370"/>
              </a:spcBef>
              <a:buFont typeface="Wingdings 2" panose="05020102010507070707"/>
              <a:buChar char=""/>
              <a:defRPr/>
            </a:pPr>
            <a:r>
              <a:rPr lang="en-US" sz="2800" dirty="0" smtClean="0">
                <a:cs typeface="Times New Roman" panose="02020603050405020304" pitchFamily="18" charset="0"/>
              </a:rPr>
              <a:t>Truth is relative to the speaker/believer.</a:t>
            </a:r>
            <a:endParaRPr lang="en-US" sz="2800" dirty="0" smtClean="0">
              <a:cs typeface="Times New Roman" panose="02020603050405020304" pitchFamily="18" charset="0"/>
            </a:endParaRPr>
          </a:p>
          <a:p>
            <a:pPr marL="548640" lvl="1">
              <a:spcBef>
                <a:spcPts val="370"/>
              </a:spcBef>
              <a:buFont typeface="Wingdings 2" panose="05020102010507070707"/>
              <a:buChar char=""/>
              <a:defRPr/>
            </a:pPr>
            <a:r>
              <a:rPr lang="en-US" sz="2800" dirty="0" smtClean="0">
                <a:cs typeface="Times New Roman" panose="02020603050405020304" pitchFamily="18" charset="0"/>
              </a:rPr>
              <a:t>No statement is necessarily true or false to all believers.</a:t>
            </a:r>
            <a:endParaRPr lang="en-US" sz="2800" dirty="0" smtClean="0">
              <a:cs typeface="Times New Roman" panose="02020603050405020304" pitchFamily="18" charset="0"/>
            </a:endParaRPr>
          </a:p>
          <a:p>
            <a:pPr marL="548640" lvl="1">
              <a:spcBef>
                <a:spcPts val="370"/>
              </a:spcBef>
              <a:buFont typeface="Wingdings 2" panose="05020102010507070707"/>
              <a:buChar char=""/>
              <a:defRPr/>
            </a:pPr>
            <a:r>
              <a:rPr lang="en-US" sz="2800" dirty="0" smtClean="0">
                <a:cs typeface="Times New Roman" panose="02020603050405020304" pitchFamily="18" charset="0"/>
              </a:rPr>
              <a:t>“Truth is relative” is a statement.</a:t>
            </a:r>
            <a:endParaRPr lang="en-US" sz="2800" dirty="0" smtClean="0">
              <a:cs typeface="Times New Roman" panose="02020603050405020304" pitchFamily="18" charset="0"/>
            </a:endParaRPr>
          </a:p>
          <a:p>
            <a:pPr marL="548640" lvl="1">
              <a:spcBef>
                <a:spcPts val="370"/>
              </a:spcBef>
              <a:buFont typeface="Wingdings 2" panose="05020102010507070707"/>
              <a:buChar char=""/>
              <a:defRPr/>
            </a:pPr>
            <a:r>
              <a:rPr lang="en-US" sz="2800" dirty="0" smtClean="0">
                <a:cs typeface="Times New Roman" panose="02020603050405020304" pitchFamily="18" charset="0"/>
              </a:rPr>
              <a:t>“Truth is relative” is not true for everybody.</a:t>
            </a:r>
            <a:endParaRPr lang="en-US" sz="2800" dirty="0" smtClean="0">
              <a:cs typeface="Times New Roman" panose="02020603050405020304" pitchFamily="18" charset="0"/>
            </a:endParaRPr>
          </a:p>
          <a:p>
            <a:pPr marL="548640" lvl="1">
              <a:spcBef>
                <a:spcPts val="370"/>
              </a:spcBef>
              <a:buFont typeface="Wingdings 2" panose="05020102010507070707"/>
              <a:buChar char=""/>
              <a:defRPr/>
            </a:pPr>
            <a:r>
              <a:rPr lang="en-US" sz="2800" dirty="0" smtClean="0">
                <a:cs typeface="Times New Roman" panose="02020603050405020304" pitchFamily="18" charset="0"/>
              </a:rPr>
              <a:t>“There are absolute truths” is not false for everybody.</a:t>
            </a:r>
            <a:endParaRPr lang="en-US" sz="2800" dirty="0" smtClean="0">
              <a:cs typeface="Times New Roman" panose="02020603050405020304" pitchFamily="18" charset="0"/>
            </a:endParaRPr>
          </a:p>
          <a:p>
            <a:pPr marL="548640" lvl="1">
              <a:spcBef>
                <a:spcPts val="370"/>
              </a:spcBef>
              <a:buFont typeface="Wingdings 2" panose="05020102010507070707"/>
              <a:buChar char=""/>
              <a:defRPr/>
            </a:pPr>
            <a:r>
              <a:rPr lang="en-US" sz="2800" dirty="0" smtClean="0">
                <a:cs typeface="Times New Roman" panose="02020603050405020304" pitchFamily="18" charset="0"/>
              </a:rPr>
              <a:t>“Truth is relative” is a self-defeating statement. </a:t>
            </a:r>
            <a:endParaRPr lang="en-US" sz="2800" dirty="0" smtClean="0">
              <a:cs typeface="Times New Roman" panose="02020603050405020304" pitchFamily="18" charset="0"/>
            </a:endParaRPr>
          </a:p>
          <a:p>
            <a:pPr marL="548640" lvl="1">
              <a:spcBef>
                <a:spcPts val="370"/>
              </a:spcBef>
              <a:buFont typeface="Wingdings 2" panose="05020102010507070707"/>
              <a:buChar char=""/>
              <a:defRPr/>
            </a:pPr>
            <a:endParaRPr lang="en-US" sz="2800" dirty="0" smtClean="0">
              <a:cs typeface="Times New Roman" panose="02020603050405020304" pitchFamily="18" charset="0"/>
            </a:endParaRPr>
          </a:p>
          <a:p>
            <a:pPr marL="548640" lvl="1">
              <a:spcBef>
                <a:spcPts val="370"/>
              </a:spcBef>
              <a:defRPr/>
            </a:pPr>
            <a:r>
              <a:rPr lang="en-US" sz="2800" b="1" dirty="0" smtClean="0">
                <a:solidFill>
                  <a:srgbClr val="008000"/>
                </a:solidFill>
                <a:cs typeface="Times New Roman" panose="02020603050405020304" pitchFamily="18" charset="0"/>
              </a:rPr>
              <a:t>If it is true, it is not</a:t>
            </a:r>
            <a:r>
              <a:rPr lang="en-US" sz="2800" b="1" dirty="0" smtClean="0">
                <a:solidFill>
                  <a:srgbClr val="008000"/>
                </a:solidFill>
              </a:rPr>
              <a:t> true for everybody. If its true, its opposite is also true (for some people).</a:t>
            </a:r>
            <a:endParaRPr lang="en-IN" sz="2800" b="1" dirty="0">
              <a:solidFill>
                <a:srgbClr val="008000"/>
              </a:solidFill>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smtClean="0">
                <a:solidFill>
                  <a:srgbClr val="008000"/>
                </a:solidFill>
              </a:rPr>
              <a:t>Nietzsche</a:t>
            </a:r>
            <a:endParaRPr lang="en-US" dirty="0" smtClean="0">
              <a:solidFill>
                <a:srgbClr val="008000"/>
              </a:solidFill>
            </a:endParaRPr>
          </a:p>
        </p:txBody>
      </p:sp>
      <p:sp>
        <p:nvSpPr>
          <p:cNvPr id="17411" name="Content Placeholder 2"/>
          <p:cNvSpPr>
            <a:spLocks noGrp="1"/>
          </p:cNvSpPr>
          <p:nvPr>
            <p:ph sz="quarter" idx="1"/>
          </p:nvPr>
        </p:nvSpPr>
        <p:spPr>
          <a:xfrm>
            <a:off x="304800" y="1981200"/>
            <a:ext cx="8534400" cy="4343400"/>
          </a:xfrm>
        </p:spPr>
        <p:txBody>
          <a:bodyPr>
            <a:normAutofit fontScale="92500" lnSpcReduction="10000"/>
          </a:bodyPr>
          <a:lstStyle/>
          <a:p>
            <a:pPr eaLnBrk="1" hangingPunct="1">
              <a:buFont typeface="Wingdings 2" panose="05020102010507070707" pitchFamily="18" charset="2"/>
              <a:buNone/>
            </a:pPr>
            <a:r>
              <a:rPr lang="en-US" sz="3000" dirty="0" smtClean="0"/>
              <a:t>    Truth is useful, if it promotes and enhances life, but a life-enhancing falsehood is better than a truth that undermines life.</a:t>
            </a:r>
            <a:endParaRPr lang="en-US" sz="3000" dirty="0" smtClean="0"/>
          </a:p>
          <a:p>
            <a:pPr eaLnBrk="1" hangingPunct="1">
              <a:buFont typeface="Wingdings 2" panose="05020102010507070707" pitchFamily="18" charset="2"/>
              <a:buNone/>
            </a:pPr>
            <a:endParaRPr lang="en-US" sz="3000" dirty="0" smtClean="0"/>
          </a:p>
          <a:p>
            <a:pPr eaLnBrk="1" hangingPunct="1">
              <a:buFont typeface="Wingdings 2" panose="05020102010507070707" pitchFamily="18" charset="2"/>
              <a:buNone/>
            </a:pPr>
            <a:r>
              <a:rPr lang="en-US" sz="3000" dirty="0" smtClean="0"/>
              <a:t>“  The falseness of a judgment is to us not necessarily an objection to a judgment... The question is to what extent it is life-advancing, life-preserving, species-preserving, perhaps even species-breeding...“ </a:t>
            </a:r>
            <a:endParaRPr lang="en-US" sz="3000" dirty="0" smtClean="0"/>
          </a:p>
          <a:p>
            <a:pPr eaLnBrk="1" hangingPunct="1">
              <a:buFont typeface="Wingdings 2" panose="05020102010507070707" pitchFamily="18" charset="2"/>
              <a:buNone/>
            </a:pPr>
            <a:endParaRPr lang="en-US" sz="2800" dirty="0" smtClean="0"/>
          </a:p>
          <a:p>
            <a:pPr eaLnBrk="1" hangingPunct="1">
              <a:buFont typeface="Wingdings 2" panose="05020102010507070707" pitchFamily="18" charset="2"/>
              <a:buNone/>
            </a:pPr>
            <a:r>
              <a:rPr lang="en-US" sz="2800" dirty="0" smtClean="0"/>
              <a:t>                     Friedrich Nietzsche, </a:t>
            </a:r>
            <a:r>
              <a:rPr lang="en-US" sz="2800" i="1" dirty="0" smtClean="0"/>
              <a:t>Beyond Good and Evil</a:t>
            </a:r>
            <a:endParaRPr lang="en-US" sz="2800" i="1" dirty="0" smtClean="0"/>
          </a:p>
        </p:txBody>
      </p:sp>
      <p:pic>
        <p:nvPicPr>
          <p:cNvPr id="17412" name="Picture 1"/>
          <p:cNvPicPr>
            <a:picLocks noChangeAspect="1" noChangeArrowheads="1"/>
          </p:cNvPicPr>
          <p:nvPr/>
        </p:nvPicPr>
        <p:blipFill>
          <a:blip r:embed="rId1" cstate="print"/>
          <a:srcRect/>
          <a:stretch>
            <a:fillRect/>
          </a:stretch>
        </p:blipFill>
        <p:spPr bwMode="auto">
          <a:xfrm>
            <a:off x="228600" y="228600"/>
            <a:ext cx="1079500" cy="1524000"/>
          </a:xfrm>
          <a:prstGeom prst="rect">
            <a:avLst/>
          </a:prstGeom>
          <a:noFill/>
          <a:ln w="9525">
            <a:noFill/>
            <a:miter lim="800000"/>
            <a:headEnd/>
            <a:tailEnd/>
          </a:ln>
        </p:spPr>
      </p:pic>
      <p:sp>
        <p:nvSpPr>
          <p:cNvPr id="5" name="Date Placeholder 4"/>
          <p:cNvSpPr>
            <a:spLocks noGrp="1"/>
          </p:cNvSpPr>
          <p:nvPr>
            <p:ph type="dt" sz="half" idx="10"/>
          </p:nvPr>
        </p:nvSpPr>
        <p:spPr/>
        <p:txBody>
          <a:bodyPr/>
          <a:lstStyle/>
          <a:p>
            <a:r>
              <a:rPr lang="en-US" smtClean="0"/>
              <a:t>A K Datta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Footer Placeholder 6"/>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0" name="Picture 2"/>
          <p:cNvPicPr>
            <a:picLocks noChangeAspect="1" noChangeArrowheads="1"/>
          </p:cNvPicPr>
          <p:nvPr/>
        </p:nvPicPr>
        <p:blipFill>
          <a:blip r:embed="rId1">
            <a:lum contrast="30000"/>
          </a:blip>
          <a:srcRect l="4266" t="5836" r="4266" b="5836"/>
          <a:stretch>
            <a:fillRect/>
          </a:stretch>
        </p:blipFill>
        <p:spPr bwMode="auto">
          <a:xfrm>
            <a:off x="1371600" y="914400"/>
            <a:ext cx="6804000" cy="4803293"/>
          </a:xfrm>
          <a:prstGeom prst="rect">
            <a:avLst/>
          </a:prstGeom>
          <a:noFill/>
          <a:ln w="9525">
            <a:noFill/>
            <a:miter lim="800000"/>
            <a:headEnd/>
            <a:tailEnd/>
          </a:ln>
        </p:spPr>
      </p:pic>
      <p:sp>
        <p:nvSpPr>
          <p:cNvPr id="3" name="Date Placeholder 2"/>
          <p:cNvSpPr>
            <a:spLocks noGrp="1"/>
          </p:cNvSpPr>
          <p:nvPr>
            <p:ph type="dt" sz="half" idx="10"/>
          </p:nvPr>
        </p:nvSpPr>
        <p:spPr/>
        <p:txBody>
          <a:bodyPr/>
          <a:lstStyle/>
          <a:p>
            <a:r>
              <a:rPr lang="en-US" smtClean="0"/>
              <a:t>A K Datta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Grp="1" noChangeArrowheads="1"/>
          </p:cNvSpPr>
          <p:nvPr>
            <p:ph type="body" idx="1"/>
          </p:nvPr>
        </p:nvSpPr>
        <p:spPr>
          <a:xfrm>
            <a:off x="304800" y="1524000"/>
            <a:ext cx="8686800" cy="5029200"/>
          </a:xfrm>
        </p:spPr>
        <p:txBody>
          <a:bodyPr>
            <a:noAutofit/>
          </a:bodyPr>
          <a:lstStyle/>
          <a:p>
            <a:pPr eaLnBrk="1" hangingPunct="1">
              <a:lnSpc>
                <a:spcPts val="3600"/>
              </a:lnSpc>
            </a:pPr>
            <a:r>
              <a:rPr lang="en-US" sz="2800" dirty="0" smtClean="0">
                <a:latin typeface="Book Antiqua" pitchFamily="18" charset="0"/>
              </a:rPr>
              <a:t>The correspondence theory of truth claims that the truth of a statement depends on its relation to the world of facts. A statement is true if and only if it corresponds to the facts. </a:t>
            </a:r>
            <a:endParaRPr lang="en-US" sz="2800" dirty="0" smtClean="0">
              <a:latin typeface="Book Antiqua" pitchFamily="18" charset="0"/>
            </a:endParaRPr>
          </a:p>
          <a:p>
            <a:pPr eaLnBrk="1" hangingPunct="1">
              <a:lnSpc>
                <a:spcPts val="3600"/>
              </a:lnSpc>
            </a:pPr>
            <a:endParaRPr lang="en-US" dirty="0" smtClean="0">
              <a:latin typeface="Book Antiqua" pitchFamily="18" charset="0"/>
            </a:endParaRPr>
          </a:p>
          <a:p>
            <a:pPr eaLnBrk="1" hangingPunct="1">
              <a:lnSpc>
                <a:spcPts val="3600"/>
              </a:lnSpc>
            </a:pPr>
            <a:r>
              <a:rPr lang="en-US" sz="2800" dirty="0" smtClean="0">
                <a:solidFill>
                  <a:srgbClr val="006600"/>
                </a:solidFill>
                <a:latin typeface="Book Antiqua" pitchFamily="18" charset="0"/>
              </a:rPr>
              <a:t>Objection:</a:t>
            </a:r>
            <a:r>
              <a:rPr lang="en-US" sz="2800" dirty="0" smtClean="0">
                <a:latin typeface="Book Antiqua" pitchFamily="18" charset="0"/>
              </a:rPr>
              <a:t> </a:t>
            </a:r>
            <a:endParaRPr lang="en-US" sz="2800" dirty="0" smtClean="0">
              <a:latin typeface="Book Antiqua" pitchFamily="18" charset="0"/>
            </a:endParaRPr>
          </a:p>
          <a:p>
            <a:pPr eaLnBrk="1" hangingPunct="1">
              <a:lnSpc>
                <a:spcPts val="3600"/>
              </a:lnSpc>
              <a:buNone/>
            </a:pPr>
            <a:r>
              <a:rPr lang="en-US" sz="2800" dirty="0" smtClean="0">
                <a:latin typeface="Book Antiqua" pitchFamily="18" charset="0"/>
              </a:rPr>
              <a:t>	If we know only our sensory experiences, how can we ever get outside them to verify what reality actually is? What does correspondence mean? Precisely what is a fact?</a:t>
            </a:r>
            <a:endParaRPr lang="en-US" sz="2800" dirty="0" smtClean="0">
              <a:latin typeface="Book Antiqua" pitchFamily="18" charset="0"/>
            </a:endParaRPr>
          </a:p>
        </p:txBody>
      </p:sp>
      <p:sp>
        <p:nvSpPr>
          <p:cNvPr id="5" name="Rectangle 4"/>
          <p:cNvSpPr/>
          <p:nvPr/>
        </p:nvSpPr>
        <p:spPr>
          <a:xfrm>
            <a:off x="785786" y="3500438"/>
            <a:ext cx="7543800" cy="523220"/>
          </a:xfrm>
          <a:prstGeom prst="rect">
            <a:avLst/>
          </a:prstGeom>
        </p:spPr>
        <p:txBody>
          <a:bodyPr wrap="square">
            <a:spAutoFit/>
          </a:bodyPr>
          <a:lstStyle/>
          <a:p>
            <a:r>
              <a:rPr lang="en-US" sz="2800" b="1" i="1" dirty="0" smtClean="0">
                <a:solidFill>
                  <a:srgbClr val="008000"/>
                </a:solidFill>
              </a:rPr>
              <a:t>p is true if and only if p corresponds to the facts</a:t>
            </a:r>
            <a:endParaRPr lang="en-IN" sz="2800" b="1" i="1" dirty="0">
              <a:solidFill>
                <a:srgbClr val="008000"/>
              </a:solidFill>
            </a:endParaRPr>
          </a:p>
        </p:txBody>
      </p:sp>
      <p:sp>
        <p:nvSpPr>
          <p:cNvPr id="4" name="Title 1"/>
          <p:cNvSpPr>
            <a:spLocks noGrp="1"/>
          </p:cNvSpPr>
          <p:nvPr>
            <p:ph type="title"/>
          </p:nvPr>
        </p:nvSpPr>
        <p:spPr>
          <a:xfrm>
            <a:off x="457200" y="274638"/>
            <a:ext cx="8458200" cy="792162"/>
          </a:xfrm>
        </p:spPr>
        <p:txBody>
          <a:bodyPr>
            <a:normAutofit/>
          </a:bodyPr>
          <a:lstStyle/>
          <a:p>
            <a:pPr eaLnBrk="1" hangingPunct="1"/>
            <a:r>
              <a:rPr lang="en-US" sz="3600" dirty="0" smtClean="0">
                <a:solidFill>
                  <a:srgbClr val="008000"/>
                </a:solidFill>
                <a:latin typeface="Book Antiqua" pitchFamily="18" charset="0"/>
              </a:rPr>
              <a:t>The correspondence theory of truth</a:t>
            </a:r>
            <a:endParaRPr lang="en-US" sz="3600" dirty="0" smtClean="0">
              <a:solidFill>
                <a:srgbClr val="008000"/>
              </a:solidFill>
              <a:latin typeface="Book Antiqua" pitchFamily="18" charset="0"/>
            </a:endParaRPr>
          </a:p>
        </p:txBody>
      </p:sp>
      <p:sp>
        <p:nvSpPr>
          <p:cNvPr id="6" name="TextBox 5"/>
          <p:cNvSpPr txBox="1"/>
          <p:nvPr/>
        </p:nvSpPr>
        <p:spPr>
          <a:xfrm>
            <a:off x="1295400" y="990600"/>
            <a:ext cx="6096000" cy="400110"/>
          </a:xfrm>
          <a:prstGeom prst="rect">
            <a:avLst/>
          </a:prstGeom>
          <a:noFill/>
        </p:spPr>
        <p:txBody>
          <a:bodyPr wrap="square" rtlCol="0">
            <a:spAutoFit/>
          </a:bodyPr>
          <a:lstStyle/>
          <a:p>
            <a:pPr algn="ctr"/>
            <a:r>
              <a:rPr lang="en-IN" sz="2000" b="1" dirty="0" smtClean="0"/>
              <a:t>Aristotle, </a:t>
            </a:r>
            <a:r>
              <a:rPr lang="en-IN" sz="2000" b="1" dirty="0" err="1" smtClean="0"/>
              <a:t>Russel</a:t>
            </a:r>
            <a:r>
              <a:rPr lang="en-IN" sz="2000" b="1" dirty="0" smtClean="0"/>
              <a:t>, J L Austin</a:t>
            </a:r>
            <a:endParaRPr lang="en-IN" sz="2000"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type="body" idx="1"/>
          </p:nvPr>
        </p:nvSpPr>
        <p:spPr>
          <a:xfrm>
            <a:off x="0" y="1142984"/>
            <a:ext cx="8858280" cy="5486400"/>
          </a:xfrm>
        </p:spPr>
        <p:txBody>
          <a:bodyPr>
            <a:noAutofit/>
          </a:bodyPr>
          <a:lstStyle/>
          <a:p>
            <a:pPr eaLnBrk="1" hangingPunct="1"/>
            <a:r>
              <a:rPr lang="en-US" sz="2400" dirty="0" smtClean="0">
                <a:latin typeface="Book Antiqua" pitchFamily="18" charset="0"/>
              </a:rPr>
              <a:t>The coherence theory of truth claims that the truth of a statement depends on its relation to other statements. </a:t>
            </a:r>
            <a:endParaRPr lang="en-US" sz="2400" dirty="0" smtClean="0">
              <a:latin typeface="Book Antiqua" pitchFamily="18" charset="0"/>
            </a:endParaRPr>
          </a:p>
          <a:p>
            <a:pPr eaLnBrk="1" hangingPunct="1">
              <a:buNone/>
            </a:pPr>
            <a:r>
              <a:rPr lang="en-US" sz="2400" dirty="0" smtClean="0">
                <a:latin typeface="Book Antiqua" pitchFamily="18" charset="0"/>
              </a:rPr>
              <a:t>    A statement is true if and only if it coheres or fits in with that system of statements that we already accept. </a:t>
            </a:r>
            <a:endParaRPr lang="en-US" sz="2400" dirty="0" smtClean="0">
              <a:latin typeface="Book Antiqua" pitchFamily="18" charset="0"/>
            </a:endParaRPr>
          </a:p>
          <a:p>
            <a:pPr eaLnBrk="1" hangingPunct="1"/>
            <a:endParaRPr lang="en-US" sz="2400" dirty="0" smtClean="0">
              <a:latin typeface="Book Antiqua" pitchFamily="18" charset="0"/>
            </a:endParaRPr>
          </a:p>
          <a:p>
            <a:pPr eaLnBrk="1" hangingPunct="1"/>
            <a:endParaRPr lang="en-US" sz="2400" dirty="0" smtClean="0">
              <a:latin typeface="Book Antiqua" pitchFamily="18" charset="0"/>
            </a:endParaRPr>
          </a:p>
          <a:p>
            <a:pPr algn="just" eaLnBrk="1" hangingPunct="1"/>
            <a:endParaRPr lang="en-US" sz="2400" dirty="0" smtClean="0">
              <a:solidFill>
                <a:srgbClr val="006600"/>
              </a:solidFill>
              <a:latin typeface="Book Antiqua" pitchFamily="18" charset="0"/>
            </a:endParaRPr>
          </a:p>
          <a:p>
            <a:pPr algn="just" eaLnBrk="1" hangingPunct="1"/>
            <a:r>
              <a:rPr lang="en-US" sz="2400" dirty="0" smtClean="0">
                <a:solidFill>
                  <a:srgbClr val="006600"/>
                </a:solidFill>
                <a:latin typeface="Book Antiqua" pitchFamily="18" charset="0"/>
              </a:rPr>
              <a:t>Objection</a:t>
            </a:r>
            <a:r>
              <a:rPr lang="en-US" sz="2400" dirty="0" smtClean="0">
                <a:latin typeface="Book Antiqua" pitchFamily="18" charset="0"/>
              </a:rPr>
              <a:t>: Coherence is no guarantee of truth. If the first statements are false, they can produce a coherent system of consistent error. There is much disagreement even among idealists over first judgments.</a:t>
            </a:r>
            <a:endParaRPr lang="en-US" sz="2400" dirty="0" smtClean="0">
              <a:latin typeface="Book Antiqua" pitchFamily="18" charset="0"/>
            </a:endParaRPr>
          </a:p>
        </p:txBody>
      </p:sp>
      <p:sp>
        <p:nvSpPr>
          <p:cNvPr id="5" name="Rectangle 4"/>
          <p:cNvSpPr/>
          <p:nvPr/>
        </p:nvSpPr>
        <p:spPr>
          <a:xfrm>
            <a:off x="285720" y="2786058"/>
            <a:ext cx="8458200" cy="936603"/>
          </a:xfrm>
          <a:prstGeom prst="rect">
            <a:avLst/>
          </a:prstGeom>
        </p:spPr>
        <p:txBody>
          <a:bodyPr wrap="square">
            <a:spAutoFit/>
          </a:bodyPr>
          <a:lstStyle/>
          <a:p>
            <a:pPr>
              <a:lnSpc>
                <a:spcPts val="3400"/>
              </a:lnSpc>
            </a:pPr>
            <a:r>
              <a:rPr lang="en-US" sz="2400" b="1" i="1" dirty="0" smtClean="0">
                <a:solidFill>
                  <a:srgbClr val="008000"/>
                </a:solidFill>
              </a:rPr>
              <a:t>p is true if and only if p is logically implied by q, where q is a true statement, and q in turn is logically implied by r, and so on</a:t>
            </a:r>
            <a:endParaRPr lang="en-US" sz="2400" b="1" i="1" dirty="0">
              <a:solidFill>
                <a:srgbClr val="008000"/>
              </a:solidFill>
            </a:endParaRPr>
          </a:p>
        </p:txBody>
      </p:sp>
      <p:sp>
        <p:nvSpPr>
          <p:cNvPr id="4" name="Rectangle 3"/>
          <p:cNvSpPr/>
          <p:nvPr/>
        </p:nvSpPr>
        <p:spPr>
          <a:xfrm>
            <a:off x="357158" y="0"/>
            <a:ext cx="8458200" cy="707886"/>
          </a:xfrm>
          <a:prstGeom prst="rect">
            <a:avLst/>
          </a:prstGeom>
        </p:spPr>
        <p:txBody>
          <a:bodyPr wrap="square">
            <a:spAutoFit/>
          </a:bodyPr>
          <a:lstStyle/>
          <a:p>
            <a:pPr algn="ctr"/>
            <a:r>
              <a:rPr lang="en-US" sz="4000" dirty="0" smtClean="0">
                <a:solidFill>
                  <a:srgbClr val="008000"/>
                </a:solidFill>
                <a:latin typeface="Book Antiqua" pitchFamily="18" charset="0"/>
              </a:rPr>
              <a:t>The coherence theory of truth</a:t>
            </a:r>
            <a:endParaRPr lang="en-IN" sz="4000" dirty="0">
              <a:solidFill>
                <a:srgbClr val="008000"/>
              </a:solidFill>
              <a:latin typeface="Book Antiqua" pitchFamily="18" charset="0"/>
            </a:endParaRPr>
          </a:p>
        </p:txBody>
      </p:sp>
      <p:sp>
        <p:nvSpPr>
          <p:cNvPr id="6" name="TextBox 5"/>
          <p:cNvSpPr txBox="1"/>
          <p:nvPr/>
        </p:nvSpPr>
        <p:spPr>
          <a:xfrm>
            <a:off x="1428728" y="714356"/>
            <a:ext cx="5867400" cy="400110"/>
          </a:xfrm>
          <a:prstGeom prst="rect">
            <a:avLst/>
          </a:prstGeom>
          <a:noFill/>
        </p:spPr>
        <p:txBody>
          <a:bodyPr wrap="square" rtlCol="0">
            <a:spAutoFit/>
          </a:bodyPr>
          <a:lstStyle/>
          <a:p>
            <a:pPr algn="ctr"/>
            <a:r>
              <a:rPr lang="en-IN" b="1" dirty="0" smtClean="0"/>
              <a:t> </a:t>
            </a:r>
            <a:r>
              <a:rPr lang="en-IN" sz="2000" b="1" dirty="0" smtClean="0"/>
              <a:t>Leibniz,  G.W.F. Hegel, Russell</a:t>
            </a:r>
            <a:endParaRPr lang="en-IN" sz="2000"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228600" y="1295400"/>
            <a:ext cx="8686800" cy="5486400"/>
          </a:xfrm>
        </p:spPr>
        <p:txBody>
          <a:bodyPr>
            <a:noAutofit/>
          </a:bodyPr>
          <a:lstStyle/>
          <a:p>
            <a:pPr algn="just" eaLnBrk="1" hangingPunct="1">
              <a:lnSpc>
                <a:spcPts val="3200"/>
              </a:lnSpc>
            </a:pPr>
            <a:r>
              <a:rPr lang="en-US" sz="2400" dirty="0" smtClean="0">
                <a:latin typeface="Book Antiqua" pitchFamily="18" charset="0"/>
              </a:rPr>
              <a:t>The pragmatic theory claims that truth depends on what works. A statement is true if and only if it effectively solves a practical problem and thereby experientially satisfies us. </a:t>
            </a:r>
            <a:endParaRPr lang="en-US" sz="2400" dirty="0" smtClean="0">
              <a:latin typeface="Book Antiqua" pitchFamily="18" charset="0"/>
            </a:endParaRPr>
          </a:p>
          <a:p>
            <a:pPr algn="just" eaLnBrk="1" hangingPunct="1">
              <a:lnSpc>
                <a:spcPts val="3200"/>
              </a:lnSpc>
              <a:buNone/>
            </a:pPr>
            <a:r>
              <a:rPr lang="en-US" sz="2400" dirty="0" smtClean="0">
                <a:latin typeface="Book Antiqua" pitchFamily="18" charset="0"/>
              </a:rPr>
              <a:t>	The pragmatist sees the human as needing to use the practical consequences of beliefs to determine their truth and validity. </a:t>
            </a:r>
            <a:endParaRPr lang="en-US" sz="2400" dirty="0" smtClean="0">
              <a:latin typeface="Book Antiqua" pitchFamily="18" charset="0"/>
            </a:endParaRPr>
          </a:p>
          <a:p>
            <a:pPr algn="just" eaLnBrk="1" hangingPunct="1">
              <a:lnSpc>
                <a:spcPts val="3200"/>
              </a:lnSpc>
            </a:pPr>
            <a:endParaRPr lang="en-US" sz="2400" dirty="0" smtClean="0">
              <a:latin typeface="Book Antiqua" pitchFamily="18" charset="0"/>
            </a:endParaRPr>
          </a:p>
          <a:p>
            <a:pPr algn="just" eaLnBrk="1" hangingPunct="1">
              <a:lnSpc>
                <a:spcPts val="3200"/>
              </a:lnSpc>
            </a:pPr>
            <a:endParaRPr lang="en-US" sz="2400" dirty="0" smtClean="0">
              <a:latin typeface="Book Antiqua" pitchFamily="18" charset="0"/>
            </a:endParaRPr>
          </a:p>
          <a:p>
            <a:pPr algn="just" eaLnBrk="1" hangingPunct="1">
              <a:lnSpc>
                <a:spcPts val="3200"/>
              </a:lnSpc>
            </a:pPr>
            <a:r>
              <a:rPr lang="en-US" sz="2400" dirty="0" smtClean="0">
                <a:solidFill>
                  <a:srgbClr val="006600"/>
                </a:solidFill>
                <a:latin typeface="Book Antiqua" pitchFamily="18" charset="0"/>
              </a:rPr>
              <a:t>Objection</a:t>
            </a:r>
            <a:r>
              <a:rPr lang="en-US" sz="2400" dirty="0" smtClean="0">
                <a:latin typeface="Book Antiqua" pitchFamily="18" charset="0"/>
              </a:rPr>
              <a:t>: There's no necessary connection between truth and workability. Truth is rendered a psychological, not an epistemological, concern, and it can become relative.</a:t>
            </a:r>
            <a:endParaRPr lang="en-US" sz="2400" dirty="0" smtClean="0">
              <a:latin typeface="Book Antiqua" pitchFamily="18" charset="0"/>
            </a:endParaRPr>
          </a:p>
        </p:txBody>
      </p:sp>
      <p:sp>
        <p:nvSpPr>
          <p:cNvPr id="6" name="Rectangle 5"/>
          <p:cNvSpPr/>
          <p:nvPr/>
        </p:nvSpPr>
        <p:spPr>
          <a:xfrm>
            <a:off x="838200" y="4253865"/>
            <a:ext cx="7696200" cy="830997"/>
          </a:xfrm>
          <a:prstGeom prst="rect">
            <a:avLst/>
          </a:prstGeom>
        </p:spPr>
        <p:txBody>
          <a:bodyPr wrap="square">
            <a:spAutoFit/>
          </a:bodyPr>
          <a:lstStyle/>
          <a:p>
            <a:r>
              <a:rPr lang="en-US" sz="2400" b="1" i="1" dirty="0" smtClean="0">
                <a:solidFill>
                  <a:srgbClr val="008000"/>
                </a:solidFill>
              </a:rPr>
              <a:t>Proposition p is true if and only if the belief that “p is true” works</a:t>
            </a:r>
            <a:endParaRPr lang="en-IN" sz="2400" b="1" i="1" dirty="0">
              <a:solidFill>
                <a:srgbClr val="008000"/>
              </a:solidFill>
            </a:endParaRPr>
          </a:p>
        </p:txBody>
      </p:sp>
      <p:sp>
        <p:nvSpPr>
          <p:cNvPr id="4" name="Title 1"/>
          <p:cNvSpPr>
            <a:spLocks noGrp="1"/>
          </p:cNvSpPr>
          <p:nvPr>
            <p:ph type="title"/>
          </p:nvPr>
        </p:nvSpPr>
        <p:spPr>
          <a:xfrm>
            <a:off x="457200" y="76200"/>
            <a:ext cx="8229600" cy="944563"/>
          </a:xfrm>
        </p:spPr>
        <p:txBody>
          <a:bodyPr>
            <a:normAutofit/>
          </a:bodyPr>
          <a:lstStyle/>
          <a:p>
            <a:pPr eaLnBrk="1" hangingPunct="1"/>
            <a:r>
              <a:rPr lang="en-US" sz="4000" dirty="0" smtClean="0">
                <a:solidFill>
                  <a:srgbClr val="008000"/>
                </a:solidFill>
                <a:latin typeface="Book Antiqua" pitchFamily="18" charset="0"/>
              </a:rPr>
              <a:t>Pragmatic theory of truth </a:t>
            </a:r>
            <a:endParaRPr lang="en-US" sz="4000" dirty="0" smtClean="0">
              <a:solidFill>
                <a:srgbClr val="008000"/>
              </a:solidFill>
              <a:latin typeface="Book Antiqua" pitchFamily="18" charset="0"/>
            </a:endParaRPr>
          </a:p>
        </p:txBody>
      </p:sp>
      <p:sp>
        <p:nvSpPr>
          <p:cNvPr id="5" name="TextBox 4"/>
          <p:cNvSpPr txBox="1"/>
          <p:nvPr/>
        </p:nvSpPr>
        <p:spPr>
          <a:xfrm>
            <a:off x="1066800" y="914400"/>
            <a:ext cx="6553200" cy="400110"/>
          </a:xfrm>
          <a:prstGeom prst="rect">
            <a:avLst/>
          </a:prstGeom>
          <a:noFill/>
        </p:spPr>
        <p:txBody>
          <a:bodyPr wrap="square" rtlCol="0">
            <a:spAutoFit/>
          </a:bodyPr>
          <a:lstStyle/>
          <a:p>
            <a:pPr algn="ctr"/>
            <a:r>
              <a:rPr lang="en-IN" sz="2000" b="1" dirty="0" smtClean="0"/>
              <a:t>C. S.  Peirce, W. James, and John Dewey. </a:t>
            </a:r>
            <a:r>
              <a:rPr lang="en-IN" sz="2000" b="1" dirty="0" err="1" smtClean="0"/>
              <a:t>Russel</a:t>
            </a:r>
            <a:endParaRPr lang="en-IN" sz="2000" b="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CHAPTER SIX: TRUTH</a:t>
            </a:r>
            <a:endParaRPr lang="en-US"/>
          </a:p>
        </p:txBody>
      </p:sp>
      <p:sp>
        <p:nvSpPr>
          <p:cNvPr id="11268" name="Rectangle 3"/>
          <p:cNvSpPr>
            <a:spLocks noGrp="1" noChangeArrowheads="1"/>
          </p:cNvSpPr>
          <p:nvPr>
            <p:ph type="body" idx="1"/>
          </p:nvPr>
        </p:nvSpPr>
        <p:spPr>
          <a:xfrm>
            <a:off x="152400" y="1143000"/>
            <a:ext cx="8991600" cy="4525963"/>
          </a:xfrm>
        </p:spPr>
        <p:txBody>
          <a:bodyPr/>
          <a:lstStyle/>
          <a:p>
            <a:pPr eaLnBrk="1" hangingPunct="1">
              <a:buNone/>
            </a:pPr>
            <a:endParaRPr lang="en-US" dirty="0" smtClean="0">
              <a:latin typeface="Book Antiqua" pitchFamily="18" charset="0"/>
            </a:endParaRPr>
          </a:p>
          <a:p>
            <a:r>
              <a:rPr lang="en-US" sz="2800" dirty="0" smtClean="0">
                <a:latin typeface="Book Antiqua" pitchFamily="18" charset="0"/>
              </a:rPr>
              <a:t>The </a:t>
            </a:r>
            <a:r>
              <a:rPr lang="en-US" sz="2800" b="1" dirty="0" smtClean="0">
                <a:solidFill>
                  <a:srgbClr val="006600"/>
                </a:solidFill>
                <a:latin typeface="Book Antiqua" pitchFamily="18" charset="0"/>
              </a:rPr>
              <a:t>instrumentalist view </a:t>
            </a:r>
            <a:r>
              <a:rPr lang="en-US" sz="2800" dirty="0" smtClean="0">
                <a:latin typeface="Book Antiqua" pitchFamily="18" charset="0"/>
              </a:rPr>
              <a:t>is similar to the pragmatic theory  </a:t>
            </a:r>
            <a:endParaRPr lang="en-US" sz="2800" dirty="0" smtClean="0">
              <a:latin typeface="Book Antiqua" pitchFamily="18" charset="0"/>
            </a:endParaRPr>
          </a:p>
          <a:p>
            <a:r>
              <a:rPr lang="en-US" sz="2800" dirty="0" smtClean="0">
                <a:latin typeface="Book Antiqua" pitchFamily="18" charset="0"/>
              </a:rPr>
              <a:t>The </a:t>
            </a:r>
            <a:r>
              <a:rPr lang="en-US" sz="2800" b="1" dirty="0" smtClean="0">
                <a:solidFill>
                  <a:srgbClr val="006600"/>
                </a:solidFill>
                <a:latin typeface="Book Antiqua" pitchFamily="18" charset="0"/>
              </a:rPr>
              <a:t>realist view </a:t>
            </a:r>
            <a:r>
              <a:rPr lang="en-US" sz="2800" dirty="0" smtClean="0">
                <a:latin typeface="Book Antiqua" pitchFamily="18" charset="0"/>
              </a:rPr>
              <a:t>is similar to the correspondence theory, and </a:t>
            </a:r>
            <a:endParaRPr lang="en-US" sz="2800" dirty="0" smtClean="0">
              <a:latin typeface="Book Antiqua" pitchFamily="18" charset="0"/>
            </a:endParaRPr>
          </a:p>
          <a:p>
            <a:r>
              <a:rPr lang="en-US" sz="2800" dirty="0" smtClean="0">
                <a:latin typeface="Book Antiqua" pitchFamily="18" charset="0"/>
              </a:rPr>
              <a:t>The </a:t>
            </a:r>
            <a:r>
              <a:rPr lang="en-US" sz="2800" b="1" dirty="0" smtClean="0">
                <a:solidFill>
                  <a:srgbClr val="006600"/>
                </a:solidFill>
                <a:latin typeface="Book Antiqua" pitchFamily="18" charset="0"/>
              </a:rPr>
              <a:t>conceptual relativist view </a:t>
            </a:r>
            <a:r>
              <a:rPr lang="en-US" sz="2800" dirty="0" smtClean="0">
                <a:latin typeface="Book Antiqua" pitchFamily="18" charset="0"/>
              </a:rPr>
              <a:t>is similar to the coherence theory</a:t>
            </a:r>
            <a:endParaRPr lang="en-US" sz="2800" dirty="0" smtClean="0">
              <a:latin typeface="Book Antiqua" pitchFamily="18" charset="0"/>
            </a:endParaRPr>
          </a:p>
        </p:txBody>
      </p:sp>
      <p:sp>
        <p:nvSpPr>
          <p:cNvPr id="6" name="Rectangle 5"/>
          <p:cNvSpPr/>
          <p:nvPr/>
        </p:nvSpPr>
        <p:spPr>
          <a:xfrm>
            <a:off x="357158" y="428604"/>
            <a:ext cx="8340745" cy="646331"/>
          </a:xfrm>
          <a:prstGeom prst="rect">
            <a:avLst/>
          </a:prstGeom>
        </p:spPr>
        <p:txBody>
          <a:bodyPr wrap="none">
            <a:spAutoFit/>
          </a:bodyPr>
          <a:lstStyle/>
          <a:p>
            <a:r>
              <a:rPr lang="en-US" sz="3600" dirty="0" smtClean="0">
                <a:solidFill>
                  <a:srgbClr val="008000"/>
                </a:solidFill>
                <a:latin typeface="Book Antiqua" pitchFamily="18" charset="0"/>
              </a:rPr>
              <a:t>There are three views of truth in science</a:t>
            </a:r>
            <a:endParaRPr lang="en-IN" sz="3600" dirty="0">
              <a:solidFill>
                <a:srgbClr val="008000"/>
              </a:solidFill>
              <a:latin typeface="Book Antiqua"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lstStyle/>
          <a:p>
            <a:r>
              <a:rPr lang="en-US" sz="3600" dirty="0" smtClean="0">
                <a:solidFill>
                  <a:srgbClr val="006600"/>
                </a:solidFill>
                <a:latin typeface="Bookman Old Style" pitchFamily="18" charset="0"/>
              </a:rPr>
              <a:t>Hindu way of explaining the truth </a:t>
            </a:r>
            <a:endParaRPr lang="en-US" sz="3600" dirty="0">
              <a:solidFill>
                <a:srgbClr val="006600"/>
              </a:solidFill>
              <a:latin typeface="Bookman Old Style" pitchFamily="18" charset="0"/>
            </a:endParaRPr>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1026" name="Picture 2" descr="Sarnath capital.jpg"/>
          <p:cNvPicPr>
            <a:picLocks noChangeAspect="1" noChangeArrowheads="1"/>
          </p:cNvPicPr>
          <p:nvPr/>
        </p:nvPicPr>
        <p:blipFill>
          <a:blip r:embed="rId1"/>
          <a:srcRect/>
          <a:stretch>
            <a:fillRect/>
          </a:stretch>
        </p:blipFill>
        <p:spPr bwMode="auto">
          <a:xfrm>
            <a:off x="428596" y="1428736"/>
            <a:ext cx="2076480" cy="3708000"/>
          </a:xfrm>
          <a:prstGeom prst="rect">
            <a:avLst/>
          </a:prstGeom>
          <a:noFill/>
        </p:spPr>
      </p:pic>
      <p:graphicFrame>
        <p:nvGraphicFramePr>
          <p:cNvPr id="10" name="Table 9"/>
          <p:cNvGraphicFramePr>
            <a:graphicFrameLocks noGrp="1"/>
          </p:cNvGraphicFramePr>
          <p:nvPr/>
        </p:nvGraphicFramePr>
        <p:xfrm>
          <a:off x="2786050" y="1285860"/>
          <a:ext cx="6143668" cy="5299102"/>
        </p:xfrm>
        <a:graphic>
          <a:graphicData uri="http://schemas.openxmlformats.org/drawingml/2006/table">
            <a:tbl>
              <a:tblPr/>
              <a:tblGrid>
                <a:gridCol w="3071834"/>
                <a:gridCol w="3071834"/>
              </a:tblGrid>
              <a:tr h="1413565">
                <a:tc gridSpan="2">
                  <a:txBody>
                    <a:bodyPr/>
                    <a:lstStyle/>
                    <a:p>
                      <a:pPr algn="just"/>
                      <a:r>
                        <a:rPr lang="en-IN" sz="2400" dirty="0">
                          <a:latin typeface="+mn-lt"/>
                        </a:rPr>
                        <a:t>Four Asiatic lions stand back to back on a circular abacus. The Buddhist wheel of the moral law appears in relief below each lion. Between the chakras appear four animals in profile—horse, bull, elephant, and lion. The architectural </a:t>
                      </a:r>
                      <a:r>
                        <a:rPr lang="en-IN" sz="2400" i="1" dirty="0">
                          <a:latin typeface="+mn-lt"/>
                        </a:rPr>
                        <a:t>bell</a:t>
                      </a:r>
                      <a:r>
                        <a:rPr lang="en-IN" sz="2400" dirty="0">
                          <a:latin typeface="+mn-lt"/>
                        </a:rPr>
                        <a:t> below the abacus, is a stylized upside-down lotus</a:t>
                      </a:r>
                      <a:endParaRPr lang="en-IN" sz="2400" dirty="0">
                        <a:latin typeface="+mn-lt"/>
                      </a:endParaRPr>
                    </a:p>
                  </a:txBody>
                  <a:tcPr marL="88348" marR="88348" marT="44174" marB="44174" anchor="ctr">
                    <a:lnL>
                      <a:noFill/>
                    </a:lnL>
                    <a:lnR>
                      <a:noFill/>
                    </a:lnR>
                    <a:lnT>
                      <a:noFill/>
                    </a:lnT>
                    <a:lnB>
                      <a:noFill/>
                    </a:lnB>
                  </a:tcPr>
                </a:tc>
                <a:tc hMerge="1">
                  <a:tcPr/>
                </a:tc>
              </a:tr>
              <a:tr h="353391">
                <a:tc>
                  <a:txBody>
                    <a:bodyPr/>
                    <a:lstStyle/>
                    <a:p>
                      <a:r>
                        <a:rPr lang="en-US" sz="1700"/>
                        <a:t>Material</a:t>
                      </a:r>
                      <a:endParaRPr lang="en-US" sz="1700"/>
                    </a:p>
                  </a:txBody>
                  <a:tcPr marL="88348" marR="88348" marT="44174" marB="44174" anchor="ctr">
                    <a:lnL>
                      <a:noFill/>
                    </a:lnL>
                    <a:lnR>
                      <a:noFill/>
                    </a:lnR>
                    <a:lnT>
                      <a:noFill/>
                    </a:lnT>
                    <a:lnB>
                      <a:noFill/>
                    </a:lnB>
                  </a:tcPr>
                </a:tc>
                <a:tc>
                  <a:txBody>
                    <a:bodyPr/>
                    <a:lstStyle/>
                    <a:p>
                      <a:r>
                        <a:rPr lang="en-US" sz="1700" dirty="0"/>
                        <a:t>Sandstone</a:t>
                      </a:r>
                      <a:endParaRPr lang="en-US" sz="1700" dirty="0"/>
                    </a:p>
                  </a:txBody>
                  <a:tcPr marL="88348" marR="88348" marT="44174" marB="44174" anchor="ctr">
                    <a:lnL>
                      <a:noFill/>
                    </a:lnL>
                    <a:lnR>
                      <a:noFill/>
                    </a:lnR>
                    <a:lnT>
                      <a:noFill/>
                    </a:lnT>
                    <a:lnB>
                      <a:noFill/>
                    </a:lnB>
                  </a:tcPr>
                </a:tc>
              </a:tr>
              <a:tr h="353391">
                <a:tc>
                  <a:txBody>
                    <a:bodyPr/>
                    <a:lstStyle/>
                    <a:p>
                      <a:r>
                        <a:rPr lang="en-US" sz="1700"/>
                        <a:t>Height</a:t>
                      </a:r>
                      <a:endParaRPr lang="en-US" sz="1700"/>
                    </a:p>
                  </a:txBody>
                  <a:tcPr marL="88348" marR="88348" marT="44174" marB="44174" anchor="ctr">
                    <a:lnL>
                      <a:noFill/>
                    </a:lnL>
                    <a:lnR>
                      <a:noFill/>
                    </a:lnR>
                    <a:lnT>
                      <a:noFill/>
                    </a:lnT>
                    <a:lnB>
                      <a:noFill/>
                    </a:lnB>
                  </a:tcPr>
                </a:tc>
                <a:tc>
                  <a:txBody>
                    <a:bodyPr/>
                    <a:lstStyle/>
                    <a:p>
                      <a:r>
                        <a:rPr lang="en-US" sz="1700"/>
                        <a:t>2.1 metres (7 ft)</a:t>
                      </a:r>
                      <a:endParaRPr lang="en-US" sz="1700"/>
                    </a:p>
                  </a:txBody>
                  <a:tcPr marL="88348" marR="88348" marT="44174" marB="44174" anchor="ctr">
                    <a:lnL>
                      <a:noFill/>
                    </a:lnL>
                    <a:lnR>
                      <a:noFill/>
                    </a:lnR>
                    <a:lnT>
                      <a:noFill/>
                    </a:lnT>
                    <a:lnB>
                      <a:noFill/>
                    </a:lnB>
                  </a:tcPr>
                </a:tc>
              </a:tr>
              <a:tr h="618435">
                <a:tc>
                  <a:txBody>
                    <a:bodyPr/>
                    <a:lstStyle/>
                    <a:p>
                      <a:r>
                        <a:rPr lang="en-US" sz="1700"/>
                        <a:t>Width</a:t>
                      </a:r>
                      <a:endParaRPr lang="en-US" sz="1700"/>
                    </a:p>
                  </a:txBody>
                  <a:tcPr marL="88348" marR="88348" marT="44174" marB="44174" anchor="ctr">
                    <a:lnL>
                      <a:noFill/>
                    </a:lnL>
                    <a:lnR>
                      <a:noFill/>
                    </a:lnR>
                    <a:lnT>
                      <a:noFill/>
                    </a:lnT>
                    <a:lnB>
                      <a:noFill/>
                    </a:lnB>
                  </a:tcPr>
                </a:tc>
                <a:tc>
                  <a:txBody>
                    <a:bodyPr/>
                    <a:lstStyle/>
                    <a:p>
                      <a:r>
                        <a:rPr lang="en-IN" sz="1700"/>
                        <a:t>86 centimetres (34 in) (diameter of abacus)</a:t>
                      </a:r>
                      <a:endParaRPr lang="en-IN" sz="1700"/>
                    </a:p>
                  </a:txBody>
                  <a:tcPr marL="88348" marR="88348" marT="44174" marB="44174" anchor="ctr">
                    <a:lnL>
                      <a:noFill/>
                    </a:lnL>
                    <a:lnR>
                      <a:noFill/>
                    </a:lnR>
                    <a:lnT>
                      <a:noFill/>
                    </a:lnT>
                    <a:lnB>
                      <a:noFill/>
                    </a:lnB>
                  </a:tcPr>
                </a:tc>
              </a:tr>
              <a:tr h="353391">
                <a:tc>
                  <a:txBody>
                    <a:bodyPr/>
                    <a:lstStyle/>
                    <a:p>
                      <a:r>
                        <a:rPr lang="en-US" sz="1700"/>
                        <a:t>Created</a:t>
                      </a:r>
                      <a:endParaRPr lang="en-US" sz="1700"/>
                    </a:p>
                  </a:txBody>
                  <a:tcPr marL="88348" marR="88348" marT="44174" marB="44174" anchor="ctr">
                    <a:lnL>
                      <a:noFill/>
                    </a:lnL>
                    <a:lnR>
                      <a:noFill/>
                    </a:lnR>
                    <a:lnT>
                      <a:noFill/>
                    </a:lnT>
                    <a:lnB>
                      <a:noFill/>
                    </a:lnB>
                  </a:tcPr>
                </a:tc>
                <a:tc>
                  <a:txBody>
                    <a:bodyPr/>
                    <a:lstStyle/>
                    <a:p>
                      <a:r>
                        <a:rPr lang="en-US" sz="1700"/>
                        <a:t>3rd century BCE</a:t>
                      </a:r>
                      <a:endParaRPr lang="en-US" sz="1700"/>
                    </a:p>
                  </a:txBody>
                  <a:tcPr marL="88348" marR="88348" marT="44174" marB="44174" anchor="ctr">
                    <a:lnL>
                      <a:noFill/>
                    </a:lnL>
                    <a:lnR>
                      <a:noFill/>
                    </a:lnR>
                    <a:lnT>
                      <a:noFill/>
                    </a:lnT>
                    <a:lnB>
                      <a:noFill/>
                    </a:lnB>
                  </a:tcPr>
                </a:tc>
              </a:tr>
              <a:tr h="618435">
                <a:tc>
                  <a:txBody>
                    <a:bodyPr/>
                    <a:lstStyle/>
                    <a:p>
                      <a:r>
                        <a:rPr lang="en-US" sz="1700"/>
                        <a:t>Discovered</a:t>
                      </a:r>
                      <a:endParaRPr lang="en-US" sz="1700"/>
                    </a:p>
                  </a:txBody>
                  <a:tcPr marL="88348" marR="88348" marT="44174" marB="44174" anchor="ctr">
                    <a:lnL>
                      <a:noFill/>
                    </a:lnL>
                    <a:lnR>
                      <a:noFill/>
                    </a:lnR>
                    <a:lnT>
                      <a:noFill/>
                    </a:lnT>
                    <a:lnB>
                      <a:noFill/>
                    </a:lnB>
                  </a:tcPr>
                </a:tc>
                <a:tc>
                  <a:txBody>
                    <a:bodyPr/>
                    <a:lstStyle/>
                    <a:p>
                      <a:r>
                        <a:rPr lang="en-US" sz="1700" dirty="0"/>
                        <a:t>F. O. </a:t>
                      </a:r>
                      <a:r>
                        <a:rPr lang="en-US" sz="1700" dirty="0" err="1"/>
                        <a:t>Oertel</a:t>
                      </a:r>
                      <a:r>
                        <a:rPr lang="en-US" sz="1700" dirty="0"/>
                        <a:t> (excavator), 1904–1905</a:t>
                      </a:r>
                      <a:endParaRPr lang="en-US" sz="1700" dirty="0"/>
                    </a:p>
                  </a:txBody>
                  <a:tcPr marL="88348" marR="88348" marT="44174" marB="44174" anchor="ctr">
                    <a:lnL>
                      <a:noFill/>
                    </a:lnL>
                    <a:lnR>
                      <a:noFill/>
                    </a:lnR>
                    <a:lnT>
                      <a:noFill/>
                    </a:lnT>
                    <a:lnB>
                      <a:noFill/>
                    </a:lnB>
                  </a:tcPr>
                </a:tc>
              </a:tr>
              <a:tr h="353391">
                <a:tc>
                  <a:txBody>
                    <a:bodyPr/>
                    <a:lstStyle/>
                    <a:p>
                      <a:r>
                        <a:rPr lang="en-US" sz="1700"/>
                        <a:t>Present location</a:t>
                      </a:r>
                      <a:endParaRPr lang="en-US" sz="1700"/>
                    </a:p>
                  </a:txBody>
                  <a:tcPr marL="88348" marR="88348" marT="44174" marB="44174" anchor="ctr">
                    <a:lnL>
                      <a:noFill/>
                    </a:lnL>
                    <a:lnR>
                      <a:noFill/>
                    </a:lnR>
                    <a:lnT>
                      <a:noFill/>
                    </a:lnT>
                    <a:lnB>
                      <a:noFill/>
                    </a:lnB>
                  </a:tcPr>
                </a:tc>
                <a:tc>
                  <a:txBody>
                    <a:bodyPr/>
                    <a:lstStyle/>
                    <a:p>
                      <a:r>
                        <a:rPr lang="en-US" sz="1700" dirty="0" err="1"/>
                        <a:t>Sarnath</a:t>
                      </a:r>
                      <a:r>
                        <a:rPr lang="en-US" sz="1700" dirty="0"/>
                        <a:t> Museum, India</a:t>
                      </a:r>
                      <a:endParaRPr lang="en-US" sz="1700" dirty="0"/>
                    </a:p>
                  </a:txBody>
                  <a:tcPr marL="88348" marR="88348" marT="44174" marB="44174" anchor="ctr">
                    <a:lnL>
                      <a:noFill/>
                    </a:lnL>
                    <a:lnR>
                      <a:noFill/>
                    </a:lnR>
                    <a:lnT>
                      <a:noFill/>
                    </a:lnT>
                    <a:lnB>
                      <a:noFill/>
                    </a:lnB>
                  </a:tcPr>
                </a:tc>
              </a:tr>
            </a:tbl>
          </a:graphicData>
        </a:graphic>
      </p:graphicFrame>
      <p:pic>
        <p:nvPicPr>
          <p:cNvPr id="1028" name="Picture 4" descr="C:\Users\Asit Datta\Desktop\desktop-wallpaper-ashok-stambh-logo-transparent-png.jpg"/>
          <p:cNvPicPr>
            <a:picLocks noChangeAspect="1" noChangeArrowheads="1"/>
          </p:cNvPicPr>
          <p:nvPr/>
        </p:nvPicPr>
        <p:blipFill>
          <a:blip r:embed="rId2"/>
          <a:srcRect/>
          <a:stretch>
            <a:fillRect/>
          </a:stretch>
        </p:blipFill>
        <p:spPr bwMode="auto">
          <a:xfrm>
            <a:off x="214282" y="5143512"/>
            <a:ext cx="2340000" cy="41293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blinds(horizontal)">
                                      <p:cBhvr>
                                        <p:cTn id="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2143116"/>
            <a:ext cx="8229600" cy="2500330"/>
          </a:xfrm>
        </p:spPr>
        <p:txBody>
          <a:bodyPr/>
          <a:lstStyle/>
          <a:p>
            <a:pPr>
              <a:buNone/>
            </a:pPr>
            <a:endParaRPr lang="en-US" sz="2800" dirty="0" smtClean="0"/>
          </a:p>
          <a:p>
            <a:r>
              <a:rPr lang="en-US" dirty="0" smtClean="0"/>
              <a:t>“</a:t>
            </a:r>
            <a:r>
              <a:rPr lang="en-US" sz="2800" dirty="0" smtClean="0"/>
              <a:t>Truth alone wins (the Self), but not untruth. By truth is laid out the path of the immortal gods, by which the sages, who are without any desires, ascend to where that supreme treasure of Truth is.”</a:t>
            </a:r>
            <a:endParaRPr lang="en-US" dirty="0"/>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extBox 6"/>
          <p:cNvSpPr txBox="1"/>
          <p:nvPr/>
        </p:nvSpPr>
        <p:spPr>
          <a:xfrm>
            <a:off x="785786" y="428604"/>
            <a:ext cx="7929618" cy="523220"/>
          </a:xfrm>
          <a:prstGeom prst="rect">
            <a:avLst/>
          </a:prstGeom>
          <a:noFill/>
        </p:spPr>
        <p:txBody>
          <a:bodyPr wrap="square" rtlCol="0">
            <a:spAutoFit/>
          </a:bodyPr>
          <a:lstStyle/>
          <a:p>
            <a:r>
              <a:rPr lang="en-US" sz="2800" dirty="0" err="1" smtClean="0">
                <a:solidFill>
                  <a:srgbClr val="006600"/>
                </a:solidFill>
              </a:rPr>
              <a:t>Mundaka</a:t>
            </a:r>
            <a:r>
              <a:rPr lang="en-US" sz="2800" u="sng" dirty="0" smtClean="0">
                <a:solidFill>
                  <a:srgbClr val="006600"/>
                </a:solidFill>
              </a:rPr>
              <a:t> </a:t>
            </a:r>
            <a:r>
              <a:rPr lang="en-US" sz="2800" dirty="0" smtClean="0">
                <a:solidFill>
                  <a:srgbClr val="006600"/>
                </a:solidFill>
              </a:rPr>
              <a:t>Upanishad 3</a:t>
            </a:r>
            <a:r>
              <a:rPr lang="en-US" sz="2800" baseline="30000" dirty="0" smtClean="0">
                <a:solidFill>
                  <a:srgbClr val="006600"/>
                </a:solidFill>
              </a:rPr>
              <a:t>rd</a:t>
            </a:r>
            <a:r>
              <a:rPr lang="en-US" sz="2800" dirty="0" smtClean="0">
                <a:solidFill>
                  <a:srgbClr val="006600"/>
                </a:solidFill>
              </a:rPr>
              <a:t> part, </a:t>
            </a:r>
            <a:r>
              <a:rPr lang="en-US" sz="2800" dirty="0" err="1" smtClean="0">
                <a:solidFill>
                  <a:srgbClr val="006600"/>
                </a:solidFill>
              </a:rPr>
              <a:t>sloka</a:t>
            </a:r>
            <a:r>
              <a:rPr lang="en-US" sz="2800" dirty="0" smtClean="0">
                <a:solidFill>
                  <a:srgbClr val="006600"/>
                </a:solidFill>
              </a:rPr>
              <a:t> 1.6</a:t>
            </a:r>
            <a:endParaRPr lang="en-US" sz="2800" dirty="0">
              <a:solidFill>
                <a:srgbClr val="006600"/>
              </a:solidFill>
            </a:endParaRPr>
          </a:p>
        </p:txBody>
      </p:sp>
      <p:sp>
        <p:nvSpPr>
          <p:cNvPr id="8" name="TextBox 7"/>
          <p:cNvSpPr txBox="1"/>
          <p:nvPr/>
        </p:nvSpPr>
        <p:spPr>
          <a:xfrm>
            <a:off x="928662" y="5357826"/>
            <a:ext cx="7786742" cy="954107"/>
          </a:xfrm>
          <a:prstGeom prst="rect">
            <a:avLst/>
          </a:prstGeom>
          <a:noFill/>
        </p:spPr>
        <p:txBody>
          <a:bodyPr wrap="square" rtlCol="0">
            <a:spAutoFit/>
          </a:bodyPr>
          <a:lstStyle/>
          <a:p>
            <a:r>
              <a:rPr lang="en-US" sz="2800" dirty="0" smtClean="0">
                <a:solidFill>
                  <a:srgbClr val="006600"/>
                </a:solidFill>
              </a:rPr>
              <a:t>Initial name of Mahabharata was  Jaya (win,  not happiness)</a:t>
            </a:r>
            <a:endParaRPr lang="en-US" sz="2800" dirty="0">
              <a:solidFill>
                <a:srgbClr val="006600"/>
              </a:solidFill>
            </a:endParaRPr>
          </a:p>
        </p:txBody>
      </p:sp>
      <p:graphicFrame>
        <p:nvGraphicFramePr>
          <p:cNvPr id="141313" name="Object 1"/>
          <p:cNvGraphicFramePr>
            <a:graphicFrameLocks noChangeAspect="1"/>
          </p:cNvGraphicFramePr>
          <p:nvPr/>
        </p:nvGraphicFramePr>
        <p:xfrm>
          <a:off x="928661" y="1071546"/>
          <a:ext cx="5643603" cy="897393"/>
        </p:xfrm>
        <a:graphic>
          <a:graphicData uri="http://schemas.openxmlformats.org/presentationml/2006/ole">
            <mc:AlternateContent xmlns:mc="http://schemas.openxmlformats.org/markup-compatibility/2006">
              <mc:Choice xmlns:v="urn:schemas-microsoft-com:vml" Requires="v">
                <p:oleObj spid="_x0000_s1025" name="Acrobat Document" r:id="rId1" imgW="3594100" imgH="571500" progId="AcroExch.Document.11">
                  <p:embed/>
                </p:oleObj>
              </mc:Choice>
              <mc:Fallback>
                <p:oleObj name="Acrobat Document" r:id="rId1" imgW="3594100" imgH="571500" progId="AcroExch.Document.11">
                  <p:embed/>
                  <p:pic>
                    <p:nvPicPr>
                      <p:cNvPr id="0" name="Picture 1024"/>
                      <p:cNvPicPr>
                        <a:picLocks noChangeAspect="1"/>
                      </p:cNvPicPr>
                      <p:nvPr/>
                    </p:nvPicPr>
                    <p:blipFill>
                      <a:blip r:embed="rId2"/>
                      <a:stretch>
                        <a:fillRect/>
                      </a:stretch>
                    </p:blipFill>
                    <p:spPr>
                      <a:xfrm>
                        <a:off x="928661" y="1071546"/>
                        <a:ext cx="5643603" cy="897393"/>
                      </a:xfrm>
                      <a:prstGeom prst="rect">
                        <a:avLst/>
                      </a:prstGeom>
                      <a:noFill/>
                      <a:ln w="9525">
                        <a:noFill/>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a:spLocks noGrp="1"/>
          </p:cNvSpPr>
          <p:nvPr>
            <p:ph type="title"/>
          </p:nvPr>
        </p:nvSpPr>
        <p:spPr>
          <a:xfrm>
            <a:off x="500034" y="0"/>
            <a:ext cx="8229600" cy="725470"/>
          </a:xfrm>
        </p:spPr>
        <p:txBody>
          <a:bodyPr/>
          <a:lstStyle/>
          <a:p>
            <a:r>
              <a:rPr lang="en-US" sz="4000" dirty="0" smtClean="0">
                <a:solidFill>
                  <a:srgbClr val="006600"/>
                </a:solidFill>
                <a:latin typeface="Book Antiqua" pitchFamily="18" charset="0"/>
              </a:rPr>
              <a:t>In Hinduism </a:t>
            </a:r>
            <a:r>
              <a:rPr lang="en-US" dirty="0" smtClean="0"/>
              <a:t>:</a:t>
            </a:r>
            <a:endParaRPr lang="en-US" dirty="0"/>
          </a:p>
        </p:txBody>
      </p:sp>
      <p:sp>
        <p:nvSpPr>
          <p:cNvPr id="8" name="Rectangle 7"/>
          <p:cNvSpPr/>
          <p:nvPr/>
        </p:nvSpPr>
        <p:spPr>
          <a:xfrm>
            <a:off x="285720" y="642918"/>
            <a:ext cx="8572560" cy="4524315"/>
          </a:xfrm>
          <a:prstGeom prst="rect">
            <a:avLst/>
          </a:prstGeom>
        </p:spPr>
        <p:txBody>
          <a:bodyPr wrap="square">
            <a:spAutoFit/>
          </a:bodyPr>
          <a:lstStyle/>
          <a:p>
            <a:pPr algn="just"/>
            <a:r>
              <a:rPr lang="en-US" sz="2400" dirty="0" smtClean="0">
                <a:latin typeface="Book Antiqua" pitchFamily="18" charset="0"/>
              </a:rPr>
              <a:t>Satyam, has three syllables, “</a:t>
            </a:r>
            <a:r>
              <a:rPr lang="en-US" sz="2400" dirty="0" err="1" smtClean="0">
                <a:latin typeface="Book Antiqua" pitchFamily="18" charset="0"/>
              </a:rPr>
              <a:t>sa</a:t>
            </a:r>
            <a:r>
              <a:rPr lang="en-US" sz="2400" dirty="0" smtClean="0">
                <a:latin typeface="Book Antiqua" pitchFamily="18" charset="0"/>
              </a:rPr>
              <a:t>,” “</a:t>
            </a:r>
            <a:r>
              <a:rPr lang="en-US" sz="2400" dirty="0" err="1" smtClean="0">
                <a:latin typeface="Book Antiqua" pitchFamily="18" charset="0"/>
              </a:rPr>
              <a:t>ti</a:t>
            </a:r>
            <a:r>
              <a:rPr lang="en-US" sz="2400" dirty="0" smtClean="0">
                <a:latin typeface="Book Antiqua" pitchFamily="18" charset="0"/>
              </a:rPr>
              <a:t>” and “yam.” Sa and yam are true. The middle syllable, "</a:t>
            </a:r>
            <a:r>
              <a:rPr lang="en-US" sz="2400" dirty="0" err="1" smtClean="0">
                <a:latin typeface="Book Antiqua" pitchFamily="18" charset="0"/>
              </a:rPr>
              <a:t>ti</a:t>
            </a:r>
            <a:r>
              <a:rPr lang="en-US" sz="2400" dirty="0" smtClean="0">
                <a:latin typeface="Book Antiqua" pitchFamily="18" charset="0"/>
              </a:rPr>
              <a:t>," is untrue. The untrue is enclosed on both sides by Truth. </a:t>
            </a:r>
            <a:endParaRPr lang="en-US" sz="2400" dirty="0" smtClean="0">
              <a:latin typeface="Book Antiqua" pitchFamily="18" charset="0"/>
            </a:endParaRPr>
          </a:p>
          <a:p>
            <a:endParaRPr lang="en-US" sz="2400" dirty="0" smtClean="0">
              <a:latin typeface="Book Antiqua" pitchFamily="18" charset="0"/>
            </a:endParaRPr>
          </a:p>
          <a:p>
            <a:pPr algn="just"/>
            <a:r>
              <a:rPr lang="en-US" sz="2400" dirty="0" smtClean="0">
                <a:latin typeface="Book Antiqua" pitchFamily="18" charset="0"/>
              </a:rPr>
              <a:t>It is by the path of truth and purity that one ascends to the highest world of Brahman, which is essentially the world of truth (</a:t>
            </a:r>
            <a:r>
              <a:rPr lang="en-US" sz="2400" dirty="0" err="1" smtClean="0">
                <a:latin typeface="Book Antiqua" pitchFamily="18" charset="0"/>
              </a:rPr>
              <a:t>Satyalok</a:t>
            </a:r>
            <a:r>
              <a:rPr lang="en-US" sz="2400" dirty="0" smtClean="0">
                <a:latin typeface="Book Antiqua" pitchFamily="18" charset="0"/>
              </a:rPr>
              <a:t>).  The attainment of Brahman is </a:t>
            </a:r>
            <a:r>
              <a:rPr lang="en-US" sz="2400" dirty="0" err="1" smtClean="0">
                <a:latin typeface="Book Antiqua" pitchFamily="18" charset="0"/>
              </a:rPr>
              <a:t>Moksha</a:t>
            </a:r>
            <a:endParaRPr lang="en-US" sz="2400" dirty="0" smtClean="0">
              <a:latin typeface="Book Antiqua" pitchFamily="18" charset="0"/>
            </a:endParaRPr>
          </a:p>
          <a:p>
            <a:endParaRPr lang="en-US" sz="2400" dirty="0" smtClean="0">
              <a:latin typeface="Book Antiqua" pitchFamily="18" charset="0"/>
            </a:endParaRPr>
          </a:p>
          <a:p>
            <a:r>
              <a:rPr lang="en-US" sz="2400" dirty="0" smtClean="0">
                <a:latin typeface="Book Antiqua" pitchFamily="18" charset="0"/>
              </a:rPr>
              <a:t>The Upanishads contain the secret knowledge of Truth because they reveal the knowledge of Brahman (Supreme </a:t>
            </a:r>
            <a:endParaRPr lang="en-US" sz="2400" dirty="0" smtClean="0">
              <a:latin typeface="Book Antiqua" pitchFamily="18" charset="0"/>
            </a:endParaRPr>
          </a:p>
          <a:p>
            <a:r>
              <a:rPr lang="en-US" sz="2400" dirty="0" smtClean="0">
                <a:latin typeface="Book Antiqua" pitchFamily="18" charset="0"/>
              </a:rPr>
              <a:t>Self) and Atman (Individual Self), </a:t>
            </a:r>
            <a:endParaRPr lang="en-US" sz="2400" dirty="0" smtClean="0">
              <a:latin typeface="Book Antiqua" pitchFamily="18" charset="0"/>
            </a:endParaRPr>
          </a:p>
          <a:p>
            <a:endParaRPr lang="en-US" sz="2400" dirty="0">
              <a:latin typeface="Book Antiqua" pitchFamily="18" charset="0"/>
            </a:endParaRPr>
          </a:p>
        </p:txBody>
      </p:sp>
      <p:sp>
        <p:nvSpPr>
          <p:cNvPr id="12" name="Rectangle 11"/>
          <p:cNvSpPr/>
          <p:nvPr/>
        </p:nvSpPr>
        <p:spPr>
          <a:xfrm>
            <a:off x="428596" y="5214950"/>
            <a:ext cx="8572560" cy="1200329"/>
          </a:xfrm>
          <a:prstGeom prst="rect">
            <a:avLst/>
          </a:prstGeom>
        </p:spPr>
        <p:txBody>
          <a:bodyPr wrap="square">
            <a:spAutoFit/>
          </a:bodyPr>
          <a:lstStyle/>
          <a:p>
            <a:pPr algn="just"/>
            <a:r>
              <a:rPr lang="en-IN" sz="2400" dirty="0" smtClean="0">
                <a:latin typeface="Book Antiqua" pitchFamily="18" charset="0"/>
              </a:rPr>
              <a:t>In the Upanishads, it has been variously described as </a:t>
            </a:r>
            <a:r>
              <a:rPr lang="en-IN" sz="2400" i="1" dirty="0" smtClean="0">
                <a:latin typeface="Book Antiqua" pitchFamily="18" charset="0"/>
              </a:rPr>
              <a:t>Sat-cit-</a:t>
            </a:r>
            <a:r>
              <a:rPr lang="en-IN" sz="2400" i="1" dirty="0" err="1" smtClean="0">
                <a:latin typeface="Book Antiqua" pitchFamily="18" charset="0"/>
              </a:rPr>
              <a:t>ānanda</a:t>
            </a:r>
            <a:r>
              <a:rPr lang="en-IN" sz="2400" dirty="0" smtClean="0">
                <a:latin typeface="Book Antiqua" pitchFamily="18" charset="0"/>
              </a:rPr>
              <a:t> (truth-consciousness-bliss)</a:t>
            </a:r>
            <a:r>
              <a:rPr lang="en-IN" sz="2400" baseline="30000" dirty="0" smtClean="0">
                <a:latin typeface="Book Antiqua" pitchFamily="18" charset="0"/>
              </a:rPr>
              <a:t> </a:t>
            </a:r>
            <a:r>
              <a:rPr lang="en-IN" sz="2400" dirty="0" smtClean="0">
                <a:latin typeface="Book Antiqua" pitchFamily="18" charset="0"/>
              </a:rPr>
              <a:t>and as the unchanging, permanent, highest reality</a:t>
            </a:r>
            <a:endParaRPr lang="en-US" sz="2400" dirty="0">
              <a:latin typeface="Book Antiqua" pitchFamily="18" charset="0"/>
            </a:endParaRPr>
          </a:p>
        </p:txBody>
      </p:sp>
      <p:graphicFrame>
        <p:nvGraphicFramePr>
          <p:cNvPr id="139265" name="Object 1"/>
          <p:cNvGraphicFramePr>
            <a:graphicFrameLocks noChangeAspect="1"/>
          </p:cNvGraphicFramePr>
          <p:nvPr/>
        </p:nvGraphicFramePr>
        <p:xfrm>
          <a:off x="428596" y="4786322"/>
          <a:ext cx="4722846" cy="357190"/>
        </p:xfrm>
        <a:graphic>
          <a:graphicData uri="http://schemas.openxmlformats.org/presentationml/2006/ole">
            <mc:AlternateContent xmlns:mc="http://schemas.openxmlformats.org/markup-compatibility/2006">
              <mc:Choice xmlns:v="urn:schemas-microsoft-com:vml" Requires="v">
                <p:oleObj spid="_x0000_s2049" name="Acrobat Document" r:id="rId1" imgW="3022600" imgH="228600" progId="AcroExch.Document.11">
                  <p:embed/>
                </p:oleObj>
              </mc:Choice>
              <mc:Fallback>
                <p:oleObj name="Acrobat Document" r:id="rId1" imgW="3022600" imgH="228600" progId="AcroExch.Document.11">
                  <p:embed/>
                  <p:pic>
                    <p:nvPicPr>
                      <p:cNvPr id="0" name="Picture 2048"/>
                      <p:cNvPicPr>
                        <a:picLocks noChangeAspect="1"/>
                      </p:cNvPicPr>
                      <p:nvPr/>
                    </p:nvPicPr>
                    <p:blipFill>
                      <a:blip r:embed="rId2"/>
                      <a:stretch>
                        <a:fillRect/>
                      </a:stretch>
                    </p:blipFill>
                    <p:spPr>
                      <a:xfrm>
                        <a:off x="428596" y="4786322"/>
                        <a:ext cx="4722846" cy="357190"/>
                      </a:xfrm>
                      <a:prstGeom prst="rect">
                        <a:avLst/>
                      </a:prstGeom>
                      <a:noFill/>
                      <a:ln w="9525">
                        <a:noFill/>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lstStyle/>
          <a:p>
            <a:r>
              <a:rPr lang="en-US" sz="4000" dirty="0" smtClean="0">
                <a:solidFill>
                  <a:srgbClr val="006600"/>
                </a:solidFill>
                <a:latin typeface="Book Antiqua" pitchFamily="18" charset="0"/>
              </a:rPr>
              <a:t>In Buddhism </a:t>
            </a:r>
            <a:r>
              <a:rPr lang="en-US" dirty="0" smtClean="0"/>
              <a:t>:</a:t>
            </a:r>
            <a:endParaRPr lang="en-US" dirty="0"/>
          </a:p>
        </p:txBody>
      </p:sp>
      <p:sp>
        <p:nvSpPr>
          <p:cNvPr id="3" name="Content Placeholder 2"/>
          <p:cNvSpPr>
            <a:spLocks noGrp="1"/>
          </p:cNvSpPr>
          <p:nvPr>
            <p:ph idx="1"/>
          </p:nvPr>
        </p:nvSpPr>
        <p:spPr>
          <a:xfrm>
            <a:off x="571472" y="1071546"/>
            <a:ext cx="8229600" cy="4525963"/>
          </a:xfrm>
        </p:spPr>
        <p:txBody>
          <a:bodyPr/>
          <a:lstStyle/>
          <a:p>
            <a:r>
              <a:rPr lang="en-US" dirty="0" smtClean="0">
                <a:latin typeface="Book Antiqua" pitchFamily="18" charset="0"/>
              </a:rPr>
              <a:t>conventional truth (</a:t>
            </a:r>
            <a:r>
              <a:rPr lang="en-US" dirty="0" err="1" smtClean="0">
                <a:latin typeface="Book Antiqua" pitchFamily="18" charset="0"/>
              </a:rPr>
              <a:t>saṁvṛti-satya</a:t>
            </a:r>
            <a:r>
              <a:rPr lang="en-US" dirty="0" smtClean="0">
                <a:latin typeface="Book Antiqua" pitchFamily="18" charset="0"/>
              </a:rPr>
              <a:t>) </a:t>
            </a:r>
            <a:endParaRPr lang="en-US" dirty="0" smtClean="0">
              <a:latin typeface="Book Antiqua" pitchFamily="18" charset="0"/>
            </a:endParaRPr>
          </a:p>
          <a:p>
            <a:r>
              <a:rPr lang="en-US" dirty="0" smtClean="0">
                <a:latin typeface="Book Antiqua" pitchFamily="18" charset="0"/>
              </a:rPr>
              <a:t>and ultimate truth (</a:t>
            </a:r>
            <a:r>
              <a:rPr lang="en-US" dirty="0" err="1" smtClean="0">
                <a:latin typeface="Book Antiqua" pitchFamily="18" charset="0"/>
              </a:rPr>
              <a:t>paramārtha-satya</a:t>
            </a:r>
            <a:r>
              <a:rPr lang="en-US" dirty="0" smtClean="0">
                <a:latin typeface="Book Antiqua" pitchFamily="18" charset="0"/>
              </a:rPr>
              <a:t>)</a:t>
            </a:r>
            <a:endParaRPr lang="en-US" dirty="0">
              <a:latin typeface="Book Antiqua" pitchFamily="18" charset="0"/>
            </a:endParaRPr>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Rectangle 6"/>
          <p:cNvSpPr/>
          <p:nvPr/>
        </p:nvSpPr>
        <p:spPr>
          <a:xfrm>
            <a:off x="357158" y="2428868"/>
            <a:ext cx="8572560" cy="1938992"/>
          </a:xfrm>
          <a:prstGeom prst="rect">
            <a:avLst/>
          </a:prstGeom>
        </p:spPr>
        <p:txBody>
          <a:bodyPr wrap="square">
            <a:spAutoFit/>
          </a:bodyPr>
          <a:lstStyle/>
          <a:p>
            <a:pPr algn="just"/>
            <a:r>
              <a:rPr lang="en-US" sz="2400" b="1" dirty="0" err="1" smtClean="0">
                <a:solidFill>
                  <a:srgbClr val="006600"/>
                </a:solidFill>
                <a:latin typeface="Book Antiqua" pitchFamily="18" charset="0"/>
              </a:rPr>
              <a:t>saṁvṛti-satya</a:t>
            </a:r>
            <a:r>
              <a:rPr lang="en-US" sz="2400" dirty="0" smtClean="0">
                <a:latin typeface="Book Antiqua" pitchFamily="18" charset="0"/>
              </a:rPr>
              <a:t>(empirical or pragmatic)  : </a:t>
            </a:r>
            <a:r>
              <a:rPr lang="en-IN" sz="2400" dirty="0" smtClean="0">
                <a:latin typeface="Book Antiqua" pitchFamily="18" charset="0"/>
              </a:rPr>
              <a:t>This Truth comprise the essence of Buddha's teachings, though they leave much left unexplained. They are the </a:t>
            </a:r>
            <a:r>
              <a:rPr lang="en-IN" sz="2400" dirty="0" smtClean="0">
                <a:solidFill>
                  <a:srgbClr val="006600"/>
                </a:solidFill>
                <a:latin typeface="Book Antiqua" pitchFamily="18" charset="0"/>
              </a:rPr>
              <a:t>truth of suffering, the truth of the cause of suffering, the truth of the end of suffering, and the truth of the path that leads to the end of suffering</a:t>
            </a:r>
            <a:r>
              <a:rPr lang="en-IN" sz="2400" dirty="0" smtClean="0">
                <a:latin typeface="Book Antiqua" pitchFamily="18" charset="0"/>
              </a:rPr>
              <a:t>.</a:t>
            </a:r>
            <a:endParaRPr lang="en-IN" dirty="0"/>
          </a:p>
        </p:txBody>
      </p:sp>
      <p:sp>
        <p:nvSpPr>
          <p:cNvPr id="8" name="TextBox 7"/>
          <p:cNvSpPr txBox="1"/>
          <p:nvPr/>
        </p:nvSpPr>
        <p:spPr>
          <a:xfrm>
            <a:off x="357158" y="4643446"/>
            <a:ext cx="8358246" cy="1569660"/>
          </a:xfrm>
          <a:prstGeom prst="rect">
            <a:avLst/>
          </a:prstGeom>
          <a:noFill/>
        </p:spPr>
        <p:txBody>
          <a:bodyPr wrap="square" rtlCol="0">
            <a:spAutoFit/>
          </a:bodyPr>
          <a:lstStyle/>
          <a:p>
            <a:pPr algn="just"/>
            <a:r>
              <a:rPr lang="en-US" sz="2400" dirty="0" err="1" smtClean="0">
                <a:solidFill>
                  <a:srgbClr val="006600"/>
                </a:solidFill>
                <a:latin typeface="Book Antiqua" pitchFamily="18" charset="0"/>
              </a:rPr>
              <a:t>Paramartha</a:t>
            </a:r>
            <a:r>
              <a:rPr lang="en-US" sz="2400" dirty="0" smtClean="0">
                <a:solidFill>
                  <a:srgbClr val="006600"/>
                </a:solidFill>
                <a:latin typeface="Book Antiqua" pitchFamily="18" charset="0"/>
              </a:rPr>
              <a:t> </a:t>
            </a:r>
            <a:r>
              <a:rPr lang="en-US" sz="2400" dirty="0" err="1" smtClean="0">
                <a:solidFill>
                  <a:srgbClr val="006600"/>
                </a:solidFill>
                <a:latin typeface="Book Antiqua" pitchFamily="18" charset="0"/>
              </a:rPr>
              <a:t>satya</a:t>
            </a:r>
            <a:r>
              <a:rPr lang="en-US" sz="2400" dirty="0" smtClean="0">
                <a:solidFill>
                  <a:srgbClr val="006600"/>
                </a:solidFill>
                <a:latin typeface="Book Antiqua" pitchFamily="18" charset="0"/>
              </a:rPr>
              <a:t> </a:t>
            </a:r>
            <a:r>
              <a:rPr lang="en-US" sz="2400" dirty="0" smtClean="0">
                <a:latin typeface="Book Antiqua" pitchFamily="18" charset="0"/>
              </a:rPr>
              <a:t>: all things including ultimate truth are ultimately unreal, empty (</a:t>
            </a:r>
            <a:r>
              <a:rPr lang="en-US" sz="2400" dirty="0" err="1" smtClean="0">
                <a:latin typeface="Book Antiqua" pitchFamily="18" charset="0"/>
              </a:rPr>
              <a:t>śūnya</a:t>
            </a:r>
            <a:r>
              <a:rPr lang="en-US" sz="2400" dirty="0" smtClean="0">
                <a:latin typeface="Book Antiqua" pitchFamily="18" charset="0"/>
              </a:rPr>
              <a:t>) of any intrinsic nature (</a:t>
            </a:r>
            <a:r>
              <a:rPr lang="en-US" sz="2400" dirty="0" err="1" smtClean="0">
                <a:latin typeface="Book Antiqua" pitchFamily="18" charset="0"/>
              </a:rPr>
              <a:t>svabhāva</a:t>
            </a:r>
            <a:r>
              <a:rPr lang="en-US" sz="2400" dirty="0" smtClean="0">
                <a:latin typeface="Book Antiqua" pitchFamily="18" charset="0"/>
              </a:rPr>
              <a:t>) including the emptiness (</a:t>
            </a:r>
            <a:r>
              <a:rPr lang="en-US" sz="2400" dirty="0" err="1" smtClean="0">
                <a:latin typeface="Book Antiqua" pitchFamily="18" charset="0"/>
              </a:rPr>
              <a:t>śūnyatā</a:t>
            </a:r>
            <a:r>
              <a:rPr lang="en-US" sz="2400" dirty="0" smtClean="0">
                <a:latin typeface="Book Antiqua" pitchFamily="18" charset="0"/>
              </a:rPr>
              <a:t>) itself, therefore all are groundless</a:t>
            </a:r>
            <a:r>
              <a:rPr lang="en-US" dirty="0" smtClean="0"/>
              <a:t>.</a:t>
            </a:r>
            <a:endParaRPr 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extBox 6"/>
          <p:cNvSpPr txBox="1"/>
          <p:nvPr/>
        </p:nvSpPr>
        <p:spPr>
          <a:xfrm>
            <a:off x="1524000" y="2209800"/>
            <a:ext cx="6400800" cy="707886"/>
          </a:xfrm>
          <a:prstGeom prst="rect">
            <a:avLst/>
          </a:prstGeom>
          <a:no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Let us go a bit further……..</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Rectangle 3"/>
          <p:cNvSpPr txBox="1">
            <a:spLocks noChangeArrowheads="1"/>
          </p:cNvSpPr>
          <p:nvPr/>
        </p:nvSpPr>
        <p:spPr>
          <a:xfrm>
            <a:off x="685800" y="381000"/>
            <a:ext cx="7772400" cy="1851025"/>
          </a:xfrm>
          <a:prstGeom prst="rect">
            <a:avLst/>
          </a:prstGeom>
        </p:spPr>
        <p:txBody>
          <a:bodyPr vert="horz" lIns="91440" tIns="45720" rIns="91440" bIns="45720" rtlCol="0">
            <a:normAutofit lnSpcReduction="10000"/>
          </a:bodyPr>
          <a:lstStyle/>
          <a:p>
            <a:pPr marL="457200" marR="0" lvl="0" indent="-457200" algn="l" defTabSz="914400" rtl="0" eaLnBrk="1" fontAlgn="auto" latinLnBrk="0" hangingPunct="1">
              <a:lnSpc>
                <a:spcPct val="90000"/>
              </a:lnSpc>
              <a:spcBef>
                <a:spcPct val="20000"/>
              </a:spcBef>
              <a:spcAft>
                <a:spcPts val="0"/>
              </a:spcAft>
              <a:buClrTx/>
              <a:buSzTx/>
              <a:defRPr/>
            </a:pPr>
            <a:r>
              <a:rPr kumimoji="0" lang="en-GB" sz="2800" b="1" i="0" u="none" strike="noStrike" kern="1200" cap="none" spc="0" normalizeH="0" baseline="0" noProof="0" dirty="0" smtClean="0">
                <a:ln>
                  <a:noFill/>
                </a:ln>
                <a:solidFill>
                  <a:schemeClr val="tx1"/>
                </a:solidFill>
                <a:effectLst/>
                <a:uLnTx/>
                <a:uFillTx/>
                <a:latin typeface="Book Antiqua" pitchFamily="18" charset="0"/>
              </a:rPr>
              <a:t>Ontology</a:t>
            </a:r>
            <a:r>
              <a:rPr kumimoji="0" lang="en-GB" sz="3200" b="0" i="0" u="none" strike="noStrike" kern="1200" cap="none" spc="0" normalizeH="0" baseline="0" noProof="0" dirty="0" smtClean="0">
                <a:ln>
                  <a:noFill/>
                </a:ln>
                <a:solidFill>
                  <a:schemeClr val="tx1"/>
                </a:solidFill>
                <a:effectLst/>
                <a:uLnTx/>
                <a:uFillTx/>
                <a:latin typeface="Book Antiqua" pitchFamily="18" charset="0"/>
              </a:rPr>
              <a:t> </a:t>
            </a:r>
            <a:r>
              <a:rPr kumimoji="0" lang="en-GB" sz="2800" b="0" i="0" u="none" strike="noStrike" kern="1200" cap="none" spc="0" normalizeH="0" baseline="0" noProof="0" dirty="0" smtClean="0">
                <a:ln>
                  <a:noFill/>
                </a:ln>
                <a:solidFill>
                  <a:schemeClr val="tx1"/>
                </a:solidFill>
                <a:effectLst/>
                <a:uLnTx/>
                <a:uFillTx/>
                <a:latin typeface="Book Antiqua" pitchFamily="18" charset="0"/>
              </a:rPr>
              <a:t>is ‘the science or study of being.’</a:t>
            </a:r>
            <a:endParaRPr kumimoji="0" lang="en-GB" sz="2800" b="0" i="0" u="none" strike="noStrike" kern="1200" cap="none" spc="0" normalizeH="0" baseline="0" noProof="0" dirty="0" smtClean="0">
              <a:ln>
                <a:noFill/>
              </a:ln>
              <a:solidFill>
                <a:schemeClr val="tx1"/>
              </a:solidFill>
              <a:effectLst/>
              <a:uLnTx/>
              <a:uFillTx/>
              <a:latin typeface="Book Antiqua" pitchFamily="18" charset="0"/>
            </a:endParaRPr>
          </a:p>
          <a:p>
            <a:pPr marL="838200" marR="0" lvl="1" indent="-3810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r>
              <a:rPr kumimoji="0" lang="en-GB" sz="2800" b="0" i="0" u="none" strike="noStrike" kern="1200" cap="none" spc="0" normalizeH="0" baseline="0" noProof="0" dirty="0" smtClean="0">
                <a:ln>
                  <a:noFill/>
                </a:ln>
                <a:solidFill>
                  <a:schemeClr val="tx1"/>
                </a:solidFill>
                <a:effectLst/>
                <a:uLnTx/>
                <a:uFillTx/>
                <a:latin typeface="Book Antiqua" pitchFamily="18" charset="0"/>
              </a:rPr>
              <a:t>Ontology is our view about what is 'real'</a:t>
            </a:r>
            <a:endParaRPr kumimoji="0" lang="en-GB" sz="2800" b="0" i="0" u="none" strike="noStrike" kern="1200" cap="none" spc="0" normalizeH="0" baseline="0" noProof="0" dirty="0" smtClean="0">
              <a:ln>
                <a:noFill/>
              </a:ln>
              <a:solidFill>
                <a:schemeClr val="tx1"/>
              </a:solidFill>
              <a:effectLst/>
              <a:uLnTx/>
              <a:uFillTx/>
              <a:latin typeface="Book Antiqua" pitchFamily="18" charset="0"/>
            </a:endParaRPr>
          </a:p>
          <a:p>
            <a:pPr marL="838200" marR="0" lvl="1" indent="-381000" algn="l" defTabSz="914400" rtl="0" eaLnBrk="1" fontAlgn="auto" latinLnBrk="0" hangingPunct="1">
              <a:lnSpc>
                <a:spcPct val="90000"/>
              </a:lnSpc>
              <a:spcBef>
                <a:spcPct val="20000"/>
              </a:spcBef>
              <a:spcAft>
                <a:spcPts val="0"/>
              </a:spcAft>
              <a:buClrTx/>
              <a:buSzTx/>
              <a:buFont typeface="Arial" panose="020B0604020202020204" pitchFamily="34" charset="0"/>
              <a:buChar char="–"/>
              <a:defRPr/>
            </a:pPr>
            <a:r>
              <a:rPr kumimoji="0" lang="en-GB" sz="2800" b="0" i="0" u="none" strike="noStrike" kern="1200" cap="none" spc="0" normalizeH="0" baseline="0" noProof="0" dirty="0" smtClean="0">
                <a:ln>
                  <a:noFill/>
                </a:ln>
                <a:solidFill>
                  <a:schemeClr val="tx1"/>
                </a:solidFill>
                <a:effectLst/>
                <a:uLnTx/>
                <a:uFillTx/>
                <a:latin typeface="Book Antiqua" pitchFamily="18" charset="0"/>
              </a:rPr>
              <a:t>What exists?  What is 'real'?  What is not 'real‘?</a:t>
            </a:r>
            <a:endParaRPr kumimoji="0" lang="en-GB" sz="2800" b="0" i="0" u="none" strike="noStrike" kern="1200" cap="none" spc="0" normalizeH="0" baseline="0" noProof="0" dirty="0" smtClean="0">
              <a:ln>
                <a:noFill/>
              </a:ln>
              <a:solidFill>
                <a:schemeClr val="tx1"/>
              </a:solidFill>
              <a:effectLst/>
              <a:uLnTx/>
              <a:uFillTx/>
              <a:latin typeface="Book Antiqua" pitchFamily="18" charset="0"/>
            </a:endParaRPr>
          </a:p>
        </p:txBody>
      </p:sp>
      <p:sp>
        <p:nvSpPr>
          <p:cNvPr id="9" name="TextBox 8"/>
          <p:cNvSpPr txBox="1"/>
          <p:nvPr/>
        </p:nvSpPr>
        <p:spPr>
          <a:xfrm>
            <a:off x="500034" y="2143116"/>
            <a:ext cx="8643966" cy="4185761"/>
          </a:xfrm>
          <a:prstGeom prst="rect">
            <a:avLst/>
          </a:prstGeom>
          <a:noFill/>
        </p:spPr>
        <p:txBody>
          <a:bodyPr wrap="square" rtlCol="0">
            <a:spAutoFit/>
          </a:bodyPr>
          <a:lstStyle/>
          <a:p>
            <a:r>
              <a:rPr lang="en-IN" sz="2800" dirty="0" smtClean="0">
                <a:latin typeface="Book Antiqua" pitchFamily="18" charset="0"/>
              </a:rPr>
              <a:t>An Ontology is a representation of some pre-existing domain of reality which</a:t>
            </a:r>
            <a:endParaRPr lang="en-IN" sz="2800" dirty="0" smtClean="0">
              <a:latin typeface="Book Antiqua" pitchFamily="18" charset="0"/>
            </a:endParaRPr>
          </a:p>
          <a:p>
            <a:endParaRPr lang="en-IN" sz="1400" dirty="0" smtClean="0">
              <a:latin typeface="Book Antiqua" pitchFamily="18" charset="0"/>
            </a:endParaRPr>
          </a:p>
          <a:p>
            <a:pPr marL="342900" indent="-342900">
              <a:buAutoNum type="arabicParenBoth"/>
            </a:pPr>
            <a:r>
              <a:rPr lang="en-IN" sz="2800" dirty="0" smtClean="0">
                <a:latin typeface="Book Antiqua" pitchFamily="18" charset="0"/>
              </a:rPr>
              <a:t>Reflects the properties of the object within its domain in  such a way that there are a systematic correlation between reality and the representation  itself.</a:t>
            </a:r>
            <a:endParaRPr lang="en-IN" sz="2800" dirty="0" smtClean="0">
              <a:latin typeface="Book Antiqua" pitchFamily="18" charset="0"/>
            </a:endParaRPr>
          </a:p>
          <a:p>
            <a:r>
              <a:rPr lang="en-IN" sz="2800" dirty="0" smtClean="0">
                <a:latin typeface="Book Antiqua" pitchFamily="18" charset="0"/>
              </a:rPr>
              <a:t>(2) It is intelligible to domain expert</a:t>
            </a:r>
            <a:endParaRPr lang="en-IN" sz="2800" dirty="0" smtClean="0">
              <a:latin typeface="Book Antiqua" pitchFamily="18" charset="0"/>
            </a:endParaRPr>
          </a:p>
          <a:p>
            <a:r>
              <a:rPr lang="en-IN" sz="2800" dirty="0" smtClean="0">
                <a:latin typeface="Book Antiqua" pitchFamily="18" charset="0"/>
              </a:rPr>
              <a:t>(3) It is formalised in a way that allows it to support automatic information processing</a:t>
            </a:r>
            <a:endParaRPr lang="en-IN" sz="2800" dirty="0">
              <a:latin typeface="Book Antiqua"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228600" y="304800"/>
            <a:ext cx="8229600" cy="868363"/>
          </a:xfrm>
        </p:spPr>
        <p:txBody>
          <a:bodyPr/>
          <a:lstStyle/>
          <a:p>
            <a:pPr eaLnBrk="1" hangingPunct="1"/>
            <a:r>
              <a:rPr lang="en-US" dirty="0" smtClean="0">
                <a:solidFill>
                  <a:srgbClr val="008000"/>
                </a:solidFill>
                <a:latin typeface="Book Antiqua" pitchFamily="18" charset="0"/>
              </a:rPr>
              <a:t>Reality</a:t>
            </a:r>
            <a:endParaRPr lang="en-US" dirty="0" smtClean="0">
              <a:solidFill>
                <a:srgbClr val="008000"/>
              </a:solidFill>
              <a:latin typeface="Book Antiqua" pitchFamily="18" charset="0"/>
            </a:endParaRPr>
          </a:p>
        </p:txBody>
      </p:sp>
      <p:sp>
        <p:nvSpPr>
          <p:cNvPr id="3" name="Content Placeholder 2"/>
          <p:cNvSpPr>
            <a:spLocks noGrp="1"/>
          </p:cNvSpPr>
          <p:nvPr>
            <p:ph sz="quarter" idx="1"/>
          </p:nvPr>
        </p:nvSpPr>
        <p:spPr>
          <a:xfrm>
            <a:off x="357158" y="1142984"/>
            <a:ext cx="8229600" cy="5029200"/>
          </a:xfrm>
        </p:spPr>
        <p:txBody>
          <a:bodyPr>
            <a:noAutofit/>
          </a:bodyPr>
          <a:lstStyle/>
          <a:p>
            <a:pPr marL="274320" indent="-274320" eaLnBrk="1" fontAlgn="auto" hangingPunct="1">
              <a:lnSpc>
                <a:spcPts val="3200"/>
              </a:lnSpc>
              <a:spcBef>
                <a:spcPts val="580"/>
              </a:spcBef>
              <a:spcAft>
                <a:spcPts val="0"/>
              </a:spcAft>
              <a:buFont typeface="Wingdings 2" panose="05020102010507070707"/>
              <a:buChar char=""/>
              <a:defRPr/>
            </a:pPr>
            <a:r>
              <a:rPr lang="en-US" sz="2400" b="1" dirty="0" smtClean="0">
                <a:solidFill>
                  <a:srgbClr val="006600"/>
                </a:solidFill>
                <a:latin typeface="Book Antiqua" pitchFamily="18" charset="0"/>
              </a:rPr>
              <a:t>Philosophical realism</a:t>
            </a:r>
            <a:r>
              <a:rPr lang="en-US" sz="2400" dirty="0" smtClean="0">
                <a:latin typeface="Book Antiqua" pitchFamily="18" charset="0"/>
              </a:rPr>
              <a:t>: objects exist and are the cause of our perceptions (one of the causes: an object plus our minds cause perception of an object)</a:t>
            </a:r>
            <a:endParaRPr lang="en-US" sz="2400" dirty="0" smtClean="0">
              <a:latin typeface="Book Antiqua" pitchFamily="18" charset="0"/>
            </a:endParaRPr>
          </a:p>
          <a:p>
            <a:pPr marL="274320" indent="-274320" eaLnBrk="1" fontAlgn="auto" hangingPunct="1">
              <a:lnSpc>
                <a:spcPts val="3200"/>
              </a:lnSpc>
              <a:spcBef>
                <a:spcPts val="580"/>
              </a:spcBef>
              <a:spcAft>
                <a:spcPts val="0"/>
              </a:spcAft>
              <a:buFont typeface="Wingdings 2" panose="05020102010507070707"/>
              <a:buChar char=""/>
              <a:defRPr/>
            </a:pPr>
            <a:endParaRPr lang="en-US" sz="2400" dirty="0" smtClean="0">
              <a:latin typeface="Book Antiqua" pitchFamily="18" charset="0"/>
            </a:endParaRPr>
          </a:p>
          <a:p>
            <a:pPr marL="274320" indent="-274320" eaLnBrk="1" fontAlgn="auto" hangingPunct="1">
              <a:lnSpc>
                <a:spcPts val="3200"/>
              </a:lnSpc>
              <a:spcBef>
                <a:spcPts val="580"/>
              </a:spcBef>
              <a:spcAft>
                <a:spcPts val="0"/>
              </a:spcAft>
              <a:buFont typeface="Wingdings 2" panose="05020102010507070707"/>
              <a:buChar char=""/>
              <a:defRPr/>
            </a:pPr>
            <a:r>
              <a:rPr lang="en-US" sz="2400" b="1" dirty="0" smtClean="0">
                <a:solidFill>
                  <a:srgbClr val="006600"/>
                </a:solidFill>
                <a:latin typeface="Book Antiqua" pitchFamily="18" charset="0"/>
              </a:rPr>
              <a:t>Descartes</a:t>
            </a:r>
            <a:r>
              <a:rPr lang="en-US" sz="2400" dirty="0" smtClean="0">
                <a:latin typeface="Book Antiqua" pitchFamily="18" charset="0"/>
              </a:rPr>
              <a:t>: how can we know if the world really exists? Maybe it exists and maybe it doesn’t. Maybe the world is real but maybe we are deceived.</a:t>
            </a:r>
            <a:endParaRPr lang="en-US" sz="2400" dirty="0" smtClean="0">
              <a:latin typeface="Book Antiqua" pitchFamily="18" charset="0"/>
            </a:endParaRPr>
          </a:p>
          <a:p>
            <a:pPr marL="274320" indent="-274320" eaLnBrk="1" fontAlgn="auto" hangingPunct="1">
              <a:lnSpc>
                <a:spcPts val="3200"/>
              </a:lnSpc>
              <a:spcBef>
                <a:spcPts val="580"/>
              </a:spcBef>
              <a:spcAft>
                <a:spcPts val="0"/>
              </a:spcAft>
              <a:buFont typeface="Wingdings 2" panose="05020102010507070707"/>
              <a:buChar char=""/>
              <a:defRPr/>
            </a:pPr>
            <a:endParaRPr lang="en-US" sz="2400" dirty="0">
              <a:latin typeface="Book Antiqua" pitchFamily="18" charset="0"/>
            </a:endParaRPr>
          </a:p>
          <a:p>
            <a:pPr marL="274320" indent="-274320" eaLnBrk="1" fontAlgn="auto" hangingPunct="1">
              <a:lnSpc>
                <a:spcPts val="3200"/>
              </a:lnSpc>
              <a:spcBef>
                <a:spcPts val="580"/>
              </a:spcBef>
              <a:spcAft>
                <a:spcPts val="0"/>
              </a:spcAft>
              <a:buFont typeface="Wingdings 2" panose="05020102010507070707"/>
              <a:buChar char=""/>
              <a:defRPr/>
            </a:pPr>
            <a:r>
              <a:rPr lang="en-US" sz="2400" b="1" dirty="0" smtClean="0">
                <a:solidFill>
                  <a:srgbClr val="006600"/>
                </a:solidFill>
                <a:latin typeface="Book Antiqua" pitchFamily="18" charset="0"/>
              </a:rPr>
              <a:t>Berkeley</a:t>
            </a:r>
            <a:r>
              <a:rPr lang="en-US" sz="2400" dirty="0" smtClean="0">
                <a:latin typeface="Book Antiqua" pitchFamily="18" charset="0"/>
              </a:rPr>
              <a:t>: there is no mind-independent world. </a:t>
            </a:r>
            <a:endParaRPr lang="en-US" sz="2400" dirty="0" smtClean="0">
              <a:latin typeface="Book Antiqua" pitchFamily="18" charset="0"/>
            </a:endParaRPr>
          </a:p>
          <a:p>
            <a:pPr marL="274320" indent="-274320" eaLnBrk="1" fontAlgn="auto" hangingPunct="1">
              <a:lnSpc>
                <a:spcPts val="3200"/>
              </a:lnSpc>
              <a:spcBef>
                <a:spcPts val="580"/>
              </a:spcBef>
              <a:spcAft>
                <a:spcPts val="0"/>
              </a:spcAft>
              <a:buFont typeface="Wingdings 2" panose="05020102010507070707"/>
              <a:buNone/>
              <a:defRPr/>
            </a:pPr>
            <a:r>
              <a:rPr lang="en-US" sz="2400" dirty="0" smtClean="0">
                <a:latin typeface="Book Antiqua" pitchFamily="18" charset="0"/>
              </a:rPr>
              <a:t>	Objects only exist when they are perceived.</a:t>
            </a:r>
            <a:endParaRPr lang="en-US" sz="2400" dirty="0" smtClean="0">
              <a:latin typeface="Book Antiqua" pitchFamily="18" charset="0"/>
            </a:endParaRPr>
          </a:p>
          <a:p>
            <a:pPr marL="274320" indent="-274320" eaLnBrk="1" fontAlgn="auto" hangingPunct="1">
              <a:lnSpc>
                <a:spcPts val="3200"/>
              </a:lnSpc>
              <a:spcBef>
                <a:spcPts val="580"/>
              </a:spcBef>
              <a:spcAft>
                <a:spcPts val="0"/>
              </a:spcAft>
              <a:buFont typeface="Wingdings 2" panose="05020102010507070707"/>
              <a:buChar char=""/>
              <a:defRPr/>
            </a:pPr>
            <a:endParaRPr lang="en-US" sz="2400" dirty="0">
              <a:latin typeface="Book Antiqua" pitchFamily="18" charset="0"/>
            </a:endParaRPr>
          </a:p>
          <a:p>
            <a:pPr marL="274320" indent="-274320" eaLnBrk="1" fontAlgn="auto" hangingPunct="1">
              <a:lnSpc>
                <a:spcPts val="3200"/>
              </a:lnSpc>
              <a:spcBef>
                <a:spcPts val="580"/>
              </a:spcBef>
              <a:spcAft>
                <a:spcPts val="0"/>
              </a:spcAft>
              <a:buFont typeface="Wingdings 2" panose="05020102010507070707"/>
              <a:buNone/>
              <a:defRPr/>
            </a:pPr>
            <a:r>
              <a:rPr lang="en-US" sz="2400" dirty="0" smtClean="0">
                <a:latin typeface="Book Antiqua" pitchFamily="18" charset="0"/>
              </a:rPr>
              <a:t>	</a:t>
            </a:r>
            <a:r>
              <a:rPr lang="en-US" sz="2400" dirty="0" smtClean="0">
                <a:solidFill>
                  <a:srgbClr val="008000"/>
                </a:solidFill>
                <a:latin typeface="Book Antiqua" pitchFamily="18" charset="0"/>
              </a:rPr>
              <a:t> </a:t>
            </a:r>
            <a:r>
              <a:rPr lang="en-US" sz="2400" b="1" dirty="0" smtClean="0">
                <a:solidFill>
                  <a:srgbClr val="008000"/>
                </a:solidFill>
                <a:latin typeface="Book Antiqua" pitchFamily="18" charset="0"/>
              </a:rPr>
              <a:t>Question: does a virtual world exist ? Is it real?</a:t>
            </a:r>
            <a:endParaRPr lang="en-US" sz="2400" b="1" dirty="0">
              <a:solidFill>
                <a:srgbClr val="008000"/>
              </a:solidFill>
              <a:latin typeface="Book Antiqua" pitchFamily="18" charset="0"/>
            </a:endParaRPr>
          </a:p>
          <a:p>
            <a:pPr marL="274320" indent="-274320" eaLnBrk="1" fontAlgn="auto" hangingPunct="1">
              <a:lnSpc>
                <a:spcPts val="3200"/>
              </a:lnSpc>
              <a:spcBef>
                <a:spcPts val="580"/>
              </a:spcBef>
              <a:spcAft>
                <a:spcPts val="0"/>
              </a:spcAft>
              <a:buFont typeface="Wingdings 2" panose="05020102010507070707"/>
              <a:buNone/>
              <a:defRPr/>
            </a:pPr>
            <a:endParaRPr lang="en-US" sz="2400" dirty="0" smtClean="0">
              <a:latin typeface="Book Antiqua" pitchFamily="18" charset="0"/>
            </a:endParaRPr>
          </a:p>
        </p:txBody>
      </p:sp>
      <p:sp>
        <p:nvSpPr>
          <p:cNvPr id="7" name="Date Placeholder 6"/>
          <p:cNvSpPr>
            <a:spLocks noGrp="1"/>
          </p:cNvSpPr>
          <p:nvPr>
            <p:ph type="dt" sz="half" idx="10"/>
          </p:nvPr>
        </p:nvSpPr>
        <p:spPr/>
        <p:txBody>
          <a:bodyPr/>
          <a:lstStyle/>
          <a:p>
            <a:r>
              <a:rPr lang="en-US" smtClean="0"/>
              <a:t>A K Datta</a:t>
            </a:r>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fld>
            <a:endParaRPr lang="en-US"/>
          </a:p>
        </p:txBody>
      </p:sp>
      <p:sp>
        <p:nvSpPr>
          <p:cNvPr id="9" name="Footer Placeholder 8"/>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A K Datta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pic>
        <p:nvPicPr>
          <p:cNvPr id="70658" name="Picture 2" descr="https://upload.wikimedia.org/wikipedia/commons/thumb/4/4b/Two_silhouette_profile_or_a_white_vase.jpg/220px-Two_silhouette_profile_or_a_white_vase.jpg"/>
          <p:cNvPicPr>
            <a:picLocks noChangeAspect="1" noChangeArrowheads="1"/>
          </p:cNvPicPr>
          <p:nvPr/>
        </p:nvPicPr>
        <p:blipFill>
          <a:blip r:embed="rId1"/>
          <a:srcRect/>
          <a:stretch>
            <a:fillRect/>
          </a:stretch>
        </p:blipFill>
        <p:spPr bwMode="auto">
          <a:xfrm>
            <a:off x="762000" y="990600"/>
            <a:ext cx="2880000" cy="2029099"/>
          </a:xfrm>
          <a:prstGeom prst="rect">
            <a:avLst/>
          </a:prstGeom>
          <a:noFill/>
        </p:spPr>
      </p:pic>
      <p:pic>
        <p:nvPicPr>
          <p:cNvPr id="70662" name="Picture 6" descr="In this there is no &quot;Drawn&quot; White Triangle. Click caption for an explanation."/>
          <p:cNvPicPr>
            <a:picLocks noChangeAspect="1" noChangeArrowheads="1"/>
          </p:cNvPicPr>
          <p:nvPr/>
        </p:nvPicPr>
        <p:blipFill>
          <a:blip r:embed="rId2"/>
          <a:srcRect/>
          <a:stretch>
            <a:fillRect/>
          </a:stretch>
        </p:blipFill>
        <p:spPr bwMode="auto">
          <a:xfrm>
            <a:off x="5486400" y="533400"/>
            <a:ext cx="2700000" cy="2884099"/>
          </a:xfrm>
          <a:prstGeom prst="rect">
            <a:avLst/>
          </a:prstGeom>
          <a:noFill/>
        </p:spPr>
      </p:pic>
      <p:pic>
        <p:nvPicPr>
          <p:cNvPr id="70664" name="Picture 8" descr="https://upload.wikimedia.org/wikipedia/commons/thumb/b/bc/Mond-vergleich.svg/650px-Mond-vergleich.svg.png"/>
          <p:cNvPicPr>
            <a:picLocks noChangeAspect="1" noChangeArrowheads="1"/>
          </p:cNvPicPr>
          <p:nvPr/>
        </p:nvPicPr>
        <p:blipFill>
          <a:blip r:embed="rId3"/>
          <a:srcRect/>
          <a:stretch>
            <a:fillRect/>
          </a:stretch>
        </p:blipFill>
        <p:spPr bwMode="auto">
          <a:xfrm>
            <a:off x="2743200" y="3581400"/>
            <a:ext cx="3888000" cy="2392606"/>
          </a:xfrm>
          <a:prstGeom prst="rect">
            <a:avLst/>
          </a:prstGeom>
          <a:noFill/>
        </p:spPr>
      </p:pic>
      <p:sp>
        <p:nvSpPr>
          <p:cNvPr id="8" name="TextBox 7"/>
          <p:cNvSpPr txBox="1"/>
          <p:nvPr/>
        </p:nvSpPr>
        <p:spPr>
          <a:xfrm>
            <a:off x="2438400" y="0"/>
            <a:ext cx="4114800" cy="646331"/>
          </a:xfrm>
          <a:prstGeom prst="rect">
            <a:avLst/>
          </a:prstGeom>
          <a:noFill/>
        </p:spPr>
        <p:txBody>
          <a:bodyPr wrap="square" rtlCol="0">
            <a:spAutoFit/>
          </a:bodyPr>
          <a:lstStyle/>
          <a:p>
            <a:pPr algn="ctr"/>
            <a:r>
              <a:rPr lang="en-IN" sz="3600" dirty="0" smtClean="0">
                <a:latin typeface="Times New Roman" panose="02020603050405020304" pitchFamily="18" charset="0"/>
                <a:cs typeface="Times New Roman" panose="02020603050405020304" pitchFamily="18" charset="0"/>
              </a:rPr>
              <a:t>Optical Illusion</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0662"/>
                                        </p:tgtEl>
                                        <p:attrNameLst>
                                          <p:attrName>style.visibility</p:attrName>
                                        </p:attrNameLst>
                                      </p:cBhvr>
                                      <p:to>
                                        <p:strVal val="visible"/>
                                      </p:to>
                                    </p:set>
                                    <p:animEffect transition="in" filter="blinds(horizontal)">
                                      <p:cBhvr>
                                        <p:cTn id="7" dur="500"/>
                                        <p:tgtEl>
                                          <p:spTgt spid="706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0664"/>
                                        </p:tgtEl>
                                        <p:attrNameLst>
                                          <p:attrName>style.visibility</p:attrName>
                                        </p:attrNameLst>
                                      </p:cBhvr>
                                      <p:to>
                                        <p:strVal val="visible"/>
                                      </p:to>
                                    </p:set>
                                    <p:animEffect transition="in" filter="blinds(horizontal)">
                                      <p:cBhvr>
                                        <p:cTn id="12" dur="500"/>
                                        <p:tgtEl>
                                          <p:spTgt spid="70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A K Datta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pic>
        <p:nvPicPr>
          <p:cNvPr id="5" name="Picture 10" descr="https://upload.wikimedia.org/wikipedia/commons/3/30/Vertical%E2%80%93horizontal_illusion.png"/>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381000" y="838200"/>
            <a:ext cx="8496000" cy="4184281"/>
          </a:xfrm>
          <a:prstGeom prst="rect">
            <a:avLst/>
          </a:prstGeom>
          <a:noFill/>
        </p:spPr>
      </p:pic>
      <p:sp>
        <p:nvSpPr>
          <p:cNvPr id="7" name="Rectangle 6"/>
          <p:cNvSpPr/>
          <p:nvPr/>
        </p:nvSpPr>
        <p:spPr>
          <a:xfrm>
            <a:off x="4724400" y="838200"/>
            <a:ext cx="4419600"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7"/>
                                        </p:tgtEl>
                                        <p:attrNameLst>
                                          <p:attrName>ppt_x</p:attrName>
                                        </p:attrNameLst>
                                      </p:cBhvr>
                                      <p:tavLst>
                                        <p:tav tm="0">
                                          <p:val>
                                            <p:strVal val="ppt_x"/>
                                          </p:val>
                                        </p:tav>
                                        <p:tav tm="100000">
                                          <p:val>
                                            <p:strVal val="ppt_x"/>
                                          </p:val>
                                        </p:tav>
                                      </p:tavLst>
                                    </p:anim>
                                    <p:anim calcmode="lin" valueType="num">
                                      <p:cBhvr additive="base">
                                        <p:cTn id="7" dur="500"/>
                                        <p:tgtEl>
                                          <p:spTgt spid="7"/>
                                        </p:tgtEl>
                                        <p:attrNameLst>
                                          <p:attrName>ppt_y</p:attrName>
                                        </p:attrNameLst>
                                      </p:cBhvr>
                                      <p:tavLst>
                                        <p:tav tm="0">
                                          <p:val>
                                            <p:strVal val="ppt_y"/>
                                          </p:val>
                                        </p:tav>
                                        <p:tav tm="100000">
                                          <p:val>
                                            <p:strVal val="1+ppt_h/2"/>
                                          </p:val>
                                        </p:tav>
                                      </p:tavLst>
                                    </p:anim>
                                    <p:set>
                                      <p:cBhvr>
                                        <p:cTn id="8"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A K Datta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pic>
        <p:nvPicPr>
          <p:cNvPr id="81922" name="Picture 2" descr="Article Image"/>
          <p:cNvPicPr>
            <a:picLocks noChangeAspect="1" noChangeArrowheads="1"/>
          </p:cNvPicPr>
          <p:nvPr/>
        </p:nvPicPr>
        <p:blipFill>
          <a:blip r:embed="rId1">
            <a:lum contrast="10000"/>
          </a:blip>
          <a:srcRect/>
          <a:stretch>
            <a:fillRect/>
          </a:stretch>
        </p:blipFill>
        <p:spPr bwMode="auto">
          <a:xfrm>
            <a:off x="838200" y="838200"/>
            <a:ext cx="7488000" cy="5524073"/>
          </a:xfrm>
          <a:prstGeom prst="rect">
            <a:avLst/>
          </a:prstGeom>
          <a:noFill/>
        </p:spPr>
      </p:pic>
      <p:sp>
        <p:nvSpPr>
          <p:cNvPr id="6" name="TextBox 5"/>
          <p:cNvSpPr txBox="1"/>
          <p:nvPr/>
        </p:nvSpPr>
        <p:spPr>
          <a:xfrm>
            <a:off x="1600200" y="0"/>
            <a:ext cx="6019800" cy="830997"/>
          </a:xfrm>
          <a:prstGeom prst="rect">
            <a:avLst/>
          </a:prstGeom>
          <a:noFill/>
        </p:spPr>
        <p:txBody>
          <a:bodyPr wrap="square" rtlCol="0">
            <a:spAutoFit/>
          </a:bodyPr>
          <a:lstStyle/>
          <a:p>
            <a:pPr algn="ctr"/>
            <a:r>
              <a:rPr lang="en-IN" sz="4800" dirty="0" smtClean="0">
                <a:solidFill>
                  <a:srgbClr val="008000"/>
                </a:solidFill>
              </a:rPr>
              <a:t>Virtual reality</a:t>
            </a:r>
            <a:endParaRPr lang="en-IN" sz="4800" dirty="0">
              <a:solidFill>
                <a:srgbClr val="008000"/>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A K Datta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pic>
        <p:nvPicPr>
          <p:cNvPr id="5" name="Tilt Brush_ Painting from a new perspective - YouTube (360p).mp4">
            <a:hlinkClick r:id="" action="ppaction://media"/>
          </p:cNvPr>
          <p:cNvPicPr>
            <a:picLocks noRot="1" noChangeAspect="1"/>
          </p:cNvPicPr>
          <p:nvPr>
            <a:videoFile r:link="rId1"/>
            <p:extLst>
              <p:ext uri="{DAA4B4D4-6D71-4841-9C94-3DE7FCFB9230}">
                <p14:media xmlns:p14="http://schemas.microsoft.com/office/powerpoint/2010/main" r:link="rId2"/>
              </p:ext>
            </p:extLst>
          </p:nvPr>
        </p:nvPicPr>
        <p:blipFill>
          <a:blip r:embed="rId3"/>
          <a:stretch>
            <a:fillRect/>
          </a:stretch>
        </p:blipFill>
        <p:spPr>
          <a:xfrm>
            <a:off x="1071538" y="571480"/>
            <a:ext cx="7143800" cy="5357851"/>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p:cTn id="7" fill="hold" display="0">
                  <p:stCondLst>
                    <p:cond delay="indefinite"/>
                  </p:stCondLst>
                  <p:endCondLst>
                    <p:cond evt="onNext" delay="0">
                      <p:tgtEl>
                        <p:sldTgt/>
                      </p:tgtEl>
                    </p:cond>
                    <p:cond evt="onPrev" delay="0">
                      <p:tgtEl>
                        <p:sldTgt/>
                      </p:tgtEl>
                    </p:cond>
                  </p:endCondLst>
                </p:cTn>
                <p:tgtEl>
                  <p:spTgt spid="5"/>
                </p:tgtEl>
              </p:cMediaNode>
            </p:vide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extBox 6"/>
          <p:cNvSpPr txBox="1"/>
          <p:nvPr/>
        </p:nvSpPr>
        <p:spPr>
          <a:xfrm>
            <a:off x="609600" y="533400"/>
            <a:ext cx="8534400" cy="4401205"/>
          </a:xfrm>
          <a:prstGeom prst="rect">
            <a:avLst/>
          </a:prstGeom>
          <a:noFill/>
        </p:spPr>
        <p:txBody>
          <a:bodyPr wrap="square" rtlCol="0">
            <a:spAutoFit/>
          </a:bodyPr>
          <a:lstStyle/>
          <a:p>
            <a:r>
              <a:rPr lang="en-IN" sz="4000" dirty="0" smtClean="0">
                <a:solidFill>
                  <a:srgbClr val="006600"/>
                </a:solidFill>
                <a:latin typeface="Book Antiqua" pitchFamily="18" charset="0"/>
              </a:rPr>
              <a:t>How do I know which is real or what is the truth</a:t>
            </a:r>
            <a:endParaRPr lang="en-IN" sz="4000" dirty="0" smtClean="0">
              <a:solidFill>
                <a:srgbClr val="006600"/>
              </a:solidFill>
              <a:latin typeface="Book Antiqua" pitchFamily="18" charset="0"/>
            </a:endParaRPr>
          </a:p>
          <a:p>
            <a:endParaRPr lang="en-IN" sz="4000" dirty="0" smtClean="0">
              <a:solidFill>
                <a:srgbClr val="006600"/>
              </a:solidFill>
              <a:latin typeface="Book Antiqua" pitchFamily="18" charset="0"/>
            </a:endParaRPr>
          </a:p>
          <a:p>
            <a:r>
              <a:rPr lang="en-IN" sz="4000" dirty="0" smtClean="0">
                <a:solidFill>
                  <a:srgbClr val="006600"/>
                </a:solidFill>
                <a:latin typeface="Book Antiqua" pitchFamily="18" charset="0"/>
              </a:rPr>
              <a:t>Through </a:t>
            </a:r>
            <a:r>
              <a:rPr lang="en-IN" sz="4000" b="1" dirty="0" smtClean="0">
                <a:solidFill>
                  <a:srgbClr val="006600"/>
                </a:solidFill>
                <a:latin typeface="Book Antiqua" pitchFamily="18" charset="0"/>
              </a:rPr>
              <a:t>knowledge</a:t>
            </a:r>
            <a:r>
              <a:rPr lang="en-IN" sz="4000" dirty="0" smtClean="0">
                <a:solidFill>
                  <a:srgbClr val="006600"/>
                </a:solidFill>
                <a:latin typeface="Book Antiqua" pitchFamily="18" charset="0"/>
              </a:rPr>
              <a:t> or by knowing, I suppose !</a:t>
            </a:r>
            <a:endParaRPr lang="en-IN" sz="4000" dirty="0" smtClean="0">
              <a:solidFill>
                <a:srgbClr val="006600"/>
              </a:solidFill>
              <a:latin typeface="Book Antiqua" pitchFamily="18" charset="0"/>
            </a:endParaRPr>
          </a:p>
          <a:p>
            <a:endParaRPr lang="en-IN" sz="4000" dirty="0" smtClean="0">
              <a:solidFill>
                <a:srgbClr val="006600"/>
              </a:solidFill>
              <a:latin typeface="Book Antiqua" pitchFamily="18" charset="0"/>
            </a:endParaRPr>
          </a:p>
          <a:p>
            <a:r>
              <a:rPr lang="en-IN" sz="4000" dirty="0" smtClean="0">
                <a:solidFill>
                  <a:srgbClr val="006600"/>
                </a:solidFill>
                <a:latin typeface="Book Antiqua" pitchFamily="18" charset="0"/>
              </a:rPr>
              <a:t>Then, what is knowledge ?</a:t>
            </a:r>
            <a:endParaRPr lang="en-IN" sz="4000" dirty="0">
              <a:solidFill>
                <a:srgbClr val="006600"/>
              </a:solidFill>
              <a:latin typeface="Book Antiqua"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A K Datta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
        <p:nvSpPr>
          <p:cNvPr id="5" name="Rectangle 4"/>
          <p:cNvSpPr/>
          <p:nvPr/>
        </p:nvSpPr>
        <p:spPr>
          <a:xfrm>
            <a:off x="225789" y="4419600"/>
            <a:ext cx="8890575" cy="707886"/>
          </a:xfrm>
          <a:prstGeom prst="rect">
            <a:avLst/>
          </a:prstGeom>
        </p:spPr>
        <p:txBody>
          <a:bodyPr wrap="none">
            <a:spAutoFit/>
          </a:bodyPr>
          <a:lstStyle/>
          <a:p>
            <a:pPr algn="just">
              <a:spcBef>
                <a:spcPct val="50000"/>
              </a:spcBef>
            </a:pPr>
            <a:r>
              <a:rPr lang="en-US" sz="4000" dirty="0" smtClean="0">
                <a:solidFill>
                  <a:srgbClr val="008000"/>
                </a:solidFill>
                <a:latin typeface="Book Antiqua" pitchFamily="18" charset="0"/>
                <a:cs typeface="Times New Roman" panose="02020603050405020304" pitchFamily="18" charset="0"/>
              </a:rPr>
              <a:t>Epistemology</a:t>
            </a:r>
            <a:r>
              <a:rPr lang="en-US" sz="3200" dirty="0" smtClean="0">
                <a:solidFill>
                  <a:srgbClr val="FF0000"/>
                </a:solidFill>
                <a:latin typeface="Book Antiqua" pitchFamily="18" charset="0"/>
                <a:cs typeface="Times New Roman" panose="02020603050405020304" pitchFamily="18" charset="0"/>
              </a:rPr>
              <a:t>: </a:t>
            </a:r>
            <a:r>
              <a:rPr lang="en-US" sz="3200" dirty="0" smtClean="0">
                <a:solidFill>
                  <a:srgbClr val="008000"/>
                </a:solidFill>
                <a:latin typeface="Book Antiqua" pitchFamily="18" charset="0"/>
                <a:cs typeface="Times New Roman" panose="02020603050405020304" pitchFamily="18" charset="0"/>
              </a:rPr>
              <a:t>Knowledge about knowledge</a:t>
            </a:r>
            <a:endParaRPr lang="en-US" sz="3200" dirty="0">
              <a:solidFill>
                <a:srgbClr val="008000"/>
              </a:solidFill>
              <a:latin typeface="Book Antiqua" pitchFamily="18" charset="0"/>
              <a:cs typeface="Times New Roman" panose="02020603050405020304" pitchFamily="18" charset="0"/>
            </a:endParaRPr>
          </a:p>
        </p:txBody>
      </p:sp>
      <p:sp>
        <p:nvSpPr>
          <p:cNvPr id="6" name="TextBox 5"/>
          <p:cNvSpPr txBox="1"/>
          <p:nvPr/>
        </p:nvSpPr>
        <p:spPr>
          <a:xfrm>
            <a:off x="3276600" y="533400"/>
            <a:ext cx="5867400" cy="3570208"/>
          </a:xfrm>
          <a:prstGeom prst="rect">
            <a:avLst/>
          </a:prstGeom>
          <a:noFill/>
        </p:spPr>
        <p:txBody>
          <a:bodyPr wrap="square" rtlCol="0">
            <a:spAutoFit/>
          </a:bodyPr>
          <a:lstStyle/>
          <a:p>
            <a:r>
              <a:rPr lang="en-IN" sz="4000" dirty="0" smtClean="0">
                <a:solidFill>
                  <a:srgbClr val="008000"/>
                </a:solidFill>
                <a:latin typeface="Book Antiqua" pitchFamily="18" charset="0"/>
                <a:cs typeface="Times New Roman" panose="02020603050405020304" pitchFamily="18" charset="0"/>
              </a:rPr>
              <a:t>Questions:</a:t>
            </a:r>
            <a:endParaRPr lang="en-IN" sz="4000" dirty="0" smtClean="0">
              <a:solidFill>
                <a:srgbClr val="008000"/>
              </a:solidFill>
              <a:latin typeface="Book Antiqua" pitchFamily="18" charset="0"/>
              <a:cs typeface="Times New Roman" panose="02020603050405020304" pitchFamily="18" charset="0"/>
            </a:endParaRPr>
          </a:p>
          <a:p>
            <a:endParaRPr lang="en-IN" sz="2800" dirty="0" smtClean="0">
              <a:latin typeface="Book Antiqua" pitchFamily="18" charset="0"/>
              <a:cs typeface="Times New Roman" panose="02020603050405020304" pitchFamily="18" charset="0"/>
            </a:endParaRPr>
          </a:p>
          <a:p>
            <a:r>
              <a:rPr lang="en-IN" sz="2800" dirty="0" smtClean="0">
                <a:latin typeface="Book Antiqua" pitchFamily="18" charset="0"/>
                <a:cs typeface="Times New Roman" panose="02020603050405020304" pitchFamily="18" charset="0"/>
              </a:rPr>
              <a:t>What is knowledge ?</a:t>
            </a:r>
            <a:endParaRPr lang="en-IN" sz="2800" dirty="0" smtClean="0">
              <a:latin typeface="Book Antiqua" pitchFamily="18" charset="0"/>
              <a:cs typeface="Times New Roman" panose="02020603050405020304" pitchFamily="18" charset="0"/>
            </a:endParaRPr>
          </a:p>
          <a:p>
            <a:r>
              <a:rPr lang="en-IN" sz="2800" dirty="0" smtClean="0">
                <a:latin typeface="Book Antiqua" pitchFamily="18" charset="0"/>
                <a:cs typeface="Times New Roman" panose="02020603050405020304" pitchFamily="18" charset="0"/>
              </a:rPr>
              <a:t>How knowledge is acquired ?</a:t>
            </a:r>
            <a:endParaRPr lang="en-IN" sz="2800" dirty="0" smtClean="0">
              <a:latin typeface="Book Antiqua" pitchFamily="18" charset="0"/>
              <a:cs typeface="Times New Roman" panose="02020603050405020304" pitchFamily="18" charset="0"/>
            </a:endParaRPr>
          </a:p>
          <a:p>
            <a:r>
              <a:rPr lang="en-IN" sz="2800" dirty="0" smtClean="0">
                <a:latin typeface="Book Antiqua" pitchFamily="18" charset="0"/>
                <a:cs typeface="Times New Roman" panose="02020603050405020304" pitchFamily="18" charset="0"/>
              </a:rPr>
              <a:t>How do we know that we know ?</a:t>
            </a:r>
            <a:endParaRPr lang="en-IN" sz="2800" dirty="0" smtClean="0">
              <a:latin typeface="Book Antiqua" pitchFamily="18" charset="0"/>
              <a:cs typeface="Times New Roman" panose="02020603050405020304" pitchFamily="18" charset="0"/>
            </a:endParaRPr>
          </a:p>
          <a:p>
            <a:r>
              <a:rPr lang="en-IN" sz="2800" dirty="0" smtClean="0">
                <a:latin typeface="Book Antiqua" pitchFamily="18" charset="0"/>
                <a:cs typeface="Times New Roman" panose="02020603050405020304" pitchFamily="18" charset="0"/>
              </a:rPr>
              <a:t>Truth ?</a:t>
            </a:r>
            <a:endParaRPr lang="en-IN" sz="2800" dirty="0" smtClean="0">
              <a:latin typeface="Book Antiqua" pitchFamily="18" charset="0"/>
              <a:cs typeface="Times New Roman" panose="02020603050405020304" pitchFamily="18" charset="0"/>
            </a:endParaRPr>
          </a:p>
          <a:p>
            <a:r>
              <a:rPr lang="en-IN" sz="2800" dirty="0" smtClean="0">
                <a:latin typeface="Book Antiqua" pitchFamily="18" charset="0"/>
                <a:cs typeface="Times New Roman" panose="02020603050405020304" pitchFamily="18" charset="0"/>
              </a:rPr>
              <a:t>Reality ?</a:t>
            </a:r>
            <a:endParaRPr lang="en-IN" dirty="0" smtClean="0">
              <a:latin typeface="Book Antiqua" pitchFamily="18" charset="0"/>
            </a:endParaRPr>
          </a:p>
          <a:p>
            <a:endParaRPr lang="en-IN" dirty="0">
              <a:latin typeface="Book Antiqua" pitchFamily="18" charset="0"/>
            </a:endParaRPr>
          </a:p>
        </p:txBody>
      </p:sp>
      <p:pic>
        <p:nvPicPr>
          <p:cNvPr id="7" name="Picture 2" descr="C:\Users\A K DATTA\Desktop\epistemology\images (2).jpg"/>
          <p:cNvPicPr>
            <a:picLocks noChangeAspect="1" noChangeArrowheads="1"/>
          </p:cNvPicPr>
          <p:nvPr/>
        </p:nvPicPr>
        <p:blipFill>
          <a:blip r:embed="rId1">
            <a:lum contrast="10000"/>
          </a:blip>
          <a:srcRect l="3704" t="24723" r="51852" b="17590"/>
          <a:stretch>
            <a:fillRect/>
          </a:stretch>
        </p:blipFill>
        <p:spPr bwMode="auto">
          <a:xfrm>
            <a:off x="304800" y="1447800"/>
            <a:ext cx="2743200" cy="2286000"/>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pPr>
              <a:defRPr/>
            </a:pPr>
            <a:endParaRPr lang="en-US" altLang="ms-MY"/>
          </a:p>
        </p:txBody>
      </p:sp>
      <p:sp>
        <p:nvSpPr>
          <p:cNvPr id="6" name="Footer Placeholder 5"/>
          <p:cNvSpPr>
            <a:spLocks noGrp="1"/>
          </p:cNvSpPr>
          <p:nvPr>
            <p:ph type="ftr" sz="quarter" idx="11"/>
          </p:nvPr>
        </p:nvSpPr>
        <p:spPr/>
        <p:txBody>
          <a:bodyPr/>
          <a:lstStyle/>
          <a:p>
            <a:pPr>
              <a:defRPr/>
            </a:pPr>
            <a:endParaRPr lang="en-US" altLang="ms-MY"/>
          </a:p>
        </p:txBody>
      </p:sp>
      <p:sp>
        <p:nvSpPr>
          <p:cNvPr id="7" name="Slide Number Placeholder 6"/>
          <p:cNvSpPr>
            <a:spLocks noGrp="1"/>
          </p:cNvSpPr>
          <p:nvPr>
            <p:ph type="sldNum" sz="quarter" idx="12"/>
          </p:nvPr>
        </p:nvSpPr>
        <p:spPr/>
        <p:txBody>
          <a:bodyPr/>
          <a:lstStyle/>
          <a:p>
            <a:pPr>
              <a:defRPr/>
            </a:pPr>
            <a:fld id="{24541BD8-0BA5-4CA2-8BB1-D0C05D785C8D}" type="slidenum">
              <a:rPr lang="en-US" altLang="ms-MY" smtClean="0"/>
            </a:fld>
            <a:endParaRPr lang="en-US" altLang="ms-MY"/>
          </a:p>
        </p:txBody>
      </p:sp>
      <p:sp>
        <p:nvSpPr>
          <p:cNvPr id="8" name="TextBox 7"/>
          <p:cNvSpPr txBox="1"/>
          <p:nvPr/>
        </p:nvSpPr>
        <p:spPr>
          <a:xfrm>
            <a:off x="533400" y="304800"/>
            <a:ext cx="7924800" cy="707886"/>
          </a:xfrm>
          <a:prstGeom prst="rect">
            <a:avLst/>
          </a:prstGeom>
          <a:noFill/>
        </p:spPr>
        <p:txBody>
          <a:bodyPr wrap="square" rtlCol="0">
            <a:spAutoFit/>
          </a:bodyPr>
          <a:lstStyle/>
          <a:p>
            <a:pPr algn="ctr"/>
            <a:r>
              <a:rPr lang="en-IN" sz="4000" dirty="0" smtClean="0">
                <a:solidFill>
                  <a:srgbClr val="008000"/>
                </a:solidFill>
                <a:latin typeface="Book Antiqua" pitchFamily="18" charset="0"/>
              </a:rPr>
              <a:t>What is knowledge ?</a:t>
            </a:r>
            <a:endParaRPr lang="en-IN" sz="4000" dirty="0">
              <a:solidFill>
                <a:srgbClr val="008000"/>
              </a:solidFill>
              <a:latin typeface="Book Antiqua" pitchFamily="18" charset="0"/>
            </a:endParaRPr>
          </a:p>
        </p:txBody>
      </p:sp>
      <p:sp>
        <p:nvSpPr>
          <p:cNvPr id="9" name="TextBox 8"/>
          <p:cNvSpPr txBox="1"/>
          <p:nvPr/>
        </p:nvSpPr>
        <p:spPr>
          <a:xfrm>
            <a:off x="304800" y="1164134"/>
            <a:ext cx="8839200" cy="5693866"/>
          </a:xfrm>
          <a:prstGeom prst="rect">
            <a:avLst/>
          </a:prstGeom>
          <a:noFill/>
        </p:spPr>
        <p:txBody>
          <a:bodyPr wrap="square" rtlCol="0">
            <a:spAutoFit/>
          </a:bodyPr>
          <a:lstStyle/>
          <a:p>
            <a:r>
              <a:rPr lang="en-IN" sz="2800" dirty="0" smtClean="0">
                <a:latin typeface="Book Antiqua" pitchFamily="18" charset="0"/>
              </a:rPr>
              <a:t>“What is known”                      ....... Wikipedia</a:t>
            </a:r>
            <a:endParaRPr lang="en-IN" sz="2800" dirty="0" smtClean="0">
              <a:latin typeface="Book Antiqua" pitchFamily="18" charset="0"/>
            </a:endParaRPr>
          </a:p>
          <a:p>
            <a:endParaRPr lang="en-IN" sz="2800" dirty="0" smtClean="0">
              <a:latin typeface="Book Antiqua" pitchFamily="18" charset="0"/>
            </a:endParaRPr>
          </a:p>
          <a:p>
            <a:r>
              <a:rPr lang="en-IN" sz="2800" dirty="0" smtClean="0">
                <a:latin typeface="Book Antiqua" pitchFamily="18" charset="0"/>
              </a:rPr>
              <a:t>Knowledge doe not exist in social vacuum, thus  knowledge is justified true belief               ............ Plato</a:t>
            </a:r>
            <a:endParaRPr lang="en-IN" sz="2800" dirty="0" smtClean="0">
              <a:latin typeface="Book Antiqua" pitchFamily="18" charset="0"/>
            </a:endParaRPr>
          </a:p>
          <a:p>
            <a:endParaRPr lang="en-IN" sz="2800" dirty="0" smtClean="0">
              <a:latin typeface="Book Antiqua" pitchFamily="18" charset="0"/>
            </a:endParaRPr>
          </a:p>
          <a:p>
            <a:r>
              <a:rPr lang="en-IN" sz="2800" dirty="0" smtClean="0">
                <a:latin typeface="Book Antiqua" pitchFamily="18" charset="0"/>
              </a:rPr>
              <a:t>But </a:t>
            </a:r>
            <a:endParaRPr lang="en-IN" sz="2800" dirty="0" smtClean="0">
              <a:latin typeface="Book Antiqua" pitchFamily="18" charset="0"/>
            </a:endParaRPr>
          </a:p>
          <a:p>
            <a:r>
              <a:rPr lang="en-IN" sz="2800" dirty="0" smtClean="0">
                <a:latin typeface="Book Antiqua" pitchFamily="18" charset="0"/>
              </a:rPr>
              <a:t>A true belief can be inferred from a  justified false belief</a:t>
            </a:r>
            <a:endParaRPr lang="en-IN" sz="2800" dirty="0" smtClean="0">
              <a:latin typeface="Book Antiqua" pitchFamily="18" charset="0"/>
            </a:endParaRPr>
          </a:p>
          <a:p>
            <a:r>
              <a:rPr lang="en-IN" sz="2800" dirty="0" smtClean="0">
                <a:latin typeface="Book Antiqua" pitchFamily="18" charset="0"/>
              </a:rPr>
              <a:t>					  ..... </a:t>
            </a:r>
            <a:r>
              <a:rPr lang="en-IN" sz="2800" dirty="0" err="1" smtClean="0">
                <a:latin typeface="Book Antiqua" pitchFamily="18" charset="0"/>
              </a:rPr>
              <a:t>Gettier</a:t>
            </a:r>
            <a:endParaRPr lang="en-IN" sz="2800" dirty="0" smtClean="0">
              <a:latin typeface="Book Antiqua" pitchFamily="18" charset="0"/>
            </a:endParaRPr>
          </a:p>
          <a:p>
            <a:endParaRPr lang="en-IN" sz="2800" dirty="0" smtClean="0">
              <a:latin typeface="Book Antiqua" pitchFamily="18" charset="0"/>
            </a:endParaRPr>
          </a:p>
          <a:p>
            <a:r>
              <a:rPr lang="en-IN" sz="2800" dirty="0" smtClean="0">
                <a:latin typeface="Book Antiqua" pitchFamily="18" charset="0"/>
              </a:rPr>
              <a:t>Knowledge is a theoretical representation of abstract image of an objective situation within human consciousness.  </a:t>
            </a:r>
            <a:endParaRPr lang="en-IN" sz="2800" dirty="0">
              <a:latin typeface="Book Antiqua"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Grp="1" noChangeArrowheads="1"/>
          </p:cNvSpPr>
          <p:nvPr>
            <p:ph type="body" idx="1"/>
          </p:nvPr>
        </p:nvSpPr>
        <p:spPr>
          <a:xfrm>
            <a:off x="609600" y="1066800"/>
            <a:ext cx="8229600" cy="4525963"/>
          </a:xfrm>
        </p:spPr>
        <p:txBody>
          <a:bodyPr/>
          <a:lstStyle/>
          <a:p>
            <a:r>
              <a:rPr lang="en-US" sz="2800" dirty="0">
                <a:latin typeface="Book Antiqua" pitchFamily="18" charset="0"/>
              </a:rPr>
              <a:t>We have knowledge only when a proposition is believed to be true</a:t>
            </a:r>
            <a:endParaRPr lang="en-US" sz="2800" dirty="0">
              <a:latin typeface="Book Antiqua" pitchFamily="18" charset="0"/>
            </a:endParaRPr>
          </a:p>
          <a:p>
            <a:r>
              <a:rPr lang="en-US" sz="2800" dirty="0">
                <a:latin typeface="Book Antiqua" pitchFamily="18" charset="0"/>
              </a:rPr>
              <a:t>We have knowledge only when the believed proposition is in fact true</a:t>
            </a:r>
            <a:endParaRPr lang="en-US" sz="2800" dirty="0">
              <a:latin typeface="Book Antiqua" pitchFamily="18" charset="0"/>
            </a:endParaRPr>
          </a:p>
          <a:p>
            <a:r>
              <a:rPr lang="en-US" sz="2800" dirty="0">
                <a:latin typeface="Book Antiqua" pitchFamily="18" charset="0"/>
              </a:rPr>
              <a:t>We have knowledge only when we have justification (or warrant) for our </a:t>
            </a:r>
            <a:r>
              <a:rPr lang="en-US" sz="2800" dirty="0" smtClean="0">
                <a:latin typeface="Book Antiqua" pitchFamily="18" charset="0"/>
              </a:rPr>
              <a:t>belief</a:t>
            </a:r>
            <a:endParaRPr lang="en-US" sz="2800" dirty="0" smtClean="0">
              <a:latin typeface="Book Antiqua" pitchFamily="18" charset="0"/>
            </a:endParaRPr>
          </a:p>
          <a:p>
            <a:endParaRPr lang="en-US" sz="2800" dirty="0">
              <a:latin typeface="Book Antiqua" pitchFamily="18" charset="0"/>
            </a:endParaRPr>
          </a:p>
        </p:txBody>
      </p:sp>
      <p:sp>
        <p:nvSpPr>
          <p:cNvPr id="4" name="Rectangle 2"/>
          <p:cNvSpPr txBox="1">
            <a:spLocks noChangeArrowheads="1"/>
          </p:cNvSpPr>
          <p:nvPr/>
        </p:nvSpPr>
        <p:spPr>
          <a:xfrm>
            <a:off x="0" y="274638"/>
            <a:ext cx="91440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none" spc="0" normalizeH="0" baseline="0" noProof="0" dirty="0" smtClean="0">
                <a:ln>
                  <a:noFill/>
                </a:ln>
                <a:solidFill>
                  <a:srgbClr val="008000"/>
                </a:solidFill>
                <a:effectLst/>
                <a:uLnTx/>
                <a:uFillTx/>
                <a:latin typeface="Book Antiqua" pitchFamily="18" charset="0"/>
                <a:ea typeface="+mj-ea"/>
                <a:cs typeface="+mj-cs"/>
              </a:rPr>
              <a:t>Plato: </a:t>
            </a:r>
            <a:r>
              <a:rPr kumimoji="0" lang="en-GB" sz="3600" b="0" i="0" u="none" strike="noStrike" kern="1200" cap="none" spc="0" normalizeH="0" baseline="0" noProof="0" dirty="0" smtClean="0">
                <a:ln>
                  <a:noFill/>
                </a:ln>
                <a:solidFill>
                  <a:srgbClr val="008000"/>
                </a:solidFill>
                <a:effectLst/>
                <a:uLnTx/>
                <a:uFillTx/>
                <a:latin typeface="Book Antiqua" pitchFamily="18" charset="0"/>
                <a:ea typeface="+mj-ea"/>
                <a:cs typeface="+mj-cs"/>
              </a:rPr>
              <a:t>Knowledge is Justified True Belief</a:t>
            </a:r>
            <a:endParaRPr kumimoji="0" lang="en-US" sz="3600" b="0" i="0" u="none" strike="noStrike" kern="1200" cap="none" spc="0" normalizeH="0" baseline="0" noProof="0" dirty="0">
              <a:ln>
                <a:noFill/>
              </a:ln>
              <a:solidFill>
                <a:srgbClr val="008000"/>
              </a:solidFill>
              <a:effectLst/>
              <a:uLnTx/>
              <a:uFillTx/>
              <a:latin typeface="Book Antiqua" pitchFamily="18" charset="0"/>
              <a:ea typeface="+mj-ea"/>
              <a:cs typeface="+mj-cs"/>
            </a:endParaRPr>
          </a:p>
        </p:txBody>
      </p:sp>
      <p:sp>
        <p:nvSpPr>
          <p:cNvPr id="6" name="Rectangle 3"/>
          <p:cNvSpPr txBox="1">
            <a:spLocks noChangeArrowheads="1"/>
          </p:cNvSpPr>
          <p:nvPr/>
        </p:nvSpPr>
        <p:spPr>
          <a:xfrm>
            <a:off x="571472" y="4071942"/>
            <a:ext cx="8229600" cy="2362200"/>
          </a:xfrm>
          <a:prstGeom prst="rect">
            <a:avLst/>
          </a:prstGeom>
        </p:spPr>
        <p:txBody>
          <a:bodyPr/>
          <a:lstStyle/>
          <a:p>
            <a:pPr marL="609600" marR="0" lvl="0" indent="-609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GB" sz="2400" b="1" i="1" u="none" strike="noStrike" kern="1200" cap="none" spc="0" normalizeH="0" baseline="0" noProof="0" dirty="0" smtClean="0">
                <a:ln>
                  <a:noFill/>
                </a:ln>
                <a:solidFill>
                  <a:srgbClr val="008000"/>
                </a:solidFill>
                <a:effectLst/>
                <a:uLnTx/>
                <a:uFillTx/>
                <a:latin typeface="Book Antiqua" pitchFamily="18" charset="0"/>
              </a:rPr>
              <a:t>P</a:t>
            </a:r>
            <a:r>
              <a:rPr kumimoji="0" lang="en-GB" sz="2400" b="1" i="0" u="none" strike="noStrike" kern="1200" cap="none" spc="0" normalizeH="0" baseline="0" noProof="0" dirty="0" smtClean="0">
                <a:ln>
                  <a:noFill/>
                </a:ln>
                <a:solidFill>
                  <a:srgbClr val="008000"/>
                </a:solidFill>
                <a:effectLst/>
                <a:uLnTx/>
                <a:uFillTx/>
                <a:latin typeface="Book Antiqua" pitchFamily="18" charset="0"/>
              </a:rPr>
              <a:t> must be true.</a:t>
            </a:r>
            <a:endParaRPr kumimoji="0" lang="en-GB" sz="2400" b="1" i="0" u="none" strike="noStrike" kern="1200" cap="none" spc="0" normalizeH="0" baseline="0" noProof="0" dirty="0" smtClean="0">
              <a:ln>
                <a:noFill/>
              </a:ln>
              <a:solidFill>
                <a:srgbClr val="008000"/>
              </a:solidFill>
              <a:effectLst/>
              <a:uLnTx/>
              <a:uFillTx/>
              <a:latin typeface="Book Antiqua" pitchFamily="18" charset="0"/>
            </a:endParaRPr>
          </a:p>
          <a:p>
            <a:pPr marL="609600" marR="0" lvl="0" indent="-609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GB" sz="2400" b="1" i="0" u="none" strike="noStrike" kern="1200" cap="none" spc="0" normalizeH="0" baseline="0" noProof="0" dirty="0" smtClean="0">
                <a:ln>
                  <a:noFill/>
                </a:ln>
                <a:solidFill>
                  <a:srgbClr val="008000"/>
                </a:solidFill>
                <a:effectLst/>
                <a:uLnTx/>
                <a:uFillTx/>
                <a:latin typeface="Book Antiqua" pitchFamily="18" charset="0"/>
              </a:rPr>
              <a:t>I believe</a:t>
            </a:r>
            <a:r>
              <a:rPr kumimoji="0" lang="en-GB" sz="2400" b="1" i="1" u="none" strike="noStrike" kern="1200" cap="none" spc="0" normalizeH="0" baseline="0" noProof="0" dirty="0" smtClean="0">
                <a:ln>
                  <a:noFill/>
                </a:ln>
                <a:solidFill>
                  <a:srgbClr val="008000"/>
                </a:solidFill>
                <a:effectLst/>
                <a:uLnTx/>
                <a:uFillTx/>
                <a:latin typeface="Book Antiqua" pitchFamily="18" charset="0"/>
              </a:rPr>
              <a:t> P</a:t>
            </a:r>
            <a:endParaRPr kumimoji="0" lang="en-GB" sz="2400" b="1" i="1" u="none" strike="noStrike" kern="1200" cap="none" spc="0" normalizeH="0" baseline="0" noProof="0" dirty="0" smtClean="0">
              <a:ln>
                <a:noFill/>
              </a:ln>
              <a:solidFill>
                <a:srgbClr val="008000"/>
              </a:solidFill>
              <a:effectLst/>
              <a:uLnTx/>
              <a:uFillTx/>
              <a:latin typeface="Book Antiqua" pitchFamily="18" charset="0"/>
            </a:endParaRPr>
          </a:p>
          <a:p>
            <a:pPr marL="609600" marR="0" lvl="0" indent="-609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GB" sz="2400" b="1" i="0" u="none" strike="noStrike" kern="1200" cap="none" spc="0" normalizeH="0" baseline="0" noProof="0" dirty="0" smtClean="0">
                <a:ln>
                  <a:noFill/>
                </a:ln>
                <a:solidFill>
                  <a:srgbClr val="008000"/>
                </a:solidFill>
                <a:effectLst/>
                <a:uLnTx/>
                <a:uFillTx/>
                <a:latin typeface="Book Antiqua" pitchFamily="18" charset="0"/>
              </a:rPr>
              <a:t>I have sound reasons for believing P.  I need a type of justification</a:t>
            </a:r>
            <a:endParaRPr kumimoji="0" lang="en-GB" sz="2400" b="1" i="0" u="none" strike="noStrike" kern="1200" cap="none" spc="0" normalizeH="0" baseline="0" noProof="0" dirty="0" smtClean="0">
              <a:ln>
                <a:noFill/>
              </a:ln>
              <a:solidFill>
                <a:srgbClr val="008000"/>
              </a:solidFill>
              <a:effectLst/>
              <a:uLnTx/>
              <a:uFillTx/>
              <a:latin typeface="Book Antiqua" pitchFamily="18" charset="0"/>
            </a:endParaRPr>
          </a:p>
          <a:p>
            <a:pPr marL="609600" marR="0" lvl="0" indent="-609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GB" sz="2400" b="1" i="0" u="none" strike="noStrike" kern="1200" cap="none" spc="0" normalizeH="0" baseline="0" noProof="0" dirty="0" smtClean="0">
                <a:ln>
                  <a:noFill/>
                </a:ln>
                <a:solidFill>
                  <a:srgbClr val="008000"/>
                </a:solidFill>
                <a:effectLst/>
                <a:uLnTx/>
                <a:uFillTx/>
                <a:latin typeface="Book Antiqua" pitchFamily="18" charset="0"/>
              </a:rPr>
              <a:t>I have no evidence that negates or erodes my belief in </a:t>
            </a:r>
            <a:r>
              <a:rPr kumimoji="0" lang="en-GB" sz="2400" b="1" i="1" u="none" strike="noStrike" kern="1200" cap="none" spc="0" normalizeH="0" baseline="0" noProof="0" dirty="0" smtClean="0">
                <a:ln>
                  <a:noFill/>
                </a:ln>
                <a:solidFill>
                  <a:srgbClr val="008000"/>
                </a:solidFill>
                <a:effectLst/>
                <a:uLnTx/>
                <a:uFillTx/>
                <a:latin typeface="Book Antiqua" pitchFamily="18" charset="0"/>
              </a:rPr>
              <a:t>P</a:t>
            </a:r>
            <a:r>
              <a:rPr kumimoji="0" lang="sv-SE" sz="2400" b="1" i="0" u="none" strike="noStrike" kern="1200" cap="none" spc="0" normalizeH="0" baseline="0" noProof="0" dirty="0" smtClean="0">
                <a:ln>
                  <a:noFill/>
                </a:ln>
                <a:solidFill>
                  <a:srgbClr val="008000"/>
                </a:solidFill>
                <a:effectLst/>
                <a:uLnTx/>
                <a:uFillTx/>
                <a:latin typeface="Book Antiqua" pitchFamily="18" charset="0"/>
              </a:rPr>
              <a:t> </a:t>
            </a:r>
            <a:endParaRPr kumimoji="0" lang="en-US" sz="2400" b="1" i="0" u="none" strike="noStrike" kern="1200" cap="none" spc="0" normalizeH="0" baseline="0" noProof="0" dirty="0">
              <a:ln>
                <a:noFill/>
              </a:ln>
              <a:solidFill>
                <a:srgbClr val="008000"/>
              </a:solidFill>
              <a:effectLst/>
              <a:uLnTx/>
              <a:uFillTx/>
              <a:latin typeface="Book Antiqua"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Text Box 9"/>
          <p:cNvSpPr txBox="1">
            <a:spLocks noChangeArrowheads="1"/>
          </p:cNvSpPr>
          <p:nvPr/>
        </p:nvSpPr>
        <p:spPr bwMode="auto">
          <a:xfrm>
            <a:off x="381000" y="228600"/>
            <a:ext cx="8305800" cy="1538883"/>
          </a:xfrm>
          <a:prstGeom prst="rect">
            <a:avLst/>
          </a:prstGeom>
          <a:noFill/>
          <a:ln w="9525">
            <a:noFill/>
            <a:miter lim="800000"/>
          </a:ln>
          <a:effectLst/>
        </p:spPr>
        <p:txBody>
          <a:bodyPr>
            <a:spAutoFit/>
          </a:bodyPr>
          <a:lstStyle/>
          <a:p>
            <a:pPr algn="ctr">
              <a:spcBef>
                <a:spcPct val="50000"/>
              </a:spcBef>
            </a:pPr>
            <a:r>
              <a:rPr lang="en-US" sz="4000" dirty="0">
                <a:solidFill>
                  <a:srgbClr val="008000"/>
                </a:solidFill>
                <a:latin typeface="Book Antiqua" pitchFamily="18" charset="0"/>
                <a:cs typeface="Times New Roman" panose="02020603050405020304" pitchFamily="18" charset="0"/>
              </a:rPr>
              <a:t>Epistemology</a:t>
            </a:r>
            <a:r>
              <a:rPr lang="en-US" sz="4000" dirty="0" smtClean="0">
                <a:solidFill>
                  <a:srgbClr val="008000"/>
                </a:solidFill>
                <a:latin typeface="Book Antiqua" pitchFamily="18" charset="0"/>
                <a:cs typeface="Times New Roman" panose="02020603050405020304" pitchFamily="18" charset="0"/>
              </a:rPr>
              <a:t>:</a:t>
            </a:r>
            <a:endParaRPr lang="en-US" sz="4000" dirty="0" smtClean="0">
              <a:solidFill>
                <a:srgbClr val="008000"/>
              </a:solidFill>
              <a:latin typeface="Book Antiqua" pitchFamily="18" charset="0"/>
              <a:cs typeface="Times New Roman" panose="02020603050405020304" pitchFamily="18" charset="0"/>
            </a:endParaRPr>
          </a:p>
          <a:p>
            <a:pPr algn="just">
              <a:spcBef>
                <a:spcPct val="50000"/>
              </a:spcBef>
            </a:pP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smtClean="0"/>
              <a:t>A K Datta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
        <p:nvSpPr>
          <p:cNvPr id="7" name="Rectangle 6"/>
          <p:cNvSpPr/>
          <p:nvPr/>
        </p:nvSpPr>
        <p:spPr>
          <a:xfrm>
            <a:off x="304800" y="1143000"/>
            <a:ext cx="8458200" cy="2246769"/>
          </a:xfrm>
          <a:prstGeom prst="rect">
            <a:avLst/>
          </a:prstGeom>
        </p:spPr>
        <p:txBody>
          <a:bodyPr wrap="square">
            <a:spAutoFit/>
          </a:bodyPr>
          <a:lstStyle/>
          <a:p>
            <a:r>
              <a:rPr lang="en-IN" sz="2800" dirty="0" smtClean="0">
                <a:latin typeface="Book Antiqua" pitchFamily="18" charset="0"/>
              </a:rPr>
              <a:t>is derived from two Greek words: </a:t>
            </a:r>
            <a:r>
              <a:rPr lang="en-IN" sz="2800" i="1" dirty="0" smtClean="0">
                <a:latin typeface="Book Antiqua" pitchFamily="18" charset="0"/>
              </a:rPr>
              <a:t>episteme</a:t>
            </a:r>
            <a:r>
              <a:rPr lang="en-IN" sz="2800" dirty="0" smtClean="0">
                <a:latin typeface="Book Antiqua" pitchFamily="18" charset="0"/>
              </a:rPr>
              <a:t> meaning science and </a:t>
            </a:r>
            <a:r>
              <a:rPr lang="en-IN" sz="2800" i="1" dirty="0" smtClean="0">
                <a:latin typeface="Book Antiqua" pitchFamily="18" charset="0"/>
              </a:rPr>
              <a:t>Logos</a:t>
            </a:r>
            <a:r>
              <a:rPr lang="en-IN" sz="2800" dirty="0" smtClean="0">
                <a:latin typeface="Book Antiqua" pitchFamily="18" charset="0"/>
              </a:rPr>
              <a:t> meaning discourse. </a:t>
            </a:r>
            <a:endParaRPr lang="en-IN" sz="2800" dirty="0" smtClean="0">
              <a:latin typeface="Book Antiqua" pitchFamily="18" charset="0"/>
            </a:endParaRPr>
          </a:p>
          <a:p>
            <a:endParaRPr lang="en-IN" sz="2800" dirty="0" smtClean="0">
              <a:latin typeface="Book Antiqua" pitchFamily="18" charset="0"/>
            </a:endParaRPr>
          </a:p>
          <a:p>
            <a:r>
              <a:rPr lang="en-IN" sz="2800" dirty="0" smtClean="0">
                <a:latin typeface="Book Antiqua" pitchFamily="18" charset="0"/>
              </a:rPr>
              <a:t>Therefore meaning of epistemology is simply </a:t>
            </a:r>
            <a:r>
              <a:rPr lang="en-IN" sz="2800" b="1" dirty="0" smtClean="0">
                <a:solidFill>
                  <a:srgbClr val="008000"/>
                </a:solidFill>
                <a:latin typeface="Book Antiqua" pitchFamily="18" charset="0"/>
              </a:rPr>
              <a:t>a discourse on science.</a:t>
            </a:r>
            <a:endParaRPr lang="en-IN" sz="2800" b="1" dirty="0">
              <a:solidFill>
                <a:srgbClr val="008000"/>
              </a:solidFill>
              <a:latin typeface="Book Antiqua" pitchFamily="18" charset="0"/>
            </a:endParaRPr>
          </a:p>
        </p:txBody>
      </p:sp>
      <p:sp>
        <p:nvSpPr>
          <p:cNvPr id="8" name="Rectangle 7"/>
          <p:cNvSpPr/>
          <p:nvPr/>
        </p:nvSpPr>
        <p:spPr>
          <a:xfrm>
            <a:off x="381000" y="3581400"/>
            <a:ext cx="8534400" cy="2677656"/>
          </a:xfrm>
          <a:prstGeom prst="rect">
            <a:avLst/>
          </a:prstGeom>
        </p:spPr>
        <p:txBody>
          <a:bodyPr wrap="square">
            <a:spAutoFit/>
          </a:bodyPr>
          <a:lstStyle/>
          <a:p>
            <a:pPr algn="just"/>
            <a:r>
              <a:rPr lang="en-IN" sz="2800" dirty="0" smtClean="0">
                <a:latin typeface="Book Antiqua" pitchFamily="18" charset="0"/>
              </a:rPr>
              <a:t>The current dictionary meaning of the term epistemology, is defined as " </a:t>
            </a:r>
            <a:r>
              <a:rPr lang="en-IN" sz="2800" i="1" dirty="0" smtClean="0">
                <a:latin typeface="Book Antiqua" pitchFamily="18" charset="0"/>
              </a:rPr>
              <a:t>the study of the basis, nature, limitations and conditions of validity of scientific knowledge, which extends to exact sciences (logic and mathematics), and empirical ones (physics, chemistry, biology, psychology, sociology, etc</a:t>
            </a:r>
            <a:r>
              <a:rPr lang="en-IN" sz="2800" dirty="0" smtClean="0">
                <a:latin typeface="Book Antiqua" pitchFamily="18" charset="0"/>
              </a:rPr>
              <a:t>.)”</a:t>
            </a:r>
            <a:endParaRPr lang="en-IN" dirty="0">
              <a:latin typeface="Book Antiqua"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pPr>
              <a:defRPr/>
            </a:pPr>
            <a:endParaRPr lang="en-US" altLang="ms-MY"/>
          </a:p>
        </p:txBody>
      </p:sp>
      <p:sp>
        <p:nvSpPr>
          <p:cNvPr id="6" name="Footer Placeholder 5"/>
          <p:cNvSpPr>
            <a:spLocks noGrp="1"/>
          </p:cNvSpPr>
          <p:nvPr>
            <p:ph type="ftr" sz="quarter" idx="11"/>
          </p:nvPr>
        </p:nvSpPr>
        <p:spPr/>
        <p:txBody>
          <a:bodyPr/>
          <a:lstStyle/>
          <a:p>
            <a:pPr>
              <a:defRPr/>
            </a:pPr>
            <a:endParaRPr lang="en-US" altLang="ms-MY"/>
          </a:p>
        </p:txBody>
      </p:sp>
      <p:sp>
        <p:nvSpPr>
          <p:cNvPr id="7" name="Slide Number Placeholder 6"/>
          <p:cNvSpPr>
            <a:spLocks noGrp="1"/>
          </p:cNvSpPr>
          <p:nvPr>
            <p:ph type="sldNum" sz="quarter" idx="12"/>
          </p:nvPr>
        </p:nvSpPr>
        <p:spPr/>
        <p:txBody>
          <a:bodyPr/>
          <a:lstStyle/>
          <a:p>
            <a:pPr>
              <a:defRPr/>
            </a:pPr>
            <a:fld id="{24541BD8-0BA5-4CA2-8BB1-D0C05D785C8D}" type="slidenum">
              <a:rPr lang="en-US" altLang="ms-MY" smtClean="0"/>
            </a:fld>
            <a:endParaRPr lang="en-US" altLang="ms-MY"/>
          </a:p>
        </p:txBody>
      </p:sp>
      <p:sp>
        <p:nvSpPr>
          <p:cNvPr id="8" name="Rectangle 7"/>
          <p:cNvSpPr/>
          <p:nvPr/>
        </p:nvSpPr>
        <p:spPr>
          <a:xfrm>
            <a:off x="285720" y="642918"/>
            <a:ext cx="8572560" cy="5632311"/>
          </a:xfrm>
          <a:prstGeom prst="rect">
            <a:avLst/>
          </a:prstGeom>
        </p:spPr>
        <p:txBody>
          <a:bodyPr wrap="square">
            <a:spAutoFit/>
          </a:bodyPr>
          <a:lstStyle/>
          <a:p>
            <a:pPr algn="just"/>
            <a:r>
              <a:rPr lang="en-IN" sz="2400" dirty="0" smtClean="0">
                <a:latin typeface="Book Antiqua" pitchFamily="18" charset="0"/>
              </a:rPr>
              <a:t>Four distinct types of knowledge: (a) logical, (b) semantic, (c) systemic, or (d) empirical.</a:t>
            </a:r>
            <a:endParaRPr lang="en-IN" sz="2400" dirty="0" smtClean="0">
              <a:latin typeface="Book Antiqua" pitchFamily="18" charset="0"/>
            </a:endParaRPr>
          </a:p>
          <a:p>
            <a:pPr algn="just"/>
            <a:endParaRPr lang="en-IN" sz="2400" dirty="0" smtClean="0">
              <a:latin typeface="Book Antiqua" pitchFamily="18" charset="0"/>
            </a:endParaRPr>
          </a:p>
          <a:p>
            <a:pPr algn="just"/>
            <a:r>
              <a:rPr lang="en-IN" sz="2400" b="1" dirty="0" smtClean="0">
                <a:solidFill>
                  <a:srgbClr val="006600"/>
                </a:solidFill>
                <a:latin typeface="Book Antiqua" pitchFamily="18" charset="0"/>
              </a:rPr>
              <a:t>Logical knowledge </a:t>
            </a:r>
            <a:r>
              <a:rPr lang="en-IN" sz="2400" dirty="0" smtClean="0">
                <a:latin typeface="Book Antiqua" pitchFamily="18" charset="0"/>
              </a:rPr>
              <a:t>results from the understanding of how ideas are related to one another. Knowing manifests itself in applying accepted rules of logic, which stipulates additional truths. </a:t>
            </a:r>
            <a:endParaRPr lang="en-IN" sz="2400" dirty="0" smtClean="0">
              <a:latin typeface="Book Antiqua" pitchFamily="18" charset="0"/>
            </a:endParaRPr>
          </a:p>
          <a:p>
            <a:pPr algn="just"/>
            <a:r>
              <a:rPr lang="en-IN" sz="2400" b="1" dirty="0" smtClean="0">
                <a:solidFill>
                  <a:srgbClr val="006600"/>
                </a:solidFill>
                <a:latin typeface="Book Antiqua" pitchFamily="18" charset="0"/>
              </a:rPr>
              <a:t>Semantic knowledge </a:t>
            </a:r>
            <a:r>
              <a:rPr lang="en-IN" sz="2400" dirty="0" smtClean="0">
                <a:latin typeface="Book Antiqua" pitchFamily="18" charset="0"/>
              </a:rPr>
              <a:t>results from learning the meaning of words, which is simply the familiarity with definitions. </a:t>
            </a:r>
            <a:r>
              <a:rPr lang="en-IN" sz="2400" b="1" dirty="0" smtClean="0">
                <a:solidFill>
                  <a:srgbClr val="006600"/>
                </a:solidFill>
                <a:latin typeface="Book Antiqua" pitchFamily="18" charset="0"/>
              </a:rPr>
              <a:t>Systemic knowledge </a:t>
            </a:r>
            <a:r>
              <a:rPr lang="en-IN" sz="2400" dirty="0" smtClean="0">
                <a:latin typeface="Book Antiqua" pitchFamily="18" charset="0"/>
              </a:rPr>
              <a:t>is the learning of a particular system, its symbols, and its interpretations. </a:t>
            </a:r>
            <a:endParaRPr lang="en-IN" sz="2400" dirty="0" smtClean="0">
              <a:latin typeface="Book Antiqua" pitchFamily="18" charset="0"/>
            </a:endParaRPr>
          </a:p>
          <a:p>
            <a:pPr algn="just"/>
            <a:r>
              <a:rPr lang="en-IN" sz="2400" b="1" dirty="0" smtClean="0">
                <a:solidFill>
                  <a:srgbClr val="006600"/>
                </a:solidFill>
                <a:latin typeface="Book Antiqua" pitchFamily="18" charset="0"/>
              </a:rPr>
              <a:t>Empirical knowledge </a:t>
            </a:r>
            <a:r>
              <a:rPr lang="en-IN" sz="2400" dirty="0" smtClean="0">
                <a:latin typeface="Book Antiqua" pitchFamily="18" charset="0"/>
              </a:rPr>
              <a:t>is the learning to results from our senses. Much of the scientific knowledge falls under this umbrella. In the fact, scientific knowledge relies heavily on empirically derived understanding.</a:t>
            </a:r>
            <a:endParaRPr lang="en-IN" sz="2400" dirty="0">
              <a:latin typeface="Book Antiqua" pitchFamily="18" charset="0"/>
            </a:endParaRPr>
          </a:p>
        </p:txBody>
      </p:sp>
      <p:sp>
        <p:nvSpPr>
          <p:cNvPr id="9" name="TextBox 8"/>
          <p:cNvSpPr txBox="1"/>
          <p:nvPr/>
        </p:nvSpPr>
        <p:spPr>
          <a:xfrm>
            <a:off x="500034" y="0"/>
            <a:ext cx="8143932" cy="584775"/>
          </a:xfrm>
          <a:prstGeom prst="rect">
            <a:avLst/>
          </a:prstGeom>
          <a:noFill/>
        </p:spPr>
        <p:txBody>
          <a:bodyPr wrap="square" rtlCol="0">
            <a:spAutoFit/>
          </a:bodyPr>
          <a:lstStyle/>
          <a:p>
            <a:pPr algn="ctr"/>
            <a:r>
              <a:rPr lang="en-IN" sz="3200" dirty="0" smtClean="0">
                <a:solidFill>
                  <a:srgbClr val="006600"/>
                </a:solidFill>
                <a:latin typeface="Book Antiqua" pitchFamily="18" charset="0"/>
              </a:rPr>
              <a:t>Epistemological definition of knowledge </a:t>
            </a:r>
            <a:endParaRPr lang="en-IN" sz="3200" dirty="0">
              <a:solidFill>
                <a:srgbClr val="006600"/>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4514" name="Picture 2" descr="C:\Users\A K DATTA\Desktop\epistemology\download.jpg"/>
          <p:cNvPicPr>
            <a:picLocks noChangeAspect="1" noChangeArrowheads="1"/>
          </p:cNvPicPr>
          <p:nvPr/>
        </p:nvPicPr>
        <p:blipFill>
          <a:blip r:embed="rId1">
            <a:clrChange>
              <a:clrFrom>
                <a:srgbClr val="F7FCF6"/>
              </a:clrFrom>
              <a:clrTo>
                <a:srgbClr val="F7FCF6">
                  <a:alpha val="0"/>
                </a:srgbClr>
              </a:clrTo>
            </a:clrChange>
            <a:lum contrast="20000"/>
          </a:blip>
          <a:srcRect t="15221"/>
          <a:stretch>
            <a:fillRect/>
          </a:stretch>
        </p:blipFill>
        <p:spPr bwMode="auto">
          <a:xfrm>
            <a:off x="1981200" y="1752600"/>
            <a:ext cx="4932000" cy="2970919"/>
          </a:xfrm>
          <a:prstGeom prst="rect">
            <a:avLst/>
          </a:prstGeom>
          <a:noFill/>
        </p:spPr>
      </p:pic>
      <p:sp>
        <p:nvSpPr>
          <p:cNvPr id="3" name="Date Placeholder 2"/>
          <p:cNvSpPr>
            <a:spLocks noGrp="1"/>
          </p:cNvSpPr>
          <p:nvPr>
            <p:ph type="dt" sz="half" idx="10"/>
          </p:nvPr>
        </p:nvSpPr>
        <p:spPr/>
        <p:txBody>
          <a:bodyPr/>
          <a:lstStyle/>
          <a:p>
            <a:r>
              <a:rPr lang="en-US" smtClean="0"/>
              <a:t>A K Datta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7" name="Rectangle 29"/>
          <p:cNvSpPr>
            <a:spLocks noChangeArrowheads="1"/>
          </p:cNvSpPr>
          <p:nvPr/>
        </p:nvSpPr>
        <p:spPr bwMode="auto">
          <a:xfrm>
            <a:off x="2667000" y="2209800"/>
            <a:ext cx="762000" cy="4419600"/>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13500000" scaled="1"/>
            <a:tileRect/>
          </a:gradFill>
          <a:ln w="9525">
            <a:noFill/>
            <a:miter lim="800000"/>
          </a:ln>
          <a:effectLst/>
        </p:spPr>
        <p:txBody>
          <a:bodyPr wrap="none" anchor="ctr"/>
          <a:lstStyle/>
          <a:p>
            <a:endParaRPr lang="en-IN"/>
          </a:p>
        </p:txBody>
      </p:sp>
      <p:sp>
        <p:nvSpPr>
          <p:cNvPr id="7194" name="Rectangle 26"/>
          <p:cNvSpPr>
            <a:spLocks noChangeArrowheads="1"/>
          </p:cNvSpPr>
          <p:nvPr/>
        </p:nvSpPr>
        <p:spPr bwMode="auto">
          <a:xfrm>
            <a:off x="4043362" y="1343025"/>
            <a:ext cx="681038" cy="290513"/>
          </a:xfrm>
          <a:prstGeom prst="rect">
            <a:avLst/>
          </a:prstGeom>
          <a:solidFill>
            <a:srgbClr val="92D050"/>
          </a:solidFill>
          <a:ln w="9525">
            <a:noFill/>
            <a:miter lim="800000"/>
          </a:ln>
          <a:effectLst/>
        </p:spPr>
        <p:txBody>
          <a:bodyPr wrap="none" anchor="ctr"/>
          <a:lstStyle/>
          <a:p>
            <a:endParaRPr lang="en-IN" sz="2800"/>
          </a:p>
        </p:txBody>
      </p:sp>
      <p:sp>
        <p:nvSpPr>
          <p:cNvPr id="7172" name="Rectangle 4"/>
          <p:cNvSpPr>
            <a:spLocks noChangeArrowheads="1"/>
          </p:cNvSpPr>
          <p:nvPr/>
        </p:nvSpPr>
        <p:spPr bwMode="auto">
          <a:xfrm>
            <a:off x="0" y="0"/>
            <a:ext cx="9144000" cy="762000"/>
          </a:xfrm>
          <a:prstGeom prst="rect">
            <a:avLst/>
          </a:prstGeom>
          <a:noFill/>
          <a:ln w="9525">
            <a:noFill/>
            <a:miter lim="800000"/>
          </a:ln>
          <a:effectLst/>
        </p:spPr>
        <p:txBody>
          <a:bodyPr/>
          <a:lstStyle/>
          <a:p>
            <a:pPr marL="342900" indent="-342900" algn="ctr">
              <a:spcBef>
                <a:spcPct val="20000"/>
              </a:spcBef>
            </a:pPr>
            <a:r>
              <a:rPr lang="en-US" sz="4000" dirty="0" smtClean="0">
                <a:solidFill>
                  <a:srgbClr val="008000"/>
                </a:solidFill>
                <a:latin typeface="Book Antiqua" pitchFamily="18" charset="0"/>
              </a:rPr>
              <a:t>Epistemology in </a:t>
            </a:r>
            <a:r>
              <a:rPr lang="en-US" sz="4000" dirty="0">
                <a:solidFill>
                  <a:srgbClr val="008000"/>
                </a:solidFill>
                <a:latin typeface="Book Antiqua" pitchFamily="18" charset="0"/>
              </a:rPr>
              <a:t>General</a:t>
            </a:r>
            <a:r>
              <a:rPr lang="en-US" sz="4000" b="0" dirty="0">
                <a:solidFill>
                  <a:srgbClr val="008000"/>
                </a:solidFill>
                <a:latin typeface="Book Antiqua" pitchFamily="18" charset="0"/>
              </a:rPr>
              <a:t> </a:t>
            </a:r>
            <a:endParaRPr lang="en-US" sz="4000" b="0" dirty="0">
              <a:solidFill>
                <a:srgbClr val="008000"/>
              </a:solidFill>
              <a:latin typeface="Book Antiqua" pitchFamily="18" charset="0"/>
            </a:endParaRPr>
          </a:p>
        </p:txBody>
      </p:sp>
      <p:sp>
        <p:nvSpPr>
          <p:cNvPr id="7190" name="Rectangle 22"/>
          <p:cNvSpPr>
            <a:spLocks noChangeArrowheads="1"/>
          </p:cNvSpPr>
          <p:nvPr/>
        </p:nvSpPr>
        <p:spPr bwMode="auto">
          <a:xfrm>
            <a:off x="533400" y="1219200"/>
            <a:ext cx="2728912" cy="523875"/>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13500000" scaled="1"/>
            <a:tileRect/>
          </a:gradFill>
          <a:ln w="9525">
            <a:noFill/>
            <a:miter lim="800000"/>
          </a:ln>
          <a:effectLst/>
        </p:spPr>
        <p:txBody>
          <a:bodyPr/>
          <a:lstStyle/>
          <a:p>
            <a:pPr marL="342900" indent="-342900" algn="ctr">
              <a:spcBef>
                <a:spcPct val="20000"/>
              </a:spcBef>
            </a:pPr>
            <a:r>
              <a:rPr lang="en-US" sz="2800" dirty="0"/>
              <a:t>Main </a:t>
            </a:r>
            <a:r>
              <a:rPr lang="en-US" sz="2800" dirty="0" smtClean="0"/>
              <a:t>theme</a:t>
            </a:r>
            <a:endParaRPr lang="en-US" sz="2800" dirty="0"/>
          </a:p>
        </p:txBody>
      </p:sp>
      <p:sp>
        <p:nvSpPr>
          <p:cNvPr id="7191" name="Rectangle 23"/>
          <p:cNvSpPr>
            <a:spLocks noChangeArrowheads="1"/>
          </p:cNvSpPr>
          <p:nvPr/>
        </p:nvSpPr>
        <p:spPr bwMode="auto">
          <a:xfrm>
            <a:off x="3352800" y="1219200"/>
            <a:ext cx="5486400" cy="533400"/>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a:ln w="9525">
            <a:noFill/>
            <a:miter lim="800000"/>
          </a:ln>
          <a:effectLst/>
        </p:spPr>
        <p:txBody>
          <a:bodyPr/>
          <a:lstStyle/>
          <a:p>
            <a:pPr marL="342900" indent="-342900" algn="ctr">
              <a:spcBef>
                <a:spcPct val="20000"/>
              </a:spcBef>
            </a:pPr>
            <a:r>
              <a:rPr lang="en-US" sz="2800" b="0" dirty="0"/>
              <a:t>The Nature and Scope of knowledge</a:t>
            </a:r>
            <a:endParaRPr lang="en-US" sz="2800" b="0" dirty="0"/>
          </a:p>
        </p:txBody>
      </p:sp>
      <p:sp>
        <p:nvSpPr>
          <p:cNvPr id="7192" name="Rectangle 24"/>
          <p:cNvSpPr>
            <a:spLocks noChangeArrowheads="1"/>
          </p:cNvSpPr>
          <p:nvPr/>
        </p:nvSpPr>
        <p:spPr bwMode="auto">
          <a:xfrm>
            <a:off x="3000364" y="2000240"/>
            <a:ext cx="6143636" cy="4857760"/>
          </a:xfrm>
          <a:prstGeom prst="rect">
            <a:avLst/>
          </a:prstGeom>
          <a:noFill/>
          <a:ln w="9525">
            <a:noFill/>
            <a:miter lim="800000"/>
          </a:ln>
          <a:effectLst/>
        </p:spPr>
        <p:txBody>
          <a:bodyPr/>
          <a:lstStyle/>
          <a:p>
            <a:pPr marL="342900" indent="-342900">
              <a:spcBef>
                <a:spcPct val="20000"/>
              </a:spcBef>
              <a:buFontTx/>
              <a:buChar char="•"/>
            </a:pPr>
            <a:r>
              <a:rPr lang="en-US" sz="2800" b="0" dirty="0">
                <a:latin typeface="Book Antiqua" pitchFamily="18" charset="0"/>
              </a:rPr>
              <a:t>What is knowledge?</a:t>
            </a:r>
            <a:endParaRPr lang="en-US" sz="2800" b="0" dirty="0">
              <a:latin typeface="Book Antiqua" pitchFamily="18" charset="0"/>
            </a:endParaRPr>
          </a:p>
          <a:p>
            <a:pPr marL="342900" indent="-342900">
              <a:spcBef>
                <a:spcPct val="20000"/>
              </a:spcBef>
              <a:buFontTx/>
              <a:buChar char="•"/>
            </a:pPr>
            <a:r>
              <a:rPr lang="en-US" sz="2800" b="0" dirty="0">
                <a:latin typeface="Book Antiqua" pitchFamily="18" charset="0"/>
              </a:rPr>
              <a:t>How is knowledge acquired?</a:t>
            </a:r>
            <a:endParaRPr lang="en-US" sz="2800" b="0" dirty="0">
              <a:latin typeface="Book Antiqua" pitchFamily="18" charset="0"/>
            </a:endParaRPr>
          </a:p>
          <a:p>
            <a:pPr marL="342900" indent="-342900">
              <a:spcBef>
                <a:spcPct val="20000"/>
              </a:spcBef>
              <a:buFontTx/>
              <a:buChar char="•"/>
            </a:pPr>
            <a:r>
              <a:rPr lang="en-US" sz="2800" b="0" dirty="0" smtClean="0">
                <a:latin typeface="Book Antiqua" pitchFamily="18" charset="0"/>
              </a:rPr>
              <a:t>How </a:t>
            </a:r>
            <a:r>
              <a:rPr lang="en-US" sz="2800" b="0" dirty="0">
                <a:latin typeface="Book Antiqua" pitchFamily="18" charset="0"/>
              </a:rPr>
              <a:t>do we know that we </a:t>
            </a:r>
            <a:r>
              <a:rPr lang="en-US" sz="2800" b="0" dirty="0" smtClean="0">
                <a:latin typeface="Book Antiqua" pitchFamily="18" charset="0"/>
              </a:rPr>
              <a:t>know?</a:t>
            </a:r>
            <a:endParaRPr lang="en-US" sz="2800" b="0" dirty="0">
              <a:latin typeface="Book Antiqua" pitchFamily="18" charset="0"/>
            </a:endParaRPr>
          </a:p>
          <a:p>
            <a:pPr marL="342900" indent="-342900">
              <a:spcBef>
                <a:spcPct val="20000"/>
              </a:spcBef>
              <a:buFontTx/>
              <a:buChar char="•"/>
            </a:pPr>
            <a:r>
              <a:rPr lang="en-US" sz="2800" b="0" dirty="0">
                <a:latin typeface="Book Antiqua" pitchFamily="18" charset="0"/>
              </a:rPr>
              <a:t>What is true knowledge How can we have a true knowledge?</a:t>
            </a:r>
            <a:endParaRPr lang="en-US" sz="2800" b="0" dirty="0">
              <a:latin typeface="Book Antiqua" pitchFamily="18" charset="0"/>
            </a:endParaRPr>
          </a:p>
          <a:p>
            <a:pPr marL="342900" indent="-342900">
              <a:spcBef>
                <a:spcPct val="20000"/>
              </a:spcBef>
              <a:buFontTx/>
              <a:buChar char="•"/>
            </a:pPr>
            <a:r>
              <a:rPr lang="en-US" sz="2800" b="0" dirty="0">
                <a:latin typeface="Book Antiqua" pitchFamily="18" charset="0"/>
              </a:rPr>
              <a:t>What is the criteria of true knowledge?</a:t>
            </a:r>
            <a:endParaRPr lang="en-US" sz="2800" b="0" dirty="0">
              <a:latin typeface="Book Antiqua" pitchFamily="18" charset="0"/>
            </a:endParaRPr>
          </a:p>
          <a:p>
            <a:pPr marL="342900" indent="-342900">
              <a:spcBef>
                <a:spcPct val="20000"/>
              </a:spcBef>
              <a:buFontTx/>
              <a:buChar char="•"/>
            </a:pPr>
            <a:r>
              <a:rPr lang="en-US" sz="2800" b="0" dirty="0">
                <a:latin typeface="Book Antiqua" pitchFamily="18" charset="0"/>
              </a:rPr>
              <a:t>How do we know that our knowledge is true </a:t>
            </a:r>
            <a:r>
              <a:rPr lang="en-US" sz="2800" b="0" dirty="0" smtClean="0">
                <a:latin typeface="Book Antiqua" pitchFamily="18" charset="0"/>
              </a:rPr>
              <a:t>or </a:t>
            </a:r>
            <a:r>
              <a:rPr lang="en-US" sz="2800" b="0" dirty="0">
                <a:latin typeface="Book Antiqua" pitchFamily="18" charset="0"/>
              </a:rPr>
              <a:t>false ?</a:t>
            </a:r>
            <a:endParaRPr lang="en-US" sz="2800" b="0" dirty="0">
              <a:latin typeface="Book Antiqua" pitchFamily="18" charset="0"/>
            </a:endParaRPr>
          </a:p>
          <a:p>
            <a:pPr marL="342900" indent="-342900">
              <a:spcBef>
                <a:spcPct val="20000"/>
              </a:spcBef>
              <a:buFontTx/>
              <a:buChar char="•"/>
            </a:pPr>
            <a:endParaRPr lang="en-US" sz="1600" b="0" dirty="0">
              <a:latin typeface="Book Antiqua" pitchFamily="18" charset="0"/>
            </a:endParaRPr>
          </a:p>
          <a:p>
            <a:pPr marL="342900" indent="-342900">
              <a:spcBef>
                <a:spcPct val="20000"/>
              </a:spcBef>
              <a:buFontTx/>
              <a:buChar char="•"/>
            </a:pPr>
            <a:endParaRPr lang="en-US" sz="1600" b="0" dirty="0">
              <a:latin typeface="Book Antiqua" pitchFamily="18" charset="0"/>
            </a:endParaRPr>
          </a:p>
        </p:txBody>
      </p:sp>
      <p:sp>
        <p:nvSpPr>
          <p:cNvPr id="7193" name="Rectangle 25"/>
          <p:cNvSpPr>
            <a:spLocks noChangeArrowheads="1"/>
          </p:cNvSpPr>
          <p:nvPr/>
        </p:nvSpPr>
        <p:spPr bwMode="auto">
          <a:xfrm>
            <a:off x="76200" y="2195512"/>
            <a:ext cx="2362200" cy="1157287"/>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9525">
            <a:noFill/>
            <a:miter lim="800000"/>
          </a:ln>
          <a:effectLst/>
        </p:spPr>
        <p:txBody>
          <a:bodyPr/>
          <a:lstStyle/>
          <a:p>
            <a:pPr>
              <a:spcBef>
                <a:spcPct val="20000"/>
              </a:spcBef>
            </a:pPr>
            <a:r>
              <a:rPr lang="en-US" sz="2800" dirty="0"/>
              <a:t>Some of main questions</a:t>
            </a:r>
            <a:endParaRPr lang="en-US" sz="2800" dirty="0"/>
          </a:p>
        </p:txBody>
      </p:sp>
      <p:sp>
        <p:nvSpPr>
          <p:cNvPr id="17" name="Date Placeholder 16"/>
          <p:cNvSpPr>
            <a:spLocks noGrp="1"/>
          </p:cNvSpPr>
          <p:nvPr>
            <p:ph type="dt" sz="half" idx="10"/>
          </p:nvPr>
        </p:nvSpPr>
        <p:spPr/>
        <p:txBody>
          <a:bodyPr/>
          <a:lstStyle/>
          <a:p>
            <a:r>
              <a:rPr lang="en-US" smtClean="0"/>
              <a:t>A K Datta</a:t>
            </a:r>
            <a:endParaRPr lang="en-US"/>
          </a:p>
        </p:txBody>
      </p:sp>
      <p:sp>
        <p:nvSpPr>
          <p:cNvPr id="19" name="Footer Placeholder 18"/>
          <p:cNvSpPr>
            <a:spLocks noGrp="1"/>
          </p:cNvSpPr>
          <p:nvPr>
            <p:ph type="ftr" sz="quarter" idx="11"/>
          </p:nvPr>
        </p:nvSpPr>
        <p:spPr/>
        <p:txBody>
          <a:bodyPr/>
          <a:lstStyle/>
          <a:p>
            <a:r>
              <a:rPr lang="en-IN" dirty="0" err="1" smtClean="0"/>
              <a:t>Ph.D</a:t>
            </a:r>
            <a:r>
              <a:rPr lang="en-IN" dirty="0" smtClean="0"/>
              <a:t> course work on Research Methodology</a:t>
            </a:r>
            <a:endParaRPr lang="en-US" dirty="0"/>
          </a:p>
        </p:txBody>
      </p:sp>
      <p:pic>
        <p:nvPicPr>
          <p:cNvPr id="4098" name="Picture 2" descr="C:\Users\A K DATTA\Desktop\images.jpg"/>
          <p:cNvPicPr>
            <a:picLocks noChangeAspect="1" noChangeArrowheads="1"/>
          </p:cNvPicPr>
          <p:nvPr/>
        </p:nvPicPr>
        <p:blipFill>
          <a:blip r:embed="rId1"/>
          <a:srcRect r="17241"/>
          <a:stretch>
            <a:fillRect/>
          </a:stretch>
        </p:blipFill>
        <p:spPr bwMode="auto">
          <a:xfrm>
            <a:off x="76200" y="3276600"/>
            <a:ext cx="2286000" cy="1657350"/>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A K Datta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
        <p:nvSpPr>
          <p:cNvPr id="5" name="Text Box 2"/>
          <p:cNvSpPr txBox="1">
            <a:spLocks noChangeArrowheads="1"/>
          </p:cNvSpPr>
          <p:nvPr/>
        </p:nvSpPr>
        <p:spPr bwMode="auto">
          <a:xfrm>
            <a:off x="304800" y="1447800"/>
            <a:ext cx="8686800" cy="4419600"/>
          </a:xfrm>
          <a:prstGeom prst="rect">
            <a:avLst/>
          </a:prstGeom>
          <a:noFill/>
          <a:ln w="9525">
            <a:noFill/>
            <a:round/>
          </a:ln>
        </p:spPr>
        <p:txBody>
          <a:bodyPr lIns="90000" tIns="46800" rIns="90000" bIns="46800"/>
          <a:lstStyle/>
          <a:p>
            <a:pPr>
              <a:lnSpc>
                <a:spcPct val="8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i="1" dirty="0" smtClean="0">
                <a:solidFill>
                  <a:srgbClr val="000000"/>
                </a:solidFill>
                <a:latin typeface="Book Antiqua" pitchFamily="18" charset="0"/>
              </a:rPr>
              <a:t>“</a:t>
            </a:r>
            <a:r>
              <a:rPr lang="en-GB" sz="2800" i="1" dirty="0">
                <a:solidFill>
                  <a:srgbClr val="000000"/>
                </a:solidFill>
                <a:latin typeface="Book Antiqua" pitchFamily="18" charset="0"/>
              </a:rPr>
              <a:t>There are known </a:t>
            </a:r>
            <a:r>
              <a:rPr lang="en-GB" sz="2800" i="1" dirty="0" err="1">
                <a:solidFill>
                  <a:srgbClr val="000000"/>
                </a:solidFill>
                <a:latin typeface="Book Antiqua" pitchFamily="18" charset="0"/>
              </a:rPr>
              <a:t>knowns</a:t>
            </a:r>
            <a:r>
              <a:rPr lang="en-GB" sz="2800" i="1" dirty="0">
                <a:solidFill>
                  <a:srgbClr val="000000"/>
                </a:solidFill>
                <a:latin typeface="Book Antiqua" pitchFamily="18" charset="0"/>
              </a:rPr>
              <a:t>. These are things we know that we know</a:t>
            </a:r>
            <a:r>
              <a:rPr lang="en-GB" sz="2800" i="1" dirty="0" smtClean="0">
                <a:solidFill>
                  <a:srgbClr val="000000"/>
                </a:solidFill>
                <a:latin typeface="Book Antiqua" pitchFamily="18" charset="0"/>
              </a:rPr>
              <a:t>.</a:t>
            </a:r>
            <a:endParaRPr lang="en-GB" sz="2800" i="1" dirty="0" smtClean="0">
              <a:solidFill>
                <a:srgbClr val="000000"/>
              </a:solidFill>
              <a:latin typeface="Book Antiqua" pitchFamily="18" charset="0"/>
            </a:endParaRPr>
          </a:p>
          <a:p>
            <a:pPr>
              <a:lnSpc>
                <a:spcPct val="8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2800" i="1" dirty="0">
              <a:solidFill>
                <a:srgbClr val="000000"/>
              </a:solidFill>
              <a:latin typeface="Book Antiqua" pitchFamily="18" charset="0"/>
            </a:endParaRPr>
          </a:p>
          <a:p>
            <a:pPr>
              <a:lnSpc>
                <a:spcPct val="8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i="1" dirty="0">
                <a:solidFill>
                  <a:srgbClr val="000000"/>
                </a:solidFill>
                <a:latin typeface="Book Antiqua" pitchFamily="18" charset="0"/>
              </a:rPr>
              <a:t>There are known unknowns. That is to say, there are things that we now know we don’t know</a:t>
            </a:r>
            <a:r>
              <a:rPr lang="en-GB" sz="2800" i="1" dirty="0" smtClean="0">
                <a:solidFill>
                  <a:srgbClr val="000000"/>
                </a:solidFill>
                <a:latin typeface="Book Antiqua" pitchFamily="18" charset="0"/>
              </a:rPr>
              <a:t>.</a:t>
            </a:r>
            <a:endParaRPr lang="en-GB" sz="2800" i="1" dirty="0" smtClean="0">
              <a:solidFill>
                <a:srgbClr val="000000"/>
              </a:solidFill>
              <a:latin typeface="Book Antiqua" pitchFamily="18" charset="0"/>
            </a:endParaRPr>
          </a:p>
          <a:p>
            <a:pPr>
              <a:lnSpc>
                <a:spcPct val="8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2800" i="1" dirty="0">
              <a:solidFill>
                <a:srgbClr val="000000"/>
              </a:solidFill>
              <a:latin typeface="Book Antiqua" pitchFamily="18" charset="0"/>
            </a:endParaRPr>
          </a:p>
          <a:p>
            <a:pPr>
              <a:lnSpc>
                <a:spcPct val="8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i="1" dirty="0">
                <a:solidFill>
                  <a:srgbClr val="000000"/>
                </a:solidFill>
                <a:latin typeface="Book Antiqua" pitchFamily="18" charset="0"/>
              </a:rPr>
              <a:t>But there are also unknown unknowns. These are things we do not know we don’t know.” </a:t>
            </a:r>
            <a:endParaRPr lang="en-GB" sz="2800" i="1" dirty="0" smtClean="0">
              <a:solidFill>
                <a:srgbClr val="000000"/>
              </a:solidFill>
              <a:latin typeface="Book Antiqua" pitchFamily="18" charset="0"/>
            </a:endParaRPr>
          </a:p>
          <a:p>
            <a:pPr>
              <a:lnSpc>
                <a:spcPct val="8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2800" i="1" dirty="0">
              <a:solidFill>
                <a:srgbClr val="000000"/>
              </a:solidFill>
              <a:latin typeface="Book Antiqua" pitchFamily="18" charset="0"/>
            </a:endParaRPr>
          </a:p>
          <a:p>
            <a:pPr>
              <a:lnSpc>
                <a:spcPct val="8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i="1" dirty="0">
                <a:solidFill>
                  <a:srgbClr val="000000"/>
                </a:solidFill>
                <a:latin typeface="Book Antiqua" pitchFamily="18" charset="0"/>
              </a:rPr>
              <a:t>It’s epistemologically brilliant</a:t>
            </a:r>
            <a:r>
              <a:rPr lang="en-GB" sz="2800" i="1" dirty="0" smtClean="0">
                <a:solidFill>
                  <a:srgbClr val="000000"/>
                </a:solidFill>
                <a:latin typeface="Book Antiqua" pitchFamily="18" charset="0"/>
              </a:rPr>
              <a:t>.. </a:t>
            </a:r>
            <a:endParaRPr lang="en-GB" sz="2800" i="1" dirty="0" smtClean="0">
              <a:solidFill>
                <a:srgbClr val="000000"/>
              </a:solidFill>
              <a:latin typeface="Book Antiqua" pitchFamily="18" charset="0"/>
            </a:endParaRPr>
          </a:p>
          <a:p>
            <a:pPr>
              <a:lnSpc>
                <a:spcPct val="8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2800" i="1" dirty="0">
              <a:solidFill>
                <a:srgbClr val="000000"/>
              </a:solidFill>
              <a:latin typeface="Book Antiqua" pitchFamily="18" charset="0"/>
            </a:endParaRPr>
          </a:p>
          <a:p>
            <a:pPr>
              <a:lnSpc>
                <a:spcPct val="80000"/>
              </a:lnSpc>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dirty="0">
                <a:solidFill>
                  <a:srgbClr val="000000"/>
                </a:solidFill>
                <a:latin typeface="Book Antiqua" pitchFamily="18" charset="0"/>
              </a:rPr>
              <a:t> </a:t>
            </a:r>
            <a:r>
              <a:rPr lang="en-GB" sz="2800" dirty="0" smtClean="0">
                <a:solidFill>
                  <a:srgbClr val="000000"/>
                </a:solidFill>
                <a:latin typeface="Book Antiqua" pitchFamily="18" charset="0"/>
              </a:rPr>
              <a:t>The </a:t>
            </a:r>
            <a:r>
              <a:rPr lang="en-GB" sz="2800" dirty="0">
                <a:solidFill>
                  <a:srgbClr val="000000"/>
                </a:solidFill>
                <a:latin typeface="Book Antiqua" pitchFamily="18" charset="0"/>
              </a:rPr>
              <a:t>Times, “Great Political TV Moments”, April 17</a:t>
            </a:r>
            <a:r>
              <a:rPr lang="en-GB" sz="2800" baseline="30000" dirty="0">
                <a:solidFill>
                  <a:srgbClr val="000000"/>
                </a:solidFill>
                <a:latin typeface="Book Antiqua" pitchFamily="18" charset="0"/>
              </a:rPr>
              <a:t>th</a:t>
            </a:r>
            <a:r>
              <a:rPr lang="en-GB" sz="2800" dirty="0">
                <a:solidFill>
                  <a:srgbClr val="000000"/>
                </a:solidFill>
                <a:latin typeface="Book Antiqua" pitchFamily="18" charset="0"/>
              </a:rPr>
              <a:t> 2010</a:t>
            </a:r>
            <a:endParaRPr lang="en-GB" sz="2800" dirty="0">
              <a:solidFill>
                <a:srgbClr val="000000"/>
              </a:solidFill>
              <a:latin typeface="Book Antiqua" pitchFamily="18" charset="0"/>
            </a:endParaRPr>
          </a:p>
        </p:txBody>
      </p:sp>
      <p:sp>
        <p:nvSpPr>
          <p:cNvPr id="6" name="Rectangle 5"/>
          <p:cNvSpPr/>
          <p:nvPr/>
        </p:nvSpPr>
        <p:spPr>
          <a:xfrm>
            <a:off x="381000" y="228600"/>
            <a:ext cx="8382000" cy="867930"/>
          </a:xfrm>
          <a:prstGeom prst="rect">
            <a:avLst/>
          </a:prstGeom>
        </p:spPr>
        <p:txBody>
          <a:bodyPr wrap="square">
            <a:spAutoFit/>
          </a:bodyPr>
          <a:lstStyle/>
          <a:p>
            <a:pPr marL="342900" lvl="0" indent="-342900">
              <a:lnSpc>
                <a:spcPct val="90000"/>
              </a:lnSpc>
              <a:spcBef>
                <a:spcPct val="20000"/>
              </a:spcBef>
              <a:buFontTx/>
              <a:buChar char="•"/>
              <a:defRPr/>
            </a:pPr>
            <a:r>
              <a:rPr lang="en-GB" sz="3600" dirty="0" smtClean="0">
                <a:solidFill>
                  <a:srgbClr val="008000"/>
                </a:solidFill>
                <a:latin typeface="Book Antiqua" pitchFamily="18" charset="0"/>
              </a:rPr>
              <a:t>Extreme of epistemological paradox</a:t>
            </a:r>
            <a:r>
              <a:rPr lang="en-GB" sz="2000" dirty="0" smtClean="0"/>
              <a:t>.</a:t>
            </a:r>
            <a:br>
              <a:rPr lang="en-GB" sz="2000" dirty="0" smtClean="0"/>
            </a:br>
            <a:endParaRPr lang="en-GB" sz="2000"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7" name="Picture 1" descr="C:\Users\A K DATTA\Desktop\knowledge-belief-and-justification-20-728.jpg"/>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1104900" y="828675"/>
            <a:ext cx="6934200" cy="520065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5" name="Rectangle 7"/>
          <p:cNvSpPr>
            <a:spLocks noChangeArrowheads="1"/>
          </p:cNvSpPr>
          <p:nvPr/>
        </p:nvSpPr>
        <p:spPr bwMode="auto">
          <a:xfrm>
            <a:off x="1066800" y="0"/>
            <a:ext cx="6781800" cy="762000"/>
          </a:xfrm>
          <a:prstGeom prst="rect">
            <a:avLst/>
          </a:prstGeom>
          <a:noFill/>
          <a:ln w="9525">
            <a:noFill/>
            <a:miter lim="800000"/>
          </a:ln>
          <a:effectLst/>
        </p:spPr>
        <p:txBody>
          <a:bodyPr/>
          <a:lstStyle/>
          <a:p>
            <a:pPr marL="342900" indent="-342900" algn="ctr">
              <a:spcBef>
                <a:spcPct val="20000"/>
              </a:spcBef>
            </a:pPr>
            <a:r>
              <a:rPr lang="en-US" sz="4000" dirty="0">
                <a:solidFill>
                  <a:srgbClr val="008000"/>
                </a:solidFill>
                <a:latin typeface="Book Antiqua" pitchFamily="18" charset="0"/>
              </a:rPr>
              <a:t>Contemporary Approach</a:t>
            </a:r>
            <a:endParaRPr lang="en-US" sz="4000" dirty="0">
              <a:solidFill>
                <a:srgbClr val="008000"/>
              </a:solidFill>
              <a:latin typeface="Book Antiqua" pitchFamily="18" charset="0"/>
            </a:endParaRPr>
          </a:p>
        </p:txBody>
      </p:sp>
      <p:sp>
        <p:nvSpPr>
          <p:cNvPr id="12296" name="Rectangle 8"/>
          <p:cNvSpPr>
            <a:spLocks noChangeArrowheads="1"/>
          </p:cNvSpPr>
          <p:nvPr/>
        </p:nvSpPr>
        <p:spPr bwMode="auto">
          <a:xfrm>
            <a:off x="457200" y="2133600"/>
            <a:ext cx="8329642" cy="3438540"/>
          </a:xfrm>
          <a:prstGeom prst="rect">
            <a:avLst/>
          </a:prstGeom>
          <a:noFill/>
          <a:ln w="9525">
            <a:noFill/>
            <a:miter lim="800000"/>
          </a:ln>
          <a:effectLst/>
        </p:spPr>
        <p:txBody>
          <a:bodyPr/>
          <a:lstStyle/>
          <a:p>
            <a:pPr marL="342900" indent="-342900">
              <a:spcBef>
                <a:spcPct val="20000"/>
              </a:spcBef>
              <a:buFontTx/>
              <a:buChar char="•"/>
            </a:pPr>
            <a:r>
              <a:rPr lang="en-US" sz="2800" b="0" dirty="0">
                <a:latin typeface="Book Antiqua" pitchFamily="18" charset="0"/>
              </a:rPr>
              <a:t>Start from defining knowledge</a:t>
            </a:r>
            <a:endParaRPr lang="en-US" sz="2800" b="0" dirty="0">
              <a:latin typeface="Book Antiqua" pitchFamily="18" charset="0"/>
            </a:endParaRPr>
          </a:p>
          <a:p>
            <a:pPr marL="342900" indent="-342900">
              <a:spcBef>
                <a:spcPct val="20000"/>
              </a:spcBef>
              <a:buFontTx/>
              <a:buChar char="•"/>
            </a:pPr>
            <a:r>
              <a:rPr lang="en-US" sz="2800" b="0" dirty="0" smtClean="0">
                <a:latin typeface="Book Antiqua" pitchFamily="18" charset="0"/>
              </a:rPr>
              <a:t>The </a:t>
            </a:r>
            <a:r>
              <a:rPr lang="en-US" sz="2800" b="0" dirty="0">
                <a:latin typeface="Book Antiqua" pitchFamily="18" charset="0"/>
              </a:rPr>
              <a:t>question is </a:t>
            </a:r>
            <a:r>
              <a:rPr lang="en-US" sz="2800" b="0" dirty="0" smtClean="0">
                <a:latin typeface="Book Antiqua" pitchFamily="18" charset="0"/>
              </a:rPr>
              <a:t> What </a:t>
            </a:r>
            <a:r>
              <a:rPr lang="en-US" sz="2800" b="0" dirty="0">
                <a:latin typeface="Book Antiqua" pitchFamily="18" charset="0"/>
              </a:rPr>
              <a:t>is knowledge ?</a:t>
            </a:r>
            <a:endParaRPr lang="en-US" sz="2800" b="0" dirty="0">
              <a:latin typeface="Book Antiqua" pitchFamily="18" charset="0"/>
            </a:endParaRPr>
          </a:p>
          <a:p>
            <a:pPr marL="342900" indent="-342900">
              <a:spcBef>
                <a:spcPct val="20000"/>
              </a:spcBef>
              <a:buFontTx/>
              <a:buChar char="•"/>
            </a:pPr>
            <a:r>
              <a:rPr lang="en-US" sz="2800" b="0" dirty="0" smtClean="0">
                <a:latin typeface="Book Antiqua" pitchFamily="18" charset="0"/>
              </a:rPr>
              <a:t>A </a:t>
            </a:r>
            <a:r>
              <a:rPr lang="en-US" sz="2800" b="0" dirty="0">
                <a:latin typeface="Book Antiqua" pitchFamily="18" charset="0"/>
              </a:rPr>
              <a:t>knowledge must have 3 epistemic attributes:</a:t>
            </a:r>
            <a:endParaRPr lang="en-US" sz="2800" b="0" dirty="0">
              <a:latin typeface="Book Antiqua" pitchFamily="18" charset="0"/>
            </a:endParaRPr>
          </a:p>
        </p:txBody>
      </p:sp>
      <p:sp>
        <p:nvSpPr>
          <p:cNvPr id="12300" name="Rectangle 12"/>
          <p:cNvSpPr>
            <a:spLocks noChangeArrowheads="1"/>
          </p:cNvSpPr>
          <p:nvPr/>
        </p:nvSpPr>
        <p:spPr bwMode="auto">
          <a:xfrm>
            <a:off x="2362200" y="3810000"/>
            <a:ext cx="2438400" cy="1447800"/>
          </a:xfrm>
          <a:prstGeom prst="rect">
            <a:avLst/>
          </a:prstGeom>
          <a:noFill/>
          <a:ln w="9525">
            <a:noFill/>
            <a:miter lim="800000"/>
          </a:ln>
          <a:effectLst/>
        </p:spPr>
        <p:txBody>
          <a:bodyPr/>
          <a:lstStyle/>
          <a:p>
            <a:pPr marL="609600" indent="-609600">
              <a:spcBef>
                <a:spcPct val="20000"/>
              </a:spcBef>
              <a:buFontTx/>
              <a:buAutoNum type="arabicPeriod"/>
            </a:pPr>
            <a:r>
              <a:rPr lang="en-US" sz="2400" b="0" dirty="0"/>
              <a:t>Belief</a:t>
            </a:r>
            <a:endParaRPr lang="en-US" sz="2400" b="0" dirty="0"/>
          </a:p>
          <a:p>
            <a:pPr marL="609600" indent="-609600">
              <a:spcBef>
                <a:spcPct val="20000"/>
              </a:spcBef>
              <a:buFontTx/>
              <a:buAutoNum type="arabicPeriod"/>
            </a:pPr>
            <a:r>
              <a:rPr lang="en-US" sz="2400" b="0" dirty="0"/>
              <a:t>Justified</a:t>
            </a:r>
            <a:endParaRPr lang="en-US" sz="2400" b="0" dirty="0"/>
          </a:p>
          <a:p>
            <a:pPr marL="609600" indent="-609600">
              <a:spcBef>
                <a:spcPct val="20000"/>
              </a:spcBef>
              <a:buFontTx/>
              <a:buAutoNum type="arabicPeriod"/>
            </a:pPr>
            <a:r>
              <a:rPr lang="en-US" sz="2400" b="0" dirty="0"/>
              <a:t>True</a:t>
            </a:r>
            <a:endParaRPr lang="en-US" sz="2400" b="0" dirty="0"/>
          </a:p>
          <a:p>
            <a:pPr marL="609600" indent="-609600">
              <a:spcBef>
                <a:spcPct val="20000"/>
              </a:spcBef>
              <a:buFontTx/>
              <a:buAutoNum type="arabicPeriod"/>
            </a:pPr>
            <a:endParaRPr lang="en-US" sz="2400" b="0" dirty="0"/>
          </a:p>
        </p:txBody>
      </p:sp>
      <p:sp>
        <p:nvSpPr>
          <p:cNvPr id="12316" name="Rectangle 28"/>
          <p:cNvSpPr>
            <a:spLocks noChangeArrowheads="1"/>
          </p:cNvSpPr>
          <p:nvPr/>
        </p:nvSpPr>
        <p:spPr bwMode="auto">
          <a:xfrm>
            <a:off x="0" y="1295400"/>
            <a:ext cx="8991600" cy="762000"/>
          </a:xfrm>
          <a:prstGeom prst="rect">
            <a:avLst/>
          </a:prstGeom>
          <a:noFill/>
          <a:ln w="9525">
            <a:noFill/>
            <a:miter lim="800000"/>
          </a:ln>
          <a:effectLst/>
        </p:spPr>
        <p:txBody>
          <a:bodyPr/>
          <a:lstStyle/>
          <a:p>
            <a:pPr marL="342900" indent="-342900" algn="ctr">
              <a:spcBef>
                <a:spcPct val="20000"/>
              </a:spcBef>
            </a:pPr>
            <a:r>
              <a:rPr lang="en-US" sz="2800" b="0" dirty="0">
                <a:latin typeface="Book Antiqua" pitchFamily="18" charset="0"/>
              </a:rPr>
              <a:t>The  Epistemological Steps of Contemporary approach </a:t>
            </a:r>
            <a:endParaRPr lang="en-US" sz="2800" b="0" dirty="0">
              <a:latin typeface="Book Antiqua" pitchFamily="18" charset="0"/>
            </a:endParaRPr>
          </a:p>
        </p:txBody>
      </p:sp>
      <p:sp>
        <p:nvSpPr>
          <p:cNvPr id="24" name="Date Placeholder 23"/>
          <p:cNvSpPr>
            <a:spLocks noGrp="1"/>
          </p:cNvSpPr>
          <p:nvPr>
            <p:ph type="dt" sz="half" idx="10"/>
          </p:nvPr>
        </p:nvSpPr>
        <p:spPr/>
        <p:txBody>
          <a:bodyPr/>
          <a:lstStyle/>
          <a:p>
            <a:r>
              <a:rPr lang="en-US" smtClean="0"/>
              <a:t>A K Datta</a:t>
            </a:r>
            <a:endParaRPr lang="en-US"/>
          </a:p>
        </p:txBody>
      </p:sp>
      <p:sp>
        <p:nvSpPr>
          <p:cNvPr id="25" name="Slide Number Placeholder 24"/>
          <p:cNvSpPr>
            <a:spLocks noGrp="1"/>
          </p:cNvSpPr>
          <p:nvPr>
            <p:ph type="sldNum" sz="quarter" idx="12"/>
          </p:nvPr>
        </p:nvSpPr>
        <p:spPr/>
        <p:txBody>
          <a:bodyPr/>
          <a:lstStyle/>
          <a:p>
            <a:fld id="{B6F15528-21DE-4FAA-801E-634DDDAF4B2B}" type="slidenum">
              <a:rPr lang="en-US" smtClean="0"/>
            </a:fld>
            <a:endParaRPr lang="en-US"/>
          </a:p>
        </p:txBody>
      </p:sp>
      <p:sp>
        <p:nvSpPr>
          <p:cNvPr id="26" name="Footer Placeholder 25"/>
          <p:cNvSpPr>
            <a:spLocks noGrp="1"/>
          </p:cNvSpPr>
          <p:nvPr>
            <p:ph type="ftr" sz="quarter" idx="11"/>
          </p:nvPr>
        </p:nvSpPr>
        <p:spPr/>
        <p:txBody>
          <a:bodyPr/>
          <a:lstStyle/>
          <a:p>
            <a:r>
              <a:rPr lang="en-IN" smtClean="0"/>
              <a:t>Ph.D course work on Research Methodology</a:t>
            </a:r>
            <a:endParaRPr lang="en-US"/>
          </a:p>
        </p:txBody>
      </p:sp>
      <p:sp>
        <p:nvSpPr>
          <p:cNvPr id="27" name="TextBox 26"/>
          <p:cNvSpPr txBox="1"/>
          <p:nvPr/>
        </p:nvSpPr>
        <p:spPr>
          <a:xfrm>
            <a:off x="2057400" y="762000"/>
            <a:ext cx="4419600" cy="400110"/>
          </a:xfrm>
          <a:prstGeom prst="rect">
            <a:avLst/>
          </a:prstGeom>
          <a:noFill/>
        </p:spPr>
        <p:txBody>
          <a:bodyPr wrap="square" rtlCol="0">
            <a:spAutoFit/>
          </a:bodyPr>
          <a:lstStyle/>
          <a:p>
            <a:pPr algn="ctr"/>
            <a:r>
              <a:rPr lang="en-IN" sz="2000" b="1" dirty="0" smtClean="0"/>
              <a:t>Popper, Kuhn,...</a:t>
            </a:r>
            <a:endParaRPr lang="en-IN" sz="2000" b="1"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A K Datta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pic>
        <p:nvPicPr>
          <p:cNvPr id="6145" name="Picture 1" descr="C:\Users\A K DATTA\Desktop\justified-true-beliefs-equal-knowledge.png"/>
          <p:cNvPicPr>
            <a:picLocks noChangeAspect="1" noChangeArrowheads="1"/>
          </p:cNvPicPr>
          <p:nvPr/>
        </p:nvPicPr>
        <p:blipFill>
          <a:blip r:embed="rId1">
            <a:clrChange>
              <a:clrFrom>
                <a:srgbClr val="FFFFFF"/>
              </a:clrFrom>
              <a:clrTo>
                <a:srgbClr val="FFFFFF">
                  <a:alpha val="0"/>
                </a:srgbClr>
              </a:clrTo>
            </a:clrChange>
            <a:lum contrast="20000"/>
          </a:blip>
          <a:srcRect/>
          <a:stretch>
            <a:fillRect/>
          </a:stretch>
        </p:blipFill>
        <p:spPr bwMode="auto">
          <a:xfrm>
            <a:off x="1676400" y="381000"/>
            <a:ext cx="5904000" cy="5964861"/>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76200"/>
            <a:ext cx="8229600" cy="1143000"/>
          </a:xfrm>
        </p:spPr>
        <p:txBody>
          <a:bodyPr>
            <a:normAutofit fontScale="90000"/>
          </a:bodyPr>
          <a:lstStyle/>
          <a:p>
            <a:pPr algn="ctr"/>
            <a:r>
              <a:rPr lang="en-US" dirty="0" smtClean="0">
                <a:solidFill>
                  <a:srgbClr val="008000"/>
                </a:solidFill>
                <a:latin typeface="Book Antiqua" pitchFamily="18" charset="0"/>
              </a:rPr>
              <a:t>Enquiry on </a:t>
            </a:r>
            <a:r>
              <a:rPr lang="en-US" dirty="0">
                <a:solidFill>
                  <a:srgbClr val="008000"/>
                </a:solidFill>
                <a:latin typeface="Book Antiqua" pitchFamily="18" charset="0"/>
              </a:rPr>
              <a:t>Human Understanding</a:t>
            </a:r>
            <a:br>
              <a:rPr lang="en-US" sz="4000" dirty="0"/>
            </a:br>
            <a:r>
              <a:rPr lang="en-US" sz="2800" dirty="0"/>
              <a:t>David Hume</a:t>
            </a:r>
            <a:endParaRPr lang="en-US" sz="4000" dirty="0"/>
          </a:p>
        </p:txBody>
      </p:sp>
      <p:sp>
        <p:nvSpPr>
          <p:cNvPr id="15363" name="Rectangle 3"/>
          <p:cNvSpPr>
            <a:spLocks noGrp="1" noChangeArrowheads="1"/>
          </p:cNvSpPr>
          <p:nvPr>
            <p:ph type="body" idx="1"/>
          </p:nvPr>
        </p:nvSpPr>
        <p:spPr>
          <a:xfrm>
            <a:off x="285720" y="1214422"/>
            <a:ext cx="8610600" cy="5105400"/>
          </a:xfrm>
        </p:spPr>
        <p:txBody>
          <a:bodyPr/>
          <a:lstStyle/>
          <a:p>
            <a:pPr>
              <a:lnSpc>
                <a:spcPts val="3200"/>
              </a:lnSpc>
            </a:pPr>
            <a:r>
              <a:rPr lang="en-US" sz="2800" dirty="0">
                <a:latin typeface="Book Antiqua" pitchFamily="18" charset="0"/>
              </a:rPr>
              <a:t>Analyzes the empiricist theory that everything we can know about the world is ultimately derived from our senses</a:t>
            </a:r>
            <a:r>
              <a:rPr lang="en-US" sz="2800" dirty="0" smtClean="0">
                <a:latin typeface="Book Antiqua" pitchFamily="18" charset="0"/>
              </a:rPr>
              <a:t>.</a:t>
            </a:r>
            <a:endParaRPr lang="en-US" sz="2800" dirty="0" smtClean="0">
              <a:latin typeface="Book Antiqua" pitchFamily="18" charset="0"/>
            </a:endParaRPr>
          </a:p>
          <a:p>
            <a:pPr>
              <a:lnSpc>
                <a:spcPts val="3200"/>
              </a:lnSpc>
            </a:pPr>
            <a:r>
              <a:rPr lang="en-US" sz="2800" dirty="0" smtClean="0">
                <a:latin typeface="Book Antiqua" pitchFamily="18" charset="0"/>
              </a:rPr>
              <a:t>Questions </a:t>
            </a:r>
            <a:r>
              <a:rPr lang="en-US" sz="2800" dirty="0">
                <a:latin typeface="Book Antiqua" pitchFamily="18" charset="0"/>
              </a:rPr>
              <a:t>the existence of firm foundations of knowledge other than customary and habitual associations of </a:t>
            </a:r>
            <a:r>
              <a:rPr lang="en-US" sz="2800" dirty="0" smtClean="0">
                <a:latin typeface="Book Antiqua" pitchFamily="18" charset="0"/>
              </a:rPr>
              <a:t>ideas</a:t>
            </a:r>
            <a:endParaRPr lang="en-US" sz="2800" dirty="0" smtClean="0">
              <a:latin typeface="Book Antiqua" pitchFamily="18" charset="0"/>
            </a:endParaRPr>
          </a:p>
          <a:p>
            <a:pPr>
              <a:lnSpc>
                <a:spcPts val="3200"/>
              </a:lnSpc>
            </a:pPr>
            <a:r>
              <a:rPr lang="en-US" sz="2800" dirty="0" smtClean="0">
                <a:latin typeface="Book Antiqua" pitchFamily="18" charset="0"/>
              </a:rPr>
              <a:t>Hume </a:t>
            </a:r>
            <a:r>
              <a:rPr lang="en-US" sz="2800" dirty="0">
                <a:latin typeface="Book Antiqua" pitchFamily="18" charset="0"/>
              </a:rPr>
              <a:t>says that all reasoning concerning matters of fact is founded on cause and </a:t>
            </a:r>
            <a:r>
              <a:rPr lang="en-US" sz="2800" dirty="0" smtClean="0">
                <a:latin typeface="Book Antiqua" pitchFamily="18" charset="0"/>
              </a:rPr>
              <a:t>effect</a:t>
            </a:r>
            <a:endParaRPr lang="en-US" sz="2800" dirty="0" smtClean="0">
              <a:latin typeface="Book Antiqua" pitchFamily="18" charset="0"/>
            </a:endParaRPr>
          </a:p>
          <a:p>
            <a:pPr algn="just">
              <a:lnSpc>
                <a:spcPts val="3200"/>
              </a:lnSpc>
            </a:pPr>
            <a:r>
              <a:rPr lang="en-US" sz="2800" dirty="0" smtClean="0">
                <a:latin typeface="Book Antiqua" pitchFamily="18" charset="0"/>
              </a:rPr>
              <a:t>Cause </a:t>
            </a:r>
            <a:r>
              <a:rPr lang="en-US" sz="2800" dirty="0">
                <a:latin typeface="Book Antiqua" pitchFamily="18" charset="0"/>
              </a:rPr>
              <a:t>and effect relies on the principle that “the future will resemble the past”, which can not be proven deductively or inductively</a:t>
            </a:r>
            <a:endParaRPr lang="en-US" sz="2800" dirty="0">
              <a:latin typeface="Book Antiqua"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2050" name="Picture 2" descr="C:\Users\A K DATTA\Desktop\Difference-Between-Ontology-and-Epistemology-infographic.png"/>
          <p:cNvPicPr>
            <a:picLocks noChangeAspect="1" noChangeArrowheads="1"/>
          </p:cNvPicPr>
          <p:nvPr/>
        </p:nvPicPr>
        <p:blipFill>
          <a:blip r:embed="rId1">
            <a:lum contrast="10000"/>
          </a:blip>
          <a:srcRect t="21878" b="8848"/>
          <a:stretch>
            <a:fillRect/>
          </a:stretch>
        </p:blipFill>
        <p:spPr bwMode="auto">
          <a:xfrm>
            <a:off x="766763" y="1295400"/>
            <a:ext cx="7608887" cy="5257800"/>
          </a:xfrm>
          <a:prstGeom prst="rect">
            <a:avLst/>
          </a:prstGeom>
          <a:noFill/>
        </p:spPr>
      </p:pic>
      <p:sp>
        <p:nvSpPr>
          <p:cNvPr id="8" name="TextBox 7"/>
          <p:cNvSpPr txBox="1"/>
          <p:nvPr/>
        </p:nvSpPr>
        <p:spPr>
          <a:xfrm>
            <a:off x="990600" y="0"/>
            <a:ext cx="7239000" cy="1323439"/>
          </a:xfrm>
          <a:prstGeom prst="rect">
            <a:avLst/>
          </a:prstGeom>
          <a:noFill/>
        </p:spPr>
        <p:txBody>
          <a:bodyPr wrap="square" rtlCol="0">
            <a:spAutoFit/>
          </a:bodyPr>
          <a:lstStyle/>
          <a:p>
            <a:pPr algn="ctr"/>
            <a:r>
              <a:rPr lang="en-IN" sz="4000" dirty="0" smtClean="0">
                <a:solidFill>
                  <a:srgbClr val="006600"/>
                </a:solidFill>
              </a:rPr>
              <a:t>Difference between Ontology and epistemology </a:t>
            </a:r>
            <a:endParaRPr lang="en-IN" sz="4000" dirty="0">
              <a:solidFill>
                <a:srgbClr val="006600"/>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grpSp>
        <p:nvGrpSpPr>
          <p:cNvPr id="27" name="Group 26"/>
          <p:cNvGrpSpPr/>
          <p:nvPr/>
        </p:nvGrpSpPr>
        <p:grpSpPr>
          <a:xfrm>
            <a:off x="609600" y="1524000"/>
            <a:ext cx="4903200" cy="2464800"/>
            <a:chOff x="609600" y="1524000"/>
            <a:chExt cx="4903200" cy="2464800"/>
          </a:xfrm>
        </p:grpSpPr>
        <p:sp>
          <p:nvSpPr>
            <p:cNvPr id="9" name="Oval 8"/>
            <p:cNvSpPr/>
            <p:nvPr/>
          </p:nvSpPr>
          <p:spPr>
            <a:xfrm>
              <a:off x="3352800" y="1828800"/>
              <a:ext cx="2160000" cy="2160000"/>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3733800" y="2590800"/>
              <a:ext cx="1600200" cy="461665"/>
            </a:xfrm>
            <a:prstGeom prst="rect">
              <a:avLst/>
            </a:prstGeom>
            <a:noFill/>
          </p:spPr>
          <p:txBody>
            <a:bodyPr wrap="square" rtlCol="0">
              <a:spAutoFit/>
            </a:bodyPr>
            <a:lstStyle/>
            <a:p>
              <a:r>
                <a:rPr lang="en-IN" sz="2400" dirty="0" smtClean="0">
                  <a:solidFill>
                    <a:srgbClr val="FF0000"/>
                  </a:solidFill>
                </a:rPr>
                <a:t>Knowledge</a:t>
              </a:r>
              <a:endParaRPr lang="en-IN" sz="2400" dirty="0">
                <a:solidFill>
                  <a:srgbClr val="FF0000"/>
                </a:solidFill>
              </a:endParaRPr>
            </a:p>
          </p:txBody>
        </p:sp>
        <p:sp>
          <p:nvSpPr>
            <p:cNvPr id="13" name="Line Callout 2 12"/>
            <p:cNvSpPr/>
            <p:nvPr/>
          </p:nvSpPr>
          <p:spPr>
            <a:xfrm flipH="1">
              <a:off x="2209800" y="1600200"/>
              <a:ext cx="1524000" cy="838200"/>
            </a:xfrm>
            <a:prstGeom prst="borderCallout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What is valuable</a:t>
              </a:r>
              <a:endParaRPr lang="en-IN" sz="2000" b="1" dirty="0"/>
            </a:p>
          </p:txBody>
        </p:sp>
        <p:sp>
          <p:nvSpPr>
            <p:cNvPr id="18" name="TextBox 17"/>
            <p:cNvSpPr txBox="1"/>
            <p:nvPr/>
          </p:nvSpPr>
          <p:spPr>
            <a:xfrm>
              <a:off x="609600" y="1524000"/>
              <a:ext cx="1600200" cy="923330"/>
            </a:xfrm>
            <a:prstGeom prst="rect">
              <a:avLst/>
            </a:prstGeom>
            <a:noFill/>
          </p:spPr>
          <p:txBody>
            <a:bodyPr wrap="square" rtlCol="0">
              <a:spAutoFit/>
            </a:bodyPr>
            <a:lstStyle/>
            <a:p>
              <a:r>
                <a:rPr lang="en-IN" dirty="0" smtClean="0"/>
                <a:t>Theory, Hypothesis</a:t>
              </a:r>
              <a:endParaRPr lang="en-IN" dirty="0" smtClean="0"/>
            </a:p>
            <a:p>
              <a:r>
                <a:rPr lang="en-IN" dirty="0" smtClean="0"/>
                <a:t>Application</a:t>
              </a:r>
              <a:endParaRPr lang="en-IN" dirty="0"/>
            </a:p>
          </p:txBody>
        </p:sp>
        <p:sp>
          <p:nvSpPr>
            <p:cNvPr id="19" name="Right Brace 18"/>
            <p:cNvSpPr/>
            <p:nvPr/>
          </p:nvSpPr>
          <p:spPr>
            <a:xfrm>
              <a:off x="1676400" y="1524000"/>
              <a:ext cx="457200" cy="914400"/>
            </a:xfrm>
            <a:prstGeom prst="rightBrace">
              <a:avLst>
                <a:gd name="adj1" fmla="val 38710"/>
                <a:gd name="adj2" fmla="val 4677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6" name="Group 25"/>
          <p:cNvGrpSpPr/>
          <p:nvPr/>
        </p:nvGrpSpPr>
        <p:grpSpPr>
          <a:xfrm>
            <a:off x="990600" y="2971800"/>
            <a:ext cx="3836400" cy="2599730"/>
            <a:chOff x="990600" y="2971800"/>
            <a:chExt cx="3836400" cy="2599730"/>
          </a:xfrm>
        </p:grpSpPr>
        <p:sp>
          <p:nvSpPr>
            <p:cNvPr id="11" name="Oval 10"/>
            <p:cNvSpPr/>
            <p:nvPr/>
          </p:nvSpPr>
          <p:spPr>
            <a:xfrm>
              <a:off x="2667000" y="2971800"/>
              <a:ext cx="2160000" cy="2160000"/>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FF0000"/>
                </a:solidFill>
              </a:endParaRPr>
            </a:p>
          </p:txBody>
        </p:sp>
        <p:sp>
          <p:nvSpPr>
            <p:cNvPr id="14" name="TextBox 13"/>
            <p:cNvSpPr txBox="1"/>
            <p:nvPr/>
          </p:nvSpPr>
          <p:spPr>
            <a:xfrm>
              <a:off x="2819400" y="4038600"/>
              <a:ext cx="1676400" cy="461665"/>
            </a:xfrm>
            <a:prstGeom prst="rect">
              <a:avLst/>
            </a:prstGeom>
            <a:noFill/>
          </p:spPr>
          <p:txBody>
            <a:bodyPr wrap="square" rtlCol="0">
              <a:spAutoFit/>
            </a:bodyPr>
            <a:lstStyle/>
            <a:p>
              <a:r>
                <a:rPr lang="en-IN" sz="2400" dirty="0" smtClean="0">
                  <a:solidFill>
                    <a:schemeClr val="accent1">
                      <a:lumMod val="50000"/>
                    </a:schemeClr>
                  </a:solidFill>
                </a:rPr>
                <a:t>Ontology</a:t>
              </a:r>
              <a:endParaRPr lang="en-IN" sz="2400" dirty="0">
                <a:solidFill>
                  <a:schemeClr val="accent1">
                    <a:lumMod val="50000"/>
                  </a:schemeClr>
                </a:solidFill>
              </a:endParaRPr>
            </a:p>
          </p:txBody>
        </p:sp>
        <p:sp>
          <p:nvSpPr>
            <p:cNvPr id="17" name="Line Callout 1 16"/>
            <p:cNvSpPr/>
            <p:nvPr/>
          </p:nvSpPr>
          <p:spPr>
            <a:xfrm flipH="1">
              <a:off x="990600" y="3733800"/>
              <a:ext cx="1524000" cy="533400"/>
            </a:xfrm>
            <a:prstGeom prst="borderCallout1">
              <a:avLst>
                <a:gd name="adj1" fmla="val 18750"/>
                <a:gd name="adj2" fmla="val -8333"/>
                <a:gd name="adj3" fmla="val 73790"/>
                <a:gd name="adj4" fmla="val -5672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What exists</a:t>
              </a:r>
              <a:endParaRPr lang="en-IN" sz="2000" b="1" dirty="0"/>
            </a:p>
          </p:txBody>
        </p:sp>
        <p:sp>
          <p:nvSpPr>
            <p:cNvPr id="20" name="TextBox 19"/>
            <p:cNvSpPr txBox="1"/>
            <p:nvPr/>
          </p:nvSpPr>
          <p:spPr>
            <a:xfrm>
              <a:off x="1143000" y="4648200"/>
              <a:ext cx="1600200" cy="923330"/>
            </a:xfrm>
            <a:prstGeom prst="rect">
              <a:avLst/>
            </a:prstGeom>
            <a:noFill/>
          </p:spPr>
          <p:txBody>
            <a:bodyPr wrap="square" rtlCol="0">
              <a:spAutoFit/>
            </a:bodyPr>
            <a:lstStyle/>
            <a:p>
              <a:r>
                <a:rPr lang="en-IN" dirty="0" smtClean="0"/>
                <a:t>Essential, Objective, Subjective</a:t>
              </a:r>
              <a:endParaRPr lang="en-IN" dirty="0"/>
            </a:p>
          </p:txBody>
        </p:sp>
        <p:sp>
          <p:nvSpPr>
            <p:cNvPr id="21" name="Right Brace 20"/>
            <p:cNvSpPr/>
            <p:nvPr/>
          </p:nvSpPr>
          <p:spPr>
            <a:xfrm rot="16200000">
              <a:off x="1524000" y="4114800"/>
              <a:ext cx="304800" cy="914400"/>
            </a:xfrm>
            <a:prstGeom prst="rightBrace">
              <a:avLst>
                <a:gd name="adj1" fmla="val 38710"/>
                <a:gd name="adj2" fmla="val 4677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9" name="Group 28"/>
          <p:cNvGrpSpPr/>
          <p:nvPr/>
        </p:nvGrpSpPr>
        <p:grpSpPr>
          <a:xfrm>
            <a:off x="4267200" y="2971800"/>
            <a:ext cx="4038600" cy="2752131"/>
            <a:chOff x="4267200" y="2971800"/>
            <a:chExt cx="4038600" cy="2752131"/>
          </a:xfrm>
        </p:grpSpPr>
        <p:sp>
          <p:nvSpPr>
            <p:cNvPr id="22" name="TextBox 21"/>
            <p:cNvSpPr txBox="1"/>
            <p:nvPr/>
          </p:nvSpPr>
          <p:spPr>
            <a:xfrm>
              <a:off x="6629400" y="4800601"/>
              <a:ext cx="1447800" cy="923330"/>
            </a:xfrm>
            <a:prstGeom prst="rect">
              <a:avLst/>
            </a:prstGeom>
            <a:noFill/>
          </p:spPr>
          <p:txBody>
            <a:bodyPr wrap="square" rtlCol="0">
              <a:spAutoFit/>
            </a:bodyPr>
            <a:lstStyle/>
            <a:p>
              <a:r>
                <a:rPr lang="en-IN" dirty="0" smtClean="0"/>
                <a:t>Idealist</a:t>
              </a:r>
              <a:endParaRPr lang="en-IN" dirty="0" smtClean="0"/>
            </a:p>
            <a:p>
              <a:r>
                <a:rPr lang="en-IN" dirty="0" smtClean="0"/>
                <a:t>Empiricist</a:t>
              </a:r>
              <a:endParaRPr lang="en-IN" dirty="0" smtClean="0"/>
            </a:p>
            <a:p>
              <a:r>
                <a:rPr lang="en-IN" dirty="0" smtClean="0"/>
                <a:t>Realist</a:t>
              </a:r>
              <a:endParaRPr lang="en-IN" dirty="0"/>
            </a:p>
          </p:txBody>
        </p:sp>
        <p:sp>
          <p:nvSpPr>
            <p:cNvPr id="12" name="Oval 11"/>
            <p:cNvSpPr/>
            <p:nvPr/>
          </p:nvSpPr>
          <p:spPr>
            <a:xfrm>
              <a:off x="4267200" y="2971800"/>
              <a:ext cx="2160000" cy="216000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7030A0"/>
                </a:solidFill>
              </a:endParaRPr>
            </a:p>
          </p:txBody>
        </p:sp>
        <p:sp>
          <p:nvSpPr>
            <p:cNvPr id="15" name="TextBox 14"/>
            <p:cNvSpPr txBox="1"/>
            <p:nvPr/>
          </p:nvSpPr>
          <p:spPr>
            <a:xfrm>
              <a:off x="4724400" y="4038600"/>
              <a:ext cx="1676400" cy="400110"/>
            </a:xfrm>
            <a:prstGeom prst="rect">
              <a:avLst/>
            </a:prstGeom>
            <a:noFill/>
          </p:spPr>
          <p:txBody>
            <a:bodyPr wrap="square" rtlCol="0">
              <a:spAutoFit/>
            </a:bodyPr>
            <a:lstStyle/>
            <a:p>
              <a:r>
                <a:rPr lang="en-IN" sz="2000" dirty="0" smtClean="0">
                  <a:solidFill>
                    <a:schemeClr val="accent6">
                      <a:lumMod val="75000"/>
                    </a:schemeClr>
                  </a:solidFill>
                </a:rPr>
                <a:t>Epistemology</a:t>
              </a:r>
              <a:endParaRPr lang="en-IN" sz="2000" dirty="0">
                <a:solidFill>
                  <a:schemeClr val="accent6">
                    <a:lumMod val="75000"/>
                  </a:schemeClr>
                </a:solidFill>
              </a:endParaRPr>
            </a:p>
          </p:txBody>
        </p:sp>
        <p:sp>
          <p:nvSpPr>
            <p:cNvPr id="16" name="Line Callout 2 15"/>
            <p:cNvSpPr/>
            <p:nvPr/>
          </p:nvSpPr>
          <p:spPr>
            <a:xfrm>
              <a:off x="6400800" y="3733800"/>
              <a:ext cx="1905000" cy="762000"/>
            </a:xfrm>
            <a:prstGeom prst="borderCallout2">
              <a:avLst>
                <a:gd name="adj1" fmla="val 18750"/>
                <a:gd name="adj2" fmla="val -8333"/>
                <a:gd name="adj3" fmla="val 18750"/>
                <a:gd name="adj4" fmla="val -16667"/>
                <a:gd name="adj5" fmla="val 54435"/>
                <a:gd name="adj6" fmla="val -49764"/>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How do I know ?</a:t>
              </a:r>
              <a:endParaRPr lang="en-IN" dirty="0"/>
            </a:p>
          </p:txBody>
        </p:sp>
        <p:sp>
          <p:nvSpPr>
            <p:cNvPr id="23" name="Right Brace 22"/>
            <p:cNvSpPr/>
            <p:nvPr/>
          </p:nvSpPr>
          <p:spPr>
            <a:xfrm rot="16200000">
              <a:off x="7010400" y="4267200"/>
              <a:ext cx="304800" cy="914400"/>
            </a:xfrm>
            <a:prstGeom prst="rightBrace">
              <a:avLst>
                <a:gd name="adj1" fmla="val 38710"/>
                <a:gd name="adj2" fmla="val 4677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4" name="Line Callout 2 23"/>
          <p:cNvSpPr/>
          <p:nvPr/>
        </p:nvSpPr>
        <p:spPr>
          <a:xfrm>
            <a:off x="6172200" y="2057400"/>
            <a:ext cx="2743200" cy="1524000"/>
          </a:xfrm>
          <a:prstGeom prst="borderCallout2">
            <a:avLst>
              <a:gd name="adj1" fmla="val 18750"/>
              <a:gd name="adj2" fmla="val -8333"/>
              <a:gd name="adj3" fmla="val 17675"/>
              <a:gd name="adj4" fmla="val -33011"/>
              <a:gd name="adj5" fmla="val 108199"/>
              <a:gd name="adj6" fmla="val -5957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A research conceptual framework aligns the researcher’s belief, world view and research methodology</a:t>
            </a:r>
            <a:endParaRPr lang="en-IN" dirty="0">
              <a:solidFill>
                <a:schemeClr val="tx1"/>
              </a:solidFill>
            </a:endParaRPr>
          </a:p>
        </p:txBody>
      </p:sp>
      <p:sp>
        <p:nvSpPr>
          <p:cNvPr id="25" name="TextBox 24"/>
          <p:cNvSpPr txBox="1"/>
          <p:nvPr/>
        </p:nvSpPr>
        <p:spPr>
          <a:xfrm>
            <a:off x="914400" y="228600"/>
            <a:ext cx="7543800" cy="707886"/>
          </a:xfrm>
          <a:prstGeom prst="rect">
            <a:avLst/>
          </a:prstGeom>
          <a:noFill/>
        </p:spPr>
        <p:txBody>
          <a:bodyPr wrap="square" rtlCol="0">
            <a:spAutoFit/>
          </a:bodyPr>
          <a:lstStyle/>
          <a:p>
            <a:r>
              <a:rPr lang="en-IN" sz="4000" dirty="0" smtClean="0">
                <a:solidFill>
                  <a:srgbClr val="008000"/>
                </a:solidFill>
              </a:rPr>
              <a:t>Conceptual framework  of research</a:t>
            </a:r>
            <a:endParaRPr lang="en-IN" sz="4000" dirty="0">
              <a:solidFill>
                <a:srgbClr val="008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linds(horizontal)">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linds(horizont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linds(horizontal)">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4098" name="Picture 2" descr="C:\Users\A K DATTA\Desktop\Ontology.png"/>
          <p:cNvPicPr>
            <a:picLocks noChangeAspect="1" noChangeArrowheads="1"/>
          </p:cNvPicPr>
          <p:nvPr/>
        </p:nvPicPr>
        <p:blipFill>
          <a:blip r:embed="rId1">
            <a:lum contrast="40000"/>
          </a:blip>
          <a:srcRect/>
          <a:stretch>
            <a:fillRect/>
          </a:stretch>
        </p:blipFill>
        <p:spPr bwMode="auto">
          <a:xfrm>
            <a:off x="0" y="1142984"/>
            <a:ext cx="8954183" cy="518400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3074" name="Picture 2" descr="C:\Users\A K DATTA\Desktop\0dd5e643d7c66cee2beef174a01792bc.jpg"/>
          <p:cNvPicPr>
            <a:picLocks noChangeAspect="1" noChangeArrowheads="1"/>
          </p:cNvPicPr>
          <p:nvPr/>
        </p:nvPicPr>
        <p:blipFill>
          <a:blip r:embed="rId1">
            <a:lum contrast="10000"/>
          </a:blip>
          <a:srcRect/>
          <a:stretch>
            <a:fillRect/>
          </a:stretch>
        </p:blipFill>
        <p:spPr bwMode="auto">
          <a:xfrm>
            <a:off x="381000" y="228600"/>
            <a:ext cx="8280000" cy="6216476"/>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88900"/>
            <a:ext cx="9144000" cy="730250"/>
          </a:xfrm>
        </p:spPr>
        <p:txBody>
          <a:bodyPr>
            <a:noAutofit/>
          </a:bodyPr>
          <a:lstStyle/>
          <a:p>
            <a:pPr marL="320040" indent="-320040" eaLnBrk="1" fontAlgn="auto" hangingPunct="1">
              <a:spcAft>
                <a:spcPts val="0"/>
              </a:spcAft>
              <a:buClr>
                <a:schemeClr val="accent6">
                  <a:lumMod val="75000"/>
                </a:schemeClr>
              </a:buClr>
              <a:defRPr/>
            </a:pPr>
            <a:r>
              <a:rPr lang="en-GB" altLang="ms-MY" sz="3600" dirty="0" smtClean="0">
                <a:solidFill>
                  <a:srgbClr val="006600"/>
                </a:solidFill>
              </a:rPr>
              <a:t>Research methods: The Positivistic approach</a:t>
            </a:r>
            <a:endParaRPr lang="en-US" altLang="ms-MY" sz="3600" dirty="0" smtClean="0">
              <a:solidFill>
                <a:srgbClr val="006600"/>
              </a:solidFill>
            </a:endParaRPr>
          </a:p>
        </p:txBody>
      </p:sp>
      <p:sp>
        <p:nvSpPr>
          <p:cNvPr id="19459" name="Rectangle 3"/>
          <p:cNvSpPr>
            <a:spLocks noGrp="1" noChangeArrowheads="1"/>
          </p:cNvSpPr>
          <p:nvPr>
            <p:ph sz="quarter" idx="4294967295"/>
          </p:nvPr>
        </p:nvSpPr>
        <p:spPr>
          <a:xfrm>
            <a:off x="1143000" y="731838"/>
            <a:ext cx="6400800" cy="3475037"/>
          </a:xfrm>
          <a:prstGeom prst="rect">
            <a:avLst/>
          </a:prstGeom>
        </p:spPr>
        <p:txBody>
          <a:bodyPr/>
          <a:lstStyle/>
          <a:p>
            <a:pPr eaLnBrk="1" hangingPunct="1"/>
            <a:endParaRPr lang="en-GB" altLang="ms-MY" dirty="0" smtClean="0">
              <a:latin typeface="Times New Roman" panose="02020603050405020304" pitchFamily="18" charset="0"/>
              <a:cs typeface="Times New Roman" panose="02020603050405020304" pitchFamily="18" charset="0"/>
            </a:endParaRPr>
          </a:p>
          <a:p>
            <a:pPr eaLnBrk="1" hangingPunct="1">
              <a:buFontTx/>
              <a:buNone/>
            </a:pPr>
            <a:endParaRPr lang="en-US" altLang="ms-MY" dirty="0" smtClean="0">
              <a:latin typeface="Times New Roman" panose="02020603050405020304" pitchFamily="18" charset="0"/>
              <a:cs typeface="Times New Roman" panose="02020603050405020304" pitchFamily="18" charset="0"/>
            </a:endParaRPr>
          </a:p>
        </p:txBody>
      </p:sp>
      <p:sp>
        <p:nvSpPr>
          <p:cNvPr id="19461" name="Text Box 5"/>
          <p:cNvSpPr txBox="1">
            <a:spLocks noChangeArrowheads="1"/>
          </p:cNvSpPr>
          <p:nvPr/>
        </p:nvSpPr>
        <p:spPr bwMode="auto">
          <a:xfrm>
            <a:off x="3296718" y="914400"/>
            <a:ext cx="3281669" cy="400110"/>
          </a:xfrm>
          <a:prstGeom prst="rect">
            <a:avLst/>
          </a:prstGeom>
          <a:noFill/>
          <a:ln w="9525">
            <a:noFill/>
            <a:miter lim="800000"/>
          </a:ln>
        </p:spPr>
        <p:txBody>
          <a:bodyPr wrap="none">
            <a:spAutoFit/>
          </a:bodyPr>
          <a:lstStyle/>
          <a:p>
            <a:pPr algn="ctr" eaLnBrk="0" hangingPunct="0"/>
            <a:r>
              <a:rPr lang="en-GB" altLang="ms-MY" sz="2000" b="1" dirty="0">
                <a:latin typeface="Book Antiqua" pitchFamily="18" charset="0"/>
                <a:cs typeface="Times New Roman" panose="02020603050405020304" pitchFamily="18" charset="0"/>
              </a:rPr>
              <a:t>Define your research topic</a:t>
            </a:r>
            <a:endParaRPr lang="en-GB" altLang="ms-MY" sz="2000" b="1" dirty="0">
              <a:latin typeface="Book Antiqua" pitchFamily="18" charset="0"/>
              <a:cs typeface="Times New Roman" panose="02020603050405020304" pitchFamily="18" charset="0"/>
            </a:endParaRPr>
          </a:p>
        </p:txBody>
      </p:sp>
      <p:sp>
        <p:nvSpPr>
          <p:cNvPr id="19462" name="Text Box 6"/>
          <p:cNvSpPr txBox="1">
            <a:spLocks noChangeArrowheads="1"/>
          </p:cNvSpPr>
          <p:nvPr/>
        </p:nvSpPr>
        <p:spPr bwMode="auto">
          <a:xfrm>
            <a:off x="3044253" y="1606550"/>
            <a:ext cx="4007828" cy="707886"/>
          </a:xfrm>
          <a:prstGeom prst="rect">
            <a:avLst/>
          </a:prstGeom>
          <a:noFill/>
          <a:ln w="9525">
            <a:noFill/>
            <a:miter lim="800000"/>
          </a:ln>
        </p:spPr>
        <p:txBody>
          <a:bodyPr wrap="none">
            <a:spAutoFit/>
          </a:bodyPr>
          <a:lstStyle/>
          <a:p>
            <a:pPr algn="ctr" eaLnBrk="0" hangingPunct="0"/>
            <a:r>
              <a:rPr lang="en-GB" altLang="ms-MY" sz="2000" b="1" dirty="0">
                <a:latin typeface="Book Antiqua" pitchFamily="18" charset="0"/>
                <a:cs typeface="Times New Roman" panose="02020603050405020304" pitchFamily="18" charset="0"/>
              </a:rPr>
              <a:t>Define your research question(s)</a:t>
            </a:r>
            <a:endParaRPr lang="en-GB" altLang="ms-MY" sz="2000" b="1" dirty="0">
              <a:latin typeface="Book Antiqua" pitchFamily="18" charset="0"/>
              <a:cs typeface="Times New Roman" panose="02020603050405020304" pitchFamily="18" charset="0"/>
            </a:endParaRPr>
          </a:p>
          <a:p>
            <a:pPr algn="ctr" eaLnBrk="0" hangingPunct="0"/>
            <a:r>
              <a:rPr lang="en-GB" altLang="ms-MY" sz="2000" b="1" dirty="0">
                <a:latin typeface="Book Antiqua" pitchFamily="18" charset="0"/>
                <a:cs typeface="Times New Roman" panose="02020603050405020304" pitchFamily="18" charset="0"/>
              </a:rPr>
              <a:t>i.e. hypothesis</a:t>
            </a:r>
            <a:endParaRPr lang="en-GB" altLang="ms-MY" sz="2000" b="1" dirty="0">
              <a:latin typeface="Book Antiqua" pitchFamily="18" charset="0"/>
              <a:cs typeface="Times New Roman" panose="02020603050405020304" pitchFamily="18" charset="0"/>
            </a:endParaRPr>
          </a:p>
        </p:txBody>
      </p:sp>
      <p:sp>
        <p:nvSpPr>
          <p:cNvPr id="19463" name="Text Box 7"/>
          <p:cNvSpPr txBox="1">
            <a:spLocks noChangeArrowheads="1"/>
          </p:cNvSpPr>
          <p:nvPr/>
        </p:nvSpPr>
        <p:spPr bwMode="auto">
          <a:xfrm>
            <a:off x="5955509" y="1244600"/>
            <a:ext cx="2198039" cy="400110"/>
          </a:xfrm>
          <a:prstGeom prst="rect">
            <a:avLst/>
          </a:prstGeom>
          <a:noFill/>
          <a:ln w="9525">
            <a:noFill/>
            <a:miter lim="800000"/>
          </a:ln>
        </p:spPr>
        <p:txBody>
          <a:bodyPr wrap="none">
            <a:spAutoFit/>
          </a:bodyPr>
          <a:lstStyle/>
          <a:p>
            <a:pPr algn="ctr" eaLnBrk="0" hangingPunct="0"/>
            <a:r>
              <a:rPr lang="en-GB" altLang="ms-MY" sz="2000" b="1">
                <a:latin typeface="Book Antiqua" pitchFamily="18" charset="0"/>
                <a:cs typeface="Times New Roman" panose="02020603050405020304" pitchFamily="18" charset="0"/>
              </a:rPr>
              <a:t>Literature review</a:t>
            </a:r>
            <a:endParaRPr lang="en-GB" altLang="ms-MY" sz="2000" b="1">
              <a:latin typeface="Book Antiqua" pitchFamily="18" charset="0"/>
              <a:cs typeface="Times New Roman" panose="02020603050405020304" pitchFamily="18" charset="0"/>
            </a:endParaRPr>
          </a:p>
        </p:txBody>
      </p:sp>
      <p:sp>
        <p:nvSpPr>
          <p:cNvPr id="19464" name="Text Box 8"/>
          <p:cNvSpPr txBox="1">
            <a:spLocks noChangeArrowheads="1"/>
          </p:cNvSpPr>
          <p:nvPr/>
        </p:nvSpPr>
        <p:spPr bwMode="auto">
          <a:xfrm>
            <a:off x="3854450" y="3932238"/>
            <a:ext cx="1572866" cy="400110"/>
          </a:xfrm>
          <a:prstGeom prst="rect">
            <a:avLst/>
          </a:prstGeom>
          <a:noFill/>
          <a:ln w="9525">
            <a:noFill/>
            <a:miter lim="800000"/>
          </a:ln>
        </p:spPr>
        <p:txBody>
          <a:bodyPr wrap="none">
            <a:spAutoFit/>
          </a:bodyPr>
          <a:lstStyle/>
          <a:p>
            <a:pPr eaLnBrk="0" hangingPunct="0"/>
            <a:r>
              <a:rPr lang="en-GB" altLang="ms-MY" sz="2000" b="1">
                <a:latin typeface="Book Antiqua" pitchFamily="18" charset="0"/>
                <a:cs typeface="Times New Roman" panose="02020603050405020304" pitchFamily="18" charset="0"/>
              </a:rPr>
              <a:t>Collect data</a:t>
            </a:r>
            <a:endParaRPr lang="en-GB" altLang="ms-MY" sz="2000" b="1">
              <a:latin typeface="Book Antiqua" pitchFamily="18" charset="0"/>
              <a:cs typeface="Times New Roman" panose="02020603050405020304" pitchFamily="18" charset="0"/>
            </a:endParaRPr>
          </a:p>
        </p:txBody>
      </p:sp>
      <p:sp>
        <p:nvSpPr>
          <p:cNvPr id="19465" name="Text Box 9"/>
          <p:cNvSpPr txBox="1">
            <a:spLocks noChangeArrowheads="1"/>
          </p:cNvSpPr>
          <p:nvPr/>
        </p:nvSpPr>
        <p:spPr bwMode="auto">
          <a:xfrm>
            <a:off x="3803650" y="4625975"/>
            <a:ext cx="1701107" cy="400110"/>
          </a:xfrm>
          <a:prstGeom prst="rect">
            <a:avLst/>
          </a:prstGeom>
          <a:noFill/>
          <a:ln w="9525">
            <a:noFill/>
            <a:miter lim="800000"/>
          </a:ln>
        </p:spPr>
        <p:txBody>
          <a:bodyPr wrap="none">
            <a:spAutoFit/>
          </a:bodyPr>
          <a:lstStyle/>
          <a:p>
            <a:pPr eaLnBrk="0" hangingPunct="0"/>
            <a:r>
              <a:rPr lang="en-GB" altLang="ms-MY" sz="2000" b="1">
                <a:latin typeface="Book Antiqua" pitchFamily="18" charset="0"/>
                <a:cs typeface="Times New Roman" panose="02020603050405020304" pitchFamily="18" charset="0"/>
              </a:rPr>
              <a:t>Analyse data</a:t>
            </a:r>
            <a:endParaRPr lang="en-GB" altLang="ms-MY" sz="2000" b="1">
              <a:latin typeface="Book Antiqua" pitchFamily="18" charset="0"/>
              <a:cs typeface="Times New Roman" panose="02020603050405020304" pitchFamily="18" charset="0"/>
            </a:endParaRPr>
          </a:p>
        </p:txBody>
      </p:sp>
      <p:sp>
        <p:nvSpPr>
          <p:cNvPr id="19466" name="Text Box 10"/>
          <p:cNvSpPr txBox="1">
            <a:spLocks noChangeArrowheads="1"/>
          </p:cNvSpPr>
          <p:nvPr/>
        </p:nvSpPr>
        <p:spPr bwMode="auto">
          <a:xfrm>
            <a:off x="3683000" y="5319713"/>
            <a:ext cx="2069797" cy="400110"/>
          </a:xfrm>
          <a:prstGeom prst="rect">
            <a:avLst/>
          </a:prstGeom>
          <a:noFill/>
          <a:ln w="9525">
            <a:noFill/>
            <a:miter lim="800000"/>
          </a:ln>
        </p:spPr>
        <p:txBody>
          <a:bodyPr wrap="none">
            <a:spAutoFit/>
          </a:bodyPr>
          <a:lstStyle/>
          <a:p>
            <a:pPr eaLnBrk="0" hangingPunct="0"/>
            <a:r>
              <a:rPr lang="en-GB" altLang="ms-MY" sz="2000" b="1">
                <a:latin typeface="Book Antiqua" pitchFamily="18" charset="0"/>
                <a:cs typeface="Times New Roman" panose="02020603050405020304" pitchFamily="18" charset="0"/>
              </a:rPr>
              <a:t>Interpret results</a:t>
            </a:r>
            <a:endParaRPr lang="en-GB" altLang="ms-MY" sz="2000" b="1">
              <a:latin typeface="Book Antiqua" pitchFamily="18" charset="0"/>
              <a:cs typeface="Times New Roman" panose="02020603050405020304" pitchFamily="18" charset="0"/>
            </a:endParaRPr>
          </a:p>
        </p:txBody>
      </p:sp>
      <p:sp>
        <p:nvSpPr>
          <p:cNvPr id="19467" name="Text Box 11"/>
          <p:cNvSpPr txBox="1">
            <a:spLocks noChangeArrowheads="1"/>
          </p:cNvSpPr>
          <p:nvPr/>
        </p:nvSpPr>
        <p:spPr bwMode="auto">
          <a:xfrm>
            <a:off x="3481388" y="6013450"/>
            <a:ext cx="2650084" cy="400110"/>
          </a:xfrm>
          <a:prstGeom prst="rect">
            <a:avLst/>
          </a:prstGeom>
          <a:noFill/>
          <a:ln w="9525">
            <a:noFill/>
            <a:miter lim="800000"/>
          </a:ln>
        </p:spPr>
        <p:txBody>
          <a:bodyPr wrap="none">
            <a:spAutoFit/>
          </a:bodyPr>
          <a:lstStyle/>
          <a:p>
            <a:pPr eaLnBrk="0" hangingPunct="0"/>
            <a:r>
              <a:rPr lang="en-GB" altLang="ms-MY" sz="2000" b="1" dirty="0">
                <a:latin typeface="Book Antiqua" pitchFamily="18" charset="0"/>
                <a:cs typeface="Times New Roman" panose="02020603050405020304" pitchFamily="18" charset="0"/>
              </a:rPr>
              <a:t>Report your findings</a:t>
            </a:r>
            <a:endParaRPr lang="en-GB" altLang="ms-MY" sz="2000" b="1" dirty="0">
              <a:latin typeface="Book Antiqua" pitchFamily="18" charset="0"/>
              <a:cs typeface="Times New Roman" panose="02020603050405020304" pitchFamily="18" charset="0"/>
            </a:endParaRPr>
          </a:p>
        </p:txBody>
      </p:sp>
      <p:cxnSp>
        <p:nvCxnSpPr>
          <p:cNvPr id="19468" name="AutoShape 12"/>
          <p:cNvCxnSpPr>
            <a:cxnSpLocks noChangeShapeType="1"/>
            <a:stCxn id="19461" idx="2"/>
            <a:endCxn id="19462" idx="0"/>
          </p:cNvCxnSpPr>
          <p:nvPr/>
        </p:nvCxnSpPr>
        <p:spPr bwMode="auto">
          <a:xfrm rot="16200000" flipH="1">
            <a:off x="4846840" y="1405223"/>
            <a:ext cx="292040" cy="110614"/>
          </a:xfrm>
          <a:prstGeom prst="straightConnector1">
            <a:avLst/>
          </a:prstGeom>
          <a:noFill/>
          <a:ln w="9525">
            <a:solidFill>
              <a:schemeClr val="tx1"/>
            </a:solidFill>
            <a:round/>
            <a:tailEnd type="triangle" w="med" len="med"/>
          </a:ln>
        </p:spPr>
      </p:cxnSp>
      <p:cxnSp>
        <p:nvCxnSpPr>
          <p:cNvPr id="19469" name="AutoShape 13"/>
          <p:cNvCxnSpPr>
            <a:cxnSpLocks noChangeShapeType="1"/>
            <a:stCxn id="19462" idx="2"/>
            <a:endCxn id="19474" idx="0"/>
          </p:cNvCxnSpPr>
          <p:nvPr/>
        </p:nvCxnSpPr>
        <p:spPr bwMode="auto">
          <a:xfrm rot="5400000">
            <a:off x="4840835" y="2337430"/>
            <a:ext cx="230327" cy="184338"/>
          </a:xfrm>
          <a:prstGeom prst="straightConnector1">
            <a:avLst/>
          </a:prstGeom>
          <a:noFill/>
          <a:ln w="9525">
            <a:solidFill>
              <a:schemeClr val="tx1"/>
            </a:solidFill>
            <a:round/>
            <a:tailEnd type="triangle" w="med" len="med"/>
          </a:ln>
        </p:spPr>
      </p:cxnSp>
      <p:cxnSp>
        <p:nvCxnSpPr>
          <p:cNvPr id="19470" name="AutoShape 14"/>
          <p:cNvCxnSpPr>
            <a:cxnSpLocks noChangeShapeType="1"/>
            <a:stCxn id="19466" idx="3"/>
            <a:endCxn id="19465" idx="3"/>
          </p:cNvCxnSpPr>
          <p:nvPr/>
        </p:nvCxnSpPr>
        <p:spPr bwMode="auto">
          <a:xfrm flipH="1" flipV="1">
            <a:off x="5504757" y="4826030"/>
            <a:ext cx="248040" cy="693738"/>
          </a:xfrm>
          <a:prstGeom prst="curvedConnector3">
            <a:avLst>
              <a:gd name="adj1" fmla="val -92163"/>
            </a:avLst>
          </a:prstGeom>
          <a:noFill/>
          <a:ln w="9525">
            <a:solidFill>
              <a:schemeClr val="tx1"/>
            </a:solidFill>
            <a:round/>
            <a:tailEnd type="triangle" w="med" len="med"/>
          </a:ln>
        </p:spPr>
      </p:cxnSp>
      <p:cxnSp>
        <p:nvCxnSpPr>
          <p:cNvPr id="19471" name="AutoShape 15"/>
          <p:cNvCxnSpPr>
            <a:cxnSpLocks noChangeShapeType="1"/>
            <a:stCxn id="19463" idx="0"/>
            <a:endCxn id="19461" idx="3"/>
          </p:cNvCxnSpPr>
          <p:nvPr/>
        </p:nvCxnSpPr>
        <p:spPr bwMode="auto">
          <a:xfrm rot="16200000" flipV="1">
            <a:off x="6751386" y="941457"/>
            <a:ext cx="130145" cy="476142"/>
          </a:xfrm>
          <a:prstGeom prst="curvedConnector2">
            <a:avLst/>
          </a:prstGeom>
          <a:noFill/>
          <a:ln w="9525">
            <a:solidFill>
              <a:schemeClr val="tx1"/>
            </a:solidFill>
            <a:round/>
            <a:tailEnd type="triangle" w="med" len="med"/>
          </a:ln>
        </p:spPr>
      </p:cxnSp>
      <p:cxnSp>
        <p:nvCxnSpPr>
          <p:cNvPr id="19472" name="AutoShape 16"/>
          <p:cNvCxnSpPr>
            <a:cxnSpLocks noChangeShapeType="1"/>
            <a:endCxn id="19467" idx="0"/>
          </p:cNvCxnSpPr>
          <p:nvPr/>
        </p:nvCxnSpPr>
        <p:spPr bwMode="auto">
          <a:xfrm>
            <a:off x="4481512" y="5741988"/>
            <a:ext cx="324918" cy="271462"/>
          </a:xfrm>
          <a:prstGeom prst="straightConnector1">
            <a:avLst/>
          </a:prstGeom>
          <a:noFill/>
          <a:ln w="9525">
            <a:solidFill>
              <a:schemeClr val="tx1"/>
            </a:solidFill>
            <a:round/>
            <a:tailEnd type="triangle" w="med" len="med"/>
          </a:ln>
        </p:spPr>
      </p:cxnSp>
      <p:cxnSp>
        <p:nvCxnSpPr>
          <p:cNvPr id="19473" name="AutoShape 17"/>
          <p:cNvCxnSpPr>
            <a:cxnSpLocks noChangeShapeType="1"/>
            <a:stCxn id="19462" idx="3"/>
            <a:endCxn id="19463" idx="2"/>
          </p:cNvCxnSpPr>
          <p:nvPr/>
        </p:nvCxnSpPr>
        <p:spPr bwMode="auto">
          <a:xfrm flipV="1">
            <a:off x="7052081" y="1644710"/>
            <a:ext cx="2448" cy="315783"/>
          </a:xfrm>
          <a:prstGeom prst="curvedConnector2">
            <a:avLst/>
          </a:prstGeom>
          <a:noFill/>
          <a:ln w="9525">
            <a:solidFill>
              <a:schemeClr val="tx1"/>
            </a:solidFill>
            <a:round/>
            <a:tailEnd type="triangle" w="med" len="med"/>
          </a:ln>
        </p:spPr>
      </p:cxnSp>
      <p:sp>
        <p:nvSpPr>
          <p:cNvPr id="19474" name="Text Box 18"/>
          <p:cNvSpPr txBox="1">
            <a:spLocks noChangeArrowheads="1"/>
          </p:cNvSpPr>
          <p:nvPr/>
        </p:nvSpPr>
        <p:spPr bwMode="auto">
          <a:xfrm>
            <a:off x="3469056" y="2544763"/>
            <a:ext cx="2789546" cy="400110"/>
          </a:xfrm>
          <a:prstGeom prst="rect">
            <a:avLst/>
          </a:prstGeom>
          <a:noFill/>
          <a:ln w="9525">
            <a:noFill/>
            <a:miter lim="800000"/>
          </a:ln>
        </p:spPr>
        <p:txBody>
          <a:bodyPr wrap="none">
            <a:spAutoFit/>
          </a:bodyPr>
          <a:lstStyle/>
          <a:p>
            <a:pPr algn="ctr" eaLnBrk="0" hangingPunct="0"/>
            <a:r>
              <a:rPr lang="en-GB" altLang="ms-MY" sz="2000" b="1">
                <a:latin typeface="Book Antiqua" pitchFamily="18" charset="0"/>
                <a:cs typeface="Times New Roman" panose="02020603050405020304" pitchFamily="18" charset="0"/>
              </a:rPr>
              <a:t>Design data collection</a:t>
            </a:r>
            <a:endParaRPr lang="en-GB" altLang="ms-MY" sz="2000" b="1">
              <a:latin typeface="Book Antiqua" pitchFamily="18" charset="0"/>
              <a:cs typeface="Times New Roman" panose="02020603050405020304" pitchFamily="18" charset="0"/>
            </a:endParaRPr>
          </a:p>
        </p:txBody>
      </p:sp>
      <p:cxnSp>
        <p:nvCxnSpPr>
          <p:cNvPr id="19475" name="AutoShape 19"/>
          <p:cNvCxnSpPr>
            <a:cxnSpLocks noChangeShapeType="1"/>
            <a:stCxn id="19474" idx="2"/>
            <a:endCxn id="19476" idx="0"/>
          </p:cNvCxnSpPr>
          <p:nvPr/>
        </p:nvCxnSpPr>
        <p:spPr bwMode="auto">
          <a:xfrm rot="5400000">
            <a:off x="4708597" y="3083267"/>
            <a:ext cx="293627" cy="16839"/>
          </a:xfrm>
          <a:prstGeom prst="straightConnector1">
            <a:avLst/>
          </a:prstGeom>
          <a:noFill/>
          <a:ln w="9525">
            <a:solidFill>
              <a:schemeClr val="tx1"/>
            </a:solidFill>
            <a:round/>
            <a:tailEnd type="triangle" w="med" len="med"/>
          </a:ln>
        </p:spPr>
      </p:cxnSp>
      <p:sp>
        <p:nvSpPr>
          <p:cNvPr id="19476" name="Text Box 20"/>
          <p:cNvSpPr txBox="1">
            <a:spLocks noChangeArrowheads="1"/>
          </p:cNvSpPr>
          <p:nvPr/>
        </p:nvSpPr>
        <p:spPr bwMode="auto">
          <a:xfrm>
            <a:off x="3544389" y="3238500"/>
            <a:ext cx="2605201" cy="400110"/>
          </a:xfrm>
          <a:prstGeom prst="rect">
            <a:avLst/>
          </a:prstGeom>
          <a:noFill/>
          <a:ln w="9525">
            <a:noFill/>
            <a:miter lim="800000"/>
          </a:ln>
        </p:spPr>
        <p:txBody>
          <a:bodyPr wrap="none">
            <a:spAutoFit/>
          </a:bodyPr>
          <a:lstStyle/>
          <a:p>
            <a:pPr algn="ctr" eaLnBrk="0" hangingPunct="0"/>
            <a:r>
              <a:rPr lang="en-GB" altLang="ms-MY" sz="2000" b="1">
                <a:latin typeface="Book Antiqua" pitchFamily="18" charset="0"/>
                <a:cs typeface="Times New Roman" panose="02020603050405020304" pitchFamily="18" charset="0"/>
              </a:rPr>
              <a:t>Design data analysis</a:t>
            </a:r>
            <a:endParaRPr lang="en-GB" altLang="ms-MY" sz="2000" b="1">
              <a:latin typeface="Book Antiqua" pitchFamily="18" charset="0"/>
              <a:cs typeface="Times New Roman" panose="02020603050405020304" pitchFamily="18" charset="0"/>
            </a:endParaRPr>
          </a:p>
        </p:txBody>
      </p:sp>
      <p:sp>
        <p:nvSpPr>
          <p:cNvPr id="19477" name="Text Box 21"/>
          <p:cNvSpPr txBox="1">
            <a:spLocks noChangeArrowheads="1"/>
          </p:cNvSpPr>
          <p:nvPr/>
        </p:nvSpPr>
        <p:spPr bwMode="auto">
          <a:xfrm>
            <a:off x="6012874" y="2892425"/>
            <a:ext cx="1459054" cy="400110"/>
          </a:xfrm>
          <a:prstGeom prst="rect">
            <a:avLst/>
          </a:prstGeom>
          <a:noFill/>
          <a:ln w="9525">
            <a:noFill/>
            <a:miter lim="800000"/>
          </a:ln>
        </p:spPr>
        <p:txBody>
          <a:bodyPr wrap="none">
            <a:spAutoFit/>
          </a:bodyPr>
          <a:lstStyle/>
          <a:p>
            <a:pPr algn="ctr" eaLnBrk="0" hangingPunct="0"/>
            <a:r>
              <a:rPr lang="en-GB" altLang="ms-MY" sz="2000" b="1">
                <a:latin typeface="Book Antiqua" pitchFamily="18" charset="0"/>
                <a:cs typeface="Times New Roman" panose="02020603050405020304" pitchFamily="18" charset="0"/>
              </a:rPr>
              <a:t>Pilot study</a:t>
            </a:r>
            <a:endParaRPr lang="en-GB" altLang="ms-MY" sz="2000" b="1">
              <a:latin typeface="Book Antiqua" pitchFamily="18" charset="0"/>
              <a:cs typeface="Times New Roman" panose="02020603050405020304" pitchFamily="18" charset="0"/>
            </a:endParaRPr>
          </a:p>
        </p:txBody>
      </p:sp>
      <p:cxnSp>
        <p:nvCxnSpPr>
          <p:cNvPr id="19478" name="AutoShape 22"/>
          <p:cNvCxnSpPr>
            <a:cxnSpLocks noChangeShapeType="1"/>
            <a:stCxn id="19476" idx="2"/>
            <a:endCxn id="19464" idx="0"/>
          </p:cNvCxnSpPr>
          <p:nvPr/>
        </p:nvCxnSpPr>
        <p:spPr bwMode="auto">
          <a:xfrm rot="5400000">
            <a:off x="4597123" y="3682371"/>
            <a:ext cx="293628" cy="206107"/>
          </a:xfrm>
          <a:prstGeom prst="straightConnector1">
            <a:avLst/>
          </a:prstGeom>
          <a:noFill/>
          <a:ln w="9525">
            <a:solidFill>
              <a:schemeClr val="tx1"/>
            </a:solidFill>
            <a:round/>
            <a:tailEnd type="triangle" w="med" len="med"/>
          </a:ln>
        </p:spPr>
      </p:cxnSp>
      <p:cxnSp>
        <p:nvCxnSpPr>
          <p:cNvPr id="19479" name="AutoShape 23"/>
          <p:cNvCxnSpPr>
            <a:cxnSpLocks noChangeShapeType="1"/>
            <a:stCxn id="19464" idx="2"/>
            <a:endCxn id="19465" idx="0"/>
          </p:cNvCxnSpPr>
          <p:nvPr/>
        </p:nvCxnSpPr>
        <p:spPr bwMode="auto">
          <a:xfrm rot="16200000" flipH="1">
            <a:off x="4500730" y="4472500"/>
            <a:ext cx="293627" cy="13321"/>
          </a:xfrm>
          <a:prstGeom prst="straightConnector1">
            <a:avLst/>
          </a:prstGeom>
          <a:noFill/>
          <a:ln w="9525">
            <a:solidFill>
              <a:schemeClr val="tx1"/>
            </a:solidFill>
            <a:round/>
            <a:tailEnd type="triangle" w="med" len="med"/>
          </a:ln>
        </p:spPr>
      </p:cxnSp>
      <p:cxnSp>
        <p:nvCxnSpPr>
          <p:cNvPr id="19480" name="AutoShape 24"/>
          <p:cNvCxnSpPr>
            <a:cxnSpLocks noChangeShapeType="1"/>
            <a:stCxn id="19465" idx="2"/>
            <a:endCxn id="19466" idx="0"/>
          </p:cNvCxnSpPr>
          <p:nvPr/>
        </p:nvCxnSpPr>
        <p:spPr bwMode="auto">
          <a:xfrm rot="16200000" flipH="1">
            <a:off x="4539237" y="5141051"/>
            <a:ext cx="293628" cy="63695"/>
          </a:xfrm>
          <a:prstGeom prst="straightConnector1">
            <a:avLst/>
          </a:prstGeom>
          <a:noFill/>
          <a:ln w="9525">
            <a:solidFill>
              <a:schemeClr val="tx1"/>
            </a:solidFill>
            <a:round/>
            <a:tailEnd type="triangle" w="med" len="med"/>
          </a:ln>
        </p:spPr>
      </p:cxnSp>
      <p:cxnSp>
        <p:nvCxnSpPr>
          <p:cNvPr id="19481" name="AutoShape 25"/>
          <p:cNvCxnSpPr>
            <a:cxnSpLocks noChangeShapeType="1"/>
            <a:stCxn id="19476" idx="3"/>
            <a:endCxn id="19477" idx="2"/>
          </p:cNvCxnSpPr>
          <p:nvPr/>
        </p:nvCxnSpPr>
        <p:spPr bwMode="auto">
          <a:xfrm flipV="1">
            <a:off x="6149590" y="3292535"/>
            <a:ext cx="592811" cy="146020"/>
          </a:xfrm>
          <a:prstGeom prst="curvedConnector2">
            <a:avLst/>
          </a:prstGeom>
          <a:noFill/>
          <a:ln w="9525">
            <a:solidFill>
              <a:schemeClr val="tx1"/>
            </a:solidFill>
            <a:round/>
            <a:tailEnd type="triangle" w="med" len="med"/>
          </a:ln>
        </p:spPr>
      </p:cxnSp>
      <p:cxnSp>
        <p:nvCxnSpPr>
          <p:cNvPr id="19482" name="AutoShape 26"/>
          <p:cNvCxnSpPr>
            <a:cxnSpLocks noChangeShapeType="1"/>
            <a:stCxn id="19477" idx="0"/>
            <a:endCxn id="19474" idx="3"/>
          </p:cNvCxnSpPr>
          <p:nvPr/>
        </p:nvCxnSpPr>
        <p:spPr bwMode="auto">
          <a:xfrm rot="16200000" flipV="1">
            <a:off x="6426699" y="2576722"/>
            <a:ext cx="147607" cy="483799"/>
          </a:xfrm>
          <a:prstGeom prst="curvedConnector2">
            <a:avLst/>
          </a:prstGeom>
          <a:noFill/>
          <a:ln w="9525">
            <a:solidFill>
              <a:schemeClr val="tx1"/>
            </a:solidFill>
            <a:round/>
            <a:tailEnd type="triangle" w="med" len="med"/>
          </a:ln>
        </p:spPr>
      </p:cxnSp>
      <p:cxnSp>
        <p:nvCxnSpPr>
          <p:cNvPr id="19483" name="AutoShape 27"/>
          <p:cNvCxnSpPr>
            <a:cxnSpLocks noChangeShapeType="1"/>
            <a:stCxn id="19474" idx="3"/>
            <a:endCxn id="19462" idx="3"/>
          </p:cNvCxnSpPr>
          <p:nvPr/>
        </p:nvCxnSpPr>
        <p:spPr bwMode="auto">
          <a:xfrm flipV="1">
            <a:off x="6258602" y="1960493"/>
            <a:ext cx="793479" cy="784325"/>
          </a:xfrm>
          <a:prstGeom prst="curvedConnector3">
            <a:avLst>
              <a:gd name="adj1" fmla="val 128810"/>
            </a:avLst>
          </a:prstGeom>
          <a:noFill/>
          <a:ln w="9525">
            <a:solidFill>
              <a:schemeClr val="tx1"/>
            </a:solidFill>
            <a:round/>
            <a:tailEnd type="triangle" w="med" len="med"/>
          </a:ln>
        </p:spPr>
      </p:cxnSp>
      <p:sp>
        <p:nvSpPr>
          <p:cNvPr id="19484" name="AutoShape 28"/>
          <p:cNvSpPr>
            <a:spLocks noChangeArrowheads="1"/>
          </p:cNvSpPr>
          <p:nvPr/>
        </p:nvSpPr>
        <p:spPr bwMode="auto">
          <a:xfrm>
            <a:off x="457200" y="2165350"/>
            <a:ext cx="2324100" cy="914400"/>
          </a:xfrm>
          <a:prstGeom prst="cloudCallout">
            <a:avLst>
              <a:gd name="adj1" fmla="val -44468"/>
              <a:gd name="adj2" fmla="val 69968"/>
            </a:avLst>
          </a:prstGeom>
          <a:noFill/>
          <a:ln w="19050">
            <a:solidFill>
              <a:srgbClr val="008000"/>
            </a:solidFill>
            <a:round/>
          </a:ln>
        </p:spPr>
        <p:txBody>
          <a:bodyPr/>
          <a:lstStyle/>
          <a:p>
            <a:pPr algn="ctr" eaLnBrk="0" hangingPunct="0"/>
            <a:r>
              <a:rPr lang="en-GB" altLang="ms-MY" sz="2400">
                <a:solidFill>
                  <a:srgbClr val="008000"/>
                </a:solidFill>
                <a:latin typeface="Times New Roman" panose="02020603050405020304" pitchFamily="18" charset="0"/>
                <a:cs typeface="Times New Roman" panose="02020603050405020304" pitchFamily="18" charset="0"/>
              </a:rPr>
              <a:t>Deductive</a:t>
            </a:r>
            <a:endParaRPr lang="en-GB" altLang="ms-MY" sz="2400">
              <a:solidFill>
                <a:srgbClr val="008000"/>
              </a:solidFill>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9525"/>
            <a:ext cx="9144000" cy="692150"/>
          </a:xfrm>
        </p:spPr>
        <p:txBody>
          <a:bodyPr>
            <a:noAutofit/>
          </a:bodyPr>
          <a:lstStyle/>
          <a:p>
            <a:pPr marL="320040" indent="-320040" eaLnBrk="1" fontAlgn="auto" hangingPunct="1">
              <a:spcAft>
                <a:spcPts val="0"/>
              </a:spcAft>
              <a:buClr>
                <a:schemeClr val="accent6">
                  <a:lumMod val="75000"/>
                </a:schemeClr>
              </a:buClr>
              <a:defRPr/>
            </a:pPr>
            <a:r>
              <a:rPr lang="en-GB" altLang="ms-MY" sz="3600" dirty="0" smtClean="0">
                <a:solidFill>
                  <a:srgbClr val="006600"/>
                </a:solidFill>
              </a:rPr>
              <a:t>Research methods: Phenomenological approach</a:t>
            </a:r>
            <a:endParaRPr lang="en-US" altLang="ms-MY" sz="3600" dirty="0" smtClean="0">
              <a:solidFill>
                <a:srgbClr val="006600"/>
              </a:solidFill>
            </a:endParaRPr>
          </a:p>
        </p:txBody>
      </p:sp>
      <p:grpSp>
        <p:nvGrpSpPr>
          <p:cNvPr id="28" name="Group 27"/>
          <p:cNvGrpSpPr/>
          <p:nvPr/>
        </p:nvGrpSpPr>
        <p:grpSpPr>
          <a:xfrm>
            <a:off x="2203450" y="914400"/>
            <a:ext cx="5911201" cy="5499160"/>
            <a:chOff x="2203450" y="914400"/>
            <a:chExt cx="5911201" cy="5499160"/>
          </a:xfrm>
        </p:grpSpPr>
        <p:sp>
          <p:nvSpPr>
            <p:cNvPr id="20484" name="Text Box 4"/>
            <p:cNvSpPr txBox="1">
              <a:spLocks noChangeArrowheads="1"/>
            </p:cNvSpPr>
            <p:nvPr/>
          </p:nvSpPr>
          <p:spPr bwMode="auto">
            <a:xfrm>
              <a:off x="3238500" y="914400"/>
              <a:ext cx="3281668" cy="400110"/>
            </a:xfrm>
            <a:prstGeom prst="rect">
              <a:avLst/>
            </a:prstGeom>
            <a:noFill/>
            <a:ln w="9525">
              <a:noFill/>
              <a:miter lim="800000"/>
            </a:ln>
          </p:spPr>
          <p:txBody>
            <a:bodyPr wrap="none">
              <a:spAutoFit/>
            </a:bodyPr>
            <a:lstStyle/>
            <a:p>
              <a:pPr algn="ctr" eaLnBrk="0" hangingPunct="0"/>
              <a:r>
                <a:rPr lang="en-GB" altLang="ms-MY" sz="2000" b="1">
                  <a:latin typeface="Book Antiqua" pitchFamily="18" charset="0"/>
                </a:rPr>
                <a:t>Define your research topic</a:t>
              </a:r>
              <a:endParaRPr lang="en-GB" altLang="ms-MY" sz="2000" b="1">
                <a:latin typeface="Book Antiqua" pitchFamily="18" charset="0"/>
              </a:endParaRPr>
            </a:p>
          </p:txBody>
        </p:sp>
        <p:sp>
          <p:nvSpPr>
            <p:cNvPr id="20485" name="Text Box 5"/>
            <p:cNvSpPr txBox="1">
              <a:spLocks noChangeArrowheads="1"/>
            </p:cNvSpPr>
            <p:nvPr/>
          </p:nvSpPr>
          <p:spPr bwMode="auto">
            <a:xfrm>
              <a:off x="2949575" y="1638300"/>
              <a:ext cx="4007827" cy="400110"/>
            </a:xfrm>
            <a:prstGeom prst="rect">
              <a:avLst/>
            </a:prstGeom>
            <a:noFill/>
            <a:ln w="9525">
              <a:noFill/>
              <a:miter lim="800000"/>
            </a:ln>
          </p:spPr>
          <p:txBody>
            <a:bodyPr wrap="none">
              <a:spAutoFit/>
            </a:bodyPr>
            <a:lstStyle/>
            <a:p>
              <a:pPr algn="ctr" eaLnBrk="0" hangingPunct="0"/>
              <a:r>
                <a:rPr lang="en-GB" altLang="ms-MY" sz="2000" b="1">
                  <a:latin typeface="Book Antiqua" pitchFamily="18" charset="0"/>
                </a:rPr>
                <a:t>Define your research question(s)</a:t>
              </a:r>
              <a:endParaRPr lang="en-GB" altLang="ms-MY" sz="2000" b="1">
                <a:latin typeface="Book Antiqua" pitchFamily="18" charset="0"/>
              </a:endParaRPr>
            </a:p>
          </p:txBody>
        </p:sp>
        <p:sp>
          <p:nvSpPr>
            <p:cNvPr id="20486" name="Text Box 6"/>
            <p:cNvSpPr txBox="1">
              <a:spLocks noChangeArrowheads="1"/>
            </p:cNvSpPr>
            <p:nvPr/>
          </p:nvSpPr>
          <p:spPr bwMode="auto">
            <a:xfrm>
              <a:off x="5916613" y="1244600"/>
              <a:ext cx="2198038" cy="400110"/>
            </a:xfrm>
            <a:prstGeom prst="rect">
              <a:avLst/>
            </a:prstGeom>
            <a:noFill/>
            <a:ln w="9525">
              <a:noFill/>
              <a:miter lim="800000"/>
            </a:ln>
          </p:spPr>
          <p:txBody>
            <a:bodyPr wrap="none">
              <a:spAutoFit/>
            </a:bodyPr>
            <a:lstStyle/>
            <a:p>
              <a:pPr algn="ctr" eaLnBrk="0" hangingPunct="0"/>
              <a:r>
                <a:rPr lang="en-GB" altLang="ms-MY" sz="2000" b="1">
                  <a:latin typeface="Book Antiqua" pitchFamily="18" charset="0"/>
                </a:rPr>
                <a:t>Literature review</a:t>
              </a:r>
              <a:endParaRPr lang="en-GB" altLang="ms-MY" sz="2000" b="1">
                <a:latin typeface="Book Antiqua" pitchFamily="18" charset="0"/>
              </a:endParaRPr>
            </a:p>
          </p:txBody>
        </p:sp>
        <p:sp>
          <p:nvSpPr>
            <p:cNvPr id="20487" name="Text Box 7"/>
            <p:cNvSpPr txBox="1">
              <a:spLocks noChangeArrowheads="1"/>
            </p:cNvSpPr>
            <p:nvPr/>
          </p:nvSpPr>
          <p:spPr bwMode="auto">
            <a:xfrm>
              <a:off x="3889375" y="3106738"/>
              <a:ext cx="1572866" cy="400110"/>
            </a:xfrm>
            <a:prstGeom prst="rect">
              <a:avLst/>
            </a:prstGeom>
            <a:noFill/>
            <a:ln w="9525">
              <a:noFill/>
              <a:miter lim="800000"/>
            </a:ln>
          </p:spPr>
          <p:txBody>
            <a:bodyPr wrap="none">
              <a:spAutoFit/>
            </a:bodyPr>
            <a:lstStyle/>
            <a:p>
              <a:pPr eaLnBrk="0" hangingPunct="0"/>
              <a:r>
                <a:rPr lang="en-GB" altLang="ms-MY" sz="2000" b="1">
                  <a:latin typeface="Book Antiqua" pitchFamily="18" charset="0"/>
                </a:rPr>
                <a:t>Collect data</a:t>
              </a:r>
              <a:endParaRPr lang="en-GB" altLang="ms-MY" sz="2000" b="1">
                <a:latin typeface="Book Antiqua" pitchFamily="18" charset="0"/>
              </a:endParaRPr>
            </a:p>
          </p:txBody>
        </p:sp>
        <p:sp>
          <p:nvSpPr>
            <p:cNvPr id="20488" name="Text Box 8"/>
            <p:cNvSpPr txBox="1">
              <a:spLocks noChangeArrowheads="1"/>
            </p:cNvSpPr>
            <p:nvPr/>
          </p:nvSpPr>
          <p:spPr bwMode="auto">
            <a:xfrm>
              <a:off x="5888038" y="3797300"/>
              <a:ext cx="2198038" cy="400110"/>
            </a:xfrm>
            <a:prstGeom prst="rect">
              <a:avLst/>
            </a:prstGeom>
            <a:noFill/>
            <a:ln w="9525">
              <a:noFill/>
              <a:miter lim="800000"/>
            </a:ln>
          </p:spPr>
          <p:txBody>
            <a:bodyPr wrap="none">
              <a:spAutoFit/>
            </a:bodyPr>
            <a:lstStyle/>
            <a:p>
              <a:pPr algn="ctr" eaLnBrk="0" hangingPunct="0"/>
              <a:r>
                <a:rPr lang="en-GB" altLang="ms-MY" sz="2000" b="1">
                  <a:latin typeface="Book Antiqua" pitchFamily="18" charset="0"/>
                </a:rPr>
                <a:t>Literature review</a:t>
              </a:r>
              <a:endParaRPr lang="en-GB" altLang="ms-MY" sz="2000" b="1">
                <a:latin typeface="Book Antiqua" pitchFamily="18" charset="0"/>
              </a:endParaRPr>
            </a:p>
          </p:txBody>
        </p:sp>
        <p:sp>
          <p:nvSpPr>
            <p:cNvPr id="20489" name="Text Box 9"/>
            <p:cNvSpPr txBox="1">
              <a:spLocks noChangeArrowheads="1"/>
            </p:cNvSpPr>
            <p:nvPr/>
          </p:nvSpPr>
          <p:spPr bwMode="auto">
            <a:xfrm>
              <a:off x="2203450" y="3797300"/>
              <a:ext cx="1701107" cy="400110"/>
            </a:xfrm>
            <a:prstGeom prst="rect">
              <a:avLst/>
            </a:prstGeom>
            <a:noFill/>
            <a:ln w="9525">
              <a:noFill/>
              <a:miter lim="800000"/>
            </a:ln>
          </p:spPr>
          <p:txBody>
            <a:bodyPr wrap="none">
              <a:spAutoFit/>
            </a:bodyPr>
            <a:lstStyle/>
            <a:p>
              <a:pPr eaLnBrk="0" hangingPunct="0"/>
              <a:r>
                <a:rPr lang="en-GB" altLang="ms-MY" sz="2000" b="1">
                  <a:latin typeface="Book Antiqua" pitchFamily="18" charset="0"/>
                </a:rPr>
                <a:t>Analyse data</a:t>
              </a:r>
              <a:endParaRPr lang="en-GB" altLang="ms-MY" sz="2000" b="1">
                <a:latin typeface="Book Antiqua" pitchFamily="18" charset="0"/>
              </a:endParaRPr>
            </a:p>
          </p:txBody>
        </p:sp>
        <p:sp>
          <p:nvSpPr>
            <p:cNvPr id="20490" name="Text Box 10"/>
            <p:cNvSpPr txBox="1">
              <a:spLocks noChangeArrowheads="1"/>
            </p:cNvSpPr>
            <p:nvPr/>
          </p:nvSpPr>
          <p:spPr bwMode="auto">
            <a:xfrm>
              <a:off x="3819525" y="4457700"/>
              <a:ext cx="1786066" cy="400110"/>
            </a:xfrm>
            <a:prstGeom prst="rect">
              <a:avLst/>
            </a:prstGeom>
            <a:noFill/>
            <a:ln w="9525">
              <a:noFill/>
              <a:miter lim="800000"/>
            </a:ln>
          </p:spPr>
          <p:txBody>
            <a:bodyPr wrap="none">
              <a:spAutoFit/>
            </a:bodyPr>
            <a:lstStyle/>
            <a:p>
              <a:pPr eaLnBrk="0" hangingPunct="0"/>
              <a:r>
                <a:rPr lang="en-GB" altLang="ms-MY" sz="2000" b="1">
                  <a:latin typeface="Book Antiqua" pitchFamily="18" charset="0"/>
                </a:rPr>
                <a:t>Interpret data</a:t>
              </a:r>
              <a:endParaRPr lang="en-GB" altLang="ms-MY" sz="2000" b="1">
                <a:latin typeface="Book Antiqua" pitchFamily="18" charset="0"/>
              </a:endParaRPr>
            </a:p>
          </p:txBody>
        </p:sp>
        <p:sp>
          <p:nvSpPr>
            <p:cNvPr id="20491" name="Text Box 11"/>
            <p:cNvSpPr txBox="1">
              <a:spLocks noChangeArrowheads="1"/>
            </p:cNvSpPr>
            <p:nvPr/>
          </p:nvSpPr>
          <p:spPr bwMode="auto">
            <a:xfrm>
              <a:off x="3516313" y="6013450"/>
              <a:ext cx="2650084" cy="400110"/>
            </a:xfrm>
            <a:prstGeom prst="rect">
              <a:avLst/>
            </a:prstGeom>
            <a:noFill/>
            <a:ln w="9525">
              <a:noFill/>
              <a:miter lim="800000"/>
            </a:ln>
          </p:spPr>
          <p:txBody>
            <a:bodyPr wrap="none">
              <a:spAutoFit/>
            </a:bodyPr>
            <a:lstStyle/>
            <a:p>
              <a:pPr eaLnBrk="0" hangingPunct="0"/>
              <a:r>
                <a:rPr lang="en-GB" altLang="ms-MY" sz="2000" b="1">
                  <a:latin typeface="Book Antiqua" pitchFamily="18" charset="0"/>
                </a:rPr>
                <a:t>Report your findings</a:t>
              </a:r>
              <a:endParaRPr lang="en-GB" altLang="ms-MY" sz="2000" b="1">
                <a:latin typeface="Book Antiqua" pitchFamily="18" charset="0"/>
              </a:endParaRPr>
            </a:p>
          </p:txBody>
        </p:sp>
        <p:cxnSp>
          <p:nvCxnSpPr>
            <p:cNvPr id="20492" name="AutoShape 12"/>
            <p:cNvCxnSpPr>
              <a:cxnSpLocks noChangeShapeType="1"/>
              <a:stCxn id="20484" idx="2"/>
              <a:endCxn id="20485" idx="0"/>
            </p:cNvCxnSpPr>
            <p:nvPr/>
          </p:nvCxnSpPr>
          <p:spPr bwMode="auto">
            <a:xfrm rot="16200000" flipH="1">
              <a:off x="4754516" y="1439327"/>
              <a:ext cx="323790" cy="74155"/>
            </a:xfrm>
            <a:prstGeom prst="straightConnector1">
              <a:avLst/>
            </a:prstGeom>
            <a:noFill/>
            <a:ln w="9525">
              <a:solidFill>
                <a:schemeClr val="tx1"/>
              </a:solidFill>
              <a:round/>
              <a:tailEnd type="triangle" w="med" len="med"/>
            </a:ln>
          </p:spPr>
        </p:cxnSp>
        <p:cxnSp>
          <p:nvCxnSpPr>
            <p:cNvPr id="20493" name="AutoShape 13"/>
            <p:cNvCxnSpPr>
              <a:cxnSpLocks noChangeShapeType="1"/>
              <a:stCxn id="20485" idx="2"/>
              <a:endCxn id="20505" idx="0"/>
            </p:cNvCxnSpPr>
            <p:nvPr/>
          </p:nvCxnSpPr>
          <p:spPr bwMode="auto">
            <a:xfrm rot="5400000">
              <a:off x="4777537" y="2087822"/>
              <a:ext cx="225365" cy="126541"/>
            </a:xfrm>
            <a:prstGeom prst="straightConnector1">
              <a:avLst/>
            </a:prstGeom>
            <a:noFill/>
            <a:ln w="9525">
              <a:solidFill>
                <a:schemeClr val="tx1"/>
              </a:solidFill>
              <a:round/>
              <a:tailEnd type="triangle" w="med" len="med"/>
            </a:ln>
          </p:spPr>
        </p:cxnSp>
        <p:cxnSp>
          <p:nvCxnSpPr>
            <p:cNvPr id="20494" name="AutoShape 14"/>
            <p:cNvCxnSpPr>
              <a:cxnSpLocks noChangeShapeType="1"/>
              <a:stCxn id="20490" idx="3"/>
              <a:endCxn id="20487" idx="3"/>
            </p:cNvCxnSpPr>
            <p:nvPr/>
          </p:nvCxnSpPr>
          <p:spPr bwMode="auto">
            <a:xfrm flipH="1" flipV="1">
              <a:off x="5462241" y="3306793"/>
              <a:ext cx="143350" cy="1350962"/>
            </a:xfrm>
            <a:prstGeom prst="curvedConnector3">
              <a:avLst>
                <a:gd name="adj1" fmla="val -159470"/>
              </a:avLst>
            </a:prstGeom>
            <a:noFill/>
            <a:ln w="9525">
              <a:solidFill>
                <a:schemeClr val="tx1"/>
              </a:solidFill>
              <a:round/>
              <a:tailEnd type="triangle" w="med" len="med"/>
            </a:ln>
          </p:spPr>
        </p:cxnSp>
        <p:cxnSp>
          <p:nvCxnSpPr>
            <p:cNvPr id="20495" name="AutoShape 15"/>
            <p:cNvCxnSpPr>
              <a:cxnSpLocks noChangeShapeType="1"/>
              <a:stCxn id="20486" idx="0"/>
              <a:endCxn id="20484" idx="3"/>
            </p:cNvCxnSpPr>
            <p:nvPr/>
          </p:nvCxnSpPr>
          <p:spPr bwMode="auto">
            <a:xfrm rot="16200000" flipV="1">
              <a:off x="6702828" y="931796"/>
              <a:ext cx="130145" cy="495464"/>
            </a:xfrm>
            <a:prstGeom prst="curvedConnector2">
              <a:avLst/>
            </a:prstGeom>
            <a:noFill/>
            <a:ln w="9525">
              <a:solidFill>
                <a:schemeClr val="tx1"/>
              </a:solidFill>
              <a:round/>
              <a:tailEnd type="triangle" w="med" len="med"/>
            </a:ln>
          </p:spPr>
        </p:cxnSp>
        <p:cxnSp>
          <p:nvCxnSpPr>
            <p:cNvPr id="20496" name="AutoShape 16"/>
            <p:cNvCxnSpPr>
              <a:cxnSpLocks noChangeShapeType="1"/>
              <a:stCxn id="20487" idx="1"/>
              <a:endCxn id="20489" idx="0"/>
            </p:cNvCxnSpPr>
            <p:nvPr/>
          </p:nvCxnSpPr>
          <p:spPr bwMode="auto">
            <a:xfrm rot="10800000" flipV="1">
              <a:off x="3054005" y="3306792"/>
              <a:ext cx="835371" cy="490507"/>
            </a:xfrm>
            <a:prstGeom prst="curvedConnector2">
              <a:avLst/>
            </a:prstGeom>
            <a:noFill/>
            <a:ln w="9525">
              <a:solidFill>
                <a:schemeClr val="tx1"/>
              </a:solidFill>
              <a:round/>
              <a:tailEnd type="triangle" w="med" len="med"/>
            </a:ln>
          </p:spPr>
        </p:cxnSp>
        <p:cxnSp>
          <p:nvCxnSpPr>
            <p:cNvPr id="20497" name="AutoShape 17"/>
            <p:cNvCxnSpPr>
              <a:cxnSpLocks noChangeShapeType="1"/>
              <a:stCxn id="20489" idx="2"/>
              <a:endCxn id="20490" idx="1"/>
            </p:cNvCxnSpPr>
            <p:nvPr/>
          </p:nvCxnSpPr>
          <p:spPr bwMode="auto">
            <a:xfrm rot="16200000" flipH="1">
              <a:off x="3206592" y="4044821"/>
              <a:ext cx="460345" cy="765521"/>
            </a:xfrm>
            <a:prstGeom prst="curvedConnector2">
              <a:avLst/>
            </a:prstGeom>
            <a:noFill/>
            <a:ln w="9525">
              <a:solidFill>
                <a:schemeClr val="tx1"/>
              </a:solidFill>
              <a:round/>
              <a:tailEnd type="triangle" w="med" len="med"/>
            </a:ln>
          </p:spPr>
        </p:cxnSp>
        <p:cxnSp>
          <p:nvCxnSpPr>
            <p:cNvPr id="20498" name="AutoShape 18"/>
            <p:cNvCxnSpPr>
              <a:cxnSpLocks noChangeShapeType="1"/>
              <a:stCxn id="20490" idx="3"/>
              <a:endCxn id="20488" idx="2"/>
            </p:cNvCxnSpPr>
            <p:nvPr/>
          </p:nvCxnSpPr>
          <p:spPr bwMode="auto">
            <a:xfrm flipV="1">
              <a:off x="5605591" y="4197410"/>
              <a:ext cx="1381466" cy="460345"/>
            </a:xfrm>
            <a:prstGeom prst="curvedConnector2">
              <a:avLst/>
            </a:prstGeom>
            <a:noFill/>
            <a:ln w="9525">
              <a:solidFill>
                <a:schemeClr val="tx1"/>
              </a:solidFill>
              <a:prstDash val="sysDot"/>
              <a:round/>
              <a:tailEnd type="triangle" w="med" len="med"/>
            </a:ln>
          </p:spPr>
        </p:cxnSp>
        <p:cxnSp>
          <p:nvCxnSpPr>
            <p:cNvPr id="20499" name="AutoShape 19"/>
            <p:cNvCxnSpPr>
              <a:cxnSpLocks noChangeShapeType="1"/>
              <a:stCxn id="20488" idx="0"/>
              <a:endCxn id="20487" idx="3"/>
            </p:cNvCxnSpPr>
            <p:nvPr/>
          </p:nvCxnSpPr>
          <p:spPr bwMode="auto">
            <a:xfrm rot="16200000" flipV="1">
              <a:off x="5979396" y="2789639"/>
              <a:ext cx="490507" cy="1524816"/>
            </a:xfrm>
            <a:prstGeom prst="curvedConnector2">
              <a:avLst/>
            </a:prstGeom>
            <a:noFill/>
            <a:ln w="9525">
              <a:solidFill>
                <a:schemeClr val="tx1"/>
              </a:solidFill>
              <a:prstDash val="sysDot"/>
              <a:round/>
              <a:tailEnd type="triangle" w="med" len="med"/>
            </a:ln>
          </p:spPr>
        </p:cxnSp>
        <p:cxnSp>
          <p:nvCxnSpPr>
            <p:cNvPr id="20500" name="AutoShape 20"/>
            <p:cNvCxnSpPr>
              <a:cxnSpLocks noChangeShapeType="1"/>
              <a:stCxn id="20490" idx="2"/>
            </p:cNvCxnSpPr>
            <p:nvPr/>
          </p:nvCxnSpPr>
          <p:spPr bwMode="auto">
            <a:xfrm rot="5400000">
              <a:off x="4463718" y="4912120"/>
              <a:ext cx="303151" cy="194531"/>
            </a:xfrm>
            <a:prstGeom prst="straightConnector1">
              <a:avLst/>
            </a:prstGeom>
            <a:noFill/>
            <a:ln w="9525">
              <a:solidFill>
                <a:schemeClr val="tx1"/>
              </a:solidFill>
              <a:round/>
              <a:tailEnd type="triangle" w="med" len="med"/>
            </a:ln>
          </p:spPr>
        </p:cxnSp>
        <p:cxnSp>
          <p:nvCxnSpPr>
            <p:cNvPr id="20501" name="AutoShape 21"/>
            <p:cNvCxnSpPr>
              <a:cxnSpLocks noChangeShapeType="1"/>
              <a:endCxn id="20491" idx="0"/>
            </p:cNvCxnSpPr>
            <p:nvPr/>
          </p:nvCxnSpPr>
          <p:spPr bwMode="auto">
            <a:xfrm>
              <a:off x="4516436" y="5741988"/>
              <a:ext cx="324919" cy="271462"/>
            </a:xfrm>
            <a:prstGeom prst="straightConnector1">
              <a:avLst/>
            </a:prstGeom>
            <a:noFill/>
            <a:ln w="9525">
              <a:solidFill>
                <a:schemeClr val="tx1"/>
              </a:solidFill>
              <a:round/>
              <a:tailEnd type="triangle" w="med" len="med"/>
            </a:ln>
          </p:spPr>
        </p:cxnSp>
        <p:cxnSp>
          <p:nvCxnSpPr>
            <p:cNvPr id="20502" name="AutoShape 22"/>
            <p:cNvCxnSpPr>
              <a:cxnSpLocks noChangeShapeType="1"/>
              <a:stCxn id="20485" idx="3"/>
              <a:endCxn id="20486" idx="2"/>
            </p:cNvCxnSpPr>
            <p:nvPr/>
          </p:nvCxnSpPr>
          <p:spPr bwMode="auto">
            <a:xfrm flipV="1">
              <a:off x="6957402" y="1644710"/>
              <a:ext cx="58230" cy="193645"/>
            </a:xfrm>
            <a:prstGeom prst="curvedConnector2">
              <a:avLst/>
            </a:prstGeom>
            <a:noFill/>
            <a:ln w="9525">
              <a:solidFill>
                <a:schemeClr val="tx1"/>
              </a:solidFill>
              <a:round/>
              <a:tailEnd type="triangle" w="med" len="med"/>
            </a:ln>
          </p:spPr>
        </p:cxnSp>
        <p:sp>
          <p:nvSpPr>
            <p:cNvPr id="20503" name="Text Box 23"/>
            <p:cNvSpPr txBox="1">
              <a:spLocks noChangeArrowheads="1"/>
            </p:cNvSpPr>
            <p:nvPr/>
          </p:nvSpPr>
          <p:spPr bwMode="auto">
            <a:xfrm>
              <a:off x="3054350" y="5246688"/>
              <a:ext cx="3632726" cy="400110"/>
            </a:xfrm>
            <a:prstGeom prst="rect">
              <a:avLst/>
            </a:prstGeom>
            <a:noFill/>
            <a:ln w="9525">
              <a:noFill/>
              <a:miter lim="800000"/>
            </a:ln>
          </p:spPr>
          <p:txBody>
            <a:bodyPr wrap="none">
              <a:spAutoFit/>
            </a:bodyPr>
            <a:lstStyle/>
            <a:p>
              <a:pPr eaLnBrk="0" hangingPunct="0"/>
              <a:r>
                <a:rPr lang="en-GB" altLang="ms-MY" sz="2000" b="1">
                  <a:latin typeface="Book Antiqua" pitchFamily="18" charset="0"/>
                </a:rPr>
                <a:t>Research question answered?</a:t>
              </a:r>
              <a:endParaRPr lang="en-GB" altLang="ms-MY" sz="2000" b="1">
                <a:latin typeface="Book Antiqua" pitchFamily="18" charset="0"/>
              </a:endParaRPr>
            </a:p>
          </p:txBody>
        </p:sp>
        <p:cxnSp>
          <p:nvCxnSpPr>
            <p:cNvPr id="20504" name="AutoShape 24"/>
            <p:cNvCxnSpPr>
              <a:cxnSpLocks noChangeShapeType="1"/>
              <a:stCxn id="20503" idx="3"/>
              <a:endCxn id="20487" idx="3"/>
            </p:cNvCxnSpPr>
            <p:nvPr/>
          </p:nvCxnSpPr>
          <p:spPr bwMode="auto">
            <a:xfrm flipH="1" flipV="1">
              <a:off x="5462241" y="3306793"/>
              <a:ext cx="1224835" cy="2139950"/>
            </a:xfrm>
            <a:prstGeom prst="curvedConnector3">
              <a:avLst>
                <a:gd name="adj1" fmla="val -18664"/>
              </a:avLst>
            </a:prstGeom>
            <a:noFill/>
            <a:ln w="9525">
              <a:solidFill>
                <a:schemeClr val="tx1"/>
              </a:solidFill>
              <a:round/>
              <a:tailEnd type="triangle" w="med" len="med"/>
            </a:ln>
          </p:spPr>
        </p:cxnSp>
        <p:sp>
          <p:nvSpPr>
            <p:cNvPr id="20505" name="Text Box 25"/>
            <p:cNvSpPr txBox="1">
              <a:spLocks noChangeArrowheads="1"/>
            </p:cNvSpPr>
            <p:nvPr/>
          </p:nvSpPr>
          <p:spPr bwMode="auto">
            <a:xfrm>
              <a:off x="3432175" y="2263775"/>
              <a:ext cx="2789545" cy="400110"/>
            </a:xfrm>
            <a:prstGeom prst="rect">
              <a:avLst/>
            </a:prstGeom>
            <a:noFill/>
            <a:ln w="9525">
              <a:noFill/>
              <a:miter lim="800000"/>
            </a:ln>
          </p:spPr>
          <p:txBody>
            <a:bodyPr wrap="none">
              <a:spAutoFit/>
            </a:bodyPr>
            <a:lstStyle/>
            <a:p>
              <a:pPr algn="ctr" eaLnBrk="0" hangingPunct="0"/>
              <a:r>
                <a:rPr lang="en-GB" altLang="ms-MY" sz="2000" b="1">
                  <a:latin typeface="Book Antiqua" pitchFamily="18" charset="0"/>
                </a:rPr>
                <a:t>Design data collection</a:t>
              </a:r>
              <a:endParaRPr lang="en-GB" altLang="ms-MY" sz="2000" b="1">
                <a:latin typeface="Book Antiqua" pitchFamily="18" charset="0"/>
              </a:endParaRPr>
            </a:p>
          </p:txBody>
        </p:sp>
        <p:cxnSp>
          <p:nvCxnSpPr>
            <p:cNvPr id="20506" name="AutoShape 26"/>
            <p:cNvCxnSpPr>
              <a:cxnSpLocks noChangeShapeType="1"/>
              <a:stCxn id="20505" idx="2"/>
              <a:endCxn id="20487" idx="0"/>
            </p:cNvCxnSpPr>
            <p:nvPr/>
          </p:nvCxnSpPr>
          <p:spPr bwMode="auto">
            <a:xfrm rot="5400000">
              <a:off x="4529952" y="2809741"/>
              <a:ext cx="442853" cy="151140"/>
            </a:xfrm>
            <a:prstGeom prst="straightConnector1">
              <a:avLst/>
            </a:prstGeom>
            <a:noFill/>
            <a:ln w="9525">
              <a:solidFill>
                <a:schemeClr val="tx1"/>
              </a:solidFill>
              <a:round/>
              <a:tailEnd type="triangle" w="med" len="med"/>
            </a:ln>
          </p:spPr>
        </p:cxnSp>
      </p:grpSp>
      <p:sp>
        <p:nvSpPr>
          <p:cNvPr id="20507" name="AutoShape 27"/>
          <p:cNvSpPr>
            <a:spLocks noChangeArrowheads="1"/>
          </p:cNvSpPr>
          <p:nvPr/>
        </p:nvSpPr>
        <p:spPr bwMode="auto">
          <a:xfrm>
            <a:off x="457200" y="2165350"/>
            <a:ext cx="2362200" cy="914400"/>
          </a:xfrm>
          <a:prstGeom prst="cloudCallout">
            <a:avLst>
              <a:gd name="adj1" fmla="val -43750"/>
              <a:gd name="adj2" fmla="val 70000"/>
            </a:avLst>
          </a:prstGeom>
          <a:noFill/>
          <a:ln w="19050">
            <a:solidFill>
              <a:srgbClr val="008000"/>
            </a:solidFill>
            <a:round/>
          </a:ln>
        </p:spPr>
        <p:txBody>
          <a:bodyPr/>
          <a:lstStyle/>
          <a:p>
            <a:pPr algn="ctr" eaLnBrk="0" hangingPunct="0"/>
            <a:r>
              <a:rPr lang="en-GB" altLang="ms-MY" sz="2400" dirty="0">
                <a:solidFill>
                  <a:srgbClr val="008000"/>
                </a:solidFill>
                <a:latin typeface="Times New Roman" panose="02020603050405020304" pitchFamily="18" charset="0"/>
              </a:rPr>
              <a:t>Inductive</a:t>
            </a:r>
            <a:endParaRPr lang="en-GB" altLang="ms-MY" sz="2400" dirty="0">
              <a:solidFill>
                <a:srgbClr val="008000"/>
              </a:solidFill>
              <a:latin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
          <p:cNvGrpSpPr/>
          <p:nvPr/>
        </p:nvGrpSpPr>
        <p:grpSpPr>
          <a:xfrm>
            <a:off x="381000" y="1219200"/>
            <a:ext cx="7920000" cy="5040000"/>
            <a:chOff x="990600" y="1295400"/>
            <a:chExt cx="7620000" cy="4648200"/>
          </a:xfrm>
        </p:grpSpPr>
        <p:sp>
          <p:nvSpPr>
            <p:cNvPr id="17" name="Oval 14"/>
            <p:cNvSpPr>
              <a:spLocks noChangeArrowheads="1"/>
            </p:cNvSpPr>
            <p:nvPr/>
          </p:nvSpPr>
          <p:spPr bwMode="auto">
            <a:xfrm>
              <a:off x="990600" y="1295400"/>
              <a:ext cx="7620000" cy="4648200"/>
            </a:xfrm>
            <a:prstGeom prst="ellipse">
              <a:avLst/>
            </a:prstGeom>
            <a:solidFill>
              <a:srgbClr val="6666FF"/>
            </a:solidFill>
            <a:ln w="9525">
              <a:solidFill>
                <a:schemeClr val="bg1"/>
              </a:solidFill>
              <a:round/>
            </a:ln>
            <a:scene3d>
              <a:camera prst="orthographicFront"/>
              <a:lightRig rig="threePt" dir="t"/>
            </a:scene3d>
            <a:sp3d>
              <a:bevelT w="165100" prst="coolSlant"/>
            </a:sp3d>
          </p:spPr>
          <p:txBody>
            <a:bodyPr wrap="none" anchor="ctr"/>
            <a:lstStyle/>
            <a:p>
              <a:endParaRPr lang="en-IN"/>
            </a:p>
          </p:txBody>
        </p:sp>
        <p:sp>
          <p:nvSpPr>
            <p:cNvPr id="18" name="Oval 19"/>
            <p:cNvSpPr>
              <a:spLocks noChangeArrowheads="1"/>
            </p:cNvSpPr>
            <p:nvPr/>
          </p:nvSpPr>
          <p:spPr bwMode="auto">
            <a:xfrm>
              <a:off x="1219200" y="1600200"/>
              <a:ext cx="6499412" cy="3974548"/>
            </a:xfrm>
            <a:prstGeom prst="ellipse">
              <a:avLst/>
            </a:prstGeom>
            <a:solidFill>
              <a:srgbClr val="FFC00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20" name="Oval 10"/>
            <p:cNvSpPr>
              <a:spLocks noChangeArrowheads="1"/>
            </p:cNvSpPr>
            <p:nvPr/>
          </p:nvSpPr>
          <p:spPr bwMode="auto">
            <a:xfrm>
              <a:off x="1371600" y="1981200"/>
              <a:ext cx="5378824" cy="3166165"/>
            </a:xfrm>
            <a:prstGeom prst="ellipse">
              <a:avLst/>
            </a:prstGeom>
            <a:solidFill>
              <a:srgbClr val="00B0F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21" name="Oval 8"/>
            <p:cNvSpPr>
              <a:spLocks noChangeArrowheads="1"/>
            </p:cNvSpPr>
            <p:nvPr/>
          </p:nvSpPr>
          <p:spPr bwMode="auto">
            <a:xfrm>
              <a:off x="1600200" y="2362200"/>
              <a:ext cx="4076471" cy="2386956"/>
            </a:xfrm>
            <a:prstGeom prst="ellipse">
              <a:avLst/>
            </a:prstGeom>
            <a:solidFill>
              <a:srgbClr val="92D05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22" name="Oval 7"/>
            <p:cNvSpPr>
              <a:spLocks noChangeAspect="1" noChangeArrowheads="1"/>
            </p:cNvSpPr>
            <p:nvPr/>
          </p:nvSpPr>
          <p:spPr bwMode="auto">
            <a:xfrm>
              <a:off x="1828800" y="2667000"/>
              <a:ext cx="3025588" cy="1754302"/>
            </a:xfrm>
            <a:prstGeom prst="ellipse">
              <a:avLst/>
            </a:prstGeom>
            <a:solidFill>
              <a:srgbClr val="FFFF0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grpSp>
      <p:sp>
        <p:nvSpPr>
          <p:cNvPr id="8" name="TextBox 7"/>
          <p:cNvSpPr txBox="1"/>
          <p:nvPr/>
        </p:nvSpPr>
        <p:spPr>
          <a:xfrm>
            <a:off x="7239000" y="3228945"/>
            <a:ext cx="1981200" cy="400110"/>
          </a:xfrm>
          <a:prstGeom prst="rect">
            <a:avLst/>
          </a:prstGeom>
          <a:noFill/>
        </p:spPr>
        <p:txBody>
          <a:bodyPr wrap="square" rtlCol="0">
            <a:spAutoFit/>
          </a:bodyPr>
          <a:lstStyle/>
          <a:p>
            <a:r>
              <a:rPr lang="en-IN" sz="2000" b="1" dirty="0" smtClean="0"/>
              <a:t>Epistemology </a:t>
            </a:r>
            <a:endParaRPr lang="en-IN" sz="2000" b="1" dirty="0"/>
          </a:p>
        </p:txBody>
      </p:sp>
      <p:sp>
        <p:nvSpPr>
          <p:cNvPr id="9" name="TextBox 8"/>
          <p:cNvSpPr txBox="1"/>
          <p:nvPr/>
        </p:nvSpPr>
        <p:spPr>
          <a:xfrm>
            <a:off x="7086600" y="762000"/>
            <a:ext cx="2057400" cy="1323439"/>
          </a:xfrm>
          <a:prstGeom prst="rect">
            <a:avLst/>
          </a:prstGeom>
          <a:noFill/>
        </p:spPr>
        <p:txBody>
          <a:bodyPr wrap="square" rtlCol="0">
            <a:spAutoFit/>
          </a:bodyPr>
          <a:lstStyle/>
          <a:p>
            <a:r>
              <a:rPr lang="en-IN" sz="2000" b="1" dirty="0" smtClean="0"/>
              <a:t>Positivism </a:t>
            </a:r>
            <a:endParaRPr lang="en-IN" sz="2000" b="1" dirty="0" smtClean="0"/>
          </a:p>
          <a:p>
            <a:r>
              <a:rPr lang="en-IN" sz="2000" b="1" dirty="0" smtClean="0"/>
              <a:t>Realism</a:t>
            </a:r>
            <a:endParaRPr lang="en-IN" sz="2000" b="1" dirty="0" smtClean="0"/>
          </a:p>
          <a:p>
            <a:r>
              <a:rPr lang="en-IN" sz="2000" b="1" dirty="0" err="1" smtClean="0"/>
              <a:t>Interpretivism</a:t>
            </a:r>
            <a:endParaRPr lang="en-IN" sz="2000" b="1" dirty="0" smtClean="0"/>
          </a:p>
          <a:p>
            <a:r>
              <a:rPr lang="en-IN" sz="2000" b="1" dirty="0" smtClean="0"/>
              <a:t>....</a:t>
            </a:r>
            <a:endParaRPr lang="en-IN" sz="2000" b="1" dirty="0"/>
          </a:p>
        </p:txBody>
      </p:sp>
      <p:sp>
        <p:nvSpPr>
          <p:cNvPr id="10" name="TextBox 9"/>
          <p:cNvSpPr txBox="1"/>
          <p:nvPr/>
        </p:nvSpPr>
        <p:spPr>
          <a:xfrm>
            <a:off x="2895600" y="0"/>
            <a:ext cx="3657600" cy="707886"/>
          </a:xfrm>
          <a:prstGeom prst="rect">
            <a:avLst/>
          </a:prstGeom>
          <a:noFill/>
        </p:spPr>
        <p:txBody>
          <a:bodyPr wrap="square" rtlCol="0">
            <a:spAutoFit/>
          </a:bodyPr>
          <a:lstStyle/>
          <a:p>
            <a:r>
              <a:rPr lang="en-IN" sz="4000" dirty="0" smtClean="0">
                <a:solidFill>
                  <a:srgbClr val="006600"/>
                </a:solidFill>
              </a:rPr>
              <a:t>Research Onion</a:t>
            </a:r>
            <a:endParaRPr lang="en-IN" sz="4000" dirty="0">
              <a:solidFill>
                <a:srgbClr val="006600"/>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B8D32025-A3FA-4314-BFB9-E4B77CAB6DC4}" type="slidenum">
              <a:rPr lang="en-US" smtClean="0"/>
            </a:fld>
            <a:endParaRPr lang="en-US" dirty="0"/>
          </a:p>
        </p:txBody>
      </p:sp>
      <p:sp>
        <p:nvSpPr>
          <p:cNvPr id="4" name="Oval 14"/>
          <p:cNvSpPr>
            <a:spLocks noChangeArrowheads="1"/>
          </p:cNvSpPr>
          <p:nvPr/>
        </p:nvSpPr>
        <p:spPr bwMode="auto">
          <a:xfrm>
            <a:off x="381000" y="1219200"/>
            <a:ext cx="7620000" cy="5181600"/>
          </a:xfrm>
          <a:prstGeom prst="ellipse">
            <a:avLst/>
          </a:prstGeom>
          <a:solidFill>
            <a:srgbClr val="6666FF"/>
          </a:solidFill>
          <a:ln w="9525">
            <a:solidFill>
              <a:schemeClr val="bg1"/>
            </a:solidFill>
            <a:round/>
          </a:ln>
          <a:scene3d>
            <a:camera prst="orthographicFront"/>
            <a:lightRig rig="threePt" dir="t"/>
          </a:scene3d>
          <a:sp3d>
            <a:bevelT w="165100" prst="coolSlant"/>
          </a:sp3d>
        </p:spPr>
        <p:txBody>
          <a:bodyPr wrap="none" anchor="ctr"/>
          <a:lstStyle/>
          <a:p>
            <a:endParaRPr lang="en-IN"/>
          </a:p>
        </p:txBody>
      </p:sp>
      <p:sp>
        <p:nvSpPr>
          <p:cNvPr id="5" name="Oval 19"/>
          <p:cNvSpPr>
            <a:spLocks noChangeArrowheads="1"/>
          </p:cNvSpPr>
          <p:nvPr/>
        </p:nvSpPr>
        <p:spPr bwMode="auto">
          <a:xfrm>
            <a:off x="609600" y="1558977"/>
            <a:ext cx="6499412" cy="4430644"/>
          </a:xfrm>
          <a:prstGeom prst="ellipse">
            <a:avLst/>
          </a:prstGeom>
          <a:solidFill>
            <a:srgbClr val="FFC00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6" name="Oval 10"/>
          <p:cNvSpPr>
            <a:spLocks noChangeArrowheads="1"/>
          </p:cNvSpPr>
          <p:nvPr/>
        </p:nvSpPr>
        <p:spPr bwMode="auto">
          <a:xfrm>
            <a:off x="762000" y="1983698"/>
            <a:ext cx="5378824" cy="3529495"/>
          </a:xfrm>
          <a:prstGeom prst="ellipse">
            <a:avLst/>
          </a:prstGeom>
          <a:solidFill>
            <a:srgbClr val="00B0F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7" name="Oval 8"/>
          <p:cNvSpPr>
            <a:spLocks noChangeArrowheads="1"/>
          </p:cNvSpPr>
          <p:nvPr/>
        </p:nvSpPr>
        <p:spPr bwMode="auto">
          <a:xfrm>
            <a:off x="990600" y="2408420"/>
            <a:ext cx="4076471" cy="2660869"/>
          </a:xfrm>
          <a:prstGeom prst="ellipse">
            <a:avLst/>
          </a:prstGeom>
          <a:solidFill>
            <a:srgbClr val="92D05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8" name="Oval 7"/>
          <p:cNvSpPr>
            <a:spLocks noChangeAspect="1" noChangeArrowheads="1"/>
          </p:cNvSpPr>
          <p:nvPr/>
        </p:nvSpPr>
        <p:spPr bwMode="auto">
          <a:xfrm>
            <a:off x="1219200" y="2748197"/>
            <a:ext cx="3025588" cy="1955615"/>
          </a:xfrm>
          <a:prstGeom prst="ellipse">
            <a:avLst/>
          </a:prstGeom>
          <a:solidFill>
            <a:srgbClr val="FFFF0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9" name="TextBox 8"/>
          <p:cNvSpPr txBox="1"/>
          <p:nvPr/>
        </p:nvSpPr>
        <p:spPr>
          <a:xfrm>
            <a:off x="2895600" y="0"/>
            <a:ext cx="3657600" cy="707886"/>
          </a:xfrm>
          <a:prstGeom prst="rect">
            <a:avLst/>
          </a:prstGeom>
          <a:noFill/>
        </p:spPr>
        <p:txBody>
          <a:bodyPr wrap="square" rtlCol="0">
            <a:spAutoFit/>
          </a:bodyPr>
          <a:lstStyle/>
          <a:p>
            <a:r>
              <a:rPr lang="en-IN" sz="4000" dirty="0" smtClean="0">
                <a:solidFill>
                  <a:srgbClr val="006600"/>
                </a:solidFill>
              </a:rPr>
              <a:t>Research Onion</a:t>
            </a:r>
            <a:endParaRPr lang="en-IN" sz="4000" dirty="0">
              <a:solidFill>
                <a:srgbClr val="006600"/>
              </a:solidFill>
            </a:endParaRPr>
          </a:p>
        </p:txBody>
      </p:sp>
      <p:sp>
        <p:nvSpPr>
          <p:cNvPr id="10" name="TextBox 9"/>
          <p:cNvSpPr txBox="1"/>
          <p:nvPr/>
        </p:nvSpPr>
        <p:spPr>
          <a:xfrm>
            <a:off x="7086600" y="762000"/>
            <a:ext cx="2057400" cy="1015663"/>
          </a:xfrm>
          <a:prstGeom prst="rect">
            <a:avLst/>
          </a:prstGeom>
          <a:noFill/>
        </p:spPr>
        <p:txBody>
          <a:bodyPr wrap="square" rtlCol="0">
            <a:spAutoFit/>
          </a:bodyPr>
          <a:lstStyle/>
          <a:p>
            <a:r>
              <a:rPr lang="en-IN" sz="2000" b="1" dirty="0" smtClean="0"/>
              <a:t>Inductive</a:t>
            </a:r>
            <a:endParaRPr lang="en-IN" sz="2000" b="1" dirty="0" smtClean="0"/>
          </a:p>
          <a:p>
            <a:r>
              <a:rPr lang="en-IN" sz="2000" b="1" dirty="0" smtClean="0"/>
              <a:t>Deductive</a:t>
            </a:r>
            <a:endParaRPr lang="en-IN" sz="2000" b="1" dirty="0" smtClean="0"/>
          </a:p>
          <a:p>
            <a:r>
              <a:rPr lang="en-IN" sz="2000" b="1" dirty="0" smtClean="0"/>
              <a:t>....</a:t>
            </a:r>
            <a:endParaRPr lang="en-IN" sz="2000" b="1" dirty="0"/>
          </a:p>
        </p:txBody>
      </p:sp>
      <p:sp>
        <p:nvSpPr>
          <p:cNvPr id="11" name="TextBox 10"/>
          <p:cNvSpPr txBox="1"/>
          <p:nvPr/>
        </p:nvSpPr>
        <p:spPr>
          <a:xfrm>
            <a:off x="6172200" y="3505200"/>
            <a:ext cx="2286000" cy="400110"/>
          </a:xfrm>
          <a:prstGeom prst="rect">
            <a:avLst/>
          </a:prstGeom>
          <a:noFill/>
        </p:spPr>
        <p:txBody>
          <a:bodyPr wrap="square" rtlCol="0">
            <a:spAutoFit/>
          </a:bodyPr>
          <a:lstStyle/>
          <a:p>
            <a:r>
              <a:rPr lang="en-IN" sz="2000" b="1" dirty="0" smtClean="0"/>
              <a:t>Methodology</a:t>
            </a:r>
            <a:endParaRPr lang="en-IN"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4"/>
                                        </p:tgtEl>
                                        <p:attrNameLst>
                                          <p:attrName>ppt_x</p:attrName>
                                        </p:attrNameLst>
                                      </p:cBhvr>
                                      <p:tavLst>
                                        <p:tav tm="0">
                                          <p:val>
                                            <p:strVal val="ppt_x"/>
                                          </p:val>
                                        </p:tav>
                                        <p:tav tm="100000">
                                          <p:val>
                                            <p:strVal val="ppt_x"/>
                                          </p:val>
                                        </p:tav>
                                      </p:tavLst>
                                    </p:anim>
                                    <p:anim calcmode="lin" valueType="num">
                                      <p:cBhvr additive="base">
                                        <p:cTn id="7" dur="500"/>
                                        <p:tgtEl>
                                          <p:spTgt spid="4"/>
                                        </p:tgtEl>
                                        <p:attrNameLst>
                                          <p:attrName>ppt_y</p:attrName>
                                        </p:attrNameLst>
                                      </p:cBhvr>
                                      <p:tavLst>
                                        <p:tav tm="0">
                                          <p:val>
                                            <p:strVal val="ppt_y"/>
                                          </p:val>
                                        </p:tav>
                                        <p:tav tm="100000">
                                          <p:val>
                                            <p:strVal val="1+ppt_h/2"/>
                                          </p:val>
                                        </p:tav>
                                      </p:tavLst>
                                    </p:anim>
                                    <p:set>
                                      <p:cBhvr>
                                        <p:cTn id="8" dur="1" fill="hold">
                                          <p:stCondLst>
                                            <p:cond delay="499"/>
                                          </p:stCondLst>
                                        </p:cTn>
                                        <p:tgtEl>
                                          <p:spTgt spid="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1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B8D32025-A3FA-4314-BFB9-E4B77CAB6DC4}" type="slidenum">
              <a:rPr lang="en-US" smtClean="0"/>
            </a:fld>
            <a:endParaRPr lang="en-US" dirty="0"/>
          </a:p>
        </p:txBody>
      </p:sp>
      <p:sp>
        <p:nvSpPr>
          <p:cNvPr id="5" name="Oval 19"/>
          <p:cNvSpPr>
            <a:spLocks noChangeArrowheads="1"/>
          </p:cNvSpPr>
          <p:nvPr/>
        </p:nvSpPr>
        <p:spPr bwMode="auto">
          <a:xfrm>
            <a:off x="609600" y="1558977"/>
            <a:ext cx="6499412" cy="4430644"/>
          </a:xfrm>
          <a:prstGeom prst="ellipse">
            <a:avLst/>
          </a:prstGeom>
          <a:solidFill>
            <a:srgbClr val="FFC00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6" name="Oval 10"/>
          <p:cNvSpPr>
            <a:spLocks noChangeArrowheads="1"/>
          </p:cNvSpPr>
          <p:nvPr/>
        </p:nvSpPr>
        <p:spPr bwMode="auto">
          <a:xfrm>
            <a:off x="762000" y="1983698"/>
            <a:ext cx="5378824" cy="3529495"/>
          </a:xfrm>
          <a:prstGeom prst="ellipse">
            <a:avLst/>
          </a:prstGeom>
          <a:solidFill>
            <a:srgbClr val="00B0F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7" name="Oval 8"/>
          <p:cNvSpPr>
            <a:spLocks noChangeArrowheads="1"/>
          </p:cNvSpPr>
          <p:nvPr/>
        </p:nvSpPr>
        <p:spPr bwMode="auto">
          <a:xfrm>
            <a:off x="990600" y="2408420"/>
            <a:ext cx="4076471" cy="2660869"/>
          </a:xfrm>
          <a:prstGeom prst="ellipse">
            <a:avLst/>
          </a:prstGeom>
          <a:solidFill>
            <a:srgbClr val="92D05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8" name="Oval 7"/>
          <p:cNvSpPr>
            <a:spLocks noChangeAspect="1" noChangeArrowheads="1"/>
          </p:cNvSpPr>
          <p:nvPr/>
        </p:nvSpPr>
        <p:spPr bwMode="auto">
          <a:xfrm>
            <a:off x="1219200" y="2748197"/>
            <a:ext cx="3025588" cy="1955615"/>
          </a:xfrm>
          <a:prstGeom prst="ellipse">
            <a:avLst/>
          </a:prstGeom>
          <a:solidFill>
            <a:srgbClr val="FFFF0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9" name="TextBox 8"/>
          <p:cNvSpPr txBox="1"/>
          <p:nvPr/>
        </p:nvSpPr>
        <p:spPr>
          <a:xfrm>
            <a:off x="2895600" y="0"/>
            <a:ext cx="3657600" cy="707886"/>
          </a:xfrm>
          <a:prstGeom prst="rect">
            <a:avLst/>
          </a:prstGeom>
          <a:noFill/>
        </p:spPr>
        <p:txBody>
          <a:bodyPr wrap="square" rtlCol="0">
            <a:spAutoFit/>
          </a:bodyPr>
          <a:lstStyle/>
          <a:p>
            <a:r>
              <a:rPr lang="en-IN" sz="4000" dirty="0" smtClean="0">
                <a:solidFill>
                  <a:srgbClr val="006600"/>
                </a:solidFill>
              </a:rPr>
              <a:t>Research Onion</a:t>
            </a:r>
            <a:endParaRPr lang="en-IN" sz="4000" dirty="0">
              <a:solidFill>
                <a:srgbClr val="006600"/>
              </a:solidFill>
            </a:endParaRPr>
          </a:p>
        </p:txBody>
      </p:sp>
      <p:sp>
        <p:nvSpPr>
          <p:cNvPr id="10" name="TextBox 9"/>
          <p:cNvSpPr txBox="1"/>
          <p:nvPr/>
        </p:nvSpPr>
        <p:spPr>
          <a:xfrm>
            <a:off x="7086600" y="762000"/>
            <a:ext cx="2057400" cy="1631216"/>
          </a:xfrm>
          <a:prstGeom prst="rect">
            <a:avLst/>
          </a:prstGeom>
          <a:noFill/>
        </p:spPr>
        <p:txBody>
          <a:bodyPr wrap="square" rtlCol="0">
            <a:spAutoFit/>
          </a:bodyPr>
          <a:lstStyle/>
          <a:p>
            <a:r>
              <a:rPr lang="en-IN" sz="2000" b="1" dirty="0" smtClean="0"/>
              <a:t>Theoretical</a:t>
            </a:r>
            <a:endParaRPr lang="en-IN" sz="2000" b="1" dirty="0" smtClean="0"/>
          </a:p>
          <a:p>
            <a:r>
              <a:rPr lang="en-IN" sz="2000" b="1" dirty="0" smtClean="0"/>
              <a:t>Experimental</a:t>
            </a:r>
            <a:endParaRPr lang="en-IN" sz="2000" b="1" dirty="0" smtClean="0"/>
          </a:p>
          <a:p>
            <a:r>
              <a:rPr lang="en-IN" sz="2000" b="1" dirty="0" smtClean="0"/>
              <a:t>Case study</a:t>
            </a:r>
            <a:endParaRPr lang="en-IN" sz="2000" b="1" dirty="0" smtClean="0"/>
          </a:p>
          <a:p>
            <a:r>
              <a:rPr lang="en-IN" sz="2000" b="1" dirty="0" smtClean="0"/>
              <a:t>Survey</a:t>
            </a:r>
            <a:endParaRPr lang="en-IN" sz="2000" b="1" dirty="0" smtClean="0"/>
          </a:p>
          <a:p>
            <a:r>
              <a:rPr lang="en-IN" sz="2000" b="1" dirty="0" smtClean="0"/>
              <a:t>Action Research</a:t>
            </a:r>
            <a:endParaRPr lang="en-IN" sz="2000" b="1" dirty="0"/>
          </a:p>
        </p:txBody>
      </p:sp>
      <p:sp>
        <p:nvSpPr>
          <p:cNvPr id="11" name="TextBox 10"/>
          <p:cNvSpPr txBox="1"/>
          <p:nvPr/>
        </p:nvSpPr>
        <p:spPr>
          <a:xfrm>
            <a:off x="5105400" y="3505200"/>
            <a:ext cx="1752600" cy="400110"/>
          </a:xfrm>
          <a:prstGeom prst="rect">
            <a:avLst/>
          </a:prstGeom>
          <a:noFill/>
        </p:spPr>
        <p:txBody>
          <a:bodyPr wrap="square" rtlCol="0">
            <a:spAutoFit/>
          </a:bodyPr>
          <a:lstStyle/>
          <a:p>
            <a:r>
              <a:rPr lang="en-IN" sz="2000" b="1" dirty="0" smtClean="0"/>
              <a:t>Methods</a:t>
            </a:r>
            <a:endParaRPr lang="en-IN"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B8D32025-A3FA-4314-BFB9-E4B77CAB6DC4}" type="slidenum">
              <a:rPr lang="en-US" smtClean="0"/>
            </a:fld>
            <a:endParaRPr lang="en-US" dirty="0"/>
          </a:p>
        </p:txBody>
      </p:sp>
      <p:sp>
        <p:nvSpPr>
          <p:cNvPr id="6" name="Oval 10"/>
          <p:cNvSpPr>
            <a:spLocks noChangeArrowheads="1"/>
          </p:cNvSpPr>
          <p:nvPr/>
        </p:nvSpPr>
        <p:spPr bwMode="auto">
          <a:xfrm>
            <a:off x="762000" y="1983698"/>
            <a:ext cx="5378824" cy="3529495"/>
          </a:xfrm>
          <a:prstGeom prst="ellipse">
            <a:avLst/>
          </a:prstGeom>
          <a:solidFill>
            <a:srgbClr val="00B0F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7" name="Oval 8"/>
          <p:cNvSpPr>
            <a:spLocks noChangeArrowheads="1"/>
          </p:cNvSpPr>
          <p:nvPr/>
        </p:nvSpPr>
        <p:spPr bwMode="auto">
          <a:xfrm>
            <a:off x="990600" y="2408420"/>
            <a:ext cx="4076471" cy="2660869"/>
          </a:xfrm>
          <a:prstGeom prst="ellipse">
            <a:avLst/>
          </a:prstGeom>
          <a:solidFill>
            <a:srgbClr val="92D05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8" name="Oval 7"/>
          <p:cNvSpPr>
            <a:spLocks noChangeAspect="1" noChangeArrowheads="1"/>
          </p:cNvSpPr>
          <p:nvPr/>
        </p:nvSpPr>
        <p:spPr bwMode="auto">
          <a:xfrm>
            <a:off x="1219200" y="2748197"/>
            <a:ext cx="3025588" cy="1955615"/>
          </a:xfrm>
          <a:prstGeom prst="ellipse">
            <a:avLst/>
          </a:prstGeom>
          <a:solidFill>
            <a:srgbClr val="FFFF0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9" name="TextBox 8"/>
          <p:cNvSpPr txBox="1"/>
          <p:nvPr/>
        </p:nvSpPr>
        <p:spPr>
          <a:xfrm>
            <a:off x="2895600" y="0"/>
            <a:ext cx="3657600" cy="707886"/>
          </a:xfrm>
          <a:prstGeom prst="rect">
            <a:avLst/>
          </a:prstGeom>
          <a:noFill/>
        </p:spPr>
        <p:txBody>
          <a:bodyPr wrap="square" rtlCol="0">
            <a:spAutoFit/>
          </a:bodyPr>
          <a:lstStyle/>
          <a:p>
            <a:r>
              <a:rPr lang="en-IN" sz="4000" dirty="0" smtClean="0">
                <a:solidFill>
                  <a:srgbClr val="006600"/>
                </a:solidFill>
              </a:rPr>
              <a:t>Research Onion</a:t>
            </a:r>
            <a:endParaRPr lang="en-IN" sz="4000" dirty="0">
              <a:solidFill>
                <a:srgbClr val="006600"/>
              </a:solidFill>
            </a:endParaRPr>
          </a:p>
        </p:txBody>
      </p:sp>
      <p:sp>
        <p:nvSpPr>
          <p:cNvPr id="10" name="TextBox 9"/>
          <p:cNvSpPr txBox="1"/>
          <p:nvPr/>
        </p:nvSpPr>
        <p:spPr>
          <a:xfrm>
            <a:off x="4267200" y="3505200"/>
            <a:ext cx="1447800" cy="400110"/>
          </a:xfrm>
          <a:prstGeom prst="rect">
            <a:avLst/>
          </a:prstGeom>
          <a:noFill/>
        </p:spPr>
        <p:txBody>
          <a:bodyPr wrap="square" rtlCol="0">
            <a:spAutoFit/>
          </a:bodyPr>
          <a:lstStyle/>
          <a:p>
            <a:r>
              <a:rPr lang="en-IN" sz="2000" b="1" dirty="0" smtClean="0"/>
              <a:t>Timing</a:t>
            </a:r>
            <a:endParaRPr lang="en-IN" sz="2000" b="1" dirty="0"/>
          </a:p>
        </p:txBody>
      </p:sp>
      <p:sp>
        <p:nvSpPr>
          <p:cNvPr id="11" name="TextBox 10"/>
          <p:cNvSpPr txBox="1"/>
          <p:nvPr/>
        </p:nvSpPr>
        <p:spPr>
          <a:xfrm>
            <a:off x="7086600" y="762000"/>
            <a:ext cx="2057400" cy="1015663"/>
          </a:xfrm>
          <a:prstGeom prst="rect">
            <a:avLst/>
          </a:prstGeom>
          <a:noFill/>
        </p:spPr>
        <p:txBody>
          <a:bodyPr wrap="square" rtlCol="0">
            <a:spAutoFit/>
          </a:bodyPr>
          <a:lstStyle/>
          <a:p>
            <a:r>
              <a:rPr lang="en-IN" sz="2000" b="1" dirty="0" smtClean="0"/>
              <a:t>Real time </a:t>
            </a:r>
            <a:endParaRPr lang="en-IN" sz="2000" b="1" dirty="0" smtClean="0"/>
          </a:p>
          <a:p>
            <a:r>
              <a:rPr lang="en-IN" sz="2000" b="1" dirty="0" smtClean="0"/>
              <a:t>Virtual time</a:t>
            </a:r>
            <a:endParaRPr lang="en-IN" sz="2000" b="1" dirty="0" smtClean="0"/>
          </a:p>
          <a:p>
            <a:r>
              <a:rPr lang="en-IN" sz="2000" b="1" dirty="0" smtClean="0"/>
              <a:t>.....</a:t>
            </a:r>
            <a:endParaRPr lang="en-IN"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1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B8D32025-A3FA-4314-BFB9-E4B77CAB6DC4}" type="slidenum">
              <a:rPr lang="en-US" smtClean="0"/>
            </a:fld>
            <a:endParaRPr lang="en-US" dirty="0"/>
          </a:p>
        </p:txBody>
      </p:sp>
      <p:sp>
        <p:nvSpPr>
          <p:cNvPr id="8" name="Oval 7"/>
          <p:cNvSpPr>
            <a:spLocks noChangeAspect="1" noChangeArrowheads="1"/>
          </p:cNvSpPr>
          <p:nvPr/>
        </p:nvSpPr>
        <p:spPr bwMode="auto">
          <a:xfrm>
            <a:off x="1219200" y="2748197"/>
            <a:ext cx="3025588" cy="1955615"/>
          </a:xfrm>
          <a:prstGeom prst="ellipse">
            <a:avLst/>
          </a:prstGeom>
          <a:solidFill>
            <a:srgbClr val="FFFF00"/>
          </a:solidFill>
          <a:ln w="9525">
            <a:solidFill>
              <a:schemeClr val="bg1"/>
            </a:solidFill>
            <a:round/>
          </a:ln>
          <a:scene3d>
            <a:camera prst="orthographicFront"/>
            <a:lightRig rig="threePt" dir="t"/>
          </a:scene3d>
          <a:sp3d>
            <a:bevelT w="165100" prst="coolSlant"/>
          </a:sp3d>
        </p:spPr>
        <p:txBody>
          <a:bodyPr wrap="none" anchor="ctr"/>
          <a:lstStyle/>
          <a:p>
            <a:endParaRPr lang="en-IN">
              <a:solidFill>
                <a:srgbClr val="0000CC"/>
              </a:solidFill>
            </a:endParaRPr>
          </a:p>
        </p:txBody>
      </p:sp>
      <p:sp>
        <p:nvSpPr>
          <p:cNvPr id="9" name="TextBox 8"/>
          <p:cNvSpPr txBox="1"/>
          <p:nvPr/>
        </p:nvSpPr>
        <p:spPr>
          <a:xfrm>
            <a:off x="2895600" y="0"/>
            <a:ext cx="3657600" cy="707886"/>
          </a:xfrm>
          <a:prstGeom prst="rect">
            <a:avLst/>
          </a:prstGeom>
          <a:noFill/>
        </p:spPr>
        <p:txBody>
          <a:bodyPr wrap="square" rtlCol="0">
            <a:spAutoFit/>
          </a:bodyPr>
          <a:lstStyle/>
          <a:p>
            <a:r>
              <a:rPr lang="en-IN" sz="4000" dirty="0" smtClean="0">
                <a:solidFill>
                  <a:srgbClr val="006600"/>
                </a:solidFill>
              </a:rPr>
              <a:t>Research Onion</a:t>
            </a:r>
            <a:endParaRPr lang="en-IN" sz="4000" dirty="0">
              <a:solidFill>
                <a:srgbClr val="006600"/>
              </a:solidFill>
            </a:endParaRPr>
          </a:p>
        </p:txBody>
      </p:sp>
      <p:sp>
        <p:nvSpPr>
          <p:cNvPr id="10" name="TextBox 9"/>
          <p:cNvSpPr txBox="1"/>
          <p:nvPr/>
        </p:nvSpPr>
        <p:spPr>
          <a:xfrm>
            <a:off x="1752600" y="3048000"/>
            <a:ext cx="2286000" cy="1323439"/>
          </a:xfrm>
          <a:prstGeom prst="rect">
            <a:avLst/>
          </a:prstGeom>
          <a:noFill/>
        </p:spPr>
        <p:txBody>
          <a:bodyPr wrap="square" rtlCol="0">
            <a:spAutoFit/>
          </a:bodyPr>
          <a:lstStyle/>
          <a:p>
            <a:r>
              <a:rPr lang="en-IN" sz="2000" b="1" dirty="0" smtClean="0"/>
              <a:t>Data Collection , Sampling ,  Statistical analysis</a:t>
            </a:r>
            <a:endParaRPr lang="en-IN" sz="2000" b="1" dirty="0" smtClean="0"/>
          </a:p>
          <a:p>
            <a:r>
              <a:rPr lang="en-IN" sz="2000" b="1" dirty="0" smtClean="0"/>
              <a:t>Programming</a:t>
            </a:r>
            <a:endParaRPr lang="en-IN" sz="2000" b="1"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B8D32025-A3FA-4314-BFB9-E4B77CAB6DC4}" type="slidenum">
              <a:rPr lang="en-US" smtClean="0"/>
            </a:fld>
            <a:endParaRPr lang="en-US" dirty="0"/>
          </a:p>
        </p:txBody>
      </p:sp>
      <p:pic>
        <p:nvPicPr>
          <p:cNvPr id="3" name="Picture 2"/>
          <p:cNvPicPr>
            <a:picLocks noChangeAspect="1" noChangeArrowheads="1"/>
          </p:cNvPicPr>
          <p:nvPr/>
        </p:nvPicPr>
        <p:blipFill>
          <a:blip r:embed="rId1">
            <a:clrChange>
              <a:clrFrom>
                <a:srgbClr val="EFF3F7"/>
              </a:clrFrom>
              <a:clrTo>
                <a:srgbClr val="EFF3F7">
                  <a:alpha val="0"/>
                </a:srgbClr>
              </a:clrTo>
            </a:clrChange>
          </a:blip>
          <a:srcRect/>
          <a:stretch>
            <a:fillRect/>
          </a:stretch>
        </p:blipFill>
        <p:spPr bwMode="auto">
          <a:xfrm>
            <a:off x="228600" y="1676400"/>
            <a:ext cx="6084000" cy="3781094"/>
          </a:xfrm>
          <a:prstGeom prst="rect">
            <a:avLst/>
          </a:prstGeom>
          <a:noFill/>
          <a:ln w="9525">
            <a:noFill/>
            <a:miter lim="800000"/>
            <a:headEnd/>
            <a:tailEnd/>
          </a:ln>
        </p:spPr>
      </p:pic>
      <p:sp>
        <p:nvSpPr>
          <p:cNvPr id="4" name="TextBox 3"/>
          <p:cNvSpPr txBox="1"/>
          <p:nvPr/>
        </p:nvSpPr>
        <p:spPr>
          <a:xfrm>
            <a:off x="6629400" y="2133600"/>
            <a:ext cx="2286000" cy="2677656"/>
          </a:xfrm>
          <a:prstGeom prst="rect">
            <a:avLst/>
          </a:prstGeom>
          <a:noFill/>
        </p:spPr>
        <p:txBody>
          <a:bodyPr wrap="square" rtlCol="0">
            <a:spAutoFit/>
          </a:bodyPr>
          <a:lstStyle/>
          <a:p>
            <a:r>
              <a:rPr lang="en-IN" sz="2800" dirty="0" err="1" smtClean="0"/>
              <a:t>Ph.D</a:t>
            </a:r>
            <a:endParaRPr lang="en-IN" sz="2800" dirty="0" smtClean="0"/>
          </a:p>
          <a:p>
            <a:r>
              <a:rPr lang="en-IN" sz="2800" dirty="0" smtClean="0"/>
              <a:t>h score</a:t>
            </a:r>
            <a:endParaRPr lang="en-IN" sz="2800" dirty="0" smtClean="0"/>
          </a:p>
          <a:p>
            <a:r>
              <a:rPr lang="en-IN" sz="2800" dirty="0" smtClean="0"/>
              <a:t>API</a:t>
            </a:r>
            <a:endParaRPr lang="en-IN" sz="2800" dirty="0" smtClean="0"/>
          </a:p>
          <a:p>
            <a:r>
              <a:rPr lang="en-IN" sz="2800" dirty="0" err="1" smtClean="0"/>
              <a:t>D.Sc</a:t>
            </a:r>
            <a:endParaRPr lang="en-IN" sz="2800" dirty="0" smtClean="0"/>
          </a:p>
          <a:p>
            <a:r>
              <a:rPr lang="en-IN" sz="2800" dirty="0" err="1" smtClean="0"/>
              <a:t>Bhatnagar</a:t>
            </a:r>
            <a:endParaRPr lang="en-IN" sz="2800" dirty="0" smtClean="0"/>
          </a:p>
          <a:p>
            <a:r>
              <a:rPr lang="en-IN" sz="2800" dirty="0" smtClean="0"/>
              <a:t>Nobel </a:t>
            </a:r>
            <a:endParaRPr lang="en-I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14313</Words>
  <Application>WPS Presentation</Application>
  <PresentationFormat>On-screen Show (4:3)</PresentationFormat>
  <Paragraphs>654</Paragraphs>
  <Slides>51</Slides>
  <Notes>2</Notes>
  <HiddenSlides>5</HiddenSlides>
  <MMClips>1</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51</vt:i4>
      </vt:variant>
    </vt:vector>
  </HeadingPairs>
  <TitlesOfParts>
    <vt:vector size="72" baseType="lpstr">
      <vt:lpstr>Arial</vt:lpstr>
      <vt:lpstr>SimSun</vt:lpstr>
      <vt:lpstr>Wingdings</vt:lpstr>
      <vt:lpstr>Bookman Old Style</vt:lpstr>
      <vt:lpstr>苹方-简</vt:lpstr>
      <vt:lpstr>Times New Roman</vt:lpstr>
      <vt:lpstr>Wingdings 2</vt:lpstr>
      <vt:lpstr>Trebuchet MS</vt:lpstr>
      <vt:lpstr>Book Antiqua</vt:lpstr>
      <vt:lpstr>MS PGothic</vt:lpstr>
      <vt:lpstr>MS PGothic</vt:lpstr>
      <vt:lpstr>Wingdings 2</vt:lpstr>
      <vt:lpstr>Calibri</vt:lpstr>
      <vt:lpstr>Helvetica Neue</vt:lpstr>
      <vt:lpstr>Microsoft YaHei</vt:lpstr>
      <vt:lpstr>汉仪旗黑</vt:lpstr>
      <vt:lpstr>Arial Unicode MS</vt:lpstr>
      <vt:lpstr>宋体-简</vt:lpstr>
      <vt:lpstr>Office Theme</vt:lpstr>
      <vt:lpstr>AcroExch.Document.11</vt:lpstr>
      <vt:lpstr>AcroExch.Document.11</vt:lpstr>
      <vt:lpstr>PowerPoint 演示文稿</vt:lpstr>
      <vt:lpstr>PowerPoint 演示文稿</vt:lpstr>
      <vt:lpstr> Research Methodology</vt:lpstr>
      <vt:lpstr>PowerPoint 演示文稿</vt:lpstr>
      <vt:lpstr>PowerPoint 演示文稿</vt:lpstr>
      <vt:lpstr>PowerPoint 演示文稿</vt:lpstr>
      <vt:lpstr>What is the truth</vt:lpstr>
      <vt:lpstr> Absolutism VS Relativism</vt:lpstr>
      <vt:lpstr>PowerPoint 演示文稿</vt:lpstr>
      <vt:lpstr>Nietzsche</vt:lpstr>
      <vt:lpstr>PowerPoint 演示文稿</vt:lpstr>
      <vt:lpstr>The correspondence theory of truth</vt:lpstr>
      <vt:lpstr>PowerPoint 演示文稿</vt:lpstr>
      <vt:lpstr>Pragmatic theory of truth </vt:lpstr>
      <vt:lpstr>PowerPoint 演示文稿</vt:lpstr>
      <vt:lpstr>Hindu way of explaining the truth </vt:lpstr>
      <vt:lpstr>PowerPoint 演示文稿</vt:lpstr>
      <vt:lpstr>In Hinduism :</vt:lpstr>
      <vt:lpstr>In Buddhism :</vt:lpstr>
      <vt:lpstr>PowerPoint 演示文稿</vt:lpstr>
      <vt:lpstr>PowerPoint 演示文稿</vt:lpstr>
      <vt:lpstr>Reality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Enquiry on Human Understanding David Hume</vt:lpstr>
      <vt:lpstr>PowerPoint 演示文稿</vt:lpstr>
      <vt:lpstr>PowerPoint 演示文稿</vt:lpstr>
      <vt:lpstr>PowerPoint 演示文稿</vt:lpstr>
      <vt:lpstr>PowerPoint 演示文稿</vt:lpstr>
      <vt:lpstr>Research methods: The Positivistic approach</vt:lpstr>
      <vt:lpstr>Research methods: Phenomenological approach</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 K DATTA</dc:creator>
  <cp:lastModifiedBy>madhuradatta</cp:lastModifiedBy>
  <cp:revision>184</cp:revision>
  <dcterms:created xsi:type="dcterms:W3CDTF">2024-12-07T05:17:23Z</dcterms:created>
  <dcterms:modified xsi:type="dcterms:W3CDTF">2024-12-07T05:17:23Z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1033-4.9.0.7859</vt:lpwstr>
  </property>
</Properties>
</file>