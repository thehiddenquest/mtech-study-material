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oleObject" PartName="/ppt/embeddings/oleObject13.bin"/>
  <Override ContentType="application/vnd.openxmlformats-officedocument.oleObject" PartName="/ppt/embeddings/oleObject9.bin"/>
  <Override ContentType="application/vnd.openxmlformats-officedocument.oleObject" PartName="/ppt/embeddings/oleObject6.bin"/>
  <Override ContentType="application/vnd.openxmlformats-officedocument.oleObject" PartName="/ppt/embeddings/oleObject15.bin"/>
  <Override ContentType="application/vnd.openxmlformats-officedocument.oleObject" PartName="/ppt/embeddings/oleObject18.bin"/>
  <Override ContentType="application/vnd.openxmlformats-officedocument.oleObject" PartName="/ppt/embeddings/oleObject4.bin"/>
  <Override ContentType="application/vnd.openxmlformats-officedocument.oleObject" PartName="/ppt/embeddings/oleObject1.bin"/>
  <Override ContentType="application/vnd.openxmlformats-officedocument.oleObject" PartName="/ppt/embeddings/oleObject11.bin"/>
  <Override ContentType="application/vnd.openxmlformats-officedocument.oleObject" PartName="/ppt/embeddings/oleObject8.bin"/>
  <Override ContentType="application/vnd.openxmlformats-officedocument.oleObject" PartName="/ppt/embeddings/oleObject22.bin"/>
  <Override ContentType="application/vnd.openxmlformats-officedocument.oleObject" PartName="/ppt/embeddings/oleObject19.bin"/>
  <Override ContentType="application/vnd.openxmlformats-officedocument.oleObject" PartName="/ppt/embeddings/oleObject20.bin"/>
  <Override ContentType="application/vnd.openxmlformats-officedocument.oleObject" PartName="/ppt/embeddings/oleObject14.bin"/>
  <Override ContentType="application/vnd.openxmlformats-officedocument.oleObject" PartName="/ppt/embeddings/oleObject12.bin"/>
  <Override ContentType="application/vnd.openxmlformats-officedocument.oleObject" PartName="/ppt/embeddings/oleObject3.bin"/>
  <Override ContentType="application/vnd.openxmlformats-officedocument.oleObject" PartName="/ppt/embeddings/oleObject5.bin"/>
  <Override ContentType="application/vnd.openxmlformats-officedocument.oleObject" PartName="/ppt/embeddings/oleObject17.bin"/>
  <Override ContentType="application/vnd.openxmlformats-officedocument.oleObject" PartName="/ppt/embeddings/oleObject7.bin"/>
  <Override ContentType="application/vnd.openxmlformats-officedocument.oleObject" PartName="/ppt/embeddings/oleObject16.bin"/>
  <Override ContentType="application/vnd.openxmlformats-officedocument.oleObject" PartName="/ppt/embeddings/oleObject2.bin"/>
  <Override ContentType="application/vnd.openxmlformats-officedocument.oleObject" PartName="/ppt/embeddings/oleObject10.bin"/>
  <Override ContentType="application/vnd.openxmlformats-officedocument.oleObject" PartName="/ppt/embeddings/oleObject21.bin"/>
  <Override ContentType="application/vnd.openxmlformats-officedocument.oleObject" PartName="/ppt/embeddings/oleObject23.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 id="214748365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Lst>
  <p:sldSz cy="6858000" cx="9144000"/>
  <p:notesSz cx="6858000" cy="9144000"/>
  <p:embeddedFontLst>
    <p:embeddedFont>
      <p:font typeface="Tahoma"/>
      <p:regular r:id="rId44"/>
      <p:bold r:id="rId45"/>
    </p:embeddedFont>
    <p:embeddedFont>
      <p:font typeface="Noto Sans Symbols"/>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48" roundtripDataSignature="AMtx7mgweSMj2JVANm+a4YvzFb6L5H2e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908E96-DDF9-4DDB-B88B-BD18917C8AA7}">
  <a:tblStyle styleId="{C2908E96-DDF9-4DDB-B88B-BD18917C8AA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20" Type="http://schemas.openxmlformats.org/officeDocument/2006/relationships/slide" Target="slides/slide12.xml"/><Relationship Id="rId42" Type="http://schemas.openxmlformats.org/officeDocument/2006/relationships/slide" Target="slides/slide34.xml"/><Relationship Id="rId41" Type="http://schemas.openxmlformats.org/officeDocument/2006/relationships/slide" Target="slides/slide33.xml"/><Relationship Id="rId22" Type="http://schemas.openxmlformats.org/officeDocument/2006/relationships/slide" Target="slides/slide14.xml"/><Relationship Id="rId44" Type="http://schemas.openxmlformats.org/officeDocument/2006/relationships/font" Target="fonts/Tahoma-regular.fntdata"/><Relationship Id="rId21" Type="http://schemas.openxmlformats.org/officeDocument/2006/relationships/slide" Target="slides/slide13.xml"/><Relationship Id="rId43" Type="http://schemas.openxmlformats.org/officeDocument/2006/relationships/slide" Target="slides/slide35.xml"/><Relationship Id="rId24" Type="http://schemas.openxmlformats.org/officeDocument/2006/relationships/slide" Target="slides/slide16.xml"/><Relationship Id="rId46" Type="http://schemas.openxmlformats.org/officeDocument/2006/relationships/font" Target="fonts/NotoSansSymbols-regular.fntdata"/><Relationship Id="rId23" Type="http://schemas.openxmlformats.org/officeDocument/2006/relationships/slide" Target="slides/slide15.xml"/><Relationship Id="rId45" Type="http://schemas.openxmlformats.org/officeDocument/2006/relationships/font" Target="fonts/Tahom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48" Type="http://customschemas.google.com/relationships/presentationmetadata" Target="metadata"/><Relationship Id="rId25" Type="http://schemas.openxmlformats.org/officeDocument/2006/relationships/slide" Target="slides/slide17.xml"/><Relationship Id="rId47" Type="http://schemas.openxmlformats.org/officeDocument/2006/relationships/font" Target="fonts/NotoSansSymbols-bold.fntdata"/><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37" Type="http://schemas.openxmlformats.org/officeDocument/2006/relationships/slide" Target="slides/slide29.xml"/><Relationship Id="rId14" Type="http://schemas.openxmlformats.org/officeDocument/2006/relationships/slide" Target="slides/slide6.xml"/><Relationship Id="rId36" Type="http://schemas.openxmlformats.org/officeDocument/2006/relationships/slide" Target="slides/slide28.xml"/><Relationship Id="rId17" Type="http://schemas.openxmlformats.org/officeDocument/2006/relationships/slide" Target="slides/slide9.xml"/><Relationship Id="rId39" Type="http://schemas.openxmlformats.org/officeDocument/2006/relationships/slide" Target="slides/slide31.xml"/><Relationship Id="rId16" Type="http://schemas.openxmlformats.org/officeDocument/2006/relationships/slide" Target="slides/slide8.xml"/><Relationship Id="rId38" Type="http://schemas.openxmlformats.org/officeDocument/2006/relationships/slide" Target="slides/slide30.xml"/><Relationship Id="rId19" Type="http://schemas.openxmlformats.org/officeDocument/2006/relationships/slide" Target="slides/slide11.xml"/><Relationship Id="rId18" Type="http://schemas.openxmlformats.org/officeDocument/2006/relationships/slide" Target="slides/slide1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1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8.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6.png"/><Relationship Id="rId3" Type="http://schemas.openxmlformats.org/officeDocument/2006/relationships/image" Target="../media/image15.png"/><Relationship Id="rId4" Type="http://schemas.openxmlformats.org/officeDocument/2006/relationships/image" Target="../media/image19.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8.png"/><Relationship Id="rId3" Type="http://schemas.openxmlformats.org/officeDocument/2006/relationships/image" Target="../media/image20.png"/><Relationship Id="rId4" Type="http://schemas.openxmlformats.org/officeDocument/2006/relationships/image" Target="../media/image20.png"/><Relationship Id="rId5" Type="http://schemas.openxmlformats.org/officeDocument/2006/relationships/image" Target="../media/image20.png"/><Relationship Id="rId6" Type="http://schemas.openxmlformats.org/officeDocument/2006/relationships/image" Target="../media/image27.png"/><Relationship Id="rId7" Type="http://schemas.openxmlformats.org/officeDocument/2006/relationships/image" Target="../media/image27.png"/><Relationship Id="rId8" Type="http://schemas.openxmlformats.org/officeDocument/2006/relationships/image" Target="../media/image2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txBox="1"/>
          <p:nvPr>
            <p:ph idx="12" type="sldNum"/>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l">
              <a:lnSpc>
                <a:spcPct val="100000"/>
              </a:lnSpc>
              <a:spcBef>
                <a:spcPts val="0"/>
              </a:spcBef>
              <a:spcAft>
                <a:spcPts val="0"/>
              </a:spcAft>
              <a:buNone/>
            </a:pPr>
            <a:fld id="{00000000-1234-1234-1234-123412341234}" type="slidenum">
              <a:rPr b="0" i="0" lang="en-US" sz="1800" u="none" cap="none" strike="noStrike">
                <a:solidFill>
                  <a:srgbClr val="000000"/>
                </a:solidFill>
                <a:latin typeface="Arial"/>
                <a:ea typeface="Arial"/>
                <a:cs typeface="Arial"/>
                <a:sym typeface="Arial"/>
              </a:rPr>
              <a:t>‹#›</a:t>
            </a:fld>
            <a:endParaRPr/>
          </a:p>
        </p:txBody>
      </p:sp>
      <p:sp>
        <p:nvSpPr>
          <p:cNvPr id="4" name="Google Shape;4;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 name="Google Shape;5;n"/>
          <p:cNvSpPr/>
          <p:nvPr/>
        </p:nvSpPr>
        <p:spPr>
          <a:xfrm>
            <a:off x="0" y="0"/>
            <a:ext cx="2971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6" name="Google Shape;6;n"/>
          <p:cNvSpPr/>
          <p:nvPr/>
        </p:nvSpPr>
        <p:spPr>
          <a:xfrm>
            <a:off x="3884612" y="0"/>
            <a:ext cx="2971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7" name="Google Shape;7;n"/>
          <p:cNvSpPr/>
          <p:nvPr>
            <p:ph idx="2" type="sldImg"/>
          </p:nvPr>
        </p:nvSpPr>
        <p:spPr>
          <a:xfrm>
            <a:off x="1143000" y="685800"/>
            <a:ext cx="4570412" cy="34274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 name="Google Shape;8;n"/>
          <p:cNvSpPr txBox="1"/>
          <p:nvPr>
            <p:ph idx="1" type="body"/>
          </p:nvPr>
        </p:nvSpPr>
        <p:spPr>
          <a:xfrm>
            <a:off x="685800" y="4343400"/>
            <a:ext cx="5484812" cy="4113212"/>
          </a:xfrm>
          <a:prstGeom prst="rect">
            <a:avLst/>
          </a:prstGeom>
          <a:noFill/>
          <a:ln>
            <a:noFill/>
          </a:ln>
        </p:spPr>
        <p:txBody>
          <a:bodyPr anchorCtr="0" anchor="t" bIns="46800" lIns="90000" spcFirstLastPara="1" rIns="90000" wrap="square" tIns="468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9" name="Google Shape;9;n"/>
          <p:cNvSpPr/>
          <p:nvPr/>
        </p:nvSpPr>
        <p:spPr>
          <a:xfrm>
            <a:off x="0" y="8685212"/>
            <a:ext cx="2971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0" name="Google Shape;10;n"/>
          <p:cNvSpPr txBox="1"/>
          <p:nvPr>
            <p:ph idx="3" type="sldNum"/>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3" name="Google Shape;4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44" name="Google Shape;44;p1: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49" name="Google Shape;49;p2:notes"/>
          <p:cNvSpPr/>
          <p:nvPr>
            <p:ph idx="2" type="sldImg"/>
          </p:nvPr>
        </p:nvSpPr>
        <p:spPr>
          <a:xfrm>
            <a:off x="1104900" y="652462"/>
            <a:ext cx="4646612" cy="34845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0" name="Google Shape;50;p2:notes"/>
          <p:cNvSpPr txBox="1"/>
          <p:nvPr>
            <p:ph idx="1" type="body"/>
          </p:nvPr>
        </p:nvSpPr>
        <p:spPr>
          <a:xfrm>
            <a:off x="928687" y="4354512"/>
            <a:ext cx="5000625" cy="4137025"/>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56" name="Google Shape;56;p3:notes"/>
          <p:cNvSpPr/>
          <p:nvPr>
            <p:ph idx="2" type="sldImg"/>
          </p:nvPr>
        </p:nvSpPr>
        <p:spPr>
          <a:xfrm>
            <a:off x="1104900" y="652462"/>
            <a:ext cx="4646612" cy="34845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7" name="Google Shape;57;p3:notes"/>
          <p:cNvSpPr txBox="1"/>
          <p:nvPr>
            <p:ph idx="1" type="body"/>
          </p:nvPr>
        </p:nvSpPr>
        <p:spPr>
          <a:xfrm>
            <a:off x="928687" y="4354512"/>
            <a:ext cx="5000625" cy="4137025"/>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63" name="Google Shape;6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4" name="Google Shape;64;p4: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75" name="Google Shape;75;p5:notes"/>
          <p:cNvSpPr/>
          <p:nvPr>
            <p:ph idx="2" type="sldImg"/>
          </p:nvPr>
        </p:nvSpPr>
        <p:spPr>
          <a:xfrm>
            <a:off x="1104900" y="652462"/>
            <a:ext cx="4646612" cy="34845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6" name="Google Shape;76;p5:notes"/>
          <p:cNvSpPr txBox="1"/>
          <p:nvPr>
            <p:ph idx="1" type="body"/>
          </p:nvPr>
        </p:nvSpPr>
        <p:spPr>
          <a:xfrm>
            <a:off x="928687" y="4354512"/>
            <a:ext cx="5000625" cy="4137025"/>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96" name="Google Shape;9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97" name="Google Shape;97;p6: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02" name="Google Shape;10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03" name="Google Shape;103;p7: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24" name="Google Shape;124;p8:notes"/>
          <p:cNvSpPr/>
          <p:nvPr>
            <p:ph idx="2" type="sldImg"/>
          </p:nvPr>
        </p:nvSpPr>
        <p:spPr>
          <a:xfrm>
            <a:off x="1104900" y="652462"/>
            <a:ext cx="4646612" cy="34845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25" name="Google Shape;125;p8:notes"/>
          <p:cNvSpPr txBox="1"/>
          <p:nvPr>
            <p:ph idx="1" type="body"/>
          </p:nvPr>
        </p:nvSpPr>
        <p:spPr>
          <a:xfrm>
            <a:off x="928687" y="4354512"/>
            <a:ext cx="5000625" cy="4137025"/>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32" name="Google Shape;132;p9:notes"/>
          <p:cNvSpPr/>
          <p:nvPr>
            <p:ph idx="2" type="sldImg"/>
          </p:nvPr>
        </p:nvSpPr>
        <p:spPr>
          <a:xfrm>
            <a:off x="1104900" y="652462"/>
            <a:ext cx="4646612" cy="34845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33" name="Google Shape;133;p9:notes"/>
          <p:cNvSpPr txBox="1"/>
          <p:nvPr>
            <p:ph idx="1" type="body"/>
          </p:nvPr>
        </p:nvSpPr>
        <p:spPr>
          <a:xfrm>
            <a:off x="928687" y="4354512"/>
            <a:ext cx="5000625" cy="4137025"/>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41" name="Google Shape;141;p10:notes"/>
          <p:cNvSpPr/>
          <p:nvPr>
            <p:ph idx="2" type="sldImg"/>
          </p:nvPr>
        </p:nvSpPr>
        <p:spPr>
          <a:xfrm>
            <a:off x="1104900" y="652462"/>
            <a:ext cx="4646612" cy="34845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42" name="Google Shape;142;p10:notes"/>
          <p:cNvSpPr txBox="1"/>
          <p:nvPr>
            <p:ph idx="1" type="body"/>
          </p:nvPr>
        </p:nvSpPr>
        <p:spPr>
          <a:xfrm>
            <a:off x="928687" y="4354512"/>
            <a:ext cx="5000625" cy="4137025"/>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49" name="Google Shape;149;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50" name="Google Shape;150;p11: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56" name="Google Shape;15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57" name="Google Shape;157;p12: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3: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66" name="Google Shape;166;p13:notes"/>
          <p:cNvSpPr/>
          <p:nvPr>
            <p:ph idx="2" type="sldImg"/>
          </p:nvPr>
        </p:nvSpPr>
        <p:spPr>
          <a:xfrm>
            <a:off x="1104900" y="652462"/>
            <a:ext cx="4646612" cy="34845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67" name="Google Shape;167;p13:notes"/>
          <p:cNvSpPr txBox="1"/>
          <p:nvPr>
            <p:ph idx="1" type="body"/>
          </p:nvPr>
        </p:nvSpPr>
        <p:spPr>
          <a:xfrm>
            <a:off x="928687" y="4354512"/>
            <a:ext cx="5000625" cy="4137025"/>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4: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74" name="Google Shape;17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75" name="Google Shape;175;p14: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81" name="Google Shape;181;p15:notes"/>
          <p:cNvSpPr/>
          <p:nvPr>
            <p:ph idx="2" type="sldImg"/>
          </p:nvPr>
        </p:nvSpPr>
        <p:spPr>
          <a:xfrm>
            <a:off x="1104900" y="652462"/>
            <a:ext cx="4646612" cy="34845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82" name="Google Shape;182;p15:notes"/>
          <p:cNvSpPr txBox="1"/>
          <p:nvPr>
            <p:ph idx="1" type="body"/>
          </p:nvPr>
        </p:nvSpPr>
        <p:spPr>
          <a:xfrm>
            <a:off x="928687" y="4354512"/>
            <a:ext cx="5000625" cy="4137025"/>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91" name="Google Shape;191;p16:notes"/>
          <p:cNvSpPr/>
          <p:nvPr>
            <p:ph idx="2" type="sldImg"/>
          </p:nvPr>
        </p:nvSpPr>
        <p:spPr>
          <a:xfrm>
            <a:off x="1104900" y="652462"/>
            <a:ext cx="4646612" cy="3484562"/>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92" name="Google Shape;192;p16:notes"/>
          <p:cNvSpPr txBox="1"/>
          <p:nvPr>
            <p:ph idx="1" type="body"/>
          </p:nvPr>
        </p:nvSpPr>
        <p:spPr>
          <a:xfrm>
            <a:off x="928687" y="4354512"/>
            <a:ext cx="5000625" cy="4137025"/>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7: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199" name="Google Shape;19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00" name="Google Shape;200;p17: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8: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07" name="Google Shape;20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08" name="Google Shape;208;p18: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13" name="Google Shape;21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14" name="Google Shape;214;p19: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0: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19" name="Google Shape;21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20" name="Google Shape;220;p20: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1: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29" name="Google Shape;22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30" name="Google Shape;230;p21: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2: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35" name="Google Shape;23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36" name="Google Shape;236;p22: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3: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41" name="Google Shape;24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42" name="Google Shape;242;p23: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4: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47" name="Google Shape;24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48" name="Google Shape;248;p24: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5: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53" name="Google Shape;253;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54" name="Google Shape;254;p25: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6: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61" name="Google Shape;261;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62" name="Google Shape;262;p26: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7: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68" name="Google Shape;26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69" name="Google Shape;269;p27: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8: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76" name="Google Shape;27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77" name="Google Shape;277;p28: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9: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83" name="Google Shape;283;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84" name="Google Shape;284;p29: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0: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91" name="Google Shape;29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92" name="Google Shape;292;p30: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1: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299" name="Google Shape;299;p31:notes"/>
          <p:cNvSpPr/>
          <p:nvPr>
            <p:ph idx="2" type="sldImg"/>
          </p:nvPr>
        </p:nvSpPr>
        <p:spPr>
          <a:xfrm>
            <a:off x="1143000" y="684212"/>
            <a:ext cx="4573587" cy="343058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00" name="Google Shape;300;p31:notes"/>
          <p:cNvSpPr txBox="1"/>
          <p:nvPr>
            <p:ph idx="1" type="body"/>
          </p:nvPr>
        </p:nvSpPr>
        <p:spPr>
          <a:xfrm>
            <a:off x="914400" y="4343400"/>
            <a:ext cx="5029200" cy="4116387"/>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2: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06" name="Google Shape;30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07" name="Google Shape;307;p32: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3: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16" name="Google Shape;31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17" name="Google Shape;317;p33: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4: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24" name="Google Shape;32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25" name="Google Shape;325;p34: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5:notes"/>
          <p:cNvSpPr txBox="1"/>
          <p:nvPr/>
        </p:nvSpPr>
        <p:spPr>
          <a:xfrm>
            <a:off x="3884612" y="8685212"/>
            <a:ext cx="2971800" cy="457200"/>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
        <p:nvSpPr>
          <p:cNvPr id="331" name="Google Shape;33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32" name="Google Shape;332;p35: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7"/>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19" name="Google Shape;19;p37"/>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20" name="Google Shape;20;p37"/>
          <p:cNvSpPr txBox="1"/>
          <p:nvPr>
            <p:ph idx="12" type="sldNum"/>
          </p:nvPr>
        </p:nvSpPr>
        <p:spPr>
          <a:xfrm>
            <a:off x="6457950" y="6356350"/>
            <a:ext cx="2055812" cy="363537"/>
          </a:xfrm>
          <a:prstGeom prst="rect">
            <a:avLst/>
          </a:prstGeom>
          <a:noFill/>
          <a:ln>
            <a:noFill/>
          </a:ln>
        </p:spPr>
        <p:txBody>
          <a:bodyPr anchorCtr="0" anchor="ctr" bIns="46800" lIns="90000" spcFirstLastPara="1" rIns="90000" wrap="square" tIns="46800">
            <a:noAutofit/>
          </a:bodyPr>
          <a:lstStyle>
            <a:lvl1pPr indent="0" lvl="0" marL="0" algn="r">
              <a:lnSpc>
                <a:spcPct val="100000"/>
              </a:lnSpc>
              <a:spcBef>
                <a:spcPts val="0"/>
              </a:spcBef>
              <a:spcAft>
                <a:spcPts val="0"/>
              </a:spcAft>
              <a:buNone/>
              <a:defRPr sz="900">
                <a:solidFill>
                  <a:srgbClr val="898989"/>
                </a:solidFill>
              </a:defRPr>
            </a:lvl1pPr>
            <a:lvl2pPr indent="0" lvl="1" marL="0" algn="r">
              <a:lnSpc>
                <a:spcPct val="100000"/>
              </a:lnSpc>
              <a:spcBef>
                <a:spcPts val="0"/>
              </a:spcBef>
              <a:spcAft>
                <a:spcPts val="0"/>
              </a:spcAft>
              <a:buNone/>
              <a:defRPr sz="900">
                <a:solidFill>
                  <a:srgbClr val="898989"/>
                </a:solidFill>
              </a:defRPr>
            </a:lvl2pPr>
            <a:lvl3pPr indent="0" lvl="2" marL="0" algn="r">
              <a:lnSpc>
                <a:spcPct val="100000"/>
              </a:lnSpc>
              <a:spcBef>
                <a:spcPts val="0"/>
              </a:spcBef>
              <a:spcAft>
                <a:spcPts val="0"/>
              </a:spcAft>
              <a:buNone/>
              <a:defRPr sz="900">
                <a:solidFill>
                  <a:srgbClr val="898989"/>
                </a:solidFill>
              </a:defRPr>
            </a:lvl3pPr>
            <a:lvl4pPr indent="0" lvl="3" marL="0" algn="r">
              <a:lnSpc>
                <a:spcPct val="100000"/>
              </a:lnSpc>
              <a:spcBef>
                <a:spcPts val="0"/>
              </a:spcBef>
              <a:spcAft>
                <a:spcPts val="0"/>
              </a:spcAft>
              <a:buNone/>
              <a:defRPr sz="900">
                <a:solidFill>
                  <a:srgbClr val="898989"/>
                </a:solidFill>
              </a:defRPr>
            </a:lvl4pPr>
            <a:lvl5pPr indent="0" lvl="4" marL="0" algn="r">
              <a:lnSpc>
                <a:spcPct val="100000"/>
              </a:lnSpc>
              <a:spcBef>
                <a:spcPts val="0"/>
              </a:spcBef>
              <a:spcAft>
                <a:spcPts val="0"/>
              </a:spcAft>
              <a:buNone/>
              <a:defRPr sz="900">
                <a:solidFill>
                  <a:srgbClr val="898989"/>
                </a:solidFill>
              </a:defRPr>
            </a:lvl5pPr>
            <a:lvl6pPr indent="0" lvl="5" marL="0" algn="r">
              <a:lnSpc>
                <a:spcPct val="100000"/>
              </a:lnSpc>
              <a:spcBef>
                <a:spcPts val="0"/>
              </a:spcBef>
              <a:spcAft>
                <a:spcPts val="0"/>
              </a:spcAft>
              <a:buNone/>
              <a:defRPr sz="900">
                <a:solidFill>
                  <a:srgbClr val="898989"/>
                </a:solidFill>
              </a:defRPr>
            </a:lvl6pPr>
            <a:lvl7pPr indent="0" lvl="6" marL="0" algn="r">
              <a:lnSpc>
                <a:spcPct val="100000"/>
              </a:lnSpc>
              <a:spcBef>
                <a:spcPts val="0"/>
              </a:spcBef>
              <a:spcAft>
                <a:spcPts val="0"/>
              </a:spcAft>
              <a:buNone/>
              <a:defRPr sz="900">
                <a:solidFill>
                  <a:srgbClr val="898989"/>
                </a:solidFill>
              </a:defRPr>
            </a:lvl7pPr>
            <a:lvl8pPr indent="0" lvl="7" marL="0" algn="r">
              <a:lnSpc>
                <a:spcPct val="100000"/>
              </a:lnSpc>
              <a:spcBef>
                <a:spcPts val="0"/>
              </a:spcBef>
              <a:spcAft>
                <a:spcPts val="0"/>
              </a:spcAft>
              <a:buNone/>
              <a:defRPr sz="900">
                <a:solidFill>
                  <a:srgbClr val="898989"/>
                </a:solidFill>
              </a:defRPr>
            </a:lvl8pPr>
            <a:lvl9pPr indent="0" lvl="8" marL="0" algn="r">
              <a:lnSpc>
                <a:spcPct val="100000"/>
              </a:lnSpc>
              <a:spcBef>
                <a:spcPts val="0"/>
              </a:spcBef>
              <a:spcAft>
                <a:spcPts val="0"/>
              </a:spcAft>
              <a:buNone/>
              <a:defRPr sz="900">
                <a:solidFill>
                  <a:srgbClr val="898989"/>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39"/>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29" name="Google Shape;29;p39"/>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30" name="Google Shape;30;p39"/>
          <p:cNvSpPr txBox="1"/>
          <p:nvPr>
            <p:ph idx="12" type="sldNum"/>
          </p:nvPr>
        </p:nvSpPr>
        <p:spPr>
          <a:xfrm>
            <a:off x="6937375" y="6245225"/>
            <a:ext cx="1900237" cy="474662"/>
          </a:xfrm>
          <a:prstGeom prst="rect">
            <a:avLst/>
          </a:prstGeom>
          <a:noFill/>
          <a:ln>
            <a:noFill/>
          </a:ln>
        </p:spPr>
        <p:txBody>
          <a:bodyPr anchorCtr="0" anchor="ctr" bIns="46800" lIns="90000" spcFirstLastPara="1" rIns="90000" wrap="square" tIns="46800">
            <a:noAutofit/>
          </a:bodyPr>
          <a:lstStyle>
            <a:lvl1pPr indent="0" lvl="0" marL="0" algn="r">
              <a:lnSpc>
                <a:spcPct val="100000"/>
              </a:lnSpc>
              <a:spcBef>
                <a:spcPts val="0"/>
              </a:spcBef>
              <a:spcAft>
                <a:spcPts val="0"/>
              </a:spcAft>
              <a:buNone/>
              <a:defRPr sz="900">
                <a:solidFill>
                  <a:srgbClr val="898989"/>
                </a:solidFill>
              </a:defRPr>
            </a:lvl1pPr>
            <a:lvl2pPr indent="0" lvl="1" marL="0" algn="r">
              <a:lnSpc>
                <a:spcPct val="100000"/>
              </a:lnSpc>
              <a:spcBef>
                <a:spcPts val="0"/>
              </a:spcBef>
              <a:spcAft>
                <a:spcPts val="0"/>
              </a:spcAft>
              <a:buNone/>
              <a:defRPr sz="900">
                <a:solidFill>
                  <a:srgbClr val="898989"/>
                </a:solidFill>
              </a:defRPr>
            </a:lvl2pPr>
            <a:lvl3pPr indent="0" lvl="2" marL="0" algn="r">
              <a:lnSpc>
                <a:spcPct val="100000"/>
              </a:lnSpc>
              <a:spcBef>
                <a:spcPts val="0"/>
              </a:spcBef>
              <a:spcAft>
                <a:spcPts val="0"/>
              </a:spcAft>
              <a:buNone/>
              <a:defRPr sz="900">
                <a:solidFill>
                  <a:srgbClr val="898989"/>
                </a:solidFill>
              </a:defRPr>
            </a:lvl3pPr>
            <a:lvl4pPr indent="0" lvl="3" marL="0" algn="r">
              <a:lnSpc>
                <a:spcPct val="100000"/>
              </a:lnSpc>
              <a:spcBef>
                <a:spcPts val="0"/>
              </a:spcBef>
              <a:spcAft>
                <a:spcPts val="0"/>
              </a:spcAft>
              <a:buNone/>
              <a:defRPr sz="900">
                <a:solidFill>
                  <a:srgbClr val="898989"/>
                </a:solidFill>
              </a:defRPr>
            </a:lvl4pPr>
            <a:lvl5pPr indent="0" lvl="4" marL="0" algn="r">
              <a:lnSpc>
                <a:spcPct val="100000"/>
              </a:lnSpc>
              <a:spcBef>
                <a:spcPts val="0"/>
              </a:spcBef>
              <a:spcAft>
                <a:spcPts val="0"/>
              </a:spcAft>
              <a:buNone/>
              <a:defRPr sz="900">
                <a:solidFill>
                  <a:srgbClr val="898989"/>
                </a:solidFill>
              </a:defRPr>
            </a:lvl5pPr>
            <a:lvl6pPr indent="0" lvl="5" marL="0" algn="r">
              <a:lnSpc>
                <a:spcPct val="100000"/>
              </a:lnSpc>
              <a:spcBef>
                <a:spcPts val="0"/>
              </a:spcBef>
              <a:spcAft>
                <a:spcPts val="0"/>
              </a:spcAft>
              <a:buNone/>
              <a:defRPr sz="900">
                <a:solidFill>
                  <a:srgbClr val="898989"/>
                </a:solidFill>
              </a:defRPr>
            </a:lvl6pPr>
            <a:lvl7pPr indent="0" lvl="6" marL="0" algn="r">
              <a:lnSpc>
                <a:spcPct val="100000"/>
              </a:lnSpc>
              <a:spcBef>
                <a:spcPts val="0"/>
              </a:spcBef>
              <a:spcAft>
                <a:spcPts val="0"/>
              </a:spcAft>
              <a:buNone/>
              <a:defRPr sz="900">
                <a:solidFill>
                  <a:srgbClr val="898989"/>
                </a:solidFill>
              </a:defRPr>
            </a:lvl7pPr>
            <a:lvl8pPr indent="0" lvl="7" marL="0" algn="r">
              <a:lnSpc>
                <a:spcPct val="100000"/>
              </a:lnSpc>
              <a:spcBef>
                <a:spcPts val="0"/>
              </a:spcBef>
              <a:spcAft>
                <a:spcPts val="0"/>
              </a:spcAft>
              <a:buNone/>
              <a:defRPr sz="900">
                <a:solidFill>
                  <a:srgbClr val="898989"/>
                </a:solidFill>
              </a:defRPr>
            </a:lvl8pPr>
            <a:lvl9pPr indent="0" lvl="8" marL="0" algn="r">
              <a:lnSpc>
                <a:spcPct val="100000"/>
              </a:lnSpc>
              <a:spcBef>
                <a:spcPts val="0"/>
              </a:spcBef>
              <a:spcAft>
                <a:spcPts val="0"/>
              </a:spcAft>
              <a:buNone/>
              <a:defRPr sz="900">
                <a:solidFill>
                  <a:srgbClr val="898989"/>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 name="Shape 37"/>
        <p:cNvGrpSpPr/>
        <p:nvPr/>
      </p:nvGrpSpPr>
      <p:grpSpPr>
        <a:xfrm>
          <a:off x="0" y="0"/>
          <a:ext cx="0" cy="0"/>
          <a:chOff x="0" y="0"/>
          <a:chExt cx="0" cy="0"/>
        </a:xfrm>
      </p:grpSpPr>
      <p:sp>
        <p:nvSpPr>
          <p:cNvPr id="38" name="Google Shape;38;p4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39" name="Google Shape;39;p4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0" name="Google Shape;40;p41"/>
          <p:cNvSpPr txBox="1"/>
          <p:nvPr>
            <p:ph idx="12" type="sldNum"/>
          </p:nvPr>
        </p:nvSpPr>
        <p:spPr>
          <a:xfrm>
            <a:off x="6937375" y="6245225"/>
            <a:ext cx="1900237" cy="474662"/>
          </a:xfrm>
          <a:prstGeom prst="rect">
            <a:avLst/>
          </a:prstGeom>
          <a:noFill/>
          <a:ln>
            <a:noFill/>
          </a:ln>
        </p:spPr>
        <p:txBody>
          <a:bodyPr anchorCtr="0" anchor="ctr" bIns="46800" lIns="90000" spcFirstLastPara="1" rIns="90000" wrap="square" tIns="46800">
            <a:noAutofit/>
          </a:bodyPr>
          <a:lstStyle>
            <a:lvl1pPr indent="0" lvl="0" marL="0" algn="r">
              <a:lnSpc>
                <a:spcPct val="100000"/>
              </a:lnSpc>
              <a:spcBef>
                <a:spcPts val="0"/>
              </a:spcBef>
              <a:spcAft>
                <a:spcPts val="0"/>
              </a:spcAft>
              <a:buNone/>
              <a:defRPr sz="900">
                <a:solidFill>
                  <a:srgbClr val="898989"/>
                </a:solidFill>
              </a:defRPr>
            </a:lvl1pPr>
            <a:lvl2pPr indent="0" lvl="1" marL="0" algn="r">
              <a:lnSpc>
                <a:spcPct val="100000"/>
              </a:lnSpc>
              <a:spcBef>
                <a:spcPts val="0"/>
              </a:spcBef>
              <a:spcAft>
                <a:spcPts val="0"/>
              </a:spcAft>
              <a:buNone/>
              <a:defRPr sz="900">
                <a:solidFill>
                  <a:srgbClr val="898989"/>
                </a:solidFill>
              </a:defRPr>
            </a:lvl2pPr>
            <a:lvl3pPr indent="0" lvl="2" marL="0" algn="r">
              <a:lnSpc>
                <a:spcPct val="100000"/>
              </a:lnSpc>
              <a:spcBef>
                <a:spcPts val="0"/>
              </a:spcBef>
              <a:spcAft>
                <a:spcPts val="0"/>
              </a:spcAft>
              <a:buNone/>
              <a:defRPr sz="900">
                <a:solidFill>
                  <a:srgbClr val="898989"/>
                </a:solidFill>
              </a:defRPr>
            </a:lvl3pPr>
            <a:lvl4pPr indent="0" lvl="3" marL="0" algn="r">
              <a:lnSpc>
                <a:spcPct val="100000"/>
              </a:lnSpc>
              <a:spcBef>
                <a:spcPts val="0"/>
              </a:spcBef>
              <a:spcAft>
                <a:spcPts val="0"/>
              </a:spcAft>
              <a:buNone/>
              <a:defRPr sz="900">
                <a:solidFill>
                  <a:srgbClr val="898989"/>
                </a:solidFill>
              </a:defRPr>
            </a:lvl4pPr>
            <a:lvl5pPr indent="0" lvl="4" marL="0" algn="r">
              <a:lnSpc>
                <a:spcPct val="100000"/>
              </a:lnSpc>
              <a:spcBef>
                <a:spcPts val="0"/>
              </a:spcBef>
              <a:spcAft>
                <a:spcPts val="0"/>
              </a:spcAft>
              <a:buNone/>
              <a:defRPr sz="900">
                <a:solidFill>
                  <a:srgbClr val="898989"/>
                </a:solidFill>
              </a:defRPr>
            </a:lvl5pPr>
            <a:lvl6pPr indent="0" lvl="5" marL="0" algn="r">
              <a:lnSpc>
                <a:spcPct val="100000"/>
              </a:lnSpc>
              <a:spcBef>
                <a:spcPts val="0"/>
              </a:spcBef>
              <a:spcAft>
                <a:spcPts val="0"/>
              </a:spcAft>
              <a:buNone/>
              <a:defRPr sz="900">
                <a:solidFill>
                  <a:srgbClr val="898989"/>
                </a:solidFill>
              </a:defRPr>
            </a:lvl6pPr>
            <a:lvl7pPr indent="0" lvl="6" marL="0" algn="r">
              <a:lnSpc>
                <a:spcPct val="100000"/>
              </a:lnSpc>
              <a:spcBef>
                <a:spcPts val="0"/>
              </a:spcBef>
              <a:spcAft>
                <a:spcPts val="0"/>
              </a:spcAft>
              <a:buNone/>
              <a:defRPr sz="900">
                <a:solidFill>
                  <a:srgbClr val="898989"/>
                </a:solidFill>
              </a:defRPr>
            </a:lvl7pPr>
            <a:lvl8pPr indent="0" lvl="7" marL="0" algn="r">
              <a:lnSpc>
                <a:spcPct val="100000"/>
              </a:lnSpc>
              <a:spcBef>
                <a:spcPts val="0"/>
              </a:spcBef>
              <a:spcAft>
                <a:spcPts val="0"/>
              </a:spcAft>
              <a:buNone/>
              <a:defRPr sz="900">
                <a:solidFill>
                  <a:srgbClr val="898989"/>
                </a:solidFill>
              </a:defRPr>
            </a:lvl8pPr>
            <a:lvl9pPr indent="0" lvl="8" marL="0" algn="r">
              <a:lnSpc>
                <a:spcPct val="100000"/>
              </a:lnSpc>
              <a:spcBef>
                <a:spcPts val="0"/>
              </a:spcBef>
              <a:spcAft>
                <a:spcPts val="0"/>
              </a:spcAft>
              <a:buNone/>
              <a:defRPr sz="900">
                <a:solidFill>
                  <a:srgbClr val="898989"/>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sp>
        <p:nvSpPr>
          <p:cNvPr id="12" name="Google Shape;12;p36"/>
          <p:cNvSpPr txBox="1"/>
          <p:nvPr>
            <p:ph type="title"/>
          </p:nvPr>
        </p:nvSpPr>
        <p:spPr>
          <a:xfrm>
            <a:off x="628650" y="365125"/>
            <a:ext cx="7885112" cy="1323975"/>
          </a:xfrm>
          <a:prstGeom prst="rect">
            <a:avLst/>
          </a:prstGeom>
          <a:noFill/>
          <a:ln>
            <a:noFill/>
          </a:ln>
        </p:spPr>
        <p:txBody>
          <a:bodyPr anchorCtr="0" anchor="ctr" bIns="46800" lIns="90000" spcFirstLastPara="1" rIns="90000" wrap="square" tIns="46800">
            <a:noAutofit/>
          </a:bodyPr>
          <a:lstStyle>
            <a:lvl1pPr lvl="0"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9pPr>
          </a:lstStyle>
          <a:p/>
        </p:txBody>
      </p:sp>
      <p:sp>
        <p:nvSpPr>
          <p:cNvPr id="13" name="Google Shape;13;p36"/>
          <p:cNvSpPr txBox="1"/>
          <p:nvPr>
            <p:ph idx="1" type="body"/>
          </p:nvPr>
        </p:nvSpPr>
        <p:spPr>
          <a:xfrm>
            <a:off x="628650" y="1825625"/>
            <a:ext cx="7885112" cy="4349750"/>
          </a:xfrm>
          <a:prstGeom prst="rect">
            <a:avLst/>
          </a:prstGeom>
          <a:noFill/>
          <a:ln>
            <a:noFill/>
          </a:ln>
        </p:spPr>
        <p:txBody>
          <a:bodyPr anchorCtr="0" anchor="t" bIns="46800" lIns="90000" spcFirstLastPara="1" rIns="90000" wrap="square" tIns="46800">
            <a:noAutofit/>
          </a:bodyPr>
          <a:lstStyle>
            <a:lvl1pPr indent="-228600" lvl="0" marL="457200" marR="0" rtl="0" algn="l">
              <a:lnSpc>
                <a:spcPct val="90000"/>
              </a:lnSpc>
              <a:spcBef>
                <a:spcPts val="700"/>
              </a:spcBef>
              <a:spcAft>
                <a:spcPts val="0"/>
              </a:spcAft>
              <a:buSzPts val="1400"/>
              <a:buNone/>
              <a:defRPr b="0" i="0" sz="2100" u="none" cap="none" strike="noStrike">
                <a:solidFill>
                  <a:srgbClr val="000000"/>
                </a:solidFill>
                <a:latin typeface="Calibri"/>
                <a:ea typeface="Calibri"/>
                <a:cs typeface="Calibri"/>
                <a:sym typeface="Calibri"/>
              </a:defRPr>
            </a:lvl1pPr>
            <a:lvl2pPr indent="-228600" lvl="1" marL="914400" marR="0" rtl="0" algn="l">
              <a:lnSpc>
                <a:spcPct val="90000"/>
              </a:lnSpc>
              <a:spcBef>
                <a:spcPts val="300"/>
              </a:spcBef>
              <a:spcAft>
                <a:spcPts val="0"/>
              </a:spcAft>
              <a:buSzPts val="1400"/>
              <a:buNone/>
              <a:defRPr b="0" i="0" sz="1800" u="none" cap="none" strike="noStrike">
                <a:solidFill>
                  <a:srgbClr val="000000"/>
                </a:solidFill>
                <a:latin typeface="Calibri"/>
                <a:ea typeface="Calibri"/>
                <a:cs typeface="Calibri"/>
                <a:sym typeface="Calibri"/>
              </a:defRPr>
            </a:lvl2pPr>
            <a:lvl3pPr indent="-228600" lvl="2" marL="1371600" marR="0" rtl="0" algn="l">
              <a:lnSpc>
                <a:spcPct val="90000"/>
              </a:lnSpc>
              <a:spcBef>
                <a:spcPts val="300"/>
              </a:spcBef>
              <a:spcAft>
                <a:spcPts val="0"/>
              </a:spcAft>
              <a:buSzPts val="1400"/>
              <a:buNone/>
              <a:defRPr b="0" i="0" sz="1500" u="none" cap="none" strike="noStrike">
                <a:solidFill>
                  <a:srgbClr val="000000"/>
                </a:solidFill>
                <a:latin typeface="Calibri"/>
                <a:ea typeface="Calibri"/>
                <a:cs typeface="Calibri"/>
                <a:sym typeface="Calibri"/>
              </a:defRPr>
            </a:lvl3pPr>
            <a:lvl4pPr indent="-228600" lvl="3" marL="18288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4pPr>
            <a:lvl5pPr indent="-228600" lvl="4" marL="22860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5pPr>
            <a:lvl6pPr indent="-228600" lvl="5" marL="27432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6pPr>
            <a:lvl7pPr indent="-228600" lvl="6" marL="32004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7pPr>
            <a:lvl8pPr indent="-228600" lvl="7" marL="36576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8pPr>
            <a:lvl9pPr indent="-228600" lvl="8" marL="41148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9pPr>
          </a:lstStyle>
          <a:p/>
        </p:txBody>
      </p:sp>
      <p:sp>
        <p:nvSpPr>
          <p:cNvPr id="14" name="Google Shape;14;p36"/>
          <p:cNvSpPr/>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5" name="Google Shape;15;p36"/>
          <p:cNvSpP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6" name="Google Shape;16;p36"/>
          <p:cNvSpPr txBox="1"/>
          <p:nvPr>
            <p:ph idx="12" type="sldNum"/>
          </p:nvPr>
        </p:nvSpPr>
        <p:spPr>
          <a:xfrm>
            <a:off x="6457950" y="6356350"/>
            <a:ext cx="2055812" cy="363537"/>
          </a:xfrm>
          <a:prstGeom prst="rect">
            <a:avLst/>
          </a:prstGeom>
          <a:noFill/>
          <a:ln>
            <a:noFill/>
          </a:ln>
        </p:spPr>
        <p:txBody>
          <a:bodyPr anchorCtr="0" anchor="ctr" bIns="46800" lIns="90000" spcFirstLastPara="1" rIns="90000" wrap="square" tIns="46800">
            <a:noAutofit/>
          </a:bodyPr>
          <a:lstStyle>
            <a:lvl1pPr indent="0" lvl="0"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 name="Shape 21"/>
        <p:cNvGrpSpPr/>
        <p:nvPr/>
      </p:nvGrpSpPr>
      <p:grpSpPr>
        <a:xfrm>
          <a:off x="0" y="0"/>
          <a:ext cx="0" cy="0"/>
          <a:chOff x="0" y="0"/>
          <a:chExt cx="0" cy="0"/>
        </a:xfrm>
      </p:grpSpPr>
      <p:sp>
        <p:nvSpPr>
          <p:cNvPr id="22" name="Google Shape;22;p38"/>
          <p:cNvSpPr txBox="1"/>
          <p:nvPr>
            <p:ph type="title"/>
          </p:nvPr>
        </p:nvSpPr>
        <p:spPr>
          <a:xfrm>
            <a:off x="628650" y="365125"/>
            <a:ext cx="7885112" cy="1323975"/>
          </a:xfrm>
          <a:prstGeom prst="rect">
            <a:avLst/>
          </a:prstGeom>
          <a:noFill/>
          <a:ln>
            <a:noFill/>
          </a:ln>
        </p:spPr>
        <p:txBody>
          <a:bodyPr anchorCtr="0" anchor="ctr" bIns="46800" lIns="90000" spcFirstLastPara="1" rIns="90000" wrap="square" tIns="46800">
            <a:noAutofit/>
          </a:bodyPr>
          <a:lstStyle>
            <a:lvl1pPr lvl="0"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9pPr>
          </a:lstStyle>
          <a:p/>
        </p:txBody>
      </p:sp>
      <p:sp>
        <p:nvSpPr>
          <p:cNvPr id="23" name="Google Shape;23;p38"/>
          <p:cNvSpPr txBox="1"/>
          <p:nvPr>
            <p:ph idx="1" type="body"/>
          </p:nvPr>
        </p:nvSpPr>
        <p:spPr>
          <a:xfrm>
            <a:off x="628650" y="1825625"/>
            <a:ext cx="7885112" cy="4349750"/>
          </a:xfrm>
          <a:prstGeom prst="rect">
            <a:avLst/>
          </a:prstGeom>
          <a:noFill/>
          <a:ln>
            <a:noFill/>
          </a:ln>
        </p:spPr>
        <p:txBody>
          <a:bodyPr anchorCtr="0" anchor="t" bIns="46800" lIns="90000" spcFirstLastPara="1" rIns="90000" wrap="square" tIns="46800">
            <a:noAutofit/>
          </a:bodyPr>
          <a:lstStyle>
            <a:lvl1pPr indent="-228600" lvl="0" marL="457200" marR="0" rtl="0" algn="l">
              <a:lnSpc>
                <a:spcPct val="90000"/>
              </a:lnSpc>
              <a:spcBef>
                <a:spcPts val="700"/>
              </a:spcBef>
              <a:spcAft>
                <a:spcPts val="0"/>
              </a:spcAft>
              <a:buSzPts val="1400"/>
              <a:buNone/>
              <a:defRPr b="0" i="0" sz="2100" u="none" cap="none" strike="noStrike">
                <a:solidFill>
                  <a:srgbClr val="000000"/>
                </a:solidFill>
                <a:latin typeface="Calibri"/>
                <a:ea typeface="Calibri"/>
                <a:cs typeface="Calibri"/>
                <a:sym typeface="Calibri"/>
              </a:defRPr>
            </a:lvl1pPr>
            <a:lvl2pPr indent="-228600" lvl="1" marL="914400" marR="0" rtl="0" algn="l">
              <a:lnSpc>
                <a:spcPct val="90000"/>
              </a:lnSpc>
              <a:spcBef>
                <a:spcPts val="300"/>
              </a:spcBef>
              <a:spcAft>
                <a:spcPts val="0"/>
              </a:spcAft>
              <a:buSzPts val="1400"/>
              <a:buNone/>
              <a:defRPr b="0" i="0" sz="1800" u="none" cap="none" strike="noStrike">
                <a:solidFill>
                  <a:srgbClr val="000000"/>
                </a:solidFill>
                <a:latin typeface="Calibri"/>
                <a:ea typeface="Calibri"/>
                <a:cs typeface="Calibri"/>
                <a:sym typeface="Calibri"/>
              </a:defRPr>
            </a:lvl2pPr>
            <a:lvl3pPr indent="-228600" lvl="2" marL="1371600" marR="0" rtl="0" algn="l">
              <a:lnSpc>
                <a:spcPct val="90000"/>
              </a:lnSpc>
              <a:spcBef>
                <a:spcPts val="300"/>
              </a:spcBef>
              <a:spcAft>
                <a:spcPts val="0"/>
              </a:spcAft>
              <a:buSzPts val="1400"/>
              <a:buNone/>
              <a:defRPr b="0" i="0" sz="1500" u="none" cap="none" strike="noStrike">
                <a:solidFill>
                  <a:srgbClr val="000000"/>
                </a:solidFill>
                <a:latin typeface="Calibri"/>
                <a:ea typeface="Calibri"/>
                <a:cs typeface="Calibri"/>
                <a:sym typeface="Calibri"/>
              </a:defRPr>
            </a:lvl3pPr>
            <a:lvl4pPr indent="-228600" lvl="3" marL="18288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4pPr>
            <a:lvl5pPr indent="-228600" lvl="4" marL="22860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5pPr>
            <a:lvl6pPr indent="-228600" lvl="5" marL="27432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6pPr>
            <a:lvl7pPr indent="-228600" lvl="6" marL="32004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7pPr>
            <a:lvl8pPr indent="-228600" lvl="7" marL="36576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8pPr>
            <a:lvl9pPr indent="-228600" lvl="8" marL="41148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9pPr>
          </a:lstStyle>
          <a:p/>
        </p:txBody>
      </p:sp>
      <p:sp>
        <p:nvSpPr>
          <p:cNvPr id="24" name="Google Shape;24;p38"/>
          <p:cNvSpPr/>
          <p:nvPr/>
        </p:nvSpPr>
        <p:spPr>
          <a:xfrm>
            <a:off x="838200" y="6245225"/>
            <a:ext cx="1901825" cy="476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5" name="Google Shape;25;p38"/>
          <p:cNvSpPr/>
          <p:nvPr/>
        </p:nvSpPr>
        <p:spPr>
          <a:xfrm>
            <a:off x="3429000" y="6245225"/>
            <a:ext cx="2895600" cy="476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26" name="Google Shape;26;p38"/>
          <p:cNvSpPr txBox="1"/>
          <p:nvPr>
            <p:ph idx="12" type="sldNum"/>
          </p:nvPr>
        </p:nvSpPr>
        <p:spPr>
          <a:xfrm>
            <a:off x="6937375" y="6245225"/>
            <a:ext cx="1900237" cy="474662"/>
          </a:xfrm>
          <a:prstGeom prst="rect">
            <a:avLst/>
          </a:prstGeom>
          <a:noFill/>
          <a:ln>
            <a:noFill/>
          </a:ln>
        </p:spPr>
        <p:txBody>
          <a:bodyPr anchorCtr="0" anchor="ctr" bIns="46800" lIns="90000" spcFirstLastPara="1" rIns="90000" wrap="square" tIns="46800">
            <a:noAutofit/>
          </a:bodyPr>
          <a:lstStyle>
            <a:lvl1pPr indent="0" lvl="0"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 name="Shape 31"/>
        <p:cNvGrpSpPr/>
        <p:nvPr/>
      </p:nvGrpSpPr>
      <p:grpSpPr>
        <a:xfrm>
          <a:off x="0" y="0"/>
          <a:ext cx="0" cy="0"/>
          <a:chOff x="0" y="0"/>
          <a:chExt cx="0" cy="0"/>
        </a:xfrm>
      </p:grpSpPr>
      <p:sp>
        <p:nvSpPr>
          <p:cNvPr id="32" name="Google Shape;32;p40"/>
          <p:cNvSpPr txBox="1"/>
          <p:nvPr>
            <p:ph type="title"/>
          </p:nvPr>
        </p:nvSpPr>
        <p:spPr>
          <a:xfrm>
            <a:off x="628650" y="365125"/>
            <a:ext cx="7885112" cy="1323975"/>
          </a:xfrm>
          <a:prstGeom prst="rect">
            <a:avLst/>
          </a:prstGeom>
          <a:noFill/>
          <a:ln>
            <a:noFill/>
          </a:ln>
        </p:spPr>
        <p:txBody>
          <a:bodyPr anchorCtr="0" anchor="ctr" bIns="46800" lIns="90000" spcFirstLastPara="1" rIns="90000" wrap="square" tIns="46800">
            <a:noAutofit/>
          </a:bodyPr>
          <a:lstStyle>
            <a:lvl1pPr lvl="0"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rgbClr val="000000"/>
                </a:solidFill>
                <a:latin typeface="Calibri"/>
                <a:ea typeface="Calibri"/>
                <a:cs typeface="Calibri"/>
                <a:sym typeface="Calibri"/>
              </a:defRPr>
            </a:lvl9pPr>
          </a:lstStyle>
          <a:p/>
        </p:txBody>
      </p:sp>
      <p:sp>
        <p:nvSpPr>
          <p:cNvPr id="33" name="Google Shape;33;p40"/>
          <p:cNvSpPr txBox="1"/>
          <p:nvPr>
            <p:ph idx="1" type="body"/>
          </p:nvPr>
        </p:nvSpPr>
        <p:spPr>
          <a:xfrm>
            <a:off x="628650" y="1825625"/>
            <a:ext cx="7885112" cy="4349750"/>
          </a:xfrm>
          <a:prstGeom prst="rect">
            <a:avLst/>
          </a:prstGeom>
          <a:noFill/>
          <a:ln>
            <a:noFill/>
          </a:ln>
        </p:spPr>
        <p:txBody>
          <a:bodyPr anchorCtr="0" anchor="t" bIns="46800" lIns="90000" spcFirstLastPara="1" rIns="90000" wrap="square" tIns="46800">
            <a:noAutofit/>
          </a:bodyPr>
          <a:lstStyle>
            <a:lvl1pPr indent="-228600" lvl="0" marL="457200" marR="0" rtl="0" algn="l">
              <a:lnSpc>
                <a:spcPct val="90000"/>
              </a:lnSpc>
              <a:spcBef>
                <a:spcPts val="700"/>
              </a:spcBef>
              <a:spcAft>
                <a:spcPts val="0"/>
              </a:spcAft>
              <a:buSzPts val="1400"/>
              <a:buNone/>
              <a:defRPr b="0" i="0" sz="2100" u="none" cap="none" strike="noStrike">
                <a:solidFill>
                  <a:srgbClr val="000000"/>
                </a:solidFill>
                <a:latin typeface="Calibri"/>
                <a:ea typeface="Calibri"/>
                <a:cs typeface="Calibri"/>
                <a:sym typeface="Calibri"/>
              </a:defRPr>
            </a:lvl1pPr>
            <a:lvl2pPr indent="-228600" lvl="1" marL="914400" marR="0" rtl="0" algn="l">
              <a:lnSpc>
                <a:spcPct val="90000"/>
              </a:lnSpc>
              <a:spcBef>
                <a:spcPts val="300"/>
              </a:spcBef>
              <a:spcAft>
                <a:spcPts val="0"/>
              </a:spcAft>
              <a:buSzPts val="1400"/>
              <a:buNone/>
              <a:defRPr b="0" i="0" sz="1800" u="none" cap="none" strike="noStrike">
                <a:solidFill>
                  <a:srgbClr val="000000"/>
                </a:solidFill>
                <a:latin typeface="Calibri"/>
                <a:ea typeface="Calibri"/>
                <a:cs typeface="Calibri"/>
                <a:sym typeface="Calibri"/>
              </a:defRPr>
            </a:lvl2pPr>
            <a:lvl3pPr indent="-228600" lvl="2" marL="1371600" marR="0" rtl="0" algn="l">
              <a:lnSpc>
                <a:spcPct val="90000"/>
              </a:lnSpc>
              <a:spcBef>
                <a:spcPts val="300"/>
              </a:spcBef>
              <a:spcAft>
                <a:spcPts val="0"/>
              </a:spcAft>
              <a:buSzPts val="1400"/>
              <a:buNone/>
              <a:defRPr b="0" i="0" sz="1500" u="none" cap="none" strike="noStrike">
                <a:solidFill>
                  <a:srgbClr val="000000"/>
                </a:solidFill>
                <a:latin typeface="Calibri"/>
                <a:ea typeface="Calibri"/>
                <a:cs typeface="Calibri"/>
                <a:sym typeface="Calibri"/>
              </a:defRPr>
            </a:lvl3pPr>
            <a:lvl4pPr indent="-228600" lvl="3" marL="18288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4pPr>
            <a:lvl5pPr indent="-228600" lvl="4" marL="22860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5pPr>
            <a:lvl6pPr indent="-228600" lvl="5" marL="27432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6pPr>
            <a:lvl7pPr indent="-228600" lvl="6" marL="32004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7pPr>
            <a:lvl8pPr indent="-228600" lvl="7" marL="36576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8pPr>
            <a:lvl9pPr indent="-228600" lvl="8" marL="4114800" marR="0" rtl="0" algn="l">
              <a:lnSpc>
                <a:spcPct val="90000"/>
              </a:lnSpc>
              <a:spcBef>
                <a:spcPts val="300"/>
              </a:spcBef>
              <a:spcAft>
                <a:spcPts val="0"/>
              </a:spcAft>
              <a:buSzPts val="1400"/>
              <a:buNone/>
              <a:defRPr b="0" i="0" sz="1300" u="none" cap="none" strike="noStrike">
                <a:solidFill>
                  <a:srgbClr val="000000"/>
                </a:solidFill>
                <a:latin typeface="Calibri"/>
                <a:ea typeface="Calibri"/>
                <a:cs typeface="Calibri"/>
                <a:sym typeface="Calibri"/>
              </a:defRPr>
            </a:lvl9pPr>
          </a:lstStyle>
          <a:p/>
        </p:txBody>
      </p:sp>
      <p:sp>
        <p:nvSpPr>
          <p:cNvPr id="34" name="Google Shape;34;p40"/>
          <p:cNvSpPr/>
          <p:nvPr/>
        </p:nvSpPr>
        <p:spPr>
          <a:xfrm>
            <a:off x="838200" y="6245225"/>
            <a:ext cx="1901825" cy="476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5" name="Google Shape;35;p40"/>
          <p:cNvSpPr/>
          <p:nvPr/>
        </p:nvSpPr>
        <p:spPr>
          <a:xfrm>
            <a:off x="3429000" y="6245225"/>
            <a:ext cx="2895600" cy="4762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6" name="Google Shape;36;p40"/>
          <p:cNvSpPr txBox="1"/>
          <p:nvPr>
            <p:ph idx="12" type="sldNum"/>
          </p:nvPr>
        </p:nvSpPr>
        <p:spPr>
          <a:xfrm>
            <a:off x="6937375" y="6245225"/>
            <a:ext cx="1900237" cy="474662"/>
          </a:xfrm>
          <a:prstGeom prst="rect">
            <a:avLst/>
          </a:prstGeom>
          <a:noFill/>
          <a:ln>
            <a:noFill/>
          </a:ln>
        </p:spPr>
        <p:txBody>
          <a:bodyPr anchorCtr="0" anchor="ctr" bIns="46800" lIns="90000" spcFirstLastPara="1" rIns="90000" wrap="square" tIns="46800">
            <a:noAutofit/>
          </a:bodyPr>
          <a:lstStyle>
            <a:lvl1pPr indent="0" lvl="0"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mlDrawing" Target="../drawings/vmlDrawing1.vml"/><Relationship Id="rId4" Type="http://schemas.openxmlformats.org/officeDocument/2006/relationships/oleObject" Target="../embeddings/oleObject1.bin"/><Relationship Id="rId9" Type="http://schemas.openxmlformats.org/officeDocument/2006/relationships/image" Target="../media/image12.png"/><Relationship Id="rId5" Type="http://schemas.openxmlformats.org/officeDocument/2006/relationships/oleObject" Target="../embeddings/oleObject1.bin"/><Relationship Id="rId6" Type="http://schemas.openxmlformats.org/officeDocument/2006/relationships/image" Target="../media/image4.png"/><Relationship Id="rId7" Type="http://schemas.openxmlformats.org/officeDocument/2006/relationships/oleObject" Target="../embeddings/oleObject2.bin"/><Relationship Id="rId8"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mlDrawing" Target="../drawings/vmlDrawing2.vml"/><Relationship Id="rId4" Type="http://schemas.openxmlformats.org/officeDocument/2006/relationships/oleObject" Target="../embeddings/oleObject3.bin"/><Relationship Id="rId9" Type="http://schemas.openxmlformats.org/officeDocument/2006/relationships/image" Target="../media/image9.png"/><Relationship Id="rId5" Type="http://schemas.openxmlformats.org/officeDocument/2006/relationships/oleObject" Target="../embeddings/oleObject3.bin"/><Relationship Id="rId6" Type="http://schemas.openxmlformats.org/officeDocument/2006/relationships/image" Target="../media/image2.png"/><Relationship Id="rId7" Type="http://schemas.openxmlformats.org/officeDocument/2006/relationships/oleObject" Target="../embeddings/oleObject4.bin"/><Relationship Id="rId8"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mlDrawing" Target="../drawings/vmlDrawing3.vml"/><Relationship Id="rId4" Type="http://schemas.openxmlformats.org/officeDocument/2006/relationships/oleObject" Target="../embeddings/oleObject5.bin"/><Relationship Id="rId9" Type="http://schemas.openxmlformats.org/officeDocument/2006/relationships/image" Target="../media/image9.png"/><Relationship Id="rId5" Type="http://schemas.openxmlformats.org/officeDocument/2006/relationships/oleObject" Target="../embeddings/oleObject5.bin"/><Relationship Id="rId6" Type="http://schemas.openxmlformats.org/officeDocument/2006/relationships/image" Target="../media/image13.png"/><Relationship Id="rId7" Type="http://schemas.openxmlformats.org/officeDocument/2006/relationships/oleObject" Target="../embeddings/oleObject6.bin"/><Relationship Id="rId8"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1" Type="http://schemas.openxmlformats.org/officeDocument/2006/relationships/oleObject" Target="../embeddings/oleObject9.bin"/><Relationship Id="rId10" Type="http://schemas.openxmlformats.org/officeDocument/2006/relationships/oleObject" Target="../embeddings/oleObject9.bin"/><Relationship Id="rId13" Type="http://schemas.openxmlformats.org/officeDocument/2006/relationships/oleObject" Target="../embeddings/oleObject10.bin"/><Relationship Id="rId12" Type="http://schemas.openxmlformats.org/officeDocument/2006/relationships/oleObject" Target="../embeddings/oleObject10.bin"/><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vmlDrawing" Target="../drawings/vmlDrawing4.vml"/><Relationship Id="rId4" Type="http://schemas.openxmlformats.org/officeDocument/2006/relationships/oleObject" Target="../embeddings/oleObject7.bin"/><Relationship Id="rId9" Type="http://schemas.openxmlformats.org/officeDocument/2006/relationships/image" Target="../media/image1.png"/><Relationship Id="rId14" Type="http://schemas.openxmlformats.org/officeDocument/2006/relationships/image" Target="../media/image18.png"/><Relationship Id="rId5" Type="http://schemas.openxmlformats.org/officeDocument/2006/relationships/oleObject" Target="../embeddings/oleObject7.bin"/><Relationship Id="rId6" Type="http://schemas.openxmlformats.org/officeDocument/2006/relationships/image" Target="../media/image5.png"/><Relationship Id="rId7" Type="http://schemas.openxmlformats.org/officeDocument/2006/relationships/oleObject" Target="../embeddings/oleObject8.bin"/><Relationship Id="rId8"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1" Type="http://schemas.openxmlformats.org/officeDocument/2006/relationships/oleObject" Target="../embeddings/oleObject13.bin"/><Relationship Id="rId10" Type="http://schemas.openxmlformats.org/officeDocument/2006/relationships/oleObject" Target="../embeddings/oleObject13.bin"/><Relationship Id="rId13" Type="http://schemas.openxmlformats.org/officeDocument/2006/relationships/oleObject" Target="../embeddings/oleObject14.bin"/><Relationship Id="rId12" Type="http://schemas.openxmlformats.org/officeDocument/2006/relationships/image" Target="../media/image15.png"/><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vmlDrawing" Target="../drawings/vmlDrawing5.vml"/><Relationship Id="rId4" Type="http://schemas.openxmlformats.org/officeDocument/2006/relationships/oleObject" Target="../embeddings/oleObject11.bin"/><Relationship Id="rId9" Type="http://schemas.openxmlformats.org/officeDocument/2006/relationships/image" Target="../media/image6.png"/><Relationship Id="rId15" Type="http://schemas.openxmlformats.org/officeDocument/2006/relationships/image" Target="../media/image19.png"/><Relationship Id="rId14" Type="http://schemas.openxmlformats.org/officeDocument/2006/relationships/oleObject" Target="../embeddings/oleObject14.bin"/><Relationship Id="rId5" Type="http://schemas.openxmlformats.org/officeDocument/2006/relationships/oleObject" Target="../embeddings/oleObject11.bin"/><Relationship Id="rId6" Type="http://schemas.openxmlformats.org/officeDocument/2006/relationships/image" Target="../media/image16.png"/><Relationship Id="rId7" Type="http://schemas.openxmlformats.org/officeDocument/2006/relationships/oleObject" Target="../embeddings/oleObject12.bin"/><Relationship Id="rId8" Type="http://schemas.openxmlformats.org/officeDocument/2006/relationships/oleObject" Target="../embeddings/oleObject12.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vmlDrawing" Target="../drawings/vmlDrawing6.vml"/><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oleObject" Target="../embeddings/oleObject15.bin"/><Relationship Id="rId7" Type="http://schemas.openxmlformats.org/officeDocument/2006/relationships/oleObject" Target="../embeddings/oleObject15.bin"/><Relationship Id="rId8"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0" Type="http://schemas.openxmlformats.org/officeDocument/2006/relationships/oleObject" Target="../embeddings/oleObject22.bin"/><Relationship Id="rId11" Type="http://schemas.openxmlformats.org/officeDocument/2006/relationships/oleObject" Target="../embeddings/oleObject18.bin"/><Relationship Id="rId22" Type="http://schemas.openxmlformats.org/officeDocument/2006/relationships/oleObject" Target="../embeddings/oleObject23.bin"/><Relationship Id="rId10" Type="http://schemas.openxmlformats.org/officeDocument/2006/relationships/oleObject" Target="../embeddings/oleObject18.bin"/><Relationship Id="rId21" Type="http://schemas.openxmlformats.org/officeDocument/2006/relationships/oleObject" Target="../embeddings/oleObject22.bin"/><Relationship Id="rId13" Type="http://schemas.openxmlformats.org/officeDocument/2006/relationships/oleObject" Target="../embeddings/oleObject19.bin"/><Relationship Id="rId12" Type="http://schemas.openxmlformats.org/officeDocument/2006/relationships/image" Target="../media/image20.png"/><Relationship Id="rId23" Type="http://schemas.openxmlformats.org/officeDocument/2006/relationships/oleObject" Target="../embeddings/oleObject23.bin"/><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vmlDrawing" Target="../drawings/vmlDrawing7.vml"/><Relationship Id="rId4" Type="http://schemas.openxmlformats.org/officeDocument/2006/relationships/oleObject" Target="../embeddings/oleObject16.bin"/><Relationship Id="rId9" Type="http://schemas.openxmlformats.org/officeDocument/2006/relationships/image" Target="../media/image28.png"/><Relationship Id="rId15" Type="http://schemas.openxmlformats.org/officeDocument/2006/relationships/oleObject" Target="../embeddings/oleObject20.bin"/><Relationship Id="rId14" Type="http://schemas.openxmlformats.org/officeDocument/2006/relationships/oleObject" Target="../embeddings/oleObject19.bin"/><Relationship Id="rId17" Type="http://schemas.openxmlformats.org/officeDocument/2006/relationships/oleObject" Target="../embeddings/oleObject21.bin"/><Relationship Id="rId16" Type="http://schemas.openxmlformats.org/officeDocument/2006/relationships/oleObject" Target="../embeddings/oleObject20.bin"/><Relationship Id="rId5" Type="http://schemas.openxmlformats.org/officeDocument/2006/relationships/oleObject" Target="../embeddings/oleObject16.bin"/><Relationship Id="rId19" Type="http://schemas.openxmlformats.org/officeDocument/2006/relationships/image" Target="../media/image27.png"/><Relationship Id="rId6" Type="http://schemas.openxmlformats.org/officeDocument/2006/relationships/image" Target="../media/image26.png"/><Relationship Id="rId18" Type="http://schemas.openxmlformats.org/officeDocument/2006/relationships/oleObject" Target="../embeddings/oleObject21.bin"/><Relationship Id="rId7" Type="http://schemas.openxmlformats.org/officeDocument/2006/relationships/oleObject" Target="../embeddings/oleObject17.bin"/><Relationship Id="rId8" Type="http://schemas.openxmlformats.org/officeDocument/2006/relationships/oleObject" Target="../embeddings/oleObject17.bin"/></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1"/>
          <p:cNvSpPr txBox="1"/>
          <p:nvPr/>
        </p:nvSpPr>
        <p:spPr>
          <a:xfrm>
            <a:off x="0" y="0"/>
            <a:ext cx="9144000" cy="68580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t/>
            </a:r>
            <a:endParaRPr b="0" i="0" sz="1800" u="none">
              <a:solidFill>
                <a:srgbClr val="000000"/>
              </a:solidFill>
              <a:latin typeface="Calibri"/>
              <a:ea typeface="Calibri"/>
              <a:cs typeface="Calibri"/>
              <a:sym typeface="Calibri"/>
            </a:endParaRPr>
          </a:p>
          <a:p>
            <a:pPr indent="0" lvl="0" marL="0" marR="0" rtl="0" algn="ctr">
              <a:lnSpc>
                <a:spcPct val="90000"/>
              </a:lnSpc>
              <a:spcBef>
                <a:spcPts val="700"/>
              </a:spcBef>
              <a:spcAft>
                <a:spcPts val="0"/>
              </a:spcAft>
              <a:buClr>
                <a:srgbClr val="000000"/>
              </a:buClr>
              <a:buSzPts val="4400"/>
              <a:buFont typeface="Arial"/>
              <a:buNone/>
            </a:pPr>
            <a:r>
              <a:t/>
            </a:r>
            <a:endParaRPr b="1" i="0" sz="4400" u="none">
              <a:solidFill>
                <a:srgbClr val="000000"/>
              </a:solidFill>
              <a:latin typeface="Calibri"/>
              <a:ea typeface="Calibri"/>
              <a:cs typeface="Calibri"/>
              <a:sym typeface="Calibri"/>
            </a:endParaRPr>
          </a:p>
          <a:p>
            <a:pPr indent="0" lvl="0" marL="0" marR="0" rtl="0" algn="ctr">
              <a:lnSpc>
                <a:spcPct val="90000"/>
              </a:lnSpc>
              <a:spcBef>
                <a:spcPts val="700"/>
              </a:spcBef>
              <a:spcAft>
                <a:spcPts val="0"/>
              </a:spcAft>
              <a:buClr>
                <a:srgbClr val="44546A"/>
              </a:buClr>
              <a:buSzPts val="4400"/>
              <a:buFont typeface="Calibri"/>
              <a:buNone/>
            </a:pPr>
            <a:r>
              <a:rPr b="1" i="0" lang="en-US" sz="4400" u="sng">
                <a:solidFill>
                  <a:srgbClr val="44546A"/>
                </a:solidFill>
                <a:latin typeface="Calibri"/>
                <a:ea typeface="Calibri"/>
                <a:cs typeface="Calibri"/>
                <a:sym typeface="Calibri"/>
              </a:rPr>
              <a:t>Measures of Central Tendency</a:t>
            </a:r>
            <a:endParaRPr/>
          </a:p>
          <a:p>
            <a:pPr indent="0" lvl="0" marL="0" marR="0" rtl="0" algn="ctr">
              <a:lnSpc>
                <a:spcPct val="90000"/>
              </a:lnSpc>
              <a:spcBef>
                <a:spcPts val="700"/>
              </a:spcBef>
              <a:spcAft>
                <a:spcPts val="0"/>
              </a:spcAft>
              <a:buClr>
                <a:srgbClr val="44546A"/>
              </a:buClr>
              <a:buSzPts val="4400"/>
              <a:buFont typeface="Calibri"/>
              <a:buNone/>
            </a:pPr>
            <a:r>
              <a:rPr b="1" i="0" lang="en-US" sz="4400" u="none">
                <a:solidFill>
                  <a:srgbClr val="44546A"/>
                </a:solidFill>
                <a:latin typeface="Calibri"/>
                <a:ea typeface="Calibri"/>
                <a:cs typeface="Calibri"/>
                <a:sym typeface="Calibri"/>
              </a:rPr>
              <a:t>or</a:t>
            </a:r>
            <a:endParaRPr/>
          </a:p>
          <a:p>
            <a:pPr indent="0" lvl="0" marL="0" marR="0" rtl="0" algn="ctr">
              <a:lnSpc>
                <a:spcPct val="90000"/>
              </a:lnSpc>
              <a:spcBef>
                <a:spcPts val="700"/>
              </a:spcBef>
              <a:spcAft>
                <a:spcPts val="0"/>
              </a:spcAft>
              <a:buClr>
                <a:srgbClr val="44546A"/>
              </a:buClr>
              <a:buSzPts val="4400"/>
              <a:buFont typeface="Calibri"/>
              <a:buNone/>
            </a:pPr>
            <a:r>
              <a:rPr b="1" i="0" lang="en-US" sz="4400" u="sng">
                <a:solidFill>
                  <a:srgbClr val="44546A"/>
                </a:solidFill>
                <a:latin typeface="Calibri"/>
                <a:ea typeface="Calibri"/>
                <a:cs typeface="Calibri"/>
                <a:sym typeface="Calibri"/>
              </a:rPr>
              <a:t>Measures of Location</a:t>
            </a:r>
            <a:endParaRPr/>
          </a:p>
          <a:p>
            <a:pPr indent="0" lvl="0" marL="0" marR="0" rtl="0" algn="ctr">
              <a:lnSpc>
                <a:spcPct val="90000"/>
              </a:lnSpc>
              <a:spcBef>
                <a:spcPts val="700"/>
              </a:spcBef>
              <a:spcAft>
                <a:spcPts val="0"/>
              </a:spcAft>
              <a:buClr>
                <a:srgbClr val="44546A"/>
              </a:buClr>
              <a:buSzPts val="4400"/>
              <a:buFont typeface="Calibri"/>
              <a:buNone/>
            </a:pPr>
            <a:r>
              <a:rPr b="1" i="0" lang="en-US" sz="4400" u="none">
                <a:solidFill>
                  <a:srgbClr val="44546A"/>
                </a:solidFill>
                <a:latin typeface="Calibri"/>
                <a:ea typeface="Calibri"/>
                <a:cs typeface="Calibri"/>
                <a:sym typeface="Calibri"/>
              </a:rPr>
              <a:t>or</a:t>
            </a:r>
            <a:endParaRPr/>
          </a:p>
          <a:p>
            <a:pPr indent="0" lvl="0" marL="0" marR="0" rtl="0" algn="ctr">
              <a:lnSpc>
                <a:spcPct val="90000"/>
              </a:lnSpc>
              <a:spcBef>
                <a:spcPts val="700"/>
              </a:spcBef>
              <a:spcAft>
                <a:spcPts val="0"/>
              </a:spcAft>
              <a:buClr>
                <a:srgbClr val="44546A"/>
              </a:buClr>
              <a:buSzPts val="4400"/>
              <a:buFont typeface="Calibri"/>
              <a:buNone/>
            </a:pPr>
            <a:r>
              <a:rPr b="1" i="0" lang="en-US" sz="4400" u="sng">
                <a:solidFill>
                  <a:srgbClr val="44546A"/>
                </a:solidFill>
                <a:latin typeface="Calibri"/>
                <a:ea typeface="Calibri"/>
                <a:cs typeface="Calibri"/>
                <a:sym typeface="Calibri"/>
              </a:rPr>
              <a:t>Measures of Averages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 name="Shape 51"/>
        <p:cNvGrpSpPr/>
        <p:nvPr/>
      </p:nvGrpSpPr>
      <p:grpSpPr>
        <a:xfrm>
          <a:off x="0" y="0"/>
          <a:ext cx="0" cy="0"/>
          <a:chOff x="0" y="0"/>
          <a:chExt cx="0" cy="0"/>
        </a:xfrm>
      </p:grpSpPr>
      <p:sp>
        <p:nvSpPr>
          <p:cNvPr id="52" name="Google Shape;52;p2"/>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Central Tendency</a:t>
            </a:r>
            <a:endParaRPr/>
          </a:p>
        </p:txBody>
      </p:sp>
      <p:sp>
        <p:nvSpPr>
          <p:cNvPr id="53" name="Google Shape;53;p2"/>
          <p:cNvSpPr txBox="1"/>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Measure of Central Tendency:</a:t>
            </a:r>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A single summary score that best describes the central location of an entire distribution of scores.</a:t>
            </a:r>
            <a:endParaRPr/>
          </a:p>
          <a:p>
            <a:pPr indent="-171450" lvl="2" marL="857250" marR="0" rtl="0" algn="l">
              <a:lnSpc>
                <a:spcPct val="90000"/>
              </a:lnSpc>
              <a:spcBef>
                <a:spcPts val="3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The typical score.</a:t>
            </a:r>
            <a:endParaRPr/>
          </a:p>
          <a:p>
            <a:pPr indent="-171450" lvl="2" marL="857250" marR="0" rtl="0" algn="l">
              <a:lnSpc>
                <a:spcPct val="90000"/>
              </a:lnSpc>
              <a:spcBef>
                <a:spcPts val="3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The center of the distribution.</a:t>
            </a:r>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One distribution can have multiple locations where scores cluster.</a:t>
            </a:r>
            <a:endParaRPr/>
          </a:p>
          <a:p>
            <a:pPr indent="-171450" lvl="2" marL="857250" marR="0" rtl="0" algn="l">
              <a:lnSpc>
                <a:spcPct val="90000"/>
              </a:lnSpc>
              <a:spcBef>
                <a:spcPts val="3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Must decide which measure is best for a given situation.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 name="Shape 58"/>
        <p:cNvGrpSpPr/>
        <p:nvPr/>
      </p:nvGrpSpPr>
      <p:grpSpPr>
        <a:xfrm>
          <a:off x="0" y="0"/>
          <a:ext cx="0" cy="0"/>
          <a:chOff x="0" y="0"/>
          <a:chExt cx="0" cy="0"/>
        </a:xfrm>
      </p:grpSpPr>
      <p:sp>
        <p:nvSpPr>
          <p:cNvPr id="59" name="Google Shape;59;p3"/>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Central Tendency</a:t>
            </a:r>
            <a:endParaRPr/>
          </a:p>
        </p:txBody>
      </p:sp>
      <p:sp>
        <p:nvSpPr>
          <p:cNvPr id="60" name="Google Shape;60;p3"/>
          <p:cNvSpPr txBox="1"/>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000000"/>
              </a:buClr>
              <a:buSzPts val="2100"/>
              <a:buFont typeface="Arial"/>
              <a:buChar char="•"/>
            </a:pPr>
            <a:r>
              <a:rPr b="0" i="0" lang="en-US" sz="2100" u="none">
                <a:solidFill>
                  <a:srgbClr val="000000"/>
                </a:solidFill>
                <a:latin typeface="Calibri"/>
                <a:ea typeface="Calibri"/>
                <a:cs typeface="Calibri"/>
                <a:sym typeface="Calibri"/>
              </a:rPr>
              <a:t>Measures of Central Tendency:</a:t>
            </a:r>
            <a:endParaRPr/>
          </a:p>
          <a:p>
            <a:pPr indent="-171450" lvl="1" marL="514350" marR="0" rtl="0" algn="l">
              <a:lnSpc>
                <a:spcPct val="90000"/>
              </a:lnSpc>
              <a:spcBef>
                <a:spcPts val="30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Mean</a:t>
            </a:r>
            <a:endParaRPr/>
          </a:p>
          <a:p>
            <a:pPr indent="-171450" lvl="2" marL="857250" marR="0" rtl="0" algn="l">
              <a:lnSpc>
                <a:spcPct val="90000"/>
              </a:lnSpc>
              <a:spcBef>
                <a:spcPts val="300"/>
              </a:spcBef>
              <a:spcAft>
                <a:spcPts val="0"/>
              </a:spcAft>
              <a:buClr>
                <a:srgbClr val="000000"/>
              </a:buClr>
              <a:buSzPts val="1500"/>
              <a:buFont typeface="Arial"/>
              <a:buChar char="•"/>
            </a:pPr>
            <a:r>
              <a:rPr b="0" i="0" lang="en-US" sz="1500" u="none" cap="none" strike="noStrike">
                <a:solidFill>
                  <a:srgbClr val="000000"/>
                </a:solidFill>
                <a:latin typeface="Calibri"/>
                <a:ea typeface="Calibri"/>
                <a:cs typeface="Calibri"/>
                <a:sym typeface="Calibri"/>
              </a:rPr>
              <a:t>The sum of all scores divided by the number of scores.</a:t>
            </a:r>
            <a:endParaRPr/>
          </a:p>
          <a:p>
            <a:pPr indent="-171450" lvl="1" marL="514350" marR="0" rtl="0" algn="l">
              <a:lnSpc>
                <a:spcPct val="90000"/>
              </a:lnSpc>
              <a:spcBef>
                <a:spcPts val="30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Median</a:t>
            </a:r>
            <a:endParaRPr/>
          </a:p>
          <a:p>
            <a:pPr indent="-171450" lvl="2" marL="857250" marR="0" rtl="0" algn="l">
              <a:lnSpc>
                <a:spcPct val="90000"/>
              </a:lnSpc>
              <a:spcBef>
                <a:spcPts val="300"/>
              </a:spcBef>
              <a:spcAft>
                <a:spcPts val="0"/>
              </a:spcAft>
              <a:buClr>
                <a:srgbClr val="000000"/>
              </a:buClr>
              <a:buSzPts val="1500"/>
              <a:buFont typeface="Arial"/>
              <a:buChar char="•"/>
            </a:pPr>
            <a:r>
              <a:rPr b="0" i="0" lang="en-US" sz="1500" u="none" cap="none" strike="noStrike">
                <a:solidFill>
                  <a:srgbClr val="000000"/>
                </a:solidFill>
                <a:latin typeface="Calibri"/>
                <a:ea typeface="Calibri"/>
                <a:cs typeface="Calibri"/>
                <a:sym typeface="Calibri"/>
              </a:rPr>
              <a:t>The value that divides the distribution in half when observations are ordered.</a:t>
            </a:r>
            <a:endParaRPr/>
          </a:p>
          <a:p>
            <a:pPr indent="-171450" lvl="1" marL="514350" marR="0" rtl="0" algn="l">
              <a:lnSpc>
                <a:spcPct val="90000"/>
              </a:lnSpc>
              <a:spcBef>
                <a:spcPts val="30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Mode</a:t>
            </a:r>
            <a:endParaRPr/>
          </a:p>
          <a:p>
            <a:pPr indent="-171450" lvl="2" marL="857250" marR="0" rtl="0" algn="l">
              <a:lnSpc>
                <a:spcPct val="90000"/>
              </a:lnSpc>
              <a:spcBef>
                <a:spcPts val="300"/>
              </a:spcBef>
              <a:spcAft>
                <a:spcPts val="0"/>
              </a:spcAft>
              <a:buClr>
                <a:srgbClr val="000000"/>
              </a:buClr>
              <a:buSzPts val="1500"/>
              <a:buFont typeface="Arial"/>
              <a:buChar char="•"/>
            </a:pPr>
            <a:r>
              <a:rPr b="0" i="0" lang="en-US" sz="1500" u="none" cap="none" strike="noStrike">
                <a:solidFill>
                  <a:srgbClr val="000000"/>
                </a:solidFill>
                <a:latin typeface="Calibri"/>
                <a:ea typeface="Calibri"/>
                <a:cs typeface="Calibri"/>
                <a:sym typeface="Calibri"/>
              </a:rPr>
              <a:t>The most frequent score.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4"/>
          <p:cNvSpPr txBox="1"/>
          <p:nvPr/>
        </p:nvSpPr>
        <p:spPr>
          <a:xfrm>
            <a:off x="685800" y="325437"/>
            <a:ext cx="7658100" cy="12350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Measure of central tendency</a:t>
            </a:r>
            <a:endParaRPr/>
          </a:p>
        </p:txBody>
      </p:sp>
      <p:sp>
        <p:nvSpPr>
          <p:cNvPr id="67" name="Google Shape;67;p4"/>
          <p:cNvSpPr txBox="1"/>
          <p:nvPr/>
        </p:nvSpPr>
        <p:spPr>
          <a:xfrm>
            <a:off x="519112" y="1895475"/>
            <a:ext cx="357187" cy="947737"/>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  </a:t>
            </a:r>
            <a:endParaRPr/>
          </a:p>
        </p:txBody>
      </p:sp>
      <p:graphicFrame>
        <p:nvGraphicFramePr>
          <p:cNvPr id="68" name="Google Shape;68;p4"/>
          <p:cNvGraphicFramePr/>
          <p:nvPr/>
        </p:nvGraphicFramePr>
        <p:xfrm>
          <a:off x="2286000" y="4953000"/>
          <a:ext cx="1966912" cy="1498600"/>
        </p:xfrm>
        <a:graphic>
          <a:graphicData uri="http://schemas.openxmlformats.org/presentationml/2006/ole">
            <mc:AlternateContent>
              <mc:Choice Requires="v">
                <p:oleObj r:id="rId4" imgH="1498600" imgW="1966912" spid="_x0000_s1">
                  <p:embed/>
                </p:oleObj>
              </mc:Choice>
              <mc:Fallback>
                <p:oleObj r:id="rId5" imgH="1498600" imgW="1966912">
                  <p:embed/>
                  <p:pic>
                    <p:nvPicPr>
                      <p:cNvPr id="68" name="Google Shape;68;p4"/>
                      <p:cNvPicPr preferRelativeResize="0"/>
                      <p:nvPr/>
                    </p:nvPicPr>
                    <p:blipFill rotWithShape="1">
                      <a:blip r:embed="rId6">
                        <a:alphaModFix/>
                      </a:blip>
                      <a:srcRect b="0" l="0" r="0" t="0"/>
                      <a:stretch/>
                    </p:blipFill>
                    <p:spPr>
                      <a:xfrm>
                        <a:off x="2286000" y="4953000"/>
                        <a:ext cx="1966912" cy="1498600"/>
                      </a:xfrm>
                      <a:prstGeom prst="rect">
                        <a:avLst/>
                      </a:prstGeom>
                      <a:noFill/>
                      <a:ln>
                        <a:noFill/>
                      </a:ln>
                    </p:spPr>
                  </p:pic>
                </p:oleObj>
              </mc:Fallback>
            </mc:AlternateContent>
          </a:graphicData>
        </a:graphic>
      </p:graphicFrame>
      <p:graphicFrame>
        <p:nvGraphicFramePr>
          <p:cNvPr id="69" name="Google Shape;69;p4"/>
          <p:cNvGraphicFramePr/>
          <p:nvPr/>
        </p:nvGraphicFramePr>
        <p:xfrm>
          <a:off x="6553200" y="4876800"/>
          <a:ext cx="1717675" cy="1498600"/>
        </p:xfrm>
        <a:graphic>
          <a:graphicData uri="http://schemas.openxmlformats.org/presentationml/2006/ole">
            <mc:AlternateContent>
              <mc:Choice Requires="v">
                <p:oleObj r:id="rId7" imgH="1498600" imgW="1717675" spid="_x0000_s2">
                  <p:embed/>
                </p:oleObj>
              </mc:Choice>
              <mc:Fallback>
                <p:oleObj r:id="rId8" imgH="1498600" imgW="1717675">
                  <p:embed/>
                  <p:pic>
                    <p:nvPicPr>
                      <p:cNvPr id="69" name="Google Shape;69;p4"/>
                      <p:cNvPicPr preferRelativeResize="0"/>
                      <p:nvPr/>
                    </p:nvPicPr>
                    <p:blipFill rotWithShape="1">
                      <a:blip r:embed="rId9">
                        <a:alphaModFix/>
                      </a:blip>
                      <a:srcRect b="0" l="0" r="0" t="0"/>
                      <a:stretch/>
                    </p:blipFill>
                    <p:spPr>
                      <a:xfrm>
                        <a:off x="6553200" y="4876800"/>
                        <a:ext cx="1717675" cy="1498600"/>
                      </a:xfrm>
                      <a:prstGeom prst="rect">
                        <a:avLst/>
                      </a:prstGeom>
                      <a:noFill/>
                      <a:ln>
                        <a:noFill/>
                      </a:ln>
                    </p:spPr>
                  </p:pic>
                </p:oleObj>
              </mc:Fallback>
            </mc:AlternateContent>
          </a:graphicData>
        </a:graphic>
      </p:graphicFrame>
      <p:sp>
        <p:nvSpPr>
          <p:cNvPr id="70" name="Google Shape;70;p4"/>
          <p:cNvSpPr txBox="1"/>
          <p:nvPr/>
        </p:nvSpPr>
        <p:spPr>
          <a:xfrm>
            <a:off x="457200" y="5562600"/>
            <a:ext cx="1724025" cy="520700"/>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Population</a:t>
            </a:r>
            <a:endParaRPr/>
          </a:p>
        </p:txBody>
      </p:sp>
      <p:sp>
        <p:nvSpPr>
          <p:cNvPr id="71" name="Google Shape;71;p4"/>
          <p:cNvSpPr txBox="1"/>
          <p:nvPr/>
        </p:nvSpPr>
        <p:spPr>
          <a:xfrm>
            <a:off x="4878387" y="5486400"/>
            <a:ext cx="1246187" cy="520700"/>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Sample</a:t>
            </a:r>
            <a:endParaRPr/>
          </a:p>
        </p:txBody>
      </p:sp>
      <p:sp>
        <p:nvSpPr>
          <p:cNvPr id="72" name="Google Shape;72;p4"/>
          <p:cNvSpPr txBox="1"/>
          <p:nvPr/>
        </p:nvSpPr>
        <p:spPr>
          <a:xfrm>
            <a:off x="990600" y="1219200"/>
            <a:ext cx="7556500" cy="4189412"/>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Times New Roman"/>
              <a:buNone/>
            </a:pPr>
            <a:r>
              <a:rPr b="1" i="1" lang="en-US" sz="3200" u="none">
                <a:solidFill>
                  <a:srgbClr val="000000"/>
                </a:solidFill>
                <a:latin typeface="Times New Roman"/>
                <a:ea typeface="Times New Roman"/>
                <a:cs typeface="Times New Roman"/>
                <a:sym typeface="Times New Roman"/>
              </a:rPr>
              <a:t>Arithmetic Mean (Mean)</a:t>
            </a:r>
            <a:endParaRPr/>
          </a:p>
          <a:p>
            <a:pPr indent="0" lvl="0" marL="0" marR="0" rtl="0" algn="l">
              <a:lnSpc>
                <a:spcPct val="40000"/>
              </a:lnSpc>
              <a:spcBef>
                <a:spcPts val="0"/>
              </a:spcBef>
              <a:spcAft>
                <a:spcPts val="0"/>
              </a:spcAft>
              <a:buClr>
                <a:srgbClr val="000000"/>
              </a:buClr>
              <a:buSzPts val="3200"/>
              <a:buFont typeface="Arial"/>
              <a:buNone/>
            </a:pPr>
            <a:r>
              <a:t/>
            </a:r>
            <a:endParaRPr b="1" i="1" sz="32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Definition:</a:t>
            </a:r>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Sum of all the observation s divided by the number of the observations</a:t>
            </a:r>
            <a:endParaRPr/>
          </a:p>
          <a:p>
            <a:pPr indent="0" lvl="0" marL="0" marR="0" rtl="0" algn="l">
              <a:lnSpc>
                <a:spcPct val="100000"/>
              </a:lnSpc>
              <a:spcBef>
                <a:spcPts val="0"/>
              </a:spcBef>
              <a:spcAft>
                <a:spcPts val="0"/>
              </a:spcAft>
              <a:buClr>
                <a:srgbClr val="000000"/>
              </a:buClr>
              <a:buSzPts val="2800"/>
              <a:buFont typeface="Arial"/>
              <a:buNone/>
            </a:pPr>
            <a:r>
              <a:t/>
            </a:r>
            <a:endParaRPr b="0" i="0" sz="28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The arithmetic mean is the most common measure of the central location of a sample. </a:t>
            </a:r>
            <a:endParaRPr/>
          </a:p>
          <a:p>
            <a:pPr indent="0" lvl="0" marL="0" marR="0" rtl="0" algn="l">
              <a:lnSpc>
                <a:spcPct val="100000"/>
              </a:lnSpc>
              <a:spcBef>
                <a:spcPts val="0"/>
              </a:spcBef>
              <a:spcAft>
                <a:spcPts val="0"/>
              </a:spcAft>
              <a:buNone/>
            </a:pPr>
            <a:r>
              <a:t/>
            </a:r>
            <a:endParaRPr b="0" i="0" sz="2800" u="non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5"/>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Mean</a:t>
            </a:r>
            <a:endParaRPr/>
          </a:p>
        </p:txBody>
      </p:sp>
      <p:sp>
        <p:nvSpPr>
          <p:cNvPr id="79" name="Google Shape;79;p5"/>
          <p:cNvSpPr txBox="1"/>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000000"/>
              </a:buClr>
              <a:buSzPts val="2100"/>
              <a:buFont typeface="Arial"/>
              <a:buChar char="•"/>
            </a:pPr>
            <a:r>
              <a:rPr b="0" i="0" lang="en-US" sz="2100" u="none">
                <a:solidFill>
                  <a:srgbClr val="000000"/>
                </a:solidFill>
                <a:latin typeface="Calibri"/>
                <a:ea typeface="Calibri"/>
                <a:cs typeface="Calibri"/>
                <a:sym typeface="Calibri"/>
              </a:rPr>
              <a:t>Population</a:t>
            </a:r>
            <a:endParaRPr/>
          </a:p>
          <a:p>
            <a:pPr indent="-171450" lvl="0" marL="171450" marR="0" rtl="0" algn="l">
              <a:lnSpc>
                <a:spcPct val="90000"/>
              </a:lnSpc>
              <a:spcBef>
                <a:spcPts val="700"/>
              </a:spcBef>
              <a:spcAft>
                <a:spcPts val="0"/>
              </a:spcAft>
              <a:buClr>
                <a:srgbClr val="000000"/>
              </a:buClr>
              <a:buSzPts val="2100"/>
              <a:buFont typeface="Arial"/>
              <a:buNone/>
            </a:pPr>
            <a:r>
              <a:t/>
            </a:r>
            <a:endParaRPr b="0" i="0" sz="2100" u="none">
              <a:solidFill>
                <a:srgbClr val="000000"/>
              </a:solidFill>
              <a:latin typeface="Calibri"/>
              <a:ea typeface="Calibri"/>
              <a:cs typeface="Calibri"/>
              <a:sym typeface="Calibri"/>
            </a:endParaRPr>
          </a:p>
          <a:p>
            <a:pPr indent="-171450" lvl="1" marL="514350" marR="0" rtl="0" algn="l">
              <a:lnSpc>
                <a:spcPct val="90000"/>
              </a:lnSpc>
              <a:spcBef>
                <a:spcPts val="30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171450" lvl="0" marL="171450" marR="0" rtl="0" algn="l">
              <a:lnSpc>
                <a:spcPct val="90000"/>
              </a:lnSpc>
              <a:spcBef>
                <a:spcPts val="700"/>
              </a:spcBef>
              <a:spcAft>
                <a:spcPts val="0"/>
              </a:spcAft>
              <a:buClr>
                <a:srgbClr val="000000"/>
              </a:buClr>
              <a:buSzPts val="2100"/>
              <a:buFont typeface="Arial"/>
              <a:buChar char="•"/>
            </a:pPr>
            <a:r>
              <a:rPr b="0" i="0" lang="en-US" sz="2100" u="none">
                <a:solidFill>
                  <a:srgbClr val="000000"/>
                </a:solidFill>
                <a:latin typeface="Calibri"/>
                <a:ea typeface="Calibri"/>
                <a:cs typeface="Calibri"/>
                <a:sym typeface="Calibri"/>
              </a:rPr>
              <a:t>Sample</a:t>
            </a:r>
            <a:endParaRPr/>
          </a:p>
        </p:txBody>
      </p:sp>
      <p:graphicFrame>
        <p:nvGraphicFramePr>
          <p:cNvPr id="80" name="Google Shape;80;p5"/>
          <p:cNvGraphicFramePr/>
          <p:nvPr/>
        </p:nvGraphicFramePr>
        <p:xfrm>
          <a:off x="3657600" y="2438400"/>
          <a:ext cx="1371600" cy="989012"/>
        </p:xfrm>
        <a:graphic>
          <a:graphicData uri="http://schemas.openxmlformats.org/presentationml/2006/ole">
            <mc:AlternateContent>
              <mc:Choice Requires="v">
                <p:oleObj r:id="rId4" imgH="989012" imgW="1371600" spid="_x0000_s1">
                  <p:embed/>
                </p:oleObj>
              </mc:Choice>
              <mc:Fallback>
                <p:oleObj r:id="rId5" imgH="989012" imgW="1371600">
                  <p:embed/>
                  <p:pic>
                    <p:nvPicPr>
                      <p:cNvPr id="80" name="Google Shape;80;p5"/>
                      <p:cNvPicPr preferRelativeResize="0"/>
                      <p:nvPr/>
                    </p:nvPicPr>
                    <p:blipFill rotWithShape="1">
                      <a:blip r:embed="rId6">
                        <a:alphaModFix/>
                      </a:blip>
                      <a:srcRect b="0" l="0" r="0" t="0"/>
                      <a:stretch/>
                    </p:blipFill>
                    <p:spPr>
                      <a:xfrm>
                        <a:off x="3657600" y="2438400"/>
                        <a:ext cx="1371600" cy="989012"/>
                      </a:xfrm>
                      <a:prstGeom prst="rect">
                        <a:avLst/>
                      </a:prstGeom>
                      <a:noFill/>
                      <a:ln>
                        <a:noFill/>
                      </a:ln>
                    </p:spPr>
                  </p:pic>
                </p:oleObj>
              </mc:Fallback>
            </mc:AlternateContent>
          </a:graphicData>
        </a:graphic>
      </p:graphicFrame>
      <p:graphicFrame>
        <p:nvGraphicFramePr>
          <p:cNvPr id="81" name="Google Shape;81;p5"/>
          <p:cNvGraphicFramePr/>
          <p:nvPr/>
        </p:nvGraphicFramePr>
        <p:xfrm>
          <a:off x="3657600" y="4572000"/>
          <a:ext cx="1447800" cy="996950"/>
        </p:xfrm>
        <a:graphic>
          <a:graphicData uri="http://schemas.openxmlformats.org/presentationml/2006/ole">
            <mc:AlternateContent>
              <mc:Choice Requires="v">
                <p:oleObj r:id="rId7" imgH="996950" imgW="1447800" spid="_x0000_s2">
                  <p:embed/>
                </p:oleObj>
              </mc:Choice>
              <mc:Fallback>
                <p:oleObj r:id="rId8" imgH="996950" imgW="1447800">
                  <p:embed/>
                  <p:pic>
                    <p:nvPicPr>
                      <p:cNvPr id="81" name="Google Shape;81;p5"/>
                      <p:cNvPicPr preferRelativeResize="0"/>
                      <p:nvPr/>
                    </p:nvPicPr>
                    <p:blipFill rotWithShape="1">
                      <a:blip r:embed="rId9">
                        <a:alphaModFix/>
                      </a:blip>
                      <a:srcRect b="0" l="0" r="0" t="0"/>
                      <a:stretch/>
                    </p:blipFill>
                    <p:spPr>
                      <a:xfrm>
                        <a:off x="3657600" y="4572000"/>
                        <a:ext cx="1447800" cy="996950"/>
                      </a:xfrm>
                      <a:prstGeom prst="rect">
                        <a:avLst/>
                      </a:prstGeom>
                      <a:noFill/>
                      <a:ln>
                        <a:noFill/>
                      </a:ln>
                    </p:spPr>
                  </p:pic>
                </p:oleObj>
              </mc:Fallback>
            </mc:AlternateContent>
          </a:graphicData>
        </a:graphic>
      </p:graphicFrame>
      <p:sp>
        <p:nvSpPr>
          <p:cNvPr id="82" name="Google Shape;82;p5"/>
          <p:cNvSpPr txBox="1"/>
          <p:nvPr/>
        </p:nvSpPr>
        <p:spPr>
          <a:xfrm>
            <a:off x="2286000" y="2743200"/>
            <a:ext cx="1143000" cy="460375"/>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a:solidFill>
                  <a:srgbClr val="000000"/>
                </a:solidFill>
                <a:latin typeface="Tahoma"/>
                <a:ea typeface="Tahoma"/>
                <a:cs typeface="Tahoma"/>
                <a:sym typeface="Tahoma"/>
              </a:rPr>
              <a:t>“mu”</a:t>
            </a:r>
            <a:endParaRPr/>
          </a:p>
        </p:txBody>
      </p:sp>
      <p:sp>
        <p:nvSpPr>
          <p:cNvPr id="83" name="Google Shape;83;p5"/>
          <p:cNvSpPr txBox="1"/>
          <p:nvPr/>
        </p:nvSpPr>
        <p:spPr>
          <a:xfrm>
            <a:off x="1828800" y="4876800"/>
            <a:ext cx="1143000" cy="825500"/>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a:solidFill>
                  <a:srgbClr val="000000"/>
                </a:solidFill>
                <a:latin typeface="Tahoma"/>
                <a:ea typeface="Tahoma"/>
                <a:cs typeface="Tahoma"/>
                <a:sym typeface="Tahoma"/>
              </a:rPr>
              <a:t>“X bar”</a:t>
            </a:r>
            <a:endParaRPr/>
          </a:p>
        </p:txBody>
      </p:sp>
      <p:cxnSp>
        <p:nvCxnSpPr>
          <p:cNvPr id="84" name="Google Shape;84;p5"/>
          <p:cNvCxnSpPr/>
          <p:nvPr/>
        </p:nvCxnSpPr>
        <p:spPr>
          <a:xfrm>
            <a:off x="3200400" y="2971800"/>
            <a:ext cx="381000" cy="1587"/>
          </a:xfrm>
          <a:prstGeom prst="straightConnector1">
            <a:avLst/>
          </a:prstGeom>
          <a:noFill/>
          <a:ln cap="flat" cmpd="sng" w="9525">
            <a:solidFill>
              <a:srgbClr val="000000"/>
            </a:solidFill>
            <a:prstDash val="solid"/>
            <a:miter lim="800000"/>
            <a:headEnd len="med" w="med" type="none"/>
            <a:tailEnd len="med" w="med" type="triangle"/>
          </a:ln>
        </p:spPr>
      </p:cxnSp>
      <p:cxnSp>
        <p:nvCxnSpPr>
          <p:cNvPr id="85" name="Google Shape;85;p5"/>
          <p:cNvCxnSpPr/>
          <p:nvPr/>
        </p:nvCxnSpPr>
        <p:spPr>
          <a:xfrm>
            <a:off x="2971800" y="5105400"/>
            <a:ext cx="381000" cy="1587"/>
          </a:xfrm>
          <a:prstGeom prst="straightConnector1">
            <a:avLst/>
          </a:prstGeom>
          <a:noFill/>
          <a:ln cap="flat" cmpd="sng" w="9525">
            <a:solidFill>
              <a:srgbClr val="000000"/>
            </a:solidFill>
            <a:prstDash val="solid"/>
            <a:miter lim="800000"/>
            <a:headEnd len="med" w="med" type="none"/>
            <a:tailEnd len="med" w="med" type="triangle"/>
          </a:ln>
        </p:spPr>
      </p:cxnSp>
      <p:cxnSp>
        <p:nvCxnSpPr>
          <p:cNvPr id="86" name="Google Shape;86;p5"/>
          <p:cNvCxnSpPr/>
          <p:nvPr/>
        </p:nvCxnSpPr>
        <p:spPr>
          <a:xfrm flipH="1">
            <a:off x="4649787" y="4114800"/>
            <a:ext cx="304800" cy="457200"/>
          </a:xfrm>
          <a:prstGeom prst="straightConnector1">
            <a:avLst/>
          </a:prstGeom>
          <a:noFill/>
          <a:ln cap="flat" cmpd="sng" w="9525">
            <a:solidFill>
              <a:srgbClr val="000000"/>
            </a:solidFill>
            <a:prstDash val="solid"/>
            <a:miter lim="800000"/>
            <a:headEnd len="med" w="med" type="none"/>
            <a:tailEnd len="med" w="med" type="triangle"/>
          </a:ln>
        </p:spPr>
      </p:cxnSp>
      <p:sp>
        <p:nvSpPr>
          <p:cNvPr id="87" name="Google Shape;87;p5"/>
          <p:cNvSpPr txBox="1"/>
          <p:nvPr/>
        </p:nvSpPr>
        <p:spPr>
          <a:xfrm>
            <a:off x="4495800" y="914400"/>
            <a:ext cx="4267200" cy="825500"/>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a:solidFill>
                  <a:srgbClr val="000000"/>
                </a:solidFill>
                <a:latin typeface="Tahoma"/>
                <a:ea typeface="Tahoma"/>
                <a:cs typeface="Tahoma"/>
                <a:sym typeface="Tahoma"/>
              </a:rPr>
              <a:t>“sigma”, the sum of X, add up all scores</a:t>
            </a:r>
            <a:endParaRPr/>
          </a:p>
        </p:txBody>
      </p:sp>
      <p:cxnSp>
        <p:nvCxnSpPr>
          <p:cNvPr id="88" name="Google Shape;88;p5"/>
          <p:cNvCxnSpPr/>
          <p:nvPr/>
        </p:nvCxnSpPr>
        <p:spPr>
          <a:xfrm rot="10800000">
            <a:off x="4878387" y="5411787"/>
            <a:ext cx="685800" cy="152400"/>
          </a:xfrm>
          <a:prstGeom prst="straightConnector1">
            <a:avLst/>
          </a:prstGeom>
          <a:noFill/>
          <a:ln cap="flat" cmpd="sng" w="9525">
            <a:solidFill>
              <a:srgbClr val="000000"/>
            </a:solidFill>
            <a:prstDash val="solid"/>
            <a:miter lim="800000"/>
            <a:headEnd len="med" w="med" type="none"/>
            <a:tailEnd len="med" w="med" type="triangle"/>
          </a:ln>
        </p:spPr>
      </p:cxnSp>
      <p:sp>
        <p:nvSpPr>
          <p:cNvPr id="89" name="Google Shape;89;p5"/>
          <p:cNvSpPr txBox="1"/>
          <p:nvPr/>
        </p:nvSpPr>
        <p:spPr>
          <a:xfrm>
            <a:off x="5715000" y="5486400"/>
            <a:ext cx="3124200" cy="1190625"/>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a:solidFill>
                  <a:srgbClr val="000000"/>
                </a:solidFill>
                <a:latin typeface="Tahoma"/>
                <a:ea typeface="Tahoma"/>
                <a:cs typeface="Tahoma"/>
                <a:sym typeface="Tahoma"/>
              </a:rPr>
              <a:t>“n”, the total number of scores in a sample</a:t>
            </a:r>
            <a:endParaRPr/>
          </a:p>
        </p:txBody>
      </p:sp>
      <p:cxnSp>
        <p:nvCxnSpPr>
          <p:cNvPr id="90" name="Google Shape;90;p5"/>
          <p:cNvCxnSpPr/>
          <p:nvPr/>
        </p:nvCxnSpPr>
        <p:spPr>
          <a:xfrm flipH="1">
            <a:off x="4649787" y="1828800"/>
            <a:ext cx="381000" cy="609600"/>
          </a:xfrm>
          <a:prstGeom prst="straightConnector1">
            <a:avLst/>
          </a:prstGeom>
          <a:noFill/>
          <a:ln cap="flat" cmpd="sng" w="9525">
            <a:solidFill>
              <a:srgbClr val="000000"/>
            </a:solidFill>
            <a:prstDash val="solid"/>
            <a:miter lim="800000"/>
            <a:headEnd len="med" w="med" type="none"/>
            <a:tailEnd len="med" w="med" type="triangle"/>
          </a:ln>
        </p:spPr>
      </p:cxnSp>
      <p:sp>
        <p:nvSpPr>
          <p:cNvPr id="91" name="Google Shape;91;p5"/>
          <p:cNvSpPr txBox="1"/>
          <p:nvPr/>
        </p:nvSpPr>
        <p:spPr>
          <a:xfrm>
            <a:off x="5105400" y="2667000"/>
            <a:ext cx="3505200" cy="1190625"/>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a:solidFill>
                  <a:srgbClr val="000000"/>
                </a:solidFill>
                <a:latin typeface="Tahoma"/>
                <a:ea typeface="Tahoma"/>
                <a:cs typeface="Tahoma"/>
                <a:sym typeface="Tahoma"/>
              </a:rPr>
              <a:t>“N”, the total number of scores in a population</a:t>
            </a:r>
            <a:endParaRPr/>
          </a:p>
        </p:txBody>
      </p:sp>
      <p:cxnSp>
        <p:nvCxnSpPr>
          <p:cNvPr id="92" name="Google Shape;92;p5"/>
          <p:cNvCxnSpPr/>
          <p:nvPr/>
        </p:nvCxnSpPr>
        <p:spPr>
          <a:xfrm flipH="1">
            <a:off x="4802187" y="2971800"/>
            <a:ext cx="381000" cy="228600"/>
          </a:xfrm>
          <a:prstGeom prst="straightConnector1">
            <a:avLst/>
          </a:prstGeom>
          <a:noFill/>
          <a:ln cap="flat" cmpd="sng" w="9525">
            <a:solidFill>
              <a:srgbClr val="000000"/>
            </a:solidFill>
            <a:prstDash val="solid"/>
            <a:miter lim="800000"/>
            <a:headEnd len="med" w="med" type="none"/>
            <a:tailEnd len="med" w="med" type="triangle"/>
          </a:ln>
        </p:spPr>
      </p:cxnSp>
      <p:sp>
        <p:nvSpPr>
          <p:cNvPr id="93" name="Google Shape;93;p5"/>
          <p:cNvSpPr txBox="1"/>
          <p:nvPr/>
        </p:nvSpPr>
        <p:spPr>
          <a:xfrm>
            <a:off x="4876800" y="3657600"/>
            <a:ext cx="4267200" cy="825500"/>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400"/>
              <a:buFont typeface="Tahoma"/>
              <a:buNone/>
            </a:pPr>
            <a:r>
              <a:rPr b="0" i="0" lang="en-US" sz="2400" u="none">
                <a:solidFill>
                  <a:srgbClr val="000000"/>
                </a:solidFill>
                <a:latin typeface="Tahoma"/>
                <a:ea typeface="Tahoma"/>
                <a:cs typeface="Tahoma"/>
                <a:sym typeface="Tahoma"/>
              </a:rPr>
              <a:t>“sigma”, the sum of X, add up all scores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sp>
        <p:nvSpPr>
          <p:cNvPr id="99" name="Google Shape;99;p6"/>
          <p:cNvSpPr txBox="1"/>
          <p:nvPr/>
        </p:nvSpPr>
        <p:spPr>
          <a:xfrm>
            <a:off x="990600" y="1143000"/>
            <a:ext cx="5048250" cy="3629025"/>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3600"/>
              <a:buFont typeface="Times New Roman"/>
              <a:buNone/>
            </a:pPr>
            <a:r>
              <a:rPr b="0" i="0" lang="en-US" sz="3600" u="none">
                <a:solidFill>
                  <a:srgbClr val="000000"/>
                </a:solidFill>
                <a:latin typeface="Times New Roman"/>
                <a:ea typeface="Times New Roman"/>
                <a:cs typeface="Times New Roman"/>
                <a:sym typeface="Times New Roman"/>
              </a:rPr>
              <a:t>Mean: Example</a:t>
            </a:r>
            <a:endParaRPr/>
          </a:p>
          <a:p>
            <a:pPr indent="0" lvl="0" marL="0" marR="0" rtl="0" algn="l">
              <a:lnSpc>
                <a:spcPct val="100000"/>
              </a:lnSpc>
              <a:spcBef>
                <a:spcPts val="0"/>
              </a:spcBef>
              <a:spcAft>
                <a:spcPts val="0"/>
              </a:spcAft>
              <a:buClr>
                <a:srgbClr val="000000"/>
              </a:buClr>
              <a:buSzPts val="2800"/>
              <a:buFont typeface="Arial"/>
              <a:buNone/>
            </a:pPr>
            <a:r>
              <a:t/>
            </a:r>
            <a:endParaRPr b="0" i="0" sz="28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Data:  		{1,3,6,7,2,3,5}</a:t>
            </a:r>
            <a:endParaRPr/>
          </a:p>
          <a:p>
            <a:pPr indent="0" lvl="0" marL="0" marR="0" rtl="0" algn="l">
              <a:lnSpc>
                <a:spcPct val="100000"/>
              </a:lnSpc>
              <a:spcBef>
                <a:spcPts val="0"/>
              </a:spcBef>
              <a:spcAft>
                <a:spcPts val="0"/>
              </a:spcAft>
              <a:buClr>
                <a:srgbClr val="000000"/>
              </a:buClr>
              <a:buSzPts val="2800"/>
              <a:buFont typeface="Arial"/>
              <a:buNone/>
            </a:pPr>
            <a:r>
              <a:t/>
            </a:r>
            <a:endParaRPr b="0" i="0" sz="2800" u="none">
              <a:solidFill>
                <a:srgbClr val="000000"/>
              </a:solidFill>
              <a:latin typeface="Times New Roman"/>
              <a:ea typeface="Times New Roman"/>
              <a:cs typeface="Times New Roman"/>
              <a:sym typeface="Times New Roman"/>
            </a:endParaRPr>
          </a:p>
          <a:p>
            <a:pPr indent="-177800" lvl="1" marL="45720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 number of observations:   7</a:t>
            </a:r>
            <a:endParaRPr/>
          </a:p>
          <a:p>
            <a:pPr indent="-177800" lvl="1" marL="45720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Sum of observations:       27</a:t>
            </a:r>
            <a:endParaRPr/>
          </a:p>
          <a:p>
            <a:pPr indent="-177800" lvl="1" marL="45720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Mean: 			      3.9</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7"/>
          <p:cNvSpPr txBox="1"/>
          <p:nvPr/>
        </p:nvSpPr>
        <p:spPr>
          <a:xfrm>
            <a:off x="381000" y="0"/>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Simple Frequency Distributions</a:t>
            </a:r>
            <a:endParaRPr/>
          </a:p>
        </p:txBody>
      </p:sp>
      <p:graphicFrame>
        <p:nvGraphicFramePr>
          <p:cNvPr id="106" name="Google Shape;106;p7"/>
          <p:cNvGraphicFramePr/>
          <p:nvPr/>
        </p:nvGraphicFramePr>
        <p:xfrm>
          <a:off x="457200" y="1600200"/>
          <a:ext cx="3000000" cy="3000000"/>
        </p:xfrm>
        <a:graphic>
          <a:graphicData uri="http://schemas.openxmlformats.org/drawingml/2006/table">
            <a:tbl>
              <a:tblPr>
                <a:noFill/>
                <a:tableStyleId>{C2908E96-DDF9-4DDB-B88B-BD18917C8AA7}</a:tableStyleId>
              </a:tblPr>
              <a:tblGrid>
                <a:gridCol w="2692400"/>
                <a:gridCol w="1346200"/>
              </a:tblGrid>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name</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36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X</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136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Student1</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20</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Student2</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23</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Student3</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15</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Student4</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21</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Student5</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15</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Student6</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21</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Student7</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15</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Student8</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367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20</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3675">
                      <a:solidFill>
                        <a:srgbClr val="000000"/>
                      </a:solidFill>
                      <a:prstDash val="solid"/>
                      <a:round/>
                      <a:headEnd len="sm" w="sm" type="none"/>
                      <a:tailEnd len="sm" w="sm" type="none"/>
                    </a:lnB>
                  </a:tcPr>
                </a:tc>
              </a:tr>
            </a:tbl>
          </a:graphicData>
        </a:graphic>
      </p:graphicFrame>
      <p:graphicFrame>
        <p:nvGraphicFramePr>
          <p:cNvPr id="107" name="Google Shape;107;p7"/>
          <p:cNvGraphicFramePr/>
          <p:nvPr/>
        </p:nvGraphicFramePr>
        <p:xfrm>
          <a:off x="6546850" y="1905000"/>
          <a:ext cx="3000000" cy="3000000"/>
        </p:xfrm>
        <a:graphic>
          <a:graphicData uri="http://schemas.openxmlformats.org/drawingml/2006/table">
            <a:tbl>
              <a:tblPr>
                <a:noFill/>
                <a:tableStyleId>{C2908E96-DDF9-4DDB-B88B-BD18917C8AA7}</a:tableStyleId>
              </a:tblPr>
              <a:tblGrid>
                <a:gridCol w="593725"/>
                <a:gridCol w="741350"/>
              </a:tblGrid>
              <a:tr h="533400">
                <a:tc>
                  <a:txBody>
                    <a:bodyPr/>
                    <a:lstStyle/>
                    <a:p>
                      <a:pPr indent="0" lvl="0" marL="0" marR="0" rtl="0" algn="l">
                        <a:lnSpc>
                          <a:spcPct val="93000"/>
                        </a:lnSpc>
                        <a:spcBef>
                          <a:spcPts val="0"/>
                        </a:spcBef>
                        <a:spcAft>
                          <a:spcPts val="0"/>
                        </a:spcAft>
                        <a:buClr>
                          <a:srgbClr val="000000"/>
                        </a:buClr>
                        <a:buSzPts val="2800"/>
                        <a:buFont typeface="Arial"/>
                        <a:buNone/>
                      </a:pPr>
                      <a:r>
                        <a:rPr b="0" i="1" lang="en-US" sz="2800" u="none" cap="none" strike="noStrike">
                          <a:solidFill>
                            <a:srgbClr val="000000"/>
                          </a:solidFill>
                          <a:latin typeface="Arial"/>
                          <a:ea typeface="Arial"/>
                          <a:cs typeface="Arial"/>
                          <a:sym typeface="Arial"/>
                        </a:rPr>
                        <a:t>f</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136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X</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136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3</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15</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20</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21</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20700">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1</a:t>
                      </a:r>
                      <a:endParaRPr/>
                    </a:p>
                  </a:txBody>
                  <a:tcPr marT="46800" marB="46800" marR="90000" marL="90000">
                    <a:lnL cap="flat" cmpd="sng" w="1367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3675">
                      <a:solidFill>
                        <a:srgbClr val="000000"/>
                      </a:solidFill>
                      <a:prstDash val="solid"/>
                      <a:round/>
                      <a:headEnd len="sm" w="sm" type="none"/>
                      <a:tailEnd len="sm" w="sm" type="none"/>
                    </a:lnB>
                  </a:tcPr>
                </a:tc>
                <a:tc>
                  <a:txBody>
                    <a:bodyPr/>
                    <a:lstStyle/>
                    <a:p>
                      <a:pPr indent="0" lvl="0" marL="0" marR="0" rtl="0" algn="l">
                        <a:lnSpc>
                          <a:spcPct val="93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23</a:t>
                      </a:r>
                      <a:endParaRPr/>
                    </a:p>
                  </a:txBody>
                  <a:tcPr marT="46800" marB="46800" marR="90000" marL="90000">
                    <a:lnL cap="flat" cmpd="sng" w="9525">
                      <a:solidFill>
                        <a:srgbClr val="000000"/>
                      </a:solidFill>
                      <a:prstDash val="solid"/>
                      <a:round/>
                      <a:headEnd len="sm" w="sm" type="none"/>
                      <a:tailEnd len="sm" w="sm" type="none"/>
                    </a:lnL>
                    <a:lnR cap="flat" cmpd="sng" w="1367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3675">
                      <a:solidFill>
                        <a:srgbClr val="000000"/>
                      </a:solidFill>
                      <a:prstDash val="solid"/>
                      <a:round/>
                      <a:headEnd len="sm" w="sm" type="none"/>
                      <a:tailEnd len="sm" w="sm" type="none"/>
                    </a:lnB>
                  </a:tcPr>
                </a:tc>
              </a:tr>
            </a:tbl>
          </a:graphicData>
        </a:graphic>
      </p:graphicFrame>
      <p:sp>
        <p:nvSpPr>
          <p:cNvPr id="108" name="Google Shape;108;p7"/>
          <p:cNvSpPr txBox="1"/>
          <p:nvPr/>
        </p:nvSpPr>
        <p:spPr>
          <a:xfrm>
            <a:off x="1223962" y="1143000"/>
            <a:ext cx="2347912" cy="368300"/>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raw-score distribution</a:t>
            </a:r>
            <a:endParaRPr/>
          </a:p>
        </p:txBody>
      </p:sp>
      <p:sp>
        <p:nvSpPr>
          <p:cNvPr id="109" name="Google Shape;109;p7"/>
          <p:cNvSpPr txBox="1"/>
          <p:nvPr/>
        </p:nvSpPr>
        <p:spPr>
          <a:xfrm>
            <a:off x="5795962" y="1143000"/>
            <a:ext cx="2347912" cy="368300"/>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frequency distribution</a:t>
            </a:r>
            <a:endParaRPr/>
          </a:p>
        </p:txBody>
      </p:sp>
      <p:cxnSp>
        <p:nvCxnSpPr>
          <p:cNvPr id="110" name="Google Shape;110;p7"/>
          <p:cNvCxnSpPr/>
          <p:nvPr/>
        </p:nvCxnSpPr>
        <p:spPr>
          <a:xfrm>
            <a:off x="4724400" y="2895600"/>
            <a:ext cx="1219200" cy="1587"/>
          </a:xfrm>
          <a:prstGeom prst="straightConnector1">
            <a:avLst/>
          </a:prstGeom>
          <a:noFill/>
          <a:ln cap="flat" cmpd="sng" w="76300">
            <a:solidFill>
              <a:srgbClr val="000000"/>
            </a:solidFill>
            <a:prstDash val="solid"/>
            <a:miter lim="800000"/>
            <a:headEnd len="med" w="med" type="none"/>
            <a:tailEnd len="med" w="med" type="triangle"/>
          </a:ln>
        </p:spPr>
      </p:cxnSp>
      <p:grpSp>
        <p:nvGrpSpPr>
          <p:cNvPr id="111" name="Google Shape;111;p7"/>
          <p:cNvGrpSpPr/>
          <p:nvPr/>
        </p:nvGrpSpPr>
        <p:grpSpPr>
          <a:xfrm>
            <a:off x="6300787" y="4343400"/>
            <a:ext cx="1511299" cy="1117600"/>
            <a:chOff x="3969" y="2736"/>
            <a:chExt cx="952" cy="704"/>
          </a:xfrm>
        </p:grpSpPr>
        <p:grpSp>
          <p:nvGrpSpPr>
            <p:cNvPr id="112" name="Google Shape;112;p7"/>
            <p:cNvGrpSpPr/>
            <p:nvPr/>
          </p:nvGrpSpPr>
          <p:grpSpPr>
            <a:xfrm>
              <a:off x="3969" y="2935"/>
              <a:ext cx="586" cy="365"/>
              <a:chOff x="3969" y="2935"/>
              <a:chExt cx="586" cy="365"/>
            </a:xfrm>
          </p:grpSpPr>
          <p:sp>
            <p:nvSpPr>
              <p:cNvPr id="113" name="Google Shape;113;p7"/>
              <p:cNvSpPr txBox="1"/>
              <p:nvPr/>
            </p:nvSpPr>
            <p:spPr>
              <a:xfrm>
                <a:off x="3969" y="2935"/>
                <a:ext cx="586" cy="365"/>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a:solidFill>
                      <a:srgbClr val="000000"/>
                    </a:solidFill>
                    <a:latin typeface="Noto Sans Symbols"/>
                    <a:ea typeface="Noto Sans Symbols"/>
                    <a:cs typeface="Noto Sans Symbols"/>
                    <a:sym typeface="Noto Sans Symbols"/>
                  </a:rPr>
                  <a:t>χ =</a:t>
                </a:r>
                <a:endParaRPr/>
              </a:p>
            </p:txBody>
          </p:sp>
          <p:cxnSp>
            <p:nvCxnSpPr>
              <p:cNvPr id="114" name="Google Shape;114;p7"/>
              <p:cNvCxnSpPr/>
              <p:nvPr/>
            </p:nvCxnSpPr>
            <p:spPr>
              <a:xfrm>
                <a:off x="4090" y="3024"/>
                <a:ext cx="191" cy="0"/>
              </a:xfrm>
              <a:prstGeom prst="straightConnector1">
                <a:avLst/>
              </a:prstGeom>
              <a:noFill/>
              <a:ln cap="flat" cmpd="sng" w="9525">
                <a:solidFill>
                  <a:srgbClr val="000000"/>
                </a:solidFill>
                <a:prstDash val="solid"/>
                <a:miter lim="800000"/>
                <a:headEnd len="med" w="med" type="none"/>
                <a:tailEnd len="med" w="med" type="none"/>
              </a:ln>
            </p:spPr>
          </p:cxnSp>
        </p:grpSp>
        <p:grpSp>
          <p:nvGrpSpPr>
            <p:cNvPr id="115" name="Google Shape;115;p7"/>
            <p:cNvGrpSpPr/>
            <p:nvPr/>
          </p:nvGrpSpPr>
          <p:grpSpPr>
            <a:xfrm>
              <a:off x="4443" y="2736"/>
              <a:ext cx="478" cy="704"/>
              <a:chOff x="4443" y="2736"/>
              <a:chExt cx="478" cy="704"/>
            </a:xfrm>
          </p:grpSpPr>
          <p:sp>
            <p:nvSpPr>
              <p:cNvPr id="116" name="Google Shape;116;p7"/>
              <p:cNvSpPr txBox="1"/>
              <p:nvPr/>
            </p:nvSpPr>
            <p:spPr>
              <a:xfrm>
                <a:off x="4667" y="2736"/>
                <a:ext cx="254" cy="365"/>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a:solidFill>
                      <a:srgbClr val="000000"/>
                    </a:solidFill>
                    <a:latin typeface="Noto Sans Symbols"/>
                    <a:ea typeface="Noto Sans Symbols"/>
                    <a:cs typeface="Noto Sans Symbols"/>
                    <a:sym typeface="Noto Sans Symbols"/>
                  </a:rPr>
                  <a:t>χ</a:t>
                </a:r>
                <a:endParaRPr/>
              </a:p>
            </p:txBody>
          </p:sp>
          <p:grpSp>
            <p:nvGrpSpPr>
              <p:cNvPr id="117" name="Google Shape;117;p7"/>
              <p:cNvGrpSpPr/>
              <p:nvPr/>
            </p:nvGrpSpPr>
            <p:grpSpPr>
              <a:xfrm>
                <a:off x="4443" y="2784"/>
                <a:ext cx="464" cy="656"/>
                <a:chOff x="4443" y="2784"/>
                <a:chExt cx="464" cy="656"/>
              </a:xfrm>
            </p:grpSpPr>
            <p:sp>
              <p:nvSpPr>
                <p:cNvPr id="118" name="Google Shape;118;p7"/>
                <p:cNvSpPr txBox="1"/>
                <p:nvPr/>
              </p:nvSpPr>
              <p:spPr>
                <a:xfrm>
                  <a:off x="4443" y="2784"/>
                  <a:ext cx="464" cy="365"/>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3200"/>
                    <a:buFont typeface="Noto Sans Symbols"/>
                    <a:buNone/>
                  </a:pPr>
                  <a:r>
                    <a:rPr b="0" i="0" lang="en-US" sz="3200" u="none">
                      <a:solidFill>
                        <a:srgbClr val="000000"/>
                      </a:solidFill>
                      <a:latin typeface="Noto Sans Symbols"/>
                      <a:ea typeface="Noto Sans Symbols"/>
                      <a:cs typeface="Noto Sans Symbols"/>
                      <a:sym typeface="Noto Sans Symbols"/>
                    </a:rPr>
                    <a:t>Σ</a:t>
                  </a:r>
                  <a:r>
                    <a:rPr b="0" i="1" lang="en-US" sz="3200" u="none">
                      <a:solidFill>
                        <a:srgbClr val="000000"/>
                      </a:solidFill>
                      <a:latin typeface="Times New Roman"/>
                      <a:ea typeface="Times New Roman"/>
                      <a:cs typeface="Times New Roman"/>
                      <a:sym typeface="Times New Roman"/>
                    </a:rPr>
                    <a:t>f</a:t>
                  </a:r>
                  <a:r>
                    <a:rPr b="0" i="0" lang="en-US" sz="3200" u="none">
                      <a:solidFill>
                        <a:srgbClr val="000000"/>
                      </a:solidFill>
                      <a:latin typeface="Noto Sans Symbols"/>
                      <a:ea typeface="Noto Sans Symbols"/>
                      <a:cs typeface="Noto Sans Symbols"/>
                      <a:sym typeface="Noto Sans Symbols"/>
                    </a:rPr>
                    <a:t> </a:t>
                  </a:r>
                  <a:endParaRPr/>
                </a:p>
              </p:txBody>
            </p:sp>
            <p:sp>
              <p:nvSpPr>
                <p:cNvPr id="119" name="Google Shape;119;p7"/>
                <p:cNvSpPr txBox="1"/>
                <p:nvPr/>
              </p:nvSpPr>
              <p:spPr>
                <a:xfrm>
                  <a:off x="4560" y="3151"/>
                  <a:ext cx="254" cy="289"/>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400"/>
                    <a:buFont typeface="Arial"/>
                    <a:buNone/>
                  </a:pPr>
                  <a:r>
                    <a:rPr b="0" i="1" lang="en-US" sz="2400" u="none">
                      <a:solidFill>
                        <a:srgbClr val="000000"/>
                      </a:solidFill>
                      <a:latin typeface="Arial"/>
                      <a:ea typeface="Arial"/>
                      <a:cs typeface="Arial"/>
                      <a:sym typeface="Arial"/>
                    </a:rPr>
                    <a:t>N</a:t>
                  </a:r>
                  <a:endParaRPr/>
                </a:p>
              </p:txBody>
            </p:sp>
            <p:cxnSp>
              <p:nvCxnSpPr>
                <p:cNvPr id="120" name="Google Shape;120;p7"/>
                <p:cNvCxnSpPr/>
                <p:nvPr/>
              </p:nvCxnSpPr>
              <p:spPr>
                <a:xfrm>
                  <a:off x="4474" y="3151"/>
                  <a:ext cx="431" cy="0"/>
                </a:xfrm>
                <a:prstGeom prst="straightConnector1">
                  <a:avLst/>
                </a:prstGeom>
                <a:noFill/>
                <a:ln cap="flat" cmpd="sng" w="9525">
                  <a:solidFill>
                    <a:srgbClr val="000000"/>
                  </a:solidFill>
                  <a:prstDash val="solid"/>
                  <a:miter lim="800000"/>
                  <a:headEnd len="med" w="med" type="none"/>
                  <a:tailEnd len="med" w="med" type="none"/>
                </a:ln>
              </p:spPr>
            </p:cxnSp>
          </p:grpSp>
        </p:grpSp>
      </p:grpSp>
      <p:sp>
        <p:nvSpPr>
          <p:cNvPr id="121" name="Google Shape;121;p7"/>
          <p:cNvSpPr txBox="1"/>
          <p:nvPr/>
        </p:nvSpPr>
        <p:spPr>
          <a:xfrm>
            <a:off x="5337175" y="4876800"/>
            <a:ext cx="750887" cy="368300"/>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Mean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8"/>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Mean</a:t>
            </a:r>
            <a:endParaRPr/>
          </a:p>
        </p:txBody>
      </p:sp>
      <p:sp>
        <p:nvSpPr>
          <p:cNvPr id="128" name="Google Shape;128;p8"/>
          <p:cNvSpPr txBox="1"/>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Is the balance point of a distribution.</a:t>
            </a:r>
            <a:endParaRPr/>
          </a:p>
          <a:p>
            <a:pPr indent="-177800" lvl="0" marL="171450" marR="0" rtl="0" algn="l">
              <a:lnSpc>
                <a:spcPct val="90000"/>
              </a:lnSpc>
              <a:spcBef>
                <a:spcPts val="70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The sum of negative deviations from the mean exactly equals the sum of positive deviations from the mean.</a:t>
            </a:r>
            <a:endParaRPr/>
          </a:p>
        </p:txBody>
      </p:sp>
      <p:pic>
        <p:nvPicPr>
          <p:cNvPr id="129" name="Google Shape;129;p8"/>
          <p:cNvPicPr preferRelativeResize="0"/>
          <p:nvPr/>
        </p:nvPicPr>
        <p:blipFill rotWithShape="1">
          <a:blip r:embed="rId3">
            <a:alphaModFix/>
          </a:blip>
          <a:srcRect b="0" l="0" r="0" t="0"/>
          <a:stretch/>
        </p:blipFill>
        <p:spPr>
          <a:xfrm>
            <a:off x="1219200" y="3962400"/>
            <a:ext cx="6629400" cy="26892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134" name="Shape 134"/>
        <p:cNvGrpSpPr/>
        <p:nvPr/>
      </p:nvGrpSpPr>
      <p:grpSpPr>
        <a:xfrm>
          <a:off x="0" y="0"/>
          <a:ext cx="0" cy="0"/>
          <a:chOff x="0" y="0"/>
          <a:chExt cx="0" cy="0"/>
        </a:xfrm>
      </p:grpSpPr>
      <p:sp>
        <p:nvSpPr>
          <p:cNvPr id="135" name="Google Shape;135;p9"/>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Central Tendency Example: Mean</a:t>
            </a:r>
            <a:endParaRPr/>
          </a:p>
        </p:txBody>
      </p:sp>
      <p:sp>
        <p:nvSpPr>
          <p:cNvPr id="136" name="Google Shape;136;p9"/>
          <p:cNvSpPr txBox="1"/>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000000"/>
              </a:buClr>
              <a:buSzPts val="1800"/>
              <a:buFont typeface="Arial"/>
              <a:buChar char="•"/>
            </a:pPr>
            <a:r>
              <a:rPr b="0" i="0" lang="en-US" sz="1800" u="none">
                <a:solidFill>
                  <a:srgbClr val="000000"/>
                </a:solidFill>
                <a:latin typeface="Calibri"/>
                <a:ea typeface="Calibri"/>
                <a:cs typeface="Calibri"/>
                <a:sym typeface="Calibri"/>
              </a:rPr>
              <a:t>52, 76, 100, 136, 186, 196, 205, 150, 257, 264, 264, 280, 282, 283, 303, 313, 317, 317, 325, 373, 384, 384, 400, 402, 417, 422, 472, 480, 643, 693, 732, 749, 750, 791, 891</a:t>
            </a:r>
            <a:endParaRPr/>
          </a:p>
          <a:p>
            <a:pPr indent="-177800" lvl="0" marL="171450" marR="0" rtl="0" algn="l">
              <a:lnSpc>
                <a:spcPct val="90000"/>
              </a:lnSpc>
              <a:spcBef>
                <a:spcPts val="70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Mean hotel rate:</a:t>
            </a:r>
            <a:endParaRPr/>
          </a:p>
          <a:p>
            <a:pPr indent="-171450" lvl="1" marL="514350" marR="0" rtl="0" algn="l">
              <a:lnSpc>
                <a:spcPct val="90000"/>
              </a:lnSpc>
              <a:spcBef>
                <a:spcPts val="30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 </a:t>
            </a:r>
            <a:endParaRPr/>
          </a:p>
          <a:p>
            <a:pPr indent="-171450" lvl="1" marL="514350" marR="0" rtl="0" algn="l">
              <a:lnSpc>
                <a:spcPct val="90000"/>
              </a:lnSpc>
              <a:spcBef>
                <a:spcPts val="30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 </a:t>
            </a:r>
            <a:endParaRPr/>
          </a:p>
          <a:p>
            <a:pPr indent="-171450" lvl="1" marL="514350" marR="0" rtl="0" algn="l">
              <a:lnSpc>
                <a:spcPct val="90000"/>
              </a:lnSpc>
              <a:spcBef>
                <a:spcPts val="300"/>
              </a:spcBef>
              <a:spcAft>
                <a:spcPts val="0"/>
              </a:spcAft>
              <a:buClr>
                <a:srgbClr val="000000"/>
              </a:buClr>
              <a:buSzPts val="2400"/>
              <a:buFont typeface="Arial"/>
              <a:buNone/>
            </a:pPr>
            <a:r>
              <a:t/>
            </a:r>
            <a:endParaRPr b="0" i="0" sz="2400" u="none" cap="none" strike="noStrike">
              <a:solidFill>
                <a:srgbClr val="000000"/>
              </a:solidFill>
              <a:latin typeface="Calibri"/>
              <a:ea typeface="Calibri"/>
              <a:cs typeface="Calibri"/>
              <a:sym typeface="Calibri"/>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Mean hotel rate: $371.60 </a:t>
            </a:r>
            <a:endParaRPr/>
          </a:p>
        </p:txBody>
      </p:sp>
      <p:graphicFrame>
        <p:nvGraphicFramePr>
          <p:cNvPr id="137" name="Google Shape;137;p9"/>
          <p:cNvGraphicFramePr/>
          <p:nvPr/>
        </p:nvGraphicFramePr>
        <p:xfrm>
          <a:off x="1476375" y="4365625"/>
          <a:ext cx="2670175" cy="803275"/>
        </p:xfrm>
        <a:graphic>
          <a:graphicData uri="http://schemas.openxmlformats.org/presentationml/2006/ole">
            <mc:AlternateContent>
              <mc:Choice Requires="v">
                <p:oleObj r:id="rId4" imgH="803275" imgW="2670175" spid="_x0000_s1">
                  <p:embed/>
                </p:oleObj>
              </mc:Choice>
              <mc:Fallback>
                <p:oleObj r:id="rId5" imgH="803275" imgW="2670175">
                  <p:embed/>
                  <p:pic>
                    <p:nvPicPr>
                      <p:cNvPr id="137" name="Google Shape;137;p9"/>
                      <p:cNvPicPr preferRelativeResize="0"/>
                      <p:nvPr/>
                    </p:nvPicPr>
                    <p:blipFill rotWithShape="1">
                      <a:blip r:embed="rId6">
                        <a:alphaModFix/>
                      </a:blip>
                      <a:srcRect b="0" l="0" r="0" t="0"/>
                      <a:stretch/>
                    </p:blipFill>
                    <p:spPr>
                      <a:xfrm>
                        <a:off x="1476375" y="4365625"/>
                        <a:ext cx="2670175" cy="803275"/>
                      </a:xfrm>
                      <a:prstGeom prst="rect">
                        <a:avLst/>
                      </a:prstGeom>
                      <a:noFill/>
                      <a:ln>
                        <a:noFill/>
                      </a:ln>
                    </p:spPr>
                  </p:pic>
                </p:oleObj>
              </mc:Fallback>
            </mc:AlternateContent>
          </a:graphicData>
        </a:graphic>
      </p:graphicFrame>
      <p:graphicFrame>
        <p:nvGraphicFramePr>
          <p:cNvPr id="138" name="Google Shape;138;p9"/>
          <p:cNvGraphicFramePr/>
          <p:nvPr/>
        </p:nvGraphicFramePr>
        <p:xfrm>
          <a:off x="1600200" y="3429000"/>
          <a:ext cx="1447800" cy="996950"/>
        </p:xfrm>
        <a:graphic>
          <a:graphicData uri="http://schemas.openxmlformats.org/presentationml/2006/ole">
            <mc:AlternateContent>
              <mc:Choice Requires="v">
                <p:oleObj r:id="rId7" imgH="996950" imgW="1447800" spid="_x0000_s2">
                  <p:embed/>
                </p:oleObj>
              </mc:Choice>
              <mc:Fallback>
                <p:oleObj r:id="rId8" imgH="996950" imgW="1447800">
                  <p:embed/>
                  <p:pic>
                    <p:nvPicPr>
                      <p:cNvPr id="138" name="Google Shape;138;p9"/>
                      <p:cNvPicPr preferRelativeResize="0"/>
                      <p:nvPr/>
                    </p:nvPicPr>
                    <p:blipFill rotWithShape="1">
                      <a:blip r:embed="rId9">
                        <a:alphaModFix/>
                      </a:blip>
                      <a:srcRect b="0" l="0" r="0" t="0"/>
                      <a:stretch/>
                    </p:blipFill>
                    <p:spPr>
                      <a:xfrm>
                        <a:off x="1600200" y="3429000"/>
                        <a:ext cx="1447800" cy="996950"/>
                      </a:xfrm>
                      <a:prstGeom prst="rect">
                        <a:avLst/>
                      </a:prstGeom>
                      <a:noFill/>
                      <a:ln>
                        <a:noFill/>
                      </a:ln>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10"/>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Pros and Cons of the Mean</a:t>
            </a:r>
            <a:endParaRPr/>
          </a:p>
        </p:txBody>
      </p:sp>
      <p:sp>
        <p:nvSpPr>
          <p:cNvPr id="145" name="Google Shape;145;p10"/>
          <p:cNvSpPr txBox="1"/>
          <p:nvPr/>
        </p:nvSpPr>
        <p:spPr>
          <a:xfrm>
            <a:off x="838200" y="1905000"/>
            <a:ext cx="3925887" cy="41910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000000"/>
              </a:buClr>
              <a:buSzPts val="2400"/>
              <a:buFont typeface="Arial"/>
              <a:buChar char="•"/>
            </a:pPr>
            <a:r>
              <a:rPr b="0" i="0" lang="en-US" sz="2400" u="none">
                <a:solidFill>
                  <a:srgbClr val="000000"/>
                </a:solidFill>
                <a:latin typeface="Calibri"/>
                <a:ea typeface="Calibri"/>
                <a:cs typeface="Calibri"/>
                <a:sym typeface="Calibri"/>
              </a:rPr>
              <a:t>Pros</a:t>
            </a:r>
            <a:endParaRPr/>
          </a:p>
          <a:p>
            <a:pPr indent="-171450" lvl="1" marL="514350" marR="0" rtl="0" algn="l">
              <a:lnSpc>
                <a:spcPct val="90000"/>
              </a:lnSpc>
              <a:spcBef>
                <a:spcPts val="3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Mathematical center of a distribution.</a:t>
            </a:r>
            <a:endParaRPr/>
          </a:p>
          <a:p>
            <a:pPr indent="-171450" lvl="1" marL="514350" marR="0" rtl="0" algn="l">
              <a:lnSpc>
                <a:spcPct val="90000"/>
              </a:lnSpc>
              <a:spcBef>
                <a:spcPts val="3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Good for interval and ratio data.</a:t>
            </a:r>
            <a:endParaRPr/>
          </a:p>
          <a:p>
            <a:pPr indent="-171450" lvl="1" marL="514350" marR="0" rtl="0" algn="l">
              <a:lnSpc>
                <a:spcPct val="90000"/>
              </a:lnSpc>
              <a:spcBef>
                <a:spcPts val="3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Does not ignore any information.</a:t>
            </a:r>
            <a:endParaRPr/>
          </a:p>
          <a:p>
            <a:pPr indent="-171450" lvl="1" marL="514350" marR="0" rtl="0" algn="l">
              <a:lnSpc>
                <a:spcPct val="90000"/>
              </a:lnSpc>
              <a:spcBef>
                <a:spcPts val="3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Inferential statistics is based on mathematical properties of the mean.</a:t>
            </a:r>
            <a:endParaRPr/>
          </a:p>
        </p:txBody>
      </p:sp>
      <p:sp>
        <p:nvSpPr>
          <p:cNvPr id="146" name="Google Shape;146;p10"/>
          <p:cNvSpPr txBox="1"/>
          <p:nvPr/>
        </p:nvSpPr>
        <p:spPr>
          <a:xfrm>
            <a:off x="4919662" y="1905000"/>
            <a:ext cx="3925887" cy="41910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000000"/>
              </a:buClr>
              <a:buSzPts val="2400"/>
              <a:buFont typeface="Arial"/>
              <a:buChar char="•"/>
            </a:pPr>
            <a:r>
              <a:rPr b="0" i="0" lang="en-US" sz="2400" u="none">
                <a:solidFill>
                  <a:srgbClr val="000000"/>
                </a:solidFill>
                <a:latin typeface="Calibri"/>
                <a:ea typeface="Calibri"/>
                <a:cs typeface="Calibri"/>
                <a:sym typeface="Calibri"/>
              </a:rPr>
              <a:t>Cons</a:t>
            </a:r>
            <a:endParaRPr/>
          </a:p>
          <a:p>
            <a:pPr indent="-171450" lvl="1" marL="514350" marR="0" rtl="0" algn="l">
              <a:lnSpc>
                <a:spcPct val="90000"/>
              </a:lnSpc>
              <a:spcBef>
                <a:spcPts val="3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Influenced by extreme scores and skewed distributions.</a:t>
            </a:r>
            <a:endParaRPr/>
          </a:p>
          <a:p>
            <a:pPr indent="-171450" lvl="1" marL="514350" marR="0" rtl="0" algn="l">
              <a:lnSpc>
                <a:spcPct val="90000"/>
              </a:lnSpc>
              <a:spcBef>
                <a:spcPts val="300"/>
              </a:spcBef>
              <a:spcAft>
                <a:spcPts val="0"/>
              </a:spcAft>
              <a:buClr>
                <a:srgbClr val="000000"/>
              </a:buClr>
              <a:buSzPts val="2000"/>
              <a:buFont typeface="Arial"/>
              <a:buChar char="•"/>
            </a:pPr>
            <a:r>
              <a:rPr b="0" i="0" lang="en-US" sz="2000" u="none" cap="none" strike="noStrike">
                <a:solidFill>
                  <a:srgbClr val="000000"/>
                </a:solidFill>
                <a:latin typeface="Calibri"/>
                <a:ea typeface="Calibri"/>
                <a:cs typeface="Calibri"/>
                <a:sym typeface="Calibri"/>
              </a:rPr>
              <a:t>May not exist in the data.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11"/>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Calibri"/>
              <a:buNone/>
            </a:pPr>
            <a:r>
              <a:rPr b="0" i="0" lang="en-US" sz="3200" u="none">
                <a:solidFill>
                  <a:srgbClr val="000000"/>
                </a:solidFill>
                <a:latin typeface="Calibri"/>
                <a:ea typeface="Calibri"/>
                <a:cs typeface="Calibri"/>
                <a:sym typeface="Calibri"/>
              </a:rPr>
              <a:t>Some Important Properties of the Mean</a:t>
            </a:r>
            <a:br>
              <a:rPr b="0" i="0" lang="en-US" sz="2800" u="none">
                <a:solidFill>
                  <a:srgbClr val="000000"/>
                </a:solidFill>
                <a:latin typeface="Calibri"/>
                <a:ea typeface="Calibri"/>
                <a:cs typeface="Calibri"/>
                <a:sym typeface="Calibri"/>
              </a:rPr>
            </a:br>
            <a:endParaRPr/>
          </a:p>
        </p:txBody>
      </p:sp>
      <p:sp>
        <p:nvSpPr>
          <p:cNvPr id="153" name="Google Shape;153;p11"/>
          <p:cNvSpPr txBox="1"/>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80000"/>
              </a:lnSpc>
              <a:spcBef>
                <a:spcPts val="0"/>
              </a:spcBef>
              <a:spcAft>
                <a:spcPts val="0"/>
              </a:spcAft>
              <a:buClr>
                <a:srgbClr val="000000"/>
              </a:buClr>
              <a:buSzPts val="2100"/>
              <a:buFont typeface="Arial"/>
              <a:buChar char="•"/>
            </a:pPr>
            <a:r>
              <a:rPr b="1" i="0" lang="en-US" sz="2100" u="none">
                <a:solidFill>
                  <a:srgbClr val="000000"/>
                </a:solidFill>
                <a:latin typeface="Calibri"/>
                <a:ea typeface="Calibri"/>
                <a:cs typeface="Calibri"/>
                <a:sym typeface="Calibri"/>
              </a:rPr>
              <a:t>Interval-Ratio Level of Measurement</a:t>
            </a:r>
            <a:endParaRPr/>
          </a:p>
          <a:p>
            <a:pPr indent="-171450" lvl="0" marL="171450" marR="0" rtl="0" algn="l">
              <a:lnSpc>
                <a:spcPct val="150000"/>
              </a:lnSpc>
              <a:spcBef>
                <a:spcPts val="100"/>
              </a:spcBef>
              <a:spcAft>
                <a:spcPts val="0"/>
              </a:spcAft>
              <a:buClr>
                <a:srgbClr val="000000"/>
              </a:buClr>
              <a:buSzPts val="2100"/>
              <a:buFont typeface="Arial"/>
              <a:buChar char="•"/>
            </a:pPr>
            <a:r>
              <a:rPr b="1" i="0" lang="en-US" sz="2100" u="none">
                <a:solidFill>
                  <a:srgbClr val="000000"/>
                </a:solidFill>
                <a:latin typeface="Calibri"/>
                <a:ea typeface="Calibri"/>
                <a:cs typeface="Calibri"/>
                <a:sym typeface="Calibri"/>
              </a:rPr>
              <a:t>Center of Gravity(the mean balances all the scores).  </a:t>
            </a:r>
            <a:endParaRPr/>
          </a:p>
          <a:p>
            <a:pPr indent="-171450" lvl="0" marL="171450" marR="0" rtl="0" algn="l">
              <a:lnSpc>
                <a:spcPct val="90000"/>
              </a:lnSpc>
              <a:spcBef>
                <a:spcPts val="1300"/>
              </a:spcBef>
              <a:spcAft>
                <a:spcPts val="0"/>
              </a:spcAft>
              <a:buClr>
                <a:srgbClr val="000000"/>
              </a:buClr>
              <a:buSzPts val="2100"/>
              <a:buFont typeface="Arial"/>
              <a:buChar char="•"/>
            </a:pPr>
            <a:r>
              <a:rPr b="1" i="0" lang="en-US" sz="2100" u="none">
                <a:solidFill>
                  <a:srgbClr val="000000"/>
                </a:solidFill>
                <a:latin typeface="Calibri"/>
                <a:ea typeface="Calibri"/>
                <a:cs typeface="Calibri"/>
                <a:sym typeface="Calibri"/>
              </a:rPr>
              <a:t>Sensitivity to Extremes</a:t>
            </a:r>
            <a:endParaRPr/>
          </a:p>
          <a:p>
            <a:pPr indent="-171450" lvl="0" marL="171450" marR="0" rtl="0" algn="l">
              <a:lnSpc>
                <a:spcPct val="150000"/>
              </a:lnSpc>
              <a:spcBef>
                <a:spcPts val="100"/>
              </a:spcBef>
              <a:spcAft>
                <a:spcPts val="0"/>
              </a:spcAft>
              <a:buClr>
                <a:srgbClr val="000000"/>
              </a:buClr>
              <a:buSzPts val="2100"/>
              <a:buFont typeface="Arial"/>
              <a:buNone/>
            </a:pPr>
            <a:r>
              <a:t/>
            </a:r>
            <a:endParaRPr b="1" i="0" sz="2100" u="none">
              <a:solidFill>
                <a:srgbClr val="000000"/>
              </a:solidFill>
              <a:latin typeface="Calibri"/>
              <a:ea typeface="Calibri"/>
              <a:cs typeface="Calibri"/>
              <a:sym typeface="Calibri"/>
            </a:endParaRPr>
          </a:p>
          <a:p>
            <a:pPr indent="-171450" lvl="0" marL="171450" marR="0" rtl="0" algn="l">
              <a:lnSpc>
                <a:spcPct val="80000"/>
              </a:lnSpc>
              <a:spcBef>
                <a:spcPts val="100"/>
              </a:spcBef>
              <a:spcAft>
                <a:spcPts val="0"/>
              </a:spcAft>
              <a:buClr>
                <a:srgbClr val="000000"/>
              </a:buClr>
              <a:buSzPts val="2100"/>
              <a:buFont typeface="Arial"/>
              <a:buNone/>
            </a:pPr>
            <a:r>
              <a:t/>
            </a:r>
            <a:endParaRPr b="1" i="0" sz="21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i="0" sz="2100" u="non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12"/>
          <p:cNvSpPr txBox="1"/>
          <p:nvPr/>
        </p:nvSpPr>
        <p:spPr>
          <a:xfrm>
            <a:off x="1066800" y="838200"/>
            <a:ext cx="7848600" cy="5822950"/>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44546A"/>
              </a:buClr>
              <a:buSzPts val="4400"/>
              <a:buFont typeface="Times New Roman"/>
              <a:buNone/>
            </a:pPr>
            <a:r>
              <a:rPr b="1" i="1" lang="en-US" sz="4400" u="none">
                <a:solidFill>
                  <a:srgbClr val="44546A"/>
                </a:solidFill>
                <a:latin typeface="Times New Roman"/>
                <a:ea typeface="Times New Roman"/>
                <a:cs typeface="Times New Roman"/>
                <a:sym typeface="Times New Roman"/>
              </a:rPr>
              <a:t>Median</a:t>
            </a:r>
            <a:r>
              <a:rPr b="1" i="1" lang="en-US" sz="4000" u="none">
                <a:solidFill>
                  <a:srgbClr val="954F72"/>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Definition:</a:t>
            </a:r>
            <a:r>
              <a:rPr b="0" i="0" lang="en-US" sz="4000" u="non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000000"/>
              </a:buClr>
              <a:buSzPts val="4000"/>
              <a:buFont typeface="Arial"/>
              <a:buNone/>
            </a:pPr>
            <a:r>
              <a:rPr b="0" i="0" lang="en-US" sz="4000" u="none">
                <a:solidFill>
                  <a:srgbClr val="000000"/>
                </a:solidFill>
                <a:latin typeface="Arial"/>
                <a:ea typeface="Arial"/>
                <a:cs typeface="Arial"/>
                <a:sym typeface="Arial"/>
              </a:rPr>
              <a:t>  </a:t>
            </a:r>
            <a:r>
              <a:rPr b="0" i="0" lang="en-US" sz="2800" u="none">
                <a:solidFill>
                  <a:srgbClr val="000000"/>
                </a:solidFill>
                <a:latin typeface="Arial"/>
                <a:ea typeface="Arial"/>
                <a:cs typeface="Arial"/>
                <a:sym typeface="Arial"/>
              </a:rPr>
              <a:t>The value that is larger than half</a:t>
            </a:r>
            <a:r>
              <a:rPr b="0" i="0" lang="en-US" sz="4000" u="none">
                <a:solidFill>
                  <a:srgbClr val="000000"/>
                </a:solidFill>
                <a:latin typeface="Arial"/>
                <a:ea typeface="Arial"/>
                <a:cs typeface="Arial"/>
                <a:sym typeface="Arial"/>
              </a:rPr>
              <a:t> </a:t>
            </a:r>
            <a:r>
              <a:rPr b="0" i="0" lang="en-US" sz="2800" u="none">
                <a:solidFill>
                  <a:srgbClr val="000000"/>
                </a:solidFill>
                <a:latin typeface="Arial"/>
                <a:ea typeface="Arial"/>
                <a:cs typeface="Arial"/>
                <a:sym typeface="Arial"/>
              </a:rPr>
              <a:t>the population and smaller than half the population</a:t>
            </a:r>
            <a:endParaRPr/>
          </a:p>
          <a:p>
            <a:pPr indent="0" lvl="0" marL="0" marR="0" rtl="0" algn="l">
              <a:lnSpc>
                <a:spcPct val="100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 </a:t>
            </a:r>
            <a:endParaRPr/>
          </a:p>
          <a:p>
            <a:pPr indent="0" lvl="0" marL="0" marR="0" rtl="0" algn="l">
              <a:lnSpc>
                <a:spcPct val="100000"/>
              </a:lnSpc>
              <a:spcBef>
                <a:spcPts val="0"/>
              </a:spcBef>
              <a:spcAft>
                <a:spcPts val="0"/>
              </a:spcAft>
              <a:buClr>
                <a:srgbClr val="44546A"/>
              </a:buClr>
              <a:buSzPts val="2800"/>
              <a:buFont typeface="Arial"/>
              <a:buNone/>
            </a:pPr>
            <a:r>
              <a:rPr b="0" i="1" lang="en-US" sz="2800" u="none">
                <a:solidFill>
                  <a:srgbClr val="44546A"/>
                </a:solidFill>
                <a:latin typeface="Arial"/>
                <a:ea typeface="Arial"/>
                <a:cs typeface="Arial"/>
                <a:sym typeface="Arial"/>
              </a:rPr>
              <a:t>n is odd:</a:t>
            </a:r>
            <a:r>
              <a:rPr b="0" i="0" lang="en-US" sz="2800" u="none">
                <a:solidFill>
                  <a:srgbClr val="000000"/>
                </a:solidFill>
                <a:latin typeface="Arial"/>
                <a:ea typeface="Arial"/>
                <a:cs typeface="Arial"/>
                <a:sym typeface="Arial"/>
              </a:rPr>
              <a:t>   the median score   </a:t>
            </a:r>
            <a:endParaRPr/>
          </a:p>
          <a:p>
            <a:pPr indent="0" lvl="0" marL="0" marR="0" rtl="0" algn="l">
              <a:lnSpc>
                <a:spcPct val="100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      5, 8, 9, 10, 28        median = 9</a:t>
            </a:r>
            <a:endParaRPr/>
          </a:p>
          <a:p>
            <a:pPr indent="0" lvl="0" marL="0" marR="0" rtl="0" algn="l">
              <a:lnSpc>
                <a:spcPct val="100000"/>
              </a:lnSpc>
              <a:spcBef>
                <a:spcPts val="0"/>
              </a:spcBef>
              <a:spcAft>
                <a:spcPts val="0"/>
              </a:spcAft>
              <a:buClr>
                <a:srgbClr val="000000"/>
              </a:buClr>
              <a:buSzPts val="2800"/>
              <a:buFont typeface="Arial"/>
              <a:buNone/>
            </a:pPr>
            <a:r>
              <a:t/>
            </a:r>
            <a:endParaRPr b="0" i="0" sz="2800" u="non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44546A"/>
              </a:buClr>
              <a:buSzPts val="2800"/>
              <a:buFont typeface="Arial"/>
              <a:buNone/>
            </a:pPr>
            <a:r>
              <a:rPr b="0" i="1" lang="en-US" sz="2800" u="none">
                <a:solidFill>
                  <a:srgbClr val="44546A"/>
                </a:solidFill>
                <a:latin typeface="Arial"/>
                <a:ea typeface="Arial"/>
                <a:cs typeface="Arial"/>
                <a:sym typeface="Arial"/>
              </a:rPr>
              <a:t>n is even:</a:t>
            </a:r>
            <a:r>
              <a:rPr b="0" i="0" lang="en-US" sz="2800" u="none">
                <a:solidFill>
                  <a:srgbClr val="000000"/>
                </a:solidFill>
                <a:latin typeface="Arial"/>
                <a:ea typeface="Arial"/>
                <a:cs typeface="Arial"/>
                <a:sym typeface="Arial"/>
              </a:rPr>
              <a:t>   the          th  score</a:t>
            </a:r>
            <a:endParaRPr/>
          </a:p>
          <a:p>
            <a:pPr indent="0" lvl="0" marL="0" marR="0" rtl="0" algn="l">
              <a:lnSpc>
                <a:spcPct val="100000"/>
              </a:lnSpc>
              <a:spcBef>
                <a:spcPts val="0"/>
              </a:spcBef>
              <a:spcAft>
                <a:spcPts val="0"/>
              </a:spcAft>
              <a:buClr>
                <a:srgbClr val="000000"/>
              </a:buClr>
              <a:buSzPts val="2800"/>
              <a:buFont typeface="Arial"/>
              <a:buNone/>
            </a:pPr>
            <a:r>
              <a:t/>
            </a:r>
            <a:endParaRPr b="0" i="0" sz="2800" u="non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a:solidFill>
                  <a:srgbClr val="000000"/>
                </a:solidFill>
                <a:latin typeface="Arial"/>
                <a:ea typeface="Arial"/>
                <a:cs typeface="Arial"/>
                <a:sym typeface="Arial"/>
              </a:rPr>
              <a:t>     6, 17, 19, 20, 21, 27  median = 19.5</a:t>
            </a:r>
            <a:endParaRPr/>
          </a:p>
          <a:p>
            <a:pPr indent="0" lvl="0" marL="0" marR="0" rtl="0" algn="l">
              <a:lnSpc>
                <a:spcPct val="100000"/>
              </a:lnSpc>
              <a:spcBef>
                <a:spcPts val="0"/>
              </a:spcBef>
              <a:spcAft>
                <a:spcPts val="0"/>
              </a:spcAft>
              <a:buNone/>
            </a:pPr>
            <a:r>
              <a:t/>
            </a:r>
            <a:endParaRPr b="0" i="0" sz="2800" u="none">
              <a:solidFill>
                <a:srgbClr val="000000"/>
              </a:solidFill>
              <a:latin typeface="Arial"/>
              <a:ea typeface="Arial"/>
              <a:cs typeface="Arial"/>
              <a:sym typeface="Arial"/>
            </a:endParaRPr>
          </a:p>
        </p:txBody>
      </p:sp>
      <p:graphicFrame>
        <p:nvGraphicFramePr>
          <p:cNvPr id="160" name="Google Shape;160;p12"/>
          <p:cNvGraphicFramePr/>
          <p:nvPr/>
        </p:nvGraphicFramePr>
        <p:xfrm>
          <a:off x="406400" y="11112"/>
          <a:ext cx="101600" cy="139700"/>
        </p:xfrm>
        <a:graphic>
          <a:graphicData uri="http://schemas.openxmlformats.org/presentationml/2006/ole">
            <mc:AlternateContent>
              <mc:Choice Requires="v">
                <p:oleObj r:id="rId4" imgH="139700" imgW="101600" spid="_x0000_s1">
                  <p:embed/>
                </p:oleObj>
              </mc:Choice>
              <mc:Fallback>
                <p:oleObj r:id="rId5" imgH="139700" imgW="101600">
                  <p:embed/>
                  <p:pic>
                    <p:nvPicPr>
                      <p:cNvPr id="160" name="Google Shape;160;p12"/>
                      <p:cNvPicPr preferRelativeResize="0"/>
                      <p:nvPr/>
                    </p:nvPicPr>
                    <p:blipFill rotWithShape="1">
                      <a:blip r:embed="rId6">
                        <a:alphaModFix/>
                      </a:blip>
                      <a:srcRect b="0" l="0" r="0" t="0"/>
                      <a:stretch/>
                    </p:blipFill>
                    <p:spPr>
                      <a:xfrm>
                        <a:off x="406400" y="11112"/>
                        <a:ext cx="101600" cy="139700"/>
                      </a:xfrm>
                      <a:prstGeom prst="rect">
                        <a:avLst/>
                      </a:prstGeom>
                      <a:noFill/>
                      <a:ln>
                        <a:noFill/>
                      </a:ln>
                    </p:spPr>
                  </p:pic>
                </p:oleObj>
              </mc:Fallback>
            </mc:AlternateContent>
          </a:graphicData>
        </a:graphic>
      </p:graphicFrame>
      <p:graphicFrame>
        <p:nvGraphicFramePr>
          <p:cNvPr id="161" name="Google Shape;161;p12"/>
          <p:cNvGraphicFramePr/>
          <p:nvPr/>
        </p:nvGraphicFramePr>
        <p:xfrm>
          <a:off x="0" y="0"/>
          <a:ext cx="914400" cy="163512"/>
        </p:xfrm>
        <a:graphic>
          <a:graphicData uri="http://schemas.openxmlformats.org/presentationml/2006/ole">
            <mc:AlternateContent>
              <mc:Choice Requires="v">
                <p:oleObj r:id="rId7" imgH="163512" imgW="914400" spid="_x0000_s2">
                  <p:embed/>
                </p:oleObj>
              </mc:Choice>
              <mc:Fallback>
                <p:oleObj r:id="rId8" imgH="163512" imgW="914400">
                  <p:embed/>
                  <p:pic>
                    <p:nvPicPr>
                      <p:cNvPr id="161" name="Google Shape;161;p12"/>
                      <p:cNvPicPr preferRelativeResize="0"/>
                      <p:nvPr/>
                    </p:nvPicPr>
                    <p:blipFill rotWithShape="1">
                      <a:blip r:embed="rId9">
                        <a:alphaModFix/>
                      </a:blip>
                      <a:srcRect b="0" l="0" r="0" t="0"/>
                      <a:stretch/>
                    </p:blipFill>
                    <p:spPr>
                      <a:xfrm>
                        <a:off x="0" y="0"/>
                        <a:ext cx="914400" cy="163512"/>
                      </a:xfrm>
                      <a:prstGeom prst="rect">
                        <a:avLst/>
                      </a:prstGeom>
                      <a:noFill/>
                      <a:ln>
                        <a:noFill/>
                      </a:ln>
                    </p:spPr>
                  </p:pic>
                </p:oleObj>
              </mc:Fallback>
            </mc:AlternateContent>
          </a:graphicData>
        </a:graphic>
      </p:graphicFrame>
      <p:graphicFrame>
        <p:nvGraphicFramePr>
          <p:cNvPr id="162" name="Google Shape;162;p12"/>
          <p:cNvGraphicFramePr/>
          <p:nvPr/>
        </p:nvGraphicFramePr>
        <p:xfrm>
          <a:off x="406400" y="11112"/>
          <a:ext cx="101600" cy="139700"/>
        </p:xfrm>
        <a:graphic>
          <a:graphicData uri="http://schemas.openxmlformats.org/presentationml/2006/ole">
            <mc:AlternateContent>
              <mc:Choice Requires="v">
                <p:oleObj r:id="rId10" imgH="139700" imgW="101600" spid="_x0000_s3">
                  <p:embed/>
                </p:oleObj>
              </mc:Choice>
              <mc:Fallback>
                <p:oleObj r:id="rId11" imgH="139700" imgW="101600">
                  <p:embed/>
                  <p:pic>
                    <p:nvPicPr>
                      <p:cNvPr id="162" name="Google Shape;162;p12"/>
                      <p:cNvPicPr preferRelativeResize="0"/>
                      <p:nvPr/>
                    </p:nvPicPr>
                    <p:blipFill rotWithShape="1">
                      <a:blip r:embed="rId6">
                        <a:alphaModFix/>
                      </a:blip>
                      <a:srcRect b="0" l="0" r="0" t="0"/>
                      <a:stretch/>
                    </p:blipFill>
                    <p:spPr>
                      <a:xfrm>
                        <a:off x="406400" y="11112"/>
                        <a:ext cx="101600" cy="139700"/>
                      </a:xfrm>
                      <a:prstGeom prst="rect">
                        <a:avLst/>
                      </a:prstGeom>
                      <a:noFill/>
                      <a:ln>
                        <a:noFill/>
                      </a:ln>
                    </p:spPr>
                  </p:pic>
                </p:oleObj>
              </mc:Fallback>
            </mc:AlternateContent>
          </a:graphicData>
        </a:graphic>
      </p:graphicFrame>
      <p:graphicFrame>
        <p:nvGraphicFramePr>
          <p:cNvPr id="163" name="Google Shape;163;p12"/>
          <p:cNvGraphicFramePr/>
          <p:nvPr/>
        </p:nvGraphicFramePr>
        <p:xfrm>
          <a:off x="3657600" y="4800600"/>
          <a:ext cx="719137" cy="873125"/>
        </p:xfrm>
        <a:graphic>
          <a:graphicData uri="http://schemas.openxmlformats.org/presentationml/2006/ole">
            <mc:AlternateContent>
              <mc:Choice Requires="v">
                <p:oleObj r:id="rId12" imgH="873125" imgW="719137" spid="_x0000_s4">
                  <p:embed/>
                </p:oleObj>
              </mc:Choice>
              <mc:Fallback>
                <p:oleObj r:id="rId13" imgH="873125" imgW="719137">
                  <p:embed/>
                  <p:pic>
                    <p:nvPicPr>
                      <p:cNvPr id="163" name="Google Shape;163;p12"/>
                      <p:cNvPicPr preferRelativeResize="0"/>
                      <p:nvPr/>
                    </p:nvPicPr>
                    <p:blipFill rotWithShape="1">
                      <a:blip r:embed="rId14">
                        <a:alphaModFix/>
                      </a:blip>
                      <a:srcRect b="0" l="0" r="0" t="0"/>
                      <a:stretch/>
                    </p:blipFill>
                    <p:spPr>
                      <a:xfrm>
                        <a:off x="3657600" y="4800600"/>
                        <a:ext cx="719137" cy="873125"/>
                      </a:xfrm>
                      <a:prstGeom prst="rect">
                        <a:avLst/>
                      </a:prstGeom>
                      <a:noFill/>
                      <a:ln>
                        <a:noFill/>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13"/>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Pros and Cons of Median</a:t>
            </a:r>
            <a:endParaRPr/>
          </a:p>
        </p:txBody>
      </p:sp>
      <p:sp>
        <p:nvSpPr>
          <p:cNvPr id="170" name="Google Shape;170;p13"/>
          <p:cNvSpPr txBox="1"/>
          <p:nvPr/>
        </p:nvSpPr>
        <p:spPr>
          <a:xfrm>
            <a:off x="838200" y="1905000"/>
            <a:ext cx="3925887" cy="4191000"/>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Pros</a:t>
            </a:r>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Not influenced by extreme scores or skewed distributions.</a:t>
            </a:r>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Good with ordinal data.</a:t>
            </a:r>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Easier to compute than the mean.</a:t>
            </a:r>
            <a:endParaRPr/>
          </a:p>
        </p:txBody>
      </p:sp>
      <p:sp>
        <p:nvSpPr>
          <p:cNvPr id="171" name="Google Shape;171;p13"/>
          <p:cNvSpPr txBox="1"/>
          <p:nvPr/>
        </p:nvSpPr>
        <p:spPr>
          <a:xfrm>
            <a:off x="4919662" y="1905000"/>
            <a:ext cx="3925887" cy="4191000"/>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Cons</a:t>
            </a:r>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May not exist in the data.</a:t>
            </a:r>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Doesn’t take actual values into account.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14"/>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Calibri"/>
              <a:buNone/>
            </a:pPr>
            <a:br>
              <a:rPr b="0" i="1" lang="en-US" sz="3600" u="none">
                <a:solidFill>
                  <a:srgbClr val="000000"/>
                </a:solidFill>
                <a:latin typeface="Calibri"/>
                <a:ea typeface="Calibri"/>
                <a:cs typeface="Calibri"/>
                <a:sym typeface="Calibri"/>
              </a:rPr>
            </a:br>
            <a:br>
              <a:rPr b="0" i="1" lang="en-US" sz="3600" u="none">
                <a:solidFill>
                  <a:srgbClr val="000000"/>
                </a:solidFill>
                <a:latin typeface="Calibri"/>
                <a:ea typeface="Calibri"/>
                <a:cs typeface="Calibri"/>
                <a:sym typeface="Calibri"/>
              </a:rPr>
            </a:br>
            <a:br>
              <a:rPr b="0" i="1" lang="en-US" sz="3600" u="none">
                <a:solidFill>
                  <a:srgbClr val="000000"/>
                </a:solidFill>
                <a:latin typeface="Calibri"/>
                <a:ea typeface="Calibri"/>
                <a:cs typeface="Calibri"/>
                <a:sym typeface="Calibri"/>
              </a:rPr>
            </a:br>
            <a:r>
              <a:rPr b="0" i="0" lang="en-US" sz="3200" u="none">
                <a:solidFill>
                  <a:srgbClr val="000000"/>
                </a:solidFill>
                <a:latin typeface="Calibri"/>
                <a:ea typeface="Calibri"/>
                <a:cs typeface="Calibri"/>
                <a:sym typeface="Calibri"/>
              </a:rPr>
              <a:t>Mode</a:t>
            </a:r>
            <a:br>
              <a:rPr b="0" i="0" lang="en-US" sz="3200" u="none">
                <a:solidFill>
                  <a:srgbClr val="000000"/>
                </a:solidFill>
                <a:latin typeface="Calibri"/>
                <a:ea typeface="Calibri"/>
                <a:cs typeface="Calibri"/>
                <a:sym typeface="Calibri"/>
              </a:rPr>
            </a:br>
            <a:r>
              <a:rPr b="0" i="0" lang="en-US" sz="3200" u="none">
                <a:solidFill>
                  <a:srgbClr val="000000"/>
                </a:solidFill>
                <a:latin typeface="Calibri"/>
                <a:ea typeface="Calibri"/>
                <a:cs typeface="Calibri"/>
                <a:sym typeface="Calibri"/>
              </a:rPr>
              <a:t>Most frequently occurring value</a:t>
            </a:r>
            <a:br>
              <a:rPr b="0" i="0" lang="en-US" sz="3200" u="none">
                <a:solidFill>
                  <a:srgbClr val="000000"/>
                </a:solidFill>
                <a:latin typeface="Calibri"/>
                <a:ea typeface="Calibri"/>
                <a:cs typeface="Calibri"/>
                <a:sym typeface="Calibri"/>
              </a:rPr>
            </a:br>
            <a:br>
              <a:rPr b="0" i="0" lang="en-US" sz="3600" u="none">
                <a:solidFill>
                  <a:srgbClr val="000000"/>
                </a:solidFill>
                <a:latin typeface="Calibri"/>
                <a:ea typeface="Calibri"/>
                <a:cs typeface="Calibri"/>
                <a:sym typeface="Calibri"/>
              </a:rPr>
            </a:br>
            <a:endParaRPr/>
          </a:p>
        </p:txBody>
      </p:sp>
      <p:sp>
        <p:nvSpPr>
          <p:cNvPr id="178" name="Google Shape;178;p14"/>
          <p:cNvSpPr txBox="1"/>
          <p:nvPr/>
        </p:nvSpPr>
        <p:spPr>
          <a:xfrm>
            <a:off x="898525" y="2286000"/>
            <a:ext cx="8245475" cy="3933825"/>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Data			{1,3,7,3,2,3,6,7}</a:t>
            </a:r>
            <a:endParaRPr/>
          </a:p>
          <a:p>
            <a:pPr indent="-177800" lvl="1" marL="45720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  Mode : 3</a:t>
            </a:r>
            <a:endParaRPr/>
          </a:p>
          <a:p>
            <a:pPr indent="0" lvl="1"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Data 			 {1,3,7,3,2,3,6,7,1,1}</a:t>
            </a:r>
            <a:endParaRPr/>
          </a:p>
          <a:p>
            <a:pPr indent="-177800" lvl="1" marL="45720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  Mode  : 1,3</a:t>
            </a:r>
            <a:endParaRPr/>
          </a:p>
          <a:p>
            <a:pPr indent="0" lvl="1"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Data 			 {1,3,7,0,2,-3, 6,5,-1}</a:t>
            </a:r>
            <a:endParaRPr/>
          </a:p>
          <a:p>
            <a:pPr indent="-177800" lvl="1" marL="45720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  Mode  : none</a:t>
            </a: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15"/>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Central Tendency Example: Mode</a:t>
            </a:r>
            <a:endParaRPr/>
          </a:p>
        </p:txBody>
      </p:sp>
      <p:sp>
        <p:nvSpPr>
          <p:cNvPr id="185" name="Google Shape;185;p15"/>
          <p:cNvSpPr txBox="1"/>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000000"/>
              </a:buClr>
              <a:buSzPts val="2100"/>
              <a:buFont typeface="Arial"/>
              <a:buChar char="•"/>
            </a:pPr>
            <a:r>
              <a:rPr b="0" i="0" lang="en-US" sz="2100" u="none">
                <a:solidFill>
                  <a:srgbClr val="000000"/>
                </a:solidFill>
                <a:latin typeface="Calibri"/>
                <a:ea typeface="Calibri"/>
                <a:cs typeface="Calibri"/>
                <a:sym typeface="Calibri"/>
              </a:rPr>
              <a:t>52, 76, 100, 136, 186, 196, 205, 150, 257, 264, 264, 280, 282, 283, 303, 313, 317, 317, 325, 373, 384, 384, 400, 402, 417, 422, 472, 480, 643, 693, 732, 749, 750, 791, 891</a:t>
            </a:r>
            <a:endParaRPr/>
          </a:p>
          <a:p>
            <a:pPr indent="-171450" lvl="0" marL="171450" marR="0" rtl="0" algn="l">
              <a:lnSpc>
                <a:spcPct val="90000"/>
              </a:lnSpc>
              <a:spcBef>
                <a:spcPts val="700"/>
              </a:spcBef>
              <a:spcAft>
                <a:spcPts val="0"/>
              </a:spcAft>
              <a:buClr>
                <a:srgbClr val="000000"/>
              </a:buClr>
              <a:buSzPts val="2100"/>
              <a:buFont typeface="Arial"/>
              <a:buChar char="•"/>
            </a:pPr>
            <a:r>
              <a:rPr b="0" i="0" lang="en-US" sz="2100" u="none">
                <a:solidFill>
                  <a:srgbClr val="000000"/>
                </a:solidFill>
                <a:latin typeface="Calibri"/>
                <a:ea typeface="Calibri"/>
                <a:cs typeface="Calibri"/>
                <a:sym typeface="Calibri"/>
              </a:rPr>
              <a:t>Mode: most frequent observation</a:t>
            </a:r>
            <a:endParaRPr/>
          </a:p>
          <a:p>
            <a:pPr indent="-171450" lvl="0" marL="171450" marR="0" rtl="0" algn="l">
              <a:lnSpc>
                <a:spcPct val="90000"/>
              </a:lnSpc>
              <a:spcBef>
                <a:spcPts val="700"/>
              </a:spcBef>
              <a:spcAft>
                <a:spcPts val="0"/>
              </a:spcAft>
              <a:buClr>
                <a:srgbClr val="000000"/>
              </a:buClr>
              <a:buSzPts val="2100"/>
              <a:buFont typeface="Arial"/>
              <a:buChar char="•"/>
            </a:pPr>
            <a:r>
              <a:rPr b="0" i="0" lang="en-US" sz="2100" u="none">
                <a:solidFill>
                  <a:srgbClr val="000000"/>
                </a:solidFill>
                <a:latin typeface="Calibri"/>
                <a:ea typeface="Calibri"/>
                <a:cs typeface="Calibri"/>
                <a:sym typeface="Calibri"/>
              </a:rPr>
              <a:t>Mode(s) for hotel rates:</a:t>
            </a:r>
            <a:endParaRPr/>
          </a:p>
          <a:p>
            <a:pPr indent="-171450" lvl="1" marL="514350" marR="0" rtl="0" algn="l">
              <a:lnSpc>
                <a:spcPct val="90000"/>
              </a:lnSpc>
              <a:spcBef>
                <a:spcPts val="300"/>
              </a:spcBef>
              <a:spcAft>
                <a:spcPts val="0"/>
              </a:spcAft>
              <a:buClr>
                <a:srgbClr val="000000"/>
              </a:buClr>
              <a:buSzPts val="1800"/>
              <a:buFont typeface="Arial"/>
              <a:buChar char="•"/>
            </a:pPr>
            <a:r>
              <a:rPr b="0" i="0" lang="en-US" sz="1800" u="none" cap="none" strike="noStrike">
                <a:solidFill>
                  <a:srgbClr val="000000"/>
                </a:solidFill>
                <a:latin typeface="Calibri"/>
                <a:ea typeface="Calibri"/>
                <a:cs typeface="Calibri"/>
                <a:sym typeface="Calibri"/>
              </a:rPr>
              <a:t>264, 317, 384</a:t>
            </a:r>
            <a:endParaRPr/>
          </a:p>
        </p:txBody>
      </p:sp>
      <p:sp>
        <p:nvSpPr>
          <p:cNvPr id="186" name="Google Shape;186;p15"/>
          <p:cNvSpPr/>
          <p:nvPr/>
        </p:nvSpPr>
        <p:spPr>
          <a:xfrm>
            <a:off x="2133600" y="2438400"/>
            <a:ext cx="1676400" cy="381000"/>
          </a:xfrm>
          <a:prstGeom prst="rect">
            <a:avLst/>
          </a:prstGeom>
          <a:noFill/>
          <a:ln cap="flat" cmpd="sng" w="9525">
            <a:solidFill>
              <a:srgbClr val="CB06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7" name="Google Shape;187;p15"/>
          <p:cNvSpPr/>
          <p:nvPr/>
        </p:nvSpPr>
        <p:spPr>
          <a:xfrm>
            <a:off x="1219200" y="2819400"/>
            <a:ext cx="1676400" cy="457200"/>
          </a:xfrm>
          <a:prstGeom prst="rect">
            <a:avLst/>
          </a:prstGeom>
          <a:noFill/>
          <a:ln cap="flat" cmpd="sng" w="9525">
            <a:solidFill>
              <a:srgbClr val="CB06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188" name="Google Shape;188;p15"/>
          <p:cNvSpPr/>
          <p:nvPr/>
        </p:nvSpPr>
        <p:spPr>
          <a:xfrm>
            <a:off x="4876800" y="2819400"/>
            <a:ext cx="1676400" cy="457200"/>
          </a:xfrm>
          <a:prstGeom prst="rect">
            <a:avLst/>
          </a:prstGeom>
          <a:noFill/>
          <a:ln cap="flat" cmpd="sng" w="9525">
            <a:solidFill>
              <a:srgbClr val="CB060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16"/>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Pros and Cons of the Mode</a:t>
            </a:r>
            <a:endParaRPr/>
          </a:p>
        </p:txBody>
      </p:sp>
      <p:sp>
        <p:nvSpPr>
          <p:cNvPr id="195" name="Google Shape;195;p16"/>
          <p:cNvSpPr txBox="1"/>
          <p:nvPr/>
        </p:nvSpPr>
        <p:spPr>
          <a:xfrm>
            <a:off x="838200" y="1905000"/>
            <a:ext cx="3925887" cy="4191000"/>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Pros</a:t>
            </a:r>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Good for nominal data.</a:t>
            </a:r>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Easiest to compute and understand.</a:t>
            </a:r>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The score comes from the data set.</a:t>
            </a:r>
            <a:endParaRPr/>
          </a:p>
        </p:txBody>
      </p:sp>
      <p:sp>
        <p:nvSpPr>
          <p:cNvPr id="196" name="Google Shape;196;p16"/>
          <p:cNvSpPr txBox="1"/>
          <p:nvPr/>
        </p:nvSpPr>
        <p:spPr>
          <a:xfrm>
            <a:off x="4919662" y="1905000"/>
            <a:ext cx="3925887" cy="4191000"/>
          </a:xfrm>
          <a:prstGeom prst="rect">
            <a:avLst/>
          </a:prstGeom>
          <a:noFill/>
          <a:ln>
            <a:noFill/>
          </a:ln>
        </p:spPr>
        <p:txBody>
          <a:bodyPr anchorCtr="0" anchor="t" bIns="45700" lIns="91425" spcFirstLastPara="1" rIns="91425" wrap="square" tIns="45700">
            <a:noAutofit/>
          </a:bodyPr>
          <a:lstStyle/>
          <a:p>
            <a:pPr indent="-177800" lvl="0" marL="171450" marR="0" rtl="0" algn="l">
              <a:lnSpc>
                <a:spcPct val="90000"/>
              </a:lnSpc>
              <a:spcBef>
                <a:spcPts val="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Cons</a:t>
            </a:r>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Ignores most of the information in a distribution.</a:t>
            </a:r>
            <a:endParaRPr/>
          </a:p>
          <a:p>
            <a:pPr indent="-171450" lvl="1" marL="514350" marR="0" rtl="0" algn="l">
              <a:lnSpc>
                <a:spcPct val="9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Small samples may not have a mode.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1" name="Shape 201"/>
        <p:cNvGrpSpPr/>
        <p:nvPr/>
      </p:nvGrpSpPr>
      <p:grpSpPr>
        <a:xfrm>
          <a:off x="0" y="0"/>
          <a:ext cx="0" cy="0"/>
          <a:chOff x="0" y="0"/>
          <a:chExt cx="0" cy="0"/>
        </a:xfrm>
      </p:grpSpPr>
      <p:sp>
        <p:nvSpPr>
          <p:cNvPr id="202" name="Google Shape;202;p17"/>
          <p:cNvSpPr txBox="1"/>
          <p:nvPr/>
        </p:nvSpPr>
        <p:spPr>
          <a:xfrm>
            <a:off x="685800" y="457200"/>
            <a:ext cx="77724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Calibri"/>
              <a:buNone/>
            </a:pPr>
            <a:r>
              <a:rPr b="0" i="0" lang="en-US" sz="3600" u="none">
                <a:solidFill>
                  <a:srgbClr val="000000"/>
                </a:solidFill>
                <a:latin typeface="Calibri"/>
                <a:ea typeface="Calibri"/>
                <a:cs typeface="Calibri"/>
                <a:sym typeface="Calibri"/>
              </a:rPr>
              <a:t>Example: Central Location</a:t>
            </a:r>
            <a:r>
              <a:rPr b="0" i="0" lang="en-US" sz="1400" u="none">
                <a:solidFill>
                  <a:srgbClr val="000000"/>
                </a:solidFill>
                <a:latin typeface="Calibri"/>
                <a:ea typeface="Calibri"/>
                <a:cs typeface="Calibri"/>
                <a:sym typeface="Calibri"/>
              </a:rPr>
              <a:t> </a:t>
            </a:r>
            <a:br>
              <a:rPr b="0" i="0" lang="en-US" sz="1400" u="none">
                <a:solidFill>
                  <a:srgbClr val="000000"/>
                </a:solidFill>
                <a:latin typeface="Calibri"/>
                <a:ea typeface="Calibri"/>
                <a:cs typeface="Calibri"/>
                <a:sym typeface="Calibri"/>
              </a:rPr>
            </a:br>
            <a:endParaRPr/>
          </a:p>
        </p:txBody>
      </p:sp>
      <p:sp>
        <p:nvSpPr>
          <p:cNvPr id="203" name="Google Shape;203;p17"/>
          <p:cNvSpPr txBox="1"/>
          <p:nvPr/>
        </p:nvSpPr>
        <p:spPr>
          <a:xfrm>
            <a:off x="228600" y="1214437"/>
            <a:ext cx="9144000" cy="6108700"/>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Suppose the age in years of the first 10 subjects enrolled in your study are: </a:t>
            </a:r>
            <a:br>
              <a:rPr b="0" i="0" lang="en-US" sz="2800" u="none">
                <a:solidFill>
                  <a:srgbClr val="000000"/>
                </a:solidFill>
                <a:latin typeface="Times New Roman"/>
                <a:ea typeface="Times New Roman"/>
                <a:cs typeface="Times New Roman"/>
                <a:sym typeface="Times New Roman"/>
              </a:rPr>
            </a:br>
            <a:endParaRPr b="0" i="0" sz="2800" u="non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34, 24, 56, 52, 21, 44, 64, 34, 42, 46 </a:t>
            </a:r>
            <a:br>
              <a:rPr b="0" i="0" lang="en-US" sz="2800" u="none">
                <a:solidFill>
                  <a:srgbClr val="000000"/>
                </a:solidFill>
                <a:latin typeface="Times New Roman"/>
                <a:ea typeface="Times New Roman"/>
                <a:cs typeface="Times New Roman"/>
                <a:sym typeface="Times New Roman"/>
              </a:rPr>
            </a:br>
            <a:endParaRPr b="0" i="0" sz="28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Then the mean age of this group is 41.7 years</a:t>
            </a:r>
            <a:endParaRPr/>
          </a:p>
          <a:p>
            <a:pPr indent="0" lvl="0" marL="0" marR="0" rtl="0" algn="l">
              <a:lnSpc>
                <a:spcPct val="100000"/>
              </a:lnSpc>
              <a:spcBef>
                <a:spcPts val="0"/>
              </a:spcBef>
              <a:spcAft>
                <a:spcPts val="0"/>
              </a:spcAft>
              <a:buClr>
                <a:srgbClr val="000000"/>
              </a:buClr>
              <a:buSzPts val="2800"/>
              <a:buFont typeface="Arial"/>
              <a:buNone/>
            </a:pPr>
            <a:r>
              <a:t/>
            </a:r>
            <a:endParaRPr b="0" i="0" sz="28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To find the median, first order the data:</a:t>
            </a:r>
            <a:endParaRPr/>
          </a:p>
          <a:p>
            <a:pPr indent="0" lvl="0" marL="0" marR="0" rtl="0" algn="ctr">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21, 24, 34, 34, 42, 44, 46, 52, 56, 64</a:t>
            </a:r>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The median is  42 +44   </a:t>
            </a:r>
            <a:r>
              <a:rPr b="0" i="0" lang="en-US" sz="1800" u="none">
                <a:solidFill>
                  <a:srgbClr val="000000"/>
                </a:solidFill>
                <a:latin typeface="Tahoma"/>
                <a:ea typeface="Tahoma"/>
                <a:cs typeface="Tahoma"/>
                <a:sym typeface="Tahoma"/>
              </a:rPr>
              <a:t>=  43 years </a:t>
            </a:r>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                             2</a:t>
            </a:r>
            <a:endParaRPr/>
          </a:p>
          <a:p>
            <a:pPr indent="0" lvl="0" marL="0" marR="0" rtl="0" algn="l">
              <a:lnSpc>
                <a:spcPct val="11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The mode is  34 years.</a:t>
            </a:r>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 </a:t>
            </a:r>
            <a:br>
              <a:rPr b="0" i="0" lang="en-US" sz="2800" u="none">
                <a:solidFill>
                  <a:srgbClr val="000000"/>
                </a:solidFill>
                <a:latin typeface="Times New Roman"/>
                <a:ea typeface="Times New Roman"/>
                <a:cs typeface="Times New Roman"/>
                <a:sym typeface="Times New Roman"/>
              </a:rPr>
            </a:br>
            <a:endParaRPr/>
          </a:p>
        </p:txBody>
      </p:sp>
      <p:cxnSp>
        <p:nvCxnSpPr>
          <p:cNvPr id="204" name="Google Shape;204;p17"/>
          <p:cNvCxnSpPr/>
          <p:nvPr/>
        </p:nvCxnSpPr>
        <p:spPr>
          <a:xfrm>
            <a:off x="2514600" y="5486400"/>
            <a:ext cx="990600" cy="1587"/>
          </a:xfrm>
          <a:prstGeom prst="straightConnector1">
            <a:avLst/>
          </a:prstGeom>
          <a:noFill/>
          <a:ln cap="flat" cmpd="sng" w="9525">
            <a:solidFill>
              <a:srgbClr val="000000"/>
            </a:solidFill>
            <a:prstDash val="solid"/>
            <a:miter lim="800000"/>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9" name="Shape 209"/>
        <p:cNvGrpSpPr/>
        <p:nvPr/>
      </p:nvGrpSpPr>
      <p:grpSpPr>
        <a:xfrm>
          <a:off x="0" y="0"/>
          <a:ext cx="0" cy="0"/>
          <a:chOff x="0" y="0"/>
          <a:chExt cx="0" cy="0"/>
        </a:xfrm>
      </p:grpSpPr>
      <p:sp>
        <p:nvSpPr>
          <p:cNvPr id="210" name="Google Shape;210;p18"/>
          <p:cNvSpPr txBox="1"/>
          <p:nvPr/>
        </p:nvSpPr>
        <p:spPr>
          <a:xfrm>
            <a:off x="533400" y="990600"/>
            <a:ext cx="8153400" cy="6048375"/>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000000"/>
              </a:buClr>
              <a:buSzPts val="4000"/>
              <a:buFont typeface="Times New Roman"/>
              <a:buNone/>
            </a:pPr>
            <a:r>
              <a:rPr b="0" i="0" lang="en-US" sz="4000" u="none">
                <a:solidFill>
                  <a:srgbClr val="000000"/>
                </a:solidFill>
                <a:latin typeface="Times New Roman"/>
                <a:ea typeface="Times New Roman"/>
                <a:cs typeface="Times New Roman"/>
                <a:sym typeface="Times New Roman"/>
              </a:rPr>
              <a:t>Comparison of Mean and Median </a:t>
            </a:r>
            <a:br>
              <a:rPr b="0" i="0" lang="en-US" sz="4000" u="none">
                <a:solidFill>
                  <a:srgbClr val="000000"/>
                </a:solidFill>
                <a:latin typeface="Times New Roman"/>
                <a:ea typeface="Times New Roman"/>
                <a:cs typeface="Times New Roman"/>
                <a:sym typeface="Times New Roman"/>
              </a:rPr>
            </a:br>
            <a:endParaRPr b="0" i="0" sz="4000" u="none">
              <a:solidFill>
                <a:srgbClr val="000000"/>
              </a:solidFill>
              <a:latin typeface="Times New Roman"/>
              <a:ea typeface="Times New Roman"/>
              <a:cs typeface="Times New Roman"/>
              <a:sym typeface="Times New Roman"/>
            </a:endParaRPr>
          </a:p>
          <a:p>
            <a:pPr indent="-177800" lvl="0" marL="0" marR="0" rtl="0" algn="l">
              <a:lnSpc>
                <a:spcPct val="100000"/>
              </a:lnSpc>
              <a:spcBef>
                <a:spcPts val="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  Mean is sensitive to a few very large (or small) values  “outliers” so sometime mean does not reflect the quantity desired.</a:t>
            </a:r>
            <a:endParaRPr/>
          </a:p>
          <a:p>
            <a:pPr indent="0" lvl="0" marL="0" marR="0" rtl="0" algn="l">
              <a:lnSpc>
                <a:spcPct val="60000"/>
              </a:lnSpc>
              <a:spcBef>
                <a:spcPts val="0"/>
              </a:spcBef>
              <a:spcAft>
                <a:spcPts val="0"/>
              </a:spcAft>
              <a:buClr>
                <a:srgbClr val="000000"/>
              </a:buClr>
              <a:buSzPts val="2800"/>
              <a:buFont typeface="Arial"/>
              <a:buNone/>
            </a:pPr>
            <a:r>
              <a:t/>
            </a:r>
            <a:endParaRPr b="0" i="0" sz="2800" u="none">
              <a:solidFill>
                <a:srgbClr val="000000"/>
              </a:solidFill>
              <a:latin typeface="Times New Roman"/>
              <a:ea typeface="Times New Roman"/>
              <a:cs typeface="Times New Roman"/>
              <a:sym typeface="Times New Roman"/>
            </a:endParaRPr>
          </a:p>
          <a:p>
            <a:pPr indent="-177800" lvl="0" marL="0" marR="0" rtl="0" algn="l">
              <a:lnSpc>
                <a:spcPct val="100000"/>
              </a:lnSpc>
              <a:spcBef>
                <a:spcPts val="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  Median is “resistant” to outliers</a:t>
            </a:r>
            <a:endParaRPr/>
          </a:p>
          <a:p>
            <a:pPr indent="0" lvl="0" marL="0" marR="0" rtl="0" algn="l">
              <a:lnSpc>
                <a:spcPct val="50000"/>
              </a:lnSpc>
              <a:spcBef>
                <a:spcPts val="0"/>
              </a:spcBef>
              <a:spcAft>
                <a:spcPts val="0"/>
              </a:spcAft>
              <a:buClr>
                <a:srgbClr val="000000"/>
              </a:buClr>
              <a:buSzPts val="2800"/>
              <a:buFont typeface="Arial"/>
              <a:buNone/>
            </a:pPr>
            <a:r>
              <a:t/>
            </a:r>
            <a:endParaRPr b="0" i="0" sz="2800" u="none">
              <a:solidFill>
                <a:srgbClr val="000000"/>
              </a:solidFill>
              <a:latin typeface="Times New Roman"/>
              <a:ea typeface="Times New Roman"/>
              <a:cs typeface="Times New Roman"/>
              <a:sym typeface="Times New Roman"/>
            </a:endParaRPr>
          </a:p>
          <a:p>
            <a:pPr indent="-177800" lvl="0" marL="0" marR="0" rtl="0" algn="l">
              <a:lnSpc>
                <a:spcPct val="100000"/>
              </a:lnSpc>
              <a:spcBef>
                <a:spcPts val="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  Mean is attractive mathematically</a:t>
            </a:r>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50% of sample is above the median, 50% of sample is below the median.</a:t>
            </a:r>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 </a:t>
            </a:r>
            <a:br>
              <a:rPr b="0" i="0" lang="en-US" sz="2800" u="none">
                <a:solidFill>
                  <a:srgbClr val="000000"/>
                </a:solidFill>
                <a:latin typeface="Times New Roman"/>
                <a:ea typeface="Times New Roman"/>
                <a:cs typeface="Times New Roman"/>
                <a:sym typeface="Times New Roman"/>
              </a:rPr>
            </a:br>
            <a:endParaRPr b="0" i="0" sz="28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800" u="none">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19"/>
          <p:cNvSpPr txBox="1"/>
          <p:nvPr/>
        </p:nvSpPr>
        <p:spPr>
          <a:xfrm>
            <a:off x="228600" y="990600"/>
            <a:ext cx="8458200" cy="4786312"/>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Suppose the next patient enrolls and their age is 97 years.</a:t>
            </a:r>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How does the mean and median change? </a:t>
            </a:r>
            <a:br>
              <a:rPr b="0" i="0" lang="en-US" sz="2800" u="none">
                <a:solidFill>
                  <a:srgbClr val="000000"/>
                </a:solidFill>
                <a:latin typeface="Times New Roman"/>
                <a:ea typeface="Times New Roman"/>
                <a:cs typeface="Times New Roman"/>
                <a:sym typeface="Times New Roman"/>
              </a:rPr>
            </a:br>
            <a:endParaRPr b="0" i="0" sz="28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To get the median, order the data:</a:t>
            </a:r>
            <a:endParaRPr/>
          </a:p>
          <a:p>
            <a:pPr indent="0" lvl="0" marL="0" marR="0" rtl="0" algn="ctr">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21, 24, 34, 34, 42, 44, 46, 52, 56, 64, 97 </a:t>
            </a:r>
            <a:br>
              <a:rPr b="0" i="0" lang="en-US" sz="2800" u="none">
                <a:solidFill>
                  <a:srgbClr val="000000"/>
                </a:solidFill>
                <a:latin typeface="Times New Roman"/>
                <a:ea typeface="Times New Roman"/>
                <a:cs typeface="Times New Roman"/>
                <a:sym typeface="Times New Roman"/>
              </a:rPr>
            </a:br>
            <a:endParaRPr b="0" i="0" sz="2800" u="non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If the age were recorded incorrectly as 977 instead of 97, what would the new median be? What would the new mean be?</a:t>
            </a:r>
            <a:endParaRPr/>
          </a:p>
          <a:p>
            <a:pPr indent="0" lvl="0" marL="0" marR="0" rtl="0" algn="l">
              <a:lnSpc>
                <a:spcPct val="100000"/>
              </a:lnSpc>
              <a:spcBef>
                <a:spcPts val="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 </a:t>
            </a:r>
            <a:br>
              <a:rPr b="0" i="0" lang="en-US" sz="2800" u="none">
                <a:solidFill>
                  <a:srgbClr val="000000"/>
                </a:solidFill>
                <a:latin typeface="Times New Roman"/>
                <a:ea typeface="Times New Roman"/>
                <a:cs typeface="Times New Roman"/>
                <a:sym typeface="Times New Roman"/>
              </a:rPr>
            </a:b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p20"/>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Calculating the Mean from a Frequency Distribution</a:t>
            </a:r>
            <a:endParaRPr/>
          </a:p>
        </p:txBody>
      </p:sp>
      <p:graphicFrame>
        <p:nvGraphicFramePr>
          <p:cNvPr id="223" name="Google Shape;223;p20"/>
          <p:cNvGraphicFramePr/>
          <p:nvPr/>
        </p:nvGraphicFramePr>
        <p:xfrm>
          <a:off x="1219200" y="2209800"/>
          <a:ext cx="1905000" cy="2514600"/>
        </p:xfrm>
        <a:graphic>
          <a:graphicData uri="http://schemas.openxmlformats.org/presentationml/2006/ole">
            <mc:AlternateContent>
              <mc:Choice Requires="v">
                <p:oleObj r:id="rId4" imgH="2514600" imgW="1905000" spid="_x0000_s1">
                  <p:embed/>
                </p:oleObj>
              </mc:Choice>
              <mc:Fallback>
                <p:oleObj r:id="rId5" imgH="2514600" imgW="1905000">
                  <p:embed/>
                  <p:pic>
                    <p:nvPicPr>
                      <p:cNvPr id="223" name="Google Shape;223;p20"/>
                      <p:cNvPicPr preferRelativeResize="0"/>
                      <p:nvPr/>
                    </p:nvPicPr>
                    <p:blipFill rotWithShape="1">
                      <a:blip r:embed="rId6">
                        <a:alphaModFix/>
                      </a:blip>
                      <a:srcRect b="0" l="0" r="0" t="0"/>
                      <a:stretch/>
                    </p:blipFill>
                    <p:spPr>
                      <a:xfrm>
                        <a:off x="1219200" y="2209800"/>
                        <a:ext cx="1905000" cy="2514600"/>
                      </a:xfrm>
                      <a:prstGeom prst="rect">
                        <a:avLst/>
                      </a:prstGeom>
                      <a:noFill/>
                      <a:ln>
                        <a:noFill/>
                      </a:ln>
                    </p:spPr>
                  </p:pic>
                </p:oleObj>
              </mc:Fallback>
            </mc:AlternateContent>
          </a:graphicData>
        </a:graphic>
      </p:graphicFrame>
      <p:graphicFrame>
        <p:nvGraphicFramePr>
          <p:cNvPr id="224" name="Google Shape;224;p20"/>
          <p:cNvGraphicFramePr/>
          <p:nvPr/>
        </p:nvGraphicFramePr>
        <p:xfrm>
          <a:off x="3200400" y="2209800"/>
          <a:ext cx="1752600" cy="2514600"/>
        </p:xfrm>
        <a:graphic>
          <a:graphicData uri="http://schemas.openxmlformats.org/presentationml/2006/ole">
            <mc:AlternateContent>
              <mc:Choice Requires="v">
                <p:oleObj r:id="rId7" imgH="2514600" imgW="1752600" spid="_x0000_s2">
                  <p:embed/>
                </p:oleObj>
              </mc:Choice>
              <mc:Fallback>
                <p:oleObj r:id="rId8" imgH="2514600" imgW="1752600">
                  <p:embed/>
                  <p:pic>
                    <p:nvPicPr>
                      <p:cNvPr id="224" name="Google Shape;224;p20"/>
                      <p:cNvPicPr preferRelativeResize="0"/>
                      <p:nvPr/>
                    </p:nvPicPr>
                    <p:blipFill rotWithShape="1">
                      <a:blip r:embed="rId9">
                        <a:alphaModFix/>
                      </a:blip>
                      <a:srcRect b="0" l="0" r="0" t="0"/>
                      <a:stretch/>
                    </p:blipFill>
                    <p:spPr>
                      <a:xfrm>
                        <a:off x="3200400" y="2209800"/>
                        <a:ext cx="1752600" cy="2514600"/>
                      </a:xfrm>
                      <a:prstGeom prst="rect">
                        <a:avLst/>
                      </a:prstGeom>
                      <a:noFill/>
                      <a:ln>
                        <a:noFill/>
                      </a:ln>
                    </p:spPr>
                  </p:pic>
                </p:oleObj>
              </mc:Fallback>
            </mc:AlternateContent>
          </a:graphicData>
        </a:graphic>
      </p:graphicFrame>
      <p:graphicFrame>
        <p:nvGraphicFramePr>
          <p:cNvPr id="225" name="Google Shape;225;p20"/>
          <p:cNvGraphicFramePr/>
          <p:nvPr/>
        </p:nvGraphicFramePr>
        <p:xfrm>
          <a:off x="4908550" y="2209800"/>
          <a:ext cx="2254250" cy="2514600"/>
        </p:xfrm>
        <a:graphic>
          <a:graphicData uri="http://schemas.openxmlformats.org/presentationml/2006/ole">
            <mc:AlternateContent>
              <mc:Choice Requires="v">
                <p:oleObj r:id="rId10" imgH="2514600" imgW="2254250" spid="_x0000_s3">
                  <p:embed/>
                </p:oleObj>
              </mc:Choice>
              <mc:Fallback>
                <p:oleObj r:id="rId11" imgH="2514600" imgW="2254250">
                  <p:embed/>
                  <p:pic>
                    <p:nvPicPr>
                      <p:cNvPr id="225" name="Google Shape;225;p20"/>
                      <p:cNvPicPr preferRelativeResize="0"/>
                      <p:nvPr/>
                    </p:nvPicPr>
                    <p:blipFill rotWithShape="1">
                      <a:blip r:embed="rId12">
                        <a:alphaModFix/>
                      </a:blip>
                      <a:srcRect b="0" l="0" r="0" t="0"/>
                      <a:stretch/>
                    </p:blipFill>
                    <p:spPr>
                      <a:xfrm>
                        <a:off x="4908550" y="2209800"/>
                        <a:ext cx="2254250" cy="2514600"/>
                      </a:xfrm>
                      <a:prstGeom prst="rect">
                        <a:avLst/>
                      </a:prstGeom>
                      <a:noFill/>
                      <a:ln>
                        <a:noFill/>
                      </a:ln>
                    </p:spPr>
                  </p:pic>
                </p:oleObj>
              </mc:Fallback>
            </mc:AlternateContent>
          </a:graphicData>
        </a:graphic>
      </p:graphicFrame>
      <p:graphicFrame>
        <p:nvGraphicFramePr>
          <p:cNvPr id="226" name="Google Shape;226;p20"/>
          <p:cNvGraphicFramePr/>
          <p:nvPr/>
        </p:nvGraphicFramePr>
        <p:xfrm>
          <a:off x="1258887" y="5181600"/>
          <a:ext cx="4416425" cy="838200"/>
        </p:xfrm>
        <a:graphic>
          <a:graphicData uri="http://schemas.openxmlformats.org/presentationml/2006/ole">
            <mc:AlternateContent>
              <mc:Choice Requires="v">
                <p:oleObj r:id="rId13" imgH="838200" imgW="4416425" spid="_x0000_s4">
                  <p:embed/>
                </p:oleObj>
              </mc:Choice>
              <mc:Fallback>
                <p:oleObj r:id="rId14" imgH="838200" imgW="4416425">
                  <p:embed/>
                  <p:pic>
                    <p:nvPicPr>
                      <p:cNvPr id="226" name="Google Shape;226;p20"/>
                      <p:cNvPicPr preferRelativeResize="0"/>
                      <p:nvPr/>
                    </p:nvPicPr>
                    <p:blipFill rotWithShape="1">
                      <a:blip r:embed="rId15">
                        <a:alphaModFix/>
                      </a:blip>
                      <a:srcRect b="0" l="0" r="0" t="0"/>
                      <a:stretch/>
                    </p:blipFill>
                    <p:spPr>
                      <a:xfrm>
                        <a:off x="1258887" y="5181600"/>
                        <a:ext cx="4416425" cy="838200"/>
                      </a:xfrm>
                      <a:prstGeom prst="rect">
                        <a:avLst/>
                      </a:prstGeom>
                      <a:noFill/>
                      <a:ln>
                        <a:noFill/>
                      </a:ln>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pic>
        <p:nvPicPr>
          <p:cNvPr id="232" name="Google Shape;232;p21"/>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pic>
        <p:nvPicPr>
          <p:cNvPr id="238" name="Google Shape;238;p22"/>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23"/>
          <p:cNvSpPr txBox="1"/>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90000"/>
              </a:lnSpc>
              <a:spcBef>
                <a:spcPts val="0"/>
              </a:spcBef>
              <a:spcAft>
                <a:spcPts val="0"/>
              </a:spcAft>
              <a:buClr>
                <a:srgbClr val="000000"/>
              </a:buClr>
              <a:buSzPts val="4000"/>
              <a:buFont typeface="Calibri"/>
              <a:buNone/>
            </a:pPr>
            <a:r>
              <a:rPr b="0" i="0" lang="en-US" sz="4000" u="none">
                <a:solidFill>
                  <a:srgbClr val="000000"/>
                </a:solidFill>
                <a:latin typeface="Calibri"/>
                <a:ea typeface="Calibri"/>
                <a:cs typeface="Calibri"/>
                <a:sym typeface="Calibri"/>
              </a:rPr>
              <a:t>MEASURES OF </a:t>
            </a:r>
            <a:r>
              <a:rPr b="0" i="0" lang="en-US" sz="4400" u="none">
                <a:solidFill>
                  <a:srgbClr val="000000"/>
                </a:solidFill>
                <a:latin typeface="Calibri"/>
                <a:ea typeface="Calibri"/>
                <a:cs typeface="Calibri"/>
                <a:sym typeface="Calibri"/>
              </a:rPr>
              <a:t>Central Tendency</a:t>
            </a:r>
            <a:r>
              <a:rPr b="0" i="0" lang="en-US" sz="3600" u="none">
                <a:solidFill>
                  <a:srgbClr val="000000"/>
                </a:solidFill>
                <a:latin typeface="Calibri"/>
                <a:ea typeface="Calibri"/>
                <a:cs typeface="Calibri"/>
                <a:sym typeface="Calibri"/>
              </a:rPr>
              <a:t> </a:t>
            </a:r>
            <a:endParaRPr/>
          </a:p>
          <a:p>
            <a:pPr indent="-171450" lvl="0" marL="171450" marR="0" rtl="0" algn="l">
              <a:lnSpc>
                <a:spcPct val="90000"/>
              </a:lnSpc>
              <a:spcBef>
                <a:spcPts val="700"/>
              </a:spcBef>
              <a:spcAft>
                <a:spcPts val="0"/>
              </a:spcAft>
              <a:buClr>
                <a:srgbClr val="000000"/>
              </a:buClr>
              <a:buSzPts val="2100"/>
              <a:buFont typeface="Calibri"/>
              <a:buNone/>
            </a:pPr>
            <a:r>
              <a:rPr b="0" i="0" lang="en-US" sz="2100" u="none">
                <a:solidFill>
                  <a:srgbClr val="000000"/>
                </a:solidFill>
                <a:latin typeface="Calibri"/>
                <a:ea typeface="Calibri"/>
                <a:cs typeface="Calibri"/>
                <a:sym typeface="Calibri"/>
              </a:rPr>
              <a:t>                 </a:t>
            </a:r>
            <a:endParaRPr/>
          </a:p>
          <a:p>
            <a:pPr indent="-171450" lvl="0" marL="171450" marR="0" rtl="0" algn="l">
              <a:lnSpc>
                <a:spcPct val="90000"/>
              </a:lnSpc>
              <a:spcBef>
                <a:spcPts val="700"/>
              </a:spcBef>
              <a:spcAft>
                <a:spcPts val="0"/>
              </a:spcAft>
              <a:buClr>
                <a:srgbClr val="000000"/>
              </a:buClr>
              <a:buSzPts val="2100"/>
              <a:buFont typeface="Calibri"/>
              <a:buNone/>
            </a:pPr>
            <a:r>
              <a:rPr b="0" i="0" lang="en-US" sz="2100" u="none">
                <a:solidFill>
                  <a:srgbClr val="000000"/>
                </a:solidFill>
                <a:latin typeface="Calibri"/>
                <a:ea typeface="Calibri"/>
                <a:cs typeface="Calibri"/>
                <a:sym typeface="Calibri"/>
              </a:rPr>
              <a:t>                 Geometric Mean</a:t>
            </a:r>
            <a:endParaRPr/>
          </a:p>
          <a:p>
            <a:pPr indent="-171450" lvl="0" marL="171450" marR="0" rtl="0" algn="l">
              <a:lnSpc>
                <a:spcPct val="90000"/>
              </a:lnSpc>
              <a:spcBef>
                <a:spcPts val="700"/>
              </a:spcBef>
              <a:spcAft>
                <a:spcPts val="0"/>
              </a:spcAft>
              <a:buClr>
                <a:srgbClr val="000000"/>
              </a:buClr>
              <a:buSzPts val="2100"/>
              <a:buFont typeface="Calibri"/>
              <a:buNone/>
            </a:pPr>
            <a:r>
              <a:rPr b="0" i="0" lang="en-US" sz="2100" u="none">
                <a:solidFill>
                  <a:srgbClr val="000000"/>
                </a:solidFill>
                <a:latin typeface="Calibri"/>
                <a:ea typeface="Calibri"/>
                <a:cs typeface="Calibri"/>
                <a:sym typeface="Calibri"/>
              </a:rPr>
              <a:t>                &amp; Harmonic Mean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pic>
        <p:nvPicPr>
          <p:cNvPr id="250" name="Google Shape;250;p24"/>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5" name="Shape 255"/>
        <p:cNvGrpSpPr/>
        <p:nvPr/>
      </p:nvGrpSpPr>
      <p:grpSpPr>
        <a:xfrm>
          <a:off x="0" y="0"/>
          <a:ext cx="0" cy="0"/>
          <a:chOff x="0" y="0"/>
          <a:chExt cx="0" cy="0"/>
        </a:xfrm>
      </p:grpSpPr>
      <p:sp>
        <p:nvSpPr>
          <p:cNvPr id="256" name="Google Shape;256;p25"/>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The Shape of Distributions</a:t>
            </a:r>
            <a:endParaRPr/>
          </a:p>
        </p:txBody>
      </p:sp>
      <p:sp>
        <p:nvSpPr>
          <p:cNvPr id="257" name="Google Shape;257;p25"/>
          <p:cNvSpPr txBox="1"/>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80000"/>
              </a:lnSpc>
              <a:spcBef>
                <a:spcPts val="0"/>
              </a:spcBef>
              <a:spcAft>
                <a:spcPts val="0"/>
              </a:spcAft>
              <a:buClr>
                <a:srgbClr val="000000"/>
              </a:buClr>
              <a:buSzPts val="2100"/>
              <a:buFont typeface="Arial"/>
              <a:buChar char="•"/>
            </a:pPr>
            <a:r>
              <a:rPr b="1" i="0" lang="en-US" sz="2100" u="none">
                <a:solidFill>
                  <a:srgbClr val="000000"/>
                </a:solidFill>
                <a:latin typeface="Calibri"/>
                <a:ea typeface="Calibri"/>
                <a:cs typeface="Calibri"/>
                <a:sym typeface="Calibri"/>
              </a:rPr>
              <a:t>Distributions can be either </a:t>
            </a:r>
            <a:r>
              <a:rPr b="1" i="0" lang="en-US" sz="2100" u="sng">
                <a:solidFill>
                  <a:srgbClr val="000000"/>
                </a:solidFill>
                <a:latin typeface="Calibri"/>
                <a:ea typeface="Calibri"/>
                <a:cs typeface="Calibri"/>
                <a:sym typeface="Calibri"/>
              </a:rPr>
              <a:t>symmetrical</a:t>
            </a:r>
            <a:r>
              <a:rPr b="1" i="0" lang="en-US" sz="2100" u="none">
                <a:solidFill>
                  <a:srgbClr val="000000"/>
                </a:solidFill>
                <a:latin typeface="Calibri"/>
                <a:ea typeface="Calibri"/>
                <a:cs typeface="Calibri"/>
                <a:sym typeface="Calibri"/>
              </a:rPr>
              <a:t> or </a:t>
            </a:r>
            <a:r>
              <a:rPr b="1" i="0" lang="en-US" sz="2100" u="sng">
                <a:solidFill>
                  <a:srgbClr val="000000"/>
                </a:solidFill>
                <a:latin typeface="Calibri"/>
                <a:ea typeface="Calibri"/>
                <a:cs typeface="Calibri"/>
                <a:sym typeface="Calibri"/>
              </a:rPr>
              <a:t>skewed</a:t>
            </a:r>
            <a:r>
              <a:rPr b="1" i="0" lang="en-US" sz="2100" u="none">
                <a:solidFill>
                  <a:srgbClr val="000000"/>
                </a:solidFill>
                <a:latin typeface="Calibri"/>
                <a:ea typeface="Calibri"/>
                <a:cs typeface="Calibri"/>
                <a:sym typeface="Calibri"/>
              </a:rPr>
              <a:t>, depending on whether there are more frequencies at one end of the distribution than the other.</a:t>
            </a:r>
            <a:endParaRPr/>
          </a:p>
          <a:p>
            <a:pPr indent="0" lvl="0" marL="0" marR="0" rtl="0" algn="l">
              <a:lnSpc>
                <a:spcPct val="100000"/>
              </a:lnSpc>
              <a:spcBef>
                <a:spcPts val="0"/>
              </a:spcBef>
              <a:spcAft>
                <a:spcPts val="0"/>
              </a:spcAft>
              <a:buNone/>
            </a:pPr>
            <a:r>
              <a:t/>
            </a:r>
            <a:endParaRPr b="1" i="0" sz="2100" u="none">
              <a:solidFill>
                <a:srgbClr val="000000"/>
              </a:solidFill>
              <a:latin typeface="Calibri"/>
              <a:ea typeface="Calibri"/>
              <a:cs typeface="Calibri"/>
              <a:sym typeface="Calibri"/>
            </a:endParaRPr>
          </a:p>
        </p:txBody>
      </p:sp>
      <p:pic>
        <p:nvPicPr>
          <p:cNvPr id="258" name="Google Shape;258;p25"/>
          <p:cNvPicPr preferRelativeResize="0"/>
          <p:nvPr/>
        </p:nvPicPr>
        <p:blipFill rotWithShape="1">
          <a:blip r:embed="rId3">
            <a:alphaModFix/>
          </a:blip>
          <a:srcRect b="0" l="0" r="0" t="0"/>
          <a:stretch/>
        </p:blipFill>
        <p:spPr>
          <a:xfrm>
            <a:off x="4191000" y="3917950"/>
            <a:ext cx="4495800" cy="2559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0" st="0"/>
                                            </p:txEl>
                                          </p:spTgt>
                                        </p:tgtEl>
                                        <p:attrNameLst>
                                          <p:attrName>style.visibility</p:attrName>
                                        </p:attrNameLst>
                                      </p:cBhvr>
                                      <p:to>
                                        <p:strVal val="visible"/>
                                      </p:to>
                                    </p:set>
                                    <p:animEffect filter="fade" transition="in">
                                      <p:cBhvr>
                                        <p:cTn dur="75"/>
                                        <p:tgtEl>
                                          <p:spTgt spid="2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1" st="1"/>
                                            </p:txEl>
                                          </p:spTgt>
                                        </p:tgtEl>
                                        <p:attrNameLst>
                                          <p:attrName>style.visibility</p:attrName>
                                        </p:attrNameLst>
                                      </p:cBhvr>
                                      <p:to>
                                        <p:strVal val="visible"/>
                                      </p:to>
                                    </p:set>
                                    <p:animEffect filter="fade" transition="in">
                                      <p:cBhvr>
                                        <p:cTn dur="75"/>
                                        <p:tgtEl>
                                          <p:spTgt spid="25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3" name="Shape 263"/>
        <p:cNvGrpSpPr/>
        <p:nvPr/>
      </p:nvGrpSpPr>
      <p:grpSpPr>
        <a:xfrm>
          <a:off x="0" y="0"/>
          <a:ext cx="0" cy="0"/>
          <a:chOff x="0" y="0"/>
          <a:chExt cx="0" cy="0"/>
        </a:xfrm>
      </p:grpSpPr>
      <p:sp>
        <p:nvSpPr>
          <p:cNvPr id="264" name="Google Shape;264;p26"/>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Symmetrical</a:t>
            </a:r>
            <a:br>
              <a:rPr b="0" i="0" lang="en-US" sz="3300" u="none">
                <a:solidFill>
                  <a:srgbClr val="000000"/>
                </a:solidFill>
                <a:latin typeface="Calibri"/>
                <a:ea typeface="Calibri"/>
                <a:cs typeface="Calibri"/>
                <a:sym typeface="Calibri"/>
              </a:rPr>
            </a:br>
            <a:r>
              <a:rPr b="0" i="0" lang="en-US" sz="3300" u="none">
                <a:solidFill>
                  <a:srgbClr val="000000"/>
                </a:solidFill>
                <a:latin typeface="Calibri"/>
                <a:ea typeface="Calibri"/>
                <a:cs typeface="Calibri"/>
                <a:sym typeface="Calibri"/>
              </a:rPr>
              <a:t>Distributions</a:t>
            </a:r>
            <a:endParaRPr/>
          </a:p>
        </p:txBody>
      </p:sp>
      <p:sp>
        <p:nvSpPr>
          <p:cNvPr id="265" name="Google Shape;265;p26"/>
          <p:cNvSpPr txBox="1"/>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171450" lvl="0" marL="171450" marR="0" rtl="0" algn="l">
              <a:lnSpc>
                <a:spcPct val="80000"/>
              </a:lnSpc>
              <a:spcBef>
                <a:spcPts val="0"/>
              </a:spcBef>
              <a:spcAft>
                <a:spcPts val="0"/>
              </a:spcAft>
              <a:buClr>
                <a:srgbClr val="000000"/>
              </a:buClr>
              <a:buSzPts val="2100"/>
              <a:buFont typeface="Arial"/>
              <a:buChar char="•"/>
            </a:pPr>
            <a:r>
              <a:rPr b="1" i="0" lang="en-US" sz="2100" u="none">
                <a:solidFill>
                  <a:srgbClr val="000000"/>
                </a:solidFill>
                <a:latin typeface="Calibri"/>
                <a:ea typeface="Calibri"/>
                <a:cs typeface="Calibri"/>
                <a:sym typeface="Calibri"/>
              </a:rPr>
              <a:t>A distribution is symmetrical if the frequencies at the right and left tails of  the distribution are identical, so that if it is divided into two halves, each will be the mirror image of the other. </a:t>
            </a:r>
            <a:endParaRPr/>
          </a:p>
          <a:p>
            <a:pPr indent="-171450" lvl="0" marL="171450" marR="0" rtl="0" algn="l">
              <a:lnSpc>
                <a:spcPct val="80000"/>
              </a:lnSpc>
              <a:spcBef>
                <a:spcPts val="100"/>
              </a:spcBef>
              <a:spcAft>
                <a:spcPts val="0"/>
              </a:spcAft>
              <a:buClr>
                <a:srgbClr val="000000"/>
              </a:buClr>
              <a:buSzPts val="2100"/>
              <a:buFont typeface="Arial"/>
              <a:buNone/>
            </a:pPr>
            <a:r>
              <a:t/>
            </a:r>
            <a:endParaRPr b="1" i="0" sz="2100" u="none">
              <a:solidFill>
                <a:srgbClr val="000000"/>
              </a:solidFill>
              <a:latin typeface="Calibri"/>
              <a:ea typeface="Calibri"/>
              <a:cs typeface="Calibri"/>
              <a:sym typeface="Calibri"/>
            </a:endParaRPr>
          </a:p>
          <a:p>
            <a:pPr indent="-171450" lvl="0" marL="171450" marR="0" rtl="0" algn="l">
              <a:lnSpc>
                <a:spcPct val="70000"/>
              </a:lnSpc>
              <a:spcBef>
                <a:spcPts val="100"/>
              </a:spcBef>
              <a:spcAft>
                <a:spcPts val="0"/>
              </a:spcAft>
              <a:buClr>
                <a:srgbClr val="000000"/>
              </a:buClr>
              <a:buSzPts val="2100"/>
              <a:buFont typeface="Arial"/>
              <a:buChar char="•"/>
            </a:pPr>
            <a:r>
              <a:rPr b="1" i="0" lang="en-US" sz="2100" u="none">
                <a:solidFill>
                  <a:srgbClr val="000000"/>
                </a:solidFill>
                <a:latin typeface="Calibri"/>
                <a:ea typeface="Calibri"/>
                <a:cs typeface="Calibri"/>
                <a:sym typeface="Calibri"/>
              </a:rPr>
              <a:t> In a  symmetrical distribution the mean, median, and mode are identical.</a:t>
            </a:r>
            <a:endParaRPr/>
          </a:p>
          <a:p>
            <a:pPr indent="0" lvl="0" marL="0" marR="0" rtl="0" algn="l">
              <a:lnSpc>
                <a:spcPct val="100000"/>
              </a:lnSpc>
              <a:spcBef>
                <a:spcPts val="0"/>
              </a:spcBef>
              <a:spcAft>
                <a:spcPts val="0"/>
              </a:spcAft>
              <a:buNone/>
            </a:pPr>
            <a:r>
              <a:t/>
            </a:r>
            <a:endParaRPr b="1" i="0" sz="2100" u="non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anim calcmode="lin" valueType="num">
                                      <p:cBhvr additive="base">
                                        <p:cTn dur="500"/>
                                        <p:tgtEl>
                                          <p:spTgt spid="26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anim calcmode="lin" valueType="num">
                                      <p:cBhvr additive="base">
                                        <p:cTn dur="500"/>
                                        <p:tgtEl>
                                          <p:spTgt spid="26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anim calcmode="lin" valueType="num">
                                      <p:cBhvr additive="base">
                                        <p:cTn dur="500"/>
                                        <p:tgtEl>
                                          <p:spTgt spid="26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anim calcmode="lin" valueType="num">
                                      <p:cBhvr additive="base">
                                        <p:cTn dur="500"/>
                                        <p:tgtEl>
                                          <p:spTgt spid="26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sp>
        <p:nvSpPr>
          <p:cNvPr id="271" name="Google Shape;271;p27"/>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Calibri"/>
              <a:buNone/>
            </a:pPr>
            <a:r>
              <a:rPr b="0" i="0" lang="en-US" sz="3200" u="none">
                <a:solidFill>
                  <a:srgbClr val="000000"/>
                </a:solidFill>
                <a:latin typeface="Calibri"/>
                <a:ea typeface="Calibri"/>
                <a:cs typeface="Calibri"/>
                <a:sym typeface="Calibri"/>
              </a:rPr>
              <a:t>Almost Symmetrical distribution</a:t>
            </a:r>
            <a:endParaRPr/>
          </a:p>
        </p:txBody>
      </p:sp>
      <p:sp>
        <p:nvSpPr>
          <p:cNvPr id="272" name="Google Shape;272;p27"/>
          <p:cNvSpPr txBox="1"/>
          <p:nvPr/>
        </p:nvSpPr>
        <p:spPr>
          <a:xfrm>
            <a:off x="7315200" y="2286000"/>
            <a:ext cx="1524000" cy="2574925"/>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FF0066"/>
              </a:buClr>
              <a:buSzPts val="3600"/>
              <a:buFont typeface="Times New Roman"/>
              <a:buNone/>
            </a:pPr>
            <a:r>
              <a:rPr b="0" i="0" lang="en-US" sz="3600" u="none">
                <a:solidFill>
                  <a:srgbClr val="FF0066"/>
                </a:solidFill>
                <a:latin typeface="Times New Roman"/>
                <a:ea typeface="Times New Roman"/>
                <a:cs typeface="Times New Roman"/>
                <a:sym typeface="Times New Roman"/>
              </a:rPr>
              <a:t>Mean=13.4</a:t>
            </a:r>
            <a:endParaRPr/>
          </a:p>
          <a:p>
            <a:pPr indent="0" lvl="0" marL="0" marR="0" rtl="0" algn="l">
              <a:lnSpc>
                <a:spcPct val="100000"/>
              </a:lnSpc>
              <a:spcBef>
                <a:spcPts val="2200"/>
              </a:spcBef>
              <a:spcAft>
                <a:spcPts val="0"/>
              </a:spcAft>
              <a:buClr>
                <a:srgbClr val="FF0066"/>
              </a:buClr>
              <a:buSzPts val="3600"/>
              <a:buFont typeface="Times New Roman"/>
              <a:buNone/>
            </a:pPr>
            <a:r>
              <a:rPr b="0" i="0" lang="en-US" sz="3600" u="none">
                <a:solidFill>
                  <a:srgbClr val="FF0066"/>
                </a:solidFill>
                <a:latin typeface="Times New Roman"/>
                <a:ea typeface="Times New Roman"/>
                <a:cs typeface="Times New Roman"/>
                <a:sym typeface="Times New Roman"/>
              </a:rPr>
              <a:t>Mode=13.0</a:t>
            </a:r>
            <a:endParaRPr/>
          </a:p>
        </p:txBody>
      </p:sp>
      <p:pic>
        <p:nvPicPr>
          <p:cNvPr id="273" name="Google Shape;273;p27"/>
          <p:cNvPicPr preferRelativeResize="0"/>
          <p:nvPr/>
        </p:nvPicPr>
        <p:blipFill rotWithShape="1">
          <a:blip r:embed="rId3">
            <a:alphaModFix/>
          </a:blip>
          <a:srcRect b="0" l="0" r="0" t="0"/>
          <a:stretch/>
        </p:blipFill>
        <p:spPr>
          <a:xfrm>
            <a:off x="1295400" y="1905000"/>
            <a:ext cx="5334000" cy="39751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 name="Shape 278"/>
        <p:cNvGrpSpPr/>
        <p:nvPr/>
      </p:nvGrpSpPr>
      <p:grpSpPr>
        <a:xfrm>
          <a:off x="0" y="0"/>
          <a:ext cx="0" cy="0"/>
          <a:chOff x="0" y="0"/>
          <a:chExt cx="0" cy="0"/>
        </a:xfrm>
      </p:grpSpPr>
      <p:sp>
        <p:nvSpPr>
          <p:cNvPr id="279" name="Google Shape;279;p28"/>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2900"/>
              <a:buFont typeface="Calibri"/>
              <a:buNone/>
            </a:pPr>
            <a:r>
              <a:rPr b="0" i="0" lang="en-US" sz="2900" u="none">
                <a:solidFill>
                  <a:srgbClr val="000000"/>
                </a:solidFill>
                <a:latin typeface="Calibri"/>
                <a:ea typeface="Calibri"/>
                <a:cs typeface="Calibri"/>
                <a:sym typeface="Calibri"/>
              </a:rPr>
              <a:t>Skewed Distribution:</a:t>
            </a:r>
            <a:br>
              <a:rPr b="0" i="0" lang="en-US" sz="3600" u="none">
                <a:solidFill>
                  <a:srgbClr val="000000"/>
                </a:solidFill>
                <a:latin typeface="Calibri"/>
                <a:ea typeface="Calibri"/>
                <a:cs typeface="Calibri"/>
                <a:sym typeface="Calibri"/>
              </a:rPr>
            </a:br>
            <a:br>
              <a:rPr b="0" i="0" lang="en-US" sz="3600" u="none">
                <a:solidFill>
                  <a:srgbClr val="000000"/>
                </a:solidFill>
                <a:latin typeface="Calibri"/>
                <a:ea typeface="Calibri"/>
                <a:cs typeface="Calibri"/>
                <a:sym typeface="Calibri"/>
              </a:rPr>
            </a:br>
            <a:br>
              <a:rPr b="0" i="0" lang="en-US" sz="3600" u="none">
                <a:solidFill>
                  <a:srgbClr val="000000"/>
                </a:solidFill>
                <a:latin typeface="Calibri"/>
                <a:ea typeface="Calibri"/>
                <a:cs typeface="Calibri"/>
                <a:sym typeface="Calibri"/>
              </a:rPr>
            </a:br>
            <a:r>
              <a:rPr b="0" i="0" lang="en-US" sz="3600" u="none">
                <a:solidFill>
                  <a:srgbClr val="000000"/>
                </a:solidFill>
                <a:latin typeface="Calibri"/>
                <a:ea typeface="Calibri"/>
                <a:cs typeface="Calibri"/>
                <a:sym typeface="Calibri"/>
              </a:rPr>
              <a:t>Skewed Distributin</a:t>
            </a:r>
            <a:br>
              <a:rPr b="0" i="0" lang="en-US" sz="3600" u="none">
                <a:solidFill>
                  <a:srgbClr val="000000"/>
                </a:solidFill>
                <a:latin typeface="Calibri"/>
                <a:ea typeface="Calibri"/>
                <a:cs typeface="Calibri"/>
                <a:sym typeface="Calibri"/>
              </a:rPr>
            </a:br>
            <a:r>
              <a:rPr b="0" i="0" lang="en-US" sz="3200" u="none">
                <a:solidFill>
                  <a:srgbClr val="000000"/>
                </a:solidFill>
                <a:latin typeface="Calibri"/>
                <a:ea typeface="Calibri"/>
                <a:cs typeface="Calibri"/>
                <a:sym typeface="Calibri"/>
              </a:rPr>
              <a:t>F</a:t>
            </a:r>
            <a:r>
              <a:rPr b="0" i="0" lang="en-US" sz="2200" u="none">
                <a:solidFill>
                  <a:srgbClr val="000000"/>
                </a:solidFill>
                <a:latin typeface="Calibri"/>
                <a:ea typeface="Calibri"/>
                <a:cs typeface="Calibri"/>
                <a:sym typeface="Calibri"/>
              </a:rPr>
              <a:t>ew extreme values on one side of the distribution or on the other.</a:t>
            </a:r>
            <a:br>
              <a:rPr b="0" i="0" lang="en-US" sz="2200" u="none">
                <a:solidFill>
                  <a:srgbClr val="000000"/>
                </a:solidFill>
                <a:latin typeface="Calibri"/>
                <a:ea typeface="Calibri"/>
                <a:cs typeface="Calibri"/>
                <a:sym typeface="Calibri"/>
              </a:rPr>
            </a:br>
            <a:endParaRPr/>
          </a:p>
        </p:txBody>
      </p:sp>
      <p:sp>
        <p:nvSpPr>
          <p:cNvPr id="280" name="Google Shape;280;p28"/>
          <p:cNvSpPr txBox="1"/>
          <p:nvPr/>
        </p:nvSpPr>
        <p:spPr>
          <a:xfrm>
            <a:off x="914400" y="2133600"/>
            <a:ext cx="7772400" cy="4114800"/>
          </a:xfrm>
          <a:prstGeom prst="rect">
            <a:avLst/>
          </a:prstGeom>
          <a:noFill/>
          <a:ln>
            <a:noFill/>
          </a:ln>
        </p:spPr>
        <p:txBody>
          <a:bodyPr anchorCtr="0" anchor="t" bIns="45700" lIns="91425" spcFirstLastPara="1" rIns="91425" wrap="square" tIns="45700">
            <a:noAutofit/>
          </a:bodyPr>
          <a:lstStyle/>
          <a:p>
            <a:pPr indent="-171450" lvl="0" marL="171450" marR="0" rtl="0" algn="l">
              <a:lnSpc>
                <a:spcPct val="80000"/>
              </a:lnSpc>
              <a:spcBef>
                <a:spcPts val="0"/>
              </a:spcBef>
              <a:spcAft>
                <a:spcPts val="0"/>
              </a:spcAft>
              <a:buClr>
                <a:srgbClr val="000000"/>
              </a:buClr>
              <a:buSzPts val="2100"/>
              <a:buFont typeface="Arial"/>
              <a:buChar char="•"/>
            </a:pPr>
            <a:r>
              <a:rPr b="1" i="0" lang="en-US" sz="2100" u="none">
                <a:solidFill>
                  <a:srgbClr val="000000"/>
                </a:solidFill>
                <a:latin typeface="Calibri"/>
                <a:ea typeface="Calibri"/>
                <a:cs typeface="Calibri"/>
                <a:sym typeface="Calibri"/>
              </a:rPr>
              <a:t>Positively skewed</a:t>
            </a:r>
            <a:r>
              <a:rPr b="1" i="0" lang="en-US" sz="2400" u="none">
                <a:solidFill>
                  <a:srgbClr val="000000"/>
                </a:solidFill>
                <a:latin typeface="Calibri"/>
                <a:ea typeface="Calibri"/>
                <a:cs typeface="Calibri"/>
                <a:sym typeface="Calibri"/>
              </a:rPr>
              <a:t> </a:t>
            </a:r>
            <a:r>
              <a:rPr b="1" i="0" lang="en-US" sz="2100" u="none">
                <a:solidFill>
                  <a:srgbClr val="000000"/>
                </a:solidFill>
                <a:latin typeface="Calibri"/>
                <a:ea typeface="Calibri"/>
                <a:cs typeface="Calibri"/>
                <a:sym typeface="Calibri"/>
              </a:rPr>
              <a:t>distributions:  distributions which have few extremely high values (Mean&gt;Median)</a:t>
            </a:r>
            <a:endParaRPr/>
          </a:p>
          <a:p>
            <a:pPr indent="-171450" lvl="0" marL="171450" marR="0" rtl="0" algn="l">
              <a:lnSpc>
                <a:spcPct val="130000"/>
              </a:lnSpc>
              <a:spcBef>
                <a:spcPts val="100"/>
              </a:spcBef>
              <a:spcAft>
                <a:spcPts val="0"/>
              </a:spcAft>
              <a:buClr>
                <a:srgbClr val="000000"/>
              </a:buClr>
              <a:buSzPts val="2100"/>
              <a:buFont typeface="Arial"/>
              <a:buChar char="•"/>
            </a:pPr>
            <a:r>
              <a:rPr b="1" i="0" lang="en-US" sz="2100" u="none">
                <a:solidFill>
                  <a:srgbClr val="000000"/>
                </a:solidFill>
                <a:latin typeface="Calibri"/>
                <a:ea typeface="Calibri"/>
                <a:cs typeface="Calibri"/>
                <a:sym typeface="Calibri"/>
              </a:rPr>
              <a:t>Negatively skewed distributions:  distributions which have  few extremely low values(Mean&lt;Median)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0" st="0"/>
                                            </p:txEl>
                                          </p:spTgt>
                                        </p:tgtEl>
                                        <p:attrNameLst>
                                          <p:attrName>style.visibility</p:attrName>
                                        </p:attrNameLst>
                                      </p:cBhvr>
                                      <p:to>
                                        <p:strVal val="visible"/>
                                      </p:to>
                                    </p:set>
                                    <p:animEffect filter="fade" transition="in">
                                      <p:cBhvr>
                                        <p:cTn dur="75"/>
                                        <p:tgtEl>
                                          <p:spTgt spid="2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xEl>
                                              <p:pRg end="1" st="1"/>
                                            </p:txEl>
                                          </p:spTgt>
                                        </p:tgtEl>
                                        <p:attrNameLst>
                                          <p:attrName>style.visibility</p:attrName>
                                        </p:attrNameLst>
                                      </p:cBhvr>
                                      <p:to>
                                        <p:strVal val="visible"/>
                                      </p:to>
                                    </p:set>
                                    <p:animEffect filter="fade" transition="in">
                                      <p:cBhvr>
                                        <p:cTn dur="75"/>
                                        <p:tgtEl>
                                          <p:spTgt spid="28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5" name="Shape 285"/>
        <p:cNvGrpSpPr/>
        <p:nvPr/>
      </p:nvGrpSpPr>
      <p:grpSpPr>
        <a:xfrm>
          <a:off x="0" y="0"/>
          <a:ext cx="0" cy="0"/>
          <a:chOff x="0" y="0"/>
          <a:chExt cx="0" cy="0"/>
        </a:xfrm>
      </p:grpSpPr>
      <p:sp>
        <p:nvSpPr>
          <p:cNvPr id="286" name="Google Shape;286;p29"/>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Positively Skewed Distribution</a:t>
            </a:r>
            <a:endParaRPr/>
          </a:p>
        </p:txBody>
      </p:sp>
      <p:pic>
        <p:nvPicPr>
          <p:cNvPr id="287" name="Google Shape;287;p29"/>
          <p:cNvPicPr preferRelativeResize="0"/>
          <p:nvPr/>
        </p:nvPicPr>
        <p:blipFill rotWithShape="1">
          <a:blip r:embed="rId3">
            <a:alphaModFix/>
          </a:blip>
          <a:srcRect b="0" l="0" r="0" t="0"/>
          <a:stretch/>
        </p:blipFill>
        <p:spPr>
          <a:xfrm>
            <a:off x="914400" y="2286000"/>
            <a:ext cx="5943600" cy="4100512"/>
          </a:xfrm>
          <a:prstGeom prst="rect">
            <a:avLst/>
          </a:prstGeom>
          <a:noFill/>
          <a:ln>
            <a:noFill/>
          </a:ln>
        </p:spPr>
      </p:pic>
      <p:sp>
        <p:nvSpPr>
          <p:cNvPr id="288" name="Google Shape;288;p29"/>
          <p:cNvSpPr txBox="1"/>
          <p:nvPr/>
        </p:nvSpPr>
        <p:spPr>
          <a:xfrm>
            <a:off x="7010400" y="2514600"/>
            <a:ext cx="2133600" cy="1016000"/>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FF0066"/>
              </a:buClr>
              <a:buSzPts val="2400"/>
              <a:buFont typeface="Times New Roman"/>
              <a:buNone/>
            </a:pPr>
            <a:r>
              <a:rPr b="0" i="0" lang="en-US" sz="2400" u="none">
                <a:solidFill>
                  <a:srgbClr val="FF0066"/>
                </a:solidFill>
                <a:latin typeface="Times New Roman"/>
                <a:ea typeface="Times New Roman"/>
                <a:cs typeface="Times New Roman"/>
                <a:sym typeface="Times New Roman"/>
              </a:rPr>
              <a:t>Mean=1.13</a:t>
            </a:r>
            <a:endParaRPr/>
          </a:p>
          <a:p>
            <a:pPr indent="0" lvl="0" marL="0" marR="0" rtl="0" algn="l">
              <a:lnSpc>
                <a:spcPct val="100000"/>
              </a:lnSpc>
              <a:spcBef>
                <a:spcPts val="1500"/>
              </a:spcBef>
              <a:spcAft>
                <a:spcPts val="0"/>
              </a:spcAft>
              <a:buClr>
                <a:srgbClr val="FF0066"/>
              </a:buClr>
              <a:buSzPts val="2400"/>
              <a:buFont typeface="Times New Roman"/>
              <a:buNone/>
            </a:pPr>
            <a:r>
              <a:rPr b="0" i="0" lang="en-US" sz="2400" u="none">
                <a:solidFill>
                  <a:srgbClr val="FF0066"/>
                </a:solidFill>
                <a:latin typeface="Times New Roman"/>
                <a:ea typeface="Times New Roman"/>
                <a:cs typeface="Times New Roman"/>
                <a:sym typeface="Times New Roman"/>
              </a:rPr>
              <a:t>Median=1.0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87"/>
                                        </p:tgtEl>
                                        <p:attrNameLst>
                                          <p:attrName>style.visibility</p:attrName>
                                        </p:attrNameLst>
                                      </p:cBhvr>
                                      <p:to>
                                        <p:strVal val="visible"/>
                                      </p:to>
                                    </p:set>
                                    <p:anim calcmode="lin" valueType="num">
                                      <p:cBhvr additive="base">
                                        <p:cTn dur="500"/>
                                        <p:tgtEl>
                                          <p:spTgt spid="28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30"/>
          <p:cNvSpPr txBox="1"/>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Negatively Skewed distribution</a:t>
            </a:r>
            <a:endParaRPr/>
          </a:p>
        </p:txBody>
      </p:sp>
      <p:pic>
        <p:nvPicPr>
          <p:cNvPr id="295" name="Google Shape;295;p30"/>
          <p:cNvPicPr preferRelativeResize="0"/>
          <p:nvPr/>
        </p:nvPicPr>
        <p:blipFill rotWithShape="1">
          <a:blip r:embed="rId3">
            <a:alphaModFix/>
          </a:blip>
          <a:srcRect b="0" l="0" r="0" t="0"/>
          <a:stretch/>
        </p:blipFill>
        <p:spPr>
          <a:xfrm>
            <a:off x="1524000" y="2133600"/>
            <a:ext cx="4800600" cy="3746500"/>
          </a:xfrm>
          <a:prstGeom prst="rect">
            <a:avLst/>
          </a:prstGeom>
          <a:noFill/>
          <a:ln>
            <a:noFill/>
          </a:ln>
        </p:spPr>
      </p:pic>
      <p:sp>
        <p:nvSpPr>
          <p:cNvPr id="296" name="Google Shape;296;p30"/>
          <p:cNvSpPr txBox="1"/>
          <p:nvPr/>
        </p:nvSpPr>
        <p:spPr>
          <a:xfrm>
            <a:off x="6477000" y="2590800"/>
            <a:ext cx="2667000" cy="1476375"/>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FF0066"/>
              </a:buClr>
              <a:buSzPts val="3600"/>
              <a:buFont typeface="Times New Roman"/>
              <a:buNone/>
            </a:pPr>
            <a:r>
              <a:rPr b="0" i="0" lang="en-US" sz="3600" u="none">
                <a:solidFill>
                  <a:srgbClr val="FF0066"/>
                </a:solidFill>
                <a:latin typeface="Times New Roman"/>
                <a:ea typeface="Times New Roman"/>
                <a:cs typeface="Times New Roman"/>
                <a:sym typeface="Times New Roman"/>
              </a:rPr>
              <a:t>Mean=3.3</a:t>
            </a:r>
            <a:endParaRPr/>
          </a:p>
          <a:p>
            <a:pPr indent="0" lvl="0" marL="0" marR="0" rtl="0" algn="l">
              <a:lnSpc>
                <a:spcPct val="100000"/>
              </a:lnSpc>
              <a:spcBef>
                <a:spcPts val="2200"/>
              </a:spcBef>
              <a:spcAft>
                <a:spcPts val="0"/>
              </a:spcAft>
              <a:buClr>
                <a:srgbClr val="FF0066"/>
              </a:buClr>
              <a:buSzPts val="3600"/>
              <a:buFont typeface="Times New Roman"/>
              <a:buNone/>
            </a:pPr>
            <a:r>
              <a:rPr b="0" i="0" lang="en-US" sz="3600" u="none">
                <a:solidFill>
                  <a:srgbClr val="FF0066"/>
                </a:solidFill>
                <a:latin typeface="Times New Roman"/>
                <a:ea typeface="Times New Roman"/>
                <a:cs typeface="Times New Roman"/>
                <a:sym typeface="Times New Roman"/>
              </a:rPr>
              <a:t>Median=4.0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31"/>
          <p:cNvSpPr txBox="1"/>
          <p:nvPr/>
        </p:nvSpPr>
        <p:spPr>
          <a:xfrm>
            <a:off x="685800" y="152400"/>
            <a:ext cx="7772400" cy="7620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Mean, Median and Mode</a:t>
            </a:r>
            <a:endParaRPr/>
          </a:p>
        </p:txBody>
      </p:sp>
      <p:pic>
        <p:nvPicPr>
          <p:cNvPr id="303" name="Google Shape;303;p31"/>
          <p:cNvPicPr preferRelativeResize="0"/>
          <p:nvPr/>
        </p:nvPicPr>
        <p:blipFill rotWithShape="1">
          <a:blip r:embed="rId3">
            <a:alphaModFix/>
          </a:blip>
          <a:srcRect b="0" l="0" r="0" t="0"/>
          <a:stretch/>
        </p:blipFill>
        <p:spPr>
          <a:xfrm>
            <a:off x="685800" y="1219200"/>
            <a:ext cx="7772400" cy="472598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 name="Shape 308"/>
        <p:cNvGrpSpPr/>
        <p:nvPr/>
      </p:nvGrpSpPr>
      <p:grpSpPr>
        <a:xfrm>
          <a:off x="0" y="0"/>
          <a:ext cx="0" cy="0"/>
          <a:chOff x="0" y="0"/>
          <a:chExt cx="0" cy="0"/>
        </a:xfrm>
      </p:grpSpPr>
      <p:sp>
        <p:nvSpPr>
          <p:cNvPr id="309" name="Google Shape;309;p32"/>
          <p:cNvSpPr txBox="1"/>
          <p:nvPr/>
        </p:nvSpPr>
        <p:spPr>
          <a:xfrm>
            <a:off x="457200" y="244475"/>
            <a:ext cx="8385175" cy="143192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Distributions</a:t>
            </a:r>
            <a:endParaRPr/>
          </a:p>
        </p:txBody>
      </p:sp>
      <p:sp>
        <p:nvSpPr>
          <p:cNvPr id="310" name="Google Shape;310;p32"/>
          <p:cNvSpPr txBox="1"/>
          <p:nvPr/>
        </p:nvSpPr>
        <p:spPr>
          <a:xfrm>
            <a:off x="838200" y="1905000"/>
            <a:ext cx="3929062" cy="4191000"/>
          </a:xfrm>
          <a:prstGeom prst="rect">
            <a:avLst/>
          </a:prstGeom>
          <a:noFill/>
          <a:ln>
            <a:noFill/>
          </a:ln>
        </p:spPr>
        <p:txBody>
          <a:bodyPr anchorCtr="0" anchor="t" bIns="45700" lIns="91425" spcFirstLastPara="1" rIns="91425" wrap="square" tIns="45700">
            <a:noAutofit/>
          </a:bodyPr>
          <a:lstStyle/>
          <a:p>
            <a:pPr indent="-177800" lvl="0" marL="171450" marR="0" rtl="0" algn="l">
              <a:lnSpc>
                <a:spcPct val="80000"/>
              </a:lnSpc>
              <a:spcBef>
                <a:spcPts val="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Bell-Shaped (also known as symmetric” or “normal”)</a:t>
            </a:r>
            <a:endParaRPr/>
          </a:p>
          <a:p>
            <a:pPr indent="-171450" lvl="0" marL="171450" marR="0" rtl="0" algn="l">
              <a:lnSpc>
                <a:spcPct val="80000"/>
              </a:lnSpc>
              <a:spcBef>
                <a:spcPts val="700"/>
              </a:spcBef>
              <a:spcAft>
                <a:spcPts val="0"/>
              </a:spcAft>
              <a:buClr>
                <a:srgbClr val="000000"/>
              </a:buClr>
              <a:buSzPts val="2800"/>
              <a:buFont typeface="Arial"/>
              <a:buNone/>
            </a:pPr>
            <a:r>
              <a:t/>
            </a:r>
            <a:endParaRPr b="0" i="0" sz="2800" u="none">
              <a:solidFill>
                <a:srgbClr val="000000"/>
              </a:solidFill>
              <a:latin typeface="Calibri"/>
              <a:ea typeface="Calibri"/>
              <a:cs typeface="Calibri"/>
              <a:sym typeface="Calibri"/>
            </a:endParaRPr>
          </a:p>
          <a:p>
            <a:pPr indent="-177800" lvl="0" marL="171450" marR="0" rtl="0" algn="l">
              <a:lnSpc>
                <a:spcPct val="80000"/>
              </a:lnSpc>
              <a:spcBef>
                <a:spcPts val="70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Skewed:</a:t>
            </a:r>
            <a:endParaRPr/>
          </a:p>
          <a:p>
            <a:pPr indent="-171450" lvl="1" marL="514350" marR="0" rtl="0" algn="l">
              <a:lnSpc>
                <a:spcPct val="8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positively (skewed to the right) – it tails off toward larger values</a:t>
            </a:r>
            <a:endParaRPr/>
          </a:p>
          <a:p>
            <a:pPr indent="-171450" lvl="1" marL="514350" marR="0" rtl="0" algn="l">
              <a:lnSpc>
                <a:spcPct val="80000"/>
              </a:lnSpc>
              <a:spcBef>
                <a:spcPts val="300"/>
              </a:spcBef>
              <a:spcAft>
                <a:spcPts val="0"/>
              </a:spcAft>
              <a:buClr>
                <a:srgbClr val="000000"/>
              </a:buClr>
              <a:buSzPts val="2400"/>
              <a:buFont typeface="Arial"/>
              <a:buChar char="•"/>
            </a:pPr>
            <a:r>
              <a:rPr b="0" i="0" lang="en-US" sz="2400" u="none" cap="none" strike="noStrike">
                <a:solidFill>
                  <a:srgbClr val="000000"/>
                </a:solidFill>
                <a:latin typeface="Calibri"/>
                <a:ea typeface="Calibri"/>
                <a:cs typeface="Calibri"/>
                <a:sym typeface="Calibri"/>
              </a:rPr>
              <a:t>negatively (skewed to the left) – it tails off toward smaller values </a:t>
            </a:r>
            <a:endParaRPr/>
          </a:p>
        </p:txBody>
      </p:sp>
      <p:pic>
        <p:nvPicPr>
          <p:cNvPr id="311" name="Google Shape;311;p32"/>
          <p:cNvPicPr preferRelativeResize="0"/>
          <p:nvPr/>
        </p:nvPicPr>
        <p:blipFill rotWithShape="1">
          <a:blip r:embed="rId4">
            <a:alphaModFix/>
          </a:blip>
          <a:srcRect b="0" l="0" r="0" t="0"/>
          <a:stretch/>
        </p:blipFill>
        <p:spPr>
          <a:xfrm>
            <a:off x="4953000" y="1371600"/>
            <a:ext cx="2914650" cy="2185987"/>
          </a:xfrm>
          <a:prstGeom prst="rect">
            <a:avLst/>
          </a:prstGeom>
          <a:noFill/>
          <a:ln>
            <a:noFill/>
          </a:ln>
        </p:spPr>
      </p:pic>
      <p:pic>
        <p:nvPicPr>
          <p:cNvPr id="312" name="Google Shape;312;p32"/>
          <p:cNvPicPr preferRelativeResize="0"/>
          <p:nvPr/>
        </p:nvPicPr>
        <p:blipFill rotWithShape="1">
          <a:blip r:embed="rId5">
            <a:alphaModFix/>
          </a:blip>
          <a:srcRect b="0" l="0" r="0" t="0"/>
          <a:stretch/>
        </p:blipFill>
        <p:spPr>
          <a:xfrm>
            <a:off x="4989512" y="3598862"/>
            <a:ext cx="3160712" cy="1622425"/>
          </a:xfrm>
          <a:prstGeom prst="rect">
            <a:avLst/>
          </a:prstGeom>
          <a:noFill/>
          <a:ln>
            <a:noFill/>
          </a:ln>
        </p:spPr>
      </p:pic>
      <p:graphicFrame>
        <p:nvGraphicFramePr>
          <p:cNvPr id="313" name="Google Shape;313;p32"/>
          <p:cNvGraphicFramePr/>
          <p:nvPr/>
        </p:nvGraphicFramePr>
        <p:xfrm>
          <a:off x="5105400" y="5029200"/>
          <a:ext cx="3590925" cy="1828800"/>
        </p:xfrm>
        <a:graphic>
          <a:graphicData uri="http://schemas.openxmlformats.org/presentationml/2006/ole">
            <mc:AlternateContent>
              <mc:Choice Requires="v">
                <p:oleObj r:id="rId6" imgH="1828800" imgW="3590925" spid="_x0000_s1">
                  <p:embed/>
                </p:oleObj>
              </mc:Choice>
              <mc:Fallback>
                <p:oleObj r:id="rId7" imgH="1828800" imgW="3590925">
                  <p:embed/>
                  <p:pic>
                    <p:nvPicPr>
                      <p:cNvPr id="313" name="Google Shape;313;p32"/>
                      <p:cNvPicPr preferRelativeResize="0"/>
                      <p:nvPr/>
                    </p:nvPicPr>
                    <p:blipFill rotWithShape="1">
                      <a:blip r:embed="rId8">
                        <a:alphaModFix/>
                      </a:blip>
                      <a:srcRect b="0" l="0" r="0" t="0"/>
                      <a:stretch/>
                    </p:blipFill>
                    <p:spPr>
                      <a:xfrm>
                        <a:off x="5105400" y="5029200"/>
                        <a:ext cx="3590925" cy="1828800"/>
                      </a:xfrm>
                      <a:prstGeom prst="rect">
                        <a:avLst/>
                      </a:prstGeom>
                      <a:noFill/>
                      <a:ln>
                        <a:noFill/>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33"/>
          <p:cNvSpPr/>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20" name="Google Shape;320;p33"/>
          <p:cNvSpPr/>
          <p:nvPr/>
        </p:nvSpPr>
        <p:spPr>
          <a:xfrm>
            <a:off x="628650" y="1825625"/>
            <a:ext cx="7886700" cy="43513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pic>
        <p:nvPicPr>
          <p:cNvPr id="321" name="Google Shape;321;p33"/>
          <p:cNvPicPr preferRelativeResize="0"/>
          <p:nvPr/>
        </p:nvPicPr>
        <p:blipFill rotWithShape="1">
          <a:blip r:embed="rId3">
            <a:alphaModFix/>
          </a:blip>
          <a:srcRect b="0" l="0" r="0" t="0"/>
          <a:stretch/>
        </p:blipFill>
        <p:spPr>
          <a:xfrm>
            <a:off x="0" y="0"/>
            <a:ext cx="9144000" cy="7086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6" name="Shape 326"/>
        <p:cNvGrpSpPr/>
        <p:nvPr/>
      </p:nvGrpSpPr>
      <p:grpSpPr>
        <a:xfrm>
          <a:off x="0" y="0"/>
          <a:ext cx="0" cy="0"/>
          <a:chOff x="0" y="0"/>
          <a:chExt cx="0" cy="0"/>
        </a:xfrm>
      </p:grpSpPr>
      <p:sp>
        <p:nvSpPr>
          <p:cNvPr id="327" name="Google Shape;327;p34"/>
          <p:cNvSpPr txBox="1"/>
          <p:nvPr/>
        </p:nvSpPr>
        <p:spPr>
          <a:xfrm>
            <a:off x="622300" y="244475"/>
            <a:ext cx="8220075" cy="11461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Calibri"/>
              <a:buNone/>
            </a:pPr>
            <a:r>
              <a:rPr b="0" i="0" lang="en-US" sz="3200" u="none">
                <a:solidFill>
                  <a:srgbClr val="000000"/>
                </a:solidFill>
                <a:latin typeface="Calibri"/>
                <a:ea typeface="Calibri"/>
                <a:cs typeface="Calibri"/>
                <a:sym typeface="Calibri"/>
              </a:rPr>
              <a:t>Choosing  a Measure of Central Tendency</a:t>
            </a:r>
            <a:endParaRPr/>
          </a:p>
        </p:txBody>
      </p:sp>
      <p:sp>
        <p:nvSpPr>
          <p:cNvPr id="328" name="Google Shape;328;p34"/>
          <p:cNvSpPr txBox="1"/>
          <p:nvPr/>
        </p:nvSpPr>
        <p:spPr>
          <a:xfrm>
            <a:off x="685800" y="1600200"/>
            <a:ext cx="7772400" cy="4495800"/>
          </a:xfrm>
          <a:prstGeom prst="rect">
            <a:avLst/>
          </a:prstGeom>
          <a:noFill/>
          <a:ln>
            <a:noFill/>
          </a:ln>
        </p:spPr>
        <p:txBody>
          <a:bodyPr anchorCtr="0" anchor="t" bIns="45700" lIns="91425" spcFirstLastPara="1" rIns="91425" wrap="square" tIns="45700">
            <a:noAutofit/>
          </a:bodyPr>
          <a:lstStyle/>
          <a:p>
            <a:pPr indent="-177800" lvl="0" marL="171450" marR="0" rtl="0" algn="l">
              <a:lnSpc>
                <a:spcPct val="80000"/>
              </a:lnSpc>
              <a:spcBef>
                <a:spcPts val="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IF variable is Nominal..</a:t>
            </a:r>
            <a:endParaRPr/>
          </a:p>
          <a:p>
            <a:pPr indent="-177800" lvl="0" marL="171450" marR="0" rtl="0" algn="l">
              <a:lnSpc>
                <a:spcPct val="80000"/>
              </a:lnSpc>
              <a:spcBef>
                <a:spcPts val="70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Mode</a:t>
            </a:r>
            <a:endParaRPr/>
          </a:p>
          <a:p>
            <a:pPr indent="-177800" lvl="0" marL="171450" marR="0" rtl="0" algn="l">
              <a:lnSpc>
                <a:spcPct val="80000"/>
              </a:lnSpc>
              <a:spcBef>
                <a:spcPts val="70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IF variable is Ordinal...</a:t>
            </a:r>
            <a:endParaRPr/>
          </a:p>
          <a:p>
            <a:pPr indent="-177800" lvl="0" marL="171450" marR="0" rtl="0" algn="l">
              <a:lnSpc>
                <a:spcPct val="80000"/>
              </a:lnSpc>
              <a:spcBef>
                <a:spcPts val="70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Mode or Median(or both)</a:t>
            </a:r>
            <a:endParaRPr/>
          </a:p>
          <a:p>
            <a:pPr indent="-177800" lvl="0" marL="171450" marR="0" rtl="0" algn="l">
              <a:lnSpc>
                <a:spcPct val="80000"/>
              </a:lnSpc>
              <a:spcBef>
                <a:spcPts val="70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IF variable is Interval-Ratio and distribution is Symmetrical…</a:t>
            </a:r>
            <a:endParaRPr/>
          </a:p>
          <a:p>
            <a:pPr indent="-177800" lvl="0" marL="171450" marR="0" rtl="0" algn="l">
              <a:lnSpc>
                <a:spcPct val="80000"/>
              </a:lnSpc>
              <a:spcBef>
                <a:spcPts val="70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Mode, Median or Mean </a:t>
            </a:r>
            <a:endParaRPr/>
          </a:p>
          <a:p>
            <a:pPr indent="-177800" lvl="0" marL="171450" marR="0" rtl="0" algn="l">
              <a:lnSpc>
                <a:spcPct val="80000"/>
              </a:lnSpc>
              <a:spcBef>
                <a:spcPts val="70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IF variable is Interval-Ratio and distribution is Skewed…</a:t>
            </a:r>
            <a:endParaRPr/>
          </a:p>
          <a:p>
            <a:pPr indent="-177800" lvl="0" marL="171450" marR="0" rtl="0" algn="l">
              <a:lnSpc>
                <a:spcPct val="80000"/>
              </a:lnSpc>
              <a:spcBef>
                <a:spcPts val="700"/>
              </a:spcBef>
              <a:spcAft>
                <a:spcPts val="0"/>
              </a:spcAft>
              <a:buClr>
                <a:srgbClr val="000000"/>
              </a:buClr>
              <a:buSzPts val="2800"/>
              <a:buFont typeface="Arial"/>
              <a:buChar char="•"/>
            </a:pPr>
            <a:r>
              <a:rPr b="0" i="0" lang="en-US" sz="2800" u="none">
                <a:solidFill>
                  <a:srgbClr val="000000"/>
                </a:solidFill>
                <a:latin typeface="Calibri"/>
                <a:ea typeface="Calibri"/>
                <a:cs typeface="Calibri"/>
                <a:sym typeface="Calibri"/>
              </a:rPr>
              <a:t>Mode or Median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8">
                                            <p:txEl>
                                              <p:pRg end="0" st="0"/>
                                            </p:txEl>
                                          </p:spTgt>
                                        </p:tgtEl>
                                        <p:attrNameLst>
                                          <p:attrName>style.visibility</p:attrName>
                                        </p:attrNameLst>
                                      </p:cBhvr>
                                      <p:to>
                                        <p:strVal val="visible"/>
                                      </p:to>
                                    </p:set>
                                    <p:anim calcmode="lin" valueType="num">
                                      <p:cBhvr additive="base">
                                        <p:cTn dur="500"/>
                                        <p:tgtEl>
                                          <p:spTgt spid="32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8">
                                            <p:txEl>
                                              <p:pRg end="1" st="1"/>
                                            </p:txEl>
                                          </p:spTgt>
                                        </p:tgtEl>
                                        <p:attrNameLst>
                                          <p:attrName>style.visibility</p:attrName>
                                        </p:attrNameLst>
                                      </p:cBhvr>
                                      <p:to>
                                        <p:strVal val="visible"/>
                                      </p:to>
                                    </p:set>
                                    <p:anim calcmode="lin" valueType="num">
                                      <p:cBhvr additive="base">
                                        <p:cTn dur="500"/>
                                        <p:tgtEl>
                                          <p:spTgt spid="32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8">
                                            <p:txEl>
                                              <p:pRg end="2" st="2"/>
                                            </p:txEl>
                                          </p:spTgt>
                                        </p:tgtEl>
                                        <p:attrNameLst>
                                          <p:attrName>style.visibility</p:attrName>
                                        </p:attrNameLst>
                                      </p:cBhvr>
                                      <p:to>
                                        <p:strVal val="visible"/>
                                      </p:to>
                                    </p:set>
                                    <p:anim calcmode="lin" valueType="num">
                                      <p:cBhvr additive="base">
                                        <p:cTn dur="500"/>
                                        <p:tgtEl>
                                          <p:spTgt spid="32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8">
                                            <p:txEl>
                                              <p:pRg end="3" st="3"/>
                                            </p:txEl>
                                          </p:spTgt>
                                        </p:tgtEl>
                                        <p:attrNameLst>
                                          <p:attrName>style.visibility</p:attrName>
                                        </p:attrNameLst>
                                      </p:cBhvr>
                                      <p:to>
                                        <p:strVal val="visible"/>
                                      </p:to>
                                    </p:set>
                                    <p:anim calcmode="lin" valueType="num">
                                      <p:cBhvr additive="base">
                                        <p:cTn dur="500"/>
                                        <p:tgtEl>
                                          <p:spTgt spid="32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8">
                                            <p:txEl>
                                              <p:pRg end="4" st="4"/>
                                            </p:txEl>
                                          </p:spTgt>
                                        </p:tgtEl>
                                        <p:attrNameLst>
                                          <p:attrName>style.visibility</p:attrName>
                                        </p:attrNameLst>
                                      </p:cBhvr>
                                      <p:to>
                                        <p:strVal val="visible"/>
                                      </p:to>
                                    </p:set>
                                    <p:anim calcmode="lin" valueType="num">
                                      <p:cBhvr additive="base">
                                        <p:cTn dur="500"/>
                                        <p:tgtEl>
                                          <p:spTgt spid="32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8">
                                            <p:txEl>
                                              <p:pRg end="5" st="5"/>
                                            </p:txEl>
                                          </p:spTgt>
                                        </p:tgtEl>
                                        <p:attrNameLst>
                                          <p:attrName>style.visibility</p:attrName>
                                        </p:attrNameLst>
                                      </p:cBhvr>
                                      <p:to>
                                        <p:strVal val="visible"/>
                                      </p:to>
                                    </p:set>
                                    <p:anim calcmode="lin" valueType="num">
                                      <p:cBhvr additive="base">
                                        <p:cTn dur="500"/>
                                        <p:tgtEl>
                                          <p:spTgt spid="32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8">
                                            <p:txEl>
                                              <p:pRg end="6" st="6"/>
                                            </p:txEl>
                                          </p:spTgt>
                                        </p:tgtEl>
                                        <p:attrNameLst>
                                          <p:attrName>style.visibility</p:attrName>
                                        </p:attrNameLst>
                                      </p:cBhvr>
                                      <p:to>
                                        <p:strVal val="visible"/>
                                      </p:to>
                                    </p:set>
                                    <p:anim calcmode="lin" valueType="num">
                                      <p:cBhvr additive="base">
                                        <p:cTn dur="500"/>
                                        <p:tgtEl>
                                          <p:spTgt spid="32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8">
                                            <p:txEl>
                                              <p:pRg end="7" st="7"/>
                                            </p:txEl>
                                          </p:spTgt>
                                        </p:tgtEl>
                                        <p:attrNameLst>
                                          <p:attrName>style.visibility</p:attrName>
                                        </p:attrNameLst>
                                      </p:cBhvr>
                                      <p:to>
                                        <p:strVal val="visible"/>
                                      </p:to>
                                    </p:set>
                                    <p:anim calcmode="lin" valueType="num">
                                      <p:cBhvr additive="base">
                                        <p:cTn dur="500"/>
                                        <p:tgtEl>
                                          <p:spTgt spid="328">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35"/>
          <p:cNvSpPr txBox="1"/>
          <p:nvPr/>
        </p:nvSpPr>
        <p:spPr>
          <a:xfrm>
            <a:off x="457200" y="244475"/>
            <a:ext cx="8385175" cy="143192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Calibri"/>
              <a:buNone/>
            </a:pPr>
            <a:r>
              <a:rPr b="0" i="0" lang="en-US" sz="3300" u="none">
                <a:solidFill>
                  <a:srgbClr val="000000"/>
                </a:solidFill>
                <a:latin typeface="Calibri"/>
                <a:ea typeface="Calibri"/>
                <a:cs typeface="Calibri"/>
                <a:sym typeface="Calibri"/>
              </a:rPr>
              <a:t>EXAMPLE:</a:t>
            </a:r>
            <a:endParaRPr/>
          </a:p>
        </p:txBody>
      </p:sp>
      <p:sp>
        <p:nvSpPr>
          <p:cNvPr id="335" name="Google Shape;335;p35"/>
          <p:cNvSpPr txBox="1"/>
          <p:nvPr/>
        </p:nvSpPr>
        <p:spPr>
          <a:xfrm>
            <a:off x="304800" y="1447800"/>
            <a:ext cx="8001000" cy="4759325"/>
          </a:xfrm>
          <a:prstGeom prst="rect">
            <a:avLst/>
          </a:prstGeom>
          <a:noFill/>
          <a:ln>
            <a:noFill/>
          </a:ln>
        </p:spPr>
        <p:txBody>
          <a:bodyPr anchorCtr="0" anchor="t" bIns="45700" lIns="91425" spcFirstLastPara="1" rIns="91425" wrap="square" tIns="45700">
            <a:noAutofit/>
          </a:bodyPr>
          <a:lstStyle/>
          <a:p>
            <a:pPr indent="-171450" lvl="0" marL="171450" marR="0" rtl="0" algn="l">
              <a:lnSpc>
                <a:spcPct val="80000"/>
              </a:lnSpc>
              <a:spcBef>
                <a:spcPts val="0"/>
              </a:spcBef>
              <a:spcAft>
                <a:spcPts val="0"/>
              </a:spcAft>
              <a:buClr>
                <a:srgbClr val="000000"/>
              </a:buClr>
              <a:buSzPts val="2400"/>
              <a:buFont typeface="Arial"/>
              <a:buNone/>
            </a:pPr>
            <a:r>
              <a:t/>
            </a:r>
            <a:endParaRPr b="0" i="0" sz="2400" u="none">
              <a:solidFill>
                <a:srgbClr val="000000"/>
              </a:solidFill>
              <a:latin typeface="Calibri"/>
              <a:ea typeface="Calibri"/>
              <a:cs typeface="Calibri"/>
              <a:sym typeface="Calibri"/>
            </a:endParaRPr>
          </a:p>
          <a:p>
            <a:pPr indent="-171450" lvl="0" marL="171450" marR="0" rtl="0" algn="l">
              <a:lnSpc>
                <a:spcPct val="80000"/>
              </a:lnSpc>
              <a:spcBef>
                <a:spcPts val="70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   </a:t>
            </a:r>
            <a:r>
              <a:rPr b="0" i="0" lang="en-US" sz="2800" u="none">
                <a:solidFill>
                  <a:srgbClr val="000000"/>
                </a:solidFill>
                <a:latin typeface="Calibri"/>
                <a:ea typeface="Calibri"/>
                <a:cs typeface="Calibri"/>
                <a:sym typeface="Calibri"/>
              </a:rPr>
              <a:t>(1) 7,8,9,10,11   n=5,    x=45,        =45/5=9</a:t>
            </a:r>
            <a:endParaRPr/>
          </a:p>
          <a:p>
            <a:pPr indent="-171450" lvl="0" marL="171450" marR="0" rtl="0" algn="l">
              <a:lnSpc>
                <a:spcPct val="80000"/>
              </a:lnSpc>
              <a:spcBef>
                <a:spcPts val="700"/>
              </a:spcBef>
              <a:spcAft>
                <a:spcPts val="0"/>
              </a:spcAft>
              <a:buClr>
                <a:srgbClr val="000000"/>
              </a:buClr>
              <a:buSzPts val="2800"/>
              <a:buFont typeface="Arial"/>
              <a:buNone/>
            </a:pPr>
            <a:r>
              <a:t/>
            </a:r>
            <a:endParaRPr b="0" i="0" sz="2800" u="none">
              <a:solidFill>
                <a:srgbClr val="000000"/>
              </a:solidFill>
              <a:latin typeface="Calibri"/>
              <a:ea typeface="Calibri"/>
              <a:cs typeface="Calibri"/>
              <a:sym typeface="Calibri"/>
            </a:endParaRPr>
          </a:p>
          <a:p>
            <a:pPr indent="-171450" lvl="0" marL="171450" marR="0" rtl="0" algn="l">
              <a:lnSpc>
                <a:spcPct val="80000"/>
              </a:lnSpc>
              <a:spcBef>
                <a:spcPts val="700"/>
              </a:spcBef>
              <a:spcAft>
                <a:spcPts val="0"/>
              </a:spcAft>
              <a:buClr>
                <a:srgbClr val="000000"/>
              </a:buClr>
              <a:buSzPts val="2800"/>
              <a:buFont typeface="Calibri"/>
              <a:buNone/>
            </a:pPr>
            <a:r>
              <a:rPr b="0" i="0" lang="en-US" sz="2800" u="none">
                <a:solidFill>
                  <a:srgbClr val="000000"/>
                </a:solidFill>
                <a:latin typeface="Calibri"/>
                <a:ea typeface="Calibri"/>
                <a:cs typeface="Calibri"/>
                <a:sym typeface="Calibri"/>
              </a:rPr>
              <a:t>   (2) 3,4,9,12,15   n=5,   x=45,         =45/5=9</a:t>
            </a:r>
            <a:endParaRPr/>
          </a:p>
          <a:p>
            <a:pPr indent="-171450" lvl="0" marL="171450" marR="0" rtl="0" algn="l">
              <a:lnSpc>
                <a:spcPct val="80000"/>
              </a:lnSpc>
              <a:spcBef>
                <a:spcPts val="700"/>
              </a:spcBef>
              <a:spcAft>
                <a:spcPts val="0"/>
              </a:spcAft>
              <a:buClr>
                <a:srgbClr val="000000"/>
              </a:buClr>
              <a:buSzPts val="2800"/>
              <a:buFont typeface="Arial"/>
              <a:buNone/>
            </a:pPr>
            <a:r>
              <a:t/>
            </a:r>
            <a:endParaRPr b="0" i="0" sz="2800" u="none">
              <a:solidFill>
                <a:srgbClr val="000000"/>
              </a:solidFill>
              <a:latin typeface="Calibri"/>
              <a:ea typeface="Calibri"/>
              <a:cs typeface="Calibri"/>
              <a:sym typeface="Calibri"/>
            </a:endParaRPr>
          </a:p>
          <a:p>
            <a:pPr indent="-171450" lvl="0" marL="171450" marR="0" rtl="0" algn="l">
              <a:lnSpc>
                <a:spcPct val="80000"/>
              </a:lnSpc>
              <a:spcBef>
                <a:spcPts val="700"/>
              </a:spcBef>
              <a:spcAft>
                <a:spcPts val="0"/>
              </a:spcAft>
              <a:buClr>
                <a:srgbClr val="000000"/>
              </a:buClr>
              <a:buSzPts val="2800"/>
              <a:buFont typeface="Calibri"/>
              <a:buNone/>
            </a:pPr>
            <a:r>
              <a:rPr b="0" i="0" lang="en-US" sz="2800" u="none">
                <a:solidFill>
                  <a:srgbClr val="000000"/>
                </a:solidFill>
                <a:latin typeface="Calibri"/>
                <a:ea typeface="Calibri"/>
                <a:cs typeface="Calibri"/>
                <a:sym typeface="Calibri"/>
              </a:rPr>
              <a:t>   (3) 1,5,9,13,17   n=5,   x=45,         =45/5=9</a:t>
            </a:r>
            <a:endParaRPr/>
          </a:p>
          <a:p>
            <a:pPr indent="-171450" lvl="0" marL="171450" marR="0" rtl="0" algn="l">
              <a:lnSpc>
                <a:spcPct val="80000"/>
              </a:lnSpc>
              <a:spcBef>
                <a:spcPts val="700"/>
              </a:spcBef>
              <a:spcAft>
                <a:spcPts val="0"/>
              </a:spcAft>
              <a:buClr>
                <a:srgbClr val="000000"/>
              </a:buClr>
              <a:buSzPts val="2800"/>
              <a:buFont typeface="Arial"/>
              <a:buNone/>
            </a:pPr>
            <a:r>
              <a:t/>
            </a:r>
            <a:endParaRPr b="0" i="0" sz="2800" u="none">
              <a:solidFill>
                <a:srgbClr val="000000"/>
              </a:solidFill>
              <a:latin typeface="Calibri"/>
              <a:ea typeface="Calibri"/>
              <a:cs typeface="Calibri"/>
              <a:sym typeface="Calibri"/>
            </a:endParaRPr>
          </a:p>
          <a:p>
            <a:pPr indent="-171450" lvl="0" marL="171450" marR="0" rtl="0" algn="l">
              <a:lnSpc>
                <a:spcPct val="80000"/>
              </a:lnSpc>
              <a:spcBef>
                <a:spcPts val="700"/>
              </a:spcBef>
              <a:spcAft>
                <a:spcPts val="0"/>
              </a:spcAft>
              <a:buClr>
                <a:srgbClr val="000000"/>
              </a:buClr>
              <a:buSzPts val="2800"/>
              <a:buFont typeface="Calibri"/>
              <a:buNone/>
            </a:pPr>
            <a:r>
              <a:rPr b="0" i="0" lang="en-US" sz="2800" u="none">
                <a:solidFill>
                  <a:srgbClr val="000000"/>
                </a:solidFill>
                <a:latin typeface="Calibri"/>
                <a:ea typeface="Calibri"/>
                <a:cs typeface="Calibri"/>
                <a:sym typeface="Calibri"/>
              </a:rPr>
              <a:t>   S.D. :  (1) 1.58 (2) 4.74 (3) 6.32 </a:t>
            </a:r>
            <a:endParaRPr/>
          </a:p>
          <a:p>
            <a:pPr indent="-171450" lvl="0" marL="171450" marR="0" rtl="0" algn="l">
              <a:lnSpc>
                <a:spcPct val="80000"/>
              </a:lnSpc>
              <a:spcBef>
                <a:spcPts val="70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  </a:t>
            </a:r>
            <a:endParaRPr/>
          </a:p>
        </p:txBody>
      </p:sp>
      <p:graphicFrame>
        <p:nvGraphicFramePr>
          <p:cNvPr id="336" name="Google Shape;336;p35"/>
          <p:cNvGraphicFramePr/>
          <p:nvPr/>
        </p:nvGraphicFramePr>
        <p:xfrm>
          <a:off x="6826250" y="2816225"/>
          <a:ext cx="106362" cy="200025"/>
        </p:xfrm>
        <a:graphic>
          <a:graphicData uri="http://schemas.openxmlformats.org/presentationml/2006/ole">
            <mc:AlternateContent>
              <mc:Choice Requires="v">
                <p:oleObj r:id="rId4" imgH="200025" imgW="106362" spid="_x0000_s1">
                  <p:embed/>
                </p:oleObj>
              </mc:Choice>
              <mc:Fallback>
                <p:oleObj r:id="rId5" imgH="200025" imgW="106362">
                  <p:embed/>
                  <p:pic>
                    <p:nvPicPr>
                      <p:cNvPr id="336" name="Google Shape;336;p35"/>
                      <p:cNvPicPr preferRelativeResize="0"/>
                      <p:nvPr/>
                    </p:nvPicPr>
                    <p:blipFill rotWithShape="1">
                      <a:blip r:embed="rId6">
                        <a:alphaModFix/>
                      </a:blip>
                      <a:srcRect b="0" l="0" r="0" t="0"/>
                      <a:stretch/>
                    </p:blipFill>
                    <p:spPr>
                      <a:xfrm>
                        <a:off x="6826250" y="2816225"/>
                        <a:ext cx="106362" cy="200025"/>
                      </a:xfrm>
                      <a:prstGeom prst="rect">
                        <a:avLst/>
                      </a:prstGeom>
                      <a:noFill/>
                      <a:ln>
                        <a:noFill/>
                      </a:ln>
                    </p:spPr>
                  </p:pic>
                </p:oleObj>
              </mc:Fallback>
            </mc:AlternateContent>
          </a:graphicData>
        </a:graphic>
      </p:graphicFrame>
      <p:graphicFrame>
        <p:nvGraphicFramePr>
          <p:cNvPr id="337" name="Google Shape;337;p35"/>
          <p:cNvGraphicFramePr/>
          <p:nvPr/>
        </p:nvGraphicFramePr>
        <p:xfrm>
          <a:off x="6342062" y="4070350"/>
          <a:ext cx="1073150" cy="2025650"/>
        </p:xfrm>
        <a:graphic>
          <a:graphicData uri="http://schemas.openxmlformats.org/presentationml/2006/ole">
            <mc:AlternateContent>
              <mc:Choice Requires="v">
                <p:oleObj r:id="rId7" imgH="2025650" imgW="1073150" spid="_x0000_s2">
                  <p:embed/>
                </p:oleObj>
              </mc:Choice>
              <mc:Fallback>
                <p:oleObj r:id="rId8" imgH="2025650" imgW="1073150">
                  <p:embed/>
                  <p:pic>
                    <p:nvPicPr>
                      <p:cNvPr id="337" name="Google Shape;337;p35"/>
                      <p:cNvPicPr preferRelativeResize="0"/>
                      <p:nvPr/>
                    </p:nvPicPr>
                    <p:blipFill rotWithShape="1">
                      <a:blip r:embed="rId9">
                        <a:alphaModFix/>
                      </a:blip>
                      <a:srcRect b="0" l="0" r="0" t="0"/>
                      <a:stretch/>
                    </p:blipFill>
                    <p:spPr>
                      <a:xfrm>
                        <a:off x="6342062" y="4070350"/>
                        <a:ext cx="1073150" cy="2025650"/>
                      </a:xfrm>
                      <a:prstGeom prst="rect">
                        <a:avLst/>
                      </a:prstGeom>
                      <a:noFill/>
                      <a:ln>
                        <a:noFill/>
                      </a:ln>
                    </p:spPr>
                  </p:pic>
                </p:oleObj>
              </mc:Fallback>
            </mc:AlternateContent>
          </a:graphicData>
        </a:graphic>
      </p:graphicFrame>
      <p:sp>
        <p:nvSpPr>
          <p:cNvPr id="338" name="Google Shape;338;p35"/>
          <p:cNvSpPr/>
          <p:nvPr/>
        </p:nvSpPr>
        <p:spPr>
          <a:xfrm>
            <a:off x="0" y="3295650"/>
            <a:ext cx="9144000" cy="15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339" name="Google Shape;339;p35"/>
          <p:cNvSpPr/>
          <p:nvPr/>
        </p:nvSpPr>
        <p:spPr>
          <a:xfrm>
            <a:off x="0" y="3300412"/>
            <a:ext cx="9144000" cy="15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graphicFrame>
        <p:nvGraphicFramePr>
          <p:cNvPr id="340" name="Google Shape;340;p35"/>
          <p:cNvGraphicFramePr/>
          <p:nvPr/>
        </p:nvGraphicFramePr>
        <p:xfrm>
          <a:off x="3724275" y="1898650"/>
          <a:ext cx="457200" cy="304800"/>
        </p:xfrm>
        <a:graphic>
          <a:graphicData uri="http://schemas.openxmlformats.org/presentationml/2006/ole">
            <mc:AlternateContent>
              <mc:Choice Requires="v">
                <p:oleObj r:id="rId10" imgH="304800" imgW="457200" spid="_x0000_s3">
                  <p:embed/>
                </p:oleObj>
              </mc:Choice>
              <mc:Fallback>
                <p:oleObj r:id="rId11" imgH="304800" imgW="457200">
                  <p:embed/>
                  <p:pic>
                    <p:nvPicPr>
                      <p:cNvPr id="340" name="Google Shape;340;p35"/>
                      <p:cNvPicPr preferRelativeResize="0"/>
                      <p:nvPr/>
                    </p:nvPicPr>
                    <p:blipFill rotWithShape="1">
                      <a:blip r:embed="rId12">
                        <a:alphaModFix/>
                      </a:blip>
                      <a:srcRect b="0" l="0" r="0" t="0"/>
                      <a:stretch/>
                    </p:blipFill>
                    <p:spPr>
                      <a:xfrm>
                        <a:off x="3724275" y="1898650"/>
                        <a:ext cx="457200" cy="304800"/>
                      </a:xfrm>
                      <a:prstGeom prst="rect">
                        <a:avLst/>
                      </a:prstGeom>
                      <a:noFill/>
                      <a:ln>
                        <a:noFill/>
                      </a:ln>
                    </p:spPr>
                  </p:pic>
                </p:oleObj>
              </mc:Fallback>
            </mc:AlternateContent>
          </a:graphicData>
        </a:graphic>
      </p:graphicFrame>
      <p:graphicFrame>
        <p:nvGraphicFramePr>
          <p:cNvPr id="341" name="Google Shape;341;p35"/>
          <p:cNvGraphicFramePr/>
          <p:nvPr/>
        </p:nvGraphicFramePr>
        <p:xfrm>
          <a:off x="3656012" y="2752725"/>
          <a:ext cx="457200" cy="304800"/>
        </p:xfrm>
        <a:graphic>
          <a:graphicData uri="http://schemas.openxmlformats.org/presentationml/2006/ole">
            <mc:AlternateContent>
              <mc:Choice Requires="v">
                <p:oleObj r:id="rId13" imgH="304800" imgW="457200" spid="_x0000_s4">
                  <p:embed/>
                </p:oleObj>
              </mc:Choice>
              <mc:Fallback>
                <p:oleObj r:id="rId14" imgH="304800" imgW="457200">
                  <p:embed/>
                  <p:pic>
                    <p:nvPicPr>
                      <p:cNvPr id="341" name="Google Shape;341;p35"/>
                      <p:cNvPicPr preferRelativeResize="0"/>
                      <p:nvPr/>
                    </p:nvPicPr>
                    <p:blipFill rotWithShape="1">
                      <a:blip r:embed="rId12">
                        <a:alphaModFix/>
                      </a:blip>
                      <a:srcRect b="0" l="0" r="0" t="0"/>
                      <a:stretch/>
                    </p:blipFill>
                    <p:spPr>
                      <a:xfrm>
                        <a:off x="3656012" y="2752725"/>
                        <a:ext cx="457200" cy="304800"/>
                      </a:xfrm>
                      <a:prstGeom prst="rect">
                        <a:avLst/>
                      </a:prstGeom>
                      <a:noFill/>
                      <a:ln>
                        <a:noFill/>
                      </a:ln>
                    </p:spPr>
                  </p:pic>
                </p:oleObj>
              </mc:Fallback>
            </mc:AlternateContent>
          </a:graphicData>
        </a:graphic>
      </p:graphicFrame>
      <p:graphicFrame>
        <p:nvGraphicFramePr>
          <p:cNvPr id="342" name="Google Shape;342;p35"/>
          <p:cNvGraphicFramePr/>
          <p:nvPr/>
        </p:nvGraphicFramePr>
        <p:xfrm>
          <a:off x="3660775" y="3668712"/>
          <a:ext cx="457200" cy="304800"/>
        </p:xfrm>
        <a:graphic>
          <a:graphicData uri="http://schemas.openxmlformats.org/presentationml/2006/ole">
            <mc:AlternateContent>
              <mc:Choice Requires="v">
                <p:oleObj r:id="rId15" imgH="304800" imgW="457200" spid="_x0000_s5">
                  <p:embed/>
                </p:oleObj>
              </mc:Choice>
              <mc:Fallback>
                <p:oleObj r:id="rId16" imgH="304800" imgW="457200">
                  <p:embed/>
                  <p:pic>
                    <p:nvPicPr>
                      <p:cNvPr id="342" name="Google Shape;342;p35"/>
                      <p:cNvPicPr preferRelativeResize="0"/>
                      <p:nvPr/>
                    </p:nvPicPr>
                    <p:blipFill rotWithShape="1">
                      <a:blip r:embed="rId12">
                        <a:alphaModFix/>
                      </a:blip>
                      <a:srcRect b="0" l="0" r="0" t="0"/>
                      <a:stretch/>
                    </p:blipFill>
                    <p:spPr>
                      <a:xfrm>
                        <a:off x="3660775" y="3668712"/>
                        <a:ext cx="457200" cy="304800"/>
                      </a:xfrm>
                      <a:prstGeom prst="rect">
                        <a:avLst/>
                      </a:prstGeom>
                      <a:noFill/>
                      <a:ln>
                        <a:noFill/>
                      </a:ln>
                    </p:spPr>
                  </p:pic>
                </p:oleObj>
              </mc:Fallback>
            </mc:AlternateContent>
          </a:graphicData>
        </a:graphic>
      </p:graphicFrame>
      <p:sp>
        <p:nvSpPr>
          <p:cNvPr id="343" name="Google Shape;343;p35"/>
          <p:cNvSpPr/>
          <p:nvPr/>
        </p:nvSpPr>
        <p:spPr>
          <a:xfrm>
            <a:off x="0" y="3319462"/>
            <a:ext cx="9144000" cy="15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graphicFrame>
        <p:nvGraphicFramePr>
          <p:cNvPr id="344" name="Google Shape;344;p35"/>
          <p:cNvGraphicFramePr/>
          <p:nvPr/>
        </p:nvGraphicFramePr>
        <p:xfrm>
          <a:off x="4865687" y="1606550"/>
          <a:ext cx="387350" cy="685800"/>
        </p:xfrm>
        <a:graphic>
          <a:graphicData uri="http://schemas.openxmlformats.org/presentationml/2006/ole">
            <mc:AlternateContent>
              <mc:Choice Requires="v">
                <p:oleObj r:id="rId17" imgH="685800" imgW="387350" spid="_x0000_s6">
                  <p:embed/>
                </p:oleObj>
              </mc:Choice>
              <mc:Fallback>
                <p:oleObj r:id="rId18" imgH="685800" imgW="387350">
                  <p:embed/>
                  <p:pic>
                    <p:nvPicPr>
                      <p:cNvPr id="344" name="Google Shape;344;p35"/>
                      <p:cNvPicPr preferRelativeResize="0"/>
                      <p:nvPr/>
                    </p:nvPicPr>
                    <p:blipFill rotWithShape="1">
                      <a:blip r:embed="rId19">
                        <a:alphaModFix/>
                      </a:blip>
                      <a:srcRect b="0" l="0" r="0" t="0"/>
                      <a:stretch/>
                    </p:blipFill>
                    <p:spPr>
                      <a:xfrm>
                        <a:off x="4865687" y="1606550"/>
                        <a:ext cx="387350" cy="685800"/>
                      </a:xfrm>
                      <a:prstGeom prst="rect">
                        <a:avLst/>
                      </a:prstGeom>
                      <a:noFill/>
                      <a:ln>
                        <a:noFill/>
                      </a:ln>
                    </p:spPr>
                  </p:pic>
                </p:oleObj>
              </mc:Fallback>
            </mc:AlternateContent>
          </a:graphicData>
        </a:graphic>
      </p:graphicFrame>
      <p:graphicFrame>
        <p:nvGraphicFramePr>
          <p:cNvPr id="345" name="Google Shape;345;p35"/>
          <p:cNvGraphicFramePr/>
          <p:nvPr/>
        </p:nvGraphicFramePr>
        <p:xfrm>
          <a:off x="5119687" y="2451100"/>
          <a:ext cx="387350" cy="685800"/>
        </p:xfrm>
        <a:graphic>
          <a:graphicData uri="http://schemas.openxmlformats.org/presentationml/2006/ole">
            <mc:AlternateContent>
              <mc:Choice Requires="v">
                <p:oleObj r:id="rId20" imgH="685800" imgW="387350" spid="_x0000_s7">
                  <p:embed/>
                </p:oleObj>
              </mc:Choice>
              <mc:Fallback>
                <p:oleObj r:id="rId21" imgH="685800" imgW="387350">
                  <p:embed/>
                  <p:pic>
                    <p:nvPicPr>
                      <p:cNvPr id="345" name="Google Shape;345;p35"/>
                      <p:cNvPicPr preferRelativeResize="0"/>
                      <p:nvPr/>
                    </p:nvPicPr>
                    <p:blipFill rotWithShape="1">
                      <a:blip r:embed="rId19">
                        <a:alphaModFix/>
                      </a:blip>
                      <a:srcRect b="0" l="0" r="0" t="0"/>
                      <a:stretch/>
                    </p:blipFill>
                    <p:spPr>
                      <a:xfrm>
                        <a:off x="5119687" y="2451100"/>
                        <a:ext cx="387350" cy="685800"/>
                      </a:xfrm>
                      <a:prstGeom prst="rect">
                        <a:avLst/>
                      </a:prstGeom>
                      <a:noFill/>
                      <a:ln>
                        <a:noFill/>
                      </a:ln>
                    </p:spPr>
                  </p:pic>
                </p:oleObj>
              </mc:Fallback>
            </mc:AlternateContent>
          </a:graphicData>
        </a:graphic>
      </p:graphicFrame>
      <p:graphicFrame>
        <p:nvGraphicFramePr>
          <p:cNvPr id="346" name="Google Shape;346;p35"/>
          <p:cNvGraphicFramePr/>
          <p:nvPr/>
        </p:nvGraphicFramePr>
        <p:xfrm>
          <a:off x="5059362" y="3408362"/>
          <a:ext cx="387350" cy="685800"/>
        </p:xfrm>
        <a:graphic>
          <a:graphicData uri="http://schemas.openxmlformats.org/presentationml/2006/ole">
            <mc:AlternateContent>
              <mc:Choice Requires="v">
                <p:oleObj r:id="rId22" imgH="685800" imgW="387350" spid="_x0000_s8">
                  <p:embed/>
                </p:oleObj>
              </mc:Choice>
              <mc:Fallback>
                <p:oleObj r:id="rId23" imgH="685800" imgW="387350">
                  <p:embed/>
                  <p:pic>
                    <p:nvPicPr>
                      <p:cNvPr id="346" name="Google Shape;346;p35"/>
                      <p:cNvPicPr preferRelativeResize="0"/>
                      <p:nvPr/>
                    </p:nvPicPr>
                    <p:blipFill rotWithShape="1">
                      <a:blip r:embed="rId19">
                        <a:alphaModFix/>
                      </a:blip>
                      <a:srcRect b="0" l="0" r="0" t="0"/>
                      <a:stretch/>
                    </p:blipFill>
                    <p:spPr>
                      <a:xfrm>
                        <a:off x="5059362" y="3408362"/>
                        <a:ext cx="387350" cy="685800"/>
                      </a:xfrm>
                      <a:prstGeom prst="rect">
                        <a:avLst/>
                      </a:prstGeom>
                      <a:noFill/>
                      <a:ln>
                        <a:noFill/>
                      </a:ln>
                    </p:spPr>
                  </p:pic>
                </p:oleObj>
              </mc:Fallback>
            </mc:AlternateContent>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POI_THEME_TEMPLATE_DESIGN">
  <a:themeElements>
    <a:clrScheme name="POI_THEME_TEMPLATE_DESIGN">
      <a:dk1>
        <a:srgbClr val="000000"/>
      </a:dk1>
      <a:lt1>
        <a:srgbClr val="FFFFFF"/>
      </a:lt1>
      <a:dk2>
        <a:srgbClr val="000000"/>
      </a:dk2>
      <a:lt2>
        <a:srgbClr val="808080"/>
      </a:lt2>
      <a:accent1>
        <a:srgbClr val="00CC99"/>
      </a:accent1>
      <a:accent2>
        <a:srgbClr val="3333CC"/>
      </a:accent2>
      <a:accent3>
        <a:srgbClr val="FFFFFF"/>
      </a:accent3>
      <a:accent4>
        <a:srgbClr val="00CC99"/>
      </a:accent4>
      <a:accent5>
        <a:srgbClr val="3333CC"/>
      </a:accent5>
      <a:accent6>
        <a:srgbClr val="FFFFFF"/>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I_THEME_TEMPLATE_DESIGN">
  <a:themeElements>
    <a:clrScheme name="POI_THEME_TEMPLATE_DESIGN">
      <a:dk1>
        <a:srgbClr val="000000"/>
      </a:dk1>
      <a:lt1>
        <a:srgbClr val="FFFFFF"/>
      </a:lt1>
      <a:dk2>
        <a:srgbClr val="000000"/>
      </a:dk2>
      <a:lt2>
        <a:srgbClr val="808080"/>
      </a:lt2>
      <a:accent1>
        <a:srgbClr val="00CC99"/>
      </a:accent1>
      <a:accent2>
        <a:srgbClr val="3333CC"/>
      </a:accent2>
      <a:accent3>
        <a:srgbClr val="FFFFFF"/>
      </a:accent3>
      <a:accent4>
        <a:srgbClr val="00CC99"/>
      </a:accent4>
      <a:accent5>
        <a:srgbClr val="3333CC"/>
      </a:accent5>
      <a:accent6>
        <a:srgbClr val="FFFFFF"/>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OI_THEME_TEMPLATE_DESIGN">
  <a:themeElements>
    <a:clrScheme name="POI_THEME_TEMPLATE_DESIGN">
      <a:dk1>
        <a:srgbClr val="000000"/>
      </a:dk1>
      <a:lt1>
        <a:srgbClr val="FFFFFF"/>
      </a:lt1>
      <a:dk2>
        <a:srgbClr val="000000"/>
      </a:dk2>
      <a:lt2>
        <a:srgbClr val="808080"/>
      </a:lt2>
      <a:accent1>
        <a:srgbClr val="00CC99"/>
      </a:accent1>
      <a:accent2>
        <a:srgbClr val="3333CC"/>
      </a:accent2>
      <a:accent3>
        <a:srgbClr val="FFFFFF"/>
      </a:accent3>
      <a:accent4>
        <a:srgbClr val="00CC99"/>
      </a:accent4>
      <a:accent5>
        <a:srgbClr val="3333CC"/>
      </a:accent5>
      <a:accent6>
        <a:srgbClr val="FFFFFF"/>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2006-10-07T09:08:30Z</dcterms:created>
  <dc:creator>family</dc:creator>
</cp:coreProperties>
</file>

<file path=docProps/custom.xml><?xml version="1.0" encoding="utf-8"?>
<Properties xmlns="http://schemas.openxmlformats.org/officeDocument/2006/custom-properties" xmlns:vt="http://schemas.openxmlformats.org/officeDocument/2006/docPropsVTypes"/>
</file>