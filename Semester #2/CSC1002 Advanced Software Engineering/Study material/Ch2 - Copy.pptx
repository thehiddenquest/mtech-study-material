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8"/>
  </p:notesMasterIdLst>
  <p:sldIdLst>
    <p:sldId id="256" r:id="rId2"/>
    <p:sldId id="319" r:id="rId3"/>
    <p:sldId id="320" r:id="rId4"/>
    <p:sldId id="258" r:id="rId5"/>
    <p:sldId id="259" r:id="rId6"/>
    <p:sldId id="260" r:id="rId7"/>
    <p:sldId id="261" r:id="rId8"/>
    <p:sldId id="262" r:id="rId9"/>
    <p:sldId id="321" r:id="rId10"/>
    <p:sldId id="322" r:id="rId11"/>
    <p:sldId id="323" r:id="rId12"/>
    <p:sldId id="324" r:id="rId13"/>
    <p:sldId id="311" r:id="rId14"/>
    <p:sldId id="312" r:id="rId15"/>
    <p:sldId id="263" r:id="rId16"/>
    <p:sldId id="264" r:id="rId17"/>
    <p:sldId id="313" r:id="rId18"/>
    <p:sldId id="325" r:id="rId19"/>
    <p:sldId id="326" r:id="rId20"/>
    <p:sldId id="327" r:id="rId21"/>
    <p:sldId id="328" r:id="rId22"/>
    <p:sldId id="329" r:id="rId23"/>
    <p:sldId id="314" r:id="rId24"/>
    <p:sldId id="330" r:id="rId25"/>
    <p:sldId id="331" r:id="rId26"/>
    <p:sldId id="332" r:id="rId27"/>
    <p:sldId id="333" r:id="rId28"/>
    <p:sldId id="334" r:id="rId29"/>
    <p:sldId id="315" r:id="rId30"/>
    <p:sldId id="316" r:id="rId31"/>
    <p:sldId id="265" r:id="rId32"/>
    <p:sldId id="266" r:id="rId33"/>
    <p:sldId id="267" r:id="rId34"/>
    <p:sldId id="335" r:id="rId35"/>
    <p:sldId id="336" r:id="rId36"/>
    <p:sldId id="337" r:id="rId37"/>
    <p:sldId id="318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17" r:id="rId4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D5A80B-2F97-4B3D-AF50-0C78F52D9831}">
  <a:tblStyle styleId="{A1D5A80B-2F97-4B3D-AF50-0C78F52D98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7491BFF-EB9D-285E-221B-24DB5C26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B3BF0538-FDAC-BBB5-459D-1F8DD9EF6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>
            <a:extLst>
              <a:ext uri="{FF2B5EF4-FFF2-40B4-BE49-F238E27FC236}">
                <a16:creationId xmlns:a16="http://schemas.microsoft.com/office/drawing/2014/main" id="{967EA7E8-7863-115C-6070-18170211C8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25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6DBFA28-E02F-605B-40D6-3F72E65D1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5683CB89-BE27-20AD-1612-1D159C919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>
            <a:extLst>
              <a:ext uri="{FF2B5EF4-FFF2-40B4-BE49-F238E27FC236}">
                <a16:creationId xmlns:a16="http://schemas.microsoft.com/office/drawing/2014/main" id="{F3C31198-2391-5DD7-E018-A74B5EF57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5514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2EE9E01-8DF9-4B4A-5754-A16F169D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07F8C5C0-C1AA-8426-4318-8B6DD49C2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>
            <a:extLst>
              <a:ext uri="{FF2B5EF4-FFF2-40B4-BE49-F238E27FC236}">
                <a16:creationId xmlns:a16="http://schemas.microsoft.com/office/drawing/2014/main" id="{B2167CEE-EBC6-CCFE-9D31-467E35C3DF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6999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D8364BF-F541-F44D-25FE-3BB80E50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354DB538-2528-C01C-28BF-AB43C47D6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>
            <a:extLst>
              <a:ext uri="{FF2B5EF4-FFF2-40B4-BE49-F238E27FC236}">
                <a16:creationId xmlns:a16="http://schemas.microsoft.com/office/drawing/2014/main" id="{B94FF93C-8B2E-6237-F7D7-3C319A38A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71442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243838B-463B-A67E-75D6-77588EAA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184F8FA9-4349-2790-6588-07E4330A2C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>
            <a:extLst>
              <a:ext uri="{FF2B5EF4-FFF2-40B4-BE49-F238E27FC236}">
                <a16:creationId xmlns:a16="http://schemas.microsoft.com/office/drawing/2014/main" id="{7C80B9F9-3AEA-0977-51B7-859ABBD187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9303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DFFC728-B29A-8757-B4D8-0FE1D1D50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>
            <a:extLst>
              <a:ext uri="{FF2B5EF4-FFF2-40B4-BE49-F238E27FC236}">
                <a16:creationId xmlns:a16="http://schemas.microsoft.com/office/drawing/2014/main" id="{9AA948B3-BF20-186D-DE1F-C74C005A90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>
            <a:extLst>
              <a:ext uri="{FF2B5EF4-FFF2-40B4-BE49-F238E27FC236}">
                <a16:creationId xmlns:a16="http://schemas.microsoft.com/office/drawing/2014/main" id="{F607C7E1-FE73-E08D-573E-1EDACCB723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1960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>
          <a:extLst>
            <a:ext uri="{FF2B5EF4-FFF2-40B4-BE49-F238E27FC236}">
              <a16:creationId xmlns:a16="http://schemas.microsoft.com/office/drawing/2014/main" id="{FCED8982-B94F-76B2-585E-971D7E08D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4:notes">
            <a:extLst>
              <a:ext uri="{FF2B5EF4-FFF2-40B4-BE49-F238E27FC236}">
                <a16:creationId xmlns:a16="http://schemas.microsoft.com/office/drawing/2014/main" id="{D09D8A87-3EFE-8584-0FF1-F510C33395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4:notes">
            <a:extLst>
              <a:ext uri="{FF2B5EF4-FFF2-40B4-BE49-F238E27FC236}">
                <a16:creationId xmlns:a16="http://schemas.microsoft.com/office/drawing/2014/main" id="{54A03006-A612-BBA8-EAD6-3C1456D417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75218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04C1E5F7-9A75-5022-D1BF-35507CD8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>
            <a:extLst>
              <a:ext uri="{FF2B5EF4-FFF2-40B4-BE49-F238E27FC236}">
                <a16:creationId xmlns:a16="http://schemas.microsoft.com/office/drawing/2014/main" id="{3467D111-7BEB-1E91-DD09-6FE599F0A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2:notes">
            <a:extLst>
              <a:ext uri="{FF2B5EF4-FFF2-40B4-BE49-F238E27FC236}">
                <a16:creationId xmlns:a16="http://schemas.microsoft.com/office/drawing/2014/main" id="{E73331E8-5D6A-C195-56E2-5A2CCD652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6735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  <a:defRPr sz="2400" b="0" i="0" u="none" strike="noStrike" cap="non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rgbClr val="46424D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46424D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46424D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8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56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56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560"/>
              </a:spcBef>
              <a:spcAft>
                <a:spcPts val="0"/>
              </a:spcAft>
              <a:buSzPts val="1400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00AD-077C-D6D3-0CCB-5E0B3FFA0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9C6A8-F51D-BEA4-44EE-CD414C668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4C396-64A2-E198-1F11-9B47085F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B9990-B487-B47C-A258-EED08BC3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5699C-45E9-C536-3533-AA8D0787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3834E-F57E-FA47-862B-9A4FD47D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6F1A6A9-433E-471D-84A5-ECE0C43686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449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46424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" descr="Cover.jp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50432" y="287213"/>
            <a:ext cx="923795" cy="1143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1"/>
          <p:cNvCxnSpPr/>
          <p:nvPr/>
        </p:nvCxnSpPr>
        <p:spPr>
          <a:xfrm>
            <a:off x="457200" y="1419226"/>
            <a:ext cx="7305805" cy="1588"/>
          </a:xfrm>
          <a:prstGeom prst="straightConnector1">
            <a:avLst/>
          </a:prstGeom>
          <a:noFill/>
          <a:ln w="25400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– Software Processes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 dirty="0"/>
              <a:t>Lecture 1</a:t>
            </a:r>
            <a:endParaRPr dirty="0"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>
            <a:extLst>
              <a:ext uri="{FF2B5EF4-FFF2-40B4-BE49-F238E27FC236}">
                <a16:creationId xmlns:a16="http://schemas.microsoft.com/office/drawing/2014/main" id="{C7265327-7D28-BBDD-16B7-034AA4860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Capability Maturity Model (CMM)</a:t>
            </a:r>
          </a:p>
        </p:txBody>
      </p:sp>
      <p:sp>
        <p:nvSpPr>
          <p:cNvPr id="502787" name="Rectangle 3">
            <a:extLst>
              <a:ext uri="{FF2B5EF4-FFF2-40B4-BE49-F238E27FC236}">
                <a16:creationId xmlns:a16="http://schemas.microsoft.com/office/drawing/2014/main" id="{0591C33B-E398-D6A5-C865-143109CF7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bench-mark for measuring the maturity of an organization’s software process</a:t>
            </a:r>
          </a:p>
          <a:p>
            <a:r>
              <a:rPr lang="en-US" altLang="en-US"/>
              <a:t>CMM defines 5 levels of process maturity based on certain Key Process Areas (KPA)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>
            <a:extLst>
              <a:ext uri="{FF2B5EF4-FFF2-40B4-BE49-F238E27FC236}">
                <a16:creationId xmlns:a16="http://schemas.microsoft.com/office/drawing/2014/main" id="{9A51BEA4-62D1-57DD-89C9-EDE79E59C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CMM Levels</a:t>
            </a:r>
          </a:p>
        </p:txBody>
      </p:sp>
      <p:sp>
        <p:nvSpPr>
          <p:cNvPr id="513027" name="Rectangle 3">
            <a:extLst>
              <a:ext uri="{FF2B5EF4-FFF2-40B4-BE49-F238E27FC236}">
                <a16:creationId xmlns:a16="http://schemas.microsoft.com/office/drawing/2014/main" id="{CDDCC220-3483-8584-76FA-D6883DA0C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8374" y="1563329"/>
            <a:ext cx="8229600" cy="44958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900" b="1" dirty="0">
                <a:solidFill>
                  <a:schemeClr val="tx1"/>
                </a:solidFill>
              </a:rPr>
              <a:t>Level 5 – Optimizing  (&lt; 1%)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process change management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technology change management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defect prevention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900" b="1" dirty="0">
                <a:solidFill>
                  <a:schemeClr val="tx1"/>
                </a:solidFill>
              </a:rPr>
              <a:t>Level 4 – Managed   (&lt; 5%)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software quality management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quantitative process management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900" b="1" dirty="0">
                <a:solidFill>
                  <a:schemeClr val="tx1"/>
                </a:solidFill>
              </a:rPr>
              <a:t>Level 3 – Defined      (&lt; 10%)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peer reviews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intergroup coordination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software product engineering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integrated software management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training program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organization process definition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organization process focus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900" b="1" dirty="0">
                <a:solidFill>
                  <a:schemeClr val="tx1"/>
                </a:solidFill>
              </a:rPr>
              <a:t>Level 2 – Repeatable (~ 15%)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software configuration management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software quality assurance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software project tracking and oversight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software project planning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700" dirty="0">
                <a:solidFill>
                  <a:schemeClr val="tx1"/>
                </a:solidFill>
              </a:rPr>
              <a:t>-- requirements management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900" b="1" dirty="0">
                <a:solidFill>
                  <a:schemeClr val="tx1"/>
                </a:solidFill>
              </a:rPr>
              <a:t>Level 1 – Initial         (~ 70%) </a:t>
            </a:r>
          </a:p>
          <a:p>
            <a:pPr>
              <a:lnSpc>
                <a:spcPct val="80000"/>
              </a:lnSpc>
            </a:pPr>
            <a:endParaRPr lang="en-US" altLang="en-US" sz="900" dirty="0">
              <a:solidFill>
                <a:schemeClr val="tx1"/>
              </a:solidFill>
            </a:endParaRPr>
          </a:p>
          <a:p>
            <a:pPr lvl="2">
              <a:lnSpc>
                <a:spcPct val="80000"/>
              </a:lnSpc>
              <a:buFontTx/>
              <a:buNone/>
            </a:pPr>
            <a:endParaRPr lang="en-US" altLang="en-US" sz="4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endParaRPr lang="en-US" altLang="en-US" sz="8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endParaRPr lang="en-US" altLang="en-US" sz="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software process</a:t>
            </a: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A structured set of activities required to develop a </a:t>
            </a:r>
            <a:br>
              <a:rPr lang="en-US"/>
            </a:br>
            <a:r>
              <a:rPr lang="en-US"/>
              <a:t>software system. </a:t>
            </a:r>
            <a:endParaRPr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Many different software processes but all involve: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Specification – defining what the system should do;</a:t>
            </a:r>
            <a:endParaRPr/>
          </a:p>
          <a:p>
            <a:pPr marL="742950" lvl="1" indent="-28575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Design and implementation – defining the organization of the system and implementing the system;</a:t>
            </a:r>
            <a:endParaRPr/>
          </a:p>
          <a:p>
            <a:pPr marL="742950" lvl="1" indent="-28575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Validation – checking that it does what the customer wants;</a:t>
            </a:r>
            <a:endParaRPr/>
          </a:p>
          <a:p>
            <a:pPr marL="742950" lvl="1" indent="-28575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Evolution – changing the system in response to changing customer needs.</a:t>
            </a:r>
            <a:endParaRPr/>
          </a:p>
          <a:p>
            <a:pPr marL="342900" lvl="0" indent="-34290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A software process model is an abstract representation of a process. It presents a description of a process from some particular perspective.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process descriptions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When we describe and discuss processes, we usually talk about the activities in these processes such as specifying a data model, designing a user interface, etc. and the ordering of these activities.</a:t>
            </a:r>
            <a:endParaRPr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Process descriptions may also include: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Products, which are the outcomes of a process activity; </a:t>
            </a:r>
            <a:endParaRPr/>
          </a:p>
          <a:p>
            <a:pPr marL="742950" lvl="1" indent="-28575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Roles, which reflect the responsibilities of the people involved in the process;</a:t>
            </a:r>
            <a:endParaRPr/>
          </a:p>
          <a:p>
            <a:pPr marL="742950" lvl="1" indent="-28575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Pre- and post-conditions, which are statements that are true before and after a process activity has been enacted or a product produced.   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Plan-driven and agile processes</a:t>
            </a: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Plan-driven processes are processes where all of the process activities are planned in advance and progress is measured against this plan. </a:t>
            </a:r>
            <a:endParaRPr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In agile processes, planning is incremental and it is easier to change the process to reflect changing customer requirements. </a:t>
            </a:r>
            <a:endParaRPr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In practice, most practical processes include elements of both plan-driven and agile approaches. </a:t>
            </a:r>
            <a:endParaRPr/>
          </a:p>
          <a:p>
            <a:pPr marL="3429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There are no right or wrong software processes.</a:t>
            </a:r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process models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The waterfall model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Plan-driven model. Separate and distinct phases of specification and development.</a:t>
            </a:r>
            <a:endParaRPr/>
          </a:p>
          <a:p>
            <a:pPr marL="342900" lvl="0" indent="-34290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Incremental development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Specification, development and validation are interleaved. May be plan-driven or agile.</a:t>
            </a:r>
            <a:endParaRPr/>
          </a:p>
          <a:p>
            <a:pPr marL="342900" lvl="0" indent="-34290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Reuse-oriented software engineering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The system is assembled from existing components. May be plan-driven or agile.</a:t>
            </a:r>
            <a:endParaRPr/>
          </a:p>
          <a:p>
            <a:pPr marL="342900" lvl="0" indent="-34290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In practice, most large systems are developed using a process that incorporates elements from all of these models.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waterfall model</a:t>
            </a:r>
            <a:br>
              <a:rPr lang="en-US"/>
            </a:b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F9FBA3-4B3D-B47D-17B7-BC35FBF7E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7" y="1656326"/>
            <a:ext cx="7669161" cy="47000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>
            <a:extLst>
              <a:ext uri="{FF2B5EF4-FFF2-40B4-BE49-F238E27FC236}">
                <a16:creationId xmlns:a16="http://schemas.microsoft.com/office/drawing/2014/main" id="{D9AAD89D-85C4-F6D2-EE8B-206AD972FD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Waterfall Model</a:t>
            </a:r>
          </a:p>
        </p:txBody>
      </p:sp>
      <p:pic>
        <p:nvPicPr>
          <p:cNvPr id="422923" name="Picture 11">
            <a:extLst>
              <a:ext uri="{FF2B5EF4-FFF2-40B4-BE49-F238E27FC236}">
                <a16:creationId xmlns:a16="http://schemas.microsoft.com/office/drawing/2014/main" id="{182E05E4-1D15-7EE8-FA14-0FACA18A6BC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71600"/>
            <a:ext cx="3810000" cy="3886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22915" name="Rectangle 3">
            <a:extLst>
              <a:ext uri="{FF2B5EF4-FFF2-40B4-BE49-F238E27FC236}">
                <a16:creationId xmlns:a16="http://schemas.microsoft.com/office/drawing/2014/main" id="{53D1859F-34DF-7A44-F036-75CBFE5E2E2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63844" y="1796844"/>
            <a:ext cx="4800600" cy="4495800"/>
          </a:xfrm>
        </p:spPr>
        <p:txBody>
          <a:bodyPr/>
          <a:lstStyle/>
          <a:p>
            <a:r>
              <a:rPr lang="en-US" altLang="en-US" sz="2400" b="1" dirty="0">
                <a:solidFill>
                  <a:schemeClr val="tx1"/>
                </a:solidFill>
              </a:rPr>
              <a:t>Requirements </a:t>
            </a:r>
            <a:r>
              <a:rPr lang="en-US" altLang="en-US" sz="2400" dirty="0">
                <a:solidFill>
                  <a:schemeClr val="tx1"/>
                </a:solidFill>
              </a:rPr>
              <a:t>– defines needed information, function, behavior, performance and interfaces.</a:t>
            </a:r>
          </a:p>
          <a:p>
            <a:r>
              <a:rPr lang="en-US" altLang="en-US" sz="2400" b="1" dirty="0">
                <a:solidFill>
                  <a:schemeClr val="tx1"/>
                </a:solidFill>
              </a:rPr>
              <a:t>Design </a:t>
            </a:r>
            <a:r>
              <a:rPr lang="en-US" altLang="en-US" sz="2400" dirty="0">
                <a:solidFill>
                  <a:schemeClr val="tx1"/>
                </a:solidFill>
              </a:rPr>
              <a:t>– data structures, software architecture, interface representations, algorithmic details.</a:t>
            </a:r>
          </a:p>
          <a:p>
            <a:r>
              <a:rPr lang="en-US" altLang="en-US" sz="2400" b="1" dirty="0">
                <a:solidFill>
                  <a:schemeClr val="tx1"/>
                </a:solidFill>
              </a:rPr>
              <a:t>Implementation </a:t>
            </a:r>
            <a:r>
              <a:rPr lang="en-US" altLang="en-US" sz="2400" dirty="0">
                <a:solidFill>
                  <a:schemeClr val="tx1"/>
                </a:solidFill>
              </a:rPr>
              <a:t>– source code, database, user documentation, testing.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7C19B9-FCB0-B720-AF6E-DAD473FB5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94" y="2069282"/>
            <a:ext cx="4115845" cy="25223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id="{5B258E8C-6264-757B-6DA2-822DF858D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Waterfall Strengths</a:t>
            </a:r>
          </a:p>
        </p:txBody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92D3EFA6-0F55-ABEF-4411-BCC6161DCA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Easy to understand, easy to use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Provides structure to inexperienced staff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Milestones are well understood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Sets requirements stability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Good for management control (plan, staff, track)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Works well when quality is more important than cost or schedule</a:t>
            </a:r>
          </a:p>
          <a:p>
            <a:endParaRPr lang="en-US" altLang="en-US" sz="2800" dirty="0">
              <a:solidFill>
                <a:schemeClr val="tx1"/>
              </a:solidFill>
            </a:endParaRPr>
          </a:p>
          <a:p>
            <a:endParaRPr lang="en-US" altLang="en-US" sz="2400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>
            <a:extLst>
              <a:ext uri="{FF2B5EF4-FFF2-40B4-BE49-F238E27FC236}">
                <a16:creationId xmlns:a16="http://schemas.microsoft.com/office/drawing/2014/main" id="{B7744D0C-37EE-3A45-725E-0AAE38DEE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Waterfall Deficiencies</a:t>
            </a:r>
          </a:p>
        </p:txBody>
      </p:sp>
      <p:sp>
        <p:nvSpPr>
          <p:cNvPr id="424963" name="Rectangle 3">
            <a:extLst>
              <a:ext uri="{FF2B5EF4-FFF2-40B4-BE49-F238E27FC236}">
                <a16:creationId xmlns:a16="http://schemas.microsoft.com/office/drawing/2014/main" id="{AA5070FA-20C8-F4DD-8CB4-E3A16D33F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All requirements must be known upfront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Deliverables created for each phase are considered frozen – inhibits flexibility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Can give a false impression of progress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Does not reflect problem-solving nature of software development – iterations of phases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Integration is one big bang at the end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Little opportunity for customer to preview the system (until it may be too late)</a:t>
            </a:r>
          </a:p>
          <a:p>
            <a:pPr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>
            <a:extLst>
              <a:ext uri="{FF2B5EF4-FFF2-40B4-BE49-F238E27FC236}">
                <a16:creationId xmlns:a16="http://schemas.microsoft.com/office/drawing/2014/main" id="{97D1AFE4-9BE9-6194-5CD1-830F86C47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When to use the Waterfall Model</a:t>
            </a:r>
          </a:p>
        </p:txBody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F2515103-4AC8-B779-0637-8B3393666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Requirements are very well known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Product definition is stable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Technology is understood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New version of an existing product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Porting an existing product to a new platform.</a:t>
            </a:r>
          </a:p>
          <a:p>
            <a:pPr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E1E3F5A-AB1D-E806-6964-7CFEA1BC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8957A57C-73F3-798A-8012-C0DA3C841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Iterative waterfall model</a:t>
            </a:r>
            <a:br>
              <a:rPr lang="en-US" dirty="0"/>
            </a:br>
            <a:endParaRPr dirty="0"/>
          </a:p>
        </p:txBody>
      </p:sp>
      <p:pic>
        <p:nvPicPr>
          <p:cNvPr id="138" name="Google Shape;138;p19" descr="2.1.Waterfall-model.eps">
            <a:extLst>
              <a:ext uri="{FF2B5EF4-FFF2-40B4-BE49-F238E27FC236}">
                <a16:creationId xmlns:a16="http://schemas.microsoft.com/office/drawing/2014/main" id="{D8413B1A-D81A-31C8-92A1-92E8B7BEBD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1419" y="2526890"/>
            <a:ext cx="5833332" cy="344451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>
            <a:extLst>
              <a:ext uri="{FF2B5EF4-FFF2-40B4-BE49-F238E27FC236}">
                <a16:creationId xmlns:a16="http://schemas.microsoft.com/office/drawing/2014/main" id="{F76253D1-5D17-EB35-2C45-7520865344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15ACC319-336C-E5F2-6D66-593D3C11992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CD2C5-4C77-1450-6A53-C02D257B1ABE}"/>
              </a:ext>
            </a:extLst>
          </p:cNvPr>
          <p:cNvSpPr txBox="1"/>
          <p:nvPr/>
        </p:nvSpPr>
        <p:spPr>
          <a:xfrm>
            <a:off x="589935" y="1838632"/>
            <a:ext cx="167148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Feasibility study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9DC23B84-E92F-B8F2-35B3-F0D90DA0A9C1}"/>
              </a:ext>
            </a:extLst>
          </p:cNvPr>
          <p:cNvCxnSpPr>
            <a:stCxn id="2" idx="3"/>
          </p:cNvCxnSpPr>
          <p:nvPr/>
        </p:nvCxnSpPr>
        <p:spPr>
          <a:xfrm>
            <a:off x="2261419" y="1992521"/>
            <a:ext cx="412955" cy="5748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431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C7F03BF-3DA2-50AD-3451-08407FD8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ACE5F465-D674-3B67-C3FD-1539A650FB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Iterative waterfall model</a:t>
            </a:r>
            <a:br>
              <a:rPr lang="en-US" dirty="0"/>
            </a:br>
            <a:endParaRPr dirty="0"/>
          </a:p>
        </p:txBody>
      </p:sp>
      <p:sp>
        <p:nvSpPr>
          <p:cNvPr id="139" name="Google Shape;139;p19">
            <a:extLst>
              <a:ext uri="{FF2B5EF4-FFF2-40B4-BE49-F238E27FC236}">
                <a16:creationId xmlns:a16="http://schemas.microsoft.com/office/drawing/2014/main" id="{3324181C-4D8B-89F5-09D5-236B1BF0DE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133CCB8C-DE95-E03E-F339-7D4B18F5943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6DC175-8A62-0125-364E-C44596B74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3" y="1676150"/>
            <a:ext cx="7580671" cy="458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83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Waterfall model phases</a:t>
            </a:r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There are separate identified phases in the waterfall model: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Requirements analysis and definition</a:t>
            </a:r>
            <a:endParaRPr/>
          </a:p>
          <a:p>
            <a:pPr marL="742950" lvl="1" indent="-28575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System and software design</a:t>
            </a:r>
            <a:endParaRPr/>
          </a:p>
          <a:p>
            <a:pPr marL="742950" lvl="1" indent="-28575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Implementation and unit testing</a:t>
            </a:r>
            <a:endParaRPr/>
          </a:p>
          <a:p>
            <a:pPr marL="742950" lvl="1" indent="-28575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Integration and system testing</a:t>
            </a:r>
            <a:endParaRPr/>
          </a:p>
          <a:p>
            <a:pPr marL="742950" lvl="1" indent="-28575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Operation and maintenance</a:t>
            </a:r>
            <a:endParaRPr/>
          </a:p>
          <a:p>
            <a:pPr marL="342900" lvl="0" indent="-34290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The main drawback of the waterfall model is the difficulty of accommodating change after the process is underway. In principle, a phase has to be complete before moving onto the next phase.</a:t>
            </a: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Waterfall model problems</a:t>
            </a:r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Inflexible partitioning of the project into distinct stages makes it difficult to respond to changing customer requirements.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Therefore, this model is only appropriate when the requirements are well-understood and changes will be fairly limited during the design process. </a:t>
            </a:r>
            <a:endParaRPr/>
          </a:p>
          <a:p>
            <a:pPr marL="742950" lvl="1" indent="-285750" algn="l" rtl="0">
              <a:spcBef>
                <a:spcPts val="6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Few business systems have stable requirements.</a:t>
            </a:r>
            <a:endParaRPr/>
          </a:p>
          <a:p>
            <a:pPr marL="342900" lvl="0" indent="-34290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The waterfall model is mostly used for large systems engineering projects where a system is developed at several sites.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In those circumstances, the plan-driven nature of the waterfall model helps coordinate the work. </a:t>
            </a: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A25B110-1B9A-D986-F84E-F9DE8C8E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BC5F0776-8684-5478-9B19-B0DAE1F770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V model</a:t>
            </a:r>
            <a:br>
              <a:rPr lang="en-US" dirty="0"/>
            </a:br>
            <a:endParaRPr dirty="0"/>
          </a:p>
        </p:txBody>
      </p:sp>
      <p:sp>
        <p:nvSpPr>
          <p:cNvPr id="139" name="Google Shape;139;p19">
            <a:extLst>
              <a:ext uri="{FF2B5EF4-FFF2-40B4-BE49-F238E27FC236}">
                <a16:creationId xmlns:a16="http://schemas.microsoft.com/office/drawing/2014/main" id="{D9A55227-4194-5CEE-9E75-7B03E50453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A43E4EBE-700B-2A44-C1F4-9E025609CCC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529BB-EDCB-5946-6666-D3CD9CD35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259" y="2031781"/>
            <a:ext cx="5928874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649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>
            <a:extLst>
              <a:ext uri="{FF2B5EF4-FFF2-40B4-BE49-F238E27FC236}">
                <a16:creationId xmlns:a16="http://schemas.microsoft.com/office/drawing/2014/main" id="{5218A49B-55FD-066E-589A-E404C45065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V-Shaped SDLC Model</a:t>
            </a:r>
          </a:p>
        </p:txBody>
      </p:sp>
      <p:pic>
        <p:nvPicPr>
          <p:cNvPr id="452613" name="Picture 5">
            <a:extLst>
              <a:ext uri="{FF2B5EF4-FFF2-40B4-BE49-F238E27FC236}">
                <a16:creationId xmlns:a16="http://schemas.microsoft.com/office/drawing/2014/main" id="{28A6DA1A-AE0C-CFCA-761B-5692051E8FF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600200"/>
            <a:ext cx="5181600" cy="37576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2611" name="Rectangle 3">
            <a:extLst>
              <a:ext uri="{FF2B5EF4-FFF2-40B4-BE49-F238E27FC236}">
                <a16:creationId xmlns:a16="http://schemas.microsoft.com/office/drawing/2014/main" id="{553533A6-CACF-30A2-DC00-C0E25E56F4A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105400" y="1524000"/>
            <a:ext cx="4038600" cy="4495800"/>
          </a:xfrm>
        </p:spPr>
        <p:txBody>
          <a:bodyPr/>
          <a:lstStyle/>
          <a:p>
            <a:r>
              <a:rPr lang="en-US" altLang="en-US" sz="2400"/>
              <a:t>A variant of the Waterfall that emphasizes the verification and validation of the product.</a:t>
            </a:r>
          </a:p>
          <a:p>
            <a:r>
              <a:rPr lang="en-US" altLang="en-US" sz="2400"/>
              <a:t>Testing of the product is planned in parallel with a corresponding phase of development</a:t>
            </a:r>
          </a:p>
          <a:p>
            <a:endParaRPr lang="en-US" altLang="en-US" sz="2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0BA566-119F-B2B8-98ED-68F189D4D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79" y="1927505"/>
            <a:ext cx="4935294" cy="34064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>
            <a:extLst>
              <a:ext uri="{FF2B5EF4-FFF2-40B4-BE49-F238E27FC236}">
                <a16:creationId xmlns:a16="http://schemas.microsoft.com/office/drawing/2014/main" id="{3CE73E22-F0E9-D7AA-D6D1-902AB9DBC0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V-Shaped Steps</a:t>
            </a:r>
          </a:p>
        </p:txBody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3E1233B0-B56C-1D05-6DA8-70323CAE873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1" y="1602659"/>
            <a:ext cx="4038600" cy="449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Project and Requirements Planning – allocate resources</a:t>
            </a:r>
          </a:p>
          <a:p>
            <a:pPr>
              <a:lnSpc>
                <a:spcPct val="8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Product Requirements and Specification Analysis – complete specification of the software system</a:t>
            </a:r>
          </a:p>
          <a:p>
            <a:pPr>
              <a:lnSpc>
                <a:spcPct val="8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Architecture or High-Level Design – defines how software functions fulfill the design</a:t>
            </a:r>
          </a:p>
          <a:p>
            <a:pPr>
              <a:lnSpc>
                <a:spcPct val="8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Detailed Design – develop algorithms for each architectural component</a:t>
            </a:r>
          </a:p>
          <a:p>
            <a:pPr>
              <a:lnSpc>
                <a:spcPct val="8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454660" name="Rectangle 4">
            <a:extLst>
              <a:ext uri="{FF2B5EF4-FFF2-40B4-BE49-F238E27FC236}">
                <a16:creationId xmlns:a16="http://schemas.microsoft.com/office/drawing/2014/main" id="{78D8DAEE-965A-1537-6613-14012792B29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724401" y="1602659"/>
            <a:ext cx="4038600" cy="449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Production, operation and maintenance – provide for enhancement and corrections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System and acceptance testing – check the entire software system in its environment</a:t>
            </a:r>
          </a:p>
          <a:p>
            <a:pPr>
              <a:lnSpc>
                <a:spcPct val="8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Integration and Testing – check that modules  interconnect correctly</a:t>
            </a:r>
          </a:p>
          <a:p>
            <a:pPr>
              <a:lnSpc>
                <a:spcPct val="8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Unit testing – check that each module acts as expected</a:t>
            </a:r>
          </a:p>
          <a:p>
            <a:pPr>
              <a:lnSpc>
                <a:spcPct val="8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 Coding – transform algorithms into software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454662" name="Text Box 6">
            <a:extLst>
              <a:ext uri="{FF2B5EF4-FFF2-40B4-BE49-F238E27FC236}">
                <a16:creationId xmlns:a16="http://schemas.microsoft.com/office/drawing/2014/main" id="{BCEB44D6-D71B-FE4C-0B69-4527CA11C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51815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altLang="en-US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>
            <a:extLst>
              <a:ext uri="{FF2B5EF4-FFF2-40B4-BE49-F238E27FC236}">
                <a16:creationId xmlns:a16="http://schemas.microsoft.com/office/drawing/2014/main" id="{5292B33E-D49F-AA60-82EC-8D3E3E3EA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V-Shaped Strengths</a:t>
            </a:r>
          </a:p>
        </p:txBody>
      </p:sp>
      <p:sp>
        <p:nvSpPr>
          <p:cNvPr id="456707" name="Rectangle 3">
            <a:extLst>
              <a:ext uri="{FF2B5EF4-FFF2-40B4-BE49-F238E27FC236}">
                <a16:creationId xmlns:a16="http://schemas.microsoft.com/office/drawing/2014/main" id="{D9EBB2CF-AD4F-F836-760D-99060C9CB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Emphasize planning for verification and validation of the product in early stages of product development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Each deliverable must be testable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Project management can track progress by milestones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Easy to use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>
            <a:extLst>
              <a:ext uri="{FF2B5EF4-FFF2-40B4-BE49-F238E27FC236}">
                <a16:creationId xmlns:a16="http://schemas.microsoft.com/office/drawing/2014/main" id="{2CE65744-4DDC-5DF3-D3E0-CCA428AC5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V-Shaped Weaknesses</a:t>
            </a:r>
          </a:p>
        </p:txBody>
      </p:sp>
      <p:sp>
        <p:nvSpPr>
          <p:cNvPr id="457731" name="Rectangle 3">
            <a:extLst>
              <a:ext uri="{FF2B5EF4-FFF2-40B4-BE49-F238E27FC236}">
                <a16:creationId xmlns:a16="http://schemas.microsoft.com/office/drawing/2014/main" id="{EF69B99F-555B-3714-B590-4C67EAE77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Does not easily handle concurrent events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Does not handle iterations or phases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Does not easily handle dynamic changes in requirements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Does not contain risk analysis activities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>
            <a:extLst>
              <a:ext uri="{FF2B5EF4-FFF2-40B4-BE49-F238E27FC236}">
                <a16:creationId xmlns:a16="http://schemas.microsoft.com/office/drawing/2014/main" id="{10F14768-3F98-21A7-5ADA-F2BD7C4B9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When to use the V-Shaped Model</a:t>
            </a:r>
          </a:p>
        </p:txBody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id="{00D2D487-44B2-0CE3-5342-348354C4B4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Excellent choice for systems requiring high reliability – hospital patient control applications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All requirements are known up-front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When it can be modified to handle changing requirements beyond analysis phase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Solution and technology are known</a:t>
            </a:r>
          </a:p>
          <a:p>
            <a:pPr lvl="1">
              <a:lnSpc>
                <a:spcPct val="90000"/>
              </a:lnSpc>
            </a:pPr>
            <a:endParaRPr lang="en-US" alt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E91D593-56F6-14BD-DB2B-2762091D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62090460-E7A2-0863-9229-D370C8D4A3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Prototype model</a:t>
            </a:r>
            <a:br>
              <a:rPr lang="en-US" dirty="0"/>
            </a:br>
            <a:endParaRPr dirty="0"/>
          </a:p>
        </p:txBody>
      </p:sp>
      <p:sp>
        <p:nvSpPr>
          <p:cNvPr id="139" name="Google Shape;139;p19">
            <a:extLst>
              <a:ext uri="{FF2B5EF4-FFF2-40B4-BE49-F238E27FC236}">
                <a16:creationId xmlns:a16="http://schemas.microsoft.com/office/drawing/2014/main" id="{116F725D-DDE3-80E4-90D0-6C8B9FF74F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A680DFBB-0F93-207A-3C7B-5F55F7D776E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1BFF9-E1B2-775A-2C26-1CE3E876D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097" y="1508002"/>
            <a:ext cx="4660808" cy="525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03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>
            <a:extLst>
              <a:ext uri="{FF2B5EF4-FFF2-40B4-BE49-F238E27FC236}">
                <a16:creationId xmlns:a16="http://schemas.microsoft.com/office/drawing/2014/main" id="{3BC2A83C-15BC-6A29-A56E-2304C6E10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Structured Evolutionary Prototyping Model</a:t>
            </a:r>
          </a:p>
        </p:txBody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1DCCC03B-4034-5F05-18E2-1AE1941018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95019" y="1769806"/>
            <a:ext cx="4572000" cy="3510782"/>
          </a:xfrm>
        </p:spPr>
        <p:txBody>
          <a:bodyPr/>
          <a:lstStyle/>
          <a:p>
            <a:r>
              <a:rPr lang="en-US" altLang="en-US" sz="2000" dirty="0">
                <a:solidFill>
                  <a:schemeClr val="tx1"/>
                </a:solidFill>
              </a:rPr>
              <a:t>Developers build a prototype during the requirements phase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Prototype is evaluated by end users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Users give corrective feedback 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Developers further refine the prototype</a:t>
            </a:r>
          </a:p>
          <a:p>
            <a:r>
              <a:rPr lang="en-US" altLang="en-US" sz="2000" dirty="0">
                <a:solidFill>
                  <a:schemeClr val="tx1"/>
                </a:solidFill>
              </a:rPr>
              <a:t>When the user is satisfied, the prototype code is brought up to the standards needed for a final product.</a:t>
            </a:r>
          </a:p>
          <a:p>
            <a:endParaRPr lang="en-US" altLang="en-US" sz="20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B34EA5-EA17-19CA-E9B9-D06BB22F0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1637070"/>
            <a:ext cx="4044638" cy="45579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7B2CFD5B-084F-C785-C453-75F351B6A9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Structured Evolutionary Prototyping Steps</a:t>
            </a: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32719D0D-4E34-CB98-98D7-7F7E3B552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70090" y="1600200"/>
            <a:ext cx="3416710" cy="45259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A preliminary project plan is developed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A partial high-level paper model is created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The model is source for a partial requirements specification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A  prototype is built with basic and critical attributes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The designer builds 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the database 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user interface </a:t>
            </a:r>
          </a:p>
          <a:p>
            <a:pPr lvl="1">
              <a:lnSpc>
                <a:spcPct val="8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algorithmic functions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The designer demonstrates the prototype; the user evaluates for problems and suggests improvements.</a:t>
            </a:r>
          </a:p>
          <a:p>
            <a:pPr>
              <a:lnSpc>
                <a:spcPct val="80000"/>
              </a:lnSpc>
            </a:pPr>
            <a:r>
              <a:rPr lang="en-US" altLang="en-US" sz="1800" dirty="0">
                <a:solidFill>
                  <a:schemeClr val="tx1"/>
                </a:solidFill>
              </a:rPr>
              <a:t>This loop continues until the user is satisfied</a:t>
            </a:r>
          </a:p>
          <a:p>
            <a:pPr>
              <a:lnSpc>
                <a:spcPct val="80000"/>
              </a:lnSpc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0CE13D-67FA-B254-89E9-9B0F4406E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4660808" cy="525228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>
            <a:extLst>
              <a:ext uri="{FF2B5EF4-FFF2-40B4-BE49-F238E27FC236}">
                <a16:creationId xmlns:a16="http://schemas.microsoft.com/office/drawing/2014/main" id="{E2065936-505D-FD58-111F-14A889F73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Structured Evolutionary Prototyping Strengths</a:t>
            </a:r>
          </a:p>
        </p:txBody>
      </p:sp>
      <p:sp>
        <p:nvSpPr>
          <p:cNvPr id="429059" name="Rectangle 3">
            <a:extLst>
              <a:ext uri="{FF2B5EF4-FFF2-40B4-BE49-F238E27FC236}">
                <a16:creationId xmlns:a16="http://schemas.microsoft.com/office/drawing/2014/main" id="{CCE8BCB8-E26E-584C-2AE8-DBA179459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Customers can “see” the system requirements as they are being gathered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Developers learn from customers 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A more accurate end product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Unexpected requirements accommodated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Allows for flexible design and development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Steady, visible signs of progress produced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solidFill>
                  <a:schemeClr val="tx1"/>
                </a:solidFill>
              </a:rPr>
              <a:t>Interaction with the prototype stimulates awareness of additional needed functionality	</a:t>
            </a:r>
          </a:p>
          <a:p>
            <a:pPr>
              <a:lnSpc>
                <a:spcPct val="90000"/>
              </a:lnSpc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>
            <a:extLst>
              <a:ext uri="{FF2B5EF4-FFF2-40B4-BE49-F238E27FC236}">
                <a16:creationId xmlns:a16="http://schemas.microsoft.com/office/drawing/2014/main" id="{D3A36ED9-1CE6-47C3-C130-C36856E408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Structured Evolutionary Prototyping Weaknesses</a:t>
            </a:r>
          </a:p>
        </p:txBody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2C4140F8-0580-5D63-CBC9-614A4A93A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Tendency to abandon structured program development for “code-and-fix” development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Bad reputation for “quick-and-dirty” methods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Overall maintainability may be overlooked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The customer may want the prototype delivered.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Process may continue forever (scope creep)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>
            <a:extLst>
              <a:ext uri="{FF2B5EF4-FFF2-40B4-BE49-F238E27FC236}">
                <a16:creationId xmlns:a16="http://schemas.microsoft.com/office/drawing/2014/main" id="{44513984-D8F9-128B-6141-379D09A5C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dirty="0"/>
              <a:t>When to use</a:t>
            </a:r>
            <a:br>
              <a:rPr lang="en-US" altLang="en-US" sz="3000" dirty="0"/>
            </a:br>
            <a:r>
              <a:rPr lang="en-US" altLang="en-US" sz="3000" dirty="0"/>
              <a:t>Structured Evolutionary Prototyping</a:t>
            </a:r>
          </a:p>
        </p:txBody>
      </p:sp>
      <p:sp>
        <p:nvSpPr>
          <p:cNvPr id="435203" name="Rectangle 3">
            <a:extLst>
              <a:ext uri="{FF2B5EF4-FFF2-40B4-BE49-F238E27FC236}">
                <a16:creationId xmlns:a16="http://schemas.microsoft.com/office/drawing/2014/main" id="{240D56D1-10E1-D36E-2A04-36BB76F4CD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95168"/>
            <a:ext cx="8229600" cy="4525963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Requirements are unstable or have to be clarified 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As the requirements clarification stage of a waterfall model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Develop user interfaces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Short-lived demonstrations 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New, original development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With the analysis and design portions of object-oriented development.</a:t>
            </a:r>
          </a:p>
          <a:p>
            <a:endParaRPr lang="en-US" altLang="en-US" sz="2800" dirty="0">
              <a:solidFill>
                <a:schemeClr val="tx1"/>
              </a:solidFill>
            </a:endParaRPr>
          </a:p>
          <a:p>
            <a:endParaRPr lang="en-US" altLang="en-US" sz="2800" dirty="0">
              <a:solidFill>
                <a:schemeClr val="tx1"/>
              </a:solidFill>
            </a:endParaRPr>
          </a:p>
          <a:p>
            <a:endParaRPr lang="en-US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CA8F9CA-5D88-608A-EFB1-26868D493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D3AC13AC-AF8F-E719-2314-56BB50D19F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Incremental development model</a:t>
            </a:r>
            <a:br>
              <a:rPr lang="en-US" dirty="0"/>
            </a:br>
            <a:endParaRPr dirty="0"/>
          </a:p>
        </p:txBody>
      </p:sp>
      <p:sp>
        <p:nvSpPr>
          <p:cNvPr id="139" name="Google Shape;139;p19">
            <a:extLst>
              <a:ext uri="{FF2B5EF4-FFF2-40B4-BE49-F238E27FC236}">
                <a16:creationId xmlns:a16="http://schemas.microsoft.com/office/drawing/2014/main" id="{D0EF5521-39DF-00F2-3BE8-A1349515D7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094BD3A4-DC45-F39B-A5C7-E3B9484B551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F12B58-5482-6F9D-E5A0-7389FB0A1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095" y="2366584"/>
            <a:ext cx="7994065" cy="286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26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0906B6F-1496-049C-BFAB-A6F895036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794A48C1-084A-AA1A-0A40-9EE40BA3E4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Incremental </a:t>
            </a:r>
            <a:r>
              <a:rPr lang="en-US" dirty="0" err="1"/>
              <a:t>developement</a:t>
            </a:r>
            <a:r>
              <a:rPr lang="en-US" dirty="0"/>
              <a:t> model</a:t>
            </a:r>
            <a:br>
              <a:rPr lang="en-US" dirty="0"/>
            </a:br>
            <a:endParaRPr dirty="0"/>
          </a:p>
        </p:txBody>
      </p:sp>
      <p:sp>
        <p:nvSpPr>
          <p:cNvPr id="139" name="Google Shape;139;p19">
            <a:extLst>
              <a:ext uri="{FF2B5EF4-FFF2-40B4-BE49-F238E27FC236}">
                <a16:creationId xmlns:a16="http://schemas.microsoft.com/office/drawing/2014/main" id="{36053D12-F9DF-A419-877C-67F4BCA36D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140" name="Google Shape;140;p19">
            <a:extLst>
              <a:ext uri="{FF2B5EF4-FFF2-40B4-BE49-F238E27FC236}">
                <a16:creationId xmlns:a16="http://schemas.microsoft.com/office/drawing/2014/main" id="{7B20BEF6-1E9D-459F-0C30-83F9A800A57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8F8C5E-2E61-BD85-2249-87EB21074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369" y="1806552"/>
            <a:ext cx="6499262" cy="491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151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Incremental development </a:t>
            </a:r>
            <a:br>
              <a:rPr lang="en-US"/>
            </a:br>
            <a:endParaRPr/>
          </a:p>
        </p:txBody>
      </p:sp>
      <p:pic>
        <p:nvPicPr>
          <p:cNvPr id="162" name="Google Shape;162;p22" descr="2.2 Incremental-dev.ep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892460"/>
            <a:ext cx="7517728" cy="4051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Incremental development benefits</a:t>
            </a:r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The cost of accommodating changing customer requirements is reduced. 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The amount of analysis and documentation that has to be redone is much less than is required with the waterfall model.</a:t>
            </a:r>
            <a:endParaRPr/>
          </a:p>
          <a:p>
            <a:pPr marL="342900" lvl="0" indent="-34290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It is easier to get customer feedback on the development work that has been done. 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Customers can comment on demonstrations of the software and see how much has been implemented. </a:t>
            </a:r>
            <a:endParaRPr/>
          </a:p>
          <a:p>
            <a:pPr marL="342900" lvl="0" indent="-34290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/>
              <a:t>More rapid delivery and deployment of useful software to the customer is possible. </a:t>
            </a:r>
            <a:endParaRPr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/>
              <a:t>Customers are able to use and gain value from the software earlier than is possible with a waterfall process. </a:t>
            </a:r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Incremental development problems</a:t>
            </a:r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 dirty="0"/>
              <a:t>The process is not visible. </a:t>
            </a:r>
            <a:endParaRPr dirty="0"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 dirty="0"/>
              <a:t>Managers need regular deliverables to measure progress. If systems are developed quickly, it is not cost-effective to produce documents that reflect every version of the system. </a:t>
            </a:r>
            <a:endParaRPr dirty="0"/>
          </a:p>
          <a:p>
            <a:pPr marL="342900" lvl="0" indent="-34290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400"/>
              <a:buFont typeface="Noto Sans Symbols"/>
              <a:buChar char="✧"/>
            </a:pPr>
            <a:r>
              <a:rPr lang="en-US" dirty="0"/>
              <a:t>System structure tends to degrade as new increments are added</a:t>
            </a:r>
            <a:r>
              <a:rPr lang="en-US" i="1" dirty="0"/>
              <a:t>. </a:t>
            </a:r>
            <a:r>
              <a:rPr lang="en-US" dirty="0"/>
              <a:t> </a:t>
            </a:r>
            <a:endParaRPr dirty="0"/>
          </a:p>
          <a:p>
            <a:pPr marL="742950" lvl="1" indent="-285750" algn="l" rtl="0">
              <a:spcBef>
                <a:spcPts val="900"/>
              </a:spcBef>
              <a:spcAft>
                <a:spcPts val="0"/>
              </a:spcAft>
              <a:buClr>
                <a:srgbClr val="46424D"/>
              </a:buClr>
              <a:buSzPts val="2000"/>
              <a:buChar char="▪"/>
            </a:pPr>
            <a:r>
              <a:rPr lang="en-US" dirty="0"/>
              <a:t>Unless time and money is spent on refactoring to improve the software, regular change tends to corrupt its structure. Incorporating further software changes becomes increasingly difficult and costly. </a:t>
            </a:r>
            <a:endParaRPr dirty="0"/>
          </a:p>
        </p:txBody>
      </p:sp>
      <p:sp>
        <p:nvSpPr>
          <p:cNvPr id="179" name="Google Shape;1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>
            <a:extLst>
              <a:ext uri="{FF2B5EF4-FFF2-40B4-BE49-F238E27FC236}">
                <a16:creationId xmlns:a16="http://schemas.microsoft.com/office/drawing/2014/main" id="{60C94043-53FE-8739-38F0-A83693048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Incremental Model Strengths 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54CD32D3-7D6F-EC3A-7149-935D380CA0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Develop high-risk or major functions first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Each release delivers an operational product 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Customer can respond to each build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Uses  “divide and conquer” breakdown of tasks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Lowers initial delivery cost 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Initial product delivery is faster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Customers get important functionality early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Risk of changing requirements is reduced</a:t>
            </a:r>
          </a:p>
          <a:p>
            <a:endParaRPr lang="en-US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>
            <a:extLst>
              <a:ext uri="{FF2B5EF4-FFF2-40B4-BE49-F238E27FC236}">
                <a16:creationId xmlns:a16="http://schemas.microsoft.com/office/drawing/2014/main" id="{CB808A3D-9212-4EBE-B688-54A5E2E11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Incremental Model Weaknesses </a:t>
            </a:r>
          </a:p>
        </p:txBody>
      </p:sp>
      <p:sp>
        <p:nvSpPr>
          <p:cNvPr id="466947" name="Rectangle 3">
            <a:extLst>
              <a:ext uri="{FF2B5EF4-FFF2-40B4-BE49-F238E27FC236}">
                <a16:creationId xmlns:a16="http://schemas.microsoft.com/office/drawing/2014/main" id="{ADA48422-8DCF-D8CE-F848-00A000F17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Requires good planning and design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Requires early definition of a complete and fully functional system to allow for the definition of increments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Well-defined module interfaces are required (some will be developed long before others)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chemeClr val="tx1"/>
                </a:solidFill>
              </a:rPr>
              <a:t>Total cost of the complete system is not lower</a:t>
            </a:r>
          </a:p>
          <a:p>
            <a:pPr>
              <a:lnSpc>
                <a:spcPct val="90000"/>
              </a:lnSpc>
            </a:pPr>
            <a:endParaRPr lang="en-US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>
            <a:extLst>
              <a:ext uri="{FF2B5EF4-FFF2-40B4-BE49-F238E27FC236}">
                <a16:creationId xmlns:a16="http://schemas.microsoft.com/office/drawing/2014/main" id="{66FA8CF2-2B07-C486-9E0A-94EB4A3D01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When to use the Incremental Model </a:t>
            </a:r>
          </a:p>
        </p:txBody>
      </p:sp>
      <p:sp>
        <p:nvSpPr>
          <p:cNvPr id="467971" name="Rectangle 3">
            <a:extLst>
              <a:ext uri="{FF2B5EF4-FFF2-40B4-BE49-F238E27FC236}">
                <a16:creationId xmlns:a16="http://schemas.microsoft.com/office/drawing/2014/main" id="{86160C0C-1CFF-D937-BC61-9CAC793B1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</p:spPr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Risk, funding, schedule, program complexity, or need for early realization of benefits.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Most of the requirements are known up-front but are expected to evolve over time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A need to get basic functionality to the market early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On projects which have lengthy development schedules</a:t>
            </a:r>
          </a:p>
          <a:p>
            <a:r>
              <a:rPr lang="en-US" altLang="en-US" sz="2800" dirty="0">
                <a:solidFill>
                  <a:schemeClr val="tx1"/>
                </a:solidFill>
              </a:rPr>
              <a:t>On a project with new technology</a:t>
            </a:r>
          </a:p>
          <a:p>
            <a:endParaRPr lang="en-US" altLang="en-US" sz="2800" dirty="0">
              <a:solidFill>
                <a:schemeClr val="tx1"/>
              </a:solidFill>
            </a:endParaRPr>
          </a:p>
          <a:p>
            <a:endParaRPr lang="en-US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>
          <a:extLst>
            <a:ext uri="{FF2B5EF4-FFF2-40B4-BE49-F238E27FC236}">
              <a16:creationId xmlns:a16="http://schemas.microsoft.com/office/drawing/2014/main" id="{569DADBD-0301-06F2-1745-F1BB9789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6">
            <a:extLst>
              <a:ext uri="{FF2B5EF4-FFF2-40B4-BE49-F238E27FC236}">
                <a16:creationId xmlns:a16="http://schemas.microsoft.com/office/drawing/2014/main" id="{8F066861-262B-FF3A-E55A-13FAF00525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Boehm’s spiral model of the software process </a:t>
            </a:r>
            <a:endParaRPr/>
          </a:p>
        </p:txBody>
      </p:sp>
      <p:sp>
        <p:nvSpPr>
          <p:cNvPr id="435" name="Google Shape;435;p56">
            <a:extLst>
              <a:ext uri="{FF2B5EF4-FFF2-40B4-BE49-F238E27FC236}">
                <a16:creationId xmlns:a16="http://schemas.microsoft.com/office/drawing/2014/main" id="{31B8B871-C8F4-A71D-E5EB-0AB8F8EE01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436" name="Google Shape;436;p56">
            <a:extLst>
              <a:ext uri="{FF2B5EF4-FFF2-40B4-BE49-F238E27FC236}">
                <a16:creationId xmlns:a16="http://schemas.microsoft.com/office/drawing/2014/main" id="{822D1E41-9EFE-A727-EAD5-AA9185C5DD1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BBFF1C-ADC2-AB8B-4ED1-07BCD094B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766" y="1671376"/>
            <a:ext cx="5264467" cy="49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66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>
            <a:extLst>
              <a:ext uri="{FF2B5EF4-FFF2-40B4-BE49-F238E27FC236}">
                <a16:creationId xmlns:a16="http://schemas.microsoft.com/office/drawing/2014/main" id="{57BB24B3-BDA4-8CE1-4D64-E1B7755CD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Spiral SDLC Model</a:t>
            </a:r>
          </a:p>
        </p:txBody>
      </p:sp>
      <p:sp>
        <p:nvSpPr>
          <p:cNvPr id="468997" name="Rectangle 5">
            <a:extLst>
              <a:ext uri="{FF2B5EF4-FFF2-40B4-BE49-F238E27FC236}">
                <a16:creationId xmlns:a16="http://schemas.microsoft.com/office/drawing/2014/main" id="{9313E2DB-DB2B-EC5E-F2AA-5249BCA6F70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760689" y="1724719"/>
            <a:ext cx="4038600" cy="4495800"/>
          </a:xfrm>
        </p:spPr>
        <p:txBody>
          <a:bodyPr/>
          <a:lstStyle/>
          <a:p>
            <a:r>
              <a:rPr lang="en-US" altLang="en-US" sz="2800" dirty="0"/>
              <a:t>Adds risk analysis, and 4gl RAD prototyping to the waterfall model</a:t>
            </a:r>
          </a:p>
          <a:p>
            <a:r>
              <a:rPr lang="en-US" altLang="en-US" sz="2800" dirty="0"/>
              <a:t>Each cycle involves the same sequence of steps as the waterfall process model </a:t>
            </a:r>
          </a:p>
        </p:txBody>
      </p:sp>
      <p:pic>
        <p:nvPicPr>
          <p:cNvPr id="469000" name="Picture 8">
            <a:extLst>
              <a:ext uri="{FF2B5EF4-FFF2-40B4-BE49-F238E27FC236}">
                <a16:creationId xmlns:a16="http://schemas.microsoft.com/office/drawing/2014/main" id="{40DCAFC4-BD46-B885-EF36-2CDD0E479ED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524000"/>
            <a:ext cx="4953000" cy="3657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C5633A-26DD-7C1E-4E51-C28AB1A7F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858297"/>
            <a:ext cx="4532089" cy="422864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>
            <a:extLst>
              <a:ext uri="{FF2B5EF4-FFF2-40B4-BE49-F238E27FC236}">
                <a16:creationId xmlns:a16="http://schemas.microsoft.com/office/drawing/2014/main" id="{6F857744-1665-24AE-E8E4-5CFC612A7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Spiral Quadrant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Determine objectives, alternatives and constraints</a:t>
            </a:r>
            <a:br>
              <a:rPr lang="en-US" altLang="en-US" sz="2800" dirty="0">
                <a:solidFill>
                  <a:schemeClr val="tx1"/>
                </a:solidFill>
              </a:rPr>
            </a:b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471043" name="Rectangle 3">
            <a:extLst>
              <a:ext uri="{FF2B5EF4-FFF2-40B4-BE49-F238E27FC236}">
                <a16:creationId xmlns:a16="http://schemas.microsoft.com/office/drawing/2014/main" id="{08F18DBB-222C-33A7-8B77-34179FB0BE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</a:rPr>
              <a:t>Objectives:  functionality, performance, hardware/software interface, critical success factors, etc.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Alternatives: build, reuse, buy, sub-contract, etc.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Constraints:  cost, schedule, interface, etc.</a:t>
            </a:r>
          </a:p>
          <a:p>
            <a:pPr lvl="1"/>
            <a:endParaRPr lang="en-US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>
            <a:extLst>
              <a:ext uri="{FF2B5EF4-FFF2-40B4-BE49-F238E27FC236}">
                <a16:creationId xmlns:a16="http://schemas.microsoft.com/office/drawing/2014/main" id="{FB7FEB71-0085-E91A-1F11-18CCD36DB0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solidFill>
                  <a:schemeClr val="tx1"/>
                </a:solidFill>
              </a:rPr>
              <a:t>Spiral Quadrant</a:t>
            </a:r>
            <a:br>
              <a:rPr lang="en-US" altLang="en-US" sz="2800" dirty="0">
                <a:solidFill>
                  <a:schemeClr val="tx1"/>
                </a:solidFill>
              </a:rPr>
            </a:br>
            <a:r>
              <a:rPr lang="en-US" altLang="en-US" sz="2800" dirty="0">
                <a:solidFill>
                  <a:schemeClr val="tx1"/>
                </a:solidFill>
              </a:rPr>
              <a:t>Evaluate alternatives,  identify and resolve risks </a:t>
            </a:r>
          </a:p>
        </p:txBody>
      </p:sp>
      <p:sp>
        <p:nvSpPr>
          <p:cNvPr id="472067" name="Rectangle 3">
            <a:extLst>
              <a:ext uri="{FF2B5EF4-FFF2-40B4-BE49-F238E27FC236}">
                <a16:creationId xmlns:a16="http://schemas.microsoft.com/office/drawing/2014/main" id="{786524B5-B597-2C9B-D852-C57604583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</a:rPr>
              <a:t>Study alternatives relative to objectives and constraints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Identify risks (lack of experience, new technology, tight schedules, poor process, etc.</a:t>
            </a:r>
          </a:p>
          <a:p>
            <a:r>
              <a:rPr lang="en-US" altLang="en-US" sz="2400" dirty="0">
                <a:solidFill>
                  <a:schemeClr val="tx1"/>
                </a:solidFill>
              </a:rPr>
              <a:t>Resolve risks (evaluate if money could be lost by continuing system development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>
            <a:extLst>
              <a:ext uri="{FF2B5EF4-FFF2-40B4-BE49-F238E27FC236}">
                <a16:creationId xmlns:a16="http://schemas.microsoft.com/office/drawing/2014/main" id="{D13730F4-2A66-F59B-935F-B44B87727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Spiral Quadrant</a:t>
            </a:r>
            <a:br>
              <a:rPr lang="en-US" altLang="en-US" sz="3200" dirty="0">
                <a:solidFill>
                  <a:schemeClr val="tx1"/>
                </a:solidFill>
              </a:rPr>
            </a:br>
            <a:r>
              <a:rPr lang="en-US" altLang="en-US" sz="3200" dirty="0">
                <a:solidFill>
                  <a:schemeClr val="tx1"/>
                </a:solidFill>
              </a:rPr>
              <a:t>Develop next-level product</a:t>
            </a:r>
          </a:p>
        </p:txBody>
      </p:sp>
      <p:sp>
        <p:nvSpPr>
          <p:cNvPr id="473091" name="Rectangle 3">
            <a:extLst>
              <a:ext uri="{FF2B5EF4-FFF2-40B4-BE49-F238E27FC236}">
                <a16:creationId xmlns:a16="http://schemas.microsoft.com/office/drawing/2014/main" id="{96AC81F1-6A92-E561-E2DE-212A3CB1C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Typical activites:</a:t>
            </a:r>
          </a:p>
          <a:p>
            <a:pPr lvl="1"/>
            <a:r>
              <a:rPr lang="en-US" altLang="en-US" sz="2400"/>
              <a:t>Create a design</a:t>
            </a:r>
          </a:p>
          <a:p>
            <a:pPr lvl="1"/>
            <a:r>
              <a:rPr lang="en-US" altLang="en-US" sz="2400"/>
              <a:t>Review design</a:t>
            </a:r>
          </a:p>
          <a:p>
            <a:pPr lvl="1"/>
            <a:r>
              <a:rPr lang="en-US" altLang="en-US" sz="2400"/>
              <a:t>Develop code</a:t>
            </a:r>
          </a:p>
          <a:p>
            <a:pPr lvl="1"/>
            <a:r>
              <a:rPr lang="en-US" altLang="en-US" sz="2400"/>
              <a:t>Inspect code</a:t>
            </a:r>
          </a:p>
          <a:p>
            <a:pPr lvl="1"/>
            <a:r>
              <a:rPr lang="en-US" altLang="en-US" sz="2400"/>
              <a:t>Test product</a:t>
            </a:r>
          </a:p>
          <a:p>
            <a:pPr lvl="1"/>
            <a:endParaRPr lang="en-US" altLang="en-US"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>
            <a:extLst>
              <a:ext uri="{FF2B5EF4-FFF2-40B4-BE49-F238E27FC236}">
                <a16:creationId xmlns:a16="http://schemas.microsoft.com/office/drawing/2014/main" id="{ECD6CF35-4ACE-819E-8AB1-793624E39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Spiral Quadrant</a:t>
            </a:r>
            <a:br>
              <a:rPr lang="en-US" altLang="en-US" sz="3200" dirty="0">
                <a:solidFill>
                  <a:schemeClr val="tx1"/>
                </a:solidFill>
              </a:rPr>
            </a:br>
            <a:r>
              <a:rPr lang="en-US" altLang="en-US" sz="3200" dirty="0">
                <a:solidFill>
                  <a:schemeClr val="tx1"/>
                </a:solidFill>
              </a:rPr>
              <a:t>Plan next phase</a:t>
            </a:r>
          </a:p>
        </p:txBody>
      </p:sp>
      <p:sp>
        <p:nvSpPr>
          <p:cNvPr id="474115" name="Rectangle 3">
            <a:extLst>
              <a:ext uri="{FF2B5EF4-FFF2-40B4-BE49-F238E27FC236}">
                <a16:creationId xmlns:a16="http://schemas.microsoft.com/office/drawing/2014/main" id="{E6919FC6-BE6A-708B-8E47-DC84C0FE87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</a:rPr>
              <a:t>Typical activities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Develop project plan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Develop configuration management plan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Develop a test plan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Develop an installation plan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>
            <a:extLst>
              <a:ext uri="{FF2B5EF4-FFF2-40B4-BE49-F238E27FC236}">
                <a16:creationId xmlns:a16="http://schemas.microsoft.com/office/drawing/2014/main" id="{C08DDBE9-D25A-AF14-3BAE-AC6DC6907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Spiral Model Strengths</a:t>
            </a:r>
          </a:p>
        </p:txBody>
      </p:sp>
      <p:sp>
        <p:nvSpPr>
          <p:cNvPr id="476163" name="Rectangle 3">
            <a:extLst>
              <a:ext uri="{FF2B5EF4-FFF2-40B4-BE49-F238E27FC236}">
                <a16:creationId xmlns:a16="http://schemas.microsoft.com/office/drawing/2014/main" id="{3B4ED704-6740-BF2D-E53D-6E3897E1DA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Provides early indication of insurmountable risks, without much cost</a:t>
            </a:r>
          </a:p>
          <a:p>
            <a:r>
              <a:rPr lang="en-US" altLang="en-US" sz="2800"/>
              <a:t>Users see the system early because of rapid prototyping tools</a:t>
            </a:r>
          </a:p>
          <a:p>
            <a:r>
              <a:rPr lang="en-US" altLang="en-US" sz="2800"/>
              <a:t>Critical high-risk functions are developed first</a:t>
            </a:r>
          </a:p>
          <a:p>
            <a:r>
              <a:rPr lang="en-US" altLang="en-US" sz="2800"/>
              <a:t>The design does not have to be perfect </a:t>
            </a:r>
          </a:p>
          <a:p>
            <a:r>
              <a:rPr lang="en-US" altLang="en-US" sz="2800"/>
              <a:t>Users can be closely tied to all lifecycle steps</a:t>
            </a:r>
          </a:p>
          <a:p>
            <a:r>
              <a:rPr lang="en-US" altLang="en-US" sz="2800"/>
              <a:t>Early and frequent feedback from users</a:t>
            </a:r>
          </a:p>
          <a:p>
            <a:r>
              <a:rPr lang="en-US" altLang="en-US" sz="2800"/>
              <a:t>Cumulative costs assessed frequently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>
            <a:extLst>
              <a:ext uri="{FF2B5EF4-FFF2-40B4-BE49-F238E27FC236}">
                <a16:creationId xmlns:a16="http://schemas.microsoft.com/office/drawing/2014/main" id="{1D7A4F9F-037F-C3F2-948A-9BBB2C7B1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Spiral Model Weaknesses</a:t>
            </a:r>
          </a:p>
        </p:txBody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4C7A8387-E65F-E2B5-9A0C-AB4CF9902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Time spent for evaluating risks too large for small or low-risk projects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Time spent planning, resetting objectives, doing risk analysis and prototyping may  be excessive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The model is complex 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Risk assessment expertise is required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Spiral may continue indefinitely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Developers must be reassigned during non-development phase activities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May be hard to define objective, verifiable milestones that indicate readiness to proceed through the next iteration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>
            <a:extLst>
              <a:ext uri="{FF2B5EF4-FFF2-40B4-BE49-F238E27FC236}">
                <a16:creationId xmlns:a16="http://schemas.microsoft.com/office/drawing/2014/main" id="{66AEE3E0-BE59-388C-3CBD-FCB06670D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When to use Spiral Model</a:t>
            </a:r>
          </a:p>
        </p:txBody>
      </p:sp>
      <p:sp>
        <p:nvSpPr>
          <p:cNvPr id="478211" name="Rectangle 3">
            <a:extLst>
              <a:ext uri="{FF2B5EF4-FFF2-40B4-BE49-F238E27FC236}">
                <a16:creationId xmlns:a16="http://schemas.microsoft.com/office/drawing/2014/main" id="{8ACA92FF-5D5A-5F80-B6B8-B82AC9D68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When creation of a prototype is appropriate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When costs and risk evaluation is important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For medium to high-risk projects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Long-term project commitment unwise because of potential changes to economic priorities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Users are unsure of their needs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Requirements are complex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New product line 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Significant changes are expected (research and exploration)</a:t>
            </a:r>
          </a:p>
          <a:p>
            <a:pPr>
              <a:lnSpc>
                <a:spcPct val="80000"/>
              </a:lnSpc>
            </a:pPr>
            <a:endParaRPr lang="en-US" altLang="en-US" sz="28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9F5C0AEC-775D-3519-24D6-C656504D3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4">
            <a:extLst>
              <a:ext uri="{FF2B5EF4-FFF2-40B4-BE49-F238E27FC236}">
                <a16:creationId xmlns:a16="http://schemas.microsoft.com/office/drawing/2014/main" id="{7186B7BE-A33A-B401-C493-B4077FE117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72932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Evolutionary Model</a:t>
            </a:r>
            <a:endParaRPr dirty="0"/>
          </a:p>
        </p:txBody>
      </p:sp>
      <p:sp>
        <p:nvSpPr>
          <p:cNvPr id="179" name="Google Shape;179;p24">
            <a:extLst>
              <a:ext uri="{FF2B5EF4-FFF2-40B4-BE49-F238E27FC236}">
                <a16:creationId xmlns:a16="http://schemas.microsoft.com/office/drawing/2014/main" id="{AC1751BD-9DFF-AC4D-C82E-CCDB54FB49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180" name="Google Shape;180;p24">
            <a:extLst>
              <a:ext uri="{FF2B5EF4-FFF2-40B4-BE49-F238E27FC236}">
                <a16:creationId xmlns:a16="http://schemas.microsoft.com/office/drawing/2014/main" id="{275A05A1-4044-0187-D488-DE628584ACE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2 Software Processes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7F657-471E-2549-DA34-179961C9F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546" y="1685440"/>
            <a:ext cx="4574791" cy="503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55307"/>
      </p:ext>
    </p:extLst>
  </p:cSld>
  <p:clrMapOvr>
    <a:masterClrMapping/>
  </p:clrMapOvr>
</p:sld>
</file>

<file path=ppt/theme/theme1.xml><?xml version="1.0" encoding="utf-8"?>
<a:theme xmlns:a="http://schemas.openxmlformats.org/drawingml/2006/main" name="SE9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2116</Words>
  <Application>Microsoft Office PowerPoint</Application>
  <PresentationFormat>On-screen Show (4:3)</PresentationFormat>
  <Paragraphs>301</Paragraphs>
  <Slides>46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Noto Sans Symbols</vt:lpstr>
      <vt:lpstr>SE9</vt:lpstr>
      <vt:lpstr>Chapter 2 – Software Processes</vt:lpstr>
      <vt:lpstr>Capability Maturity Model (CMM)</vt:lpstr>
      <vt:lpstr>CMM Levels</vt:lpstr>
      <vt:lpstr>The software process</vt:lpstr>
      <vt:lpstr>Software process descriptions</vt:lpstr>
      <vt:lpstr>Plan-driven and agile processes</vt:lpstr>
      <vt:lpstr>Software process models</vt:lpstr>
      <vt:lpstr>The waterfall model </vt:lpstr>
      <vt:lpstr>Waterfall Model</vt:lpstr>
      <vt:lpstr>Waterfall Strengths</vt:lpstr>
      <vt:lpstr>Waterfall Deficiencies</vt:lpstr>
      <vt:lpstr>When to use the Waterfall Model</vt:lpstr>
      <vt:lpstr>The Iterative waterfall model </vt:lpstr>
      <vt:lpstr>The Iterative waterfall model </vt:lpstr>
      <vt:lpstr>Waterfall model phases</vt:lpstr>
      <vt:lpstr>Waterfall model problems</vt:lpstr>
      <vt:lpstr>The V model </vt:lpstr>
      <vt:lpstr>V-Shaped SDLC Model</vt:lpstr>
      <vt:lpstr>V-Shaped Steps</vt:lpstr>
      <vt:lpstr>V-Shaped Strengths</vt:lpstr>
      <vt:lpstr>V-Shaped Weaknesses</vt:lpstr>
      <vt:lpstr>When to use the V-Shaped Model</vt:lpstr>
      <vt:lpstr>The Prototype model </vt:lpstr>
      <vt:lpstr>Structured Evolutionary Prototyping Model</vt:lpstr>
      <vt:lpstr>Structured Evolutionary Prototyping Steps</vt:lpstr>
      <vt:lpstr>Structured Evolutionary Prototyping Strengths</vt:lpstr>
      <vt:lpstr>Structured Evolutionary Prototyping Weaknesses</vt:lpstr>
      <vt:lpstr>When to use Structured Evolutionary Prototyping</vt:lpstr>
      <vt:lpstr>The Incremental development model </vt:lpstr>
      <vt:lpstr>The Incremental developement model </vt:lpstr>
      <vt:lpstr>Incremental development  </vt:lpstr>
      <vt:lpstr>Incremental development benefits</vt:lpstr>
      <vt:lpstr>Incremental development problems</vt:lpstr>
      <vt:lpstr>Incremental Model Strengths </vt:lpstr>
      <vt:lpstr>Incremental Model Weaknesses </vt:lpstr>
      <vt:lpstr>When to use the Incremental Model </vt:lpstr>
      <vt:lpstr>Boehm’s spiral model of the software process </vt:lpstr>
      <vt:lpstr>Spiral SDLC Model</vt:lpstr>
      <vt:lpstr>Spiral Quadrant Determine objectives, alternatives and constraints </vt:lpstr>
      <vt:lpstr>Spiral Quadrant Evaluate alternatives,  identify and resolve risks </vt:lpstr>
      <vt:lpstr>Spiral Quadrant Develop next-level product</vt:lpstr>
      <vt:lpstr>Spiral Quadrant Plan next phase</vt:lpstr>
      <vt:lpstr>Spiral Model Strengths</vt:lpstr>
      <vt:lpstr>Spiral Model Weaknesses</vt:lpstr>
      <vt:lpstr>When to use Spiral Model</vt:lpstr>
      <vt:lpstr>The Evolutionary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Tirthankar Ghosh</cp:lastModifiedBy>
  <cp:revision>6</cp:revision>
  <dcterms:modified xsi:type="dcterms:W3CDTF">2026-02-27T14:29:53Z</dcterms:modified>
</cp:coreProperties>
</file>