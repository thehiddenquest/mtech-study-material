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9"/>
  </p:notes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18977-D2FC-4846-BA1B-F3BF0FD40D80}" type="datetimeFigureOut">
              <a:rPr lang="en-US" smtClean="0"/>
              <a:t>28-Mar-26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7E87E-2571-44AB-8715-BD9DF2C1F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94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r>
              <a:rPr lang="en-US"/>
              <a:t>28-Mar-26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/>
              <a:t>28-Mar-26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r>
              <a:rPr lang="en-US"/>
              <a:t>28-Mar-26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/>
              <a:t>28-Mar-26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28-Mar-26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ED09-BCCD-46D5-868A-4D2E9B51E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055557"/>
            <a:ext cx="6172200" cy="1894362"/>
          </a:xfrm>
        </p:spPr>
        <p:txBody>
          <a:bodyPr>
            <a:normAutofit/>
          </a:bodyPr>
          <a:lstStyle/>
          <a:p>
            <a:r>
              <a:rPr lang="en-US" sz="6600" dirty="0"/>
              <a:t>Docker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31399-D92C-4954-B484-938D44BCD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5922" y="3628329"/>
            <a:ext cx="6172200" cy="1371600"/>
          </a:xfrm>
        </p:spPr>
        <p:txBody>
          <a:bodyPr/>
          <a:lstStyle/>
          <a:p>
            <a:r>
              <a:rPr lang="en-US" dirty="0" err="1"/>
              <a:t>Nejarul</a:t>
            </a:r>
            <a:r>
              <a:rPr lang="en-US" dirty="0"/>
              <a:t> Islam</a:t>
            </a:r>
          </a:p>
          <a:p>
            <a:r>
              <a:rPr lang="en-US" dirty="0" err="1"/>
              <a:t>Anuska</a:t>
            </a:r>
            <a:r>
              <a:rPr lang="en-US" dirty="0"/>
              <a:t> Ghosh</a:t>
            </a:r>
          </a:p>
          <a:p>
            <a:r>
              <a:rPr lang="en-US" dirty="0"/>
              <a:t>Rahul Biswas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3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Docker</a:t>
            </a:r>
            <a:r>
              <a:rPr lang="en-US" dirty="0"/>
              <a:t>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16338"/>
            <a:ext cx="8113804" cy="5178975"/>
          </a:xfrm>
        </p:spPr>
        <p:txBody>
          <a:bodyPr/>
          <a:lstStyle/>
          <a:p>
            <a:r>
              <a:rPr lang="en-US" dirty="0"/>
              <a:t>Docket is an open platform for </a:t>
            </a:r>
            <a:r>
              <a:rPr lang="en-US" dirty="0" err="1"/>
              <a:t>developing,shipping</a:t>
            </a:r>
            <a:r>
              <a:rPr lang="en-US" dirty="0"/>
              <a:t> and running applications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Dev → Test → Production</a:t>
            </a:r>
          </a:p>
        </p:txBody>
      </p:sp>
      <p:pic>
        <p:nvPicPr>
          <p:cNvPr id="2050" name="Picture 2" descr="docker - Official Image | Docker Hub">
            <a:extLst>
              <a:ext uri="{FF2B5EF4-FFF2-40B4-BE49-F238E27FC236}">
                <a16:creationId xmlns:a16="http://schemas.microsoft.com/office/drawing/2014/main" id="{49CF0EE8-549C-4A63-B53F-D5CFFD103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3" y="2092614"/>
            <a:ext cx="2804644" cy="250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FE61-4A7A-4FB9-B3D4-FD5B2F9B08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16703-A241-4E81-A0B7-3378EB95A9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Docker</a:t>
            </a:r>
            <a:r>
              <a:rPr lang="en-US" dirty="0"/>
              <a:t>(problem statement)?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200"/>
              <a:t>No environment issues</a:t>
            </a:r>
          </a:p>
          <a:p>
            <a:r>
              <a:rPr sz="3200"/>
              <a:t>Fast deployment</a:t>
            </a:r>
          </a:p>
          <a:p>
            <a:r>
              <a:rPr sz="3200"/>
              <a:t>Lightweight</a:t>
            </a:r>
          </a:p>
          <a:p>
            <a:r>
              <a:rPr sz="3200"/>
              <a:t>Easy scaling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D3CA7-0C1D-40B1-9514-9C1911FD78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024F0-46ED-4819-AF29-A2A0FD4627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t>Docker Image</a:t>
            </a:r>
            <a:r>
              <a:rPr lang="en-US" dirty="0"/>
              <a:t>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200"/>
              <a:t>Read-only template</a:t>
            </a:r>
          </a:p>
          <a:p>
            <a:r>
              <a:rPr sz="3200"/>
              <a:t>Contains code, dependencies, runtime</a:t>
            </a:r>
          </a:p>
          <a:p>
            <a:r>
              <a:rPr sz="3200"/>
              <a:t>Built using Dockerfile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31C1-5CD0-4638-9FDE-33CC16732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61B48-1772-45A2-A36C-A18716BBAC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t>Docker Container</a:t>
            </a:r>
            <a:r>
              <a:rPr lang="en-US" dirty="0"/>
              <a:t>?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200"/>
              <a:t>Running instance of image</a:t>
            </a:r>
          </a:p>
          <a:p>
            <a:r>
              <a:rPr sz="3200"/>
              <a:t>Executes application</a:t>
            </a:r>
          </a:p>
          <a:p>
            <a:r>
              <a:rPr sz="3200"/>
              <a:t>Isolated environment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401A-0E68-41F4-A4EA-A8EFA4BED8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D62F1-11FD-4779-B9CB-CD1DC15C04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40436" cy="1143000"/>
          </a:xfrm>
        </p:spPr>
        <p:txBody>
          <a:bodyPr/>
          <a:lstStyle/>
          <a:p>
            <a:r>
              <a:t>Image vs Container</a:t>
            </a:r>
            <a:r>
              <a:rPr lang="en-US" dirty="0"/>
              <a:t>(Confused question)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200"/>
              <a:t>Image = Blueprint</a:t>
            </a:r>
          </a:p>
          <a:p>
            <a:r>
              <a:rPr sz="3200"/>
              <a:t>Container = Running app</a:t>
            </a:r>
          </a:p>
          <a:p>
            <a:r>
              <a:rPr sz="3200"/>
              <a:t>Image is static, container dynamic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E4623-852D-4470-B584-10297213B9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0DC11-4EEB-4FB9-9D85-ED8B239651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vs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Docker shares host OS</a:t>
            </a:r>
          </a:p>
          <a:p>
            <a:r>
              <a:t>VM has full OS</a:t>
            </a:r>
          </a:p>
          <a:p>
            <a:r>
              <a:t>Docker is fast, VM is slow</a:t>
            </a:r>
          </a:p>
          <a:p>
            <a:r>
              <a:t>Docker is lightweight</a:t>
            </a:r>
          </a:p>
        </p:txBody>
      </p:sp>
      <p:pic>
        <p:nvPicPr>
          <p:cNvPr id="4" name="Picture 3" descr="Docker-vs-VM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5" y="3622964"/>
            <a:ext cx="5832763" cy="285098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C2221-7520-46AE-AF71-1875F76F866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C0BE-748D-4D0D-B017-8087E9AFD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200"/>
              <a:t>Used for data persistence</a:t>
            </a:r>
          </a:p>
          <a:p>
            <a:r>
              <a:rPr sz="3200"/>
              <a:t>Data not lost after container stops</a:t>
            </a:r>
          </a:p>
          <a:p>
            <a:r>
              <a:rPr sz="3200"/>
              <a:t>Stored outside container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95DE5-5B55-4755-9318-F50CE8CEDD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81378-18E1-4875-88B5-B3D6B51967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4400"/>
              <a:t>Named volumes</a:t>
            </a:r>
          </a:p>
          <a:p>
            <a:r>
              <a:rPr sz="4400"/>
              <a:t>Bind mounts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F90E-0E79-4AD9-8DD9-6D17E14988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88339-DC9C-4F5C-93A1-5D3F22DDE6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3600"/>
              <a:t>Script to build image</a:t>
            </a:r>
          </a:p>
          <a:p>
            <a:r>
              <a:rPr sz="3600"/>
              <a:t>Contains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2B38E-0CDF-46AC-9C44-4CCECA93F7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1BE1A-89C9-4897-98D5-0599B54B93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/>
              <a:t>FROM openjdk:17</a:t>
            </a:r>
            <a:r>
              <a:rPr lang="en-US" sz="2800" dirty="0"/>
              <a:t>  //Base Image</a:t>
            </a:r>
            <a:endParaRPr sz="2800"/>
          </a:p>
          <a:p>
            <a:r>
              <a:rPr sz="2800"/>
              <a:t>WORKDIR /app</a:t>
            </a:r>
            <a:r>
              <a:rPr lang="en-US" sz="2800" dirty="0"/>
              <a:t>     // Working Directory</a:t>
            </a:r>
            <a:endParaRPr sz="2800"/>
          </a:p>
          <a:p>
            <a:r>
              <a:rPr sz="2800"/>
              <a:t>COPY app.jar app.jar</a:t>
            </a:r>
            <a:r>
              <a:rPr lang="en-US" sz="2800" dirty="0"/>
              <a:t> //Copy File</a:t>
            </a:r>
          </a:p>
          <a:p>
            <a:r>
              <a:rPr lang="en-US" sz="2800" dirty="0"/>
              <a:t>EXPOSE 8080     //exposing the port</a:t>
            </a:r>
            <a:endParaRPr sz="2800"/>
          </a:p>
          <a:p>
            <a:r>
              <a:rPr sz="2800"/>
              <a:t>ENTRYPOINT java -jar app.jar</a:t>
            </a:r>
            <a:r>
              <a:rPr lang="en-US" sz="2800" dirty="0"/>
              <a:t> //startup file</a:t>
            </a:r>
            <a:endParaRPr sz="2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60CBB-63B4-4B3F-9AAC-A8F0982B52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1738F-6570-4871-9B93-21471C0C48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8B17-06FE-4C99-AE39-0D2610A7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Commands of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6773F-02BB-4090-9F9F-D01BAFA347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Docker can be used in </a:t>
            </a:r>
            <a:r>
              <a:rPr lang="en-US" dirty="0" err="1"/>
              <a:t>gui</a:t>
            </a:r>
            <a:r>
              <a:rPr lang="en-US" dirty="0"/>
              <a:t> mode using Docker desktop.(only for windows, mac)</a:t>
            </a:r>
          </a:p>
          <a:p>
            <a:r>
              <a:rPr lang="en-US" dirty="0"/>
              <a:t>Docker cli gives versatility as it can run in any </a:t>
            </a:r>
            <a:r>
              <a:rPr lang="en-US" dirty="0" err="1"/>
              <a:t>os</a:t>
            </a:r>
            <a:endParaRPr lang="en-US" dirty="0"/>
          </a:p>
          <a:p>
            <a:endParaRPr lang="en-US" dirty="0"/>
          </a:p>
          <a:p>
            <a:r>
              <a:rPr lang="en-US" sz="3200" u="sng" dirty="0"/>
              <a:t>Basic commands:-</a:t>
            </a:r>
          </a:p>
          <a:p>
            <a:r>
              <a:rPr lang="en-US" dirty="0"/>
              <a:t>To  Pull images from any repository is 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pull </a:t>
            </a:r>
            <a:r>
              <a:rPr lang="en-US" dirty="0" err="1">
                <a:latin typeface="Arial Rounded MT Bold" panose="020F0704030504030204" pitchFamily="34" charset="0"/>
              </a:rPr>
              <a:t>repo_address</a:t>
            </a:r>
            <a:r>
              <a:rPr lang="en-US" dirty="0">
                <a:latin typeface="Arial Rounded MT Bold" panose="020F0704030504030204" pitchFamily="34" charset="0"/>
              </a:rPr>
              <a:t>/</a:t>
            </a:r>
            <a:r>
              <a:rPr lang="en-US" dirty="0" err="1">
                <a:latin typeface="Arial Rounded MT Bold" panose="020F0704030504030204" pitchFamily="34" charset="0"/>
              </a:rPr>
              <a:t>image_name:tag_version</a:t>
            </a:r>
            <a:endParaRPr lang="en-US" dirty="0">
              <a:latin typeface="Arial Rounded MT Bold" panose="020F0704030504030204" pitchFamily="34" charset="0"/>
            </a:endParaRPr>
          </a:p>
          <a:p>
            <a:pPr lvl="2"/>
            <a:r>
              <a:rPr lang="en-US" dirty="0"/>
              <a:t>Default </a:t>
            </a:r>
            <a:r>
              <a:rPr lang="en-US" dirty="0" err="1"/>
              <a:t>repo_address</a:t>
            </a:r>
            <a:r>
              <a:rPr lang="en-US" dirty="0"/>
              <a:t> is https://hub.docker.com/_/.</a:t>
            </a:r>
          </a:p>
          <a:p>
            <a:pPr lvl="2"/>
            <a:r>
              <a:rPr lang="en-US" dirty="0"/>
              <a:t>Default version is latest.</a:t>
            </a:r>
          </a:p>
          <a:p>
            <a:pPr marL="731520" lvl="2" indent="0">
              <a:buNone/>
            </a:pPr>
            <a:endParaRPr lang="en-US" dirty="0"/>
          </a:p>
          <a:p>
            <a:r>
              <a:rPr lang="en-US" dirty="0"/>
              <a:t>To display all the images in local file system:-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images </a:t>
            </a:r>
            <a:br>
              <a:rPr lang="en-US" dirty="0"/>
            </a:b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D336-CF74-497A-92AA-BC9D90E4BF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5B6C9-8C52-481B-83BC-92BE513B87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3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5894-70AE-4E32-90F2-BBF2A356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Commands of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5B034-5672-413E-9720-F825AB4C70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show running images/ Container:-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</a:t>
            </a:r>
            <a:r>
              <a:rPr lang="en-US" dirty="0" err="1">
                <a:latin typeface="Arial Rounded MT Bold" panose="020F0704030504030204" pitchFamily="34" charset="0"/>
              </a:rPr>
              <a:t>ps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… -a</a:t>
            </a:r>
            <a:r>
              <a:rPr lang="en-US" dirty="0"/>
              <a:t> :- this shows all container (running or stopped)</a:t>
            </a:r>
          </a:p>
          <a:p>
            <a:r>
              <a:rPr lang="en-US" dirty="0"/>
              <a:t>To run an image 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run </a:t>
            </a:r>
            <a:r>
              <a:rPr lang="en-US" dirty="0" err="1">
                <a:latin typeface="Arial Rounded MT Bold" panose="020F0704030504030204" pitchFamily="34" charset="0"/>
              </a:rPr>
              <a:t>image_name:tag_version</a:t>
            </a:r>
            <a:endParaRPr lang="en-US" dirty="0">
              <a:latin typeface="Arial Rounded MT Bold" panose="020F0704030504030204" pitchFamily="34" charset="0"/>
            </a:endParaRPr>
          </a:p>
          <a:p>
            <a:pPr lvl="2"/>
            <a:r>
              <a:rPr lang="en-US" dirty="0"/>
              <a:t> We can also run multiple images with different versions without any conflicts.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…  -d</a:t>
            </a:r>
            <a:r>
              <a:rPr lang="en-US" dirty="0"/>
              <a:t> :- using this tick , container starts in detached mode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… -- name &lt;</a:t>
            </a:r>
            <a:r>
              <a:rPr lang="en-US" dirty="0" err="1">
                <a:latin typeface="Arial Rounded MT Bold" panose="020F0704030504030204" pitchFamily="34" charset="0"/>
              </a:rPr>
              <a:t>new_name</a:t>
            </a:r>
            <a:r>
              <a:rPr lang="en-US" dirty="0">
                <a:latin typeface="Arial Rounded MT Bold" panose="020F0704030504030204" pitchFamily="34" charset="0"/>
              </a:rPr>
              <a:t>&gt; </a:t>
            </a:r>
            <a:r>
              <a:rPr lang="en-US" dirty="0"/>
              <a:t>:- Assigns a new name to the container.</a:t>
            </a:r>
          </a:p>
          <a:p>
            <a:r>
              <a:rPr lang="en-US" dirty="0"/>
              <a:t>To start or stop or restart a container:-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stop &lt;</a:t>
            </a:r>
            <a:r>
              <a:rPr lang="en-US" dirty="0" err="1">
                <a:latin typeface="Arial Rounded MT Bold" panose="020F0704030504030204" pitchFamily="34" charset="0"/>
              </a:rPr>
              <a:t>containter_id</a:t>
            </a:r>
            <a:r>
              <a:rPr lang="en-US" dirty="0">
                <a:latin typeface="Arial Rounded MT Bold" panose="020F0704030504030204" pitchFamily="34" charset="0"/>
              </a:rPr>
              <a:t>&gt;/&lt;</a:t>
            </a:r>
            <a:r>
              <a:rPr lang="en-US" dirty="0" err="1">
                <a:latin typeface="Arial Rounded MT Bold" panose="020F0704030504030204" pitchFamily="34" charset="0"/>
              </a:rPr>
              <a:t>container_name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start &lt;</a:t>
            </a:r>
            <a:r>
              <a:rPr lang="en-US" dirty="0" err="1">
                <a:latin typeface="Arial Rounded MT Bold" panose="020F0704030504030204" pitchFamily="34" charset="0"/>
              </a:rPr>
              <a:t>containter_id</a:t>
            </a:r>
            <a:r>
              <a:rPr lang="en-US" dirty="0">
                <a:latin typeface="Arial Rounded MT Bold" panose="020F0704030504030204" pitchFamily="34" charset="0"/>
              </a:rPr>
              <a:t>&gt;/&lt;</a:t>
            </a:r>
            <a:r>
              <a:rPr lang="en-US" dirty="0" err="1">
                <a:latin typeface="Arial Rounded MT Bold" panose="020F0704030504030204" pitchFamily="34" charset="0"/>
              </a:rPr>
              <a:t>container_name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F51A3-86D1-4001-BE83-55AEAD0A4D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F110B-B4AC-4B74-A501-1A0A37B94B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0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9CFF-35D3-43EB-B560-4C14B36C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Commands of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8ACB-5A7B-4C91-8A5F-B6258A9D92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Deletion Operations:-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rm &lt;</a:t>
            </a:r>
            <a:r>
              <a:rPr lang="en-US" dirty="0" err="1">
                <a:latin typeface="Arial Rounded MT Bold" panose="020F0704030504030204" pitchFamily="34" charset="0"/>
              </a:rPr>
              <a:t>container_id</a:t>
            </a:r>
            <a:r>
              <a:rPr lang="en-US" dirty="0">
                <a:latin typeface="Arial Rounded MT Bold" panose="020F0704030504030204" pitchFamily="34" charset="0"/>
              </a:rPr>
              <a:t>&gt;/&lt;</a:t>
            </a:r>
            <a:r>
              <a:rPr lang="en-US" dirty="0" err="1">
                <a:latin typeface="Arial Rounded MT Bold" panose="020F0704030504030204" pitchFamily="34" charset="0"/>
              </a:rPr>
              <a:t>container_name</a:t>
            </a:r>
            <a:r>
              <a:rPr lang="en-US" dirty="0">
                <a:latin typeface="Arial Rounded MT Bold" panose="020F0704030504030204" pitchFamily="34" charset="0"/>
              </a:rPr>
              <a:t>&gt;:-</a:t>
            </a:r>
          </a:p>
          <a:p>
            <a:pPr lvl="2"/>
            <a:r>
              <a:rPr lang="en-US" dirty="0"/>
              <a:t>This removes the container(container must be stopped)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</a:t>
            </a:r>
            <a:r>
              <a:rPr lang="en-US" dirty="0" err="1">
                <a:latin typeface="Arial Rounded MT Bold" panose="020F0704030504030204" pitchFamily="34" charset="0"/>
              </a:rPr>
              <a:t>rmi</a:t>
            </a:r>
            <a:r>
              <a:rPr lang="en-US" dirty="0">
                <a:latin typeface="Arial Rounded MT Bold" panose="020F0704030504030204" pitchFamily="34" charset="0"/>
              </a:rPr>
              <a:t> &lt;</a:t>
            </a:r>
            <a:r>
              <a:rPr lang="en-US" dirty="0" err="1">
                <a:latin typeface="Arial Rounded MT Bold" panose="020F0704030504030204" pitchFamily="34" charset="0"/>
              </a:rPr>
              <a:t>image_name</a:t>
            </a:r>
            <a:r>
              <a:rPr lang="en-US" dirty="0">
                <a:latin typeface="Arial Rounded MT Bold" panose="020F0704030504030204" pitchFamily="34" charset="0"/>
              </a:rPr>
              <a:t>&gt;:-</a:t>
            </a:r>
          </a:p>
          <a:p>
            <a:pPr lvl="2"/>
            <a:r>
              <a:rPr lang="en-US" dirty="0"/>
              <a:t>This removes the image </a:t>
            </a:r>
          </a:p>
          <a:p>
            <a:pPr lvl="3"/>
            <a:r>
              <a:rPr lang="en-US" dirty="0"/>
              <a:t>No container should be present with this image</a:t>
            </a:r>
          </a:p>
          <a:p>
            <a:pPr lvl="3"/>
            <a:endParaRPr lang="en-US" dirty="0"/>
          </a:p>
          <a:p>
            <a:r>
              <a:rPr lang="en-US" dirty="0"/>
              <a:t>Debug Operation:-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logs &lt;</a:t>
            </a:r>
            <a:r>
              <a:rPr lang="en-US" dirty="0" err="1">
                <a:latin typeface="Arial Rounded MT Bold" panose="020F0704030504030204" pitchFamily="34" charset="0"/>
              </a:rPr>
              <a:t>container_id</a:t>
            </a:r>
            <a:r>
              <a:rPr lang="en-US" dirty="0">
                <a:latin typeface="Arial Rounded MT Bold" panose="020F0704030504030204" pitchFamily="34" charset="0"/>
              </a:rPr>
              <a:t>&gt;/&lt;</a:t>
            </a:r>
            <a:r>
              <a:rPr lang="en-US" dirty="0" err="1">
                <a:latin typeface="Arial Rounded MT Bold" panose="020F0704030504030204" pitchFamily="34" charset="0"/>
              </a:rPr>
              <a:t>container_name</a:t>
            </a:r>
            <a:r>
              <a:rPr lang="en-US" dirty="0">
                <a:latin typeface="Arial Rounded MT Bold" panose="020F0704030504030204" pitchFamily="34" charset="0"/>
              </a:rPr>
              <a:t>&gt;:-</a:t>
            </a:r>
          </a:p>
          <a:p>
            <a:pPr lvl="2"/>
            <a:r>
              <a:rPr lang="en-US" dirty="0"/>
              <a:t>Display logs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exec –it &lt;</a:t>
            </a:r>
            <a:r>
              <a:rPr lang="en-US" dirty="0" err="1">
                <a:latin typeface="Arial Rounded MT Bold" panose="020F0704030504030204" pitchFamily="34" charset="0"/>
              </a:rPr>
              <a:t>container_id</a:t>
            </a:r>
            <a:r>
              <a:rPr lang="en-US" dirty="0">
                <a:latin typeface="Arial Rounded MT Bold" panose="020F0704030504030204" pitchFamily="34" charset="0"/>
              </a:rPr>
              <a:t>&gt;/&lt;</a:t>
            </a:r>
            <a:r>
              <a:rPr lang="en-US" dirty="0" err="1">
                <a:latin typeface="Arial Rounded MT Bold" panose="020F0704030504030204" pitchFamily="34" charset="0"/>
              </a:rPr>
              <a:t>container_name</a:t>
            </a:r>
            <a:r>
              <a:rPr lang="en-US" dirty="0">
                <a:latin typeface="Arial Rounded MT Bold" panose="020F0704030504030204" pitchFamily="34" charset="0"/>
              </a:rPr>
              <a:t>&gt; /bin/bash </a:t>
            </a:r>
            <a:r>
              <a:rPr lang="en-US" dirty="0"/>
              <a:t>:- opens terminal of container. –it stands for interactive terminal. Sometimes it is shell(</a:t>
            </a:r>
            <a:r>
              <a:rPr lang="en-US" dirty="0" err="1"/>
              <a:t>sh</a:t>
            </a:r>
            <a:r>
              <a:rPr lang="en-US" dirty="0"/>
              <a:t>) not bash.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6F7F-0E00-4628-8BB7-A0301467DE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1B32A-089D-46A4-A8A3-392D381C79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35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387E-E520-4458-9005-D7BD8D9E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A410-DFEA-45F3-9F21-E3369889D2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Host port vs Container port:</a:t>
            </a:r>
          </a:p>
          <a:p>
            <a:pPr lvl="1"/>
            <a:r>
              <a:rPr lang="en-US" dirty="0"/>
              <a:t>Two container can open same port</a:t>
            </a:r>
          </a:p>
          <a:p>
            <a:pPr lvl="1"/>
            <a:r>
              <a:rPr lang="en-US" dirty="0"/>
              <a:t>Two same port cannot be opened by host</a:t>
            </a:r>
          </a:p>
          <a:p>
            <a:pPr lvl="1"/>
            <a:r>
              <a:rPr lang="en-US" dirty="0"/>
              <a:t>We need to bind container port with host port to access containers from outside.</a:t>
            </a:r>
          </a:p>
          <a:p>
            <a:pPr marL="0" indent="0">
              <a:buNone/>
            </a:pPr>
            <a:r>
              <a:rPr lang="en-US" sz="2000" dirty="0">
                <a:latin typeface="Arial Rounded MT Bold" panose="020F0704030504030204" pitchFamily="34" charset="0"/>
              </a:rPr>
              <a:t>    docker run –p&lt;</a:t>
            </a:r>
            <a:r>
              <a:rPr lang="en-US" sz="2000" dirty="0" err="1">
                <a:latin typeface="Arial Rounded MT Bold" panose="020F0704030504030204" pitchFamily="34" charset="0"/>
              </a:rPr>
              <a:t>host_port:container_port</a:t>
            </a:r>
            <a:r>
              <a:rPr lang="en-US" sz="2000" dirty="0">
                <a:latin typeface="Arial Rounded MT Bold" panose="020F0704030504030204" pitchFamily="34" charset="0"/>
              </a:rPr>
              <a:t>&gt; :- </a:t>
            </a:r>
            <a:r>
              <a:rPr lang="en-US" sz="2000" dirty="0"/>
              <a:t>binds port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3EFD7-0221-44C8-8AD9-8918A3F24FBB}"/>
              </a:ext>
            </a:extLst>
          </p:cNvPr>
          <p:cNvSpPr/>
          <p:nvPr/>
        </p:nvSpPr>
        <p:spPr>
          <a:xfrm>
            <a:off x="1349115" y="4032354"/>
            <a:ext cx="5816184" cy="20836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5FF740-180D-4E72-855D-0DFC836E38D1}"/>
              </a:ext>
            </a:extLst>
          </p:cNvPr>
          <p:cNvSpPr/>
          <p:nvPr/>
        </p:nvSpPr>
        <p:spPr>
          <a:xfrm>
            <a:off x="2428407" y="4841823"/>
            <a:ext cx="1873770" cy="10043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Container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37BB3-FF91-4919-BE10-40D7653FAEA4}"/>
              </a:ext>
            </a:extLst>
          </p:cNvPr>
          <p:cNvSpPr/>
          <p:nvPr/>
        </p:nvSpPr>
        <p:spPr>
          <a:xfrm>
            <a:off x="4873053" y="4841823"/>
            <a:ext cx="1873770" cy="10043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Container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65551-2D46-43F9-8504-EFF557D8333D}"/>
              </a:ext>
            </a:extLst>
          </p:cNvPr>
          <p:cNvSpPr txBox="1"/>
          <p:nvPr/>
        </p:nvSpPr>
        <p:spPr>
          <a:xfrm>
            <a:off x="1349115" y="4057978"/>
            <a:ext cx="107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EFCCE-307F-4BAC-9CAD-3E75E28859E9}"/>
              </a:ext>
            </a:extLst>
          </p:cNvPr>
          <p:cNvSpPr txBox="1"/>
          <p:nvPr/>
        </p:nvSpPr>
        <p:spPr>
          <a:xfrm>
            <a:off x="2938071" y="4841823"/>
            <a:ext cx="95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P:5000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27C50-9594-4FE8-A58C-D2C63273CA9D}"/>
              </a:ext>
            </a:extLst>
          </p:cNvPr>
          <p:cNvSpPr txBox="1"/>
          <p:nvPr/>
        </p:nvSpPr>
        <p:spPr>
          <a:xfrm>
            <a:off x="5388964" y="4841823"/>
            <a:ext cx="96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P:5000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2DBC0-F83B-4DB6-B841-FCDF2CFA350A}"/>
              </a:ext>
            </a:extLst>
          </p:cNvPr>
          <p:cNvSpPr txBox="1"/>
          <p:nvPr/>
        </p:nvSpPr>
        <p:spPr>
          <a:xfrm>
            <a:off x="2938072" y="4032354"/>
            <a:ext cx="95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P:5000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A64B2-AEE6-42AE-8BD5-0591C61B8D60}"/>
              </a:ext>
            </a:extLst>
          </p:cNvPr>
          <p:cNvSpPr txBox="1"/>
          <p:nvPr/>
        </p:nvSpPr>
        <p:spPr>
          <a:xfrm>
            <a:off x="5393336" y="4032354"/>
            <a:ext cx="95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P:5001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C0A66B54-CBC8-45B1-876F-CF03F9B2D1AF}"/>
              </a:ext>
            </a:extLst>
          </p:cNvPr>
          <p:cNvSpPr/>
          <p:nvPr/>
        </p:nvSpPr>
        <p:spPr>
          <a:xfrm>
            <a:off x="3327816" y="4427310"/>
            <a:ext cx="179882" cy="4145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6A82C559-DAA2-42A8-B0CA-6E39DB490F33}"/>
              </a:ext>
            </a:extLst>
          </p:cNvPr>
          <p:cNvSpPr/>
          <p:nvPr/>
        </p:nvSpPr>
        <p:spPr>
          <a:xfrm>
            <a:off x="5854908" y="4401686"/>
            <a:ext cx="179882" cy="4145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ECD1414-4167-422E-9C02-042EBA4B75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37C040-3596-45E8-AB03-F6771B8C8E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9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874B-FEA4-45CC-A5C8-ADCABCC2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886B-5C6B-416E-B27B-070D2B8F0E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Isolated docker network.</a:t>
            </a:r>
          </a:p>
          <a:p>
            <a:r>
              <a:rPr lang="en-US" dirty="0"/>
              <a:t>Containers in same network can communicate without port mapping, only by name.</a:t>
            </a:r>
          </a:p>
          <a:p>
            <a:endParaRPr lang="en-US" dirty="0"/>
          </a:p>
          <a:p>
            <a:r>
              <a:rPr lang="en-US" dirty="0"/>
              <a:t>Outsiders will need port number.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493ED6BD-EEF3-4E42-B687-2544DC2511EB}"/>
              </a:ext>
            </a:extLst>
          </p:cNvPr>
          <p:cNvSpPr/>
          <p:nvPr/>
        </p:nvSpPr>
        <p:spPr>
          <a:xfrm>
            <a:off x="3697573" y="3685781"/>
            <a:ext cx="4417102" cy="2895782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CD6D7-90EE-470A-B96B-62D35CC08BBE}"/>
              </a:ext>
            </a:extLst>
          </p:cNvPr>
          <p:cNvSpPr/>
          <p:nvPr/>
        </p:nvSpPr>
        <p:spPr>
          <a:xfrm>
            <a:off x="4572000" y="4253459"/>
            <a:ext cx="884420" cy="4984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C0C80-F4FA-4B0D-9435-DED68DD08B4F}"/>
              </a:ext>
            </a:extLst>
          </p:cNvPr>
          <p:cNvSpPr/>
          <p:nvPr/>
        </p:nvSpPr>
        <p:spPr>
          <a:xfrm>
            <a:off x="4686924" y="5409575"/>
            <a:ext cx="1219200" cy="693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Mongo express</a:t>
            </a:r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11D162C6-0F8C-4437-A480-B7E23623F32E}"/>
              </a:ext>
            </a:extLst>
          </p:cNvPr>
          <p:cNvSpPr/>
          <p:nvPr/>
        </p:nvSpPr>
        <p:spPr>
          <a:xfrm>
            <a:off x="5204086" y="4751881"/>
            <a:ext cx="209862" cy="63601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01377E22-5309-46CD-A31E-08B8B04725F3}"/>
              </a:ext>
            </a:extLst>
          </p:cNvPr>
          <p:cNvSpPr/>
          <p:nvPr/>
        </p:nvSpPr>
        <p:spPr>
          <a:xfrm>
            <a:off x="1676400" y="4751882"/>
            <a:ext cx="2021173" cy="49842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C4A1F-B338-4FF8-B5A6-CDA7D1FD8550}"/>
              </a:ext>
            </a:extLst>
          </p:cNvPr>
          <p:cNvSpPr/>
          <p:nvPr/>
        </p:nvSpPr>
        <p:spPr>
          <a:xfrm>
            <a:off x="419724" y="4654445"/>
            <a:ext cx="1219200" cy="693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3ABEB-4C7E-4685-8C22-0AB2B6B9A955}"/>
              </a:ext>
            </a:extLst>
          </p:cNvPr>
          <p:cNvSpPr txBox="1"/>
          <p:nvPr/>
        </p:nvSpPr>
        <p:spPr>
          <a:xfrm>
            <a:off x="1778208" y="4384654"/>
            <a:ext cx="181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Localhost:port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C0170E6-770D-4E59-9C41-BA062D2BD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C53AA2A-564D-4C3D-9810-FC862EDEBB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54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54EB-740A-4C31-A06D-862FB816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D294A-8BAA-4AED-A071-AB6AEF54EF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Commands:-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network create &lt;</a:t>
            </a:r>
            <a:r>
              <a:rPr lang="en-US" dirty="0" err="1">
                <a:latin typeface="Arial Rounded MT Bold" panose="020F0704030504030204" pitchFamily="34" charset="0"/>
              </a:rPr>
              <a:t>network_name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  <a:r>
              <a:rPr lang="en-US" dirty="0"/>
              <a:t>:-</a:t>
            </a:r>
          </a:p>
          <a:p>
            <a:pPr lvl="2"/>
            <a:r>
              <a:rPr lang="en-US" dirty="0"/>
              <a:t>Creates a new bridge network.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docker run --network &lt;</a:t>
            </a:r>
            <a:r>
              <a:rPr lang="en-US" dirty="0" err="1">
                <a:latin typeface="Arial Rounded MT Bold" panose="020F0704030504030204" pitchFamily="34" charset="0"/>
              </a:rPr>
              <a:t>net_name</a:t>
            </a:r>
            <a:r>
              <a:rPr lang="en-US" dirty="0">
                <a:latin typeface="Arial Rounded MT Bold" panose="020F0704030504030204" pitchFamily="34" charset="0"/>
              </a:rPr>
              <a:t>&gt; &lt;</a:t>
            </a:r>
            <a:r>
              <a:rPr lang="en-US" dirty="0" err="1">
                <a:latin typeface="Arial Rounded MT Bold" panose="020F0704030504030204" pitchFamily="34" charset="0"/>
              </a:rPr>
              <a:t>img_name</a:t>
            </a:r>
            <a:r>
              <a:rPr lang="en-US" dirty="0">
                <a:latin typeface="Arial Rounded MT Bold" panose="020F0704030504030204" pitchFamily="34" charset="0"/>
              </a:rPr>
              <a:t> &gt;</a:t>
            </a:r>
            <a:r>
              <a:rPr lang="en-US" dirty="0"/>
              <a:t>:-</a:t>
            </a:r>
          </a:p>
          <a:p>
            <a:pPr lvl="2"/>
            <a:r>
              <a:rPr lang="en-US" dirty="0"/>
              <a:t>Assigns a container to a network while starting.</a:t>
            </a:r>
          </a:p>
          <a:p>
            <a:pPr lvl="2"/>
            <a:endParaRPr lang="en-US" dirty="0"/>
          </a:p>
          <a:p>
            <a:r>
              <a:rPr lang="en-US" dirty="0"/>
              <a:t>Special networks :-</a:t>
            </a:r>
          </a:p>
          <a:p>
            <a:pPr lvl="1"/>
            <a:r>
              <a:rPr lang="en-US" dirty="0"/>
              <a:t>Host network:-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docker run --network host &lt;</a:t>
            </a:r>
            <a:r>
              <a:rPr lang="en-US" dirty="0" err="1">
                <a:latin typeface="Arial Rounded MT Bold" panose="020F0704030504030204" pitchFamily="34" charset="0"/>
              </a:rPr>
              <a:t>img_name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  <a:r>
              <a:rPr lang="en-US" dirty="0"/>
              <a:t>:- assigns the container to the host network with same </a:t>
            </a:r>
            <a:r>
              <a:rPr lang="en-US" dirty="0" err="1"/>
              <a:t>ip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None network:-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Docker run --network none &lt;</a:t>
            </a:r>
            <a:r>
              <a:rPr lang="en-US" dirty="0" err="1">
                <a:latin typeface="Arial Rounded MT Bold" panose="020F0704030504030204" pitchFamily="34" charset="0"/>
              </a:rPr>
              <a:t>img_name</a:t>
            </a:r>
            <a:r>
              <a:rPr lang="en-US" dirty="0">
                <a:latin typeface="Arial Rounded MT Bold" panose="020F0704030504030204" pitchFamily="34" charset="0"/>
              </a:rPr>
              <a:t>&gt;</a:t>
            </a:r>
            <a:r>
              <a:rPr lang="en-US" dirty="0"/>
              <a:t>:- creates a complete isolation, best of offline processing.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E4FDE-B349-4C87-BE0F-6D7622D256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D7DFF-DB23-4F23-9F79-5FBE6A4C2EC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38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0CF9-7B15-4454-B0F0-2E872C0D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0D3C9-2D63-4D16-B262-E19F2D16D1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Helps to configure containers much easier than docker run.</a:t>
            </a:r>
          </a:p>
          <a:p>
            <a:r>
              <a:rPr lang="en-US" dirty="0"/>
              <a:t>Orchestrate containers in a single node system while </a:t>
            </a:r>
            <a:r>
              <a:rPr lang="en-US" dirty="0" err="1"/>
              <a:t>kubernatics</a:t>
            </a:r>
            <a:r>
              <a:rPr lang="en-US" dirty="0"/>
              <a:t> can do this in multi node environment with load balancing.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3760A8-77D7-4F20-8609-CB684CBB9A41}"/>
              </a:ext>
            </a:extLst>
          </p:cNvPr>
          <p:cNvSpPr/>
          <p:nvPr/>
        </p:nvSpPr>
        <p:spPr>
          <a:xfrm>
            <a:off x="1079292" y="3807501"/>
            <a:ext cx="2248524" cy="659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 config </a:t>
            </a:r>
            <a:r>
              <a:rPr lang="en-US" dirty="0" err="1"/>
              <a:t>cont</a:t>
            </a:r>
            <a:r>
              <a:rPr lang="en-US" dirty="0"/>
              <a:t>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50507-0A94-4D80-907D-C584100CAEC0}"/>
              </a:ext>
            </a:extLst>
          </p:cNvPr>
          <p:cNvSpPr/>
          <p:nvPr/>
        </p:nvSpPr>
        <p:spPr>
          <a:xfrm>
            <a:off x="1079292" y="4788822"/>
            <a:ext cx="2248524" cy="659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 config </a:t>
            </a:r>
            <a:r>
              <a:rPr lang="en-US" dirty="0" err="1"/>
              <a:t>cont</a:t>
            </a:r>
            <a:r>
              <a:rPr lang="en-US" dirty="0"/>
              <a:t>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ED317-3CB7-41AD-9ACA-1B522BC4098D}"/>
              </a:ext>
            </a:extLst>
          </p:cNvPr>
          <p:cNvSpPr/>
          <p:nvPr/>
        </p:nvSpPr>
        <p:spPr>
          <a:xfrm>
            <a:off x="1079292" y="5770144"/>
            <a:ext cx="2248524" cy="659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 config </a:t>
            </a:r>
            <a:r>
              <a:rPr lang="en-US" dirty="0" err="1"/>
              <a:t>cont</a:t>
            </a:r>
            <a:r>
              <a:rPr lang="en-US" dirty="0"/>
              <a:t>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3F0B2-4996-4726-B8E8-A3B73504F885}"/>
              </a:ext>
            </a:extLst>
          </p:cNvPr>
          <p:cNvSpPr/>
          <p:nvPr/>
        </p:nvSpPr>
        <p:spPr>
          <a:xfrm>
            <a:off x="5204085" y="4788822"/>
            <a:ext cx="2248524" cy="659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file(.</a:t>
            </a:r>
            <a:r>
              <a:rPr lang="en-US" dirty="0" err="1"/>
              <a:t>yaml</a:t>
            </a:r>
            <a:r>
              <a:rPr lang="en-US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6A5368-0554-44D7-821C-E17D4D8ADEC4}"/>
              </a:ext>
            </a:extLst>
          </p:cNvPr>
          <p:cNvCxnSpPr/>
          <p:nvPr/>
        </p:nvCxnSpPr>
        <p:spPr>
          <a:xfrm>
            <a:off x="3327816" y="4137284"/>
            <a:ext cx="1876269" cy="651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394D58-57EC-4305-9E36-25987363A9F2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327816" y="5118606"/>
            <a:ext cx="1876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8944CA-9D4D-4EAF-908F-A4A12B7EB47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327816" y="5359697"/>
            <a:ext cx="1876269" cy="740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47F368B-CD3C-4A31-B1FD-AA6285CC5D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DCA5F80-1833-442F-BD16-0F7E6E9436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51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FF1D-42AA-4121-A5B2-38EBBE527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453"/>
            <a:ext cx="7467600" cy="1143000"/>
          </a:xfrm>
        </p:spPr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ABBEB-5EB5-4BEC-8BA5-4507F9FA8F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828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docker run -d --name </a:t>
            </a:r>
            <a:r>
              <a:rPr lang="en-US" dirty="0" err="1"/>
              <a:t>mongodb</a:t>
            </a:r>
            <a:r>
              <a:rPr lang="en-US" dirty="0"/>
              <a:t> -p 27017:27017 </a:t>
            </a:r>
            <a:r>
              <a:rPr lang="en-US" dirty="0" err="1"/>
              <a:t>mongo:latest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Same as:-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644CD-7A54-4FDA-B48D-1B0999F7D433}"/>
              </a:ext>
            </a:extLst>
          </p:cNvPr>
          <p:cNvSpPr txBox="1"/>
          <p:nvPr/>
        </p:nvSpPr>
        <p:spPr>
          <a:xfrm>
            <a:off x="2345961" y="3503951"/>
            <a:ext cx="3102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services: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mongodb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image: </a:t>
            </a:r>
            <a:r>
              <a:rPr lang="en-US" dirty="0" err="1"/>
              <a:t>mongo:latest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ports: - "27017:27017"</a:t>
            </a:r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39DE676-93B2-4E22-8EB9-F277458B71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73928-9E3A-4829-9E57-E33C5C5584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5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A392-4168-4723-B06D-178DA02C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8BE2-D35E-47C3-A0BC-FEBD73E437D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Basic structure :-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container_name1:</a:t>
            </a:r>
          </a:p>
          <a:p>
            <a:pPr marL="0" indent="0">
              <a:buNone/>
            </a:pPr>
            <a:r>
              <a:rPr lang="en-US" dirty="0"/>
              <a:t>  image: </a:t>
            </a:r>
            <a:r>
              <a:rPr lang="en-US" dirty="0" err="1"/>
              <a:t>image_name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ports:</a:t>
            </a:r>
          </a:p>
          <a:p>
            <a:pPr marL="0" indent="0">
              <a:buNone/>
            </a:pPr>
            <a:r>
              <a:rPr lang="en-US" dirty="0"/>
              <a:t>   - 80:80</a:t>
            </a:r>
          </a:p>
          <a:p>
            <a:pPr marL="0" indent="0">
              <a:buNone/>
            </a:pPr>
            <a:r>
              <a:rPr lang="en-US" dirty="0"/>
              <a:t>   environment:</a:t>
            </a:r>
          </a:p>
          <a:p>
            <a:pPr marL="0" indent="0">
              <a:buNone/>
            </a:pPr>
            <a:r>
              <a:rPr lang="en-US" dirty="0"/>
              <a:t>    - username:</a:t>
            </a:r>
          </a:p>
          <a:p>
            <a:pPr marL="0" indent="0">
              <a:buNone/>
            </a:pPr>
            <a:r>
              <a:rPr lang="en-US" dirty="0"/>
              <a:t>   networks:</a:t>
            </a:r>
          </a:p>
          <a:p>
            <a:pPr marL="0" indent="0">
              <a:buNone/>
            </a:pPr>
            <a:r>
              <a:rPr lang="en-US" dirty="0"/>
              <a:t>    -</a:t>
            </a:r>
            <a:r>
              <a:rPr lang="en-US" dirty="0" err="1"/>
              <a:t>somenet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networks: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err="1"/>
              <a:t>somenet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DFECC-E957-47D8-BC3F-6423DBE1C7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B79DF-0FD7-4BE3-A0A7-5C1EB0F6AD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3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E99F-16F7-4D32-BD06-C5C7344D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DF5F-CFA2-4CB3-AF10-ABFB21452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start a compose file:-</a:t>
            </a:r>
          </a:p>
          <a:p>
            <a:pPr lvl="1"/>
            <a:r>
              <a:rPr lang="en-US" dirty="0"/>
              <a:t>docker-compose –f </a:t>
            </a:r>
            <a:r>
              <a:rPr lang="en-US" dirty="0" err="1"/>
              <a:t>file_name.yaml</a:t>
            </a:r>
            <a:r>
              <a:rPr lang="en-US" dirty="0"/>
              <a:t> up:-</a:t>
            </a:r>
          </a:p>
          <a:p>
            <a:pPr lvl="2"/>
            <a:r>
              <a:rPr lang="en-US" dirty="0"/>
              <a:t>This will start multiple container with all configuration settings and a default bridge network.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731520" lvl="2" indent="0">
              <a:buNone/>
            </a:pPr>
            <a:endParaRPr lang="en-US" dirty="0"/>
          </a:p>
          <a:p>
            <a:r>
              <a:rPr lang="en-US" dirty="0"/>
              <a:t>To stop a compose file:-</a:t>
            </a:r>
          </a:p>
          <a:p>
            <a:pPr lvl="1"/>
            <a:r>
              <a:rPr lang="en-US" dirty="0"/>
              <a:t>docker-compose –f </a:t>
            </a:r>
            <a:r>
              <a:rPr lang="en-US" dirty="0" err="1"/>
              <a:t>file_name.yaml</a:t>
            </a:r>
            <a:r>
              <a:rPr lang="en-US" dirty="0"/>
              <a:t> down:-</a:t>
            </a:r>
          </a:p>
          <a:p>
            <a:pPr lvl="2"/>
            <a:r>
              <a:rPr lang="en-US" dirty="0"/>
              <a:t>This will remove all the containers and along with the network.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830A-528A-45C8-A25C-252448E46A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37AC8-5216-4A2B-A324-BF4035DF2BC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13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6426-931E-4FE3-A54C-37361FE48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ElK</a:t>
            </a:r>
            <a:r>
              <a:rPr lang="en-US" dirty="0"/>
              <a:t>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5BA1-6DBB-4DD8-9EF1-041A0F078A0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entury Schoolbook (Body)"/>
              </a:rPr>
              <a:t>Elasticsearch is a distributed, RESTful search and analytics engine capable of solving a growing number of use cases. </a:t>
            </a:r>
          </a:p>
          <a:p>
            <a:pPr>
              <a:lnSpc>
                <a:spcPct val="200000"/>
              </a:lnSpc>
            </a:pPr>
            <a:endParaRPr lang="en-US" sz="1600" dirty="0">
              <a:solidFill>
                <a:srgbClr val="000000"/>
              </a:solidFill>
              <a:latin typeface="Century Schoolbook (Body)"/>
            </a:endParaRPr>
          </a:p>
          <a:p>
            <a:pPr>
              <a:lnSpc>
                <a:spcPct val="20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entury Schoolbook (Body)"/>
              </a:rPr>
              <a:t>Logstash is an open source data collection engine with real-time pipelining capabilities. Logstash can dynamically unify data from disparate sources and normalize the data into destinations of your choice.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Century Schoolbook (Body)"/>
            </a:endParaRPr>
          </a:p>
          <a:p>
            <a:pPr>
              <a:lnSpc>
                <a:spcPct val="20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entury Schoolbook (Body)"/>
              </a:rPr>
              <a:t>Kibana is an open source analytics and visualization platform designed to work with Elasticsearch.</a:t>
            </a:r>
            <a:endParaRPr lang="en-US" sz="1600" dirty="0">
              <a:latin typeface="Century Schoolbook (Body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AD9CF-2D76-47CA-9680-CD7EE947BB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16277-6AD6-4715-B3A0-22C5215FAD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09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3D4B-527D-4858-B8C6-36274FB1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748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ElK</a:t>
            </a:r>
            <a:r>
              <a:rPr lang="en-US" dirty="0"/>
              <a:t>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D86B0-E96A-4B98-A410-D4B9E0E55A1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749508"/>
            <a:ext cx="7467600" cy="4748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Docker compose file for elk: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20441-32D6-4764-9B0B-7143CC4867FD}"/>
              </a:ext>
            </a:extLst>
          </p:cNvPr>
          <p:cNvSpPr txBox="1"/>
          <p:nvPr/>
        </p:nvSpPr>
        <p:spPr>
          <a:xfrm>
            <a:off x="614597" y="1558977"/>
            <a:ext cx="395740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services:</a:t>
            </a:r>
          </a:p>
          <a:p>
            <a:r>
              <a:rPr lang="en-US" dirty="0"/>
              <a:t> </a:t>
            </a:r>
            <a:r>
              <a:rPr lang="en-US" dirty="0" err="1"/>
              <a:t>elasticsearch</a:t>
            </a:r>
            <a:r>
              <a:rPr lang="en-US" dirty="0"/>
              <a:t>:</a:t>
            </a:r>
          </a:p>
          <a:p>
            <a:r>
              <a:rPr lang="en-US" dirty="0"/>
              <a:t>  image: elasticsearch:9.3.2</a:t>
            </a:r>
          </a:p>
          <a:p>
            <a:r>
              <a:rPr lang="en-US" dirty="0"/>
              <a:t>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elasticsearch</a:t>
            </a:r>
            <a:endParaRPr lang="en-US" dirty="0"/>
          </a:p>
          <a:p>
            <a:r>
              <a:rPr lang="en-US" dirty="0"/>
              <a:t>  restart: always</a:t>
            </a:r>
          </a:p>
          <a:p>
            <a:r>
              <a:rPr lang="en-US" dirty="0"/>
              <a:t>  ports:</a:t>
            </a:r>
          </a:p>
          <a:p>
            <a:r>
              <a:rPr lang="en-US" dirty="0"/>
              <a:t>   - "9200:9200"</a:t>
            </a:r>
          </a:p>
          <a:p>
            <a:r>
              <a:rPr lang="en-US" dirty="0"/>
              <a:t>   - "9300:9300"</a:t>
            </a:r>
          </a:p>
          <a:p>
            <a:r>
              <a:rPr lang="en-US" dirty="0"/>
              <a:t>  environment:</a:t>
            </a:r>
          </a:p>
          <a:p>
            <a:r>
              <a:rPr lang="en-US" dirty="0"/>
              <a:t>   - </a:t>
            </a:r>
            <a:r>
              <a:rPr lang="en-US" dirty="0" err="1"/>
              <a:t>discovery.type</a:t>
            </a:r>
            <a:r>
              <a:rPr lang="en-US" dirty="0"/>
              <a:t>=single-node</a:t>
            </a:r>
          </a:p>
          <a:p>
            <a:r>
              <a:rPr lang="en-US" dirty="0"/>
              <a:t>   - ES_JAVA_OPTS=-Xms512m -Xmx512m</a:t>
            </a:r>
          </a:p>
          <a:p>
            <a:r>
              <a:rPr lang="en-US" dirty="0"/>
              <a:t>  networks:</a:t>
            </a:r>
          </a:p>
          <a:p>
            <a:r>
              <a:rPr lang="en-US" dirty="0"/>
              <a:t>   - elk</a:t>
            </a:r>
          </a:p>
          <a:p>
            <a:r>
              <a:rPr lang="en-US" dirty="0"/>
              <a:t> </a:t>
            </a:r>
            <a:r>
              <a:rPr lang="en-US" dirty="0" err="1"/>
              <a:t>kibana</a:t>
            </a:r>
            <a:r>
              <a:rPr lang="en-US" dirty="0"/>
              <a:t>:</a:t>
            </a:r>
          </a:p>
          <a:p>
            <a:r>
              <a:rPr lang="en-US" dirty="0"/>
              <a:t>  image: kibana:9.3.2</a:t>
            </a:r>
          </a:p>
          <a:p>
            <a:r>
              <a:rPr lang="en-US" dirty="0"/>
              <a:t>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kibana</a:t>
            </a:r>
            <a:endParaRPr lang="en-US" dirty="0"/>
          </a:p>
          <a:p>
            <a:r>
              <a:rPr lang="en-US" dirty="0"/>
              <a:t>  restart: always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A537F-1CBE-4FE7-8367-59B15156FA26}"/>
              </a:ext>
            </a:extLst>
          </p:cNvPr>
          <p:cNvSpPr txBox="1"/>
          <p:nvPr/>
        </p:nvSpPr>
        <p:spPr>
          <a:xfrm>
            <a:off x="4572000" y="162663"/>
            <a:ext cx="39574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ports:</a:t>
            </a:r>
          </a:p>
          <a:p>
            <a:r>
              <a:rPr lang="en-US" dirty="0"/>
              <a:t>   - "5601:5601"</a:t>
            </a:r>
          </a:p>
          <a:p>
            <a:r>
              <a:rPr lang="en-US" dirty="0"/>
              <a:t>  environment:</a:t>
            </a:r>
          </a:p>
          <a:p>
            <a:r>
              <a:rPr lang="en-US" dirty="0"/>
              <a:t>   - ELASTICSEARCH_HOSTS=http://elasticsearch:9200</a:t>
            </a:r>
          </a:p>
          <a:p>
            <a:r>
              <a:rPr lang="en-US" dirty="0"/>
              <a:t>  </a:t>
            </a:r>
            <a:r>
              <a:rPr lang="en-US" dirty="0" err="1"/>
              <a:t>depends_on</a:t>
            </a:r>
            <a:r>
              <a:rPr lang="en-US" dirty="0"/>
              <a:t>:</a:t>
            </a:r>
          </a:p>
          <a:p>
            <a:r>
              <a:rPr lang="en-US" dirty="0"/>
              <a:t>   </a:t>
            </a:r>
            <a:r>
              <a:rPr lang="en-US" dirty="0" err="1"/>
              <a:t>elasticsearch</a:t>
            </a:r>
            <a:r>
              <a:rPr lang="en-US" dirty="0"/>
              <a:t>:</a:t>
            </a:r>
          </a:p>
          <a:p>
            <a:r>
              <a:rPr lang="en-US" dirty="0"/>
              <a:t>    condition: </a:t>
            </a:r>
            <a:r>
              <a:rPr lang="en-US" dirty="0" err="1"/>
              <a:t>service_started</a:t>
            </a:r>
            <a:endParaRPr lang="en-US" dirty="0"/>
          </a:p>
          <a:p>
            <a:r>
              <a:rPr lang="en-US" dirty="0"/>
              <a:t>  networks:</a:t>
            </a:r>
          </a:p>
          <a:p>
            <a:r>
              <a:rPr lang="en-US" dirty="0"/>
              <a:t>   - elk</a:t>
            </a:r>
          </a:p>
          <a:p>
            <a:r>
              <a:rPr lang="en-US" dirty="0"/>
              <a:t> </a:t>
            </a:r>
            <a:r>
              <a:rPr lang="en-US" dirty="0" err="1"/>
              <a:t>logstash</a:t>
            </a:r>
            <a:r>
              <a:rPr lang="en-US" dirty="0"/>
              <a:t>:</a:t>
            </a:r>
          </a:p>
          <a:p>
            <a:r>
              <a:rPr lang="en-US" dirty="0"/>
              <a:t>  image: logstash:9.3.2</a:t>
            </a:r>
          </a:p>
          <a:p>
            <a:r>
              <a:rPr lang="en-US" dirty="0"/>
              <a:t>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logstash</a:t>
            </a:r>
            <a:endParaRPr lang="en-US" dirty="0"/>
          </a:p>
          <a:p>
            <a:r>
              <a:rPr lang="en-US" dirty="0"/>
              <a:t>  restart: always</a:t>
            </a:r>
          </a:p>
          <a:p>
            <a:r>
              <a:rPr lang="en-US" dirty="0"/>
              <a:t>  ports:</a:t>
            </a:r>
          </a:p>
          <a:p>
            <a:r>
              <a:rPr lang="en-US" dirty="0"/>
              <a:t>   - "5000:5000"</a:t>
            </a:r>
          </a:p>
          <a:p>
            <a:r>
              <a:rPr lang="en-US" dirty="0"/>
              <a:t>  </a:t>
            </a:r>
            <a:r>
              <a:rPr lang="en-US" dirty="0" err="1"/>
              <a:t>depends_on</a:t>
            </a:r>
            <a:r>
              <a:rPr lang="en-US" dirty="0"/>
              <a:t>:</a:t>
            </a:r>
          </a:p>
          <a:p>
            <a:r>
              <a:rPr lang="en-US" dirty="0"/>
              <a:t>   - </a:t>
            </a:r>
            <a:r>
              <a:rPr lang="en-US" dirty="0" err="1"/>
              <a:t>elasticsearch</a:t>
            </a:r>
            <a:endParaRPr lang="en-US" dirty="0"/>
          </a:p>
          <a:p>
            <a:r>
              <a:rPr lang="en-US" dirty="0"/>
              <a:t>  networks:</a:t>
            </a:r>
          </a:p>
          <a:p>
            <a:r>
              <a:rPr lang="en-US" dirty="0"/>
              <a:t>   - elk</a:t>
            </a:r>
          </a:p>
          <a:p>
            <a:r>
              <a:rPr lang="en-US" dirty="0"/>
              <a:t>networks:</a:t>
            </a:r>
          </a:p>
          <a:p>
            <a:r>
              <a:rPr lang="en-US" dirty="0"/>
              <a:t> elk:</a:t>
            </a:r>
          </a:p>
          <a:p>
            <a:r>
              <a:rPr lang="en-US" dirty="0"/>
              <a:t>  driver: bridge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FB6E2E-92FE-491A-A374-9F9BA254DB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7FD9-07E7-45C8-B86F-822328977C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54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BEA0-1AA6-4170-8127-AC14526C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ElK</a:t>
            </a:r>
            <a:r>
              <a:rPr lang="en-US" dirty="0"/>
              <a:t> Compose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24BD1-DA6B-4D07-AFD0-5BEDDE01182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598563"/>
            <a:ext cx="7467600" cy="12645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F34CA-D91B-40F5-9066-1A59B855430D}"/>
              </a:ext>
            </a:extLst>
          </p:cNvPr>
          <p:cNvSpPr txBox="1"/>
          <p:nvPr/>
        </p:nvSpPr>
        <p:spPr>
          <a:xfrm>
            <a:off x="3195402" y="4697463"/>
            <a:ext cx="314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Containers after starting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9C5264-9B43-465C-93DB-7E02B7BA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3" y="3531007"/>
            <a:ext cx="8424472" cy="1172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840C22-D4A5-419A-845D-07EEC05EEFAC}"/>
              </a:ext>
            </a:extLst>
          </p:cNvPr>
          <p:cNvSpPr txBox="1"/>
          <p:nvPr/>
        </p:nvSpPr>
        <p:spPr>
          <a:xfrm>
            <a:off x="3195402" y="3161675"/>
            <a:ext cx="314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Running docker compose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44B482-AB3D-48FC-8DB4-975B3D57C4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CB3A06-6200-4F82-BB7D-35B5D7D4E9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4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4FCF-E92A-4271-8170-CD473715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ElK</a:t>
            </a:r>
            <a:r>
              <a:rPr lang="en-US" dirty="0"/>
              <a:t> Compose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41ED9E-BF71-4070-B2C6-C001AA37C1B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76965" y="1417638"/>
            <a:ext cx="5429250" cy="33630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9A593-BB47-478F-94E9-4368C7439918}"/>
              </a:ext>
            </a:extLst>
          </p:cNvPr>
          <p:cNvSpPr txBox="1"/>
          <p:nvPr/>
        </p:nvSpPr>
        <p:spPr>
          <a:xfrm>
            <a:off x="1888761" y="5171607"/>
            <a:ext cx="286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for elastic search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FC853-76D8-40AE-8486-31EA3C034F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D00961-AA74-48DF-9059-745B0E2CAD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81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64E2-9078-48D2-A4B7-4D8C2AD6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ElK</a:t>
            </a:r>
            <a:r>
              <a:rPr lang="en-US" dirty="0"/>
              <a:t> Compose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928F9F-4893-4F02-96EA-0DCB580F15C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5598826" cy="28035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805479-940C-4FD1-BC96-6F0871349CBD}"/>
              </a:ext>
            </a:extLst>
          </p:cNvPr>
          <p:cNvSpPr txBox="1"/>
          <p:nvPr/>
        </p:nvSpPr>
        <p:spPr>
          <a:xfrm>
            <a:off x="2908092" y="4527030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for </a:t>
            </a:r>
            <a:r>
              <a:rPr lang="en-US" dirty="0" err="1"/>
              <a:t>kibana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D5EDB-CC77-4FA7-8C95-DC0C42F03B3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E72323-6840-40AC-B27C-309CBA6F94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76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3C17-C5C1-444D-AA26-F0021DA15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42" y="2857500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A3888-B67D-4385-B48C-5942371FF2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28-Mar-26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35CDA-B79B-44EB-B960-3AD6755AA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0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103</TotalTime>
  <Words>1194</Words>
  <Application>Microsoft Office PowerPoint</Application>
  <PresentationFormat>On-screen Show (4:3)</PresentationFormat>
  <Paragraphs>269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Rounded MT Bold</vt:lpstr>
      <vt:lpstr>Calibri</vt:lpstr>
      <vt:lpstr>Century Schoolbook</vt:lpstr>
      <vt:lpstr>Century Schoolbook (Body)</vt:lpstr>
      <vt:lpstr>Wingdings</vt:lpstr>
      <vt:lpstr>Wingdings 2</vt:lpstr>
      <vt:lpstr>Oriel</vt:lpstr>
      <vt:lpstr>Docker</vt:lpstr>
      <vt:lpstr>What is Docker?</vt:lpstr>
      <vt:lpstr>Why Docker(problem statement)?</vt:lpstr>
      <vt:lpstr>What is Docker Image?</vt:lpstr>
      <vt:lpstr>What is Docker Container?</vt:lpstr>
      <vt:lpstr>Image vs Container(Confused question)</vt:lpstr>
      <vt:lpstr>Docker vs VM</vt:lpstr>
      <vt:lpstr>Docker Volumes</vt:lpstr>
      <vt:lpstr>Types of Volumes</vt:lpstr>
      <vt:lpstr>Dockerfile</vt:lpstr>
      <vt:lpstr>Dockerfile Example</vt:lpstr>
      <vt:lpstr>Basic Commands of Docker</vt:lpstr>
      <vt:lpstr>Basic Commands of Docker</vt:lpstr>
      <vt:lpstr>Basic Commands of Docker</vt:lpstr>
      <vt:lpstr>Docker Network</vt:lpstr>
      <vt:lpstr>Docker Network</vt:lpstr>
      <vt:lpstr>Docker Network</vt:lpstr>
      <vt:lpstr>Docker Compose</vt:lpstr>
      <vt:lpstr>Docker compose</vt:lpstr>
      <vt:lpstr>Docker compose</vt:lpstr>
      <vt:lpstr>Docker compose</vt:lpstr>
      <vt:lpstr>ElK compose</vt:lpstr>
      <vt:lpstr>ElK Compose</vt:lpstr>
      <vt:lpstr>ElK Compose</vt:lpstr>
      <vt:lpstr>ElK Compose</vt:lpstr>
      <vt:lpstr>ElK Compose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Docker?</dc:title>
  <dc:subject/>
  <dc:creator>Rahul Biswas</dc:creator>
  <cp:keywords/>
  <dc:description>generated using python-pptx</dc:description>
  <cp:lastModifiedBy>Rahul Biswas</cp:lastModifiedBy>
  <cp:revision>16</cp:revision>
  <dcterms:created xsi:type="dcterms:W3CDTF">2013-01-27T09:14:16Z</dcterms:created>
  <dcterms:modified xsi:type="dcterms:W3CDTF">2026-03-28T05:16:51Z</dcterms:modified>
  <cp:category/>
</cp:coreProperties>
</file>