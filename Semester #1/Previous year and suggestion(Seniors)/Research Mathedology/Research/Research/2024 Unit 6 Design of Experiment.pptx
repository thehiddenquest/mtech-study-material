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303" r:id="rId2"/>
    <p:sldId id="257" r:id="rId3"/>
    <p:sldId id="259" r:id="rId4"/>
    <p:sldId id="312" r:id="rId5"/>
    <p:sldId id="289" r:id="rId6"/>
    <p:sldId id="313" r:id="rId7"/>
    <p:sldId id="302" r:id="rId8"/>
    <p:sldId id="326" r:id="rId9"/>
    <p:sldId id="304" r:id="rId10"/>
    <p:sldId id="305" r:id="rId11"/>
    <p:sldId id="306" r:id="rId12"/>
    <p:sldId id="314" r:id="rId13"/>
    <p:sldId id="324" r:id="rId14"/>
    <p:sldId id="315" r:id="rId15"/>
    <p:sldId id="316" r:id="rId16"/>
    <p:sldId id="317" r:id="rId17"/>
    <p:sldId id="318" r:id="rId18"/>
    <p:sldId id="319" r:id="rId19"/>
    <p:sldId id="262" r:id="rId20"/>
    <p:sldId id="325" r:id="rId21"/>
    <p:sldId id="320" r:id="rId22"/>
    <p:sldId id="321" r:id="rId23"/>
    <p:sldId id="322" r:id="rId24"/>
    <p:sldId id="290" r:id="rId25"/>
    <p:sldId id="291" r:id="rId26"/>
    <p:sldId id="292" r:id="rId27"/>
    <p:sldId id="293" r:id="rId28"/>
    <p:sldId id="294" r:id="rId29"/>
    <p:sldId id="295" r:id="rId30"/>
    <p:sldId id="296" r:id="rId31"/>
    <p:sldId id="297" r:id="rId32"/>
    <p:sldId id="298" r:id="rId33"/>
    <p:sldId id="299" r:id="rId34"/>
    <p:sldId id="300" r:id="rId35"/>
    <p:sldId id="309"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3333CC"/>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7" d="100"/>
          <a:sy n="77" d="100"/>
        </p:scale>
        <p:origin x="-708"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CF941F-BD98-4136-9E67-6C9B13572995}" type="datetimeFigureOut">
              <a:rPr lang="en-US" smtClean="0"/>
              <a:pPr/>
              <a:t>12/27/2023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7B118A-E9F2-4E0D-B4B4-4433C1EF995A}"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p:spPr>
        <p:txBody>
          <a:bodyPr/>
          <a:lstStyle/>
          <a:p>
            <a:endParaRPr lang="en-US" smtClean="0"/>
          </a:p>
        </p:txBody>
      </p:sp>
      <p:sp>
        <p:nvSpPr>
          <p:cNvPr id="44035" name="Rectangle 3"/>
          <p:cNvSpPr>
            <a:spLocks noGrp="1" noRot="1" noChangeAspect="1"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p>
            <a:fld id="{96F7CCD8-3F22-4A8D-B335-EAEFA04C1146}" type="slidenum">
              <a:rPr lang="fr-FR" smtClean="0"/>
              <a:pPr/>
              <a:t>5</a:t>
            </a:fld>
            <a:endParaRPr lang="fr-FR" smtClean="0"/>
          </a:p>
        </p:txBody>
      </p:sp>
      <p:sp>
        <p:nvSpPr>
          <p:cNvPr id="214019" name="Rectangle 1026"/>
          <p:cNvSpPr>
            <a:spLocks noChangeArrowheads="1"/>
          </p:cNvSpPr>
          <p:nvPr/>
        </p:nvSpPr>
        <p:spPr bwMode="auto">
          <a:xfrm>
            <a:off x="3884613" y="7808"/>
            <a:ext cx="2973387" cy="429405"/>
          </a:xfrm>
          <a:prstGeom prst="rect">
            <a:avLst/>
          </a:prstGeom>
          <a:noFill/>
          <a:ln w="9525">
            <a:noFill/>
            <a:miter lim="800000"/>
            <a:headEnd/>
            <a:tailEnd/>
          </a:ln>
        </p:spPr>
        <p:txBody>
          <a:bodyPr wrap="none" anchor="ctr"/>
          <a:lstStyle/>
          <a:p>
            <a:endParaRPr lang="nl-NL"/>
          </a:p>
        </p:txBody>
      </p:sp>
      <p:sp>
        <p:nvSpPr>
          <p:cNvPr id="214020" name="Rectangle 1027"/>
          <p:cNvSpPr>
            <a:spLocks noChangeArrowheads="1"/>
          </p:cNvSpPr>
          <p:nvPr/>
        </p:nvSpPr>
        <p:spPr bwMode="auto">
          <a:xfrm>
            <a:off x="3884613" y="8703665"/>
            <a:ext cx="2973387" cy="429406"/>
          </a:xfrm>
          <a:prstGeom prst="rect">
            <a:avLst/>
          </a:prstGeom>
          <a:noFill/>
          <a:ln w="9525">
            <a:noFill/>
            <a:miter lim="800000"/>
            <a:headEnd/>
            <a:tailEnd/>
          </a:ln>
        </p:spPr>
        <p:txBody>
          <a:bodyPr lIns="19050" tIns="0" rIns="19050" bIns="0" anchor="b"/>
          <a:lstStyle/>
          <a:p>
            <a:pPr algn="r" defTabSz="762000"/>
            <a:r>
              <a:rPr lang="fr-FR" sz="1000" i="1"/>
              <a:t>7</a:t>
            </a:r>
          </a:p>
        </p:txBody>
      </p:sp>
      <p:sp>
        <p:nvSpPr>
          <p:cNvPr id="214021" name="Rectangle 1028"/>
          <p:cNvSpPr>
            <a:spLocks noChangeArrowheads="1"/>
          </p:cNvSpPr>
          <p:nvPr/>
        </p:nvSpPr>
        <p:spPr bwMode="auto">
          <a:xfrm>
            <a:off x="0" y="8703665"/>
            <a:ext cx="2971800" cy="429406"/>
          </a:xfrm>
          <a:prstGeom prst="rect">
            <a:avLst/>
          </a:prstGeom>
          <a:noFill/>
          <a:ln w="9525">
            <a:noFill/>
            <a:miter lim="800000"/>
            <a:headEnd/>
            <a:tailEnd/>
          </a:ln>
        </p:spPr>
        <p:txBody>
          <a:bodyPr wrap="none" anchor="ctr"/>
          <a:lstStyle/>
          <a:p>
            <a:endParaRPr lang="nl-NL"/>
          </a:p>
        </p:txBody>
      </p:sp>
      <p:sp>
        <p:nvSpPr>
          <p:cNvPr id="214022" name="Rectangle 1029"/>
          <p:cNvSpPr>
            <a:spLocks noChangeArrowheads="1"/>
          </p:cNvSpPr>
          <p:nvPr/>
        </p:nvSpPr>
        <p:spPr bwMode="auto">
          <a:xfrm>
            <a:off x="0" y="7808"/>
            <a:ext cx="2971800" cy="429405"/>
          </a:xfrm>
          <a:prstGeom prst="rect">
            <a:avLst/>
          </a:prstGeom>
          <a:noFill/>
          <a:ln w="9525">
            <a:noFill/>
            <a:miter lim="800000"/>
            <a:headEnd/>
            <a:tailEnd/>
          </a:ln>
        </p:spPr>
        <p:txBody>
          <a:bodyPr wrap="none" anchor="ctr"/>
          <a:lstStyle/>
          <a:p>
            <a:endParaRPr lang="nl-NL"/>
          </a:p>
        </p:txBody>
      </p:sp>
      <p:sp>
        <p:nvSpPr>
          <p:cNvPr id="214023" name="Rectangle 1030"/>
          <p:cNvSpPr>
            <a:spLocks noGrp="1" noRot="1" noChangeAspect="1" noChangeArrowheads="1" noTextEdit="1"/>
          </p:cNvSpPr>
          <p:nvPr>
            <p:ph type="sldImg"/>
          </p:nvPr>
        </p:nvSpPr>
        <p:spPr>
          <a:xfrm>
            <a:off x="1298575" y="801688"/>
            <a:ext cx="4260850" cy="3195637"/>
          </a:xfrm>
          <a:ln w="12700" cap="flat">
            <a:solidFill>
              <a:schemeClr val="tx1"/>
            </a:solidFill>
          </a:ln>
        </p:spPr>
      </p:sp>
      <p:sp>
        <p:nvSpPr>
          <p:cNvPr id="214024" name="Rectangle 1031"/>
          <p:cNvSpPr>
            <a:spLocks noGrp="1" noChangeArrowheads="1"/>
          </p:cNvSpPr>
          <p:nvPr>
            <p:ph type="body" idx="1"/>
          </p:nvPr>
        </p:nvSpPr>
        <p:spPr>
          <a:xfrm>
            <a:off x="914401" y="4359639"/>
            <a:ext cx="5027613" cy="3866213"/>
          </a:xfrm>
          <a:noFill/>
          <a:ln/>
        </p:spPr>
        <p:txBody>
          <a:bodyPr lIns="90488" tIns="44450" rIns="90488" bIns="44450"/>
          <a:lstStyle/>
          <a:p>
            <a:pPr eaLnBrk="1" hangingPunct="1"/>
            <a:endParaRPr lang="fr-F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noFill/>
          <a:ln/>
        </p:spPr>
        <p:txBody>
          <a:bodyPr/>
          <a:lstStyle/>
          <a:p>
            <a:endParaRPr lang="en-US" smtClean="0"/>
          </a:p>
        </p:txBody>
      </p:sp>
      <p:sp>
        <p:nvSpPr>
          <p:cNvPr id="45059" name="Rectangle 3"/>
          <p:cNvSpPr>
            <a:spLocks noGrp="1" noRot="1" noChangeAspect="1" noChangeArrowheads="1" noTextEdit="1"/>
          </p:cNvSpPr>
          <p:nvPr>
            <p:ph type="sldImg"/>
          </p:nvPr>
        </p:nvSpPr>
        <p:spPr>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p:spPr>
        <p:txBody>
          <a:bodyPr/>
          <a:lstStyle/>
          <a:p>
            <a:pPr>
              <a:spcBef>
                <a:spcPct val="0"/>
              </a:spcBef>
            </a:pPr>
            <a:endParaRPr lang="en-US" smtClean="0"/>
          </a:p>
        </p:txBody>
      </p:sp>
      <p:sp>
        <p:nvSpPr>
          <p:cNvPr id="46084" name="Slide Number Placeholder 3"/>
          <p:cNvSpPr>
            <a:spLocks noGrp="1"/>
          </p:cNvSpPr>
          <p:nvPr>
            <p:ph type="sldNum" sz="quarter" idx="5"/>
          </p:nvPr>
        </p:nvSpPr>
        <p:spPr>
          <a:noFill/>
        </p:spPr>
        <p:txBody>
          <a:bodyPr/>
          <a:lstStyle/>
          <a:p>
            <a:pPr defTabSz="912545"/>
            <a:fld id="{A21884A6-8077-4F4A-A48C-52FA8FA106CB}" type="slidenum">
              <a:rPr lang="en-US" smtClean="0">
                <a:latin typeface="Tahoma" pitchFamily="34" charset="0"/>
              </a:rPr>
              <a:pPr defTabSz="912545"/>
              <a:t>30</a:t>
            </a:fld>
            <a:endParaRPr lang="en-US" dirty="0" smtClean="0">
              <a:latin typeface="Tahoma"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Prof. A. K. Datta  University of Calcutta</a:t>
            </a:r>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Prof. A. K. Datta  University of Calcutta</a:t>
            </a:r>
            <a:endParaRPr lang="en-US"/>
          </a:p>
        </p:txBody>
      </p:sp>
      <p:sp>
        <p:nvSpPr>
          <p:cNvPr id="8" name="Footer Placeholder 7"/>
          <p:cNvSpPr>
            <a:spLocks noGrp="1"/>
          </p:cNvSpPr>
          <p:nvPr>
            <p:ph type="ftr" sz="quarter" idx="11"/>
          </p:nvPr>
        </p:nvSpPr>
        <p:spPr/>
        <p:txBody>
          <a:bodyPr/>
          <a:lstStyle/>
          <a:p>
            <a:r>
              <a:rPr lang="en-IN" smtClean="0"/>
              <a:t>Ph.D. Course work on Research Methodology</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Prof. A. K. Datta  University of Calcutta</a:t>
            </a:r>
            <a:endParaRPr lang="en-US"/>
          </a:p>
        </p:txBody>
      </p:sp>
      <p:sp>
        <p:nvSpPr>
          <p:cNvPr id="4" name="Footer Placeholder 3"/>
          <p:cNvSpPr>
            <a:spLocks noGrp="1"/>
          </p:cNvSpPr>
          <p:nvPr>
            <p:ph type="ftr" sz="quarter" idx="11"/>
          </p:nvPr>
        </p:nvSpPr>
        <p:spPr/>
        <p:txBody>
          <a:bodyPr/>
          <a:lstStyle/>
          <a:p>
            <a:r>
              <a:rPr lang="en-IN"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Prof. A. K. Datta  University of Calcutta</a:t>
            </a:r>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Prof. A. K. Datta  University of Calcutta</a:t>
            </a:r>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838200"/>
            <a:ext cx="8058150" cy="540067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AutoShape 7"/>
          <p:cNvSpPr>
            <a:spLocks noChangeArrowheads="1"/>
          </p:cNvSpPr>
          <p:nvPr userDrawn="1"/>
        </p:nvSpPr>
        <p:spPr bwMode="auto">
          <a:xfrm rot="5400000">
            <a:off x="0" y="0"/>
            <a:ext cx="914400" cy="914400"/>
          </a:xfrm>
          <a:prstGeom prst="rtTriangle">
            <a:avLst/>
          </a:prstGeom>
          <a:solidFill>
            <a:srgbClr val="3333CC"/>
          </a:solidFill>
          <a:ln w="9525">
            <a:solidFill>
              <a:srgbClr val="000000"/>
            </a:solidFill>
            <a:miter lim="800000"/>
            <a:headEnd/>
            <a:tailEnd/>
          </a:ln>
          <a:effectLst>
            <a:outerShdw dist="107763" dir="2700000" algn="ctr" rotWithShape="0">
              <a:srgbClr val="808080">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a:ln>
                <a:noFill/>
              </a:ln>
              <a:solidFill>
                <a:sysClr val="windowText" lastClr="000000"/>
              </a:solidFill>
              <a:effectLst/>
              <a:uLnTx/>
              <a:uFillTx/>
            </a:endParaRPr>
          </a:p>
        </p:txBody>
      </p:sp>
      <p:cxnSp>
        <p:nvCxnSpPr>
          <p:cNvPr id="8" name="Straight Connector 7"/>
          <p:cNvCxnSpPr/>
          <p:nvPr userDrawn="1"/>
        </p:nvCxnSpPr>
        <p:spPr bwMode="auto">
          <a:xfrm>
            <a:off x="533400" y="609600"/>
            <a:ext cx="8610600" cy="1588"/>
          </a:xfrm>
          <a:prstGeom prst="line">
            <a:avLst/>
          </a:prstGeom>
          <a:solidFill>
            <a:schemeClr val="accent1"/>
          </a:solidFill>
          <a:ln w="28575" cap="flat" cmpd="sng" algn="ctr">
            <a:solidFill>
              <a:srgbClr val="3333CC"/>
            </a:solidFill>
            <a:prstDash val="solid"/>
            <a:round/>
            <a:headEnd type="none" w="med" len="med"/>
            <a:tailEnd type="none" w="med" len="med"/>
          </a:ln>
          <a:effectLst/>
        </p:spPr>
      </p:cxnSp>
      <p:cxnSp>
        <p:nvCxnSpPr>
          <p:cNvPr id="9" name="Straight Connector 8"/>
          <p:cNvCxnSpPr/>
          <p:nvPr userDrawn="1"/>
        </p:nvCxnSpPr>
        <p:spPr bwMode="auto">
          <a:xfrm>
            <a:off x="533400" y="533400"/>
            <a:ext cx="8610600" cy="1588"/>
          </a:xfrm>
          <a:prstGeom prst="line">
            <a:avLst/>
          </a:prstGeom>
          <a:solidFill>
            <a:schemeClr val="accent1"/>
          </a:solidFill>
          <a:ln w="28575" cap="flat" cmpd="sng" algn="ctr">
            <a:solidFill>
              <a:srgbClr val="3333CC"/>
            </a:solidFill>
            <a:prstDash val="solid"/>
            <a:round/>
            <a:headEnd type="none" w="med" len="med"/>
            <a:tailEnd type="none" w="med" len="med"/>
          </a:ln>
          <a:effectLst/>
        </p:spPr>
      </p:cxnSp>
      <p:sp>
        <p:nvSpPr>
          <p:cNvPr id="10" name="Rectangle 9"/>
          <p:cNvSpPr/>
          <p:nvPr userDrawn="1"/>
        </p:nvSpPr>
        <p:spPr bwMode="auto">
          <a:xfrm>
            <a:off x="0" y="6553200"/>
            <a:ext cx="9144000" cy="304800"/>
          </a:xfrm>
          <a:prstGeom prst="rect">
            <a:avLst/>
          </a:prstGeom>
          <a:solidFill>
            <a:srgbClr val="3333CC"/>
          </a:solidFill>
          <a:ln w="9525" cap="flat" cmpd="sng" algn="ctr">
            <a:solidFill>
              <a:schemeClr val="tx1"/>
            </a:solidFill>
            <a:prstDash val="solid"/>
            <a:round/>
            <a:headEnd type="none" w="med" len="med"/>
            <a:tailEnd type="none" w="med" len="med"/>
          </a:ln>
          <a:effectLst>
            <a:outerShdw blurRad="50800" dist="38100" dir="18900000" algn="bl" rotWithShape="0">
              <a:prstClr val="black">
                <a:alpha val="40000"/>
              </a:prstClr>
            </a:outerShdw>
          </a:effectLst>
          <a:scene3d>
            <a:camera prst="orthographicFront"/>
            <a:lightRig rig="threePt" dir="t"/>
          </a:scene3d>
          <a:sp3d>
            <a:bevelT w="101600" prst="riblet"/>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smtClean="0">
              <a:ln>
                <a:noFill/>
              </a:ln>
              <a:solidFill>
                <a:schemeClr val="tx1"/>
              </a:solidFill>
              <a:effectLst/>
              <a:latin typeface="Arial" charset="0"/>
            </a:endParaRPr>
          </a:p>
        </p:txBody>
      </p:sp>
      <p:sp>
        <p:nvSpPr>
          <p:cNvPr id="4" name="Date Placeholder 3"/>
          <p:cNvSpPr>
            <a:spLocks noGrp="1"/>
          </p:cNvSpPr>
          <p:nvPr>
            <p:ph type="dt" sz="half" idx="2"/>
          </p:nvPr>
        </p:nvSpPr>
        <p:spPr>
          <a:xfrm>
            <a:off x="381000" y="6492875"/>
            <a:ext cx="2895600" cy="365125"/>
          </a:xfrm>
          <a:prstGeom prst="rect">
            <a:avLst/>
          </a:prstGeom>
        </p:spPr>
        <p:txBody>
          <a:bodyPr vert="horz" lIns="91440" tIns="45720" rIns="91440" bIns="45720" rtlCol="0" anchor="ctr"/>
          <a:lstStyle>
            <a:lvl1pPr algn="l">
              <a:defRPr sz="1200">
                <a:solidFill>
                  <a:schemeClr val="bg1"/>
                </a:solidFill>
              </a:defRPr>
            </a:lvl1pPr>
          </a:lstStyle>
          <a:p>
            <a:r>
              <a:rPr lang="en-US" smtClean="0"/>
              <a:t>Prof. A. K. Datta  University of Calcutta</a:t>
            </a:r>
            <a:endParaRPr lang="en-US" dirty="0"/>
          </a:p>
        </p:txBody>
      </p:sp>
      <p:sp>
        <p:nvSpPr>
          <p:cNvPr id="5" name="Footer Placeholder 4"/>
          <p:cNvSpPr>
            <a:spLocks noGrp="1"/>
          </p:cNvSpPr>
          <p:nvPr>
            <p:ph type="ftr" sz="quarter" idx="3"/>
          </p:nvPr>
        </p:nvSpPr>
        <p:spPr>
          <a:xfrm>
            <a:off x="3048000" y="6492875"/>
            <a:ext cx="3733800" cy="365125"/>
          </a:xfrm>
          <a:prstGeom prst="rect">
            <a:avLst/>
          </a:prstGeom>
        </p:spPr>
        <p:txBody>
          <a:bodyPr vert="horz" lIns="91440" tIns="45720" rIns="91440" bIns="45720" rtlCol="0" anchor="ctr"/>
          <a:lstStyle>
            <a:lvl1pPr algn="ctr">
              <a:defRPr sz="1200">
                <a:solidFill>
                  <a:schemeClr val="bg1"/>
                </a:solidFill>
              </a:defRPr>
            </a:lvl1pPr>
          </a:lstStyle>
          <a:p>
            <a:r>
              <a:rPr lang="en-IN" smtClean="0"/>
              <a:t>Ph.D. Course work on Research Methodology</a:t>
            </a:r>
            <a:endParaRPr lang="en-US" dirty="0"/>
          </a:p>
        </p:txBody>
      </p:sp>
      <p:sp>
        <p:nvSpPr>
          <p:cNvPr id="6" name="Slide Number Placeholder 5"/>
          <p:cNvSpPr>
            <a:spLocks noGrp="1"/>
          </p:cNvSpPr>
          <p:nvPr>
            <p:ph type="sldNum" sz="quarter" idx="4"/>
          </p:nvPr>
        </p:nvSpPr>
        <p:spPr>
          <a:xfrm>
            <a:off x="8305800" y="6492875"/>
            <a:ext cx="685800" cy="365125"/>
          </a:xfrm>
          <a:prstGeom prst="rect">
            <a:avLst/>
          </a:prstGeom>
        </p:spPr>
        <p:txBody>
          <a:bodyPr vert="horz" lIns="91440" tIns="45720" rIns="91440" bIns="45720" rtlCol="0" anchor="ctr"/>
          <a:lstStyle>
            <a:lvl1pPr algn="r">
              <a:defRPr sz="14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762000"/>
            <a:ext cx="7772400" cy="990600"/>
          </a:xfrm>
        </p:spPr>
        <p:txBody>
          <a:bodyPr/>
          <a:lstStyle/>
          <a:p>
            <a:r>
              <a:rPr lang="en-US" sz="3200" dirty="0" smtClean="0">
                <a:latin typeface="Bookman Old Style" pitchFamily="18" charset="0"/>
              </a:rPr>
              <a:t>Design of experiment</a:t>
            </a:r>
            <a:r>
              <a:rPr lang="en-US" dirty="0" smtClean="0"/>
              <a:t/>
            </a:r>
            <a:br>
              <a:rPr lang="en-US" dirty="0" smtClean="0"/>
            </a:br>
            <a:r>
              <a:rPr lang="en-US" dirty="0" smtClean="0"/>
              <a:t/>
            </a:r>
            <a:br>
              <a:rPr lang="en-US" dirty="0" smtClean="0"/>
            </a:br>
            <a:endParaRPr lang="en-IN" dirty="0"/>
          </a:p>
        </p:txBody>
      </p:sp>
      <p:sp>
        <p:nvSpPr>
          <p:cNvPr id="3" name="Subtitle 2"/>
          <p:cNvSpPr>
            <a:spLocks noGrp="1"/>
          </p:cNvSpPr>
          <p:nvPr>
            <p:ph type="subTitle" idx="1"/>
          </p:nvPr>
        </p:nvSpPr>
        <p:spPr>
          <a:xfrm>
            <a:off x="457200" y="1905000"/>
            <a:ext cx="8153400" cy="3276600"/>
          </a:xfrm>
        </p:spPr>
        <p:txBody>
          <a:bodyPr/>
          <a:lstStyle/>
          <a:p>
            <a:pPr algn="just"/>
            <a:r>
              <a:rPr lang="en-US" sz="2400" dirty="0" smtClean="0">
                <a:solidFill>
                  <a:schemeClr val="tx1"/>
                </a:solidFill>
                <a:latin typeface="Bookman Old Style" pitchFamily="18" charset="0"/>
              </a:rPr>
              <a:t>Design of experiment by definition, is an arrangement of conditions for collection and analysis of data in a manner that aims to combine relevance to the research purpose with economy in procedure. </a:t>
            </a:r>
          </a:p>
          <a:p>
            <a:pPr algn="just"/>
            <a:endParaRPr lang="en-US" sz="2400" dirty="0" smtClean="0">
              <a:solidFill>
                <a:schemeClr val="tx1"/>
              </a:solidFill>
              <a:latin typeface="Bookman Old Style" pitchFamily="18" charset="0"/>
            </a:endParaRPr>
          </a:p>
          <a:p>
            <a:pPr algn="just"/>
            <a:r>
              <a:rPr lang="en-US" sz="2400" dirty="0" smtClean="0">
                <a:solidFill>
                  <a:schemeClr val="tx1"/>
                </a:solidFill>
                <a:latin typeface="Bookman Old Style" pitchFamily="18" charset="0"/>
              </a:rPr>
              <a:t>It is a conceptual structure within  which a research  is conducted. It is a blueprint for collection, measurement and analysis of data.</a:t>
            </a:r>
            <a:endParaRPr lang="en-IN" sz="2400" dirty="0">
              <a:solidFill>
                <a:schemeClr val="tx1"/>
              </a:solidFill>
              <a:latin typeface="Bookman Old Style" pitchFamily="18" charset="0"/>
            </a:endParaRPr>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533400" y="0"/>
            <a:ext cx="8332787" cy="533400"/>
          </a:xfrm>
          <a:noFill/>
        </p:spPr>
        <p:txBody>
          <a:bodyPr anchor="ctr"/>
          <a:lstStyle/>
          <a:p>
            <a:pPr>
              <a:lnSpc>
                <a:spcPct val="120000"/>
              </a:lnSpc>
            </a:pPr>
            <a:r>
              <a:rPr lang="en-AU" dirty="0" smtClean="0"/>
              <a:t/>
            </a:r>
            <a:br>
              <a:rPr lang="en-AU" dirty="0" smtClean="0"/>
            </a:br>
            <a:r>
              <a:rPr lang="en-AU" sz="2000" dirty="0" smtClean="0"/>
              <a:t/>
            </a:r>
            <a:br>
              <a:rPr lang="en-AU" sz="2000" dirty="0" smtClean="0"/>
            </a:br>
            <a:r>
              <a:rPr lang="en-AU" sz="2800" dirty="0" smtClean="0">
                <a:latin typeface="Bookman Old Style" pitchFamily="18" charset="0"/>
              </a:rPr>
              <a:t>DESIGN OF EXPERIMENTS</a:t>
            </a:r>
            <a:r>
              <a:rPr lang="en-AU" dirty="0" smtClean="0"/>
              <a:t/>
            </a:r>
            <a:br>
              <a:rPr lang="en-AU" dirty="0" smtClean="0"/>
            </a:br>
            <a:r>
              <a:rPr lang="en-AU" sz="2000" dirty="0" smtClean="0"/>
              <a:t/>
            </a:r>
            <a:br>
              <a:rPr lang="en-AU" sz="2000" dirty="0" smtClean="0"/>
            </a:br>
            <a:endParaRPr lang="en-AU" dirty="0" smtClean="0">
              <a:solidFill>
                <a:schemeClr val="tx1"/>
              </a:solidFill>
            </a:endParaRPr>
          </a:p>
        </p:txBody>
      </p:sp>
      <p:sp>
        <p:nvSpPr>
          <p:cNvPr id="8195" name="Rectangle 3"/>
          <p:cNvSpPr>
            <a:spLocks noGrp="1" noChangeArrowheads="1"/>
          </p:cNvSpPr>
          <p:nvPr>
            <p:ph type="subTitle" idx="1"/>
          </p:nvPr>
        </p:nvSpPr>
        <p:spPr>
          <a:xfrm>
            <a:off x="2065338" y="4876800"/>
            <a:ext cx="5907087" cy="1752600"/>
          </a:xfrm>
          <a:noFill/>
        </p:spPr>
        <p:txBody>
          <a:bodyPr/>
          <a:lstStyle/>
          <a:p>
            <a:pPr marL="479425" indent="-479425"/>
            <a:r>
              <a:rPr lang="en-AU" smtClean="0"/>
              <a:t> </a:t>
            </a:r>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
        <p:nvSpPr>
          <p:cNvPr id="7" name="Rectangle 3"/>
          <p:cNvSpPr txBox="1">
            <a:spLocks noChangeArrowheads="1"/>
          </p:cNvSpPr>
          <p:nvPr/>
        </p:nvSpPr>
        <p:spPr bwMode="auto">
          <a:xfrm>
            <a:off x="381000" y="685800"/>
            <a:ext cx="8534400" cy="57150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auto" latinLnBrk="0" hangingPunct="1">
              <a:lnSpc>
                <a:spcPts val="3100"/>
              </a:lnSpc>
              <a:buClrTx/>
              <a:buSzTx/>
              <a:buFont typeface="Arial" pitchFamily="34" charset="0"/>
              <a:buNone/>
              <a:tabLst/>
              <a:defRPr/>
            </a:pPr>
            <a:r>
              <a:rPr kumimoji="0" lang="en-US" sz="2000" b="0" i="0" u="none" strike="noStrike" kern="1200" cap="none" spc="0" normalizeH="0" baseline="0" noProof="0" dirty="0" smtClean="0">
                <a:ln>
                  <a:noFill/>
                </a:ln>
                <a:effectLst/>
                <a:uLnTx/>
                <a:uFillTx/>
                <a:latin typeface="Bookman Old Style" pitchFamily="18" charset="0"/>
              </a:rPr>
              <a:t>The goal of any experimental activity is to get the </a:t>
            </a:r>
            <a:r>
              <a:rPr kumimoji="0" lang="en-US" sz="2000" b="1" i="0" u="none" strike="noStrike" kern="1200" cap="none" spc="0" normalizeH="0" baseline="0" noProof="0" dirty="0" smtClean="0">
                <a:ln>
                  <a:noFill/>
                </a:ln>
                <a:effectLst/>
                <a:uLnTx/>
                <a:uFillTx/>
                <a:latin typeface="Bookman Old Style" pitchFamily="18" charset="0"/>
              </a:rPr>
              <a:t>maximum realistic </a:t>
            </a:r>
            <a:r>
              <a:rPr kumimoji="0" lang="en-US" sz="2000" b="0" i="0" u="none" strike="noStrike" kern="1200" cap="none" spc="0" normalizeH="0" baseline="0" noProof="0" dirty="0" smtClean="0">
                <a:ln>
                  <a:noFill/>
                </a:ln>
                <a:effectLst/>
                <a:uLnTx/>
                <a:uFillTx/>
                <a:latin typeface="Bookman Old Style" pitchFamily="18" charset="0"/>
              </a:rPr>
              <a:t>information about a system.</a:t>
            </a:r>
          </a:p>
          <a:p>
            <a:pPr marL="0" marR="0" lvl="0" indent="0" algn="just" defTabSz="914400" rtl="0" eaLnBrk="1" fontAlgn="auto" latinLnBrk="0" hangingPunct="1">
              <a:lnSpc>
                <a:spcPts val="3100"/>
              </a:lnSpc>
              <a:buClrTx/>
              <a:buSzTx/>
              <a:buFont typeface="Arial" pitchFamily="34" charset="0"/>
              <a:buNone/>
              <a:tabLst/>
              <a:defRPr/>
            </a:pPr>
            <a:endParaRPr kumimoji="0" lang="en-US" sz="2000" b="0" i="0" u="none" strike="noStrike" kern="1200" cap="none" spc="0" normalizeH="0" baseline="0" noProof="0" dirty="0" smtClean="0">
              <a:ln>
                <a:noFill/>
              </a:ln>
              <a:effectLst/>
              <a:uLnTx/>
              <a:uFillTx/>
              <a:latin typeface="Bookman Old Style" pitchFamily="18" charset="0"/>
            </a:endParaRPr>
          </a:p>
          <a:p>
            <a:pPr marL="0" marR="0" lvl="0" indent="0" algn="just" defTabSz="914400" rtl="0" eaLnBrk="1" fontAlgn="auto" latinLnBrk="0" hangingPunct="1">
              <a:lnSpc>
                <a:spcPts val="3100"/>
              </a:lnSpc>
              <a:buClrTx/>
              <a:buSzTx/>
              <a:buFont typeface="Arial" pitchFamily="34" charset="0"/>
              <a:buNone/>
              <a:tabLst/>
              <a:defRPr/>
            </a:pPr>
            <a:r>
              <a:rPr kumimoji="0" lang="en-US" sz="2000" b="0" i="0" u="none" strike="noStrike" kern="1200" cap="none" spc="0" normalizeH="0" baseline="0" noProof="0" dirty="0" smtClean="0">
                <a:ln>
                  <a:noFill/>
                </a:ln>
                <a:effectLst/>
                <a:uLnTx/>
                <a:uFillTx/>
                <a:latin typeface="Bookman Old Style" pitchFamily="18" charset="0"/>
              </a:rPr>
              <a:t>It is </a:t>
            </a:r>
            <a:r>
              <a:rPr kumimoji="0" lang="en-US" sz="2000" b="1" i="0" u="none" strike="noStrike" kern="1200" cap="none" spc="0" normalizeH="0" baseline="0" noProof="0" dirty="0" smtClean="0">
                <a:ln>
                  <a:noFill/>
                </a:ln>
                <a:effectLst/>
                <a:uLnTx/>
                <a:uFillTx/>
                <a:latin typeface="Bookman Old Style" pitchFamily="18" charset="0"/>
              </a:rPr>
              <a:t>not</a:t>
            </a:r>
            <a:r>
              <a:rPr kumimoji="0" lang="en-US" sz="2000" b="0" i="0" u="none" strike="noStrike" kern="1200" cap="none" spc="0" normalizeH="0" baseline="0" noProof="0" dirty="0" smtClean="0">
                <a:ln>
                  <a:noFill/>
                </a:ln>
                <a:effectLst/>
                <a:uLnTx/>
                <a:uFillTx/>
                <a:latin typeface="Bookman Old Style" pitchFamily="18" charset="0"/>
              </a:rPr>
              <a:t> always true that higher number of measurements will give maximum realistic information. Larger the number of measurements, huge will be the total error that enters into the measurement equation. Larger number of measurements lead to more costly experimentation.</a:t>
            </a:r>
          </a:p>
          <a:p>
            <a:pPr marL="0" marR="0" lvl="0" indent="0" algn="just" defTabSz="914400" rtl="0" eaLnBrk="1" fontAlgn="auto" latinLnBrk="0" hangingPunct="1">
              <a:lnSpc>
                <a:spcPts val="3100"/>
              </a:lnSpc>
              <a:buClrTx/>
              <a:buSzTx/>
              <a:buFont typeface="Arial" pitchFamily="34" charset="0"/>
              <a:buNone/>
              <a:tabLst/>
              <a:defRPr/>
            </a:pPr>
            <a:endParaRPr kumimoji="0" lang="en-US" sz="2000" b="0" i="0" u="none" strike="noStrike" kern="1200" cap="none" spc="0" normalizeH="0" baseline="0" noProof="0" dirty="0" smtClean="0">
              <a:ln>
                <a:noFill/>
              </a:ln>
              <a:effectLst/>
              <a:uLnTx/>
              <a:uFillTx/>
              <a:latin typeface="Bookman Old Style" pitchFamily="18" charset="0"/>
            </a:endParaRPr>
          </a:p>
          <a:p>
            <a:pPr marL="0" marR="0" lvl="0" indent="0" algn="just" defTabSz="914400" rtl="0" eaLnBrk="1" fontAlgn="auto" latinLnBrk="0" hangingPunct="1">
              <a:lnSpc>
                <a:spcPts val="3100"/>
              </a:lnSpc>
              <a:buClrTx/>
              <a:buSzTx/>
              <a:buFont typeface="Arial" pitchFamily="34" charset="0"/>
              <a:buNone/>
              <a:tabLst/>
              <a:defRPr/>
            </a:pPr>
            <a:r>
              <a:rPr kumimoji="0" lang="en-US" sz="2000" b="0" i="0" u="none" strike="noStrike" kern="1200" cap="none" spc="0" normalizeH="0" baseline="0" noProof="0" dirty="0" smtClean="0">
                <a:ln>
                  <a:noFill/>
                </a:ln>
                <a:effectLst/>
                <a:uLnTx/>
                <a:uFillTx/>
                <a:latin typeface="Bookman Old Style" pitchFamily="18" charset="0"/>
              </a:rPr>
              <a:t>It is important to obtain maximum realistic information  with the </a:t>
            </a:r>
            <a:r>
              <a:rPr kumimoji="0" lang="en-US" sz="2000" b="1" i="0" u="none" strike="noStrike" kern="1200" cap="none" spc="0" normalizeH="0" baseline="0" noProof="0" dirty="0" smtClean="0">
                <a:ln>
                  <a:noFill/>
                </a:ln>
                <a:effectLst/>
                <a:uLnTx/>
                <a:uFillTx/>
                <a:latin typeface="Bookman Old Style" pitchFamily="18" charset="0"/>
              </a:rPr>
              <a:t>minimum </a:t>
            </a:r>
            <a:r>
              <a:rPr kumimoji="0" lang="en-US" sz="2000" b="0" i="0" u="none" strike="noStrike" kern="1200" cap="none" spc="0" normalizeH="0" baseline="0" noProof="0" dirty="0" smtClean="0">
                <a:ln>
                  <a:noFill/>
                </a:ln>
                <a:effectLst/>
                <a:uLnTx/>
                <a:uFillTx/>
                <a:latin typeface="Bookman Old Style" pitchFamily="18" charset="0"/>
              </a:rPr>
              <a:t>number of well designed experiments.  An experimental program recognizes the major </a:t>
            </a:r>
            <a:r>
              <a:rPr kumimoji="0" lang="en-US" sz="2000" b="1" i="0" u="none" strike="noStrike" kern="1200" cap="none" spc="0" normalizeH="0" baseline="0" noProof="0" dirty="0" smtClean="0">
                <a:ln>
                  <a:noFill/>
                </a:ln>
                <a:effectLst/>
                <a:uLnTx/>
                <a:uFillTx/>
                <a:latin typeface="Bookman Old Style" pitchFamily="18" charset="0"/>
              </a:rPr>
              <a:t>“factors” </a:t>
            </a:r>
            <a:r>
              <a:rPr kumimoji="0" lang="en-US" sz="2000" b="0" i="0" u="none" strike="noStrike" kern="1200" cap="none" spc="0" normalizeH="0" baseline="0" noProof="0" dirty="0" smtClean="0">
                <a:ln>
                  <a:noFill/>
                </a:ln>
                <a:effectLst/>
                <a:uLnTx/>
                <a:uFillTx/>
                <a:latin typeface="Bookman Old Style" pitchFamily="18" charset="0"/>
              </a:rPr>
              <a:t>that affect the outcome of the experiment</a:t>
            </a:r>
            <a:r>
              <a:rPr kumimoji="0" lang="en-US" sz="2400" b="0" i="0" u="none" strike="noStrike" kern="1200" cap="none" spc="0" normalizeH="0" baseline="0" noProof="0" dirty="0" smtClean="0">
                <a:ln>
                  <a:noFill/>
                </a:ln>
                <a:effectLst/>
                <a:uLnTx/>
                <a:uFillTx/>
                <a:latin typeface="+mn-lt"/>
                <a:ea typeface="+mn-ea"/>
                <a:cs typeface="+mn-cs"/>
              </a:rPr>
              <a:t>. </a:t>
            </a:r>
          </a:p>
          <a:p>
            <a:pPr marL="0" marR="0" lvl="0" indent="0" algn="ctr" defTabSz="914400" rtl="0" eaLnBrk="1" fontAlgn="auto" latinLnBrk="0" hangingPunct="1">
              <a:lnSpc>
                <a:spcPct val="100000"/>
              </a:lnSpc>
              <a:spcBef>
                <a:spcPts val="600"/>
              </a:spcBef>
              <a:spcAft>
                <a:spcPts val="60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body" idx="1"/>
          </p:nvPr>
        </p:nvSpPr>
        <p:spPr bwMode="auto">
          <a:xfrm>
            <a:off x="304800" y="1066800"/>
            <a:ext cx="8534400" cy="5029200"/>
          </a:xfrm>
          <a:noFill/>
          <a:ln>
            <a:miter lim="800000"/>
            <a:headEnd/>
            <a:tailEnd/>
          </a:ln>
        </p:spPr>
        <p:txBody>
          <a:bodyPr vert="horz" wrap="square" lIns="91440" tIns="45720" rIns="91440" bIns="45720" numCol="1" anchor="t" anchorCtr="0" compatLnSpc="1">
            <a:prstTxWarp prst="textNoShape">
              <a:avLst/>
            </a:prstTxWarp>
          </a:bodyPr>
          <a:lstStyle/>
          <a:p>
            <a:pPr algn="just">
              <a:spcBef>
                <a:spcPts val="600"/>
              </a:spcBef>
              <a:spcAft>
                <a:spcPts val="600"/>
              </a:spcAft>
            </a:pPr>
            <a:r>
              <a:rPr lang="en-US" sz="2400" dirty="0" smtClean="0">
                <a:latin typeface="Bookman Old Style" pitchFamily="18" charset="0"/>
              </a:rPr>
              <a:t>The factors may be identified by looking at all the quantities that may affect the outcome of the experiment. </a:t>
            </a:r>
          </a:p>
          <a:p>
            <a:pPr algn="just">
              <a:spcBef>
                <a:spcPts val="600"/>
              </a:spcBef>
              <a:spcAft>
                <a:spcPts val="600"/>
              </a:spcAft>
            </a:pPr>
            <a:r>
              <a:rPr lang="en-US" sz="2400" dirty="0" smtClean="0">
                <a:latin typeface="Bookman Old Style" pitchFamily="18" charset="0"/>
              </a:rPr>
              <a:t>The most important among these may be identified using a few </a:t>
            </a:r>
            <a:r>
              <a:rPr lang="en-US" sz="2400" b="1" dirty="0" smtClean="0">
                <a:latin typeface="Bookman Old Style" pitchFamily="18" charset="0"/>
              </a:rPr>
              <a:t>exploratory </a:t>
            </a:r>
            <a:r>
              <a:rPr lang="en-US" sz="2400" dirty="0" smtClean="0">
                <a:latin typeface="Bookman Old Style" pitchFamily="18" charset="0"/>
              </a:rPr>
              <a:t>experiments or </a:t>
            </a:r>
          </a:p>
          <a:p>
            <a:pPr algn="just">
              <a:spcBef>
                <a:spcPts val="600"/>
              </a:spcBef>
              <a:spcAft>
                <a:spcPts val="600"/>
              </a:spcAft>
            </a:pPr>
            <a:r>
              <a:rPr lang="en-US" sz="2400" dirty="0" smtClean="0">
                <a:latin typeface="Bookman Old Style" pitchFamily="18" charset="0"/>
              </a:rPr>
              <a:t>from </a:t>
            </a:r>
            <a:r>
              <a:rPr lang="en-US" sz="2400" b="1" dirty="0" smtClean="0">
                <a:latin typeface="Bookman Old Style" pitchFamily="18" charset="0"/>
              </a:rPr>
              <a:t>past experience </a:t>
            </a:r>
            <a:r>
              <a:rPr lang="en-US" sz="2400" dirty="0" smtClean="0">
                <a:latin typeface="Bookman Old Style" pitchFamily="18" charset="0"/>
              </a:rPr>
              <a:t>or based on some underlying </a:t>
            </a:r>
            <a:r>
              <a:rPr lang="en-US" sz="2400" b="1" dirty="0" smtClean="0">
                <a:latin typeface="Bookman Old Style" pitchFamily="18" charset="0"/>
              </a:rPr>
              <a:t>theory </a:t>
            </a:r>
            <a:r>
              <a:rPr lang="en-US" sz="2400" dirty="0" smtClean="0">
                <a:latin typeface="Bookman Old Style" pitchFamily="18" charset="0"/>
              </a:rPr>
              <a:t>or </a:t>
            </a:r>
            <a:r>
              <a:rPr lang="en-US" sz="2400" b="1" dirty="0" smtClean="0">
                <a:latin typeface="Bookman Old Style" pitchFamily="18" charset="0"/>
              </a:rPr>
              <a:t>hypothesis</a:t>
            </a:r>
            <a:r>
              <a:rPr lang="en-US" sz="2400" dirty="0" smtClean="0">
                <a:latin typeface="Bookman Old Style" pitchFamily="18" charset="0"/>
              </a:rPr>
              <a:t>. </a:t>
            </a:r>
          </a:p>
          <a:p>
            <a:pPr algn="just">
              <a:spcBef>
                <a:spcPts val="600"/>
              </a:spcBef>
              <a:spcAft>
                <a:spcPts val="600"/>
              </a:spcAft>
            </a:pPr>
            <a:r>
              <a:rPr lang="en-US" sz="2400" dirty="0" smtClean="0">
                <a:latin typeface="Bookman Old Style" pitchFamily="18" charset="0"/>
              </a:rPr>
              <a:t>The next thing one has to do is to choose the number of </a:t>
            </a:r>
            <a:r>
              <a:rPr lang="en-US" sz="2400" b="1" dirty="0" smtClean="0">
                <a:latin typeface="Bookman Old Style" pitchFamily="18" charset="0"/>
              </a:rPr>
              <a:t>levels </a:t>
            </a:r>
            <a:r>
              <a:rPr lang="en-US" sz="2400" dirty="0" smtClean="0">
                <a:latin typeface="Bookman Old Style" pitchFamily="18" charset="0"/>
              </a:rPr>
              <a:t>for each of the factors. </a:t>
            </a:r>
          </a:p>
          <a:p>
            <a:pPr algn="just">
              <a:spcBef>
                <a:spcPts val="600"/>
              </a:spcBef>
              <a:spcAft>
                <a:spcPts val="600"/>
              </a:spcAft>
            </a:pPr>
            <a:r>
              <a:rPr lang="en-US" sz="2400" dirty="0" smtClean="0">
                <a:latin typeface="Bookman Old Style" pitchFamily="18" charset="0"/>
              </a:rPr>
              <a:t>The data will be gathered for these values of the factors by performing the experiments by maintaining the levels at these values.</a:t>
            </a:r>
          </a:p>
        </p:txBody>
      </p:sp>
      <p:sp>
        <p:nvSpPr>
          <p:cNvPr id="3" name="Date Placeholder 2"/>
          <p:cNvSpPr>
            <a:spLocks noGrp="1"/>
          </p:cNvSpPr>
          <p:nvPr>
            <p:ph type="dt" sz="half" idx="10"/>
          </p:nvPr>
        </p:nvSpPr>
        <p:spPr/>
        <p:txBody>
          <a:bodyPr/>
          <a:lstStyle/>
          <a:p>
            <a:r>
              <a:rPr lang="en-US" smtClean="0"/>
              <a:t>Prof. A. K. Datta  University of Calcutta</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pic>
        <p:nvPicPr>
          <p:cNvPr id="44034" name="Picture 2"/>
          <p:cNvPicPr>
            <a:picLocks noChangeAspect="1" noChangeArrowheads="1"/>
          </p:cNvPicPr>
          <p:nvPr/>
        </p:nvPicPr>
        <p:blipFill>
          <a:blip r:embed="rId2">
            <a:lum contrast="10000"/>
          </a:blip>
          <a:srcRect/>
          <a:stretch>
            <a:fillRect/>
          </a:stretch>
        </p:blipFill>
        <p:spPr bwMode="auto">
          <a:xfrm>
            <a:off x="2819400" y="1295400"/>
            <a:ext cx="4356000" cy="3733706"/>
          </a:xfrm>
          <a:prstGeom prst="rect">
            <a:avLst/>
          </a:prstGeom>
          <a:noFill/>
          <a:ln w="9525">
            <a:noFill/>
            <a:miter lim="800000"/>
            <a:headEnd/>
            <a:tailEnd/>
          </a:ln>
          <a:effectLst/>
        </p:spPr>
      </p:pic>
      <p:sp>
        <p:nvSpPr>
          <p:cNvPr id="8" name="TextBox 7"/>
          <p:cNvSpPr txBox="1"/>
          <p:nvPr/>
        </p:nvSpPr>
        <p:spPr>
          <a:xfrm>
            <a:off x="1676400" y="2590800"/>
            <a:ext cx="1295400" cy="1631216"/>
          </a:xfrm>
          <a:prstGeom prst="rect">
            <a:avLst/>
          </a:prstGeom>
          <a:noFill/>
        </p:spPr>
        <p:txBody>
          <a:bodyPr wrap="square" rtlCol="0">
            <a:spAutoFit/>
          </a:bodyPr>
          <a:lstStyle/>
          <a:p>
            <a:pPr algn="ctr"/>
            <a:r>
              <a:rPr lang="en-US" sz="2000" dirty="0" smtClean="0"/>
              <a:t>Input variables</a:t>
            </a:r>
          </a:p>
          <a:p>
            <a:pPr algn="ctr"/>
            <a:r>
              <a:rPr lang="en-US" sz="2000" dirty="0" smtClean="0"/>
              <a:t>Or controlled variable</a:t>
            </a:r>
            <a:endParaRPr lang="en-US" sz="2000" dirty="0"/>
          </a:p>
        </p:txBody>
      </p:sp>
      <p:sp>
        <p:nvSpPr>
          <p:cNvPr id="9" name="TextBox 8"/>
          <p:cNvSpPr txBox="1"/>
          <p:nvPr/>
        </p:nvSpPr>
        <p:spPr>
          <a:xfrm>
            <a:off x="6781800" y="2590800"/>
            <a:ext cx="1371600" cy="923330"/>
          </a:xfrm>
          <a:prstGeom prst="rect">
            <a:avLst/>
          </a:prstGeom>
          <a:noFill/>
        </p:spPr>
        <p:txBody>
          <a:bodyPr wrap="square" rtlCol="0">
            <a:spAutoFit/>
          </a:bodyPr>
          <a:lstStyle/>
          <a:p>
            <a:pPr algn="ctr"/>
            <a:r>
              <a:rPr lang="en-US" dirty="0" smtClean="0"/>
              <a:t>Output variable or response</a:t>
            </a:r>
            <a:endParaRPr lang="en-US" dirty="0"/>
          </a:p>
        </p:txBody>
      </p:sp>
      <p:sp>
        <p:nvSpPr>
          <p:cNvPr id="10" name="TextBox 9"/>
          <p:cNvSpPr txBox="1"/>
          <p:nvPr/>
        </p:nvSpPr>
        <p:spPr>
          <a:xfrm>
            <a:off x="4191000" y="4876800"/>
            <a:ext cx="1600200" cy="369332"/>
          </a:xfrm>
          <a:prstGeom prst="rect">
            <a:avLst/>
          </a:prstGeom>
          <a:noFill/>
        </p:spPr>
        <p:txBody>
          <a:bodyPr wrap="square" rtlCol="0">
            <a:spAutoFit/>
          </a:bodyPr>
          <a:lstStyle/>
          <a:p>
            <a:pPr algn="ctr"/>
            <a:r>
              <a:rPr lang="en-US" dirty="0" smtClean="0"/>
              <a:t>Disturbances</a:t>
            </a:r>
            <a:endParaRPr lang="en-US" dirty="0"/>
          </a:p>
        </p:txBody>
      </p:sp>
      <p:sp>
        <p:nvSpPr>
          <p:cNvPr id="11" name="TextBox 10"/>
          <p:cNvSpPr txBox="1"/>
          <p:nvPr/>
        </p:nvSpPr>
        <p:spPr>
          <a:xfrm>
            <a:off x="3733800" y="1002268"/>
            <a:ext cx="2133600" cy="369332"/>
          </a:xfrm>
          <a:prstGeom prst="rect">
            <a:avLst/>
          </a:prstGeom>
          <a:noFill/>
        </p:spPr>
        <p:txBody>
          <a:bodyPr wrap="square" rtlCol="0">
            <a:spAutoFit/>
          </a:bodyPr>
          <a:lstStyle/>
          <a:p>
            <a:r>
              <a:rPr lang="en-US" dirty="0" smtClean="0"/>
              <a:t>Uncontrolled inputs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26"/>
          <p:cNvSpPr>
            <a:spLocks noGrp="1" noChangeArrowheads="1"/>
          </p:cNvSpPr>
          <p:nvPr>
            <p:ph type="title" idx="4294967295"/>
          </p:nvPr>
        </p:nvSpPr>
        <p:spPr>
          <a:xfrm>
            <a:off x="0" y="0"/>
            <a:ext cx="9144000" cy="838200"/>
          </a:xfrm>
          <a:prstGeom prst="rect">
            <a:avLst/>
          </a:prstGeom>
        </p:spPr>
        <p:txBody>
          <a:bodyPr/>
          <a:lstStyle/>
          <a:p>
            <a:pPr eaLnBrk="1" hangingPunct="1"/>
            <a:r>
              <a:rPr lang="en-US" sz="3200" b="0" dirty="0" smtClean="0">
                <a:latin typeface="Arial" pitchFamily="34" charset="0"/>
                <a:cs typeface="Arial" pitchFamily="34" charset="0"/>
              </a:rPr>
              <a:t>Quality</a:t>
            </a:r>
            <a:endParaRPr lang="fr-FR" sz="3200" b="0" dirty="0" smtClean="0">
              <a:latin typeface="Arial" pitchFamily="34" charset="0"/>
              <a:cs typeface="Arial" pitchFamily="34" charset="0"/>
            </a:endParaRPr>
          </a:p>
        </p:txBody>
      </p:sp>
      <p:grpSp>
        <p:nvGrpSpPr>
          <p:cNvPr id="2" name="Group 1027"/>
          <p:cNvGrpSpPr>
            <a:grpSpLocks/>
          </p:cNvGrpSpPr>
          <p:nvPr/>
        </p:nvGrpSpPr>
        <p:grpSpPr bwMode="auto">
          <a:xfrm>
            <a:off x="422275" y="2667000"/>
            <a:ext cx="1905000" cy="1905000"/>
            <a:chOff x="113" y="2304"/>
            <a:chExt cx="1512" cy="1200"/>
          </a:xfrm>
        </p:grpSpPr>
        <p:sp>
          <p:nvSpPr>
            <p:cNvPr id="84019" name="Oval 1028"/>
            <p:cNvSpPr>
              <a:spLocks noChangeArrowheads="1"/>
            </p:cNvSpPr>
            <p:nvPr/>
          </p:nvSpPr>
          <p:spPr bwMode="auto">
            <a:xfrm>
              <a:off x="113" y="2304"/>
              <a:ext cx="1512" cy="1200"/>
            </a:xfrm>
            <a:prstGeom prst="ellipse">
              <a:avLst/>
            </a:prstGeom>
            <a:solidFill>
              <a:schemeClr val="bg2">
                <a:alpha val="50195"/>
              </a:schemeClr>
            </a:solidFill>
            <a:ln w="12700">
              <a:solidFill>
                <a:schemeClr val="tx1"/>
              </a:solidFill>
              <a:round/>
              <a:headEnd/>
              <a:tailEnd/>
            </a:ln>
          </p:spPr>
          <p:txBody>
            <a:bodyPr wrap="none" anchor="ctr"/>
            <a:lstStyle/>
            <a:p>
              <a:endParaRPr lang="nl-NL"/>
            </a:p>
          </p:txBody>
        </p:sp>
        <p:sp>
          <p:nvSpPr>
            <p:cNvPr id="84020" name="Oval 1029"/>
            <p:cNvSpPr>
              <a:spLocks noChangeArrowheads="1"/>
            </p:cNvSpPr>
            <p:nvPr/>
          </p:nvSpPr>
          <p:spPr bwMode="auto">
            <a:xfrm>
              <a:off x="437" y="2592"/>
              <a:ext cx="810" cy="624"/>
            </a:xfrm>
            <a:prstGeom prst="ellipse">
              <a:avLst/>
            </a:prstGeom>
            <a:solidFill>
              <a:srgbClr val="00CC99"/>
            </a:solidFill>
            <a:ln w="12700">
              <a:solidFill>
                <a:schemeClr val="tx1"/>
              </a:solidFill>
              <a:round/>
              <a:headEnd/>
              <a:tailEnd/>
            </a:ln>
          </p:spPr>
          <p:txBody>
            <a:bodyPr wrap="none" anchor="ctr"/>
            <a:lstStyle/>
            <a:p>
              <a:endParaRPr lang="nl-NL"/>
            </a:p>
          </p:txBody>
        </p:sp>
        <p:sp>
          <p:nvSpPr>
            <p:cNvPr id="84021" name="Oval 1030"/>
            <p:cNvSpPr>
              <a:spLocks noChangeArrowheads="1"/>
            </p:cNvSpPr>
            <p:nvPr/>
          </p:nvSpPr>
          <p:spPr bwMode="auto">
            <a:xfrm>
              <a:off x="707" y="2784"/>
              <a:ext cx="270" cy="240"/>
            </a:xfrm>
            <a:prstGeom prst="ellipse">
              <a:avLst/>
            </a:prstGeom>
            <a:solidFill>
              <a:schemeClr val="tx1"/>
            </a:solidFill>
            <a:ln w="12700">
              <a:solidFill>
                <a:schemeClr val="tx1"/>
              </a:solidFill>
              <a:round/>
              <a:headEnd/>
              <a:tailEnd/>
            </a:ln>
          </p:spPr>
          <p:txBody>
            <a:bodyPr wrap="none" anchor="ctr"/>
            <a:lstStyle/>
            <a:p>
              <a:endParaRPr lang="nl-NL"/>
            </a:p>
          </p:txBody>
        </p:sp>
      </p:grpSp>
      <p:grpSp>
        <p:nvGrpSpPr>
          <p:cNvPr id="3" name="Group 1031"/>
          <p:cNvGrpSpPr>
            <a:grpSpLocks/>
          </p:cNvGrpSpPr>
          <p:nvPr/>
        </p:nvGrpSpPr>
        <p:grpSpPr bwMode="auto">
          <a:xfrm>
            <a:off x="955675" y="3352800"/>
            <a:ext cx="576263" cy="533400"/>
            <a:chOff x="1296" y="2064"/>
            <a:chExt cx="408" cy="336"/>
          </a:xfrm>
        </p:grpSpPr>
        <p:sp>
          <p:nvSpPr>
            <p:cNvPr id="84005" name="Oval 1032"/>
            <p:cNvSpPr>
              <a:spLocks noChangeArrowheads="1"/>
            </p:cNvSpPr>
            <p:nvPr/>
          </p:nvSpPr>
          <p:spPr bwMode="auto">
            <a:xfrm>
              <a:off x="1494" y="2112"/>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06" name="Oval 1033"/>
            <p:cNvSpPr>
              <a:spLocks noChangeArrowheads="1"/>
            </p:cNvSpPr>
            <p:nvPr/>
          </p:nvSpPr>
          <p:spPr bwMode="auto">
            <a:xfrm>
              <a:off x="1326" y="2160"/>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07" name="Oval 1034"/>
            <p:cNvSpPr>
              <a:spLocks noChangeArrowheads="1"/>
            </p:cNvSpPr>
            <p:nvPr/>
          </p:nvSpPr>
          <p:spPr bwMode="auto">
            <a:xfrm>
              <a:off x="1440" y="2208"/>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08" name="Oval 1035"/>
            <p:cNvSpPr>
              <a:spLocks noChangeArrowheads="1"/>
            </p:cNvSpPr>
            <p:nvPr/>
          </p:nvSpPr>
          <p:spPr bwMode="auto">
            <a:xfrm>
              <a:off x="1386" y="2208"/>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09" name="Oval 1036"/>
            <p:cNvSpPr>
              <a:spLocks noChangeArrowheads="1"/>
            </p:cNvSpPr>
            <p:nvPr/>
          </p:nvSpPr>
          <p:spPr bwMode="auto">
            <a:xfrm>
              <a:off x="1488" y="2160"/>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10" name="Oval 1037"/>
            <p:cNvSpPr>
              <a:spLocks noChangeArrowheads="1"/>
            </p:cNvSpPr>
            <p:nvPr/>
          </p:nvSpPr>
          <p:spPr bwMode="auto">
            <a:xfrm>
              <a:off x="1488" y="2352"/>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11" name="Oval 1038"/>
            <p:cNvSpPr>
              <a:spLocks noChangeArrowheads="1"/>
            </p:cNvSpPr>
            <p:nvPr/>
          </p:nvSpPr>
          <p:spPr bwMode="auto">
            <a:xfrm>
              <a:off x="1410" y="2064"/>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12" name="Oval 1039"/>
            <p:cNvSpPr>
              <a:spLocks noChangeArrowheads="1"/>
            </p:cNvSpPr>
            <p:nvPr/>
          </p:nvSpPr>
          <p:spPr bwMode="auto">
            <a:xfrm>
              <a:off x="1296" y="2112"/>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13" name="Oval 1040"/>
            <p:cNvSpPr>
              <a:spLocks noChangeArrowheads="1"/>
            </p:cNvSpPr>
            <p:nvPr/>
          </p:nvSpPr>
          <p:spPr bwMode="auto">
            <a:xfrm>
              <a:off x="1572" y="2112"/>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14" name="Oval 1041"/>
            <p:cNvSpPr>
              <a:spLocks noChangeArrowheads="1"/>
            </p:cNvSpPr>
            <p:nvPr/>
          </p:nvSpPr>
          <p:spPr bwMode="auto">
            <a:xfrm>
              <a:off x="1626" y="2256"/>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15" name="Oval 1042"/>
            <p:cNvSpPr>
              <a:spLocks noChangeArrowheads="1"/>
            </p:cNvSpPr>
            <p:nvPr/>
          </p:nvSpPr>
          <p:spPr bwMode="auto">
            <a:xfrm>
              <a:off x="1464" y="2256"/>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16" name="Oval 1043"/>
            <p:cNvSpPr>
              <a:spLocks noChangeArrowheads="1"/>
            </p:cNvSpPr>
            <p:nvPr/>
          </p:nvSpPr>
          <p:spPr bwMode="auto">
            <a:xfrm>
              <a:off x="1572" y="2352"/>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17" name="Oval 1044"/>
            <p:cNvSpPr>
              <a:spLocks noChangeArrowheads="1"/>
            </p:cNvSpPr>
            <p:nvPr/>
          </p:nvSpPr>
          <p:spPr bwMode="auto">
            <a:xfrm>
              <a:off x="1344" y="2304"/>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18" name="Oval 1045"/>
            <p:cNvSpPr>
              <a:spLocks noChangeArrowheads="1"/>
            </p:cNvSpPr>
            <p:nvPr/>
          </p:nvSpPr>
          <p:spPr bwMode="auto">
            <a:xfrm>
              <a:off x="1650" y="2208"/>
              <a:ext cx="54" cy="48"/>
            </a:xfrm>
            <a:prstGeom prst="ellipse">
              <a:avLst/>
            </a:prstGeom>
            <a:solidFill>
              <a:srgbClr val="FF0033"/>
            </a:solidFill>
            <a:ln w="12700">
              <a:solidFill>
                <a:srgbClr val="FF0033"/>
              </a:solidFill>
              <a:round/>
              <a:headEnd/>
              <a:tailEnd/>
            </a:ln>
          </p:spPr>
          <p:txBody>
            <a:bodyPr wrap="none" anchor="ctr"/>
            <a:lstStyle/>
            <a:p>
              <a:endParaRPr lang="nl-NL"/>
            </a:p>
          </p:txBody>
        </p:sp>
      </p:grpSp>
      <p:sp>
        <p:nvSpPr>
          <p:cNvPr id="140310" name="Rectangle 1046"/>
          <p:cNvSpPr>
            <a:spLocks noChangeArrowheads="1"/>
          </p:cNvSpPr>
          <p:nvPr/>
        </p:nvSpPr>
        <p:spPr bwMode="auto">
          <a:xfrm>
            <a:off x="574675" y="1346200"/>
            <a:ext cx="1752600" cy="831639"/>
          </a:xfrm>
          <a:prstGeom prst="rect">
            <a:avLst/>
          </a:prstGeom>
          <a:noFill/>
          <a:ln w="9525">
            <a:noFill/>
            <a:miter lim="800000"/>
            <a:headEnd/>
            <a:tailEnd/>
          </a:ln>
        </p:spPr>
        <p:txBody>
          <a:bodyPr lIns="92075" tIns="46038" rIns="92075" bIns="46038">
            <a:spAutoFit/>
          </a:bodyPr>
          <a:lstStyle/>
          <a:p>
            <a:pPr algn="ctr"/>
            <a:r>
              <a:rPr lang="en-US" sz="2400" dirty="0">
                <a:solidFill>
                  <a:srgbClr val="000000"/>
                </a:solidFill>
                <a:latin typeface="+mj-lt"/>
              </a:rPr>
              <a:t>Precision &amp; validity</a:t>
            </a:r>
            <a:endParaRPr lang="fr-FR" sz="2400" i="1" dirty="0">
              <a:solidFill>
                <a:srgbClr val="000000"/>
              </a:solidFill>
              <a:latin typeface="+mj-lt"/>
            </a:endParaRPr>
          </a:p>
        </p:txBody>
      </p:sp>
      <p:grpSp>
        <p:nvGrpSpPr>
          <p:cNvPr id="4" name="Group 1047"/>
          <p:cNvGrpSpPr>
            <a:grpSpLocks/>
          </p:cNvGrpSpPr>
          <p:nvPr/>
        </p:nvGrpSpPr>
        <p:grpSpPr bwMode="auto">
          <a:xfrm>
            <a:off x="3048000" y="1066800"/>
            <a:ext cx="2403475" cy="4418013"/>
            <a:chOff x="4593" y="1247"/>
            <a:chExt cx="1849" cy="2783"/>
          </a:xfrm>
        </p:grpSpPr>
        <p:grpSp>
          <p:nvGrpSpPr>
            <p:cNvPr id="5" name="Group 1048"/>
            <p:cNvGrpSpPr>
              <a:grpSpLocks/>
            </p:cNvGrpSpPr>
            <p:nvPr/>
          </p:nvGrpSpPr>
          <p:grpSpPr bwMode="auto">
            <a:xfrm>
              <a:off x="4930" y="2248"/>
              <a:ext cx="1512" cy="1200"/>
              <a:chOff x="4914" y="2352"/>
              <a:chExt cx="1512" cy="1200"/>
            </a:xfrm>
          </p:grpSpPr>
          <p:sp>
            <p:nvSpPr>
              <p:cNvPr id="84002" name="Oval 1049"/>
              <p:cNvSpPr>
                <a:spLocks noChangeArrowheads="1"/>
              </p:cNvSpPr>
              <p:nvPr/>
            </p:nvSpPr>
            <p:spPr bwMode="auto">
              <a:xfrm>
                <a:off x="4914" y="2352"/>
                <a:ext cx="1512" cy="1200"/>
              </a:xfrm>
              <a:prstGeom prst="ellipse">
                <a:avLst/>
              </a:prstGeom>
              <a:solidFill>
                <a:schemeClr val="bg2">
                  <a:alpha val="50195"/>
                </a:schemeClr>
              </a:solidFill>
              <a:ln w="12700">
                <a:solidFill>
                  <a:schemeClr val="tx1"/>
                </a:solidFill>
                <a:round/>
                <a:headEnd/>
                <a:tailEnd/>
              </a:ln>
            </p:spPr>
            <p:txBody>
              <a:bodyPr wrap="none" anchor="ctr"/>
              <a:lstStyle/>
              <a:p>
                <a:endParaRPr lang="nl-NL"/>
              </a:p>
            </p:txBody>
          </p:sp>
          <p:sp>
            <p:nvSpPr>
              <p:cNvPr id="84003" name="Oval 1050"/>
              <p:cNvSpPr>
                <a:spLocks noChangeArrowheads="1"/>
              </p:cNvSpPr>
              <p:nvPr/>
            </p:nvSpPr>
            <p:spPr bwMode="auto">
              <a:xfrm>
                <a:off x="5238" y="2640"/>
                <a:ext cx="810" cy="624"/>
              </a:xfrm>
              <a:prstGeom prst="ellipse">
                <a:avLst/>
              </a:prstGeom>
              <a:solidFill>
                <a:srgbClr val="00CC99"/>
              </a:solidFill>
              <a:ln w="12700">
                <a:solidFill>
                  <a:schemeClr val="tx1"/>
                </a:solidFill>
                <a:round/>
                <a:headEnd/>
                <a:tailEnd/>
              </a:ln>
            </p:spPr>
            <p:txBody>
              <a:bodyPr wrap="none" anchor="ctr"/>
              <a:lstStyle/>
              <a:p>
                <a:endParaRPr lang="nl-NL"/>
              </a:p>
            </p:txBody>
          </p:sp>
          <p:sp>
            <p:nvSpPr>
              <p:cNvPr id="84004" name="Oval 1051"/>
              <p:cNvSpPr>
                <a:spLocks noChangeArrowheads="1"/>
              </p:cNvSpPr>
              <p:nvPr/>
            </p:nvSpPr>
            <p:spPr bwMode="auto">
              <a:xfrm>
                <a:off x="5508" y="2832"/>
                <a:ext cx="270" cy="240"/>
              </a:xfrm>
              <a:prstGeom prst="ellipse">
                <a:avLst/>
              </a:prstGeom>
              <a:solidFill>
                <a:schemeClr val="tx1"/>
              </a:solidFill>
              <a:ln w="12700">
                <a:solidFill>
                  <a:schemeClr val="tx1"/>
                </a:solidFill>
                <a:round/>
                <a:headEnd/>
                <a:tailEnd/>
              </a:ln>
            </p:spPr>
            <p:txBody>
              <a:bodyPr wrap="none" anchor="ctr"/>
              <a:lstStyle/>
              <a:p>
                <a:endParaRPr lang="nl-NL"/>
              </a:p>
            </p:txBody>
          </p:sp>
        </p:grpSp>
        <p:grpSp>
          <p:nvGrpSpPr>
            <p:cNvPr id="6" name="Group 1052"/>
            <p:cNvGrpSpPr>
              <a:grpSpLocks/>
            </p:cNvGrpSpPr>
            <p:nvPr/>
          </p:nvGrpSpPr>
          <p:grpSpPr bwMode="auto">
            <a:xfrm>
              <a:off x="5248" y="2392"/>
              <a:ext cx="972" cy="912"/>
              <a:chOff x="3822" y="1584"/>
              <a:chExt cx="972" cy="912"/>
            </a:xfrm>
          </p:grpSpPr>
          <p:sp>
            <p:nvSpPr>
              <p:cNvPr id="83995" name="Oval 1053"/>
              <p:cNvSpPr>
                <a:spLocks noChangeArrowheads="1"/>
              </p:cNvSpPr>
              <p:nvPr/>
            </p:nvSpPr>
            <p:spPr bwMode="auto">
              <a:xfrm>
                <a:off x="3822" y="1584"/>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3996" name="Oval 1054"/>
              <p:cNvSpPr>
                <a:spLocks noChangeArrowheads="1"/>
              </p:cNvSpPr>
              <p:nvPr/>
            </p:nvSpPr>
            <p:spPr bwMode="auto">
              <a:xfrm>
                <a:off x="4740" y="2208"/>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3997" name="Oval 1055"/>
              <p:cNvSpPr>
                <a:spLocks noChangeArrowheads="1"/>
              </p:cNvSpPr>
              <p:nvPr/>
            </p:nvSpPr>
            <p:spPr bwMode="auto">
              <a:xfrm>
                <a:off x="4416" y="1776"/>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3998" name="Oval 1056"/>
              <p:cNvSpPr>
                <a:spLocks noChangeArrowheads="1"/>
              </p:cNvSpPr>
              <p:nvPr/>
            </p:nvSpPr>
            <p:spPr bwMode="auto">
              <a:xfrm>
                <a:off x="4038" y="2064"/>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3999" name="Oval 1057"/>
              <p:cNvSpPr>
                <a:spLocks noChangeArrowheads="1"/>
              </p:cNvSpPr>
              <p:nvPr/>
            </p:nvSpPr>
            <p:spPr bwMode="auto">
              <a:xfrm>
                <a:off x="4524" y="1584"/>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00" name="Oval 1058"/>
              <p:cNvSpPr>
                <a:spLocks noChangeArrowheads="1"/>
              </p:cNvSpPr>
              <p:nvPr/>
            </p:nvSpPr>
            <p:spPr bwMode="auto">
              <a:xfrm>
                <a:off x="4308" y="2448"/>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4001" name="Oval 1059"/>
              <p:cNvSpPr>
                <a:spLocks noChangeArrowheads="1"/>
              </p:cNvSpPr>
              <p:nvPr/>
            </p:nvSpPr>
            <p:spPr bwMode="auto">
              <a:xfrm>
                <a:off x="4146" y="1776"/>
                <a:ext cx="54" cy="48"/>
              </a:xfrm>
              <a:prstGeom prst="ellipse">
                <a:avLst/>
              </a:prstGeom>
              <a:solidFill>
                <a:srgbClr val="FF0033"/>
              </a:solidFill>
              <a:ln w="12700">
                <a:solidFill>
                  <a:srgbClr val="FF0033"/>
                </a:solidFill>
                <a:round/>
                <a:headEnd/>
                <a:tailEnd/>
              </a:ln>
            </p:spPr>
            <p:txBody>
              <a:bodyPr wrap="none" anchor="ctr"/>
              <a:lstStyle/>
              <a:p>
                <a:endParaRPr lang="nl-NL"/>
              </a:p>
            </p:txBody>
          </p:sp>
        </p:grpSp>
        <p:sp>
          <p:nvSpPr>
            <p:cNvPr id="83993" name="Rectangle 1060"/>
            <p:cNvSpPr>
              <a:spLocks noChangeArrowheads="1"/>
            </p:cNvSpPr>
            <p:nvPr/>
          </p:nvSpPr>
          <p:spPr bwMode="auto">
            <a:xfrm>
              <a:off x="4593" y="1247"/>
              <a:ext cx="1655" cy="466"/>
            </a:xfrm>
            <a:prstGeom prst="rect">
              <a:avLst/>
            </a:prstGeom>
            <a:noFill/>
            <a:ln w="9525">
              <a:noFill/>
              <a:miter lim="800000"/>
              <a:headEnd/>
              <a:tailEnd/>
            </a:ln>
          </p:spPr>
          <p:txBody>
            <a:bodyPr wrap="none" lIns="92075" tIns="46038" rIns="92075" bIns="46038">
              <a:spAutoFit/>
            </a:bodyPr>
            <a:lstStyle/>
            <a:p>
              <a:pPr algn="ctr"/>
              <a:endParaRPr lang="en-US" b="1" dirty="0">
                <a:solidFill>
                  <a:srgbClr val="000000"/>
                </a:solidFill>
              </a:endParaRPr>
            </a:p>
            <a:p>
              <a:pPr algn="ctr"/>
              <a:r>
                <a:rPr lang="en-US" sz="2400" b="1" dirty="0">
                  <a:solidFill>
                    <a:srgbClr val="000000"/>
                  </a:solidFill>
                  <a:latin typeface="+mj-lt"/>
                </a:rPr>
                <a:t>     </a:t>
              </a:r>
              <a:r>
                <a:rPr lang="en-US" sz="2400" dirty="0">
                  <a:solidFill>
                    <a:srgbClr val="000000"/>
                  </a:solidFill>
                  <a:latin typeface="+mj-lt"/>
                </a:rPr>
                <a:t>No precision</a:t>
              </a:r>
              <a:endParaRPr lang="fr-FR" sz="2400" dirty="0">
                <a:solidFill>
                  <a:srgbClr val="000000"/>
                </a:solidFill>
                <a:latin typeface="+mj-lt"/>
              </a:endParaRPr>
            </a:p>
          </p:txBody>
        </p:sp>
        <p:sp>
          <p:nvSpPr>
            <p:cNvPr id="83994" name="Rectangle 1061"/>
            <p:cNvSpPr>
              <a:spLocks noChangeArrowheads="1"/>
            </p:cNvSpPr>
            <p:nvPr/>
          </p:nvSpPr>
          <p:spPr bwMode="auto">
            <a:xfrm>
              <a:off x="5107" y="3419"/>
              <a:ext cx="1324" cy="611"/>
            </a:xfrm>
            <a:prstGeom prst="rect">
              <a:avLst/>
            </a:prstGeom>
            <a:noFill/>
            <a:ln w="9525">
              <a:noFill/>
              <a:miter lim="800000"/>
              <a:headEnd/>
              <a:tailEnd/>
            </a:ln>
          </p:spPr>
          <p:txBody>
            <a:bodyPr lIns="92075" tIns="46038" rIns="92075" bIns="46038">
              <a:spAutoFit/>
            </a:bodyPr>
            <a:lstStyle/>
            <a:p>
              <a:pPr algn="ctr">
                <a:spcBef>
                  <a:spcPct val="75000"/>
                </a:spcBef>
              </a:pPr>
              <a:r>
                <a:rPr lang="en-US" sz="900" b="1" dirty="0">
                  <a:solidFill>
                    <a:srgbClr val="000000"/>
                  </a:solidFill>
                </a:rPr>
                <a:t/>
              </a:r>
              <a:br>
                <a:rPr lang="en-US" sz="900" b="1" dirty="0">
                  <a:solidFill>
                    <a:srgbClr val="000000"/>
                  </a:solidFill>
                </a:rPr>
              </a:br>
              <a:r>
                <a:rPr lang="en-US" sz="2400" dirty="0">
                  <a:solidFill>
                    <a:srgbClr val="000000"/>
                  </a:solidFill>
                  <a:latin typeface="+mj-lt"/>
                </a:rPr>
                <a:t>Random error</a:t>
              </a:r>
              <a:endParaRPr lang="fr-FR" sz="2400" dirty="0">
                <a:solidFill>
                  <a:srgbClr val="000000"/>
                </a:solidFill>
                <a:latin typeface="+mj-lt"/>
              </a:endParaRPr>
            </a:p>
          </p:txBody>
        </p:sp>
      </p:grpSp>
      <p:grpSp>
        <p:nvGrpSpPr>
          <p:cNvPr id="7" name="Group 1062"/>
          <p:cNvGrpSpPr>
            <a:grpSpLocks/>
          </p:cNvGrpSpPr>
          <p:nvPr/>
        </p:nvGrpSpPr>
        <p:grpSpPr bwMode="auto">
          <a:xfrm>
            <a:off x="6442075" y="1066800"/>
            <a:ext cx="2209800" cy="4379914"/>
            <a:chOff x="2500" y="1240"/>
            <a:chExt cx="1730" cy="2759"/>
          </a:xfrm>
        </p:grpSpPr>
        <p:sp>
          <p:nvSpPr>
            <p:cNvPr id="83977" name="Rectangle 1063"/>
            <p:cNvSpPr>
              <a:spLocks noChangeArrowheads="1"/>
            </p:cNvSpPr>
            <p:nvPr/>
          </p:nvSpPr>
          <p:spPr bwMode="auto">
            <a:xfrm>
              <a:off x="2500" y="1240"/>
              <a:ext cx="1409" cy="698"/>
            </a:xfrm>
            <a:prstGeom prst="rect">
              <a:avLst/>
            </a:prstGeom>
            <a:noFill/>
            <a:ln w="9525">
              <a:noFill/>
              <a:miter lim="800000"/>
              <a:headEnd/>
              <a:tailEnd/>
            </a:ln>
          </p:spPr>
          <p:txBody>
            <a:bodyPr wrap="none" lIns="92075" tIns="46038" rIns="92075" bIns="46038">
              <a:spAutoFit/>
            </a:bodyPr>
            <a:lstStyle/>
            <a:p>
              <a:pPr algn="ctr"/>
              <a:endParaRPr lang="en-GB" b="1" dirty="0">
                <a:solidFill>
                  <a:srgbClr val="000000"/>
                </a:solidFill>
              </a:endParaRPr>
            </a:p>
            <a:p>
              <a:pPr algn="ctr"/>
              <a:r>
                <a:rPr lang="en-GB" sz="2400" dirty="0">
                  <a:solidFill>
                    <a:srgbClr val="000000"/>
                  </a:solidFill>
                  <a:latin typeface="+mj-lt"/>
                </a:rPr>
                <a:t>Precision but</a:t>
              </a:r>
            </a:p>
            <a:p>
              <a:pPr algn="ctr"/>
              <a:r>
                <a:rPr lang="en-GB" sz="2400" dirty="0">
                  <a:solidFill>
                    <a:srgbClr val="000000"/>
                  </a:solidFill>
                  <a:latin typeface="+mj-lt"/>
                </a:rPr>
                <a:t>no validity</a:t>
              </a:r>
            </a:p>
          </p:txBody>
        </p:sp>
        <p:sp>
          <p:nvSpPr>
            <p:cNvPr id="83978" name="Rectangle 1064"/>
            <p:cNvSpPr>
              <a:spLocks noChangeArrowheads="1"/>
            </p:cNvSpPr>
            <p:nvPr/>
          </p:nvSpPr>
          <p:spPr bwMode="auto">
            <a:xfrm>
              <a:off x="2544" y="3427"/>
              <a:ext cx="1686" cy="572"/>
            </a:xfrm>
            <a:prstGeom prst="rect">
              <a:avLst/>
            </a:prstGeom>
            <a:noFill/>
            <a:ln w="9525">
              <a:noFill/>
              <a:miter lim="800000"/>
              <a:headEnd/>
              <a:tailEnd/>
            </a:ln>
          </p:spPr>
          <p:txBody>
            <a:bodyPr lIns="92075" tIns="46038" rIns="92075" bIns="46038">
              <a:spAutoFit/>
            </a:bodyPr>
            <a:lstStyle/>
            <a:p>
              <a:pPr algn="ctr">
                <a:spcBef>
                  <a:spcPct val="50000"/>
                </a:spcBef>
              </a:pPr>
              <a:endParaRPr lang="en-US" sz="500" b="1" dirty="0">
                <a:solidFill>
                  <a:srgbClr val="000000"/>
                </a:solidFill>
              </a:endParaRPr>
            </a:p>
            <a:p>
              <a:pPr algn="ctr"/>
              <a:r>
                <a:rPr lang="en-US" sz="2400" dirty="0">
                  <a:solidFill>
                    <a:srgbClr val="000000"/>
                  </a:solidFill>
                  <a:latin typeface="+mj-lt"/>
                </a:rPr>
                <a:t>Systematic</a:t>
              </a:r>
              <a:br>
                <a:rPr lang="en-US" sz="2400" dirty="0">
                  <a:solidFill>
                    <a:srgbClr val="000000"/>
                  </a:solidFill>
                  <a:latin typeface="+mj-lt"/>
                </a:rPr>
              </a:br>
              <a:r>
                <a:rPr lang="en-US" sz="2400" dirty="0">
                  <a:solidFill>
                    <a:srgbClr val="000000"/>
                  </a:solidFill>
                  <a:latin typeface="+mj-lt"/>
                </a:rPr>
                <a:t>error (bias) </a:t>
              </a:r>
            </a:p>
          </p:txBody>
        </p:sp>
        <p:grpSp>
          <p:nvGrpSpPr>
            <p:cNvPr id="8" name="Group 1065"/>
            <p:cNvGrpSpPr>
              <a:grpSpLocks/>
            </p:cNvGrpSpPr>
            <p:nvPr/>
          </p:nvGrpSpPr>
          <p:grpSpPr bwMode="auto">
            <a:xfrm>
              <a:off x="2560" y="2248"/>
              <a:ext cx="1512" cy="1200"/>
              <a:chOff x="2544" y="2352"/>
              <a:chExt cx="1512" cy="1200"/>
            </a:xfrm>
          </p:grpSpPr>
          <p:sp>
            <p:nvSpPr>
              <p:cNvPr id="83988" name="Oval 1066"/>
              <p:cNvSpPr>
                <a:spLocks noChangeArrowheads="1"/>
              </p:cNvSpPr>
              <p:nvPr/>
            </p:nvSpPr>
            <p:spPr bwMode="auto">
              <a:xfrm>
                <a:off x="2544" y="2352"/>
                <a:ext cx="1512" cy="1200"/>
              </a:xfrm>
              <a:prstGeom prst="ellipse">
                <a:avLst/>
              </a:prstGeom>
              <a:solidFill>
                <a:schemeClr val="bg2">
                  <a:alpha val="50195"/>
                </a:schemeClr>
              </a:solidFill>
              <a:ln w="12700">
                <a:solidFill>
                  <a:schemeClr val="tx1"/>
                </a:solidFill>
                <a:round/>
                <a:headEnd/>
                <a:tailEnd/>
              </a:ln>
            </p:spPr>
            <p:txBody>
              <a:bodyPr wrap="none" anchor="ctr"/>
              <a:lstStyle/>
              <a:p>
                <a:endParaRPr lang="nl-NL"/>
              </a:p>
            </p:txBody>
          </p:sp>
          <p:sp>
            <p:nvSpPr>
              <p:cNvPr id="83989" name="Oval 1067"/>
              <p:cNvSpPr>
                <a:spLocks noChangeArrowheads="1"/>
              </p:cNvSpPr>
              <p:nvPr/>
            </p:nvSpPr>
            <p:spPr bwMode="auto">
              <a:xfrm>
                <a:off x="2862" y="2640"/>
                <a:ext cx="810" cy="624"/>
              </a:xfrm>
              <a:prstGeom prst="ellipse">
                <a:avLst/>
              </a:prstGeom>
              <a:solidFill>
                <a:srgbClr val="00CC99"/>
              </a:solidFill>
              <a:ln w="12700">
                <a:solidFill>
                  <a:schemeClr val="tx1"/>
                </a:solidFill>
                <a:round/>
                <a:headEnd/>
                <a:tailEnd/>
              </a:ln>
            </p:spPr>
            <p:txBody>
              <a:bodyPr wrap="none" anchor="ctr"/>
              <a:lstStyle/>
              <a:p>
                <a:endParaRPr lang="nl-NL"/>
              </a:p>
            </p:txBody>
          </p:sp>
          <p:sp>
            <p:nvSpPr>
              <p:cNvPr id="83990" name="Oval 1068"/>
              <p:cNvSpPr>
                <a:spLocks noChangeArrowheads="1"/>
              </p:cNvSpPr>
              <p:nvPr/>
            </p:nvSpPr>
            <p:spPr bwMode="auto">
              <a:xfrm>
                <a:off x="3132" y="2832"/>
                <a:ext cx="270" cy="240"/>
              </a:xfrm>
              <a:prstGeom prst="ellipse">
                <a:avLst/>
              </a:prstGeom>
              <a:solidFill>
                <a:schemeClr val="tx1"/>
              </a:solidFill>
              <a:ln w="12700">
                <a:solidFill>
                  <a:schemeClr val="tx1"/>
                </a:solidFill>
                <a:round/>
                <a:headEnd/>
                <a:tailEnd/>
              </a:ln>
            </p:spPr>
            <p:txBody>
              <a:bodyPr wrap="none" anchor="ctr"/>
              <a:lstStyle/>
              <a:p>
                <a:endParaRPr lang="nl-NL"/>
              </a:p>
            </p:txBody>
          </p:sp>
        </p:grpSp>
        <p:grpSp>
          <p:nvGrpSpPr>
            <p:cNvPr id="9" name="Group 1069"/>
            <p:cNvGrpSpPr>
              <a:grpSpLocks/>
            </p:cNvGrpSpPr>
            <p:nvPr/>
          </p:nvGrpSpPr>
          <p:grpSpPr bwMode="auto">
            <a:xfrm>
              <a:off x="2656" y="2248"/>
              <a:ext cx="378" cy="288"/>
              <a:chOff x="2238" y="2064"/>
              <a:chExt cx="378" cy="288"/>
            </a:xfrm>
          </p:grpSpPr>
          <p:sp>
            <p:nvSpPr>
              <p:cNvPr id="83981" name="Oval 1070"/>
              <p:cNvSpPr>
                <a:spLocks noChangeArrowheads="1"/>
              </p:cNvSpPr>
              <p:nvPr/>
            </p:nvSpPr>
            <p:spPr bwMode="auto">
              <a:xfrm>
                <a:off x="2400" y="2064"/>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3982" name="Oval 1071"/>
              <p:cNvSpPr>
                <a:spLocks noChangeArrowheads="1"/>
              </p:cNvSpPr>
              <p:nvPr/>
            </p:nvSpPr>
            <p:spPr bwMode="auto">
              <a:xfrm>
                <a:off x="2544" y="2208"/>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3983" name="Oval 1072"/>
              <p:cNvSpPr>
                <a:spLocks noChangeArrowheads="1"/>
              </p:cNvSpPr>
              <p:nvPr/>
            </p:nvSpPr>
            <p:spPr bwMode="auto">
              <a:xfrm>
                <a:off x="2352" y="2160"/>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3984" name="Oval 1073"/>
              <p:cNvSpPr>
                <a:spLocks noChangeArrowheads="1"/>
              </p:cNvSpPr>
              <p:nvPr/>
            </p:nvSpPr>
            <p:spPr bwMode="auto">
              <a:xfrm>
                <a:off x="2454" y="2256"/>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3985" name="Oval 1074"/>
              <p:cNvSpPr>
                <a:spLocks noChangeArrowheads="1"/>
              </p:cNvSpPr>
              <p:nvPr/>
            </p:nvSpPr>
            <p:spPr bwMode="auto">
              <a:xfrm>
                <a:off x="2400" y="2256"/>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3986" name="Oval 1075"/>
              <p:cNvSpPr>
                <a:spLocks noChangeArrowheads="1"/>
              </p:cNvSpPr>
              <p:nvPr/>
            </p:nvSpPr>
            <p:spPr bwMode="auto">
              <a:xfrm>
                <a:off x="2238" y="2304"/>
                <a:ext cx="54" cy="48"/>
              </a:xfrm>
              <a:prstGeom prst="ellipse">
                <a:avLst/>
              </a:prstGeom>
              <a:solidFill>
                <a:srgbClr val="FF0033"/>
              </a:solidFill>
              <a:ln w="12700">
                <a:solidFill>
                  <a:srgbClr val="FF0033"/>
                </a:solidFill>
                <a:round/>
                <a:headEnd/>
                <a:tailEnd/>
              </a:ln>
            </p:spPr>
            <p:txBody>
              <a:bodyPr wrap="none" anchor="ctr"/>
              <a:lstStyle/>
              <a:p>
                <a:endParaRPr lang="nl-NL"/>
              </a:p>
            </p:txBody>
          </p:sp>
          <p:sp>
            <p:nvSpPr>
              <p:cNvPr id="83987" name="Oval 1076"/>
              <p:cNvSpPr>
                <a:spLocks noChangeArrowheads="1"/>
              </p:cNvSpPr>
              <p:nvPr/>
            </p:nvSpPr>
            <p:spPr bwMode="auto">
              <a:xfrm>
                <a:off x="2562" y="2112"/>
                <a:ext cx="54" cy="48"/>
              </a:xfrm>
              <a:prstGeom prst="ellipse">
                <a:avLst/>
              </a:prstGeom>
              <a:solidFill>
                <a:srgbClr val="FF0033"/>
              </a:solidFill>
              <a:ln w="12700">
                <a:solidFill>
                  <a:srgbClr val="FF0033"/>
                </a:solidFill>
                <a:round/>
                <a:headEnd/>
                <a:tailEnd/>
              </a:ln>
            </p:spPr>
            <p:txBody>
              <a:bodyPr wrap="none" anchor="ctr"/>
              <a:lstStyle/>
              <a:p>
                <a:endParaRPr lang="nl-NL"/>
              </a:p>
            </p:txBody>
          </p:sp>
        </p:grpSp>
      </p:grpSp>
      <p:sp>
        <p:nvSpPr>
          <p:cNvPr id="53" name="Date Placeholder 52"/>
          <p:cNvSpPr>
            <a:spLocks noGrp="1"/>
          </p:cNvSpPr>
          <p:nvPr>
            <p:ph type="dt" sz="half" idx="10"/>
          </p:nvPr>
        </p:nvSpPr>
        <p:spPr/>
        <p:txBody>
          <a:bodyPr/>
          <a:lstStyle/>
          <a:p>
            <a:r>
              <a:rPr lang="en-US" smtClean="0"/>
              <a:t>Prof. A. K. Datta     University of Calcutta</a:t>
            </a:r>
            <a:endParaRPr lang="en-IN" dirty="0"/>
          </a:p>
        </p:txBody>
      </p:sp>
      <p:sp>
        <p:nvSpPr>
          <p:cNvPr id="54" name="Slide Number Placeholder 53"/>
          <p:cNvSpPr>
            <a:spLocks noGrp="1"/>
          </p:cNvSpPr>
          <p:nvPr>
            <p:ph type="sldNum" sz="quarter" idx="11"/>
          </p:nvPr>
        </p:nvSpPr>
        <p:spPr/>
        <p:txBody>
          <a:bodyPr/>
          <a:lstStyle/>
          <a:p>
            <a:fld id="{BF2D74FB-8EB9-4DEE-8258-980F8375AF4A}" type="slidenum">
              <a:rPr lang="en-IN" smtClean="0"/>
              <a:pPr/>
              <a:t>5</a:t>
            </a:fld>
            <a:endParaRPr lang="en-IN" dirty="0"/>
          </a:p>
        </p:txBody>
      </p:sp>
      <p:sp>
        <p:nvSpPr>
          <p:cNvPr id="55" name="Footer Placeholder 54"/>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6</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TextBox 5"/>
          <p:cNvSpPr txBox="1"/>
          <p:nvPr/>
        </p:nvSpPr>
        <p:spPr>
          <a:xfrm>
            <a:off x="1905000" y="0"/>
            <a:ext cx="5867400" cy="461665"/>
          </a:xfrm>
          <a:prstGeom prst="rect">
            <a:avLst/>
          </a:prstGeom>
          <a:noFill/>
        </p:spPr>
        <p:txBody>
          <a:bodyPr wrap="square" rtlCol="0">
            <a:spAutoFit/>
          </a:bodyPr>
          <a:lstStyle/>
          <a:p>
            <a:pPr algn="ctr"/>
            <a:r>
              <a:rPr lang="en-US" sz="2400" dirty="0" smtClean="0"/>
              <a:t>Errors</a:t>
            </a:r>
            <a:endParaRPr lang="en-US" sz="2400" dirty="0"/>
          </a:p>
        </p:txBody>
      </p:sp>
      <p:pic>
        <p:nvPicPr>
          <p:cNvPr id="45058" name="Picture 2"/>
          <p:cNvPicPr>
            <a:picLocks noChangeAspect="1" noChangeArrowheads="1"/>
          </p:cNvPicPr>
          <p:nvPr/>
        </p:nvPicPr>
        <p:blipFill>
          <a:blip r:embed="rId2"/>
          <a:srcRect/>
          <a:stretch>
            <a:fillRect/>
          </a:stretch>
        </p:blipFill>
        <p:spPr bwMode="auto">
          <a:xfrm>
            <a:off x="1828800" y="1295400"/>
            <a:ext cx="6012000" cy="449115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533400"/>
          </a:xfrm>
        </p:spPr>
        <p:txBody>
          <a:bodyPr/>
          <a:lstStyle/>
          <a:p>
            <a:r>
              <a:rPr lang="en-US" sz="2800" dirty="0" smtClean="0"/>
              <a:t>Principles of experimental design </a:t>
            </a:r>
            <a:endParaRPr lang="en-IN" sz="2800" dirty="0"/>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extBox 6"/>
          <p:cNvSpPr txBox="1"/>
          <p:nvPr/>
        </p:nvSpPr>
        <p:spPr>
          <a:xfrm>
            <a:off x="304800" y="762001"/>
            <a:ext cx="8458200" cy="5858014"/>
          </a:xfrm>
          <a:prstGeom prst="rect">
            <a:avLst/>
          </a:prstGeom>
          <a:noFill/>
        </p:spPr>
        <p:txBody>
          <a:bodyPr wrap="square" rtlCol="0">
            <a:spAutoFit/>
          </a:bodyPr>
          <a:lstStyle/>
          <a:p>
            <a:pPr algn="just"/>
            <a:r>
              <a:rPr lang="en-US" sz="2800" dirty="0" smtClean="0">
                <a:solidFill>
                  <a:srgbClr val="0000CC"/>
                </a:solidFill>
              </a:rPr>
              <a:t>Principle of replication:</a:t>
            </a:r>
          </a:p>
          <a:p>
            <a:pPr>
              <a:lnSpc>
                <a:spcPts val="3200"/>
              </a:lnSpc>
            </a:pPr>
            <a:r>
              <a:rPr lang="en-IN" sz="2000" dirty="0" smtClean="0">
                <a:latin typeface="Bookman Old Style" pitchFamily="18" charset="0"/>
              </a:rPr>
              <a:t>Replication is not the same as repeated measurements of the same item. Both repeat and replicate measurements involve multiple observations taken at the same levels of experimental factors. However, repeat measurements are collected during a single experimental session, while replicate measurements are gathered across different experimental sessions. Replication in statistics evaluates the consistency of experiment results across different trials to ensure external validity, while repetition measures precision and internal consistency within the same or similar experiments.</a:t>
            </a:r>
            <a:r>
              <a:rPr lang="en-IN" sz="2000" baseline="30000" dirty="0" smtClean="0">
                <a:latin typeface="Bookman Old Style" pitchFamily="18" charset="0"/>
              </a:rPr>
              <a:t> </a:t>
            </a:r>
            <a:r>
              <a:rPr lang="en-IN" sz="2000" dirty="0" smtClean="0">
                <a:latin typeface="Bookman Old Style" pitchFamily="18" charset="0"/>
              </a:rPr>
              <a:t>Replicates Example: Testing a new drug's effect on blood pressure in </a:t>
            </a:r>
            <a:r>
              <a:rPr lang="en-IN" sz="2000" dirty="0" smtClean="0">
                <a:solidFill>
                  <a:srgbClr val="0000CC"/>
                </a:solidFill>
                <a:latin typeface="Bookman Old Style" pitchFamily="18" charset="0"/>
              </a:rPr>
              <a:t>separate groups </a:t>
            </a:r>
            <a:r>
              <a:rPr lang="en-IN" sz="2000" dirty="0" smtClean="0">
                <a:latin typeface="Bookman Old Style" pitchFamily="18" charset="0"/>
              </a:rPr>
              <a:t>on different days. </a:t>
            </a:r>
          </a:p>
          <a:p>
            <a:pPr>
              <a:lnSpc>
                <a:spcPts val="3200"/>
              </a:lnSpc>
            </a:pPr>
            <a:r>
              <a:rPr lang="en-IN" sz="2000" dirty="0" smtClean="0">
                <a:latin typeface="Bookman Old Style" pitchFamily="18" charset="0"/>
              </a:rPr>
              <a:t>Repeats Example: Measuring blood pressure multiple times in </a:t>
            </a:r>
            <a:r>
              <a:rPr lang="en-IN" sz="2000" dirty="0" smtClean="0">
                <a:solidFill>
                  <a:srgbClr val="0000CC"/>
                </a:solidFill>
                <a:latin typeface="Bookman Old Style" pitchFamily="18" charset="0"/>
              </a:rPr>
              <a:t>one group</a:t>
            </a:r>
            <a:r>
              <a:rPr lang="en-IN" sz="2000" dirty="0" smtClean="0">
                <a:latin typeface="Bookman Old Style" pitchFamily="18" charset="0"/>
              </a:rPr>
              <a:t> during a single session</a:t>
            </a:r>
            <a:r>
              <a:rPr lang="en-IN" sz="2000" dirty="0" smtClean="0"/>
              <a:t>. </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525963"/>
          </a:xfrm>
        </p:spPr>
        <p:txBody>
          <a:bodyPr/>
          <a:lstStyle/>
          <a:p>
            <a:pPr algn="just"/>
            <a:r>
              <a:rPr lang="en-US" sz="2800" dirty="0" smtClean="0">
                <a:solidFill>
                  <a:srgbClr val="0000CC"/>
                </a:solidFill>
                <a:latin typeface="Bookman Old Style" pitchFamily="18" charset="0"/>
              </a:rPr>
              <a:t>Principle of Randomization:</a:t>
            </a:r>
          </a:p>
          <a:p>
            <a:pPr algn="just">
              <a:buNone/>
            </a:pPr>
            <a:r>
              <a:rPr lang="en-IN" sz="2000" dirty="0" smtClean="0">
                <a:latin typeface="Bookman Old Style" pitchFamily="18" charset="0"/>
                <a:cs typeface="Arial" pitchFamily="34" charset="0"/>
              </a:rPr>
              <a:t>	Randomization refers to the random order in which the runs of the experiment are to be performed. The method protects against an unknown bias distorting the results of </a:t>
            </a:r>
            <a:r>
              <a:rPr lang="en-GB" sz="2000" dirty="0" smtClean="0">
                <a:latin typeface="Bookman Old Style" pitchFamily="18" charset="0"/>
                <a:cs typeface="Arial" pitchFamily="34" charset="0"/>
              </a:rPr>
              <a:t>the experiment</a:t>
            </a:r>
            <a:r>
              <a:rPr lang="en-US" sz="2000" dirty="0" smtClean="0">
                <a:latin typeface="Bookman Old Style" pitchFamily="18" charset="0"/>
                <a:cs typeface="Arial" pitchFamily="34" charset="0"/>
              </a:rPr>
              <a:t>.</a:t>
            </a:r>
          </a:p>
          <a:p>
            <a:pPr algn="just"/>
            <a:endParaRPr lang="en-US" sz="2400" dirty="0" smtClean="0">
              <a:latin typeface="Bookman Old Style" pitchFamily="18" charset="0"/>
            </a:endParaRPr>
          </a:p>
          <a:p>
            <a:pPr algn="just"/>
            <a:r>
              <a:rPr lang="en-US" sz="2800" dirty="0" smtClean="0">
                <a:solidFill>
                  <a:srgbClr val="0000CC"/>
                </a:solidFill>
                <a:latin typeface="Bookman Old Style" pitchFamily="18" charset="0"/>
              </a:rPr>
              <a:t>Principle of Blocking:</a:t>
            </a:r>
          </a:p>
          <a:p>
            <a:pPr algn="just">
              <a:buNone/>
            </a:pPr>
            <a:r>
              <a:rPr lang="en-US" sz="2000" dirty="0" smtClean="0">
                <a:latin typeface="Bookman Old Style" pitchFamily="18" charset="0"/>
                <a:cs typeface="Arial" pitchFamily="34" charset="0"/>
              </a:rPr>
              <a:t> 	Variability (known) due to extraneous  factors  such as known source variable can be measured and eliminated from experimental error</a:t>
            </a:r>
            <a:endParaRPr lang="en-US" sz="2000" dirty="0">
              <a:latin typeface="Bookman Old Style" pitchFamily="18" charset="0"/>
            </a:endParaRPr>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graphicFrame>
        <p:nvGraphicFramePr>
          <p:cNvPr id="7" name="Table 6"/>
          <p:cNvGraphicFramePr>
            <a:graphicFrameLocks noGrp="1"/>
          </p:cNvGraphicFramePr>
          <p:nvPr/>
        </p:nvGraphicFramePr>
        <p:xfrm>
          <a:off x="228600" y="1397000"/>
          <a:ext cx="8686800" cy="4221480"/>
        </p:xfrm>
        <a:graphic>
          <a:graphicData uri="http://schemas.openxmlformats.org/drawingml/2006/table">
            <a:tbl>
              <a:tblPr firstRow="1" bandRow="1">
                <a:tableStyleId>{5C22544A-7EE6-4342-B048-85BDC9FD1C3A}</a:tableStyleId>
              </a:tblPr>
              <a:tblGrid>
                <a:gridCol w="2895600"/>
                <a:gridCol w="2895600"/>
                <a:gridCol w="2895600"/>
              </a:tblGrid>
              <a:tr h="370840">
                <a:tc rowSpan="2">
                  <a:txBody>
                    <a:bodyPr/>
                    <a:lstStyle/>
                    <a:p>
                      <a:r>
                        <a:rPr lang="en-US" dirty="0" smtClean="0"/>
                        <a:t>Research Design</a:t>
                      </a:r>
                      <a:endParaRPr lang="en-IN" dirty="0"/>
                    </a:p>
                  </a:txBody>
                  <a:tcPr/>
                </a:tc>
                <a:tc gridSpan="2">
                  <a:txBody>
                    <a:bodyPr/>
                    <a:lstStyle/>
                    <a:p>
                      <a:pPr algn="ctr"/>
                      <a:r>
                        <a:rPr lang="en-US" dirty="0" smtClean="0"/>
                        <a:t>Type of Research</a:t>
                      </a:r>
                      <a:endParaRPr lang="en-IN" dirty="0"/>
                    </a:p>
                  </a:txBody>
                  <a:tcPr/>
                </a:tc>
                <a:tc hMerge="1">
                  <a:txBody>
                    <a:bodyPr/>
                    <a:lstStyle/>
                    <a:p>
                      <a:endParaRPr lang="en-IN" dirty="0"/>
                    </a:p>
                  </a:txBody>
                  <a:tcPr/>
                </a:tc>
              </a:tr>
              <a:tr h="370840">
                <a:tc vMerge="1">
                  <a:txBody>
                    <a:bodyPr/>
                    <a:lstStyle/>
                    <a:p>
                      <a:endParaRPr lang="en-IN" dirty="0"/>
                    </a:p>
                  </a:txBody>
                  <a:tcPr/>
                </a:tc>
                <a:tc>
                  <a:txBody>
                    <a:bodyPr/>
                    <a:lstStyle/>
                    <a:p>
                      <a:r>
                        <a:rPr lang="en-US" dirty="0" smtClean="0"/>
                        <a:t>Exploratory  of </a:t>
                      </a:r>
                      <a:r>
                        <a:rPr lang="en-US" dirty="0" err="1" smtClean="0"/>
                        <a:t>formulative</a:t>
                      </a:r>
                      <a:endParaRPr lang="en-IN" dirty="0"/>
                    </a:p>
                  </a:txBody>
                  <a:tcPr/>
                </a:tc>
                <a:tc>
                  <a:txBody>
                    <a:bodyPr/>
                    <a:lstStyle/>
                    <a:p>
                      <a:r>
                        <a:rPr lang="en-US" dirty="0" smtClean="0"/>
                        <a:t>Descriptive/</a:t>
                      </a:r>
                      <a:r>
                        <a:rPr lang="en-US" dirty="0" err="1" smtClean="0"/>
                        <a:t>Diagonistic</a:t>
                      </a:r>
                      <a:endParaRPr lang="en-IN" dirty="0"/>
                    </a:p>
                  </a:txBody>
                  <a:tcPr/>
                </a:tc>
              </a:tr>
              <a:tr h="370840">
                <a:tc>
                  <a:txBody>
                    <a:bodyPr/>
                    <a:lstStyle/>
                    <a:p>
                      <a:r>
                        <a:rPr lang="en-US" dirty="0" smtClean="0"/>
                        <a:t>Overall Design</a:t>
                      </a:r>
                      <a:endParaRPr lang="en-IN" dirty="0"/>
                    </a:p>
                  </a:txBody>
                  <a:tcPr/>
                </a:tc>
                <a:tc>
                  <a:txBody>
                    <a:bodyPr/>
                    <a:lstStyle/>
                    <a:p>
                      <a:r>
                        <a:rPr lang="en-US" dirty="0" smtClean="0"/>
                        <a:t>Flexible Design</a:t>
                      </a:r>
                      <a:endParaRPr lang="en-IN" dirty="0"/>
                    </a:p>
                  </a:txBody>
                  <a:tcPr/>
                </a:tc>
                <a:tc>
                  <a:txBody>
                    <a:bodyPr/>
                    <a:lstStyle/>
                    <a:p>
                      <a:r>
                        <a:rPr lang="en-US" dirty="0" smtClean="0"/>
                        <a:t>Rigid design</a:t>
                      </a:r>
                      <a:endParaRPr lang="en-IN" dirty="0"/>
                    </a:p>
                  </a:txBody>
                  <a:tcPr/>
                </a:tc>
              </a:tr>
              <a:tr h="370840">
                <a:tc>
                  <a:txBody>
                    <a:bodyPr/>
                    <a:lstStyle/>
                    <a:p>
                      <a:pPr marL="400050" indent="-400050">
                        <a:buAutoNum type="romanLcParenBoth"/>
                      </a:pPr>
                      <a:r>
                        <a:rPr lang="en-US" dirty="0" smtClean="0"/>
                        <a:t>Sampling Design</a:t>
                      </a:r>
                    </a:p>
                    <a:p>
                      <a:pPr marL="400050" indent="-400050">
                        <a:buAutoNum type="romanLcParenBoth"/>
                      </a:pPr>
                      <a:endParaRPr lang="en-US" dirty="0" smtClean="0"/>
                    </a:p>
                    <a:p>
                      <a:pPr marL="400050" indent="-400050">
                        <a:buAutoNum type="romanLcParenBoth"/>
                      </a:pPr>
                      <a:endParaRPr lang="en-US" dirty="0" smtClean="0"/>
                    </a:p>
                    <a:p>
                      <a:pPr marL="400050" indent="-400050">
                        <a:buAutoNum type="romanLcParenBoth"/>
                      </a:pPr>
                      <a:r>
                        <a:rPr lang="en-US" dirty="0" smtClean="0"/>
                        <a:t>Statistical Design</a:t>
                      </a:r>
                    </a:p>
                    <a:p>
                      <a:pPr marL="400050" indent="-400050">
                        <a:buAutoNum type="romanLcParenBoth"/>
                      </a:pPr>
                      <a:endParaRPr lang="en-US" dirty="0" smtClean="0"/>
                    </a:p>
                    <a:p>
                      <a:pPr marL="400050" indent="-400050">
                        <a:buAutoNum type="romanLcParenBoth"/>
                      </a:pPr>
                      <a:endParaRPr lang="en-US" dirty="0" smtClean="0"/>
                    </a:p>
                    <a:p>
                      <a:pPr marL="400050" indent="-400050">
                        <a:buAutoNum type="romanLcParenBoth"/>
                      </a:pPr>
                      <a:r>
                        <a:rPr lang="en-US" dirty="0" smtClean="0"/>
                        <a:t>Observational Design</a:t>
                      </a:r>
                    </a:p>
                    <a:p>
                      <a:pPr marL="400050" indent="-400050">
                        <a:buAutoNum type="romanLcParenBoth"/>
                      </a:pPr>
                      <a:endParaRPr lang="en-US" dirty="0" smtClean="0"/>
                    </a:p>
                    <a:p>
                      <a:pPr marL="400050" indent="-400050">
                        <a:buAutoNum type="romanLcParenBoth"/>
                      </a:pPr>
                      <a:endParaRPr lang="en-US" dirty="0" smtClean="0"/>
                    </a:p>
                    <a:p>
                      <a:pPr marL="400050" indent="-400050">
                        <a:buAutoNum type="romanLcParenBoth"/>
                      </a:pPr>
                      <a:r>
                        <a:rPr lang="en-US" dirty="0" smtClean="0"/>
                        <a:t>Operational Design</a:t>
                      </a:r>
                      <a:endParaRPr lang="en-IN" dirty="0"/>
                    </a:p>
                  </a:txBody>
                  <a:tcPr/>
                </a:tc>
                <a:tc>
                  <a:txBody>
                    <a:bodyPr/>
                    <a:lstStyle/>
                    <a:p>
                      <a:r>
                        <a:rPr lang="en-US" dirty="0" smtClean="0"/>
                        <a:t>Non probability sampling design</a:t>
                      </a:r>
                    </a:p>
                    <a:p>
                      <a:endParaRPr lang="en-US" dirty="0" smtClean="0"/>
                    </a:p>
                    <a:p>
                      <a:r>
                        <a:rPr lang="en-US" dirty="0" smtClean="0"/>
                        <a:t>No preplanned design for a</a:t>
                      </a:r>
                    </a:p>
                    <a:p>
                      <a:r>
                        <a:rPr lang="en-US" dirty="0" smtClean="0"/>
                        <a:t>analysis</a:t>
                      </a:r>
                    </a:p>
                    <a:p>
                      <a:endParaRPr lang="en-US" dirty="0" smtClean="0"/>
                    </a:p>
                    <a:p>
                      <a:r>
                        <a:rPr lang="en-US" dirty="0" smtClean="0"/>
                        <a:t>Unstructured instruments for collection of data</a:t>
                      </a:r>
                    </a:p>
                    <a:p>
                      <a:endParaRPr lang="en-US" dirty="0" smtClean="0"/>
                    </a:p>
                    <a:p>
                      <a:r>
                        <a:rPr lang="en-US" dirty="0" smtClean="0"/>
                        <a:t>No fixed decision</a:t>
                      </a:r>
                      <a:r>
                        <a:rPr lang="en-US" baseline="0" dirty="0" smtClean="0"/>
                        <a:t> about procedure</a:t>
                      </a:r>
                      <a:endParaRPr lang="en-IN" dirty="0"/>
                    </a:p>
                  </a:txBody>
                  <a:tcPr/>
                </a:tc>
                <a:tc>
                  <a:txBody>
                    <a:bodyPr/>
                    <a:lstStyle/>
                    <a:p>
                      <a:r>
                        <a:rPr lang="en-US" dirty="0" smtClean="0"/>
                        <a:t>Probability sampling design</a:t>
                      </a:r>
                    </a:p>
                    <a:p>
                      <a:endParaRPr lang="en-US" dirty="0" smtClean="0"/>
                    </a:p>
                    <a:p>
                      <a:endParaRPr lang="en-US" dirty="0" smtClean="0"/>
                    </a:p>
                    <a:p>
                      <a:r>
                        <a:rPr lang="en-US" dirty="0" smtClean="0"/>
                        <a:t>Preplanned design for analysis</a:t>
                      </a:r>
                    </a:p>
                    <a:p>
                      <a:endParaRPr lang="en-US" dirty="0" smtClean="0"/>
                    </a:p>
                    <a:p>
                      <a:r>
                        <a:rPr lang="en-US" dirty="0" smtClean="0"/>
                        <a:t>Structured instruments</a:t>
                      </a:r>
                    </a:p>
                    <a:p>
                      <a:endParaRPr lang="en-US" dirty="0" smtClean="0"/>
                    </a:p>
                    <a:p>
                      <a:endParaRPr lang="en-US" dirty="0" smtClean="0"/>
                    </a:p>
                    <a:p>
                      <a:r>
                        <a:rPr lang="en-US" dirty="0" smtClean="0"/>
                        <a:t>Advanced decision</a:t>
                      </a:r>
                      <a:r>
                        <a:rPr lang="en-US" baseline="0" dirty="0" smtClean="0"/>
                        <a:t> about procedure</a:t>
                      </a:r>
                      <a:endParaRPr lang="en-IN" dirty="0"/>
                    </a:p>
                  </a:txBody>
                  <a:tcPr/>
                </a:tc>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81000"/>
          </a:xfrm>
        </p:spPr>
        <p:txBody>
          <a:bodyPr/>
          <a:lstStyle/>
          <a:p>
            <a:r>
              <a:rPr lang="en-US" sz="2800" dirty="0" smtClean="0"/>
              <a:t>Experimental design techniques</a:t>
            </a:r>
            <a:endParaRPr lang="en-IN" sz="2800" dirty="0"/>
          </a:p>
        </p:txBody>
      </p:sp>
      <p:sp>
        <p:nvSpPr>
          <p:cNvPr id="3" name="Content Placeholder 2"/>
          <p:cNvSpPr>
            <a:spLocks noGrp="1"/>
          </p:cNvSpPr>
          <p:nvPr>
            <p:ph idx="1"/>
          </p:nvPr>
        </p:nvSpPr>
        <p:spPr>
          <a:xfrm>
            <a:off x="381000" y="990600"/>
            <a:ext cx="8229600" cy="5029200"/>
          </a:xfrm>
        </p:spPr>
        <p:txBody>
          <a:bodyPr/>
          <a:lstStyle/>
          <a:p>
            <a:pPr marL="514350" indent="-514350">
              <a:buAutoNum type="alphaLcParenBoth"/>
            </a:pPr>
            <a:r>
              <a:rPr lang="en-US" sz="2800" dirty="0" smtClean="0">
                <a:solidFill>
                  <a:srgbClr val="0000CC"/>
                </a:solidFill>
              </a:rPr>
              <a:t>Informal experimental design </a:t>
            </a:r>
          </a:p>
          <a:p>
            <a:pPr marL="514350" indent="-514350">
              <a:buNone/>
            </a:pPr>
            <a:r>
              <a:rPr lang="en-US" sz="2800" dirty="0" smtClean="0"/>
              <a:t>	</a:t>
            </a:r>
            <a:r>
              <a:rPr lang="en-US" sz="2400" dirty="0" smtClean="0"/>
              <a:t>(</a:t>
            </a:r>
            <a:r>
              <a:rPr lang="en-US" sz="2400" dirty="0" err="1" smtClean="0"/>
              <a:t>i</a:t>
            </a:r>
            <a:r>
              <a:rPr lang="en-US" sz="2400" dirty="0" smtClean="0"/>
              <a:t>) Before-and-after without control design</a:t>
            </a:r>
          </a:p>
          <a:p>
            <a:pPr marL="514350" indent="-514350">
              <a:buNone/>
            </a:pPr>
            <a:r>
              <a:rPr lang="en-US" sz="2400" dirty="0" smtClean="0"/>
              <a:t>	(ii) After-only with control design</a:t>
            </a:r>
          </a:p>
          <a:p>
            <a:pPr marL="514350" indent="-514350">
              <a:buNone/>
            </a:pPr>
            <a:r>
              <a:rPr lang="en-US" sz="2400" dirty="0" smtClean="0"/>
              <a:t>	(iii) </a:t>
            </a:r>
            <a:r>
              <a:rPr lang="en-US" sz="2400" dirty="0" smtClean="0">
                <a:solidFill>
                  <a:prstClr val="black"/>
                </a:solidFill>
              </a:rPr>
              <a:t>Before-and-after with control design</a:t>
            </a:r>
          </a:p>
          <a:p>
            <a:pPr marL="514350" indent="-514350">
              <a:buNone/>
            </a:pPr>
            <a:r>
              <a:rPr lang="en-US" sz="2800" dirty="0" smtClean="0">
                <a:solidFill>
                  <a:srgbClr val="0000CC"/>
                </a:solidFill>
              </a:rPr>
              <a:t>(b) Formal experimental design </a:t>
            </a:r>
          </a:p>
          <a:p>
            <a:pPr marL="514350" indent="-514350">
              <a:buNone/>
            </a:pPr>
            <a:r>
              <a:rPr lang="en-US" sz="2800" dirty="0" smtClean="0"/>
              <a:t>	</a:t>
            </a:r>
            <a:r>
              <a:rPr lang="en-US" sz="2400" dirty="0" smtClean="0"/>
              <a:t>(</a:t>
            </a:r>
            <a:r>
              <a:rPr lang="en-US" sz="2400" dirty="0" err="1" smtClean="0"/>
              <a:t>i</a:t>
            </a:r>
            <a:r>
              <a:rPr lang="en-US" sz="2400" dirty="0" smtClean="0"/>
              <a:t>) Completely randomized design</a:t>
            </a:r>
          </a:p>
          <a:p>
            <a:pPr marL="514350" indent="-514350">
              <a:buNone/>
            </a:pPr>
            <a:r>
              <a:rPr lang="en-US" sz="2400" dirty="0" smtClean="0"/>
              <a:t>	(ii) Randomized block design</a:t>
            </a:r>
          </a:p>
          <a:p>
            <a:pPr marL="514350" indent="-514350">
              <a:buNone/>
            </a:pPr>
            <a:r>
              <a:rPr lang="en-US" sz="2400" dirty="0" smtClean="0"/>
              <a:t>	(iii) Latin-square design</a:t>
            </a:r>
          </a:p>
          <a:p>
            <a:pPr marL="514350" indent="-514350">
              <a:buNone/>
            </a:pPr>
            <a:r>
              <a:rPr lang="en-US" sz="2400" dirty="0" smtClean="0"/>
              <a:t>	(iv) Factorial design</a:t>
            </a:r>
          </a:p>
          <a:p>
            <a:pPr marL="514350" indent="-514350">
              <a:buNone/>
            </a:pPr>
            <a:r>
              <a:rPr lang="en-US" sz="2000" dirty="0" smtClean="0"/>
              <a:t>         (V) ………</a:t>
            </a:r>
            <a:endParaRPr lang="en-IN" sz="2000" dirty="0"/>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Rounded Rectangle 32"/>
          <p:cNvSpPr/>
          <p:nvPr/>
        </p:nvSpPr>
        <p:spPr>
          <a:xfrm>
            <a:off x="304800" y="3810000"/>
            <a:ext cx="8686800" cy="26670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grpSp>
        <p:nvGrpSpPr>
          <p:cNvPr id="17" name="Group 16"/>
          <p:cNvGrpSpPr/>
          <p:nvPr/>
        </p:nvGrpSpPr>
        <p:grpSpPr>
          <a:xfrm>
            <a:off x="457200" y="990600"/>
            <a:ext cx="8153400" cy="2362200"/>
            <a:chOff x="457200" y="990600"/>
            <a:chExt cx="8153400" cy="2362200"/>
          </a:xfrm>
        </p:grpSpPr>
        <p:grpSp>
          <p:nvGrpSpPr>
            <p:cNvPr id="11" name="Group 10"/>
            <p:cNvGrpSpPr/>
            <p:nvPr/>
          </p:nvGrpSpPr>
          <p:grpSpPr>
            <a:xfrm>
              <a:off x="533400" y="990600"/>
              <a:ext cx="8077200" cy="914400"/>
              <a:chOff x="533400" y="990600"/>
              <a:chExt cx="8077200" cy="914400"/>
            </a:xfrm>
          </p:grpSpPr>
          <p:sp>
            <p:nvSpPr>
              <p:cNvPr id="7" name="Rectangle 6"/>
              <p:cNvSpPr/>
              <p:nvPr/>
            </p:nvSpPr>
            <p:spPr>
              <a:xfrm>
                <a:off x="533400" y="990600"/>
                <a:ext cx="19812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a:p>
                <a:pPr algn="ctr"/>
                <a:r>
                  <a:rPr lang="en-US" dirty="0" smtClean="0">
                    <a:solidFill>
                      <a:schemeClr val="tx1"/>
                    </a:solidFill>
                  </a:rPr>
                  <a:t>Phenomenon Before treatment</a:t>
                </a:r>
              </a:p>
              <a:p>
                <a:pPr algn="ctr"/>
                <a:r>
                  <a:rPr lang="en-US" dirty="0" smtClean="0">
                    <a:solidFill>
                      <a:schemeClr val="tx1"/>
                    </a:solidFill>
                  </a:rPr>
                  <a:t> (x)</a:t>
                </a:r>
              </a:p>
              <a:p>
                <a:pPr algn="ctr"/>
                <a:endParaRPr lang="en-IN" dirty="0">
                  <a:solidFill>
                    <a:schemeClr val="tx1"/>
                  </a:solidFill>
                </a:endParaRPr>
              </a:p>
            </p:txBody>
          </p:sp>
          <p:sp>
            <p:nvSpPr>
              <p:cNvPr id="8" name="Rectangle 7"/>
              <p:cNvSpPr/>
              <p:nvPr/>
            </p:nvSpPr>
            <p:spPr>
              <a:xfrm>
                <a:off x="4343400" y="990600"/>
                <a:ext cx="19812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Phenomenon </a:t>
                </a:r>
              </a:p>
              <a:p>
                <a:pPr algn="ctr"/>
                <a:r>
                  <a:rPr lang="en-US" dirty="0" smtClean="0">
                    <a:solidFill>
                      <a:schemeClr val="tx1"/>
                    </a:solidFill>
                  </a:rPr>
                  <a:t>After  treatment (Y)</a:t>
                </a:r>
                <a:endParaRPr lang="en-IN" dirty="0">
                  <a:solidFill>
                    <a:schemeClr val="tx1"/>
                  </a:solidFill>
                </a:endParaRPr>
              </a:p>
            </p:txBody>
          </p:sp>
          <p:sp>
            <p:nvSpPr>
              <p:cNvPr id="9" name="Rectangle 8"/>
              <p:cNvSpPr/>
              <p:nvPr/>
            </p:nvSpPr>
            <p:spPr>
              <a:xfrm>
                <a:off x="6629400" y="990600"/>
                <a:ext cx="19812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Treatment  Effect (Y-X)</a:t>
                </a:r>
                <a:endParaRPr lang="en-IN" dirty="0">
                  <a:solidFill>
                    <a:schemeClr val="tx1"/>
                  </a:solidFill>
                </a:endParaRPr>
              </a:p>
            </p:txBody>
          </p:sp>
          <p:sp>
            <p:nvSpPr>
              <p:cNvPr id="10" name="Rectangle 9"/>
              <p:cNvSpPr/>
              <p:nvPr/>
            </p:nvSpPr>
            <p:spPr>
              <a:xfrm>
                <a:off x="2438400" y="990600"/>
                <a:ext cx="19812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Treatment Introduced</a:t>
                </a:r>
                <a:endParaRPr lang="en-IN" dirty="0">
                  <a:solidFill>
                    <a:schemeClr val="tx1"/>
                  </a:solidFill>
                </a:endParaRPr>
              </a:p>
            </p:txBody>
          </p:sp>
        </p:grpSp>
        <p:grpSp>
          <p:nvGrpSpPr>
            <p:cNvPr id="12" name="Group 11"/>
            <p:cNvGrpSpPr/>
            <p:nvPr/>
          </p:nvGrpSpPr>
          <p:grpSpPr>
            <a:xfrm>
              <a:off x="457200" y="2438400"/>
              <a:ext cx="8077200" cy="914400"/>
              <a:chOff x="533400" y="990600"/>
              <a:chExt cx="8077200" cy="914400"/>
            </a:xfrm>
          </p:grpSpPr>
          <p:sp>
            <p:nvSpPr>
              <p:cNvPr id="13" name="Rectangle 12"/>
              <p:cNvSpPr/>
              <p:nvPr/>
            </p:nvSpPr>
            <p:spPr>
              <a:xfrm>
                <a:off x="533400" y="990600"/>
                <a:ext cx="19812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a:p>
                <a:pPr algn="ctr"/>
                <a:r>
                  <a:rPr lang="en-US" dirty="0" smtClean="0">
                    <a:solidFill>
                      <a:schemeClr val="tx1"/>
                    </a:solidFill>
                  </a:rPr>
                  <a:t>Phenomenon Before treatment</a:t>
                </a:r>
              </a:p>
              <a:p>
                <a:pPr algn="ctr"/>
                <a:r>
                  <a:rPr lang="en-US" dirty="0" smtClean="0">
                    <a:solidFill>
                      <a:schemeClr val="tx1"/>
                    </a:solidFill>
                  </a:rPr>
                  <a:t> (x)</a:t>
                </a:r>
              </a:p>
              <a:p>
                <a:pPr algn="ctr"/>
                <a:endParaRPr lang="en-IN" dirty="0">
                  <a:solidFill>
                    <a:schemeClr val="tx1"/>
                  </a:solidFill>
                </a:endParaRPr>
              </a:p>
            </p:txBody>
          </p:sp>
          <p:sp>
            <p:nvSpPr>
              <p:cNvPr id="14" name="Rectangle 13"/>
              <p:cNvSpPr/>
              <p:nvPr/>
            </p:nvSpPr>
            <p:spPr>
              <a:xfrm>
                <a:off x="4343400" y="990600"/>
                <a:ext cx="19812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Phenomenon </a:t>
                </a:r>
              </a:p>
              <a:p>
                <a:pPr algn="ctr"/>
                <a:r>
                  <a:rPr lang="en-US" dirty="0" smtClean="0">
                    <a:solidFill>
                      <a:schemeClr val="tx1"/>
                    </a:solidFill>
                  </a:rPr>
                  <a:t>After </a:t>
                </a:r>
              </a:p>
              <a:p>
                <a:pPr algn="ctr"/>
                <a:r>
                  <a:rPr lang="en-US" dirty="0" smtClean="0">
                    <a:solidFill>
                      <a:schemeClr val="tx1"/>
                    </a:solidFill>
                  </a:rPr>
                  <a:t>(Y)</a:t>
                </a:r>
                <a:endParaRPr lang="en-IN" dirty="0">
                  <a:solidFill>
                    <a:schemeClr val="tx1"/>
                  </a:solidFill>
                </a:endParaRPr>
              </a:p>
            </p:txBody>
          </p:sp>
          <p:sp>
            <p:nvSpPr>
              <p:cNvPr id="15" name="Rectangle 14"/>
              <p:cNvSpPr/>
              <p:nvPr/>
            </p:nvSpPr>
            <p:spPr>
              <a:xfrm>
                <a:off x="6629400" y="990600"/>
                <a:ext cx="19812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Effect (Y-X)</a:t>
                </a:r>
                <a:endParaRPr lang="en-IN" dirty="0">
                  <a:solidFill>
                    <a:schemeClr val="tx1"/>
                  </a:solidFill>
                </a:endParaRPr>
              </a:p>
            </p:txBody>
          </p:sp>
          <p:sp>
            <p:nvSpPr>
              <p:cNvPr id="16" name="Rectangle 15"/>
              <p:cNvSpPr/>
              <p:nvPr/>
            </p:nvSpPr>
            <p:spPr>
              <a:xfrm>
                <a:off x="2438400" y="990600"/>
                <a:ext cx="19812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No Treatment Introduced</a:t>
                </a:r>
                <a:endParaRPr lang="en-IN" dirty="0">
                  <a:solidFill>
                    <a:schemeClr val="tx1"/>
                  </a:solidFill>
                </a:endParaRPr>
              </a:p>
            </p:txBody>
          </p:sp>
        </p:grpSp>
      </p:grpSp>
      <p:grpSp>
        <p:nvGrpSpPr>
          <p:cNvPr id="18" name="Group 17"/>
          <p:cNvGrpSpPr/>
          <p:nvPr/>
        </p:nvGrpSpPr>
        <p:grpSpPr>
          <a:xfrm>
            <a:off x="457200" y="3962400"/>
            <a:ext cx="8153400" cy="2362200"/>
            <a:chOff x="457200" y="990600"/>
            <a:chExt cx="8153400" cy="2362200"/>
          </a:xfrm>
        </p:grpSpPr>
        <p:grpSp>
          <p:nvGrpSpPr>
            <p:cNvPr id="19" name="Group 10"/>
            <p:cNvGrpSpPr/>
            <p:nvPr/>
          </p:nvGrpSpPr>
          <p:grpSpPr>
            <a:xfrm>
              <a:off x="533400" y="990600"/>
              <a:ext cx="8077200" cy="914400"/>
              <a:chOff x="533400" y="990600"/>
              <a:chExt cx="8077200" cy="914400"/>
            </a:xfrm>
          </p:grpSpPr>
          <p:sp>
            <p:nvSpPr>
              <p:cNvPr id="25" name="Rectangle 24"/>
              <p:cNvSpPr/>
              <p:nvPr/>
            </p:nvSpPr>
            <p:spPr>
              <a:xfrm>
                <a:off x="533400" y="990600"/>
                <a:ext cx="19812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a:p>
                <a:pPr algn="ctr"/>
                <a:r>
                  <a:rPr lang="en-US" dirty="0" smtClean="0">
                    <a:solidFill>
                      <a:schemeClr val="tx1"/>
                    </a:solidFill>
                  </a:rPr>
                  <a:t>Phenomenon Before treatment</a:t>
                </a:r>
              </a:p>
              <a:p>
                <a:pPr algn="ctr"/>
                <a:r>
                  <a:rPr lang="en-US" dirty="0" smtClean="0">
                    <a:solidFill>
                      <a:schemeClr val="tx1"/>
                    </a:solidFill>
                  </a:rPr>
                  <a:t> (x) at time T1</a:t>
                </a:r>
              </a:p>
              <a:p>
                <a:pPr algn="ctr"/>
                <a:endParaRPr lang="en-IN" dirty="0">
                  <a:solidFill>
                    <a:schemeClr val="tx1"/>
                  </a:solidFill>
                </a:endParaRPr>
              </a:p>
            </p:txBody>
          </p:sp>
          <p:sp>
            <p:nvSpPr>
              <p:cNvPr id="26" name="Rectangle 25"/>
              <p:cNvSpPr/>
              <p:nvPr/>
            </p:nvSpPr>
            <p:spPr>
              <a:xfrm>
                <a:off x="4343400" y="990600"/>
                <a:ext cx="19812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Phenomenon </a:t>
                </a:r>
              </a:p>
              <a:p>
                <a:pPr algn="ctr"/>
                <a:r>
                  <a:rPr lang="en-US" dirty="0" smtClean="0">
                    <a:solidFill>
                      <a:schemeClr val="tx1"/>
                    </a:solidFill>
                  </a:rPr>
                  <a:t>After  treatment (Y) at time T2</a:t>
                </a:r>
                <a:endParaRPr lang="en-IN" dirty="0">
                  <a:solidFill>
                    <a:schemeClr val="tx1"/>
                  </a:solidFill>
                </a:endParaRPr>
              </a:p>
            </p:txBody>
          </p:sp>
          <p:sp>
            <p:nvSpPr>
              <p:cNvPr id="27" name="Rectangle 26"/>
              <p:cNvSpPr/>
              <p:nvPr/>
            </p:nvSpPr>
            <p:spPr>
              <a:xfrm>
                <a:off x="6629400" y="990600"/>
                <a:ext cx="19812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8" name="Rectangle 27"/>
              <p:cNvSpPr/>
              <p:nvPr/>
            </p:nvSpPr>
            <p:spPr>
              <a:xfrm>
                <a:off x="2438400" y="990600"/>
                <a:ext cx="19812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Treatment Introduced</a:t>
                </a:r>
                <a:endParaRPr lang="en-IN" dirty="0">
                  <a:solidFill>
                    <a:schemeClr val="tx1"/>
                  </a:solidFill>
                </a:endParaRPr>
              </a:p>
            </p:txBody>
          </p:sp>
        </p:grpSp>
        <p:grpSp>
          <p:nvGrpSpPr>
            <p:cNvPr id="20" name="Group 11"/>
            <p:cNvGrpSpPr/>
            <p:nvPr/>
          </p:nvGrpSpPr>
          <p:grpSpPr>
            <a:xfrm>
              <a:off x="457200" y="2438400"/>
              <a:ext cx="8077200" cy="914400"/>
              <a:chOff x="533400" y="990600"/>
              <a:chExt cx="8077200" cy="914400"/>
            </a:xfrm>
          </p:grpSpPr>
          <p:sp>
            <p:nvSpPr>
              <p:cNvPr id="21" name="Rectangle 20"/>
              <p:cNvSpPr/>
              <p:nvPr/>
            </p:nvSpPr>
            <p:spPr>
              <a:xfrm>
                <a:off x="533400" y="990600"/>
                <a:ext cx="19812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a:p>
                <a:pPr algn="ctr"/>
                <a:r>
                  <a:rPr lang="en-US" dirty="0" smtClean="0">
                    <a:solidFill>
                      <a:schemeClr val="tx1"/>
                    </a:solidFill>
                  </a:rPr>
                  <a:t>Phenomenon without treatment</a:t>
                </a:r>
              </a:p>
              <a:p>
                <a:pPr algn="ctr"/>
                <a:r>
                  <a:rPr lang="en-US" dirty="0" smtClean="0">
                    <a:solidFill>
                      <a:schemeClr val="tx1"/>
                    </a:solidFill>
                  </a:rPr>
                  <a:t> (A) at time T1</a:t>
                </a:r>
              </a:p>
              <a:p>
                <a:pPr algn="ctr"/>
                <a:endParaRPr lang="en-IN" dirty="0">
                  <a:solidFill>
                    <a:schemeClr val="tx1"/>
                  </a:solidFill>
                </a:endParaRPr>
              </a:p>
            </p:txBody>
          </p:sp>
          <p:sp>
            <p:nvSpPr>
              <p:cNvPr id="22" name="Rectangle 21"/>
              <p:cNvSpPr/>
              <p:nvPr/>
            </p:nvSpPr>
            <p:spPr>
              <a:xfrm>
                <a:off x="4343400" y="990600"/>
                <a:ext cx="19812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Phenomenon </a:t>
                </a:r>
              </a:p>
              <a:p>
                <a:pPr algn="ctr"/>
                <a:r>
                  <a:rPr lang="en-US" dirty="0" smtClean="0">
                    <a:solidFill>
                      <a:schemeClr val="tx1"/>
                    </a:solidFill>
                  </a:rPr>
                  <a:t>After  T2</a:t>
                </a:r>
              </a:p>
              <a:p>
                <a:pPr algn="ctr"/>
                <a:r>
                  <a:rPr lang="en-US" dirty="0" smtClean="0">
                    <a:solidFill>
                      <a:schemeClr val="tx1"/>
                    </a:solidFill>
                  </a:rPr>
                  <a:t>(Z)</a:t>
                </a:r>
                <a:endParaRPr lang="en-IN" dirty="0">
                  <a:solidFill>
                    <a:schemeClr val="tx1"/>
                  </a:solidFill>
                </a:endParaRPr>
              </a:p>
            </p:txBody>
          </p:sp>
          <p:sp>
            <p:nvSpPr>
              <p:cNvPr id="23" name="Rectangle 22"/>
              <p:cNvSpPr/>
              <p:nvPr/>
            </p:nvSpPr>
            <p:spPr>
              <a:xfrm>
                <a:off x="6629400" y="990600"/>
                <a:ext cx="19812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Treatment Effect (Y-X)-(z-A)</a:t>
                </a:r>
                <a:endParaRPr lang="en-IN" dirty="0">
                  <a:solidFill>
                    <a:schemeClr val="tx1"/>
                  </a:solidFill>
                </a:endParaRPr>
              </a:p>
            </p:txBody>
          </p:sp>
          <p:sp>
            <p:nvSpPr>
              <p:cNvPr id="24" name="Rectangle 23"/>
              <p:cNvSpPr/>
              <p:nvPr/>
            </p:nvSpPr>
            <p:spPr>
              <a:xfrm>
                <a:off x="2438400" y="990600"/>
                <a:ext cx="19812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No Treatment Introduced</a:t>
                </a:r>
                <a:endParaRPr lang="en-IN" dirty="0">
                  <a:solidFill>
                    <a:schemeClr val="tx1"/>
                  </a:solidFill>
                </a:endParaRPr>
              </a:p>
            </p:txBody>
          </p:sp>
        </p:grpSp>
      </p:grpSp>
      <p:sp>
        <p:nvSpPr>
          <p:cNvPr id="29" name="Rectangle 28"/>
          <p:cNvSpPr/>
          <p:nvPr/>
        </p:nvSpPr>
        <p:spPr>
          <a:xfrm>
            <a:off x="2209800" y="0"/>
            <a:ext cx="5050998" cy="523220"/>
          </a:xfrm>
          <a:prstGeom prst="rect">
            <a:avLst/>
          </a:prstGeom>
        </p:spPr>
        <p:txBody>
          <a:bodyPr wrap="none">
            <a:spAutoFit/>
          </a:bodyPr>
          <a:lstStyle/>
          <a:p>
            <a:pPr marL="514350" indent="-514350">
              <a:buAutoNum type="alphaLcParenBoth"/>
            </a:pPr>
            <a:r>
              <a:rPr lang="en-US" sz="2800" dirty="0" smtClean="0">
                <a:solidFill>
                  <a:srgbClr val="0000CC"/>
                </a:solidFill>
              </a:rPr>
              <a:t>Informal experimental design </a:t>
            </a:r>
          </a:p>
        </p:txBody>
      </p:sp>
      <p:sp>
        <p:nvSpPr>
          <p:cNvPr id="30" name="TextBox 29"/>
          <p:cNvSpPr txBox="1"/>
          <p:nvPr/>
        </p:nvSpPr>
        <p:spPr>
          <a:xfrm>
            <a:off x="685800" y="609600"/>
            <a:ext cx="1676400" cy="369332"/>
          </a:xfrm>
          <a:prstGeom prst="rect">
            <a:avLst/>
          </a:prstGeom>
          <a:noFill/>
        </p:spPr>
        <p:txBody>
          <a:bodyPr wrap="square" rtlCol="0">
            <a:spAutoFit/>
          </a:bodyPr>
          <a:lstStyle/>
          <a:p>
            <a:r>
              <a:rPr lang="en-US" dirty="0" smtClean="0"/>
              <a:t>Case (</a:t>
            </a:r>
            <a:r>
              <a:rPr lang="en-US" dirty="0" err="1" smtClean="0"/>
              <a:t>i</a:t>
            </a:r>
            <a:r>
              <a:rPr lang="en-US" dirty="0" smtClean="0"/>
              <a:t>)</a:t>
            </a:r>
            <a:endParaRPr lang="en-IN" dirty="0"/>
          </a:p>
        </p:txBody>
      </p:sp>
      <p:sp>
        <p:nvSpPr>
          <p:cNvPr id="31" name="TextBox 30"/>
          <p:cNvSpPr txBox="1"/>
          <p:nvPr/>
        </p:nvSpPr>
        <p:spPr>
          <a:xfrm>
            <a:off x="609600" y="1981200"/>
            <a:ext cx="1676400" cy="369332"/>
          </a:xfrm>
          <a:prstGeom prst="rect">
            <a:avLst/>
          </a:prstGeom>
          <a:noFill/>
        </p:spPr>
        <p:txBody>
          <a:bodyPr wrap="square" rtlCol="0">
            <a:spAutoFit/>
          </a:bodyPr>
          <a:lstStyle/>
          <a:p>
            <a:r>
              <a:rPr lang="en-US" dirty="0" smtClean="0"/>
              <a:t>Case (ii)</a:t>
            </a:r>
            <a:endParaRPr lang="en-IN" dirty="0"/>
          </a:p>
        </p:txBody>
      </p:sp>
      <p:sp>
        <p:nvSpPr>
          <p:cNvPr id="32" name="TextBox 31"/>
          <p:cNvSpPr txBox="1"/>
          <p:nvPr/>
        </p:nvSpPr>
        <p:spPr>
          <a:xfrm>
            <a:off x="609600" y="3505200"/>
            <a:ext cx="1676400" cy="369332"/>
          </a:xfrm>
          <a:prstGeom prst="rect">
            <a:avLst/>
          </a:prstGeom>
          <a:noFill/>
        </p:spPr>
        <p:txBody>
          <a:bodyPr wrap="square" rtlCol="0">
            <a:spAutoFit/>
          </a:bodyPr>
          <a:lstStyle/>
          <a:p>
            <a:r>
              <a:rPr lang="en-US" dirty="0" smtClean="0"/>
              <a:t>Case (iii)</a:t>
            </a:r>
            <a:endParaRPr lang="en-IN"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TextBox 6"/>
          <p:cNvSpPr txBox="1"/>
          <p:nvPr/>
        </p:nvSpPr>
        <p:spPr>
          <a:xfrm>
            <a:off x="1524000" y="0"/>
            <a:ext cx="6858000" cy="523220"/>
          </a:xfrm>
          <a:prstGeom prst="rect">
            <a:avLst/>
          </a:prstGeom>
          <a:noFill/>
        </p:spPr>
        <p:txBody>
          <a:bodyPr wrap="square" rtlCol="0">
            <a:spAutoFit/>
          </a:bodyPr>
          <a:lstStyle/>
          <a:p>
            <a:pPr algn="ctr"/>
            <a:r>
              <a:rPr lang="en-US" sz="2800" dirty="0" smtClean="0">
                <a:latin typeface="Bookman Old Style" pitchFamily="18" charset="0"/>
              </a:rPr>
              <a:t>(1) Completely randomized Design</a:t>
            </a:r>
            <a:endParaRPr lang="en-US" sz="2800" dirty="0">
              <a:latin typeface="Bookman Old Style" pitchFamily="18" charset="0"/>
            </a:endParaRPr>
          </a:p>
        </p:txBody>
      </p:sp>
      <p:sp>
        <p:nvSpPr>
          <p:cNvPr id="8" name="TextBox 7"/>
          <p:cNvSpPr txBox="1"/>
          <p:nvPr/>
        </p:nvSpPr>
        <p:spPr>
          <a:xfrm>
            <a:off x="304800" y="762000"/>
            <a:ext cx="8534400" cy="6863417"/>
          </a:xfrm>
          <a:prstGeom prst="rect">
            <a:avLst/>
          </a:prstGeom>
          <a:noFill/>
        </p:spPr>
        <p:txBody>
          <a:bodyPr wrap="square" rtlCol="0">
            <a:spAutoFit/>
          </a:bodyPr>
          <a:lstStyle/>
          <a:p>
            <a:pPr algn="just"/>
            <a:r>
              <a:rPr lang="en-US" sz="2000" dirty="0" smtClean="0">
                <a:latin typeface="Bookman Old Style" pitchFamily="18" charset="0"/>
              </a:rPr>
              <a:t>Used to study of effects of one primary variable without considering the effect of nuisance factor. </a:t>
            </a:r>
          </a:p>
          <a:p>
            <a:pPr algn="just"/>
            <a:endParaRPr lang="en-US" sz="2000" dirty="0" smtClean="0">
              <a:latin typeface="Bookman Old Style" pitchFamily="18" charset="0"/>
            </a:endParaRPr>
          </a:p>
          <a:p>
            <a:pPr algn="just"/>
            <a:r>
              <a:rPr lang="en-US" sz="2000" dirty="0" smtClean="0">
                <a:latin typeface="Bookman Old Style" pitchFamily="18" charset="0"/>
              </a:rPr>
              <a:t>(</a:t>
            </a:r>
            <a:r>
              <a:rPr lang="en-IN" sz="2000" dirty="0" smtClean="0">
                <a:latin typeface="Bookman Old Style" pitchFamily="18" charset="0"/>
              </a:rPr>
              <a:t>A </a:t>
            </a:r>
            <a:r>
              <a:rPr lang="en-IN" sz="2000" b="1" i="1" dirty="0" smtClean="0">
                <a:latin typeface="Bookman Old Style" pitchFamily="18" charset="0"/>
              </a:rPr>
              <a:t>factor</a:t>
            </a:r>
            <a:r>
              <a:rPr lang="en-IN" sz="2000" dirty="0" smtClean="0">
                <a:latin typeface="Bookman Old Style" pitchFamily="18" charset="0"/>
              </a:rPr>
              <a:t> of an experiment is a controlled independent variable; a variable whose levels are set by the experimenter ; </a:t>
            </a:r>
            <a:r>
              <a:rPr lang="en-IN" sz="2000" b="1" dirty="0" smtClean="0">
                <a:latin typeface="Bookman Old Style" pitchFamily="18" charset="0"/>
              </a:rPr>
              <a:t>Nuisance factor </a:t>
            </a:r>
            <a:r>
              <a:rPr lang="en-IN" sz="2000" dirty="0" smtClean="0">
                <a:latin typeface="Bookman Old Style" pitchFamily="18" charset="0"/>
              </a:rPr>
              <a:t>: A factor that probably has an effect on the response but is not a factor of interest. Nuisance factors are usually uncontrolled and is reflected  as noise).</a:t>
            </a:r>
          </a:p>
          <a:p>
            <a:endParaRPr lang="en-IN" sz="2000" dirty="0" smtClean="0">
              <a:latin typeface="Bookman Old Style" pitchFamily="18" charset="0"/>
            </a:endParaRPr>
          </a:p>
          <a:p>
            <a:pPr algn="just"/>
            <a:r>
              <a:rPr lang="en-IN" sz="2000" dirty="0" smtClean="0">
                <a:latin typeface="Bookman Old Style" pitchFamily="18" charset="0"/>
              </a:rPr>
              <a:t>Three </a:t>
            </a:r>
            <a:r>
              <a:rPr lang="en-US" sz="2000" dirty="0" smtClean="0">
                <a:latin typeface="Bookman Old Style" pitchFamily="18" charset="0"/>
              </a:rPr>
              <a:t> numbers </a:t>
            </a:r>
            <a:r>
              <a:rPr lang="en-US" sz="2000" i="1" dirty="0" smtClean="0">
                <a:latin typeface="Bookman Old Style" pitchFamily="18" charset="0"/>
              </a:rPr>
              <a:t>k, L </a:t>
            </a:r>
            <a:r>
              <a:rPr lang="en-US" sz="2000" dirty="0" smtClean="0">
                <a:latin typeface="Bookman Old Style" pitchFamily="18" charset="0"/>
              </a:rPr>
              <a:t>and </a:t>
            </a:r>
            <a:r>
              <a:rPr lang="en-US" sz="2000" i="1" dirty="0" smtClean="0">
                <a:latin typeface="Bookman Old Style" pitchFamily="18" charset="0"/>
              </a:rPr>
              <a:t>n</a:t>
            </a:r>
            <a:r>
              <a:rPr lang="en-US" sz="2000" dirty="0" smtClean="0">
                <a:latin typeface="Bookman Old Style" pitchFamily="18" charset="0"/>
              </a:rPr>
              <a:t> are used, where  </a:t>
            </a:r>
            <a:r>
              <a:rPr lang="en-US" sz="2000" i="1" dirty="0" smtClean="0">
                <a:latin typeface="Bookman Old Style" pitchFamily="18" charset="0"/>
              </a:rPr>
              <a:t>k</a:t>
            </a:r>
            <a:r>
              <a:rPr lang="en-US" sz="2000" dirty="0" smtClean="0">
                <a:latin typeface="Bookman Old Style" pitchFamily="18" charset="0"/>
              </a:rPr>
              <a:t> is the number of factors, </a:t>
            </a:r>
            <a:r>
              <a:rPr lang="en-US" sz="2000" i="1" dirty="0" smtClean="0">
                <a:latin typeface="Bookman Old Style" pitchFamily="18" charset="0"/>
              </a:rPr>
              <a:t>L</a:t>
            </a:r>
            <a:r>
              <a:rPr lang="en-US" sz="2000" dirty="0" smtClean="0">
                <a:latin typeface="Bookman Old Style" pitchFamily="18" charset="0"/>
              </a:rPr>
              <a:t> is the number of levels and </a:t>
            </a:r>
            <a:r>
              <a:rPr lang="en-US" sz="2000" i="1" dirty="0" smtClean="0">
                <a:latin typeface="Bookman Old Style" pitchFamily="18" charset="0"/>
              </a:rPr>
              <a:t>n</a:t>
            </a:r>
            <a:r>
              <a:rPr lang="en-US" sz="2000" dirty="0" smtClean="0">
                <a:latin typeface="Bookman Old Style" pitchFamily="18" charset="0"/>
              </a:rPr>
              <a:t> is the  number of replications,  the number of data size is </a:t>
            </a:r>
            <a:r>
              <a:rPr lang="en-US" sz="2000" i="1" dirty="0" err="1" smtClean="0">
                <a:latin typeface="Bookman Old Style" pitchFamily="18" charset="0"/>
              </a:rPr>
              <a:t>kLn</a:t>
            </a:r>
            <a:r>
              <a:rPr lang="en-IN" sz="2000" i="1" dirty="0" smtClean="0">
                <a:latin typeface="Bookman Old Style" pitchFamily="18" charset="0"/>
              </a:rPr>
              <a:t>.</a:t>
            </a:r>
            <a:r>
              <a:rPr lang="en-IN" sz="2000" dirty="0" smtClean="0">
                <a:latin typeface="Bookman Old Style" pitchFamily="18" charset="0"/>
              </a:rPr>
              <a:t> </a:t>
            </a:r>
          </a:p>
          <a:p>
            <a:endParaRPr lang="en-IN" sz="2000" dirty="0" smtClean="0">
              <a:latin typeface="Bookman Old Style" pitchFamily="18" charset="0"/>
            </a:endParaRPr>
          </a:p>
          <a:p>
            <a:pPr algn="just"/>
            <a:r>
              <a:rPr lang="en-IN" sz="2000" dirty="0" smtClean="0">
                <a:latin typeface="Bookman Old Style" pitchFamily="18" charset="0"/>
              </a:rPr>
              <a:t>For example, if 3 levels of the primary factor are considered, and it is desired to run each level twice, then the possible run sequences are 6!. Due to the replication, the number of unique sequence </a:t>
            </a:r>
            <a:r>
              <a:rPr lang="en-IN" sz="2000" dirty="0" smtClean="0">
                <a:latin typeface="Bookman Old Style" pitchFamily="18" charset="0"/>
              </a:rPr>
              <a:t>of run is</a:t>
            </a:r>
            <a:endParaRPr lang="en-IN" sz="2000" dirty="0" smtClean="0">
              <a:latin typeface="Bookman Old Style" pitchFamily="18" charset="0"/>
            </a:endParaRPr>
          </a:p>
          <a:p>
            <a:endParaRPr lang="en-IN" sz="2000" dirty="0" smtClean="0">
              <a:latin typeface="Bookman Old Style" pitchFamily="18" charset="0"/>
            </a:endParaRPr>
          </a:p>
          <a:p>
            <a:endParaRPr lang="en-IN" sz="2000" dirty="0" smtClean="0">
              <a:latin typeface="Bookman Old Style" pitchFamily="18" charset="0"/>
            </a:endParaRPr>
          </a:p>
          <a:p>
            <a:endParaRPr lang="en-IN" sz="2000" dirty="0" smtClean="0">
              <a:latin typeface="Bookman Old Style" pitchFamily="18" charset="0"/>
            </a:endParaRPr>
          </a:p>
          <a:p>
            <a:endParaRPr lang="en-US" sz="2000" dirty="0" smtClean="0">
              <a:latin typeface="Bookman Old Style" pitchFamily="18" charset="0"/>
            </a:endParaRPr>
          </a:p>
          <a:p>
            <a:endParaRPr lang="en-US" sz="2000" dirty="0">
              <a:latin typeface="Bookman Old Style" pitchFamily="18" charset="0"/>
            </a:endParaRPr>
          </a:p>
        </p:txBody>
      </p:sp>
      <p:graphicFrame>
        <p:nvGraphicFramePr>
          <p:cNvPr id="9" name="Object 8"/>
          <p:cNvGraphicFramePr>
            <a:graphicFrameLocks noChangeAspect="1"/>
          </p:cNvGraphicFramePr>
          <p:nvPr/>
        </p:nvGraphicFramePr>
        <p:xfrm>
          <a:off x="3962400" y="5638800"/>
          <a:ext cx="1457325" cy="685800"/>
        </p:xfrm>
        <a:graphic>
          <a:graphicData uri="http://schemas.openxmlformats.org/presentationml/2006/ole">
            <p:oleObj spid="_x0000_s5121" name="Equation" r:id="rId3" imgW="1079280" imgH="507960" progId="Equation.3">
              <p:embed/>
            </p:oleObj>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229600" cy="5257800"/>
          </a:xfrm>
        </p:spPr>
        <p:txBody>
          <a:bodyPr/>
          <a:lstStyle/>
          <a:p>
            <a:pPr>
              <a:lnSpc>
                <a:spcPts val="3200"/>
              </a:lnSpc>
              <a:spcBef>
                <a:spcPts val="0"/>
              </a:spcBef>
            </a:pPr>
            <a:r>
              <a:rPr lang="en-US" sz="2000" dirty="0" smtClean="0">
                <a:latin typeface="Bookman Old Style" pitchFamily="18" charset="0"/>
              </a:rPr>
              <a:t>A typical example of a completely randomized design is the following: </a:t>
            </a:r>
          </a:p>
          <a:p>
            <a:pPr lvl="0">
              <a:lnSpc>
                <a:spcPts val="3200"/>
              </a:lnSpc>
              <a:spcBef>
                <a:spcPts val="0"/>
              </a:spcBef>
              <a:buNone/>
            </a:pPr>
            <a:r>
              <a:rPr lang="en-US" sz="2000" i="1" dirty="0" smtClean="0">
                <a:latin typeface="Bookman Old Style" pitchFamily="18" charset="0"/>
              </a:rPr>
              <a:t>	k</a:t>
            </a:r>
            <a:r>
              <a:rPr lang="en-US" sz="2000" dirty="0" smtClean="0">
                <a:latin typeface="Bookman Old Style" pitchFamily="18" charset="0"/>
              </a:rPr>
              <a:t> = 1 factor (</a:t>
            </a:r>
            <a:r>
              <a:rPr lang="en-US" sz="2000" i="1" dirty="0" smtClean="0">
                <a:latin typeface="Bookman Old Style" pitchFamily="18" charset="0"/>
              </a:rPr>
              <a:t>X</a:t>
            </a:r>
            <a:r>
              <a:rPr lang="en-US" sz="2000" baseline="-25000" dirty="0" smtClean="0">
                <a:latin typeface="Bookman Old Style" pitchFamily="18" charset="0"/>
              </a:rPr>
              <a:t>1</a:t>
            </a:r>
            <a:r>
              <a:rPr lang="en-US" sz="2000" dirty="0" smtClean="0">
                <a:latin typeface="Bookman Old Style" pitchFamily="18" charset="0"/>
              </a:rPr>
              <a:t>)</a:t>
            </a:r>
          </a:p>
          <a:p>
            <a:pPr lvl="0">
              <a:lnSpc>
                <a:spcPts val="3200"/>
              </a:lnSpc>
              <a:spcBef>
                <a:spcPts val="0"/>
              </a:spcBef>
              <a:buNone/>
            </a:pPr>
            <a:r>
              <a:rPr lang="en-US" sz="2000" i="1" dirty="0" smtClean="0">
                <a:latin typeface="Bookman Old Style" pitchFamily="18" charset="0"/>
              </a:rPr>
              <a:t>	L</a:t>
            </a:r>
            <a:r>
              <a:rPr lang="en-US" sz="2000" dirty="0" smtClean="0">
                <a:latin typeface="Bookman Old Style" pitchFamily="18" charset="0"/>
              </a:rPr>
              <a:t> = 4 levels of that single factor (called "1", "2", "3", and "4")</a:t>
            </a:r>
          </a:p>
          <a:p>
            <a:pPr lvl="0">
              <a:lnSpc>
                <a:spcPts val="3200"/>
              </a:lnSpc>
              <a:spcBef>
                <a:spcPts val="0"/>
              </a:spcBef>
              <a:buNone/>
            </a:pPr>
            <a:r>
              <a:rPr lang="en-US" sz="2000" i="1" dirty="0" smtClean="0">
                <a:latin typeface="Bookman Old Style" pitchFamily="18" charset="0"/>
              </a:rPr>
              <a:t>	n</a:t>
            </a:r>
            <a:r>
              <a:rPr lang="en-US" sz="2000" dirty="0" smtClean="0">
                <a:latin typeface="Bookman Old Style" pitchFamily="18" charset="0"/>
              </a:rPr>
              <a:t> = 3 replications per level</a:t>
            </a:r>
          </a:p>
          <a:p>
            <a:pPr lvl="0">
              <a:lnSpc>
                <a:spcPts val="3200"/>
              </a:lnSpc>
              <a:spcBef>
                <a:spcPts val="0"/>
              </a:spcBef>
              <a:buNone/>
            </a:pPr>
            <a:r>
              <a:rPr lang="en-US" sz="2000" i="1" dirty="0" smtClean="0">
                <a:latin typeface="Bookman Old Style" pitchFamily="18" charset="0"/>
              </a:rPr>
              <a:t>	N</a:t>
            </a:r>
            <a:r>
              <a:rPr lang="en-US" sz="2000" dirty="0" smtClean="0">
                <a:latin typeface="Bookman Old Style" pitchFamily="18" charset="0"/>
              </a:rPr>
              <a:t> = 4 levels × 3 replications per level = 12 runs</a:t>
            </a:r>
          </a:p>
          <a:p>
            <a:pPr>
              <a:lnSpc>
                <a:spcPts val="3200"/>
              </a:lnSpc>
              <a:spcBef>
                <a:spcPts val="0"/>
              </a:spcBef>
            </a:pPr>
            <a:r>
              <a:rPr lang="en-US" sz="2000" b="1" dirty="0" smtClean="0">
                <a:latin typeface="Bookman Old Style" pitchFamily="18" charset="0"/>
              </a:rPr>
              <a:t> Randomized sequence of trials</a:t>
            </a:r>
            <a:endParaRPr lang="en-US" sz="2000" dirty="0" smtClean="0">
              <a:latin typeface="Bookman Old Style" pitchFamily="18" charset="0"/>
            </a:endParaRPr>
          </a:p>
          <a:p>
            <a:pPr>
              <a:lnSpc>
                <a:spcPts val="3200"/>
              </a:lnSpc>
              <a:spcBef>
                <a:spcPts val="0"/>
              </a:spcBef>
              <a:buNone/>
            </a:pPr>
            <a:r>
              <a:rPr lang="en-US" sz="2000" dirty="0" smtClean="0">
                <a:latin typeface="Bookman Old Style" pitchFamily="18" charset="0"/>
              </a:rPr>
              <a:t>	The randomized sequence of trials might look like: X</a:t>
            </a:r>
            <a:r>
              <a:rPr lang="en-US" sz="2000" baseline="-25000" dirty="0" smtClean="0">
                <a:latin typeface="Bookman Old Style" pitchFamily="18" charset="0"/>
              </a:rPr>
              <a:t>1</a:t>
            </a:r>
            <a:r>
              <a:rPr lang="en-US" sz="2000" dirty="0" smtClean="0">
                <a:latin typeface="Bookman Old Style" pitchFamily="18" charset="0"/>
              </a:rPr>
              <a:t>: {3, 1, 4, 2, 2, 1, 3, 4, 1, 2, 4, 3} </a:t>
            </a:r>
          </a:p>
          <a:p>
            <a:pPr>
              <a:lnSpc>
                <a:spcPts val="3200"/>
              </a:lnSpc>
              <a:spcBef>
                <a:spcPts val="0"/>
              </a:spcBef>
              <a:buNone/>
            </a:pPr>
            <a:r>
              <a:rPr lang="en-US" sz="2000" dirty="0" smtClean="0">
                <a:latin typeface="Bookman Old Style" pitchFamily="18" charset="0"/>
              </a:rPr>
              <a:t>	In this example there are 12!/(3! 3! 3! 3!) = 369,600 ways to run the experiment, all equally likely to be picked by a randomization procedure</a:t>
            </a:r>
            <a:endParaRPr lang="en-US" sz="2000" dirty="0">
              <a:latin typeface="Bookman Old Style" pitchFamily="18" charset="0"/>
            </a:endParaRPr>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8" name="TextBox 7"/>
          <p:cNvSpPr txBox="1"/>
          <p:nvPr/>
        </p:nvSpPr>
        <p:spPr>
          <a:xfrm>
            <a:off x="990600" y="0"/>
            <a:ext cx="7543800" cy="523220"/>
          </a:xfrm>
          <a:prstGeom prst="rect">
            <a:avLst/>
          </a:prstGeom>
          <a:noFill/>
        </p:spPr>
        <p:txBody>
          <a:bodyPr wrap="square" rtlCol="0">
            <a:spAutoFit/>
          </a:bodyPr>
          <a:lstStyle/>
          <a:p>
            <a:pPr algn="ctr"/>
            <a:r>
              <a:rPr lang="en-US" sz="2800" dirty="0" smtClean="0">
                <a:latin typeface="Bookman Old Style" pitchFamily="18" charset="0"/>
              </a:rPr>
              <a:t>(2) Randomized complete block Design</a:t>
            </a:r>
            <a:endParaRPr lang="en-US" sz="2800" dirty="0">
              <a:latin typeface="Bookman Old Style" pitchFamily="18" charset="0"/>
            </a:endParaRPr>
          </a:p>
        </p:txBody>
      </p:sp>
      <p:sp>
        <p:nvSpPr>
          <p:cNvPr id="9" name="Rectangle 8"/>
          <p:cNvSpPr/>
          <p:nvPr/>
        </p:nvSpPr>
        <p:spPr>
          <a:xfrm>
            <a:off x="304800" y="914400"/>
            <a:ext cx="8610600" cy="5016758"/>
          </a:xfrm>
          <a:prstGeom prst="rect">
            <a:avLst/>
          </a:prstGeom>
        </p:spPr>
        <p:txBody>
          <a:bodyPr wrap="square">
            <a:spAutoFit/>
          </a:bodyPr>
          <a:lstStyle/>
          <a:p>
            <a:pPr algn="just">
              <a:lnSpc>
                <a:spcPts val="3200"/>
              </a:lnSpc>
            </a:pPr>
            <a:r>
              <a:rPr lang="en-IN" sz="2000" dirty="0" smtClean="0">
                <a:latin typeface="Bookman Old Style" pitchFamily="18" charset="0"/>
              </a:rPr>
              <a:t>Randomized complete block designs, however, differ from completely randomized designs. In RCBD, the experimental units are </a:t>
            </a:r>
            <a:r>
              <a:rPr lang="en-IN" sz="2000" dirty="0" smtClean="0">
                <a:solidFill>
                  <a:srgbClr val="0000CC"/>
                </a:solidFill>
                <a:latin typeface="Bookman Old Style" pitchFamily="18" charset="0"/>
              </a:rPr>
              <a:t>grouped into blocks </a:t>
            </a:r>
            <a:r>
              <a:rPr lang="en-IN" sz="2000" dirty="0" smtClean="0">
                <a:latin typeface="Bookman Old Style" pitchFamily="18" charset="0"/>
              </a:rPr>
              <a:t>according to known or suspected variations. RCBD </a:t>
            </a:r>
            <a:r>
              <a:rPr lang="en-IN" sz="2000" dirty="0" smtClean="0">
                <a:latin typeface="Bookman Old Style" pitchFamily="18" charset="0"/>
              </a:rPr>
              <a:t>is useful when the effect of one particular factor (in medical terms, the treatment factor) on the response variable is more relevant. The </a:t>
            </a:r>
            <a:r>
              <a:rPr lang="en-IN" sz="2000" dirty="0" smtClean="0">
                <a:solidFill>
                  <a:srgbClr val="0000CC"/>
                </a:solidFill>
                <a:latin typeface="Bookman Old Style" pitchFamily="18" charset="0"/>
              </a:rPr>
              <a:t>primary factor takes all possible values during a batch of experiments, and the nuisance factors are kept </a:t>
            </a:r>
            <a:r>
              <a:rPr lang="en-US" sz="2000" dirty="0" smtClean="0">
                <a:solidFill>
                  <a:srgbClr val="0000CC"/>
                </a:solidFill>
                <a:latin typeface="Bookman Old Style" pitchFamily="18" charset="0"/>
              </a:rPr>
              <a:t>constant</a:t>
            </a:r>
            <a:r>
              <a:rPr lang="en-US" sz="2000" dirty="0" smtClean="0">
                <a:latin typeface="Bookman Old Style" pitchFamily="18" charset="0"/>
              </a:rPr>
              <a:t>. </a:t>
            </a:r>
            <a:endParaRPr lang="en-IN" sz="2000" dirty="0" smtClean="0">
              <a:latin typeface="Bookman Old Style" pitchFamily="18" charset="0"/>
            </a:endParaRPr>
          </a:p>
          <a:p>
            <a:pPr algn="just">
              <a:lnSpc>
                <a:spcPts val="3200"/>
              </a:lnSpc>
            </a:pPr>
            <a:endParaRPr lang="en-IN" sz="2000" dirty="0" smtClean="0">
              <a:latin typeface="Bookman Old Style" pitchFamily="18" charset="0"/>
            </a:endParaRPr>
          </a:p>
          <a:p>
            <a:pPr algn="just">
              <a:lnSpc>
                <a:spcPts val="3200"/>
              </a:lnSpc>
            </a:pPr>
            <a:r>
              <a:rPr lang="en-IN" sz="2000" dirty="0" smtClean="0">
                <a:latin typeface="Bookman Old Style" pitchFamily="18" charset="0"/>
              </a:rPr>
              <a:t>As a result, several factors cannot be controlled, but on average, their influence on response becomes negligible due to randomization. In RCBD, </a:t>
            </a:r>
            <a:r>
              <a:rPr lang="en-IN" sz="2000" dirty="0" smtClean="0">
                <a:solidFill>
                  <a:srgbClr val="0000CC"/>
                </a:solidFill>
                <a:latin typeface="Bookman Old Style" pitchFamily="18" charset="0"/>
              </a:rPr>
              <a:t>blocks represent factors with restrictions </a:t>
            </a:r>
            <a:r>
              <a:rPr lang="en-IN" sz="2000" dirty="0" smtClean="0">
                <a:latin typeface="Bookman Old Style" pitchFamily="18" charset="0"/>
              </a:rPr>
              <a:t>and cannot be randomized.</a:t>
            </a:r>
            <a:endParaRPr lang="en-US" sz="2000" dirty="0">
              <a:latin typeface="Bookman Old Style"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7" name="Rectangle 6"/>
          <p:cNvSpPr/>
          <p:nvPr/>
        </p:nvSpPr>
        <p:spPr>
          <a:xfrm>
            <a:off x="152400" y="751344"/>
            <a:ext cx="8763000" cy="4606389"/>
          </a:xfrm>
          <a:prstGeom prst="rect">
            <a:avLst/>
          </a:prstGeom>
        </p:spPr>
        <p:txBody>
          <a:bodyPr wrap="square">
            <a:spAutoFit/>
          </a:bodyPr>
          <a:lstStyle/>
          <a:p>
            <a:pPr algn="just">
              <a:lnSpc>
                <a:spcPts val="3200"/>
              </a:lnSpc>
            </a:pPr>
            <a:r>
              <a:rPr lang="en-IN" sz="2000" dirty="0" smtClean="0">
                <a:latin typeface="Bookman Old Style" pitchFamily="18" charset="0"/>
              </a:rPr>
              <a:t>An experiment is conducted, with </a:t>
            </a:r>
            <a:r>
              <a:rPr lang="en-IN" sz="2000" i="1" dirty="0" smtClean="0">
                <a:latin typeface="Bookman Old Style" pitchFamily="18" charset="0"/>
              </a:rPr>
              <a:t>k</a:t>
            </a:r>
            <a:r>
              <a:rPr lang="en-IN" sz="2000" dirty="0" smtClean="0">
                <a:latin typeface="Bookman Old Style" pitchFamily="18" charset="0"/>
              </a:rPr>
              <a:t> numbers of controllable factors, denoted by, </a:t>
            </a:r>
            <a:r>
              <a:rPr lang="en-IN" sz="2000" i="1" dirty="0" smtClean="0">
                <a:latin typeface="Bookman Old Style" pitchFamily="18" charset="0"/>
              </a:rPr>
              <a:t>X</a:t>
            </a:r>
            <a:r>
              <a:rPr lang="en-IN" sz="2000" i="1" baseline="-25000" dirty="0" smtClean="0">
                <a:latin typeface="Bookman Old Style" pitchFamily="18" charset="0"/>
              </a:rPr>
              <a:t>1</a:t>
            </a:r>
            <a:r>
              <a:rPr lang="en-IN" sz="2000" i="1" dirty="0" smtClean="0">
                <a:latin typeface="Bookman Old Style" pitchFamily="18" charset="0"/>
              </a:rPr>
              <a:t>; X</a:t>
            </a:r>
            <a:r>
              <a:rPr lang="en-IN" sz="2000" i="1" baseline="-25000" dirty="0" smtClean="0">
                <a:latin typeface="Bookman Old Style" pitchFamily="18" charset="0"/>
              </a:rPr>
              <a:t>2</a:t>
            </a:r>
            <a:r>
              <a:rPr lang="en-IN" sz="2000" i="1" dirty="0" smtClean="0">
                <a:latin typeface="Bookman Old Style" pitchFamily="18" charset="0"/>
              </a:rPr>
              <a:t> ........</a:t>
            </a:r>
            <a:r>
              <a:rPr lang="en-IN" sz="2000" i="1" dirty="0" err="1" smtClean="0">
                <a:latin typeface="Bookman Old Style" pitchFamily="18" charset="0"/>
              </a:rPr>
              <a:t>X</a:t>
            </a:r>
            <a:r>
              <a:rPr lang="en-IN" sz="2000" i="1" baseline="-25000" dirty="0" err="1" smtClean="0">
                <a:latin typeface="Bookman Old Style" pitchFamily="18" charset="0"/>
              </a:rPr>
              <a:t>k</a:t>
            </a:r>
            <a:r>
              <a:rPr lang="en-IN" sz="2000" dirty="0" smtClean="0">
                <a:latin typeface="Bookman Old Style" pitchFamily="18" charset="0"/>
              </a:rPr>
              <a:t>, where one of them, </a:t>
            </a:r>
            <a:r>
              <a:rPr lang="en-IN" sz="2000" i="1" dirty="0" err="1" smtClean="0">
                <a:latin typeface="Bookman Old Style" pitchFamily="18" charset="0"/>
              </a:rPr>
              <a:t>X</a:t>
            </a:r>
            <a:r>
              <a:rPr lang="en-IN" sz="2000" i="1" baseline="-25000" dirty="0" err="1" smtClean="0">
                <a:latin typeface="Bookman Old Style" pitchFamily="18" charset="0"/>
              </a:rPr>
              <a:t>k</a:t>
            </a:r>
            <a:r>
              <a:rPr lang="en-IN" sz="2000" i="1" dirty="0" smtClean="0">
                <a:latin typeface="Bookman Old Style" pitchFamily="18" charset="0"/>
              </a:rPr>
              <a:t>,</a:t>
            </a:r>
            <a:r>
              <a:rPr lang="en-IN" sz="2000" dirty="0" smtClean="0">
                <a:latin typeface="Bookman Old Style" pitchFamily="18" charset="0"/>
              </a:rPr>
              <a:t> is of primary interest. </a:t>
            </a:r>
          </a:p>
          <a:p>
            <a:pPr algn="just">
              <a:lnSpc>
                <a:spcPts val="3200"/>
              </a:lnSpc>
            </a:pPr>
            <a:r>
              <a:rPr lang="en-IN" sz="2000" dirty="0" smtClean="0">
                <a:latin typeface="Bookman Old Style" pitchFamily="18" charset="0"/>
              </a:rPr>
              <a:t>The number of levels of each factor are</a:t>
            </a:r>
            <a:r>
              <a:rPr lang="en-IN" sz="2000" i="1" dirty="0" smtClean="0">
                <a:latin typeface="Bookman Old Style" pitchFamily="18" charset="0"/>
              </a:rPr>
              <a:t>  L</a:t>
            </a:r>
            <a:r>
              <a:rPr lang="en-IN" sz="2000" i="1" baseline="-25000" dirty="0" smtClean="0">
                <a:latin typeface="Bookman Old Style" pitchFamily="18" charset="0"/>
              </a:rPr>
              <a:t>1</a:t>
            </a:r>
            <a:r>
              <a:rPr lang="en-IN" sz="2000" i="1" dirty="0" smtClean="0">
                <a:latin typeface="Bookman Old Style" pitchFamily="18" charset="0"/>
              </a:rPr>
              <a:t>, L</a:t>
            </a:r>
            <a:r>
              <a:rPr lang="en-IN" sz="2000" i="1" baseline="-25000" dirty="0" smtClean="0">
                <a:latin typeface="Bookman Old Style" pitchFamily="18" charset="0"/>
              </a:rPr>
              <a:t> 2.</a:t>
            </a:r>
            <a:r>
              <a:rPr lang="en-IN" sz="2000" i="1" dirty="0" smtClean="0">
                <a:latin typeface="Bookman Old Style" pitchFamily="18" charset="0"/>
              </a:rPr>
              <a:t> </a:t>
            </a:r>
            <a:r>
              <a:rPr lang="en-IN" sz="2000" i="1" baseline="30000" dirty="0" smtClean="0">
                <a:latin typeface="Bookman Old Style" pitchFamily="18" charset="0"/>
              </a:rPr>
              <a:t>..........</a:t>
            </a:r>
            <a:r>
              <a:rPr lang="en-IN" sz="2000" i="1" dirty="0" err="1" smtClean="0">
                <a:latin typeface="Bookman Old Style" pitchFamily="18" charset="0"/>
              </a:rPr>
              <a:t>L</a:t>
            </a:r>
            <a:r>
              <a:rPr lang="en-IN" sz="2000" i="1" baseline="-25000" dirty="0" err="1" smtClean="0">
                <a:latin typeface="Bookman Old Style" pitchFamily="18" charset="0"/>
              </a:rPr>
              <a:t>k</a:t>
            </a:r>
            <a:r>
              <a:rPr lang="en-IN" sz="2000" dirty="0" smtClean="0">
                <a:latin typeface="Bookman Old Style" pitchFamily="18" charset="0"/>
              </a:rPr>
              <a:t>. </a:t>
            </a:r>
          </a:p>
          <a:p>
            <a:pPr algn="just">
              <a:lnSpc>
                <a:spcPts val="3200"/>
              </a:lnSpc>
            </a:pPr>
            <a:r>
              <a:rPr lang="en-IN" sz="2000" dirty="0" smtClean="0">
                <a:latin typeface="Bookman Old Style" pitchFamily="18" charset="0"/>
              </a:rPr>
              <a:t>If </a:t>
            </a:r>
            <a:r>
              <a:rPr lang="en-IN" sz="2000" i="1" dirty="0" smtClean="0">
                <a:latin typeface="Bookman Old Style" pitchFamily="18" charset="0"/>
              </a:rPr>
              <a:t>n </a:t>
            </a:r>
            <a:r>
              <a:rPr lang="en-IN" sz="2000" dirty="0" smtClean="0">
                <a:latin typeface="Bookman Old Style" pitchFamily="18" charset="0"/>
              </a:rPr>
              <a:t>(</a:t>
            </a:r>
            <a:r>
              <a:rPr lang="en-IN" sz="2000" i="1" dirty="0" smtClean="0">
                <a:latin typeface="Bookman Old Style" pitchFamily="18" charset="0"/>
              </a:rPr>
              <a:t>=</a:t>
            </a:r>
            <a:r>
              <a:rPr lang="en-IN" sz="2000" dirty="0" smtClean="0">
                <a:latin typeface="Bookman Old Style" pitchFamily="18" charset="0"/>
              </a:rPr>
              <a:t>1) number of replications are conducted for each experiment, the total number of experiments needed is given by</a:t>
            </a:r>
            <a:r>
              <a:rPr lang="en-IN" sz="2000" i="1" dirty="0" smtClean="0">
                <a:latin typeface="Bookman Old Style" pitchFamily="18" charset="0"/>
              </a:rPr>
              <a:t> N = n(L</a:t>
            </a:r>
            <a:r>
              <a:rPr lang="en-IN" sz="2000" i="1" baseline="-25000" dirty="0" smtClean="0">
                <a:latin typeface="Bookman Old Style" pitchFamily="18" charset="0"/>
              </a:rPr>
              <a:t>1</a:t>
            </a:r>
            <a:r>
              <a:rPr lang="en-IN" sz="2000" i="1" dirty="0" smtClean="0">
                <a:latin typeface="Bookman Old Style" pitchFamily="18" charset="0"/>
              </a:rPr>
              <a:t> L</a:t>
            </a:r>
            <a:r>
              <a:rPr lang="en-IN" sz="2000" i="1" baseline="-25000" dirty="0" smtClean="0">
                <a:latin typeface="Bookman Old Style" pitchFamily="18" charset="0"/>
              </a:rPr>
              <a:t>2</a:t>
            </a:r>
            <a:r>
              <a:rPr lang="en-IN" sz="2000" baseline="30000" dirty="0" smtClean="0">
                <a:latin typeface="Bookman Old Style" pitchFamily="18" charset="0"/>
              </a:rPr>
              <a:t>........</a:t>
            </a:r>
            <a:r>
              <a:rPr lang="en-IN" sz="2000" dirty="0" smtClean="0">
                <a:latin typeface="Bookman Old Style" pitchFamily="18" charset="0"/>
              </a:rPr>
              <a:t> </a:t>
            </a:r>
            <a:r>
              <a:rPr lang="en-IN" sz="2000" i="1" dirty="0" err="1" smtClean="0">
                <a:latin typeface="Bookman Old Style" pitchFamily="18" charset="0"/>
              </a:rPr>
              <a:t>L</a:t>
            </a:r>
            <a:r>
              <a:rPr lang="en-IN" sz="2000" i="1" baseline="-25000" dirty="0" err="1" smtClean="0">
                <a:latin typeface="Bookman Old Style" pitchFamily="18" charset="0"/>
              </a:rPr>
              <a:t>k</a:t>
            </a:r>
            <a:r>
              <a:rPr lang="en-IN" sz="2000" dirty="0" smtClean="0">
                <a:latin typeface="Bookman Old Style" pitchFamily="18" charset="0"/>
              </a:rPr>
              <a:t>). </a:t>
            </a:r>
          </a:p>
          <a:p>
            <a:pPr algn="just">
              <a:lnSpc>
                <a:spcPts val="3200"/>
              </a:lnSpc>
            </a:pPr>
            <a:r>
              <a:rPr lang="en-IN" sz="2000" dirty="0" smtClean="0">
                <a:latin typeface="Bookman Old Style" pitchFamily="18" charset="0"/>
              </a:rPr>
              <a:t>One may consider a case where, </a:t>
            </a:r>
            <a:r>
              <a:rPr lang="en-IN" sz="2000" i="1" dirty="0" smtClean="0">
                <a:latin typeface="Bookman Old Style" pitchFamily="18" charset="0"/>
              </a:rPr>
              <a:t>k = 2, L</a:t>
            </a:r>
            <a:r>
              <a:rPr lang="en-IN" sz="2000" i="1" baseline="-25000" dirty="0" smtClean="0">
                <a:latin typeface="Bookman Old Style" pitchFamily="18" charset="0"/>
              </a:rPr>
              <a:t>1</a:t>
            </a:r>
            <a:r>
              <a:rPr lang="en-IN" sz="2000" i="1" dirty="0" smtClean="0">
                <a:latin typeface="Bookman Old Style" pitchFamily="18" charset="0"/>
              </a:rPr>
              <a:t> = 4; L</a:t>
            </a:r>
            <a:r>
              <a:rPr lang="en-IN" sz="2000" i="1" baseline="-25000" dirty="0" smtClean="0">
                <a:latin typeface="Bookman Old Style" pitchFamily="18" charset="0"/>
              </a:rPr>
              <a:t>2</a:t>
            </a:r>
            <a:r>
              <a:rPr lang="en-IN" sz="2000" i="1" dirty="0" smtClean="0">
                <a:latin typeface="Bookman Old Style" pitchFamily="18" charset="0"/>
              </a:rPr>
              <a:t> = 4</a:t>
            </a:r>
            <a:r>
              <a:rPr lang="en-IN" sz="2000" dirty="0" smtClean="0">
                <a:latin typeface="Bookman Old Style" pitchFamily="18" charset="0"/>
              </a:rPr>
              <a:t>, the nuisance factor is </a:t>
            </a:r>
            <a:r>
              <a:rPr lang="en-IN" sz="2000" i="1" dirty="0" smtClean="0">
                <a:latin typeface="Bookman Old Style" pitchFamily="18" charset="0"/>
              </a:rPr>
              <a:t>X</a:t>
            </a:r>
            <a:r>
              <a:rPr lang="en-IN" sz="2000" i="1" baseline="-25000" dirty="0" smtClean="0">
                <a:latin typeface="Bookman Old Style" pitchFamily="18" charset="0"/>
              </a:rPr>
              <a:t>1</a:t>
            </a:r>
            <a:r>
              <a:rPr lang="en-IN" sz="2000" dirty="0" smtClean="0">
                <a:latin typeface="Bookman Old Style" pitchFamily="18" charset="0"/>
              </a:rPr>
              <a:t>, and the primary factor is </a:t>
            </a:r>
            <a:r>
              <a:rPr lang="en-IN" sz="2000" i="1" dirty="0" smtClean="0">
                <a:latin typeface="Bookman Old Style" pitchFamily="18" charset="0"/>
              </a:rPr>
              <a:t>X</a:t>
            </a:r>
            <a:r>
              <a:rPr lang="en-IN" sz="2000" i="1" baseline="-25000" dirty="0" smtClean="0">
                <a:latin typeface="Bookman Old Style" pitchFamily="18" charset="0"/>
              </a:rPr>
              <a:t>2</a:t>
            </a:r>
            <a:r>
              <a:rPr lang="en-IN" sz="2000" dirty="0" smtClean="0">
                <a:latin typeface="Bookman Old Style" pitchFamily="18" charset="0"/>
              </a:rPr>
              <a:t>. Evidently, </a:t>
            </a:r>
            <a:r>
              <a:rPr lang="en-IN" sz="2000" i="1" dirty="0" smtClean="0">
                <a:latin typeface="Bookman Old Style" pitchFamily="18" charset="0"/>
              </a:rPr>
              <a:t>N</a:t>
            </a:r>
            <a:r>
              <a:rPr lang="en-IN" sz="2000" dirty="0" smtClean="0">
                <a:latin typeface="Bookman Old Style" pitchFamily="18" charset="0"/>
              </a:rPr>
              <a:t> = 16. The four levels of </a:t>
            </a:r>
            <a:r>
              <a:rPr lang="en-IN" sz="2000" i="1" dirty="0" smtClean="0">
                <a:latin typeface="Bookman Old Style" pitchFamily="18" charset="0"/>
              </a:rPr>
              <a:t>X</a:t>
            </a:r>
            <a:r>
              <a:rPr lang="en-IN" sz="2000" i="1" baseline="-25000" dirty="0" smtClean="0">
                <a:latin typeface="Bookman Old Style" pitchFamily="18" charset="0"/>
              </a:rPr>
              <a:t>1</a:t>
            </a:r>
            <a:r>
              <a:rPr lang="en-IN" sz="2000" dirty="0" smtClean="0">
                <a:latin typeface="Bookman Old Style" pitchFamily="18" charset="0"/>
              </a:rPr>
              <a:t> are </a:t>
            </a:r>
            <a:r>
              <a:rPr lang="en-IN" sz="2000" i="1" dirty="0" smtClean="0">
                <a:latin typeface="Bookman Old Style" pitchFamily="18" charset="0"/>
              </a:rPr>
              <a:t>A; B ;C,</a:t>
            </a:r>
            <a:r>
              <a:rPr lang="en-IN" sz="2000" dirty="0" smtClean="0">
                <a:latin typeface="Bookman Old Style" pitchFamily="18" charset="0"/>
              </a:rPr>
              <a:t> and </a:t>
            </a:r>
            <a:r>
              <a:rPr lang="en-IN" sz="2000" i="1" dirty="0" smtClean="0">
                <a:latin typeface="Bookman Old Style" pitchFamily="18" charset="0"/>
              </a:rPr>
              <a:t>D</a:t>
            </a:r>
            <a:r>
              <a:rPr lang="en-IN" sz="2000" dirty="0" smtClean="0">
                <a:latin typeface="Bookman Old Style" pitchFamily="18" charset="0"/>
              </a:rPr>
              <a:t> and that of </a:t>
            </a:r>
            <a:r>
              <a:rPr lang="en-IN" sz="2000" i="1" dirty="0" smtClean="0">
                <a:latin typeface="Bookman Old Style" pitchFamily="18" charset="0"/>
              </a:rPr>
              <a:t>X</a:t>
            </a:r>
            <a:r>
              <a:rPr lang="en-IN" sz="2000" i="1" baseline="-25000" dirty="0" smtClean="0">
                <a:latin typeface="Bookman Old Style" pitchFamily="18" charset="0"/>
              </a:rPr>
              <a:t>2</a:t>
            </a:r>
            <a:r>
              <a:rPr lang="en-IN" sz="2000" baseline="-25000" dirty="0" smtClean="0">
                <a:latin typeface="Bookman Old Style" pitchFamily="18" charset="0"/>
              </a:rPr>
              <a:t> </a:t>
            </a:r>
            <a:r>
              <a:rPr lang="en-IN" sz="2000" dirty="0" smtClean="0">
                <a:latin typeface="Bookman Old Style" pitchFamily="18" charset="0"/>
              </a:rPr>
              <a:t>are </a:t>
            </a:r>
            <a:r>
              <a:rPr lang="el-GR" sz="2000" dirty="0" smtClean="0">
                <a:latin typeface="Bookman Old Style" pitchFamily="18" charset="0"/>
              </a:rPr>
              <a:t>α</a:t>
            </a:r>
            <a:r>
              <a:rPr lang="en-US" sz="2000" dirty="0" smtClean="0">
                <a:latin typeface="Bookman Old Style" pitchFamily="18" charset="0"/>
              </a:rPr>
              <a:t>, </a:t>
            </a:r>
            <a:r>
              <a:rPr lang="el-GR" sz="2000" dirty="0" smtClean="0">
                <a:latin typeface="Bookman Old Style" pitchFamily="18" charset="0"/>
              </a:rPr>
              <a:t>β</a:t>
            </a:r>
            <a:r>
              <a:rPr lang="en-US" sz="2000" dirty="0" smtClean="0">
                <a:latin typeface="Bookman Old Style" pitchFamily="18" charset="0"/>
              </a:rPr>
              <a:t>, </a:t>
            </a:r>
            <a:r>
              <a:rPr lang="el-GR" sz="2000" dirty="0" smtClean="0">
                <a:latin typeface="Bookman Old Style" pitchFamily="18" charset="0"/>
              </a:rPr>
              <a:t>γ</a:t>
            </a:r>
            <a:r>
              <a:rPr lang="en-US" sz="2000" dirty="0" smtClean="0">
                <a:latin typeface="Bookman Old Style" pitchFamily="18" charset="0"/>
              </a:rPr>
              <a:t>, </a:t>
            </a:r>
            <a:r>
              <a:rPr lang="el-GR" sz="2000" dirty="0" smtClean="0">
                <a:latin typeface="Bookman Old Style" pitchFamily="18" charset="0"/>
              </a:rPr>
              <a:t>δ</a:t>
            </a:r>
            <a:r>
              <a:rPr lang="en-IN" sz="2000" dirty="0" smtClean="0">
                <a:latin typeface="Bookman Old Style" pitchFamily="18" charset="0"/>
              </a:rPr>
              <a:t>,. The matrix of experiments is shown</a:t>
            </a:r>
            <a:endParaRPr lang="en-US" sz="2000" dirty="0">
              <a:latin typeface="Bookman Old Style"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35842" name="Picture 2"/>
          <p:cNvPicPr>
            <a:picLocks noChangeAspect="1" noChangeArrowheads="1"/>
          </p:cNvPicPr>
          <p:nvPr/>
        </p:nvPicPr>
        <p:blipFill>
          <a:blip r:embed="rId2"/>
          <a:srcRect/>
          <a:stretch>
            <a:fillRect/>
          </a:stretch>
        </p:blipFill>
        <p:spPr bwMode="auto">
          <a:xfrm>
            <a:off x="762000" y="1327587"/>
            <a:ext cx="7315200" cy="5073213"/>
          </a:xfrm>
          <a:prstGeom prst="rect">
            <a:avLst/>
          </a:prstGeom>
          <a:noFill/>
          <a:ln w="9525">
            <a:noFill/>
            <a:miter lim="800000"/>
            <a:headEnd/>
            <a:tailEnd/>
          </a:ln>
          <a:effectLst/>
        </p:spPr>
      </p:pic>
      <p:sp>
        <p:nvSpPr>
          <p:cNvPr id="7" name="Rectangle 6"/>
          <p:cNvSpPr/>
          <p:nvPr/>
        </p:nvSpPr>
        <p:spPr>
          <a:xfrm>
            <a:off x="1676400" y="762000"/>
            <a:ext cx="6934200" cy="646331"/>
          </a:xfrm>
          <a:prstGeom prst="rect">
            <a:avLst/>
          </a:prstGeom>
        </p:spPr>
        <p:txBody>
          <a:bodyPr wrap="square">
            <a:spAutoFit/>
          </a:bodyPr>
          <a:lstStyle/>
          <a:p>
            <a:r>
              <a:rPr lang="en-IN" i="1" dirty="0" smtClean="0">
                <a:latin typeface="Bookman Old Style" pitchFamily="18" charset="0"/>
              </a:rPr>
              <a:t>k = 2, L</a:t>
            </a:r>
            <a:r>
              <a:rPr lang="en-IN" i="1" baseline="-25000" dirty="0" smtClean="0">
                <a:latin typeface="Bookman Old Style" pitchFamily="18" charset="0"/>
              </a:rPr>
              <a:t>1</a:t>
            </a:r>
            <a:r>
              <a:rPr lang="en-IN" i="1" dirty="0" smtClean="0">
                <a:latin typeface="Bookman Old Style" pitchFamily="18" charset="0"/>
              </a:rPr>
              <a:t> = 4, ( A, B, C, D) ;  L</a:t>
            </a:r>
            <a:r>
              <a:rPr lang="en-IN" i="1" baseline="-25000" dirty="0" smtClean="0">
                <a:latin typeface="Bookman Old Style" pitchFamily="18" charset="0"/>
              </a:rPr>
              <a:t>2</a:t>
            </a:r>
            <a:r>
              <a:rPr lang="en-IN" i="1" dirty="0" smtClean="0">
                <a:latin typeface="Bookman Old Style" pitchFamily="18" charset="0"/>
              </a:rPr>
              <a:t> = 4 (</a:t>
            </a:r>
            <a:r>
              <a:rPr lang="el-GR" dirty="0" smtClean="0">
                <a:latin typeface="Bookman Old Style" pitchFamily="18" charset="0"/>
              </a:rPr>
              <a:t>α</a:t>
            </a:r>
            <a:r>
              <a:rPr lang="en-US" dirty="0" smtClean="0">
                <a:latin typeface="Bookman Old Style" pitchFamily="18" charset="0"/>
              </a:rPr>
              <a:t>, </a:t>
            </a:r>
            <a:r>
              <a:rPr lang="el-GR" dirty="0" smtClean="0">
                <a:latin typeface="Bookman Old Style" pitchFamily="18" charset="0"/>
              </a:rPr>
              <a:t>β</a:t>
            </a:r>
            <a:r>
              <a:rPr lang="en-US" dirty="0" smtClean="0">
                <a:latin typeface="Bookman Old Style" pitchFamily="18" charset="0"/>
              </a:rPr>
              <a:t>, </a:t>
            </a:r>
            <a:r>
              <a:rPr lang="el-GR" dirty="0" smtClean="0">
                <a:latin typeface="Bookman Old Style" pitchFamily="18" charset="0"/>
              </a:rPr>
              <a:t>γ</a:t>
            </a:r>
            <a:r>
              <a:rPr lang="en-US" dirty="0" smtClean="0">
                <a:latin typeface="Bookman Old Style" pitchFamily="18" charset="0"/>
              </a:rPr>
              <a:t>, </a:t>
            </a:r>
            <a:r>
              <a:rPr lang="el-GR" dirty="0" smtClean="0">
                <a:latin typeface="Bookman Old Style" pitchFamily="18" charset="0"/>
              </a:rPr>
              <a:t>δ</a:t>
            </a:r>
            <a:r>
              <a:rPr lang="en-US" dirty="0" smtClean="0">
                <a:latin typeface="Bookman Old Style" pitchFamily="18" charset="0"/>
              </a:rPr>
              <a:t>) and total number of experiments needed is </a:t>
            </a:r>
            <a:r>
              <a:rPr lang="en-IN" i="1" dirty="0" smtClean="0">
                <a:latin typeface="Bookman Old Style" pitchFamily="18" charset="0"/>
              </a:rPr>
              <a:t>L</a:t>
            </a:r>
            <a:r>
              <a:rPr lang="en-IN" i="1" baseline="-25000" dirty="0" smtClean="0">
                <a:latin typeface="Bookman Old Style" pitchFamily="18" charset="0"/>
              </a:rPr>
              <a:t>1</a:t>
            </a:r>
            <a:r>
              <a:rPr lang="en-US" dirty="0" smtClean="0">
                <a:latin typeface="Bookman Old Style" pitchFamily="18" charset="0"/>
              </a:rPr>
              <a:t> </a:t>
            </a:r>
            <a:r>
              <a:rPr lang="en-IN" i="1" dirty="0" smtClean="0">
                <a:latin typeface="Bookman Old Style" pitchFamily="18" charset="0"/>
              </a:rPr>
              <a:t>L</a:t>
            </a:r>
            <a:r>
              <a:rPr lang="en-IN" i="1" baseline="-25000" dirty="0" smtClean="0">
                <a:latin typeface="Bookman Old Style" pitchFamily="18" charset="0"/>
              </a:rPr>
              <a:t>2 </a:t>
            </a:r>
            <a:r>
              <a:rPr lang="en-US" dirty="0" smtClean="0">
                <a:latin typeface="Bookman Old Style" pitchFamily="18" charset="0"/>
              </a:rPr>
              <a:t> </a:t>
            </a:r>
            <a:endParaRPr lang="en-US" dirty="0"/>
          </a:p>
        </p:txBody>
      </p:sp>
      <p:sp>
        <p:nvSpPr>
          <p:cNvPr id="9" name="Oval 8"/>
          <p:cNvSpPr/>
          <p:nvPr/>
        </p:nvSpPr>
        <p:spPr>
          <a:xfrm>
            <a:off x="2819400" y="1828800"/>
            <a:ext cx="304800" cy="228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724400" y="1371600"/>
            <a:ext cx="1905000" cy="646331"/>
          </a:xfrm>
          <a:prstGeom prst="rect">
            <a:avLst/>
          </a:prstGeom>
          <a:noFill/>
        </p:spPr>
        <p:txBody>
          <a:bodyPr wrap="square" rtlCol="0">
            <a:spAutoFit/>
          </a:bodyPr>
          <a:lstStyle/>
          <a:p>
            <a:r>
              <a:rPr lang="en-US" dirty="0" smtClean="0"/>
              <a:t>Nuisance</a:t>
            </a:r>
          </a:p>
          <a:p>
            <a:r>
              <a:rPr lang="en-US" dirty="0" smtClean="0"/>
              <a:t>Primary factor</a:t>
            </a:r>
            <a:endParaRPr lang="en-US" dirty="0"/>
          </a:p>
        </p:txBody>
      </p:sp>
      <p:cxnSp>
        <p:nvCxnSpPr>
          <p:cNvPr id="12" name="Straight Arrow Connector 11"/>
          <p:cNvCxnSpPr/>
          <p:nvPr/>
        </p:nvCxnSpPr>
        <p:spPr>
          <a:xfrm rot="10800000" flipV="1">
            <a:off x="3200400" y="1524000"/>
            <a:ext cx="1447800" cy="3810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flipV="1">
            <a:off x="3733800" y="1828800"/>
            <a:ext cx="914400" cy="762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7" name="TextBox 6"/>
          <p:cNvSpPr txBox="1"/>
          <p:nvPr/>
        </p:nvSpPr>
        <p:spPr>
          <a:xfrm>
            <a:off x="1066800" y="76200"/>
            <a:ext cx="7772400" cy="523220"/>
          </a:xfrm>
          <a:prstGeom prst="rect">
            <a:avLst/>
          </a:prstGeom>
          <a:noFill/>
        </p:spPr>
        <p:txBody>
          <a:bodyPr wrap="square" rtlCol="0">
            <a:spAutoFit/>
          </a:bodyPr>
          <a:lstStyle/>
          <a:p>
            <a:pPr algn="ctr"/>
            <a:r>
              <a:rPr lang="en-US" sz="2800" dirty="0" smtClean="0">
                <a:latin typeface="Bookman Old Style" pitchFamily="18" charset="0"/>
              </a:rPr>
              <a:t>Latin square experiment</a:t>
            </a:r>
            <a:endParaRPr lang="en-US" sz="2800" dirty="0">
              <a:latin typeface="Bookman Old Style" pitchFamily="18" charset="0"/>
            </a:endParaRPr>
          </a:p>
        </p:txBody>
      </p:sp>
      <p:sp>
        <p:nvSpPr>
          <p:cNvPr id="8" name="Rectangle 7"/>
          <p:cNvSpPr/>
          <p:nvPr/>
        </p:nvSpPr>
        <p:spPr>
          <a:xfrm>
            <a:off x="381000" y="685800"/>
            <a:ext cx="8534400" cy="3990836"/>
          </a:xfrm>
          <a:prstGeom prst="rect">
            <a:avLst/>
          </a:prstGeom>
        </p:spPr>
        <p:txBody>
          <a:bodyPr wrap="square">
            <a:spAutoFit/>
          </a:bodyPr>
          <a:lstStyle/>
          <a:p>
            <a:pPr algn="just">
              <a:lnSpc>
                <a:spcPts val="3200"/>
              </a:lnSpc>
            </a:pPr>
            <a:r>
              <a:rPr lang="en-IN" sz="2000" dirty="0" smtClean="0">
                <a:latin typeface="Bookman Old Style" pitchFamily="18" charset="0"/>
              </a:rPr>
              <a:t>With the increase in the number of factors, the data size grows rapidly in Randomized Complete Block design (RCBD) experiments. The Latin square experimental design follows almost the same procedure as the RCBD. However, it's </a:t>
            </a:r>
            <a:r>
              <a:rPr lang="en-IN" sz="2000" dirty="0" smtClean="0">
                <a:solidFill>
                  <a:srgbClr val="0000CC"/>
                </a:solidFill>
                <a:latin typeface="Bookman Old Style" pitchFamily="18" charset="0"/>
              </a:rPr>
              <a:t>primary objective is to reduce the number of tests required.</a:t>
            </a:r>
            <a:r>
              <a:rPr lang="en-IN" sz="2000" dirty="0" smtClean="0">
                <a:latin typeface="Bookman Old Style" pitchFamily="18" charset="0"/>
              </a:rPr>
              <a:t> Therefore, instead of following the design of an RCBD, </a:t>
            </a:r>
            <a:r>
              <a:rPr lang="en-IN" sz="2000" dirty="0" smtClean="0">
                <a:solidFill>
                  <a:srgbClr val="0000CC"/>
                </a:solidFill>
                <a:latin typeface="Bookman Old Style" pitchFamily="18" charset="0"/>
              </a:rPr>
              <a:t>a single experiment in each block is </a:t>
            </a:r>
            <a:r>
              <a:rPr lang="en-US" sz="2000" dirty="0" smtClean="0">
                <a:solidFill>
                  <a:srgbClr val="0000CC"/>
                </a:solidFill>
                <a:latin typeface="Bookman Old Style" pitchFamily="18" charset="0"/>
              </a:rPr>
              <a:t>conducted.</a:t>
            </a:r>
            <a:r>
              <a:rPr lang="en-IN" sz="2000" dirty="0" smtClean="0">
                <a:solidFill>
                  <a:srgbClr val="0000CC"/>
                </a:solidFill>
                <a:latin typeface="Bookman Old Style" pitchFamily="18" charset="0"/>
              </a:rPr>
              <a:t> </a:t>
            </a:r>
            <a:r>
              <a:rPr lang="en-IN" sz="2000" dirty="0" smtClean="0">
                <a:latin typeface="Bookman Old Style" pitchFamily="18" charset="0"/>
              </a:rPr>
              <a:t>The Latin square design is usually applicable for any </a:t>
            </a:r>
            <a:r>
              <a:rPr lang="en-IN" sz="2000" i="1" dirty="0" smtClean="0">
                <a:latin typeface="Bookman Old Style" pitchFamily="18" charset="0"/>
              </a:rPr>
              <a:t>k</a:t>
            </a:r>
            <a:r>
              <a:rPr lang="en-IN" sz="2000" dirty="0" smtClean="0">
                <a:latin typeface="Bookman Old Style" pitchFamily="18" charset="0"/>
              </a:rPr>
              <a:t> &gt; 3.</a:t>
            </a:r>
          </a:p>
          <a:p>
            <a:pPr algn="just"/>
            <a:endParaRPr lang="en-IN" sz="2000" dirty="0" smtClean="0">
              <a:latin typeface="Bookman Old Style" pitchFamily="18" charset="0"/>
            </a:endParaRPr>
          </a:p>
          <a:p>
            <a:pPr algn="just"/>
            <a:endParaRPr lang="en-US" sz="2000" dirty="0">
              <a:latin typeface="Bookman Old Style" pitchFamily="18" charset="0"/>
            </a:endParaRPr>
          </a:p>
        </p:txBody>
      </p:sp>
      <p:sp>
        <p:nvSpPr>
          <p:cNvPr id="9" name="Rectangle 8"/>
          <p:cNvSpPr/>
          <p:nvPr/>
        </p:nvSpPr>
        <p:spPr>
          <a:xfrm>
            <a:off x="228600" y="3886200"/>
            <a:ext cx="8534400" cy="1733808"/>
          </a:xfrm>
          <a:prstGeom prst="rect">
            <a:avLst/>
          </a:prstGeom>
        </p:spPr>
        <p:txBody>
          <a:bodyPr wrap="square">
            <a:spAutoFit/>
          </a:bodyPr>
          <a:lstStyle/>
          <a:p>
            <a:pPr>
              <a:lnSpc>
                <a:spcPts val="3200"/>
              </a:lnSpc>
            </a:pPr>
            <a:r>
              <a:rPr lang="en-IN" sz="2000" dirty="0" smtClean="0">
                <a:latin typeface="Bookman Old Style" pitchFamily="18" charset="0"/>
              </a:rPr>
              <a:t>Let us assume that </a:t>
            </a:r>
            <a:r>
              <a:rPr lang="en-IN" sz="2000" i="1" dirty="0" smtClean="0">
                <a:latin typeface="Bookman Old Style" pitchFamily="18" charset="0"/>
              </a:rPr>
              <a:t>X</a:t>
            </a:r>
            <a:r>
              <a:rPr lang="en-IN" sz="2000" baseline="-25000" dirty="0" smtClean="0">
                <a:latin typeface="Bookman Old Style" pitchFamily="18" charset="0"/>
              </a:rPr>
              <a:t>1</a:t>
            </a:r>
            <a:r>
              <a:rPr lang="en-IN" sz="2000" dirty="0" smtClean="0">
                <a:latin typeface="Bookman Old Style" pitchFamily="18" charset="0"/>
              </a:rPr>
              <a:t> and </a:t>
            </a:r>
            <a:r>
              <a:rPr lang="en-IN" sz="2000" i="1" dirty="0" smtClean="0">
                <a:latin typeface="Bookman Old Style" pitchFamily="18" charset="0"/>
              </a:rPr>
              <a:t>X</a:t>
            </a:r>
            <a:r>
              <a:rPr lang="en-IN" sz="2000" baseline="-25000" dirty="0" smtClean="0">
                <a:latin typeface="Bookman Old Style" pitchFamily="18" charset="0"/>
              </a:rPr>
              <a:t>2</a:t>
            </a:r>
            <a:r>
              <a:rPr lang="en-IN" sz="2000" dirty="0" smtClean="0">
                <a:latin typeface="Bookman Old Style" pitchFamily="18" charset="0"/>
              </a:rPr>
              <a:t> is the nuisance factors and </a:t>
            </a:r>
            <a:r>
              <a:rPr lang="en-IN" sz="2000" i="1" dirty="0" smtClean="0">
                <a:latin typeface="Bookman Old Style" pitchFamily="18" charset="0"/>
              </a:rPr>
              <a:t>X</a:t>
            </a:r>
            <a:r>
              <a:rPr lang="en-IN" sz="2000" baseline="-25000" dirty="0" smtClean="0">
                <a:latin typeface="Bookman Old Style" pitchFamily="18" charset="0"/>
              </a:rPr>
              <a:t>3</a:t>
            </a:r>
            <a:r>
              <a:rPr lang="en-IN" sz="2000" dirty="0" smtClean="0">
                <a:latin typeface="Bookman Old Style" pitchFamily="18" charset="0"/>
              </a:rPr>
              <a:t> is the primary factor. Therefore </a:t>
            </a:r>
            <a:r>
              <a:rPr lang="en-IN" sz="2000" i="1" dirty="0" smtClean="0">
                <a:latin typeface="Bookman Old Style" pitchFamily="18" charset="0"/>
              </a:rPr>
              <a:t>k</a:t>
            </a:r>
            <a:r>
              <a:rPr lang="en-IN" sz="2000" dirty="0" smtClean="0">
                <a:latin typeface="Bookman Old Style" pitchFamily="18" charset="0"/>
              </a:rPr>
              <a:t> = 3, The levels are taken as, </a:t>
            </a:r>
            <a:r>
              <a:rPr lang="en-IN" sz="2000" i="1" dirty="0" smtClean="0">
                <a:latin typeface="Bookman Old Style" pitchFamily="18" charset="0"/>
              </a:rPr>
              <a:t>L</a:t>
            </a:r>
            <a:r>
              <a:rPr lang="en-IN" sz="2000" baseline="-25000" dirty="0" smtClean="0">
                <a:latin typeface="Bookman Old Style" pitchFamily="18" charset="0"/>
              </a:rPr>
              <a:t>1</a:t>
            </a:r>
            <a:r>
              <a:rPr lang="en-IN" sz="2000" dirty="0" smtClean="0">
                <a:latin typeface="Bookman Old Style" pitchFamily="18" charset="0"/>
              </a:rPr>
              <a:t> = </a:t>
            </a:r>
            <a:r>
              <a:rPr lang="en-IN" sz="2000" i="1" dirty="0" smtClean="0">
                <a:latin typeface="Bookman Old Style" pitchFamily="18" charset="0"/>
              </a:rPr>
              <a:t>L</a:t>
            </a:r>
            <a:r>
              <a:rPr lang="en-IN" sz="2000" baseline="-25000" dirty="0" smtClean="0">
                <a:latin typeface="Bookman Old Style" pitchFamily="18" charset="0"/>
              </a:rPr>
              <a:t>2</a:t>
            </a:r>
            <a:r>
              <a:rPr lang="en-IN" sz="2000" dirty="0" smtClean="0">
                <a:latin typeface="Bookman Old Style" pitchFamily="18" charset="0"/>
              </a:rPr>
              <a:t> = L</a:t>
            </a:r>
            <a:r>
              <a:rPr lang="en-IN" sz="2000" baseline="-25000" dirty="0" smtClean="0">
                <a:latin typeface="Bookman Old Style" pitchFamily="18" charset="0"/>
              </a:rPr>
              <a:t>3</a:t>
            </a:r>
            <a:r>
              <a:rPr lang="en-IN" sz="2000" dirty="0" smtClean="0">
                <a:latin typeface="Bookman Old Style" pitchFamily="18" charset="0"/>
              </a:rPr>
              <a:t> = </a:t>
            </a:r>
            <a:r>
              <a:rPr lang="en-IN" sz="2000" i="1" dirty="0" smtClean="0">
                <a:latin typeface="Bookman Old Style" pitchFamily="18" charset="0"/>
              </a:rPr>
              <a:t>L</a:t>
            </a:r>
            <a:r>
              <a:rPr lang="en-IN" sz="2000" dirty="0" smtClean="0">
                <a:latin typeface="Bookman Old Style" pitchFamily="18" charset="0"/>
              </a:rPr>
              <a:t>. Hence, the size of the experiment is </a:t>
            </a:r>
            <a:r>
              <a:rPr lang="en-IN" sz="2000" i="1" dirty="0" smtClean="0">
                <a:latin typeface="Bookman Old Style" pitchFamily="18" charset="0"/>
              </a:rPr>
              <a:t>N</a:t>
            </a:r>
            <a:r>
              <a:rPr lang="en-IN" sz="2000" dirty="0" smtClean="0">
                <a:latin typeface="Bookman Old Style" pitchFamily="18" charset="0"/>
              </a:rPr>
              <a:t> = </a:t>
            </a:r>
            <a:r>
              <a:rPr lang="en-IN" sz="2000" i="1" dirty="0" smtClean="0">
                <a:latin typeface="Bookman Old Style" pitchFamily="18" charset="0"/>
              </a:rPr>
              <a:t>L</a:t>
            </a:r>
            <a:r>
              <a:rPr lang="en-IN" sz="2000" baseline="30000" dirty="0" smtClean="0">
                <a:latin typeface="Bookman Old Style" pitchFamily="18" charset="0"/>
              </a:rPr>
              <a:t>2</a:t>
            </a:r>
            <a:r>
              <a:rPr lang="en-IN" sz="2000" dirty="0" smtClean="0">
                <a:latin typeface="Bookman Old Style" pitchFamily="18" charset="0"/>
              </a:rPr>
              <a:t> in contrast to the sample size of RCBD, where all levels are multiplied</a:t>
            </a:r>
            <a:endParaRPr lang="en-US" sz="2000" dirty="0">
              <a:latin typeface="Bookman Old Style"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7" name="Rectangle 6"/>
          <p:cNvSpPr/>
          <p:nvPr/>
        </p:nvSpPr>
        <p:spPr>
          <a:xfrm>
            <a:off x="381000" y="914400"/>
            <a:ext cx="8534400" cy="2144177"/>
          </a:xfrm>
          <a:prstGeom prst="rect">
            <a:avLst/>
          </a:prstGeom>
        </p:spPr>
        <p:txBody>
          <a:bodyPr wrap="square">
            <a:spAutoFit/>
          </a:bodyPr>
          <a:lstStyle/>
          <a:p>
            <a:pPr>
              <a:lnSpc>
                <a:spcPts val="3200"/>
              </a:lnSpc>
            </a:pPr>
            <a:r>
              <a:rPr lang="en-IN" sz="2000" dirty="0" smtClean="0">
                <a:latin typeface="Bookman Old Style" pitchFamily="18" charset="0"/>
              </a:rPr>
              <a:t>To represent the experiments, the two </a:t>
            </a:r>
            <a:r>
              <a:rPr lang="en-IN" sz="2000" dirty="0" smtClean="0">
                <a:solidFill>
                  <a:srgbClr val="0000CC"/>
                </a:solidFill>
                <a:latin typeface="Bookman Old Style" pitchFamily="18" charset="0"/>
              </a:rPr>
              <a:t>nuisance factors </a:t>
            </a:r>
            <a:r>
              <a:rPr lang="en-IN" sz="2000" i="1" dirty="0" smtClean="0">
                <a:solidFill>
                  <a:srgbClr val="0000CC"/>
                </a:solidFill>
                <a:latin typeface="Bookman Old Style" pitchFamily="18" charset="0"/>
              </a:rPr>
              <a:t>X</a:t>
            </a:r>
            <a:r>
              <a:rPr lang="en-IN" sz="2000" i="1" baseline="-25000" dirty="0" smtClean="0">
                <a:solidFill>
                  <a:srgbClr val="0000CC"/>
                </a:solidFill>
                <a:latin typeface="Bookman Old Style" pitchFamily="18" charset="0"/>
              </a:rPr>
              <a:t>1</a:t>
            </a:r>
            <a:r>
              <a:rPr lang="en-IN" sz="2000" dirty="0" smtClean="0">
                <a:solidFill>
                  <a:srgbClr val="0000CC"/>
                </a:solidFill>
                <a:latin typeface="Bookman Old Style" pitchFamily="18" charset="0"/>
              </a:rPr>
              <a:t> and </a:t>
            </a:r>
            <a:r>
              <a:rPr lang="en-IN" sz="2000" i="1" dirty="0" smtClean="0">
                <a:solidFill>
                  <a:srgbClr val="0000CC"/>
                </a:solidFill>
                <a:latin typeface="Bookman Old Style" pitchFamily="18" charset="0"/>
              </a:rPr>
              <a:t>X</a:t>
            </a:r>
            <a:r>
              <a:rPr lang="en-IN" sz="2000" i="1" baseline="-25000" dirty="0" smtClean="0">
                <a:solidFill>
                  <a:srgbClr val="0000CC"/>
                </a:solidFill>
                <a:latin typeface="Bookman Old Style" pitchFamily="18" charset="0"/>
              </a:rPr>
              <a:t>2</a:t>
            </a:r>
            <a:r>
              <a:rPr lang="en-IN" sz="2000" dirty="0" smtClean="0">
                <a:solidFill>
                  <a:srgbClr val="0000CC"/>
                </a:solidFill>
                <a:latin typeface="Bookman Old Style" pitchFamily="18" charset="0"/>
              </a:rPr>
              <a:t> </a:t>
            </a:r>
            <a:r>
              <a:rPr lang="en-IN" sz="2000" dirty="0" smtClean="0">
                <a:latin typeface="Bookman Old Style" pitchFamily="18" charset="0"/>
              </a:rPr>
              <a:t>are divided into a tabular grid with </a:t>
            </a:r>
            <a:r>
              <a:rPr lang="en-IN" sz="2000" i="1" dirty="0" smtClean="0">
                <a:latin typeface="Bookman Old Style" pitchFamily="18" charset="0"/>
              </a:rPr>
              <a:t>L</a:t>
            </a:r>
            <a:r>
              <a:rPr lang="en-IN" sz="2000" dirty="0" smtClean="0">
                <a:latin typeface="Bookman Old Style" pitchFamily="18" charset="0"/>
              </a:rPr>
              <a:t> rows and </a:t>
            </a:r>
            <a:r>
              <a:rPr lang="en-IN" sz="2000" i="1" dirty="0" smtClean="0">
                <a:latin typeface="Bookman Old Style" pitchFamily="18" charset="0"/>
              </a:rPr>
              <a:t>L</a:t>
            </a:r>
            <a:r>
              <a:rPr lang="en-IN" sz="2000" dirty="0" smtClean="0">
                <a:latin typeface="Bookman Old Style" pitchFamily="18" charset="0"/>
              </a:rPr>
              <a:t> columns.</a:t>
            </a:r>
            <a:r>
              <a:rPr lang="en-US" sz="2000" dirty="0" smtClean="0">
                <a:latin typeface="Bookman Old Style" pitchFamily="18" charset="0"/>
              </a:rPr>
              <a:t> A </a:t>
            </a:r>
            <a:r>
              <a:rPr lang="en-IN" sz="2000" dirty="0" smtClean="0">
                <a:latin typeface="Bookman Old Style" pitchFamily="18" charset="0"/>
              </a:rPr>
              <a:t>capital Latin letter is put in each cell starting from the first letters of the alphabet. Each row and each column receive a letter only once.</a:t>
            </a:r>
            <a:endParaRPr lang="en-US" sz="2000" dirty="0">
              <a:latin typeface="Bookman Old Style" pitchFamily="18" charset="0"/>
            </a:endParaRPr>
          </a:p>
        </p:txBody>
      </p:sp>
      <p:sp>
        <p:nvSpPr>
          <p:cNvPr id="8" name="Rectangle 7"/>
          <p:cNvSpPr/>
          <p:nvPr/>
        </p:nvSpPr>
        <p:spPr>
          <a:xfrm>
            <a:off x="1371600" y="2667000"/>
            <a:ext cx="3595856" cy="369332"/>
          </a:xfrm>
          <a:prstGeom prst="rect">
            <a:avLst/>
          </a:prstGeom>
        </p:spPr>
        <p:txBody>
          <a:bodyPr wrap="none">
            <a:spAutoFit/>
          </a:bodyPr>
          <a:lstStyle/>
          <a:p>
            <a:r>
              <a:rPr lang="en-IN" i="1" dirty="0" smtClean="0">
                <a:latin typeface="Bookman Old Style" pitchFamily="18" charset="0"/>
              </a:rPr>
              <a:t>Since controllable factor k</a:t>
            </a:r>
            <a:r>
              <a:rPr lang="en-IN" dirty="0" smtClean="0">
                <a:latin typeface="Bookman Old Style" pitchFamily="18" charset="0"/>
              </a:rPr>
              <a:t> = 3, </a:t>
            </a:r>
            <a:endParaRPr lang="en-US" dirty="0"/>
          </a:p>
        </p:txBody>
      </p:sp>
      <p:pic>
        <p:nvPicPr>
          <p:cNvPr id="32769" name="Picture 1"/>
          <p:cNvPicPr>
            <a:picLocks noChangeAspect="1" noChangeArrowheads="1"/>
          </p:cNvPicPr>
          <p:nvPr/>
        </p:nvPicPr>
        <p:blipFill>
          <a:blip r:embed="rId2"/>
          <a:srcRect/>
          <a:stretch>
            <a:fillRect/>
          </a:stretch>
        </p:blipFill>
        <p:spPr bwMode="auto">
          <a:xfrm>
            <a:off x="1066800" y="3429000"/>
            <a:ext cx="6593372" cy="3048000"/>
          </a:xfrm>
          <a:prstGeom prst="rect">
            <a:avLst/>
          </a:prstGeom>
          <a:noFill/>
          <a:ln w="9525">
            <a:noFill/>
            <a:miter lim="800000"/>
            <a:headEnd/>
            <a:tailEnd/>
          </a:ln>
          <a:effectLst/>
        </p:spPr>
      </p:pic>
      <p:sp>
        <p:nvSpPr>
          <p:cNvPr id="9" name="TextBox 8"/>
          <p:cNvSpPr txBox="1"/>
          <p:nvPr/>
        </p:nvSpPr>
        <p:spPr>
          <a:xfrm>
            <a:off x="6400800" y="2743200"/>
            <a:ext cx="1752600" cy="338554"/>
          </a:xfrm>
          <a:prstGeom prst="rect">
            <a:avLst/>
          </a:prstGeom>
          <a:noFill/>
        </p:spPr>
        <p:txBody>
          <a:bodyPr wrap="square" rtlCol="0">
            <a:spAutoFit/>
          </a:bodyPr>
          <a:lstStyle/>
          <a:p>
            <a:r>
              <a:rPr lang="en-US" sz="1600" dirty="0" smtClean="0"/>
              <a:t>Primary factor</a:t>
            </a:r>
            <a:endParaRPr lang="en-US" sz="1600" dirty="0"/>
          </a:p>
        </p:txBody>
      </p:sp>
      <p:cxnSp>
        <p:nvCxnSpPr>
          <p:cNvPr id="11" name="Straight Arrow Connector 10"/>
          <p:cNvCxnSpPr/>
          <p:nvPr/>
        </p:nvCxnSpPr>
        <p:spPr>
          <a:xfrm rot="5400000">
            <a:off x="6858000" y="3276600"/>
            <a:ext cx="3048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648200" y="3124200"/>
            <a:ext cx="1676400" cy="338554"/>
          </a:xfrm>
          <a:prstGeom prst="rect">
            <a:avLst/>
          </a:prstGeom>
          <a:noFill/>
        </p:spPr>
        <p:txBody>
          <a:bodyPr wrap="square" rtlCol="0">
            <a:spAutoFit/>
          </a:bodyPr>
          <a:lstStyle/>
          <a:p>
            <a:r>
              <a:rPr lang="en-US" sz="1600" dirty="0" smtClean="0"/>
              <a:t>Nuisance factors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idx="4294967295"/>
          </p:nvPr>
        </p:nvSpPr>
        <p:spPr bwMode="auto">
          <a:xfrm>
            <a:off x="762000" y="0"/>
            <a:ext cx="7772400" cy="609600"/>
          </a:xfrm>
          <a:prstGeom prst="rect">
            <a:avLst/>
          </a:prstGeom>
          <a:ln>
            <a:miter lim="800000"/>
            <a:headEnd/>
            <a:tailEnd/>
          </a:ln>
        </p:spPr>
        <p:txBody>
          <a:bodyPr/>
          <a:lstStyle/>
          <a:p>
            <a:pPr>
              <a:defRPr/>
            </a:pPr>
            <a:r>
              <a:rPr lang="en-US" sz="3200" dirty="0" smtClean="0">
                <a:latin typeface="Bookman Old Style" pitchFamily="18" charset="0"/>
              </a:rPr>
              <a:t>Full factorial design</a:t>
            </a:r>
          </a:p>
        </p:txBody>
      </p:sp>
      <p:sp>
        <p:nvSpPr>
          <p:cNvPr id="4100" name="Rectangle 3"/>
          <p:cNvSpPr>
            <a:spLocks noGrp="1" noChangeArrowheads="1"/>
          </p:cNvSpPr>
          <p:nvPr>
            <p:ph type="body" idx="4294967295"/>
          </p:nvPr>
        </p:nvSpPr>
        <p:spPr bwMode="auto">
          <a:xfrm>
            <a:off x="304800" y="914400"/>
            <a:ext cx="8610600" cy="4114800"/>
          </a:xfrm>
          <a:prstGeom prst="rect">
            <a:avLst/>
          </a:prstGeom>
          <a:noFill/>
          <a:ln>
            <a:miter lim="800000"/>
            <a:headEnd/>
            <a:tailEnd/>
          </a:ln>
        </p:spPr>
        <p:txBody>
          <a:bodyPr/>
          <a:lstStyle/>
          <a:p>
            <a:pPr algn="just">
              <a:buNone/>
            </a:pPr>
            <a:r>
              <a:rPr lang="en-US" sz="2000" dirty="0" smtClean="0">
                <a:latin typeface="Bookman Old Style" pitchFamily="18" charset="0"/>
              </a:rPr>
              <a:t>A full factorial design of experiments consists of the following:</a:t>
            </a:r>
          </a:p>
          <a:p>
            <a:pPr algn="just"/>
            <a:r>
              <a:rPr lang="en-US" sz="2000" i="1" dirty="0" smtClean="0">
                <a:latin typeface="Bookman Old Style" pitchFamily="18" charset="0"/>
              </a:rPr>
              <a:t>Vary </a:t>
            </a:r>
            <a:r>
              <a:rPr lang="en-US" sz="2000" b="1" i="1" dirty="0" smtClean="0">
                <a:latin typeface="Bookman Old Style" pitchFamily="18" charset="0"/>
              </a:rPr>
              <a:t>one factor </a:t>
            </a:r>
            <a:r>
              <a:rPr lang="en-US" sz="2000" i="1" dirty="0" smtClean="0">
                <a:latin typeface="Bookman Old Style" pitchFamily="18" charset="0"/>
              </a:rPr>
              <a:t>at a time</a:t>
            </a:r>
          </a:p>
          <a:p>
            <a:pPr algn="just"/>
            <a:r>
              <a:rPr lang="en-US" sz="2000" i="1" dirty="0" smtClean="0">
                <a:latin typeface="Bookman Old Style" pitchFamily="18" charset="0"/>
              </a:rPr>
              <a:t>Perform experiments for </a:t>
            </a:r>
            <a:r>
              <a:rPr lang="en-US" sz="2000" b="1" i="1" dirty="0" smtClean="0">
                <a:latin typeface="Bookman Old Style" pitchFamily="18" charset="0"/>
              </a:rPr>
              <a:t>all levels </a:t>
            </a:r>
            <a:r>
              <a:rPr lang="en-US" sz="2000" i="1" dirty="0" smtClean="0">
                <a:latin typeface="Bookman Old Style" pitchFamily="18" charset="0"/>
              </a:rPr>
              <a:t>of all factors</a:t>
            </a:r>
          </a:p>
          <a:p>
            <a:pPr algn="just"/>
            <a:r>
              <a:rPr lang="en-US" sz="2000" i="1" dirty="0" smtClean="0">
                <a:latin typeface="Bookman Old Style" pitchFamily="18" charset="0"/>
              </a:rPr>
              <a:t>Hence perform a large number of experiments that are needed!</a:t>
            </a:r>
          </a:p>
          <a:p>
            <a:pPr algn="just"/>
            <a:r>
              <a:rPr lang="en-US" sz="2000" i="1" dirty="0" smtClean="0">
                <a:latin typeface="Bookman Old Style" pitchFamily="18" charset="0"/>
              </a:rPr>
              <a:t>All </a:t>
            </a:r>
            <a:r>
              <a:rPr lang="en-US" sz="2000" b="1" i="1" dirty="0" smtClean="0">
                <a:latin typeface="Bookman Old Style" pitchFamily="18" charset="0"/>
              </a:rPr>
              <a:t>interactions </a:t>
            </a:r>
            <a:r>
              <a:rPr lang="en-US" sz="2000" i="1" dirty="0" smtClean="0">
                <a:latin typeface="Bookman Old Style" pitchFamily="18" charset="0"/>
              </a:rPr>
              <a:t>are captured.</a:t>
            </a:r>
          </a:p>
          <a:p>
            <a:pPr algn="just"/>
            <a:r>
              <a:rPr lang="en-US" sz="2000" dirty="0" smtClean="0">
                <a:latin typeface="Bookman Old Style" pitchFamily="18" charset="0"/>
              </a:rPr>
              <a:t>Consider a simple design for the following case:</a:t>
            </a:r>
          </a:p>
          <a:p>
            <a:pPr algn="just"/>
            <a:r>
              <a:rPr lang="en-US" sz="2000" dirty="0" smtClean="0">
                <a:latin typeface="Bookman Old Style" pitchFamily="18" charset="0"/>
              </a:rPr>
              <a:t>Let the number of factors = </a:t>
            </a:r>
            <a:r>
              <a:rPr lang="en-US" sz="2000" i="1" dirty="0" smtClean="0">
                <a:latin typeface="Bookman Old Style" pitchFamily="18" charset="0"/>
              </a:rPr>
              <a:t>k</a:t>
            </a:r>
          </a:p>
          <a:p>
            <a:pPr algn="just"/>
            <a:r>
              <a:rPr lang="en-US" sz="2000" dirty="0" smtClean="0">
                <a:latin typeface="Bookman Old Style" pitchFamily="18" charset="0"/>
              </a:rPr>
              <a:t>Let the number of levels for the </a:t>
            </a:r>
            <a:r>
              <a:rPr lang="en-US" sz="2000" dirty="0" err="1" smtClean="0">
                <a:latin typeface="Bookman Old Style" pitchFamily="18" charset="0"/>
              </a:rPr>
              <a:t>i</a:t>
            </a:r>
            <a:r>
              <a:rPr lang="en-US" sz="2000" baseline="30000" dirty="0" err="1" smtClean="0">
                <a:latin typeface="Bookman Old Style" pitchFamily="18" charset="0"/>
              </a:rPr>
              <a:t>th</a:t>
            </a:r>
            <a:r>
              <a:rPr lang="en-US" sz="2000" dirty="0" smtClean="0">
                <a:latin typeface="Bookman Old Style" pitchFamily="18" charset="0"/>
              </a:rPr>
              <a:t> factor = </a:t>
            </a:r>
            <a:r>
              <a:rPr lang="en-US" sz="2000" i="1" dirty="0" err="1" smtClean="0">
                <a:latin typeface="Bookman Old Style" pitchFamily="18" charset="0"/>
              </a:rPr>
              <a:t>n</a:t>
            </a:r>
            <a:r>
              <a:rPr lang="en-US" sz="2000" i="1" baseline="-25000" dirty="0" err="1" smtClean="0">
                <a:latin typeface="Bookman Old Style" pitchFamily="18" charset="0"/>
              </a:rPr>
              <a:t>i</a:t>
            </a:r>
            <a:endParaRPr lang="en-US" sz="2000" i="1" baseline="-25000" dirty="0" smtClean="0">
              <a:latin typeface="Bookman Old Style" pitchFamily="18" charset="0"/>
            </a:endParaRPr>
          </a:p>
          <a:p>
            <a:pPr algn="just"/>
            <a:r>
              <a:rPr lang="en-US" sz="2000" dirty="0" smtClean="0">
                <a:latin typeface="Bookman Old Style" pitchFamily="18" charset="0"/>
              </a:rPr>
              <a:t>The total number of experiments (N) that need to be performed is</a:t>
            </a:r>
          </a:p>
        </p:txBody>
      </p:sp>
      <p:graphicFrame>
        <p:nvGraphicFramePr>
          <p:cNvPr id="240644" name="Object 4"/>
          <p:cNvGraphicFramePr>
            <a:graphicFrameLocks noChangeAspect="1"/>
          </p:cNvGraphicFramePr>
          <p:nvPr/>
        </p:nvGraphicFramePr>
        <p:xfrm>
          <a:off x="3810000" y="5257800"/>
          <a:ext cx="1524000" cy="1016000"/>
        </p:xfrm>
        <a:graphic>
          <a:graphicData uri="http://schemas.openxmlformats.org/presentationml/2006/ole">
            <p:oleObj spid="_x0000_s1026" name="Equation" r:id="rId3" imgW="647640" imgH="431640" progId="Equation.3">
              <p:embed/>
            </p:oleObj>
          </a:graphicData>
        </a:graphic>
      </p:graphicFrame>
      <p:sp>
        <p:nvSpPr>
          <p:cNvPr id="5" name="Date Placeholder 4"/>
          <p:cNvSpPr>
            <a:spLocks noGrp="1"/>
          </p:cNvSpPr>
          <p:nvPr>
            <p:ph type="dt" sz="half" idx="10"/>
          </p:nvPr>
        </p:nvSpPr>
        <p:spPr/>
        <p:txBody>
          <a:bodyPr/>
          <a:lstStyle/>
          <a:p>
            <a:r>
              <a:rPr lang="en-US" smtClean="0"/>
              <a:t>Prof. A. K. Datta  University of Calcutta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Footer Placeholder 6"/>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pic>
        <p:nvPicPr>
          <p:cNvPr id="58370" name="Picture 2"/>
          <p:cNvPicPr>
            <a:picLocks noChangeAspect="1" noChangeArrowheads="1"/>
          </p:cNvPicPr>
          <p:nvPr/>
        </p:nvPicPr>
        <p:blipFill>
          <a:blip r:embed="rId2"/>
          <a:srcRect l="2239" t="5981" r="51021" b="10280"/>
          <a:stretch>
            <a:fillRect/>
          </a:stretch>
        </p:blipFill>
        <p:spPr bwMode="auto">
          <a:xfrm>
            <a:off x="2209800" y="3505200"/>
            <a:ext cx="4419600" cy="2895600"/>
          </a:xfrm>
          <a:prstGeom prst="rect">
            <a:avLst/>
          </a:prstGeom>
          <a:noFill/>
          <a:ln w="9525">
            <a:noFill/>
            <a:miter lim="800000"/>
            <a:headEnd/>
            <a:tailEnd/>
          </a:ln>
          <a:effectLst/>
        </p:spPr>
      </p:pic>
      <p:sp>
        <p:nvSpPr>
          <p:cNvPr id="6" name="Rectangle 5"/>
          <p:cNvSpPr/>
          <p:nvPr/>
        </p:nvSpPr>
        <p:spPr>
          <a:xfrm>
            <a:off x="457200" y="762000"/>
            <a:ext cx="8458200" cy="2554545"/>
          </a:xfrm>
          <a:prstGeom prst="rect">
            <a:avLst/>
          </a:prstGeom>
        </p:spPr>
        <p:txBody>
          <a:bodyPr wrap="square">
            <a:spAutoFit/>
          </a:bodyPr>
          <a:lstStyle/>
          <a:p>
            <a:pPr algn="just"/>
            <a:r>
              <a:rPr lang="en-IN" sz="2000" dirty="0" smtClean="0">
                <a:latin typeface="Bookman Old Style" pitchFamily="18" charset="0"/>
              </a:rPr>
              <a:t>Full factorial is probably the most common and intuitive strategy of experimental design. In the most simple form, the two-levels full factorial, there are k factors and </a:t>
            </a:r>
            <a:r>
              <a:rPr lang="en-IN" sz="2000" i="1" dirty="0" smtClean="0">
                <a:latin typeface="Bookman Old Style" pitchFamily="18" charset="0"/>
              </a:rPr>
              <a:t>L</a:t>
            </a:r>
            <a:r>
              <a:rPr lang="en-IN" sz="2000" dirty="0" smtClean="0">
                <a:latin typeface="Bookman Old Style" pitchFamily="18" charset="0"/>
              </a:rPr>
              <a:t> = 2 levels per factor. The </a:t>
            </a:r>
            <a:r>
              <a:rPr lang="en-IN" sz="2000" dirty="0" smtClean="0">
                <a:latin typeface="Bookman Old Style" pitchFamily="18" charset="0"/>
              </a:rPr>
              <a:t>data </a:t>
            </a:r>
            <a:r>
              <a:rPr lang="en-IN" sz="2000" dirty="0" smtClean="0">
                <a:latin typeface="Bookman Old Style" pitchFamily="18" charset="0"/>
              </a:rPr>
              <a:t>are given by every possible combination of the factors values. Therefore, the </a:t>
            </a:r>
            <a:r>
              <a:rPr lang="en-IN" sz="2000" dirty="0" smtClean="0">
                <a:latin typeface="Bookman Old Style" pitchFamily="18" charset="0"/>
              </a:rPr>
              <a:t>size </a:t>
            </a:r>
            <a:r>
              <a:rPr lang="en-IN" sz="2000" dirty="0" smtClean="0">
                <a:latin typeface="Bookman Old Style" pitchFamily="18" charset="0"/>
              </a:rPr>
              <a:t>is </a:t>
            </a:r>
            <a:r>
              <a:rPr lang="en-IN" sz="2000" i="1" dirty="0" smtClean="0">
                <a:latin typeface="Bookman Old Style" pitchFamily="18" charset="0"/>
              </a:rPr>
              <a:t>N = </a:t>
            </a:r>
            <a:r>
              <a:rPr lang="en-IN" sz="2000" dirty="0" smtClean="0">
                <a:latin typeface="Bookman Old Style" pitchFamily="18" charset="0"/>
              </a:rPr>
              <a:t>2</a:t>
            </a:r>
            <a:r>
              <a:rPr lang="en-IN" sz="2000" i="1" baseline="30000" dirty="0" smtClean="0">
                <a:latin typeface="Bookman Old Style" pitchFamily="18" charset="0"/>
              </a:rPr>
              <a:t>k</a:t>
            </a:r>
            <a:r>
              <a:rPr lang="en-IN" sz="2000" i="1" dirty="0" smtClean="0">
                <a:latin typeface="Bookman Old Style" pitchFamily="18" charset="0"/>
              </a:rPr>
              <a:t> </a:t>
            </a:r>
            <a:r>
              <a:rPr lang="en-IN" sz="2000" dirty="0" smtClean="0">
                <a:latin typeface="Bookman Old Style" pitchFamily="18" charset="0"/>
              </a:rPr>
              <a:t>.</a:t>
            </a:r>
            <a:r>
              <a:rPr lang="en-IN" sz="2000" dirty="0" smtClean="0"/>
              <a:t> </a:t>
            </a:r>
            <a:r>
              <a:rPr lang="en-IN" sz="2000" dirty="0" smtClean="0">
                <a:latin typeface="Bookman Old Style" pitchFamily="18" charset="0"/>
              </a:rPr>
              <a:t>The two levels are called high (“h”) and low (“l”). Starting from any sample within the full factorial scheme, the samples in which the factors are changed one at a time are still part of the sample </a:t>
            </a:r>
            <a:r>
              <a:rPr lang="en-US" sz="2000" dirty="0" smtClean="0"/>
              <a:t>space.</a:t>
            </a:r>
            <a:endParaRPr lang="en-US" sz="2000" dirty="0">
              <a:latin typeface="Bookman Old Style"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5" name="Rectangle 4"/>
          <p:cNvSpPr/>
          <p:nvPr/>
        </p:nvSpPr>
        <p:spPr>
          <a:xfrm>
            <a:off x="304800" y="762000"/>
            <a:ext cx="8839200" cy="5734903"/>
          </a:xfrm>
          <a:prstGeom prst="rect">
            <a:avLst/>
          </a:prstGeom>
        </p:spPr>
        <p:txBody>
          <a:bodyPr wrap="square">
            <a:spAutoFit/>
          </a:bodyPr>
          <a:lstStyle/>
          <a:p>
            <a:pPr>
              <a:lnSpc>
                <a:spcPts val="3200"/>
              </a:lnSpc>
            </a:pPr>
            <a:r>
              <a:rPr lang="en-IN" sz="2000" dirty="0" smtClean="0">
                <a:latin typeface="Bookman Old Style" pitchFamily="18" charset="0"/>
              </a:rPr>
              <a:t>In a </a:t>
            </a:r>
            <a:r>
              <a:rPr lang="en-IN" sz="2000" dirty="0" err="1" smtClean="0">
                <a:latin typeface="Bookman Old Style" pitchFamily="18" charset="0"/>
              </a:rPr>
              <a:t>microstrip</a:t>
            </a:r>
            <a:r>
              <a:rPr lang="en-IN" sz="2000" dirty="0" smtClean="0">
                <a:latin typeface="Bookman Old Style" pitchFamily="18" charset="0"/>
              </a:rPr>
              <a:t> </a:t>
            </a:r>
            <a:r>
              <a:rPr lang="en-IN" sz="2000" dirty="0" err="1" smtClean="0">
                <a:latin typeface="Bookman Old Style" pitchFamily="18" charset="0"/>
              </a:rPr>
              <a:t>amplier</a:t>
            </a:r>
            <a:r>
              <a:rPr lang="en-IN" sz="2000" dirty="0" smtClean="0">
                <a:latin typeface="Bookman Old Style" pitchFamily="18" charset="0"/>
              </a:rPr>
              <a:t> design, three elements, W (the width of the </a:t>
            </a:r>
            <a:r>
              <a:rPr lang="en-IN" sz="2000" dirty="0" err="1" smtClean="0">
                <a:latin typeface="Bookman Old Style" pitchFamily="18" charset="0"/>
              </a:rPr>
              <a:t>microstrip</a:t>
            </a:r>
            <a:r>
              <a:rPr lang="en-IN" sz="2000" dirty="0" smtClean="0">
                <a:latin typeface="Bookman Old Style" pitchFamily="18" charset="0"/>
              </a:rPr>
              <a:t> lines), a resistor (R), and a Capacitor (C) are changed to observe their effects on the gain of the amplifier. </a:t>
            </a:r>
          </a:p>
          <a:p>
            <a:pPr>
              <a:lnSpc>
                <a:spcPts val="3200"/>
              </a:lnSpc>
            </a:pPr>
            <a:r>
              <a:rPr lang="en-IN" sz="2000" dirty="0" smtClean="0">
                <a:latin typeface="Bookman Old Style" pitchFamily="18" charset="0"/>
              </a:rPr>
              <a:t>Since three elements are chosen for a full factorial experiment, the number of  experiments needed is 2</a:t>
            </a:r>
            <a:r>
              <a:rPr lang="en-IN" sz="2000" baseline="30000" dirty="0" smtClean="0">
                <a:latin typeface="Bookman Old Style" pitchFamily="18" charset="0"/>
              </a:rPr>
              <a:t>3</a:t>
            </a:r>
            <a:r>
              <a:rPr lang="en-IN" sz="2000" dirty="0" smtClean="0">
                <a:latin typeface="Bookman Old Style" pitchFamily="18" charset="0"/>
              </a:rPr>
              <a:t> = 8. </a:t>
            </a:r>
          </a:p>
          <a:p>
            <a:pPr>
              <a:lnSpc>
                <a:spcPts val="3200"/>
              </a:lnSpc>
            </a:pPr>
            <a:endParaRPr lang="en-IN" sz="2000" dirty="0" smtClean="0">
              <a:latin typeface="Bookman Old Style" pitchFamily="18" charset="0"/>
            </a:endParaRPr>
          </a:p>
          <a:p>
            <a:pPr>
              <a:lnSpc>
                <a:spcPts val="3200"/>
              </a:lnSpc>
            </a:pPr>
            <a:r>
              <a:rPr lang="en-IN" sz="2000" dirty="0" smtClean="0">
                <a:latin typeface="Bookman Old Style" pitchFamily="18" charset="0"/>
              </a:rPr>
              <a:t>We assign –</a:t>
            </a:r>
            <a:r>
              <a:rPr lang="en-IN" sz="2000" i="1" dirty="0" smtClean="0">
                <a:latin typeface="Bookman Old Style" pitchFamily="18" charset="0"/>
              </a:rPr>
              <a:t>l</a:t>
            </a:r>
            <a:r>
              <a:rPr lang="en-IN" sz="2000" dirty="0" smtClean="0">
                <a:latin typeface="Bookman Old Style" pitchFamily="18" charset="0"/>
              </a:rPr>
              <a:t> and +</a:t>
            </a:r>
            <a:r>
              <a:rPr lang="en-IN" sz="2000" i="1" dirty="0" smtClean="0">
                <a:latin typeface="Bookman Old Style" pitchFamily="18" charset="0"/>
              </a:rPr>
              <a:t>h</a:t>
            </a:r>
            <a:r>
              <a:rPr lang="en-IN" sz="2000" dirty="0" smtClean="0">
                <a:latin typeface="Bookman Old Style" pitchFamily="18" charset="0"/>
              </a:rPr>
              <a:t> values to each of the elements. For example, if the Resistor's nominal value is represented by 0, then –</a:t>
            </a:r>
            <a:r>
              <a:rPr lang="en-IN" sz="2000" i="1" dirty="0" smtClean="0">
                <a:latin typeface="Bookman Old Style" pitchFamily="18" charset="0"/>
              </a:rPr>
              <a:t>l </a:t>
            </a:r>
            <a:r>
              <a:rPr lang="en-IN" sz="2000" dirty="0" smtClean="0">
                <a:latin typeface="Bookman Old Style" pitchFamily="18" charset="0"/>
              </a:rPr>
              <a:t> represents --5% variation from its nominal value, and +</a:t>
            </a:r>
            <a:r>
              <a:rPr lang="en-IN" sz="2000" i="1" dirty="0" smtClean="0">
                <a:latin typeface="Bookman Old Style" pitchFamily="18" charset="0"/>
              </a:rPr>
              <a:t>h</a:t>
            </a:r>
            <a:r>
              <a:rPr lang="en-IN" sz="2000" dirty="0" smtClean="0">
                <a:latin typeface="Bookman Old Style" pitchFamily="18" charset="0"/>
              </a:rPr>
              <a:t> represents a +5% variation from its nominal value. If the resistor's nominal value is 20 ohms, the –</a:t>
            </a:r>
            <a:r>
              <a:rPr lang="en-IN" sz="2000" i="1" dirty="0" smtClean="0">
                <a:latin typeface="Bookman Old Style" pitchFamily="18" charset="0"/>
              </a:rPr>
              <a:t>l </a:t>
            </a:r>
            <a:r>
              <a:rPr lang="en-IN" sz="2000" dirty="0" smtClean="0">
                <a:latin typeface="Bookman Old Style" pitchFamily="18" charset="0"/>
              </a:rPr>
              <a:t> is 19 ohms, and the +</a:t>
            </a:r>
            <a:r>
              <a:rPr lang="en-IN" sz="2000" i="1" dirty="0" smtClean="0">
                <a:latin typeface="Bookman Old Style" pitchFamily="18" charset="0"/>
              </a:rPr>
              <a:t>h</a:t>
            </a:r>
            <a:r>
              <a:rPr lang="en-IN" sz="2000" dirty="0" smtClean="0">
                <a:latin typeface="Bookman Old Style" pitchFamily="18" charset="0"/>
              </a:rPr>
              <a:t> represents 21 ohms. Similarly for W, –</a:t>
            </a:r>
            <a:r>
              <a:rPr lang="en-IN" sz="2000" i="1" dirty="0" smtClean="0">
                <a:latin typeface="Bookman Old Style" pitchFamily="18" charset="0"/>
              </a:rPr>
              <a:t>l </a:t>
            </a:r>
            <a:r>
              <a:rPr lang="en-IN" sz="2000" dirty="0" smtClean="0">
                <a:latin typeface="Bookman Old Style" pitchFamily="18" charset="0"/>
              </a:rPr>
              <a:t> corresponds to 9.5 </a:t>
            </a:r>
            <a:r>
              <a:rPr lang="el-GR" sz="2000" dirty="0" smtClean="0">
                <a:latin typeface="Bookman Old Style" pitchFamily="18" charset="0"/>
              </a:rPr>
              <a:t>μ</a:t>
            </a:r>
            <a:r>
              <a:rPr lang="en-IN" sz="2000" dirty="0" smtClean="0">
                <a:latin typeface="Bookman Old Style" pitchFamily="18" charset="0"/>
              </a:rPr>
              <a:t>m and 0 corresponds to nominal value of 10</a:t>
            </a:r>
            <a:r>
              <a:rPr lang="el-GR" sz="2000" dirty="0" smtClean="0">
                <a:latin typeface="Bookman Old Style" pitchFamily="18" charset="0"/>
              </a:rPr>
              <a:t> μ</a:t>
            </a:r>
            <a:r>
              <a:rPr lang="en-IN" sz="2000" dirty="0" smtClean="0">
                <a:latin typeface="Bookman Old Style" pitchFamily="18" charset="0"/>
              </a:rPr>
              <a:t>m, and +</a:t>
            </a:r>
            <a:r>
              <a:rPr lang="en-IN" sz="2000" i="1" dirty="0" smtClean="0">
                <a:latin typeface="Bookman Old Style" pitchFamily="18" charset="0"/>
              </a:rPr>
              <a:t>h</a:t>
            </a:r>
            <a:r>
              <a:rPr lang="en-IN" sz="2000" dirty="0" smtClean="0">
                <a:latin typeface="Bookman Old Style" pitchFamily="18" charset="0"/>
              </a:rPr>
              <a:t> corresponds to 10.5</a:t>
            </a:r>
            <a:r>
              <a:rPr lang="el-GR" sz="2000" dirty="0" smtClean="0">
                <a:latin typeface="Bookman Old Style" pitchFamily="18" charset="0"/>
              </a:rPr>
              <a:t> μ</a:t>
            </a:r>
            <a:r>
              <a:rPr lang="en-IN" sz="2000" dirty="0" smtClean="0">
                <a:latin typeface="Bookman Old Style" pitchFamily="18" charset="0"/>
              </a:rPr>
              <a:t>m. </a:t>
            </a:r>
          </a:p>
          <a:p>
            <a:endParaRPr lang="en-US" sz="2000" dirty="0">
              <a:latin typeface="Bookman Old Style" pitchFamily="18" charset="0"/>
            </a:endParaRPr>
          </a:p>
        </p:txBody>
      </p:sp>
      <p:sp>
        <p:nvSpPr>
          <p:cNvPr id="6" name="TextBox 5"/>
          <p:cNvSpPr txBox="1"/>
          <p:nvPr/>
        </p:nvSpPr>
        <p:spPr>
          <a:xfrm>
            <a:off x="1371600" y="0"/>
            <a:ext cx="5867400" cy="461665"/>
          </a:xfrm>
          <a:prstGeom prst="rect">
            <a:avLst/>
          </a:prstGeom>
          <a:noFill/>
        </p:spPr>
        <p:txBody>
          <a:bodyPr wrap="square" rtlCol="0">
            <a:spAutoFit/>
          </a:bodyPr>
          <a:lstStyle/>
          <a:p>
            <a:r>
              <a:rPr lang="en-US" sz="2400" dirty="0" smtClean="0">
                <a:latin typeface="Bookman Old Style" pitchFamily="18" charset="0"/>
              </a:rPr>
              <a:t>Example</a:t>
            </a:r>
            <a:endParaRPr lang="en-US" sz="2400" dirty="0">
              <a:latin typeface="Bookman Old Style"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pic>
        <p:nvPicPr>
          <p:cNvPr id="43010" name="Picture 2"/>
          <p:cNvPicPr>
            <a:picLocks noChangeAspect="1" noChangeArrowheads="1"/>
          </p:cNvPicPr>
          <p:nvPr/>
        </p:nvPicPr>
        <p:blipFill>
          <a:blip r:embed="rId2"/>
          <a:srcRect/>
          <a:stretch>
            <a:fillRect/>
          </a:stretch>
        </p:blipFill>
        <p:spPr bwMode="auto">
          <a:xfrm>
            <a:off x="0" y="838200"/>
            <a:ext cx="4495800" cy="3075303"/>
          </a:xfrm>
          <a:prstGeom prst="rect">
            <a:avLst/>
          </a:prstGeom>
          <a:noFill/>
          <a:ln w="9525">
            <a:noFill/>
            <a:miter lim="800000"/>
            <a:headEnd/>
            <a:tailEnd/>
          </a:ln>
          <a:effectLst/>
        </p:spPr>
      </p:pic>
      <p:pic>
        <p:nvPicPr>
          <p:cNvPr id="43012" name="Picture 4"/>
          <p:cNvPicPr>
            <a:picLocks noChangeAspect="1" noChangeArrowheads="1"/>
          </p:cNvPicPr>
          <p:nvPr/>
        </p:nvPicPr>
        <p:blipFill>
          <a:blip r:embed="rId3"/>
          <a:srcRect/>
          <a:stretch>
            <a:fillRect/>
          </a:stretch>
        </p:blipFill>
        <p:spPr bwMode="auto">
          <a:xfrm>
            <a:off x="4343400" y="990600"/>
            <a:ext cx="3713018" cy="2590800"/>
          </a:xfrm>
          <a:prstGeom prst="rect">
            <a:avLst/>
          </a:prstGeom>
          <a:noFill/>
          <a:ln w="9525">
            <a:noFill/>
            <a:miter lim="800000"/>
            <a:headEnd/>
            <a:tailEnd/>
          </a:ln>
          <a:effectLst/>
        </p:spPr>
      </p:pic>
      <p:pic>
        <p:nvPicPr>
          <p:cNvPr id="43013" name="Picture 5"/>
          <p:cNvPicPr>
            <a:picLocks noChangeAspect="1" noChangeArrowheads="1"/>
          </p:cNvPicPr>
          <p:nvPr/>
        </p:nvPicPr>
        <p:blipFill>
          <a:blip r:embed="rId4"/>
          <a:srcRect/>
          <a:stretch>
            <a:fillRect/>
          </a:stretch>
        </p:blipFill>
        <p:spPr bwMode="auto">
          <a:xfrm>
            <a:off x="4800600" y="3733800"/>
            <a:ext cx="4078432" cy="2286000"/>
          </a:xfrm>
          <a:prstGeom prst="rect">
            <a:avLst/>
          </a:prstGeom>
          <a:noFill/>
          <a:ln w="9525">
            <a:noFill/>
            <a:miter lim="800000"/>
            <a:headEnd/>
            <a:tailEnd/>
          </a:ln>
          <a:effectLst/>
        </p:spPr>
      </p:pic>
      <p:sp>
        <p:nvSpPr>
          <p:cNvPr id="8" name="TextBox 7"/>
          <p:cNvSpPr txBox="1"/>
          <p:nvPr/>
        </p:nvSpPr>
        <p:spPr>
          <a:xfrm>
            <a:off x="4953000" y="762000"/>
            <a:ext cx="3200400" cy="381000"/>
          </a:xfrm>
          <a:prstGeom prst="rect">
            <a:avLst/>
          </a:prstGeom>
          <a:noFill/>
        </p:spPr>
        <p:txBody>
          <a:bodyPr wrap="square" rtlCol="0">
            <a:spAutoFit/>
          </a:bodyPr>
          <a:lstStyle/>
          <a:p>
            <a:r>
              <a:rPr lang="en-US" dirty="0" smtClean="0">
                <a:latin typeface="Bookman Old Style" pitchFamily="18" charset="0"/>
              </a:rPr>
              <a:t>Calculate the average gain</a:t>
            </a:r>
            <a:endParaRPr lang="en-US" dirty="0">
              <a:latin typeface="Bookman Old Style" pitchFamily="18" charset="0"/>
            </a:endParaRPr>
          </a:p>
        </p:txBody>
      </p:sp>
      <p:sp>
        <p:nvSpPr>
          <p:cNvPr id="9" name="TextBox 8"/>
          <p:cNvSpPr txBox="1"/>
          <p:nvPr/>
        </p:nvSpPr>
        <p:spPr>
          <a:xfrm>
            <a:off x="5181600" y="1371600"/>
            <a:ext cx="1676400" cy="338554"/>
          </a:xfrm>
          <a:prstGeom prst="rect">
            <a:avLst/>
          </a:prstGeom>
          <a:noFill/>
        </p:spPr>
        <p:txBody>
          <a:bodyPr wrap="square" rtlCol="0">
            <a:spAutoFit/>
          </a:bodyPr>
          <a:lstStyle/>
          <a:p>
            <a:r>
              <a:rPr lang="en-US" sz="1600" dirty="0" smtClean="0">
                <a:latin typeface="Bookman Old Style" pitchFamily="18" charset="0"/>
              </a:rPr>
              <a:t>Av. Gain for -</a:t>
            </a:r>
            <a:r>
              <a:rPr lang="en-US" sz="1600" i="1" dirty="0" smtClean="0">
                <a:latin typeface="Bookman Old Style" pitchFamily="18" charset="0"/>
              </a:rPr>
              <a:t>l</a:t>
            </a:r>
            <a:endParaRPr lang="en-US" sz="1600" i="1" dirty="0">
              <a:latin typeface="Bookman Old Style" pitchFamily="18" charset="0"/>
            </a:endParaRPr>
          </a:p>
        </p:txBody>
      </p:sp>
      <p:cxnSp>
        <p:nvCxnSpPr>
          <p:cNvPr id="13" name="Straight Arrow Connector 12"/>
          <p:cNvCxnSpPr/>
          <p:nvPr/>
        </p:nvCxnSpPr>
        <p:spPr>
          <a:xfrm rot="16200000" flipH="1">
            <a:off x="5562600" y="1752600"/>
            <a:ext cx="228600" cy="762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467600" y="1981200"/>
            <a:ext cx="1676400" cy="338554"/>
          </a:xfrm>
          <a:prstGeom prst="rect">
            <a:avLst/>
          </a:prstGeom>
          <a:noFill/>
        </p:spPr>
        <p:txBody>
          <a:bodyPr wrap="square" rtlCol="0">
            <a:spAutoFit/>
          </a:bodyPr>
          <a:lstStyle/>
          <a:p>
            <a:r>
              <a:rPr lang="en-US" sz="1600" dirty="0" smtClean="0">
                <a:latin typeface="Bookman Old Style" pitchFamily="18" charset="0"/>
              </a:rPr>
              <a:t>Av. Gain for +</a:t>
            </a:r>
            <a:r>
              <a:rPr lang="en-US" sz="1600" i="1" dirty="0" smtClean="0">
                <a:latin typeface="Bookman Old Style" pitchFamily="18" charset="0"/>
              </a:rPr>
              <a:t>l</a:t>
            </a:r>
            <a:endParaRPr lang="en-US" sz="1600" i="1" dirty="0">
              <a:latin typeface="Bookman Old Style" pitchFamily="18" charset="0"/>
            </a:endParaRPr>
          </a:p>
        </p:txBody>
      </p:sp>
      <p:cxnSp>
        <p:nvCxnSpPr>
          <p:cNvPr id="16" name="Straight Arrow Connector 15"/>
          <p:cNvCxnSpPr>
            <a:stCxn id="14" idx="1"/>
          </p:cNvCxnSpPr>
          <p:nvPr/>
        </p:nvCxnSpPr>
        <p:spPr>
          <a:xfrm rot="10800000">
            <a:off x="7239000" y="1970477"/>
            <a:ext cx="228600" cy="1800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28600" y="5029200"/>
            <a:ext cx="4572000" cy="1477328"/>
          </a:xfrm>
          <a:prstGeom prst="rect">
            <a:avLst/>
          </a:prstGeom>
        </p:spPr>
        <p:txBody>
          <a:bodyPr>
            <a:spAutoFit/>
          </a:bodyPr>
          <a:lstStyle/>
          <a:p>
            <a:endParaRPr lang="en-US" dirty="0" smtClean="0"/>
          </a:p>
          <a:p>
            <a:r>
              <a:rPr lang="en-IN" b="1" dirty="0" smtClean="0"/>
              <a:t>Construct a linear equation to represent the experiment results: </a:t>
            </a:r>
          </a:p>
          <a:p>
            <a:r>
              <a:rPr lang="pt-BR" b="1" dirty="0" smtClean="0"/>
              <a:t>Gain=13.8 + .09W + .85R + .044C + .0088WR + …. Etc. </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pic>
        <p:nvPicPr>
          <p:cNvPr id="5" name="Picture 6"/>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381000" y="4724400"/>
            <a:ext cx="8077200" cy="1600201"/>
          </a:xfrm>
          <a:prstGeom prst="rect">
            <a:avLst/>
          </a:prstGeom>
          <a:noFill/>
          <a:ln w="9525">
            <a:noFill/>
            <a:miter lim="800000"/>
            <a:headEnd/>
            <a:tailEnd/>
          </a:ln>
          <a:effectLst/>
        </p:spPr>
      </p:pic>
      <p:pic>
        <p:nvPicPr>
          <p:cNvPr id="39938" name="Picture 2"/>
          <p:cNvPicPr>
            <a:picLocks noChangeAspect="1" noChangeArrowheads="1"/>
          </p:cNvPicPr>
          <p:nvPr/>
        </p:nvPicPr>
        <p:blipFill>
          <a:blip r:embed="rId3"/>
          <a:srcRect/>
          <a:stretch>
            <a:fillRect/>
          </a:stretch>
        </p:blipFill>
        <p:spPr bwMode="auto">
          <a:xfrm>
            <a:off x="1905000" y="762000"/>
            <a:ext cx="5376985" cy="3276600"/>
          </a:xfrm>
          <a:prstGeom prst="rect">
            <a:avLst/>
          </a:prstGeom>
          <a:noFill/>
          <a:ln w="9525">
            <a:noFill/>
            <a:miter lim="800000"/>
            <a:headEnd/>
            <a:tailEnd/>
          </a:ln>
          <a:effectLst/>
        </p:spPr>
      </p:pic>
      <p:sp>
        <p:nvSpPr>
          <p:cNvPr id="8" name="TextBox 7"/>
          <p:cNvSpPr txBox="1"/>
          <p:nvPr/>
        </p:nvSpPr>
        <p:spPr>
          <a:xfrm>
            <a:off x="1981200" y="4114800"/>
            <a:ext cx="5181600" cy="369332"/>
          </a:xfrm>
          <a:prstGeom prst="rect">
            <a:avLst/>
          </a:prstGeom>
          <a:noFill/>
        </p:spPr>
        <p:txBody>
          <a:bodyPr wrap="square" rtlCol="0">
            <a:spAutoFit/>
          </a:bodyPr>
          <a:lstStyle/>
          <a:p>
            <a:pPr algn="ctr"/>
            <a:r>
              <a:rPr lang="en-US" dirty="0" smtClean="0">
                <a:latin typeface="Bookman Old Style" pitchFamily="18" charset="0"/>
              </a:rPr>
              <a:t>Pareto chart shows the relative importance</a:t>
            </a:r>
            <a:endParaRPr lang="en-US" dirty="0">
              <a:latin typeface="Bookman Old Style"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ctrTitle"/>
          </p:nvPr>
        </p:nvSpPr>
        <p:spPr>
          <a:xfrm>
            <a:off x="685800" y="0"/>
            <a:ext cx="7924800" cy="1981200"/>
          </a:xfrm>
          <a:noFill/>
        </p:spPr>
        <p:txBody>
          <a:bodyPr anchor="ctr"/>
          <a:lstStyle/>
          <a:p>
            <a:pPr>
              <a:lnSpc>
                <a:spcPct val="120000"/>
              </a:lnSpc>
            </a:pPr>
            <a:r>
              <a:rPr lang="en-AU" sz="3600" dirty="0" smtClean="0"/>
              <a:t>GOOD LABORATORY PRACTICE</a:t>
            </a:r>
            <a:endParaRPr lang="en-AU" sz="3600" dirty="0" smtClean="0">
              <a:solidFill>
                <a:schemeClr val="tx1"/>
              </a:solidFill>
            </a:endParaRPr>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24</a:t>
            </a:fld>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pic>
        <p:nvPicPr>
          <p:cNvPr id="8" name="Picture 7" descr="GLP"/>
          <p:cNvPicPr>
            <a:picLocks noChangeAspect="1" noChangeArrowheads="1"/>
          </p:cNvPicPr>
          <p:nvPr/>
        </p:nvPicPr>
        <p:blipFill>
          <a:blip r:embed="rId3"/>
          <a:srcRect/>
          <a:stretch>
            <a:fillRect/>
          </a:stretch>
        </p:blipFill>
        <p:spPr bwMode="auto">
          <a:xfrm>
            <a:off x="2057400" y="1828800"/>
            <a:ext cx="5256213" cy="3810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3"/>
          <p:cNvSpPr>
            <a:spLocks noGrp="1" noChangeArrowheads="1"/>
          </p:cNvSpPr>
          <p:nvPr>
            <p:ph type="body" sz="half" idx="4294967295"/>
          </p:nvPr>
        </p:nvSpPr>
        <p:spPr bwMode="auto">
          <a:xfrm>
            <a:off x="457200" y="838200"/>
            <a:ext cx="8077200" cy="4953000"/>
          </a:xfrm>
          <a:prstGeom prst="rect">
            <a:avLst/>
          </a:prstGeom>
          <a:ln>
            <a:miter lim="800000"/>
            <a:headEnd/>
            <a:tailEnd/>
          </a:ln>
        </p:spPr>
        <p:txBody>
          <a:bodyPr/>
          <a:lstStyle/>
          <a:p>
            <a:pPr algn="just">
              <a:lnSpc>
                <a:spcPct val="90000"/>
              </a:lnSpc>
              <a:defRPr/>
            </a:pPr>
            <a:r>
              <a:rPr lang="en-US" sz="2400" dirty="0" smtClean="0">
                <a:latin typeface="Book Antiqua" pitchFamily="18" charset="0"/>
              </a:rPr>
              <a:t>GLP is a regulation for laboratory practice, originated in US  in 1978 and then slowly accepted worldwide.</a:t>
            </a:r>
          </a:p>
          <a:p>
            <a:pPr algn="just">
              <a:lnSpc>
                <a:spcPct val="90000"/>
              </a:lnSpc>
              <a:defRPr/>
            </a:pPr>
            <a:endParaRPr lang="en-US" sz="2400" dirty="0" smtClean="0">
              <a:latin typeface="Book Antiqua" pitchFamily="18" charset="0"/>
            </a:endParaRPr>
          </a:p>
          <a:p>
            <a:pPr algn="just">
              <a:lnSpc>
                <a:spcPct val="90000"/>
              </a:lnSpc>
              <a:defRPr/>
            </a:pPr>
            <a:r>
              <a:rPr lang="en-US" sz="2400" dirty="0" smtClean="0">
                <a:latin typeface="Book Antiqua" pitchFamily="18" charset="0"/>
              </a:rPr>
              <a:t>Definition: GLP embodies a set of principles that provides a framework within which laboratory studies are planned, performed, monitored, reported and archived.</a:t>
            </a:r>
          </a:p>
          <a:p>
            <a:pPr algn="just">
              <a:lnSpc>
                <a:spcPct val="90000"/>
              </a:lnSpc>
              <a:defRPr/>
            </a:pPr>
            <a:endParaRPr lang="en-US" sz="2400" dirty="0" smtClean="0">
              <a:latin typeface="Book Antiqua" pitchFamily="18" charset="0"/>
            </a:endParaRPr>
          </a:p>
          <a:p>
            <a:pPr algn="just">
              <a:lnSpc>
                <a:spcPct val="90000"/>
              </a:lnSpc>
              <a:defRPr/>
            </a:pPr>
            <a:r>
              <a:rPr lang="en-US" sz="2400" dirty="0" smtClean="0">
                <a:latin typeface="Book Antiqua" pitchFamily="18" charset="0"/>
              </a:rPr>
              <a:t>GLP is a formal regulation that was created by the FDA (United states food and drug administration) in 1978.</a:t>
            </a:r>
          </a:p>
          <a:p>
            <a:pPr algn="just">
              <a:lnSpc>
                <a:spcPct val="90000"/>
              </a:lnSpc>
              <a:defRPr/>
            </a:pPr>
            <a:endParaRPr lang="en-US" sz="2400" dirty="0" smtClean="0">
              <a:latin typeface="Book Antiqua" pitchFamily="18" charset="0"/>
            </a:endParaRPr>
          </a:p>
          <a:p>
            <a:pPr algn="just">
              <a:lnSpc>
                <a:spcPct val="90000"/>
              </a:lnSpc>
              <a:defRPr/>
            </a:pPr>
            <a:r>
              <a:rPr lang="en-US" sz="2400" dirty="0" smtClean="0">
                <a:latin typeface="Book Antiqua" pitchFamily="18" charset="0"/>
              </a:rPr>
              <a:t>In 1981 an organization named OECD (organization for economic co-operation and development ) produced GLP principles that are international standard.</a:t>
            </a:r>
          </a:p>
          <a:p>
            <a:pPr algn="just">
              <a:lnSpc>
                <a:spcPct val="90000"/>
              </a:lnSpc>
              <a:defRPr/>
            </a:pPr>
            <a:endParaRPr lang="en-US" sz="2400" dirty="0" smtClean="0">
              <a:latin typeface="Book Antiqua" pitchFamily="18" charset="0"/>
            </a:endParaRPr>
          </a:p>
          <a:p>
            <a:pPr algn="just">
              <a:lnSpc>
                <a:spcPct val="90000"/>
              </a:lnSpc>
              <a:defRPr/>
            </a:pPr>
            <a:endParaRPr lang="en-US" sz="2400" b="1" dirty="0" smtClean="0">
              <a:latin typeface="Book Antiqua" pitchFamily="18" charset="0"/>
            </a:endParaRPr>
          </a:p>
        </p:txBody>
      </p:sp>
      <p:sp>
        <p:nvSpPr>
          <p:cNvPr id="3" name="Date Placeholder 2"/>
          <p:cNvSpPr>
            <a:spLocks noGrp="1"/>
          </p:cNvSpPr>
          <p:nvPr>
            <p:ph type="dt" sz="half" idx="10"/>
          </p:nvPr>
        </p:nvSpPr>
        <p:spPr/>
        <p:txBody>
          <a:bodyPr/>
          <a:lstStyle/>
          <a:p>
            <a:r>
              <a:rPr lang="en-US" smtClean="0"/>
              <a:t>Prof. A. K. Datta  University of Calcutta</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strips dir="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bwMode="auto">
          <a:xfrm>
            <a:off x="685800" y="0"/>
            <a:ext cx="7772400" cy="914400"/>
          </a:xfrm>
          <a:prstGeom prst="rect">
            <a:avLst/>
          </a:prstGeom>
          <a:ln>
            <a:miter lim="800000"/>
            <a:headEnd/>
            <a:tailEnd/>
          </a:ln>
        </p:spPr>
        <p:txBody>
          <a:bodyPr/>
          <a:lstStyle/>
          <a:p>
            <a:pPr>
              <a:defRPr/>
            </a:pPr>
            <a:r>
              <a:rPr lang="en-US" sz="3200" dirty="0" smtClean="0">
                <a:latin typeface="Book Antiqua" pitchFamily="18" charset="0"/>
              </a:rPr>
              <a:t>Why  was  GLP  created?</a:t>
            </a:r>
          </a:p>
        </p:txBody>
      </p:sp>
      <p:sp>
        <p:nvSpPr>
          <p:cNvPr id="33795" name="Rectangle 4"/>
          <p:cNvSpPr>
            <a:spLocks noGrp="1" noChangeArrowheads="1"/>
          </p:cNvSpPr>
          <p:nvPr>
            <p:ph type="body" sz="half" idx="4294967295"/>
          </p:nvPr>
        </p:nvSpPr>
        <p:spPr bwMode="auto">
          <a:xfrm>
            <a:off x="381000" y="1143000"/>
            <a:ext cx="8534400" cy="1981200"/>
          </a:xfrm>
          <a:prstGeom prst="rect">
            <a:avLst/>
          </a:prstGeom>
          <a:noFill/>
          <a:ln>
            <a:miter lim="800000"/>
            <a:headEnd/>
            <a:tailEnd/>
          </a:ln>
        </p:spPr>
        <p:txBody>
          <a:bodyPr/>
          <a:lstStyle/>
          <a:p>
            <a:pPr marL="457200" indent="-457200" algn="just"/>
            <a:r>
              <a:rPr lang="en-US" sz="2400" dirty="0" smtClean="0">
                <a:latin typeface="Book Antiqua" pitchFamily="18" charset="0"/>
              </a:rPr>
              <a:t>Examples of some of poor lab practices found were: </a:t>
            </a:r>
          </a:p>
          <a:p>
            <a:pPr marL="457200" indent="-457200" algn="just">
              <a:buFontTx/>
              <a:buAutoNum type="arabicPeriod"/>
            </a:pPr>
            <a:r>
              <a:rPr lang="en-US" sz="2400" dirty="0" smtClean="0">
                <a:latin typeface="Book Antiqua" pitchFamily="18" charset="0"/>
              </a:rPr>
              <a:t>Equipment not been calibrated to standard form , therefore giving wrong measurements.</a:t>
            </a:r>
          </a:p>
          <a:p>
            <a:pPr marL="457200" indent="-457200" algn="just">
              <a:buFontTx/>
              <a:buAutoNum type="arabicPeriod"/>
            </a:pPr>
            <a:r>
              <a:rPr lang="en-US" sz="2400" dirty="0" smtClean="0">
                <a:latin typeface="Book Antiqua" pitchFamily="18" charset="0"/>
              </a:rPr>
              <a:t>Incorrect/inaccurate accounts of the actual lab study</a:t>
            </a:r>
          </a:p>
          <a:p>
            <a:pPr marL="457200" indent="-457200" algn="just">
              <a:buFontTx/>
              <a:buAutoNum type="arabicPeriod"/>
            </a:pPr>
            <a:r>
              <a:rPr lang="en-US" sz="2400" dirty="0" smtClean="0">
                <a:latin typeface="Book Antiqua" pitchFamily="18" charset="0"/>
              </a:rPr>
              <a:t>Inadequate test systems</a:t>
            </a:r>
          </a:p>
        </p:txBody>
      </p:sp>
      <p:sp>
        <p:nvSpPr>
          <p:cNvPr id="4" name="Rectangle 2"/>
          <p:cNvSpPr txBox="1">
            <a:spLocks noChangeArrowheads="1"/>
          </p:cNvSpPr>
          <p:nvPr/>
        </p:nvSpPr>
        <p:spPr bwMode="auto">
          <a:xfrm>
            <a:off x="457200" y="3810000"/>
            <a:ext cx="8229600" cy="609600"/>
          </a:xfrm>
          <a:prstGeom prst="rect">
            <a:avLst/>
          </a:prstGeom>
          <a:ln>
            <a:miter lim="800000"/>
            <a:headEnd/>
            <a:tailEnd/>
          </a:ln>
        </p:spPr>
        <p:txBody>
          <a:bodyPr/>
          <a:lstStyle/>
          <a:p>
            <a:pPr algn="ctr" eaLnBrk="0" hangingPunct="0">
              <a:lnSpc>
                <a:spcPct val="90000"/>
              </a:lnSpc>
              <a:defRPr/>
            </a:pPr>
            <a:r>
              <a:rPr lang="en-US" sz="2800" kern="0" dirty="0">
                <a:latin typeface="Book Antiqua" pitchFamily="18" charset="0"/>
                <a:ea typeface="+mj-ea"/>
                <a:cs typeface="+mj-cs"/>
              </a:rPr>
              <a:t>OBJECTIVES  OF  GLP</a:t>
            </a:r>
          </a:p>
        </p:txBody>
      </p:sp>
      <p:sp>
        <p:nvSpPr>
          <p:cNvPr id="5" name="Rectangle 3"/>
          <p:cNvSpPr txBox="1">
            <a:spLocks noChangeArrowheads="1"/>
          </p:cNvSpPr>
          <p:nvPr/>
        </p:nvSpPr>
        <p:spPr bwMode="auto">
          <a:xfrm>
            <a:off x="457200" y="4495800"/>
            <a:ext cx="8382000" cy="1676400"/>
          </a:xfrm>
          <a:prstGeom prst="rect">
            <a:avLst/>
          </a:prstGeom>
          <a:noFill/>
          <a:ln>
            <a:miter lim="800000"/>
            <a:headEnd/>
            <a:tailEnd/>
          </a:ln>
        </p:spPr>
        <p:txBody>
          <a:bodyPr/>
          <a:lstStyle/>
          <a:p>
            <a:pPr marL="228600" indent="-228600" algn="just" eaLnBrk="0" hangingPunct="0">
              <a:buClr>
                <a:schemeClr val="accent2"/>
              </a:buClr>
              <a:buFont typeface="Arial" charset="0"/>
              <a:buChar char="•"/>
              <a:defRPr/>
            </a:pPr>
            <a:r>
              <a:rPr lang="en-US" sz="2400" kern="0" dirty="0">
                <a:latin typeface="Book Antiqua" pitchFamily="18" charset="0"/>
                <a:cs typeface="+mn-cs"/>
              </a:rPr>
              <a:t>GLP makes sure that the data submitted are a true reflection of the results that are obtained during the study.</a:t>
            </a:r>
          </a:p>
          <a:p>
            <a:pPr marL="228600" indent="-228600" algn="just" eaLnBrk="0" hangingPunct="0">
              <a:buClr>
                <a:schemeClr val="accent2"/>
              </a:buClr>
              <a:buFont typeface="Arial" charset="0"/>
              <a:buChar char="•"/>
              <a:defRPr/>
            </a:pPr>
            <a:r>
              <a:rPr lang="en-US" sz="2400" kern="0" dirty="0">
                <a:latin typeface="Book Antiqua" pitchFamily="18" charset="0"/>
                <a:cs typeface="+mn-cs"/>
              </a:rPr>
              <a:t>GLP also makes sure that data is traceable.</a:t>
            </a:r>
          </a:p>
          <a:p>
            <a:pPr marL="228600" indent="-228600" algn="just" eaLnBrk="0" hangingPunct="0">
              <a:buClr>
                <a:schemeClr val="accent2"/>
              </a:buClr>
              <a:buFont typeface="Arial" charset="0"/>
              <a:buChar char="•"/>
              <a:defRPr/>
            </a:pPr>
            <a:r>
              <a:rPr lang="en-US" sz="2400" kern="0" dirty="0">
                <a:latin typeface="Book Antiqua" pitchFamily="18" charset="0"/>
                <a:cs typeface="+mn-cs"/>
              </a:rPr>
              <a:t>Promotes international acceptance of tests</a:t>
            </a:r>
            <a:r>
              <a:rPr lang="en-US" sz="2800" kern="0" dirty="0">
                <a:latin typeface="Book Antiqua" pitchFamily="18" charset="0"/>
                <a:cs typeface="+mn-cs"/>
              </a:rPr>
              <a:t>.</a:t>
            </a:r>
          </a:p>
        </p:txBody>
      </p:sp>
      <p:sp>
        <p:nvSpPr>
          <p:cNvPr id="6" name="Date Placeholder 5"/>
          <p:cNvSpPr>
            <a:spLocks noGrp="1"/>
          </p:cNvSpPr>
          <p:nvPr>
            <p:ph type="dt" sz="half" idx="10"/>
          </p:nvPr>
        </p:nvSpPr>
        <p:spPr/>
        <p:txBody>
          <a:bodyPr/>
          <a:lstStyle/>
          <a:p>
            <a:r>
              <a:rPr lang="en-US" smtClean="0"/>
              <a:t>Prof. A. K. Datta  University of Calcutta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a:p>
        </p:txBody>
      </p:sp>
      <p:sp>
        <p:nvSpPr>
          <p:cNvPr id="8" name="Footer Placeholder 7"/>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bwMode="auto">
          <a:xfrm>
            <a:off x="990600" y="0"/>
            <a:ext cx="7477125" cy="533400"/>
          </a:xfrm>
          <a:prstGeom prst="rect">
            <a:avLst/>
          </a:prstGeom>
          <a:ln>
            <a:miter lim="800000"/>
            <a:headEnd/>
            <a:tailEnd/>
          </a:ln>
        </p:spPr>
        <p:txBody>
          <a:bodyPr/>
          <a:lstStyle/>
          <a:p>
            <a:pPr>
              <a:defRPr/>
            </a:pPr>
            <a:r>
              <a:rPr lang="en-US" sz="2800" dirty="0" smtClean="0">
                <a:latin typeface="Book Antiqua" pitchFamily="18" charset="0"/>
              </a:rPr>
              <a:t>FAMOUS EXAMPLE</a:t>
            </a:r>
          </a:p>
        </p:txBody>
      </p:sp>
      <p:sp>
        <p:nvSpPr>
          <p:cNvPr id="34819" name="Rectangle 4"/>
          <p:cNvSpPr>
            <a:spLocks noGrp="1" noChangeArrowheads="1"/>
          </p:cNvSpPr>
          <p:nvPr>
            <p:ph type="body" sz="half" idx="4294967295"/>
          </p:nvPr>
        </p:nvSpPr>
        <p:spPr bwMode="auto">
          <a:xfrm>
            <a:off x="304800" y="914400"/>
            <a:ext cx="8534400" cy="4343400"/>
          </a:xfrm>
          <a:prstGeom prst="rect">
            <a:avLst/>
          </a:prstGeom>
          <a:noFill/>
          <a:ln>
            <a:miter lim="800000"/>
            <a:headEnd/>
            <a:tailEnd/>
          </a:ln>
        </p:spPr>
        <p:txBody>
          <a:bodyPr/>
          <a:lstStyle/>
          <a:p>
            <a:pPr algn="just"/>
            <a:r>
              <a:rPr lang="en-US" sz="2400" dirty="0" smtClean="0">
                <a:latin typeface="Book Antiqua" pitchFamily="18" charset="0"/>
              </a:rPr>
              <a:t>Industrial Bio Test lab USA ran tests for big companies such as Procter and Gamble.</a:t>
            </a:r>
          </a:p>
          <a:p>
            <a:pPr algn="just"/>
            <a:r>
              <a:rPr lang="en-US" sz="2400" dirty="0" smtClean="0">
                <a:latin typeface="Book Antiqua" pitchFamily="18" charset="0"/>
              </a:rPr>
              <a:t>It was discovered that mice that they had used to test cosmetics such as lotion and deodorants had developed cancer and died.</a:t>
            </a:r>
          </a:p>
          <a:p>
            <a:pPr algn="just"/>
            <a:r>
              <a:rPr lang="en-US" sz="2400" dirty="0" smtClean="0">
                <a:latin typeface="Book Antiqua" pitchFamily="18" charset="0"/>
              </a:rPr>
              <a:t>Industrial Bio Test lab threw the dead mice and covered results deeming the products good for human consumption.</a:t>
            </a:r>
          </a:p>
          <a:p>
            <a:pPr algn="just"/>
            <a:r>
              <a:rPr lang="en-US" sz="2400" dirty="0" smtClean="0">
                <a:latin typeface="Book Antiqua" pitchFamily="18" charset="0"/>
              </a:rPr>
              <a:t>Those involved in  production, distribution and sales for the lab eventually served jail time.</a:t>
            </a:r>
          </a:p>
          <a:p>
            <a:pPr algn="just"/>
            <a:endParaRPr lang="en-US" sz="2400" dirty="0" smtClean="0">
              <a:latin typeface="Book Antiqua" pitchFamily="18" charset="0"/>
            </a:endParaRPr>
          </a:p>
          <a:p>
            <a:pPr algn="just"/>
            <a:endParaRPr lang="en-US" sz="2400" dirty="0" smtClean="0">
              <a:latin typeface="Book Antiqua" pitchFamily="18" charset="0"/>
            </a:endParaRPr>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bwMode="auto">
          <a:xfrm>
            <a:off x="533400" y="0"/>
            <a:ext cx="8229600" cy="533400"/>
          </a:xfrm>
          <a:prstGeom prst="rect">
            <a:avLst/>
          </a:prstGeom>
          <a:ln>
            <a:miter lim="800000"/>
            <a:headEnd/>
            <a:tailEnd/>
          </a:ln>
        </p:spPr>
        <p:txBody>
          <a:bodyPr/>
          <a:lstStyle/>
          <a:p>
            <a:pPr>
              <a:defRPr/>
            </a:pPr>
            <a:r>
              <a:rPr lang="en-US" sz="2800" dirty="0" smtClean="0">
                <a:latin typeface="Book Antiqua" pitchFamily="18" charset="0"/>
              </a:rPr>
              <a:t>MISSION OF GLP</a:t>
            </a:r>
          </a:p>
        </p:txBody>
      </p:sp>
      <p:sp>
        <p:nvSpPr>
          <p:cNvPr id="35843" name="Rectangle 3"/>
          <p:cNvSpPr>
            <a:spLocks noGrp="1" noChangeArrowheads="1"/>
          </p:cNvSpPr>
          <p:nvPr>
            <p:ph type="body" idx="4294967295"/>
          </p:nvPr>
        </p:nvSpPr>
        <p:spPr bwMode="auto">
          <a:xfrm>
            <a:off x="457200" y="762000"/>
            <a:ext cx="8229600" cy="5486400"/>
          </a:xfrm>
          <a:prstGeom prst="rect">
            <a:avLst/>
          </a:prstGeom>
          <a:noFill/>
          <a:ln>
            <a:miter lim="800000"/>
            <a:headEnd/>
            <a:tailEnd/>
          </a:ln>
        </p:spPr>
        <p:txBody>
          <a:bodyPr/>
          <a:lstStyle/>
          <a:p>
            <a:pPr>
              <a:lnSpc>
                <a:spcPct val="150000"/>
              </a:lnSpc>
            </a:pPr>
            <a:r>
              <a:rPr lang="en-US" sz="2400" dirty="0" smtClean="0">
                <a:latin typeface="Book Antiqua" pitchFamily="18" charset="0"/>
              </a:rPr>
              <a:t>Test systems</a:t>
            </a:r>
          </a:p>
          <a:p>
            <a:pPr>
              <a:lnSpc>
                <a:spcPct val="150000"/>
              </a:lnSpc>
            </a:pPr>
            <a:r>
              <a:rPr lang="en-US" sz="2400" dirty="0" smtClean="0">
                <a:latin typeface="Book Antiqua" pitchFamily="18" charset="0"/>
              </a:rPr>
              <a:t>Archiving of records and materials.</a:t>
            </a:r>
          </a:p>
          <a:p>
            <a:pPr>
              <a:lnSpc>
                <a:spcPct val="150000"/>
              </a:lnSpc>
            </a:pPr>
            <a:r>
              <a:rPr lang="en-US" sz="2400" dirty="0" smtClean="0">
                <a:latin typeface="Book Antiqua" pitchFamily="18" charset="0"/>
              </a:rPr>
              <a:t>Apparatus, material and reagent facilities.</a:t>
            </a:r>
          </a:p>
          <a:p>
            <a:pPr>
              <a:lnSpc>
                <a:spcPct val="150000"/>
              </a:lnSpc>
            </a:pPr>
            <a:r>
              <a:rPr lang="en-US" sz="2400" dirty="0" smtClean="0">
                <a:latin typeface="Book Antiqua" pitchFamily="18" charset="0"/>
              </a:rPr>
              <a:t>Quality assurance programs.</a:t>
            </a:r>
          </a:p>
          <a:p>
            <a:pPr>
              <a:lnSpc>
                <a:spcPct val="150000"/>
              </a:lnSpc>
            </a:pPr>
            <a:r>
              <a:rPr lang="en-US" sz="2400" dirty="0" smtClean="0">
                <a:latin typeface="Book Antiqua" pitchFamily="18" charset="0"/>
              </a:rPr>
              <a:t>Performance of the study.</a:t>
            </a:r>
          </a:p>
          <a:p>
            <a:pPr>
              <a:lnSpc>
                <a:spcPct val="150000"/>
              </a:lnSpc>
            </a:pPr>
            <a:r>
              <a:rPr lang="en-US" sz="2400" dirty="0" smtClean="0">
                <a:latin typeface="Book Antiqua" pitchFamily="18" charset="0"/>
              </a:rPr>
              <a:t>Reporting of study results.</a:t>
            </a:r>
          </a:p>
          <a:p>
            <a:pPr>
              <a:lnSpc>
                <a:spcPct val="150000"/>
              </a:lnSpc>
            </a:pPr>
            <a:r>
              <a:rPr lang="en-US" sz="2400" dirty="0" smtClean="0">
                <a:latin typeface="Book Antiqua" pitchFamily="18" charset="0"/>
              </a:rPr>
              <a:t>Standard operating procedures (SOP)</a:t>
            </a:r>
          </a:p>
          <a:p>
            <a:pPr>
              <a:lnSpc>
                <a:spcPct val="150000"/>
              </a:lnSpc>
            </a:pPr>
            <a:r>
              <a:rPr lang="en-US" sz="2400" dirty="0" smtClean="0">
                <a:latin typeface="Book Antiqua" pitchFamily="18" charset="0"/>
              </a:rPr>
              <a:t>Personnel and test facility organization</a:t>
            </a:r>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28</a:t>
            </a:fld>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bwMode="auto">
          <a:xfrm>
            <a:off x="685800" y="0"/>
            <a:ext cx="8229600" cy="609600"/>
          </a:xfrm>
          <a:prstGeom prst="rect">
            <a:avLst/>
          </a:prstGeom>
          <a:ln>
            <a:miter lim="800000"/>
            <a:headEnd/>
            <a:tailEnd/>
          </a:ln>
        </p:spPr>
        <p:txBody>
          <a:bodyPr/>
          <a:lstStyle/>
          <a:p>
            <a:pPr defTabSz="457200">
              <a:defRPr/>
            </a:pPr>
            <a:r>
              <a:rPr lang="en-US" sz="3200" dirty="0" smtClean="0">
                <a:latin typeface="Book Antiqua" pitchFamily="18" charset="0"/>
              </a:rPr>
              <a:t>Standard Operating Procedures (SOP)</a:t>
            </a:r>
          </a:p>
        </p:txBody>
      </p:sp>
      <p:sp>
        <p:nvSpPr>
          <p:cNvPr id="36867" name="Content Placeholder 2"/>
          <p:cNvSpPr>
            <a:spLocks noGrp="1"/>
          </p:cNvSpPr>
          <p:nvPr>
            <p:ph idx="4294967295"/>
          </p:nvPr>
        </p:nvSpPr>
        <p:spPr bwMode="auto">
          <a:xfrm>
            <a:off x="684213" y="2255838"/>
            <a:ext cx="7775575" cy="3738562"/>
          </a:xfrm>
          <a:prstGeom prst="rect">
            <a:avLst/>
          </a:prstGeom>
          <a:noFill/>
          <a:ln>
            <a:miter lim="800000"/>
            <a:headEnd/>
            <a:tailEnd/>
          </a:ln>
        </p:spPr>
        <p:txBody>
          <a:bodyPr/>
          <a:lstStyle/>
          <a:p>
            <a:pPr defTabSz="457200">
              <a:buFont typeface="Wingdings" pitchFamily="2" charset="2"/>
              <a:buNone/>
            </a:pPr>
            <a:endParaRPr lang="en-US" smtClean="0"/>
          </a:p>
          <a:p>
            <a:pPr defTabSz="457200">
              <a:buFont typeface="Wingdings" pitchFamily="2" charset="2"/>
              <a:buNone/>
            </a:pPr>
            <a:endParaRPr lang="en-US" smtClean="0"/>
          </a:p>
        </p:txBody>
      </p:sp>
      <p:sp>
        <p:nvSpPr>
          <p:cNvPr id="36868" name="Rectangle 5"/>
          <p:cNvSpPr>
            <a:spLocks noGrp="1" noChangeArrowheads="1"/>
          </p:cNvSpPr>
          <p:nvPr>
            <p:ph type="body" idx="4294967295"/>
          </p:nvPr>
        </p:nvSpPr>
        <p:spPr bwMode="auto">
          <a:xfrm>
            <a:off x="533400" y="838200"/>
            <a:ext cx="8229600" cy="5105400"/>
          </a:xfrm>
          <a:prstGeom prst="rect">
            <a:avLst/>
          </a:prstGeom>
          <a:noFill/>
          <a:ln>
            <a:miter lim="800000"/>
            <a:headEnd/>
            <a:tailEnd/>
          </a:ln>
        </p:spPr>
        <p:txBody>
          <a:bodyPr/>
          <a:lstStyle/>
          <a:p>
            <a:pPr algn="just"/>
            <a:r>
              <a:rPr lang="en-US" sz="2400" dirty="0" smtClean="0">
                <a:latin typeface="Book Antiqua" pitchFamily="18" charset="0"/>
              </a:rPr>
              <a:t>Written procedures for a laboratories program.</a:t>
            </a:r>
          </a:p>
          <a:p>
            <a:pPr algn="just"/>
            <a:r>
              <a:rPr lang="en-US" sz="2400" dirty="0" smtClean="0">
                <a:latin typeface="Book Antiqua" pitchFamily="18" charset="0"/>
              </a:rPr>
              <a:t>They define how to carry out protocol-specified activities.</a:t>
            </a:r>
          </a:p>
          <a:p>
            <a:pPr algn="just"/>
            <a:r>
              <a:rPr lang="en-US" sz="2400" dirty="0" smtClean="0">
                <a:latin typeface="Book Antiqua" pitchFamily="18" charset="0"/>
              </a:rPr>
              <a:t>Most often written in a chronological listing of action steps.</a:t>
            </a:r>
          </a:p>
          <a:p>
            <a:pPr algn="just"/>
            <a:r>
              <a:rPr lang="en-US" sz="2400" dirty="0" smtClean="0">
                <a:latin typeface="Book Antiqua" pitchFamily="18" charset="0"/>
              </a:rPr>
              <a:t>They are written to explain how the procedures are suppose to work</a:t>
            </a:r>
          </a:p>
          <a:p>
            <a:pPr algn="just">
              <a:lnSpc>
                <a:spcPct val="90000"/>
              </a:lnSpc>
            </a:pPr>
            <a:r>
              <a:rPr lang="en-US" sz="2400" dirty="0" smtClean="0">
                <a:latin typeface="Book Antiqua" pitchFamily="18" charset="0"/>
              </a:rPr>
              <a:t>Procedure for routine inspection, cleaning, maintenance, testing and calibration.</a:t>
            </a:r>
          </a:p>
          <a:p>
            <a:pPr algn="just">
              <a:lnSpc>
                <a:spcPct val="90000"/>
              </a:lnSpc>
            </a:pPr>
            <a:r>
              <a:rPr lang="en-US" sz="2400" dirty="0" smtClean="0">
                <a:latin typeface="Book Antiqua" pitchFamily="18" charset="0"/>
              </a:rPr>
              <a:t>Actions to be taken in response to equipment failure.</a:t>
            </a:r>
          </a:p>
          <a:p>
            <a:pPr algn="just">
              <a:lnSpc>
                <a:spcPct val="90000"/>
              </a:lnSpc>
            </a:pPr>
            <a:r>
              <a:rPr lang="en-US" sz="2400" dirty="0" smtClean="0">
                <a:latin typeface="Book Antiqua" pitchFamily="18" charset="0"/>
              </a:rPr>
              <a:t>Keeping records, reporting, storage, mixing, and retrieval of data</a:t>
            </a:r>
          </a:p>
          <a:p>
            <a:endParaRPr lang="en-US" sz="2400" dirty="0" smtClean="0">
              <a:latin typeface="Book Antiqua" pitchFamily="18" charset="0"/>
            </a:endParaRPr>
          </a:p>
          <a:p>
            <a:pPr>
              <a:buFont typeface="Wingdings" pitchFamily="2" charset="2"/>
              <a:buNone/>
            </a:pPr>
            <a:endParaRPr lang="en-US" dirty="0" smtClean="0"/>
          </a:p>
        </p:txBody>
      </p:sp>
      <p:sp>
        <p:nvSpPr>
          <p:cNvPr id="5" name="Date Placeholder 4"/>
          <p:cNvSpPr>
            <a:spLocks noGrp="1"/>
          </p:cNvSpPr>
          <p:nvPr>
            <p:ph type="dt" sz="half" idx="10"/>
          </p:nvPr>
        </p:nvSpPr>
        <p:spPr/>
        <p:txBody>
          <a:bodyPr/>
          <a:lstStyle/>
          <a:p>
            <a:r>
              <a:rPr lang="en-US" smtClean="0"/>
              <a:t>Prof. A. K. Datta  University of Calcutta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7" name="Footer Placeholder 6"/>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wedg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bwMode="auto">
          <a:xfrm>
            <a:off x="609600" y="0"/>
            <a:ext cx="8229600" cy="990600"/>
          </a:xfrm>
          <a:prstGeom prst="rect">
            <a:avLst/>
          </a:prstGeom>
          <a:ln>
            <a:miter lim="800000"/>
            <a:headEnd/>
            <a:tailEnd/>
          </a:ln>
        </p:spPr>
        <p:txBody>
          <a:bodyPr/>
          <a:lstStyle/>
          <a:p>
            <a:pPr>
              <a:defRPr/>
            </a:pPr>
            <a:r>
              <a:rPr lang="en-US" sz="3200" dirty="0" smtClean="0">
                <a:latin typeface="Book Antiqua" pitchFamily="18" charset="0"/>
              </a:rPr>
              <a:t>Statistical Procedures for Data Evaluation</a:t>
            </a:r>
          </a:p>
        </p:txBody>
      </p:sp>
      <p:sp>
        <p:nvSpPr>
          <p:cNvPr id="37891" name="Rectangle 3"/>
          <p:cNvSpPr>
            <a:spLocks noGrp="1" noChangeArrowheads="1"/>
          </p:cNvSpPr>
          <p:nvPr>
            <p:ph type="body" idx="4294967295"/>
          </p:nvPr>
        </p:nvSpPr>
        <p:spPr bwMode="auto">
          <a:xfrm>
            <a:off x="457200" y="1219200"/>
            <a:ext cx="8229600" cy="4114800"/>
          </a:xfrm>
          <a:prstGeom prst="rect">
            <a:avLst/>
          </a:prstGeom>
          <a:noFill/>
          <a:ln>
            <a:miter lim="800000"/>
            <a:headEnd/>
            <a:tailEnd/>
          </a:ln>
        </p:spPr>
        <p:txBody>
          <a:bodyPr/>
          <a:lstStyle/>
          <a:p>
            <a:pPr algn="just"/>
            <a:r>
              <a:rPr lang="en-US" sz="2400" dirty="0" smtClean="0">
                <a:latin typeface="Book Antiqua" pitchFamily="18" charset="0"/>
              </a:rPr>
              <a:t>Statistical procedures are not simply chosen from a text book</a:t>
            </a:r>
          </a:p>
          <a:p>
            <a:pPr algn="just"/>
            <a:r>
              <a:rPr lang="en-US" sz="2400" dirty="0" smtClean="0">
                <a:latin typeface="Book Antiqua" pitchFamily="18" charset="0"/>
              </a:rPr>
              <a:t>Practitioners in a particular field may adopt certain standards which are deemed acceptable within that field.</a:t>
            </a:r>
          </a:p>
          <a:p>
            <a:pPr algn="just"/>
            <a:r>
              <a:rPr lang="en-US" sz="2400" dirty="0" smtClean="0">
                <a:latin typeface="Book Antiqua" pitchFamily="18" charset="0"/>
              </a:rPr>
              <a:t>Regulatory agencies often describe acceptable statistical procedures.</a:t>
            </a:r>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30</a:t>
            </a:fld>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8130" name="Title 1"/>
          <p:cNvSpPr>
            <a:spLocks noGrp="1"/>
          </p:cNvSpPr>
          <p:nvPr>
            <p:ph type="title" idx="4294967295"/>
          </p:nvPr>
        </p:nvSpPr>
        <p:spPr bwMode="auto">
          <a:xfrm>
            <a:off x="914400" y="0"/>
            <a:ext cx="8229600" cy="533400"/>
          </a:xfrm>
          <a:prstGeom prst="rect">
            <a:avLst/>
          </a:prstGeom>
          <a:ln>
            <a:miter lim="800000"/>
            <a:headEnd/>
            <a:tailEnd/>
          </a:ln>
        </p:spPr>
        <p:txBody>
          <a:bodyPr/>
          <a:lstStyle/>
          <a:p>
            <a:pPr defTabSz="457200">
              <a:defRPr/>
            </a:pPr>
            <a:r>
              <a:rPr lang="en-US" sz="3200" dirty="0" smtClean="0">
                <a:latin typeface="Book Antiqua" pitchFamily="18" charset="0"/>
              </a:rPr>
              <a:t>Reagent/ Materials Certification</a:t>
            </a:r>
          </a:p>
        </p:txBody>
      </p:sp>
      <p:sp>
        <p:nvSpPr>
          <p:cNvPr id="38915" name="Rectangle 4"/>
          <p:cNvSpPr>
            <a:spLocks noGrp="1" noChangeArrowheads="1"/>
          </p:cNvSpPr>
          <p:nvPr>
            <p:ph type="body" idx="4294967295"/>
          </p:nvPr>
        </p:nvSpPr>
        <p:spPr bwMode="auto">
          <a:xfrm>
            <a:off x="457200" y="838200"/>
            <a:ext cx="8229600" cy="4114800"/>
          </a:xfrm>
          <a:prstGeom prst="rect">
            <a:avLst/>
          </a:prstGeom>
          <a:noFill/>
          <a:ln>
            <a:miter lim="800000"/>
            <a:headEnd/>
            <a:tailEnd/>
          </a:ln>
        </p:spPr>
        <p:txBody>
          <a:bodyPr/>
          <a:lstStyle/>
          <a:p>
            <a:pPr algn="just"/>
            <a:r>
              <a:rPr lang="en-US" sz="2400" dirty="0" smtClean="0">
                <a:latin typeface="Book Antiqua" pitchFamily="18" charset="0"/>
              </a:rPr>
              <a:t>to assure that reagents used are specified in the standard operating procedure.</a:t>
            </a:r>
          </a:p>
          <a:p>
            <a:pPr algn="just"/>
            <a:r>
              <a:rPr lang="en-US" sz="2400" dirty="0" smtClean="0">
                <a:latin typeface="Book Antiqua" pitchFamily="18" charset="0"/>
              </a:rPr>
              <a:t>Purchasing and testing should be handled by a quality assurance program.</a:t>
            </a:r>
          </a:p>
          <a:p>
            <a:pPr algn="just"/>
            <a:r>
              <a:rPr lang="en-US" sz="2400" dirty="0" smtClean="0">
                <a:latin typeface="Book Antiqua" pitchFamily="18" charset="0"/>
              </a:rPr>
              <a:t>Reagents and solutions shall be labeled </a:t>
            </a:r>
          </a:p>
          <a:p>
            <a:pPr algn="just"/>
            <a:r>
              <a:rPr lang="en-US" sz="2400" dirty="0" smtClean="0">
                <a:latin typeface="Book Antiqua" pitchFamily="18" charset="0"/>
              </a:rPr>
              <a:t>Deteriorated or outdated reagents and solutions shall not be used</a:t>
            </a:r>
          </a:p>
          <a:p>
            <a:pPr algn="just"/>
            <a:r>
              <a:rPr lang="en-US" sz="2400" dirty="0" smtClean="0">
                <a:latin typeface="Book Antiqua" pitchFamily="18" charset="0"/>
              </a:rPr>
              <a:t>Include Date opened</a:t>
            </a:r>
          </a:p>
          <a:p>
            <a:pPr algn="just"/>
            <a:r>
              <a:rPr lang="en-US" sz="2400" dirty="0" smtClean="0">
                <a:latin typeface="Book Antiqua" pitchFamily="18" charset="0"/>
              </a:rPr>
              <a:t>Stored under ambient temperature</a:t>
            </a:r>
          </a:p>
          <a:p>
            <a:pPr algn="just"/>
            <a:r>
              <a:rPr lang="en-US" sz="2400" dirty="0" smtClean="0">
                <a:latin typeface="Book Antiqua" pitchFamily="18" charset="0"/>
              </a:rPr>
              <a:t>Expiry date</a:t>
            </a:r>
          </a:p>
          <a:p>
            <a:pPr>
              <a:buFont typeface="Wingdings" pitchFamily="2" charset="2"/>
              <a:buChar char="n"/>
            </a:pPr>
            <a:endParaRPr lang="en-US" sz="2400" dirty="0" smtClean="0">
              <a:latin typeface="Book Antiqua" pitchFamily="18" charset="0"/>
            </a:endParaRPr>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50178" name="Title 1"/>
          <p:cNvSpPr>
            <a:spLocks noGrp="1"/>
          </p:cNvSpPr>
          <p:nvPr>
            <p:ph type="title" idx="4294967295"/>
          </p:nvPr>
        </p:nvSpPr>
        <p:spPr bwMode="auto">
          <a:xfrm>
            <a:off x="381000" y="0"/>
            <a:ext cx="8229600" cy="381000"/>
          </a:xfrm>
          <a:prstGeom prst="rect">
            <a:avLst/>
          </a:prstGeom>
          <a:ln>
            <a:miter lim="800000"/>
            <a:headEnd/>
            <a:tailEnd/>
          </a:ln>
        </p:spPr>
        <p:txBody>
          <a:bodyPr/>
          <a:lstStyle/>
          <a:p>
            <a:pPr defTabSz="457200">
              <a:defRPr/>
            </a:pPr>
            <a:r>
              <a:rPr lang="en-US" sz="3200" dirty="0" smtClean="0">
                <a:latin typeface="Book Antiqua" pitchFamily="18" charset="0"/>
              </a:rPr>
              <a:t>Analyst Certification</a:t>
            </a:r>
          </a:p>
        </p:txBody>
      </p:sp>
      <p:sp>
        <p:nvSpPr>
          <p:cNvPr id="39939" name="Rectangle 4"/>
          <p:cNvSpPr>
            <a:spLocks noGrp="1" noChangeArrowheads="1"/>
          </p:cNvSpPr>
          <p:nvPr>
            <p:ph type="body" idx="4294967295"/>
          </p:nvPr>
        </p:nvSpPr>
        <p:spPr bwMode="auto">
          <a:xfrm>
            <a:off x="381000" y="990600"/>
            <a:ext cx="8229600" cy="4114800"/>
          </a:xfrm>
          <a:prstGeom prst="rect">
            <a:avLst/>
          </a:prstGeom>
          <a:noFill/>
          <a:ln>
            <a:miter lim="800000"/>
            <a:headEnd/>
            <a:tailEnd/>
          </a:ln>
        </p:spPr>
        <p:txBody>
          <a:bodyPr/>
          <a:lstStyle/>
          <a:p>
            <a:pPr algn="just"/>
            <a:r>
              <a:rPr lang="en-US" sz="2400" dirty="0" smtClean="0">
                <a:latin typeface="Book Antiqua" pitchFamily="18" charset="0"/>
              </a:rPr>
              <a:t>Some acceptable proof of satisfactory training and/or competence with specific laboratory procedures must be established for each analyst.</a:t>
            </a:r>
          </a:p>
          <a:p>
            <a:pPr algn="just"/>
            <a:r>
              <a:rPr lang="en-US" sz="2400" dirty="0" smtClean="0">
                <a:latin typeface="Book Antiqua" pitchFamily="18" charset="0"/>
              </a:rPr>
              <a:t>Qualification can come from education, experience or additional trainings, but it should be  documented</a:t>
            </a:r>
          </a:p>
          <a:p>
            <a:pPr algn="just"/>
            <a:r>
              <a:rPr lang="en-US" sz="2400" dirty="0" smtClean="0">
                <a:latin typeface="Book Antiqua" pitchFamily="18" charset="0"/>
              </a:rPr>
              <a:t>Sufficient people</a:t>
            </a:r>
          </a:p>
          <a:p>
            <a:pPr algn="just"/>
            <a:r>
              <a:rPr lang="en-US" sz="2400" dirty="0" smtClean="0">
                <a:latin typeface="Book Antiqua" pitchFamily="18" charset="0"/>
              </a:rPr>
              <a:t>Requirements of certification  may vary</a:t>
            </a:r>
          </a:p>
          <a:p>
            <a:endParaRPr lang="en-US" dirty="0" smtClean="0"/>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Title 1"/>
          <p:cNvSpPr>
            <a:spLocks noGrp="1"/>
          </p:cNvSpPr>
          <p:nvPr>
            <p:ph type="title" idx="4294967295"/>
          </p:nvPr>
        </p:nvSpPr>
        <p:spPr bwMode="auto">
          <a:xfrm>
            <a:off x="533400" y="0"/>
            <a:ext cx="8229600" cy="990600"/>
          </a:xfrm>
          <a:prstGeom prst="rect">
            <a:avLst/>
          </a:prstGeom>
          <a:ln>
            <a:miter lim="800000"/>
            <a:headEnd/>
            <a:tailEnd/>
          </a:ln>
        </p:spPr>
        <p:txBody>
          <a:bodyPr/>
          <a:lstStyle/>
          <a:p>
            <a:pPr defTabSz="457200">
              <a:defRPr/>
            </a:pPr>
            <a:r>
              <a:rPr lang="en-US" sz="2800" dirty="0" smtClean="0">
                <a:latin typeface="Book Antiqua" pitchFamily="18" charset="0"/>
              </a:rPr>
              <a:t>Documentation and Maintenance of Records</a:t>
            </a:r>
          </a:p>
        </p:txBody>
      </p:sp>
      <p:sp>
        <p:nvSpPr>
          <p:cNvPr id="40963" name="Rectangle 4"/>
          <p:cNvSpPr>
            <a:spLocks noGrp="1" noChangeArrowheads="1"/>
          </p:cNvSpPr>
          <p:nvPr>
            <p:ph type="body" idx="4294967295"/>
          </p:nvPr>
        </p:nvSpPr>
        <p:spPr bwMode="auto">
          <a:xfrm>
            <a:off x="304800" y="1066800"/>
            <a:ext cx="8229600" cy="4114800"/>
          </a:xfrm>
          <a:prstGeom prst="rect">
            <a:avLst/>
          </a:prstGeom>
          <a:noFill/>
          <a:ln>
            <a:miter lim="800000"/>
            <a:headEnd/>
            <a:tailEnd/>
          </a:ln>
        </p:spPr>
        <p:txBody>
          <a:bodyPr/>
          <a:lstStyle/>
          <a:p>
            <a:pPr algn="just">
              <a:lnSpc>
                <a:spcPct val="90000"/>
              </a:lnSpc>
            </a:pPr>
            <a:r>
              <a:rPr lang="en-US" sz="2400" dirty="0" smtClean="0">
                <a:latin typeface="Book Antiqua" pitchFamily="18" charset="0"/>
              </a:rPr>
              <a:t>Maintenance of all records provide documentation which may be required in the event of legal challenges due to repercussions of decisions based on the original analytical results.</a:t>
            </a:r>
          </a:p>
          <a:p>
            <a:pPr algn="just">
              <a:lnSpc>
                <a:spcPct val="90000"/>
              </a:lnSpc>
              <a:buNone/>
            </a:pPr>
            <a:endParaRPr lang="en-US" sz="2400" dirty="0" smtClean="0">
              <a:latin typeface="Book Antiqua" pitchFamily="18" charset="0"/>
            </a:endParaRPr>
          </a:p>
          <a:p>
            <a:pPr algn="just">
              <a:lnSpc>
                <a:spcPct val="90000"/>
              </a:lnSpc>
            </a:pPr>
            <a:r>
              <a:rPr lang="en-US" sz="2400" dirty="0" smtClean="0">
                <a:latin typeface="Book Antiqua" pitchFamily="18" charset="0"/>
              </a:rPr>
              <a:t>General guidelines followed in regulated laboratories is to maintain records for at least five years.</a:t>
            </a:r>
          </a:p>
          <a:p>
            <a:pPr algn="just">
              <a:lnSpc>
                <a:spcPct val="90000"/>
              </a:lnSpc>
              <a:buNone/>
            </a:pPr>
            <a:endParaRPr lang="en-US" sz="2400" dirty="0" smtClean="0">
              <a:latin typeface="Book Antiqua" pitchFamily="18" charset="0"/>
            </a:endParaRPr>
          </a:p>
          <a:p>
            <a:pPr algn="just">
              <a:lnSpc>
                <a:spcPct val="90000"/>
              </a:lnSpc>
            </a:pPr>
            <a:r>
              <a:rPr lang="en-US" sz="2400" dirty="0" smtClean="0">
                <a:latin typeface="Book Antiqua" pitchFamily="18" charset="0"/>
              </a:rPr>
              <a:t>Length of time over which laboratory records should be maintained will vary with the situation</a:t>
            </a:r>
          </a:p>
          <a:p>
            <a:pPr>
              <a:buFont typeface="Wingdings" pitchFamily="2" charset="2"/>
              <a:buChar char="n"/>
            </a:pPr>
            <a:endParaRPr lang="en-US" sz="2800" dirty="0" smtClean="0"/>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51202" name="Title 1"/>
          <p:cNvSpPr>
            <a:spLocks noGrp="1"/>
          </p:cNvSpPr>
          <p:nvPr>
            <p:ph type="title" idx="4294967295"/>
          </p:nvPr>
        </p:nvSpPr>
        <p:spPr bwMode="auto">
          <a:xfrm>
            <a:off x="457200" y="914400"/>
            <a:ext cx="8229600" cy="685800"/>
          </a:xfrm>
          <a:prstGeom prst="rect">
            <a:avLst/>
          </a:prstGeom>
          <a:ln>
            <a:miter lim="800000"/>
            <a:headEnd/>
            <a:tailEnd/>
          </a:ln>
        </p:spPr>
        <p:txBody>
          <a:bodyPr/>
          <a:lstStyle/>
          <a:p>
            <a:pPr defTabSz="457200">
              <a:defRPr/>
            </a:pPr>
            <a:r>
              <a:rPr lang="en-US" sz="3200" dirty="0" smtClean="0">
                <a:latin typeface="Book Antiqua" pitchFamily="18" charset="0"/>
              </a:rPr>
              <a:t>GLP Certification</a:t>
            </a:r>
          </a:p>
        </p:txBody>
      </p:sp>
      <p:sp>
        <p:nvSpPr>
          <p:cNvPr id="41987" name="Rectangle 4"/>
          <p:cNvSpPr>
            <a:spLocks noGrp="1" noChangeArrowheads="1"/>
          </p:cNvSpPr>
          <p:nvPr>
            <p:ph type="body" idx="4294967295"/>
          </p:nvPr>
        </p:nvSpPr>
        <p:spPr bwMode="auto">
          <a:xfrm>
            <a:off x="457200" y="1752600"/>
            <a:ext cx="8229600" cy="4114800"/>
          </a:xfrm>
          <a:prstGeom prst="rect">
            <a:avLst/>
          </a:prstGeom>
          <a:noFill/>
          <a:ln>
            <a:miter lim="800000"/>
            <a:headEnd/>
            <a:tailEnd/>
          </a:ln>
        </p:spPr>
        <p:txBody>
          <a:bodyPr/>
          <a:lstStyle/>
          <a:p>
            <a:pPr>
              <a:lnSpc>
                <a:spcPct val="150000"/>
              </a:lnSpc>
            </a:pPr>
            <a:r>
              <a:rPr lang="en-US" sz="2400" dirty="0" smtClean="0">
                <a:latin typeface="Book Antiqua" pitchFamily="18" charset="0"/>
              </a:rPr>
              <a:t>Normally done by an external agency</a:t>
            </a:r>
          </a:p>
          <a:p>
            <a:pPr>
              <a:lnSpc>
                <a:spcPct val="150000"/>
              </a:lnSpc>
            </a:pPr>
            <a:r>
              <a:rPr lang="en-US" sz="2400" dirty="0" smtClean="0">
                <a:latin typeface="Book Antiqua" pitchFamily="18" charset="0"/>
              </a:rPr>
              <a:t>Evaluation is concerned with issues such as </a:t>
            </a:r>
          </a:p>
          <a:p>
            <a:pPr>
              <a:lnSpc>
                <a:spcPct val="150000"/>
              </a:lnSpc>
            </a:pPr>
            <a:r>
              <a:rPr lang="en-US" sz="2400" dirty="0" smtClean="0">
                <a:latin typeface="Book Antiqua" pitchFamily="18" charset="0"/>
              </a:rPr>
              <a:t>Adequate space</a:t>
            </a:r>
          </a:p>
          <a:p>
            <a:pPr>
              <a:lnSpc>
                <a:spcPct val="150000"/>
              </a:lnSpc>
            </a:pPr>
            <a:r>
              <a:rPr lang="en-US" sz="2400" dirty="0" smtClean="0">
                <a:latin typeface="Book Antiqua" pitchFamily="18" charset="0"/>
              </a:rPr>
              <a:t>Ventilation</a:t>
            </a:r>
          </a:p>
          <a:p>
            <a:pPr>
              <a:lnSpc>
                <a:spcPct val="150000"/>
              </a:lnSpc>
            </a:pPr>
            <a:r>
              <a:rPr lang="en-US" sz="2400" dirty="0" smtClean="0">
                <a:latin typeface="Book Antiqua" pitchFamily="18" charset="0"/>
              </a:rPr>
              <a:t>Storage</a:t>
            </a:r>
          </a:p>
          <a:p>
            <a:pPr>
              <a:lnSpc>
                <a:spcPct val="150000"/>
              </a:lnSpc>
            </a:pPr>
            <a:r>
              <a:rPr lang="en-US" sz="2400" dirty="0" smtClean="0">
                <a:latin typeface="Book Antiqua" pitchFamily="18" charset="0"/>
              </a:rPr>
              <a:t>Hygiene</a:t>
            </a:r>
          </a:p>
          <a:p>
            <a:pPr>
              <a:buFont typeface="Wingdings" pitchFamily="2" charset="2"/>
              <a:buChar char="n"/>
            </a:pPr>
            <a:endParaRPr lang="en-US" sz="2800" dirty="0" smtClean="0"/>
          </a:p>
        </p:txBody>
      </p:sp>
      <p:sp>
        <p:nvSpPr>
          <p:cNvPr id="4" name="Date Placeholder 3"/>
          <p:cNvSpPr>
            <a:spLocks noGrp="1"/>
          </p:cNvSpPr>
          <p:nvPr>
            <p:ph type="dt" sz="half" idx="10"/>
          </p:nvPr>
        </p:nvSpPr>
        <p:spPr/>
        <p:txBody>
          <a:bodyPr/>
          <a:lstStyle/>
          <a:p>
            <a:r>
              <a:rPr lang="en-US" smtClean="0"/>
              <a:t>Prof. A. K. Datta  University of Calcutta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34</a:t>
            </a:fld>
            <a:endParaRPr lang="en-US"/>
          </a:p>
        </p:txBody>
      </p:sp>
      <p:sp>
        <p:nvSpPr>
          <p:cNvPr id="6" name="Footer Placeholder 5"/>
          <p:cNvSpPr>
            <a:spLocks noGrp="1"/>
          </p:cNvSpPr>
          <p:nvPr>
            <p:ph type="ftr" sz="quarter" idx="11"/>
          </p:nvPr>
        </p:nvSpPr>
        <p:spPr/>
        <p:txBody>
          <a:bodyPr/>
          <a:lstStyle/>
          <a:p>
            <a:r>
              <a:rPr lang="en-IN" smtClean="0"/>
              <a:t>Ph.D. Course work on Research Methodology</a:t>
            </a:r>
            <a:endParaRPr lang="en-US"/>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US"/>
          </a:p>
        </p:txBody>
      </p:sp>
      <p:sp>
        <p:nvSpPr>
          <p:cNvPr id="3" name="Footer Placeholder 2"/>
          <p:cNvSpPr>
            <a:spLocks noGrp="1"/>
          </p:cNvSpPr>
          <p:nvPr>
            <p:ph type="ftr" sz="quarter" idx="11"/>
          </p:nvPr>
        </p:nvSpPr>
        <p:spPr/>
        <p:txBody>
          <a:bodyPr/>
          <a:lstStyle/>
          <a:p>
            <a:r>
              <a:rPr lang="en-IN"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7" name="TextBox 6"/>
          <p:cNvSpPr txBox="1"/>
          <p:nvPr/>
        </p:nvSpPr>
        <p:spPr>
          <a:xfrm>
            <a:off x="1066800" y="1676400"/>
            <a:ext cx="7467600" cy="954107"/>
          </a:xfrm>
          <a:prstGeom prst="rect">
            <a:avLst/>
          </a:prstGeom>
          <a:noFill/>
        </p:spPr>
        <p:txBody>
          <a:bodyPr wrap="square" rtlCol="0">
            <a:spAutoFit/>
          </a:bodyPr>
          <a:lstStyle/>
          <a:p>
            <a:r>
              <a:rPr lang="en-US" sz="2800" dirty="0" smtClean="0"/>
              <a:t>Now, 2 minutes noodle MAGGI issue and court case has raised several  critical issues of GLP</a:t>
            </a:r>
            <a:endParaRPr lang="en-IN" sz="2800" dirty="0"/>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843</TotalTime>
  <Words>2918</Words>
  <Application>Microsoft Office PowerPoint</Application>
  <PresentationFormat>On-screen Show (4:3)</PresentationFormat>
  <Paragraphs>357</Paragraphs>
  <Slides>35</Slides>
  <Notes>4</Notes>
  <HiddenSlides>7</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37" baseType="lpstr">
      <vt:lpstr>Office Theme</vt:lpstr>
      <vt:lpstr>Equation</vt:lpstr>
      <vt:lpstr>Design of experiment  </vt:lpstr>
      <vt:lpstr>  DESIGN OF EXPERIMENTS  </vt:lpstr>
      <vt:lpstr>Slide 3</vt:lpstr>
      <vt:lpstr>Slide 4</vt:lpstr>
      <vt:lpstr>Quality</vt:lpstr>
      <vt:lpstr>Slide 6</vt:lpstr>
      <vt:lpstr>Principles of experimental design </vt:lpstr>
      <vt:lpstr>Slide 8</vt:lpstr>
      <vt:lpstr>Slide 9</vt:lpstr>
      <vt:lpstr>Experimental design techniques</vt:lpstr>
      <vt:lpstr>Slide 11</vt:lpstr>
      <vt:lpstr>Slide 12</vt:lpstr>
      <vt:lpstr>Slide 13</vt:lpstr>
      <vt:lpstr>Slide 14</vt:lpstr>
      <vt:lpstr>Slide 15</vt:lpstr>
      <vt:lpstr>Slide 16</vt:lpstr>
      <vt:lpstr>Slide 17</vt:lpstr>
      <vt:lpstr>Slide 18</vt:lpstr>
      <vt:lpstr>Full factorial design</vt:lpstr>
      <vt:lpstr>Slide 20</vt:lpstr>
      <vt:lpstr>Slide 21</vt:lpstr>
      <vt:lpstr>Slide 22</vt:lpstr>
      <vt:lpstr>Slide 23</vt:lpstr>
      <vt:lpstr>GOOD LABORATORY PRACTICE</vt:lpstr>
      <vt:lpstr>Slide 25</vt:lpstr>
      <vt:lpstr>Why  was  GLP  created?</vt:lpstr>
      <vt:lpstr>FAMOUS EXAMPLE</vt:lpstr>
      <vt:lpstr>MISSION OF GLP</vt:lpstr>
      <vt:lpstr>Standard Operating Procedures (SOP)</vt:lpstr>
      <vt:lpstr>Statistical Procedures for Data Evaluation</vt:lpstr>
      <vt:lpstr>Reagent/ Materials Certification</vt:lpstr>
      <vt:lpstr>Analyst Certification</vt:lpstr>
      <vt:lpstr>Documentation and Maintenance of Records</vt:lpstr>
      <vt:lpstr>GLP Certification</vt:lpstr>
      <vt:lpstr>Slide 35</vt:lpstr>
    </vt:vector>
  </TitlesOfParts>
  <Company>CU</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DESIGN OF EXPERIMENTS  </dc:title>
  <dc:creator>AKDatta</dc:creator>
  <cp:lastModifiedBy>Asit Datta</cp:lastModifiedBy>
  <cp:revision>98</cp:revision>
  <dcterms:created xsi:type="dcterms:W3CDTF">2006-08-16T00:00:00Z</dcterms:created>
  <dcterms:modified xsi:type="dcterms:W3CDTF">2023-12-27T05:06:41Z</dcterms:modified>
</cp:coreProperties>
</file>