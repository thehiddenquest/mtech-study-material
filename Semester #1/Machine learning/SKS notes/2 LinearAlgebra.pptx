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1" autoAdjust="0"/>
    <p:restoredTop sz="94660"/>
  </p:normalViewPr>
  <p:slideViewPr>
    <p:cSldViewPr>
      <p:cViewPr varScale="1">
        <p:scale>
          <a:sx n="58" d="100"/>
          <a:sy n="58" d="100"/>
        </p:scale>
        <p:origin x="153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72BF4-8E00-411E-9C9E-CA8611518FE2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95A15-CF9B-4853-9FEC-8E9E3BDD3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95141" y="2630424"/>
            <a:ext cx="6668117" cy="1354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13231" y="4273295"/>
            <a:ext cx="4631936" cy="1171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D06F9-F7AF-445C-8EBD-551EA9B1B334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525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F74C8-7CEC-490E-8759-ED3EDDDEB570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525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8000" y="1625600"/>
            <a:ext cx="4370705" cy="4476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91D5C-F19E-4B60-9573-EBAA15564C38}" type="datetime1">
              <a:rPr lang="en-US" smtClean="0"/>
              <a:t>9/6/2024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525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94CF3-D4B3-4A21-9DF6-DFEDCA7D1D15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525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54A30-B04B-4F93-ACBE-A1A2C3A74867}" type="datetime1">
              <a:rPr lang="en-US" smtClean="0"/>
              <a:t>9/6/2024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525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9383" y="992631"/>
            <a:ext cx="8779632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3023" y="1988457"/>
            <a:ext cx="8712200" cy="4589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F8DA3-263B-48DF-A77E-F5EBE02D8DC0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25958" y="6856554"/>
            <a:ext cx="285291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5255">
              <a:lnSpc>
                <a:spcPts val="16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47.jpg"/><Relationship Id="rId2" Type="http://schemas.openxmlformats.org/officeDocument/2006/relationships/hyperlink" Target="http://www.youtube.com/watch?v=mxkGMbrobY0&amp;feature=youtu.be&amp;fbclid=IwAR3ajOaxWm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256790" marR="5080" indent="-2243455">
              <a:lnSpc>
                <a:spcPts val="5180"/>
              </a:lnSpc>
              <a:spcBef>
                <a:spcPts val="300"/>
              </a:spcBef>
            </a:pPr>
            <a:r>
              <a:rPr dirty="0"/>
              <a:t>Linear</a:t>
            </a:r>
            <a:r>
              <a:rPr spc="-210" dirty="0"/>
              <a:t> </a:t>
            </a:r>
            <a:r>
              <a:rPr spc="-10" dirty="0"/>
              <a:t>Algebra</a:t>
            </a:r>
            <a:r>
              <a:rPr spc="-215" dirty="0"/>
              <a:t> </a:t>
            </a:r>
            <a:r>
              <a:rPr dirty="0"/>
              <a:t>for</a:t>
            </a:r>
            <a:r>
              <a:rPr spc="-220" dirty="0"/>
              <a:t> </a:t>
            </a:r>
            <a:r>
              <a:rPr spc="-10" dirty="0"/>
              <a:t>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Importance</a:t>
            </a:r>
            <a:r>
              <a:rPr spc="-195" dirty="0"/>
              <a:t> </a:t>
            </a:r>
            <a:r>
              <a:rPr dirty="0"/>
              <a:t>of</a:t>
            </a:r>
            <a:r>
              <a:rPr spc="-180" dirty="0"/>
              <a:t> </a:t>
            </a:r>
            <a:r>
              <a:rPr dirty="0"/>
              <a:t>Linear</a:t>
            </a:r>
            <a:r>
              <a:rPr spc="-190" dirty="0"/>
              <a:t> </a:t>
            </a:r>
            <a:r>
              <a:rPr spc="-10" dirty="0"/>
              <a:t>Algebra</a:t>
            </a:r>
            <a:r>
              <a:rPr spc="-195" dirty="0"/>
              <a:t> </a:t>
            </a:r>
            <a:r>
              <a:rPr dirty="0"/>
              <a:t>in</a:t>
            </a:r>
            <a:r>
              <a:rPr spc="-195" dirty="0"/>
              <a:t> </a:t>
            </a:r>
            <a:r>
              <a:rPr spc="-25" dirty="0"/>
              <a:t>ML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7724" y="2216317"/>
            <a:ext cx="4623638" cy="46739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00"/>
              </a:spcBef>
            </a:pPr>
            <a:r>
              <a:rPr dirty="0"/>
              <a:t>Topics</a:t>
            </a:r>
            <a:r>
              <a:rPr spc="-200" dirty="0"/>
              <a:t> </a:t>
            </a:r>
            <a:r>
              <a:rPr dirty="0"/>
              <a:t>in</a:t>
            </a:r>
            <a:r>
              <a:rPr spc="-195" dirty="0"/>
              <a:t> </a:t>
            </a:r>
            <a:r>
              <a:rPr dirty="0"/>
              <a:t>Linear</a:t>
            </a:r>
            <a:r>
              <a:rPr spc="-190" dirty="0"/>
              <a:t> </a:t>
            </a:r>
            <a:r>
              <a:rPr dirty="0"/>
              <a:t>Algebra</a:t>
            </a:r>
            <a:r>
              <a:rPr spc="-195" dirty="0"/>
              <a:t> </a:t>
            </a:r>
            <a:r>
              <a:rPr dirty="0"/>
              <a:t>for</a:t>
            </a:r>
            <a:r>
              <a:rPr spc="-190" dirty="0"/>
              <a:t> </a:t>
            </a:r>
            <a:r>
              <a:rPr spc="-25" dirty="0"/>
              <a:t>ML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2017775"/>
            <a:ext cx="7301230" cy="40487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4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Why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need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Linear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Algebra?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5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scalars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tensors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77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Flow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tensors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ML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4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operations: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determinant,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inverse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7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Eigen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values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eigen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74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Singular</a:t>
            </a:r>
            <a:r>
              <a:rPr sz="3200" spc="-1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Value</a:t>
            </a:r>
            <a:r>
              <a:rPr sz="3200" spc="-1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Decomposition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7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Principal</a:t>
            </a:r>
            <a:r>
              <a:rPr sz="3200" spc="-1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components</a:t>
            </a:r>
            <a:r>
              <a:rPr sz="3200" spc="-1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analysis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9178" y="691895"/>
            <a:ext cx="56838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40" dirty="0"/>
              <a:t> </a:t>
            </a:r>
            <a:r>
              <a:rPr dirty="0"/>
              <a:t>is</a:t>
            </a:r>
            <a:r>
              <a:rPr spc="-150" dirty="0"/>
              <a:t> </a:t>
            </a:r>
            <a:r>
              <a:rPr dirty="0"/>
              <a:t>linear</a:t>
            </a:r>
            <a:r>
              <a:rPr spc="-150" dirty="0"/>
              <a:t> </a:t>
            </a:r>
            <a:r>
              <a:rPr spc="-10" dirty="0"/>
              <a:t>algebra?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473" y="5393266"/>
            <a:ext cx="2562012" cy="18131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3023" y="1496568"/>
            <a:ext cx="8778875" cy="50285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63855" marR="597535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Linear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algebra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branch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mathematics concerning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linear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equations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such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endParaRPr sz="3200">
              <a:latin typeface="Arial"/>
              <a:cs typeface="Arial"/>
            </a:endParaRPr>
          </a:p>
          <a:p>
            <a:pPr marL="929005">
              <a:lnSpc>
                <a:spcPct val="100000"/>
              </a:lnSpc>
              <a:spcBef>
                <a:spcPts val="560"/>
              </a:spcBef>
            </a:pPr>
            <a:r>
              <a:rPr sz="3200" i="1" spc="-10" dirty="0">
                <a:latin typeface="Times New Roman"/>
                <a:cs typeface="Times New Roman"/>
              </a:rPr>
              <a:t>a</a:t>
            </a:r>
            <a:r>
              <a:rPr sz="3150" spc="-15" baseline="-18518" dirty="0">
                <a:latin typeface="Times New Roman"/>
                <a:cs typeface="Times New Roman"/>
              </a:rPr>
              <a:t>1</a:t>
            </a:r>
            <a:r>
              <a:rPr sz="3200" i="1" spc="-10" dirty="0">
                <a:latin typeface="Times New Roman"/>
                <a:cs typeface="Times New Roman"/>
              </a:rPr>
              <a:t>x</a:t>
            </a:r>
            <a:r>
              <a:rPr sz="3150" spc="-15" baseline="-18518" dirty="0">
                <a:latin typeface="Times New Roman"/>
                <a:cs typeface="Times New Roman"/>
              </a:rPr>
              <a:t>1</a:t>
            </a:r>
            <a:r>
              <a:rPr sz="3200" spc="-10" dirty="0">
                <a:latin typeface="Times New Roman"/>
                <a:cs typeface="Times New Roman"/>
              </a:rPr>
              <a:t>+…..+</a:t>
            </a:r>
            <a:r>
              <a:rPr sz="3200" i="1" spc="-10" dirty="0">
                <a:latin typeface="Times New Roman"/>
                <a:cs typeface="Times New Roman"/>
              </a:rPr>
              <a:t>a</a:t>
            </a:r>
            <a:r>
              <a:rPr sz="3150" i="1" spc="-15" baseline="-18518" dirty="0">
                <a:latin typeface="Times New Roman"/>
                <a:cs typeface="Times New Roman"/>
              </a:rPr>
              <a:t>n</a:t>
            </a:r>
            <a:r>
              <a:rPr sz="3200" i="1" spc="-10" dirty="0">
                <a:latin typeface="Times New Roman"/>
                <a:cs typeface="Times New Roman"/>
              </a:rPr>
              <a:t>x</a:t>
            </a:r>
            <a:r>
              <a:rPr sz="3150" i="1" spc="-15" baseline="-18518" dirty="0">
                <a:latin typeface="Times New Roman"/>
                <a:cs typeface="Times New Roman"/>
              </a:rPr>
              <a:t>n</a:t>
            </a:r>
            <a:r>
              <a:rPr sz="3200" spc="-10" dirty="0">
                <a:latin typeface="Times New Roman"/>
                <a:cs typeface="Times New Roman"/>
              </a:rPr>
              <a:t>=</a:t>
            </a:r>
            <a:r>
              <a:rPr sz="3200" i="1" spc="-10" dirty="0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758825" lvl="1" indent="-281305">
              <a:lnSpc>
                <a:spcPct val="100000"/>
              </a:lnSpc>
              <a:spcBef>
                <a:spcPts val="540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notation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say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a</a:t>
            </a:r>
            <a:r>
              <a:rPr sz="2700" spc="-15" baseline="24691" dirty="0">
                <a:latin typeface="Times New Roman"/>
                <a:cs typeface="Times New Roman"/>
              </a:rPr>
              <a:t>T</a:t>
            </a:r>
            <a:r>
              <a:rPr sz="2800" b="1" i="1" spc="-10" dirty="0">
                <a:latin typeface="Times New Roman"/>
                <a:cs typeface="Times New Roman"/>
              </a:rPr>
              <a:t>x</a:t>
            </a:r>
            <a:r>
              <a:rPr sz="2800" spc="-10" dirty="0">
                <a:latin typeface="Times New Roman"/>
                <a:cs typeface="Times New Roman"/>
              </a:rPr>
              <a:t>=</a:t>
            </a:r>
            <a:r>
              <a:rPr sz="2800" i="1" spc="-10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758825" lvl="1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Called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linear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transformation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363855" marR="17780" indent="-339090">
              <a:lnSpc>
                <a:spcPts val="3790"/>
              </a:lnSpc>
              <a:spcBef>
                <a:spcPts val="919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Linear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algebra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fundamental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geometry,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for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defining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objects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such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lines,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planes,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rotations</a:t>
            </a:r>
            <a:endParaRPr sz="3200">
              <a:latin typeface="Arial"/>
              <a:cs typeface="Arial"/>
            </a:endParaRPr>
          </a:p>
          <a:p>
            <a:pPr marL="3566795" marR="1334135">
              <a:lnSpc>
                <a:spcPct val="98500"/>
              </a:lnSpc>
              <a:spcBef>
                <a:spcPts val="2325"/>
              </a:spcBef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Linear</a:t>
            </a:r>
            <a:r>
              <a:rPr sz="18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equation</a:t>
            </a:r>
            <a:r>
              <a:rPr sz="18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a</a:t>
            </a:r>
            <a:r>
              <a:rPr sz="1800" spc="-15" baseline="-13888" dirty="0">
                <a:latin typeface="Times New Roman"/>
                <a:cs typeface="Times New Roman"/>
              </a:rPr>
              <a:t>1</a:t>
            </a:r>
            <a:r>
              <a:rPr sz="1800" i="1" spc="-10" dirty="0">
                <a:latin typeface="Times New Roman"/>
                <a:cs typeface="Times New Roman"/>
              </a:rPr>
              <a:t>x</a:t>
            </a:r>
            <a:r>
              <a:rPr sz="1800" spc="-15" baseline="-13888" dirty="0">
                <a:latin typeface="Times New Roman"/>
                <a:cs typeface="Times New Roman"/>
              </a:rPr>
              <a:t>1</a:t>
            </a:r>
            <a:r>
              <a:rPr sz="1800" spc="-10" dirty="0">
                <a:latin typeface="Times New Roman"/>
                <a:cs typeface="Times New Roman"/>
              </a:rPr>
              <a:t>+…..+</a:t>
            </a:r>
            <a:r>
              <a:rPr sz="1800" i="1" spc="-10" dirty="0">
                <a:latin typeface="Times New Roman"/>
                <a:cs typeface="Times New Roman"/>
              </a:rPr>
              <a:t>a</a:t>
            </a:r>
            <a:r>
              <a:rPr sz="1800" i="1" spc="-15" baseline="-13888" dirty="0">
                <a:latin typeface="Times New Roman"/>
                <a:cs typeface="Times New Roman"/>
              </a:rPr>
              <a:t>n</a:t>
            </a:r>
            <a:r>
              <a:rPr sz="1800" i="1" spc="-10" dirty="0">
                <a:latin typeface="Times New Roman"/>
                <a:cs typeface="Times New Roman"/>
              </a:rPr>
              <a:t>x</a:t>
            </a:r>
            <a:r>
              <a:rPr sz="1800" i="1" spc="-15" baseline="-13888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=</a:t>
            </a:r>
            <a:r>
              <a:rPr sz="1800" i="1" spc="-10" dirty="0">
                <a:latin typeface="Times New Roman"/>
                <a:cs typeface="Times New Roman"/>
              </a:rPr>
              <a:t>b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defines</a:t>
            </a:r>
            <a:r>
              <a:rPr sz="1800" spc="-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1800" spc="-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plane</a:t>
            </a:r>
            <a:r>
              <a:rPr sz="1800" spc="-4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in</a:t>
            </a:r>
            <a:r>
              <a:rPr sz="1800" spc="-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x</a:t>
            </a:r>
            <a:r>
              <a:rPr sz="1800" spc="-15" baseline="-13888" dirty="0">
                <a:latin typeface="Times New Roman"/>
                <a:cs typeface="Times New Roman"/>
              </a:rPr>
              <a:t>1</a:t>
            </a:r>
            <a:r>
              <a:rPr sz="1800" spc="-10" dirty="0">
                <a:latin typeface="Times New Roman"/>
                <a:cs typeface="Times New Roman"/>
              </a:rPr>
              <a:t>,..,</a:t>
            </a:r>
            <a:r>
              <a:rPr sz="1800" i="1" spc="-10" dirty="0">
                <a:latin typeface="Times New Roman"/>
                <a:cs typeface="Times New Roman"/>
              </a:rPr>
              <a:t>x</a:t>
            </a:r>
            <a:r>
              <a:rPr sz="1800" i="1" spc="-15" baseline="-13888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660066"/>
                </a:solidFill>
                <a:latin typeface="Arial"/>
                <a:cs typeface="Arial"/>
              </a:rPr>
              <a:t>space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Straight</a:t>
            </a:r>
            <a:r>
              <a:rPr sz="18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lines</a:t>
            </a:r>
            <a:r>
              <a:rPr sz="18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define</a:t>
            </a:r>
            <a:r>
              <a:rPr sz="18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common</a:t>
            </a:r>
            <a:r>
              <a:rPr sz="18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solutions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equations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8095" y="728471"/>
            <a:ext cx="694753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30" dirty="0"/>
              <a:t> </a:t>
            </a:r>
            <a:r>
              <a:rPr dirty="0"/>
              <a:t>do</a:t>
            </a:r>
            <a:r>
              <a:rPr spc="-130" dirty="0"/>
              <a:t> </a:t>
            </a:r>
            <a:r>
              <a:rPr dirty="0"/>
              <a:t>we</a:t>
            </a:r>
            <a:r>
              <a:rPr spc="-130" dirty="0"/>
              <a:t> </a:t>
            </a:r>
            <a:r>
              <a:rPr dirty="0"/>
              <a:t>need</a:t>
            </a:r>
            <a:r>
              <a:rPr spc="-130" dirty="0"/>
              <a:t> </a:t>
            </a:r>
            <a:r>
              <a:rPr dirty="0"/>
              <a:t>to</a:t>
            </a:r>
            <a:r>
              <a:rPr spc="-125" dirty="0"/>
              <a:t> </a:t>
            </a:r>
            <a:r>
              <a:rPr dirty="0"/>
              <a:t>know</a:t>
            </a:r>
            <a:r>
              <a:rPr spc="-145" dirty="0"/>
              <a:t> </a:t>
            </a:r>
            <a:r>
              <a:rPr spc="-25" dirty="0"/>
              <a:t>it?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0323" y="1487279"/>
            <a:ext cx="8841740" cy="504507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Linear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Algebra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used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throughout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engineering</a:t>
            </a:r>
            <a:endParaRPr sz="3200">
              <a:latin typeface="Arial"/>
              <a:cs typeface="Arial"/>
            </a:endParaRPr>
          </a:p>
          <a:p>
            <a:pPr marL="771525" marR="30480" lvl="1" indent="-281305">
              <a:lnSpc>
                <a:spcPts val="3310"/>
              </a:lnSpc>
              <a:spcBef>
                <a:spcPts val="720"/>
              </a:spcBef>
              <a:buChar char="–"/>
              <a:tabLst>
                <a:tab pos="77279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Because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based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on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continuous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math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rather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than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discrete</a:t>
            </a:r>
            <a:r>
              <a:rPr sz="2800" spc="-1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math</a:t>
            </a:r>
            <a:endParaRPr sz="2800">
              <a:latin typeface="Arial"/>
              <a:cs typeface="Arial"/>
            </a:endParaRPr>
          </a:p>
          <a:p>
            <a:pPr marL="1166495" lvl="2" indent="-224790">
              <a:lnSpc>
                <a:spcPct val="100000"/>
              </a:lnSpc>
              <a:spcBef>
                <a:spcPts val="420"/>
              </a:spcBef>
              <a:buChar char="•"/>
              <a:tabLst>
                <a:tab pos="1166495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Computer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scientists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have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little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experience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with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376555" indent="-338455">
              <a:lnSpc>
                <a:spcPct val="100000"/>
              </a:lnSpc>
              <a:spcBef>
                <a:spcPts val="735"/>
              </a:spcBef>
              <a:buChar char="•"/>
              <a:tabLst>
                <a:tab pos="3765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Essential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understanding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ML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algorithms</a:t>
            </a:r>
            <a:endParaRPr sz="3200">
              <a:latin typeface="Arial"/>
              <a:cs typeface="Arial"/>
            </a:endParaRPr>
          </a:p>
          <a:p>
            <a:pPr marL="771525" marR="225425" lvl="1" indent="-281305">
              <a:lnSpc>
                <a:spcPts val="3290"/>
              </a:lnSpc>
              <a:spcBef>
                <a:spcPts val="830"/>
              </a:spcBef>
              <a:buChar char="–"/>
              <a:tabLst>
                <a:tab pos="77279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E.g.,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convert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input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vectors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700" baseline="-18518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,..,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700" i="1" baseline="-18518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)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into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outputs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by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series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linear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transformations</a:t>
            </a:r>
            <a:endParaRPr sz="2800">
              <a:latin typeface="Arial"/>
              <a:cs typeface="Arial"/>
            </a:endParaRPr>
          </a:p>
          <a:p>
            <a:pPr marL="376555" indent="-338455">
              <a:lnSpc>
                <a:spcPct val="100000"/>
              </a:lnSpc>
              <a:spcBef>
                <a:spcPts val="55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Here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discuss:</a:t>
            </a:r>
            <a:endParaRPr sz="3200">
              <a:latin typeface="Arial"/>
              <a:cs typeface="Arial"/>
            </a:endParaRPr>
          </a:p>
          <a:p>
            <a:pPr marL="771525" lvl="1" indent="-281305">
              <a:lnSpc>
                <a:spcPct val="100000"/>
              </a:lnSpc>
              <a:spcBef>
                <a:spcPts val="640"/>
              </a:spcBef>
              <a:buChar char="–"/>
              <a:tabLst>
                <a:tab pos="77152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Concepts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linear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algebra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needed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for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36600"/>
                </a:solidFill>
                <a:latin typeface="Arial"/>
                <a:cs typeface="Arial"/>
              </a:rPr>
              <a:t>ML</a:t>
            </a:r>
            <a:endParaRPr sz="2800">
              <a:latin typeface="Arial"/>
              <a:cs typeface="Arial"/>
            </a:endParaRPr>
          </a:p>
          <a:p>
            <a:pPr marL="771525" lvl="1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7715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Omit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other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aspects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linear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algebra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27327" y="478536"/>
            <a:ext cx="5405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260" dirty="0"/>
              <a:t> </a:t>
            </a:r>
            <a:r>
              <a:rPr spc="-10" dirty="0"/>
              <a:t>Algebra</a:t>
            </a:r>
            <a:r>
              <a:rPr spc="-254" dirty="0"/>
              <a:t> </a:t>
            </a:r>
            <a:r>
              <a:rPr spc="-10" dirty="0"/>
              <a:t>Topics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65316" y="1111504"/>
            <a:ext cx="6455410" cy="60852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745"/>
              </a:spcBef>
              <a:buChar char="–"/>
              <a:tabLst>
                <a:tab pos="294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Scalars,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Vectors,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Matrices</a:t>
            </a:r>
            <a:r>
              <a:rPr sz="2800" spc="-14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Tensors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29400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Multiplying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Matrices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Vectors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525"/>
              </a:spcBef>
              <a:buChar char="–"/>
              <a:tabLst>
                <a:tab pos="294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Identity</a:t>
            </a:r>
            <a:r>
              <a:rPr sz="2800" spc="-1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16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Inverse</a:t>
            </a:r>
            <a:r>
              <a:rPr sz="2800" spc="-16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Matrices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294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Linear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Dependence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Span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29400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Norms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20"/>
              </a:spcBef>
              <a:buChar char="–"/>
              <a:tabLst>
                <a:tab pos="294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Special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kinds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matrices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vectors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555"/>
              </a:spcBef>
              <a:buChar char="–"/>
              <a:tabLst>
                <a:tab pos="29400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Eigendecomposition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45"/>
              </a:spcBef>
              <a:buChar char="–"/>
              <a:tabLst>
                <a:tab pos="29400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Singular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value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decomposition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25"/>
              </a:spcBef>
              <a:buChar char="–"/>
              <a:tabLst>
                <a:tab pos="294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Moore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Penrose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pseudoinverse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294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trace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operator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525"/>
              </a:spcBef>
              <a:buChar char="–"/>
              <a:tabLst>
                <a:tab pos="294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determinant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294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Ex: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principal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components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analysis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48689" y="6839711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1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Scalar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12444" y="1789030"/>
            <a:ext cx="7664450" cy="418655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Single</a:t>
            </a:r>
            <a:r>
              <a:rPr sz="3200" spc="-1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number</a:t>
            </a:r>
            <a:endParaRPr sz="3200">
              <a:latin typeface="Arial"/>
              <a:cs typeface="Arial"/>
            </a:endParaRPr>
          </a:p>
          <a:p>
            <a:pPr marL="770890" marR="30480" lvl="1" indent="-281305">
              <a:lnSpc>
                <a:spcPts val="3290"/>
              </a:lnSpc>
              <a:spcBef>
                <a:spcPts val="735"/>
              </a:spcBef>
              <a:buChar char="–"/>
              <a:tabLst>
                <a:tab pos="77216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contrast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other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objects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linear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algebra,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which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usually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arrays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numbers</a:t>
            </a:r>
            <a:endParaRPr sz="2800">
              <a:latin typeface="Arial"/>
              <a:cs typeface="Arial"/>
            </a:endParaRPr>
          </a:p>
          <a:p>
            <a:pPr marL="376555" indent="-338455">
              <a:lnSpc>
                <a:spcPct val="100000"/>
              </a:lnSpc>
              <a:spcBef>
                <a:spcPts val="650"/>
              </a:spcBef>
              <a:buChar char="•"/>
              <a:tabLst>
                <a:tab pos="3765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Represented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3333CC"/>
                </a:solidFill>
                <a:latin typeface="Arial"/>
                <a:cs typeface="Arial"/>
              </a:rPr>
              <a:t>lower-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case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italic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Times New Roman"/>
                <a:cs typeface="Times New Roman"/>
              </a:rPr>
              <a:t>x</a:t>
            </a:r>
            <a:endParaRPr sz="3200">
              <a:latin typeface="Times New Roman"/>
              <a:cs typeface="Times New Roman"/>
            </a:endParaRPr>
          </a:p>
          <a:p>
            <a:pPr marL="770890" lvl="1" indent="-281305">
              <a:lnSpc>
                <a:spcPct val="100000"/>
              </a:lnSpc>
              <a:spcBef>
                <a:spcPts val="665"/>
              </a:spcBef>
              <a:buChar char="–"/>
              <a:tabLst>
                <a:tab pos="77089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They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can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be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36600"/>
                </a:solidFill>
                <a:latin typeface="Arial"/>
                <a:cs typeface="Arial"/>
              </a:rPr>
              <a:t>real-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valued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or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integers</a:t>
            </a:r>
            <a:endParaRPr sz="2800">
              <a:latin typeface="Arial"/>
              <a:cs typeface="Arial"/>
            </a:endParaRPr>
          </a:p>
          <a:p>
            <a:pPr marL="1166495" lvl="2" indent="-224790">
              <a:lnSpc>
                <a:spcPct val="100000"/>
              </a:lnSpc>
              <a:spcBef>
                <a:spcPts val="615"/>
              </a:spcBef>
              <a:buChar char="•"/>
              <a:tabLst>
                <a:tab pos="1166495" algn="l"/>
              </a:tabLst>
            </a:pPr>
            <a:r>
              <a:rPr sz="3600" baseline="1157" dirty="0">
                <a:solidFill>
                  <a:srgbClr val="660066"/>
                </a:solidFill>
                <a:latin typeface="Arial"/>
                <a:cs typeface="Arial"/>
              </a:rPr>
              <a:t>E.g.,</a:t>
            </a:r>
            <a:r>
              <a:rPr sz="3600" spc="-150" baseline="1157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660066"/>
                </a:solidFill>
                <a:latin typeface="Arial"/>
                <a:cs typeface="Arial"/>
              </a:rPr>
              <a:t>let</a:t>
            </a:r>
            <a:r>
              <a:rPr sz="3600" spc="367" baseline="1157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350" i="1" spc="80" dirty="0">
                <a:latin typeface="Calibri"/>
                <a:cs typeface="Calibri"/>
              </a:rPr>
              <a:t>x</a:t>
            </a:r>
            <a:r>
              <a:rPr sz="2350" i="1" spc="-5" dirty="0">
                <a:latin typeface="Calibri"/>
                <a:cs typeface="Calibri"/>
              </a:rPr>
              <a:t> </a:t>
            </a:r>
            <a:r>
              <a:rPr sz="2350" spc="-790" dirty="0">
                <a:latin typeface="Symbol"/>
                <a:cs typeface="Symbol"/>
              </a:rPr>
              <a:t></a:t>
            </a:r>
            <a:r>
              <a:rPr sz="2350" spc="-790" dirty="0">
                <a:latin typeface="MT Extra"/>
                <a:cs typeface="MT Extra"/>
              </a:rPr>
              <a:t>IR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3600" baseline="1157" dirty="0">
                <a:solidFill>
                  <a:srgbClr val="660066"/>
                </a:solidFill>
                <a:latin typeface="Arial"/>
                <a:cs typeface="Arial"/>
              </a:rPr>
              <a:t>be</a:t>
            </a:r>
            <a:r>
              <a:rPr sz="3600" spc="-97" baseline="1157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3600" spc="-97" baseline="1157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660066"/>
                </a:solidFill>
                <a:latin typeface="Arial"/>
                <a:cs typeface="Arial"/>
              </a:rPr>
              <a:t>slope</a:t>
            </a:r>
            <a:r>
              <a:rPr sz="3600" spc="-97" baseline="1157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3600" spc="-104" baseline="1157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3600" baseline="1157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3600" spc="-97" baseline="1157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3600" spc="-30" baseline="1157" dirty="0">
                <a:solidFill>
                  <a:srgbClr val="660066"/>
                </a:solidFill>
                <a:latin typeface="Arial"/>
                <a:cs typeface="Arial"/>
              </a:rPr>
              <a:t>line</a:t>
            </a:r>
            <a:endParaRPr sz="3600" baseline="1157">
              <a:latin typeface="Arial"/>
              <a:cs typeface="Arial"/>
            </a:endParaRPr>
          </a:p>
          <a:p>
            <a:pPr marL="1619250" lvl="3" indent="-224790">
              <a:lnSpc>
                <a:spcPts val="2380"/>
              </a:lnSpc>
              <a:spcBef>
                <a:spcPts val="330"/>
              </a:spcBef>
              <a:buChar char="–"/>
              <a:tabLst>
                <a:tab pos="1619250" algn="l"/>
              </a:tabLst>
            </a:pPr>
            <a:r>
              <a:rPr sz="2000" spc="-10" dirty="0">
                <a:latin typeface="Arial"/>
                <a:cs typeface="Arial"/>
              </a:rPr>
              <a:t>Defining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real-</a:t>
            </a:r>
            <a:r>
              <a:rPr sz="2000" spc="-10" dirty="0">
                <a:latin typeface="Arial"/>
                <a:cs typeface="Arial"/>
              </a:rPr>
              <a:t>valued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scalar</a:t>
            </a:r>
            <a:endParaRPr sz="2000">
              <a:latin typeface="Arial"/>
              <a:cs typeface="Arial"/>
            </a:endParaRPr>
          </a:p>
          <a:p>
            <a:pPr marL="1166495" lvl="2" indent="-224790">
              <a:lnSpc>
                <a:spcPts val="3520"/>
              </a:lnSpc>
              <a:buChar char="•"/>
              <a:tabLst>
                <a:tab pos="116649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E.g.,</a:t>
            </a:r>
            <a:r>
              <a:rPr sz="2400" spc="-1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let</a:t>
            </a:r>
            <a:r>
              <a:rPr sz="2400" spc="-33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4425" i="1" spc="-284" baseline="-6591" dirty="0">
                <a:latin typeface="Calibri"/>
                <a:cs typeface="Calibri"/>
              </a:rPr>
              <a:t>n</a:t>
            </a:r>
            <a:r>
              <a:rPr sz="4425" i="1" spc="-270" baseline="-6591" dirty="0">
                <a:latin typeface="Calibri"/>
                <a:cs typeface="Calibri"/>
              </a:rPr>
              <a:t> </a:t>
            </a:r>
            <a:r>
              <a:rPr sz="4425" spc="-780" baseline="-6591" dirty="0">
                <a:latin typeface="Symbol"/>
                <a:cs typeface="Symbol"/>
              </a:rPr>
              <a:t></a:t>
            </a:r>
            <a:r>
              <a:rPr sz="4425" spc="-780" baseline="-6591" dirty="0">
                <a:latin typeface="MT Extra"/>
                <a:cs typeface="MT Extra"/>
              </a:rPr>
              <a:t>N</a:t>
            </a:r>
            <a:r>
              <a:rPr sz="4425" spc="412" baseline="-6591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be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number</a:t>
            </a:r>
            <a:r>
              <a:rPr sz="2400" spc="-5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units</a:t>
            </a:r>
            <a:endParaRPr sz="2400">
              <a:latin typeface="Arial"/>
              <a:cs typeface="Arial"/>
            </a:endParaRPr>
          </a:p>
          <a:p>
            <a:pPr marL="1619250" lvl="3" indent="-224790">
              <a:lnSpc>
                <a:spcPct val="100000"/>
              </a:lnSpc>
              <a:spcBef>
                <a:spcPts val="315"/>
              </a:spcBef>
              <a:buChar char="–"/>
              <a:tabLst>
                <a:tab pos="1619250" algn="l"/>
              </a:tabLst>
            </a:pPr>
            <a:r>
              <a:rPr sz="2000" spc="-10" dirty="0">
                <a:latin typeface="Arial"/>
                <a:cs typeface="Arial"/>
              </a:rPr>
              <a:t>Defining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natural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number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scalar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17440" y="502919"/>
            <a:ext cx="1625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Vector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1188719"/>
            <a:ext cx="8376920" cy="22466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4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array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numbers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arranged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order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5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Each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no.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identified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index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7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Written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3333CC"/>
                </a:solidFill>
                <a:latin typeface="Arial"/>
                <a:cs typeface="Arial"/>
              </a:rPr>
              <a:t>lower-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case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bold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such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50" dirty="0">
                <a:latin typeface="Times New Roman"/>
                <a:cs typeface="Times New Roman"/>
              </a:rPr>
              <a:t>x</a:t>
            </a:r>
            <a:endParaRPr sz="3200">
              <a:latin typeface="Times New Roman"/>
              <a:cs typeface="Times New Roman"/>
            </a:endParaRPr>
          </a:p>
          <a:p>
            <a:pPr marL="464820">
              <a:lnSpc>
                <a:spcPct val="100000"/>
              </a:lnSpc>
              <a:spcBef>
                <a:spcPts val="64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elements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are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italics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lower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case,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subscripted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723" y="5218176"/>
            <a:ext cx="66382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each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element</a:t>
            </a:r>
            <a:r>
              <a:rPr sz="3200" spc="-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R</a:t>
            </a:r>
            <a:r>
              <a:rPr sz="3200" i="1" spc="15" dirty="0"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then</a:t>
            </a:r>
            <a:r>
              <a:rPr sz="3200" spc="-20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b="1" i="1" spc="-13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4838" y="5245100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spc="-50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723" y="5733143"/>
            <a:ext cx="7862570" cy="109474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think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points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space</a:t>
            </a:r>
            <a:endParaRPr sz="3200">
              <a:latin typeface="Arial"/>
              <a:cs typeface="Arial"/>
            </a:endParaRPr>
          </a:p>
          <a:p>
            <a:pPr marL="464820">
              <a:lnSpc>
                <a:spcPct val="100000"/>
              </a:lnSpc>
              <a:spcBef>
                <a:spcPts val="56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Each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element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gives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coordinate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along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axis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5534" y="3686776"/>
            <a:ext cx="9588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Cambria"/>
                <a:cs typeface="Cambria"/>
              </a:rPr>
              <a:t>1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8952" y="4058673"/>
            <a:ext cx="9588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08383" y="5017177"/>
            <a:ext cx="9334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mbria"/>
                <a:cs typeface="Cambria"/>
              </a:rPr>
              <a:t>n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9843" y="4259714"/>
            <a:ext cx="5092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700" b="1" i="1" spc="110" dirty="0">
                <a:latin typeface="Palatino Linotype"/>
                <a:cs typeface="Palatino Linotype"/>
              </a:rPr>
              <a:t>x</a:t>
            </a:r>
            <a:r>
              <a:rPr sz="1700" b="1" i="1" spc="-105" dirty="0">
                <a:latin typeface="Palatino Linotype"/>
                <a:cs typeface="Palatino Linotype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=</a:t>
            </a:r>
            <a:r>
              <a:rPr sz="1700" i="1" spc="-120" dirty="0">
                <a:latin typeface="Times New Roman"/>
                <a:cs typeface="Times New Roman"/>
              </a:rPr>
              <a:t> </a:t>
            </a:r>
            <a:r>
              <a:rPr sz="2550" spc="-75" baseline="-6535" dirty="0">
                <a:latin typeface="Symbol"/>
                <a:cs typeface="Symbol"/>
              </a:rPr>
              <a:t></a:t>
            </a:r>
            <a:endParaRPr sz="2550" baseline="-6535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55804" y="3449286"/>
            <a:ext cx="7010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578485" algn="l"/>
              </a:tabLst>
            </a:pPr>
            <a:r>
              <a:rPr sz="1700" dirty="0">
                <a:latin typeface="Symbol"/>
                <a:cs typeface="Symbol"/>
              </a:rPr>
              <a:t></a:t>
            </a:r>
            <a:r>
              <a:rPr sz="1700" spc="40" dirty="0">
                <a:latin typeface="Times New Roman"/>
                <a:cs typeface="Times New Roman"/>
              </a:rPr>
              <a:t>  </a:t>
            </a:r>
            <a:r>
              <a:rPr sz="2550" i="1" spc="-7" baseline="-16339" dirty="0">
                <a:latin typeface="Calibri"/>
                <a:cs typeface="Calibri"/>
              </a:rPr>
              <a:t>x</a:t>
            </a:r>
            <a:r>
              <a:rPr sz="2550" i="1" baseline="-16339" dirty="0">
                <a:latin typeface="Calibri"/>
                <a:cs typeface="Calibri"/>
              </a:rPr>
              <a:t>	</a:t>
            </a:r>
            <a:r>
              <a:rPr sz="1700" spc="-50" dirty="0">
                <a:latin typeface="Symbol"/>
                <a:cs typeface="Symbol"/>
              </a:rPr>
              <a:t>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3904" y="3658870"/>
            <a:ext cx="6375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40385" algn="l"/>
              </a:tabLst>
            </a:pPr>
            <a:r>
              <a:rPr sz="1700" spc="-50" dirty="0">
                <a:latin typeface="Symbol"/>
                <a:cs typeface="Symbol"/>
              </a:rPr>
              <a:t>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3904" y="3868453"/>
            <a:ext cx="6375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40385" algn="l"/>
              </a:tabLst>
            </a:pPr>
            <a:r>
              <a:rPr sz="1700" dirty="0">
                <a:latin typeface="Symbol"/>
                <a:cs typeface="Symbol"/>
              </a:rPr>
              <a:t></a:t>
            </a:r>
            <a:r>
              <a:rPr sz="1700" spc="45" dirty="0">
                <a:latin typeface="Times New Roman"/>
                <a:cs typeface="Times New Roman"/>
              </a:rPr>
              <a:t>  </a:t>
            </a:r>
            <a:r>
              <a:rPr sz="2550" i="1" spc="7" baseline="-4901" dirty="0">
                <a:latin typeface="Calibri"/>
                <a:cs typeface="Calibri"/>
              </a:rPr>
              <a:t>x</a:t>
            </a:r>
            <a:r>
              <a:rPr sz="2550" i="1" baseline="-4901" dirty="0">
                <a:latin typeface="Calibri"/>
                <a:cs typeface="Calibri"/>
              </a:rPr>
              <a:t>	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93904" y="4078037"/>
            <a:ext cx="637540" cy="4978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r">
              <a:lnSpc>
                <a:spcPts val="1845"/>
              </a:lnSpc>
              <a:spcBef>
                <a:spcPts val="120"/>
              </a:spcBef>
              <a:tabLst>
                <a:tab pos="527685" algn="l"/>
              </a:tabLst>
            </a:pPr>
            <a:r>
              <a:rPr sz="1700" spc="-50" dirty="0">
                <a:latin typeface="Symbol"/>
                <a:cs typeface="Symbol"/>
              </a:rPr>
              <a:t>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  <a:p>
            <a:pPr marR="5080" algn="r">
              <a:lnSpc>
                <a:spcPts val="1845"/>
              </a:lnSpc>
            </a:pP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5804" y="4497204"/>
            <a:ext cx="713740" cy="4978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1845"/>
              </a:lnSpc>
              <a:spcBef>
                <a:spcPts val="120"/>
              </a:spcBef>
              <a:tabLst>
                <a:tab pos="578485" algn="l"/>
              </a:tabLst>
            </a:pPr>
            <a:r>
              <a:rPr sz="1700" spc="-50" dirty="0">
                <a:latin typeface="Symbol"/>
                <a:cs typeface="Symbol"/>
              </a:rPr>
              <a:t>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  <a:p>
            <a:pPr marL="50800">
              <a:lnSpc>
                <a:spcPts val="1845"/>
              </a:lnSpc>
              <a:tabLst>
                <a:tab pos="578485" algn="l"/>
              </a:tabLst>
            </a:pPr>
            <a:r>
              <a:rPr sz="1700" dirty="0">
                <a:latin typeface="Symbol"/>
                <a:cs typeface="Symbol"/>
              </a:rPr>
              <a:t></a:t>
            </a:r>
            <a:r>
              <a:rPr sz="1700" spc="490" dirty="0">
                <a:latin typeface="Times New Roman"/>
                <a:cs typeface="Times New Roman"/>
              </a:rPr>
              <a:t> </a:t>
            </a:r>
            <a:r>
              <a:rPr sz="2550" i="1" spc="7" baseline="-35947" dirty="0">
                <a:latin typeface="Calibri"/>
                <a:cs typeface="Calibri"/>
              </a:rPr>
              <a:t>x</a:t>
            </a:r>
            <a:r>
              <a:rPr sz="2550" i="1" baseline="-35947" dirty="0">
                <a:latin typeface="Calibri"/>
                <a:cs typeface="Calibri"/>
              </a:rPr>
              <a:t>	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93904" y="4916372"/>
            <a:ext cx="6375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40385" algn="l"/>
              </a:tabLst>
            </a:pPr>
            <a:r>
              <a:rPr sz="1700" spc="-50" dirty="0">
                <a:latin typeface="Symbol"/>
                <a:cs typeface="Symbol"/>
              </a:rPr>
              <a:t>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5804" y="5101466"/>
            <a:ext cx="7137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578485" algn="l"/>
              </a:tabLst>
            </a:pPr>
            <a:r>
              <a:rPr sz="1700" spc="-350" dirty="0">
                <a:latin typeface="Symbol"/>
                <a:cs typeface="Symbol"/>
              </a:rPr>
              <a:t></a:t>
            </a:r>
            <a:r>
              <a:rPr sz="2550" spc="-525" baseline="-9803" dirty="0">
                <a:latin typeface="Symbol"/>
                <a:cs typeface="Symbol"/>
              </a:rPr>
              <a:t></a:t>
            </a:r>
            <a:r>
              <a:rPr sz="2550" baseline="-9803" dirty="0">
                <a:latin typeface="Times New Roman"/>
                <a:cs typeface="Times New Roman"/>
              </a:rPr>
              <a:t>	</a:t>
            </a:r>
            <a:r>
              <a:rPr sz="1700" spc="-350" dirty="0">
                <a:latin typeface="Symbol"/>
                <a:cs typeface="Symbol"/>
              </a:rPr>
              <a:t></a:t>
            </a:r>
            <a:r>
              <a:rPr sz="2550" spc="-525" baseline="-9803" dirty="0">
                <a:latin typeface="Symbol"/>
                <a:cs typeface="Symbol"/>
              </a:rPr>
              <a:t></a:t>
            </a:r>
            <a:endParaRPr sz="2550" baseline="-9803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72542" y="545591"/>
            <a:ext cx="21170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Matrices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0323" y="1192057"/>
            <a:ext cx="8865870" cy="3388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720"/>
              </a:spcBef>
              <a:buChar char="•"/>
              <a:tabLst>
                <a:tab pos="376555" algn="l"/>
              </a:tabLst>
            </a:pPr>
            <a:r>
              <a:rPr sz="3200" spc="-25" dirty="0">
                <a:latin typeface="Times New Roman"/>
                <a:cs typeface="Times New Roman"/>
              </a:rPr>
              <a:t>2</a:t>
            </a:r>
            <a:r>
              <a:rPr sz="3200" spc="-25" dirty="0">
                <a:latin typeface="Arial"/>
                <a:cs typeface="Arial"/>
              </a:rPr>
              <a:t>-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array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numbers</a:t>
            </a:r>
            <a:endParaRPr sz="3200">
              <a:latin typeface="Arial"/>
              <a:cs typeface="Arial"/>
            </a:endParaRPr>
          </a:p>
          <a:p>
            <a:pPr marL="490220">
              <a:lnSpc>
                <a:spcPct val="100000"/>
              </a:lnSpc>
              <a:spcBef>
                <a:spcPts val="54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So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each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element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identified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by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two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indices</a:t>
            </a:r>
            <a:endParaRPr sz="2800">
              <a:latin typeface="Arial"/>
              <a:cs typeface="Arial"/>
            </a:endParaRPr>
          </a:p>
          <a:p>
            <a:pPr marL="3765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Denoted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bold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typeface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50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771525" lvl="1" indent="-281305">
              <a:lnSpc>
                <a:spcPct val="100000"/>
              </a:lnSpc>
              <a:spcBef>
                <a:spcPts val="665"/>
              </a:spcBef>
              <a:buChar char="–"/>
              <a:tabLst>
                <a:tab pos="77152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Elements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indicated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by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name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italic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but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not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bold</a:t>
            </a:r>
            <a:endParaRPr sz="2800">
              <a:latin typeface="Arial"/>
              <a:cs typeface="Arial"/>
            </a:endParaRPr>
          </a:p>
          <a:p>
            <a:pPr marL="1167130" lvl="2" indent="-225425">
              <a:lnSpc>
                <a:spcPct val="100000"/>
              </a:lnSpc>
              <a:spcBef>
                <a:spcPts val="425"/>
              </a:spcBef>
              <a:buFont typeface="Times New Roman"/>
              <a:buChar char="•"/>
              <a:tabLst>
                <a:tab pos="1167130" algn="l"/>
              </a:tabLst>
            </a:pP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baseline="-17361" dirty="0">
                <a:latin typeface="Times New Roman"/>
                <a:cs typeface="Times New Roman"/>
              </a:rPr>
              <a:t>1,1</a:t>
            </a:r>
            <a:r>
              <a:rPr sz="2400" spc="-135" baseline="-17361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top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left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entry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17361" dirty="0">
                <a:latin typeface="Times New Roman"/>
                <a:cs typeface="Times New Roman"/>
              </a:rPr>
              <a:t>m,n</a:t>
            </a:r>
            <a:r>
              <a:rPr sz="2400" i="1" spc="-75" baseline="-17361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bottom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right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entry</a:t>
            </a:r>
            <a:endParaRPr sz="2400">
              <a:latin typeface="Arial"/>
              <a:cs typeface="Arial"/>
            </a:endParaRPr>
          </a:p>
          <a:p>
            <a:pPr marL="1167130" marR="30480" lvl="2" indent="-224790">
              <a:lnSpc>
                <a:spcPts val="2780"/>
              </a:lnSpc>
              <a:spcBef>
                <a:spcPts val="705"/>
              </a:spcBef>
              <a:buChar char="•"/>
              <a:tabLst>
                <a:tab pos="116840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can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identify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nos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vertical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column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j</a:t>
            </a:r>
            <a:r>
              <a:rPr sz="2400" i="1" spc="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by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writing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for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the 	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horizontal</a:t>
            </a:r>
            <a:r>
              <a:rPr sz="2400" spc="-13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coordinate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9963" y="4633976"/>
            <a:ext cx="871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har char="•"/>
              <a:tabLst>
                <a:tab pos="237490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E.g.,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0323" y="5517133"/>
            <a:ext cx="8891905" cy="101600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167130" indent="-225425">
              <a:lnSpc>
                <a:spcPct val="100000"/>
              </a:lnSpc>
              <a:spcBef>
                <a:spcPts val="560"/>
              </a:spcBef>
              <a:buFont typeface="Times New Roman"/>
              <a:buChar char="•"/>
              <a:tabLst>
                <a:tab pos="1167130" algn="l"/>
              </a:tabLst>
            </a:pP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17361" dirty="0">
                <a:latin typeface="Times New Roman"/>
                <a:cs typeface="Times New Roman"/>
              </a:rPr>
              <a:t>i</a:t>
            </a:r>
            <a:r>
              <a:rPr sz="2400" baseline="-17361" dirty="0">
                <a:solidFill>
                  <a:srgbClr val="660066"/>
                </a:solidFill>
                <a:latin typeface="Times New Roman"/>
                <a:cs typeface="Times New Roman"/>
              </a:rPr>
              <a:t>:</a:t>
            </a:r>
            <a:r>
              <a:rPr sz="2400" spc="225" baseline="-17361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baseline="24305" dirty="0">
                <a:solidFill>
                  <a:srgbClr val="660066"/>
                </a:solidFill>
                <a:latin typeface="Arial"/>
                <a:cs typeface="Arial"/>
              </a:rPr>
              <a:t>th</a:t>
            </a:r>
            <a:r>
              <a:rPr sz="2400" spc="232" baseline="243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row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660066"/>
                </a:solidFill>
                <a:latin typeface="Times New Roman"/>
                <a:cs typeface="Times New Roman"/>
              </a:rPr>
              <a:t>,</a:t>
            </a:r>
            <a:r>
              <a:rPr sz="2400" spc="-50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17361" dirty="0">
                <a:latin typeface="Times New Roman"/>
                <a:cs typeface="Times New Roman"/>
              </a:rPr>
              <a:t>:j</a:t>
            </a:r>
            <a:r>
              <a:rPr sz="2400" i="1" spc="232" baseline="-17361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baseline="24305" dirty="0">
                <a:solidFill>
                  <a:srgbClr val="660066"/>
                </a:solidFill>
                <a:latin typeface="Arial"/>
                <a:cs typeface="Arial"/>
              </a:rPr>
              <a:t>th</a:t>
            </a:r>
            <a:r>
              <a:rPr sz="2400" spc="232" baseline="243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column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376555" indent="-338455">
              <a:lnSpc>
                <a:spcPct val="100000"/>
              </a:lnSpc>
              <a:spcBef>
                <a:spcPts val="61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shape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height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m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width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i="1" spc="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real-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4813" y="6501384"/>
            <a:ext cx="20802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values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then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9148" y="4940758"/>
            <a:ext cx="1739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mbria"/>
                <a:cs typeface="Cambria"/>
              </a:rPr>
              <a:t>1,1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0906" y="4785635"/>
            <a:ext cx="14287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-50" dirty="0">
                <a:latin typeface="Cambria"/>
                <a:cs typeface="Cambria"/>
              </a:rPr>
              <a:t>A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12343" y="4940758"/>
            <a:ext cx="1765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Cambria"/>
                <a:cs typeface="Cambria"/>
              </a:rPr>
              <a:t>1,2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0906" y="5139830"/>
            <a:ext cx="14287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-50" dirty="0">
                <a:latin typeface="Cambria"/>
                <a:cs typeface="Cambria"/>
              </a:rPr>
              <a:t>A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1735" y="5294953"/>
            <a:ext cx="6375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sz="900" spc="-25" dirty="0">
                <a:latin typeface="Cambria"/>
                <a:cs typeface="Cambria"/>
              </a:rPr>
              <a:t>2,1</a:t>
            </a:r>
            <a:r>
              <a:rPr sz="900" dirty="0">
                <a:latin typeface="Cambria"/>
                <a:cs typeface="Cambria"/>
              </a:rPr>
              <a:t>	</a:t>
            </a:r>
            <a:r>
              <a:rPr sz="900" spc="-25" dirty="0">
                <a:latin typeface="Cambria"/>
                <a:cs typeface="Cambria"/>
              </a:rPr>
              <a:t>2,2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9954" y="4725138"/>
            <a:ext cx="39560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Symbol"/>
                <a:cs typeface="Symbol"/>
              </a:rPr>
              <a:t></a:t>
            </a:r>
            <a:r>
              <a:rPr sz="1550" spc="105" dirty="0">
                <a:latin typeface="Times New Roman"/>
                <a:cs typeface="Times New Roman"/>
              </a:rPr>
              <a:t>  </a:t>
            </a:r>
            <a:r>
              <a:rPr sz="2325" i="1" spc="-75" baseline="-17921" dirty="0">
                <a:latin typeface="Cambria"/>
                <a:cs typeface="Cambria"/>
              </a:rPr>
              <a:t>A</a:t>
            </a:r>
            <a:endParaRPr sz="2325" baseline="-17921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19783" y="4967128"/>
            <a:ext cx="45275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50" b="1" i="1" dirty="0">
                <a:latin typeface="Cambria"/>
                <a:cs typeface="Cambria"/>
              </a:rPr>
              <a:t>A</a:t>
            </a:r>
            <a:r>
              <a:rPr sz="1550" b="1" i="1" spc="-135" dirty="0">
                <a:latin typeface="Cambria"/>
                <a:cs typeface="Cambria"/>
              </a:rPr>
              <a:t> </a:t>
            </a:r>
            <a:r>
              <a:rPr sz="1550" dirty="0">
                <a:latin typeface="Symbol"/>
                <a:cs typeface="Symbol"/>
              </a:rPr>
              <a:t>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2325" spc="-75" baseline="12544" dirty="0">
                <a:latin typeface="Symbol"/>
                <a:cs typeface="Symbol"/>
              </a:rPr>
              <a:t></a:t>
            </a:r>
            <a:endParaRPr sz="2325" baseline="12544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19954" y="5113977"/>
            <a:ext cx="39560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Symbol"/>
                <a:cs typeface="Symbol"/>
              </a:rPr>
              <a:t></a:t>
            </a:r>
            <a:r>
              <a:rPr sz="1550" spc="105" dirty="0">
                <a:latin typeface="Times New Roman"/>
                <a:cs typeface="Times New Roman"/>
              </a:rPr>
              <a:t>  </a:t>
            </a:r>
            <a:r>
              <a:rPr sz="2325" i="1" spc="-75" baseline="-7168" dirty="0">
                <a:latin typeface="Cambria"/>
                <a:cs typeface="Cambria"/>
              </a:rPr>
              <a:t>A</a:t>
            </a:r>
            <a:endParaRPr sz="2325" baseline="-7168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45354" y="5271684"/>
            <a:ext cx="1148080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058545" algn="l"/>
              </a:tabLst>
            </a:pPr>
            <a:r>
              <a:rPr sz="1550" spc="-50" dirty="0">
                <a:latin typeface="Symbol"/>
                <a:cs typeface="Symbol"/>
              </a:rPr>
              <a:t>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Symbol"/>
                <a:cs typeface="Symbol"/>
              </a:rPr>
              <a:t>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1296" y="4725138"/>
            <a:ext cx="102235" cy="4584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695"/>
              </a:lnSpc>
              <a:spcBef>
                <a:spcPts val="110"/>
              </a:spcBef>
            </a:pPr>
            <a:r>
              <a:rPr sz="1550" spc="-50" dirty="0">
                <a:latin typeface="Symbol"/>
                <a:cs typeface="Symbol"/>
              </a:rPr>
              <a:t></a:t>
            </a:r>
            <a:endParaRPr sz="1550">
              <a:latin typeface="Symbol"/>
              <a:cs typeface="Symbol"/>
            </a:endParaRPr>
          </a:p>
          <a:p>
            <a:pPr marL="12700">
              <a:lnSpc>
                <a:spcPts val="1695"/>
              </a:lnSpc>
            </a:pPr>
            <a:r>
              <a:rPr sz="1550" spc="-50" dirty="0">
                <a:latin typeface="Symbol"/>
                <a:cs typeface="Symbol"/>
              </a:rPr>
              <a:t>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91296" y="5113977"/>
            <a:ext cx="10223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50" dirty="0">
                <a:latin typeface="Symbol"/>
                <a:cs typeface="Symbol"/>
              </a:rPr>
              <a:t>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25007" y="6426094"/>
            <a:ext cx="106235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25" b="1" i="1" baseline="-24822" dirty="0">
                <a:latin typeface="Cambria"/>
                <a:cs typeface="Cambria"/>
              </a:rPr>
              <a:t>A</a:t>
            </a:r>
            <a:r>
              <a:rPr sz="3525" b="1" i="1" spc="-375" baseline="-24822" dirty="0">
                <a:latin typeface="Cambria"/>
                <a:cs typeface="Cambria"/>
              </a:rPr>
              <a:t> </a:t>
            </a:r>
            <a:r>
              <a:rPr sz="3525" spc="-675" baseline="-24822" dirty="0">
                <a:latin typeface="Symbol"/>
                <a:cs typeface="Symbol"/>
              </a:rPr>
              <a:t></a:t>
            </a:r>
            <a:r>
              <a:rPr sz="3525" spc="-675" baseline="-24822" dirty="0">
                <a:latin typeface="MT Extra"/>
                <a:cs typeface="MT Extra"/>
              </a:rPr>
              <a:t>1R</a:t>
            </a:r>
            <a:r>
              <a:rPr sz="1350" i="1" spc="-450" dirty="0">
                <a:latin typeface="Cambria"/>
                <a:cs typeface="Cambria"/>
              </a:rPr>
              <a:t>m</a:t>
            </a:r>
            <a:r>
              <a:rPr sz="1350" spc="-450" dirty="0">
                <a:latin typeface="Symbol"/>
                <a:cs typeface="Symbol"/>
              </a:rPr>
              <a:t></a:t>
            </a:r>
            <a:r>
              <a:rPr sz="1350" i="1" spc="-450" dirty="0">
                <a:latin typeface="Cambria"/>
                <a:cs typeface="Cambria"/>
              </a:rPr>
              <a:t>n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6216" y="963168"/>
            <a:ext cx="174878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Tensor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2100072"/>
            <a:ext cx="8598535" cy="420751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63855" marR="149860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638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Sometimes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need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array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more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than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two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axes</a:t>
            </a:r>
            <a:endParaRPr sz="3200" dirty="0">
              <a:latin typeface="Arial"/>
              <a:cs typeface="Arial"/>
            </a:endParaRPr>
          </a:p>
          <a:p>
            <a:pPr marL="758825" lvl="1" indent="-281305">
              <a:lnSpc>
                <a:spcPct val="100000"/>
              </a:lnSpc>
              <a:spcBef>
                <a:spcPts val="455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E.g.,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RGB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color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image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has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three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axes</a:t>
            </a:r>
            <a:endParaRPr sz="2800" dirty="0">
              <a:latin typeface="Arial"/>
              <a:cs typeface="Arial"/>
            </a:endParaRPr>
          </a:p>
          <a:p>
            <a:pPr marL="363855" marR="17780" indent="-339090">
              <a:lnSpc>
                <a:spcPts val="3790"/>
              </a:lnSpc>
              <a:spcBef>
                <a:spcPts val="894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tensor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array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numbers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arranged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50" dirty="0">
                <a:solidFill>
                  <a:srgbClr val="3333CC"/>
                </a:solidFill>
                <a:latin typeface="Arial"/>
                <a:cs typeface="Arial"/>
              </a:rPr>
              <a:t>a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regular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grid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variable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number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axes</a:t>
            </a:r>
            <a:endParaRPr sz="3200" dirty="0">
              <a:latin typeface="Arial"/>
              <a:cs typeface="Arial"/>
            </a:endParaRPr>
          </a:p>
          <a:p>
            <a:pPr marL="758825" lvl="1" indent="-281305">
              <a:lnSpc>
                <a:spcPct val="100000"/>
              </a:lnSpc>
              <a:spcBef>
                <a:spcPts val="450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See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figure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next</a:t>
            </a:r>
            <a:endParaRPr sz="2800" dirty="0">
              <a:latin typeface="Arial"/>
              <a:cs typeface="Arial"/>
            </a:endParaRPr>
          </a:p>
          <a:p>
            <a:pPr marL="363855" indent="-338455">
              <a:lnSpc>
                <a:spcPct val="100000"/>
              </a:lnSpc>
              <a:spcBef>
                <a:spcPts val="75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Denote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tensor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this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bold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typeface: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</a:t>
            </a:r>
            <a:endParaRPr sz="3200" dirty="0">
              <a:latin typeface="Times New Roman"/>
              <a:cs typeface="Times New Roman"/>
            </a:endParaRPr>
          </a:p>
          <a:p>
            <a:pPr marL="363855" indent="-338455">
              <a:lnSpc>
                <a:spcPct val="100000"/>
              </a:lnSpc>
              <a:spcBef>
                <a:spcPts val="64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Element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</a:t>
            </a:r>
            <a:r>
              <a:rPr sz="3200" i="1" dirty="0">
                <a:latin typeface="Times New Roman"/>
                <a:cs typeface="Times New Roman"/>
              </a:rPr>
              <a:t>i,j,k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tensor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denoted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</a:t>
            </a:r>
            <a:r>
              <a:rPr sz="3150" i="1" spc="-15" baseline="-18518" dirty="0">
                <a:latin typeface="Times New Roman"/>
                <a:cs typeface="Times New Roman"/>
              </a:rPr>
              <a:t>i,j,k</a:t>
            </a:r>
            <a:endParaRPr sz="3150" baseline="-18518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377" y="1679811"/>
            <a:ext cx="2974307" cy="21161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85908" y="2143655"/>
            <a:ext cx="163830" cy="163830"/>
            <a:chOff x="985908" y="2143655"/>
            <a:chExt cx="163830" cy="163830"/>
          </a:xfrm>
        </p:grpSpPr>
        <p:sp>
          <p:nvSpPr>
            <p:cNvPr id="6" name="object 6"/>
            <p:cNvSpPr/>
            <p:nvPr/>
          </p:nvSpPr>
          <p:spPr>
            <a:xfrm>
              <a:off x="992187" y="2149934"/>
              <a:ext cx="151130" cy="151130"/>
            </a:xfrm>
            <a:custGeom>
              <a:avLst/>
              <a:gdLst/>
              <a:ahLst/>
              <a:cxnLst/>
              <a:rect l="l" t="t" r="r" b="b"/>
              <a:pathLst>
                <a:path w="151130" h="151130">
                  <a:moveTo>
                    <a:pt x="150706" y="0"/>
                  </a:moveTo>
                  <a:lnTo>
                    <a:pt x="0" y="0"/>
                  </a:lnTo>
                  <a:lnTo>
                    <a:pt x="0" y="150707"/>
                  </a:lnTo>
                  <a:lnTo>
                    <a:pt x="150706" y="150707"/>
                  </a:lnTo>
                  <a:lnTo>
                    <a:pt x="150706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2187" y="2149934"/>
              <a:ext cx="151130" cy="151130"/>
            </a:xfrm>
            <a:custGeom>
              <a:avLst/>
              <a:gdLst/>
              <a:ahLst/>
              <a:cxnLst/>
              <a:rect l="l" t="t" r="r" b="b"/>
              <a:pathLst>
                <a:path w="151130" h="151130">
                  <a:moveTo>
                    <a:pt x="0" y="0"/>
                  </a:moveTo>
                  <a:lnTo>
                    <a:pt x="150706" y="0"/>
                  </a:lnTo>
                  <a:lnTo>
                    <a:pt x="150706" y="150706"/>
                  </a:lnTo>
                  <a:lnTo>
                    <a:pt x="0" y="150706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8706" y="1646008"/>
            <a:ext cx="4050665" cy="2268855"/>
          </a:xfrm>
          <a:prstGeom prst="rect">
            <a:avLst/>
          </a:prstGeom>
          <a:ln w="1255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00">
              <a:latin typeface="Times New Roman"/>
              <a:cs typeface="Times New Roman"/>
            </a:endParaRPr>
          </a:p>
          <a:p>
            <a:pPr marL="158115" marR="3355975">
              <a:lnSpc>
                <a:spcPts val="1100"/>
              </a:lnSpc>
            </a:pPr>
            <a:r>
              <a:rPr sz="1000" spc="-10" dirty="0">
                <a:latin typeface="Arial"/>
                <a:cs typeface="Arial"/>
              </a:rPr>
              <a:t>0d-tensor (scalar)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375" y="5240940"/>
            <a:ext cx="5556477" cy="128787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6266" y="4921165"/>
            <a:ext cx="2863425" cy="188203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112474" y="1391889"/>
            <a:ext cx="4297045" cy="1550035"/>
            <a:chOff x="5112474" y="1391889"/>
            <a:chExt cx="4297045" cy="155003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2894" y="1449143"/>
              <a:ext cx="4141128" cy="14350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117183" y="1396599"/>
              <a:ext cx="4287520" cy="1540510"/>
            </a:xfrm>
            <a:custGeom>
              <a:avLst/>
              <a:gdLst/>
              <a:ahLst/>
              <a:cxnLst/>
              <a:rect l="l" t="t" r="r" b="b"/>
              <a:pathLst>
                <a:path w="4287520" h="1540510">
                  <a:moveTo>
                    <a:pt x="0" y="0"/>
                  </a:moveTo>
                  <a:lnTo>
                    <a:pt x="4287219" y="0"/>
                  </a:lnTo>
                  <a:lnTo>
                    <a:pt x="4287219" y="1540133"/>
                  </a:lnTo>
                  <a:lnTo>
                    <a:pt x="0" y="1540133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81833" y="101937"/>
            <a:ext cx="5733415" cy="1296670"/>
          </a:xfrm>
          <a:prstGeom prst="rect">
            <a:avLst/>
          </a:prstGeom>
        </p:spPr>
        <p:txBody>
          <a:bodyPr vert="horz" wrap="square" lIns="0" tIns="340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680"/>
              </a:spcBef>
            </a:pPr>
            <a:r>
              <a:rPr spc="-10" dirty="0"/>
              <a:t>Dimensions</a:t>
            </a:r>
            <a:r>
              <a:rPr spc="-190" dirty="0"/>
              <a:t> </a:t>
            </a:r>
            <a:r>
              <a:rPr dirty="0"/>
              <a:t>of</a:t>
            </a:r>
            <a:r>
              <a:rPr spc="-170" dirty="0"/>
              <a:t> </a:t>
            </a:r>
            <a:r>
              <a:rPr spc="-10" dirty="0"/>
              <a:t>Tensors</a:t>
            </a:r>
          </a:p>
          <a:p>
            <a:pPr marL="2954655">
              <a:lnSpc>
                <a:spcPct val="100000"/>
              </a:lnSpc>
              <a:spcBef>
                <a:spcPts val="705"/>
              </a:spcBef>
            </a:pPr>
            <a:r>
              <a:rPr sz="1200" dirty="0">
                <a:solidFill>
                  <a:srgbClr val="7030A0"/>
                </a:solidFill>
              </a:rPr>
              <a:t>Fibers</a:t>
            </a:r>
            <a:r>
              <a:rPr sz="1200" spc="-45" dirty="0">
                <a:solidFill>
                  <a:srgbClr val="7030A0"/>
                </a:solidFill>
              </a:rPr>
              <a:t> </a:t>
            </a:r>
            <a:r>
              <a:rPr sz="1200" dirty="0">
                <a:solidFill>
                  <a:srgbClr val="7030A0"/>
                </a:solidFill>
              </a:rPr>
              <a:t>of</a:t>
            </a:r>
            <a:r>
              <a:rPr sz="1200" spc="-40" dirty="0">
                <a:solidFill>
                  <a:srgbClr val="7030A0"/>
                </a:solidFill>
              </a:rPr>
              <a:t> </a:t>
            </a:r>
            <a:r>
              <a:rPr sz="1200" dirty="0">
                <a:solidFill>
                  <a:srgbClr val="7030A0"/>
                </a:solidFill>
              </a:rPr>
              <a:t>a</a:t>
            </a:r>
            <a:r>
              <a:rPr sz="1200" spc="-50" dirty="0">
                <a:solidFill>
                  <a:srgbClr val="7030A0"/>
                </a:solidFill>
              </a:rPr>
              <a:t> </a:t>
            </a:r>
            <a:r>
              <a:rPr sz="1200" dirty="0">
                <a:solidFill>
                  <a:srgbClr val="7030A0"/>
                </a:solidFill>
              </a:rPr>
              <a:t>3</a:t>
            </a:r>
            <a:r>
              <a:rPr sz="1200" baseline="27777" dirty="0">
                <a:solidFill>
                  <a:srgbClr val="7030A0"/>
                </a:solidFill>
              </a:rPr>
              <a:t>rd</a:t>
            </a:r>
            <a:r>
              <a:rPr sz="1200" spc="120" baseline="27777" dirty="0">
                <a:solidFill>
                  <a:srgbClr val="7030A0"/>
                </a:solidFill>
              </a:rPr>
              <a:t> </a:t>
            </a:r>
            <a:r>
              <a:rPr sz="1200" dirty="0">
                <a:solidFill>
                  <a:srgbClr val="7030A0"/>
                </a:solidFill>
              </a:rPr>
              <a:t>order</a:t>
            </a:r>
            <a:r>
              <a:rPr sz="1200" spc="-40" dirty="0">
                <a:solidFill>
                  <a:srgbClr val="7030A0"/>
                </a:solidFill>
              </a:rPr>
              <a:t> </a:t>
            </a:r>
            <a:r>
              <a:rPr sz="1200" spc="-10" dirty="0">
                <a:solidFill>
                  <a:srgbClr val="7030A0"/>
                </a:solidFill>
              </a:rPr>
              <a:t>tensor</a:t>
            </a:r>
            <a:endParaRPr sz="1200"/>
          </a:p>
        </p:txBody>
      </p:sp>
      <p:grpSp>
        <p:nvGrpSpPr>
          <p:cNvPr id="15" name="object 15"/>
          <p:cNvGrpSpPr/>
          <p:nvPr/>
        </p:nvGrpSpPr>
        <p:grpSpPr>
          <a:xfrm>
            <a:off x="5176011" y="3198128"/>
            <a:ext cx="4069079" cy="1546860"/>
            <a:chOff x="5176011" y="3198128"/>
            <a:chExt cx="4069079" cy="154686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8237" y="3293162"/>
              <a:ext cx="3954748" cy="14258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180720" y="3202838"/>
              <a:ext cx="4060190" cy="1537335"/>
            </a:xfrm>
            <a:custGeom>
              <a:avLst/>
              <a:gdLst/>
              <a:ahLst/>
              <a:cxnLst/>
              <a:rect l="l" t="t" r="r" b="b"/>
              <a:pathLst>
                <a:path w="4060190" h="1537335">
                  <a:moveTo>
                    <a:pt x="0" y="0"/>
                  </a:moveTo>
                  <a:lnTo>
                    <a:pt x="4059660" y="0"/>
                  </a:lnTo>
                  <a:lnTo>
                    <a:pt x="4059660" y="1537314"/>
                  </a:lnTo>
                  <a:lnTo>
                    <a:pt x="0" y="1537314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129381" y="3000247"/>
            <a:ext cx="1837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030A0"/>
                </a:solidFill>
                <a:latin typeface="Arial"/>
                <a:cs typeface="Arial"/>
              </a:rPr>
              <a:t>Slices</a:t>
            </a:r>
            <a:r>
              <a:rPr sz="1200" spc="-4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7030A0"/>
                </a:solidFill>
                <a:latin typeface="Arial"/>
                <a:cs typeface="Arial"/>
              </a:rPr>
              <a:t>of</a:t>
            </a:r>
            <a:r>
              <a:rPr sz="1200" spc="-30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7030A0"/>
                </a:solidFill>
                <a:latin typeface="Arial"/>
                <a:cs typeface="Arial"/>
              </a:rPr>
              <a:t>a</a:t>
            </a:r>
            <a:r>
              <a:rPr sz="1200" spc="-4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7030A0"/>
                </a:solidFill>
                <a:latin typeface="Arial"/>
                <a:cs typeface="Arial"/>
              </a:rPr>
              <a:t>3</a:t>
            </a:r>
            <a:r>
              <a:rPr sz="1200" baseline="27777" dirty="0">
                <a:solidFill>
                  <a:srgbClr val="7030A0"/>
                </a:solidFill>
                <a:latin typeface="Arial"/>
                <a:cs typeface="Arial"/>
              </a:rPr>
              <a:t>rd</a:t>
            </a:r>
            <a:r>
              <a:rPr sz="1200" spc="120" baseline="27777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7030A0"/>
                </a:solidFill>
                <a:latin typeface="Arial"/>
                <a:cs typeface="Arial"/>
              </a:rPr>
              <a:t>order</a:t>
            </a:r>
            <a:r>
              <a:rPr sz="1200" spc="-40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7030A0"/>
                </a:solidFill>
                <a:latin typeface="Arial"/>
                <a:cs typeface="Arial"/>
              </a:rPr>
              <a:t>tensor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9381" y="691895"/>
            <a:ext cx="86652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</a:t>
            </a:r>
            <a:r>
              <a:rPr spc="-185" dirty="0"/>
              <a:t> </a:t>
            </a:r>
            <a:r>
              <a:rPr dirty="0"/>
              <a:t>library</a:t>
            </a:r>
            <a:r>
              <a:rPr spc="-180" dirty="0"/>
              <a:t> </a:t>
            </a:r>
            <a:r>
              <a:rPr dirty="0"/>
              <a:t>in</a:t>
            </a:r>
            <a:r>
              <a:rPr spc="-180" dirty="0"/>
              <a:t> </a:t>
            </a:r>
            <a:r>
              <a:rPr dirty="0"/>
              <a:t>Python</a:t>
            </a:r>
            <a:r>
              <a:rPr spc="-180" dirty="0"/>
              <a:t> </a:t>
            </a:r>
            <a:r>
              <a:rPr dirty="0"/>
              <a:t>for</a:t>
            </a:r>
            <a:r>
              <a:rPr spc="-180" dirty="0"/>
              <a:t> </a:t>
            </a:r>
            <a:r>
              <a:rPr spc="-10" dirty="0"/>
              <a:t>tensors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8000" y="1625600"/>
            <a:ext cx="4370705" cy="447611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531495" indent="-281305" algn="ctr">
              <a:lnSpc>
                <a:spcPct val="100000"/>
              </a:lnSpc>
              <a:spcBef>
                <a:spcPts val="265"/>
              </a:spcBef>
              <a:buChar char="–"/>
              <a:tabLst>
                <a:tab pos="531495" algn="l"/>
              </a:tabLst>
            </a:pPr>
            <a:r>
              <a:rPr sz="2400" spc="-30" dirty="0">
                <a:solidFill>
                  <a:srgbClr val="336600"/>
                </a:solidFill>
                <a:latin typeface="Arial"/>
                <a:cs typeface="Arial"/>
              </a:rPr>
              <a:t>Zero-</a:t>
            </a:r>
            <a:r>
              <a:rPr sz="2400" spc="-20" dirty="0">
                <a:solidFill>
                  <a:srgbClr val="336600"/>
                </a:solidFill>
                <a:latin typeface="Arial"/>
                <a:cs typeface="Arial"/>
              </a:rPr>
              <a:t>dimensional </a:t>
            </a:r>
            <a:r>
              <a:rPr sz="2400" spc="-10" dirty="0">
                <a:solidFill>
                  <a:srgbClr val="336600"/>
                </a:solidFill>
                <a:latin typeface="Arial"/>
                <a:cs typeface="Arial"/>
              </a:rPr>
              <a:t>tensor</a:t>
            </a:r>
            <a:endParaRPr sz="2400">
              <a:latin typeface="Arial"/>
              <a:cs typeface="Arial"/>
            </a:endParaRPr>
          </a:p>
          <a:p>
            <a:pPr marL="1220470" marR="1496060" lvl="1" indent="-226060">
              <a:lnSpc>
                <a:spcPts val="1900"/>
              </a:lnSpc>
              <a:spcBef>
                <a:spcPts val="400"/>
              </a:spcBef>
              <a:buChar char="•"/>
              <a:tabLst>
                <a:tab pos="1220470" algn="l"/>
              </a:tabLst>
            </a:pP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numpy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np </a:t>
            </a:r>
            <a:r>
              <a:rPr sz="1600" dirty="0">
                <a:latin typeface="Calibri"/>
                <a:cs typeface="Calibri"/>
              </a:rPr>
              <a:t>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np.array(100) print(“Array:”,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x)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830"/>
              </a:lnSpc>
            </a:pPr>
            <a:r>
              <a:rPr sz="1600" spc="-10" dirty="0">
                <a:latin typeface="Calibri"/>
                <a:cs typeface="Calibri"/>
              </a:rPr>
              <a:t>print(“Dimension:”,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x.ndim)</a:t>
            </a:r>
            <a:endParaRPr sz="1600">
              <a:latin typeface="Calibri"/>
              <a:cs typeface="Calibri"/>
            </a:endParaRPr>
          </a:p>
          <a:p>
            <a:pPr marL="1219835" lvl="1" indent="-225425">
              <a:lnSpc>
                <a:spcPts val="1910"/>
              </a:lnSpc>
              <a:spcBef>
                <a:spcPts val="290"/>
              </a:spcBef>
              <a:buFont typeface="Calibri"/>
              <a:buChar char="•"/>
              <a:tabLst>
                <a:tab pos="1219835" algn="l"/>
              </a:tabLst>
            </a:pPr>
            <a:r>
              <a:rPr sz="1600" b="1" spc="-10" dirty="0">
                <a:latin typeface="Calibri"/>
                <a:cs typeface="Calibri"/>
              </a:rPr>
              <a:t>Output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895"/>
              </a:lnSpc>
            </a:pPr>
            <a:r>
              <a:rPr sz="1600" dirty="0">
                <a:latin typeface="Calibri"/>
                <a:cs typeface="Calibri"/>
              </a:rPr>
              <a:t>Array: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100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910"/>
              </a:lnSpc>
            </a:pPr>
            <a:r>
              <a:rPr sz="1600" spc="-10" dirty="0">
                <a:latin typeface="Calibri"/>
                <a:cs typeface="Calibri"/>
              </a:rPr>
              <a:t>Dimension</a:t>
            </a:r>
            <a:r>
              <a:rPr sz="1600" spc="-50" dirty="0">
                <a:latin typeface="Calibri"/>
                <a:cs typeface="Calibri"/>
              </a:rPr>
              <a:t> 0</a:t>
            </a:r>
            <a:endParaRPr sz="1600">
              <a:latin typeface="Calibri"/>
              <a:cs typeface="Calibri"/>
            </a:endParaRPr>
          </a:p>
          <a:p>
            <a:pPr marL="481330" indent="-281305" algn="ctr">
              <a:lnSpc>
                <a:spcPct val="100000"/>
              </a:lnSpc>
              <a:spcBef>
                <a:spcPts val="590"/>
              </a:spcBef>
              <a:buChar char="–"/>
              <a:tabLst>
                <a:tab pos="481330" algn="l"/>
              </a:tabLst>
            </a:pPr>
            <a:r>
              <a:rPr sz="2400" spc="-30" dirty="0">
                <a:solidFill>
                  <a:srgbClr val="336600"/>
                </a:solidFill>
                <a:latin typeface="Arial"/>
                <a:cs typeface="Arial"/>
              </a:rPr>
              <a:t>One-</a:t>
            </a:r>
            <a:r>
              <a:rPr sz="2400" spc="-20" dirty="0">
                <a:solidFill>
                  <a:srgbClr val="336600"/>
                </a:solidFill>
                <a:latin typeface="Arial"/>
                <a:cs typeface="Arial"/>
              </a:rPr>
              <a:t>dimensional</a:t>
            </a:r>
            <a:r>
              <a:rPr sz="2400" spc="-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6600"/>
                </a:solidFill>
                <a:latin typeface="Arial"/>
                <a:cs typeface="Arial"/>
              </a:rPr>
              <a:t>tensor</a:t>
            </a:r>
            <a:endParaRPr sz="2400">
              <a:latin typeface="Arial"/>
              <a:cs typeface="Arial"/>
            </a:endParaRPr>
          </a:p>
          <a:p>
            <a:pPr marL="1219835" lvl="1" indent="-225425">
              <a:lnSpc>
                <a:spcPts val="1910"/>
              </a:lnSpc>
              <a:spcBef>
                <a:spcPts val="320"/>
              </a:spcBef>
              <a:buChar char="•"/>
              <a:tabLst>
                <a:tab pos="1219835" algn="l"/>
              </a:tabLst>
            </a:pP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numpy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np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895"/>
              </a:lnSpc>
            </a:pPr>
            <a:r>
              <a:rPr sz="1600" dirty="0">
                <a:latin typeface="Calibri"/>
                <a:cs typeface="Calibri"/>
              </a:rPr>
              <a:t>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np.array([1,5,2,7,11,24,25,12])</a:t>
            </a:r>
            <a:endParaRPr sz="1600">
              <a:latin typeface="Calibri"/>
              <a:cs typeface="Calibri"/>
            </a:endParaRPr>
          </a:p>
          <a:p>
            <a:pPr marL="1220470" marR="882015">
              <a:lnSpc>
                <a:spcPts val="1900"/>
              </a:lnSpc>
              <a:spcBef>
                <a:spcPts val="70"/>
              </a:spcBef>
            </a:pPr>
            <a:r>
              <a:rPr sz="1600" spc="-10" dirty="0">
                <a:latin typeface="Calibri"/>
                <a:cs typeface="Calibri"/>
              </a:rPr>
              <a:t>print(“Array:”,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x) </a:t>
            </a:r>
            <a:r>
              <a:rPr sz="1600" spc="-10" dirty="0">
                <a:latin typeface="Calibri"/>
                <a:cs typeface="Calibri"/>
              </a:rPr>
              <a:t>print(“Dimension:”,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x.ndim)</a:t>
            </a:r>
            <a:endParaRPr sz="1600">
              <a:latin typeface="Calibri"/>
              <a:cs typeface="Calibri"/>
            </a:endParaRPr>
          </a:p>
          <a:p>
            <a:pPr marL="1219835" lvl="1" indent="-225425">
              <a:lnSpc>
                <a:spcPts val="1910"/>
              </a:lnSpc>
              <a:spcBef>
                <a:spcPts val="320"/>
              </a:spcBef>
              <a:buFont typeface="Calibri"/>
              <a:buChar char="•"/>
              <a:tabLst>
                <a:tab pos="1219835" algn="l"/>
              </a:tabLst>
            </a:pPr>
            <a:r>
              <a:rPr sz="1600" b="1" spc="-10" dirty="0">
                <a:latin typeface="Calibri"/>
                <a:cs typeface="Calibri"/>
              </a:rPr>
              <a:t>Output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895"/>
              </a:lnSpc>
            </a:pPr>
            <a:r>
              <a:rPr sz="1600" dirty="0">
                <a:latin typeface="Calibri"/>
                <a:cs typeface="Calibri"/>
              </a:rPr>
              <a:t>Array: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7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11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24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25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12]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910"/>
              </a:lnSpc>
            </a:pPr>
            <a:r>
              <a:rPr sz="1600" spc="-10" dirty="0">
                <a:latin typeface="Calibri"/>
                <a:cs typeface="Calibri"/>
              </a:rPr>
              <a:t>Dimension</a:t>
            </a:r>
            <a:r>
              <a:rPr sz="1600" spc="-50" dirty="0">
                <a:latin typeface="Calibri"/>
                <a:cs typeface="Calibri"/>
              </a:rPr>
              <a:t> 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9200" y="1625600"/>
            <a:ext cx="4370705" cy="447611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481330" indent="-281305" algn="ctr">
              <a:lnSpc>
                <a:spcPct val="100000"/>
              </a:lnSpc>
              <a:spcBef>
                <a:spcPts val="265"/>
              </a:spcBef>
              <a:buChar char="–"/>
              <a:tabLst>
                <a:tab pos="481330" algn="l"/>
              </a:tabLst>
            </a:pPr>
            <a:r>
              <a:rPr sz="2400" spc="-40" dirty="0">
                <a:solidFill>
                  <a:srgbClr val="336600"/>
                </a:solidFill>
                <a:latin typeface="Arial"/>
                <a:cs typeface="Arial"/>
              </a:rPr>
              <a:t>Two-</a:t>
            </a:r>
            <a:r>
              <a:rPr sz="2400" spc="-20" dirty="0">
                <a:solidFill>
                  <a:srgbClr val="336600"/>
                </a:solidFill>
                <a:latin typeface="Arial"/>
                <a:cs typeface="Arial"/>
              </a:rPr>
              <a:t>dimensional</a:t>
            </a:r>
            <a:r>
              <a:rPr sz="2400" spc="-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6600"/>
                </a:solidFill>
                <a:latin typeface="Arial"/>
                <a:cs typeface="Arial"/>
              </a:rPr>
              <a:t>tensor</a:t>
            </a:r>
            <a:endParaRPr sz="2400">
              <a:latin typeface="Arial"/>
              <a:cs typeface="Arial"/>
            </a:endParaRPr>
          </a:p>
          <a:p>
            <a:pPr marL="1220470" marR="1499235" lvl="1" indent="-226060">
              <a:lnSpc>
                <a:spcPts val="1900"/>
              </a:lnSpc>
              <a:spcBef>
                <a:spcPts val="400"/>
              </a:spcBef>
              <a:buChar char="•"/>
              <a:tabLst>
                <a:tab pos="1220470" algn="l"/>
              </a:tabLst>
            </a:pPr>
            <a:r>
              <a:rPr sz="1600" dirty="0">
                <a:latin typeface="Calibri"/>
                <a:cs typeface="Calibri"/>
              </a:rPr>
              <a:t>import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numpy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np </a:t>
            </a:r>
            <a:r>
              <a:rPr sz="1600" dirty="0">
                <a:latin typeface="Calibri"/>
                <a:cs typeface="Calibri"/>
              </a:rPr>
              <a:t>x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np.array(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820"/>
              </a:lnSpc>
            </a:pPr>
            <a:r>
              <a:rPr sz="1600" spc="-50" dirty="0">
                <a:latin typeface="Calibri"/>
                <a:cs typeface="Calibri"/>
              </a:rPr>
              <a:t>[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895"/>
              </a:lnSpc>
            </a:pPr>
            <a:r>
              <a:rPr sz="1600" spc="-10" dirty="0">
                <a:latin typeface="Calibri"/>
                <a:cs typeface="Calibri"/>
              </a:rPr>
              <a:t>[1,5,2,7,11,24,25,12],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910"/>
              </a:lnSpc>
            </a:pPr>
            <a:r>
              <a:rPr sz="1600" spc="-10" dirty="0">
                <a:latin typeface="Calibri"/>
                <a:cs typeface="Calibri"/>
              </a:rPr>
              <a:t>[1,2,3,4,5,6,7,8]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910"/>
              </a:lnSpc>
            </a:pPr>
            <a:r>
              <a:rPr sz="1600" spc="-50" dirty="0">
                <a:latin typeface="Calibri"/>
                <a:cs typeface="Calibri"/>
              </a:rPr>
              <a:t>]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910"/>
              </a:lnSpc>
            </a:pPr>
            <a:r>
              <a:rPr sz="1600" spc="-50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1220470" marR="882650" lvl="1" indent="-226060">
              <a:lnSpc>
                <a:spcPct val="100000"/>
              </a:lnSpc>
              <a:spcBef>
                <a:spcPts val="265"/>
              </a:spcBef>
              <a:buChar char="•"/>
              <a:tabLst>
                <a:tab pos="1220470" algn="l"/>
              </a:tabLst>
            </a:pPr>
            <a:r>
              <a:rPr sz="1600" spc="-10" dirty="0">
                <a:latin typeface="Calibri"/>
                <a:cs typeface="Calibri"/>
              </a:rPr>
              <a:t>print(“Array:”,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x) </a:t>
            </a:r>
            <a:r>
              <a:rPr sz="1600" spc="-10" dirty="0">
                <a:latin typeface="Calibri"/>
                <a:cs typeface="Calibri"/>
              </a:rPr>
              <a:t>print(“Dimension:”,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x.ndim)</a:t>
            </a:r>
            <a:endParaRPr sz="1600">
              <a:latin typeface="Calibri"/>
              <a:cs typeface="Calibri"/>
            </a:endParaRPr>
          </a:p>
          <a:p>
            <a:pPr marL="1219835" lvl="1" indent="-225425">
              <a:lnSpc>
                <a:spcPct val="100000"/>
              </a:lnSpc>
              <a:spcBef>
                <a:spcPts val="360"/>
              </a:spcBef>
              <a:buFont typeface="Calibri"/>
              <a:buChar char="•"/>
              <a:tabLst>
                <a:tab pos="1219835" algn="l"/>
              </a:tabLst>
            </a:pPr>
            <a:r>
              <a:rPr sz="1600" b="1" spc="-10" dirty="0">
                <a:latin typeface="Calibri"/>
                <a:cs typeface="Calibri"/>
              </a:rPr>
              <a:t>Output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910"/>
              </a:lnSpc>
            </a:pPr>
            <a:r>
              <a:rPr sz="1600" spc="-20" dirty="0">
                <a:latin typeface="Calibri"/>
                <a:cs typeface="Calibri"/>
              </a:rPr>
              <a:t>Array: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[[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7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11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25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12]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marL="1220470">
              <a:lnSpc>
                <a:spcPts val="1910"/>
              </a:lnSpc>
            </a:pPr>
            <a:r>
              <a:rPr sz="1600" dirty="0">
                <a:latin typeface="Calibri"/>
                <a:cs typeface="Calibri"/>
              </a:rPr>
              <a:t>5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6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7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8]]</a:t>
            </a:r>
            <a:endParaRPr sz="1600">
              <a:latin typeface="Calibri"/>
              <a:cs typeface="Calibri"/>
            </a:endParaRPr>
          </a:p>
          <a:p>
            <a:pPr marL="1130935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latin typeface="Calibri"/>
                <a:cs typeface="Calibri"/>
              </a:rPr>
              <a:t>Dimension</a:t>
            </a:r>
            <a:r>
              <a:rPr sz="1600" spc="-50" dirty="0">
                <a:latin typeface="Calibri"/>
                <a:cs typeface="Calibri"/>
              </a:rPr>
              <a:t> 2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43025" y="762000"/>
            <a:ext cx="53759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Transpose</a:t>
            </a:r>
            <a:r>
              <a:rPr spc="-15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spc="-10" dirty="0"/>
              <a:t>Matrix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916" y="1786127"/>
            <a:ext cx="8358505" cy="36264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77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important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operation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matrices</a:t>
            </a:r>
            <a:endParaRPr sz="3200">
              <a:latin typeface="Arial"/>
              <a:cs typeface="Arial"/>
            </a:endParaRPr>
          </a:p>
          <a:p>
            <a:pPr marL="363855" indent="-338455">
              <a:lnSpc>
                <a:spcPct val="100000"/>
              </a:lnSpc>
              <a:spcBef>
                <a:spcPts val="67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transpose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denoted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25" dirty="0">
                <a:latin typeface="Times New Roman"/>
                <a:cs typeface="Times New Roman"/>
              </a:rPr>
              <a:t>A</a:t>
            </a:r>
            <a:r>
              <a:rPr sz="3150" spc="-37" baseline="23809" dirty="0">
                <a:latin typeface="Times New Roman"/>
                <a:cs typeface="Times New Roman"/>
              </a:rPr>
              <a:t>T</a:t>
            </a:r>
            <a:endParaRPr sz="3150" baseline="23809">
              <a:latin typeface="Times New Roman"/>
              <a:cs typeface="Times New Roman"/>
            </a:endParaRPr>
          </a:p>
          <a:p>
            <a:pPr marL="363855" indent="-338455">
              <a:lnSpc>
                <a:spcPct val="100000"/>
              </a:lnSpc>
              <a:spcBef>
                <a:spcPts val="76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Defined</a:t>
            </a:r>
            <a:r>
              <a:rPr sz="3200" spc="-1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endParaRPr sz="3200">
              <a:latin typeface="Arial"/>
              <a:cs typeface="Arial"/>
            </a:endParaRPr>
          </a:p>
          <a:p>
            <a:pPr marL="2737485">
              <a:lnSpc>
                <a:spcPct val="100000"/>
              </a:lnSpc>
              <a:spcBef>
                <a:spcPts val="1955"/>
              </a:spcBef>
            </a:pPr>
            <a:r>
              <a:rPr sz="3600" spc="-15" baseline="11574" dirty="0">
                <a:latin typeface="Times New Roman"/>
                <a:cs typeface="Times New Roman"/>
              </a:rPr>
              <a:t>(</a:t>
            </a:r>
            <a:r>
              <a:rPr sz="3600" b="1" spc="-15" baseline="11574" dirty="0">
                <a:latin typeface="Times New Roman"/>
                <a:cs typeface="Times New Roman"/>
              </a:rPr>
              <a:t>A</a:t>
            </a:r>
            <a:r>
              <a:rPr sz="2400" spc="-15" baseline="41666" dirty="0">
                <a:latin typeface="Times New Roman"/>
                <a:cs typeface="Times New Roman"/>
              </a:rPr>
              <a:t>T</a:t>
            </a:r>
            <a:r>
              <a:rPr sz="3600" spc="-15" baseline="11574" dirty="0">
                <a:latin typeface="Times New Roman"/>
                <a:cs typeface="Times New Roman"/>
              </a:rPr>
              <a:t>)</a:t>
            </a:r>
            <a:r>
              <a:rPr sz="1600" i="1" spc="-10" dirty="0">
                <a:latin typeface="Times New Roman"/>
                <a:cs typeface="Times New Roman"/>
              </a:rPr>
              <a:t>i,j</a:t>
            </a:r>
            <a:r>
              <a:rPr sz="3600" spc="-15" baseline="11574" dirty="0">
                <a:latin typeface="Times New Roman"/>
                <a:cs typeface="Times New Roman"/>
              </a:rPr>
              <a:t>=</a:t>
            </a:r>
            <a:r>
              <a:rPr sz="3600" i="1" spc="-15" baseline="11574" dirty="0">
                <a:latin typeface="Times New Roman"/>
                <a:cs typeface="Times New Roman"/>
              </a:rPr>
              <a:t>A</a:t>
            </a:r>
            <a:r>
              <a:rPr sz="1600" i="1" spc="-10" dirty="0">
                <a:latin typeface="Times New Roman"/>
                <a:cs typeface="Times New Roman"/>
              </a:rPr>
              <a:t>j,i</a:t>
            </a:r>
            <a:endParaRPr sz="1600">
              <a:latin typeface="Times New Roman"/>
              <a:cs typeface="Times New Roman"/>
            </a:endParaRPr>
          </a:p>
          <a:p>
            <a:pPr marL="758190" lvl="1" indent="-281305">
              <a:lnSpc>
                <a:spcPct val="100000"/>
              </a:lnSpc>
              <a:spcBef>
                <a:spcPts val="320"/>
              </a:spcBef>
              <a:buChar char="–"/>
              <a:tabLst>
                <a:tab pos="75819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mirror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image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across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diagonal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line</a:t>
            </a:r>
            <a:endParaRPr sz="2800">
              <a:latin typeface="Arial"/>
              <a:cs typeface="Arial"/>
            </a:endParaRPr>
          </a:p>
          <a:p>
            <a:pPr marL="1153795" marR="300355" lvl="2" indent="-224790">
              <a:lnSpc>
                <a:spcPts val="2780"/>
              </a:lnSpc>
              <a:spcBef>
                <a:spcPts val="720"/>
              </a:spcBef>
              <a:buChar char="•"/>
              <a:tabLst>
                <a:tab pos="115506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Called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main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diagonal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,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running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down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right 	starting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from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upper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left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corner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4287" y="6039281"/>
            <a:ext cx="1492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1,1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0116" y="6039281"/>
            <a:ext cx="1517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1,2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5621" y="5909890"/>
            <a:ext cx="508634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8145" algn="l"/>
              </a:tabLst>
            </a:pP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300" i="1" spc="-50" dirty="0">
                <a:latin typeface="Cambria"/>
                <a:cs typeface="Cambria"/>
              </a:rPr>
              <a:t>A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5945" y="6039281"/>
            <a:ext cx="1517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1,3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6442" y="6334723"/>
            <a:ext cx="1473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2,1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22271" y="6334723"/>
            <a:ext cx="1492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2,2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5835" y="5851664"/>
            <a:ext cx="34226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latin typeface="Symbol"/>
                <a:cs typeface="Symbol"/>
              </a:rPr>
              <a:t></a:t>
            </a:r>
            <a:r>
              <a:rPr sz="1300" spc="500" dirty="0">
                <a:latin typeface="Times New Roman"/>
                <a:cs typeface="Times New Roman"/>
              </a:rPr>
              <a:t> </a:t>
            </a:r>
            <a:r>
              <a:rPr sz="1950" i="1" spc="-75" baseline="-19230" dirty="0">
                <a:latin typeface="Cambria"/>
                <a:cs typeface="Cambria"/>
              </a:rPr>
              <a:t>A</a:t>
            </a:r>
            <a:endParaRPr sz="1950" baseline="-1923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1235" y="6610757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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1235" y="6010383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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1235" y="6327823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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1235" y="6305151"/>
            <a:ext cx="1201420" cy="4654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335"/>
              </a:spcBef>
            </a:pPr>
            <a:r>
              <a:rPr sz="750" spc="-25" dirty="0">
                <a:latin typeface="Cambria"/>
                <a:cs typeface="Cambria"/>
              </a:rPr>
              <a:t>2,3</a:t>
            </a:r>
            <a:endParaRPr sz="750">
              <a:latin typeface="Cambria"/>
              <a:cs typeface="Cambria"/>
            </a:endParaRPr>
          </a:p>
          <a:p>
            <a:pPr marL="12700">
              <a:lnSpc>
                <a:spcPts val="1290"/>
              </a:lnSpc>
              <a:spcBef>
                <a:spcPts val="409"/>
              </a:spcBef>
              <a:tabLst>
                <a:tab pos="566420" algn="l"/>
                <a:tab pos="952500" algn="l"/>
              </a:tabLst>
            </a:pPr>
            <a:r>
              <a:rPr sz="1950" baseline="4273" dirty="0">
                <a:latin typeface="Symbol"/>
                <a:cs typeface="Symbol"/>
              </a:rPr>
              <a:t></a:t>
            </a:r>
            <a:r>
              <a:rPr sz="1950" spc="750" baseline="4273" dirty="0">
                <a:latin typeface="Times New Roman"/>
                <a:cs typeface="Times New Roman"/>
              </a:rPr>
              <a:t> </a:t>
            </a: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300" i="1" spc="-50" dirty="0">
                <a:latin typeface="Cambria"/>
                <a:cs typeface="Cambria"/>
              </a:rPr>
              <a:t>A</a:t>
            </a:r>
            <a:endParaRPr sz="1300">
              <a:latin typeface="Cambria"/>
              <a:cs typeface="Cambria"/>
            </a:endParaRPr>
          </a:p>
          <a:p>
            <a:pPr marL="267335">
              <a:lnSpc>
                <a:spcPts val="630"/>
              </a:lnSpc>
              <a:tabLst>
                <a:tab pos="653415" algn="l"/>
                <a:tab pos="1039494" algn="l"/>
              </a:tabLst>
            </a:pPr>
            <a:r>
              <a:rPr sz="750" spc="-25" dirty="0">
                <a:latin typeface="Cambria"/>
                <a:cs typeface="Cambria"/>
              </a:rPr>
              <a:t>3,1</a:t>
            </a:r>
            <a:r>
              <a:rPr sz="750" dirty="0">
                <a:latin typeface="Cambria"/>
                <a:cs typeface="Cambria"/>
              </a:rPr>
              <a:t>	</a:t>
            </a:r>
            <a:r>
              <a:rPr sz="750" spc="-25" dirty="0">
                <a:latin typeface="Cambria"/>
                <a:cs typeface="Cambria"/>
              </a:rPr>
              <a:t>3,2</a:t>
            </a:r>
            <a:r>
              <a:rPr sz="750" dirty="0">
                <a:latin typeface="Cambria"/>
                <a:cs typeface="Cambria"/>
              </a:rPr>
              <a:t>	</a:t>
            </a:r>
            <a:r>
              <a:rPr sz="750" spc="-25" dirty="0">
                <a:latin typeface="Cambria"/>
                <a:cs typeface="Cambria"/>
              </a:rPr>
              <a:t>3,3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38304" y="5851664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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8304" y="6610757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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38304" y="6010383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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38304" y="6327823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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38304" y="6486542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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06958" y="6039281"/>
            <a:ext cx="1492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1,1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94942" y="6039281"/>
            <a:ext cx="1473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2,1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08292" y="5909890"/>
            <a:ext cx="508634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8145" algn="l"/>
              </a:tabLst>
            </a:pP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300" i="1" spc="-50" dirty="0">
                <a:latin typeface="Cambria"/>
                <a:cs typeface="Cambria"/>
              </a:rPr>
              <a:t>A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80771" y="6039281"/>
            <a:ext cx="1473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3,1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06958" y="6334723"/>
            <a:ext cx="1517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1,2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28506" y="5851664"/>
            <a:ext cx="34226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latin typeface="Symbol"/>
                <a:cs typeface="Symbol"/>
              </a:rPr>
              <a:t></a:t>
            </a:r>
            <a:r>
              <a:rPr sz="1300" spc="500" dirty="0">
                <a:latin typeface="Times New Roman"/>
                <a:cs typeface="Times New Roman"/>
              </a:rPr>
              <a:t> </a:t>
            </a:r>
            <a:r>
              <a:rPr sz="1950" i="1" spc="-75" baseline="-19230" dirty="0">
                <a:latin typeface="Cambria"/>
                <a:cs typeface="Cambria"/>
              </a:rPr>
              <a:t>A</a:t>
            </a:r>
            <a:endParaRPr sz="1950" baseline="-1923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94942" y="6334723"/>
            <a:ext cx="1492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2,2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8292" y="6205332"/>
            <a:ext cx="508634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8145" algn="l"/>
              </a:tabLst>
            </a:pP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300" i="1" spc="-50" dirty="0">
                <a:latin typeface="Cambria"/>
                <a:cs typeface="Cambria"/>
              </a:rPr>
              <a:t>A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80771" y="6334723"/>
            <a:ext cx="1492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Cambria"/>
                <a:cs typeface="Cambria"/>
              </a:rPr>
              <a:t>3,2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68721" y="6560295"/>
            <a:ext cx="287020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950" i="1" spc="-30" baseline="19230" dirty="0">
                <a:latin typeface="Cambria"/>
                <a:cs typeface="Cambria"/>
              </a:rPr>
              <a:t>A</a:t>
            </a:r>
            <a:r>
              <a:rPr sz="750" spc="-20" dirty="0">
                <a:latin typeface="Cambria"/>
                <a:cs typeface="Cambria"/>
              </a:rPr>
              <a:t>3,3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53906" y="6610757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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53906" y="6010383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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3100" y="6205332"/>
            <a:ext cx="2503170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854710" algn="l"/>
                <a:tab pos="1240790" algn="l"/>
                <a:tab pos="1557655" algn="l"/>
              </a:tabLst>
            </a:pPr>
            <a:r>
              <a:rPr sz="1300" i="1" dirty="0">
                <a:latin typeface="Cambria"/>
                <a:cs typeface="Cambria"/>
              </a:rPr>
              <a:t>A</a:t>
            </a:r>
            <a:r>
              <a:rPr sz="1300" i="1" spc="-85" dirty="0">
                <a:latin typeface="Cambria"/>
                <a:cs typeface="Cambria"/>
              </a:rPr>
              <a:t> </a:t>
            </a:r>
            <a:r>
              <a:rPr sz="1300" dirty="0">
                <a:latin typeface="Symbol"/>
                <a:cs typeface="Symbol"/>
              </a:rPr>
              <a:t>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950" baseline="12820" dirty="0">
                <a:latin typeface="Symbol"/>
                <a:cs typeface="Symbol"/>
              </a:rPr>
              <a:t></a:t>
            </a:r>
            <a:r>
              <a:rPr sz="1950" spc="127" baseline="12820" dirty="0">
                <a:latin typeface="Times New Roman"/>
                <a:cs typeface="Times New Roman"/>
              </a:rPr>
              <a:t>  </a:t>
            </a: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950" baseline="12820" dirty="0">
                <a:latin typeface="Symbol"/>
                <a:cs typeface="Symbol"/>
              </a:rPr>
              <a:t></a:t>
            </a:r>
            <a:r>
              <a:rPr sz="1950" spc="-195" baseline="128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Symbol"/>
                <a:cs typeface="Symbol"/>
              </a:rPr>
              <a:t>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Cambria"/>
                <a:cs typeface="Cambria"/>
              </a:rPr>
              <a:t>A</a:t>
            </a:r>
            <a:r>
              <a:rPr sz="1125" i="1" baseline="44444" dirty="0">
                <a:latin typeface="Cambria"/>
                <a:cs typeface="Cambria"/>
              </a:rPr>
              <a:t>T</a:t>
            </a:r>
            <a:r>
              <a:rPr sz="1125" i="1" spc="337" baseline="44444" dirty="0">
                <a:latin typeface="Cambria"/>
                <a:cs typeface="Cambria"/>
              </a:rPr>
              <a:t> </a:t>
            </a:r>
            <a:r>
              <a:rPr sz="1300" dirty="0">
                <a:latin typeface="Symbol"/>
                <a:cs typeface="Symbol"/>
              </a:rPr>
              <a:t>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950" baseline="12820" dirty="0">
                <a:latin typeface="Symbol"/>
                <a:cs typeface="Symbol"/>
              </a:rPr>
              <a:t></a:t>
            </a:r>
            <a:r>
              <a:rPr sz="1950" spc="727" baseline="12820" dirty="0">
                <a:latin typeface="Times New Roman"/>
                <a:cs typeface="Times New Roman"/>
              </a:rPr>
              <a:t> </a:t>
            </a:r>
            <a:r>
              <a:rPr sz="1300" i="1" spc="-50" dirty="0">
                <a:latin typeface="Cambria"/>
                <a:cs typeface="Cambria"/>
              </a:rPr>
              <a:t>A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53906" y="6327823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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53906" y="6500775"/>
            <a:ext cx="80327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105"/>
              </a:spcBef>
              <a:tabLst>
                <a:tab pos="566420" algn="l"/>
              </a:tabLst>
            </a:pPr>
            <a:r>
              <a:rPr sz="1950" baseline="4273" dirty="0">
                <a:latin typeface="Symbol"/>
                <a:cs typeface="Symbol"/>
              </a:rPr>
              <a:t></a:t>
            </a:r>
            <a:r>
              <a:rPr sz="1950" spc="750" baseline="4273" dirty="0">
                <a:latin typeface="Times New Roman"/>
                <a:cs typeface="Times New Roman"/>
              </a:rPr>
              <a:t> </a:t>
            </a:r>
            <a:r>
              <a:rPr sz="1300" i="1" spc="-50" dirty="0">
                <a:latin typeface="Cambria"/>
                <a:cs typeface="Cambria"/>
              </a:rPr>
              <a:t>A</a:t>
            </a:r>
            <a:r>
              <a:rPr sz="1300" i="1" dirty="0">
                <a:latin typeface="Cambria"/>
                <a:cs typeface="Cambria"/>
              </a:rPr>
              <a:t>	</a:t>
            </a:r>
            <a:r>
              <a:rPr sz="1300" i="1" spc="-50" dirty="0">
                <a:latin typeface="Cambria"/>
                <a:cs typeface="Cambria"/>
              </a:rPr>
              <a:t>A</a:t>
            </a:r>
            <a:endParaRPr sz="1300">
              <a:latin typeface="Cambria"/>
              <a:cs typeface="Cambria"/>
            </a:endParaRPr>
          </a:p>
          <a:p>
            <a:pPr marL="265430">
              <a:lnSpc>
                <a:spcPts val="630"/>
              </a:lnSpc>
              <a:tabLst>
                <a:tab pos="653415" algn="l"/>
              </a:tabLst>
            </a:pPr>
            <a:r>
              <a:rPr sz="750" spc="-25" dirty="0">
                <a:latin typeface="Cambria"/>
                <a:cs typeface="Cambria"/>
              </a:rPr>
              <a:t>1,3</a:t>
            </a:r>
            <a:r>
              <a:rPr sz="750" dirty="0">
                <a:latin typeface="Cambria"/>
                <a:cs typeface="Cambria"/>
              </a:rPr>
              <a:t>	</a:t>
            </a:r>
            <a:r>
              <a:rPr sz="750" spc="-25" dirty="0">
                <a:latin typeface="Cambria"/>
                <a:cs typeface="Cambria"/>
              </a:rPr>
              <a:t>2,3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10975" y="6610757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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10975" y="5851664"/>
            <a:ext cx="89535" cy="700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405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</a:t>
            </a:r>
            <a:endParaRPr sz="1300">
              <a:latin typeface="Symbol"/>
              <a:cs typeface="Symbol"/>
            </a:endParaRPr>
          </a:p>
          <a:p>
            <a:pPr marL="12700">
              <a:lnSpc>
                <a:spcPts val="1250"/>
              </a:lnSpc>
            </a:pPr>
            <a:r>
              <a:rPr sz="1300" spc="-50" dirty="0">
                <a:latin typeface="Symbol"/>
                <a:cs typeface="Symbol"/>
              </a:rPr>
              <a:t></a:t>
            </a:r>
            <a:endParaRPr sz="1300">
              <a:latin typeface="Symbol"/>
              <a:cs typeface="Symbol"/>
            </a:endParaRPr>
          </a:p>
          <a:p>
            <a:pPr marL="12700">
              <a:lnSpc>
                <a:spcPts val="1250"/>
              </a:lnSpc>
            </a:pPr>
            <a:r>
              <a:rPr sz="1300" spc="-50" dirty="0">
                <a:latin typeface="Symbol"/>
                <a:cs typeface="Symbol"/>
              </a:rPr>
              <a:t></a:t>
            </a:r>
            <a:endParaRPr sz="1300">
              <a:latin typeface="Symbol"/>
              <a:cs typeface="Symbol"/>
            </a:endParaRPr>
          </a:p>
          <a:p>
            <a:pPr marL="12700">
              <a:lnSpc>
                <a:spcPts val="1405"/>
              </a:lnSpc>
            </a:pPr>
            <a:r>
              <a:rPr sz="1300" spc="-50" dirty="0">
                <a:latin typeface="Symbol"/>
                <a:cs typeface="Symbol"/>
              </a:rPr>
              <a:t>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10975" y="6486542"/>
            <a:ext cx="89535" cy="224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50" dirty="0">
                <a:latin typeface="Symbol"/>
                <a:cs typeface="Symbol"/>
              </a:rPr>
              <a:t>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48846" y="6036017"/>
            <a:ext cx="14732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1,1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45665" y="5908670"/>
            <a:ext cx="121920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i="1" spc="-50" dirty="0">
                <a:latin typeface="Cambria"/>
                <a:cs typeface="Cambria"/>
              </a:rPr>
              <a:t>A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28894" y="6036017"/>
            <a:ext cx="14986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1,2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50969" y="6326792"/>
            <a:ext cx="14541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2,1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31017" y="6326792"/>
            <a:ext cx="14732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2,2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74186" y="5851364"/>
            <a:ext cx="33845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latin typeface="Symbol"/>
                <a:cs typeface="Symbol"/>
              </a:rPr>
              <a:t></a:t>
            </a:r>
            <a:r>
              <a:rPr sz="1250" spc="100" dirty="0">
                <a:latin typeface="Times New Roman"/>
                <a:cs typeface="Times New Roman"/>
              </a:rPr>
              <a:t>  </a:t>
            </a:r>
            <a:r>
              <a:rPr sz="1875" i="1" spc="-75" baseline="-20000" dirty="0">
                <a:latin typeface="Cambria"/>
                <a:cs typeface="Cambria"/>
              </a:rPr>
              <a:t>A</a:t>
            </a:r>
            <a:endParaRPr sz="1875" baseline="-20000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899586" y="6598466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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899586" y="6007576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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615197" y="6199446"/>
            <a:ext cx="977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842644" algn="l"/>
              </a:tabLst>
            </a:pPr>
            <a:r>
              <a:rPr sz="1250" i="1" dirty="0">
                <a:latin typeface="Cambria"/>
                <a:cs typeface="Cambria"/>
              </a:rPr>
              <a:t>A</a:t>
            </a:r>
            <a:r>
              <a:rPr sz="1250" i="1" spc="-70" dirty="0">
                <a:latin typeface="Cambria"/>
                <a:cs typeface="Cambria"/>
              </a:rPr>
              <a:t> </a:t>
            </a:r>
            <a:r>
              <a:rPr sz="1250" dirty="0">
                <a:latin typeface="Symbol"/>
                <a:cs typeface="Symbol"/>
              </a:rPr>
              <a:t></a:t>
            </a:r>
            <a:r>
              <a:rPr sz="1250" spc="-25" dirty="0">
                <a:latin typeface="Times New Roman"/>
                <a:cs typeface="Times New Roman"/>
              </a:rPr>
              <a:t> </a:t>
            </a:r>
            <a:r>
              <a:rPr sz="1875" baseline="13333" dirty="0">
                <a:latin typeface="Symbol"/>
                <a:cs typeface="Symbol"/>
              </a:rPr>
              <a:t></a:t>
            </a:r>
            <a:r>
              <a:rPr sz="1875" spc="157" baseline="13333" dirty="0">
                <a:latin typeface="Times New Roman"/>
                <a:cs typeface="Times New Roman"/>
              </a:rPr>
              <a:t>  </a:t>
            </a:r>
            <a:r>
              <a:rPr sz="1250" i="1" spc="-50" dirty="0">
                <a:latin typeface="Cambria"/>
                <a:cs typeface="Cambria"/>
              </a:rPr>
              <a:t>A</a:t>
            </a:r>
            <a:r>
              <a:rPr sz="1250" i="1" dirty="0">
                <a:latin typeface="Cambria"/>
                <a:cs typeface="Cambria"/>
              </a:rPr>
              <a:t>	</a:t>
            </a:r>
            <a:r>
              <a:rPr sz="1250" i="1" spc="-50" dirty="0">
                <a:latin typeface="Cambria"/>
                <a:cs typeface="Cambria"/>
              </a:rPr>
              <a:t>A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99586" y="6320001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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899586" y="6490221"/>
            <a:ext cx="791845" cy="2660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230"/>
              </a:lnSpc>
              <a:spcBef>
                <a:spcPts val="130"/>
              </a:spcBef>
              <a:tabLst>
                <a:tab pos="558165" algn="l"/>
              </a:tabLst>
            </a:pPr>
            <a:r>
              <a:rPr sz="1875" baseline="4444" dirty="0">
                <a:latin typeface="Symbol"/>
                <a:cs typeface="Symbol"/>
              </a:rPr>
              <a:t></a:t>
            </a:r>
            <a:r>
              <a:rPr sz="1875" spc="150" baseline="4444" dirty="0">
                <a:latin typeface="Times New Roman"/>
                <a:cs typeface="Times New Roman"/>
              </a:rPr>
              <a:t>  </a:t>
            </a:r>
            <a:r>
              <a:rPr sz="1250" i="1" spc="-50" dirty="0">
                <a:latin typeface="Cambria"/>
                <a:cs typeface="Cambria"/>
              </a:rPr>
              <a:t>A</a:t>
            </a:r>
            <a:r>
              <a:rPr sz="1250" i="1" dirty="0">
                <a:latin typeface="Cambria"/>
                <a:cs typeface="Cambria"/>
              </a:rPr>
              <a:t>	</a:t>
            </a:r>
            <a:r>
              <a:rPr sz="1250" i="1" spc="-50" dirty="0">
                <a:latin typeface="Cambria"/>
                <a:cs typeface="Cambria"/>
              </a:rPr>
              <a:t>A</a:t>
            </a:r>
            <a:endParaRPr sz="1250">
              <a:latin typeface="Cambria"/>
              <a:cs typeface="Cambria"/>
            </a:endParaRPr>
          </a:p>
          <a:p>
            <a:pPr marL="263525">
              <a:lnSpc>
                <a:spcPts val="630"/>
              </a:lnSpc>
              <a:tabLst>
                <a:tab pos="643890" algn="l"/>
              </a:tabLst>
            </a:pPr>
            <a:r>
              <a:rPr sz="750" spc="-25" dirty="0">
                <a:latin typeface="Cambria"/>
                <a:cs typeface="Cambria"/>
              </a:rPr>
              <a:t>3,1</a:t>
            </a:r>
            <a:r>
              <a:rPr sz="750" dirty="0">
                <a:latin typeface="Cambria"/>
                <a:cs typeface="Cambria"/>
              </a:rPr>
              <a:t>	</a:t>
            </a:r>
            <a:r>
              <a:rPr sz="750" spc="-25" dirty="0">
                <a:latin typeface="Cambria"/>
                <a:cs typeface="Cambria"/>
              </a:rPr>
              <a:t>3,2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96841" y="5851364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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96841" y="6598466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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96841" y="6007576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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96841" y="6320001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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96841" y="6476213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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52480" y="6036017"/>
            <a:ext cx="14732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1,1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234650" y="6036017"/>
            <a:ext cx="14541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2,1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49299" y="5908670"/>
            <a:ext cx="501650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92430" algn="l"/>
              </a:tabLst>
            </a:pPr>
            <a:r>
              <a:rPr sz="1250" i="1" spc="-50" dirty="0">
                <a:latin typeface="Cambria"/>
                <a:cs typeface="Cambria"/>
              </a:rPr>
              <a:t>A</a:t>
            </a:r>
            <a:r>
              <a:rPr sz="1250" i="1" dirty="0">
                <a:latin typeface="Cambria"/>
                <a:cs typeface="Cambria"/>
              </a:rPr>
              <a:t>	</a:t>
            </a:r>
            <a:r>
              <a:rPr sz="1250" i="1" spc="-50" dirty="0">
                <a:latin typeface="Cambria"/>
                <a:cs typeface="Cambria"/>
              </a:rPr>
              <a:t>A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614698" y="6036017"/>
            <a:ext cx="14541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3,1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52480" y="6326792"/>
            <a:ext cx="14986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1,2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34650" y="6326792"/>
            <a:ext cx="14732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2,2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614698" y="6326792"/>
            <a:ext cx="14732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5" dirty="0">
                <a:latin typeface="Cambria"/>
                <a:cs typeface="Cambria"/>
              </a:rPr>
              <a:t>3,2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577819" y="5859005"/>
            <a:ext cx="33845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latin typeface="Symbol"/>
                <a:cs typeface="Symbol"/>
              </a:rPr>
              <a:t></a:t>
            </a:r>
            <a:r>
              <a:rPr sz="1250" spc="100" dirty="0">
                <a:latin typeface="Times New Roman"/>
                <a:cs typeface="Times New Roman"/>
              </a:rPr>
              <a:t>  </a:t>
            </a:r>
            <a:r>
              <a:rPr sz="1875" i="1" spc="-75" baseline="-17777" dirty="0">
                <a:latin typeface="Cambria"/>
                <a:cs typeface="Cambria"/>
              </a:rPr>
              <a:t>A</a:t>
            </a:r>
            <a:endParaRPr sz="1875" baseline="-17777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603219" y="6590825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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603219" y="6015217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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958741" y="6199446"/>
            <a:ext cx="171767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1202690" algn="l"/>
                <a:tab pos="1583055" algn="l"/>
              </a:tabLst>
            </a:pPr>
            <a:r>
              <a:rPr sz="1875" baseline="13333" dirty="0">
                <a:latin typeface="Symbol"/>
                <a:cs typeface="Symbol"/>
              </a:rPr>
              <a:t></a:t>
            </a:r>
            <a:r>
              <a:rPr sz="1875" spc="-172" baseline="13333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Symbol"/>
                <a:cs typeface="Symbol"/>
              </a:rPr>
              <a:t></a:t>
            </a:r>
            <a:r>
              <a:rPr sz="1250" spc="-30" dirty="0">
                <a:latin typeface="Times New Roman"/>
                <a:cs typeface="Times New Roman"/>
              </a:rPr>
              <a:t> </a:t>
            </a:r>
            <a:r>
              <a:rPr sz="1250" i="1" dirty="0">
                <a:latin typeface="Cambria"/>
                <a:cs typeface="Cambria"/>
              </a:rPr>
              <a:t>A</a:t>
            </a:r>
            <a:r>
              <a:rPr sz="1125" i="1" baseline="40740" dirty="0">
                <a:latin typeface="Cambria"/>
                <a:cs typeface="Cambria"/>
              </a:rPr>
              <a:t>T</a:t>
            </a:r>
            <a:r>
              <a:rPr sz="1125" i="1" spc="359" baseline="40740" dirty="0">
                <a:latin typeface="Cambria"/>
                <a:cs typeface="Cambria"/>
              </a:rPr>
              <a:t> </a:t>
            </a:r>
            <a:r>
              <a:rPr sz="1250" dirty="0">
                <a:latin typeface="Symbol"/>
                <a:cs typeface="Symbol"/>
              </a:rPr>
              <a:t></a:t>
            </a:r>
            <a:r>
              <a:rPr sz="1250" spc="-25" dirty="0">
                <a:latin typeface="Times New Roman"/>
                <a:cs typeface="Times New Roman"/>
              </a:rPr>
              <a:t> </a:t>
            </a:r>
            <a:r>
              <a:rPr sz="1875" baseline="8888" dirty="0">
                <a:latin typeface="Symbol"/>
                <a:cs typeface="Symbol"/>
              </a:rPr>
              <a:t></a:t>
            </a:r>
            <a:r>
              <a:rPr sz="1875" spc="157" baseline="8888" dirty="0">
                <a:latin typeface="Times New Roman"/>
                <a:cs typeface="Times New Roman"/>
              </a:rPr>
              <a:t>  </a:t>
            </a:r>
            <a:r>
              <a:rPr sz="1250" i="1" spc="-50" dirty="0">
                <a:latin typeface="Cambria"/>
                <a:cs typeface="Cambria"/>
              </a:rPr>
              <a:t>A</a:t>
            </a:r>
            <a:r>
              <a:rPr sz="1250" i="1" dirty="0">
                <a:latin typeface="Cambria"/>
                <a:cs typeface="Cambria"/>
              </a:rPr>
              <a:t>	</a:t>
            </a:r>
            <a:r>
              <a:rPr sz="1250" i="1" spc="-50" dirty="0">
                <a:latin typeface="Cambria"/>
                <a:cs typeface="Cambria"/>
              </a:rPr>
              <a:t>A</a:t>
            </a:r>
            <a:r>
              <a:rPr sz="1250" i="1" dirty="0">
                <a:latin typeface="Cambria"/>
                <a:cs typeface="Cambria"/>
              </a:rPr>
              <a:t>	</a:t>
            </a:r>
            <a:r>
              <a:rPr sz="1250" i="1" spc="-50" dirty="0">
                <a:latin typeface="Cambria"/>
                <a:cs typeface="Cambria"/>
              </a:rPr>
              <a:t>A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603219" y="6327642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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603219" y="6483854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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841454" y="6590825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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841454" y="5859005"/>
            <a:ext cx="88265" cy="6902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365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</a:t>
            </a:r>
            <a:endParaRPr sz="1250">
              <a:latin typeface="Symbol"/>
              <a:cs typeface="Symbol"/>
            </a:endParaRPr>
          </a:p>
          <a:p>
            <a:pPr marL="12700">
              <a:lnSpc>
                <a:spcPts val="1230"/>
              </a:lnSpc>
            </a:pPr>
            <a:r>
              <a:rPr sz="1250" spc="-50" dirty="0">
                <a:latin typeface="Symbol"/>
                <a:cs typeface="Symbol"/>
              </a:rPr>
              <a:t></a:t>
            </a:r>
            <a:endParaRPr sz="1250">
              <a:latin typeface="Symbol"/>
              <a:cs typeface="Symbol"/>
            </a:endParaRPr>
          </a:p>
          <a:p>
            <a:pPr marL="12700">
              <a:lnSpc>
                <a:spcPts val="1230"/>
              </a:lnSpc>
            </a:pPr>
            <a:r>
              <a:rPr sz="1250" spc="-50" dirty="0">
                <a:latin typeface="Symbol"/>
                <a:cs typeface="Symbol"/>
              </a:rPr>
              <a:t></a:t>
            </a:r>
            <a:endParaRPr sz="1250">
              <a:latin typeface="Symbol"/>
              <a:cs typeface="Symbol"/>
            </a:endParaRPr>
          </a:p>
          <a:p>
            <a:pPr marL="12700">
              <a:lnSpc>
                <a:spcPts val="1365"/>
              </a:lnSpc>
            </a:pPr>
            <a:r>
              <a:rPr sz="1250" spc="-50" dirty="0">
                <a:latin typeface="Symbol"/>
                <a:cs typeface="Symbol"/>
              </a:rPr>
              <a:t>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841454" y="6483854"/>
            <a:ext cx="882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50" dirty="0">
                <a:latin typeface="Symbol"/>
                <a:cs typeface="Symbol"/>
              </a:rPr>
              <a:t></a:t>
            </a:r>
            <a:endParaRPr sz="1250">
              <a:latin typeface="Symbol"/>
              <a:cs typeface="Symbo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625747" y="5582862"/>
            <a:ext cx="1068070" cy="871855"/>
            <a:chOff x="5625747" y="5582862"/>
            <a:chExt cx="1068070" cy="871855"/>
          </a:xfrm>
        </p:grpSpPr>
        <p:sp>
          <p:nvSpPr>
            <p:cNvPr id="73" name="object 73"/>
            <p:cNvSpPr/>
            <p:nvPr/>
          </p:nvSpPr>
          <p:spPr>
            <a:xfrm>
              <a:off x="5858087" y="5845386"/>
              <a:ext cx="829310" cy="603250"/>
            </a:xfrm>
            <a:custGeom>
              <a:avLst/>
              <a:gdLst/>
              <a:ahLst/>
              <a:cxnLst/>
              <a:rect l="l" t="t" r="r" b="b"/>
              <a:pathLst>
                <a:path w="829309" h="603250">
                  <a:moveTo>
                    <a:pt x="0" y="0"/>
                  </a:moveTo>
                  <a:lnTo>
                    <a:pt x="828886" y="602826"/>
                  </a:lnTo>
                </a:path>
              </a:pathLst>
            </a:custGeom>
            <a:ln w="1255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626059" y="5582862"/>
              <a:ext cx="458470" cy="330200"/>
            </a:xfrm>
            <a:custGeom>
              <a:avLst/>
              <a:gdLst/>
              <a:ahLst/>
              <a:cxnLst/>
              <a:rect l="l" t="t" r="r" b="b"/>
              <a:pathLst>
                <a:path w="458470" h="330200">
                  <a:moveTo>
                    <a:pt x="447982" y="30585"/>
                  </a:moveTo>
                  <a:lnTo>
                    <a:pt x="446077" y="30585"/>
                  </a:lnTo>
                  <a:lnTo>
                    <a:pt x="446471" y="42294"/>
                  </a:lnTo>
                  <a:lnTo>
                    <a:pt x="446500" y="43136"/>
                  </a:lnTo>
                  <a:lnTo>
                    <a:pt x="424617" y="43873"/>
                  </a:lnTo>
                  <a:lnTo>
                    <a:pt x="390754" y="66655"/>
                  </a:lnTo>
                  <a:lnTo>
                    <a:pt x="389991" y="70558"/>
                  </a:lnTo>
                  <a:lnTo>
                    <a:pt x="393863" y="76313"/>
                  </a:lnTo>
                  <a:lnTo>
                    <a:pt x="397765" y="77076"/>
                  </a:lnTo>
                  <a:lnTo>
                    <a:pt x="458129" y="36461"/>
                  </a:lnTo>
                  <a:lnTo>
                    <a:pt x="447982" y="30585"/>
                  </a:lnTo>
                  <a:close/>
                </a:path>
                <a:path w="458470" h="330200">
                  <a:moveTo>
                    <a:pt x="424194" y="31321"/>
                  </a:moveTo>
                  <a:lnTo>
                    <a:pt x="411648" y="31743"/>
                  </a:lnTo>
                  <a:lnTo>
                    <a:pt x="395518" y="33370"/>
                  </a:lnTo>
                  <a:lnTo>
                    <a:pt x="396789" y="45864"/>
                  </a:lnTo>
                  <a:lnTo>
                    <a:pt x="412071" y="44295"/>
                  </a:lnTo>
                  <a:lnTo>
                    <a:pt x="424617" y="43873"/>
                  </a:lnTo>
                  <a:lnTo>
                    <a:pt x="434446" y="37259"/>
                  </a:lnTo>
                  <a:lnTo>
                    <a:pt x="424194" y="31321"/>
                  </a:lnTo>
                  <a:close/>
                </a:path>
                <a:path w="458470" h="330200">
                  <a:moveTo>
                    <a:pt x="434446" y="37259"/>
                  </a:moveTo>
                  <a:lnTo>
                    <a:pt x="424617" y="43873"/>
                  </a:lnTo>
                  <a:lnTo>
                    <a:pt x="446500" y="43136"/>
                  </a:lnTo>
                  <a:lnTo>
                    <a:pt x="446471" y="42294"/>
                  </a:lnTo>
                  <a:lnTo>
                    <a:pt x="443141" y="42294"/>
                  </a:lnTo>
                  <a:lnTo>
                    <a:pt x="434446" y="37259"/>
                  </a:lnTo>
                  <a:close/>
                </a:path>
                <a:path w="458470" h="330200">
                  <a:moveTo>
                    <a:pt x="442786" y="31743"/>
                  </a:moveTo>
                  <a:lnTo>
                    <a:pt x="442645" y="31743"/>
                  </a:lnTo>
                  <a:lnTo>
                    <a:pt x="434446" y="37259"/>
                  </a:lnTo>
                  <a:lnTo>
                    <a:pt x="443141" y="42294"/>
                  </a:lnTo>
                  <a:lnTo>
                    <a:pt x="442971" y="37259"/>
                  </a:lnTo>
                  <a:lnTo>
                    <a:pt x="442944" y="36461"/>
                  </a:lnTo>
                  <a:lnTo>
                    <a:pt x="442840" y="33370"/>
                  </a:lnTo>
                  <a:lnTo>
                    <a:pt x="442786" y="31743"/>
                  </a:lnTo>
                  <a:close/>
                </a:path>
                <a:path w="458470" h="330200">
                  <a:moveTo>
                    <a:pt x="446116" y="31743"/>
                  </a:moveTo>
                  <a:lnTo>
                    <a:pt x="442786" y="31743"/>
                  </a:lnTo>
                  <a:lnTo>
                    <a:pt x="443141" y="42294"/>
                  </a:lnTo>
                  <a:lnTo>
                    <a:pt x="446471" y="42294"/>
                  </a:lnTo>
                  <a:lnTo>
                    <a:pt x="446302" y="37259"/>
                  </a:lnTo>
                  <a:lnTo>
                    <a:pt x="446275" y="36461"/>
                  </a:lnTo>
                  <a:lnTo>
                    <a:pt x="446171" y="33370"/>
                  </a:lnTo>
                  <a:lnTo>
                    <a:pt x="446116" y="31743"/>
                  </a:lnTo>
                  <a:close/>
                </a:path>
                <a:path w="458470" h="330200">
                  <a:moveTo>
                    <a:pt x="446077" y="30585"/>
                  </a:moveTo>
                  <a:lnTo>
                    <a:pt x="424194" y="31321"/>
                  </a:lnTo>
                  <a:lnTo>
                    <a:pt x="434446" y="37259"/>
                  </a:lnTo>
                  <a:lnTo>
                    <a:pt x="442645" y="31743"/>
                  </a:lnTo>
                  <a:lnTo>
                    <a:pt x="446116" y="31743"/>
                  </a:lnTo>
                  <a:lnTo>
                    <a:pt x="446077" y="30585"/>
                  </a:lnTo>
                  <a:close/>
                </a:path>
                <a:path w="458470" h="330200">
                  <a:moveTo>
                    <a:pt x="395170" y="0"/>
                  </a:moveTo>
                  <a:lnTo>
                    <a:pt x="391328" y="1023"/>
                  </a:lnTo>
                  <a:lnTo>
                    <a:pt x="387852" y="7025"/>
                  </a:lnTo>
                  <a:lnTo>
                    <a:pt x="388876" y="10867"/>
                  </a:lnTo>
                  <a:lnTo>
                    <a:pt x="424194" y="31321"/>
                  </a:lnTo>
                  <a:lnTo>
                    <a:pt x="446077" y="30585"/>
                  </a:lnTo>
                  <a:lnTo>
                    <a:pt x="447982" y="30585"/>
                  </a:lnTo>
                  <a:lnTo>
                    <a:pt x="395170" y="0"/>
                  </a:lnTo>
                  <a:close/>
                </a:path>
                <a:path w="458470" h="330200">
                  <a:moveTo>
                    <a:pt x="357686" y="37807"/>
                  </a:moveTo>
                  <a:lnTo>
                    <a:pt x="322579" y="43825"/>
                  </a:lnTo>
                  <a:lnTo>
                    <a:pt x="307952" y="47378"/>
                  </a:lnTo>
                  <a:lnTo>
                    <a:pt x="310929" y="59579"/>
                  </a:lnTo>
                  <a:lnTo>
                    <a:pt x="324702" y="56203"/>
                  </a:lnTo>
                  <a:lnTo>
                    <a:pt x="359808" y="50185"/>
                  </a:lnTo>
                  <a:lnTo>
                    <a:pt x="357686" y="37807"/>
                  </a:lnTo>
                  <a:close/>
                </a:path>
                <a:path w="458470" h="330200">
                  <a:moveTo>
                    <a:pt x="271103" y="57087"/>
                  </a:moveTo>
                  <a:lnTo>
                    <a:pt x="240659" y="66864"/>
                  </a:lnTo>
                  <a:lnTo>
                    <a:pt x="223296" y="73877"/>
                  </a:lnTo>
                  <a:lnTo>
                    <a:pt x="228011" y="85517"/>
                  </a:lnTo>
                  <a:lnTo>
                    <a:pt x="244500" y="78821"/>
                  </a:lnTo>
                  <a:lnTo>
                    <a:pt x="274942" y="69044"/>
                  </a:lnTo>
                  <a:lnTo>
                    <a:pt x="271103" y="57087"/>
                  </a:lnTo>
                  <a:close/>
                </a:path>
                <a:path w="458470" h="330200">
                  <a:moveTo>
                    <a:pt x="188432" y="89334"/>
                  </a:moveTo>
                  <a:lnTo>
                    <a:pt x="167695" y="99672"/>
                  </a:lnTo>
                  <a:lnTo>
                    <a:pt x="144096" y="113945"/>
                  </a:lnTo>
                  <a:lnTo>
                    <a:pt x="150604" y="124687"/>
                  </a:lnTo>
                  <a:lnTo>
                    <a:pt x="173299" y="110911"/>
                  </a:lnTo>
                  <a:lnTo>
                    <a:pt x="194035" y="100573"/>
                  </a:lnTo>
                  <a:lnTo>
                    <a:pt x="188432" y="89334"/>
                  </a:lnTo>
                  <a:close/>
                </a:path>
                <a:path w="458470" h="330200">
                  <a:moveTo>
                    <a:pt x="112744" y="135769"/>
                  </a:moveTo>
                  <a:lnTo>
                    <a:pt x="105495" y="141086"/>
                  </a:lnTo>
                  <a:lnTo>
                    <a:pt x="79004" y="164666"/>
                  </a:lnTo>
                  <a:lnTo>
                    <a:pt x="74245" y="169838"/>
                  </a:lnTo>
                  <a:lnTo>
                    <a:pt x="83527" y="178297"/>
                  </a:lnTo>
                  <a:lnTo>
                    <a:pt x="87360" y="174040"/>
                  </a:lnTo>
                  <a:lnTo>
                    <a:pt x="112923" y="151213"/>
                  </a:lnTo>
                  <a:lnTo>
                    <a:pt x="120172" y="145896"/>
                  </a:lnTo>
                  <a:lnTo>
                    <a:pt x="112744" y="135769"/>
                  </a:lnTo>
                  <a:close/>
                </a:path>
                <a:path w="458470" h="330200">
                  <a:moveTo>
                    <a:pt x="49335" y="198983"/>
                  </a:moveTo>
                  <a:lnTo>
                    <a:pt x="36407" y="216875"/>
                  </a:lnTo>
                  <a:lnTo>
                    <a:pt x="22440" y="242216"/>
                  </a:lnTo>
                  <a:lnTo>
                    <a:pt x="33449" y="248260"/>
                  </a:lnTo>
                  <a:lnTo>
                    <a:pt x="46587" y="224231"/>
                  </a:lnTo>
                  <a:lnTo>
                    <a:pt x="59516" y="206338"/>
                  </a:lnTo>
                  <a:lnTo>
                    <a:pt x="49335" y="198983"/>
                  </a:lnTo>
                  <a:close/>
                </a:path>
                <a:path w="458470" h="330200">
                  <a:moveTo>
                    <a:pt x="8298" y="278933"/>
                  </a:moveTo>
                  <a:lnTo>
                    <a:pt x="2180" y="305658"/>
                  </a:lnTo>
                  <a:lnTo>
                    <a:pt x="316" y="321654"/>
                  </a:lnTo>
                  <a:lnTo>
                    <a:pt x="0" y="329537"/>
                  </a:lnTo>
                  <a:lnTo>
                    <a:pt x="12550" y="330012"/>
                  </a:lnTo>
                  <a:lnTo>
                    <a:pt x="12793" y="323077"/>
                  </a:lnTo>
                  <a:lnTo>
                    <a:pt x="14422" y="308460"/>
                  </a:lnTo>
                  <a:lnTo>
                    <a:pt x="20540" y="281735"/>
                  </a:lnTo>
                  <a:lnTo>
                    <a:pt x="8298" y="2789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632027" y="5920739"/>
              <a:ext cx="452120" cy="301625"/>
            </a:xfrm>
            <a:custGeom>
              <a:avLst/>
              <a:gdLst/>
              <a:ahLst/>
              <a:cxnLst/>
              <a:rect l="l" t="t" r="r" b="b"/>
              <a:pathLst>
                <a:path w="452120" h="301625">
                  <a:moveTo>
                    <a:pt x="452120" y="301413"/>
                  </a:moveTo>
                  <a:lnTo>
                    <a:pt x="395407" y="299064"/>
                  </a:lnTo>
                  <a:lnTo>
                    <a:pt x="340796" y="292207"/>
                  </a:lnTo>
                  <a:lnTo>
                    <a:pt x="288711" y="281124"/>
                  </a:lnTo>
                  <a:lnTo>
                    <a:pt x="239576" y="266098"/>
                  </a:lnTo>
                  <a:lnTo>
                    <a:pt x="193814" y="247410"/>
                  </a:lnTo>
                  <a:lnTo>
                    <a:pt x="151849" y="225343"/>
                  </a:lnTo>
                  <a:lnTo>
                    <a:pt x="114104" y="200180"/>
                  </a:lnTo>
                  <a:lnTo>
                    <a:pt x="81004" y="172203"/>
                  </a:lnTo>
                  <a:lnTo>
                    <a:pt x="52972" y="141695"/>
                  </a:lnTo>
                  <a:lnTo>
                    <a:pt x="30432" y="108939"/>
                  </a:lnTo>
                  <a:lnTo>
                    <a:pt x="13808" y="74215"/>
                  </a:lnTo>
                  <a:lnTo>
                    <a:pt x="3522" y="37808"/>
                  </a:lnTo>
                  <a:lnTo>
                    <a:pt x="0" y="0"/>
                  </a:lnTo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100"/>
              </a:spcBef>
            </a:pPr>
            <a:r>
              <a:rPr dirty="0"/>
              <a:t>Vectors</a:t>
            </a:r>
            <a:r>
              <a:rPr spc="-190" dirty="0"/>
              <a:t> </a:t>
            </a:r>
            <a:r>
              <a:rPr dirty="0"/>
              <a:t>as</a:t>
            </a:r>
            <a:r>
              <a:rPr spc="-190" dirty="0"/>
              <a:t> </a:t>
            </a:r>
            <a:r>
              <a:rPr dirty="0"/>
              <a:t>special</a:t>
            </a:r>
            <a:r>
              <a:rPr spc="-175" dirty="0"/>
              <a:t> </a:t>
            </a:r>
            <a:r>
              <a:rPr dirty="0"/>
              <a:t>case</a:t>
            </a:r>
            <a:r>
              <a:rPr spc="-190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-10" dirty="0"/>
              <a:t>matrix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5144" y="2017775"/>
            <a:ext cx="7799705" cy="17284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74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matrices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single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column</a:t>
            </a:r>
            <a:endParaRPr sz="3200">
              <a:latin typeface="Arial"/>
              <a:cs typeface="Arial"/>
            </a:endParaRPr>
          </a:p>
          <a:p>
            <a:pPr marL="363855" indent="-338455">
              <a:lnSpc>
                <a:spcPct val="100000"/>
              </a:lnSpc>
              <a:spcBef>
                <a:spcPts val="65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Often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written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3333CC"/>
                </a:solidFill>
                <a:latin typeface="Arial"/>
                <a:cs typeface="Arial"/>
              </a:rPr>
              <a:t>in-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line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using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transpose</a:t>
            </a:r>
            <a:endParaRPr sz="3200">
              <a:latin typeface="Arial"/>
              <a:cs typeface="Arial"/>
            </a:endParaRPr>
          </a:p>
          <a:p>
            <a:pPr marR="492759" algn="ctr">
              <a:lnSpc>
                <a:spcPct val="100000"/>
              </a:lnSpc>
              <a:spcBef>
                <a:spcPts val="1070"/>
              </a:spcBef>
            </a:pP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[</a:t>
            </a:r>
            <a:r>
              <a:rPr sz="2800" i="1" spc="-10" dirty="0">
                <a:latin typeface="Times New Roman"/>
                <a:cs typeface="Times New Roman"/>
              </a:rPr>
              <a:t>x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800" i="1" spc="-10" dirty="0">
                <a:latin typeface="Times New Roman"/>
                <a:cs typeface="Times New Roman"/>
              </a:rPr>
              <a:t>,..,x</a:t>
            </a:r>
            <a:r>
              <a:rPr sz="2700" i="1" spc="-15" baseline="-18518" dirty="0">
                <a:latin typeface="Times New Roman"/>
                <a:cs typeface="Times New Roman"/>
              </a:rPr>
              <a:t>n</a:t>
            </a:r>
            <a:r>
              <a:rPr sz="2800" spc="-10" dirty="0">
                <a:latin typeface="Times New Roman"/>
                <a:cs typeface="Times New Roman"/>
              </a:rPr>
              <a:t>]</a:t>
            </a:r>
            <a:r>
              <a:rPr sz="2700" spc="-15" baseline="24691" dirty="0">
                <a:latin typeface="Times New Roman"/>
                <a:cs typeface="Times New Roman"/>
              </a:rPr>
              <a:t>T</a:t>
            </a:r>
            <a:endParaRPr sz="2700" baseline="2469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1506" y="4207095"/>
            <a:ext cx="7366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50" dirty="0">
                <a:latin typeface="Cambria"/>
                <a:cs typeface="Cambria"/>
              </a:rPr>
              <a:t>1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3468" y="4463375"/>
            <a:ext cx="7366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50" dirty="0">
                <a:latin typeface="Cambria"/>
                <a:cs typeface="Cambria"/>
              </a:rPr>
              <a:t>2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1238" y="4601916"/>
            <a:ext cx="37465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50" b="1" i="1" spc="85" dirty="0">
                <a:latin typeface="Palatino Linotype"/>
                <a:cs typeface="Palatino Linotype"/>
              </a:rPr>
              <a:t>x</a:t>
            </a:r>
            <a:r>
              <a:rPr sz="1150" b="1" i="1" spc="-60" dirty="0">
                <a:latin typeface="Palatino Linotype"/>
                <a:cs typeface="Palatino Linotype"/>
              </a:rPr>
              <a:t> </a:t>
            </a:r>
            <a:r>
              <a:rPr sz="1150" i="1" dirty="0">
                <a:latin typeface="Times New Roman"/>
                <a:cs typeface="Times New Roman"/>
              </a:rPr>
              <a:t>=</a:t>
            </a:r>
            <a:r>
              <a:rPr sz="1150" i="1" spc="-75" dirty="0">
                <a:latin typeface="Times New Roman"/>
                <a:cs typeface="Times New Roman"/>
              </a:rPr>
              <a:t> </a:t>
            </a:r>
            <a:r>
              <a:rPr sz="1725" spc="-75" baseline="-7246" dirty="0">
                <a:latin typeface="Symbol"/>
                <a:cs typeface="Symbol"/>
              </a:rPr>
              <a:t></a:t>
            </a:r>
            <a:endParaRPr sz="1725" baseline="-7246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48727" y="4043437"/>
            <a:ext cx="51117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414020" algn="l"/>
              </a:tabLst>
            </a:pPr>
            <a:r>
              <a:rPr sz="1150" dirty="0">
                <a:latin typeface="Symbol"/>
                <a:cs typeface="Symbol"/>
              </a:rPr>
              <a:t></a:t>
            </a:r>
            <a:r>
              <a:rPr sz="1150" spc="365" dirty="0">
                <a:latin typeface="Times New Roman"/>
                <a:cs typeface="Times New Roman"/>
              </a:rPr>
              <a:t> </a:t>
            </a:r>
            <a:r>
              <a:rPr sz="1725" i="1" baseline="-16908" dirty="0">
                <a:latin typeface="Calibri"/>
                <a:cs typeface="Calibri"/>
              </a:rPr>
              <a:t>x	</a:t>
            </a:r>
            <a:r>
              <a:rPr sz="1150" spc="-50" dirty="0">
                <a:latin typeface="Symbol"/>
                <a:cs typeface="Symbol"/>
              </a:rPr>
              <a:t>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6827" y="4187864"/>
            <a:ext cx="44767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5920" algn="l"/>
              </a:tabLst>
            </a:pPr>
            <a:r>
              <a:rPr sz="1150" spc="-50" dirty="0">
                <a:latin typeface="Symbol"/>
                <a:cs typeface="Symbol"/>
              </a:rPr>
              <a:t>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6827" y="4332292"/>
            <a:ext cx="44767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5920" algn="l"/>
              </a:tabLst>
            </a:pPr>
            <a:r>
              <a:rPr sz="1150" dirty="0">
                <a:latin typeface="Symbol"/>
                <a:cs typeface="Symbol"/>
              </a:rPr>
              <a:t></a:t>
            </a:r>
            <a:r>
              <a:rPr sz="1150" spc="365" dirty="0">
                <a:latin typeface="Times New Roman"/>
                <a:cs typeface="Times New Roman"/>
              </a:rPr>
              <a:t> </a:t>
            </a:r>
            <a:r>
              <a:rPr sz="1725" i="1" baseline="-4830" dirty="0">
                <a:latin typeface="Calibri"/>
                <a:cs typeface="Calibri"/>
              </a:rPr>
              <a:t>x	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6827" y="4476719"/>
            <a:ext cx="44767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5920" algn="l"/>
              </a:tabLst>
            </a:pPr>
            <a:r>
              <a:rPr sz="1150" spc="-50" dirty="0">
                <a:latin typeface="Symbol"/>
                <a:cs typeface="Symbol"/>
              </a:rPr>
              <a:t>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0643" y="4621147"/>
            <a:ext cx="838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1427" y="4765574"/>
            <a:ext cx="49847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ts val="1260"/>
              </a:lnSpc>
              <a:spcBef>
                <a:spcPts val="135"/>
              </a:spcBef>
              <a:tabLst>
                <a:tab pos="401320" algn="l"/>
              </a:tabLst>
            </a:pPr>
            <a:r>
              <a:rPr sz="1150" spc="-50" dirty="0">
                <a:latin typeface="Symbol"/>
                <a:cs typeface="Symbol"/>
              </a:rPr>
              <a:t>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  <a:p>
            <a:pPr marL="38100">
              <a:lnSpc>
                <a:spcPts val="1260"/>
              </a:lnSpc>
              <a:tabLst>
                <a:tab pos="401320" algn="l"/>
              </a:tabLst>
            </a:pPr>
            <a:r>
              <a:rPr sz="1150" dirty="0">
                <a:latin typeface="Symbol"/>
                <a:cs typeface="Symbol"/>
              </a:rPr>
              <a:t></a:t>
            </a:r>
            <a:r>
              <a:rPr sz="1150" spc="350" dirty="0">
                <a:latin typeface="Times New Roman"/>
                <a:cs typeface="Times New Roman"/>
              </a:rPr>
              <a:t> </a:t>
            </a:r>
            <a:r>
              <a:rPr sz="1725" i="1" baseline="-36231" dirty="0">
                <a:latin typeface="Calibri"/>
                <a:cs typeface="Calibri"/>
              </a:rPr>
              <a:t>x	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6827" y="5060315"/>
            <a:ext cx="44767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9235" algn="l"/>
              </a:tabLst>
            </a:pPr>
            <a:r>
              <a:rPr sz="1725" spc="-75" baseline="2415" dirty="0">
                <a:latin typeface="Symbol"/>
                <a:cs typeface="Symbol"/>
              </a:rPr>
              <a:t></a:t>
            </a:r>
            <a:r>
              <a:rPr sz="1725" baseline="2415" dirty="0">
                <a:latin typeface="Times New Roman"/>
                <a:cs typeface="Times New Roman"/>
              </a:rPr>
              <a:t>	</a:t>
            </a:r>
            <a:r>
              <a:rPr sz="650" i="1" dirty="0">
                <a:latin typeface="Cambria"/>
                <a:cs typeface="Cambria"/>
              </a:rPr>
              <a:t>n</a:t>
            </a:r>
            <a:r>
              <a:rPr sz="650" i="1" spc="245" dirty="0">
                <a:latin typeface="Cambria"/>
                <a:cs typeface="Cambria"/>
              </a:rPr>
              <a:t>  </a:t>
            </a:r>
            <a:r>
              <a:rPr sz="1725" spc="-75" baseline="2415" dirty="0">
                <a:latin typeface="Symbol"/>
                <a:cs typeface="Symbol"/>
              </a:rPr>
              <a:t></a:t>
            </a:r>
            <a:endParaRPr sz="1725" baseline="2415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2444" y="5111288"/>
            <a:ext cx="6953884" cy="143700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R="1149350" algn="ctr">
              <a:lnSpc>
                <a:spcPct val="100000"/>
              </a:lnSpc>
              <a:spcBef>
                <a:spcPts val="690"/>
              </a:spcBef>
              <a:tabLst>
                <a:tab pos="363220" algn="l"/>
              </a:tabLst>
            </a:pPr>
            <a:r>
              <a:rPr sz="1150" spc="-25" dirty="0">
                <a:latin typeface="Symbol"/>
                <a:cs typeface="Symbol"/>
              </a:rPr>
              <a:t></a:t>
            </a:r>
            <a:r>
              <a:rPr sz="1725" spc="-37" baseline="-9661" dirty="0">
                <a:latin typeface="Symbol"/>
                <a:cs typeface="Symbol"/>
              </a:rPr>
              <a:t></a:t>
            </a:r>
            <a:r>
              <a:rPr sz="1725" baseline="-9661" dirty="0">
                <a:latin typeface="Times New Roman"/>
                <a:cs typeface="Times New Roman"/>
              </a:rPr>
              <a:t>	</a:t>
            </a:r>
            <a:r>
              <a:rPr sz="1150" spc="-25" dirty="0">
                <a:latin typeface="Symbol"/>
                <a:cs typeface="Symbol"/>
              </a:rPr>
              <a:t></a:t>
            </a:r>
            <a:r>
              <a:rPr sz="1725" spc="-37" baseline="-9661" dirty="0">
                <a:latin typeface="Symbol"/>
                <a:cs typeface="Symbol"/>
              </a:rPr>
              <a:t></a:t>
            </a:r>
            <a:endParaRPr sz="1725" baseline="-9661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50">
              <a:latin typeface="Symbol"/>
              <a:cs typeface="Symbol"/>
            </a:endParaRPr>
          </a:p>
          <a:p>
            <a:pPr marL="376555" indent="-338455">
              <a:lnSpc>
                <a:spcPts val="3815"/>
              </a:lnSpc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scalar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element</a:t>
            </a:r>
            <a:endParaRPr sz="3200">
              <a:latin typeface="Arial"/>
              <a:cs typeface="Arial"/>
            </a:endParaRPr>
          </a:p>
          <a:p>
            <a:pPr marL="1846580">
              <a:lnSpc>
                <a:spcPts val="3815"/>
              </a:lnSpc>
            </a:pPr>
            <a:r>
              <a:rPr sz="3200" i="1" spc="-20" dirty="0">
                <a:latin typeface="Times New Roman"/>
                <a:cs typeface="Times New Roman"/>
              </a:rPr>
              <a:t>a=a</a:t>
            </a:r>
            <a:r>
              <a:rPr sz="3150" spc="-30" baseline="23809" dirty="0">
                <a:latin typeface="Times New Roman"/>
                <a:cs typeface="Times New Roman"/>
              </a:rPr>
              <a:t>T</a:t>
            </a:r>
            <a:endParaRPr sz="3150" baseline="23809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9638" y="4597991"/>
            <a:ext cx="7556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i="1" spc="-50" dirty="0">
                <a:latin typeface="Cambria"/>
                <a:cs typeface="Cambria"/>
              </a:rPr>
              <a:t>T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14300" y="4601916"/>
            <a:ext cx="106743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latin typeface="Symbol"/>
                <a:cs typeface="Symbol"/>
              </a:rPr>
              <a:t>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b="1" i="1" spc="85" dirty="0">
                <a:latin typeface="Palatino Linotype"/>
                <a:cs typeface="Palatino Linotype"/>
              </a:rPr>
              <a:t>x</a:t>
            </a:r>
            <a:r>
              <a:rPr sz="1150" b="1" i="1" spc="160" dirty="0">
                <a:latin typeface="Palatino Linotype"/>
                <a:cs typeface="Palatino Linotype"/>
              </a:rPr>
              <a:t> 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725" baseline="4830" dirty="0">
                <a:latin typeface="Symbol"/>
                <a:cs typeface="Symbol"/>
              </a:rPr>
              <a:t></a:t>
            </a:r>
            <a:r>
              <a:rPr sz="1150" i="1" dirty="0">
                <a:latin typeface="Calibri"/>
                <a:cs typeface="Calibri"/>
              </a:rPr>
              <a:t>x</a:t>
            </a:r>
            <a:r>
              <a:rPr sz="1150" i="1" spc="310" dirty="0">
                <a:latin typeface="Calibri"/>
                <a:cs typeface="Calibri"/>
              </a:rPr>
              <a:t> </a:t>
            </a:r>
            <a:r>
              <a:rPr sz="1150" i="1" dirty="0">
                <a:latin typeface="Times New Roman"/>
                <a:cs typeface="Times New Roman"/>
              </a:rPr>
              <a:t>,</a:t>
            </a:r>
            <a:r>
              <a:rPr sz="1150" i="1" dirty="0">
                <a:latin typeface="Calibri"/>
                <a:cs typeface="Calibri"/>
              </a:rPr>
              <a:t>x</a:t>
            </a:r>
            <a:r>
              <a:rPr sz="1150" i="1" spc="315" dirty="0">
                <a:latin typeface="Calibri"/>
                <a:cs typeface="Calibri"/>
              </a:rPr>
              <a:t> </a:t>
            </a:r>
            <a:r>
              <a:rPr sz="1150" i="1" spc="-20" dirty="0">
                <a:latin typeface="Times New Roman"/>
                <a:cs typeface="Times New Roman"/>
              </a:rPr>
              <a:t>,..</a:t>
            </a:r>
            <a:r>
              <a:rPr sz="1150" i="1" spc="-20" dirty="0">
                <a:latin typeface="Calibri"/>
                <a:cs typeface="Calibri"/>
              </a:rPr>
              <a:t>x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3219" y="4590142"/>
            <a:ext cx="838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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31570" y="4660786"/>
            <a:ext cx="68516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465" algn="l"/>
              </a:tabLst>
            </a:pPr>
            <a:r>
              <a:rPr sz="1150" dirty="0">
                <a:latin typeface="Symbol"/>
                <a:cs typeface="Symbol"/>
              </a:rPr>
              <a:t></a:t>
            </a:r>
            <a:r>
              <a:rPr sz="1150" spc="320" dirty="0">
                <a:latin typeface="Times New Roman"/>
                <a:cs typeface="Times New Roman"/>
              </a:rPr>
              <a:t> </a:t>
            </a:r>
            <a:r>
              <a:rPr sz="975" baseline="4273" dirty="0">
                <a:latin typeface="Cambria"/>
                <a:cs typeface="Cambria"/>
              </a:rPr>
              <a:t>1</a:t>
            </a:r>
            <a:r>
              <a:rPr sz="975" spc="487" baseline="4273" dirty="0">
                <a:latin typeface="Cambria"/>
                <a:cs typeface="Cambria"/>
              </a:rPr>
              <a:t>  </a:t>
            </a:r>
            <a:r>
              <a:rPr sz="975" spc="-75" baseline="4273" dirty="0">
                <a:latin typeface="Cambria"/>
                <a:cs typeface="Cambria"/>
              </a:rPr>
              <a:t>2</a:t>
            </a:r>
            <a:r>
              <a:rPr sz="975" baseline="4273" dirty="0">
                <a:latin typeface="Cambria"/>
                <a:cs typeface="Cambria"/>
              </a:rPr>
              <a:t>	</a:t>
            </a:r>
            <a:r>
              <a:rPr sz="975" i="1" baseline="4273" dirty="0">
                <a:latin typeface="Cambria"/>
                <a:cs typeface="Cambria"/>
              </a:rPr>
              <a:t>n</a:t>
            </a:r>
            <a:r>
              <a:rPr sz="975" i="1" spc="52" baseline="4273" dirty="0">
                <a:latin typeface="Cambria"/>
                <a:cs typeface="Cambria"/>
              </a:rPr>
              <a:t> </a:t>
            </a:r>
            <a:r>
              <a:rPr sz="1150" spc="-50" dirty="0">
                <a:latin typeface="Symbol"/>
                <a:cs typeface="Symbol"/>
              </a:rPr>
              <a:t></a:t>
            </a:r>
            <a:endParaRPr sz="11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8395" y="691895"/>
            <a:ext cx="36855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Matrix</a:t>
            </a:r>
            <a:r>
              <a:rPr spc="-235" dirty="0"/>
              <a:t> </a:t>
            </a:r>
            <a:r>
              <a:rPr spc="-10" dirty="0"/>
              <a:t>Addition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5723" y="1496568"/>
            <a:ext cx="8752205" cy="197548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51155" marR="5080" indent="-339090">
              <a:lnSpc>
                <a:spcPct val="97500"/>
              </a:lnSpc>
              <a:spcBef>
                <a:spcPts val="19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add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matrices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each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other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they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have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same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shape,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adding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corresponding elements</a:t>
            </a:r>
            <a:endParaRPr sz="3200">
              <a:latin typeface="Arial"/>
              <a:cs typeface="Arial"/>
            </a:endParaRPr>
          </a:p>
          <a:p>
            <a:pPr marL="46482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-3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</a:t>
            </a:r>
            <a:r>
              <a:rPr sz="2800" i="1" spc="-3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have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same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shape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(height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,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width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n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5723" y="4111752"/>
            <a:ext cx="86207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scalar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added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or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multiplied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4813" y="4593335"/>
            <a:ext cx="19653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scalar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723" y="5166360"/>
            <a:ext cx="73012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Less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conventional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notation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used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ML: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844" y="5738367"/>
            <a:ext cx="38531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added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9963" y="6234176"/>
            <a:ext cx="801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har char="•"/>
              <a:tabLst>
                <a:tab pos="23749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Called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broadcasting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since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vector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b</a:t>
            </a:r>
            <a:r>
              <a:rPr sz="2400" b="1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added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each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row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7830" y="3580077"/>
            <a:ext cx="2640965" cy="46164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350"/>
              </a:spcBef>
            </a:pPr>
            <a:r>
              <a:rPr sz="1950" i="1" spc="335" dirty="0">
                <a:latin typeface="Cambria"/>
                <a:cs typeface="Cambria"/>
              </a:rPr>
              <a:t>C</a:t>
            </a:r>
            <a:r>
              <a:rPr sz="1950" i="1" spc="-50" dirty="0">
                <a:latin typeface="Cambria"/>
                <a:cs typeface="Cambria"/>
              </a:rPr>
              <a:t> </a:t>
            </a:r>
            <a:r>
              <a:rPr sz="1950" i="1" spc="290" dirty="0">
                <a:latin typeface="Cambria"/>
                <a:cs typeface="Cambria"/>
              </a:rPr>
              <a:t>=A</a:t>
            </a:r>
            <a:r>
              <a:rPr sz="1950" spc="290" dirty="0">
                <a:latin typeface="Cambria"/>
                <a:cs typeface="Cambria"/>
              </a:rPr>
              <a:t>+</a:t>
            </a:r>
            <a:r>
              <a:rPr sz="1950" i="1" spc="290" dirty="0">
                <a:latin typeface="Cambria"/>
                <a:cs typeface="Cambria"/>
              </a:rPr>
              <a:t>B</a:t>
            </a:r>
            <a:r>
              <a:rPr sz="1950" i="1" spc="-30" dirty="0">
                <a:latin typeface="Cambria"/>
                <a:cs typeface="Cambria"/>
              </a:rPr>
              <a:t> </a:t>
            </a:r>
            <a:r>
              <a:rPr sz="1950" spc="120" dirty="0">
                <a:latin typeface="Symbol"/>
                <a:cs typeface="Symbol"/>
              </a:rPr>
              <a:t></a:t>
            </a:r>
            <a:r>
              <a:rPr sz="1950" i="1" spc="120" dirty="0">
                <a:latin typeface="Cambria"/>
                <a:cs typeface="Cambria"/>
              </a:rPr>
              <a:t>C</a:t>
            </a:r>
            <a:r>
              <a:rPr sz="1650" i="1" spc="179" baseline="-35353" dirty="0">
                <a:latin typeface="Cambria"/>
                <a:cs typeface="Cambria"/>
              </a:rPr>
              <a:t>i,j</a:t>
            </a:r>
            <a:r>
              <a:rPr sz="1650" i="1" spc="262" baseline="-35353" dirty="0">
                <a:latin typeface="Cambria"/>
                <a:cs typeface="Cambria"/>
              </a:rPr>
              <a:t> </a:t>
            </a:r>
            <a:r>
              <a:rPr sz="1950" i="1" spc="459" dirty="0">
                <a:latin typeface="Cambria"/>
                <a:cs typeface="Cambria"/>
              </a:rPr>
              <a:t>=</a:t>
            </a:r>
            <a:r>
              <a:rPr sz="1950" i="1" spc="-110" dirty="0">
                <a:latin typeface="Cambria"/>
                <a:cs typeface="Cambria"/>
              </a:rPr>
              <a:t> </a:t>
            </a:r>
            <a:r>
              <a:rPr sz="1950" i="1" spc="65" dirty="0">
                <a:latin typeface="Cambria"/>
                <a:cs typeface="Cambria"/>
              </a:rPr>
              <a:t>A</a:t>
            </a:r>
            <a:r>
              <a:rPr sz="1650" i="1" spc="97" baseline="-35353" dirty="0">
                <a:latin typeface="Cambria"/>
                <a:cs typeface="Cambria"/>
              </a:rPr>
              <a:t>i,j</a:t>
            </a:r>
            <a:r>
              <a:rPr sz="1650" i="1" spc="30" baseline="-35353" dirty="0">
                <a:latin typeface="Cambria"/>
                <a:cs typeface="Cambria"/>
              </a:rPr>
              <a:t> </a:t>
            </a:r>
            <a:r>
              <a:rPr sz="1950" spc="45" dirty="0">
                <a:latin typeface="Cambria"/>
                <a:cs typeface="Cambria"/>
              </a:rPr>
              <a:t>+</a:t>
            </a:r>
            <a:r>
              <a:rPr sz="1950" i="1" spc="45" dirty="0">
                <a:latin typeface="Cambria"/>
                <a:cs typeface="Cambria"/>
              </a:rPr>
              <a:t>B</a:t>
            </a:r>
            <a:r>
              <a:rPr sz="1650" i="1" spc="67" baseline="-35353" dirty="0">
                <a:latin typeface="Cambria"/>
                <a:cs typeface="Cambria"/>
              </a:rPr>
              <a:t>i,j</a:t>
            </a:r>
            <a:endParaRPr sz="1650" baseline="-35353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16010" y="4710377"/>
            <a:ext cx="2681605" cy="46164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350"/>
              </a:spcBef>
            </a:pPr>
            <a:r>
              <a:rPr sz="1950" i="1" spc="265" dirty="0">
                <a:latin typeface="Calibri"/>
                <a:cs typeface="Calibri"/>
              </a:rPr>
              <a:t>D=aB</a:t>
            </a:r>
            <a:r>
              <a:rPr sz="1950" spc="265" dirty="0">
                <a:latin typeface="Cambria"/>
                <a:cs typeface="Cambria"/>
              </a:rPr>
              <a:t>+</a:t>
            </a:r>
            <a:r>
              <a:rPr sz="1950" i="1" spc="265" dirty="0">
                <a:latin typeface="Calibri"/>
                <a:cs typeface="Calibri"/>
              </a:rPr>
              <a:t>c</a:t>
            </a:r>
            <a:r>
              <a:rPr sz="1950" i="1" spc="-35" dirty="0">
                <a:latin typeface="Calibri"/>
                <a:cs typeface="Calibri"/>
              </a:rPr>
              <a:t> </a:t>
            </a:r>
            <a:r>
              <a:rPr sz="1950" spc="-25" dirty="0">
                <a:latin typeface="Symbol"/>
                <a:cs typeface="Symbol"/>
              </a:rPr>
              <a:t></a:t>
            </a:r>
            <a:r>
              <a:rPr sz="1950" spc="-260" dirty="0">
                <a:latin typeface="Times New Roman"/>
                <a:cs typeface="Times New Roman"/>
              </a:rPr>
              <a:t> </a:t>
            </a:r>
            <a:r>
              <a:rPr sz="1950" i="1" spc="100" dirty="0">
                <a:latin typeface="Calibri"/>
                <a:cs typeface="Calibri"/>
              </a:rPr>
              <a:t>D</a:t>
            </a:r>
            <a:r>
              <a:rPr sz="1650" i="1" spc="150" baseline="-35353" dirty="0">
                <a:latin typeface="Calibri"/>
                <a:cs typeface="Calibri"/>
              </a:rPr>
              <a:t>i,j</a:t>
            </a:r>
            <a:r>
              <a:rPr sz="1650" i="1" spc="284" baseline="-35353" dirty="0">
                <a:latin typeface="Calibri"/>
                <a:cs typeface="Calibri"/>
              </a:rPr>
              <a:t> </a:t>
            </a:r>
            <a:r>
              <a:rPr sz="1950" i="1" spc="190" dirty="0">
                <a:latin typeface="Calibri"/>
                <a:cs typeface="Calibri"/>
              </a:rPr>
              <a:t>=aB</a:t>
            </a:r>
            <a:r>
              <a:rPr sz="1650" i="1" spc="284" baseline="-35353" dirty="0">
                <a:latin typeface="Calibri"/>
                <a:cs typeface="Calibri"/>
              </a:rPr>
              <a:t>i,j</a:t>
            </a:r>
            <a:r>
              <a:rPr sz="1650" i="1" spc="30" baseline="-35353" dirty="0">
                <a:latin typeface="Calibri"/>
                <a:cs typeface="Calibri"/>
              </a:rPr>
              <a:t> </a:t>
            </a:r>
            <a:r>
              <a:rPr sz="1950" spc="-25" dirty="0">
                <a:latin typeface="Cambria"/>
                <a:cs typeface="Cambria"/>
              </a:rPr>
              <a:t>+</a:t>
            </a:r>
            <a:r>
              <a:rPr sz="1950" i="1" spc="-25" dirty="0">
                <a:latin typeface="Calibri"/>
                <a:cs typeface="Calibri"/>
              </a:rPr>
              <a:t>c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1807" y="5867652"/>
            <a:ext cx="217360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50" i="1" spc="310" dirty="0">
                <a:latin typeface="Calibri"/>
                <a:cs typeface="Calibri"/>
              </a:rPr>
              <a:t>C</a:t>
            </a:r>
            <a:r>
              <a:rPr sz="1650" i="1" spc="-45" dirty="0">
                <a:latin typeface="Calibri"/>
                <a:cs typeface="Calibri"/>
              </a:rPr>
              <a:t> </a:t>
            </a:r>
            <a:r>
              <a:rPr sz="1650" i="1" spc="220" dirty="0">
                <a:latin typeface="Calibri"/>
                <a:cs typeface="Calibri"/>
              </a:rPr>
              <a:t>=A</a:t>
            </a:r>
            <a:r>
              <a:rPr sz="1650" spc="220" dirty="0">
                <a:latin typeface="Cambria"/>
                <a:cs typeface="Cambria"/>
              </a:rPr>
              <a:t>+</a:t>
            </a:r>
            <a:r>
              <a:rPr sz="1650" b="1" i="1" spc="220" dirty="0">
                <a:latin typeface="Calibri"/>
                <a:cs typeface="Calibri"/>
              </a:rPr>
              <a:t>b</a:t>
            </a:r>
            <a:r>
              <a:rPr sz="1650" b="1" i="1" spc="-50" dirty="0">
                <a:latin typeface="Calibri"/>
                <a:cs typeface="Calibri"/>
              </a:rPr>
              <a:t> </a:t>
            </a:r>
            <a:r>
              <a:rPr sz="1650" spc="110" dirty="0">
                <a:latin typeface="Symbol"/>
                <a:cs typeface="Symbol"/>
              </a:rPr>
              <a:t></a:t>
            </a:r>
            <a:r>
              <a:rPr sz="1650" i="1" spc="110" dirty="0">
                <a:latin typeface="Calibri"/>
                <a:cs typeface="Calibri"/>
              </a:rPr>
              <a:t>C</a:t>
            </a:r>
            <a:r>
              <a:rPr sz="1425" i="1" spc="165" baseline="-35087" dirty="0">
                <a:latin typeface="Calibri"/>
                <a:cs typeface="Calibri"/>
              </a:rPr>
              <a:t>i,j</a:t>
            </a:r>
            <a:r>
              <a:rPr sz="1425" i="1" spc="217" baseline="-35087" dirty="0">
                <a:latin typeface="Calibri"/>
                <a:cs typeface="Calibri"/>
              </a:rPr>
              <a:t> </a:t>
            </a:r>
            <a:r>
              <a:rPr sz="1650" i="1" spc="195" dirty="0">
                <a:latin typeface="Calibri"/>
                <a:cs typeface="Calibri"/>
              </a:rPr>
              <a:t>=A</a:t>
            </a:r>
            <a:r>
              <a:rPr sz="1425" i="1" spc="292" baseline="-35087" dirty="0">
                <a:latin typeface="Calibri"/>
                <a:cs typeface="Calibri"/>
              </a:rPr>
              <a:t>i,j</a:t>
            </a:r>
            <a:r>
              <a:rPr sz="1425" i="1" spc="60" baseline="-35087" dirty="0">
                <a:latin typeface="Calibri"/>
                <a:cs typeface="Calibri"/>
              </a:rPr>
              <a:t> </a:t>
            </a:r>
            <a:r>
              <a:rPr sz="1650" i="1" spc="135" dirty="0">
                <a:latin typeface="Calibri"/>
                <a:cs typeface="Calibri"/>
              </a:rPr>
              <a:t>+b</a:t>
            </a:r>
            <a:r>
              <a:rPr sz="1425" i="1" spc="202" baseline="-35087" dirty="0">
                <a:latin typeface="Calibri"/>
                <a:cs typeface="Calibri"/>
              </a:rPr>
              <a:t>j</a:t>
            </a:r>
            <a:endParaRPr sz="1425" baseline="-3508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342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Multiplying</a:t>
            </a:r>
            <a:r>
              <a:rPr spc="-190" dirty="0"/>
              <a:t> </a:t>
            </a:r>
            <a:r>
              <a:rPr spc="-10" dirty="0"/>
              <a:t>Matrices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5723" y="2084832"/>
            <a:ext cx="8773795" cy="1926589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51155" marR="5080" indent="-339090">
              <a:lnSpc>
                <a:spcPct val="101899"/>
              </a:lnSpc>
              <a:spcBef>
                <a:spcPts val="2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2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i="1" dirty="0">
                <a:latin typeface="Times New Roman"/>
                <a:cs typeface="Times New Roman"/>
              </a:rPr>
              <a:t>=</a:t>
            </a:r>
            <a:r>
              <a:rPr sz="2400" b="1" i="1" dirty="0">
                <a:latin typeface="Times New Roman"/>
                <a:cs typeface="Times New Roman"/>
              </a:rPr>
              <a:t>AB</a:t>
            </a:r>
            <a:r>
              <a:rPr sz="2400" b="1" i="1" spc="-6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defined,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i="1" spc="5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have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same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no.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columns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no.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rows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b="1" i="1" spc="-5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464820">
              <a:lnSpc>
                <a:spcPts val="3325"/>
              </a:lnSpc>
              <a:spcBef>
                <a:spcPts val="57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5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i="1" spc="10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shape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i="1" dirty="0">
                <a:latin typeface="Times New Roman"/>
                <a:cs typeface="Times New Roman"/>
              </a:rPr>
              <a:t>n</a:t>
            </a:r>
            <a:r>
              <a:rPr sz="2800" i="1" spc="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i="1" spc="10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shape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i="1" dirty="0">
                <a:latin typeface="Times New Roman"/>
                <a:cs typeface="Times New Roman"/>
              </a:rPr>
              <a:t>p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then</a:t>
            </a:r>
            <a:endParaRPr sz="2800">
              <a:latin typeface="Arial"/>
              <a:cs typeface="Arial"/>
            </a:endParaRPr>
          </a:p>
          <a:p>
            <a:pPr marL="747395">
              <a:lnSpc>
                <a:spcPts val="3325"/>
              </a:lnSpc>
            </a:pPr>
            <a:r>
              <a:rPr sz="2800" i="1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i="1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336600"/>
                </a:solidFill>
                <a:latin typeface="Arial"/>
                <a:cs typeface="Arial"/>
              </a:rPr>
              <a:t>product</a:t>
            </a:r>
            <a:r>
              <a:rPr sz="2800" i="1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C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shape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m</a:t>
            </a:r>
            <a:r>
              <a:rPr sz="2800" spc="-25" dirty="0">
                <a:latin typeface="Arial"/>
                <a:cs typeface="Arial"/>
              </a:rPr>
              <a:t>x</a:t>
            </a:r>
            <a:r>
              <a:rPr sz="2800" i="1" spc="-25" dirty="0"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7844" y="5223255"/>
            <a:ext cx="8300720" cy="166116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94005" marR="415290" indent="-281305">
              <a:lnSpc>
                <a:spcPts val="3290"/>
              </a:lnSpc>
              <a:spcBef>
                <a:spcPts val="265"/>
              </a:spcBef>
              <a:buChar char="–"/>
              <a:tabLst>
                <a:tab pos="29527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Note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that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standard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product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two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matrices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is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not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just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product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two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individual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elements</a:t>
            </a:r>
            <a:endParaRPr sz="2800">
              <a:latin typeface="Arial"/>
              <a:cs typeface="Arial"/>
            </a:endParaRPr>
          </a:p>
          <a:p>
            <a:pPr marL="689610" marR="5080" lvl="1" indent="-224790">
              <a:lnSpc>
                <a:spcPts val="2810"/>
              </a:lnSpc>
              <a:spcBef>
                <a:spcPts val="600"/>
              </a:spcBef>
              <a:buChar char="•"/>
              <a:tabLst>
                <a:tab pos="69088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Such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product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does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exist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called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660066"/>
                </a:solidFill>
                <a:latin typeface="Arial"/>
                <a:cs typeface="Arial"/>
              </a:rPr>
              <a:t>element-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wise 	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product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or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Hadamard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product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spc="170" dirty="0">
                <a:latin typeface="Times New Roman"/>
                <a:cs typeface="Times New Roman"/>
              </a:rPr>
              <a:t>A</a:t>
            </a:r>
            <a:r>
              <a:rPr sz="2400" spc="170" dirty="0">
                <a:latin typeface="Meiryo UI"/>
                <a:cs typeface="Meiryo UI"/>
              </a:rPr>
              <a:t>0</a:t>
            </a:r>
            <a:r>
              <a:rPr sz="2400" b="1" i="1" spc="17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67092" y="4252360"/>
            <a:ext cx="2829560" cy="75628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90"/>
              </a:spcBef>
            </a:pPr>
            <a:r>
              <a:rPr sz="2000" i="1" spc="375" dirty="0">
                <a:latin typeface="Cambria"/>
                <a:cs typeface="Cambria"/>
              </a:rPr>
              <a:t>C</a:t>
            </a:r>
            <a:r>
              <a:rPr sz="2000" i="1" spc="-40" dirty="0">
                <a:latin typeface="Cambria"/>
                <a:cs typeface="Cambria"/>
              </a:rPr>
              <a:t> </a:t>
            </a:r>
            <a:r>
              <a:rPr sz="2000" i="1" spc="450" dirty="0">
                <a:latin typeface="Cambria"/>
                <a:cs typeface="Cambria"/>
              </a:rPr>
              <a:t>=AB</a:t>
            </a:r>
            <a:r>
              <a:rPr sz="2000" i="1" spc="-15" dirty="0">
                <a:latin typeface="Cambria"/>
                <a:cs typeface="Cambria"/>
              </a:rPr>
              <a:t> </a:t>
            </a:r>
            <a:r>
              <a:rPr sz="2000" spc="140" dirty="0">
                <a:latin typeface="Symbol"/>
                <a:cs typeface="Symbol"/>
              </a:rPr>
              <a:t></a:t>
            </a:r>
            <a:r>
              <a:rPr sz="2000" i="1" spc="140" dirty="0">
                <a:latin typeface="Cambria"/>
                <a:cs typeface="Cambria"/>
              </a:rPr>
              <a:t>C</a:t>
            </a:r>
            <a:r>
              <a:rPr sz="1725" i="1" spc="209" baseline="-36231" dirty="0">
                <a:latin typeface="Cambria"/>
                <a:cs typeface="Cambria"/>
              </a:rPr>
              <a:t>i,j</a:t>
            </a:r>
            <a:r>
              <a:rPr sz="1725" i="1" spc="284" baseline="-36231" dirty="0">
                <a:latin typeface="Cambria"/>
                <a:cs typeface="Cambria"/>
              </a:rPr>
              <a:t> </a:t>
            </a:r>
            <a:r>
              <a:rPr sz="2000" i="1" spc="484" dirty="0">
                <a:latin typeface="Cambria"/>
                <a:cs typeface="Cambria"/>
              </a:rPr>
              <a:t>=</a:t>
            </a:r>
            <a:r>
              <a:rPr sz="2000" i="1" spc="-35" dirty="0">
                <a:latin typeface="Cambria"/>
                <a:cs typeface="Cambria"/>
              </a:rPr>
              <a:t> </a:t>
            </a:r>
            <a:r>
              <a:rPr sz="4575" spc="75" baseline="-7285" dirty="0">
                <a:latin typeface="Symbol"/>
                <a:cs typeface="Symbol"/>
              </a:rPr>
              <a:t></a:t>
            </a:r>
            <a:r>
              <a:rPr sz="2000" i="1" spc="50" dirty="0">
                <a:latin typeface="Cambria"/>
                <a:cs typeface="Cambria"/>
              </a:rPr>
              <a:t>A</a:t>
            </a:r>
            <a:r>
              <a:rPr sz="1725" i="1" spc="75" baseline="-36231" dirty="0">
                <a:latin typeface="Cambria"/>
                <a:cs typeface="Cambria"/>
              </a:rPr>
              <a:t>i,k</a:t>
            </a:r>
            <a:r>
              <a:rPr sz="2000" i="1" spc="50" dirty="0">
                <a:latin typeface="Cambria"/>
                <a:cs typeface="Cambria"/>
              </a:rPr>
              <a:t>B</a:t>
            </a:r>
            <a:r>
              <a:rPr sz="1725" i="1" spc="75" baseline="-36231" dirty="0">
                <a:latin typeface="Cambria"/>
                <a:cs typeface="Cambria"/>
              </a:rPr>
              <a:t>k,j</a:t>
            </a:r>
            <a:endParaRPr sz="1725" baseline="-36231">
              <a:latin typeface="Cambria"/>
              <a:cs typeface="Cambria"/>
            </a:endParaRPr>
          </a:p>
          <a:p>
            <a:pPr marR="807085" algn="r">
              <a:lnSpc>
                <a:spcPct val="100000"/>
              </a:lnSpc>
              <a:spcBef>
                <a:spcPts val="219"/>
              </a:spcBef>
            </a:pPr>
            <a:r>
              <a:rPr sz="1150" i="1" spc="-50" dirty="0">
                <a:latin typeface="Cambria"/>
                <a:cs typeface="Cambria"/>
              </a:rPr>
              <a:t>k</a:t>
            </a:r>
            <a:endParaRPr sz="1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Multiplying</a:t>
            </a:r>
            <a:r>
              <a:rPr spc="-190" dirty="0"/>
              <a:t> </a:t>
            </a:r>
            <a:r>
              <a:rPr spc="-10" dirty="0"/>
              <a:t>Vectors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2100072"/>
            <a:ext cx="8489315" cy="25190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3855" marR="100965" indent="-339090">
              <a:lnSpc>
                <a:spcPts val="3700"/>
              </a:lnSpc>
              <a:spcBef>
                <a:spcPts val="34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Dot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between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two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y</a:t>
            </a:r>
            <a:r>
              <a:rPr sz="3200" b="1" i="1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of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same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dimensionality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25" dirty="0">
                <a:latin typeface="Times New Roman"/>
                <a:cs typeface="Times New Roman"/>
              </a:rPr>
              <a:t>x</a:t>
            </a:r>
            <a:r>
              <a:rPr sz="3150" spc="-37" baseline="23809" dirty="0">
                <a:latin typeface="Times New Roman"/>
                <a:cs typeface="Times New Roman"/>
              </a:rPr>
              <a:t>T</a:t>
            </a:r>
            <a:r>
              <a:rPr sz="3200" b="1" i="1" spc="-25" dirty="0">
                <a:latin typeface="Times New Roman"/>
                <a:cs typeface="Times New Roman"/>
              </a:rPr>
              <a:t>y</a:t>
            </a:r>
            <a:endParaRPr sz="3200">
              <a:latin typeface="Times New Roman"/>
              <a:cs typeface="Times New Roman"/>
            </a:endParaRPr>
          </a:p>
          <a:p>
            <a:pPr marL="363855" marR="17780" indent="-339090">
              <a:lnSpc>
                <a:spcPct val="97800"/>
              </a:lnSpc>
              <a:spcBef>
                <a:spcPts val="72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think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C=AB</a:t>
            </a:r>
            <a:r>
              <a:rPr sz="2800" i="1" spc="-90" dirty="0"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3333CC"/>
                </a:solidFill>
                <a:latin typeface="Arial"/>
                <a:cs typeface="Arial"/>
              </a:rPr>
              <a:t>as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computing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C</a:t>
            </a:r>
            <a:r>
              <a:rPr sz="2700" i="1" baseline="-18518" dirty="0">
                <a:latin typeface="Times New Roman"/>
                <a:cs typeface="Times New Roman"/>
              </a:rPr>
              <a:t>ij</a:t>
            </a:r>
            <a:r>
              <a:rPr sz="2700" i="1" spc="442" baseline="-18518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dot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row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</a:t>
            </a:r>
            <a:r>
              <a:rPr sz="3200" i="1" spc="-7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</a:t>
            </a:r>
            <a:r>
              <a:rPr sz="3200" i="1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and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column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j</a:t>
            </a:r>
            <a:r>
              <a:rPr sz="3200" i="1" spc="-13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1270">
              <a:lnSpc>
                <a:spcPct val="100000"/>
              </a:lnSpc>
              <a:spcBef>
                <a:spcPts val="100"/>
              </a:spcBef>
            </a:pPr>
            <a:r>
              <a:rPr dirty="0"/>
              <a:t>Matrix</a:t>
            </a:r>
            <a:r>
              <a:rPr spc="-275" dirty="0"/>
              <a:t> </a:t>
            </a:r>
            <a:r>
              <a:rPr dirty="0"/>
              <a:t>Product</a:t>
            </a:r>
            <a:r>
              <a:rPr spc="-260" dirty="0"/>
              <a:t> </a:t>
            </a:r>
            <a:r>
              <a:rPr spc="-10" dirty="0"/>
              <a:t>Properties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3023" y="2017775"/>
            <a:ext cx="8399145" cy="38569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745"/>
              </a:spcBef>
              <a:buChar char="•"/>
              <a:tabLst>
                <a:tab pos="3638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Distributivity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over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addition:</a:t>
            </a:r>
            <a:r>
              <a:rPr sz="3200" spc="-1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(</a:t>
            </a:r>
            <a:r>
              <a:rPr sz="3200" i="1" spc="-10" dirty="0">
                <a:latin typeface="Times New Roman"/>
                <a:cs typeface="Times New Roman"/>
              </a:rPr>
              <a:t>B</a:t>
            </a:r>
            <a:r>
              <a:rPr sz="3200" spc="-10" dirty="0">
                <a:latin typeface="Times New Roman"/>
                <a:cs typeface="Times New Roman"/>
              </a:rPr>
              <a:t>+</a:t>
            </a:r>
            <a:r>
              <a:rPr sz="3200" i="1" spc="-10" dirty="0">
                <a:latin typeface="Times New Roman"/>
                <a:cs typeface="Times New Roman"/>
              </a:rPr>
              <a:t>C</a:t>
            </a:r>
            <a:r>
              <a:rPr sz="3200" spc="-10" dirty="0">
                <a:latin typeface="Times New Roman"/>
                <a:cs typeface="Times New Roman"/>
              </a:rPr>
              <a:t>)=</a:t>
            </a:r>
            <a:r>
              <a:rPr sz="3200" i="1" spc="-10" dirty="0">
                <a:latin typeface="Times New Roman"/>
                <a:cs typeface="Times New Roman"/>
              </a:rPr>
              <a:t>AB</a:t>
            </a:r>
            <a:r>
              <a:rPr sz="3200" spc="-10" dirty="0">
                <a:latin typeface="Times New Roman"/>
                <a:cs typeface="Times New Roman"/>
              </a:rPr>
              <a:t>+</a:t>
            </a:r>
            <a:r>
              <a:rPr sz="3200" i="1" spc="-10" dirty="0">
                <a:latin typeface="Times New Roman"/>
                <a:cs typeface="Times New Roman"/>
              </a:rPr>
              <a:t>AC</a:t>
            </a:r>
            <a:endParaRPr sz="3200">
              <a:latin typeface="Times New Roman"/>
              <a:cs typeface="Times New Roman"/>
            </a:endParaRPr>
          </a:p>
          <a:p>
            <a:pPr marL="363855" indent="-338455">
              <a:lnSpc>
                <a:spcPct val="100000"/>
              </a:lnSpc>
              <a:spcBef>
                <a:spcPts val="650"/>
              </a:spcBef>
              <a:buChar char="•"/>
              <a:tabLst>
                <a:tab pos="3638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Associativity:</a:t>
            </a:r>
            <a:r>
              <a:rPr sz="32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(</a:t>
            </a:r>
            <a:r>
              <a:rPr sz="3200" i="1" spc="-10" dirty="0">
                <a:latin typeface="Times New Roman"/>
                <a:cs typeface="Times New Roman"/>
              </a:rPr>
              <a:t>BC</a:t>
            </a:r>
            <a:r>
              <a:rPr sz="3200" spc="-10" dirty="0">
                <a:latin typeface="Times New Roman"/>
                <a:cs typeface="Times New Roman"/>
              </a:rPr>
              <a:t>)=(</a:t>
            </a:r>
            <a:r>
              <a:rPr sz="3200" i="1" spc="-10" dirty="0">
                <a:latin typeface="Times New Roman"/>
                <a:cs typeface="Times New Roman"/>
              </a:rPr>
              <a:t>AB</a:t>
            </a:r>
            <a:r>
              <a:rPr sz="3200" spc="-10" dirty="0">
                <a:latin typeface="Times New Roman"/>
                <a:cs typeface="Times New Roman"/>
              </a:rPr>
              <a:t>)</a:t>
            </a:r>
            <a:r>
              <a:rPr sz="3200" i="1" spc="-1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 marL="363855" indent="-338455">
              <a:lnSpc>
                <a:spcPct val="100000"/>
              </a:lnSpc>
              <a:spcBef>
                <a:spcPts val="67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Not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commutative: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AB=BA</a:t>
            </a:r>
            <a:r>
              <a:rPr sz="3200" i="1" spc="-12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not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always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true</a:t>
            </a:r>
            <a:endParaRPr sz="3200">
              <a:latin typeface="Arial"/>
              <a:cs typeface="Arial"/>
            </a:endParaRPr>
          </a:p>
          <a:p>
            <a:pPr marL="363855" indent="-338455">
              <a:lnSpc>
                <a:spcPts val="3829"/>
              </a:lnSpc>
              <a:spcBef>
                <a:spcPts val="74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Dot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between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commutative:</a:t>
            </a:r>
            <a:endParaRPr sz="3200">
              <a:latin typeface="Arial"/>
              <a:cs typeface="Arial"/>
            </a:endParaRPr>
          </a:p>
          <a:p>
            <a:pPr marL="363855">
              <a:lnSpc>
                <a:spcPts val="3829"/>
              </a:lnSpc>
            </a:pPr>
            <a:r>
              <a:rPr sz="3200" b="1" i="1" spc="-10" dirty="0">
                <a:latin typeface="Times New Roman"/>
                <a:cs typeface="Times New Roman"/>
              </a:rPr>
              <a:t>x</a:t>
            </a:r>
            <a:r>
              <a:rPr sz="3150" spc="-15" baseline="23809" dirty="0">
                <a:latin typeface="Times New Roman"/>
                <a:cs typeface="Times New Roman"/>
              </a:rPr>
              <a:t>T</a:t>
            </a:r>
            <a:r>
              <a:rPr sz="3200" b="1" i="1" spc="-10" dirty="0">
                <a:latin typeface="Times New Roman"/>
                <a:cs typeface="Times New Roman"/>
              </a:rPr>
              <a:t>y</a:t>
            </a:r>
            <a:r>
              <a:rPr sz="3200" spc="-10" dirty="0">
                <a:latin typeface="Times New Roman"/>
                <a:cs typeface="Times New Roman"/>
              </a:rPr>
              <a:t>=</a:t>
            </a:r>
            <a:r>
              <a:rPr sz="3200" b="1" i="1" spc="-10" dirty="0">
                <a:latin typeface="Times New Roman"/>
                <a:cs typeface="Times New Roman"/>
              </a:rPr>
              <a:t>y</a:t>
            </a:r>
            <a:r>
              <a:rPr sz="3150" spc="-15" baseline="23809" dirty="0">
                <a:latin typeface="Times New Roman"/>
                <a:cs typeface="Times New Roman"/>
              </a:rPr>
              <a:t>T</a:t>
            </a:r>
            <a:r>
              <a:rPr sz="3200" b="1" i="1" spc="-10" dirty="0">
                <a:latin typeface="Times New Roman"/>
                <a:cs typeface="Times New Roman"/>
              </a:rPr>
              <a:t>x</a:t>
            </a:r>
            <a:endParaRPr sz="3200">
              <a:latin typeface="Times New Roman"/>
              <a:cs typeface="Times New Roman"/>
            </a:endParaRPr>
          </a:p>
          <a:p>
            <a:pPr marL="363855" marR="328295" indent="-339090">
              <a:lnSpc>
                <a:spcPts val="3790"/>
              </a:lnSpc>
              <a:spcBef>
                <a:spcPts val="80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Transpose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simple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form: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(</a:t>
            </a:r>
            <a:r>
              <a:rPr sz="3200" i="1" spc="-10" dirty="0">
                <a:latin typeface="Times New Roman"/>
                <a:cs typeface="Times New Roman"/>
              </a:rPr>
              <a:t>AB</a:t>
            </a:r>
            <a:r>
              <a:rPr sz="3200" spc="-10" dirty="0">
                <a:latin typeface="Times New Roman"/>
                <a:cs typeface="Times New Roman"/>
              </a:rPr>
              <a:t>)</a:t>
            </a:r>
            <a:r>
              <a:rPr sz="3150" spc="-15" baseline="23809" dirty="0">
                <a:latin typeface="Times New Roman"/>
                <a:cs typeface="Times New Roman"/>
              </a:rPr>
              <a:t>T</a:t>
            </a:r>
            <a:r>
              <a:rPr sz="3200" spc="-10" dirty="0">
                <a:latin typeface="Times New Roman"/>
                <a:cs typeface="Times New Roman"/>
              </a:rPr>
              <a:t>=</a:t>
            </a:r>
            <a:r>
              <a:rPr sz="3200" i="1" spc="-10" dirty="0">
                <a:latin typeface="Times New Roman"/>
                <a:cs typeface="Times New Roman"/>
              </a:rPr>
              <a:t>B</a:t>
            </a:r>
            <a:r>
              <a:rPr sz="3150" spc="-15" baseline="23809" dirty="0">
                <a:latin typeface="Times New Roman"/>
                <a:cs typeface="Times New Roman"/>
              </a:rPr>
              <a:t>T</a:t>
            </a:r>
            <a:r>
              <a:rPr sz="3200" i="1" spc="-10" dirty="0">
                <a:latin typeface="Times New Roman"/>
                <a:cs typeface="Times New Roman"/>
              </a:rPr>
              <a:t>A</a:t>
            </a:r>
            <a:r>
              <a:rPr sz="3150" spc="-15" baseline="23809" dirty="0">
                <a:latin typeface="Times New Roman"/>
                <a:cs typeface="Times New Roman"/>
              </a:rPr>
              <a:t>T</a:t>
            </a:r>
            <a:endParaRPr sz="3150" baseline="23809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3542" y="844295"/>
            <a:ext cx="74009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  <a:r>
              <a:rPr spc="-180" dirty="0"/>
              <a:t> </a:t>
            </a:r>
            <a:r>
              <a:rPr dirty="0"/>
              <a:t>flow</a:t>
            </a:r>
            <a:r>
              <a:rPr spc="-18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tensors</a:t>
            </a:r>
            <a:r>
              <a:rPr spc="-175" dirty="0"/>
              <a:t> </a:t>
            </a:r>
            <a:r>
              <a:rPr dirty="0"/>
              <a:t>in</a:t>
            </a:r>
            <a:r>
              <a:rPr spc="-175" dirty="0"/>
              <a:t> </a:t>
            </a:r>
            <a:r>
              <a:rPr spc="-25" dirty="0"/>
              <a:t>ML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451491" y="2156212"/>
            <a:ext cx="4615815" cy="1739900"/>
            <a:chOff x="4451491" y="2156212"/>
            <a:chExt cx="4615815" cy="1739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7873" y="2186184"/>
              <a:ext cx="4508496" cy="16765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56201" y="2160922"/>
              <a:ext cx="4606290" cy="1730375"/>
            </a:xfrm>
            <a:custGeom>
              <a:avLst/>
              <a:gdLst/>
              <a:ahLst/>
              <a:cxnLst/>
              <a:rect l="l" t="t" r="r" b="b"/>
              <a:pathLst>
                <a:path w="4606290" h="1730375">
                  <a:moveTo>
                    <a:pt x="0" y="0"/>
                  </a:moveTo>
                  <a:lnTo>
                    <a:pt x="4605972" y="0"/>
                  </a:lnTo>
                  <a:lnTo>
                    <a:pt x="4605972" y="1729986"/>
                  </a:lnTo>
                  <a:lnTo>
                    <a:pt x="0" y="1729986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465620" y="4897190"/>
            <a:ext cx="4841875" cy="1736725"/>
            <a:chOff x="4465620" y="4897190"/>
            <a:chExt cx="4841875" cy="17367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3493" y="4906609"/>
              <a:ext cx="4718040" cy="16774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70330" y="4901899"/>
              <a:ext cx="4832350" cy="1727200"/>
            </a:xfrm>
            <a:custGeom>
              <a:avLst/>
              <a:gdLst/>
              <a:ahLst/>
              <a:cxnLst/>
              <a:rect l="l" t="t" r="r" b="b"/>
              <a:pathLst>
                <a:path w="4832350" h="1727200">
                  <a:moveTo>
                    <a:pt x="0" y="0"/>
                  </a:moveTo>
                  <a:lnTo>
                    <a:pt x="4832032" y="0"/>
                  </a:lnTo>
                  <a:lnTo>
                    <a:pt x="4832032" y="1726847"/>
                  </a:lnTo>
                  <a:lnTo>
                    <a:pt x="0" y="1726847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94223" y="1796288"/>
            <a:ext cx="280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A</a:t>
            </a:r>
            <a:r>
              <a:rPr sz="1800" spc="-12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linear</a:t>
            </a:r>
            <a:r>
              <a:rPr sz="1800" spc="-8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classifier</a:t>
            </a:r>
            <a:r>
              <a:rPr sz="1800" spc="400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b="1" i="1" spc="-20" dirty="0">
                <a:latin typeface="Times New Roman"/>
                <a:cs typeface="Times New Roman"/>
              </a:rPr>
              <a:t>Wx</a:t>
            </a:r>
            <a:r>
              <a:rPr sz="1800" spc="-30" baseline="23148" dirty="0">
                <a:latin typeface="Times New Roman"/>
                <a:cs typeface="Times New Roman"/>
              </a:rPr>
              <a:t>T</a:t>
            </a:r>
            <a:r>
              <a:rPr sz="1800" spc="-20" dirty="0">
                <a:latin typeface="Times New Roman"/>
                <a:cs typeface="Times New Roman"/>
              </a:rPr>
              <a:t>+</a:t>
            </a:r>
            <a:r>
              <a:rPr sz="1800" b="1" i="1" spc="-2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8696" y="4432807"/>
            <a:ext cx="462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A</a:t>
            </a:r>
            <a:r>
              <a:rPr sz="1800" spc="-13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linear</a:t>
            </a:r>
            <a:r>
              <a:rPr sz="1800" spc="-10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classifier</a:t>
            </a:r>
            <a:r>
              <a:rPr sz="1800" spc="-6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with</a:t>
            </a:r>
            <a:r>
              <a:rPr sz="1800" spc="-70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bias</a:t>
            </a:r>
            <a:r>
              <a:rPr sz="1800" spc="-75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030A0"/>
                </a:solidFill>
                <a:latin typeface="Arial"/>
                <a:cs typeface="Arial"/>
              </a:rPr>
              <a:t>eliminated</a:t>
            </a:r>
            <a:r>
              <a:rPr sz="1800" spc="370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b="1" i="1" spc="-25" dirty="0">
                <a:latin typeface="Times New Roman"/>
                <a:cs typeface="Times New Roman"/>
              </a:rPr>
              <a:t>Wx</a:t>
            </a:r>
            <a:r>
              <a:rPr sz="1800" spc="-37" baseline="23148" dirty="0">
                <a:latin typeface="Times New Roman"/>
                <a:cs typeface="Times New Roman"/>
              </a:rPr>
              <a:t>T</a:t>
            </a:r>
            <a:endParaRPr sz="1800" baseline="2314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3903" y="2323591"/>
            <a:ext cx="2703195" cy="84581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82295">
              <a:lnSpc>
                <a:spcPts val="2110"/>
              </a:lnSpc>
              <a:spcBef>
                <a:spcPts val="210"/>
              </a:spcBef>
            </a:pPr>
            <a:r>
              <a:rPr sz="1800" spc="-20" dirty="0">
                <a:solidFill>
                  <a:srgbClr val="0000FF"/>
                </a:solidFill>
                <a:latin typeface="Arial"/>
                <a:cs typeface="Arial"/>
              </a:rPr>
              <a:t>Vector</a:t>
            </a:r>
            <a:r>
              <a:rPr sz="18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r>
              <a:rPr sz="1800" b="1" i="1" spc="1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8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converted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into</a:t>
            </a:r>
            <a:r>
              <a:rPr sz="1800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vector</a:t>
            </a:r>
            <a:r>
              <a:rPr sz="1800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y </a:t>
            </a:r>
            <a:r>
              <a:rPr sz="1800" spc="-25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sz="1800" spc="-10" dirty="0">
                <a:solidFill>
                  <a:srgbClr val="0000FF"/>
                </a:solidFill>
                <a:latin typeface="Arial"/>
                <a:cs typeface="Arial"/>
              </a:rPr>
              <a:t>multiplying</a:t>
            </a:r>
            <a:r>
              <a:rPr sz="18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r>
              <a:rPr sz="1800" b="1" i="1" spc="1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r>
              <a:rPr sz="18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matrix</a:t>
            </a:r>
            <a:r>
              <a:rPr sz="18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spc="-50" dirty="0"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/>
          <p:nvPr/>
        </p:nvSpPr>
        <p:spPr>
          <a:xfrm>
            <a:off x="9251358" y="6856554"/>
            <a:ext cx="22034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25" dirty="0"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2413" y="704088"/>
            <a:ext cx="54349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270" dirty="0"/>
              <a:t> </a:t>
            </a:r>
            <a:r>
              <a:rPr spc="-20" dirty="0"/>
              <a:t>Transformation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030" y="1453284"/>
            <a:ext cx="4481830" cy="113538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919"/>
              </a:spcBef>
              <a:buFont typeface="Times New Roman"/>
              <a:buChar char="•"/>
              <a:tabLst>
                <a:tab pos="376555" algn="l"/>
              </a:tabLst>
            </a:pPr>
            <a:r>
              <a:rPr sz="3200" i="1" spc="-20" dirty="0">
                <a:latin typeface="Times New Roman"/>
                <a:cs typeface="Times New Roman"/>
              </a:rPr>
              <a:t>A</a:t>
            </a:r>
            <a:r>
              <a:rPr sz="3200" b="1" i="1" spc="-20" dirty="0">
                <a:latin typeface="Times New Roman"/>
                <a:cs typeface="Times New Roman"/>
              </a:rPr>
              <a:t>x</a:t>
            </a:r>
            <a:r>
              <a:rPr sz="3200" i="1" spc="-20" dirty="0">
                <a:latin typeface="Times New Roman"/>
                <a:cs typeface="Times New Roman"/>
              </a:rPr>
              <a:t>=</a:t>
            </a:r>
            <a:r>
              <a:rPr sz="3200" b="1" i="1" spc="-20" dirty="0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490220">
              <a:lnSpc>
                <a:spcPct val="100000"/>
              </a:lnSpc>
              <a:spcBef>
                <a:spcPts val="720"/>
              </a:spcBef>
              <a:tabLst>
                <a:tab pos="369633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5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where</a:t>
            </a:r>
            <a:r>
              <a:rPr sz="2800" spc="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350" b="1" i="1" dirty="0">
                <a:latin typeface="Cambria"/>
                <a:cs typeface="Cambria"/>
              </a:rPr>
              <a:t>A</a:t>
            </a:r>
            <a:r>
              <a:rPr sz="2350" b="1" i="1" spc="-260" dirty="0">
                <a:latin typeface="Cambria"/>
                <a:cs typeface="Cambria"/>
              </a:rPr>
              <a:t> </a:t>
            </a:r>
            <a:r>
              <a:rPr sz="2350" spc="-665" dirty="0">
                <a:latin typeface="Symbol"/>
                <a:cs typeface="Symbol"/>
              </a:rPr>
              <a:t></a:t>
            </a:r>
            <a:r>
              <a:rPr sz="2350" spc="-665" dirty="0">
                <a:latin typeface="MT Extra"/>
                <a:cs typeface="MT Extra"/>
              </a:rPr>
              <a:t>Il{</a:t>
            </a:r>
            <a:r>
              <a:rPr sz="2025" i="1" spc="-997" baseline="43209" dirty="0">
                <a:latin typeface="Cambria"/>
                <a:cs typeface="Cambria"/>
              </a:rPr>
              <a:t>n</a:t>
            </a:r>
            <a:r>
              <a:rPr sz="2025" spc="-997" baseline="43209" dirty="0">
                <a:latin typeface="Symbol"/>
                <a:cs typeface="Symbol"/>
              </a:rPr>
              <a:t></a:t>
            </a:r>
            <a:r>
              <a:rPr sz="2025" i="1" spc="-997" baseline="43209" dirty="0">
                <a:latin typeface="Cambria"/>
                <a:cs typeface="Cambria"/>
              </a:rPr>
              <a:t>n</a:t>
            </a:r>
            <a:r>
              <a:rPr sz="2025" i="1" spc="217" baseline="43209" dirty="0">
                <a:latin typeface="Cambria"/>
                <a:cs typeface="Cambria"/>
              </a:rPr>
              <a:t> 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</a:t>
            </a:r>
            <a:r>
              <a:rPr sz="2350" b="1" i="1" dirty="0">
                <a:latin typeface="Cambria"/>
                <a:cs typeface="Cambria"/>
              </a:rPr>
              <a:t>b</a:t>
            </a:r>
            <a:r>
              <a:rPr sz="2350" b="1" i="1" spc="-200" dirty="0">
                <a:latin typeface="Cambria"/>
                <a:cs typeface="Cambria"/>
              </a:rPr>
              <a:t> </a:t>
            </a:r>
            <a:r>
              <a:rPr sz="2350" spc="-950" dirty="0">
                <a:latin typeface="Symbol"/>
                <a:cs typeface="Symbol"/>
              </a:rPr>
              <a:t></a:t>
            </a:r>
            <a:r>
              <a:rPr sz="2350" spc="-950" dirty="0">
                <a:latin typeface="MT Extra"/>
                <a:cs typeface="MT Extra"/>
              </a:rPr>
              <a:t>Il{</a:t>
            </a:r>
            <a:r>
              <a:rPr sz="2025" i="1" spc="-1425" baseline="43209" dirty="0">
                <a:latin typeface="Cambria"/>
                <a:cs typeface="Cambria"/>
              </a:rPr>
              <a:t>n</a:t>
            </a:r>
            <a:endParaRPr sz="2025" baseline="43209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8550" y="2638551"/>
            <a:ext cx="25419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More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explicitly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030" y="5672328"/>
            <a:ext cx="8627745" cy="998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455" indent="-338455" algn="ctr">
              <a:lnSpc>
                <a:spcPts val="3829"/>
              </a:lnSpc>
              <a:spcBef>
                <a:spcPts val="100"/>
              </a:spcBef>
              <a:buChar char="•"/>
              <a:tabLst>
                <a:tab pos="3384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Sometimes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wish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solve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unknowns</a:t>
            </a:r>
            <a:endParaRPr sz="3200">
              <a:latin typeface="Arial"/>
              <a:cs typeface="Arial"/>
            </a:endParaRPr>
          </a:p>
          <a:p>
            <a:pPr marL="57785" algn="ctr">
              <a:lnSpc>
                <a:spcPts val="3829"/>
              </a:lnSpc>
            </a:pP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b="1" i="1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={</a:t>
            </a:r>
            <a:r>
              <a:rPr sz="3200" i="1" spc="-10" dirty="0">
                <a:latin typeface="Times New Roman"/>
                <a:cs typeface="Times New Roman"/>
              </a:rPr>
              <a:t>x</a:t>
            </a:r>
            <a:r>
              <a:rPr sz="3150" spc="-15" baseline="-18518" dirty="0">
                <a:latin typeface="Times New Roman"/>
                <a:cs typeface="Times New Roman"/>
              </a:rPr>
              <a:t>1</a:t>
            </a:r>
            <a:r>
              <a:rPr sz="3200" i="1" spc="-10" dirty="0">
                <a:latin typeface="Times New Roman"/>
                <a:cs typeface="Times New Roman"/>
              </a:rPr>
              <a:t>,..,x</a:t>
            </a:r>
            <a:r>
              <a:rPr sz="3150" i="1" spc="-15" baseline="-18518" dirty="0">
                <a:latin typeface="Times New Roman"/>
                <a:cs typeface="Times New Roman"/>
              </a:rPr>
              <a:t>n</a:t>
            </a:r>
            <a:r>
              <a:rPr sz="3200" spc="-10" dirty="0">
                <a:latin typeface="Times New Roman"/>
                <a:cs typeface="Times New Roman"/>
              </a:rPr>
              <a:t>}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when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b</a:t>
            </a:r>
            <a:r>
              <a:rPr sz="3200" b="1" i="1" spc="1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provide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constraints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8837" y="2751190"/>
            <a:ext cx="2433320" cy="130619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179705" marR="175895" indent="13335">
              <a:lnSpc>
                <a:spcPts val="2480"/>
              </a:lnSpc>
              <a:spcBef>
                <a:spcPts val="30"/>
              </a:spcBef>
            </a:pPr>
            <a:r>
              <a:rPr sz="1450" i="1" spc="-30" dirty="0">
                <a:latin typeface="Times New Roman"/>
                <a:cs typeface="Times New Roman"/>
              </a:rPr>
              <a:t>A</a:t>
            </a:r>
            <a:r>
              <a:rPr sz="1275" i="1" spc="-44" baseline="-32679" dirty="0">
                <a:latin typeface="Times New Roman"/>
                <a:cs typeface="Times New Roman"/>
              </a:rPr>
              <a:t>11</a:t>
            </a:r>
            <a:r>
              <a:rPr sz="1450" i="1" spc="-30" dirty="0">
                <a:latin typeface="Times New Roman"/>
                <a:cs typeface="Times New Roman"/>
              </a:rPr>
              <a:t>x</a:t>
            </a:r>
            <a:r>
              <a:rPr sz="1275" i="1" spc="-44" baseline="-32679" dirty="0">
                <a:latin typeface="Times New Roman"/>
                <a:cs typeface="Times New Roman"/>
              </a:rPr>
              <a:t>1</a:t>
            </a:r>
            <a:r>
              <a:rPr sz="1275" i="1" spc="-30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60" dirty="0">
                <a:latin typeface="Times New Roman"/>
                <a:cs typeface="Times New Roman"/>
              </a:rPr>
              <a:t> </a:t>
            </a:r>
            <a:r>
              <a:rPr sz="1450" i="1" spc="-65" dirty="0">
                <a:latin typeface="Times New Roman"/>
                <a:cs typeface="Times New Roman"/>
              </a:rPr>
              <a:t>A</a:t>
            </a:r>
            <a:r>
              <a:rPr sz="1275" i="1" spc="-97" baseline="-32679" dirty="0">
                <a:latin typeface="Times New Roman"/>
                <a:cs typeface="Times New Roman"/>
              </a:rPr>
              <a:t>12</a:t>
            </a:r>
            <a:r>
              <a:rPr sz="1275" i="1" spc="-157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2679" dirty="0">
                <a:latin typeface="Times New Roman"/>
                <a:cs typeface="Times New Roman"/>
              </a:rPr>
              <a:t>2</a:t>
            </a:r>
            <a:r>
              <a:rPr sz="1275" i="1" spc="30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220" dirty="0">
                <a:latin typeface="Times New Roman"/>
                <a:cs typeface="Times New Roman"/>
              </a:rPr>
              <a:t> </a:t>
            </a:r>
            <a:r>
              <a:rPr sz="1450" i="1" spc="-20" dirty="0">
                <a:latin typeface="Times New Roman"/>
                <a:cs typeface="Times New Roman"/>
              </a:rPr>
              <a:t>....+</a:t>
            </a:r>
            <a:r>
              <a:rPr sz="1450" i="1" spc="-60" dirty="0">
                <a:latin typeface="Times New Roman"/>
                <a:cs typeface="Times New Roman"/>
              </a:rPr>
              <a:t> </a:t>
            </a:r>
            <a:r>
              <a:rPr sz="1450" i="1" spc="-65" dirty="0">
                <a:latin typeface="Times New Roman"/>
                <a:cs typeface="Times New Roman"/>
              </a:rPr>
              <a:t>A</a:t>
            </a:r>
            <a:r>
              <a:rPr sz="1275" i="1" spc="-97" baseline="-32679" dirty="0">
                <a:latin typeface="Times New Roman"/>
                <a:cs typeface="Times New Roman"/>
              </a:rPr>
              <a:t>1n</a:t>
            </a:r>
            <a:r>
              <a:rPr sz="1275" i="1" spc="-157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2679" dirty="0">
                <a:latin typeface="Times New Roman"/>
                <a:cs typeface="Times New Roman"/>
              </a:rPr>
              <a:t>n</a:t>
            </a:r>
            <a:r>
              <a:rPr sz="1275" i="1" spc="82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=</a:t>
            </a:r>
            <a:r>
              <a:rPr sz="1450" i="1" spc="-125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b</a:t>
            </a:r>
            <a:r>
              <a:rPr sz="1275" i="1" spc="-37" baseline="-32679" dirty="0">
                <a:latin typeface="Times New Roman"/>
                <a:cs typeface="Times New Roman"/>
              </a:rPr>
              <a:t>1</a:t>
            </a:r>
            <a:r>
              <a:rPr sz="1275" i="1" spc="750" baseline="-32679" dirty="0">
                <a:latin typeface="Times New Roman"/>
                <a:cs typeface="Times New Roman"/>
              </a:rPr>
              <a:t> </a:t>
            </a:r>
            <a:r>
              <a:rPr sz="1450" i="1" spc="-35" dirty="0">
                <a:latin typeface="Times New Roman"/>
                <a:cs typeface="Times New Roman"/>
              </a:rPr>
              <a:t>A</a:t>
            </a:r>
            <a:r>
              <a:rPr sz="1275" spc="-52" baseline="-32679" dirty="0">
                <a:latin typeface="Cambria"/>
                <a:cs typeface="Cambria"/>
              </a:rPr>
              <a:t>2</a:t>
            </a:r>
            <a:r>
              <a:rPr sz="1275" i="1" spc="-52" baseline="-32679" dirty="0">
                <a:latin typeface="Times New Roman"/>
                <a:cs typeface="Times New Roman"/>
              </a:rPr>
              <a:t>1</a:t>
            </a:r>
            <a:r>
              <a:rPr sz="1450" i="1" spc="-35" dirty="0">
                <a:latin typeface="Times New Roman"/>
                <a:cs typeface="Times New Roman"/>
              </a:rPr>
              <a:t>x</a:t>
            </a:r>
            <a:r>
              <a:rPr sz="1275" i="1" spc="-52" baseline="-32679" dirty="0">
                <a:latin typeface="Times New Roman"/>
                <a:cs typeface="Times New Roman"/>
              </a:rPr>
              <a:t>1</a:t>
            </a:r>
            <a:r>
              <a:rPr sz="1275" i="1" spc="-30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60" dirty="0">
                <a:latin typeface="Times New Roman"/>
                <a:cs typeface="Times New Roman"/>
              </a:rPr>
              <a:t> </a:t>
            </a:r>
            <a:r>
              <a:rPr sz="1450" i="1" spc="-70" dirty="0">
                <a:latin typeface="Times New Roman"/>
                <a:cs typeface="Times New Roman"/>
              </a:rPr>
              <a:t>A</a:t>
            </a:r>
            <a:r>
              <a:rPr sz="1275" spc="-104" baseline="-32679" dirty="0">
                <a:latin typeface="Cambria"/>
                <a:cs typeface="Cambria"/>
              </a:rPr>
              <a:t>2</a:t>
            </a:r>
            <a:r>
              <a:rPr sz="1275" i="1" spc="-104" baseline="-32679" dirty="0">
                <a:latin typeface="Times New Roman"/>
                <a:cs typeface="Times New Roman"/>
              </a:rPr>
              <a:t>2</a:t>
            </a:r>
            <a:r>
              <a:rPr sz="1275" i="1" spc="-157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2679" dirty="0">
                <a:latin typeface="Times New Roman"/>
                <a:cs typeface="Times New Roman"/>
              </a:rPr>
              <a:t>2</a:t>
            </a:r>
            <a:r>
              <a:rPr sz="1275" i="1" spc="30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225" dirty="0">
                <a:latin typeface="Times New Roman"/>
                <a:cs typeface="Times New Roman"/>
              </a:rPr>
              <a:t> </a:t>
            </a:r>
            <a:r>
              <a:rPr sz="1450" i="1" spc="-20" dirty="0">
                <a:latin typeface="Times New Roman"/>
                <a:cs typeface="Times New Roman"/>
              </a:rPr>
              <a:t>....+</a:t>
            </a:r>
            <a:r>
              <a:rPr sz="1450" i="1" spc="-60" dirty="0">
                <a:latin typeface="Times New Roman"/>
                <a:cs typeface="Times New Roman"/>
              </a:rPr>
              <a:t> </a:t>
            </a:r>
            <a:r>
              <a:rPr sz="1450" i="1" spc="-55" dirty="0">
                <a:latin typeface="Times New Roman"/>
                <a:cs typeface="Times New Roman"/>
              </a:rPr>
              <a:t>A</a:t>
            </a:r>
            <a:r>
              <a:rPr sz="1275" spc="-82" baseline="-32679" dirty="0">
                <a:latin typeface="Cambria"/>
                <a:cs typeface="Cambria"/>
              </a:rPr>
              <a:t>2</a:t>
            </a:r>
            <a:r>
              <a:rPr sz="1275" i="1" spc="-82" baseline="-32679" dirty="0">
                <a:latin typeface="Times New Roman"/>
                <a:cs typeface="Times New Roman"/>
              </a:rPr>
              <a:t>n</a:t>
            </a:r>
            <a:r>
              <a:rPr sz="1275" i="1" spc="-157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2679" dirty="0">
                <a:latin typeface="Times New Roman"/>
                <a:cs typeface="Times New Roman"/>
              </a:rPr>
              <a:t>n</a:t>
            </a:r>
            <a:r>
              <a:rPr sz="1275" i="1" spc="82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=</a:t>
            </a:r>
            <a:r>
              <a:rPr sz="1450" i="1" spc="-125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b</a:t>
            </a:r>
            <a:r>
              <a:rPr sz="1275" i="1" spc="-37" baseline="-32679" dirty="0">
                <a:latin typeface="Times New Roman"/>
                <a:cs typeface="Times New Roman"/>
              </a:rPr>
              <a:t>2</a:t>
            </a:r>
            <a:endParaRPr sz="1275" baseline="-32679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450">
              <a:latin typeface="Times New Roman"/>
              <a:cs typeface="Times New Roman"/>
            </a:endParaRPr>
          </a:p>
          <a:p>
            <a:pPr marL="147955">
              <a:lnSpc>
                <a:spcPct val="100000"/>
              </a:lnSpc>
            </a:pPr>
            <a:r>
              <a:rPr sz="1450" i="1" spc="-20" dirty="0">
                <a:latin typeface="Times New Roman"/>
                <a:cs typeface="Times New Roman"/>
              </a:rPr>
              <a:t>A</a:t>
            </a:r>
            <a:r>
              <a:rPr sz="1275" i="1" spc="-30" baseline="-32679" dirty="0">
                <a:latin typeface="Cambria"/>
                <a:cs typeface="Cambria"/>
              </a:rPr>
              <a:t>n</a:t>
            </a:r>
            <a:r>
              <a:rPr sz="1275" i="1" spc="-30" baseline="-32679" dirty="0">
                <a:latin typeface="Times New Roman"/>
                <a:cs typeface="Times New Roman"/>
              </a:rPr>
              <a:t>1</a:t>
            </a:r>
            <a:r>
              <a:rPr sz="1450" i="1" spc="-20" dirty="0">
                <a:latin typeface="Times New Roman"/>
                <a:cs typeface="Times New Roman"/>
              </a:rPr>
              <a:t>x</a:t>
            </a:r>
            <a:r>
              <a:rPr sz="1275" i="1" spc="-30" baseline="-32679" dirty="0">
                <a:latin typeface="Times New Roman"/>
                <a:cs typeface="Times New Roman"/>
              </a:rPr>
              <a:t>1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65" dirty="0">
                <a:latin typeface="Times New Roman"/>
                <a:cs typeface="Times New Roman"/>
              </a:rPr>
              <a:t> </a:t>
            </a:r>
            <a:r>
              <a:rPr sz="1450" i="1" spc="-50" dirty="0">
                <a:latin typeface="Times New Roman"/>
                <a:cs typeface="Times New Roman"/>
              </a:rPr>
              <a:t>A</a:t>
            </a:r>
            <a:r>
              <a:rPr sz="1275" i="1" spc="-75" baseline="-32679" dirty="0">
                <a:latin typeface="Cambria"/>
                <a:cs typeface="Cambria"/>
              </a:rPr>
              <a:t>m</a:t>
            </a:r>
            <a:r>
              <a:rPr sz="1275" i="1" spc="-75" baseline="-32679" dirty="0">
                <a:latin typeface="Times New Roman"/>
                <a:cs typeface="Times New Roman"/>
              </a:rPr>
              <a:t>2</a:t>
            </a:r>
            <a:r>
              <a:rPr sz="1275" i="1" spc="-150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2679" dirty="0">
                <a:latin typeface="Times New Roman"/>
                <a:cs typeface="Times New Roman"/>
              </a:rPr>
              <a:t>2</a:t>
            </a:r>
            <a:r>
              <a:rPr sz="1275" i="1" spc="30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225" dirty="0">
                <a:latin typeface="Times New Roman"/>
                <a:cs typeface="Times New Roman"/>
              </a:rPr>
              <a:t> </a:t>
            </a:r>
            <a:r>
              <a:rPr sz="1450" i="1" spc="-20" dirty="0">
                <a:latin typeface="Times New Roman"/>
                <a:cs typeface="Times New Roman"/>
              </a:rPr>
              <a:t>....+</a:t>
            </a:r>
            <a:r>
              <a:rPr sz="1450" i="1" spc="-60" dirty="0">
                <a:latin typeface="Times New Roman"/>
                <a:cs typeface="Times New Roman"/>
              </a:rPr>
              <a:t> </a:t>
            </a:r>
            <a:r>
              <a:rPr sz="1450" i="1" spc="-30" dirty="0">
                <a:latin typeface="Times New Roman"/>
                <a:cs typeface="Times New Roman"/>
              </a:rPr>
              <a:t>A</a:t>
            </a:r>
            <a:r>
              <a:rPr sz="1275" i="1" spc="-44" baseline="-32679" dirty="0">
                <a:latin typeface="Cambria"/>
                <a:cs typeface="Cambria"/>
              </a:rPr>
              <a:t>n</a:t>
            </a:r>
            <a:r>
              <a:rPr sz="1275" spc="-44" baseline="-32679" dirty="0">
                <a:latin typeface="Cambria"/>
                <a:cs typeface="Cambria"/>
              </a:rPr>
              <a:t>,</a:t>
            </a:r>
            <a:r>
              <a:rPr sz="1275" i="1" spc="-44" baseline="-32679" dirty="0">
                <a:latin typeface="Times New Roman"/>
                <a:cs typeface="Times New Roman"/>
              </a:rPr>
              <a:t>n</a:t>
            </a:r>
            <a:r>
              <a:rPr sz="1275" i="1" spc="-150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2679" dirty="0">
                <a:latin typeface="Times New Roman"/>
                <a:cs typeface="Times New Roman"/>
              </a:rPr>
              <a:t>n</a:t>
            </a:r>
            <a:r>
              <a:rPr sz="1275" i="1" spc="75" baseline="-32679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=</a:t>
            </a:r>
            <a:r>
              <a:rPr sz="1450" i="1" spc="-125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b</a:t>
            </a:r>
            <a:r>
              <a:rPr sz="1275" i="1" spc="-37" baseline="-32679" dirty="0">
                <a:latin typeface="Cambria"/>
                <a:cs typeface="Cambria"/>
              </a:rPr>
              <a:t>n</a:t>
            </a:r>
            <a:endParaRPr sz="1275" baseline="-32679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6111" y="2927096"/>
            <a:ext cx="1421130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equations</a:t>
            </a:r>
            <a:r>
              <a:rPr sz="1800" spc="-3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60066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unknowns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1221" y="4513610"/>
            <a:ext cx="13843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25" dirty="0">
                <a:latin typeface="Cambria"/>
                <a:cs typeface="Cambria"/>
              </a:rPr>
              <a:t>1,1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0923" y="4513610"/>
            <a:ext cx="14033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25" dirty="0">
                <a:latin typeface="Cambria"/>
                <a:cs typeface="Cambria"/>
              </a:rPr>
              <a:t>1,</a:t>
            </a:r>
            <a:r>
              <a:rPr sz="650" i="1" spc="-25" dirty="0">
                <a:latin typeface="Cambria"/>
                <a:cs typeface="Cambria"/>
              </a:rPr>
              <a:t>n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3183" y="4984569"/>
            <a:ext cx="13843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i="1" spc="-25" dirty="0">
                <a:latin typeface="Cambria"/>
                <a:cs typeface="Cambria"/>
              </a:rPr>
              <a:t>n</a:t>
            </a:r>
            <a:r>
              <a:rPr sz="650" spc="-25" dirty="0">
                <a:latin typeface="Cambria"/>
                <a:cs typeface="Cambria"/>
              </a:rPr>
              <a:t>,1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4267" y="4984569"/>
            <a:ext cx="11747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i="1" spc="-25" dirty="0">
                <a:latin typeface="Cambria"/>
                <a:cs typeface="Cambria"/>
              </a:rPr>
              <a:t>nn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0594" y="4940220"/>
            <a:ext cx="1346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50" spc="-90" dirty="0">
                <a:latin typeface="Symbol"/>
                <a:cs typeface="Symbol"/>
              </a:rPr>
              <a:t></a:t>
            </a:r>
            <a:r>
              <a:rPr sz="1725" spc="-135" baseline="-33816" dirty="0">
                <a:latin typeface="Symbol"/>
                <a:cs typeface="Symbol"/>
              </a:rPr>
              <a:t></a:t>
            </a:r>
            <a:endParaRPr sz="1725" baseline="-33816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4473" y="4526169"/>
            <a:ext cx="6921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i="1" spc="-50" dirty="0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5258" y="4984569"/>
            <a:ext cx="6921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i="1" spc="-50" dirty="0">
                <a:latin typeface="Times New Roman"/>
                <a:cs typeface="Times New Roman"/>
              </a:rPr>
              <a:t>n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0470" y="4952779"/>
            <a:ext cx="1346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50" spc="-90" dirty="0">
                <a:latin typeface="Symbol"/>
                <a:cs typeface="Symbol"/>
              </a:rPr>
              <a:t></a:t>
            </a:r>
            <a:r>
              <a:rPr sz="1725" spc="-135" baseline="-24154" dirty="0">
                <a:latin typeface="Symbol"/>
                <a:cs typeface="Symbol"/>
              </a:rPr>
              <a:t></a:t>
            </a:r>
            <a:endParaRPr sz="1725" baseline="-24154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41696" y="4526169"/>
            <a:ext cx="6921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i="1" spc="-50" dirty="0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39733" y="4984569"/>
            <a:ext cx="7239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i="1" spc="-50" dirty="0">
                <a:latin typeface="Cambria"/>
                <a:cs typeface="Cambria"/>
              </a:rPr>
              <a:t>n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09466" y="4952779"/>
            <a:ext cx="1346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50" spc="-90" dirty="0">
                <a:latin typeface="Symbol"/>
                <a:cs typeface="Symbol"/>
              </a:rPr>
              <a:t></a:t>
            </a:r>
            <a:r>
              <a:rPr sz="1725" spc="-135" baseline="-24154" dirty="0">
                <a:latin typeface="Symbol"/>
                <a:cs typeface="Symbol"/>
              </a:rPr>
              <a:t></a:t>
            </a:r>
            <a:endParaRPr sz="1725" baseline="-24154">
              <a:latin typeface="Symbol"/>
              <a:cs typeface="Symbo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558237" y="4333610"/>
          <a:ext cx="3333111" cy="1229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6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0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93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marR="40005" algn="r">
                        <a:lnSpc>
                          <a:spcPts val="1270"/>
                        </a:lnSpc>
                        <a:spcBef>
                          <a:spcPts val="265"/>
                        </a:spcBef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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R="40005" algn="r">
                        <a:lnSpc>
                          <a:spcPts val="114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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336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50" i="1" spc="-50" dirty="0">
                          <a:latin typeface="Cambria"/>
                          <a:cs typeface="Cambria"/>
                        </a:rPr>
                        <a:t>A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50" spc="-50" dirty="0">
                          <a:latin typeface="MT Extra"/>
                          <a:cs typeface="MT Extra"/>
                        </a:rPr>
                        <a:t>.</a:t>
                      </a:r>
                      <a:endParaRPr sz="1150">
                        <a:latin typeface="MT Extra"/>
                        <a:cs typeface="MT Extra"/>
                      </a:endParaRPr>
                    </a:p>
                  </a:txBody>
                  <a:tcPr marL="0" marR="0" marT="793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5415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150" i="1" spc="-50" dirty="0">
                          <a:latin typeface="Cambria"/>
                          <a:cs typeface="Cambria"/>
                        </a:rPr>
                        <a:t>A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70"/>
                        </a:lnSpc>
                        <a:spcBef>
                          <a:spcPts val="265"/>
                        </a:spcBef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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L="50165">
                        <a:lnSpc>
                          <a:spcPts val="114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336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ts val="1270"/>
                        </a:lnSpc>
                        <a:spcBef>
                          <a:spcPts val="365"/>
                        </a:spcBef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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R="38100" algn="r">
                        <a:lnSpc>
                          <a:spcPts val="104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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463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150" i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920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270"/>
                        </a:lnSpc>
                        <a:spcBef>
                          <a:spcPts val="365"/>
                        </a:spcBef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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L="38100">
                        <a:lnSpc>
                          <a:spcPts val="104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463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1270"/>
                        </a:lnSpc>
                        <a:spcBef>
                          <a:spcPts val="365"/>
                        </a:spcBef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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R="34925" algn="r">
                        <a:lnSpc>
                          <a:spcPts val="104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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463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150" i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920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270"/>
                        </a:lnSpc>
                        <a:spcBef>
                          <a:spcPts val="365"/>
                        </a:spcBef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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L="50800">
                        <a:lnSpc>
                          <a:spcPts val="104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463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35560">
                        <a:lnSpc>
                          <a:spcPts val="1155"/>
                        </a:lnSpc>
                      </a:pPr>
                      <a:r>
                        <a:rPr sz="1150" i="1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150" i="1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5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11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25" spc="-75" baseline="7246" dirty="0">
                          <a:latin typeface="Symbol"/>
                          <a:cs typeface="Symbol"/>
                        </a:rPr>
                        <a:t></a:t>
                      </a:r>
                      <a:endParaRPr sz="1725" baseline="7246">
                        <a:latin typeface="Symbol"/>
                        <a:cs typeface="Symbol"/>
                      </a:endParaRPr>
                    </a:p>
                    <a:p>
                      <a:pPr marR="40005" algn="r">
                        <a:lnSpc>
                          <a:spcPts val="82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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4620" algn="r">
                        <a:lnSpc>
                          <a:spcPts val="1340"/>
                        </a:lnSpc>
                      </a:pPr>
                      <a:r>
                        <a:rPr sz="1150" dirty="0">
                          <a:latin typeface="MT Extra"/>
                          <a:cs typeface="MT Extra"/>
                        </a:rPr>
                        <a:t> </a:t>
                      </a:r>
                      <a:endParaRPr sz="1150">
                        <a:latin typeface="MT Extra"/>
                        <a:cs typeface="MT Extr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ts val="1340"/>
                        </a:lnSpc>
                      </a:pPr>
                      <a:r>
                        <a:rPr sz="1150" dirty="0">
                          <a:latin typeface="MT Extra"/>
                          <a:cs typeface="MT Extra"/>
                        </a:rPr>
                        <a:t> </a:t>
                      </a:r>
                      <a:endParaRPr sz="1150">
                        <a:latin typeface="MT Extra"/>
                        <a:cs typeface="MT Extr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340"/>
                        </a:lnSpc>
                      </a:pPr>
                      <a:r>
                        <a:rPr sz="1150" dirty="0">
                          <a:latin typeface="MT Extra"/>
                          <a:cs typeface="MT Extra"/>
                        </a:rPr>
                        <a:t> </a:t>
                      </a:r>
                      <a:endParaRPr sz="1150">
                        <a:latin typeface="MT Extra"/>
                        <a:cs typeface="MT Extr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080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L="50165">
                        <a:lnSpc>
                          <a:spcPts val="90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205"/>
                        </a:lnSpc>
                      </a:pPr>
                      <a:r>
                        <a:rPr sz="115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150" b="1" i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i="1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15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25" spc="-75" baseline="2415" dirty="0">
                          <a:latin typeface="Symbol"/>
                          <a:cs typeface="Symbol"/>
                        </a:rPr>
                        <a:t></a:t>
                      </a:r>
                      <a:endParaRPr sz="1725" baseline="2415">
                        <a:latin typeface="Symbol"/>
                        <a:cs typeface="Symbol"/>
                      </a:endParaRPr>
                    </a:p>
                    <a:p>
                      <a:pPr marR="38100" algn="r">
                        <a:lnSpc>
                          <a:spcPts val="780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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340"/>
                        </a:lnSpc>
                      </a:pPr>
                      <a:r>
                        <a:rPr sz="1150" dirty="0">
                          <a:latin typeface="MT Extra"/>
                          <a:cs typeface="MT Extra"/>
                        </a:rPr>
                        <a:t> </a:t>
                      </a:r>
                      <a:endParaRPr sz="1150">
                        <a:latin typeface="MT Extra"/>
                        <a:cs typeface="MT Extr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17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L="38100">
                        <a:lnSpc>
                          <a:spcPts val="80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1205"/>
                        </a:lnSpc>
                      </a:pPr>
                      <a:r>
                        <a:rPr sz="1150" b="1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150" b="1" i="1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i="1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15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25" spc="-75" baseline="2415" dirty="0">
                          <a:latin typeface="Symbol"/>
                          <a:cs typeface="Symbol"/>
                        </a:rPr>
                        <a:t></a:t>
                      </a:r>
                      <a:endParaRPr sz="1725" baseline="2415">
                        <a:latin typeface="Symbol"/>
                        <a:cs typeface="Symbol"/>
                      </a:endParaRPr>
                    </a:p>
                    <a:p>
                      <a:pPr marR="34925" algn="r">
                        <a:lnSpc>
                          <a:spcPts val="780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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150" dirty="0">
                          <a:latin typeface="MT Extra"/>
                          <a:cs typeface="MT Extra"/>
                        </a:rPr>
                        <a:t> </a:t>
                      </a:r>
                      <a:endParaRPr sz="1150">
                        <a:latin typeface="MT Extra"/>
                        <a:cs typeface="MT Extr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17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  <a:p>
                      <a:pPr marL="50800">
                        <a:lnSpc>
                          <a:spcPts val="805"/>
                        </a:lnSpc>
                      </a:pPr>
                      <a:r>
                        <a:rPr sz="1150" spc="-50" dirty="0">
                          <a:latin typeface="Symbol"/>
                          <a:cs typeface="Symbol"/>
                        </a:rPr>
                        <a:t></a:t>
                      </a:r>
                      <a:endParaRPr sz="115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50" spc="-25" dirty="0">
                          <a:latin typeface="Symbol"/>
                          <a:cs typeface="Symbol"/>
                        </a:rPr>
                        <a:t></a:t>
                      </a:r>
                      <a:r>
                        <a:rPr sz="1725" spc="-37" baseline="-33816" dirty="0">
                          <a:latin typeface="Symbol"/>
                          <a:cs typeface="Symbol"/>
                        </a:rPr>
                        <a:t></a:t>
                      </a:r>
                      <a:endParaRPr sz="1725" baseline="-33816">
                        <a:latin typeface="Symbol"/>
                        <a:cs typeface="Symbol"/>
                      </a:endParaRPr>
                    </a:p>
                  </a:txBody>
                  <a:tcPr marL="0" marR="0" marT="57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7625">
                        <a:lnSpc>
                          <a:spcPts val="850"/>
                        </a:lnSpc>
                        <a:tabLst>
                          <a:tab pos="377190" algn="l"/>
                        </a:tabLst>
                      </a:pPr>
                      <a:r>
                        <a:rPr sz="1150" i="1" spc="-5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150" i="1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150" spc="-50" dirty="0">
                          <a:latin typeface="MT Extra"/>
                          <a:cs typeface="MT Extra"/>
                        </a:rPr>
                        <a:t>.</a:t>
                      </a:r>
                      <a:endParaRPr sz="1150">
                        <a:latin typeface="MT Extra"/>
                        <a:cs typeface="MT Extr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575">
                        <a:lnSpc>
                          <a:spcPts val="850"/>
                        </a:lnSpc>
                      </a:pPr>
                      <a:r>
                        <a:rPr sz="1150" i="1" spc="-50" dirty="0">
                          <a:latin typeface="Cambria"/>
                          <a:cs typeface="Cambria"/>
                        </a:rPr>
                        <a:t>A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00965" algn="r">
                        <a:lnSpc>
                          <a:spcPts val="850"/>
                        </a:lnSpc>
                      </a:pPr>
                      <a:r>
                        <a:rPr sz="1150" i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50" spc="-25" dirty="0">
                          <a:latin typeface="Symbol"/>
                          <a:cs typeface="Symbol"/>
                        </a:rPr>
                        <a:t></a:t>
                      </a:r>
                      <a:r>
                        <a:rPr sz="1725" spc="-37" baseline="-24154" dirty="0">
                          <a:latin typeface="Symbol"/>
                          <a:cs typeface="Symbol"/>
                        </a:rPr>
                        <a:t></a:t>
                      </a:r>
                      <a:endParaRPr sz="1725" baseline="-24154">
                        <a:latin typeface="Symbol"/>
                        <a:cs typeface="Symbol"/>
                      </a:endParaRPr>
                    </a:p>
                  </a:txBody>
                  <a:tcPr marL="0" marR="0" marT="184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73025" algn="r">
                        <a:lnSpc>
                          <a:spcPts val="850"/>
                        </a:lnSpc>
                      </a:pPr>
                      <a:r>
                        <a:rPr sz="1150" i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50" spc="-25" dirty="0">
                          <a:latin typeface="Symbol"/>
                          <a:cs typeface="Symbol"/>
                        </a:rPr>
                        <a:t></a:t>
                      </a:r>
                      <a:r>
                        <a:rPr sz="1725" spc="-37" baseline="-24154" dirty="0">
                          <a:latin typeface="Symbol"/>
                          <a:cs typeface="Symbol"/>
                        </a:rPr>
                        <a:t></a:t>
                      </a:r>
                      <a:endParaRPr sz="1725" baseline="-24154">
                        <a:latin typeface="Symbol"/>
                        <a:cs typeface="Symbol"/>
                      </a:endParaRPr>
                    </a:p>
                  </a:txBody>
                  <a:tcPr marL="0" marR="0" marT="184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6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5483691" y="4432807"/>
            <a:ext cx="375856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Can</a:t>
            </a:r>
            <a:r>
              <a:rPr sz="1800" spc="-4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view</a:t>
            </a:r>
            <a:r>
              <a:rPr sz="18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as</a:t>
            </a:r>
            <a:r>
              <a:rPr sz="1800" spc="-4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1800" spc="-4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660066"/>
                </a:solidFill>
                <a:latin typeface="Arial"/>
                <a:cs typeface="Arial"/>
              </a:rPr>
              <a:t>linear</a:t>
            </a:r>
            <a:r>
              <a:rPr sz="1800" i="1" spc="-3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660066"/>
                </a:solidFill>
                <a:latin typeface="Arial"/>
                <a:cs typeface="Arial"/>
              </a:rPr>
              <a:t>transformation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1800" spc="-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vector</a:t>
            </a:r>
            <a:r>
              <a:rPr sz="1800" spc="-4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r>
              <a:rPr sz="1800" b="1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1800" spc="-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vector</a:t>
            </a:r>
            <a:r>
              <a:rPr sz="1800" spc="-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b="1" i="1" spc="-5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>
                <a:latin typeface="Arial"/>
                <a:cs typeface="Arial"/>
              </a:rPr>
              <a:t>	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47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Identity</a:t>
            </a:r>
            <a:r>
              <a:rPr spc="-240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dirty="0"/>
              <a:t>Inverse</a:t>
            </a:r>
            <a:r>
              <a:rPr spc="-240" dirty="0"/>
              <a:t> </a:t>
            </a:r>
            <a:r>
              <a:rPr spc="-10" dirty="0"/>
              <a:t>Matrices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2100072"/>
            <a:ext cx="8844280" cy="354837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3855" marR="17780" indent="-339090">
              <a:lnSpc>
                <a:spcPts val="3700"/>
              </a:lnSpc>
              <a:spcBef>
                <a:spcPts val="34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inversion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powerful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tool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analytically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solve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20" dirty="0">
                <a:latin typeface="Times New Roman"/>
                <a:cs typeface="Times New Roman"/>
              </a:rPr>
              <a:t>A</a:t>
            </a:r>
            <a:r>
              <a:rPr sz="3200" b="1" i="1" spc="-20" dirty="0">
                <a:latin typeface="Times New Roman"/>
                <a:cs typeface="Times New Roman"/>
              </a:rPr>
              <a:t>x</a:t>
            </a:r>
            <a:r>
              <a:rPr sz="3200" i="1" spc="-20" dirty="0">
                <a:latin typeface="Times New Roman"/>
                <a:cs typeface="Times New Roman"/>
              </a:rPr>
              <a:t>=</a:t>
            </a:r>
            <a:r>
              <a:rPr sz="3200" b="1" i="1" spc="-20" dirty="0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363855" indent="-338455">
              <a:lnSpc>
                <a:spcPct val="100000"/>
              </a:lnSpc>
              <a:spcBef>
                <a:spcPts val="64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Needs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concept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Identity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endParaRPr sz="3200">
              <a:latin typeface="Arial"/>
              <a:cs typeface="Arial"/>
            </a:endParaRPr>
          </a:p>
          <a:p>
            <a:pPr marL="363855" marR="177165" indent="-339090">
              <a:lnSpc>
                <a:spcPts val="3790"/>
              </a:lnSpc>
              <a:spcBef>
                <a:spcPts val="84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Identity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does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not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change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value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when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multiply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identity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endParaRPr sz="3200">
              <a:latin typeface="Arial"/>
              <a:cs typeface="Arial"/>
            </a:endParaRPr>
          </a:p>
          <a:p>
            <a:pPr marL="760095" marR="46990" indent="-282575">
              <a:lnSpc>
                <a:spcPts val="3290"/>
              </a:lnSpc>
              <a:spcBef>
                <a:spcPts val="71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Denote</a:t>
            </a:r>
            <a:r>
              <a:rPr sz="2800" spc="-15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identity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that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preserves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336600"/>
                </a:solidFill>
                <a:latin typeface="Arial"/>
                <a:cs typeface="Arial"/>
              </a:rPr>
              <a:t>n-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dimensional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I</a:t>
            </a:r>
            <a:r>
              <a:rPr sz="2700" i="1" spc="-37" baseline="-18518" dirty="0">
                <a:latin typeface="Times New Roman"/>
                <a:cs typeface="Times New Roman"/>
              </a:rPr>
              <a:t>n</a:t>
            </a:r>
            <a:endParaRPr sz="2700" baseline="-18518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7844" y="5634735"/>
            <a:ext cx="2285365" cy="101917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29400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Formally</a:t>
            </a:r>
            <a:endParaRPr sz="28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555"/>
              </a:spcBef>
              <a:buChar char="–"/>
              <a:tabLst>
                <a:tab pos="29400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Example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4079" y="5704839"/>
            <a:ext cx="6159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6874" y="640486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38167" y="6043047"/>
            <a:ext cx="11874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i="1" spc="-50" dirty="0">
                <a:latin typeface="Cambria"/>
                <a:cs typeface="Cambria"/>
              </a:rPr>
              <a:t>n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9295" y="5807568"/>
            <a:ext cx="193738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50" dirty="0">
                <a:latin typeface="Symbol"/>
                <a:cs typeface="Symbol"/>
              </a:rPr>
              <a:t></a:t>
            </a:r>
            <a:r>
              <a:rPr sz="2350" b="1" dirty="0">
                <a:latin typeface="Times New Roman"/>
                <a:cs typeface="Times New Roman"/>
              </a:rPr>
              <a:t>x</a:t>
            </a:r>
            <a:r>
              <a:rPr sz="2350" b="1" spc="-150" dirty="0">
                <a:latin typeface="Times New Roman"/>
                <a:cs typeface="Times New Roman"/>
              </a:rPr>
              <a:t> </a:t>
            </a:r>
            <a:r>
              <a:rPr sz="2350" spc="-660" dirty="0">
                <a:latin typeface="Symbol"/>
                <a:cs typeface="Symbol"/>
              </a:rPr>
              <a:t></a:t>
            </a:r>
            <a:r>
              <a:rPr sz="2350" spc="-660" dirty="0">
                <a:latin typeface="MT Extra"/>
                <a:cs typeface="MT Extra"/>
              </a:rPr>
              <a:t>"/</a:t>
            </a:r>
            <a:r>
              <a:rPr sz="2025" i="1" spc="-989" baseline="43209" dirty="0">
                <a:latin typeface="Cambria"/>
                <a:cs typeface="Cambria"/>
              </a:rPr>
              <a:t>n</a:t>
            </a:r>
            <a:r>
              <a:rPr sz="2025" i="1" spc="-15" baseline="43209" dirty="0">
                <a:latin typeface="Cambria"/>
                <a:cs typeface="Cambria"/>
              </a:rPr>
              <a:t> </a:t>
            </a:r>
            <a:r>
              <a:rPr sz="2350" spc="60" dirty="0">
                <a:latin typeface="Cambria"/>
                <a:cs typeface="Cambria"/>
              </a:rPr>
              <a:t>,</a:t>
            </a:r>
            <a:r>
              <a:rPr sz="2350" i="1" spc="60" dirty="0">
                <a:latin typeface="Cambria"/>
                <a:cs typeface="Cambria"/>
              </a:rPr>
              <a:t>I</a:t>
            </a:r>
            <a:r>
              <a:rPr sz="2350" i="1" spc="340" dirty="0">
                <a:latin typeface="Cambria"/>
                <a:cs typeface="Cambria"/>
              </a:rPr>
              <a:t> </a:t>
            </a:r>
            <a:r>
              <a:rPr sz="2350" b="1" dirty="0">
                <a:latin typeface="Times New Roman"/>
                <a:cs typeface="Times New Roman"/>
              </a:rPr>
              <a:t>x</a:t>
            </a:r>
            <a:r>
              <a:rPr sz="2350" b="1" spc="-105" dirty="0">
                <a:latin typeface="Times New Roman"/>
                <a:cs typeface="Times New Roman"/>
              </a:rPr>
              <a:t> </a:t>
            </a:r>
            <a:r>
              <a:rPr sz="2350" b="1" dirty="0">
                <a:latin typeface="Times New Roman"/>
                <a:cs typeface="Times New Roman"/>
              </a:rPr>
              <a:t>=</a:t>
            </a:r>
            <a:r>
              <a:rPr sz="2350" b="1" spc="-170" dirty="0">
                <a:latin typeface="Times New Roman"/>
                <a:cs typeface="Times New Roman"/>
              </a:rPr>
              <a:t> </a:t>
            </a:r>
            <a:r>
              <a:rPr sz="2350" b="1" spc="-50" dirty="0">
                <a:latin typeface="Times New Roman"/>
                <a:cs typeface="Times New Roman"/>
              </a:rPr>
              <a:t>x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19165" y="6043047"/>
            <a:ext cx="11874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i="1" spc="-50" dirty="0">
                <a:latin typeface="Cambria"/>
                <a:cs typeface="Cambria"/>
              </a:rPr>
              <a:t>n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89370" y="5672560"/>
            <a:ext cx="10668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03530" algn="l"/>
              </a:tabLst>
            </a:pPr>
            <a:r>
              <a:rPr sz="3525" i="1" spc="-75" baseline="-24822" dirty="0">
                <a:latin typeface="Cambria"/>
                <a:cs typeface="Cambria"/>
              </a:rPr>
              <a:t>I</a:t>
            </a:r>
            <a:r>
              <a:rPr sz="3525" i="1" baseline="-24822" dirty="0">
                <a:latin typeface="Cambria"/>
                <a:cs typeface="Cambria"/>
              </a:rPr>
              <a:t>	</a:t>
            </a:r>
            <a:r>
              <a:rPr sz="3525" spc="-675" baseline="-24822" dirty="0">
                <a:latin typeface="Symbol"/>
                <a:cs typeface="Symbol"/>
              </a:rPr>
              <a:t></a:t>
            </a:r>
            <a:r>
              <a:rPr sz="3525" spc="-675" baseline="-24822" dirty="0">
                <a:latin typeface="MT Extra"/>
                <a:cs typeface="MT Extra"/>
              </a:rPr>
              <a:t>!R</a:t>
            </a:r>
            <a:r>
              <a:rPr sz="1350" i="1" spc="-450" dirty="0">
                <a:latin typeface="Cambria"/>
                <a:cs typeface="Cambria"/>
              </a:rPr>
              <a:t>n</a:t>
            </a:r>
            <a:r>
              <a:rPr sz="1350" spc="-450" dirty="0">
                <a:latin typeface="Symbol"/>
                <a:cs typeface="Symbol"/>
              </a:rPr>
              <a:t></a:t>
            </a:r>
            <a:r>
              <a:rPr sz="1350" i="1" spc="-450" dirty="0">
                <a:latin typeface="Cambria"/>
                <a:cs typeface="Cambria"/>
              </a:rPr>
              <a:t>n</a:t>
            </a:r>
            <a:endParaRPr sz="1350">
              <a:latin typeface="Cambria"/>
              <a:cs typeface="Cambri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373201" y="6309852"/>
          <a:ext cx="441958" cy="7359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29">
                <a:tc>
                  <a:txBody>
                    <a:bodyPr/>
                    <a:lstStyle/>
                    <a:p>
                      <a:pPr marR="43815" algn="ctr">
                        <a:lnSpc>
                          <a:spcPts val="1730"/>
                        </a:lnSpc>
                      </a:pPr>
                      <a:r>
                        <a:rPr sz="1500" spc="-50" dirty="0">
                          <a:latin typeface="Cambria"/>
                          <a:cs typeface="Cambria"/>
                        </a:rPr>
                        <a:t>1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1730"/>
                        </a:lnSpc>
                      </a:pPr>
                      <a:r>
                        <a:rPr sz="1500" spc="-50" dirty="0">
                          <a:latin typeface="Cambria"/>
                          <a:cs typeface="Cambria"/>
                        </a:rPr>
                        <a:t>0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spc="-50" dirty="0">
                          <a:latin typeface="Cambria"/>
                          <a:cs typeface="Cambria"/>
                        </a:rPr>
                        <a:t>0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500" spc="-50" dirty="0">
                          <a:latin typeface="Cambria"/>
                          <a:cs typeface="Cambria"/>
                        </a:rPr>
                        <a:t>1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R="39370" algn="ctr">
                        <a:lnSpc>
                          <a:spcPts val="1735"/>
                        </a:lnSpc>
                        <a:spcBef>
                          <a:spcPts val="55"/>
                        </a:spcBef>
                      </a:pPr>
                      <a:r>
                        <a:rPr sz="1500" spc="-50" dirty="0">
                          <a:latin typeface="Cambria"/>
                          <a:cs typeface="Cambria"/>
                        </a:rPr>
                        <a:t>0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1735"/>
                        </a:lnSpc>
                        <a:spcBef>
                          <a:spcPts val="55"/>
                        </a:spcBef>
                      </a:pPr>
                      <a:r>
                        <a:rPr sz="1500" spc="-50" dirty="0">
                          <a:latin typeface="Cambria"/>
                          <a:cs typeface="Cambria"/>
                        </a:rPr>
                        <a:t>0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934966" y="6229370"/>
            <a:ext cx="30988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aseline="-16666" dirty="0">
                <a:latin typeface="Cambria"/>
                <a:cs typeface="Cambria"/>
              </a:rPr>
              <a:t>0</a:t>
            </a:r>
            <a:r>
              <a:rPr sz="2250" spc="735" baseline="-16666" dirty="0">
                <a:latin typeface="Cambria"/>
                <a:cs typeface="Cambria"/>
              </a:rPr>
              <a:t> </a:t>
            </a:r>
            <a:r>
              <a:rPr sz="1500" spc="-50" dirty="0">
                <a:latin typeface="Symbol"/>
                <a:cs typeface="Symbol"/>
              </a:rPr>
              <a:t>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9478" y="6918520"/>
            <a:ext cx="9906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50" dirty="0">
                <a:latin typeface="Symbol"/>
                <a:cs typeface="Symbol"/>
              </a:rPr>
              <a:t>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9478" y="6229370"/>
            <a:ext cx="99060" cy="629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5"/>
              </a:spcBef>
            </a:pPr>
            <a:r>
              <a:rPr sz="1500" spc="-50" dirty="0">
                <a:latin typeface="Symbol"/>
                <a:cs typeface="Symbol"/>
              </a:rPr>
              <a:t></a:t>
            </a:r>
            <a:endParaRPr sz="1500">
              <a:latin typeface="Symbol"/>
              <a:cs typeface="Symbol"/>
            </a:endParaRPr>
          </a:p>
          <a:p>
            <a:pPr marL="12700">
              <a:lnSpc>
                <a:spcPts val="1475"/>
              </a:lnSpc>
            </a:pPr>
            <a:r>
              <a:rPr sz="1500" spc="-50" dirty="0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  <a:p>
            <a:pPr marL="12700">
              <a:lnSpc>
                <a:spcPts val="1635"/>
              </a:lnSpc>
            </a:pPr>
            <a:r>
              <a:rPr sz="1500" spc="-50" dirty="0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9478" y="6791047"/>
            <a:ext cx="9906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50" dirty="0">
                <a:latin typeface="Symbol"/>
                <a:cs typeface="Symbol"/>
              </a:rPr>
              <a:t>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45579" y="6918520"/>
            <a:ext cx="9906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50" dirty="0">
                <a:latin typeface="Symbol"/>
                <a:cs typeface="Symbol"/>
              </a:rPr>
              <a:t>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34966" y="6416596"/>
            <a:ext cx="30988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aseline="-37037" dirty="0">
                <a:latin typeface="Cambria"/>
                <a:cs typeface="Cambria"/>
              </a:rPr>
              <a:t>0</a:t>
            </a:r>
            <a:r>
              <a:rPr sz="2250" spc="735" baseline="-37037" dirty="0">
                <a:latin typeface="Cambria"/>
                <a:cs typeface="Cambria"/>
              </a:rPr>
              <a:t> </a:t>
            </a:r>
            <a:r>
              <a:rPr sz="1500" spc="-50" dirty="0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45579" y="6603821"/>
            <a:ext cx="9906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50" dirty="0">
                <a:latin typeface="Symbol"/>
                <a:cs typeface="Symbol"/>
              </a:rPr>
              <a:t>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32974" y="6800508"/>
            <a:ext cx="31178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Cambria"/>
                <a:cs typeface="Cambria"/>
              </a:rPr>
              <a:t>1</a:t>
            </a:r>
            <a:r>
              <a:rPr sz="1500" spc="85" dirty="0">
                <a:latin typeface="Cambria"/>
                <a:cs typeface="Cambria"/>
              </a:rPr>
              <a:t>  </a:t>
            </a:r>
            <a:r>
              <a:rPr sz="2250" spc="-75" baseline="1851" dirty="0">
                <a:latin typeface="Symbol"/>
                <a:cs typeface="Symbol"/>
              </a:rPr>
              <a:t></a:t>
            </a:r>
            <a:endParaRPr sz="2250" baseline="1851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Matrix</a:t>
            </a:r>
            <a:r>
              <a:rPr spc="-235" dirty="0"/>
              <a:t> </a:t>
            </a:r>
            <a:r>
              <a:rPr spc="-10" dirty="0"/>
              <a:t>Inverse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0323" y="2017775"/>
            <a:ext cx="7037070" cy="269938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74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Inverse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square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defined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endParaRPr sz="3200">
              <a:latin typeface="Arial"/>
              <a:cs typeface="Arial"/>
            </a:endParaRPr>
          </a:p>
          <a:p>
            <a:pPr marL="376555" indent="-338455">
              <a:lnSpc>
                <a:spcPct val="100000"/>
              </a:lnSpc>
              <a:spcBef>
                <a:spcPts val="65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now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solve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</a:t>
            </a: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i="1" dirty="0">
                <a:latin typeface="Times New Roman"/>
                <a:cs typeface="Times New Roman"/>
              </a:rPr>
              <a:t>=</a:t>
            </a:r>
            <a:r>
              <a:rPr sz="3200" b="1" i="1" dirty="0">
                <a:latin typeface="Times New Roman"/>
                <a:cs typeface="Times New Roman"/>
              </a:rPr>
              <a:t>b</a:t>
            </a:r>
            <a:r>
              <a:rPr sz="3200" b="1" i="1" spc="-8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follows:</a:t>
            </a:r>
            <a:endParaRPr sz="3200">
              <a:latin typeface="Arial"/>
              <a:cs typeface="Arial"/>
            </a:endParaRPr>
          </a:p>
          <a:p>
            <a:pPr marL="2785110">
              <a:lnSpc>
                <a:spcPct val="100000"/>
              </a:lnSpc>
              <a:spcBef>
                <a:spcPts val="790"/>
              </a:spcBef>
            </a:pPr>
            <a:r>
              <a:rPr sz="1850" i="1" dirty="0">
                <a:latin typeface="Cambria"/>
                <a:cs typeface="Cambria"/>
              </a:rPr>
              <a:t>A</a:t>
            </a:r>
            <a:r>
              <a:rPr sz="1850" b="1" i="1" dirty="0">
                <a:latin typeface="Times New Roman"/>
                <a:cs typeface="Times New Roman"/>
              </a:rPr>
              <a:t>x</a:t>
            </a:r>
            <a:r>
              <a:rPr sz="1850" b="1" i="1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b="1" i="1" spc="-50" dirty="0">
                <a:latin typeface="Cambria"/>
                <a:cs typeface="Cambria"/>
              </a:rPr>
              <a:t>b</a:t>
            </a:r>
            <a:endParaRPr sz="1850">
              <a:latin typeface="Cambria"/>
              <a:cs typeface="Cambria"/>
            </a:endParaRPr>
          </a:p>
          <a:p>
            <a:pPr marL="2785110">
              <a:lnSpc>
                <a:spcPct val="100000"/>
              </a:lnSpc>
              <a:spcBef>
                <a:spcPts val="705"/>
              </a:spcBef>
            </a:pPr>
            <a:r>
              <a:rPr sz="1850" i="1" dirty="0">
                <a:latin typeface="Cambria"/>
                <a:cs typeface="Cambria"/>
              </a:rPr>
              <a:t>A</a:t>
            </a:r>
            <a:r>
              <a:rPr sz="1575" baseline="44973" dirty="0">
                <a:latin typeface="Symbol"/>
                <a:cs typeface="Symbol"/>
              </a:rPr>
              <a:t></a:t>
            </a:r>
            <a:r>
              <a:rPr sz="1575" baseline="44973" dirty="0">
                <a:latin typeface="Cambria"/>
                <a:cs typeface="Cambria"/>
              </a:rPr>
              <a:t>1</a:t>
            </a:r>
            <a:r>
              <a:rPr sz="1575" spc="-104" baseline="44973" dirty="0">
                <a:latin typeface="Cambria"/>
                <a:cs typeface="Cambria"/>
              </a:rPr>
              <a:t> </a:t>
            </a:r>
            <a:r>
              <a:rPr sz="1850" i="1" dirty="0">
                <a:latin typeface="Cambria"/>
                <a:cs typeface="Cambria"/>
              </a:rPr>
              <a:t>A</a:t>
            </a:r>
            <a:r>
              <a:rPr sz="1850" b="1" i="1" dirty="0">
                <a:latin typeface="Times New Roman"/>
                <a:cs typeface="Times New Roman"/>
              </a:rPr>
              <a:t>x</a:t>
            </a:r>
            <a:r>
              <a:rPr sz="1850" b="1" i="1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Cambria"/>
                <a:cs typeface="Cambria"/>
              </a:rPr>
              <a:t>A</a:t>
            </a:r>
            <a:r>
              <a:rPr sz="1575" spc="-30" baseline="44973" dirty="0">
                <a:latin typeface="Symbol"/>
                <a:cs typeface="Symbol"/>
              </a:rPr>
              <a:t></a:t>
            </a:r>
            <a:r>
              <a:rPr sz="1575" spc="-30" baseline="44973" dirty="0">
                <a:latin typeface="Cambria"/>
                <a:cs typeface="Cambria"/>
              </a:rPr>
              <a:t>1</a:t>
            </a:r>
            <a:r>
              <a:rPr sz="1850" b="1" i="1" spc="-20" dirty="0">
                <a:latin typeface="Cambria"/>
                <a:cs typeface="Cambria"/>
              </a:rPr>
              <a:t>b</a:t>
            </a:r>
            <a:endParaRPr sz="1850">
              <a:latin typeface="Cambria"/>
              <a:cs typeface="Cambria"/>
            </a:endParaRPr>
          </a:p>
          <a:p>
            <a:pPr marL="26034" algn="ctr">
              <a:lnSpc>
                <a:spcPts val="650"/>
              </a:lnSpc>
              <a:spcBef>
                <a:spcPts val="660"/>
              </a:spcBef>
            </a:pPr>
            <a:r>
              <a:rPr sz="1050" spc="-25" dirty="0">
                <a:latin typeface="Symbol"/>
                <a:cs typeface="Symbol"/>
              </a:rPr>
              <a:t></a:t>
            </a:r>
            <a:r>
              <a:rPr sz="1050" spc="-25" dirty="0">
                <a:latin typeface="Cambria"/>
                <a:cs typeface="Cambria"/>
              </a:rPr>
              <a:t>1</a:t>
            </a:r>
            <a:endParaRPr sz="1050">
              <a:latin typeface="Cambria"/>
              <a:cs typeface="Cambria"/>
            </a:endParaRPr>
          </a:p>
          <a:p>
            <a:pPr marL="2770505">
              <a:lnSpc>
                <a:spcPts val="1610"/>
              </a:lnSpc>
              <a:tabLst>
                <a:tab pos="3609975" algn="l"/>
              </a:tabLst>
            </a:pPr>
            <a:r>
              <a:rPr sz="1850" i="1" dirty="0">
                <a:latin typeface="Cambria"/>
                <a:cs typeface="Cambria"/>
              </a:rPr>
              <a:t>I</a:t>
            </a:r>
            <a:r>
              <a:rPr sz="1575" i="1" baseline="-37037" dirty="0">
                <a:latin typeface="Cambria"/>
                <a:cs typeface="Cambria"/>
              </a:rPr>
              <a:t>n</a:t>
            </a:r>
            <a:r>
              <a:rPr sz="1575" i="1" spc="-82" baseline="-37037" dirty="0">
                <a:latin typeface="Cambria"/>
                <a:cs typeface="Cambria"/>
              </a:rPr>
              <a:t> </a:t>
            </a:r>
            <a:r>
              <a:rPr sz="1850" b="1" i="1" dirty="0">
                <a:latin typeface="Times New Roman"/>
                <a:cs typeface="Times New Roman"/>
              </a:rPr>
              <a:t>x</a:t>
            </a:r>
            <a:r>
              <a:rPr sz="1850" b="1" i="1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Cambria"/>
                <a:cs typeface="Cambria"/>
              </a:rPr>
              <a:t>A</a:t>
            </a:r>
            <a:r>
              <a:rPr sz="1850" i="1" dirty="0">
                <a:latin typeface="Cambria"/>
                <a:cs typeface="Cambria"/>
              </a:rPr>
              <a:t>	</a:t>
            </a:r>
            <a:r>
              <a:rPr sz="1850" b="1" i="1" spc="-50" dirty="0">
                <a:latin typeface="Cambria"/>
                <a:cs typeface="Cambria"/>
              </a:rPr>
              <a:t>b</a:t>
            </a:r>
            <a:endParaRPr sz="1850">
              <a:latin typeface="Cambria"/>
              <a:cs typeface="Cambria"/>
            </a:endParaRPr>
          </a:p>
          <a:p>
            <a:pPr marL="2785110">
              <a:lnSpc>
                <a:spcPct val="100000"/>
              </a:lnSpc>
              <a:spcBef>
                <a:spcPts val="990"/>
              </a:spcBef>
            </a:pPr>
            <a:r>
              <a:rPr sz="1850" b="1" i="1" dirty="0">
                <a:latin typeface="Times New Roman"/>
                <a:cs typeface="Times New Roman"/>
              </a:rPr>
              <a:t>x</a:t>
            </a:r>
            <a:r>
              <a:rPr sz="1850" b="1" i="1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Cambria"/>
                <a:cs typeface="Cambria"/>
              </a:rPr>
              <a:t>A</a:t>
            </a:r>
            <a:r>
              <a:rPr sz="1575" spc="-30" baseline="44973" dirty="0">
                <a:latin typeface="Symbol"/>
                <a:cs typeface="Symbol"/>
              </a:rPr>
              <a:t></a:t>
            </a:r>
            <a:r>
              <a:rPr sz="1575" spc="-30" baseline="44973" dirty="0">
                <a:latin typeface="Cambria"/>
                <a:cs typeface="Cambria"/>
              </a:rPr>
              <a:t>1</a:t>
            </a:r>
            <a:r>
              <a:rPr sz="1850" b="1" i="1" spc="-20" dirty="0">
                <a:latin typeface="Cambria"/>
                <a:cs typeface="Cambria"/>
              </a:rPr>
              <a:t>b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323" y="4907279"/>
            <a:ext cx="7686675" cy="164083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67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This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depends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being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able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find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A</a:t>
            </a:r>
            <a:r>
              <a:rPr sz="3150" i="1" spc="-37" baseline="23809" dirty="0">
                <a:latin typeface="Times New Roman"/>
                <a:cs typeface="Times New Roman"/>
              </a:rPr>
              <a:t>-</a:t>
            </a:r>
            <a:r>
              <a:rPr sz="3150" spc="-75" baseline="23809" dirty="0">
                <a:latin typeface="Times New Roman"/>
                <a:cs typeface="Times New Roman"/>
              </a:rPr>
              <a:t>1</a:t>
            </a:r>
            <a:endParaRPr sz="3150" baseline="23809">
              <a:latin typeface="Times New Roman"/>
              <a:cs typeface="Times New Roman"/>
            </a:endParaRPr>
          </a:p>
          <a:p>
            <a:pPr marL="376555" marR="30480" indent="-339090">
              <a:lnSpc>
                <a:spcPct val="101200"/>
              </a:lnSpc>
              <a:spcBef>
                <a:spcPts val="53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A</a:t>
            </a:r>
            <a:r>
              <a:rPr sz="3150" i="1" spc="-37" baseline="23809" dirty="0">
                <a:latin typeface="Times New Roman"/>
                <a:cs typeface="Times New Roman"/>
              </a:rPr>
              <a:t>-</a:t>
            </a:r>
            <a:r>
              <a:rPr sz="3150" baseline="23809" dirty="0">
                <a:latin typeface="Times New Roman"/>
                <a:cs typeface="Times New Roman"/>
              </a:rPr>
              <a:t>1</a:t>
            </a:r>
            <a:r>
              <a:rPr sz="3150" spc="195" baseline="23809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exists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there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several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methods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for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finding</a:t>
            </a:r>
            <a:r>
              <a:rPr sz="3200" spc="-1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it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6614" y="2200028"/>
            <a:ext cx="1120140" cy="4705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ts val="2335"/>
              </a:lnSpc>
              <a:spcBef>
                <a:spcPts val="120"/>
              </a:spcBef>
            </a:pPr>
            <a:r>
              <a:rPr sz="2350" i="1" dirty="0">
                <a:latin typeface="Cambria"/>
                <a:cs typeface="Cambria"/>
              </a:rPr>
              <a:t>A</a:t>
            </a:r>
            <a:r>
              <a:rPr sz="2025" baseline="43209" dirty="0">
                <a:latin typeface="Symbol"/>
                <a:cs typeface="Symbol"/>
              </a:rPr>
              <a:t></a:t>
            </a:r>
            <a:r>
              <a:rPr sz="2025" baseline="43209" dirty="0">
                <a:latin typeface="Cambria"/>
                <a:cs typeface="Cambria"/>
              </a:rPr>
              <a:t>1</a:t>
            </a:r>
            <a:r>
              <a:rPr sz="2025" spc="-165" baseline="43209" dirty="0">
                <a:latin typeface="Cambria"/>
                <a:cs typeface="Cambria"/>
              </a:rPr>
              <a:t> </a:t>
            </a:r>
            <a:r>
              <a:rPr sz="2350" i="1" dirty="0">
                <a:latin typeface="Cambria"/>
                <a:cs typeface="Cambria"/>
              </a:rPr>
              <a:t>A</a:t>
            </a:r>
            <a:r>
              <a:rPr sz="2350" i="1" spc="-125" dirty="0">
                <a:latin typeface="Cambria"/>
                <a:cs typeface="Cambria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i="1" spc="-50" dirty="0">
                <a:latin typeface="Cambria"/>
                <a:cs typeface="Cambria"/>
              </a:rPr>
              <a:t>I</a:t>
            </a:r>
            <a:endParaRPr sz="2350">
              <a:latin typeface="Cambria"/>
              <a:cs typeface="Cambria"/>
            </a:endParaRPr>
          </a:p>
          <a:p>
            <a:pPr marR="30480" algn="r">
              <a:lnSpc>
                <a:spcPts val="1135"/>
              </a:lnSpc>
            </a:pPr>
            <a:r>
              <a:rPr sz="1350" i="1" spc="-50" dirty="0">
                <a:latin typeface="Cambria"/>
                <a:cs typeface="Cambria"/>
              </a:rPr>
              <a:t>n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100"/>
              </a:spcBef>
            </a:pPr>
            <a:r>
              <a:rPr dirty="0"/>
              <a:t>Solving</a:t>
            </a:r>
            <a:r>
              <a:rPr spc="-254" dirty="0"/>
              <a:t> </a:t>
            </a:r>
            <a:r>
              <a:rPr spc="-25" dirty="0"/>
              <a:t>Simultaneous</a:t>
            </a:r>
            <a:r>
              <a:rPr spc="-25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7844" y="1988457"/>
            <a:ext cx="7574915" cy="213868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855"/>
              </a:spcBef>
              <a:buFont typeface="Times New Roman"/>
              <a:buChar char="•"/>
              <a:tabLst>
                <a:tab pos="351155" algn="l"/>
              </a:tabLst>
            </a:pPr>
            <a:r>
              <a:rPr sz="3200" b="1" i="1" dirty="0">
                <a:latin typeface="Times New Roman"/>
                <a:cs typeface="Times New Roman"/>
              </a:rPr>
              <a:t>Ax</a:t>
            </a:r>
            <a:r>
              <a:rPr sz="3200" b="1" i="1" spc="-7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=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200" b="1" i="1" spc="-50" dirty="0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408305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where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i="1" dirty="0">
                <a:latin typeface="Times New Roman"/>
                <a:cs typeface="Times New Roman"/>
              </a:rPr>
              <a:t>M</a:t>
            </a:r>
            <a:r>
              <a:rPr sz="2800" dirty="0">
                <a:latin typeface="Times New Roman"/>
                <a:cs typeface="Times New Roman"/>
              </a:rPr>
              <a:t>+1)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</a:t>
            </a:r>
            <a:r>
              <a:rPr sz="2800" i="1" spc="-10" dirty="0">
                <a:latin typeface="Times New Roman"/>
                <a:cs typeface="Times New Roman"/>
              </a:rPr>
              <a:t>M</a:t>
            </a:r>
            <a:r>
              <a:rPr sz="2800" spc="-10" dirty="0">
                <a:latin typeface="Times New Roman"/>
                <a:cs typeface="Times New Roman"/>
              </a:rPr>
              <a:t>+1)</a:t>
            </a:r>
            <a:endParaRPr sz="2800">
              <a:latin typeface="Times New Roman"/>
              <a:cs typeface="Times New Roman"/>
            </a:endParaRPr>
          </a:p>
          <a:p>
            <a:pPr marL="408305">
              <a:lnSpc>
                <a:spcPct val="100000"/>
              </a:lnSpc>
              <a:spcBef>
                <a:spcPts val="650"/>
              </a:spcBef>
            </a:pP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i="1" dirty="0">
                <a:latin typeface="Times New Roman"/>
                <a:cs typeface="Times New Roman"/>
              </a:rPr>
              <a:t>M</a:t>
            </a:r>
            <a:r>
              <a:rPr sz="2800" dirty="0">
                <a:latin typeface="Times New Roman"/>
                <a:cs typeface="Times New Roman"/>
              </a:rPr>
              <a:t>+1)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i="1" dirty="0">
                <a:latin typeface="Times New Roman"/>
                <a:cs typeface="Times New Roman"/>
              </a:rPr>
              <a:t>: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set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weights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be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determined</a:t>
            </a:r>
            <a:endParaRPr sz="2800">
              <a:latin typeface="Arial"/>
              <a:cs typeface="Arial"/>
            </a:endParaRPr>
          </a:p>
          <a:p>
            <a:pPr marL="408305">
              <a:lnSpc>
                <a:spcPct val="100000"/>
              </a:lnSpc>
              <a:spcBef>
                <a:spcPts val="645"/>
              </a:spcBef>
            </a:pP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N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919" y="359664"/>
            <a:ext cx="8305800" cy="13576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95630" marR="17780" indent="-570865">
              <a:lnSpc>
                <a:spcPts val="5210"/>
              </a:lnSpc>
              <a:spcBef>
                <a:spcPts val="265"/>
              </a:spcBef>
            </a:pPr>
            <a:r>
              <a:rPr sz="1800" spc="-15" baseline="90277" dirty="0">
                <a:solidFill>
                  <a:srgbClr val="000000"/>
                </a:solidFill>
              </a:rPr>
              <a:t>Machine</a:t>
            </a:r>
            <a:r>
              <a:rPr sz="1800" spc="-82" baseline="90277" dirty="0">
                <a:solidFill>
                  <a:srgbClr val="000000"/>
                </a:solidFill>
              </a:rPr>
              <a:t> </a:t>
            </a:r>
            <a:r>
              <a:rPr sz="1800" spc="-15" baseline="90277" dirty="0">
                <a:solidFill>
                  <a:srgbClr val="000000"/>
                </a:solidFill>
              </a:rPr>
              <a:t>Lea</a:t>
            </a:r>
            <a:r>
              <a:rPr sz="1800" spc="-7" baseline="90277" dirty="0">
                <a:solidFill>
                  <a:srgbClr val="000000"/>
                </a:solidFill>
              </a:rPr>
              <a:t>r</a:t>
            </a:r>
            <a:r>
              <a:rPr sz="1800" spc="-15" baseline="90277" dirty="0">
                <a:solidFill>
                  <a:srgbClr val="000000"/>
                </a:solidFill>
              </a:rPr>
              <a:t>n</a:t>
            </a:r>
            <a:r>
              <a:rPr sz="1800" spc="-7" baseline="90277" dirty="0">
                <a:solidFill>
                  <a:srgbClr val="000000"/>
                </a:solidFill>
              </a:rPr>
              <a:t>i</a:t>
            </a:r>
            <a:r>
              <a:rPr sz="1800" spc="-15" baseline="90277" dirty="0">
                <a:solidFill>
                  <a:srgbClr val="000000"/>
                </a:solidFill>
              </a:rPr>
              <a:t>n</a:t>
            </a:r>
            <a:r>
              <a:rPr sz="1800" spc="-989" baseline="90277" dirty="0">
                <a:solidFill>
                  <a:srgbClr val="000000"/>
                </a:solidFill>
              </a:rPr>
              <a:t>g</a:t>
            </a:r>
            <a:r>
              <a:rPr sz="4400" spc="-30" dirty="0"/>
              <a:t>Exa</a:t>
            </a:r>
            <a:r>
              <a:rPr sz="4400" spc="-40" dirty="0"/>
              <a:t>m</a:t>
            </a:r>
            <a:r>
              <a:rPr sz="4400" spc="-30" dirty="0"/>
              <a:t>p</a:t>
            </a:r>
            <a:r>
              <a:rPr sz="4400" spc="-10" dirty="0"/>
              <a:t>l</a:t>
            </a:r>
            <a:r>
              <a:rPr sz="4400" spc="-30" dirty="0"/>
              <a:t>e</a:t>
            </a:r>
            <a:r>
              <a:rPr sz="4400" spc="5" dirty="0"/>
              <a:t>:</a:t>
            </a:r>
            <a:r>
              <a:rPr sz="4400" spc="-175" dirty="0"/>
              <a:t> </a:t>
            </a:r>
            <a:r>
              <a:rPr sz="4400" dirty="0"/>
              <a:t>System</a:t>
            </a:r>
            <a:r>
              <a:rPr sz="4400" spc="-200" dirty="0"/>
              <a:t> </a:t>
            </a:r>
            <a:r>
              <a:rPr sz="4400" dirty="0"/>
              <a:t>of</a:t>
            </a:r>
            <a:r>
              <a:rPr sz="4400" spc="-175" dirty="0"/>
              <a:t> </a:t>
            </a:r>
            <a:r>
              <a:rPr sz="4400" spc="-10" dirty="0"/>
              <a:t>Linear </a:t>
            </a:r>
            <a:r>
              <a:rPr sz="4400" spc="-20" dirty="0"/>
              <a:t>Equations</a:t>
            </a:r>
            <a:r>
              <a:rPr sz="4400" spc="-200" dirty="0"/>
              <a:t> </a:t>
            </a:r>
            <a:r>
              <a:rPr sz="4400" dirty="0"/>
              <a:t>in</a:t>
            </a:r>
            <a:r>
              <a:rPr sz="4400" spc="-195" dirty="0"/>
              <a:t> </a:t>
            </a:r>
            <a:r>
              <a:rPr sz="4400" dirty="0"/>
              <a:t>Linear</a:t>
            </a:r>
            <a:r>
              <a:rPr sz="4400" spc="-190" dirty="0"/>
              <a:t> </a:t>
            </a:r>
            <a:r>
              <a:rPr sz="4400" spc="-10" dirty="0"/>
              <a:t>Regression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430" y="2011680"/>
            <a:ext cx="30816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Instead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20" dirty="0">
                <a:latin typeface="Calibri"/>
                <a:cs typeface="Calibri"/>
              </a:rPr>
              <a:t>Ax</a:t>
            </a:r>
            <a:r>
              <a:rPr sz="3200" i="1" spc="-20" dirty="0">
                <a:latin typeface="Calibri"/>
                <a:cs typeface="Calibri"/>
              </a:rPr>
              <a:t>=</a:t>
            </a:r>
            <a:r>
              <a:rPr sz="3200" b="1" i="1" spc="-20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430" y="2593848"/>
            <a:ext cx="195198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have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3150" y="3153663"/>
            <a:ext cx="8030209" cy="281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405" indent="-281305">
              <a:lnSpc>
                <a:spcPts val="3325"/>
              </a:lnSpc>
              <a:spcBef>
                <a:spcPts val="100"/>
              </a:spcBef>
              <a:buChar char="–"/>
              <a:tabLst>
                <a:tab pos="3194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where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Φ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m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i="1" spc="5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design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features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for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n</a:t>
            </a:r>
            <a:endParaRPr sz="2800">
              <a:latin typeface="Calibri"/>
              <a:cs typeface="Calibri"/>
            </a:endParaRPr>
          </a:p>
          <a:p>
            <a:pPr marL="320675">
              <a:lnSpc>
                <a:spcPts val="3325"/>
              </a:lnSpc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samples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x</a:t>
            </a:r>
            <a:r>
              <a:rPr sz="2700" i="1" baseline="-18518" dirty="0">
                <a:latin typeface="Calibri"/>
                <a:cs typeface="Calibri"/>
              </a:rPr>
              <a:t>j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j</a:t>
            </a:r>
            <a:r>
              <a:rPr sz="2800" spc="-10" dirty="0">
                <a:latin typeface="Calibri"/>
                <a:cs typeface="Calibri"/>
              </a:rPr>
              <a:t>=1,..</a:t>
            </a:r>
            <a:r>
              <a:rPr sz="2800" i="1" spc="-10" dirty="0">
                <a:latin typeface="Calibri"/>
                <a:cs typeface="Calibri"/>
              </a:rPr>
              <a:t>n</a:t>
            </a:r>
            <a:endParaRPr sz="2800">
              <a:latin typeface="Calibri"/>
              <a:cs typeface="Calibri"/>
            </a:endParaRPr>
          </a:p>
          <a:p>
            <a:pPr marL="320675" indent="-282575">
              <a:lnSpc>
                <a:spcPct val="100000"/>
              </a:lnSpc>
              <a:spcBef>
                <a:spcPts val="645"/>
              </a:spcBef>
              <a:buFont typeface="Times New Roman"/>
              <a:buChar char="–"/>
              <a:tabLst>
                <a:tab pos="32067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i="1" spc="-8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weight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m</a:t>
            </a:r>
            <a:r>
              <a:rPr sz="2800" i="1" spc="5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values</a:t>
            </a:r>
            <a:endParaRPr sz="2800">
              <a:latin typeface="Arial"/>
              <a:cs typeface="Arial"/>
            </a:endParaRPr>
          </a:p>
          <a:p>
            <a:pPr marL="320675" indent="-282575">
              <a:lnSpc>
                <a:spcPct val="100000"/>
              </a:lnSpc>
              <a:spcBef>
                <a:spcPts val="650"/>
              </a:spcBef>
              <a:buFont typeface="Calibri"/>
              <a:buChar char="–"/>
              <a:tabLst>
                <a:tab pos="320675" algn="l"/>
              </a:tabLst>
            </a:pPr>
            <a:r>
              <a:rPr sz="2800" b="1" i="1" dirty="0">
                <a:latin typeface="Calibri"/>
                <a:cs typeface="Calibri"/>
              </a:rPr>
              <a:t>t</a:t>
            </a:r>
            <a:r>
              <a:rPr sz="2800" b="1" i="1" spc="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target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values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sample,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=[</a:t>
            </a:r>
            <a:r>
              <a:rPr sz="2800" i="1" spc="-10" dirty="0">
                <a:latin typeface="Calibri"/>
                <a:cs typeface="Calibri"/>
              </a:rPr>
              <a:t>t</a:t>
            </a:r>
            <a:r>
              <a:rPr sz="2700" spc="-15" baseline="-18518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,..</a:t>
            </a:r>
            <a:r>
              <a:rPr sz="2800" i="1" spc="-10" dirty="0">
                <a:latin typeface="Calibri"/>
                <a:cs typeface="Calibri"/>
              </a:rPr>
              <a:t>t</a:t>
            </a:r>
            <a:r>
              <a:rPr sz="2700" spc="-15" baseline="-18518" dirty="0">
                <a:latin typeface="Calibri"/>
                <a:cs typeface="Calibri"/>
              </a:rPr>
              <a:t>n</a:t>
            </a:r>
            <a:r>
              <a:rPr sz="2800" spc="-10" dirty="0">
                <a:latin typeface="Calibri"/>
                <a:cs typeface="Calibri"/>
              </a:rPr>
              <a:t>]</a:t>
            </a:r>
            <a:endParaRPr sz="2800">
              <a:latin typeface="Calibri"/>
              <a:cs typeface="Calibri"/>
            </a:endParaRPr>
          </a:p>
          <a:p>
            <a:pPr marL="319405" marR="213360" indent="-281305">
              <a:lnSpc>
                <a:spcPct val="101400"/>
              </a:lnSpc>
              <a:spcBef>
                <a:spcPts val="480"/>
              </a:spcBef>
              <a:buChar char="–"/>
              <a:tabLst>
                <a:tab pos="32067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need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weight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w</a:t>
            </a:r>
            <a:r>
              <a:rPr sz="2800" b="1" i="1" spc="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used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m</a:t>
            </a:r>
            <a:r>
              <a:rPr sz="2800" i="1" spc="3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features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to 	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determine</a:t>
            </a:r>
            <a:r>
              <a:rPr sz="2800" spc="-1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output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2500" y="2696828"/>
            <a:ext cx="78168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40" dirty="0">
                <a:latin typeface="Symbol"/>
                <a:cs typeface="Symbol"/>
              </a:rPr>
              <a:t></a:t>
            </a:r>
            <a:r>
              <a:rPr sz="2200" b="1" spc="-40" dirty="0">
                <a:latin typeface="Times New Roman"/>
                <a:cs typeface="Times New Roman"/>
              </a:rPr>
              <a:t>w</a:t>
            </a:r>
            <a:r>
              <a:rPr sz="2200" b="1" spc="-17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=</a:t>
            </a:r>
            <a:r>
              <a:rPr sz="2200" b="1" spc="-160" dirty="0">
                <a:latin typeface="Times New Roman"/>
                <a:cs typeface="Times New Roman"/>
              </a:rPr>
              <a:t> </a:t>
            </a:r>
            <a:r>
              <a:rPr sz="2200" b="1" spc="-50" dirty="0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89950" y="2751190"/>
            <a:ext cx="866775" cy="311150"/>
          </a:xfrm>
          <a:custGeom>
            <a:avLst/>
            <a:gdLst/>
            <a:ahLst/>
            <a:cxnLst/>
            <a:rect l="l" t="t" r="r" b="b"/>
            <a:pathLst>
              <a:path w="866775" h="311150">
                <a:moveTo>
                  <a:pt x="0" y="0"/>
                </a:moveTo>
                <a:lnTo>
                  <a:pt x="866563" y="0"/>
                </a:lnTo>
                <a:lnTo>
                  <a:pt x="866563" y="310832"/>
                </a:lnTo>
                <a:lnTo>
                  <a:pt x="0" y="310832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48107" y="6909721"/>
            <a:ext cx="184150" cy="173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950" i="1" spc="-25" dirty="0">
                <a:latin typeface="Cambria"/>
                <a:cs typeface="Cambria"/>
              </a:rPr>
              <a:t>i</a:t>
            </a:r>
            <a:r>
              <a:rPr sz="950" spc="-25" dirty="0">
                <a:latin typeface="Symbol"/>
                <a:cs typeface="Symbol"/>
              </a:rPr>
              <a:t></a:t>
            </a:r>
            <a:r>
              <a:rPr sz="950" spc="-25" dirty="0">
                <a:latin typeface="Cambria"/>
                <a:cs typeface="Cambria"/>
              </a:rPr>
              <a:t>1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4153" y="6474891"/>
            <a:ext cx="111125" cy="173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950" i="1" spc="-50" dirty="0">
                <a:latin typeface="Cambria"/>
                <a:cs typeface="Cambria"/>
              </a:rPr>
              <a:t>m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38028" y="6506505"/>
            <a:ext cx="1378585" cy="4089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1650" i="1" spc="-10" dirty="0">
                <a:latin typeface="Cambria"/>
                <a:cs typeface="Cambria"/>
              </a:rPr>
              <a:t>y</a:t>
            </a:r>
            <a:r>
              <a:rPr sz="1650" spc="-10" dirty="0">
                <a:latin typeface="Cambria"/>
                <a:cs typeface="Cambria"/>
              </a:rPr>
              <a:t>(</a:t>
            </a:r>
            <a:r>
              <a:rPr sz="1650" b="1" i="1" spc="-10" dirty="0">
                <a:latin typeface="Georgia"/>
                <a:cs typeface="Georgia"/>
              </a:rPr>
              <a:t>x,w</a:t>
            </a:r>
            <a:r>
              <a:rPr sz="1650" spc="-10" dirty="0">
                <a:latin typeface="Cambria"/>
                <a:cs typeface="Cambria"/>
              </a:rPr>
              <a:t>)=</a:t>
            </a:r>
            <a:r>
              <a:rPr sz="3750" spc="-15" baseline="-7777" dirty="0">
                <a:latin typeface="Symbol"/>
                <a:cs typeface="Symbol"/>
              </a:rPr>
              <a:t></a:t>
            </a:r>
            <a:r>
              <a:rPr sz="1650" i="1" spc="-10" dirty="0">
                <a:latin typeface="Cambria"/>
                <a:cs typeface="Cambria"/>
              </a:rPr>
              <a:t>w</a:t>
            </a:r>
            <a:r>
              <a:rPr sz="1425" i="1" spc="-15" baseline="-35087" dirty="0">
                <a:latin typeface="Cambria"/>
                <a:cs typeface="Cambria"/>
              </a:rPr>
              <a:t>i</a:t>
            </a:r>
            <a:r>
              <a:rPr sz="1650" i="1" spc="-10" dirty="0">
                <a:latin typeface="Cambria"/>
                <a:cs typeface="Cambria"/>
              </a:rPr>
              <a:t>x</a:t>
            </a:r>
            <a:r>
              <a:rPr sz="1425" i="1" spc="-15" baseline="-35087" dirty="0">
                <a:latin typeface="Cambria"/>
                <a:cs typeface="Cambria"/>
              </a:rPr>
              <a:t>i</a:t>
            </a:r>
            <a:endParaRPr sz="1425" baseline="-35087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40973" y="6443503"/>
            <a:ext cx="1411605" cy="648970"/>
          </a:xfrm>
          <a:custGeom>
            <a:avLst/>
            <a:gdLst/>
            <a:ahLst/>
            <a:cxnLst/>
            <a:rect l="l" t="t" r="r" b="b"/>
            <a:pathLst>
              <a:path w="1411604" h="648970">
                <a:moveTo>
                  <a:pt x="0" y="0"/>
                </a:moveTo>
                <a:lnTo>
                  <a:pt x="1411305" y="0"/>
                </a:lnTo>
                <a:lnTo>
                  <a:pt x="1411305" y="648353"/>
                </a:lnTo>
                <a:lnTo>
                  <a:pt x="0" y="648353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7039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Closed-</a:t>
            </a:r>
            <a:r>
              <a:rPr dirty="0"/>
              <a:t>form</a:t>
            </a:r>
            <a:r>
              <a:rPr spc="-105" dirty="0"/>
              <a:t> </a:t>
            </a:r>
            <a:r>
              <a:rPr spc="-10" dirty="0"/>
              <a:t>solutions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5144" y="2021114"/>
            <a:ext cx="5052695" cy="15970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72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Two</a:t>
            </a:r>
            <a:r>
              <a:rPr sz="3200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0000FF"/>
                </a:solidFill>
                <a:latin typeface="Arial"/>
                <a:cs typeface="Arial"/>
              </a:rPr>
              <a:t>closed-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form</a:t>
            </a:r>
            <a:r>
              <a:rPr sz="320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Arial"/>
                <a:cs typeface="Arial"/>
              </a:rPr>
              <a:t>solutions</a:t>
            </a:r>
            <a:endParaRPr sz="3200">
              <a:latin typeface="Arial"/>
              <a:cs typeface="Arial"/>
            </a:endParaRPr>
          </a:p>
          <a:p>
            <a:pPr marL="713740" lvl="1" indent="-298450">
              <a:lnSpc>
                <a:spcPct val="100000"/>
              </a:lnSpc>
              <a:spcBef>
                <a:spcPts val="545"/>
              </a:spcBef>
              <a:buSzPct val="96428"/>
              <a:buAutoNum type="arabicPeriod"/>
              <a:tabLst>
                <a:tab pos="71374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inversion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x</a:t>
            </a:r>
            <a:r>
              <a:rPr sz="2800" i="1" spc="-25" dirty="0">
                <a:latin typeface="Calibri"/>
                <a:cs typeface="Calibri"/>
              </a:rPr>
              <a:t>=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700" i="1" spc="-37" baseline="24691" dirty="0">
                <a:latin typeface="Calibri"/>
                <a:cs typeface="Calibri"/>
              </a:rPr>
              <a:t>-</a:t>
            </a:r>
            <a:r>
              <a:rPr sz="2700" spc="-52" baseline="24691" dirty="0">
                <a:latin typeface="Calibri"/>
                <a:cs typeface="Calibri"/>
              </a:rPr>
              <a:t>1</a:t>
            </a:r>
            <a:r>
              <a:rPr sz="2800" b="1" i="1" spc="-35" dirty="0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713740" lvl="1" indent="-298450">
              <a:lnSpc>
                <a:spcPct val="100000"/>
              </a:lnSpc>
              <a:spcBef>
                <a:spcPts val="645"/>
              </a:spcBef>
              <a:buSzPct val="96428"/>
              <a:buAutoNum type="arabicPeriod"/>
              <a:tabLst>
                <a:tab pos="713740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Gaussian</a:t>
            </a:r>
            <a:r>
              <a:rPr sz="2800" spc="-16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elimination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25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7184" y="878839"/>
            <a:ext cx="8263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Linear</a:t>
            </a:r>
            <a:r>
              <a:rPr sz="3600" spc="-170" dirty="0"/>
              <a:t> </a:t>
            </a:r>
            <a:r>
              <a:rPr sz="3600" dirty="0"/>
              <a:t>Equations:</a:t>
            </a:r>
            <a:r>
              <a:rPr sz="3600" spc="-170" dirty="0"/>
              <a:t> </a:t>
            </a:r>
            <a:r>
              <a:rPr sz="3600" spc="-25" dirty="0"/>
              <a:t>Closed-</a:t>
            </a:r>
            <a:r>
              <a:rPr sz="3600" dirty="0"/>
              <a:t>Form</a:t>
            </a:r>
            <a:r>
              <a:rPr sz="3600" spc="-180" dirty="0"/>
              <a:t> </a:t>
            </a:r>
            <a:r>
              <a:rPr sz="3600" spc="-10" dirty="0"/>
              <a:t>Solutions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4944428" y="1691533"/>
            <a:ext cx="3614420" cy="1450975"/>
            <a:chOff x="4944428" y="1691533"/>
            <a:chExt cx="3614420" cy="1450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5661" y="1732770"/>
              <a:ext cx="3563167" cy="13601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49137" y="1696243"/>
              <a:ext cx="3604895" cy="1441450"/>
            </a:xfrm>
            <a:custGeom>
              <a:avLst/>
              <a:gdLst/>
              <a:ahLst/>
              <a:cxnLst/>
              <a:rect l="l" t="t" r="r" b="b"/>
              <a:pathLst>
                <a:path w="3604895" h="1441450">
                  <a:moveTo>
                    <a:pt x="0" y="0"/>
                  </a:moveTo>
                  <a:lnTo>
                    <a:pt x="3604401" y="0"/>
                  </a:lnTo>
                  <a:lnTo>
                    <a:pt x="3604401" y="1441132"/>
                  </a:lnTo>
                  <a:lnTo>
                    <a:pt x="0" y="1441132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8690" y="3316960"/>
            <a:ext cx="5777730" cy="136030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0119" y="2002367"/>
            <a:ext cx="3093085" cy="63944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170">
              <a:lnSpc>
                <a:spcPts val="2135"/>
              </a:lnSpc>
              <a:spcBef>
                <a:spcPts val="250"/>
              </a:spcBef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1.</a:t>
            </a:r>
            <a:r>
              <a:rPr sz="18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Matrix</a:t>
            </a:r>
            <a:r>
              <a:rPr sz="18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Formulation:</a:t>
            </a:r>
            <a:r>
              <a:rPr sz="18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Ax</a:t>
            </a:r>
            <a:r>
              <a:rPr sz="1800" spc="-20" dirty="0">
                <a:latin typeface="Calibri"/>
                <a:cs typeface="Calibri"/>
              </a:rPr>
              <a:t>=</a:t>
            </a:r>
            <a:r>
              <a:rPr sz="1800" b="1" i="1" spc="-2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  <a:p>
            <a:pPr marL="90170">
              <a:lnSpc>
                <a:spcPts val="2135"/>
              </a:lnSpc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Solution:</a:t>
            </a:r>
            <a:r>
              <a:rPr sz="18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b="1" i="1" spc="-35" dirty="0">
                <a:latin typeface="Calibri"/>
                <a:cs typeface="Calibri"/>
              </a:rPr>
              <a:t>x=A</a:t>
            </a:r>
            <a:r>
              <a:rPr sz="1800" b="1" i="1" spc="-52" baseline="23148" dirty="0">
                <a:latin typeface="Calibri"/>
                <a:cs typeface="Calibri"/>
              </a:rPr>
              <a:t>-</a:t>
            </a:r>
            <a:r>
              <a:rPr sz="1800" spc="-37" baseline="23148" dirty="0">
                <a:latin typeface="Calibri"/>
                <a:cs typeface="Calibri"/>
              </a:rPr>
              <a:t>1</a:t>
            </a:r>
            <a:r>
              <a:rPr sz="1800" b="1" i="1" spc="-25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0119" y="4413672"/>
            <a:ext cx="3100705" cy="63944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0170" marR="112395">
              <a:lnSpc>
                <a:spcPct val="102200"/>
              </a:lnSpc>
              <a:spcBef>
                <a:spcPts val="200"/>
              </a:spcBef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2.</a:t>
            </a:r>
            <a:r>
              <a:rPr sz="18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Gaussian</a:t>
            </a:r>
            <a:r>
              <a:rPr sz="18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Elimination followed</a:t>
            </a:r>
            <a:r>
              <a:rPr sz="1800" spc="-3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by</a:t>
            </a:r>
            <a:r>
              <a:rPr sz="1800" spc="-2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60066"/>
                </a:solidFill>
                <a:latin typeface="Arial"/>
                <a:cs typeface="Arial"/>
              </a:rPr>
              <a:t>back-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substitution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83828" y="5685261"/>
            <a:ext cx="6871334" cy="1336040"/>
            <a:chOff x="2683828" y="5685261"/>
            <a:chExt cx="6871334" cy="133604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2421" y="5722006"/>
              <a:ext cx="6769731" cy="12515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88537" y="5689970"/>
              <a:ext cx="6862445" cy="1327150"/>
            </a:xfrm>
            <a:custGeom>
              <a:avLst/>
              <a:gdLst/>
              <a:ahLst/>
              <a:cxnLst/>
              <a:rect l="l" t="t" r="r" b="b"/>
              <a:pathLst>
                <a:path w="6862445" h="1327150">
                  <a:moveTo>
                    <a:pt x="6861862" y="1326533"/>
                  </a:moveTo>
                  <a:lnTo>
                    <a:pt x="0" y="1326533"/>
                  </a:lnTo>
                  <a:lnTo>
                    <a:pt x="0" y="0"/>
                  </a:lnTo>
                  <a:lnTo>
                    <a:pt x="6861862" y="0"/>
                  </a:lnTo>
                </a:path>
              </a:pathLst>
            </a:custGeom>
            <a:ln w="941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101407" y="5383848"/>
            <a:ext cx="1450975" cy="725805"/>
            <a:chOff x="1101407" y="5383848"/>
            <a:chExt cx="1450975" cy="72580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8750" y="5393267"/>
              <a:ext cx="1335866" cy="68249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06117" y="5388557"/>
              <a:ext cx="1441450" cy="716280"/>
            </a:xfrm>
            <a:custGeom>
              <a:avLst/>
              <a:gdLst/>
              <a:ahLst/>
              <a:cxnLst/>
              <a:rect l="l" t="t" r="r" b="b"/>
              <a:pathLst>
                <a:path w="1441450" h="716279">
                  <a:moveTo>
                    <a:pt x="0" y="0"/>
                  </a:moveTo>
                  <a:lnTo>
                    <a:pt x="1441132" y="0"/>
                  </a:lnTo>
                  <a:lnTo>
                    <a:pt x="1441132" y="715856"/>
                  </a:lnTo>
                  <a:lnTo>
                    <a:pt x="0" y="715856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74457" y="5338064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L</a:t>
            </a:r>
            <a:r>
              <a:rPr sz="1800" spc="-30" baseline="-13888" dirty="0">
                <a:latin typeface="Calibri"/>
                <a:cs typeface="Calibri"/>
              </a:rPr>
              <a:t>2</a:t>
            </a:r>
            <a:r>
              <a:rPr sz="1800" spc="-2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3L</a:t>
            </a:r>
            <a:r>
              <a:rPr sz="1800" spc="-15" baseline="-13888" dirty="0">
                <a:latin typeface="Calibri"/>
                <a:cs typeface="Calibri"/>
              </a:rPr>
              <a:t>1</a:t>
            </a:r>
            <a:r>
              <a:rPr sz="1800" spc="-10" dirty="0">
                <a:latin typeface="Meiryo UI"/>
                <a:cs typeface="Meiryo UI"/>
              </a:rPr>
              <a:t>➔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15" baseline="-13888" dirty="0">
                <a:latin typeface="Calibri"/>
                <a:cs typeface="Calibri"/>
              </a:rPr>
              <a:t>2</a:t>
            </a:r>
            <a:endParaRPr sz="1800" baseline="-13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56877" y="5338064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L</a:t>
            </a:r>
            <a:r>
              <a:rPr sz="1800" spc="-30" baseline="-13888" dirty="0">
                <a:latin typeface="Calibri"/>
                <a:cs typeface="Calibri"/>
              </a:rPr>
              <a:t>3</a:t>
            </a:r>
            <a:r>
              <a:rPr sz="1800" spc="-2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2L</a:t>
            </a:r>
            <a:r>
              <a:rPr sz="1800" spc="-15" baseline="-13888" dirty="0">
                <a:latin typeface="Calibri"/>
                <a:cs typeface="Calibri"/>
              </a:rPr>
              <a:t>1</a:t>
            </a:r>
            <a:r>
              <a:rPr sz="1800" spc="-10" dirty="0">
                <a:latin typeface="Meiryo UI"/>
                <a:cs typeface="Meiryo UI"/>
              </a:rPr>
              <a:t>➔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15" baseline="-13888" dirty="0">
                <a:latin typeface="Calibri"/>
                <a:cs typeface="Calibri"/>
              </a:rPr>
              <a:t>3</a:t>
            </a:r>
            <a:endParaRPr sz="1800" baseline="-13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90004" y="5338064"/>
            <a:ext cx="915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-L</a:t>
            </a:r>
            <a:r>
              <a:rPr sz="1800" spc="-15" baseline="-13888" dirty="0">
                <a:latin typeface="Calibri"/>
                <a:cs typeface="Calibri"/>
              </a:rPr>
              <a:t>2</a:t>
            </a:r>
            <a:r>
              <a:rPr sz="1800" spc="-10" dirty="0">
                <a:latin typeface="Calibri"/>
                <a:cs typeface="Calibri"/>
              </a:rPr>
              <a:t>/4</a:t>
            </a:r>
            <a:r>
              <a:rPr sz="1800" spc="-10" dirty="0">
                <a:latin typeface="Meiryo UI"/>
                <a:cs typeface="Meiryo UI"/>
              </a:rPr>
              <a:t>➔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15" baseline="-13888" dirty="0">
                <a:latin typeface="Calibri"/>
                <a:cs typeface="Calibri"/>
              </a:rPr>
              <a:t>2</a:t>
            </a:r>
            <a:endParaRPr sz="1800" baseline="-138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320419" y="6735220"/>
            <a:ext cx="2378075" cy="422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used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iteratively</a:t>
            </a:r>
            <a:endParaRPr sz="2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6823" y="721359"/>
            <a:ext cx="8686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89090" algn="l"/>
              </a:tabLst>
            </a:pPr>
            <a:r>
              <a:rPr sz="4000" spc="-25" dirty="0"/>
              <a:t>Disadvantage</a:t>
            </a:r>
            <a:r>
              <a:rPr sz="4000" spc="-110" dirty="0"/>
              <a:t> </a:t>
            </a:r>
            <a:r>
              <a:rPr sz="4000" dirty="0"/>
              <a:t>of</a:t>
            </a:r>
            <a:r>
              <a:rPr sz="4000" spc="-95" dirty="0"/>
              <a:t> </a:t>
            </a:r>
            <a:r>
              <a:rPr sz="4000" spc="-40" dirty="0"/>
              <a:t>closed-</a:t>
            </a:r>
            <a:r>
              <a:rPr sz="4000" spc="-20" dirty="0"/>
              <a:t>form</a:t>
            </a:r>
            <a:r>
              <a:rPr sz="4000" dirty="0"/>
              <a:t>	</a:t>
            </a:r>
            <a:r>
              <a:rPr sz="4000" spc="-20" dirty="0"/>
              <a:t>solutions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573023" y="1633728"/>
            <a:ext cx="8824595" cy="50876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63855" marR="558165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A</a:t>
            </a:r>
            <a:r>
              <a:rPr sz="3150" i="1" spc="-22" baseline="23809" dirty="0">
                <a:latin typeface="Calibri"/>
                <a:cs typeface="Calibri"/>
              </a:rPr>
              <a:t>-</a:t>
            </a:r>
            <a:r>
              <a:rPr sz="3150" baseline="23809" dirty="0">
                <a:latin typeface="Calibri"/>
                <a:cs typeface="Calibri"/>
              </a:rPr>
              <a:t>1</a:t>
            </a:r>
            <a:r>
              <a:rPr sz="3150" spc="-15" baseline="23809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exists,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same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A</a:t>
            </a:r>
            <a:r>
              <a:rPr sz="3150" i="1" spc="-22" baseline="23809" dirty="0">
                <a:latin typeface="Calibri"/>
                <a:cs typeface="Calibri"/>
              </a:rPr>
              <a:t>-</a:t>
            </a:r>
            <a:r>
              <a:rPr sz="3150" baseline="23809" dirty="0">
                <a:latin typeface="Calibri"/>
                <a:cs typeface="Calibri"/>
              </a:rPr>
              <a:t>1</a:t>
            </a:r>
            <a:r>
              <a:rPr sz="3150" spc="-15" baseline="23809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used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any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given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50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  <a:p>
            <a:pPr marL="758825" marR="1247140" lvl="1" indent="-281305">
              <a:lnSpc>
                <a:spcPct val="101400"/>
              </a:lnSpc>
              <a:spcBef>
                <a:spcPts val="405"/>
              </a:spcBef>
              <a:buChar char="–"/>
              <a:tabLst>
                <a:tab pos="76009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But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A</a:t>
            </a:r>
            <a:r>
              <a:rPr sz="2700" i="1" spc="-15" baseline="24691" dirty="0">
                <a:latin typeface="Calibri"/>
                <a:cs typeface="Calibri"/>
              </a:rPr>
              <a:t>-</a:t>
            </a:r>
            <a:r>
              <a:rPr sz="2700" baseline="24691" dirty="0">
                <a:latin typeface="Calibri"/>
                <a:cs typeface="Calibri"/>
              </a:rPr>
              <a:t>1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cannot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represented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sufficient 	precision</a:t>
            </a:r>
            <a:endParaRPr sz="2800">
              <a:latin typeface="Arial"/>
              <a:cs typeface="Arial"/>
            </a:endParaRPr>
          </a:p>
          <a:p>
            <a:pPr marL="758825" lvl="1" indent="-281305">
              <a:lnSpc>
                <a:spcPct val="100000"/>
              </a:lnSpc>
              <a:spcBef>
                <a:spcPts val="625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not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used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practice</a:t>
            </a:r>
            <a:endParaRPr sz="2800">
              <a:latin typeface="Arial"/>
              <a:cs typeface="Arial"/>
            </a:endParaRPr>
          </a:p>
          <a:p>
            <a:pPr marL="3638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Gaussian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elimination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also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disadvantages</a:t>
            </a:r>
            <a:endParaRPr sz="3200">
              <a:latin typeface="Arial"/>
              <a:cs typeface="Arial"/>
            </a:endParaRPr>
          </a:p>
          <a:p>
            <a:pPr marL="758825" lvl="1" indent="-281305">
              <a:lnSpc>
                <a:spcPct val="100000"/>
              </a:lnSpc>
              <a:spcBef>
                <a:spcPts val="570"/>
              </a:spcBef>
              <a:buChar char="–"/>
              <a:tabLst>
                <a:tab pos="75882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numerical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instability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(division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by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small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no.)</a:t>
            </a:r>
            <a:endParaRPr sz="2800">
              <a:latin typeface="Arial"/>
              <a:cs typeface="Arial"/>
            </a:endParaRPr>
          </a:p>
          <a:p>
            <a:pPr marL="760095" lvl="1" indent="-282575">
              <a:lnSpc>
                <a:spcPct val="100000"/>
              </a:lnSpc>
              <a:spcBef>
                <a:spcPts val="530"/>
              </a:spcBef>
              <a:buFont typeface="Calibri"/>
              <a:buChar char="–"/>
              <a:tabLst>
                <a:tab pos="760095" algn="l"/>
              </a:tabLst>
            </a:pPr>
            <a:r>
              <a:rPr sz="2800" i="1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700" baseline="24691" dirty="0">
                <a:latin typeface="Calibri"/>
                <a:cs typeface="Calibri"/>
              </a:rPr>
              <a:t>3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for</a:t>
            </a:r>
            <a:r>
              <a:rPr sz="2800" spc="-4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i="1" spc="15" dirty="0">
                <a:latin typeface="Calibri"/>
                <a:cs typeface="Calibri"/>
              </a:rPr>
              <a:t> </a:t>
            </a:r>
            <a:r>
              <a:rPr sz="2800" dirty="0">
                <a:latin typeface="Arial"/>
                <a:cs typeface="Arial"/>
              </a:rPr>
              <a:t>x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i="1" spc="9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endParaRPr sz="2800">
              <a:latin typeface="Arial"/>
              <a:cs typeface="Arial"/>
            </a:endParaRPr>
          </a:p>
          <a:p>
            <a:pPr marL="3638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Software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solutions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value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b</a:t>
            </a:r>
            <a:r>
              <a:rPr sz="3200" b="1" i="1" spc="5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finding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50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  <a:p>
            <a:pPr marL="758825" lvl="1" indent="-281305">
              <a:lnSpc>
                <a:spcPct val="100000"/>
              </a:lnSpc>
              <a:spcBef>
                <a:spcPts val="545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E.g.,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difference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(derivative)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between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b</a:t>
            </a:r>
            <a:r>
              <a:rPr sz="2800" b="1" i="1" spc="1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output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320419" y="6710836"/>
            <a:ext cx="3385185" cy="424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5"/>
              </a:lnSpc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solution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for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any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real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α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04406" y="709167"/>
            <a:ext cx="785240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How</a:t>
            </a:r>
            <a:r>
              <a:rPr sz="4000" spc="-170" dirty="0"/>
              <a:t> </a:t>
            </a:r>
            <a:r>
              <a:rPr sz="4000" dirty="0"/>
              <a:t>many</a:t>
            </a:r>
            <a:r>
              <a:rPr sz="4000" spc="-155" dirty="0"/>
              <a:t> </a:t>
            </a:r>
            <a:r>
              <a:rPr sz="4000" spc="-10" dirty="0"/>
              <a:t>solutions</a:t>
            </a:r>
            <a:r>
              <a:rPr sz="4000" spc="-160" dirty="0"/>
              <a:t> </a:t>
            </a:r>
            <a:r>
              <a:rPr sz="4000" dirty="0"/>
              <a:t>for</a:t>
            </a:r>
            <a:r>
              <a:rPr sz="4000" spc="-145" dirty="0"/>
              <a:t> </a:t>
            </a:r>
            <a:r>
              <a:rPr sz="4000" i="1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4000" b="1" i="1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4000" i="1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4000" b="1" i="1" dirty="0">
                <a:solidFill>
                  <a:srgbClr val="000000"/>
                </a:solidFill>
                <a:latin typeface="Calibri"/>
                <a:cs typeface="Calibri"/>
              </a:rPr>
              <a:t>b</a:t>
            </a:r>
            <a:r>
              <a:rPr sz="4000" b="1" i="1" spc="-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spc="-10" dirty="0"/>
              <a:t>exist?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0323" y="1337926"/>
            <a:ext cx="5688965" cy="166243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System</a:t>
            </a:r>
            <a:r>
              <a:rPr sz="3200" spc="-1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equations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endParaRPr sz="3200">
              <a:latin typeface="Arial"/>
              <a:cs typeface="Arial"/>
            </a:endParaRPr>
          </a:p>
          <a:p>
            <a:pPr marL="490220">
              <a:lnSpc>
                <a:spcPct val="100000"/>
              </a:lnSpc>
              <a:spcBef>
                <a:spcPts val="565"/>
              </a:spcBef>
              <a:tabLst>
                <a:tab pos="860425" algn="l"/>
              </a:tabLst>
            </a:pPr>
            <a:r>
              <a:rPr sz="2800" spc="-50" dirty="0">
                <a:latin typeface="Times New Roman"/>
                <a:cs typeface="Times New Roman"/>
              </a:rPr>
              <a:t>–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i="1" dirty="0">
                <a:latin typeface="Times New Roman"/>
                <a:cs typeface="Times New Roman"/>
              </a:rPr>
              <a:t>n</a:t>
            </a:r>
            <a:r>
              <a:rPr sz="2800" i="1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variables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m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equations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is:</a:t>
            </a:r>
            <a:endParaRPr sz="2800">
              <a:latin typeface="Arial"/>
              <a:cs typeface="Arial"/>
            </a:endParaRPr>
          </a:p>
          <a:p>
            <a:pPr marL="376555" indent="-338455">
              <a:lnSpc>
                <a:spcPct val="100000"/>
              </a:lnSpc>
              <a:spcBef>
                <a:spcPts val="63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Solution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35" dirty="0">
                <a:latin typeface="Calibri"/>
                <a:cs typeface="Calibri"/>
              </a:rPr>
              <a:t>x</a:t>
            </a:r>
            <a:r>
              <a:rPr sz="3200" i="1" spc="-35" dirty="0">
                <a:latin typeface="Calibri"/>
                <a:cs typeface="Calibri"/>
              </a:rPr>
              <a:t>=A</a:t>
            </a:r>
            <a:r>
              <a:rPr sz="3150" i="1" spc="-52" baseline="23809" dirty="0">
                <a:latin typeface="Calibri"/>
                <a:cs typeface="Calibri"/>
              </a:rPr>
              <a:t>-</a:t>
            </a:r>
            <a:r>
              <a:rPr sz="3150" spc="-37" baseline="23809" dirty="0">
                <a:latin typeface="Calibri"/>
                <a:cs typeface="Calibri"/>
              </a:rPr>
              <a:t>1</a:t>
            </a:r>
            <a:r>
              <a:rPr sz="3200" b="1" i="1" spc="-25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623" y="3060192"/>
            <a:ext cx="8677275" cy="3651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89255" algn="l"/>
                <a:tab pos="4480560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order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A</a:t>
            </a:r>
            <a:r>
              <a:rPr sz="3150" i="1" spc="-22" baseline="23809" dirty="0">
                <a:latin typeface="Calibri"/>
                <a:cs typeface="Calibri"/>
              </a:rPr>
              <a:t>-</a:t>
            </a:r>
            <a:r>
              <a:rPr sz="3150" baseline="23809" dirty="0">
                <a:latin typeface="Calibri"/>
                <a:cs typeface="Calibri"/>
              </a:rPr>
              <a:t>1</a:t>
            </a:r>
            <a:r>
              <a:rPr sz="3150" spc="127" baseline="23809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exist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b="1" i="1" dirty="0">
                <a:latin typeface="Calibri"/>
                <a:cs typeface="Calibri"/>
              </a:rPr>
              <a:t>x</a:t>
            </a:r>
            <a:r>
              <a:rPr sz="3200" i="1" dirty="0">
                <a:latin typeface="Calibri"/>
                <a:cs typeface="Calibri"/>
              </a:rPr>
              <a:t>=</a:t>
            </a:r>
            <a:r>
              <a:rPr sz="3200" b="1" i="1" dirty="0">
                <a:latin typeface="Calibri"/>
                <a:cs typeface="Calibri"/>
              </a:rPr>
              <a:t>b</a:t>
            </a:r>
            <a:r>
              <a:rPr sz="3200" b="1" i="1" spc="-3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must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have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3333CC"/>
                </a:solidFill>
                <a:latin typeface="Arial"/>
                <a:cs typeface="Arial"/>
              </a:rPr>
              <a:t>exactly</a:t>
            </a:r>
            <a:endParaRPr sz="3200">
              <a:latin typeface="Arial"/>
              <a:cs typeface="Arial"/>
            </a:endParaRPr>
          </a:p>
          <a:p>
            <a:pPr marL="389255">
              <a:lnSpc>
                <a:spcPct val="100000"/>
              </a:lnSpc>
              <a:spcBef>
                <a:spcPts val="45"/>
              </a:spcBef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solution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every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value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50" dirty="0"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  <a:p>
            <a:pPr marL="784225" marR="149860" lvl="1" indent="-281305">
              <a:lnSpc>
                <a:spcPct val="96800"/>
              </a:lnSpc>
              <a:spcBef>
                <a:spcPts val="775"/>
              </a:spcBef>
              <a:buChar char="–"/>
              <a:tabLst>
                <a:tab pos="78549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also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possible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for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system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equations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to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have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336600"/>
                </a:solidFill>
                <a:latin typeface="Arial"/>
                <a:cs typeface="Arial"/>
              </a:rPr>
              <a:t>no</a:t>
            </a:r>
            <a:r>
              <a:rPr sz="2800" i="1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336600"/>
                </a:solidFill>
                <a:latin typeface="Arial"/>
                <a:cs typeface="Arial"/>
              </a:rPr>
              <a:t>solutions</a:t>
            </a:r>
            <a:r>
              <a:rPr sz="2800" i="1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or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336600"/>
                </a:solidFill>
                <a:latin typeface="Arial"/>
                <a:cs typeface="Arial"/>
              </a:rPr>
              <a:t>infinite</a:t>
            </a:r>
            <a:r>
              <a:rPr sz="2800" i="1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336600"/>
                </a:solidFill>
                <a:latin typeface="Arial"/>
                <a:cs typeface="Arial"/>
              </a:rPr>
              <a:t>no.</a:t>
            </a:r>
            <a:r>
              <a:rPr sz="2800" i="1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i="1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336600"/>
                </a:solidFill>
                <a:latin typeface="Arial"/>
                <a:cs typeface="Arial"/>
              </a:rPr>
              <a:t>solutions</a:t>
            </a:r>
            <a:r>
              <a:rPr sz="2800" i="1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for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some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values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1179830" marR="232410" lvl="2" indent="-224790">
              <a:lnSpc>
                <a:spcPts val="2780"/>
              </a:lnSpc>
              <a:spcBef>
                <a:spcPts val="815"/>
              </a:spcBef>
              <a:buChar char="•"/>
              <a:tabLst>
                <a:tab pos="118110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It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not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possible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have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more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than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one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but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fewer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than 	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infinitely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many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solutions</a:t>
            </a:r>
            <a:endParaRPr sz="2400">
              <a:latin typeface="Arial"/>
              <a:cs typeface="Arial"/>
            </a:endParaRPr>
          </a:p>
          <a:p>
            <a:pPr marL="784225" lvl="1" indent="-281305">
              <a:lnSpc>
                <a:spcPct val="100000"/>
              </a:lnSpc>
              <a:spcBef>
                <a:spcPts val="560"/>
              </a:spcBef>
              <a:buChar char="–"/>
              <a:tabLst>
                <a:tab pos="784225" algn="l"/>
                <a:tab pos="7598409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x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y</a:t>
            </a:r>
            <a:r>
              <a:rPr sz="2800" b="1" i="1" spc="6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are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solutions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then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z</a:t>
            </a:r>
            <a:r>
              <a:rPr sz="2800" i="1" dirty="0">
                <a:latin typeface="Times New Roman"/>
                <a:cs typeface="Times New Roman"/>
              </a:rPr>
              <a:t>=α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Calibri"/>
                <a:cs typeface="Calibri"/>
              </a:rPr>
              <a:t>x </a:t>
            </a:r>
            <a:r>
              <a:rPr sz="2800" i="1" dirty="0">
                <a:latin typeface="Times New Roman"/>
                <a:cs typeface="Times New Roman"/>
              </a:rPr>
              <a:t>+</a:t>
            </a:r>
            <a:r>
              <a:rPr sz="2800" i="1" spc="-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(</a:t>
            </a:r>
            <a:r>
              <a:rPr sz="2800" i="1" spc="-25" dirty="0">
                <a:latin typeface="Times New Roman"/>
                <a:cs typeface="Times New Roman"/>
              </a:rPr>
              <a:t>1-</a:t>
            </a:r>
            <a:r>
              <a:rPr sz="2800" i="1" dirty="0">
                <a:latin typeface="Times New Roman"/>
                <a:cs typeface="Times New Roman"/>
              </a:rPr>
              <a:t>α</a:t>
            </a:r>
            <a:r>
              <a:rPr sz="2800" dirty="0">
                <a:latin typeface="Times New Roman"/>
                <a:cs typeface="Times New Roman"/>
              </a:rPr>
              <a:t>)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b="1" i="1" spc="-60" dirty="0">
                <a:latin typeface="Calibri"/>
                <a:cs typeface="Calibri"/>
              </a:rPr>
              <a:t>y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6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82263" y="1394830"/>
            <a:ext cx="2496185" cy="1315720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204470" marR="200025" indent="13335">
              <a:lnSpc>
                <a:spcPts val="2530"/>
              </a:lnSpc>
              <a:spcBef>
                <a:spcPts val="90"/>
              </a:spcBef>
            </a:pPr>
            <a:r>
              <a:rPr sz="1450" i="1" spc="-25" dirty="0">
                <a:latin typeface="Times New Roman"/>
                <a:cs typeface="Times New Roman"/>
              </a:rPr>
              <a:t>A</a:t>
            </a:r>
            <a:r>
              <a:rPr sz="1275" i="1" spc="-37" baseline="-35947" dirty="0">
                <a:latin typeface="Times New Roman"/>
                <a:cs typeface="Times New Roman"/>
              </a:rPr>
              <a:t>11</a:t>
            </a:r>
            <a:r>
              <a:rPr sz="1450" i="1" spc="-25" dirty="0">
                <a:latin typeface="Times New Roman"/>
                <a:cs typeface="Times New Roman"/>
              </a:rPr>
              <a:t>x</a:t>
            </a:r>
            <a:r>
              <a:rPr sz="1275" i="1" spc="-37" baseline="-35947" dirty="0">
                <a:latin typeface="Times New Roman"/>
                <a:cs typeface="Times New Roman"/>
              </a:rPr>
              <a:t>1</a:t>
            </a:r>
            <a:r>
              <a:rPr sz="1275" i="1" spc="-30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60" dirty="0">
                <a:latin typeface="Times New Roman"/>
                <a:cs typeface="Times New Roman"/>
              </a:rPr>
              <a:t> A</a:t>
            </a:r>
            <a:r>
              <a:rPr sz="1275" i="1" spc="-89" baseline="-35947" dirty="0">
                <a:latin typeface="Times New Roman"/>
                <a:cs typeface="Times New Roman"/>
              </a:rPr>
              <a:t>12</a:t>
            </a:r>
            <a:r>
              <a:rPr sz="1275" i="1" spc="-157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5947" dirty="0">
                <a:latin typeface="Times New Roman"/>
                <a:cs typeface="Times New Roman"/>
              </a:rPr>
              <a:t>2</a:t>
            </a:r>
            <a:r>
              <a:rPr sz="1275" i="1" spc="30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225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....+</a:t>
            </a:r>
            <a:r>
              <a:rPr sz="1450" i="1" spc="-60" dirty="0">
                <a:latin typeface="Times New Roman"/>
                <a:cs typeface="Times New Roman"/>
              </a:rPr>
              <a:t> A</a:t>
            </a:r>
            <a:r>
              <a:rPr sz="1275" i="1" spc="-89" baseline="-35947" dirty="0">
                <a:latin typeface="Times New Roman"/>
                <a:cs typeface="Times New Roman"/>
              </a:rPr>
              <a:t>1n</a:t>
            </a:r>
            <a:r>
              <a:rPr sz="1275" i="1" spc="-157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5947" dirty="0">
                <a:latin typeface="Times New Roman"/>
                <a:cs typeface="Times New Roman"/>
              </a:rPr>
              <a:t>n</a:t>
            </a:r>
            <a:r>
              <a:rPr sz="1275" i="1" spc="82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=</a:t>
            </a:r>
            <a:r>
              <a:rPr sz="1450" i="1" spc="-125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b</a:t>
            </a:r>
            <a:r>
              <a:rPr sz="1275" i="1" spc="-37" baseline="-35947" dirty="0">
                <a:latin typeface="Times New Roman"/>
                <a:cs typeface="Times New Roman"/>
              </a:rPr>
              <a:t>1</a:t>
            </a:r>
            <a:r>
              <a:rPr sz="1275" i="1" spc="750" baseline="-35947" dirty="0">
                <a:latin typeface="Times New Roman"/>
                <a:cs typeface="Times New Roman"/>
              </a:rPr>
              <a:t> </a:t>
            </a:r>
            <a:r>
              <a:rPr sz="1450" i="1" spc="-30" dirty="0">
                <a:latin typeface="Times New Roman"/>
                <a:cs typeface="Times New Roman"/>
              </a:rPr>
              <a:t>A</a:t>
            </a:r>
            <a:r>
              <a:rPr sz="1275" spc="-44" baseline="-35947" dirty="0">
                <a:latin typeface="Cambria"/>
                <a:cs typeface="Cambria"/>
              </a:rPr>
              <a:t>2</a:t>
            </a:r>
            <a:r>
              <a:rPr sz="1275" i="1" spc="-44" baseline="-35947" dirty="0">
                <a:latin typeface="Times New Roman"/>
                <a:cs typeface="Times New Roman"/>
              </a:rPr>
              <a:t>1</a:t>
            </a:r>
            <a:r>
              <a:rPr sz="1450" i="1" spc="-30" dirty="0">
                <a:latin typeface="Times New Roman"/>
                <a:cs typeface="Times New Roman"/>
              </a:rPr>
              <a:t>x</a:t>
            </a:r>
            <a:r>
              <a:rPr sz="1275" i="1" spc="-44" baseline="-35947" dirty="0">
                <a:latin typeface="Times New Roman"/>
                <a:cs typeface="Times New Roman"/>
              </a:rPr>
              <a:t>1</a:t>
            </a:r>
            <a:r>
              <a:rPr sz="1275" i="1" spc="-30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55" dirty="0">
                <a:latin typeface="Times New Roman"/>
                <a:cs typeface="Times New Roman"/>
              </a:rPr>
              <a:t> </a:t>
            </a:r>
            <a:r>
              <a:rPr sz="1450" i="1" spc="-70" dirty="0">
                <a:latin typeface="Times New Roman"/>
                <a:cs typeface="Times New Roman"/>
              </a:rPr>
              <a:t>A</a:t>
            </a:r>
            <a:r>
              <a:rPr sz="1275" spc="-104" baseline="-35947" dirty="0">
                <a:latin typeface="Cambria"/>
                <a:cs typeface="Cambria"/>
              </a:rPr>
              <a:t>2</a:t>
            </a:r>
            <a:r>
              <a:rPr sz="1275" i="1" spc="-104" baseline="-35947" dirty="0">
                <a:latin typeface="Times New Roman"/>
                <a:cs typeface="Times New Roman"/>
              </a:rPr>
              <a:t>2</a:t>
            </a:r>
            <a:r>
              <a:rPr sz="1275" i="1" spc="-157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5947" dirty="0">
                <a:latin typeface="Times New Roman"/>
                <a:cs typeface="Times New Roman"/>
              </a:rPr>
              <a:t>2</a:t>
            </a:r>
            <a:r>
              <a:rPr sz="1275" i="1" spc="37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220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....+</a:t>
            </a:r>
            <a:r>
              <a:rPr sz="1450" i="1" spc="-60" dirty="0">
                <a:latin typeface="Times New Roman"/>
                <a:cs typeface="Times New Roman"/>
              </a:rPr>
              <a:t> </a:t>
            </a:r>
            <a:r>
              <a:rPr sz="1450" i="1" spc="-55" dirty="0">
                <a:latin typeface="Times New Roman"/>
                <a:cs typeface="Times New Roman"/>
              </a:rPr>
              <a:t>A</a:t>
            </a:r>
            <a:r>
              <a:rPr sz="1275" spc="-82" baseline="-35947" dirty="0">
                <a:latin typeface="Cambria"/>
                <a:cs typeface="Cambria"/>
              </a:rPr>
              <a:t>2</a:t>
            </a:r>
            <a:r>
              <a:rPr sz="1275" i="1" spc="-82" baseline="-35947" dirty="0">
                <a:latin typeface="Times New Roman"/>
                <a:cs typeface="Times New Roman"/>
              </a:rPr>
              <a:t>n</a:t>
            </a:r>
            <a:r>
              <a:rPr sz="1275" i="1" spc="-150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5947" dirty="0">
                <a:latin typeface="Times New Roman"/>
                <a:cs typeface="Times New Roman"/>
              </a:rPr>
              <a:t>n</a:t>
            </a:r>
            <a:r>
              <a:rPr sz="1275" i="1" spc="82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=</a:t>
            </a:r>
            <a:r>
              <a:rPr sz="1450" i="1" spc="-125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b</a:t>
            </a:r>
            <a:r>
              <a:rPr sz="1275" i="1" spc="-37" baseline="-35947" dirty="0">
                <a:latin typeface="Times New Roman"/>
                <a:cs typeface="Times New Roman"/>
              </a:rPr>
              <a:t>2</a:t>
            </a:r>
            <a:endParaRPr sz="1275" baseline="-35947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450">
              <a:latin typeface="Times New Roman"/>
              <a:cs typeface="Times New Roman"/>
            </a:endParaRPr>
          </a:p>
          <a:p>
            <a:pPr marL="148590">
              <a:lnSpc>
                <a:spcPct val="100000"/>
              </a:lnSpc>
            </a:pPr>
            <a:r>
              <a:rPr sz="1450" i="1" spc="-20" dirty="0">
                <a:latin typeface="Times New Roman"/>
                <a:cs typeface="Times New Roman"/>
              </a:rPr>
              <a:t>A</a:t>
            </a:r>
            <a:r>
              <a:rPr sz="1275" i="1" spc="-30" baseline="-35947" dirty="0">
                <a:latin typeface="Cambria"/>
                <a:cs typeface="Cambria"/>
              </a:rPr>
              <a:t>m</a:t>
            </a:r>
            <a:r>
              <a:rPr sz="1275" i="1" spc="-30" baseline="-35947" dirty="0">
                <a:latin typeface="Times New Roman"/>
                <a:cs typeface="Times New Roman"/>
              </a:rPr>
              <a:t>1</a:t>
            </a:r>
            <a:r>
              <a:rPr sz="1450" i="1" spc="-20" dirty="0">
                <a:latin typeface="Times New Roman"/>
                <a:cs typeface="Times New Roman"/>
              </a:rPr>
              <a:t>x</a:t>
            </a:r>
            <a:r>
              <a:rPr sz="1275" i="1" spc="-30" baseline="-35947" dirty="0">
                <a:latin typeface="Times New Roman"/>
                <a:cs typeface="Times New Roman"/>
              </a:rPr>
              <a:t>1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60" dirty="0">
                <a:latin typeface="Times New Roman"/>
                <a:cs typeface="Times New Roman"/>
              </a:rPr>
              <a:t> </a:t>
            </a:r>
            <a:r>
              <a:rPr sz="1450" i="1" spc="-45" dirty="0">
                <a:latin typeface="Times New Roman"/>
                <a:cs typeface="Times New Roman"/>
              </a:rPr>
              <a:t>A</a:t>
            </a:r>
            <a:r>
              <a:rPr sz="1275" i="1" spc="-67" baseline="-35947" dirty="0">
                <a:latin typeface="Cambria"/>
                <a:cs typeface="Cambria"/>
              </a:rPr>
              <a:t>m</a:t>
            </a:r>
            <a:r>
              <a:rPr sz="1275" i="1" spc="-67" baseline="-35947" dirty="0">
                <a:latin typeface="Times New Roman"/>
                <a:cs typeface="Times New Roman"/>
              </a:rPr>
              <a:t>2</a:t>
            </a:r>
            <a:r>
              <a:rPr sz="1275" i="1" spc="-150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5947" dirty="0">
                <a:latin typeface="Times New Roman"/>
                <a:cs typeface="Times New Roman"/>
              </a:rPr>
              <a:t>2</a:t>
            </a:r>
            <a:r>
              <a:rPr sz="1275" i="1" spc="30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+</a:t>
            </a:r>
            <a:r>
              <a:rPr sz="1450" i="1" spc="-220" dirty="0">
                <a:latin typeface="Times New Roman"/>
                <a:cs typeface="Times New Roman"/>
              </a:rPr>
              <a:t> </a:t>
            </a:r>
            <a:r>
              <a:rPr sz="1450" i="1" spc="-10" dirty="0">
                <a:latin typeface="Times New Roman"/>
                <a:cs typeface="Times New Roman"/>
              </a:rPr>
              <a:t>....+</a:t>
            </a:r>
            <a:r>
              <a:rPr sz="1450" i="1" spc="-60" dirty="0">
                <a:latin typeface="Times New Roman"/>
                <a:cs typeface="Times New Roman"/>
              </a:rPr>
              <a:t> </a:t>
            </a:r>
            <a:r>
              <a:rPr sz="1450" i="1" spc="-70" dirty="0">
                <a:latin typeface="Times New Roman"/>
                <a:cs typeface="Times New Roman"/>
              </a:rPr>
              <a:t>A</a:t>
            </a:r>
            <a:r>
              <a:rPr sz="1275" i="1" spc="-104" baseline="-35947" dirty="0">
                <a:latin typeface="Cambria"/>
                <a:cs typeface="Cambria"/>
              </a:rPr>
              <a:t>m</a:t>
            </a:r>
            <a:r>
              <a:rPr sz="1275" i="1" spc="-104" baseline="-35947" dirty="0">
                <a:latin typeface="Times New Roman"/>
                <a:cs typeface="Times New Roman"/>
              </a:rPr>
              <a:t>n</a:t>
            </a:r>
            <a:r>
              <a:rPr sz="1275" i="1" spc="-157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x</a:t>
            </a:r>
            <a:r>
              <a:rPr sz="1275" i="1" baseline="-35947" dirty="0">
                <a:latin typeface="Times New Roman"/>
                <a:cs typeface="Times New Roman"/>
              </a:rPr>
              <a:t>n</a:t>
            </a:r>
            <a:r>
              <a:rPr sz="1275" i="1" spc="82" baseline="-35947" dirty="0">
                <a:latin typeface="Times New Roman"/>
                <a:cs typeface="Times New Roman"/>
              </a:rPr>
              <a:t> </a:t>
            </a:r>
            <a:r>
              <a:rPr sz="1450" i="1" dirty="0">
                <a:latin typeface="Times New Roman"/>
                <a:cs typeface="Times New Roman"/>
              </a:rPr>
              <a:t>=</a:t>
            </a:r>
            <a:r>
              <a:rPr sz="1450" i="1" spc="-125" dirty="0">
                <a:latin typeface="Times New Roman"/>
                <a:cs typeface="Times New Roman"/>
              </a:rPr>
              <a:t> </a:t>
            </a:r>
            <a:r>
              <a:rPr sz="1450" i="1" spc="-25" dirty="0">
                <a:latin typeface="Times New Roman"/>
                <a:cs typeface="Times New Roman"/>
              </a:rPr>
              <a:t>b</a:t>
            </a:r>
            <a:r>
              <a:rPr sz="1275" i="1" spc="-37" baseline="-35947" dirty="0">
                <a:latin typeface="Cambria"/>
                <a:cs typeface="Cambria"/>
              </a:rPr>
              <a:t>m</a:t>
            </a:r>
            <a:endParaRPr sz="1275" baseline="-35947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0686" y="691895"/>
            <a:ext cx="58375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Span</a:t>
            </a:r>
            <a:r>
              <a:rPr spc="-130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dirty="0"/>
              <a:t>set</a:t>
            </a:r>
            <a:r>
              <a:rPr spc="-114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10" dirty="0"/>
              <a:t>vectors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1569720"/>
            <a:ext cx="8646160" cy="148145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63855" marR="17780" indent="-339090">
              <a:lnSpc>
                <a:spcPts val="3820"/>
              </a:lnSpc>
              <a:spcBef>
                <a:spcPts val="24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Span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set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vectors: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set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points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obtained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3333CC"/>
                </a:solidFill>
                <a:latin typeface="Arial"/>
                <a:cs typeface="Arial"/>
              </a:rPr>
              <a:t>linear</a:t>
            </a:r>
            <a:r>
              <a:rPr sz="3200" i="1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3333CC"/>
                </a:solidFill>
                <a:latin typeface="Arial"/>
                <a:cs typeface="Arial"/>
              </a:rPr>
              <a:t>combination</a:t>
            </a:r>
            <a:r>
              <a:rPr sz="3200" i="1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those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endParaRPr sz="3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32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linear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combination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{</a:t>
            </a:r>
            <a:r>
              <a:rPr sz="2800" b="1" i="1" dirty="0">
                <a:latin typeface="Calibri"/>
                <a:cs typeface="Calibri"/>
              </a:rPr>
              <a:t>v</a:t>
            </a:r>
            <a:r>
              <a:rPr sz="2700" baseline="24691" dirty="0">
                <a:latin typeface="Calibri"/>
                <a:cs typeface="Calibri"/>
              </a:rPr>
              <a:t>(1</a:t>
            </a:r>
            <a:r>
              <a:rPr sz="2700" i="1" baseline="24691" dirty="0">
                <a:latin typeface="Calibri"/>
                <a:cs typeface="Calibri"/>
              </a:rPr>
              <a:t>)</a:t>
            </a:r>
            <a:r>
              <a:rPr sz="2800" i="1" dirty="0">
                <a:latin typeface="Calibri"/>
                <a:cs typeface="Calibri"/>
              </a:rPr>
              <a:t>,..,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</a:t>
            </a:r>
            <a:r>
              <a:rPr sz="2700" baseline="24691" dirty="0">
                <a:latin typeface="Calibri"/>
                <a:cs typeface="Calibri"/>
              </a:rPr>
              <a:t>(</a:t>
            </a:r>
            <a:r>
              <a:rPr sz="2700" i="1" baseline="24691" dirty="0">
                <a:latin typeface="Calibri"/>
                <a:cs typeface="Calibri"/>
              </a:rPr>
              <a:t>n</a:t>
            </a:r>
            <a:r>
              <a:rPr sz="2700" baseline="24691" dirty="0">
                <a:latin typeface="Calibri"/>
                <a:cs typeface="Calibri"/>
              </a:rPr>
              <a:t>)</a:t>
            </a:r>
            <a:r>
              <a:rPr sz="2800" dirty="0">
                <a:latin typeface="Calibri"/>
                <a:cs typeface="Calibri"/>
              </a:rPr>
              <a:t>}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5019" y="3031743"/>
            <a:ext cx="24549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coefficients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c</a:t>
            </a:r>
            <a:r>
              <a:rPr sz="2700" i="1" baseline="-18518" dirty="0">
                <a:latin typeface="Calibri"/>
                <a:cs typeface="Calibri"/>
              </a:rPr>
              <a:t>i</a:t>
            </a:r>
            <a:r>
              <a:rPr sz="2700" i="1" spc="60" baseline="-18518" dirty="0"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5144" y="3444917"/>
            <a:ext cx="7394575" cy="140081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06705" indent="-281305">
              <a:lnSpc>
                <a:spcPct val="100000"/>
              </a:lnSpc>
              <a:spcBef>
                <a:spcPts val="735"/>
              </a:spcBef>
              <a:buChar char="–"/>
              <a:tabLst>
                <a:tab pos="3067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System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equations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Ax</a:t>
            </a:r>
            <a:r>
              <a:rPr sz="2800" i="1" spc="-20" dirty="0">
                <a:latin typeface="Calibri"/>
                <a:cs typeface="Calibri"/>
              </a:rPr>
              <a:t>=</a:t>
            </a:r>
            <a:r>
              <a:rPr sz="2800" b="1" i="1" spc="-20" dirty="0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701675" lvl="1" indent="-224790">
              <a:lnSpc>
                <a:spcPct val="100000"/>
              </a:lnSpc>
              <a:spcBef>
                <a:spcPts val="540"/>
              </a:spcBef>
              <a:buChar char="•"/>
              <a:tabLst>
                <a:tab pos="70167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column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,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i.e.,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baseline="-17361" dirty="0">
                <a:latin typeface="Calibri"/>
                <a:cs typeface="Calibri"/>
              </a:rPr>
              <a:t>:</a:t>
            </a:r>
            <a:r>
              <a:rPr sz="2400" i="1" baseline="-17361" dirty="0">
                <a:latin typeface="Calibri"/>
                <a:cs typeface="Calibri"/>
              </a:rPr>
              <a:t>i</a:t>
            </a:r>
            <a:r>
              <a:rPr sz="2400" i="1" spc="337" baseline="-17361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specifies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travel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in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direction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i</a:t>
            </a:r>
            <a:endParaRPr sz="2400">
              <a:latin typeface="Calibri"/>
              <a:cs typeface="Calibri"/>
            </a:endParaRPr>
          </a:p>
          <a:p>
            <a:pPr marL="701675" lvl="1" indent="-224790">
              <a:lnSpc>
                <a:spcPct val="100000"/>
              </a:lnSpc>
              <a:spcBef>
                <a:spcPts val="530"/>
              </a:spcBef>
              <a:buChar char="•"/>
              <a:tabLst>
                <a:tab pos="70167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How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much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need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travel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given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by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x</a:t>
            </a:r>
            <a:r>
              <a:rPr sz="2400" i="1" spc="-37" baseline="-17361" dirty="0">
                <a:latin typeface="Calibri"/>
                <a:cs typeface="Calibri"/>
              </a:rPr>
              <a:t>i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9963" y="4899152"/>
            <a:ext cx="5300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har char="•"/>
              <a:tabLst>
                <a:tab pos="23749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This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linear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combination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vectors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844" y="5329935"/>
            <a:ext cx="8055609" cy="1737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4005" marR="5080" indent="-281305">
              <a:lnSpc>
                <a:spcPct val="99600"/>
              </a:lnSpc>
              <a:spcBef>
                <a:spcPts val="110"/>
              </a:spcBef>
              <a:buChar char="–"/>
              <a:tabLst>
                <a:tab pos="29527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Thus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determining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whether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Ax</a:t>
            </a:r>
            <a:r>
              <a:rPr sz="2800" i="1" dirty="0">
                <a:latin typeface="Calibri"/>
                <a:cs typeface="Calibri"/>
              </a:rPr>
              <a:t>=</a:t>
            </a:r>
            <a:r>
              <a:rPr sz="2800" b="1" i="1" dirty="0">
                <a:latin typeface="Calibri"/>
                <a:cs typeface="Calibri"/>
              </a:rPr>
              <a:t>b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has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solution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is 	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equivalent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determining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whether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b</a:t>
            </a:r>
            <a:r>
              <a:rPr sz="2800" b="1" i="1" spc="5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span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columns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688975" lvl="1" indent="-224790">
              <a:lnSpc>
                <a:spcPct val="100000"/>
              </a:lnSpc>
              <a:spcBef>
                <a:spcPts val="545"/>
              </a:spcBef>
              <a:buChar char="•"/>
              <a:tabLst>
                <a:tab pos="68897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This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span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referred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660066"/>
                </a:solidFill>
                <a:latin typeface="Arial"/>
                <a:cs typeface="Arial"/>
              </a:rPr>
              <a:t>column</a:t>
            </a:r>
            <a:r>
              <a:rPr sz="2400" i="1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660066"/>
                </a:solidFill>
                <a:latin typeface="Arial"/>
                <a:cs typeface="Arial"/>
              </a:rPr>
              <a:t>space</a:t>
            </a:r>
            <a:r>
              <a:rPr sz="2400" i="1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or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660066"/>
                </a:solidFill>
                <a:latin typeface="Arial"/>
                <a:cs typeface="Arial"/>
              </a:rPr>
              <a:t>range</a:t>
            </a:r>
            <a:r>
              <a:rPr sz="2400" i="1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91842" y="5285275"/>
            <a:ext cx="5334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050" i="1" spc="-50" dirty="0">
                <a:latin typeface="Cambria"/>
                <a:cs typeface="Cambria"/>
              </a:rPr>
              <a:t>i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91806" y="4852196"/>
            <a:ext cx="133667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b="1" i="1" spc="160" dirty="0">
                <a:latin typeface="Palatino Linotype"/>
                <a:cs typeface="Palatino Linotype"/>
              </a:rPr>
              <a:t>Ax</a:t>
            </a:r>
            <a:r>
              <a:rPr sz="1800" b="1" i="1" spc="-150" dirty="0">
                <a:latin typeface="Palatino Linotype"/>
                <a:cs typeface="Palatino Linotype"/>
              </a:rPr>
              <a:t> </a:t>
            </a:r>
            <a:r>
              <a:rPr sz="1800" i="1" spc="425" dirty="0">
                <a:latin typeface="Cambria"/>
                <a:cs typeface="Cambria"/>
              </a:rPr>
              <a:t>=</a:t>
            </a:r>
            <a:r>
              <a:rPr sz="1800" i="1" spc="-30" dirty="0">
                <a:latin typeface="Cambria"/>
                <a:cs typeface="Cambria"/>
              </a:rPr>
              <a:t> </a:t>
            </a:r>
            <a:r>
              <a:rPr sz="4050" spc="82" baseline="-7201" dirty="0">
                <a:latin typeface="Symbol"/>
                <a:cs typeface="Symbol"/>
              </a:rPr>
              <a:t></a:t>
            </a:r>
            <a:r>
              <a:rPr sz="1800" i="1" spc="55" dirty="0">
                <a:latin typeface="Cambria"/>
                <a:cs typeface="Cambria"/>
              </a:rPr>
              <a:t>x</a:t>
            </a:r>
            <a:r>
              <a:rPr sz="1575" i="1" spc="82" baseline="-34391" dirty="0">
                <a:latin typeface="Cambria"/>
                <a:cs typeface="Cambria"/>
              </a:rPr>
              <a:t>i</a:t>
            </a:r>
            <a:r>
              <a:rPr sz="1800" i="1" spc="55" dirty="0">
                <a:latin typeface="Cambria"/>
                <a:cs typeface="Cambria"/>
              </a:rPr>
              <a:t>A</a:t>
            </a:r>
            <a:r>
              <a:rPr sz="1575" i="1" spc="82" baseline="-34391" dirty="0">
                <a:latin typeface="Cambria"/>
                <a:cs typeface="Cambria"/>
              </a:rPr>
              <a:t>:,</a:t>
            </a:r>
            <a:r>
              <a:rPr sz="1575" i="1" spc="-112" baseline="-34391" dirty="0">
                <a:latin typeface="Cambria"/>
                <a:cs typeface="Cambria"/>
              </a:rPr>
              <a:t> </a:t>
            </a:r>
            <a:r>
              <a:rPr sz="1575" i="1" spc="-75" baseline="-34391" dirty="0">
                <a:latin typeface="Cambria"/>
                <a:cs typeface="Cambria"/>
              </a:rPr>
              <a:t>i</a:t>
            </a:r>
            <a:endParaRPr sz="1575" baseline="-34391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88700" y="4936437"/>
            <a:ext cx="1361440" cy="543560"/>
          </a:xfrm>
          <a:custGeom>
            <a:avLst/>
            <a:gdLst/>
            <a:ahLst/>
            <a:cxnLst/>
            <a:rect l="l" t="t" r="r" b="b"/>
            <a:pathLst>
              <a:path w="1361440" h="543560">
                <a:moveTo>
                  <a:pt x="0" y="0"/>
                </a:moveTo>
                <a:lnTo>
                  <a:pt x="1361070" y="0"/>
                </a:lnTo>
                <a:lnTo>
                  <a:pt x="1361070" y="543171"/>
                </a:lnTo>
                <a:lnTo>
                  <a:pt x="0" y="543171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76364" y="3336804"/>
            <a:ext cx="4953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050" i="1" spc="-50" dirty="0"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14611" y="3088990"/>
            <a:ext cx="257175" cy="57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3140"/>
              </a:lnSpc>
              <a:spcBef>
                <a:spcPts val="100"/>
              </a:spcBef>
            </a:pPr>
            <a:r>
              <a:rPr sz="2700" spc="-50" dirty="0">
                <a:latin typeface="Symbol"/>
                <a:cs typeface="Symbol"/>
              </a:rPr>
              <a:t></a:t>
            </a:r>
            <a:endParaRPr sz="2700">
              <a:latin typeface="Symbol"/>
              <a:cs typeface="Symbol"/>
            </a:endParaRPr>
          </a:p>
          <a:p>
            <a:pPr marR="4445" algn="ctr">
              <a:lnSpc>
                <a:spcPts val="1160"/>
              </a:lnSpc>
            </a:pPr>
            <a:r>
              <a:rPr sz="1050" i="1" spc="-50" dirty="0"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1051" y="3158092"/>
            <a:ext cx="271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mbria"/>
                <a:cs typeface="Cambria"/>
              </a:rPr>
              <a:t>c</a:t>
            </a:r>
            <a:r>
              <a:rPr sz="1800" i="1" spc="-100" dirty="0">
                <a:latin typeface="Cambria"/>
                <a:cs typeface="Cambria"/>
              </a:rPr>
              <a:t> </a:t>
            </a:r>
            <a:r>
              <a:rPr sz="1800" b="1" i="1" spc="50" dirty="0">
                <a:latin typeface="Calibri"/>
                <a:cs typeface="Calibri"/>
              </a:rPr>
              <a:t>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32251" y="3152135"/>
            <a:ext cx="156845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050" i="1" spc="-25" dirty="0">
                <a:latin typeface="Cambria"/>
                <a:cs typeface="Cambria"/>
              </a:rPr>
              <a:t>(i)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78962" y="3127957"/>
            <a:ext cx="752475" cy="543560"/>
          </a:xfrm>
          <a:custGeom>
            <a:avLst/>
            <a:gdLst/>
            <a:ahLst/>
            <a:cxnLst/>
            <a:rect l="l" t="t" r="r" b="b"/>
            <a:pathLst>
              <a:path w="752475" h="543560">
                <a:moveTo>
                  <a:pt x="0" y="0"/>
                </a:moveTo>
                <a:lnTo>
                  <a:pt x="751963" y="0"/>
                </a:lnTo>
                <a:lnTo>
                  <a:pt x="751963" y="543171"/>
                </a:lnTo>
                <a:lnTo>
                  <a:pt x="0" y="543171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47576" y="728471"/>
            <a:ext cx="776668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Conditions</a:t>
            </a:r>
            <a:r>
              <a:rPr spc="-150" dirty="0"/>
              <a:t> </a:t>
            </a:r>
            <a:r>
              <a:rPr dirty="0"/>
              <a:t>for</a:t>
            </a:r>
            <a:r>
              <a:rPr spc="-145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dirty="0"/>
              <a:t>solution</a:t>
            </a:r>
            <a:r>
              <a:rPr spc="-145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z="4000" i="1" spc="-2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4000" b="1" i="1" spc="-2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4000" i="1" spc="-20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4000" b="1" i="1" spc="-20" dirty="0">
                <a:solidFill>
                  <a:srgbClr val="000000"/>
                </a:solidFill>
                <a:latin typeface="Calibri"/>
                <a:cs typeface="Calibri"/>
              </a:rPr>
              <a:t>b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730" y="1408176"/>
            <a:ext cx="7341234" cy="15062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64490" marR="17780" indent="-339090">
              <a:lnSpc>
                <a:spcPct val="101299"/>
              </a:lnSpc>
              <a:spcBef>
                <a:spcPts val="50"/>
              </a:spcBef>
              <a:buChar char="•"/>
              <a:tabLst>
                <a:tab pos="364490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must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square,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i.e.,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m=n</a:t>
            </a:r>
            <a:r>
              <a:rPr sz="3200" i="1" spc="-9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all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columns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must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3333CC"/>
                </a:solidFill>
                <a:latin typeface="Arial"/>
                <a:cs typeface="Arial"/>
              </a:rPr>
              <a:t>linearly</a:t>
            </a:r>
            <a:r>
              <a:rPr sz="3200" i="1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3333CC"/>
                </a:solidFill>
                <a:latin typeface="Arial"/>
                <a:cs typeface="Arial"/>
              </a:rPr>
              <a:t>independent</a:t>
            </a:r>
            <a:endParaRPr sz="3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565"/>
              </a:spcBef>
              <a:tabLst>
                <a:tab pos="444309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Necessary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condition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</a:t>
            </a:r>
            <a:r>
              <a:rPr sz="3525" i="1" spc="179" baseline="11820" dirty="0">
                <a:latin typeface="Calibri"/>
                <a:cs typeface="Calibri"/>
              </a:rPr>
              <a:t>n</a:t>
            </a:r>
            <a:r>
              <a:rPr sz="3525" i="1" spc="-150" baseline="11820" dirty="0">
                <a:latin typeface="Calibri"/>
                <a:cs typeface="Calibri"/>
              </a:rPr>
              <a:t> </a:t>
            </a:r>
            <a:r>
              <a:rPr sz="3525" i="1" spc="750" baseline="11820" dirty="0">
                <a:latin typeface="Calibri"/>
                <a:cs typeface="Calibri"/>
              </a:rPr>
              <a:t>≥m</a:t>
            </a:r>
            <a:endParaRPr sz="3525" baseline="1182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3150" y="2957576"/>
            <a:ext cx="551815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6910" indent="-224790" algn="ctr">
              <a:lnSpc>
                <a:spcPct val="100000"/>
              </a:lnSpc>
              <a:spcBef>
                <a:spcPts val="100"/>
              </a:spcBef>
              <a:buChar char="•"/>
              <a:tabLst>
                <a:tab pos="67691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For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solution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exist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when</a:t>
            </a:r>
            <a:r>
              <a:rPr sz="2400" spc="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3525" b="1" i="1" baseline="3546" dirty="0">
                <a:latin typeface="Cambria"/>
                <a:cs typeface="Cambria"/>
              </a:rPr>
              <a:t>A</a:t>
            </a:r>
            <a:r>
              <a:rPr sz="3525" b="1" i="1" spc="-390" baseline="3546" dirty="0">
                <a:latin typeface="Cambria"/>
                <a:cs typeface="Cambria"/>
              </a:rPr>
              <a:t> </a:t>
            </a:r>
            <a:r>
              <a:rPr sz="3525" spc="-1072" baseline="3546" dirty="0">
                <a:latin typeface="Symbol"/>
                <a:cs typeface="Symbol"/>
              </a:rPr>
              <a:t></a:t>
            </a:r>
            <a:r>
              <a:rPr sz="3525" spc="-1072" baseline="3546" dirty="0">
                <a:latin typeface="MT Extra"/>
                <a:cs typeface="MT Extra"/>
              </a:rPr>
              <a:t>]]{</a:t>
            </a:r>
            <a:r>
              <a:rPr sz="2025" i="1" spc="-1072" baseline="49382" dirty="0">
                <a:latin typeface="Cambria"/>
                <a:cs typeface="Cambria"/>
              </a:rPr>
              <a:t>m</a:t>
            </a:r>
            <a:r>
              <a:rPr sz="2025" spc="-1072" baseline="49382" dirty="0">
                <a:latin typeface="Symbol"/>
                <a:cs typeface="Symbol"/>
              </a:rPr>
              <a:t></a:t>
            </a:r>
            <a:r>
              <a:rPr sz="2025" i="1" spc="-1072" baseline="49382" dirty="0">
                <a:latin typeface="Cambria"/>
                <a:cs typeface="Cambria"/>
              </a:rPr>
              <a:t>n</a:t>
            </a:r>
            <a:endParaRPr sz="2025" baseline="49382">
              <a:latin typeface="Cambria"/>
              <a:cs typeface="Cambria"/>
            </a:endParaRPr>
          </a:p>
          <a:p>
            <a:pPr marR="514350" algn="ctr">
              <a:lnSpc>
                <a:spcPct val="100000"/>
              </a:lnSpc>
              <a:spcBef>
                <a:spcPts val="25"/>
              </a:spcBef>
              <a:tabLst>
                <a:tab pos="3193415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column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space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be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all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	</a:t>
            </a:r>
            <a:r>
              <a:rPr sz="3525" spc="-1350" baseline="1182" dirty="0">
                <a:latin typeface="MT Extra"/>
                <a:cs typeface="MT Extra"/>
              </a:rPr>
              <a:t>!R</a:t>
            </a:r>
            <a:r>
              <a:rPr sz="2025" i="1" spc="-1350" baseline="47325" dirty="0">
                <a:latin typeface="Cambria"/>
                <a:cs typeface="Cambria"/>
              </a:rPr>
              <a:t>m</a:t>
            </a:r>
            <a:endParaRPr sz="2025" baseline="47325">
              <a:latin typeface="Cambria"/>
              <a:cs typeface="Cambria"/>
            </a:endParaRPr>
          </a:p>
          <a:p>
            <a:pPr marR="2115185" algn="ctr">
              <a:lnSpc>
                <a:spcPct val="100000"/>
              </a:lnSpc>
              <a:spcBef>
                <a:spcPts val="509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6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Sufficient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Condition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7307" y="2957576"/>
            <a:ext cx="1939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require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330" y="4252976"/>
            <a:ext cx="8397875" cy="29921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79830" marR="233679" indent="-224790">
              <a:lnSpc>
                <a:spcPct val="100800"/>
              </a:lnSpc>
              <a:spcBef>
                <a:spcPts val="75"/>
              </a:spcBef>
              <a:buChar char="•"/>
              <a:tabLst>
                <a:tab pos="1181100" algn="l"/>
                <a:tab pos="482663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If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columns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linear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combinations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other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columns, 	column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space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less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than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	</a:t>
            </a:r>
            <a:r>
              <a:rPr sz="3525" spc="-1350" baseline="4728" dirty="0">
                <a:latin typeface="MT Extra"/>
                <a:cs typeface="MT Extra"/>
              </a:rPr>
              <a:t>!R</a:t>
            </a:r>
            <a:r>
              <a:rPr sz="2025" i="1" spc="-1350" baseline="51440" dirty="0">
                <a:latin typeface="Cambria"/>
                <a:cs typeface="Cambria"/>
              </a:rPr>
              <a:t>m</a:t>
            </a:r>
            <a:endParaRPr sz="2025" baseline="51440">
              <a:latin typeface="Cambria"/>
              <a:cs typeface="Cambria"/>
            </a:endParaRPr>
          </a:p>
          <a:p>
            <a:pPr marL="433705" algn="ctr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latin typeface="Arial"/>
                <a:cs typeface="Arial"/>
              </a:rPr>
              <a:t>–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Columns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linearly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dependent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matrix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singular</a:t>
            </a:r>
            <a:endParaRPr sz="2000">
              <a:latin typeface="Arial"/>
              <a:cs typeface="Arial"/>
            </a:endParaRPr>
          </a:p>
          <a:p>
            <a:pPr marL="1179830" marR="55880" indent="-224790">
              <a:lnSpc>
                <a:spcPct val="100800"/>
              </a:lnSpc>
              <a:spcBef>
                <a:spcPts val="490"/>
              </a:spcBef>
              <a:buChar char="•"/>
              <a:tabLst>
                <a:tab pos="1181100" algn="l"/>
                <a:tab pos="5730875" algn="l"/>
                <a:tab pos="628777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For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column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space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encompass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	</a:t>
            </a:r>
            <a:r>
              <a:rPr sz="3525" spc="-1350" baseline="-3546" dirty="0">
                <a:latin typeface="MT Extra"/>
                <a:cs typeface="MT Extra"/>
              </a:rPr>
              <a:t>!R</a:t>
            </a:r>
            <a:r>
              <a:rPr sz="2025" i="1" spc="-1350" baseline="37037" dirty="0">
                <a:latin typeface="Cambria"/>
                <a:cs typeface="Cambria"/>
              </a:rPr>
              <a:t>m</a:t>
            </a:r>
            <a:r>
              <a:rPr sz="2025" i="1" baseline="37037" dirty="0">
                <a:latin typeface="Cambria"/>
                <a:cs typeface="Cambria"/>
              </a:rPr>
              <a:t>	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at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least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one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set 	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660066"/>
                </a:solidFill>
                <a:latin typeface="Times New Roman"/>
                <a:cs typeface="Times New Roman"/>
              </a:rPr>
              <a:t>m</a:t>
            </a:r>
            <a:r>
              <a:rPr sz="2400" i="1" spc="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660066"/>
                </a:solidFill>
                <a:latin typeface="Arial"/>
                <a:cs typeface="Arial"/>
              </a:rPr>
              <a:t>linearly</a:t>
            </a:r>
            <a:r>
              <a:rPr sz="2400" i="1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660066"/>
                </a:solidFill>
                <a:latin typeface="Arial"/>
                <a:cs typeface="Arial"/>
              </a:rPr>
              <a:t>independent</a:t>
            </a:r>
            <a:r>
              <a:rPr sz="2400" i="1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columns</a:t>
            </a:r>
            <a:endParaRPr sz="2400">
              <a:latin typeface="Arial"/>
              <a:cs typeface="Arial"/>
            </a:endParaRPr>
          </a:p>
          <a:p>
            <a:pPr marL="389255" indent="-338455">
              <a:lnSpc>
                <a:spcPct val="100000"/>
              </a:lnSpc>
              <a:spcBef>
                <a:spcPts val="615"/>
              </a:spcBef>
              <a:buChar char="•"/>
              <a:tabLst>
                <a:tab pos="389255" algn="l"/>
                <a:tab pos="413321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3333CC"/>
                </a:solidFill>
                <a:latin typeface="Arial"/>
                <a:cs typeface="Arial"/>
              </a:rPr>
              <a:t>non-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square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	singular</a:t>
            </a:r>
            <a:r>
              <a:rPr sz="3200" spc="-20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matrices</a:t>
            </a:r>
            <a:endParaRPr sz="3200">
              <a:latin typeface="Arial"/>
              <a:cs typeface="Arial"/>
            </a:endParaRPr>
          </a:p>
          <a:p>
            <a:pPr marL="50292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Methods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other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than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inversion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used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12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a</a:t>
            </a:r>
            <a:r>
              <a:rPr spc="-120" dirty="0"/>
              <a:t> </a:t>
            </a:r>
            <a:r>
              <a:rPr dirty="0"/>
              <a:t>Vector</a:t>
            </a:r>
            <a:r>
              <a:rPr spc="-114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7844" y="2021114"/>
            <a:ext cx="4247515" cy="10883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2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design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endParaRPr sz="3200">
              <a:latin typeface="Arial"/>
              <a:cs typeface="Arial"/>
            </a:endParaRPr>
          </a:p>
          <a:p>
            <a:pPr marL="464184">
              <a:lnSpc>
                <a:spcPct val="100000"/>
              </a:lnSpc>
              <a:spcBef>
                <a:spcPts val="54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5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samples,</a:t>
            </a:r>
            <a:r>
              <a:rPr sz="2800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D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features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7844" y="5609335"/>
            <a:ext cx="6054090" cy="1042669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141095" indent="-224790">
              <a:lnSpc>
                <a:spcPct val="100000"/>
              </a:lnSpc>
              <a:spcBef>
                <a:spcPts val="650"/>
              </a:spcBef>
              <a:buChar char="•"/>
              <a:tabLst>
                <a:tab pos="1141095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Feature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vector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has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three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dimensions</a:t>
            </a:r>
            <a:endParaRPr sz="24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73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This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regression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problem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3726719"/>
            <a:ext cx="7836747" cy="178428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3311" y="963168"/>
            <a:ext cx="16548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Norms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2017775"/>
            <a:ext cx="8862060" cy="27311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74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Used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measuring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size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endParaRPr sz="3200">
              <a:latin typeface="Arial"/>
              <a:cs typeface="Arial"/>
            </a:endParaRPr>
          </a:p>
          <a:p>
            <a:pPr marL="363855" indent="-338455">
              <a:lnSpc>
                <a:spcPct val="100000"/>
              </a:lnSpc>
              <a:spcBef>
                <a:spcPts val="65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Norms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map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35" dirty="0">
                <a:solidFill>
                  <a:srgbClr val="3333CC"/>
                </a:solidFill>
                <a:latin typeface="Arial"/>
                <a:cs typeface="Arial"/>
              </a:rPr>
              <a:t>non-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negative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values</a:t>
            </a:r>
            <a:endParaRPr sz="3200">
              <a:latin typeface="Arial"/>
              <a:cs typeface="Arial"/>
            </a:endParaRPr>
          </a:p>
          <a:p>
            <a:pPr marL="363855" marR="17780" indent="-339090">
              <a:lnSpc>
                <a:spcPts val="3790"/>
              </a:lnSpc>
              <a:spcBef>
                <a:spcPts val="84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Norm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x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[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700" baseline="-18518" dirty="0">
                <a:latin typeface="Calibri"/>
                <a:cs typeface="Calibri"/>
              </a:rPr>
              <a:t>1</a:t>
            </a:r>
            <a:r>
              <a:rPr sz="2800" i="1" dirty="0">
                <a:latin typeface="Calibri"/>
                <a:cs typeface="Calibri"/>
              </a:rPr>
              <a:t>,..,x</a:t>
            </a:r>
            <a:r>
              <a:rPr sz="2700" i="1" baseline="-18518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]</a:t>
            </a:r>
            <a:r>
              <a:rPr sz="2700" baseline="24691" dirty="0">
                <a:latin typeface="Calibri"/>
                <a:cs typeface="Calibri"/>
              </a:rPr>
              <a:t>T</a:t>
            </a:r>
            <a:r>
              <a:rPr sz="2700" spc="480" baseline="24691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distance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origin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x</a:t>
            </a:r>
            <a:endParaRPr sz="2800">
              <a:latin typeface="Calibri"/>
              <a:cs typeface="Calibri"/>
            </a:endParaRPr>
          </a:p>
          <a:p>
            <a:pPr marL="477520">
              <a:lnSpc>
                <a:spcPct val="100000"/>
              </a:lnSpc>
              <a:spcBef>
                <a:spcPts val="550"/>
              </a:spcBef>
              <a:tabLst>
                <a:tab pos="36925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5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any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function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f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that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satisfies: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6311" y="5470493"/>
            <a:ext cx="2388870" cy="381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-10" dirty="0">
                <a:latin typeface="Cambria"/>
                <a:cs typeface="Cambria"/>
              </a:rPr>
              <a:t>Triangle</a:t>
            </a:r>
            <a:r>
              <a:rPr sz="2300" spc="-8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Inequality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80104" y="6028054"/>
            <a:ext cx="273050" cy="441959"/>
          </a:xfrm>
          <a:custGeom>
            <a:avLst/>
            <a:gdLst/>
            <a:ahLst/>
            <a:cxnLst/>
            <a:rect l="l" t="t" r="r" b="b"/>
            <a:pathLst>
              <a:path w="273050" h="441960">
                <a:moveTo>
                  <a:pt x="14643" y="0"/>
                </a:moveTo>
                <a:lnTo>
                  <a:pt x="0" y="0"/>
                </a:lnTo>
                <a:lnTo>
                  <a:pt x="0" y="441439"/>
                </a:lnTo>
                <a:lnTo>
                  <a:pt x="14643" y="441439"/>
                </a:lnTo>
                <a:lnTo>
                  <a:pt x="14643" y="0"/>
                </a:lnTo>
                <a:close/>
              </a:path>
              <a:path w="273050" h="441960">
                <a:moveTo>
                  <a:pt x="272859" y="0"/>
                </a:moveTo>
                <a:lnTo>
                  <a:pt x="258216" y="0"/>
                </a:lnTo>
                <a:lnTo>
                  <a:pt x="258216" y="441439"/>
                </a:lnTo>
                <a:lnTo>
                  <a:pt x="272859" y="441439"/>
                </a:lnTo>
                <a:lnTo>
                  <a:pt x="2728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53693" y="4701831"/>
            <a:ext cx="3132455" cy="17430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">
              <a:lnSpc>
                <a:spcPts val="4595"/>
              </a:lnSpc>
              <a:spcBef>
                <a:spcPts val="110"/>
              </a:spcBef>
            </a:pPr>
            <a:r>
              <a:rPr sz="2300" i="1" dirty="0">
                <a:latin typeface="Cambria"/>
                <a:cs typeface="Cambria"/>
              </a:rPr>
              <a:t>f</a:t>
            </a:r>
            <a:r>
              <a:rPr sz="2300" i="1" spc="45" dirty="0">
                <a:latin typeface="Cambria"/>
                <a:cs typeface="Cambria"/>
              </a:rPr>
              <a:t> </a:t>
            </a:r>
            <a:r>
              <a:rPr sz="6075" spc="-345" baseline="-4801" dirty="0">
                <a:latin typeface="Symbol"/>
                <a:cs typeface="Symbol"/>
              </a:rPr>
              <a:t></a:t>
            </a:r>
            <a:r>
              <a:rPr sz="2300" b="1" i="1" spc="-229" dirty="0">
                <a:latin typeface="Palatino Linotype"/>
                <a:cs typeface="Palatino Linotype"/>
              </a:rPr>
              <a:t>x</a:t>
            </a:r>
            <a:r>
              <a:rPr sz="2300" b="1" i="1" spc="-225" dirty="0">
                <a:latin typeface="Palatino Linotype"/>
                <a:cs typeface="Palatino Linotype"/>
              </a:rPr>
              <a:t> </a:t>
            </a:r>
            <a:r>
              <a:rPr sz="6075" baseline="-4801" dirty="0">
                <a:latin typeface="Symbol"/>
                <a:cs typeface="Symbol"/>
              </a:rPr>
              <a:t></a:t>
            </a:r>
            <a:r>
              <a:rPr sz="2300" i="1" dirty="0">
                <a:latin typeface="Cambria"/>
                <a:cs typeface="Cambria"/>
              </a:rPr>
              <a:t>=</a:t>
            </a:r>
            <a:r>
              <a:rPr sz="2300" i="1" spc="-9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0</a:t>
            </a:r>
            <a:r>
              <a:rPr sz="2300" spc="-240" dirty="0">
                <a:latin typeface="Cambria"/>
                <a:cs typeface="Cambria"/>
              </a:rPr>
              <a:t> </a:t>
            </a:r>
            <a:r>
              <a:rPr sz="2300" dirty="0">
                <a:latin typeface="Symbol"/>
                <a:cs typeface="Symbol"/>
              </a:rPr>
              <a:t></a:t>
            </a:r>
            <a:r>
              <a:rPr sz="2300" spc="-350" dirty="0">
                <a:latin typeface="Times New Roman"/>
                <a:cs typeface="Times New Roman"/>
              </a:rPr>
              <a:t> </a:t>
            </a:r>
            <a:r>
              <a:rPr sz="2300" b="1" i="1" spc="145" dirty="0">
                <a:latin typeface="Palatino Linotype"/>
                <a:cs typeface="Palatino Linotype"/>
              </a:rPr>
              <a:t>x</a:t>
            </a:r>
            <a:r>
              <a:rPr sz="2300" b="1" i="1" spc="-170" dirty="0">
                <a:latin typeface="Palatino Linotype"/>
                <a:cs typeface="Palatino Linotype"/>
              </a:rPr>
              <a:t> </a:t>
            </a:r>
            <a:r>
              <a:rPr sz="2300" i="1" spc="565" dirty="0">
                <a:latin typeface="Cambria"/>
                <a:cs typeface="Cambria"/>
              </a:rPr>
              <a:t>=</a:t>
            </a:r>
            <a:r>
              <a:rPr sz="2300" i="1" spc="-95" dirty="0">
                <a:latin typeface="Cambria"/>
                <a:cs typeface="Cambria"/>
              </a:rPr>
              <a:t> </a:t>
            </a:r>
            <a:r>
              <a:rPr sz="2300" spc="-50" dirty="0">
                <a:latin typeface="Cambria"/>
                <a:cs typeface="Cambria"/>
              </a:rPr>
              <a:t>0</a:t>
            </a:r>
            <a:endParaRPr sz="2300">
              <a:latin typeface="Cambria"/>
              <a:cs typeface="Cambria"/>
            </a:endParaRPr>
          </a:p>
          <a:p>
            <a:pPr marL="24765">
              <a:lnSpc>
                <a:spcPts val="4325"/>
              </a:lnSpc>
            </a:pPr>
            <a:r>
              <a:rPr sz="2300" i="1" dirty="0">
                <a:latin typeface="Cambria"/>
                <a:cs typeface="Cambria"/>
              </a:rPr>
              <a:t>f(</a:t>
            </a:r>
            <a:r>
              <a:rPr sz="2300" i="1" spc="-200" dirty="0">
                <a:latin typeface="Cambria"/>
                <a:cs typeface="Cambria"/>
              </a:rPr>
              <a:t> </a:t>
            </a:r>
            <a:r>
              <a:rPr sz="2300" b="1" i="1" spc="145" dirty="0">
                <a:latin typeface="Palatino Linotype"/>
                <a:cs typeface="Palatino Linotype"/>
              </a:rPr>
              <a:t>x</a:t>
            </a:r>
            <a:r>
              <a:rPr sz="2300" b="1" i="1" spc="-330" dirty="0">
                <a:latin typeface="Palatino Linotype"/>
                <a:cs typeface="Palatino Linotype"/>
              </a:rPr>
              <a:t> </a:t>
            </a:r>
            <a:r>
              <a:rPr sz="2300" i="1" spc="355" dirty="0">
                <a:latin typeface="Cambria"/>
                <a:cs typeface="Cambria"/>
              </a:rPr>
              <a:t>+</a:t>
            </a:r>
            <a:r>
              <a:rPr sz="2300" b="1" i="1" spc="355" dirty="0">
                <a:latin typeface="Palatino Linotype"/>
                <a:cs typeface="Palatino Linotype"/>
              </a:rPr>
              <a:t>y</a:t>
            </a:r>
            <a:r>
              <a:rPr sz="2300" i="1" spc="355" dirty="0">
                <a:latin typeface="Cambria"/>
                <a:cs typeface="Cambria"/>
              </a:rPr>
              <a:t>)</a:t>
            </a:r>
            <a:r>
              <a:rPr sz="2300" i="1" spc="-195" dirty="0">
                <a:latin typeface="Cambria"/>
                <a:cs typeface="Cambria"/>
              </a:rPr>
              <a:t> </a:t>
            </a:r>
            <a:r>
              <a:rPr sz="2300" i="1" spc="655" dirty="0">
                <a:latin typeface="Calibri"/>
                <a:cs typeface="Calibri"/>
              </a:rPr>
              <a:t>≤</a:t>
            </a:r>
            <a:r>
              <a:rPr sz="2300" i="1" spc="254" dirty="0">
                <a:latin typeface="Calibri"/>
                <a:cs typeface="Calibri"/>
              </a:rPr>
              <a:t> </a:t>
            </a:r>
            <a:r>
              <a:rPr sz="2300" i="1" dirty="0">
                <a:latin typeface="Cambria"/>
                <a:cs typeface="Cambria"/>
              </a:rPr>
              <a:t>f</a:t>
            </a:r>
            <a:r>
              <a:rPr sz="2300" i="1" spc="30" dirty="0">
                <a:latin typeface="Cambria"/>
                <a:cs typeface="Cambria"/>
              </a:rPr>
              <a:t> </a:t>
            </a:r>
            <a:r>
              <a:rPr sz="6075" spc="-345" baseline="-4801" dirty="0">
                <a:latin typeface="Symbol"/>
                <a:cs typeface="Symbol"/>
              </a:rPr>
              <a:t></a:t>
            </a:r>
            <a:r>
              <a:rPr sz="2300" b="1" i="1" spc="-229" dirty="0">
                <a:latin typeface="Palatino Linotype"/>
                <a:cs typeface="Palatino Linotype"/>
              </a:rPr>
              <a:t>x </a:t>
            </a:r>
            <a:r>
              <a:rPr sz="6075" spc="-30" baseline="-4801" dirty="0">
                <a:latin typeface="Symbol"/>
                <a:cs typeface="Symbol"/>
              </a:rPr>
              <a:t></a:t>
            </a:r>
            <a:r>
              <a:rPr sz="2300" i="1" spc="-20" dirty="0">
                <a:latin typeface="Cambria"/>
                <a:cs typeface="Cambria"/>
              </a:rPr>
              <a:t>+</a:t>
            </a:r>
            <a:r>
              <a:rPr sz="2300" i="1" spc="-55" dirty="0">
                <a:latin typeface="Cambria"/>
                <a:cs typeface="Cambria"/>
              </a:rPr>
              <a:t> </a:t>
            </a:r>
            <a:r>
              <a:rPr sz="2300" i="1" dirty="0">
                <a:latin typeface="Cambria"/>
                <a:cs typeface="Cambria"/>
              </a:rPr>
              <a:t>f</a:t>
            </a:r>
            <a:r>
              <a:rPr sz="2300" i="1" spc="30" dirty="0">
                <a:latin typeface="Cambria"/>
                <a:cs typeface="Cambria"/>
              </a:rPr>
              <a:t> </a:t>
            </a:r>
            <a:r>
              <a:rPr sz="6075" spc="-427" baseline="-4801" dirty="0">
                <a:latin typeface="Symbol"/>
                <a:cs typeface="Symbol"/>
              </a:rPr>
              <a:t></a:t>
            </a:r>
            <a:r>
              <a:rPr sz="2300" b="1" i="1" spc="-285" dirty="0">
                <a:latin typeface="Palatino Linotype"/>
                <a:cs typeface="Palatino Linotype"/>
              </a:rPr>
              <a:t>y</a:t>
            </a:r>
            <a:r>
              <a:rPr sz="2300" b="1" i="1" spc="-335" dirty="0">
                <a:latin typeface="Palatino Linotype"/>
                <a:cs typeface="Palatino Linotype"/>
              </a:rPr>
              <a:t> </a:t>
            </a:r>
            <a:r>
              <a:rPr sz="6075" spc="-952" baseline="-4801" dirty="0">
                <a:latin typeface="Symbol"/>
                <a:cs typeface="Symbol"/>
              </a:rPr>
              <a:t></a:t>
            </a:r>
            <a:endParaRPr sz="6075" baseline="-4801">
              <a:latin typeface="Symbol"/>
              <a:cs typeface="Symbol"/>
            </a:endParaRPr>
          </a:p>
          <a:p>
            <a:pPr marL="12700">
              <a:lnSpc>
                <a:spcPts val="4595"/>
              </a:lnSpc>
              <a:tabLst>
                <a:tab pos="1181100" algn="l"/>
              </a:tabLst>
            </a:pPr>
            <a:r>
              <a:rPr sz="2300" dirty="0">
                <a:latin typeface="Symbol"/>
                <a:cs typeface="Symbol"/>
              </a:rPr>
              <a:t></a:t>
            </a:r>
            <a:r>
              <a:rPr sz="2350" i="1" dirty="0">
                <a:latin typeface="Symbol"/>
                <a:cs typeface="Symbol"/>
              </a:rPr>
              <a:t>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00" spc="85" dirty="0">
                <a:latin typeface="Symbol"/>
                <a:cs typeface="Symbol"/>
              </a:rPr>
              <a:t></a:t>
            </a:r>
            <a:r>
              <a:rPr sz="2300" i="1" spc="85" dirty="0">
                <a:latin typeface="Cambria"/>
                <a:cs typeface="Cambria"/>
              </a:rPr>
              <a:t>R</a:t>
            </a:r>
            <a:r>
              <a:rPr sz="2300" i="1" dirty="0">
                <a:latin typeface="Cambria"/>
                <a:cs typeface="Cambria"/>
              </a:rPr>
              <a:t>	f</a:t>
            </a:r>
            <a:r>
              <a:rPr sz="2300" i="1" spc="25" dirty="0">
                <a:latin typeface="Cambria"/>
                <a:cs typeface="Cambria"/>
              </a:rPr>
              <a:t> </a:t>
            </a:r>
            <a:r>
              <a:rPr sz="6075" spc="-225" baseline="-4801" dirty="0">
                <a:latin typeface="Symbol"/>
                <a:cs typeface="Symbol"/>
              </a:rPr>
              <a:t></a:t>
            </a:r>
            <a:r>
              <a:rPr sz="2350" i="1" spc="-150" dirty="0">
                <a:latin typeface="Symbol"/>
                <a:cs typeface="Symbol"/>
              </a:rPr>
              <a:t></a:t>
            </a:r>
            <a:r>
              <a:rPr sz="2300" b="1" i="1" spc="-150" dirty="0">
                <a:latin typeface="Palatino Linotype"/>
                <a:cs typeface="Palatino Linotype"/>
              </a:rPr>
              <a:t>x</a:t>
            </a:r>
            <a:r>
              <a:rPr sz="2300" b="1" i="1" spc="-225" dirty="0">
                <a:latin typeface="Palatino Linotype"/>
                <a:cs typeface="Palatino Linotype"/>
              </a:rPr>
              <a:t> </a:t>
            </a:r>
            <a:r>
              <a:rPr sz="6075" baseline="-4801" dirty="0">
                <a:latin typeface="Symbol"/>
                <a:cs typeface="Symbol"/>
              </a:rPr>
              <a:t></a:t>
            </a:r>
            <a:r>
              <a:rPr sz="2300" i="1" dirty="0">
                <a:latin typeface="Cambria"/>
                <a:cs typeface="Cambria"/>
              </a:rPr>
              <a:t>=</a:t>
            </a:r>
            <a:r>
              <a:rPr sz="2300" i="1" spc="204" dirty="0">
                <a:latin typeface="Cambria"/>
                <a:cs typeface="Cambria"/>
              </a:rPr>
              <a:t> </a:t>
            </a:r>
            <a:r>
              <a:rPr sz="2350" i="1" dirty="0">
                <a:latin typeface="Symbol"/>
                <a:cs typeface="Symbol"/>
              </a:rPr>
              <a:t></a:t>
            </a:r>
            <a:r>
              <a:rPr sz="2350" spc="335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Cambria"/>
                <a:cs typeface="Cambria"/>
              </a:rPr>
              <a:t>f</a:t>
            </a:r>
            <a:r>
              <a:rPr sz="2300" i="1" spc="30" dirty="0">
                <a:latin typeface="Cambria"/>
                <a:cs typeface="Cambria"/>
              </a:rPr>
              <a:t> </a:t>
            </a:r>
            <a:r>
              <a:rPr sz="6075" spc="-345" baseline="-4801" dirty="0">
                <a:latin typeface="Symbol"/>
                <a:cs typeface="Symbol"/>
              </a:rPr>
              <a:t></a:t>
            </a:r>
            <a:r>
              <a:rPr sz="2300" b="1" i="1" spc="-229" dirty="0">
                <a:latin typeface="Palatino Linotype"/>
                <a:cs typeface="Palatino Linotype"/>
              </a:rPr>
              <a:t>x</a:t>
            </a:r>
            <a:r>
              <a:rPr sz="2300" b="1" i="1" spc="-225" dirty="0">
                <a:latin typeface="Palatino Linotype"/>
                <a:cs typeface="Palatino Linotype"/>
              </a:rPr>
              <a:t> </a:t>
            </a:r>
            <a:r>
              <a:rPr sz="6075" spc="-952" baseline="-4801" dirty="0">
                <a:latin typeface="Symbol"/>
                <a:cs typeface="Symbol"/>
              </a:rPr>
              <a:t></a:t>
            </a:r>
            <a:endParaRPr sz="6075" baseline="-4801"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8519" y="4861083"/>
            <a:ext cx="5657850" cy="1664335"/>
          </a:xfrm>
          <a:custGeom>
            <a:avLst/>
            <a:gdLst/>
            <a:ahLst/>
            <a:cxnLst/>
            <a:rect l="l" t="t" r="r" b="b"/>
            <a:pathLst>
              <a:path w="5657850" h="1664334">
                <a:moveTo>
                  <a:pt x="0" y="0"/>
                </a:moveTo>
                <a:lnTo>
                  <a:pt x="5657779" y="0"/>
                </a:lnTo>
                <a:lnTo>
                  <a:pt x="5657779" y="1664052"/>
                </a:lnTo>
                <a:lnTo>
                  <a:pt x="0" y="1664052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723" y="1118615"/>
            <a:ext cx="21494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Definition: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444" y="2172207"/>
            <a:ext cx="15881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–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</a:t>
            </a:r>
            <a:r>
              <a:rPr sz="2700" baseline="24691" dirty="0">
                <a:latin typeface="Calibri"/>
                <a:cs typeface="Calibri"/>
              </a:rPr>
              <a:t>2</a:t>
            </a:r>
            <a:r>
              <a:rPr sz="2700" spc="547" baseline="24691" dirty="0"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Norm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2444" y="2615590"/>
            <a:ext cx="5623560" cy="23983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714375" indent="-224790">
              <a:lnSpc>
                <a:spcPct val="100000"/>
              </a:lnSpc>
              <a:spcBef>
                <a:spcPts val="605"/>
              </a:spcBef>
              <a:buChar char="•"/>
              <a:tabLst>
                <a:tab pos="71437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Called</a:t>
            </a:r>
            <a:r>
              <a:rPr sz="2400" spc="-13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Euclidean</a:t>
            </a:r>
            <a:r>
              <a:rPr sz="2400" spc="-13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norm</a:t>
            </a:r>
            <a:endParaRPr sz="2400">
              <a:latin typeface="Arial"/>
              <a:cs typeface="Arial"/>
            </a:endParaRPr>
          </a:p>
          <a:p>
            <a:pPr marL="1166495" marR="639445" lvl="1" indent="-224790">
              <a:lnSpc>
                <a:spcPct val="117000"/>
              </a:lnSpc>
              <a:spcBef>
                <a:spcPts val="20"/>
              </a:spcBef>
              <a:buChar char="–"/>
              <a:tabLst>
                <a:tab pos="1218565" algn="l"/>
              </a:tabLst>
            </a:pPr>
            <a:r>
              <a:rPr sz="2000" dirty="0">
                <a:latin typeface="Arial"/>
                <a:cs typeface="Arial"/>
              </a:rPr>
              <a:t>Simply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Euclidean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distance 	between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origin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point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  <a:p>
            <a:pPr marL="1166495" lvl="1" indent="-224790">
              <a:lnSpc>
                <a:spcPct val="100000"/>
              </a:lnSpc>
              <a:spcBef>
                <a:spcPts val="500"/>
              </a:spcBef>
              <a:buChar char="–"/>
              <a:tabLst>
                <a:tab pos="1166495" algn="l"/>
              </a:tabLst>
            </a:pPr>
            <a:r>
              <a:rPr sz="2000" dirty="0">
                <a:latin typeface="Arial"/>
                <a:cs typeface="Arial"/>
              </a:rPr>
              <a:t>written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simply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Calibri"/>
                <a:cs typeface="Calibri"/>
              </a:rPr>
              <a:t>||</a:t>
            </a:r>
            <a:r>
              <a:rPr sz="2000" b="1" i="1" spc="-20" dirty="0">
                <a:latin typeface="Calibri"/>
                <a:cs typeface="Calibri"/>
              </a:rPr>
              <a:t>x</a:t>
            </a:r>
            <a:r>
              <a:rPr sz="2000" spc="-20" dirty="0">
                <a:latin typeface="Calibri"/>
                <a:cs typeface="Calibri"/>
              </a:rPr>
              <a:t>||</a:t>
            </a:r>
            <a:endParaRPr sz="2000">
              <a:latin typeface="Calibri"/>
              <a:cs typeface="Calibri"/>
            </a:endParaRPr>
          </a:p>
          <a:p>
            <a:pPr marL="1166495" lvl="1" indent="-224790">
              <a:lnSpc>
                <a:spcPct val="100000"/>
              </a:lnSpc>
              <a:spcBef>
                <a:spcPts val="385"/>
              </a:spcBef>
              <a:buChar char="–"/>
              <a:tabLst>
                <a:tab pos="1166495" algn="l"/>
              </a:tabLst>
            </a:pPr>
            <a:r>
              <a:rPr sz="2000" spc="-10" dirty="0">
                <a:latin typeface="Arial"/>
                <a:cs typeface="Arial"/>
              </a:rPr>
              <a:t>Squared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Euclidean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norm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same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b="1" i="1" spc="-25" dirty="0">
                <a:latin typeface="Calibri"/>
                <a:cs typeface="Calibri"/>
              </a:rPr>
              <a:t>x</a:t>
            </a:r>
            <a:r>
              <a:rPr sz="1950" spc="-37" baseline="25641" dirty="0">
                <a:latin typeface="Calibri"/>
                <a:cs typeface="Calibri"/>
              </a:rPr>
              <a:t>T</a:t>
            </a:r>
            <a:r>
              <a:rPr sz="2000" b="1" i="1" spc="-25" dirty="0"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15"/>
              </a:spcBef>
            </a:pPr>
            <a:r>
              <a:rPr sz="2800" dirty="0">
                <a:latin typeface="Calibri"/>
                <a:cs typeface="Calibri"/>
              </a:rPr>
              <a:t>–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</a:t>
            </a:r>
            <a:r>
              <a:rPr sz="2700" baseline="24691" dirty="0">
                <a:latin typeface="Calibri"/>
                <a:cs typeface="Calibri"/>
              </a:rPr>
              <a:t>1</a:t>
            </a:r>
            <a:r>
              <a:rPr sz="2700" spc="345" baseline="24691" dirty="0"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Norm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4563" y="4989982"/>
            <a:ext cx="7401559" cy="8147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24790" indent="-224790" algn="ctr">
              <a:lnSpc>
                <a:spcPct val="100000"/>
              </a:lnSpc>
              <a:spcBef>
                <a:spcPts val="605"/>
              </a:spcBef>
              <a:buChar char="•"/>
              <a:tabLst>
                <a:tab pos="22479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Useful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when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660066"/>
                </a:solidFill>
                <a:latin typeface="Arial"/>
                <a:cs typeface="Arial"/>
              </a:rPr>
              <a:t>non-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zero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have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distinguished</a:t>
            </a:r>
            <a:endParaRPr sz="2400">
              <a:latin typeface="Arial"/>
              <a:cs typeface="Arial"/>
            </a:endParaRPr>
          </a:p>
          <a:p>
            <a:pPr marR="5080" algn="ctr">
              <a:lnSpc>
                <a:spcPct val="100000"/>
              </a:lnSpc>
              <a:spcBef>
                <a:spcPts val="425"/>
              </a:spcBef>
            </a:pPr>
            <a:r>
              <a:rPr sz="2000" dirty="0">
                <a:latin typeface="Arial"/>
                <a:cs typeface="Arial"/>
              </a:rPr>
              <a:t>–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i="1" dirty="0">
                <a:latin typeface="Calibri"/>
                <a:cs typeface="Calibri"/>
              </a:rPr>
              <a:t>L</a:t>
            </a:r>
            <a:r>
              <a:rPr sz="1950" baseline="25641" dirty="0">
                <a:latin typeface="Calibri"/>
                <a:cs typeface="Calibri"/>
              </a:rPr>
              <a:t>2</a:t>
            </a:r>
            <a:r>
              <a:rPr sz="1950" spc="292" baseline="25641" dirty="0">
                <a:latin typeface="Calibri"/>
                <a:cs typeface="Calibri"/>
              </a:rPr>
              <a:t> </a:t>
            </a:r>
            <a:r>
              <a:rPr sz="2000" spc="-10" dirty="0">
                <a:latin typeface="Arial"/>
                <a:cs typeface="Arial"/>
              </a:rPr>
              <a:t>increases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slowly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near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origin,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e.g.,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Calibri"/>
                <a:cs typeface="Calibri"/>
              </a:rPr>
              <a:t>0.1</a:t>
            </a:r>
            <a:r>
              <a:rPr sz="1950" spc="-15" baseline="25641" dirty="0">
                <a:latin typeface="Calibri"/>
                <a:cs typeface="Calibri"/>
              </a:rPr>
              <a:t>2</a:t>
            </a:r>
            <a:r>
              <a:rPr sz="2000" spc="-10" dirty="0">
                <a:latin typeface="Calibri"/>
                <a:cs typeface="Calibri"/>
              </a:rPr>
              <a:t>=0.01</a:t>
            </a:r>
            <a:r>
              <a:rPr sz="2000" spc="-1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444" y="5857239"/>
            <a:ext cx="1651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–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</a:t>
            </a:r>
            <a:r>
              <a:rPr sz="2700" baseline="24691" dirty="0">
                <a:latin typeface="Calibri"/>
                <a:cs typeface="Calibri"/>
              </a:rPr>
              <a:t>∞</a:t>
            </a:r>
            <a:r>
              <a:rPr sz="2700" spc="359" baseline="24691" dirty="0"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Norm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9963" y="6795007"/>
            <a:ext cx="2535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00"/>
              </a:spcBef>
              <a:buChar char="•"/>
              <a:tabLst>
                <a:tab pos="23749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Called</a:t>
            </a:r>
            <a:r>
              <a:rPr sz="2400" spc="-12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max</a:t>
            </a:r>
            <a:r>
              <a:rPr sz="2400" spc="-12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norm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677553" y="1164060"/>
            <a:ext cx="2606040" cy="1978025"/>
            <a:chOff x="6677553" y="1164060"/>
            <a:chExt cx="2606040" cy="19780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6972" y="1173480"/>
              <a:ext cx="2587130" cy="195918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682263" y="1168770"/>
              <a:ext cx="2597150" cy="1969135"/>
            </a:xfrm>
            <a:custGeom>
              <a:avLst/>
              <a:gdLst/>
              <a:ahLst/>
              <a:cxnLst/>
              <a:rect l="l" t="t" r="r" b="b"/>
              <a:pathLst>
                <a:path w="2597150" h="1969135">
                  <a:moveTo>
                    <a:pt x="0" y="0"/>
                  </a:moveTo>
                  <a:lnTo>
                    <a:pt x="2596550" y="0"/>
                  </a:lnTo>
                  <a:lnTo>
                    <a:pt x="2596550" y="1968605"/>
                  </a:lnTo>
                  <a:lnTo>
                    <a:pt x="0" y="1968605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027989" y="463295"/>
            <a:ext cx="20085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14045" algn="l"/>
              </a:tabLst>
            </a:pPr>
            <a:r>
              <a:rPr i="1" spc="-2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4350" i="1" spc="-37" baseline="24904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4350" i="1" baseline="24904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sz="4400" spc="-20" dirty="0"/>
              <a:t>Norm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33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76524" y="1696694"/>
            <a:ext cx="328295" cy="396240"/>
          </a:xfrm>
          <a:custGeom>
            <a:avLst/>
            <a:gdLst/>
            <a:ahLst/>
            <a:cxnLst/>
            <a:rect l="l" t="t" r="r" b="b"/>
            <a:pathLst>
              <a:path w="328295" h="396239">
                <a:moveTo>
                  <a:pt x="13157" y="0"/>
                </a:moveTo>
                <a:lnTo>
                  <a:pt x="0" y="0"/>
                </a:lnTo>
                <a:lnTo>
                  <a:pt x="0" y="396049"/>
                </a:lnTo>
                <a:lnTo>
                  <a:pt x="13157" y="396049"/>
                </a:lnTo>
                <a:lnTo>
                  <a:pt x="13157" y="0"/>
                </a:lnTo>
                <a:close/>
              </a:path>
              <a:path w="328295" h="396239">
                <a:moveTo>
                  <a:pt x="78955" y="0"/>
                </a:moveTo>
                <a:lnTo>
                  <a:pt x="65798" y="0"/>
                </a:lnTo>
                <a:lnTo>
                  <a:pt x="65798" y="396049"/>
                </a:lnTo>
                <a:lnTo>
                  <a:pt x="78955" y="396049"/>
                </a:lnTo>
                <a:lnTo>
                  <a:pt x="78955" y="0"/>
                </a:lnTo>
                <a:close/>
              </a:path>
              <a:path w="328295" h="396239">
                <a:moveTo>
                  <a:pt x="262496" y="0"/>
                </a:moveTo>
                <a:lnTo>
                  <a:pt x="249339" y="0"/>
                </a:lnTo>
                <a:lnTo>
                  <a:pt x="249339" y="396049"/>
                </a:lnTo>
                <a:lnTo>
                  <a:pt x="262496" y="396049"/>
                </a:lnTo>
                <a:lnTo>
                  <a:pt x="262496" y="0"/>
                </a:lnTo>
                <a:close/>
              </a:path>
              <a:path w="328295" h="396239">
                <a:moveTo>
                  <a:pt x="328282" y="0"/>
                </a:moveTo>
                <a:lnTo>
                  <a:pt x="315125" y="0"/>
                </a:lnTo>
                <a:lnTo>
                  <a:pt x="315125" y="396049"/>
                </a:lnTo>
                <a:lnTo>
                  <a:pt x="328282" y="396049"/>
                </a:lnTo>
                <a:lnTo>
                  <a:pt x="328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09667" y="1941561"/>
            <a:ext cx="9144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200" i="1" spc="-50" dirty="0">
                <a:latin typeface="Cambria"/>
                <a:cs typeface="Cambria"/>
              </a:rPr>
              <a:t>p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26216" y="1696694"/>
            <a:ext cx="267335" cy="396240"/>
          </a:xfrm>
          <a:custGeom>
            <a:avLst/>
            <a:gdLst/>
            <a:ahLst/>
            <a:cxnLst/>
            <a:rect l="l" t="t" r="r" b="b"/>
            <a:pathLst>
              <a:path w="267335" h="396239">
                <a:moveTo>
                  <a:pt x="13157" y="0"/>
                </a:moveTo>
                <a:lnTo>
                  <a:pt x="0" y="0"/>
                </a:lnTo>
                <a:lnTo>
                  <a:pt x="0" y="396049"/>
                </a:lnTo>
                <a:lnTo>
                  <a:pt x="13157" y="396049"/>
                </a:lnTo>
                <a:lnTo>
                  <a:pt x="13157" y="0"/>
                </a:lnTo>
                <a:close/>
              </a:path>
              <a:path w="267335" h="396239">
                <a:moveTo>
                  <a:pt x="267335" y="0"/>
                </a:moveTo>
                <a:lnTo>
                  <a:pt x="254177" y="0"/>
                </a:lnTo>
                <a:lnTo>
                  <a:pt x="254177" y="396049"/>
                </a:lnTo>
                <a:lnTo>
                  <a:pt x="267335" y="396049"/>
                </a:lnTo>
                <a:lnTo>
                  <a:pt x="2673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39227" y="2058575"/>
            <a:ext cx="603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200" i="1" spc="-50" dirty="0">
                <a:latin typeface="Cambria"/>
                <a:cs typeface="Cambria"/>
              </a:rPr>
              <a:t>i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21084" y="1555208"/>
            <a:ext cx="1303020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414655" algn="l"/>
              </a:tabLst>
            </a:pPr>
            <a:r>
              <a:rPr sz="2100" b="1" i="1" spc="65" dirty="0">
                <a:latin typeface="Palatino Linotype"/>
                <a:cs typeface="Palatino Linotype"/>
              </a:rPr>
              <a:t>x</a:t>
            </a:r>
            <a:r>
              <a:rPr sz="2100" b="1" i="1" dirty="0">
                <a:latin typeface="Palatino Linotype"/>
                <a:cs typeface="Palatino Linotype"/>
              </a:rPr>
              <a:t>	</a:t>
            </a:r>
            <a:r>
              <a:rPr sz="2100" i="1" spc="484" dirty="0">
                <a:latin typeface="Cambria"/>
                <a:cs typeface="Cambria"/>
              </a:rPr>
              <a:t>=</a:t>
            </a:r>
            <a:r>
              <a:rPr sz="2100" i="1" spc="-75" dirty="0">
                <a:latin typeface="Cambria"/>
                <a:cs typeface="Cambria"/>
              </a:rPr>
              <a:t> </a:t>
            </a:r>
            <a:r>
              <a:rPr sz="3150" baseline="37037" dirty="0">
                <a:latin typeface="Symbol"/>
                <a:cs typeface="Symbol"/>
              </a:rPr>
              <a:t></a:t>
            </a:r>
            <a:r>
              <a:rPr sz="3150" spc="-337" baseline="37037" dirty="0">
                <a:latin typeface="Times New Roman"/>
                <a:cs typeface="Times New Roman"/>
              </a:rPr>
              <a:t> </a:t>
            </a:r>
            <a:r>
              <a:rPr sz="4725" spc="-44" baseline="-7054" dirty="0">
                <a:latin typeface="Symbol"/>
                <a:cs typeface="Symbol"/>
              </a:rPr>
              <a:t></a:t>
            </a:r>
            <a:r>
              <a:rPr sz="4725" spc="-607" baseline="-7054" dirty="0">
                <a:latin typeface="Times New Roman"/>
                <a:cs typeface="Times New Roman"/>
              </a:rPr>
              <a:t> </a:t>
            </a:r>
            <a:r>
              <a:rPr sz="2100" i="1" spc="-50" dirty="0">
                <a:latin typeface="Cambria"/>
                <a:cs typeface="Cambria"/>
              </a:rPr>
              <a:t>x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64496" y="1778157"/>
            <a:ext cx="16573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2100" spc="-430" dirty="0">
                <a:latin typeface="Symbol"/>
                <a:cs typeface="Symbol"/>
              </a:rPr>
              <a:t></a:t>
            </a:r>
            <a:r>
              <a:rPr sz="3150" spc="-644" baseline="-23809" dirty="0">
                <a:latin typeface="Symbol"/>
                <a:cs typeface="Symbol"/>
              </a:rPr>
              <a:t></a:t>
            </a:r>
            <a:endParaRPr sz="3150" baseline="-23809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69816" y="1347491"/>
            <a:ext cx="539115" cy="7810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3655" algn="r">
              <a:lnSpc>
                <a:spcPts val="1120"/>
              </a:lnSpc>
              <a:spcBef>
                <a:spcPts val="110"/>
              </a:spcBef>
            </a:pPr>
            <a:r>
              <a:rPr sz="1200" i="1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  <a:p>
            <a:pPr marL="154305">
              <a:lnSpc>
                <a:spcPts val="2200"/>
              </a:lnSpc>
            </a:pPr>
            <a:r>
              <a:rPr sz="1800" i="1" baseline="-13888" dirty="0">
                <a:latin typeface="Cambria"/>
                <a:cs typeface="Cambria"/>
              </a:rPr>
              <a:t>p</a:t>
            </a:r>
            <a:r>
              <a:rPr sz="1800" i="1" spc="7" baseline="-13888" dirty="0">
                <a:latin typeface="Cambria"/>
                <a:cs typeface="Cambria"/>
              </a:rPr>
              <a:t> </a:t>
            </a:r>
            <a:r>
              <a:rPr sz="3150" baseline="-11904" dirty="0">
                <a:latin typeface="Symbol"/>
                <a:cs typeface="Symbol"/>
              </a:rPr>
              <a:t></a:t>
            </a:r>
            <a:r>
              <a:rPr sz="3150" spc="-202" baseline="-11904" dirty="0">
                <a:latin typeface="Times New Roman"/>
                <a:cs typeface="Times New Roman"/>
              </a:rPr>
              <a:t> </a:t>
            </a:r>
            <a:r>
              <a:rPr sz="1200" i="1" spc="-50" dirty="0">
                <a:latin typeface="Cambria"/>
                <a:cs typeface="Cambria"/>
              </a:rPr>
              <a:t>p</a:t>
            </a:r>
            <a:endParaRPr sz="1200">
              <a:latin typeface="Cambria"/>
              <a:cs typeface="Cambria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70510" algn="l"/>
              </a:tabLst>
            </a:pPr>
            <a:r>
              <a:rPr sz="1200" i="1" spc="-50" dirty="0">
                <a:latin typeface="Cambria"/>
                <a:cs typeface="Cambria"/>
              </a:rPr>
              <a:t>i</a:t>
            </a:r>
            <a:r>
              <a:rPr sz="1200" i="1" dirty="0">
                <a:latin typeface="Cambria"/>
                <a:cs typeface="Cambria"/>
              </a:rPr>
              <a:t>	</a:t>
            </a:r>
            <a:r>
              <a:rPr sz="3150" spc="-644" baseline="1322" dirty="0">
                <a:latin typeface="Symbol"/>
                <a:cs typeface="Symbol"/>
              </a:rPr>
              <a:t></a:t>
            </a:r>
            <a:r>
              <a:rPr sz="3150" spc="-644" baseline="-22486" dirty="0">
                <a:latin typeface="Symbol"/>
                <a:cs typeface="Symbol"/>
              </a:rPr>
              <a:t></a:t>
            </a:r>
            <a:endParaRPr sz="3150" baseline="-22486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40657" y="1319477"/>
            <a:ext cx="1893570" cy="984885"/>
          </a:xfrm>
          <a:custGeom>
            <a:avLst/>
            <a:gdLst/>
            <a:ahLst/>
            <a:cxnLst/>
            <a:rect l="l" t="t" r="r" b="b"/>
            <a:pathLst>
              <a:path w="1893570" h="984885">
                <a:moveTo>
                  <a:pt x="0" y="0"/>
                </a:moveTo>
                <a:lnTo>
                  <a:pt x="1893252" y="0"/>
                </a:lnTo>
                <a:lnTo>
                  <a:pt x="1893252" y="984303"/>
                </a:lnTo>
                <a:lnTo>
                  <a:pt x="0" y="984303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56039" y="5990158"/>
            <a:ext cx="365760" cy="441325"/>
          </a:xfrm>
          <a:custGeom>
            <a:avLst/>
            <a:gdLst/>
            <a:ahLst/>
            <a:cxnLst/>
            <a:rect l="l" t="t" r="r" b="b"/>
            <a:pathLst>
              <a:path w="365760" h="441325">
                <a:moveTo>
                  <a:pt x="14643" y="0"/>
                </a:moveTo>
                <a:lnTo>
                  <a:pt x="0" y="0"/>
                </a:lnTo>
                <a:lnTo>
                  <a:pt x="0" y="441121"/>
                </a:lnTo>
                <a:lnTo>
                  <a:pt x="14643" y="441121"/>
                </a:lnTo>
                <a:lnTo>
                  <a:pt x="14643" y="0"/>
                </a:lnTo>
                <a:close/>
              </a:path>
              <a:path w="365760" h="441325">
                <a:moveTo>
                  <a:pt x="87896" y="0"/>
                </a:moveTo>
                <a:lnTo>
                  <a:pt x="73240" y="0"/>
                </a:lnTo>
                <a:lnTo>
                  <a:pt x="73240" y="441121"/>
                </a:lnTo>
                <a:lnTo>
                  <a:pt x="87896" y="441121"/>
                </a:lnTo>
                <a:lnTo>
                  <a:pt x="87896" y="0"/>
                </a:lnTo>
                <a:close/>
              </a:path>
              <a:path w="365760" h="441325">
                <a:moveTo>
                  <a:pt x="292214" y="0"/>
                </a:moveTo>
                <a:lnTo>
                  <a:pt x="277558" y="0"/>
                </a:lnTo>
                <a:lnTo>
                  <a:pt x="277558" y="441121"/>
                </a:lnTo>
                <a:lnTo>
                  <a:pt x="292214" y="441121"/>
                </a:lnTo>
                <a:lnTo>
                  <a:pt x="292214" y="0"/>
                </a:lnTo>
                <a:close/>
              </a:path>
              <a:path w="365760" h="441325">
                <a:moveTo>
                  <a:pt x="365455" y="0"/>
                </a:moveTo>
                <a:lnTo>
                  <a:pt x="350812" y="0"/>
                </a:lnTo>
                <a:lnTo>
                  <a:pt x="350812" y="441121"/>
                </a:lnTo>
                <a:lnTo>
                  <a:pt x="365455" y="441121"/>
                </a:lnTo>
                <a:lnTo>
                  <a:pt x="3654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09165" y="6264331"/>
            <a:ext cx="18415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50" i="1" spc="145" dirty="0">
                <a:latin typeface="Calibri"/>
                <a:cs typeface="Calibri"/>
              </a:rPr>
              <a:t>∞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53959" y="6280527"/>
            <a:ext cx="6540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50" i="1" dirty="0">
                <a:latin typeface="Cambria"/>
                <a:cs typeface="Cambria"/>
              </a:rPr>
              <a:t>i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08514" y="5982074"/>
            <a:ext cx="1656714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527050" algn="l"/>
              </a:tabLst>
            </a:pPr>
            <a:r>
              <a:rPr sz="2300" b="1" i="1" spc="95" dirty="0">
                <a:latin typeface="Palatino Linotype"/>
                <a:cs typeface="Palatino Linotype"/>
              </a:rPr>
              <a:t>x</a:t>
            </a:r>
            <a:r>
              <a:rPr sz="2300" b="1" i="1" dirty="0">
                <a:latin typeface="Palatino Linotype"/>
                <a:cs typeface="Palatino Linotype"/>
              </a:rPr>
              <a:t>	</a:t>
            </a:r>
            <a:r>
              <a:rPr sz="2300" i="1" spc="229" dirty="0">
                <a:latin typeface="Cambria"/>
                <a:cs typeface="Cambria"/>
              </a:rPr>
              <a:t>=max</a:t>
            </a:r>
            <a:r>
              <a:rPr sz="2300" i="1" spc="145" dirty="0">
                <a:latin typeface="Cambria"/>
                <a:cs typeface="Cambria"/>
              </a:rPr>
              <a:t> </a:t>
            </a:r>
            <a:r>
              <a:rPr sz="2300" i="1" spc="60" dirty="0">
                <a:latin typeface="Cambria"/>
                <a:cs typeface="Cambria"/>
              </a:rPr>
              <a:t>x</a:t>
            </a:r>
            <a:r>
              <a:rPr sz="2025" i="1" spc="89" baseline="-34979" dirty="0">
                <a:latin typeface="Cambria"/>
                <a:cs typeface="Cambria"/>
              </a:rPr>
              <a:t>i</a:t>
            </a:r>
            <a:endParaRPr sz="2025" baseline="-34979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011928" y="5911320"/>
            <a:ext cx="1844675" cy="636270"/>
            <a:chOff x="3011928" y="5911320"/>
            <a:chExt cx="1844675" cy="636270"/>
          </a:xfrm>
        </p:grpSpPr>
        <p:sp>
          <p:nvSpPr>
            <p:cNvPr id="28" name="object 28"/>
            <p:cNvSpPr/>
            <p:nvPr/>
          </p:nvSpPr>
          <p:spPr>
            <a:xfrm>
              <a:off x="4473156" y="5990158"/>
              <a:ext cx="297815" cy="441325"/>
            </a:xfrm>
            <a:custGeom>
              <a:avLst/>
              <a:gdLst/>
              <a:ahLst/>
              <a:cxnLst/>
              <a:rect l="l" t="t" r="r" b="b"/>
              <a:pathLst>
                <a:path w="297814" h="441325">
                  <a:moveTo>
                    <a:pt x="14643" y="0"/>
                  </a:moveTo>
                  <a:lnTo>
                    <a:pt x="0" y="0"/>
                  </a:lnTo>
                  <a:lnTo>
                    <a:pt x="0" y="441121"/>
                  </a:lnTo>
                  <a:lnTo>
                    <a:pt x="14643" y="441121"/>
                  </a:lnTo>
                  <a:lnTo>
                    <a:pt x="14643" y="0"/>
                  </a:lnTo>
                  <a:close/>
                </a:path>
                <a:path w="297814" h="441325">
                  <a:moveTo>
                    <a:pt x="297599" y="0"/>
                  </a:moveTo>
                  <a:lnTo>
                    <a:pt x="282956" y="0"/>
                  </a:lnTo>
                  <a:lnTo>
                    <a:pt x="282956" y="441121"/>
                  </a:lnTo>
                  <a:lnTo>
                    <a:pt x="297599" y="441121"/>
                  </a:lnTo>
                  <a:lnTo>
                    <a:pt x="2975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16638" y="5916030"/>
              <a:ext cx="1835785" cy="626745"/>
            </a:xfrm>
            <a:custGeom>
              <a:avLst/>
              <a:gdLst/>
              <a:ahLst/>
              <a:cxnLst/>
              <a:rect l="l" t="t" r="r" b="b"/>
              <a:pathLst>
                <a:path w="1835785" h="626745">
                  <a:moveTo>
                    <a:pt x="0" y="0"/>
                  </a:moveTo>
                  <a:lnTo>
                    <a:pt x="1835167" y="0"/>
                  </a:lnTo>
                  <a:lnTo>
                    <a:pt x="1835167" y="626375"/>
                  </a:lnTo>
                  <a:lnTo>
                    <a:pt x="0" y="626375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6903560" y="3273900"/>
            <a:ext cx="2408555" cy="1526540"/>
            <a:chOff x="6903560" y="3273900"/>
            <a:chExt cx="2408555" cy="1526540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6062" y="3434079"/>
              <a:ext cx="1381478" cy="13061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08323" y="3278663"/>
              <a:ext cx="1630045" cy="1517015"/>
            </a:xfrm>
            <a:custGeom>
              <a:avLst/>
              <a:gdLst/>
              <a:ahLst/>
              <a:cxnLst/>
              <a:rect l="l" t="t" r="r" b="b"/>
              <a:pathLst>
                <a:path w="1630045" h="1517014">
                  <a:moveTo>
                    <a:pt x="0" y="0"/>
                  </a:moveTo>
                  <a:lnTo>
                    <a:pt x="1629515" y="0"/>
                  </a:lnTo>
                  <a:lnTo>
                    <a:pt x="1629515" y="1516485"/>
                  </a:lnTo>
                  <a:lnTo>
                    <a:pt x="0" y="1516485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67979" y="4338320"/>
              <a:ext cx="1344295" cy="251460"/>
            </a:xfrm>
            <a:custGeom>
              <a:avLst/>
              <a:gdLst/>
              <a:ahLst/>
              <a:cxnLst/>
              <a:rect l="l" t="t" r="r" b="b"/>
              <a:pathLst>
                <a:path w="1344295" h="251460">
                  <a:moveTo>
                    <a:pt x="1343800" y="0"/>
                  </a:moveTo>
                  <a:lnTo>
                    <a:pt x="0" y="0"/>
                  </a:lnTo>
                  <a:lnTo>
                    <a:pt x="0" y="251178"/>
                  </a:lnTo>
                  <a:lnTo>
                    <a:pt x="1343800" y="251178"/>
                  </a:lnTo>
                  <a:lnTo>
                    <a:pt x="1343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993097" y="4369717"/>
              <a:ext cx="510540" cy="177165"/>
            </a:xfrm>
            <a:custGeom>
              <a:avLst/>
              <a:gdLst/>
              <a:ahLst/>
              <a:cxnLst/>
              <a:rect l="l" t="t" r="r" b="b"/>
              <a:pathLst>
                <a:path w="510540" h="177164">
                  <a:moveTo>
                    <a:pt x="20800" y="116562"/>
                  </a:moveTo>
                  <a:lnTo>
                    <a:pt x="0" y="129906"/>
                  </a:lnTo>
                </a:path>
                <a:path w="510540" h="177164">
                  <a:moveTo>
                    <a:pt x="52982" y="177001"/>
                  </a:moveTo>
                  <a:lnTo>
                    <a:pt x="20800" y="116562"/>
                  </a:lnTo>
                </a:path>
                <a:path w="510540" h="177164">
                  <a:moveTo>
                    <a:pt x="90267" y="0"/>
                  </a:moveTo>
                  <a:lnTo>
                    <a:pt x="52982" y="177001"/>
                  </a:lnTo>
                </a:path>
                <a:path w="510540" h="177164">
                  <a:moveTo>
                    <a:pt x="510204" y="0"/>
                  </a:moveTo>
                  <a:lnTo>
                    <a:pt x="90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93097" y="4369716"/>
              <a:ext cx="510540" cy="194310"/>
            </a:xfrm>
            <a:custGeom>
              <a:avLst/>
              <a:gdLst/>
              <a:ahLst/>
              <a:cxnLst/>
              <a:rect l="l" t="t" r="r" b="b"/>
              <a:pathLst>
                <a:path w="510540" h="194310">
                  <a:moveTo>
                    <a:pt x="510204" y="0"/>
                  </a:moveTo>
                  <a:lnTo>
                    <a:pt x="90266" y="0"/>
                  </a:lnTo>
                  <a:lnTo>
                    <a:pt x="52981" y="177002"/>
                  </a:lnTo>
                  <a:lnTo>
                    <a:pt x="20800" y="116563"/>
                  </a:lnTo>
                  <a:lnTo>
                    <a:pt x="0" y="129905"/>
                  </a:lnTo>
                  <a:lnTo>
                    <a:pt x="2747" y="133831"/>
                  </a:lnTo>
                  <a:lnTo>
                    <a:pt x="12559" y="127551"/>
                  </a:lnTo>
                  <a:lnTo>
                    <a:pt x="49449" y="193878"/>
                  </a:lnTo>
                  <a:lnTo>
                    <a:pt x="56907" y="193878"/>
                  </a:lnTo>
                  <a:lnTo>
                    <a:pt x="96152" y="7457"/>
                  </a:lnTo>
                  <a:lnTo>
                    <a:pt x="510204" y="7457"/>
                  </a:lnTo>
                  <a:lnTo>
                    <a:pt x="510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2298" y="4376813"/>
              <a:ext cx="177362" cy="18678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963270" y="4333610"/>
            <a:ext cx="1353820" cy="26098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565"/>
              </a:spcBef>
              <a:tabLst>
                <a:tab pos="815340" algn="l"/>
              </a:tabLst>
            </a:pPr>
            <a:r>
              <a:rPr sz="1150" dirty="0">
                <a:latin typeface="Calibri"/>
                <a:cs typeface="Calibri"/>
              </a:rPr>
              <a:t>2</a:t>
            </a:r>
            <a:r>
              <a:rPr sz="975" baseline="47008" dirty="0">
                <a:latin typeface="Calibri"/>
                <a:cs typeface="Calibri"/>
              </a:rPr>
              <a:t>2</a:t>
            </a:r>
            <a:r>
              <a:rPr sz="975" spc="322" baseline="47008" dirty="0">
                <a:latin typeface="Calibri"/>
                <a:cs typeface="Calibri"/>
              </a:rPr>
              <a:t> </a:t>
            </a:r>
            <a:r>
              <a:rPr sz="1150" dirty="0">
                <a:latin typeface="Symbol"/>
                <a:cs typeface="Symbol"/>
              </a:rPr>
              <a:t>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Calibri"/>
                <a:cs typeface="Calibri"/>
              </a:rPr>
              <a:t>2</a:t>
            </a:r>
            <a:r>
              <a:rPr sz="975" baseline="47008" dirty="0">
                <a:latin typeface="Calibri"/>
                <a:cs typeface="Calibri"/>
              </a:rPr>
              <a:t>2</a:t>
            </a:r>
            <a:r>
              <a:rPr sz="975" spc="585" baseline="47008" dirty="0">
                <a:latin typeface="Calibri"/>
                <a:cs typeface="Calibri"/>
              </a:rPr>
              <a:t> </a:t>
            </a:r>
            <a:r>
              <a:rPr sz="1150" spc="-50" dirty="0">
                <a:latin typeface="Symbol"/>
                <a:cs typeface="Symbol"/>
              </a:rPr>
              <a:t>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dirty="0">
                <a:latin typeface="Calibri"/>
                <a:cs typeface="Calibri"/>
              </a:rPr>
              <a:t>8</a:t>
            </a:r>
            <a:r>
              <a:rPr sz="1150" spc="160" dirty="0">
                <a:latin typeface="Calibri"/>
                <a:cs typeface="Calibri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Calibri"/>
                <a:cs typeface="Calibri"/>
              </a:rPr>
              <a:t>2</a:t>
            </a:r>
            <a:r>
              <a:rPr sz="1150" spc="130" dirty="0">
                <a:latin typeface="Calibri"/>
                <a:cs typeface="Calibri"/>
              </a:rPr>
              <a:t>  </a:t>
            </a:r>
            <a:r>
              <a:rPr sz="1150" spc="-50" dirty="0">
                <a:latin typeface="Calibri"/>
                <a:cs typeface="Calibri"/>
              </a:rPr>
              <a:t>2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10085" y="4376813"/>
            <a:ext cx="174223" cy="18678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723" y="4566920"/>
            <a:ext cx="340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215" indent="-564515">
              <a:lnSpc>
                <a:spcPct val="100000"/>
              </a:lnSpc>
              <a:spcBef>
                <a:spcPts val="100"/>
              </a:spcBef>
              <a:buChar char="•"/>
              <a:tabLst>
                <a:tab pos="577215" algn="l"/>
              </a:tabLst>
            </a:pPr>
            <a:r>
              <a:rPr sz="3600" dirty="0">
                <a:solidFill>
                  <a:srgbClr val="000090"/>
                </a:solidFill>
                <a:latin typeface="Arial"/>
                <a:cs typeface="Arial"/>
              </a:rPr>
              <a:t>Loss</a:t>
            </a:r>
            <a:r>
              <a:rPr sz="3600" spc="-11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3600" spc="-20" dirty="0">
                <a:solidFill>
                  <a:srgbClr val="000090"/>
                </a:solidFill>
                <a:latin typeface="Arial"/>
                <a:cs typeface="Arial"/>
              </a:rPr>
              <a:t>Function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9963" y="6193536"/>
            <a:ext cx="6978015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5"/>
              </a:lnSpc>
              <a:spcBef>
                <a:spcPts val="100"/>
              </a:spcBef>
            </a:pPr>
            <a:r>
              <a:rPr sz="3200" dirty="0">
                <a:solidFill>
                  <a:srgbClr val="336600"/>
                </a:solidFill>
                <a:latin typeface="Arial"/>
                <a:cs typeface="Arial"/>
              </a:rPr>
              <a:t>Second</a:t>
            </a:r>
            <a:r>
              <a:rPr sz="32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6600"/>
                </a:solidFill>
                <a:latin typeface="Arial"/>
                <a:cs typeface="Arial"/>
              </a:rPr>
              <a:t>term</a:t>
            </a:r>
            <a:r>
              <a:rPr sz="32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32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32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6600"/>
                </a:solidFill>
                <a:latin typeface="Arial"/>
                <a:cs typeface="Arial"/>
              </a:rPr>
              <a:t>weighted</a:t>
            </a:r>
            <a:r>
              <a:rPr sz="32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6600"/>
                </a:solidFill>
                <a:latin typeface="Arial"/>
                <a:cs typeface="Arial"/>
              </a:rPr>
              <a:t>norm</a:t>
            </a:r>
            <a:endParaRPr sz="3200">
              <a:latin typeface="Arial"/>
              <a:cs typeface="Arial"/>
            </a:endParaRPr>
          </a:p>
          <a:p>
            <a:pPr marL="464184">
              <a:lnSpc>
                <a:spcPts val="3345"/>
              </a:lnSpc>
            </a:pPr>
            <a:r>
              <a:rPr sz="2800" dirty="0">
                <a:solidFill>
                  <a:srgbClr val="660066"/>
                </a:solidFill>
                <a:latin typeface="Arial"/>
                <a:cs typeface="Arial"/>
              </a:rPr>
              <a:t>called</a:t>
            </a:r>
            <a:r>
              <a:rPr sz="28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8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660066"/>
                </a:solidFill>
                <a:latin typeface="Arial"/>
                <a:cs typeface="Arial"/>
              </a:rPr>
              <a:t>regularizer</a:t>
            </a:r>
            <a:r>
              <a:rPr sz="28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660066"/>
                </a:solidFill>
                <a:latin typeface="Arial"/>
                <a:cs typeface="Arial"/>
              </a:rPr>
              <a:t>(to</a:t>
            </a:r>
            <a:r>
              <a:rPr sz="28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660066"/>
                </a:solidFill>
                <a:latin typeface="Arial"/>
                <a:cs typeface="Arial"/>
              </a:rPr>
              <a:t>prevent</a:t>
            </a:r>
            <a:r>
              <a:rPr sz="28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660066"/>
                </a:solidFill>
                <a:latin typeface="Arial"/>
                <a:cs typeface="Arial"/>
              </a:rPr>
              <a:t>overfitting)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03935" y="629412"/>
            <a:ext cx="804735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/>
              <a:t>Use</a:t>
            </a:r>
            <a:r>
              <a:rPr sz="5300" spc="10" dirty="0"/>
              <a:t> </a:t>
            </a:r>
            <a:r>
              <a:rPr sz="5300" dirty="0"/>
              <a:t>of norm</a:t>
            </a:r>
            <a:r>
              <a:rPr sz="5300" spc="30" dirty="0"/>
              <a:t> </a:t>
            </a:r>
            <a:r>
              <a:rPr sz="5300" dirty="0"/>
              <a:t>in</a:t>
            </a:r>
            <a:r>
              <a:rPr sz="5300" spc="10" dirty="0"/>
              <a:t> </a:t>
            </a:r>
            <a:r>
              <a:rPr sz="5300" spc="-10" dirty="0"/>
              <a:t>Regression</a:t>
            </a:r>
            <a:endParaRPr sz="5300"/>
          </a:p>
        </p:txBody>
      </p:sp>
      <p:sp>
        <p:nvSpPr>
          <p:cNvPr id="7" name="object 7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34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9393" y="5760609"/>
            <a:ext cx="1005840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01065" algn="l"/>
              </a:tabLst>
            </a:pPr>
            <a:r>
              <a:rPr sz="1250" i="1" spc="-50" dirty="0">
                <a:latin typeface="Cambria"/>
                <a:cs typeface="Cambria"/>
              </a:rPr>
              <a:t>n</a:t>
            </a:r>
            <a:r>
              <a:rPr sz="1250" i="1" dirty="0">
                <a:latin typeface="Cambria"/>
                <a:cs typeface="Cambria"/>
              </a:rPr>
              <a:t>	</a:t>
            </a:r>
            <a:r>
              <a:rPr sz="1250" i="1" spc="-50" dirty="0">
                <a:latin typeface="Cambria"/>
                <a:cs typeface="Cambria"/>
              </a:rPr>
              <a:t>n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70537" y="5757671"/>
            <a:ext cx="16700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50" dirty="0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4158" y="5814228"/>
            <a:ext cx="55816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300" baseline="11363" dirty="0">
                <a:latin typeface="Calibri"/>
                <a:cs typeface="Calibri"/>
              </a:rPr>
              <a:t>2</a:t>
            </a:r>
            <a:r>
              <a:rPr sz="3300" spc="30" baseline="11363" dirty="0">
                <a:latin typeface="Calibri"/>
                <a:cs typeface="Calibri"/>
              </a:rPr>
              <a:t> </a:t>
            </a:r>
            <a:r>
              <a:rPr sz="1250" i="1" dirty="0">
                <a:latin typeface="Cambria"/>
                <a:cs typeface="Cambria"/>
              </a:rPr>
              <a:t>n</a:t>
            </a:r>
            <a:r>
              <a:rPr sz="1250" i="1" spc="-145" dirty="0">
                <a:latin typeface="Cambria"/>
                <a:cs typeface="Cambria"/>
              </a:rPr>
              <a:t> </a:t>
            </a:r>
            <a:r>
              <a:rPr sz="1250" spc="-25" dirty="0">
                <a:latin typeface="Symbol"/>
                <a:cs typeface="Symbol"/>
              </a:rPr>
              <a:t></a:t>
            </a:r>
            <a:r>
              <a:rPr sz="1250" spc="-25" dirty="0"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0301" y="5357362"/>
            <a:ext cx="4611370" cy="5753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ts val="459"/>
              </a:lnSpc>
              <a:spcBef>
                <a:spcPts val="459"/>
              </a:spcBef>
            </a:pPr>
            <a:r>
              <a:rPr sz="2200" i="1" spc="-590" dirty="0">
                <a:latin typeface="Cambria"/>
                <a:cs typeface="Cambria"/>
              </a:rPr>
              <a:t>E</a:t>
            </a:r>
            <a:r>
              <a:rPr sz="3300" spc="330" baseline="15151" dirty="0">
                <a:latin typeface="MT Extra"/>
                <a:cs typeface="MT Extra"/>
              </a:rPr>
              <a:t>�</a:t>
            </a:r>
            <a:r>
              <a:rPr sz="2200" spc="-40" dirty="0">
                <a:latin typeface="Calibri"/>
                <a:cs typeface="Calibri"/>
              </a:rPr>
              <a:t>(</a:t>
            </a:r>
            <a:r>
              <a:rPr sz="2200" b="1" i="1" spc="155" dirty="0">
                <a:latin typeface="Palatino Linotype"/>
                <a:cs typeface="Palatino Linotype"/>
              </a:rPr>
              <a:t>w</a:t>
            </a:r>
            <a:r>
              <a:rPr sz="2200" spc="70" dirty="0">
                <a:latin typeface="Calibri"/>
                <a:cs typeface="Calibri"/>
              </a:rPr>
              <a:t>)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3300" u="sng" spc="-22" baseline="3661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3300" u="none" spc="-75" baseline="36616" dirty="0">
                <a:latin typeface="Calibri"/>
                <a:cs typeface="Calibri"/>
              </a:rPr>
              <a:t> </a:t>
            </a:r>
            <a:r>
              <a:rPr sz="4950" u="none" spc="217" baseline="-7575" dirty="0">
                <a:latin typeface="Symbol"/>
                <a:cs typeface="Symbol"/>
              </a:rPr>
              <a:t></a:t>
            </a:r>
            <a:r>
              <a:rPr sz="2200" u="none" spc="145" dirty="0">
                <a:latin typeface="Calibri"/>
                <a:cs typeface="Calibri"/>
              </a:rPr>
              <a:t>{</a:t>
            </a:r>
            <a:r>
              <a:rPr sz="2200" i="1" u="none" spc="145" dirty="0">
                <a:latin typeface="Cambria"/>
                <a:cs typeface="Cambria"/>
              </a:rPr>
              <a:t>y</a:t>
            </a:r>
            <a:r>
              <a:rPr sz="2200" u="none" spc="145" dirty="0">
                <a:latin typeface="Calibri"/>
                <a:cs typeface="Calibri"/>
              </a:rPr>
              <a:t>(</a:t>
            </a:r>
            <a:r>
              <a:rPr sz="2200" b="1" i="1" u="none" spc="145" dirty="0">
                <a:latin typeface="Palatino Linotype"/>
                <a:cs typeface="Palatino Linotype"/>
              </a:rPr>
              <a:t>x</a:t>
            </a:r>
            <a:r>
              <a:rPr sz="2200" b="1" i="1" u="none" spc="400" dirty="0">
                <a:latin typeface="Palatino Linotype"/>
                <a:cs typeface="Palatino Linotype"/>
              </a:rPr>
              <a:t> </a:t>
            </a:r>
            <a:r>
              <a:rPr sz="2200" u="none" spc="114" dirty="0">
                <a:latin typeface="Calibri"/>
                <a:cs typeface="Calibri"/>
              </a:rPr>
              <a:t>,</a:t>
            </a:r>
            <a:r>
              <a:rPr sz="2200" b="1" i="1" u="none" spc="114" dirty="0">
                <a:latin typeface="Palatino Linotype"/>
                <a:cs typeface="Palatino Linotype"/>
              </a:rPr>
              <a:t>w</a:t>
            </a:r>
            <a:r>
              <a:rPr sz="2200" u="none" spc="114" dirty="0">
                <a:latin typeface="Calibri"/>
                <a:cs typeface="Calibri"/>
              </a:rPr>
              <a:t>)</a:t>
            </a:r>
            <a:r>
              <a:rPr sz="2200" u="none" spc="-155" dirty="0">
                <a:latin typeface="Calibri"/>
                <a:cs typeface="Calibri"/>
              </a:rPr>
              <a:t> </a:t>
            </a:r>
            <a:r>
              <a:rPr sz="2200" u="none" dirty="0">
                <a:latin typeface="Symbol"/>
                <a:cs typeface="Symbol"/>
              </a:rPr>
              <a:t></a:t>
            </a:r>
            <a:r>
              <a:rPr sz="2200" u="none" spc="-145" dirty="0">
                <a:latin typeface="Times New Roman"/>
                <a:cs typeface="Times New Roman"/>
              </a:rPr>
              <a:t> </a:t>
            </a:r>
            <a:r>
              <a:rPr sz="2200" i="1" u="none" spc="-35" dirty="0">
                <a:latin typeface="Cambria"/>
                <a:cs typeface="Cambria"/>
              </a:rPr>
              <a:t>t</a:t>
            </a:r>
            <a:r>
              <a:rPr sz="2200" i="1" u="none" spc="470" dirty="0">
                <a:latin typeface="Cambria"/>
                <a:cs typeface="Cambria"/>
              </a:rPr>
              <a:t> </a:t>
            </a:r>
            <a:r>
              <a:rPr sz="2200" u="none" spc="175" dirty="0">
                <a:latin typeface="Calibri"/>
                <a:cs typeface="Calibri"/>
              </a:rPr>
              <a:t>}</a:t>
            </a:r>
            <a:r>
              <a:rPr sz="1875" u="none" spc="262" baseline="44444" dirty="0">
                <a:latin typeface="Calibri"/>
                <a:cs typeface="Calibri"/>
              </a:rPr>
              <a:t>2</a:t>
            </a:r>
            <a:r>
              <a:rPr sz="1875" u="none" spc="555" baseline="44444" dirty="0">
                <a:latin typeface="Calibri"/>
                <a:cs typeface="Calibri"/>
              </a:rPr>
              <a:t> </a:t>
            </a:r>
            <a:r>
              <a:rPr sz="2200" u="none" dirty="0">
                <a:latin typeface="Symbol"/>
                <a:cs typeface="Symbol"/>
              </a:rPr>
              <a:t></a:t>
            </a:r>
            <a:r>
              <a:rPr sz="2200" u="none" spc="165" dirty="0">
                <a:latin typeface="Times New Roman"/>
                <a:cs typeface="Times New Roman"/>
              </a:rPr>
              <a:t> </a:t>
            </a:r>
            <a:r>
              <a:rPr sz="3375" i="1" u="heavy" spc="-37" baseline="35802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</a:t>
            </a:r>
            <a:r>
              <a:rPr sz="3375" u="none" spc="232" baseline="35802" dirty="0">
                <a:latin typeface="Times New Roman"/>
                <a:cs typeface="Times New Roman"/>
              </a:rPr>
              <a:t> </a:t>
            </a:r>
            <a:r>
              <a:rPr sz="2200" u="none" spc="-405" dirty="0">
                <a:latin typeface="Calibri"/>
                <a:cs typeface="Calibri"/>
              </a:rPr>
              <a:t>||</a:t>
            </a:r>
            <a:r>
              <a:rPr sz="2200" u="none" spc="-185" dirty="0">
                <a:latin typeface="Calibri"/>
                <a:cs typeface="Calibri"/>
              </a:rPr>
              <a:t> </a:t>
            </a:r>
            <a:r>
              <a:rPr sz="2200" b="1" i="1" u="none" spc="10" dirty="0">
                <a:latin typeface="Palatino Linotype"/>
                <a:cs typeface="Palatino Linotype"/>
              </a:rPr>
              <a:t>w</a:t>
            </a:r>
            <a:r>
              <a:rPr sz="1875" u="none" spc="15" baseline="44444" dirty="0">
                <a:latin typeface="Calibri"/>
                <a:cs typeface="Calibri"/>
              </a:rPr>
              <a:t>2</a:t>
            </a:r>
            <a:r>
              <a:rPr sz="1875" u="none" spc="419" baseline="44444" dirty="0">
                <a:latin typeface="Calibri"/>
                <a:cs typeface="Calibri"/>
              </a:rPr>
              <a:t> </a:t>
            </a:r>
            <a:r>
              <a:rPr sz="2200" u="none" spc="-1000" dirty="0">
                <a:latin typeface="Calibri"/>
                <a:cs typeface="Calibri"/>
              </a:rPr>
              <a:t>||</a:t>
            </a:r>
            <a:endParaRPr sz="2200">
              <a:latin typeface="Calibri"/>
              <a:cs typeface="Calibri"/>
            </a:endParaRPr>
          </a:p>
          <a:p>
            <a:pPr marL="1259840">
              <a:lnSpc>
                <a:spcPts val="715"/>
              </a:lnSpc>
            </a:pPr>
            <a:r>
              <a:rPr sz="1250" i="1" spc="55" dirty="0">
                <a:latin typeface="Cambria"/>
                <a:cs typeface="Cambria"/>
              </a:rPr>
              <a:t>N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34612" y="4095295"/>
            <a:ext cx="25717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dirty="0">
                <a:latin typeface="Cambria"/>
                <a:cs typeface="Cambria"/>
              </a:rPr>
              <a:t>j</a:t>
            </a:r>
            <a:r>
              <a:rPr sz="1200" i="1" spc="-40" dirty="0">
                <a:latin typeface="Cambria"/>
                <a:cs typeface="Cambria"/>
              </a:rPr>
              <a:t> </a:t>
            </a:r>
            <a:r>
              <a:rPr sz="1200" spc="-25" dirty="0">
                <a:latin typeface="Symbol"/>
                <a:cs typeface="Symbol"/>
              </a:rPr>
              <a:t></a:t>
            </a:r>
            <a:r>
              <a:rPr sz="1200" spc="-25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1488" y="3586342"/>
            <a:ext cx="2858135" cy="509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100" i="1" spc="80" dirty="0">
                <a:latin typeface="Cambria"/>
                <a:cs typeface="Cambria"/>
              </a:rPr>
              <a:t>y</a:t>
            </a:r>
            <a:r>
              <a:rPr sz="2100" spc="80" dirty="0">
                <a:latin typeface="Calibri"/>
                <a:cs typeface="Calibri"/>
              </a:rPr>
              <a:t>(</a:t>
            </a:r>
            <a:r>
              <a:rPr sz="2100" b="1" i="1" spc="80" dirty="0">
                <a:latin typeface="Palatino Linotype"/>
                <a:cs typeface="Palatino Linotype"/>
              </a:rPr>
              <a:t>x</a:t>
            </a:r>
            <a:r>
              <a:rPr sz="2100" spc="80" dirty="0">
                <a:latin typeface="Calibri"/>
                <a:cs typeface="Calibri"/>
              </a:rPr>
              <a:t>,</a:t>
            </a:r>
            <a:r>
              <a:rPr sz="2100" b="1" i="1" spc="80" dirty="0">
                <a:latin typeface="Palatino Linotype"/>
                <a:cs typeface="Palatino Linotype"/>
              </a:rPr>
              <a:t>w</a:t>
            </a:r>
            <a:r>
              <a:rPr sz="2100" spc="80" dirty="0">
                <a:latin typeface="Calibri"/>
                <a:cs typeface="Calibri"/>
              </a:rPr>
              <a:t>)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i="1" dirty="0">
                <a:latin typeface="Cambria"/>
                <a:cs typeface="Cambria"/>
              </a:rPr>
              <a:t>w</a:t>
            </a:r>
            <a:r>
              <a:rPr sz="1800" baseline="-34722" dirty="0">
                <a:latin typeface="Calibri"/>
                <a:cs typeface="Calibri"/>
              </a:rPr>
              <a:t>0</a:t>
            </a:r>
            <a:r>
              <a:rPr sz="1800" spc="562" baseline="-34722" dirty="0">
                <a:latin typeface="Calibri"/>
                <a:cs typeface="Calibri"/>
              </a:rPr>
              <a:t> </a:t>
            </a:r>
            <a:r>
              <a:rPr sz="2100" dirty="0">
                <a:latin typeface="Symbol"/>
                <a:cs typeface="Symbol"/>
              </a:rPr>
              <a:t>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4725" baseline="-7054" dirty="0">
                <a:latin typeface="Symbol"/>
                <a:cs typeface="Symbol"/>
              </a:rPr>
              <a:t></a:t>
            </a:r>
            <a:r>
              <a:rPr sz="4725" spc="-719" baseline="-7054" dirty="0">
                <a:latin typeface="Times New Roman"/>
                <a:cs typeface="Times New Roman"/>
              </a:rPr>
              <a:t> </a:t>
            </a:r>
            <a:r>
              <a:rPr sz="2100" i="1" spc="-10" dirty="0">
                <a:latin typeface="Cambria"/>
                <a:cs typeface="Cambria"/>
              </a:rPr>
              <a:t>w</a:t>
            </a:r>
            <a:r>
              <a:rPr sz="1800" i="1" spc="-15" baseline="-34722" dirty="0">
                <a:latin typeface="Cambria"/>
                <a:cs typeface="Cambria"/>
              </a:rPr>
              <a:t>j</a:t>
            </a:r>
            <a:r>
              <a:rPr sz="2150" i="1" spc="-10" dirty="0">
                <a:latin typeface="Symbol"/>
                <a:cs typeface="Symbol"/>
              </a:rPr>
              <a:t></a:t>
            </a:r>
            <a:r>
              <a:rPr sz="1800" i="1" spc="-15" baseline="-34722" dirty="0">
                <a:latin typeface="Cambria"/>
                <a:cs typeface="Cambria"/>
              </a:rPr>
              <a:t>j</a:t>
            </a:r>
            <a:r>
              <a:rPr sz="1800" i="1" spc="-112" baseline="-34722" dirty="0">
                <a:latin typeface="Cambria"/>
                <a:cs typeface="Cambria"/>
              </a:rPr>
              <a:t> </a:t>
            </a:r>
            <a:r>
              <a:rPr sz="2100" spc="150" dirty="0">
                <a:latin typeface="Calibri"/>
                <a:cs typeface="Calibri"/>
              </a:rPr>
              <a:t>(</a:t>
            </a:r>
            <a:r>
              <a:rPr sz="2100" b="1" i="1" spc="150" dirty="0">
                <a:latin typeface="Palatino Linotype"/>
                <a:cs typeface="Palatino Linotype"/>
              </a:rPr>
              <a:t>x</a:t>
            </a:r>
            <a:r>
              <a:rPr sz="2100" spc="150" dirty="0">
                <a:latin typeface="Calibri"/>
                <a:cs typeface="Calibri"/>
              </a:rPr>
              <a:t>)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0323" y="1570735"/>
            <a:ext cx="6368415" cy="2188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615" indent="-564515">
              <a:lnSpc>
                <a:spcPts val="4210"/>
              </a:lnSpc>
              <a:spcBef>
                <a:spcPts val="100"/>
              </a:spcBef>
              <a:buChar char="•"/>
              <a:tabLst>
                <a:tab pos="602615" algn="l"/>
              </a:tabLst>
            </a:pPr>
            <a:r>
              <a:rPr sz="3600" dirty="0">
                <a:solidFill>
                  <a:srgbClr val="000090"/>
                </a:solidFill>
                <a:latin typeface="Arial"/>
                <a:cs typeface="Arial"/>
              </a:rPr>
              <a:t>Linear</a:t>
            </a:r>
            <a:r>
              <a:rPr sz="3600" spc="-14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0090"/>
                </a:solidFill>
                <a:latin typeface="Arial"/>
                <a:cs typeface="Arial"/>
              </a:rPr>
              <a:t>Regression</a:t>
            </a:r>
            <a:endParaRPr sz="3600">
              <a:latin typeface="Arial"/>
              <a:cs typeface="Arial"/>
            </a:endParaRPr>
          </a:p>
          <a:p>
            <a:pPr marL="1393825">
              <a:lnSpc>
                <a:spcPts val="3729"/>
              </a:lnSpc>
            </a:pPr>
            <a:r>
              <a:rPr sz="3200" b="1" i="1" dirty="0">
                <a:latin typeface="Calibri"/>
                <a:cs typeface="Calibri"/>
              </a:rPr>
              <a:t>x</a:t>
            </a:r>
            <a:r>
              <a:rPr sz="3200" dirty="0">
                <a:solidFill>
                  <a:srgbClr val="000090"/>
                </a:solidFill>
                <a:latin typeface="Arial"/>
                <a:cs typeface="Arial"/>
              </a:rPr>
              <a:t>:</a:t>
            </a:r>
            <a:r>
              <a:rPr sz="3200" spc="-9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32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6600"/>
                </a:solidFill>
                <a:latin typeface="Arial"/>
                <a:cs typeface="Arial"/>
              </a:rPr>
              <a:t>vector,</a:t>
            </a:r>
            <a:r>
              <a:rPr sz="32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w</a:t>
            </a:r>
            <a:r>
              <a:rPr sz="3200" dirty="0">
                <a:solidFill>
                  <a:srgbClr val="000090"/>
                </a:solidFill>
                <a:latin typeface="Arial"/>
                <a:cs typeface="Arial"/>
              </a:rPr>
              <a:t>:</a:t>
            </a:r>
            <a:r>
              <a:rPr sz="3200" spc="-9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6600"/>
                </a:solidFill>
                <a:latin typeface="Arial"/>
                <a:cs typeface="Arial"/>
              </a:rPr>
              <a:t>weight</a:t>
            </a:r>
            <a:r>
              <a:rPr sz="32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endParaRPr sz="3200">
              <a:latin typeface="Arial"/>
              <a:cs typeface="Arial"/>
            </a:endParaRPr>
          </a:p>
          <a:p>
            <a:pPr marL="1997075">
              <a:lnSpc>
                <a:spcPct val="100000"/>
              </a:lnSpc>
              <a:spcBef>
                <a:spcPts val="670"/>
              </a:spcBef>
            </a:pPr>
            <a:r>
              <a:rPr sz="2000" i="1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i="1" dirty="0">
                <a:latin typeface="Calibri"/>
                <a:cs typeface="Calibri"/>
              </a:rPr>
              <a:t>x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b="1" i="1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w</a:t>
            </a:r>
            <a:r>
              <a:rPr sz="1950" spc="-15" baseline="-17094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+</a:t>
            </a:r>
            <a:r>
              <a:rPr sz="2000" i="1" spc="-10" dirty="0">
                <a:latin typeface="Calibri"/>
                <a:cs typeface="Calibri"/>
              </a:rPr>
              <a:t>w</a:t>
            </a:r>
            <a:r>
              <a:rPr sz="1950" i="1" spc="-15" baseline="-17094" dirty="0">
                <a:latin typeface="Calibri"/>
                <a:cs typeface="Calibri"/>
              </a:rPr>
              <a:t>1</a:t>
            </a:r>
            <a:r>
              <a:rPr sz="2000" i="1" spc="-10" dirty="0">
                <a:latin typeface="Calibri"/>
                <a:cs typeface="Calibri"/>
              </a:rPr>
              <a:t>x</a:t>
            </a:r>
            <a:r>
              <a:rPr sz="1950" spc="-15" baseline="-17094" dirty="0">
                <a:latin typeface="Calibri"/>
                <a:cs typeface="Calibri"/>
              </a:rPr>
              <a:t>1</a:t>
            </a:r>
            <a:r>
              <a:rPr sz="2000" spc="-10" dirty="0">
                <a:latin typeface="Calibri"/>
                <a:cs typeface="Calibri"/>
              </a:rPr>
              <a:t>+..+</a:t>
            </a:r>
            <a:r>
              <a:rPr sz="2000" i="1" spc="-10" dirty="0">
                <a:latin typeface="Calibri"/>
                <a:cs typeface="Calibri"/>
              </a:rPr>
              <a:t>w</a:t>
            </a:r>
            <a:r>
              <a:rPr sz="1950" i="1" spc="-15" baseline="-17094" dirty="0">
                <a:latin typeface="Calibri"/>
                <a:cs typeface="Calibri"/>
              </a:rPr>
              <a:t>d</a:t>
            </a:r>
            <a:r>
              <a:rPr sz="1950" i="1" spc="-22" baseline="-17094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x</a:t>
            </a:r>
            <a:r>
              <a:rPr sz="1950" i="1" baseline="-17094" dirty="0">
                <a:latin typeface="Calibri"/>
                <a:cs typeface="Calibri"/>
              </a:rPr>
              <a:t>d</a:t>
            </a:r>
            <a:r>
              <a:rPr sz="1950" i="1" spc="-22" baseline="-17094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b="1" i="1" spc="-25" dirty="0">
                <a:latin typeface="Calibri"/>
                <a:cs typeface="Calibri"/>
              </a:rPr>
              <a:t>w</a:t>
            </a:r>
            <a:r>
              <a:rPr sz="1950" i="1" spc="-37" baseline="25641" dirty="0">
                <a:latin typeface="Calibri"/>
                <a:cs typeface="Calibri"/>
              </a:rPr>
              <a:t>T</a:t>
            </a:r>
            <a:r>
              <a:rPr sz="2000" b="1" i="1" spc="-25" dirty="0"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  <a:p>
            <a:pPr marL="533400" algn="ctr">
              <a:lnSpc>
                <a:spcPct val="100000"/>
              </a:lnSpc>
              <a:spcBef>
                <a:spcPts val="785"/>
              </a:spcBef>
            </a:pPr>
            <a:r>
              <a:rPr sz="2800" dirty="0">
                <a:solidFill>
                  <a:srgbClr val="660066"/>
                </a:solidFill>
                <a:latin typeface="Arial"/>
                <a:cs typeface="Arial"/>
              </a:rPr>
              <a:t>With</a:t>
            </a:r>
            <a:r>
              <a:rPr sz="2800" spc="-1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660066"/>
                </a:solidFill>
                <a:latin typeface="Arial"/>
                <a:cs typeface="Arial"/>
              </a:rPr>
              <a:t>nonlinear</a:t>
            </a:r>
            <a:r>
              <a:rPr sz="2800" spc="-14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660066"/>
                </a:solidFill>
                <a:latin typeface="Arial"/>
                <a:cs typeface="Arial"/>
              </a:rPr>
              <a:t>basis</a:t>
            </a:r>
            <a:r>
              <a:rPr sz="2800" spc="-1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660066"/>
                </a:solidFill>
                <a:latin typeface="Arial"/>
                <a:cs typeface="Arial"/>
              </a:rPr>
              <a:t>functions</a:t>
            </a:r>
            <a:r>
              <a:rPr sz="2800" spc="-13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ϕ</a:t>
            </a:r>
            <a:r>
              <a:rPr sz="2700" i="1" spc="-37" baseline="-18518" dirty="0">
                <a:latin typeface="Calibri"/>
                <a:cs typeface="Calibri"/>
              </a:rPr>
              <a:t>j</a:t>
            </a:r>
            <a:endParaRPr sz="2700" baseline="-18518">
              <a:latin typeface="Calibri"/>
              <a:cs typeface="Calibri"/>
            </a:endParaRPr>
          </a:p>
          <a:p>
            <a:pPr marL="1025525" algn="ctr">
              <a:lnSpc>
                <a:spcPct val="100000"/>
              </a:lnSpc>
              <a:spcBef>
                <a:spcPts val="430"/>
              </a:spcBef>
            </a:pPr>
            <a:r>
              <a:rPr sz="1200" i="1" spc="140" dirty="0">
                <a:latin typeface="Cambria"/>
                <a:cs typeface="Cambria"/>
              </a:rPr>
              <a:t>M</a:t>
            </a:r>
            <a:r>
              <a:rPr sz="1200" i="1" spc="-40" dirty="0">
                <a:latin typeface="Cambria"/>
                <a:cs typeface="Cambria"/>
              </a:rPr>
              <a:t> </a:t>
            </a:r>
            <a:r>
              <a:rPr sz="1200" spc="-25" dirty="0">
                <a:latin typeface="Symbol"/>
                <a:cs typeface="Symbol"/>
              </a:rPr>
              <a:t></a:t>
            </a:r>
            <a:r>
              <a:rPr sz="1200" spc="-25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78967" y="1691533"/>
            <a:ext cx="2279650" cy="1257935"/>
            <a:chOff x="6978967" y="1691533"/>
            <a:chExt cx="2279650" cy="125793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8386" y="1804171"/>
              <a:ext cx="2226174" cy="112393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983676" y="1696243"/>
              <a:ext cx="2270125" cy="1248410"/>
            </a:xfrm>
            <a:custGeom>
              <a:avLst/>
              <a:gdLst/>
              <a:ahLst/>
              <a:cxnLst/>
              <a:rect l="l" t="t" r="r" b="b"/>
              <a:pathLst>
                <a:path w="2270125" h="1248410">
                  <a:moveTo>
                    <a:pt x="0" y="0"/>
                  </a:moveTo>
                  <a:lnTo>
                    <a:pt x="2270019" y="0"/>
                  </a:lnTo>
                  <a:lnTo>
                    <a:pt x="2270019" y="1248040"/>
                  </a:lnTo>
                  <a:lnTo>
                    <a:pt x="0" y="12480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6410" y="3151408"/>
            <a:ext cx="2004183" cy="14805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723" y="1496568"/>
            <a:ext cx="8371840" cy="468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Norm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length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333CC"/>
              </a:buClr>
              <a:buFont typeface="Arial"/>
              <a:buChar char="•"/>
            </a:pP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3333CC"/>
              </a:buClr>
              <a:buFont typeface="Arial"/>
              <a:buChar char="•"/>
            </a:pP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draw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unit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circle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origin</a:t>
            </a:r>
            <a:endParaRPr sz="3200">
              <a:latin typeface="Arial"/>
              <a:cs typeface="Arial"/>
            </a:endParaRPr>
          </a:p>
          <a:p>
            <a:pPr marL="746125" lvl="1" indent="-281305">
              <a:lnSpc>
                <a:spcPct val="100000"/>
              </a:lnSpc>
              <a:spcBef>
                <a:spcPts val="540"/>
              </a:spcBef>
              <a:buChar char="–"/>
              <a:tabLst>
                <a:tab pos="746125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Different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P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values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yield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different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shapes</a:t>
            </a:r>
            <a:endParaRPr sz="2800">
              <a:latin typeface="Arial"/>
              <a:cs typeface="Arial"/>
            </a:endParaRPr>
          </a:p>
          <a:p>
            <a:pPr marL="1141095" lvl="2" indent="-224790">
              <a:lnSpc>
                <a:spcPct val="100000"/>
              </a:lnSpc>
              <a:spcBef>
                <a:spcPts val="545"/>
              </a:spcBef>
              <a:buChar char="•"/>
              <a:tabLst>
                <a:tab pos="1141095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Euclidean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norm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yields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circle</a:t>
            </a:r>
            <a:endParaRPr sz="24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2370"/>
              </a:spcBef>
              <a:buClr>
                <a:srgbClr val="660066"/>
              </a:buClr>
              <a:buFont typeface="Arial"/>
              <a:buChar char="•"/>
            </a:pPr>
            <a:endParaRPr sz="24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Distance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between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two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3200" b="1" i="1" spc="-10" dirty="0">
                <a:latin typeface="Calibri"/>
                <a:cs typeface="Calibri"/>
              </a:rPr>
              <a:t>v,w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  <a:p>
            <a:pPr marL="747395" lvl="1" indent="-282575">
              <a:lnSpc>
                <a:spcPct val="100000"/>
              </a:lnSpc>
              <a:spcBef>
                <a:spcPts val="665"/>
              </a:spcBef>
              <a:buChar char="–"/>
              <a:tabLst>
                <a:tab pos="747395" algn="l"/>
              </a:tabLst>
            </a:pPr>
            <a:r>
              <a:rPr sz="2800" spc="-30" dirty="0">
                <a:latin typeface="Calibri"/>
                <a:cs typeface="Calibri"/>
              </a:rPr>
              <a:t>dist(</a:t>
            </a:r>
            <a:r>
              <a:rPr sz="2800" b="1" i="1" spc="-30" dirty="0">
                <a:latin typeface="Calibri"/>
                <a:cs typeface="Calibri"/>
              </a:rPr>
              <a:t>v,w</a:t>
            </a:r>
            <a:r>
              <a:rPr sz="2800" spc="-30" dirty="0">
                <a:latin typeface="Calibri"/>
                <a:cs typeface="Calibri"/>
              </a:rPr>
              <a:t>)=||</a:t>
            </a:r>
            <a:r>
              <a:rPr sz="2800" b="1" i="1" spc="-30" dirty="0">
                <a:latin typeface="Calibri"/>
                <a:cs typeface="Calibri"/>
              </a:rPr>
              <a:t>v-</a:t>
            </a:r>
            <a:r>
              <a:rPr sz="2800" b="1" i="1" spc="-25" dirty="0">
                <a:latin typeface="Calibri"/>
                <a:cs typeface="Calibri"/>
              </a:rPr>
              <a:t>w</a:t>
            </a:r>
            <a:r>
              <a:rPr sz="2800" spc="-25" dirty="0">
                <a:latin typeface="Calibri"/>
                <a:cs typeface="Calibri"/>
              </a:rPr>
              <a:t>||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8787" y="6232144"/>
            <a:ext cx="202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336600"/>
                </a:solidFill>
                <a:latin typeface="Calibri"/>
                <a:cs typeface="Calibri"/>
              </a:rPr>
              <a:t>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3449" y="6740143"/>
            <a:ext cx="7266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Distance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origin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would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just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sqrt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sum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squares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37249" y="679704"/>
            <a:ext cx="53879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14045" algn="l"/>
              </a:tabLst>
            </a:pPr>
            <a:r>
              <a:rPr i="1" spc="-2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4350" i="1" spc="-37" baseline="24904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4350" i="1" baseline="24904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sz="4400" dirty="0"/>
              <a:t>Norm</a:t>
            </a:r>
            <a:r>
              <a:rPr sz="4400" spc="-165" dirty="0"/>
              <a:t> </a:t>
            </a:r>
            <a:r>
              <a:rPr sz="4400" dirty="0"/>
              <a:t>and</a:t>
            </a:r>
            <a:r>
              <a:rPr sz="4400" spc="-140" dirty="0"/>
              <a:t> </a:t>
            </a:r>
            <a:r>
              <a:rPr sz="4400" spc="-10" dirty="0"/>
              <a:t>Distance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35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1212" y="3660140"/>
            <a:ext cx="1711148" cy="166562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256543" y="6383079"/>
            <a:ext cx="2506345" cy="373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ts val="1845"/>
              </a:lnSpc>
              <a:spcBef>
                <a:spcPts val="105"/>
              </a:spcBef>
              <a:tabLst>
                <a:tab pos="384810" algn="l"/>
                <a:tab pos="1861185" algn="l"/>
              </a:tabLst>
            </a:pPr>
            <a:r>
              <a:rPr sz="1850" spc="-25" dirty="0">
                <a:latin typeface="Calibri"/>
                <a:cs typeface="Calibri"/>
              </a:rPr>
              <a:t>(</a:t>
            </a:r>
            <a:r>
              <a:rPr sz="1850" i="1" spc="-25" dirty="0">
                <a:latin typeface="Calibri"/>
                <a:cs typeface="Calibri"/>
              </a:rPr>
              <a:t>v</a:t>
            </a:r>
            <a:r>
              <a:rPr sz="1850" i="1" dirty="0">
                <a:latin typeface="Calibri"/>
                <a:cs typeface="Calibri"/>
              </a:rPr>
              <a:t>	</a:t>
            </a:r>
            <a:r>
              <a:rPr sz="1850" dirty="0">
                <a:latin typeface="Symbol"/>
                <a:cs typeface="Symbol"/>
              </a:rPr>
              <a:t>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Calibri"/>
                <a:cs typeface="Calibri"/>
              </a:rPr>
              <a:t>w</a:t>
            </a:r>
            <a:r>
              <a:rPr sz="1850" i="1" spc="19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)</a:t>
            </a:r>
            <a:r>
              <a:rPr sz="1575" baseline="44973" dirty="0">
                <a:latin typeface="Calibri"/>
                <a:cs typeface="Calibri"/>
              </a:rPr>
              <a:t>2</a:t>
            </a:r>
            <a:r>
              <a:rPr sz="1575" spc="480" baseline="44973" dirty="0">
                <a:latin typeface="Calibri"/>
                <a:cs typeface="Calibri"/>
              </a:rPr>
              <a:t> </a:t>
            </a:r>
            <a:r>
              <a:rPr sz="1850" dirty="0">
                <a:latin typeface="Symbol"/>
                <a:cs typeface="Symbol"/>
              </a:rPr>
              <a:t>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Calibri"/>
                <a:cs typeface="Calibri"/>
              </a:rPr>
              <a:t>..</a:t>
            </a:r>
            <a:r>
              <a:rPr sz="1850" spc="-150" dirty="0">
                <a:latin typeface="Calibri"/>
                <a:cs typeface="Calibri"/>
              </a:rPr>
              <a:t> </a:t>
            </a:r>
            <a:r>
              <a:rPr sz="1850" dirty="0">
                <a:latin typeface="Symbol"/>
                <a:cs typeface="Symbol"/>
              </a:rPr>
              <a:t>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Calibri"/>
                <a:cs typeface="Calibri"/>
              </a:rPr>
              <a:t>(</a:t>
            </a:r>
            <a:r>
              <a:rPr sz="1850" i="1" spc="-25" dirty="0">
                <a:latin typeface="Calibri"/>
                <a:cs typeface="Calibri"/>
              </a:rPr>
              <a:t>v</a:t>
            </a:r>
            <a:r>
              <a:rPr sz="1850" i="1" dirty="0">
                <a:latin typeface="Calibri"/>
                <a:cs typeface="Calibri"/>
              </a:rPr>
              <a:t>	</a:t>
            </a:r>
            <a:r>
              <a:rPr sz="1850" dirty="0">
                <a:latin typeface="Symbol"/>
                <a:cs typeface="Symbol"/>
              </a:rPr>
              <a:t>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Calibri"/>
                <a:cs typeface="Calibri"/>
              </a:rPr>
              <a:t>w</a:t>
            </a:r>
            <a:r>
              <a:rPr sz="1850" i="1" spc="275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)</a:t>
            </a:r>
            <a:r>
              <a:rPr sz="1575" spc="-37" baseline="44973" dirty="0">
                <a:latin typeface="Calibri"/>
                <a:cs typeface="Calibri"/>
              </a:rPr>
              <a:t>2</a:t>
            </a:r>
            <a:endParaRPr sz="1575" baseline="44973">
              <a:latin typeface="Calibri"/>
              <a:cs typeface="Calibri"/>
            </a:endParaRPr>
          </a:p>
          <a:p>
            <a:pPr marL="250190">
              <a:lnSpc>
                <a:spcPts val="885"/>
              </a:lnSpc>
              <a:tabLst>
                <a:tab pos="711200" algn="l"/>
                <a:tab pos="1703705" algn="l"/>
                <a:tab pos="2190750" algn="l"/>
              </a:tabLst>
            </a:pPr>
            <a:r>
              <a:rPr sz="1050" spc="-50" dirty="0">
                <a:latin typeface="Calibri"/>
                <a:cs typeface="Calibri"/>
              </a:rPr>
              <a:t>1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50" dirty="0">
                <a:latin typeface="Calibri"/>
                <a:cs typeface="Calibri"/>
              </a:rPr>
              <a:t>1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i="1" spc="10" dirty="0">
                <a:latin typeface="Calibri"/>
                <a:cs typeface="Calibri"/>
              </a:rPr>
              <a:t>n</a:t>
            </a:r>
            <a:r>
              <a:rPr sz="1050" i="1" dirty="0">
                <a:latin typeface="Calibri"/>
                <a:cs typeface="Calibri"/>
              </a:rPr>
              <a:t>	</a:t>
            </a:r>
            <a:r>
              <a:rPr sz="1050" i="1" spc="10" dirty="0">
                <a:latin typeface="Calibri"/>
                <a:cs typeface="Calibri"/>
              </a:rPr>
              <a:t>n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83550" y="6345461"/>
            <a:ext cx="2544445" cy="389890"/>
            <a:chOff x="3183550" y="6345461"/>
            <a:chExt cx="2544445" cy="389890"/>
          </a:xfrm>
        </p:grpSpPr>
        <p:sp>
          <p:nvSpPr>
            <p:cNvPr id="12" name="object 12"/>
            <p:cNvSpPr/>
            <p:nvPr/>
          </p:nvSpPr>
          <p:spPr>
            <a:xfrm>
              <a:off x="3184730" y="6346642"/>
              <a:ext cx="2543175" cy="354965"/>
            </a:xfrm>
            <a:custGeom>
              <a:avLst/>
              <a:gdLst/>
              <a:ahLst/>
              <a:cxnLst/>
              <a:rect l="l" t="t" r="r" b="b"/>
              <a:pathLst>
                <a:path w="2543175" h="354965">
                  <a:moveTo>
                    <a:pt x="32598" y="233399"/>
                  </a:moveTo>
                  <a:lnTo>
                    <a:pt x="0" y="260424"/>
                  </a:lnTo>
                </a:path>
                <a:path w="2543175" h="354965">
                  <a:moveTo>
                    <a:pt x="83032" y="354398"/>
                  </a:moveTo>
                  <a:lnTo>
                    <a:pt x="32598" y="233399"/>
                  </a:lnTo>
                </a:path>
                <a:path w="2543175" h="354965">
                  <a:moveTo>
                    <a:pt x="141463" y="0"/>
                  </a:moveTo>
                  <a:lnTo>
                    <a:pt x="83032" y="354398"/>
                  </a:lnTo>
                </a:path>
                <a:path w="2543175" h="354965">
                  <a:moveTo>
                    <a:pt x="2542648" y="0"/>
                  </a:moveTo>
                  <a:lnTo>
                    <a:pt x="1414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84730" y="6346643"/>
              <a:ext cx="2543175" cy="388620"/>
            </a:xfrm>
            <a:custGeom>
              <a:avLst/>
              <a:gdLst/>
              <a:ahLst/>
              <a:cxnLst/>
              <a:rect l="l" t="t" r="r" b="b"/>
              <a:pathLst>
                <a:path w="2543175" h="388620">
                  <a:moveTo>
                    <a:pt x="2542646" y="0"/>
                  </a:moveTo>
                  <a:lnTo>
                    <a:pt x="141462" y="0"/>
                  </a:lnTo>
                  <a:lnTo>
                    <a:pt x="83032" y="354398"/>
                  </a:lnTo>
                  <a:lnTo>
                    <a:pt x="32597" y="233399"/>
                  </a:lnTo>
                  <a:lnTo>
                    <a:pt x="0" y="260424"/>
                  </a:lnTo>
                  <a:lnTo>
                    <a:pt x="4919" y="265952"/>
                  </a:lnTo>
                  <a:lnTo>
                    <a:pt x="19681" y="253668"/>
                  </a:lnTo>
                  <a:lnTo>
                    <a:pt x="77496" y="388179"/>
                  </a:lnTo>
                  <a:lnTo>
                    <a:pt x="89183" y="388179"/>
                  </a:lnTo>
                  <a:lnTo>
                    <a:pt x="150688" y="11670"/>
                  </a:lnTo>
                  <a:lnTo>
                    <a:pt x="2542646" y="11670"/>
                  </a:lnTo>
                  <a:lnTo>
                    <a:pt x="2542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376141" y="1691533"/>
            <a:ext cx="2957830" cy="1422400"/>
            <a:chOff x="6376141" y="1691533"/>
            <a:chExt cx="2957830" cy="14224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2846" y="1769694"/>
              <a:ext cx="2795564" cy="12831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80850" y="1696243"/>
              <a:ext cx="2948305" cy="1412875"/>
            </a:xfrm>
            <a:custGeom>
              <a:avLst/>
              <a:gdLst/>
              <a:ahLst/>
              <a:cxnLst/>
              <a:rect l="l" t="t" r="r" b="b"/>
              <a:pathLst>
                <a:path w="2948304" h="1412875">
                  <a:moveTo>
                    <a:pt x="0" y="0"/>
                  </a:moveTo>
                  <a:lnTo>
                    <a:pt x="2948199" y="0"/>
                  </a:lnTo>
                  <a:lnTo>
                    <a:pt x="2948199" y="1412875"/>
                  </a:lnTo>
                  <a:lnTo>
                    <a:pt x="0" y="1412875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6462" y="557783"/>
            <a:ext cx="81089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18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a</a:t>
            </a:r>
            <a:r>
              <a:rPr spc="-180" dirty="0"/>
              <a:t> </a:t>
            </a:r>
            <a:r>
              <a:rPr dirty="0"/>
              <a:t>Matrix:</a:t>
            </a:r>
            <a:r>
              <a:rPr spc="-170" dirty="0"/>
              <a:t> </a:t>
            </a:r>
            <a:r>
              <a:rPr spc="-10" dirty="0"/>
              <a:t>Frobenius</a:t>
            </a:r>
            <a:r>
              <a:rPr spc="-180" dirty="0"/>
              <a:t> </a:t>
            </a:r>
            <a:r>
              <a:rPr spc="-20" dirty="0"/>
              <a:t>Norm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8000" y="1474892"/>
            <a:ext cx="5651500" cy="5651500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429259" indent="-339090">
              <a:lnSpc>
                <a:spcPct val="100000"/>
              </a:lnSpc>
              <a:spcBef>
                <a:spcPts val="175"/>
              </a:spcBef>
              <a:buChar char="•"/>
              <a:tabLst>
                <a:tab pos="429259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Similar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3150" baseline="23809" dirty="0">
                <a:latin typeface="Calibri"/>
                <a:cs typeface="Calibri"/>
              </a:rPr>
              <a:t>2</a:t>
            </a:r>
            <a:r>
              <a:rPr sz="3150" spc="509" baseline="23809" dirty="0"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norm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333CC"/>
              </a:buClr>
              <a:buFont typeface="Arial"/>
              <a:buChar char="•"/>
            </a:pP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0"/>
              </a:spcBef>
              <a:buClr>
                <a:srgbClr val="3333CC"/>
              </a:buClr>
              <a:buFont typeface="Arial"/>
              <a:buChar char="•"/>
            </a:pPr>
            <a:endParaRPr sz="3200">
              <a:latin typeface="Arial"/>
              <a:cs typeface="Arial"/>
            </a:endParaRPr>
          </a:p>
          <a:p>
            <a:pPr marL="429259" indent="-339090">
              <a:lnSpc>
                <a:spcPct val="100000"/>
              </a:lnSpc>
              <a:spcBef>
                <a:spcPts val="5"/>
              </a:spcBef>
              <a:buChar char="•"/>
              <a:tabLst>
                <a:tab pos="429259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Frobenius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ML</a:t>
            </a:r>
            <a:endParaRPr sz="3200">
              <a:latin typeface="Arial"/>
              <a:cs typeface="Arial"/>
            </a:endParaRPr>
          </a:p>
          <a:p>
            <a:pPr marL="823594" marR="527685" lvl="1" indent="-281305">
              <a:lnSpc>
                <a:spcPts val="3310"/>
              </a:lnSpc>
              <a:spcBef>
                <a:spcPts val="790"/>
              </a:spcBef>
              <a:buChar char="–"/>
              <a:tabLst>
                <a:tab pos="82486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Layers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neural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network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involve</a:t>
            </a:r>
            <a:r>
              <a:rPr sz="2800" spc="-1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multiplication</a:t>
            </a:r>
            <a:endParaRPr sz="2800">
              <a:latin typeface="Arial"/>
              <a:cs typeface="Arial"/>
            </a:endParaRPr>
          </a:p>
          <a:p>
            <a:pPr marL="823594" lvl="1" indent="-281305">
              <a:lnSpc>
                <a:spcPct val="100000"/>
              </a:lnSpc>
              <a:spcBef>
                <a:spcPts val="525"/>
              </a:spcBef>
              <a:buChar char="–"/>
              <a:tabLst>
                <a:tab pos="823594" algn="l"/>
              </a:tabLst>
            </a:pP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Regularization:</a:t>
            </a:r>
            <a:endParaRPr sz="2800">
              <a:latin typeface="Arial"/>
              <a:cs typeface="Arial"/>
            </a:endParaRPr>
          </a:p>
          <a:p>
            <a:pPr marL="1219200" marR="514984" lvl="2" indent="-224790">
              <a:lnSpc>
                <a:spcPts val="2710"/>
              </a:lnSpc>
              <a:spcBef>
                <a:spcPts val="775"/>
              </a:spcBef>
              <a:buChar char="•"/>
              <a:tabLst>
                <a:tab pos="1220470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minimize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Frobenius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weight 	matrices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Calibri"/>
                <a:cs typeface="Calibri"/>
              </a:rPr>
              <a:t>||</a:t>
            </a:r>
            <a:r>
              <a:rPr sz="2000" i="1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i="1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)||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over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L</a:t>
            </a:r>
            <a:r>
              <a:rPr sz="2400" i="1" spc="2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layers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64058" y="6869254"/>
            <a:ext cx="19494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40" dirty="0">
                <a:latin typeface="Arial"/>
                <a:cs typeface="Arial"/>
              </a:rPr>
              <a:t>36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1909" y="1871826"/>
            <a:ext cx="1346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250" i="1" spc="160" dirty="0">
                <a:latin typeface="Cambria"/>
                <a:cs typeface="Cambria"/>
              </a:rPr>
              <a:t>A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45520" y="1881974"/>
            <a:ext cx="215900" cy="243840"/>
          </a:xfrm>
          <a:custGeom>
            <a:avLst/>
            <a:gdLst/>
            <a:ahLst/>
            <a:cxnLst/>
            <a:rect l="l" t="t" r="r" b="b"/>
            <a:pathLst>
              <a:path w="215900" h="243839">
                <a:moveTo>
                  <a:pt x="8077" y="0"/>
                </a:moveTo>
                <a:lnTo>
                  <a:pt x="0" y="0"/>
                </a:lnTo>
                <a:lnTo>
                  <a:pt x="0" y="243598"/>
                </a:lnTo>
                <a:lnTo>
                  <a:pt x="8077" y="243598"/>
                </a:lnTo>
                <a:lnTo>
                  <a:pt x="8077" y="0"/>
                </a:lnTo>
                <a:close/>
              </a:path>
              <a:path w="215900" h="243839">
                <a:moveTo>
                  <a:pt x="48514" y="0"/>
                </a:moveTo>
                <a:lnTo>
                  <a:pt x="40424" y="0"/>
                </a:lnTo>
                <a:lnTo>
                  <a:pt x="40424" y="243598"/>
                </a:lnTo>
                <a:lnTo>
                  <a:pt x="48514" y="243598"/>
                </a:lnTo>
                <a:lnTo>
                  <a:pt x="48514" y="0"/>
                </a:lnTo>
                <a:close/>
              </a:path>
              <a:path w="215900" h="243839">
                <a:moveTo>
                  <a:pt x="174904" y="0"/>
                </a:moveTo>
                <a:lnTo>
                  <a:pt x="166814" y="0"/>
                </a:lnTo>
                <a:lnTo>
                  <a:pt x="166814" y="243598"/>
                </a:lnTo>
                <a:lnTo>
                  <a:pt x="174904" y="243598"/>
                </a:lnTo>
                <a:lnTo>
                  <a:pt x="174904" y="0"/>
                </a:lnTo>
                <a:close/>
              </a:path>
              <a:path w="215900" h="243839">
                <a:moveTo>
                  <a:pt x="215328" y="0"/>
                </a:moveTo>
                <a:lnTo>
                  <a:pt x="207251" y="0"/>
                </a:lnTo>
                <a:lnTo>
                  <a:pt x="207251" y="243598"/>
                </a:lnTo>
                <a:lnTo>
                  <a:pt x="215328" y="243598"/>
                </a:lnTo>
                <a:lnTo>
                  <a:pt x="215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60007" y="2027694"/>
            <a:ext cx="7493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50" i="1" spc="30" dirty="0">
                <a:latin typeface="Cambria"/>
                <a:cs typeface="Cambria"/>
              </a:rPr>
              <a:t>F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6632" y="2099665"/>
            <a:ext cx="9779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50" i="1" spc="-25" dirty="0">
                <a:latin typeface="Cambria"/>
                <a:cs typeface="Cambria"/>
              </a:rPr>
              <a:t>i,j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32062" y="1744066"/>
            <a:ext cx="282575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875" i="1" spc="472" baseline="-44444" dirty="0">
                <a:latin typeface="Cambria"/>
                <a:cs typeface="Cambria"/>
              </a:rPr>
              <a:t>=</a:t>
            </a:r>
            <a:r>
              <a:rPr sz="1875" i="1" spc="-52" baseline="-44444" dirty="0">
                <a:latin typeface="Cambria"/>
                <a:cs typeface="Cambria"/>
              </a:rPr>
              <a:t> </a:t>
            </a:r>
            <a:r>
              <a:rPr sz="1250" spc="-50" dirty="0">
                <a:latin typeface="Symbol"/>
                <a:cs typeface="Symbol"/>
              </a:rPr>
              <a:t>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7819" y="1824129"/>
            <a:ext cx="60134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875" spc="-359" baseline="-6666" dirty="0">
                <a:latin typeface="Symbol"/>
                <a:cs typeface="Symbol"/>
              </a:rPr>
              <a:t></a:t>
            </a:r>
            <a:r>
              <a:rPr sz="1875" spc="-359" baseline="-37777" dirty="0">
                <a:latin typeface="Symbol"/>
                <a:cs typeface="Symbol"/>
              </a:rPr>
              <a:t></a:t>
            </a:r>
            <a:r>
              <a:rPr sz="1875" spc="-172" baseline="-37777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</a:t>
            </a:r>
            <a:r>
              <a:rPr sz="1900" spc="35" dirty="0">
                <a:latin typeface="Times New Roman"/>
                <a:cs typeface="Times New Roman"/>
              </a:rPr>
              <a:t>  </a:t>
            </a:r>
            <a:r>
              <a:rPr sz="500" i="1" dirty="0">
                <a:latin typeface="Cambria"/>
                <a:cs typeface="Cambria"/>
              </a:rPr>
              <a:t>i,j</a:t>
            </a:r>
            <a:r>
              <a:rPr sz="500" i="1" spc="180" dirty="0">
                <a:latin typeface="Cambria"/>
                <a:cs typeface="Cambria"/>
              </a:rPr>
              <a:t> </a:t>
            </a:r>
            <a:r>
              <a:rPr sz="1875" spc="-142" baseline="-6666" dirty="0">
                <a:latin typeface="Symbol"/>
                <a:cs typeface="Symbol"/>
              </a:rPr>
              <a:t></a:t>
            </a:r>
            <a:r>
              <a:rPr sz="1875" spc="-142" baseline="-37777" dirty="0">
                <a:latin typeface="Symbol"/>
                <a:cs typeface="Symbol"/>
              </a:rPr>
              <a:t></a:t>
            </a:r>
            <a:endParaRPr sz="1875" baseline="-37777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74964" y="1644839"/>
            <a:ext cx="65405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50" spc="-50" dirty="0">
                <a:latin typeface="Cambria"/>
                <a:cs typeface="Cambria"/>
              </a:rPr>
              <a:t>1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53797" y="1708293"/>
            <a:ext cx="414020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875" i="1" spc="142" baseline="-57777" dirty="0">
                <a:latin typeface="Cambria"/>
                <a:cs typeface="Cambria"/>
              </a:rPr>
              <a:t>A</a:t>
            </a:r>
            <a:r>
              <a:rPr sz="1125" spc="142" baseline="-51851" dirty="0">
                <a:latin typeface="Cambria"/>
                <a:cs typeface="Cambria"/>
              </a:rPr>
              <a:t>2</a:t>
            </a:r>
            <a:r>
              <a:rPr sz="1125" spc="187" baseline="-51851" dirty="0">
                <a:latin typeface="Cambria"/>
                <a:cs typeface="Cambria"/>
              </a:rPr>
              <a:t> </a:t>
            </a:r>
            <a:r>
              <a:rPr sz="1875" baseline="-13333" dirty="0">
                <a:latin typeface="Symbol"/>
                <a:cs typeface="Symbol"/>
              </a:rPr>
              <a:t></a:t>
            </a:r>
            <a:r>
              <a:rPr sz="1875" spc="-150" baseline="-13333" dirty="0">
                <a:latin typeface="Times New Roman"/>
                <a:cs typeface="Times New Roman"/>
              </a:rPr>
              <a:t> </a:t>
            </a:r>
            <a:r>
              <a:rPr sz="750" spc="-50" dirty="0">
                <a:latin typeface="Cambria"/>
                <a:cs typeface="Cambria"/>
              </a:rPr>
              <a:t>2</a:t>
            </a:r>
            <a:endParaRPr sz="75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16953" y="1616180"/>
            <a:ext cx="1149350" cy="659765"/>
            <a:chOff x="4416953" y="1616180"/>
            <a:chExt cx="1149350" cy="659765"/>
          </a:xfrm>
        </p:grpSpPr>
        <p:sp>
          <p:nvSpPr>
            <p:cNvPr id="16" name="object 16"/>
            <p:cNvSpPr/>
            <p:nvPr/>
          </p:nvSpPr>
          <p:spPr>
            <a:xfrm>
              <a:off x="5475390" y="1784874"/>
              <a:ext cx="52069" cy="4445"/>
            </a:xfrm>
            <a:custGeom>
              <a:avLst/>
              <a:gdLst/>
              <a:ahLst/>
              <a:cxnLst/>
              <a:rect l="l" t="t" r="r" b="b"/>
              <a:pathLst>
                <a:path w="52070" h="4444">
                  <a:moveTo>
                    <a:pt x="51918" y="0"/>
                  </a:moveTo>
                  <a:lnTo>
                    <a:pt x="0" y="0"/>
                  </a:lnTo>
                  <a:lnTo>
                    <a:pt x="0" y="3832"/>
                  </a:lnTo>
                  <a:lnTo>
                    <a:pt x="51918" y="3832"/>
                  </a:lnTo>
                  <a:lnTo>
                    <a:pt x="51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21663" y="1620890"/>
              <a:ext cx="1139825" cy="650240"/>
            </a:xfrm>
            <a:custGeom>
              <a:avLst/>
              <a:gdLst/>
              <a:ahLst/>
              <a:cxnLst/>
              <a:rect l="l" t="t" r="r" b="b"/>
              <a:pathLst>
                <a:path w="1139825" h="650239">
                  <a:moveTo>
                    <a:pt x="0" y="0"/>
                  </a:moveTo>
                  <a:lnTo>
                    <a:pt x="1139719" y="0"/>
                  </a:lnTo>
                  <a:lnTo>
                    <a:pt x="1139719" y="649922"/>
                  </a:lnTo>
                  <a:lnTo>
                    <a:pt x="0" y="649922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930293" y="5994523"/>
            <a:ext cx="2355215" cy="877569"/>
            <a:chOff x="1930293" y="5994523"/>
            <a:chExt cx="2355215" cy="877569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4375" y="6180997"/>
              <a:ext cx="2079352" cy="59313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35003" y="5999233"/>
              <a:ext cx="2345690" cy="868680"/>
            </a:xfrm>
            <a:custGeom>
              <a:avLst/>
              <a:gdLst/>
              <a:ahLst/>
              <a:cxnLst/>
              <a:rect l="l" t="t" r="r" b="b"/>
              <a:pathLst>
                <a:path w="2345690" h="868679">
                  <a:moveTo>
                    <a:pt x="0" y="0"/>
                  </a:moveTo>
                  <a:lnTo>
                    <a:pt x="2345372" y="0"/>
                  </a:lnTo>
                  <a:lnTo>
                    <a:pt x="2345372" y="868132"/>
                  </a:lnTo>
                  <a:lnTo>
                    <a:pt x="0" y="868132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5679" y="1522747"/>
            <a:ext cx="3222953" cy="195139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59190" y="4368601"/>
            <a:ext cx="3249941" cy="276574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611619" y="3509433"/>
            <a:ext cx="2625090" cy="36639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555"/>
              </a:spcBef>
            </a:pPr>
            <a:r>
              <a:rPr sz="2700" baseline="9259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dirty="0">
                <a:latin typeface="MS Gothic"/>
                <a:cs typeface="MS Gothic"/>
              </a:rPr>
              <a:t>×</a:t>
            </a:r>
            <a:r>
              <a:rPr sz="1200" dirty="0">
                <a:latin typeface="Calibri"/>
                <a:cs typeface="Calibri"/>
              </a:rPr>
              <a:t>(</a:t>
            </a:r>
            <a:r>
              <a:rPr sz="1200" i="1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+1)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2700" baseline="9259" dirty="0">
                <a:latin typeface="MS Gothic"/>
                <a:cs typeface="MS Gothic"/>
              </a:rPr>
              <a:t>×</a:t>
            </a:r>
            <a:r>
              <a:rPr sz="2700" spc="-772" baseline="9259" dirty="0">
                <a:latin typeface="MS Gothic"/>
                <a:cs typeface="MS Gothic"/>
              </a:rPr>
              <a:t> </a:t>
            </a:r>
            <a:r>
              <a:rPr sz="2700" spc="-15" baseline="9259" dirty="0">
                <a:latin typeface="Calibri"/>
                <a:cs typeface="Calibri"/>
              </a:rPr>
              <a:t>V</a:t>
            </a:r>
            <a:r>
              <a:rPr sz="1200" i="1" spc="-10" dirty="0">
                <a:latin typeface="Calibri"/>
                <a:cs typeface="Calibri"/>
              </a:rPr>
              <a:t>(I</a:t>
            </a:r>
            <a:r>
              <a:rPr sz="1200" spc="-10" dirty="0">
                <a:latin typeface="Calibri"/>
                <a:cs typeface="Calibri"/>
              </a:rPr>
              <a:t>+1)</a:t>
            </a:r>
            <a:r>
              <a:rPr sz="1200" spc="-10" dirty="0">
                <a:latin typeface="MS Gothic"/>
                <a:cs typeface="MS Gothic"/>
              </a:rPr>
              <a:t>×</a:t>
            </a:r>
            <a:r>
              <a:rPr sz="1200" i="1" spc="-10" dirty="0">
                <a:latin typeface="Calibri"/>
                <a:cs typeface="Calibri"/>
              </a:rPr>
              <a:t>J</a:t>
            </a:r>
            <a:r>
              <a:rPr sz="2700" spc="-15" baseline="9259" dirty="0">
                <a:latin typeface="Calibri"/>
                <a:cs typeface="Calibri"/>
              </a:rPr>
              <a:t>=net</a:t>
            </a:r>
            <a:r>
              <a:rPr sz="1200" i="1" spc="-10" dirty="0">
                <a:latin typeface="Calibri"/>
                <a:cs typeface="Calibri"/>
              </a:rPr>
              <a:t>J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60912" y="3961552"/>
            <a:ext cx="2821305" cy="36639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4"/>
              </a:spcBef>
              <a:tabLst>
                <a:tab pos="1167130" algn="l"/>
              </a:tabLst>
            </a:pP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i="1" spc="-15" baseline="-13888" dirty="0">
                <a:latin typeface="Calibri"/>
                <a:cs typeface="Calibri"/>
              </a:rPr>
              <a:t>j</a:t>
            </a:r>
            <a:r>
              <a:rPr sz="1800" spc="-10" dirty="0">
                <a:latin typeface="Calibri"/>
                <a:cs typeface="Calibri"/>
              </a:rPr>
              <a:t>=</a:t>
            </a:r>
            <a:r>
              <a:rPr sz="1800" i="1" spc="-10" dirty="0">
                <a:latin typeface="Calibri"/>
                <a:cs typeface="Calibri"/>
              </a:rPr>
              <a:t>f</a:t>
            </a:r>
            <a:r>
              <a:rPr sz="1800" spc="-10" dirty="0">
                <a:latin typeface="Calibri"/>
                <a:cs typeface="Calibri"/>
              </a:rPr>
              <a:t>(net</a:t>
            </a:r>
            <a:r>
              <a:rPr sz="1800" i="1" spc="-15" baseline="-13888" dirty="0">
                <a:latin typeface="Calibri"/>
                <a:cs typeface="Calibri"/>
              </a:rPr>
              <a:t>j</a:t>
            </a:r>
            <a:r>
              <a:rPr sz="1800" spc="-10" dirty="0">
                <a:latin typeface="Calibri"/>
                <a:cs typeface="Calibri"/>
              </a:rPr>
              <a:t>)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600" i="1" spc="-25" dirty="0">
                <a:latin typeface="Calibri"/>
                <a:cs typeface="Calibri"/>
              </a:rPr>
              <a:t>f</a:t>
            </a:r>
            <a:r>
              <a:rPr sz="1600" spc="-25" dirty="0">
                <a:latin typeface="Calibri"/>
                <a:cs typeface="Calibri"/>
              </a:rPr>
              <a:t>(</a:t>
            </a:r>
            <a:r>
              <a:rPr sz="1600" i="1" spc="-25" dirty="0">
                <a:latin typeface="Calibri"/>
                <a:cs typeface="Calibri"/>
              </a:rPr>
              <a:t>x</a:t>
            </a:r>
            <a:r>
              <a:rPr sz="1600" spc="-25" dirty="0">
                <a:latin typeface="Calibri"/>
                <a:cs typeface="Calibri"/>
              </a:rPr>
              <a:t>)=1/(1+</a:t>
            </a:r>
            <a:r>
              <a:rPr sz="1600" i="1" spc="-25" dirty="0">
                <a:latin typeface="Calibri"/>
                <a:cs typeface="Calibri"/>
              </a:rPr>
              <a:t>e</a:t>
            </a:r>
            <a:r>
              <a:rPr sz="1650" i="1" spc="-37" baseline="25252" dirty="0">
                <a:latin typeface="Calibri"/>
                <a:cs typeface="Calibri"/>
              </a:rPr>
              <a:t>-x</a:t>
            </a:r>
            <a:r>
              <a:rPr sz="1600" spc="-25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12577" y="3228847"/>
            <a:ext cx="64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18231" y="3228847"/>
            <a:ext cx="1310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7930" algn="l"/>
              </a:tabLst>
            </a:pPr>
            <a:r>
              <a:rPr sz="1200" i="1" spc="-50" dirty="0">
                <a:latin typeface="Calibri"/>
                <a:cs typeface="Calibri"/>
              </a:rPr>
              <a:t>J</a:t>
            </a:r>
            <a:r>
              <a:rPr sz="1200" i="1" dirty="0">
                <a:latin typeface="Calibri"/>
                <a:cs typeface="Calibri"/>
              </a:rPr>
              <a:t>	</a:t>
            </a:r>
            <a:r>
              <a:rPr sz="1200" i="1" spc="-50" dirty="0">
                <a:latin typeface="Calibri"/>
                <a:cs typeface="Calibri"/>
              </a:rPr>
              <a:t>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37680" y="2831252"/>
            <a:ext cx="750570" cy="259079"/>
          </a:xfrm>
          <a:prstGeom prst="rect">
            <a:avLst/>
          </a:prstGeom>
          <a:solidFill>
            <a:srgbClr val="FFFFFF"/>
          </a:solidFill>
          <a:ln w="9419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4"/>
              </a:spcBef>
            </a:pPr>
            <a:r>
              <a:rPr sz="1100" i="1" dirty="0">
                <a:latin typeface="Calibri"/>
                <a:cs typeface="Calibri"/>
              </a:rPr>
              <a:t>V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matrix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94040" y="2831252"/>
            <a:ext cx="788670" cy="259079"/>
          </a:xfrm>
          <a:prstGeom prst="rect">
            <a:avLst/>
          </a:prstGeom>
          <a:solidFill>
            <a:srgbClr val="FFFFFF"/>
          </a:solidFill>
          <a:ln w="9419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4"/>
              </a:spcBef>
            </a:pPr>
            <a:r>
              <a:rPr sz="1100" i="1" dirty="0">
                <a:latin typeface="Calibri"/>
                <a:cs typeface="Calibri"/>
              </a:rPr>
              <a:t>W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matrix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39131" y="2419337"/>
            <a:ext cx="873760" cy="41719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254"/>
              </a:spcBef>
            </a:pPr>
            <a:r>
              <a:rPr sz="1150" spc="-25" dirty="0">
                <a:latin typeface="Symbol"/>
                <a:cs typeface="Symbol"/>
              </a:rPr>
              <a:t></a:t>
            </a:r>
            <a:r>
              <a:rPr sz="1150" spc="-25" dirty="0">
                <a:latin typeface="Cambria"/>
                <a:cs typeface="Cambria"/>
              </a:rPr>
              <a:t>1</a:t>
            </a:r>
            <a:endParaRPr sz="115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160"/>
              </a:spcBef>
              <a:tabLst>
                <a:tab pos="715645" algn="l"/>
              </a:tabLst>
            </a:pPr>
            <a:r>
              <a:rPr sz="1150" i="1" spc="215" dirty="0">
                <a:latin typeface="Calibri"/>
                <a:cs typeface="Calibri"/>
              </a:rPr>
              <a:t>A</a:t>
            </a:r>
            <a:r>
              <a:rPr sz="1150" i="1" spc="55" dirty="0">
                <a:latin typeface="Calibri"/>
                <a:cs typeface="Calibri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110" dirty="0">
                <a:latin typeface="Times New Roman"/>
                <a:cs typeface="Times New Roman"/>
              </a:rPr>
              <a:t> </a:t>
            </a:r>
            <a:r>
              <a:rPr sz="1725" baseline="36231" dirty="0">
                <a:latin typeface="Symbol"/>
                <a:cs typeface="Symbol"/>
              </a:rPr>
              <a:t></a:t>
            </a:r>
            <a:r>
              <a:rPr sz="1725" spc="577" baseline="36231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Cambria"/>
                <a:cs typeface="Cambria"/>
              </a:rPr>
              <a:t>0</a:t>
            </a:r>
            <a:r>
              <a:rPr sz="1150" dirty="0">
                <a:latin typeface="Cambria"/>
                <a:cs typeface="Cambria"/>
              </a:rPr>
              <a:t>	</a:t>
            </a:r>
            <a:r>
              <a:rPr sz="1150" spc="-50" dirty="0">
                <a:latin typeface="Cambria"/>
                <a:cs typeface="Cambria"/>
              </a:rPr>
              <a:t>2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22491" y="2391550"/>
            <a:ext cx="93662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680085" algn="l"/>
              </a:tabLst>
            </a:pPr>
            <a:r>
              <a:rPr sz="1150" dirty="0">
                <a:latin typeface="Symbol"/>
                <a:cs typeface="Symbol"/>
              </a:rPr>
              <a:t></a:t>
            </a:r>
            <a:r>
              <a:rPr sz="1150" spc="390" dirty="0">
                <a:latin typeface="Times New Roman"/>
                <a:cs typeface="Times New Roman"/>
              </a:rPr>
              <a:t> </a:t>
            </a:r>
            <a:r>
              <a:rPr sz="1725" spc="-75" baseline="-16908" dirty="0">
                <a:latin typeface="Cambria"/>
                <a:cs typeface="Cambria"/>
              </a:rPr>
              <a:t>2</a:t>
            </a:r>
            <a:r>
              <a:rPr sz="1725" baseline="-16908" dirty="0">
                <a:latin typeface="Cambria"/>
                <a:cs typeface="Cambria"/>
              </a:rPr>
              <a:t>	5</a:t>
            </a:r>
            <a:r>
              <a:rPr sz="1725" spc="532" baseline="-16908" dirty="0">
                <a:latin typeface="Cambria"/>
                <a:cs typeface="Cambria"/>
              </a:rPr>
              <a:t> </a:t>
            </a:r>
            <a:r>
              <a:rPr sz="1150" spc="-60" dirty="0">
                <a:latin typeface="Symbol"/>
                <a:cs typeface="Symbol"/>
              </a:rPr>
              <a:t>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01487" y="2535977"/>
            <a:ext cx="23241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725" baseline="-36231" dirty="0">
                <a:latin typeface="Cambria"/>
                <a:cs typeface="Cambria"/>
              </a:rPr>
              <a:t>1</a:t>
            </a:r>
            <a:r>
              <a:rPr sz="1725" spc="555" baseline="-36231" dirty="0">
                <a:latin typeface="Cambria"/>
                <a:cs typeface="Cambria"/>
              </a:rPr>
              <a:t> 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62790" y="2680404"/>
            <a:ext cx="711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22491" y="2680404"/>
            <a:ext cx="949325" cy="3524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ts val="1265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</a:t>
            </a:r>
            <a:endParaRPr sz="1150">
              <a:latin typeface="Symbol"/>
              <a:cs typeface="Symbol"/>
            </a:endParaRPr>
          </a:p>
          <a:p>
            <a:pPr marL="38100">
              <a:lnSpc>
                <a:spcPts val="1265"/>
              </a:lnSpc>
              <a:tabLst>
                <a:tab pos="429259" algn="l"/>
                <a:tab pos="678815" algn="l"/>
              </a:tabLst>
            </a:pPr>
            <a:r>
              <a:rPr sz="1150" spc="-100" dirty="0">
                <a:latin typeface="Symbol"/>
                <a:cs typeface="Symbol"/>
              </a:rPr>
              <a:t></a:t>
            </a:r>
            <a:r>
              <a:rPr sz="1725" spc="-150" baseline="-33816" dirty="0">
                <a:latin typeface="Symbol"/>
                <a:cs typeface="Symbol"/>
              </a:rPr>
              <a:t></a:t>
            </a:r>
            <a:r>
              <a:rPr sz="1725" spc="217" baseline="-33816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Cambria"/>
                <a:cs typeface="Cambria"/>
              </a:rPr>
              <a:t>3</a:t>
            </a:r>
            <a:r>
              <a:rPr sz="1150" dirty="0">
                <a:latin typeface="Cambria"/>
                <a:cs typeface="Cambria"/>
              </a:rPr>
              <a:t>	</a:t>
            </a:r>
            <a:r>
              <a:rPr sz="1150" spc="-50" dirty="0">
                <a:latin typeface="Cambria"/>
                <a:cs typeface="Cambria"/>
              </a:rPr>
              <a:t>1</a:t>
            </a:r>
            <a:r>
              <a:rPr sz="1150" dirty="0">
                <a:latin typeface="Cambria"/>
                <a:cs typeface="Cambria"/>
              </a:rPr>
              <a:t>	1</a:t>
            </a:r>
            <a:r>
              <a:rPr sz="1150" spc="370" dirty="0">
                <a:latin typeface="Cambria"/>
                <a:cs typeface="Cambria"/>
              </a:rPr>
              <a:t> </a:t>
            </a:r>
            <a:r>
              <a:rPr sz="1150" spc="-35" dirty="0">
                <a:latin typeface="Symbol"/>
                <a:cs typeface="Symbol"/>
              </a:rPr>
              <a:t></a:t>
            </a:r>
            <a:r>
              <a:rPr sz="1725" spc="-52" baseline="-33816" dirty="0">
                <a:latin typeface="Symbol"/>
                <a:cs typeface="Symbol"/>
              </a:rPr>
              <a:t></a:t>
            </a:r>
            <a:endParaRPr sz="1725" baseline="-33816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562555" y="2640520"/>
            <a:ext cx="45085" cy="224790"/>
          </a:xfrm>
          <a:custGeom>
            <a:avLst/>
            <a:gdLst/>
            <a:ahLst/>
            <a:cxnLst/>
            <a:rect l="l" t="t" r="r" b="b"/>
            <a:pathLst>
              <a:path w="45085" h="224789">
                <a:moveTo>
                  <a:pt x="7454" y="0"/>
                </a:moveTo>
                <a:lnTo>
                  <a:pt x="0" y="0"/>
                </a:lnTo>
                <a:lnTo>
                  <a:pt x="0" y="224485"/>
                </a:lnTo>
                <a:lnTo>
                  <a:pt x="7454" y="224485"/>
                </a:lnTo>
                <a:lnTo>
                  <a:pt x="7454" y="0"/>
                </a:lnTo>
                <a:close/>
              </a:path>
              <a:path w="45085" h="224789">
                <a:moveTo>
                  <a:pt x="44729" y="0"/>
                </a:moveTo>
                <a:lnTo>
                  <a:pt x="37274" y="0"/>
                </a:lnTo>
                <a:lnTo>
                  <a:pt x="37274" y="224485"/>
                </a:lnTo>
                <a:lnTo>
                  <a:pt x="44729" y="224485"/>
                </a:lnTo>
                <a:lnTo>
                  <a:pt x="447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16403" y="2640520"/>
            <a:ext cx="45085" cy="224790"/>
          </a:xfrm>
          <a:custGeom>
            <a:avLst/>
            <a:gdLst/>
            <a:ahLst/>
            <a:cxnLst/>
            <a:rect l="l" t="t" r="r" b="b"/>
            <a:pathLst>
              <a:path w="45085" h="224789">
                <a:moveTo>
                  <a:pt x="7454" y="0"/>
                </a:moveTo>
                <a:lnTo>
                  <a:pt x="0" y="0"/>
                </a:lnTo>
                <a:lnTo>
                  <a:pt x="0" y="224485"/>
                </a:lnTo>
                <a:lnTo>
                  <a:pt x="7454" y="224485"/>
                </a:lnTo>
                <a:lnTo>
                  <a:pt x="7454" y="0"/>
                </a:lnTo>
                <a:close/>
              </a:path>
              <a:path w="45085" h="224789">
                <a:moveTo>
                  <a:pt x="44729" y="0"/>
                </a:moveTo>
                <a:lnTo>
                  <a:pt x="37274" y="0"/>
                </a:lnTo>
                <a:lnTo>
                  <a:pt x="37274" y="224485"/>
                </a:lnTo>
                <a:lnTo>
                  <a:pt x="44729" y="224485"/>
                </a:lnTo>
                <a:lnTo>
                  <a:pt x="447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2932682" y="2618568"/>
            <a:ext cx="1109980" cy="187325"/>
            <a:chOff x="2932682" y="2618568"/>
            <a:chExt cx="1109980" cy="187325"/>
          </a:xfrm>
        </p:grpSpPr>
        <p:sp>
          <p:nvSpPr>
            <p:cNvPr id="37" name="object 37"/>
            <p:cNvSpPr/>
            <p:nvPr/>
          </p:nvSpPr>
          <p:spPr>
            <a:xfrm>
              <a:off x="2933435" y="2619321"/>
              <a:ext cx="90805" cy="169545"/>
            </a:xfrm>
            <a:custGeom>
              <a:avLst/>
              <a:gdLst/>
              <a:ahLst/>
              <a:cxnLst/>
              <a:rect l="l" t="t" r="r" b="b"/>
              <a:pathLst>
                <a:path w="90805" h="169544">
                  <a:moveTo>
                    <a:pt x="20800" y="111852"/>
                  </a:moveTo>
                  <a:lnTo>
                    <a:pt x="0" y="124803"/>
                  </a:lnTo>
                </a:path>
                <a:path w="90805" h="169544">
                  <a:moveTo>
                    <a:pt x="52982" y="169545"/>
                  </a:moveTo>
                  <a:lnTo>
                    <a:pt x="20800" y="111852"/>
                  </a:lnTo>
                </a:path>
                <a:path w="90805" h="169544">
                  <a:moveTo>
                    <a:pt x="90267" y="0"/>
                  </a:moveTo>
                  <a:lnTo>
                    <a:pt x="52982" y="1695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33435" y="2619321"/>
              <a:ext cx="1109345" cy="186055"/>
            </a:xfrm>
            <a:custGeom>
              <a:avLst/>
              <a:gdLst/>
              <a:ahLst/>
              <a:cxnLst/>
              <a:rect l="l" t="t" r="r" b="b"/>
              <a:pathLst>
                <a:path w="1109345" h="186055">
                  <a:moveTo>
                    <a:pt x="1109106" y="0"/>
                  </a:moveTo>
                  <a:lnTo>
                    <a:pt x="90266" y="0"/>
                  </a:lnTo>
                  <a:lnTo>
                    <a:pt x="52983" y="169545"/>
                  </a:lnTo>
                  <a:lnTo>
                    <a:pt x="20800" y="111852"/>
                  </a:lnTo>
                  <a:lnTo>
                    <a:pt x="0" y="124804"/>
                  </a:lnTo>
                  <a:lnTo>
                    <a:pt x="2354" y="129120"/>
                  </a:lnTo>
                  <a:lnTo>
                    <a:pt x="12559" y="122449"/>
                  </a:lnTo>
                  <a:lnTo>
                    <a:pt x="49449" y="186028"/>
                  </a:lnTo>
                  <a:lnTo>
                    <a:pt x="56906" y="186028"/>
                  </a:lnTo>
                  <a:lnTo>
                    <a:pt x="95760" y="7457"/>
                  </a:lnTo>
                  <a:lnTo>
                    <a:pt x="1109106" y="7457"/>
                  </a:lnTo>
                  <a:lnTo>
                    <a:pt x="11091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605334" y="2333779"/>
            <a:ext cx="1879600" cy="50292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R="15875" algn="ctr">
              <a:lnSpc>
                <a:spcPct val="100000"/>
              </a:lnSpc>
              <a:spcBef>
                <a:spcPts val="590"/>
              </a:spcBef>
              <a:tabLst>
                <a:tab pos="1018540" algn="l"/>
              </a:tabLst>
            </a:pPr>
            <a:r>
              <a:rPr sz="11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500"/>
              </a:spcBef>
              <a:tabLst>
                <a:tab pos="426720" algn="l"/>
                <a:tab pos="1715770" algn="l"/>
              </a:tabLst>
            </a:pPr>
            <a:r>
              <a:rPr sz="1150" i="1" spc="215" dirty="0">
                <a:latin typeface="Calibri"/>
                <a:cs typeface="Calibri"/>
              </a:rPr>
              <a:t>A</a:t>
            </a:r>
            <a:r>
              <a:rPr sz="1150" i="1" spc="405" dirty="0">
                <a:latin typeface="Calibri"/>
                <a:cs typeface="Calibri"/>
              </a:rPr>
              <a:t> </a:t>
            </a:r>
            <a:r>
              <a:rPr sz="1150" spc="-50" dirty="0">
                <a:latin typeface="Symbol"/>
                <a:cs typeface="Symbol"/>
              </a:rPr>
              <a:t>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dirty="0">
                <a:latin typeface="Cambria"/>
                <a:cs typeface="Cambria"/>
              </a:rPr>
              <a:t>4</a:t>
            </a:r>
            <a:r>
              <a:rPr sz="1150" spc="20" dirty="0">
                <a:latin typeface="Cambria"/>
                <a:cs typeface="Cambria"/>
              </a:rPr>
              <a:t> </a:t>
            </a:r>
            <a:r>
              <a:rPr sz="1150" dirty="0">
                <a:latin typeface="Symbol"/>
                <a:cs typeface="Symbol"/>
              </a:rPr>
              <a:t></a:t>
            </a:r>
            <a:r>
              <a:rPr sz="1150" spc="-95" dirty="0">
                <a:latin typeface="Times New Roman"/>
                <a:cs typeface="Times New Roman"/>
              </a:rPr>
              <a:t> </a:t>
            </a:r>
            <a:r>
              <a:rPr sz="1150" spc="-45" dirty="0">
                <a:latin typeface="Cambria"/>
                <a:cs typeface="Cambria"/>
              </a:rPr>
              <a:t>1</a:t>
            </a:r>
            <a:r>
              <a:rPr sz="1150" spc="-55" dirty="0">
                <a:latin typeface="Cambria"/>
                <a:cs typeface="Cambria"/>
              </a:rPr>
              <a:t> </a:t>
            </a:r>
            <a:r>
              <a:rPr sz="1150" dirty="0">
                <a:latin typeface="Symbol"/>
                <a:cs typeface="Symbol"/>
              </a:rPr>
              <a:t>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Cambria"/>
                <a:cs typeface="Cambria"/>
              </a:rPr>
              <a:t>25</a:t>
            </a:r>
            <a:r>
              <a:rPr sz="1150" spc="-30" dirty="0">
                <a:latin typeface="Cambria"/>
                <a:cs typeface="Cambria"/>
              </a:rPr>
              <a:t> </a:t>
            </a:r>
            <a:r>
              <a:rPr sz="1150" dirty="0">
                <a:latin typeface="Symbol"/>
                <a:cs typeface="Symbol"/>
              </a:rPr>
              <a:t></a:t>
            </a:r>
            <a:r>
              <a:rPr sz="1150" spc="-75" dirty="0">
                <a:latin typeface="Times New Roman"/>
                <a:cs typeface="Times New Roman"/>
              </a:rPr>
              <a:t> </a:t>
            </a:r>
            <a:r>
              <a:rPr sz="1150" spc="85" dirty="0">
                <a:latin typeface="Cambria"/>
                <a:cs typeface="Cambria"/>
              </a:rPr>
              <a:t>..</a:t>
            </a:r>
            <a:r>
              <a:rPr sz="1150" spc="-85" dirty="0">
                <a:latin typeface="Cambria"/>
                <a:cs typeface="Cambria"/>
              </a:rPr>
              <a:t> </a:t>
            </a:r>
            <a:r>
              <a:rPr sz="1150" dirty="0">
                <a:latin typeface="Symbol"/>
                <a:cs typeface="Symbol"/>
              </a:rPr>
              <a:t></a:t>
            </a:r>
            <a:r>
              <a:rPr sz="1150" spc="-1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Cambria"/>
                <a:cs typeface="Cambria"/>
              </a:rPr>
              <a:t>1</a:t>
            </a:r>
            <a:r>
              <a:rPr sz="1150" spc="114" dirty="0">
                <a:latin typeface="Cambria"/>
                <a:cs typeface="Cambria"/>
              </a:rPr>
              <a:t> </a:t>
            </a:r>
            <a:r>
              <a:rPr sz="1150" spc="-50" dirty="0">
                <a:latin typeface="Symbol"/>
                <a:cs typeface="Symbol"/>
              </a:rPr>
              <a:t>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70" dirty="0">
                <a:latin typeface="Cambria"/>
                <a:cs typeface="Cambria"/>
              </a:rPr>
              <a:t>46</a:t>
            </a:r>
            <a:endParaRPr sz="1150">
              <a:latin typeface="Cambria"/>
              <a:cs typeface="Cambr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252114" y="2369713"/>
            <a:ext cx="3272154" cy="760095"/>
            <a:chOff x="1252114" y="2369713"/>
            <a:chExt cx="3272154" cy="760095"/>
          </a:xfrm>
        </p:grpSpPr>
        <p:sp>
          <p:nvSpPr>
            <p:cNvPr id="41" name="object 41"/>
            <p:cNvSpPr/>
            <p:nvPr/>
          </p:nvSpPr>
          <p:spPr>
            <a:xfrm>
              <a:off x="4222291" y="2619321"/>
              <a:ext cx="255270" cy="169545"/>
            </a:xfrm>
            <a:custGeom>
              <a:avLst/>
              <a:gdLst/>
              <a:ahLst/>
              <a:cxnLst/>
              <a:rect l="l" t="t" r="r" b="b"/>
              <a:pathLst>
                <a:path w="255270" h="169544">
                  <a:moveTo>
                    <a:pt x="20800" y="111852"/>
                  </a:moveTo>
                  <a:lnTo>
                    <a:pt x="0" y="124803"/>
                  </a:lnTo>
                </a:path>
                <a:path w="255270" h="169544">
                  <a:moveTo>
                    <a:pt x="52982" y="169545"/>
                  </a:moveTo>
                  <a:lnTo>
                    <a:pt x="20800" y="111852"/>
                  </a:lnTo>
                </a:path>
                <a:path w="255270" h="169544">
                  <a:moveTo>
                    <a:pt x="90267" y="0"/>
                  </a:moveTo>
                  <a:lnTo>
                    <a:pt x="52982" y="169545"/>
                  </a:lnTo>
                </a:path>
                <a:path w="255270" h="169544">
                  <a:moveTo>
                    <a:pt x="255102" y="0"/>
                  </a:moveTo>
                  <a:lnTo>
                    <a:pt x="90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22291" y="2619321"/>
              <a:ext cx="255270" cy="186055"/>
            </a:xfrm>
            <a:custGeom>
              <a:avLst/>
              <a:gdLst/>
              <a:ahLst/>
              <a:cxnLst/>
              <a:rect l="l" t="t" r="r" b="b"/>
              <a:pathLst>
                <a:path w="255270" h="186055">
                  <a:moveTo>
                    <a:pt x="255102" y="0"/>
                  </a:moveTo>
                  <a:lnTo>
                    <a:pt x="90266" y="0"/>
                  </a:lnTo>
                  <a:lnTo>
                    <a:pt x="52983" y="169545"/>
                  </a:lnTo>
                  <a:lnTo>
                    <a:pt x="20800" y="111852"/>
                  </a:lnTo>
                  <a:lnTo>
                    <a:pt x="0" y="124804"/>
                  </a:lnTo>
                  <a:lnTo>
                    <a:pt x="2354" y="129120"/>
                  </a:lnTo>
                  <a:lnTo>
                    <a:pt x="12559" y="122449"/>
                  </a:lnTo>
                  <a:lnTo>
                    <a:pt x="49449" y="186028"/>
                  </a:lnTo>
                  <a:lnTo>
                    <a:pt x="56906" y="186028"/>
                  </a:lnTo>
                  <a:lnTo>
                    <a:pt x="95761" y="7457"/>
                  </a:lnTo>
                  <a:lnTo>
                    <a:pt x="255102" y="7457"/>
                  </a:lnTo>
                  <a:lnTo>
                    <a:pt x="2551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56823" y="2374423"/>
              <a:ext cx="3262629" cy="750570"/>
            </a:xfrm>
            <a:custGeom>
              <a:avLst/>
              <a:gdLst/>
              <a:ahLst/>
              <a:cxnLst/>
              <a:rect l="l" t="t" r="r" b="b"/>
              <a:pathLst>
                <a:path w="3262629" h="750569">
                  <a:moveTo>
                    <a:pt x="0" y="0"/>
                  </a:moveTo>
                  <a:lnTo>
                    <a:pt x="3262171" y="0"/>
                  </a:lnTo>
                  <a:lnTo>
                    <a:pt x="3262171" y="750393"/>
                  </a:lnTo>
                  <a:lnTo>
                    <a:pt x="0" y="750393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48049" y="691895"/>
            <a:ext cx="57137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Angle</a:t>
            </a:r>
            <a:r>
              <a:rPr spc="-270" dirty="0"/>
              <a:t> </a:t>
            </a:r>
            <a:r>
              <a:rPr spc="-10" dirty="0"/>
              <a:t>between</a:t>
            </a:r>
            <a:r>
              <a:rPr spc="-265" dirty="0"/>
              <a:t> </a:t>
            </a:r>
            <a:r>
              <a:rPr spc="-10" dirty="0"/>
              <a:t>Vectors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2223" y="1569720"/>
            <a:ext cx="8328659" cy="310388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414655" marR="110489" indent="-339090" algn="just">
              <a:lnSpc>
                <a:spcPct val="97800"/>
              </a:lnSpc>
              <a:spcBef>
                <a:spcPts val="185"/>
              </a:spcBef>
              <a:buChar char="•"/>
              <a:tabLst>
                <a:tab pos="4146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Dot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two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written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in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terms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their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3150" baseline="23809" dirty="0">
                <a:latin typeface="Calibri"/>
                <a:cs typeface="Calibri"/>
              </a:rPr>
              <a:t>2</a:t>
            </a:r>
            <a:r>
              <a:rPr sz="3150" spc="517" baseline="23809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norms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angle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θ</a:t>
            </a:r>
            <a:r>
              <a:rPr sz="3200" i="1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between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them</a:t>
            </a:r>
            <a:endParaRPr sz="3200">
              <a:latin typeface="Arial"/>
              <a:cs typeface="Arial"/>
            </a:endParaRPr>
          </a:p>
          <a:p>
            <a:pPr marL="2197735">
              <a:lnSpc>
                <a:spcPts val="2000"/>
              </a:lnSpc>
            </a:pPr>
            <a:r>
              <a:rPr sz="2500" b="1" i="1" spc="160" dirty="0">
                <a:latin typeface="Palatino Linotype"/>
                <a:cs typeface="Palatino Linotype"/>
              </a:rPr>
              <a:t>x</a:t>
            </a:r>
            <a:r>
              <a:rPr sz="2500" b="1" i="1" spc="-380" dirty="0">
                <a:latin typeface="Palatino Linotype"/>
                <a:cs typeface="Palatino Linotype"/>
              </a:rPr>
              <a:t> </a:t>
            </a:r>
            <a:r>
              <a:rPr sz="2175" i="1" baseline="44061" dirty="0">
                <a:latin typeface="Cambria"/>
                <a:cs typeface="Cambria"/>
              </a:rPr>
              <a:t>T</a:t>
            </a:r>
            <a:r>
              <a:rPr sz="2500" b="1" i="1" dirty="0">
                <a:latin typeface="Palatino Linotype"/>
                <a:cs typeface="Palatino Linotype"/>
              </a:rPr>
              <a:t>y</a:t>
            </a:r>
            <a:r>
              <a:rPr sz="2500" b="1" i="1" spc="-85" dirty="0">
                <a:latin typeface="Palatino Linotype"/>
                <a:cs typeface="Palatino Linotype"/>
              </a:rPr>
              <a:t> </a:t>
            </a:r>
            <a:r>
              <a:rPr sz="2500" spc="-235" dirty="0">
                <a:latin typeface="Symbol"/>
                <a:cs typeface="Symbol"/>
              </a:rPr>
              <a:t></a:t>
            </a:r>
            <a:r>
              <a:rPr sz="2500" i="1" spc="-235" dirty="0">
                <a:latin typeface="Calibri"/>
                <a:cs typeface="Calibri"/>
              </a:rPr>
              <a:t>||</a:t>
            </a:r>
            <a:r>
              <a:rPr sz="2500" b="1" i="1" spc="-235" dirty="0">
                <a:latin typeface="Palatino Linotype"/>
                <a:cs typeface="Palatino Linotype"/>
              </a:rPr>
              <a:t>x</a:t>
            </a:r>
            <a:r>
              <a:rPr sz="2500" b="1" i="1" spc="-195" dirty="0">
                <a:latin typeface="Palatino Linotype"/>
                <a:cs typeface="Palatino Linotype"/>
              </a:rPr>
              <a:t> </a:t>
            </a:r>
            <a:r>
              <a:rPr sz="2500" i="1" spc="-459" dirty="0">
                <a:latin typeface="Calibri"/>
                <a:cs typeface="Calibri"/>
              </a:rPr>
              <a:t>||</a:t>
            </a:r>
            <a:r>
              <a:rPr sz="2500" i="1" spc="-200" dirty="0">
                <a:latin typeface="Calibri"/>
                <a:cs typeface="Calibri"/>
              </a:rPr>
              <a:t> </a:t>
            </a:r>
            <a:r>
              <a:rPr sz="2500" i="1" spc="-275" dirty="0">
                <a:latin typeface="Calibri"/>
                <a:cs typeface="Calibri"/>
              </a:rPr>
              <a:t>||</a:t>
            </a:r>
            <a:r>
              <a:rPr sz="2500" b="1" i="1" spc="-275" dirty="0">
                <a:latin typeface="Palatino Linotype"/>
                <a:cs typeface="Palatino Linotype"/>
              </a:rPr>
              <a:t>y</a:t>
            </a:r>
            <a:r>
              <a:rPr sz="2500" b="1" i="1" spc="-315" dirty="0">
                <a:latin typeface="Palatino Linotype"/>
                <a:cs typeface="Palatino Linotype"/>
              </a:rPr>
              <a:t> </a:t>
            </a:r>
            <a:r>
              <a:rPr sz="2500" i="1" spc="-459" dirty="0">
                <a:latin typeface="Calibri"/>
                <a:cs typeface="Calibri"/>
              </a:rPr>
              <a:t>||</a:t>
            </a:r>
            <a:r>
              <a:rPr sz="2500" i="1" spc="395" dirty="0">
                <a:latin typeface="Calibri"/>
                <a:cs typeface="Calibri"/>
              </a:rPr>
              <a:t> </a:t>
            </a:r>
            <a:r>
              <a:rPr sz="2500" dirty="0">
                <a:latin typeface="Cambria"/>
                <a:cs typeface="Cambria"/>
              </a:rPr>
              <a:t>cos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50" i="1" spc="-50" dirty="0">
                <a:latin typeface="Symbol"/>
                <a:cs typeface="Symbol"/>
              </a:rPr>
              <a:t></a:t>
            </a:r>
            <a:endParaRPr sz="2550">
              <a:latin typeface="Symbol"/>
              <a:cs typeface="Symbol"/>
            </a:endParaRPr>
          </a:p>
          <a:p>
            <a:pPr marL="3603625">
              <a:lnSpc>
                <a:spcPts val="1215"/>
              </a:lnSpc>
              <a:tabLst>
                <a:tab pos="4230370" algn="l"/>
              </a:tabLst>
            </a:pPr>
            <a:r>
              <a:rPr sz="1450" spc="-50" dirty="0">
                <a:latin typeface="Calibri"/>
                <a:cs typeface="Calibri"/>
              </a:rPr>
              <a:t>2</a:t>
            </a:r>
            <a:r>
              <a:rPr sz="1450" dirty="0">
                <a:latin typeface="Calibri"/>
                <a:cs typeface="Calibri"/>
              </a:rPr>
              <a:t>	</a:t>
            </a:r>
            <a:r>
              <a:rPr sz="1450" spc="-50" dirty="0">
                <a:latin typeface="Calibri"/>
                <a:cs typeface="Calibri"/>
              </a:rPr>
              <a:t>2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450">
              <a:latin typeface="Calibri"/>
              <a:cs typeface="Calibri"/>
            </a:endParaRPr>
          </a:p>
          <a:p>
            <a:pPr marL="414655" marR="30480" indent="-339090" algn="just">
              <a:lnSpc>
                <a:spcPts val="3790"/>
              </a:lnSpc>
              <a:spcBef>
                <a:spcPts val="5"/>
              </a:spcBef>
              <a:buChar char="•"/>
              <a:tabLst>
                <a:tab pos="414655" algn="l"/>
              </a:tabLst>
            </a:pP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Cosine</a:t>
            </a:r>
            <a:r>
              <a:rPr sz="320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between</a:t>
            </a:r>
            <a:r>
              <a:rPr sz="320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two</a:t>
            </a:r>
            <a:r>
              <a:rPr sz="320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vectors</a:t>
            </a:r>
            <a:r>
              <a:rPr sz="3200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3200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320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measure</a:t>
            </a:r>
            <a:r>
              <a:rPr sz="320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0000FF"/>
                </a:solidFill>
                <a:latin typeface="Arial"/>
                <a:cs typeface="Arial"/>
              </a:rPr>
              <a:t>of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their</a:t>
            </a:r>
            <a:r>
              <a:rPr sz="320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Arial"/>
                <a:cs typeface="Arial"/>
              </a:rPr>
              <a:t>similarity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37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88537" y="2901897"/>
            <a:ext cx="2984500" cy="570230"/>
          </a:xfrm>
          <a:custGeom>
            <a:avLst/>
            <a:gdLst/>
            <a:ahLst/>
            <a:cxnLst/>
            <a:rect l="l" t="t" r="r" b="b"/>
            <a:pathLst>
              <a:path w="2984500" h="570229">
                <a:moveTo>
                  <a:pt x="0" y="0"/>
                </a:moveTo>
                <a:lnTo>
                  <a:pt x="2984306" y="0"/>
                </a:lnTo>
                <a:lnTo>
                  <a:pt x="2984306" y="569860"/>
                </a:lnTo>
                <a:lnTo>
                  <a:pt x="0" y="569860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999373" y="4404253"/>
            <a:ext cx="2903220" cy="2505710"/>
            <a:chOff x="5999373" y="4404253"/>
            <a:chExt cx="2903220" cy="25057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8704" y="4527298"/>
              <a:ext cx="2805185" cy="23118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04083" y="4408963"/>
              <a:ext cx="2893695" cy="2496185"/>
            </a:xfrm>
            <a:custGeom>
              <a:avLst/>
              <a:gdLst/>
              <a:ahLst/>
              <a:cxnLst/>
              <a:rect l="l" t="t" r="r" b="b"/>
              <a:pathLst>
                <a:path w="2893695" h="2496184">
                  <a:moveTo>
                    <a:pt x="0" y="0"/>
                  </a:moveTo>
                  <a:lnTo>
                    <a:pt x="2893254" y="0"/>
                  </a:lnTo>
                  <a:lnTo>
                    <a:pt x="2893254" y="2496079"/>
                  </a:lnTo>
                  <a:lnTo>
                    <a:pt x="0" y="2496079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50700" y="4781020"/>
            <a:ext cx="4238625" cy="1234440"/>
            <a:chOff x="950700" y="4781020"/>
            <a:chExt cx="4238625" cy="12344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4056" y="4854391"/>
              <a:ext cx="4155850" cy="109630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55410" y="4785730"/>
              <a:ext cx="4229735" cy="1224915"/>
            </a:xfrm>
            <a:custGeom>
              <a:avLst/>
              <a:gdLst/>
              <a:ahLst/>
              <a:cxnLst/>
              <a:rect l="l" t="t" r="r" b="b"/>
              <a:pathLst>
                <a:path w="4229735" h="1224914">
                  <a:moveTo>
                    <a:pt x="0" y="0"/>
                  </a:moveTo>
                  <a:lnTo>
                    <a:pt x="4229205" y="0"/>
                  </a:lnTo>
                  <a:lnTo>
                    <a:pt x="4229205" y="1224491"/>
                  </a:lnTo>
                  <a:lnTo>
                    <a:pt x="0" y="1224491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44437" y="579119"/>
            <a:ext cx="77679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Special</a:t>
            </a:r>
            <a:r>
              <a:rPr spc="-195" dirty="0"/>
              <a:t> </a:t>
            </a:r>
            <a:r>
              <a:rPr dirty="0"/>
              <a:t>kind</a:t>
            </a:r>
            <a:r>
              <a:rPr spc="-204" dirty="0"/>
              <a:t> </a:t>
            </a:r>
            <a:r>
              <a:rPr dirty="0"/>
              <a:t>of</a:t>
            </a:r>
            <a:r>
              <a:rPr spc="-195" dirty="0"/>
              <a:t> </a:t>
            </a:r>
            <a:r>
              <a:rPr dirty="0"/>
              <a:t>Matrix:</a:t>
            </a:r>
            <a:r>
              <a:rPr spc="-190" dirty="0"/>
              <a:t> </a:t>
            </a:r>
            <a:r>
              <a:rPr spc="-10" dirty="0"/>
              <a:t>Diagonal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1496568"/>
            <a:ext cx="8830945" cy="25088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1155" marR="707390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Diagonal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mostly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zeros,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non-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zero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entries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only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diagonal</a:t>
            </a:r>
            <a:endParaRPr sz="3200">
              <a:latin typeface="Arial"/>
              <a:cs typeface="Arial"/>
            </a:endParaRPr>
          </a:p>
          <a:p>
            <a:pPr marL="746125" lvl="1" indent="-281305">
              <a:lnSpc>
                <a:spcPct val="100000"/>
              </a:lnSpc>
              <a:spcBef>
                <a:spcPts val="359"/>
              </a:spcBef>
              <a:buChar char="–"/>
              <a:tabLst>
                <a:tab pos="7461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E.g.,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identity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matrix,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where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all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diagonal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entries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are</a:t>
            </a:r>
            <a:r>
              <a:rPr sz="2800" spc="-1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05"/>
              </a:spcBef>
              <a:buClr>
                <a:srgbClr val="336600"/>
              </a:buClr>
              <a:buFont typeface="Arial"/>
              <a:buChar char="–"/>
            </a:pPr>
            <a:endParaRPr sz="2800">
              <a:latin typeface="Calibri"/>
              <a:cs typeface="Calibri"/>
            </a:endParaRPr>
          </a:p>
          <a:p>
            <a:pPr marL="746125" lvl="1" indent="-281305">
              <a:lnSpc>
                <a:spcPct val="100000"/>
              </a:lnSpc>
              <a:spcBef>
                <a:spcPts val="5"/>
              </a:spcBef>
              <a:buChar char="–"/>
              <a:tabLst>
                <a:tab pos="7461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E.g.,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covariance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independent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features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2133" y="2906607"/>
            <a:ext cx="904239" cy="7755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5420" y="4187612"/>
            <a:ext cx="2562012" cy="20439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8348" y="4259598"/>
            <a:ext cx="2241530" cy="17070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618" y="4375996"/>
            <a:ext cx="3516488" cy="20094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9413" y="4715087"/>
            <a:ext cx="2213504" cy="139560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87137" y="6618223"/>
            <a:ext cx="303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If</a:t>
            </a:r>
            <a:r>
              <a:rPr sz="1800" spc="-12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25" dirty="0">
                <a:latin typeface="Calibri"/>
                <a:cs typeface="Calibri"/>
              </a:rPr>
              <a:t>Cov(</a:t>
            </a:r>
            <a:r>
              <a:rPr sz="1800" i="1" spc="-25" dirty="0">
                <a:latin typeface="Calibri"/>
                <a:cs typeface="Calibri"/>
              </a:rPr>
              <a:t>X,Y</a:t>
            </a:r>
            <a:r>
              <a:rPr sz="1800" spc="-25" dirty="0">
                <a:latin typeface="Calibri"/>
                <a:cs typeface="Calibri"/>
              </a:rPr>
              <a:t>)=0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then</a:t>
            </a:r>
            <a:r>
              <a:rPr sz="18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latin typeface="Calibri"/>
                <a:cs typeface="Calibri"/>
              </a:rPr>
              <a:t>E(</a:t>
            </a:r>
            <a:r>
              <a:rPr sz="1800" i="1" spc="-10" dirty="0">
                <a:latin typeface="Calibri"/>
                <a:cs typeface="Calibri"/>
              </a:rPr>
              <a:t>XY</a:t>
            </a:r>
            <a:r>
              <a:rPr sz="1800" spc="-10" dirty="0">
                <a:latin typeface="Calibri"/>
                <a:cs typeface="Calibri"/>
              </a:rPr>
              <a:t>)=E(</a:t>
            </a:r>
            <a:r>
              <a:rPr sz="1800" i="1" spc="-1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)E(</a:t>
            </a:r>
            <a:r>
              <a:rPr sz="1800" i="1" spc="-1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5850" y="6633692"/>
            <a:ext cx="1576070" cy="221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455420" algn="l"/>
              </a:tabLst>
            </a:pPr>
            <a:r>
              <a:rPr sz="1250" dirty="0">
                <a:latin typeface="Cambria"/>
                <a:cs typeface="Cambria"/>
              </a:rPr>
              <a:t>(2</a:t>
            </a:r>
            <a:r>
              <a:rPr sz="1250" i="1" dirty="0">
                <a:latin typeface="Calibri"/>
                <a:cs typeface="Calibri"/>
              </a:rPr>
              <a:t>π</a:t>
            </a:r>
            <a:r>
              <a:rPr sz="1250" dirty="0">
                <a:latin typeface="Cambria"/>
                <a:cs typeface="Cambria"/>
              </a:rPr>
              <a:t>)</a:t>
            </a:r>
            <a:r>
              <a:rPr sz="1125" i="1" baseline="44444" dirty="0">
                <a:latin typeface="Calibri"/>
                <a:cs typeface="Calibri"/>
              </a:rPr>
              <a:t>D</a:t>
            </a:r>
            <a:r>
              <a:rPr sz="1125" baseline="44444" dirty="0">
                <a:latin typeface="Cambria"/>
                <a:cs typeface="Cambria"/>
              </a:rPr>
              <a:t>/2</a:t>
            </a:r>
            <a:r>
              <a:rPr sz="1125" spc="292" baseline="44444" dirty="0">
                <a:latin typeface="Cambria"/>
                <a:cs typeface="Cambria"/>
              </a:rPr>
              <a:t> </a:t>
            </a:r>
            <a:r>
              <a:rPr sz="1250" spc="-50" dirty="0">
                <a:latin typeface="Cambria"/>
                <a:cs typeface="Cambria"/>
              </a:rPr>
              <a:t>|</a:t>
            </a:r>
            <a:r>
              <a:rPr sz="1250" spc="-55" dirty="0">
                <a:latin typeface="Cambria"/>
                <a:cs typeface="Cambria"/>
              </a:rPr>
              <a:t> </a:t>
            </a:r>
            <a:r>
              <a:rPr sz="1250" spc="229" dirty="0">
                <a:latin typeface="Cambria"/>
                <a:cs typeface="Cambria"/>
              </a:rPr>
              <a:t>Σ</a:t>
            </a:r>
            <a:r>
              <a:rPr sz="1250" spc="-70" dirty="0">
                <a:latin typeface="Cambria"/>
                <a:cs typeface="Cambria"/>
              </a:rPr>
              <a:t> </a:t>
            </a:r>
            <a:r>
              <a:rPr sz="1250" spc="-20" dirty="0">
                <a:latin typeface="Cambria"/>
                <a:cs typeface="Cambria"/>
              </a:rPr>
              <a:t>|</a:t>
            </a:r>
            <a:r>
              <a:rPr sz="1125" spc="-30" baseline="44444" dirty="0">
                <a:latin typeface="Cambria"/>
                <a:cs typeface="Cambria"/>
              </a:rPr>
              <a:t>1/2</a:t>
            </a:r>
            <a:r>
              <a:rPr sz="1125" baseline="44444" dirty="0">
                <a:latin typeface="Cambria"/>
                <a:cs typeface="Cambria"/>
              </a:rPr>
              <a:t>	</a:t>
            </a:r>
            <a:r>
              <a:rPr sz="1875" spc="-75" baseline="2222" dirty="0">
                <a:latin typeface="Cambria"/>
                <a:cs typeface="Cambria"/>
              </a:rPr>
              <a:t>2</a:t>
            </a:r>
            <a:endParaRPr sz="1875" baseline="2222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65987" y="6496077"/>
            <a:ext cx="3876040" cy="221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  <a:tabLst>
                <a:tab pos="1146810" algn="l"/>
                <a:tab pos="1613535" algn="l"/>
                <a:tab pos="1852930" algn="l"/>
              </a:tabLst>
            </a:pPr>
            <a:r>
              <a:rPr sz="1250" i="1" spc="114" dirty="0">
                <a:latin typeface="Calibri"/>
                <a:cs typeface="Calibri"/>
              </a:rPr>
              <a:t>N</a:t>
            </a:r>
            <a:r>
              <a:rPr sz="1250" spc="114" dirty="0">
                <a:latin typeface="Cambria"/>
                <a:cs typeface="Cambria"/>
              </a:rPr>
              <a:t>(x</a:t>
            </a:r>
            <a:r>
              <a:rPr sz="1250" spc="15" dirty="0">
                <a:latin typeface="Cambria"/>
                <a:cs typeface="Cambria"/>
              </a:rPr>
              <a:t> </a:t>
            </a:r>
            <a:r>
              <a:rPr sz="1250" dirty="0">
                <a:latin typeface="Cambria"/>
                <a:cs typeface="Cambria"/>
              </a:rPr>
              <a:t>| </a:t>
            </a:r>
            <a:r>
              <a:rPr sz="1250" b="1" spc="90" dirty="0">
                <a:latin typeface="Microsoft New Tai Lue"/>
                <a:cs typeface="Microsoft New Tai Lue"/>
              </a:rPr>
              <a:t>µ</a:t>
            </a:r>
            <a:r>
              <a:rPr sz="1250" spc="90" dirty="0">
                <a:latin typeface="Cambria"/>
                <a:cs typeface="Cambria"/>
              </a:rPr>
              <a:t>,Σ)</a:t>
            </a:r>
            <a:r>
              <a:rPr sz="1250" spc="-25" dirty="0">
                <a:latin typeface="Cambria"/>
                <a:cs typeface="Cambria"/>
              </a:rPr>
              <a:t> </a:t>
            </a:r>
            <a:r>
              <a:rPr sz="1250" spc="305" dirty="0">
                <a:latin typeface="Cambria"/>
                <a:cs typeface="Cambria"/>
              </a:rPr>
              <a:t>=</a:t>
            </a:r>
            <a:r>
              <a:rPr sz="1250" spc="135" dirty="0">
                <a:latin typeface="Cambria"/>
                <a:cs typeface="Cambria"/>
              </a:rPr>
              <a:t> </a:t>
            </a:r>
            <a:r>
              <a:rPr sz="1875" u="sng" baseline="355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1875" u="sng" spc="-75" baseline="355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875" u="sng" baseline="355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1875" u="sng" spc="-75" baseline="355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875" u="sng" baseline="355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1875" u="none" spc="-37" baseline="35555" dirty="0">
                <a:latin typeface="Cambria"/>
                <a:cs typeface="Cambria"/>
              </a:rPr>
              <a:t> </a:t>
            </a:r>
            <a:r>
              <a:rPr sz="1250" u="none" dirty="0">
                <a:latin typeface="Cambria"/>
                <a:cs typeface="Cambria"/>
              </a:rPr>
              <a:t>exp</a:t>
            </a:r>
            <a:r>
              <a:rPr sz="1250" u="none" spc="-135" dirty="0">
                <a:latin typeface="Cambria"/>
                <a:cs typeface="Cambria"/>
              </a:rPr>
              <a:t> </a:t>
            </a:r>
            <a:r>
              <a:rPr sz="1875" u="none" spc="-1237" baseline="51111" dirty="0">
                <a:latin typeface="Cambria"/>
                <a:cs typeface="Cambria"/>
              </a:rPr>
              <a:t>⎧</a:t>
            </a:r>
            <a:r>
              <a:rPr sz="1875" u="none" spc="-1237" baseline="22222" dirty="0">
                <a:latin typeface="Cambria"/>
                <a:cs typeface="Cambria"/>
              </a:rPr>
              <a:t>⎪</a:t>
            </a:r>
            <a:r>
              <a:rPr sz="1875" u="none" spc="-127" baseline="-6666" dirty="0">
                <a:latin typeface="Cambria"/>
                <a:cs typeface="Cambria"/>
              </a:rPr>
              <a:t>⎨</a:t>
            </a:r>
            <a:r>
              <a:rPr sz="1250" u="none" spc="35" dirty="0">
                <a:latin typeface="Cambria"/>
                <a:cs typeface="Cambria"/>
              </a:rPr>
              <a:t>−</a:t>
            </a:r>
            <a:r>
              <a:rPr sz="1250" u="none" spc="-100" dirty="0">
                <a:latin typeface="Cambria"/>
                <a:cs typeface="Cambria"/>
              </a:rPr>
              <a:t> </a:t>
            </a:r>
            <a:r>
              <a:rPr sz="1875" u="sng" spc="-82" baseline="355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875" u="none" spc="-135" baseline="35555" dirty="0">
                <a:latin typeface="Cambria"/>
                <a:cs typeface="Cambria"/>
              </a:rPr>
              <a:t> </a:t>
            </a:r>
            <a:r>
              <a:rPr sz="1250" u="none" dirty="0">
                <a:latin typeface="Cambria"/>
                <a:cs typeface="Cambria"/>
              </a:rPr>
              <a:t>(x</a:t>
            </a:r>
            <a:r>
              <a:rPr sz="1250" u="none" spc="-20" dirty="0">
                <a:latin typeface="Cambria"/>
                <a:cs typeface="Cambria"/>
              </a:rPr>
              <a:t> </a:t>
            </a:r>
            <a:r>
              <a:rPr sz="1250" u="none" spc="305" dirty="0">
                <a:latin typeface="Cambria"/>
                <a:cs typeface="Cambria"/>
              </a:rPr>
              <a:t>−</a:t>
            </a:r>
            <a:r>
              <a:rPr sz="1250" u="none" spc="-45" dirty="0">
                <a:latin typeface="Cambria"/>
                <a:cs typeface="Cambria"/>
              </a:rPr>
              <a:t> </a:t>
            </a:r>
            <a:r>
              <a:rPr sz="1250" b="1" u="none" dirty="0">
                <a:latin typeface="Microsoft New Tai Lue"/>
                <a:cs typeface="Microsoft New Tai Lue"/>
              </a:rPr>
              <a:t>µ</a:t>
            </a:r>
            <a:r>
              <a:rPr sz="1250" u="none" dirty="0">
                <a:latin typeface="Cambria"/>
                <a:cs typeface="Cambria"/>
              </a:rPr>
              <a:t>)</a:t>
            </a:r>
            <a:r>
              <a:rPr sz="1125" i="1" u="none" baseline="44444" dirty="0">
                <a:latin typeface="Calibri"/>
                <a:cs typeface="Calibri"/>
              </a:rPr>
              <a:t>T</a:t>
            </a:r>
            <a:r>
              <a:rPr sz="1125" i="1" u="none" spc="67" baseline="44444" dirty="0">
                <a:latin typeface="Calibri"/>
                <a:cs typeface="Calibri"/>
              </a:rPr>
              <a:t> </a:t>
            </a:r>
            <a:r>
              <a:rPr sz="1250" u="none" spc="80" dirty="0">
                <a:latin typeface="Cambria"/>
                <a:cs typeface="Cambria"/>
              </a:rPr>
              <a:t>Σ</a:t>
            </a:r>
            <a:r>
              <a:rPr sz="1125" u="none" spc="120" baseline="44444" dirty="0">
                <a:latin typeface="Cambria"/>
                <a:cs typeface="Cambria"/>
              </a:rPr>
              <a:t>−1</a:t>
            </a:r>
            <a:r>
              <a:rPr sz="1250" u="none" spc="80" dirty="0">
                <a:latin typeface="Cambria"/>
                <a:cs typeface="Cambria"/>
              </a:rPr>
              <a:t>(x</a:t>
            </a:r>
            <a:r>
              <a:rPr sz="1250" u="none" spc="-20" dirty="0">
                <a:latin typeface="Cambria"/>
                <a:cs typeface="Cambria"/>
              </a:rPr>
              <a:t> </a:t>
            </a:r>
            <a:r>
              <a:rPr sz="1250" u="none" spc="305" dirty="0">
                <a:latin typeface="Cambria"/>
                <a:cs typeface="Cambria"/>
              </a:rPr>
              <a:t>−</a:t>
            </a:r>
            <a:r>
              <a:rPr sz="1250" u="none" spc="-45" dirty="0">
                <a:latin typeface="Cambria"/>
                <a:cs typeface="Cambria"/>
              </a:rPr>
              <a:t> </a:t>
            </a:r>
            <a:r>
              <a:rPr sz="1250" b="1" u="none" spc="-35" dirty="0">
                <a:latin typeface="Microsoft New Tai Lue"/>
                <a:cs typeface="Microsoft New Tai Lue"/>
              </a:rPr>
              <a:t>µ</a:t>
            </a:r>
            <a:r>
              <a:rPr sz="1250" u="none" spc="-110" dirty="0">
                <a:latin typeface="Cambria"/>
                <a:cs typeface="Cambria"/>
              </a:rPr>
              <a:t>)</a:t>
            </a:r>
            <a:r>
              <a:rPr sz="1875" u="none" spc="-1335" baseline="51111" dirty="0">
                <a:latin typeface="Cambria"/>
                <a:cs typeface="Cambria"/>
              </a:rPr>
              <a:t>⎫</a:t>
            </a:r>
            <a:r>
              <a:rPr sz="1875" u="none" spc="-1335" baseline="22222" dirty="0">
                <a:latin typeface="Cambria"/>
                <a:cs typeface="Cambria"/>
              </a:rPr>
              <a:t>⎪</a:t>
            </a:r>
            <a:r>
              <a:rPr sz="1875" u="none" spc="-44" baseline="-6666" dirty="0">
                <a:latin typeface="Cambria"/>
                <a:cs typeface="Cambria"/>
              </a:rPr>
              <a:t>⎬</a:t>
            </a:r>
            <a:endParaRPr sz="1875" baseline="-6666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11074" y="6681689"/>
            <a:ext cx="1705610" cy="221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1610360" algn="l"/>
              </a:tabLst>
            </a:pPr>
            <a:r>
              <a:rPr sz="1875" spc="-1530" baseline="2222" dirty="0">
                <a:latin typeface="Cambria"/>
                <a:cs typeface="Cambria"/>
              </a:rPr>
              <a:t>⎪</a:t>
            </a:r>
            <a:r>
              <a:rPr sz="1250" spc="-160" dirty="0">
                <a:latin typeface="Cambria"/>
                <a:cs typeface="Cambria"/>
              </a:rPr>
              <a:t>⎩</a:t>
            </a:r>
            <a:r>
              <a:rPr sz="1250" dirty="0">
                <a:latin typeface="Cambria"/>
                <a:cs typeface="Cambria"/>
              </a:rPr>
              <a:t>	</a:t>
            </a:r>
            <a:r>
              <a:rPr sz="1875" spc="-1530" baseline="2222" dirty="0">
                <a:latin typeface="Cambria"/>
                <a:cs typeface="Cambria"/>
              </a:rPr>
              <a:t>⎪</a:t>
            </a:r>
            <a:r>
              <a:rPr sz="1250" spc="-160" dirty="0">
                <a:latin typeface="Cambria"/>
                <a:cs typeface="Cambria"/>
              </a:rPr>
              <a:t>⎭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69703" y="6368150"/>
            <a:ext cx="3852545" cy="526415"/>
          </a:xfrm>
          <a:custGeom>
            <a:avLst/>
            <a:gdLst/>
            <a:ahLst/>
            <a:cxnLst/>
            <a:rect l="l" t="t" r="r" b="b"/>
            <a:pathLst>
              <a:path w="3852545" h="526415">
                <a:moveTo>
                  <a:pt x="0" y="0"/>
                </a:moveTo>
                <a:lnTo>
                  <a:pt x="3852439" y="0"/>
                </a:lnTo>
                <a:lnTo>
                  <a:pt x="3852439" y="525903"/>
                </a:lnTo>
                <a:lnTo>
                  <a:pt x="0" y="525903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9053" y="768095"/>
            <a:ext cx="70008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Efficiency</a:t>
            </a:r>
            <a:r>
              <a:rPr spc="-215" dirty="0"/>
              <a:t> </a:t>
            </a:r>
            <a:r>
              <a:rPr dirty="0"/>
              <a:t>of</a:t>
            </a:r>
            <a:r>
              <a:rPr spc="-204" dirty="0"/>
              <a:t> </a:t>
            </a:r>
            <a:r>
              <a:rPr spc="-10" dirty="0"/>
              <a:t>Diagonal</a:t>
            </a:r>
            <a:r>
              <a:rPr spc="-200" dirty="0"/>
              <a:t> </a:t>
            </a:r>
            <a:r>
              <a:rPr spc="-10" dirty="0"/>
              <a:t>Matrix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0323" y="1709928"/>
            <a:ext cx="8643620" cy="25603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76555" marR="38100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76555" algn="l"/>
                <a:tab pos="8406765" algn="l"/>
              </a:tabLst>
            </a:pPr>
            <a:r>
              <a:rPr sz="3200" dirty="0">
                <a:latin typeface="Calibri"/>
                <a:cs typeface="Calibri"/>
              </a:rPr>
              <a:t>diag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dirty="0">
                <a:latin typeface="Calibri"/>
                <a:cs typeface="Calibri"/>
              </a:rPr>
              <a:t>)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denotes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square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diagonal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with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diagonal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elements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given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entries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3200" b="1" i="1" spc="-5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  <a:p>
            <a:pPr marL="376555" marR="774700" indent="-339090">
              <a:lnSpc>
                <a:spcPct val="101299"/>
              </a:lnSpc>
              <a:spcBef>
                <a:spcPts val="509"/>
              </a:spcBef>
              <a:buChar char="•"/>
              <a:tabLst>
                <a:tab pos="3765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Multiplying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x</a:t>
            </a:r>
            <a:r>
              <a:rPr sz="3200" b="1" i="1" spc="-8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diagonal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is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efficient</a:t>
            </a:r>
            <a:endParaRPr sz="3200">
              <a:latin typeface="Arial"/>
              <a:cs typeface="Arial"/>
            </a:endParaRPr>
          </a:p>
          <a:p>
            <a:pPr marL="490220">
              <a:lnSpc>
                <a:spcPct val="100000"/>
              </a:lnSpc>
              <a:spcBef>
                <a:spcPts val="565"/>
              </a:spcBef>
              <a:tabLst>
                <a:tab pos="4053204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compute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latin typeface="Calibri"/>
                <a:cs typeface="Calibri"/>
              </a:rPr>
              <a:t>diag(</a:t>
            </a:r>
            <a:r>
              <a:rPr sz="2800" b="1" i="1" spc="-10" dirty="0">
                <a:latin typeface="Calibri"/>
                <a:cs typeface="Calibri"/>
              </a:rPr>
              <a:t>v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only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need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scale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each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x</a:t>
            </a:r>
            <a:r>
              <a:rPr sz="2700" i="1" spc="-37" baseline="-18518" dirty="0">
                <a:latin typeface="Calibri"/>
                <a:cs typeface="Calibri"/>
              </a:rPr>
              <a:t>i</a:t>
            </a:r>
            <a:endParaRPr sz="2700" baseline="-1851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019" y="4235703"/>
            <a:ext cx="755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by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v</a:t>
            </a:r>
            <a:r>
              <a:rPr sz="2700" i="1" spc="-37" baseline="-18518" dirty="0">
                <a:latin typeface="Calibri"/>
                <a:cs typeface="Calibri"/>
              </a:rPr>
              <a:t>i</a:t>
            </a:r>
            <a:endParaRPr sz="2700" baseline="-1851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0323" y="5042553"/>
            <a:ext cx="8799830" cy="15259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85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Inverting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square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diagonal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efficient</a:t>
            </a:r>
            <a:endParaRPr sz="3200">
              <a:latin typeface="Arial"/>
              <a:cs typeface="Arial"/>
            </a:endParaRPr>
          </a:p>
          <a:p>
            <a:pPr marL="772795" marR="30480" indent="-282575">
              <a:lnSpc>
                <a:spcPts val="3190"/>
              </a:lnSpc>
              <a:spcBef>
                <a:spcPts val="91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Inverse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exists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iff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every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diagonal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entry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nonzero,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in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which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case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diag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</a:t>
            </a:r>
            <a:r>
              <a:rPr sz="2800" b="1" i="1" spc="-20" dirty="0">
                <a:latin typeface="Calibri"/>
                <a:cs typeface="Calibri"/>
              </a:rPr>
              <a:t>v</a:t>
            </a:r>
            <a:r>
              <a:rPr sz="2800" spc="-20" dirty="0">
                <a:latin typeface="Calibri"/>
                <a:cs typeface="Calibri"/>
              </a:rPr>
              <a:t>)</a:t>
            </a:r>
            <a:r>
              <a:rPr sz="2700" spc="-30" baseline="24691" dirty="0">
                <a:latin typeface="Calibri"/>
                <a:cs typeface="Calibri"/>
              </a:rPr>
              <a:t>-</a:t>
            </a:r>
            <a:r>
              <a:rPr sz="2700" baseline="24691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=diag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([1/</a:t>
            </a:r>
            <a:r>
              <a:rPr sz="2800" i="1" spc="-10" dirty="0">
                <a:latin typeface="Calibri"/>
                <a:cs typeface="Calibri"/>
              </a:rPr>
              <a:t>v</a:t>
            </a:r>
            <a:r>
              <a:rPr sz="2700" spc="-15" baseline="-18518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,..,1/</a:t>
            </a:r>
            <a:r>
              <a:rPr sz="2800" i="1" spc="-10" dirty="0">
                <a:latin typeface="Calibri"/>
                <a:cs typeface="Calibri"/>
              </a:rPr>
              <a:t>v</a:t>
            </a:r>
            <a:r>
              <a:rPr sz="2700" i="1" spc="-15" baseline="-18518" dirty="0">
                <a:latin typeface="Calibri"/>
                <a:cs typeface="Calibri"/>
              </a:rPr>
              <a:t>n</a:t>
            </a:r>
            <a:r>
              <a:rPr sz="2800" spc="-10" dirty="0">
                <a:latin typeface="Calibri"/>
                <a:cs typeface="Calibri"/>
              </a:rPr>
              <a:t>]</a:t>
            </a:r>
            <a:r>
              <a:rPr sz="2700" spc="-15" baseline="24691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3890" y="4484317"/>
            <a:ext cx="2904490" cy="537210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3975">
              <a:lnSpc>
                <a:spcPts val="3510"/>
              </a:lnSpc>
            </a:pPr>
            <a:r>
              <a:rPr sz="3100" spc="-10" dirty="0">
                <a:latin typeface="Cambria"/>
                <a:cs typeface="Cambria"/>
              </a:rPr>
              <a:t>diag</a:t>
            </a:r>
            <a:r>
              <a:rPr sz="3100" i="1" spc="-10" dirty="0">
                <a:latin typeface="Calibri"/>
                <a:cs typeface="Calibri"/>
              </a:rPr>
              <a:t>(</a:t>
            </a:r>
            <a:r>
              <a:rPr sz="3100" i="1" spc="-300" dirty="0">
                <a:latin typeface="Calibri"/>
                <a:cs typeface="Calibri"/>
              </a:rPr>
              <a:t> </a:t>
            </a:r>
            <a:r>
              <a:rPr sz="3100" b="1" i="1" spc="-95" dirty="0">
                <a:latin typeface="Palatino Linotype"/>
                <a:cs typeface="Palatino Linotype"/>
              </a:rPr>
              <a:t>v</a:t>
            </a:r>
            <a:r>
              <a:rPr sz="3100" b="1" i="1" spc="-500" dirty="0">
                <a:latin typeface="Palatino Linotype"/>
                <a:cs typeface="Palatino Linotype"/>
              </a:rPr>
              <a:t> </a:t>
            </a:r>
            <a:r>
              <a:rPr sz="3100" i="1" spc="190" dirty="0">
                <a:latin typeface="Calibri"/>
                <a:cs typeface="Calibri"/>
              </a:rPr>
              <a:t>)</a:t>
            </a:r>
            <a:r>
              <a:rPr sz="3100" b="1" i="1" spc="190" dirty="0">
                <a:latin typeface="Palatino Linotype"/>
                <a:cs typeface="Palatino Linotype"/>
              </a:rPr>
              <a:t>x</a:t>
            </a:r>
            <a:r>
              <a:rPr sz="3100" b="1" i="1" spc="-260" dirty="0">
                <a:latin typeface="Palatino Linotype"/>
                <a:cs typeface="Palatino Linotype"/>
              </a:rPr>
              <a:t> </a:t>
            </a:r>
            <a:r>
              <a:rPr sz="3100" i="1" spc="819" dirty="0">
                <a:latin typeface="Calibri"/>
                <a:cs typeface="Calibri"/>
              </a:rPr>
              <a:t>=</a:t>
            </a:r>
            <a:r>
              <a:rPr sz="3100" i="1" spc="-240" dirty="0">
                <a:latin typeface="Calibri"/>
                <a:cs typeface="Calibri"/>
              </a:rPr>
              <a:t> </a:t>
            </a:r>
            <a:r>
              <a:rPr sz="3100" b="1" i="1" spc="-95" dirty="0">
                <a:latin typeface="Palatino Linotype"/>
                <a:cs typeface="Palatino Linotype"/>
              </a:rPr>
              <a:t>v</a:t>
            </a:r>
            <a:r>
              <a:rPr sz="3100" b="1" i="1" spc="-235" dirty="0">
                <a:latin typeface="Palatino Linotype"/>
                <a:cs typeface="Palatino Linotype"/>
              </a:rPr>
              <a:t> </a:t>
            </a:r>
            <a:r>
              <a:rPr sz="3100" spc="160" dirty="0">
                <a:latin typeface="MT Extra"/>
                <a:cs typeface="MT Extra"/>
              </a:rPr>
              <a:t>O</a:t>
            </a:r>
            <a:r>
              <a:rPr sz="3100" b="1" i="1" spc="160" dirty="0">
                <a:latin typeface="Palatino Linotype"/>
                <a:cs typeface="Palatino Linotype"/>
              </a:rPr>
              <a:t>x</a:t>
            </a:r>
            <a:endParaRPr sz="3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0936" y="768095"/>
            <a:ext cx="81978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Special</a:t>
            </a:r>
            <a:r>
              <a:rPr spc="-195" dirty="0"/>
              <a:t> </a:t>
            </a:r>
            <a:r>
              <a:rPr dirty="0"/>
              <a:t>kind</a:t>
            </a:r>
            <a:r>
              <a:rPr spc="-204" dirty="0"/>
              <a:t> </a:t>
            </a:r>
            <a:r>
              <a:rPr dirty="0"/>
              <a:t>of</a:t>
            </a:r>
            <a:r>
              <a:rPr spc="-195" dirty="0"/>
              <a:t> </a:t>
            </a:r>
            <a:r>
              <a:rPr dirty="0"/>
              <a:t>Matrix:</a:t>
            </a:r>
            <a:r>
              <a:rPr spc="-190" dirty="0"/>
              <a:t> </a:t>
            </a:r>
            <a:r>
              <a:rPr spc="-10" dirty="0"/>
              <a:t>Symmetric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1613553"/>
            <a:ext cx="8501380" cy="112077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38455" indent="-338455" algn="ctr">
              <a:lnSpc>
                <a:spcPct val="100000"/>
              </a:lnSpc>
              <a:spcBef>
                <a:spcPts val="855"/>
              </a:spcBef>
              <a:buChar char="•"/>
              <a:tabLst>
                <a:tab pos="3384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symmetric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equals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transpose: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A=A</a:t>
            </a:r>
            <a:r>
              <a:rPr sz="3150" i="1" spc="-30" baseline="23809" dirty="0">
                <a:latin typeface="Calibri"/>
                <a:cs typeface="Calibri"/>
              </a:rPr>
              <a:t>T</a:t>
            </a:r>
            <a:endParaRPr sz="3150" baseline="23809">
              <a:latin typeface="Calibri"/>
              <a:cs typeface="Calibri"/>
            </a:endParaRPr>
          </a:p>
          <a:p>
            <a:pPr marR="94615" algn="ctr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E.g.,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distance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symmetric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A</a:t>
            </a:r>
            <a:r>
              <a:rPr sz="2700" i="1" spc="-15" baseline="-18518" dirty="0">
                <a:latin typeface="Calibri"/>
                <a:cs typeface="Calibri"/>
              </a:rPr>
              <a:t>ij</a:t>
            </a:r>
            <a:r>
              <a:rPr sz="2800" i="1" spc="-10" dirty="0">
                <a:latin typeface="Calibri"/>
                <a:cs typeface="Calibri"/>
              </a:rPr>
              <a:t>=A</a:t>
            </a:r>
            <a:r>
              <a:rPr sz="2700" i="1" spc="-15" baseline="-18518" dirty="0">
                <a:latin typeface="Calibri"/>
                <a:cs typeface="Calibri"/>
              </a:rPr>
              <a:t>ji</a:t>
            </a:r>
            <a:endParaRPr sz="2700" baseline="-18518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7844" y="4808727"/>
            <a:ext cx="657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E.g.,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covariance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matrices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symmetric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50700" y="5382278"/>
            <a:ext cx="2129155" cy="1887220"/>
            <a:chOff x="950700" y="5382278"/>
            <a:chExt cx="2129155" cy="18872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5391697"/>
              <a:ext cx="2109892" cy="18681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55410" y="5386988"/>
              <a:ext cx="2119630" cy="1877695"/>
            </a:xfrm>
            <a:custGeom>
              <a:avLst/>
              <a:gdLst/>
              <a:ahLst/>
              <a:cxnLst/>
              <a:rect l="l" t="t" r="r" b="b"/>
              <a:pathLst>
                <a:path w="2119630" h="1877695">
                  <a:moveTo>
                    <a:pt x="0" y="0"/>
                  </a:moveTo>
                  <a:lnTo>
                    <a:pt x="2119312" y="0"/>
                  </a:lnTo>
                  <a:lnTo>
                    <a:pt x="2119312" y="1877553"/>
                  </a:lnTo>
                  <a:lnTo>
                    <a:pt x="0" y="1877553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327468" y="2897188"/>
            <a:ext cx="1744345" cy="1887220"/>
            <a:chOff x="1327468" y="2897188"/>
            <a:chExt cx="1744345" cy="188722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370" y="2906607"/>
              <a:ext cx="1708793" cy="18626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32177" y="2901897"/>
              <a:ext cx="1734820" cy="1877695"/>
            </a:xfrm>
            <a:custGeom>
              <a:avLst/>
              <a:gdLst/>
              <a:ahLst/>
              <a:cxnLst/>
              <a:rect l="l" t="t" r="r" b="b"/>
              <a:pathLst>
                <a:path w="1734820" h="1877695">
                  <a:moveTo>
                    <a:pt x="0" y="0"/>
                  </a:moveTo>
                  <a:lnTo>
                    <a:pt x="1734697" y="0"/>
                  </a:lnTo>
                  <a:lnTo>
                    <a:pt x="1734697" y="1877553"/>
                  </a:lnTo>
                  <a:lnTo>
                    <a:pt x="0" y="1877553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663420" y="2897187"/>
            <a:ext cx="2129155" cy="1874520"/>
            <a:chOff x="3663420" y="2897187"/>
            <a:chExt cx="2129155" cy="187452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01942" y="2942990"/>
              <a:ext cx="2037137" cy="17682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68130" y="2901897"/>
              <a:ext cx="2119630" cy="1864995"/>
            </a:xfrm>
            <a:custGeom>
              <a:avLst/>
              <a:gdLst/>
              <a:ahLst/>
              <a:cxnLst/>
              <a:rect l="l" t="t" r="r" b="b"/>
              <a:pathLst>
                <a:path w="2119629" h="1864995">
                  <a:moveTo>
                    <a:pt x="0" y="0"/>
                  </a:moveTo>
                  <a:lnTo>
                    <a:pt x="2119312" y="0"/>
                  </a:lnTo>
                  <a:lnTo>
                    <a:pt x="2119312" y="1864995"/>
                  </a:lnTo>
                  <a:lnTo>
                    <a:pt x="0" y="1864995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376141" y="2897187"/>
            <a:ext cx="1751964" cy="1926589"/>
            <a:chOff x="6376141" y="2897187"/>
            <a:chExt cx="1751964" cy="1926589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60" y="2906607"/>
              <a:ext cx="1727500" cy="187362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380850" y="2901897"/>
              <a:ext cx="1743075" cy="1917064"/>
            </a:xfrm>
            <a:custGeom>
              <a:avLst/>
              <a:gdLst/>
              <a:ahLst/>
              <a:cxnLst/>
              <a:rect l="l" t="t" r="r" b="b"/>
              <a:pathLst>
                <a:path w="1743075" h="1917064">
                  <a:moveTo>
                    <a:pt x="0" y="0"/>
                  </a:moveTo>
                  <a:lnTo>
                    <a:pt x="1742545" y="0"/>
                  </a:lnTo>
                  <a:lnTo>
                    <a:pt x="1742545" y="1916800"/>
                  </a:lnTo>
                  <a:lnTo>
                    <a:pt x="0" y="191680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39087" y="3804567"/>
            <a:ext cx="238618" cy="163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02513" y="3804567"/>
            <a:ext cx="238618" cy="16326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44281" y="542543"/>
            <a:ext cx="6019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Special</a:t>
            </a:r>
            <a:r>
              <a:rPr spc="-195" dirty="0"/>
              <a:t> </a:t>
            </a:r>
            <a:r>
              <a:rPr dirty="0"/>
              <a:t>Kinds</a:t>
            </a:r>
            <a:r>
              <a:rPr spc="-204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spc="-10" dirty="0"/>
              <a:t>Vectors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1192057"/>
            <a:ext cx="4344035" cy="167132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2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Unit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endParaRPr sz="3200">
              <a:latin typeface="Arial"/>
              <a:cs typeface="Arial"/>
            </a:endParaRPr>
          </a:p>
          <a:p>
            <a:pPr marL="464820">
              <a:lnSpc>
                <a:spcPct val="100000"/>
              </a:lnSpc>
              <a:spcBef>
                <a:spcPts val="54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unit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norm</a:t>
            </a:r>
            <a:endParaRPr sz="28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511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Orthogonal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9744" y="2906775"/>
            <a:ext cx="6173470" cy="34036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32105" marR="843915" indent="-281305">
              <a:lnSpc>
                <a:spcPts val="3310"/>
              </a:lnSpc>
              <a:spcBef>
                <a:spcPts val="250"/>
              </a:spcBef>
              <a:buChar char="–"/>
              <a:tabLst>
                <a:tab pos="33337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x</a:t>
            </a:r>
            <a:r>
              <a:rPr sz="2800" b="1" i="1" spc="7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y</a:t>
            </a:r>
            <a:r>
              <a:rPr sz="2800" b="1" i="1" spc="60" dirty="0"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are 	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orthogonal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each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other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700" spc="-15" baseline="24691" dirty="0">
                <a:latin typeface="Calibri"/>
                <a:cs typeface="Calibri"/>
              </a:rPr>
              <a:t>T</a:t>
            </a:r>
            <a:r>
              <a:rPr sz="2800" b="1" i="1" spc="-10" dirty="0">
                <a:latin typeface="Calibri"/>
                <a:cs typeface="Calibri"/>
              </a:rPr>
              <a:t>y</a:t>
            </a:r>
            <a:r>
              <a:rPr sz="2800" spc="-10" dirty="0">
                <a:latin typeface="Calibri"/>
                <a:cs typeface="Calibri"/>
              </a:rPr>
              <a:t>=0</a:t>
            </a:r>
            <a:endParaRPr sz="2800">
              <a:latin typeface="Calibri"/>
              <a:cs typeface="Calibri"/>
            </a:endParaRPr>
          </a:p>
          <a:p>
            <a:pPr marL="727075" lvl="1" indent="-224790">
              <a:lnSpc>
                <a:spcPts val="2785"/>
              </a:lnSpc>
              <a:spcBef>
                <a:spcPts val="540"/>
              </a:spcBef>
              <a:buChar char="•"/>
              <a:tabLst>
                <a:tab pos="72707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If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vectors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have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nonzero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norm,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vectors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at</a:t>
            </a:r>
            <a:endParaRPr sz="2400">
              <a:latin typeface="Arial"/>
              <a:cs typeface="Arial"/>
            </a:endParaRPr>
          </a:p>
          <a:p>
            <a:pPr marL="728980">
              <a:lnSpc>
                <a:spcPts val="2785"/>
              </a:lnSpc>
            </a:pPr>
            <a:r>
              <a:rPr sz="2400" dirty="0">
                <a:latin typeface="Calibri"/>
                <a:cs typeface="Calibri"/>
              </a:rPr>
              <a:t>90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degrees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each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other</a:t>
            </a:r>
            <a:endParaRPr sz="2400">
              <a:latin typeface="Arial"/>
              <a:cs typeface="Arial"/>
            </a:endParaRPr>
          </a:p>
          <a:p>
            <a:pPr marL="332105" indent="-281305">
              <a:lnSpc>
                <a:spcPct val="100000"/>
              </a:lnSpc>
              <a:spcBef>
                <a:spcPts val="730"/>
              </a:spcBef>
              <a:buChar char="–"/>
              <a:tabLst>
                <a:tab pos="332105" algn="l"/>
              </a:tabLst>
            </a:pP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Orthonormal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Vectors</a:t>
            </a:r>
            <a:endParaRPr sz="2800">
              <a:latin typeface="Arial"/>
              <a:cs typeface="Arial"/>
            </a:endParaRPr>
          </a:p>
          <a:p>
            <a:pPr marL="727075" lvl="1" indent="-224790">
              <a:lnSpc>
                <a:spcPct val="100000"/>
              </a:lnSpc>
              <a:spcBef>
                <a:spcPts val="540"/>
              </a:spcBef>
              <a:buChar char="•"/>
              <a:tabLst>
                <a:tab pos="727075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Vectors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orthogonal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&amp;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have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unit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norm</a:t>
            </a:r>
            <a:endParaRPr sz="2400">
              <a:latin typeface="Arial"/>
              <a:cs typeface="Arial"/>
            </a:endParaRPr>
          </a:p>
          <a:p>
            <a:pPr marL="727075" lvl="1" indent="-224790">
              <a:lnSpc>
                <a:spcPct val="100000"/>
              </a:lnSpc>
              <a:spcBef>
                <a:spcPts val="530"/>
              </a:spcBef>
              <a:buChar char="•"/>
              <a:tabLst>
                <a:tab pos="727075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Orthogonal</a:t>
            </a:r>
            <a:r>
              <a:rPr sz="2400" spc="-1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  <a:p>
            <a:pPr marL="954405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latin typeface="Arial"/>
                <a:cs typeface="Arial"/>
              </a:rPr>
              <a:t>–</a:t>
            </a:r>
            <a:r>
              <a:rPr sz="2000" spc="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square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matrix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whose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rows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mutually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2744" y="6272783"/>
            <a:ext cx="2685415" cy="6229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75895" marR="30480" indent="-138430">
              <a:lnSpc>
                <a:spcPts val="2300"/>
              </a:lnSpc>
              <a:spcBef>
                <a:spcPts val="260"/>
              </a:spcBef>
              <a:tabLst>
                <a:tab pos="1584325" algn="l"/>
              </a:tabLst>
            </a:pPr>
            <a:r>
              <a:rPr sz="2000" spc="-10" dirty="0">
                <a:latin typeface="Arial"/>
                <a:cs typeface="Arial"/>
              </a:rPr>
              <a:t>orthonormal: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i="1" spc="-20" dirty="0">
                <a:latin typeface="Calibri"/>
                <a:cs typeface="Calibri"/>
              </a:rPr>
              <a:t>A</a:t>
            </a:r>
            <a:r>
              <a:rPr sz="1950" spc="-30" baseline="25641" dirty="0">
                <a:latin typeface="Calibri"/>
                <a:cs typeface="Calibri"/>
              </a:rPr>
              <a:t>T</a:t>
            </a:r>
            <a:r>
              <a:rPr sz="2000" i="1" spc="-2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=</a:t>
            </a:r>
            <a:r>
              <a:rPr sz="2000" i="1" spc="-20" dirty="0">
                <a:latin typeface="Calibri"/>
                <a:cs typeface="Calibri"/>
              </a:rPr>
              <a:t>AA</a:t>
            </a:r>
            <a:r>
              <a:rPr sz="1950" spc="-30" baseline="25641" dirty="0">
                <a:latin typeface="Calibri"/>
                <a:cs typeface="Calibri"/>
              </a:rPr>
              <a:t>T</a:t>
            </a:r>
            <a:r>
              <a:rPr sz="2000" spc="-20" dirty="0">
                <a:latin typeface="Calibri"/>
                <a:cs typeface="Calibri"/>
              </a:rPr>
              <a:t>=</a:t>
            </a:r>
            <a:r>
              <a:rPr sz="2000" i="1" spc="-20" dirty="0">
                <a:latin typeface="Calibri"/>
                <a:cs typeface="Calibri"/>
              </a:rPr>
              <a:t>I </a:t>
            </a:r>
            <a:r>
              <a:rPr sz="3000" i="1" spc="-30" baseline="-16666" dirty="0">
                <a:latin typeface="Calibri"/>
                <a:cs typeface="Calibri"/>
              </a:rPr>
              <a:t>A</a:t>
            </a:r>
            <a:r>
              <a:rPr sz="1300" i="1" spc="-20" dirty="0">
                <a:latin typeface="Calibri"/>
                <a:cs typeface="Calibri"/>
              </a:rPr>
              <a:t>-</a:t>
            </a:r>
            <a:r>
              <a:rPr sz="1300" spc="-20" dirty="0">
                <a:latin typeface="Calibri"/>
                <a:cs typeface="Calibri"/>
              </a:rPr>
              <a:t>1</a:t>
            </a:r>
            <a:r>
              <a:rPr sz="3000" spc="-30" baseline="-16666" dirty="0">
                <a:latin typeface="Calibri"/>
                <a:cs typeface="Calibri"/>
              </a:rPr>
              <a:t>=</a:t>
            </a:r>
            <a:r>
              <a:rPr sz="3000" i="1" spc="-30" baseline="-16666" dirty="0">
                <a:latin typeface="Calibri"/>
                <a:cs typeface="Calibri"/>
              </a:rPr>
              <a:t>A</a:t>
            </a:r>
            <a:r>
              <a:rPr sz="1300" i="1" spc="-20" dirty="0">
                <a:latin typeface="Calibri"/>
                <a:cs typeface="Calibri"/>
              </a:rPr>
              <a:t>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2083" y="6641592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–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15649" y="1847875"/>
            <a:ext cx="377190" cy="455295"/>
          </a:xfrm>
          <a:custGeom>
            <a:avLst/>
            <a:gdLst/>
            <a:ahLst/>
            <a:cxnLst/>
            <a:rect l="l" t="t" r="r" b="b"/>
            <a:pathLst>
              <a:path w="377189" h="455294">
                <a:moveTo>
                  <a:pt x="15100" y="0"/>
                </a:moveTo>
                <a:lnTo>
                  <a:pt x="0" y="0"/>
                </a:lnTo>
                <a:lnTo>
                  <a:pt x="0" y="454825"/>
                </a:lnTo>
                <a:lnTo>
                  <a:pt x="15100" y="454825"/>
                </a:lnTo>
                <a:lnTo>
                  <a:pt x="15100" y="0"/>
                </a:lnTo>
                <a:close/>
              </a:path>
              <a:path w="377189" h="455294">
                <a:moveTo>
                  <a:pt x="90576" y="0"/>
                </a:moveTo>
                <a:lnTo>
                  <a:pt x="75476" y="0"/>
                </a:lnTo>
                <a:lnTo>
                  <a:pt x="75476" y="454825"/>
                </a:lnTo>
                <a:lnTo>
                  <a:pt x="90576" y="454825"/>
                </a:lnTo>
                <a:lnTo>
                  <a:pt x="90576" y="0"/>
                </a:lnTo>
                <a:close/>
              </a:path>
              <a:path w="377189" h="455294">
                <a:moveTo>
                  <a:pt x="301104" y="0"/>
                </a:moveTo>
                <a:lnTo>
                  <a:pt x="286016" y="0"/>
                </a:lnTo>
                <a:lnTo>
                  <a:pt x="286016" y="454825"/>
                </a:lnTo>
                <a:lnTo>
                  <a:pt x="301104" y="454825"/>
                </a:lnTo>
                <a:lnTo>
                  <a:pt x="301104" y="0"/>
                </a:lnTo>
                <a:close/>
              </a:path>
              <a:path w="377189" h="455294">
                <a:moveTo>
                  <a:pt x="376580" y="0"/>
                </a:moveTo>
                <a:lnTo>
                  <a:pt x="361492" y="0"/>
                </a:lnTo>
                <a:lnTo>
                  <a:pt x="361492" y="454825"/>
                </a:lnTo>
                <a:lnTo>
                  <a:pt x="376580" y="454825"/>
                </a:lnTo>
                <a:lnTo>
                  <a:pt x="376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90647" y="2130967"/>
            <a:ext cx="110489" cy="2374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350" spc="-50" dirty="0">
                <a:latin typeface="Cambria"/>
                <a:cs typeface="Cambria"/>
              </a:rPr>
              <a:t>2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95899" y="1839941"/>
            <a:ext cx="7677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19734" algn="l"/>
              </a:tabLst>
            </a:pPr>
            <a:r>
              <a:rPr sz="2400" b="1" i="1" spc="90" dirty="0">
                <a:latin typeface="Palatino Linotype"/>
                <a:cs typeface="Palatino Linotype"/>
              </a:rPr>
              <a:t>x</a:t>
            </a:r>
            <a:r>
              <a:rPr sz="2400" b="1" i="1" dirty="0">
                <a:latin typeface="Palatino Linotype"/>
                <a:cs typeface="Palatino Linotype"/>
              </a:rPr>
              <a:t>	</a:t>
            </a:r>
            <a:r>
              <a:rPr sz="2400" spc="-25" dirty="0">
                <a:latin typeface="Cambria"/>
                <a:cs typeface="Cambria"/>
              </a:rPr>
              <a:t>=1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75197" y="1771597"/>
            <a:ext cx="925194" cy="620395"/>
          </a:xfrm>
          <a:custGeom>
            <a:avLst/>
            <a:gdLst/>
            <a:ahLst/>
            <a:cxnLst/>
            <a:rect l="l" t="t" r="r" b="b"/>
            <a:pathLst>
              <a:path w="925195" h="620394">
                <a:moveTo>
                  <a:pt x="0" y="0"/>
                </a:moveTo>
                <a:lnTo>
                  <a:pt x="924648" y="0"/>
                </a:lnTo>
                <a:lnTo>
                  <a:pt x="924648" y="620095"/>
                </a:lnTo>
                <a:lnTo>
                  <a:pt x="0" y="620095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6646156" y="1616180"/>
            <a:ext cx="2909570" cy="2195195"/>
            <a:chOff x="6646156" y="1616180"/>
            <a:chExt cx="2909570" cy="219519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0270" y="1713512"/>
              <a:ext cx="1594978" cy="87912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285090" y="1620890"/>
              <a:ext cx="1793239" cy="1052195"/>
            </a:xfrm>
            <a:custGeom>
              <a:avLst/>
              <a:gdLst/>
              <a:ahLst/>
              <a:cxnLst/>
              <a:rect l="l" t="t" r="r" b="b"/>
              <a:pathLst>
                <a:path w="1793240" h="1052195">
                  <a:moveTo>
                    <a:pt x="0" y="0"/>
                  </a:moveTo>
                  <a:lnTo>
                    <a:pt x="1792781" y="0"/>
                  </a:lnTo>
                  <a:lnTo>
                    <a:pt x="1792781" y="1051806"/>
                  </a:lnTo>
                  <a:lnTo>
                    <a:pt x="0" y="1051806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6907" y="2790691"/>
              <a:ext cx="2661683" cy="9848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650865" y="2675837"/>
              <a:ext cx="2900045" cy="1130300"/>
            </a:xfrm>
            <a:custGeom>
              <a:avLst/>
              <a:gdLst/>
              <a:ahLst/>
              <a:cxnLst/>
              <a:rect l="l" t="t" r="r" b="b"/>
              <a:pathLst>
                <a:path w="2900045" h="1130300">
                  <a:moveTo>
                    <a:pt x="2899533" y="1130300"/>
                  </a:moveTo>
                  <a:lnTo>
                    <a:pt x="0" y="1130300"/>
                  </a:lnTo>
                  <a:lnTo>
                    <a:pt x="0" y="0"/>
                  </a:lnTo>
                  <a:lnTo>
                    <a:pt x="2899533" y="0"/>
                  </a:lnTo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33440" y="6363440"/>
            <a:ext cx="3405504" cy="913765"/>
          </a:xfrm>
          <a:prstGeom prst="rect">
            <a:avLst/>
          </a:prstGeom>
          <a:ln w="9419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0170" marR="126364">
              <a:lnSpc>
                <a:spcPct val="99400"/>
              </a:lnSpc>
              <a:spcBef>
                <a:spcPts val="270"/>
              </a:spcBef>
            </a:pPr>
            <a:r>
              <a:rPr sz="1800" spc="-10" dirty="0">
                <a:latin typeface="Arial"/>
                <a:cs typeface="Arial"/>
              </a:rPr>
              <a:t>Orthogonal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matrices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because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their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inverse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is </a:t>
            </a:r>
            <a:r>
              <a:rPr sz="1800" dirty="0">
                <a:latin typeface="Arial"/>
                <a:cs typeface="Arial"/>
              </a:rPr>
              <a:t>very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cheap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compute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05035" y="551688"/>
            <a:ext cx="5252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Matrix</a:t>
            </a:r>
            <a:r>
              <a:rPr spc="-235" dirty="0"/>
              <a:t> </a:t>
            </a:r>
            <a:r>
              <a:rPr spc="-20" dirty="0"/>
              <a:t>decomposition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0323" y="1271015"/>
            <a:ext cx="8835390" cy="480885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76555" marR="687070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Matrices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decomposed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into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factors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to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learn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universal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properties,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just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like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integers:</a:t>
            </a:r>
            <a:endParaRPr sz="3200">
              <a:latin typeface="Arial"/>
              <a:cs typeface="Arial"/>
            </a:endParaRPr>
          </a:p>
          <a:p>
            <a:pPr marL="490220">
              <a:lnSpc>
                <a:spcPct val="100000"/>
              </a:lnSpc>
              <a:spcBef>
                <a:spcPts val="45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Properties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not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discernible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from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their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representation</a:t>
            </a:r>
            <a:endParaRPr sz="2800">
              <a:latin typeface="Arial"/>
              <a:cs typeface="Arial"/>
            </a:endParaRPr>
          </a:p>
          <a:p>
            <a:pPr marL="782955" indent="-298450">
              <a:lnSpc>
                <a:spcPct val="100000"/>
              </a:lnSpc>
              <a:spcBef>
                <a:spcPts val="625"/>
              </a:spcBef>
              <a:buSzPct val="96428"/>
              <a:buAutoNum type="arabicPeriod"/>
              <a:tabLst>
                <a:tab pos="782955" algn="l"/>
              </a:tabLst>
            </a:pP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Decomposition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integer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into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prime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factors</a:t>
            </a:r>
            <a:endParaRPr sz="2800">
              <a:latin typeface="Arial"/>
              <a:cs typeface="Arial"/>
            </a:endParaRPr>
          </a:p>
          <a:p>
            <a:pPr marL="1166495" lvl="1" indent="-224790">
              <a:lnSpc>
                <a:spcPct val="100000"/>
              </a:lnSpc>
              <a:spcBef>
                <a:spcPts val="540"/>
              </a:spcBef>
              <a:buChar char="•"/>
              <a:tabLst>
                <a:tab pos="116649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From</a:t>
            </a:r>
            <a:r>
              <a:rPr sz="2400" spc="-13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12=2</a:t>
            </a:r>
            <a:r>
              <a:rPr sz="2400" dirty="0">
                <a:latin typeface="MS PGothic"/>
                <a:cs typeface="MS PGothic"/>
              </a:rPr>
              <a:t>×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dirty="0">
                <a:latin typeface="MS PGothic"/>
                <a:cs typeface="MS PGothic"/>
              </a:rPr>
              <a:t>×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we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can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discern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  <a:p>
            <a:pPr marL="1689100" lvl="2" indent="-295275">
              <a:lnSpc>
                <a:spcPct val="100000"/>
              </a:lnSpc>
              <a:spcBef>
                <a:spcPts val="425"/>
              </a:spcBef>
              <a:buFont typeface="Arial"/>
              <a:buChar char="–"/>
              <a:tabLst>
                <a:tab pos="1689100" algn="l"/>
              </a:tabLst>
            </a:pPr>
            <a:r>
              <a:rPr sz="2000" dirty="0">
                <a:latin typeface="Calibri"/>
                <a:cs typeface="Calibri"/>
              </a:rPr>
              <a:t>12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divisible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25" dirty="0">
                <a:latin typeface="Arial"/>
                <a:cs typeface="Arial"/>
              </a:rPr>
              <a:t>or</a:t>
            </a:r>
            <a:endParaRPr sz="2000">
              <a:latin typeface="Arial"/>
              <a:cs typeface="Arial"/>
            </a:endParaRPr>
          </a:p>
          <a:p>
            <a:pPr marL="1618615" lvl="2" indent="-224790">
              <a:lnSpc>
                <a:spcPct val="100000"/>
              </a:lnSpc>
              <a:spcBef>
                <a:spcPts val="385"/>
              </a:spcBef>
              <a:buChar char="–"/>
              <a:tabLst>
                <a:tab pos="1618615" algn="l"/>
              </a:tabLst>
            </a:pPr>
            <a:r>
              <a:rPr sz="2000" dirty="0">
                <a:latin typeface="Arial"/>
                <a:cs typeface="Arial"/>
              </a:rPr>
              <a:t>any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multiple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Calibri"/>
                <a:cs typeface="Calibri"/>
              </a:rPr>
              <a:t>12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divisible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  <a:p>
            <a:pPr marL="1618615" lvl="2" indent="-224790">
              <a:lnSpc>
                <a:spcPct val="100000"/>
              </a:lnSpc>
              <a:spcBef>
                <a:spcPts val="409"/>
              </a:spcBef>
              <a:buChar char="–"/>
              <a:tabLst>
                <a:tab pos="1618615" algn="l"/>
              </a:tabLst>
            </a:pPr>
            <a:r>
              <a:rPr sz="2000" dirty="0">
                <a:latin typeface="Arial"/>
                <a:cs typeface="Arial"/>
              </a:rPr>
              <a:t>But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representations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Calibri"/>
                <a:cs typeface="Calibri"/>
              </a:rPr>
              <a:t>12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binary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decimal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different</a:t>
            </a:r>
            <a:endParaRPr sz="2000">
              <a:latin typeface="Arial"/>
              <a:cs typeface="Arial"/>
            </a:endParaRPr>
          </a:p>
          <a:p>
            <a:pPr marL="782955" indent="-298450">
              <a:lnSpc>
                <a:spcPct val="100000"/>
              </a:lnSpc>
              <a:spcBef>
                <a:spcPts val="615"/>
              </a:spcBef>
              <a:buSzPct val="96428"/>
              <a:buAutoNum type="arabicPeriod"/>
              <a:tabLst>
                <a:tab pos="782955" algn="l"/>
              </a:tabLst>
            </a:pP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Decomposition</a:t>
            </a:r>
            <a:r>
              <a:rPr sz="2800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6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8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as</a:t>
            </a:r>
            <a:r>
              <a:rPr sz="2800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400" i="1" spc="-30" dirty="0">
                <a:latin typeface="Calibri"/>
                <a:cs typeface="Calibri"/>
              </a:rPr>
              <a:t>A=V</a:t>
            </a:r>
            <a:r>
              <a:rPr sz="2400" spc="-30" dirty="0">
                <a:latin typeface="Calibri"/>
                <a:cs typeface="Calibri"/>
              </a:rPr>
              <a:t>diag(</a:t>
            </a:r>
            <a:r>
              <a:rPr sz="2400" spc="-30" dirty="0">
                <a:latin typeface="Times New Roman"/>
                <a:cs typeface="Times New Roman"/>
              </a:rPr>
              <a:t>λ</a:t>
            </a:r>
            <a:r>
              <a:rPr sz="2400" spc="-30" dirty="0">
                <a:latin typeface="Calibri"/>
                <a:cs typeface="Calibri"/>
              </a:rPr>
              <a:t>)</a:t>
            </a:r>
            <a:r>
              <a:rPr sz="2400" i="1" spc="-30" dirty="0">
                <a:latin typeface="Calibri"/>
                <a:cs typeface="Calibri"/>
              </a:rPr>
              <a:t>V</a:t>
            </a:r>
            <a:r>
              <a:rPr sz="2400" i="1" spc="-44" baseline="24305" dirty="0">
                <a:latin typeface="Calibri"/>
                <a:cs typeface="Calibri"/>
              </a:rPr>
              <a:t>-</a:t>
            </a:r>
            <a:r>
              <a:rPr sz="2400" spc="-75" baseline="24305" dirty="0">
                <a:latin typeface="Calibri"/>
                <a:cs typeface="Calibri"/>
              </a:rPr>
              <a:t>1</a:t>
            </a:r>
            <a:endParaRPr sz="2400" baseline="24305">
              <a:latin typeface="Calibri"/>
              <a:cs typeface="Calibri"/>
            </a:endParaRPr>
          </a:p>
          <a:p>
            <a:pPr marL="1167130" marR="30480" lvl="1" indent="-224790">
              <a:lnSpc>
                <a:spcPct val="100800"/>
              </a:lnSpc>
              <a:spcBef>
                <a:spcPts val="495"/>
              </a:spcBef>
              <a:buChar char="•"/>
              <a:tabLst>
                <a:tab pos="116840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where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V</a:t>
            </a:r>
            <a:r>
              <a:rPr sz="2400" i="1" spc="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formed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eigenvectors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λ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eigenvalues</a:t>
            </a:r>
            <a:r>
              <a:rPr sz="2400" spc="-10" dirty="0">
                <a:latin typeface="Times New Roman"/>
                <a:cs typeface="Times New Roman"/>
              </a:rPr>
              <a:t>, 	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e.g,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1137" y="6763530"/>
            <a:ext cx="42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spc="-165" dirty="0">
                <a:latin typeface="Cambria"/>
                <a:cs typeface="Cambria"/>
              </a:rPr>
              <a:t>⎣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1137" y="6541269"/>
            <a:ext cx="42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spc="-165" dirty="0">
                <a:latin typeface="Cambria"/>
                <a:cs typeface="Cambria"/>
              </a:rPr>
              <a:t>⎢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512" y="6424335"/>
            <a:ext cx="958850" cy="30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>
              <a:lnSpc>
                <a:spcPts val="1085"/>
              </a:lnSpc>
              <a:spcBef>
                <a:spcPts val="100"/>
              </a:spcBef>
              <a:tabLst>
                <a:tab pos="890269" algn="l"/>
              </a:tabLst>
            </a:pPr>
            <a:r>
              <a:rPr sz="1300" spc="-50" dirty="0">
                <a:latin typeface="Cambria"/>
                <a:cs typeface="Cambria"/>
              </a:rPr>
              <a:t>⎡</a:t>
            </a:r>
            <a:r>
              <a:rPr sz="1300" dirty="0">
                <a:latin typeface="Cambria"/>
                <a:cs typeface="Cambria"/>
              </a:rPr>
              <a:t>	</a:t>
            </a:r>
            <a:r>
              <a:rPr sz="1300" spc="-50" dirty="0">
                <a:latin typeface="Cambria"/>
                <a:cs typeface="Cambria"/>
              </a:rPr>
              <a:t>⎤</a:t>
            </a:r>
            <a:endParaRPr sz="1300">
              <a:latin typeface="Cambria"/>
              <a:cs typeface="Cambria"/>
            </a:endParaRPr>
          </a:p>
          <a:p>
            <a:pPr marL="38100">
              <a:lnSpc>
                <a:spcPts val="1085"/>
              </a:lnSpc>
              <a:tabLst>
                <a:tab pos="492125" algn="l"/>
                <a:tab pos="718820" algn="l"/>
              </a:tabLst>
            </a:pPr>
            <a:r>
              <a:rPr sz="1950" i="1" spc="315" baseline="-23504" dirty="0">
                <a:latin typeface="Calibri"/>
                <a:cs typeface="Calibri"/>
              </a:rPr>
              <a:t>A</a:t>
            </a:r>
            <a:r>
              <a:rPr sz="1950" i="1" spc="-22" baseline="-23504" dirty="0">
                <a:latin typeface="Calibri"/>
                <a:cs typeface="Calibri"/>
              </a:rPr>
              <a:t> </a:t>
            </a:r>
            <a:r>
              <a:rPr sz="1950" spc="345" baseline="-23504" dirty="0">
                <a:latin typeface="Cambria"/>
                <a:cs typeface="Cambria"/>
              </a:rPr>
              <a:t>=</a:t>
            </a:r>
            <a:r>
              <a:rPr sz="1950" baseline="-23504" dirty="0">
                <a:latin typeface="Cambria"/>
                <a:cs typeface="Cambria"/>
              </a:rPr>
              <a:t>	</a:t>
            </a:r>
            <a:r>
              <a:rPr sz="1300" spc="-50" dirty="0">
                <a:latin typeface="Cambria"/>
                <a:cs typeface="Cambria"/>
              </a:rPr>
              <a:t>2</a:t>
            </a:r>
            <a:r>
              <a:rPr sz="1300" dirty="0">
                <a:latin typeface="Cambria"/>
                <a:cs typeface="Cambria"/>
              </a:rPr>
              <a:t>	</a:t>
            </a:r>
            <a:r>
              <a:rPr sz="1300" spc="-50" dirty="0">
                <a:latin typeface="Cambria"/>
                <a:cs typeface="Cambria"/>
              </a:rPr>
              <a:t>1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9263" y="6763530"/>
            <a:ext cx="42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spc="-165" dirty="0">
                <a:latin typeface="Cambria"/>
                <a:cs typeface="Cambria"/>
              </a:rPr>
              <a:t>⎦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263" y="6541269"/>
            <a:ext cx="42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spc="-165" dirty="0">
                <a:latin typeface="Cambria"/>
                <a:cs typeface="Cambria"/>
              </a:rPr>
              <a:t>⎥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5737" y="6658203"/>
            <a:ext cx="6115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75285" algn="l"/>
              </a:tabLst>
            </a:pPr>
            <a:r>
              <a:rPr sz="1300" dirty="0">
                <a:latin typeface="Cambria"/>
                <a:cs typeface="Cambria"/>
              </a:rPr>
              <a:t>⎢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950" spc="-75" baseline="-19230" dirty="0">
                <a:latin typeface="Cambria"/>
                <a:cs typeface="Cambria"/>
              </a:rPr>
              <a:t>1</a:t>
            </a:r>
            <a:r>
              <a:rPr sz="1950" baseline="-19230" dirty="0">
                <a:latin typeface="Cambria"/>
                <a:cs typeface="Cambria"/>
              </a:rPr>
              <a:t>	2</a:t>
            </a:r>
            <a:r>
              <a:rPr sz="1950" spc="457" baseline="-19230" dirty="0">
                <a:latin typeface="Cambria"/>
                <a:cs typeface="Cambria"/>
              </a:rPr>
              <a:t> </a:t>
            </a:r>
            <a:r>
              <a:rPr sz="1300" spc="-50" dirty="0">
                <a:latin typeface="Cambria"/>
                <a:cs typeface="Cambria"/>
              </a:rPr>
              <a:t>⎥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4703" y="6443503"/>
            <a:ext cx="945515" cy="532765"/>
          </a:xfrm>
          <a:custGeom>
            <a:avLst/>
            <a:gdLst/>
            <a:ahLst/>
            <a:cxnLst/>
            <a:rect l="l" t="t" r="r" b="b"/>
            <a:pathLst>
              <a:path w="945514" h="532765">
                <a:moveTo>
                  <a:pt x="0" y="0"/>
                </a:moveTo>
                <a:lnTo>
                  <a:pt x="945056" y="0"/>
                </a:lnTo>
                <a:lnTo>
                  <a:pt x="945056" y="532183"/>
                </a:lnTo>
                <a:lnTo>
                  <a:pt x="0" y="532183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42083" y="6468871"/>
            <a:ext cx="491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has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eigenvalues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λ</a:t>
            </a:r>
            <a:r>
              <a:rPr sz="1800" dirty="0">
                <a:latin typeface="Calibri"/>
                <a:cs typeface="Calibri"/>
              </a:rPr>
              <a:t>=1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λ</a:t>
            </a:r>
            <a:r>
              <a:rPr sz="1800" dirty="0">
                <a:latin typeface="Calibri"/>
                <a:cs typeface="Calibri"/>
              </a:rPr>
              <a:t>=3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eigenvectors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V</a:t>
            </a:r>
            <a:r>
              <a:rPr sz="1800" spc="-25" dirty="0">
                <a:solidFill>
                  <a:srgbClr val="660066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28058" y="6687646"/>
            <a:ext cx="177800" cy="1339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700" i="1" spc="-25" dirty="0">
                <a:latin typeface="Palatino Linotype"/>
                <a:cs typeface="Palatino Linotype"/>
              </a:rPr>
              <a:t>λ</a:t>
            </a:r>
            <a:r>
              <a:rPr sz="700" spc="-25" dirty="0">
                <a:latin typeface="Cambria"/>
                <a:cs typeface="Cambria"/>
              </a:rPr>
              <a:t>=1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72103" y="6498546"/>
            <a:ext cx="9144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200" spc="-50" dirty="0"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53536" y="6424939"/>
            <a:ext cx="493395" cy="353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ts val="1275"/>
              </a:lnSpc>
              <a:spcBef>
                <a:spcPts val="130"/>
              </a:spcBef>
            </a:pPr>
            <a:r>
              <a:rPr sz="1200" spc="-50" dirty="0">
                <a:latin typeface="Cambria"/>
                <a:cs typeface="Cambria"/>
              </a:rPr>
              <a:t>⎡</a:t>
            </a:r>
            <a:endParaRPr sz="1200">
              <a:latin typeface="Cambria"/>
              <a:cs typeface="Cambria"/>
            </a:endParaRPr>
          </a:p>
          <a:p>
            <a:pPr>
              <a:lnSpc>
                <a:spcPts val="1275"/>
              </a:lnSpc>
              <a:tabLst>
                <a:tab pos="285750" algn="l"/>
              </a:tabLst>
            </a:pPr>
            <a:r>
              <a:rPr sz="1200" i="1" spc="-50" dirty="0">
                <a:latin typeface="Calibri"/>
                <a:cs typeface="Calibri"/>
              </a:rPr>
              <a:t>v</a:t>
            </a:r>
            <a:r>
              <a:rPr sz="1200" i="1" dirty="0">
                <a:latin typeface="Calibri"/>
                <a:cs typeface="Calibri"/>
              </a:rPr>
              <a:t>	</a:t>
            </a:r>
            <a:r>
              <a:rPr sz="1200" spc="240" dirty="0">
                <a:latin typeface="Cambria"/>
                <a:cs typeface="Cambria"/>
              </a:rPr>
              <a:t>=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6364" y="6745799"/>
            <a:ext cx="4064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200" spc="-155" dirty="0">
                <a:latin typeface="Cambria"/>
                <a:cs typeface="Cambria"/>
              </a:rPr>
              <a:t>⎣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06364" y="6535553"/>
            <a:ext cx="4064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200" spc="-155" dirty="0">
                <a:latin typeface="Cambria"/>
                <a:cs typeface="Cambria"/>
              </a:rPr>
              <a:t>⎢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89966" y="6745799"/>
            <a:ext cx="4064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200" spc="-155" dirty="0">
                <a:latin typeface="Cambria"/>
                <a:cs typeface="Cambria"/>
              </a:rPr>
              <a:t>⎦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89966" y="6535553"/>
            <a:ext cx="4064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200" spc="-155" dirty="0">
                <a:latin typeface="Cambria"/>
                <a:cs typeface="Cambria"/>
              </a:rPr>
              <a:t>⎥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80964" y="6646166"/>
            <a:ext cx="474980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latin typeface="Cambria"/>
                <a:cs typeface="Cambria"/>
              </a:rPr>
              <a:t>⎢</a:t>
            </a:r>
            <a:r>
              <a:rPr sz="1200" spc="250" dirty="0">
                <a:latin typeface="Cambria"/>
                <a:cs typeface="Cambria"/>
              </a:rPr>
              <a:t> </a:t>
            </a:r>
            <a:r>
              <a:rPr sz="1800" spc="165" baseline="-20833" dirty="0">
                <a:latin typeface="Cambria"/>
                <a:cs typeface="Cambria"/>
              </a:rPr>
              <a:t>−1</a:t>
            </a:r>
            <a:r>
              <a:rPr sz="1800" spc="367" baseline="-20833" dirty="0">
                <a:latin typeface="Cambria"/>
                <a:cs typeface="Cambria"/>
              </a:rPr>
              <a:t> </a:t>
            </a:r>
            <a:r>
              <a:rPr sz="1200" spc="-50" dirty="0">
                <a:latin typeface="Cambria"/>
                <a:cs typeface="Cambria"/>
              </a:rPr>
              <a:t>⎥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89966" y="6424939"/>
            <a:ext cx="182880" cy="353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ts val="1275"/>
              </a:lnSpc>
              <a:spcBef>
                <a:spcPts val="130"/>
              </a:spcBef>
            </a:pPr>
            <a:r>
              <a:rPr sz="1200" spc="-50" dirty="0">
                <a:latin typeface="Cambria"/>
                <a:cs typeface="Cambria"/>
              </a:rPr>
              <a:t>⎤</a:t>
            </a:r>
            <a:endParaRPr sz="1200">
              <a:latin typeface="Cambria"/>
              <a:cs typeface="Cambria"/>
            </a:endParaRPr>
          </a:p>
          <a:p>
            <a:pPr marL="43815">
              <a:lnSpc>
                <a:spcPts val="1275"/>
              </a:lnSpc>
            </a:pPr>
            <a:r>
              <a:rPr sz="1200" spc="70" dirty="0">
                <a:latin typeface="Cambria"/>
                <a:cs typeface="Cambria"/>
              </a:rPr>
              <a:t>,</a:t>
            </a:r>
            <a:r>
              <a:rPr sz="1200" i="1" spc="70" dirty="0">
                <a:latin typeface="Calibri"/>
                <a:cs typeface="Calibri"/>
              </a:rPr>
              <a:t>v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62219" y="6687646"/>
            <a:ext cx="183515" cy="1339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700" i="1" spc="-25" dirty="0">
                <a:latin typeface="Palatino Linotype"/>
                <a:cs typeface="Palatino Linotype"/>
              </a:rPr>
              <a:t>λ</a:t>
            </a:r>
            <a:r>
              <a:rPr sz="700" spc="-25" dirty="0">
                <a:latin typeface="Cambria"/>
                <a:cs typeface="Cambria"/>
              </a:rPr>
              <a:t>=3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56311" y="6424939"/>
            <a:ext cx="518159" cy="287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1770">
              <a:lnSpc>
                <a:spcPts val="1010"/>
              </a:lnSpc>
              <a:spcBef>
                <a:spcPts val="130"/>
              </a:spcBef>
              <a:tabLst>
                <a:tab pos="451484" algn="l"/>
              </a:tabLst>
            </a:pPr>
            <a:r>
              <a:rPr sz="1200" spc="-50" dirty="0">
                <a:latin typeface="Cambria"/>
                <a:cs typeface="Cambria"/>
              </a:rPr>
              <a:t>⎡</a:t>
            </a:r>
            <a:r>
              <a:rPr sz="1200" dirty="0">
                <a:latin typeface="Cambria"/>
                <a:cs typeface="Cambria"/>
              </a:rPr>
              <a:t>	</a:t>
            </a:r>
            <a:r>
              <a:rPr sz="1200" spc="-50" dirty="0">
                <a:latin typeface="Cambria"/>
                <a:cs typeface="Cambria"/>
              </a:rPr>
              <a:t>⎤</a:t>
            </a:r>
            <a:endParaRPr sz="1200">
              <a:latin typeface="Cambria"/>
              <a:cs typeface="Cambria"/>
            </a:endParaRPr>
          </a:p>
          <a:p>
            <a:pPr marL="25400">
              <a:lnSpc>
                <a:spcPts val="1010"/>
              </a:lnSpc>
              <a:tabLst>
                <a:tab pos="295275" algn="l"/>
              </a:tabLst>
            </a:pPr>
            <a:r>
              <a:rPr sz="1800" spc="359" baseline="-25462" dirty="0">
                <a:latin typeface="Cambria"/>
                <a:cs typeface="Cambria"/>
              </a:rPr>
              <a:t>=</a:t>
            </a:r>
            <a:r>
              <a:rPr sz="1800" baseline="-25462" dirty="0">
                <a:latin typeface="Cambria"/>
                <a:cs typeface="Cambria"/>
              </a:rPr>
              <a:t>	</a:t>
            </a:r>
            <a:r>
              <a:rPr sz="1200" spc="-50" dirty="0"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48263" y="6745799"/>
            <a:ext cx="30035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59715" algn="l"/>
              </a:tabLst>
            </a:pPr>
            <a:r>
              <a:rPr sz="1200" spc="-50" dirty="0">
                <a:latin typeface="Cambria"/>
                <a:cs typeface="Cambria"/>
              </a:rPr>
              <a:t>⎣</a:t>
            </a:r>
            <a:r>
              <a:rPr sz="1200" dirty="0">
                <a:latin typeface="Cambria"/>
                <a:cs typeface="Cambria"/>
              </a:rPr>
              <a:t>	</a:t>
            </a:r>
            <a:r>
              <a:rPr sz="1200" spc="-155" dirty="0">
                <a:latin typeface="Cambria"/>
                <a:cs typeface="Cambria"/>
              </a:rPr>
              <a:t>⎦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48263" y="6535553"/>
            <a:ext cx="30035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59715" algn="l"/>
              </a:tabLst>
            </a:pPr>
            <a:r>
              <a:rPr sz="1200" spc="-50" dirty="0">
                <a:latin typeface="Cambria"/>
                <a:cs typeface="Cambria"/>
              </a:rPr>
              <a:t>⎢</a:t>
            </a:r>
            <a:r>
              <a:rPr sz="1200" dirty="0">
                <a:latin typeface="Cambria"/>
                <a:cs typeface="Cambria"/>
              </a:rPr>
              <a:t>	</a:t>
            </a:r>
            <a:r>
              <a:rPr sz="1200" spc="-155" dirty="0">
                <a:latin typeface="Cambria"/>
                <a:cs typeface="Cambria"/>
              </a:rPr>
              <a:t>⎥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22863" y="6646166"/>
            <a:ext cx="351155" cy="213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200" spc="-10" dirty="0">
                <a:latin typeface="Cambria"/>
                <a:cs typeface="Cambria"/>
              </a:rPr>
              <a:t>⎢</a:t>
            </a:r>
            <a:r>
              <a:rPr sz="1200" spc="204" dirty="0">
                <a:latin typeface="Cambria"/>
                <a:cs typeface="Cambria"/>
              </a:rPr>
              <a:t> </a:t>
            </a:r>
            <a:r>
              <a:rPr sz="1800" baseline="-20833" dirty="0">
                <a:latin typeface="Cambria"/>
                <a:cs typeface="Cambria"/>
              </a:rPr>
              <a:t>1</a:t>
            </a:r>
            <a:r>
              <a:rPr sz="1800" spc="315" baseline="-20833" dirty="0">
                <a:latin typeface="Cambria"/>
                <a:cs typeface="Cambria"/>
              </a:rPr>
              <a:t> </a:t>
            </a:r>
            <a:r>
              <a:rPr sz="1200" spc="-50" dirty="0">
                <a:latin typeface="Cambria"/>
                <a:cs typeface="Cambria"/>
              </a:rPr>
              <a:t>⎥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35796" y="6443503"/>
            <a:ext cx="1743075" cy="504190"/>
          </a:xfrm>
          <a:custGeom>
            <a:avLst/>
            <a:gdLst/>
            <a:ahLst/>
            <a:cxnLst/>
            <a:rect l="l" t="t" r="r" b="b"/>
            <a:pathLst>
              <a:path w="1743075" h="504190">
                <a:moveTo>
                  <a:pt x="0" y="0"/>
                </a:moveTo>
                <a:lnTo>
                  <a:pt x="1742545" y="0"/>
                </a:lnTo>
                <a:lnTo>
                  <a:pt x="1742545" y="503925"/>
                </a:lnTo>
                <a:lnTo>
                  <a:pt x="0" y="503925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81175" y="691895"/>
            <a:ext cx="2946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Eigenvector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1569720"/>
            <a:ext cx="6416040" cy="50609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1155" marR="54610" indent="-339090">
              <a:lnSpc>
                <a:spcPct val="97300"/>
              </a:lnSpc>
              <a:spcBef>
                <a:spcPts val="2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square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matrix </a:t>
            </a:r>
            <a:r>
              <a:rPr sz="3200" b="1" i="1" dirty="0">
                <a:latin typeface="Calibri"/>
                <a:cs typeface="Calibri"/>
              </a:rPr>
              <a:t>A</a:t>
            </a:r>
            <a:r>
              <a:rPr sz="3200" b="1" i="1" spc="9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non-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zero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r>
              <a:rPr sz="3200" spc="-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b="1" i="1" spc="9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such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that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multiplication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A</a:t>
            </a:r>
            <a:r>
              <a:rPr sz="3200" b="1" i="1" spc="7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only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changes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scale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5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  <a:p>
            <a:pPr marL="916305">
              <a:lnSpc>
                <a:spcPct val="100000"/>
              </a:lnSpc>
              <a:spcBef>
                <a:spcPts val="770"/>
              </a:spcBef>
            </a:pPr>
            <a:r>
              <a:rPr sz="3200" b="1" i="1" spc="-10" dirty="0">
                <a:latin typeface="Calibri"/>
                <a:cs typeface="Calibri"/>
              </a:rPr>
              <a:t>Av</a:t>
            </a:r>
            <a:r>
              <a:rPr sz="3200" i="1" spc="-10" dirty="0">
                <a:latin typeface="Calibri"/>
                <a:cs typeface="Calibri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λ</a:t>
            </a:r>
            <a:r>
              <a:rPr sz="3200" b="1" i="1" spc="-1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  <a:p>
            <a:pPr marL="46482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scalar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λ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known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eigenvalue</a:t>
            </a:r>
            <a:endParaRPr sz="2800">
              <a:latin typeface="Arial"/>
              <a:cs typeface="Arial"/>
            </a:endParaRPr>
          </a:p>
          <a:p>
            <a:pPr marL="351155" marR="201930" indent="-339090">
              <a:lnSpc>
                <a:spcPct val="99800"/>
              </a:lnSpc>
              <a:spcBef>
                <a:spcPts val="64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b="1" i="1" spc="10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</a:t>
            </a:r>
            <a:r>
              <a:rPr sz="3200" spc="-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3200" spc="-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is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any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rescaled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s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.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Moreover </a:t>
            </a:r>
            <a:r>
              <a:rPr sz="3200" i="1" dirty="0">
                <a:latin typeface="Calibri"/>
                <a:cs typeface="Calibri"/>
              </a:rPr>
              <a:t>s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b="1" i="1" spc="7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still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same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eigen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value.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Thus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look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unit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43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0709" y="2529839"/>
            <a:ext cx="2562012" cy="26703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44290" y="5187695"/>
            <a:ext cx="7886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660066"/>
                </a:solidFill>
                <a:latin typeface="Arial"/>
                <a:cs typeface="Arial"/>
              </a:rPr>
              <a:t>Wikipedia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6948" y="766064"/>
            <a:ext cx="8365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Eigenvalue</a:t>
            </a:r>
            <a:r>
              <a:rPr sz="3600" spc="-180" dirty="0"/>
              <a:t> </a:t>
            </a:r>
            <a:r>
              <a:rPr sz="3600" dirty="0"/>
              <a:t>and</a:t>
            </a:r>
            <a:r>
              <a:rPr sz="3600" spc="-180" dirty="0"/>
              <a:t> </a:t>
            </a:r>
            <a:r>
              <a:rPr sz="3600" spc="-10" dirty="0"/>
              <a:t>Characteristic</a:t>
            </a:r>
            <a:r>
              <a:rPr sz="3600" spc="-175" dirty="0"/>
              <a:t> </a:t>
            </a:r>
            <a:r>
              <a:rPr sz="3600" spc="-10" dirty="0"/>
              <a:t>Polynomial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87137" y="1633728"/>
            <a:ext cx="30067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Consider</a:t>
            </a:r>
            <a:r>
              <a:rPr sz="3200" spc="-1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A</a:t>
            </a:r>
            <a:r>
              <a:rPr sz="3200" b="1" i="1" spc="-20" dirty="0">
                <a:latin typeface="Calibri"/>
                <a:cs typeface="Calibri"/>
              </a:rPr>
              <a:t>v</a:t>
            </a:r>
            <a:r>
              <a:rPr sz="3200" i="1" spc="-20" dirty="0">
                <a:latin typeface="Calibri"/>
                <a:cs typeface="Calibri"/>
              </a:rPr>
              <a:t>=</a:t>
            </a:r>
            <a:r>
              <a:rPr sz="3200" b="1" i="1" spc="-20" dirty="0"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137" y="2115989"/>
            <a:ext cx="8364855" cy="284035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81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b="1" i="1" spc="8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w</a:t>
            </a:r>
            <a:r>
              <a:rPr sz="3200" b="1" i="1" spc="7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scalar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multiples,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i.e.,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A</a:t>
            </a:r>
            <a:r>
              <a:rPr sz="3200" b="1" i="1" spc="-10" dirty="0">
                <a:latin typeface="Calibri"/>
                <a:cs typeface="Calibri"/>
              </a:rPr>
              <a:t>v</a:t>
            </a:r>
            <a:r>
              <a:rPr sz="3200" i="1" spc="-10" dirty="0">
                <a:latin typeface="Calibri"/>
                <a:cs typeface="Calibri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λ</a:t>
            </a:r>
            <a:r>
              <a:rPr sz="3200" b="1" i="1" spc="-1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  <a:p>
            <a:pPr marL="1141095" marR="5080" lvl="1" indent="-224790">
              <a:lnSpc>
                <a:spcPct val="100800"/>
              </a:lnSpc>
              <a:spcBef>
                <a:spcPts val="509"/>
              </a:spcBef>
              <a:buChar char="•"/>
              <a:tabLst>
                <a:tab pos="114236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then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Calibri"/>
                <a:cs typeface="Calibri"/>
              </a:rPr>
              <a:t>v</a:t>
            </a:r>
            <a:r>
              <a:rPr sz="2400" b="1" i="1" spc="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eigenvector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linear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transformation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A 	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scale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factor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λ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eigenvalue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corresponding 	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eigen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vector</a:t>
            </a:r>
            <a:endParaRPr sz="24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1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This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3333CC"/>
                </a:solidFill>
                <a:latin typeface="Arial"/>
                <a:cs typeface="Arial"/>
              </a:rPr>
              <a:t>eigenvalue</a:t>
            </a:r>
            <a:r>
              <a:rPr sz="3200" i="1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3333CC"/>
                </a:solidFill>
                <a:latin typeface="Arial"/>
                <a:cs typeface="Arial"/>
              </a:rPr>
              <a:t>equation</a:t>
            </a:r>
            <a:r>
              <a:rPr sz="3200" i="1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464184">
              <a:lnSpc>
                <a:spcPct val="100000"/>
              </a:lnSpc>
              <a:spcBef>
                <a:spcPts val="570"/>
              </a:spcBef>
              <a:tabLst>
                <a:tab pos="44850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20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Stated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equivalently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as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</a:t>
            </a:r>
            <a:r>
              <a:rPr sz="2800" spc="-30" dirty="0">
                <a:solidFill>
                  <a:srgbClr val="336600"/>
                </a:solidFill>
                <a:latin typeface="Calibri"/>
                <a:cs typeface="Calibri"/>
              </a:rPr>
              <a:t>(</a:t>
            </a:r>
            <a:r>
              <a:rPr sz="2800" i="1" spc="-30" dirty="0">
                <a:latin typeface="Calibri"/>
                <a:cs typeface="Calibri"/>
              </a:rPr>
              <a:t>A-</a:t>
            </a:r>
            <a:r>
              <a:rPr sz="2800" spc="-10" dirty="0">
                <a:latin typeface="Times New Roman"/>
                <a:cs typeface="Times New Roman"/>
              </a:rPr>
              <a:t>λ</a:t>
            </a:r>
            <a:r>
              <a:rPr sz="2800" spc="-10" dirty="0">
                <a:latin typeface="Calibri"/>
                <a:cs typeface="Calibri"/>
              </a:rPr>
              <a:t>I)</a:t>
            </a:r>
            <a:r>
              <a:rPr sz="2800" b="1" i="1" spc="-10" dirty="0">
                <a:latin typeface="Calibri"/>
                <a:cs typeface="Calibri"/>
              </a:rPr>
              <a:t>v</a:t>
            </a:r>
            <a:r>
              <a:rPr sz="2800" spc="-10" dirty="0">
                <a:latin typeface="Calibri"/>
                <a:cs typeface="Calibri"/>
              </a:rPr>
              <a:t>=0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3856" y="4962312"/>
            <a:ext cx="6964680" cy="145415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19405" indent="-281305">
              <a:lnSpc>
                <a:spcPct val="100000"/>
              </a:lnSpc>
              <a:spcBef>
                <a:spcPts val="595"/>
              </a:spcBef>
              <a:buChar char="–"/>
              <a:tabLst>
                <a:tab pos="319405" algn="l"/>
                <a:tab pos="521335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This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has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336600"/>
                </a:solidFill>
                <a:latin typeface="Arial"/>
                <a:cs typeface="Arial"/>
              </a:rPr>
              <a:t>non-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zero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solution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|</a:t>
            </a:r>
            <a:r>
              <a:rPr sz="2800" i="1" spc="-25" dirty="0">
                <a:latin typeface="Times New Roman"/>
                <a:cs typeface="Times New Roman"/>
              </a:rPr>
              <a:t>A-</a:t>
            </a:r>
            <a:r>
              <a:rPr sz="2800" spc="-10" dirty="0">
                <a:latin typeface="Times New Roman"/>
                <a:cs typeface="Times New Roman"/>
              </a:rPr>
              <a:t>λI</a:t>
            </a:r>
            <a:r>
              <a:rPr sz="2800" i="1" spc="-10" dirty="0">
                <a:latin typeface="Times New Roman"/>
                <a:cs typeface="Times New Roman"/>
              </a:rPr>
              <a:t>|</a:t>
            </a:r>
            <a:r>
              <a:rPr sz="2800" spc="-10" dirty="0">
                <a:latin typeface="Times New Roman"/>
                <a:cs typeface="Times New Roman"/>
              </a:rPr>
              <a:t>=0</a:t>
            </a:r>
            <a:endParaRPr sz="2800">
              <a:latin typeface="Times New Roman"/>
              <a:cs typeface="Times New Roman"/>
            </a:endParaRPr>
          </a:p>
          <a:p>
            <a:pPr marL="715010" lvl="1" indent="-224790">
              <a:lnSpc>
                <a:spcPct val="100000"/>
              </a:lnSpc>
              <a:spcBef>
                <a:spcPts val="420"/>
              </a:spcBef>
              <a:buChar char="•"/>
              <a:tabLst>
                <a:tab pos="71501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polynomial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degree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can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factored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  <a:p>
            <a:pPr marL="490220">
              <a:lnSpc>
                <a:spcPct val="100000"/>
              </a:lnSpc>
              <a:spcBef>
                <a:spcPts val="730"/>
              </a:spcBef>
            </a:pPr>
            <a:r>
              <a:rPr sz="2800" spc="-30" dirty="0">
                <a:solidFill>
                  <a:srgbClr val="336600"/>
                </a:solidFill>
                <a:latin typeface="Arial"/>
                <a:cs typeface="Arial"/>
              </a:rPr>
              <a:t>|</a:t>
            </a:r>
            <a:r>
              <a:rPr sz="2800" i="1" spc="-30" dirty="0">
                <a:latin typeface="Times New Roman"/>
                <a:cs typeface="Times New Roman"/>
              </a:rPr>
              <a:t>A-</a:t>
            </a:r>
            <a:r>
              <a:rPr sz="2800" dirty="0">
                <a:latin typeface="Times New Roman"/>
                <a:cs typeface="Times New Roman"/>
              </a:rPr>
              <a:t>λI</a:t>
            </a:r>
            <a:r>
              <a:rPr sz="2800" i="1" dirty="0">
                <a:latin typeface="Times New Roman"/>
                <a:cs typeface="Times New Roman"/>
              </a:rPr>
              <a:t>|</a:t>
            </a:r>
            <a:r>
              <a:rPr sz="2800" i="1" spc="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=</a:t>
            </a:r>
            <a:r>
              <a:rPr sz="2800" i="1" spc="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(λ</a:t>
            </a:r>
            <a:r>
              <a:rPr sz="2700" spc="-30" baseline="-18518" dirty="0">
                <a:latin typeface="Calibri"/>
                <a:cs typeface="Calibri"/>
              </a:rPr>
              <a:t>1</a:t>
            </a:r>
            <a:r>
              <a:rPr sz="2800" i="1" spc="-20" dirty="0">
                <a:latin typeface="Times New Roman"/>
                <a:cs typeface="Times New Roman"/>
              </a:rPr>
              <a:t>-</a:t>
            </a:r>
            <a:r>
              <a:rPr sz="2800" spc="-25" dirty="0">
                <a:latin typeface="Times New Roman"/>
                <a:cs typeface="Times New Roman"/>
              </a:rPr>
              <a:t>λ)(λ</a:t>
            </a:r>
            <a:r>
              <a:rPr sz="2700" spc="-37" baseline="-18518" dirty="0">
                <a:latin typeface="Calibri"/>
                <a:cs typeface="Calibri"/>
              </a:rPr>
              <a:t>2</a:t>
            </a:r>
            <a:r>
              <a:rPr sz="2800" i="1" spc="-25" dirty="0">
                <a:latin typeface="Times New Roman"/>
                <a:cs typeface="Times New Roman"/>
              </a:rPr>
              <a:t>-</a:t>
            </a:r>
            <a:r>
              <a:rPr sz="2800" spc="-25" dirty="0">
                <a:latin typeface="Times New Roman"/>
                <a:cs typeface="Times New Roman"/>
              </a:rPr>
              <a:t>λ)</a:t>
            </a:r>
            <a:r>
              <a:rPr sz="2800" i="1" spc="-25" dirty="0">
                <a:latin typeface="Times New Roman"/>
                <a:cs typeface="Times New Roman"/>
              </a:rPr>
              <a:t>…</a:t>
            </a:r>
            <a:r>
              <a:rPr sz="2800" spc="-25" dirty="0">
                <a:latin typeface="Times New Roman"/>
                <a:cs typeface="Times New Roman"/>
              </a:rPr>
              <a:t>(λ</a:t>
            </a:r>
            <a:r>
              <a:rPr sz="2700" i="1" spc="-37" baseline="-18518" dirty="0">
                <a:latin typeface="Calibri"/>
                <a:cs typeface="Calibri"/>
              </a:rPr>
              <a:t>n</a:t>
            </a:r>
            <a:r>
              <a:rPr sz="2800" i="1" spc="-25" dirty="0">
                <a:latin typeface="Times New Roman"/>
                <a:cs typeface="Times New Roman"/>
              </a:rPr>
              <a:t>-</a:t>
            </a:r>
            <a:r>
              <a:rPr sz="2800" spc="-25" dirty="0">
                <a:latin typeface="Times New Roman"/>
                <a:cs typeface="Times New Roman"/>
              </a:rPr>
              <a:t>λ)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1561" y="5025135"/>
            <a:ext cx="3981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0576" y="6459728"/>
            <a:ext cx="6937375" cy="7480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87655" marR="43180" indent="-224790">
              <a:lnSpc>
                <a:spcPts val="2810"/>
              </a:lnSpc>
              <a:spcBef>
                <a:spcPts val="250"/>
              </a:spcBef>
              <a:buChar char="•"/>
              <a:tabLst>
                <a:tab pos="288925" algn="l"/>
                <a:tab pos="222313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λ</a:t>
            </a:r>
            <a:r>
              <a:rPr sz="2400" baseline="-17361" dirty="0">
                <a:latin typeface="Calibri"/>
                <a:cs typeface="Calibri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λ</a:t>
            </a:r>
            <a:r>
              <a:rPr sz="2400" spc="-30" baseline="-17361" dirty="0">
                <a:latin typeface="Calibri"/>
                <a:cs typeface="Calibri"/>
              </a:rPr>
              <a:t>2</a:t>
            </a:r>
            <a:r>
              <a:rPr sz="2400" i="1" spc="-20" dirty="0">
                <a:latin typeface="Times New Roman"/>
                <a:cs typeface="Times New Roman"/>
              </a:rPr>
              <a:t>…</a:t>
            </a:r>
            <a:r>
              <a:rPr sz="2400" spc="-20" dirty="0">
                <a:latin typeface="Times New Roman"/>
                <a:cs typeface="Times New Roman"/>
              </a:rPr>
              <a:t>λ</a:t>
            </a:r>
            <a:r>
              <a:rPr sz="2400" i="1" spc="-30" baseline="-17361" dirty="0">
                <a:latin typeface="Calibri"/>
                <a:cs typeface="Calibri"/>
              </a:rPr>
              <a:t>n</a:t>
            </a:r>
            <a:r>
              <a:rPr sz="2400" i="1" baseline="-17361" dirty="0"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roots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polynomial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are 	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eigenvalues</a:t>
            </a:r>
            <a:r>
              <a:rPr sz="24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0094" y="1571298"/>
            <a:ext cx="11557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i="1" spc="-25" dirty="0">
                <a:latin typeface="Calibri"/>
                <a:cs typeface="Calibri"/>
              </a:rPr>
              <a:t>1,1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07850" y="1571298"/>
            <a:ext cx="12382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i="1" spc="-25" dirty="0">
                <a:latin typeface="Calibri"/>
                <a:cs typeface="Calibri"/>
              </a:rPr>
              <a:t>1,n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1177" y="1407640"/>
            <a:ext cx="31686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latin typeface="Symbol"/>
                <a:cs typeface="Symbol"/>
              </a:rPr>
              <a:t></a:t>
            </a:r>
            <a:r>
              <a:rPr sz="1150" spc="380" dirty="0">
                <a:latin typeface="Times New Roman"/>
                <a:cs typeface="Times New Roman"/>
              </a:rPr>
              <a:t> </a:t>
            </a:r>
            <a:r>
              <a:rPr sz="1725" i="1" spc="247" baseline="-16908" dirty="0">
                <a:latin typeface="Calibri"/>
                <a:cs typeface="Calibri"/>
              </a:rPr>
              <a:t>A</a:t>
            </a:r>
            <a:endParaRPr sz="1725" baseline="-16908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6577" y="2091315"/>
            <a:ext cx="711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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36577" y="1552068"/>
            <a:ext cx="711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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6577" y="1696495"/>
            <a:ext cx="711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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0031" y="1362036"/>
            <a:ext cx="1292225" cy="77279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855"/>
              </a:spcBef>
              <a:tabLst>
                <a:tab pos="1085215" algn="l"/>
              </a:tabLst>
            </a:pPr>
            <a:r>
              <a:rPr sz="1150" i="1" spc="200" dirty="0">
                <a:latin typeface="Calibri"/>
                <a:cs typeface="Calibri"/>
              </a:rPr>
              <a:t>L</a:t>
            </a:r>
            <a:r>
              <a:rPr sz="1150" i="1" dirty="0">
                <a:latin typeface="Calibri"/>
                <a:cs typeface="Calibri"/>
              </a:rPr>
              <a:t>	</a:t>
            </a:r>
            <a:r>
              <a:rPr sz="1150" i="1" spc="165" dirty="0">
                <a:latin typeface="Calibri"/>
                <a:cs typeface="Calibri"/>
              </a:rPr>
              <a:t>A</a:t>
            </a:r>
            <a:endParaRPr sz="11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  <a:tabLst>
                <a:tab pos="793750" algn="l"/>
                <a:tab pos="1118235" algn="l"/>
              </a:tabLst>
            </a:pPr>
            <a:r>
              <a:rPr sz="1150" i="1" spc="300" dirty="0">
                <a:latin typeface="Calibri"/>
                <a:cs typeface="Calibri"/>
              </a:rPr>
              <a:t>A=</a:t>
            </a:r>
            <a:r>
              <a:rPr sz="1150" i="1" spc="10" dirty="0">
                <a:latin typeface="Calibri"/>
                <a:cs typeface="Calibri"/>
              </a:rPr>
              <a:t> </a:t>
            </a:r>
            <a:r>
              <a:rPr sz="1725" baseline="-43478" dirty="0">
                <a:latin typeface="Symbol"/>
                <a:cs typeface="Symbol"/>
              </a:rPr>
              <a:t></a:t>
            </a:r>
            <a:r>
              <a:rPr sz="1725" spc="225" baseline="-43478" dirty="0">
                <a:latin typeface="Times New Roman"/>
                <a:cs typeface="Times New Roman"/>
              </a:rPr>
              <a:t>  </a:t>
            </a:r>
            <a:r>
              <a:rPr sz="1150" i="1" spc="5" dirty="0">
                <a:latin typeface="Calibri"/>
                <a:cs typeface="Calibri"/>
              </a:rPr>
              <a:t>M</a:t>
            </a:r>
            <a:r>
              <a:rPr sz="1150" i="1" dirty="0">
                <a:latin typeface="Calibri"/>
                <a:cs typeface="Calibri"/>
              </a:rPr>
              <a:t>	</a:t>
            </a:r>
            <a:r>
              <a:rPr sz="1150" i="1" spc="15" dirty="0">
                <a:latin typeface="Calibri"/>
                <a:cs typeface="Calibri"/>
              </a:rPr>
              <a:t>M</a:t>
            </a:r>
            <a:r>
              <a:rPr sz="1150" i="1" dirty="0">
                <a:latin typeface="Calibri"/>
                <a:cs typeface="Calibri"/>
              </a:rPr>
              <a:t>	</a:t>
            </a:r>
            <a:r>
              <a:rPr sz="1150" i="1" spc="15" dirty="0">
                <a:latin typeface="Calibri"/>
                <a:cs typeface="Calibri"/>
              </a:rPr>
              <a:t>M</a:t>
            </a:r>
            <a:endParaRPr sz="1150"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  <a:spcBef>
                <a:spcPts val="210"/>
              </a:spcBef>
            </a:pPr>
            <a:r>
              <a:rPr sz="1150" i="1" spc="200" dirty="0">
                <a:latin typeface="Calibri"/>
                <a:cs typeface="Calibri"/>
              </a:rPr>
              <a:t>L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11177" y="1985349"/>
            <a:ext cx="40322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latin typeface="Symbol"/>
                <a:cs typeface="Symbol"/>
              </a:rPr>
              <a:t></a:t>
            </a:r>
            <a:r>
              <a:rPr sz="1150" spc="350" dirty="0">
                <a:latin typeface="Times New Roman"/>
                <a:cs typeface="Times New Roman"/>
              </a:rPr>
              <a:t> </a:t>
            </a:r>
            <a:r>
              <a:rPr sz="1725" i="1" spc="-30" baseline="21739" dirty="0">
                <a:latin typeface="Calibri"/>
                <a:cs typeface="Calibri"/>
              </a:rPr>
              <a:t>A</a:t>
            </a:r>
            <a:r>
              <a:rPr sz="650" i="1" spc="-20" dirty="0">
                <a:latin typeface="Calibri"/>
                <a:cs typeface="Calibri"/>
              </a:rPr>
              <a:t>n,1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25669" y="1407640"/>
            <a:ext cx="71120" cy="4953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ts val="1260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</a:t>
            </a:r>
            <a:endParaRPr sz="1150">
              <a:latin typeface="Symbol"/>
              <a:cs typeface="Symbol"/>
            </a:endParaRPr>
          </a:p>
          <a:p>
            <a:pPr>
              <a:lnSpc>
                <a:spcPts val="1135"/>
              </a:lnSpc>
            </a:pP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  <a:p>
            <a:pPr>
              <a:lnSpc>
                <a:spcPts val="1260"/>
              </a:lnSpc>
            </a:pP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25669" y="1771377"/>
            <a:ext cx="71120" cy="5264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r>
              <a:rPr sz="1150" spc="-50" dirty="0">
                <a:latin typeface="Symbol"/>
                <a:cs typeface="Symbol"/>
              </a:rPr>
              <a:t>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95715" y="1985349"/>
            <a:ext cx="42608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725" i="1" spc="82" baseline="21739" dirty="0">
                <a:latin typeface="Calibri"/>
                <a:cs typeface="Calibri"/>
              </a:rPr>
              <a:t>A</a:t>
            </a:r>
            <a:r>
              <a:rPr sz="650" i="1" spc="55" dirty="0">
                <a:latin typeface="Calibri"/>
                <a:cs typeface="Calibri"/>
              </a:rPr>
              <a:t>nn</a:t>
            </a:r>
            <a:r>
              <a:rPr sz="650" i="1" spc="300" dirty="0">
                <a:latin typeface="Calibri"/>
                <a:cs typeface="Calibri"/>
              </a:rPr>
              <a:t>  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59736" y="1587389"/>
            <a:ext cx="5778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i="1" spc="-50" dirty="0">
                <a:latin typeface="Calibri"/>
                <a:cs typeface="Calibri"/>
              </a:rPr>
              <a:t>1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64948" y="1725929"/>
            <a:ext cx="58610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150" b="1" i="1" spc="90" dirty="0">
                <a:latin typeface="Calibri"/>
                <a:cs typeface="Calibri"/>
              </a:rPr>
              <a:t>v</a:t>
            </a:r>
            <a:r>
              <a:rPr sz="1150" b="1" i="1" spc="-110" dirty="0">
                <a:latin typeface="Calibri"/>
                <a:cs typeface="Calibri"/>
              </a:rPr>
              <a:t> </a:t>
            </a:r>
            <a:r>
              <a:rPr sz="1150" i="1" spc="330" dirty="0">
                <a:latin typeface="Calibri"/>
                <a:cs typeface="Calibri"/>
              </a:rPr>
              <a:t>=</a:t>
            </a:r>
            <a:r>
              <a:rPr sz="1150" i="1" spc="15" dirty="0">
                <a:latin typeface="Calibri"/>
                <a:cs typeface="Calibri"/>
              </a:rPr>
              <a:t> </a:t>
            </a:r>
            <a:r>
              <a:rPr sz="1725" baseline="-50724" dirty="0">
                <a:latin typeface="Symbol"/>
                <a:cs typeface="Symbol"/>
              </a:rPr>
              <a:t></a:t>
            </a:r>
            <a:r>
              <a:rPr sz="1725" spc="525" baseline="-50724" dirty="0">
                <a:latin typeface="Times New Roman"/>
                <a:cs typeface="Times New Roman"/>
              </a:rPr>
              <a:t> </a:t>
            </a:r>
            <a:r>
              <a:rPr sz="1150" i="1" spc="15" dirty="0">
                <a:latin typeface="Calibri"/>
                <a:cs typeface="Calibri"/>
              </a:rPr>
              <a:t>M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14556" y="1928049"/>
            <a:ext cx="32893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725" spc="-150" baseline="-28985" dirty="0">
                <a:latin typeface="Symbol"/>
                <a:cs typeface="Symbol"/>
              </a:rPr>
              <a:t></a:t>
            </a:r>
            <a:r>
              <a:rPr sz="1725" spc="-150" baseline="-55555" dirty="0">
                <a:latin typeface="Symbol"/>
                <a:cs typeface="Symbol"/>
              </a:rPr>
              <a:t></a:t>
            </a:r>
            <a:r>
              <a:rPr sz="1725" spc="254" baseline="-55555" dirty="0">
                <a:latin typeface="Times New Roman"/>
                <a:cs typeface="Times New Roman"/>
              </a:rPr>
              <a:t> </a:t>
            </a:r>
            <a:r>
              <a:rPr sz="1150" i="1" spc="-35" dirty="0">
                <a:latin typeface="Calibri"/>
                <a:cs typeface="Calibri"/>
              </a:rPr>
              <a:t>v</a:t>
            </a:r>
            <a:r>
              <a:rPr sz="975" i="1" spc="-52" baseline="-38461" dirty="0">
                <a:latin typeface="Calibri"/>
                <a:cs typeface="Calibri"/>
              </a:rPr>
              <a:t>n</a:t>
            </a:r>
            <a:endParaRPr sz="975" baseline="-38461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01856" y="1568158"/>
            <a:ext cx="542290" cy="6400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5880" algn="r">
              <a:lnSpc>
                <a:spcPts val="1260"/>
              </a:lnSpc>
              <a:spcBef>
                <a:spcPts val="135"/>
              </a:spcBef>
              <a:tabLst>
                <a:tab pos="381635" algn="l"/>
              </a:tabLst>
            </a:pPr>
            <a:r>
              <a:rPr sz="1150" spc="-50" dirty="0">
                <a:latin typeface="Symbol"/>
                <a:cs typeface="Symbol"/>
              </a:rPr>
              <a:t>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  <a:p>
            <a:pPr marR="55880" algn="r">
              <a:lnSpc>
                <a:spcPts val="1135"/>
              </a:lnSpc>
              <a:tabLst>
                <a:tab pos="381635" algn="l"/>
              </a:tabLst>
            </a:pPr>
            <a:r>
              <a:rPr sz="1150" spc="-50" dirty="0">
                <a:latin typeface="Symbol"/>
                <a:cs typeface="Symbol"/>
              </a:rPr>
              <a:t>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  <a:p>
            <a:pPr marR="55880" algn="r">
              <a:lnSpc>
                <a:spcPts val="1135"/>
              </a:lnSpc>
            </a:pP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  <a:p>
            <a:pPr marR="55880" algn="r">
              <a:lnSpc>
                <a:spcPts val="1260"/>
              </a:lnSpc>
            </a:pPr>
            <a:r>
              <a:rPr sz="1150" spc="-25" dirty="0">
                <a:latin typeface="Symbol"/>
                <a:cs typeface="Symbol"/>
              </a:rPr>
              <a:t></a:t>
            </a:r>
            <a:r>
              <a:rPr sz="1725" spc="-37" baseline="-28985" dirty="0">
                <a:latin typeface="Symbol"/>
                <a:cs typeface="Symbol"/>
              </a:rPr>
              <a:t></a:t>
            </a:r>
            <a:endParaRPr sz="1725" baseline="-28985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09267" y="1587389"/>
            <a:ext cx="5778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i="1" spc="-50" dirty="0">
                <a:latin typeface="Calibri"/>
                <a:cs typeface="Calibri"/>
              </a:rPr>
              <a:t>1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61495" y="1725929"/>
            <a:ext cx="40576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150" b="1" i="1" dirty="0">
                <a:latin typeface="Calibri"/>
                <a:cs typeface="Calibri"/>
              </a:rPr>
              <a:t>w</a:t>
            </a:r>
            <a:r>
              <a:rPr sz="1150" b="1" i="1" spc="-100" dirty="0">
                <a:latin typeface="Calibri"/>
                <a:cs typeface="Calibri"/>
              </a:rPr>
              <a:t> </a:t>
            </a:r>
            <a:r>
              <a:rPr sz="1150" i="1" spc="330" dirty="0">
                <a:latin typeface="Calibri"/>
                <a:cs typeface="Calibri"/>
              </a:rPr>
              <a:t>=</a:t>
            </a:r>
            <a:r>
              <a:rPr sz="1150" i="1" spc="40" dirty="0">
                <a:latin typeface="Calibri"/>
                <a:cs typeface="Calibri"/>
              </a:rPr>
              <a:t> </a:t>
            </a:r>
            <a:r>
              <a:rPr sz="1725" spc="-75" baseline="-50724" dirty="0">
                <a:latin typeface="Symbol"/>
                <a:cs typeface="Symbol"/>
              </a:rPr>
              <a:t></a:t>
            </a:r>
            <a:endParaRPr sz="1725" baseline="-50724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45641" y="1928049"/>
            <a:ext cx="34734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725" spc="-172" baseline="-28985" dirty="0">
                <a:latin typeface="Symbol"/>
                <a:cs typeface="Symbol"/>
              </a:rPr>
              <a:t></a:t>
            </a:r>
            <a:r>
              <a:rPr sz="1725" spc="-172" baseline="-55555" dirty="0">
                <a:latin typeface="Symbol"/>
                <a:cs typeface="Symbol"/>
              </a:rPr>
              <a:t></a:t>
            </a:r>
            <a:r>
              <a:rPr sz="1725" spc="179" baseline="-55555" dirty="0">
                <a:latin typeface="Times New Roman"/>
                <a:cs typeface="Times New Roman"/>
              </a:rPr>
              <a:t> </a:t>
            </a:r>
            <a:r>
              <a:rPr sz="1150" i="1" spc="-25" dirty="0">
                <a:latin typeface="Calibri"/>
                <a:cs typeface="Calibri"/>
              </a:rPr>
              <a:t>w</a:t>
            </a:r>
            <a:r>
              <a:rPr sz="975" i="1" spc="-37" baseline="-38461" dirty="0">
                <a:latin typeface="Calibri"/>
                <a:cs typeface="Calibri"/>
              </a:rPr>
              <a:t>n</a:t>
            </a:r>
            <a:endParaRPr sz="975" baseline="-3846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01856" y="1423731"/>
            <a:ext cx="166878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19734" algn="l"/>
                <a:tab pos="1169035" algn="l"/>
                <a:tab pos="1559560" algn="l"/>
              </a:tabLst>
            </a:pPr>
            <a:r>
              <a:rPr sz="1150" dirty="0">
                <a:latin typeface="Symbol"/>
                <a:cs typeface="Symbol"/>
              </a:rPr>
              <a:t></a:t>
            </a:r>
            <a:r>
              <a:rPr sz="1150" spc="459" dirty="0">
                <a:latin typeface="Times New Roman"/>
                <a:cs typeface="Times New Roman"/>
              </a:rPr>
              <a:t> </a:t>
            </a:r>
            <a:r>
              <a:rPr sz="1725" i="1" spc="-75" baseline="-16908" dirty="0">
                <a:latin typeface="Calibri"/>
                <a:cs typeface="Calibri"/>
              </a:rPr>
              <a:t>v</a:t>
            </a:r>
            <a:r>
              <a:rPr sz="1725" i="1" baseline="-16908" dirty="0">
                <a:latin typeface="Calibri"/>
                <a:cs typeface="Calibri"/>
              </a:rPr>
              <a:t>	</a:t>
            </a:r>
            <a:r>
              <a:rPr sz="1150" spc="-50" dirty="0">
                <a:latin typeface="Symbol"/>
                <a:cs typeface="Symbol"/>
              </a:rPr>
              <a:t>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dirty="0">
                <a:latin typeface="Symbol"/>
                <a:cs typeface="Symbol"/>
              </a:rPr>
              <a:t></a:t>
            </a:r>
            <a:r>
              <a:rPr sz="1150" spc="385" dirty="0">
                <a:latin typeface="Times New Roman"/>
                <a:cs typeface="Times New Roman"/>
              </a:rPr>
              <a:t> </a:t>
            </a:r>
            <a:r>
              <a:rPr sz="1725" i="1" spc="-75" baseline="-16908" dirty="0">
                <a:latin typeface="Calibri"/>
                <a:cs typeface="Calibri"/>
              </a:rPr>
              <a:t>w</a:t>
            </a:r>
            <a:r>
              <a:rPr sz="1725" i="1" baseline="-16908" dirty="0">
                <a:latin typeface="Calibri"/>
                <a:cs typeface="Calibri"/>
              </a:rPr>
              <a:t>	</a:t>
            </a:r>
            <a:r>
              <a:rPr sz="1150" spc="-50" dirty="0">
                <a:latin typeface="Symbol"/>
                <a:cs typeface="Symbol"/>
              </a:rPr>
              <a:t>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71041" y="1568158"/>
            <a:ext cx="46164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390525" algn="l"/>
              </a:tabLst>
            </a:pPr>
            <a:r>
              <a:rPr sz="1150" spc="-50" dirty="0">
                <a:latin typeface="Symbol"/>
                <a:cs typeface="Symbol"/>
              </a:rPr>
              <a:t>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71041" y="1712586"/>
            <a:ext cx="46164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latin typeface="Symbol"/>
                <a:cs typeface="Symbol"/>
              </a:rPr>
              <a:t></a:t>
            </a:r>
            <a:r>
              <a:rPr sz="1150" spc="375" dirty="0">
                <a:latin typeface="Times New Roman"/>
                <a:cs typeface="Times New Roman"/>
              </a:rPr>
              <a:t> </a:t>
            </a:r>
            <a:r>
              <a:rPr sz="1725" i="1" spc="97" baseline="-4830" dirty="0">
                <a:latin typeface="Calibri"/>
                <a:cs typeface="Calibri"/>
              </a:rPr>
              <a:t>M</a:t>
            </a:r>
            <a:r>
              <a:rPr sz="1725" i="1" spc="292" baseline="-4830" dirty="0">
                <a:latin typeface="Calibri"/>
                <a:cs typeface="Calibri"/>
              </a:rPr>
              <a:t>  </a:t>
            </a: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36536" y="1857013"/>
            <a:ext cx="12192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ts val="1260"/>
              </a:lnSpc>
              <a:spcBef>
                <a:spcPts val="135"/>
              </a:spcBef>
            </a:pPr>
            <a:r>
              <a:rPr sz="1150" spc="-50" dirty="0">
                <a:latin typeface="Symbol"/>
                <a:cs typeface="Symbol"/>
              </a:rPr>
              <a:t></a:t>
            </a:r>
            <a:endParaRPr sz="1150">
              <a:latin typeface="Symbol"/>
              <a:cs typeface="Symbol"/>
            </a:endParaRPr>
          </a:p>
          <a:p>
            <a:pPr marL="25400">
              <a:lnSpc>
                <a:spcPts val="1260"/>
              </a:lnSpc>
            </a:pPr>
            <a:r>
              <a:rPr sz="1150" spc="-90" dirty="0">
                <a:latin typeface="Symbol"/>
                <a:cs typeface="Symbol"/>
              </a:rPr>
              <a:t></a:t>
            </a:r>
            <a:r>
              <a:rPr sz="1725" spc="-135" baseline="-28985" dirty="0">
                <a:latin typeface="Symbol"/>
                <a:cs typeface="Symbol"/>
              </a:rPr>
              <a:t></a:t>
            </a:r>
            <a:endParaRPr sz="1725" baseline="-28985">
              <a:latin typeface="Symbol"/>
              <a:cs typeface="Symbo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47723" y="1394830"/>
            <a:ext cx="3702050" cy="913765"/>
          </a:xfrm>
          <a:custGeom>
            <a:avLst/>
            <a:gdLst/>
            <a:ahLst/>
            <a:cxnLst/>
            <a:rect l="l" t="t" r="r" b="b"/>
            <a:pathLst>
              <a:path w="3702050" h="913764">
                <a:moveTo>
                  <a:pt x="0" y="0"/>
                </a:moveTo>
                <a:lnTo>
                  <a:pt x="3701732" y="0"/>
                </a:lnTo>
                <a:lnTo>
                  <a:pt x="3701732" y="913659"/>
                </a:lnTo>
                <a:lnTo>
                  <a:pt x="0" y="913659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6147" y="691895"/>
            <a:ext cx="87534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  <a:r>
              <a:rPr spc="-190" dirty="0"/>
              <a:t> </a:t>
            </a:r>
            <a:r>
              <a:rPr dirty="0"/>
              <a:t>of</a:t>
            </a:r>
            <a:r>
              <a:rPr spc="-180" dirty="0"/>
              <a:t> </a:t>
            </a:r>
            <a:r>
              <a:rPr spc="-20" dirty="0"/>
              <a:t>Eigenvalue/Eigenvector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165" y="1569720"/>
            <a:ext cx="38474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Consider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165" y="2700528"/>
            <a:ext cx="81813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Taking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determinant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30" dirty="0">
                <a:latin typeface="Calibri"/>
                <a:cs typeface="Calibri"/>
              </a:rPr>
              <a:t>(</a:t>
            </a:r>
            <a:r>
              <a:rPr sz="3200" i="1" spc="-30" dirty="0">
                <a:latin typeface="Calibri"/>
                <a:cs typeface="Calibri"/>
              </a:rPr>
              <a:t>A-</a:t>
            </a:r>
            <a:r>
              <a:rPr sz="3200" dirty="0">
                <a:latin typeface="Times New Roman"/>
                <a:cs typeface="Times New Roman"/>
              </a:rPr>
              <a:t>λ</a:t>
            </a:r>
            <a:r>
              <a:rPr sz="3200" dirty="0">
                <a:latin typeface="Calibri"/>
                <a:cs typeface="Calibri"/>
              </a:rPr>
              <a:t>I)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char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poly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165" y="4440935"/>
            <a:ext cx="8448675" cy="15678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1155" marR="707390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roots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λ</a:t>
            </a:r>
            <a:r>
              <a:rPr sz="3200" dirty="0">
                <a:latin typeface="Calibri"/>
                <a:cs typeface="Calibri"/>
              </a:rPr>
              <a:t>=1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λ</a:t>
            </a:r>
            <a:r>
              <a:rPr sz="3200" dirty="0">
                <a:latin typeface="Calibri"/>
                <a:cs typeface="Calibri"/>
              </a:rPr>
              <a:t>=3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which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two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eigenvalues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56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found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solving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b="1" i="1" spc="75" dirty="0"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55" y="5977128"/>
            <a:ext cx="30441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Calibri"/>
                <a:cs typeface="Calibri"/>
              </a:rPr>
              <a:t>A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i="1" dirty="0">
                <a:latin typeface="Times New Roman"/>
                <a:cs typeface="Times New Roman"/>
              </a:rPr>
              <a:t>=</a:t>
            </a:r>
            <a:r>
              <a:rPr sz="3200" dirty="0">
                <a:latin typeface="Times New Roman"/>
                <a:cs typeface="Times New Roman"/>
              </a:rPr>
              <a:t>λ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which</a:t>
            </a:r>
            <a:r>
              <a:rPr sz="3200" spc="-1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45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9033" y="1834994"/>
            <a:ext cx="8642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800" i="1" spc="455" dirty="0">
                <a:latin typeface="Calibri"/>
                <a:cs typeface="Calibri"/>
              </a:rPr>
              <a:t>A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spc="635" dirty="0">
                <a:latin typeface="Cambria"/>
                <a:cs typeface="Cambria"/>
              </a:rPr>
              <a:t>=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4200" spc="-794" baseline="10912" dirty="0">
                <a:latin typeface="Cambria"/>
                <a:cs typeface="Cambria"/>
              </a:rPr>
              <a:t>⎢</a:t>
            </a:r>
            <a:endParaRPr sz="4200" baseline="10912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90388" y="1513379"/>
            <a:ext cx="12744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309880" algn="l"/>
                <a:tab pos="800735" algn="l"/>
                <a:tab pos="1171575" algn="l"/>
              </a:tabLst>
            </a:pPr>
            <a:r>
              <a:rPr sz="2800" spc="-530" dirty="0">
                <a:latin typeface="Cambria"/>
                <a:cs typeface="Cambria"/>
              </a:rPr>
              <a:t>⎡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4200" spc="-75" baseline="-25793" dirty="0">
                <a:latin typeface="Cambria"/>
                <a:cs typeface="Cambria"/>
              </a:rPr>
              <a:t>2</a:t>
            </a:r>
            <a:r>
              <a:rPr sz="4200" baseline="-25793" dirty="0">
                <a:latin typeface="Cambria"/>
                <a:cs typeface="Cambria"/>
              </a:rPr>
              <a:t>	</a:t>
            </a:r>
            <a:r>
              <a:rPr sz="4200" spc="-75" baseline="-25793" dirty="0">
                <a:latin typeface="Cambria"/>
                <a:cs typeface="Cambria"/>
              </a:rPr>
              <a:t>1</a:t>
            </a:r>
            <a:r>
              <a:rPr sz="4200" baseline="-25793" dirty="0">
                <a:latin typeface="Cambria"/>
                <a:cs typeface="Cambria"/>
              </a:rPr>
              <a:t>	</a:t>
            </a:r>
            <a:r>
              <a:rPr sz="2800" spc="-530" dirty="0">
                <a:latin typeface="Cambria"/>
                <a:cs typeface="Cambria"/>
              </a:rPr>
              <a:t>⎤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8488" y="2246773"/>
            <a:ext cx="12109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33475" algn="l"/>
              </a:tabLst>
            </a:pPr>
            <a:r>
              <a:rPr sz="2800" spc="-530" dirty="0">
                <a:latin typeface="Cambria"/>
                <a:cs typeface="Cambria"/>
              </a:rPr>
              <a:t>⎣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530" dirty="0">
                <a:latin typeface="Cambria"/>
                <a:cs typeface="Cambria"/>
              </a:rPr>
              <a:t>⎦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49936" y="1766209"/>
            <a:ext cx="895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30" dirty="0">
                <a:latin typeface="Cambria"/>
                <a:cs typeface="Cambria"/>
              </a:rPr>
              <a:t>⎥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90388" y="2019039"/>
            <a:ext cx="12744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302895" algn="l"/>
                <a:tab pos="807720" algn="l"/>
                <a:tab pos="1171575" algn="l"/>
              </a:tabLst>
            </a:pPr>
            <a:r>
              <a:rPr sz="2800" spc="-530" dirty="0">
                <a:latin typeface="Cambria"/>
                <a:cs typeface="Cambria"/>
              </a:rPr>
              <a:t>⎢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4200" spc="-75" baseline="-19841" dirty="0">
                <a:latin typeface="Cambria"/>
                <a:cs typeface="Cambria"/>
              </a:rPr>
              <a:t>1</a:t>
            </a:r>
            <a:r>
              <a:rPr sz="4200" baseline="-19841" dirty="0">
                <a:latin typeface="Cambria"/>
                <a:cs typeface="Cambria"/>
              </a:rPr>
              <a:t>	</a:t>
            </a:r>
            <a:r>
              <a:rPr sz="4200" spc="-75" baseline="-19841" dirty="0">
                <a:latin typeface="Cambria"/>
                <a:cs typeface="Cambria"/>
              </a:rPr>
              <a:t>2</a:t>
            </a:r>
            <a:r>
              <a:rPr sz="4200" baseline="-19841" dirty="0">
                <a:latin typeface="Cambria"/>
                <a:cs typeface="Cambria"/>
              </a:rPr>
              <a:t>	</a:t>
            </a:r>
            <a:r>
              <a:rPr sz="2800" spc="-530" dirty="0">
                <a:latin typeface="Cambria"/>
                <a:cs typeface="Cambria"/>
              </a:rPr>
              <a:t>⎥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7069" y="3547832"/>
            <a:ext cx="1485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100" spc="-50" dirty="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52943" y="3612118"/>
            <a:ext cx="61594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100" spc="-415" dirty="0">
                <a:latin typeface="Cambria"/>
                <a:cs typeface="Cambria"/>
              </a:rPr>
              <a:t>⎢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52943" y="3804269"/>
            <a:ext cx="61594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100" spc="-415" dirty="0">
                <a:latin typeface="Cambria"/>
                <a:cs typeface="Cambria"/>
              </a:rPr>
              <a:t>⎢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37575" y="3419967"/>
            <a:ext cx="3140075" cy="601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15085">
              <a:lnSpc>
                <a:spcPts val="2245"/>
              </a:lnSpc>
              <a:spcBef>
                <a:spcPts val="135"/>
              </a:spcBef>
              <a:tabLst>
                <a:tab pos="3052445" algn="l"/>
              </a:tabLst>
            </a:pPr>
            <a:r>
              <a:rPr sz="2100" spc="-415" dirty="0">
                <a:latin typeface="Cambria"/>
                <a:cs typeface="Cambria"/>
              </a:rPr>
              <a:t>⎡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2100" spc="-415" dirty="0">
                <a:latin typeface="Cambria"/>
                <a:cs typeface="Cambria"/>
              </a:rPr>
              <a:t>⎤</a:t>
            </a:r>
            <a:endParaRPr sz="2100">
              <a:latin typeface="Cambria"/>
              <a:cs typeface="Cambria"/>
            </a:endParaRPr>
          </a:p>
          <a:p>
            <a:pPr marL="38100">
              <a:lnSpc>
                <a:spcPts val="2245"/>
              </a:lnSpc>
              <a:tabLst>
                <a:tab pos="1512570" algn="l"/>
              </a:tabLst>
            </a:pPr>
            <a:r>
              <a:rPr sz="2100" spc="-80" dirty="0">
                <a:latin typeface="Cambria"/>
                <a:cs typeface="Cambria"/>
              </a:rPr>
              <a:t>|</a:t>
            </a:r>
            <a:r>
              <a:rPr sz="2100" spc="-120" dirty="0">
                <a:latin typeface="Cambria"/>
                <a:cs typeface="Cambria"/>
              </a:rPr>
              <a:t> </a:t>
            </a:r>
            <a:r>
              <a:rPr sz="2100" i="1" spc="345" dirty="0">
                <a:latin typeface="Cambria"/>
                <a:cs typeface="Cambria"/>
              </a:rPr>
              <a:t>A</a:t>
            </a:r>
            <a:r>
              <a:rPr sz="2100" i="1" spc="-170" dirty="0">
                <a:latin typeface="Cambria"/>
                <a:cs typeface="Cambria"/>
              </a:rPr>
              <a:t> </a:t>
            </a:r>
            <a:r>
              <a:rPr sz="2100" spc="235" dirty="0">
                <a:latin typeface="Cambria"/>
                <a:cs typeface="Cambria"/>
              </a:rPr>
              <a:t>−</a:t>
            </a:r>
            <a:r>
              <a:rPr sz="2100" i="1" spc="235" dirty="0">
                <a:latin typeface="Palatino Linotype"/>
                <a:cs typeface="Palatino Linotype"/>
              </a:rPr>
              <a:t>λ</a:t>
            </a:r>
            <a:r>
              <a:rPr sz="2100" i="1" spc="235" dirty="0">
                <a:latin typeface="Cambria"/>
                <a:cs typeface="Cambria"/>
              </a:rPr>
              <a:t>I</a:t>
            </a:r>
            <a:r>
              <a:rPr sz="2100" i="1" spc="24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|=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3150" spc="-165" baseline="25132" dirty="0">
                <a:latin typeface="Cambria"/>
                <a:cs typeface="Cambria"/>
              </a:rPr>
              <a:t>2</a:t>
            </a:r>
            <a:r>
              <a:rPr sz="3150" spc="-277" baseline="25132" dirty="0">
                <a:latin typeface="Cambria"/>
                <a:cs typeface="Cambria"/>
              </a:rPr>
              <a:t> </a:t>
            </a:r>
            <a:r>
              <a:rPr sz="3150" spc="442" baseline="25132" dirty="0">
                <a:latin typeface="Cambria"/>
                <a:cs typeface="Cambria"/>
              </a:rPr>
              <a:t>−</a:t>
            </a:r>
            <a:r>
              <a:rPr sz="3150" i="1" spc="442" baseline="25132" dirty="0">
                <a:latin typeface="Palatino Linotype"/>
                <a:cs typeface="Palatino Linotype"/>
              </a:rPr>
              <a:t>λ</a:t>
            </a:r>
            <a:endParaRPr sz="3150" baseline="25132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2943" y="3988649"/>
            <a:ext cx="179895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1737360" algn="l"/>
              </a:tabLst>
            </a:pPr>
            <a:r>
              <a:rPr sz="2100" spc="-415" dirty="0">
                <a:latin typeface="Cambria"/>
                <a:cs typeface="Cambria"/>
              </a:rPr>
              <a:t>⎣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2100" spc="-415" dirty="0">
                <a:latin typeface="Cambria"/>
                <a:cs typeface="Cambria"/>
              </a:rPr>
              <a:t>⎦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90620" y="3612118"/>
            <a:ext cx="61594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100" spc="-415" dirty="0">
                <a:latin typeface="Cambria"/>
                <a:cs typeface="Cambria"/>
              </a:rPr>
              <a:t>⎥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40568" y="3905996"/>
            <a:ext cx="144970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  <a:tabLst>
                <a:tab pos="630555" algn="l"/>
                <a:tab pos="1349375" algn="l"/>
              </a:tabLst>
            </a:pPr>
            <a:r>
              <a:rPr sz="2100" spc="-50" dirty="0">
                <a:latin typeface="Cambria"/>
                <a:cs typeface="Cambria"/>
              </a:rPr>
              <a:t>1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2100" spc="-110" dirty="0">
                <a:latin typeface="Cambria"/>
                <a:cs typeface="Cambria"/>
              </a:rPr>
              <a:t>2</a:t>
            </a:r>
            <a:r>
              <a:rPr sz="2100" spc="-185" dirty="0">
                <a:latin typeface="Cambria"/>
                <a:cs typeface="Cambria"/>
              </a:rPr>
              <a:t> </a:t>
            </a:r>
            <a:r>
              <a:rPr sz="2100" spc="295" dirty="0">
                <a:latin typeface="Cambria"/>
                <a:cs typeface="Cambria"/>
              </a:rPr>
              <a:t>−</a:t>
            </a:r>
            <a:r>
              <a:rPr sz="2100" i="1" spc="295" dirty="0">
                <a:latin typeface="Palatino Linotype"/>
                <a:cs typeface="Palatino Linotype"/>
              </a:rPr>
              <a:t>λ</a:t>
            </a:r>
            <a:r>
              <a:rPr sz="2100" i="1" dirty="0">
                <a:latin typeface="Palatino Linotype"/>
                <a:cs typeface="Palatino Linotype"/>
              </a:rPr>
              <a:t>	</a:t>
            </a:r>
            <a:r>
              <a:rPr sz="3150" spc="-622" baseline="21164" dirty="0">
                <a:latin typeface="Cambria"/>
                <a:cs typeface="Cambria"/>
              </a:rPr>
              <a:t>⎥</a:t>
            </a:r>
            <a:endParaRPr sz="3150" baseline="21164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15801" y="3670046"/>
            <a:ext cx="146367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100" spc="495" dirty="0">
                <a:latin typeface="Cambria"/>
                <a:cs typeface="Cambria"/>
              </a:rPr>
              <a:t>=</a:t>
            </a:r>
            <a:r>
              <a:rPr sz="2100" spc="65" dirty="0">
                <a:latin typeface="Cambria"/>
                <a:cs typeface="Cambria"/>
              </a:rPr>
              <a:t> </a:t>
            </a:r>
            <a:r>
              <a:rPr sz="2100" spc="-110" dirty="0">
                <a:latin typeface="Cambria"/>
                <a:cs typeface="Cambria"/>
              </a:rPr>
              <a:t>3</a:t>
            </a:r>
            <a:r>
              <a:rPr sz="2100" spc="-190" dirty="0">
                <a:latin typeface="Cambria"/>
                <a:cs typeface="Cambria"/>
              </a:rPr>
              <a:t> </a:t>
            </a:r>
            <a:r>
              <a:rPr sz="2100" spc="495" dirty="0">
                <a:latin typeface="Cambria"/>
                <a:cs typeface="Cambria"/>
              </a:rPr>
              <a:t>−</a:t>
            </a:r>
            <a:r>
              <a:rPr sz="2100" spc="-114" dirty="0">
                <a:latin typeface="Cambria"/>
                <a:cs typeface="Cambria"/>
              </a:rPr>
              <a:t> 4</a:t>
            </a:r>
            <a:r>
              <a:rPr sz="2100" i="1" spc="-114" dirty="0">
                <a:latin typeface="Palatino Linotype"/>
                <a:cs typeface="Palatino Linotype"/>
              </a:rPr>
              <a:t>λ </a:t>
            </a:r>
            <a:r>
              <a:rPr sz="2100" spc="495" dirty="0">
                <a:latin typeface="Cambria"/>
                <a:cs typeface="Cambria"/>
              </a:rPr>
              <a:t>+</a:t>
            </a:r>
            <a:r>
              <a:rPr sz="2100" spc="-160" dirty="0">
                <a:latin typeface="Cambria"/>
                <a:cs typeface="Cambria"/>
              </a:rPr>
              <a:t> </a:t>
            </a:r>
            <a:r>
              <a:rPr sz="2100" i="1" spc="-50" dirty="0">
                <a:latin typeface="Palatino Linotype"/>
                <a:cs typeface="Palatino Linotype"/>
              </a:rPr>
              <a:t>λ</a:t>
            </a:r>
            <a:endParaRPr sz="2100">
              <a:latin typeface="Palatino Linotype"/>
              <a:cs typeface="Palatino Linotyp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75535" y="3662981"/>
            <a:ext cx="9144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200" spc="-50" dirty="0">
                <a:latin typeface="Cambria"/>
                <a:cs typeface="Cambria"/>
              </a:rPr>
              <a:t>2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59650" y="3429370"/>
            <a:ext cx="4739640" cy="913765"/>
          </a:xfrm>
          <a:custGeom>
            <a:avLst/>
            <a:gdLst/>
            <a:ahLst/>
            <a:cxnLst/>
            <a:rect l="l" t="t" r="r" b="b"/>
            <a:pathLst>
              <a:path w="4739640" h="913764">
                <a:moveTo>
                  <a:pt x="0" y="0"/>
                </a:moveTo>
                <a:lnTo>
                  <a:pt x="4739411" y="0"/>
                </a:lnTo>
                <a:lnTo>
                  <a:pt x="4739411" y="913659"/>
                </a:lnTo>
                <a:lnTo>
                  <a:pt x="0" y="913659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91864" y="6614466"/>
            <a:ext cx="277495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50" i="1" spc="-25" dirty="0">
                <a:latin typeface="Palatino Linotype"/>
                <a:cs typeface="Palatino Linotype"/>
              </a:rPr>
              <a:t>λ</a:t>
            </a:r>
            <a:r>
              <a:rPr sz="1150" spc="-25" dirty="0">
                <a:latin typeface="Cambria"/>
                <a:cs typeface="Cambria"/>
              </a:rPr>
              <a:t>=1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67068" y="6310706"/>
            <a:ext cx="13906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50" spc="-50" dirty="0">
                <a:latin typeface="Cambria"/>
                <a:cs typeface="Cambria"/>
              </a:rPr>
              <a:t>1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71983" y="6192468"/>
            <a:ext cx="786130" cy="552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ts val="2060"/>
              </a:lnSpc>
              <a:spcBef>
                <a:spcPts val="125"/>
              </a:spcBef>
            </a:pPr>
            <a:r>
              <a:rPr sz="1950" spc="-390" dirty="0">
                <a:latin typeface="Cambria"/>
                <a:cs typeface="Cambria"/>
              </a:rPr>
              <a:t>⎡</a:t>
            </a:r>
            <a:endParaRPr sz="1950">
              <a:latin typeface="Cambria"/>
              <a:cs typeface="Cambria"/>
            </a:endParaRPr>
          </a:p>
          <a:p>
            <a:pPr>
              <a:lnSpc>
                <a:spcPts val="2060"/>
              </a:lnSpc>
              <a:tabLst>
                <a:tab pos="460375" algn="l"/>
              </a:tabLst>
            </a:pPr>
            <a:r>
              <a:rPr sz="1950" i="1" spc="-50" dirty="0">
                <a:latin typeface="Calibri"/>
                <a:cs typeface="Calibri"/>
              </a:rPr>
              <a:t>v</a:t>
            </a:r>
            <a:r>
              <a:rPr sz="1950" i="1" dirty="0">
                <a:latin typeface="Calibri"/>
                <a:cs typeface="Calibri"/>
              </a:rPr>
              <a:t>	</a:t>
            </a:r>
            <a:r>
              <a:rPr sz="1950" spc="409" dirty="0">
                <a:latin typeface="Cambria"/>
                <a:cs typeface="Cambria"/>
              </a:rPr>
              <a:t>=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00445" y="6707881"/>
            <a:ext cx="577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50" spc="-390" dirty="0">
                <a:latin typeface="Cambria"/>
                <a:cs typeface="Cambria"/>
              </a:rPr>
              <a:t>⎣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00445" y="6370151"/>
            <a:ext cx="577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50" spc="-390" dirty="0">
                <a:latin typeface="Cambria"/>
                <a:cs typeface="Cambria"/>
              </a:rPr>
              <a:t>⎢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17542" y="6707881"/>
            <a:ext cx="577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50" spc="-390" dirty="0">
                <a:latin typeface="Cambria"/>
                <a:cs typeface="Cambria"/>
              </a:rPr>
              <a:t>⎦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17542" y="6370151"/>
            <a:ext cx="577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50" spc="-390" dirty="0">
                <a:latin typeface="Cambria"/>
                <a:cs typeface="Cambria"/>
              </a:rPr>
              <a:t>⎥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75045" y="6547835"/>
            <a:ext cx="72580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197485" algn="l"/>
              </a:tabLst>
            </a:pPr>
            <a:r>
              <a:rPr sz="1950" spc="-390" dirty="0">
                <a:latin typeface="Cambria"/>
                <a:cs typeface="Cambria"/>
              </a:rPr>
              <a:t>⎢</a:t>
            </a:r>
            <a:r>
              <a:rPr sz="1950" dirty="0">
                <a:latin typeface="Cambria"/>
                <a:cs typeface="Cambria"/>
              </a:rPr>
              <a:t>	</a:t>
            </a:r>
            <a:r>
              <a:rPr sz="2925" spc="270" baseline="-19943" dirty="0">
                <a:latin typeface="Cambria"/>
                <a:cs typeface="Cambria"/>
              </a:rPr>
              <a:t>−1</a:t>
            </a:r>
            <a:r>
              <a:rPr sz="2925" spc="89" baseline="-19943" dirty="0">
                <a:latin typeface="Cambria"/>
                <a:cs typeface="Cambria"/>
              </a:rPr>
              <a:t>  </a:t>
            </a:r>
            <a:r>
              <a:rPr sz="1950" spc="-390" dirty="0">
                <a:latin typeface="Cambria"/>
                <a:cs typeface="Cambria"/>
              </a:rPr>
              <a:t>⎥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17542" y="6192468"/>
            <a:ext cx="285750" cy="552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ts val="2060"/>
              </a:lnSpc>
              <a:spcBef>
                <a:spcPts val="125"/>
              </a:spcBef>
            </a:pPr>
            <a:r>
              <a:rPr sz="1950" spc="-390" dirty="0">
                <a:latin typeface="Cambria"/>
                <a:cs typeface="Cambria"/>
              </a:rPr>
              <a:t>⎤</a:t>
            </a:r>
            <a:endParaRPr sz="1950">
              <a:latin typeface="Cambria"/>
              <a:cs typeface="Cambria"/>
            </a:endParaRPr>
          </a:p>
          <a:p>
            <a:pPr marL="70485">
              <a:lnSpc>
                <a:spcPts val="2060"/>
              </a:lnSpc>
            </a:pPr>
            <a:r>
              <a:rPr sz="1950" spc="130" dirty="0">
                <a:latin typeface="Cambria"/>
                <a:cs typeface="Cambria"/>
              </a:rPr>
              <a:t>,</a:t>
            </a:r>
            <a:r>
              <a:rPr sz="1950" i="1" spc="130" dirty="0">
                <a:latin typeface="Calibri"/>
                <a:cs typeface="Calibri"/>
              </a:rPr>
              <a:t>v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94646" y="6614466"/>
            <a:ext cx="28702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50" i="1" spc="-25" dirty="0">
                <a:latin typeface="Palatino Linotype"/>
                <a:cs typeface="Palatino Linotype"/>
              </a:rPr>
              <a:t>λ</a:t>
            </a:r>
            <a:r>
              <a:rPr sz="1150" spc="-25" dirty="0">
                <a:latin typeface="Cambria"/>
                <a:cs typeface="Cambria"/>
              </a:rPr>
              <a:t>=3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22341" y="6192468"/>
            <a:ext cx="794385" cy="4451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2735">
              <a:lnSpc>
                <a:spcPts val="1635"/>
              </a:lnSpc>
              <a:spcBef>
                <a:spcPts val="125"/>
              </a:spcBef>
              <a:tabLst>
                <a:tab pos="711200" algn="l"/>
              </a:tabLst>
            </a:pPr>
            <a:r>
              <a:rPr sz="1950" spc="-390" dirty="0">
                <a:latin typeface="Cambria"/>
                <a:cs typeface="Cambria"/>
              </a:rPr>
              <a:t>⎡</a:t>
            </a:r>
            <a:r>
              <a:rPr sz="1950" dirty="0">
                <a:latin typeface="Cambria"/>
                <a:cs typeface="Cambria"/>
              </a:rPr>
              <a:t>	</a:t>
            </a:r>
            <a:r>
              <a:rPr sz="1950" spc="-390" dirty="0">
                <a:latin typeface="Cambria"/>
                <a:cs typeface="Cambria"/>
              </a:rPr>
              <a:t>⎤</a:t>
            </a:r>
            <a:endParaRPr sz="1950">
              <a:latin typeface="Cambria"/>
              <a:cs typeface="Cambria"/>
            </a:endParaRPr>
          </a:p>
          <a:p>
            <a:pPr marL="25400">
              <a:lnSpc>
                <a:spcPts val="1635"/>
              </a:lnSpc>
              <a:tabLst>
                <a:tab pos="459740" algn="l"/>
              </a:tabLst>
            </a:pPr>
            <a:r>
              <a:rPr sz="2925" spc="615" baseline="-24216" dirty="0">
                <a:latin typeface="Cambria"/>
                <a:cs typeface="Cambria"/>
              </a:rPr>
              <a:t>=</a:t>
            </a:r>
            <a:r>
              <a:rPr sz="2925" baseline="-24216" dirty="0">
                <a:latin typeface="Cambria"/>
                <a:cs typeface="Cambria"/>
              </a:rPr>
              <a:t>	</a:t>
            </a:r>
            <a:r>
              <a:rPr sz="1950" spc="-50" dirty="0">
                <a:latin typeface="Cambria"/>
                <a:cs typeface="Cambria"/>
              </a:rPr>
              <a:t>1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15674" y="6707881"/>
            <a:ext cx="4756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417830" algn="l"/>
              </a:tabLst>
            </a:pPr>
            <a:r>
              <a:rPr sz="1950" spc="-390" dirty="0">
                <a:latin typeface="Cambria"/>
                <a:cs typeface="Cambria"/>
              </a:rPr>
              <a:t>⎣</a:t>
            </a:r>
            <a:r>
              <a:rPr sz="1950" dirty="0">
                <a:latin typeface="Cambria"/>
                <a:cs typeface="Cambria"/>
              </a:rPr>
              <a:t>	</a:t>
            </a:r>
            <a:r>
              <a:rPr sz="1950" spc="-390" dirty="0">
                <a:latin typeface="Cambria"/>
                <a:cs typeface="Cambria"/>
              </a:rPr>
              <a:t>⎦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15674" y="6370151"/>
            <a:ext cx="4756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417830" algn="l"/>
              </a:tabLst>
            </a:pPr>
            <a:r>
              <a:rPr sz="1950" spc="-390" dirty="0">
                <a:latin typeface="Cambria"/>
                <a:cs typeface="Cambria"/>
              </a:rPr>
              <a:t>⎢</a:t>
            </a:r>
            <a:r>
              <a:rPr sz="1950" dirty="0">
                <a:latin typeface="Cambria"/>
                <a:cs typeface="Cambria"/>
              </a:rPr>
              <a:t>	</a:t>
            </a:r>
            <a:r>
              <a:rPr sz="1950" spc="-390" dirty="0">
                <a:latin typeface="Cambria"/>
                <a:cs typeface="Cambria"/>
              </a:rPr>
              <a:t>⎥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90274" y="6547835"/>
            <a:ext cx="5264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950" spc="-340" dirty="0">
                <a:latin typeface="Cambria"/>
                <a:cs typeface="Cambria"/>
              </a:rPr>
              <a:t>⎢</a:t>
            </a:r>
            <a:r>
              <a:rPr sz="1950" spc="480" dirty="0">
                <a:latin typeface="Cambria"/>
                <a:cs typeface="Cambria"/>
              </a:rPr>
              <a:t> </a:t>
            </a:r>
            <a:r>
              <a:rPr sz="2925" baseline="-19943" dirty="0">
                <a:latin typeface="Cambria"/>
                <a:cs typeface="Cambria"/>
              </a:rPr>
              <a:t>1</a:t>
            </a:r>
            <a:r>
              <a:rPr sz="2925" spc="60" baseline="-19943" dirty="0">
                <a:latin typeface="Cambria"/>
                <a:cs typeface="Cambria"/>
              </a:rPr>
              <a:t>  </a:t>
            </a:r>
            <a:r>
              <a:rPr sz="1950" spc="-390" dirty="0">
                <a:latin typeface="Cambria"/>
                <a:cs typeface="Cambria"/>
              </a:rPr>
              <a:t>⎥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46310" y="6217443"/>
            <a:ext cx="2797810" cy="803910"/>
          </a:xfrm>
          <a:custGeom>
            <a:avLst/>
            <a:gdLst/>
            <a:ahLst/>
            <a:cxnLst/>
            <a:rect l="l" t="t" r="r" b="b"/>
            <a:pathLst>
              <a:path w="2797809" h="803909">
                <a:moveTo>
                  <a:pt x="0" y="0"/>
                </a:moveTo>
                <a:lnTo>
                  <a:pt x="2797492" y="0"/>
                </a:lnTo>
                <a:lnTo>
                  <a:pt x="2797492" y="803768"/>
                </a:lnTo>
                <a:lnTo>
                  <a:pt x="0" y="803768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992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Eigendecomposition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3023" y="2084832"/>
            <a:ext cx="7956550" cy="4262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3855" marR="412750" indent="-339090">
              <a:lnSpc>
                <a:spcPct val="99100"/>
              </a:lnSpc>
              <a:spcBef>
                <a:spcPts val="13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Suppose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that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i="1" spc="6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75" dirty="0"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linearly independent</a:t>
            </a:r>
            <a:r>
              <a:rPr sz="3200" spc="-1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eigenvectors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150" baseline="23809" dirty="0">
                <a:latin typeface="Calibri"/>
                <a:cs typeface="Calibri"/>
              </a:rPr>
              <a:t>(1)</a:t>
            </a:r>
            <a:r>
              <a:rPr sz="3200" i="1" dirty="0">
                <a:latin typeface="Calibri"/>
                <a:cs typeface="Calibri"/>
              </a:rPr>
              <a:t>,..,</a:t>
            </a:r>
            <a:r>
              <a:rPr sz="3200" b="1" i="1" dirty="0">
                <a:latin typeface="Calibri"/>
                <a:cs typeface="Calibri"/>
              </a:rPr>
              <a:t>v</a:t>
            </a:r>
            <a:r>
              <a:rPr sz="3150" baseline="23809" dirty="0">
                <a:latin typeface="Calibri"/>
                <a:cs typeface="Calibri"/>
              </a:rPr>
              <a:t>(</a:t>
            </a:r>
            <a:r>
              <a:rPr sz="3150" i="1" baseline="23809" dirty="0">
                <a:latin typeface="Calibri"/>
                <a:cs typeface="Calibri"/>
              </a:rPr>
              <a:t>n</a:t>
            </a:r>
            <a:r>
              <a:rPr sz="3150" baseline="23809" dirty="0">
                <a:latin typeface="Calibri"/>
                <a:cs typeface="Calibri"/>
              </a:rPr>
              <a:t>)</a:t>
            </a:r>
            <a:r>
              <a:rPr sz="3200" dirty="0">
                <a:latin typeface="Calibri"/>
                <a:cs typeface="Calibri"/>
              </a:rPr>
              <a:t>}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with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eigenvalues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{λ</a:t>
            </a:r>
            <a:r>
              <a:rPr sz="3150" spc="-15" baseline="-18518" dirty="0">
                <a:latin typeface="Times New Roman"/>
                <a:cs typeface="Times New Roman"/>
              </a:rPr>
              <a:t>1</a:t>
            </a:r>
            <a:r>
              <a:rPr sz="3200" i="1" spc="-10" dirty="0">
                <a:latin typeface="Times New Roman"/>
                <a:cs typeface="Times New Roman"/>
              </a:rPr>
              <a:t>,..,</a:t>
            </a:r>
            <a:r>
              <a:rPr sz="3200" spc="-10" dirty="0">
                <a:latin typeface="Times New Roman"/>
                <a:cs typeface="Times New Roman"/>
              </a:rPr>
              <a:t>λ</a:t>
            </a:r>
            <a:r>
              <a:rPr sz="3150" i="1" spc="-15" baseline="-18518" dirty="0">
                <a:latin typeface="Times New Roman"/>
                <a:cs typeface="Times New Roman"/>
              </a:rPr>
              <a:t>n</a:t>
            </a:r>
            <a:r>
              <a:rPr sz="3200" spc="-10" dirty="0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363855" indent="-338455">
              <a:lnSpc>
                <a:spcPct val="100000"/>
              </a:lnSpc>
              <a:spcBef>
                <a:spcPts val="670"/>
              </a:spcBef>
              <a:buChar char="•"/>
              <a:tabLst>
                <a:tab pos="3638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Concatenate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eigenvectors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form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  <a:p>
            <a:pPr marL="363855" indent="-338455">
              <a:lnSpc>
                <a:spcPts val="3829"/>
              </a:lnSpc>
              <a:spcBef>
                <a:spcPts val="745"/>
              </a:spcBef>
              <a:buChar char="•"/>
              <a:tabLst>
                <a:tab pos="3638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Concatenate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eigenvalues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form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endParaRPr sz="3200">
              <a:latin typeface="Arial"/>
              <a:cs typeface="Arial"/>
            </a:endParaRPr>
          </a:p>
          <a:p>
            <a:pPr marL="363855">
              <a:lnSpc>
                <a:spcPts val="3829"/>
              </a:lnSpc>
            </a:pPr>
            <a:r>
              <a:rPr sz="3200" spc="-10" dirty="0">
                <a:latin typeface="Times New Roman"/>
                <a:cs typeface="Times New Roman"/>
              </a:rPr>
              <a:t>λ</a:t>
            </a:r>
            <a:r>
              <a:rPr sz="3200" i="1" spc="-10" dirty="0">
                <a:latin typeface="Times New Roman"/>
                <a:cs typeface="Times New Roman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[λ</a:t>
            </a:r>
            <a:r>
              <a:rPr sz="3150" spc="-15" baseline="-18518" dirty="0">
                <a:latin typeface="Calibri"/>
                <a:cs typeface="Calibri"/>
              </a:rPr>
              <a:t>1</a:t>
            </a:r>
            <a:r>
              <a:rPr sz="3200" i="1" spc="-10" dirty="0">
                <a:latin typeface="Times New Roman"/>
                <a:cs typeface="Times New Roman"/>
              </a:rPr>
              <a:t>,..,</a:t>
            </a:r>
            <a:r>
              <a:rPr sz="3200" spc="-10" dirty="0">
                <a:latin typeface="Times New Roman"/>
                <a:cs typeface="Times New Roman"/>
              </a:rPr>
              <a:t>λ</a:t>
            </a:r>
            <a:r>
              <a:rPr sz="3150" i="1" spc="-15" baseline="-18518" dirty="0">
                <a:latin typeface="Calibri"/>
                <a:cs typeface="Calibri"/>
              </a:rPr>
              <a:t>n</a:t>
            </a:r>
            <a:r>
              <a:rPr sz="3200" spc="-10" dirty="0">
                <a:latin typeface="Times New Roman"/>
                <a:cs typeface="Times New Roman"/>
              </a:rPr>
              <a:t>]</a:t>
            </a:r>
            <a:endParaRPr sz="3200">
              <a:latin typeface="Times New Roman"/>
              <a:cs typeface="Times New Roman"/>
            </a:endParaRPr>
          </a:p>
          <a:p>
            <a:pPr marL="363855" indent="-338455">
              <a:lnSpc>
                <a:spcPct val="100000"/>
              </a:lnSpc>
              <a:spcBef>
                <a:spcPts val="645"/>
              </a:spcBef>
              <a:buChar char="•"/>
              <a:tabLst>
                <a:tab pos="363855" algn="l"/>
              </a:tabLst>
            </a:pP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Eigendecomposition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A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given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endParaRPr sz="3200">
              <a:latin typeface="Arial"/>
              <a:cs typeface="Arial"/>
            </a:endParaRPr>
          </a:p>
          <a:p>
            <a:pPr marL="1833880">
              <a:lnSpc>
                <a:spcPct val="100000"/>
              </a:lnSpc>
              <a:spcBef>
                <a:spcPts val="675"/>
              </a:spcBef>
            </a:pPr>
            <a:r>
              <a:rPr sz="3200" i="1" spc="-30" dirty="0">
                <a:latin typeface="Calibri"/>
                <a:cs typeface="Calibri"/>
              </a:rPr>
              <a:t>A=V</a:t>
            </a:r>
            <a:r>
              <a:rPr sz="3200" spc="-30" dirty="0">
                <a:latin typeface="Calibri"/>
                <a:cs typeface="Calibri"/>
              </a:rPr>
              <a:t>diag(</a:t>
            </a:r>
            <a:r>
              <a:rPr sz="3200" spc="-30" dirty="0">
                <a:latin typeface="Times New Roman"/>
                <a:cs typeface="Times New Roman"/>
              </a:rPr>
              <a:t>λ</a:t>
            </a:r>
            <a:r>
              <a:rPr sz="3200" spc="-30" dirty="0">
                <a:latin typeface="Calibri"/>
                <a:cs typeface="Calibri"/>
              </a:rPr>
              <a:t>)</a:t>
            </a:r>
            <a:r>
              <a:rPr sz="3200" i="1" spc="-30" dirty="0">
                <a:latin typeface="Calibri"/>
                <a:cs typeface="Calibri"/>
              </a:rPr>
              <a:t>V</a:t>
            </a:r>
            <a:r>
              <a:rPr sz="3150" i="1" spc="-44" baseline="23809" dirty="0">
                <a:latin typeface="Calibri"/>
                <a:cs typeface="Calibri"/>
              </a:rPr>
              <a:t>-</a:t>
            </a:r>
            <a:r>
              <a:rPr sz="3150" spc="-75" baseline="23809" dirty="0">
                <a:latin typeface="Calibri"/>
                <a:cs typeface="Calibri"/>
              </a:rPr>
              <a:t>1</a:t>
            </a:r>
            <a:endParaRPr sz="3150" baseline="23809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46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5221" y="691895"/>
            <a:ext cx="87223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Decomposition</a:t>
            </a:r>
            <a:r>
              <a:rPr spc="-190" dirty="0"/>
              <a:t> </a:t>
            </a:r>
            <a:r>
              <a:rPr dirty="0"/>
              <a:t>of</a:t>
            </a:r>
            <a:r>
              <a:rPr spc="-170" dirty="0"/>
              <a:t> </a:t>
            </a:r>
            <a:r>
              <a:rPr spc="-10" dirty="0"/>
              <a:t>Symmetric</a:t>
            </a:r>
            <a:r>
              <a:rPr spc="-190" dirty="0"/>
              <a:t> </a:t>
            </a:r>
            <a:r>
              <a:rPr spc="-10" dirty="0"/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1557528"/>
            <a:ext cx="8710295" cy="49726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3855" marR="17780" indent="-339090">
              <a:lnSpc>
                <a:spcPct val="99100"/>
              </a:lnSpc>
              <a:spcBef>
                <a:spcPts val="13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Every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real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symmetric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i="1" spc="4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be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decomposed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into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real-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valued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and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eigenvalues</a:t>
            </a:r>
            <a:endParaRPr sz="3200">
              <a:latin typeface="Arial"/>
              <a:cs typeface="Arial"/>
            </a:endParaRPr>
          </a:p>
          <a:p>
            <a:pPr marL="1833880">
              <a:lnSpc>
                <a:spcPct val="100000"/>
              </a:lnSpc>
              <a:spcBef>
                <a:spcPts val="670"/>
              </a:spcBef>
            </a:pPr>
            <a:r>
              <a:rPr sz="3200" i="1" spc="-10" dirty="0">
                <a:latin typeface="Calibri"/>
                <a:cs typeface="Calibri"/>
              </a:rPr>
              <a:t>A=Q</a:t>
            </a:r>
            <a:r>
              <a:rPr sz="3200" spc="-10" dirty="0">
                <a:latin typeface="Times New Roman"/>
                <a:cs typeface="Times New Roman"/>
              </a:rPr>
              <a:t>Λ</a:t>
            </a:r>
            <a:r>
              <a:rPr sz="3200" i="1" spc="-10" dirty="0">
                <a:latin typeface="Calibri"/>
                <a:cs typeface="Calibri"/>
              </a:rPr>
              <a:t>Q</a:t>
            </a:r>
            <a:r>
              <a:rPr sz="3150" spc="-15" baseline="23809" dirty="0">
                <a:latin typeface="Calibri"/>
                <a:cs typeface="Calibri"/>
              </a:rPr>
              <a:t>T</a:t>
            </a:r>
            <a:endParaRPr sz="3150" baseline="23809">
              <a:latin typeface="Calibri"/>
              <a:cs typeface="Calibri"/>
            </a:endParaRPr>
          </a:p>
          <a:p>
            <a:pPr marL="421005" marR="1190625">
              <a:lnSpc>
                <a:spcPts val="3310"/>
              </a:lnSpc>
              <a:spcBef>
                <a:spcPts val="79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where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Q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orthogonal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composed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of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eigenvectors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dirty="0">
                <a:latin typeface="Times New Roman"/>
                <a:cs typeface="Times New Roman"/>
              </a:rPr>
              <a:t>: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{</a:t>
            </a:r>
            <a:r>
              <a:rPr sz="2800" b="1" i="1" spc="-10" dirty="0">
                <a:latin typeface="Calibri"/>
                <a:cs typeface="Calibri"/>
              </a:rPr>
              <a:t>v</a:t>
            </a:r>
            <a:r>
              <a:rPr sz="2700" spc="-15" baseline="24691" dirty="0">
                <a:latin typeface="Calibri"/>
                <a:cs typeface="Calibri"/>
              </a:rPr>
              <a:t>(1)</a:t>
            </a:r>
            <a:r>
              <a:rPr sz="2800" i="1" spc="-10" dirty="0">
                <a:latin typeface="Calibri"/>
                <a:cs typeface="Calibri"/>
              </a:rPr>
              <a:t>,..,</a:t>
            </a:r>
            <a:r>
              <a:rPr sz="2800" b="1" i="1" spc="-10" dirty="0">
                <a:latin typeface="Calibri"/>
                <a:cs typeface="Calibri"/>
              </a:rPr>
              <a:t>v</a:t>
            </a:r>
            <a:r>
              <a:rPr sz="2700" spc="-15" baseline="24691" dirty="0">
                <a:latin typeface="Calibri"/>
                <a:cs typeface="Calibri"/>
              </a:rPr>
              <a:t>(</a:t>
            </a:r>
            <a:r>
              <a:rPr sz="2700" i="1" spc="-15" baseline="24691" dirty="0">
                <a:latin typeface="Calibri"/>
                <a:cs typeface="Calibri"/>
              </a:rPr>
              <a:t>n</a:t>
            </a:r>
            <a:r>
              <a:rPr sz="2700" spc="-15" baseline="24691" dirty="0">
                <a:latin typeface="Calibri"/>
                <a:cs typeface="Calibri"/>
              </a:rPr>
              <a:t>)</a:t>
            </a:r>
            <a:r>
              <a:rPr sz="2800" spc="-10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 marL="816610">
              <a:lnSpc>
                <a:spcPct val="100000"/>
              </a:lnSpc>
              <a:spcBef>
                <a:spcPts val="445"/>
              </a:spcBef>
            </a:pP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orthogonal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matrix: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components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orthogonal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or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v</a:t>
            </a:r>
            <a:r>
              <a:rPr sz="2400" spc="-15" baseline="24305" dirty="0">
                <a:latin typeface="Calibri"/>
                <a:cs typeface="Calibri"/>
              </a:rPr>
              <a:t>(</a:t>
            </a:r>
            <a:r>
              <a:rPr sz="2400" i="1" spc="-15" baseline="24305" dirty="0">
                <a:latin typeface="Calibri"/>
                <a:cs typeface="Calibri"/>
              </a:rPr>
              <a:t>i</a:t>
            </a:r>
            <a:r>
              <a:rPr sz="2400" spc="-15" baseline="24305" dirty="0">
                <a:latin typeface="Calibri"/>
                <a:cs typeface="Calibri"/>
              </a:rPr>
              <a:t>)T</a:t>
            </a:r>
            <a:r>
              <a:rPr sz="2400" b="1" i="1" spc="-10" dirty="0">
                <a:latin typeface="Calibri"/>
                <a:cs typeface="Calibri"/>
              </a:rPr>
              <a:t>v</a:t>
            </a:r>
            <a:r>
              <a:rPr sz="2400" spc="-15" baseline="24305" dirty="0">
                <a:latin typeface="Calibri"/>
                <a:cs typeface="Calibri"/>
              </a:rPr>
              <a:t>(</a:t>
            </a:r>
            <a:r>
              <a:rPr sz="2400" i="1" spc="-15" baseline="24305" dirty="0">
                <a:latin typeface="Calibri"/>
                <a:cs typeface="Calibri"/>
              </a:rPr>
              <a:t>j</a:t>
            </a:r>
            <a:r>
              <a:rPr sz="2400" spc="-15" baseline="24305" dirty="0">
                <a:latin typeface="Calibri"/>
                <a:cs typeface="Calibri"/>
              </a:rPr>
              <a:t>)</a:t>
            </a:r>
            <a:r>
              <a:rPr sz="2400" spc="-10" dirty="0">
                <a:latin typeface="Calibri"/>
                <a:cs typeface="Calibri"/>
              </a:rPr>
              <a:t>=0</a:t>
            </a:r>
            <a:endParaRPr sz="2400">
              <a:latin typeface="Calibri"/>
              <a:cs typeface="Calibri"/>
            </a:endParaRPr>
          </a:p>
          <a:p>
            <a:pPr marL="421005">
              <a:lnSpc>
                <a:spcPct val="100000"/>
              </a:lnSpc>
              <a:spcBef>
                <a:spcPts val="610"/>
              </a:spcBef>
            </a:pPr>
            <a:r>
              <a:rPr sz="2800" dirty="0">
                <a:latin typeface="Times New Roman"/>
                <a:cs typeface="Times New Roman"/>
              </a:rPr>
              <a:t>Λ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diagonal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eigenvalues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{λ</a:t>
            </a:r>
            <a:r>
              <a:rPr sz="2700" spc="-15" baseline="-18518" dirty="0">
                <a:latin typeface="Times New Roman"/>
                <a:cs typeface="Times New Roman"/>
              </a:rPr>
              <a:t>1</a:t>
            </a:r>
            <a:r>
              <a:rPr sz="2800" i="1" spc="-10" dirty="0">
                <a:latin typeface="Times New Roman"/>
                <a:cs typeface="Times New Roman"/>
              </a:rPr>
              <a:t>,..,</a:t>
            </a:r>
            <a:r>
              <a:rPr sz="2800" spc="-10" dirty="0">
                <a:latin typeface="Times New Roman"/>
                <a:cs typeface="Times New Roman"/>
              </a:rPr>
              <a:t>λ</a:t>
            </a:r>
            <a:r>
              <a:rPr sz="2700" i="1" spc="-15" baseline="-18518" dirty="0">
                <a:latin typeface="Times New Roman"/>
                <a:cs typeface="Times New Roman"/>
              </a:rPr>
              <a:t>n</a:t>
            </a:r>
            <a:r>
              <a:rPr sz="2800" spc="-1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63855" marR="819785" indent="-339090">
              <a:lnSpc>
                <a:spcPts val="3790"/>
              </a:lnSpc>
              <a:spcBef>
                <a:spcPts val="80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think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i="1" spc="8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scaling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space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λ</a:t>
            </a:r>
            <a:r>
              <a:rPr sz="3150" i="1" baseline="-18518" dirty="0">
                <a:latin typeface="Calibri"/>
                <a:cs typeface="Calibri"/>
              </a:rPr>
              <a:t>i</a:t>
            </a:r>
            <a:r>
              <a:rPr sz="3150" i="1" spc="532" baseline="-18518" dirty="0"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in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direction</a:t>
            </a:r>
            <a:r>
              <a:rPr sz="3200" spc="-1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v</a:t>
            </a:r>
            <a:r>
              <a:rPr sz="3150" spc="-30" baseline="23809" dirty="0">
                <a:latin typeface="Calibri"/>
                <a:cs typeface="Calibri"/>
              </a:rPr>
              <a:t>(</a:t>
            </a:r>
            <a:r>
              <a:rPr sz="3150" i="1" spc="-30" baseline="23809" dirty="0">
                <a:latin typeface="Calibri"/>
                <a:cs typeface="Calibri"/>
              </a:rPr>
              <a:t>i</a:t>
            </a:r>
            <a:r>
              <a:rPr sz="3150" spc="-30" baseline="23809" dirty="0">
                <a:latin typeface="Calibri"/>
                <a:cs typeface="Calibri"/>
              </a:rPr>
              <a:t>)</a:t>
            </a:r>
            <a:endParaRPr sz="3150" baseline="23809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1328" y="6600952"/>
            <a:ext cx="3905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–See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figure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on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next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slide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47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Effect</a:t>
            </a:r>
            <a:r>
              <a:rPr sz="4000" spc="-150" dirty="0"/>
              <a:t> </a:t>
            </a:r>
            <a:r>
              <a:rPr sz="4000" dirty="0"/>
              <a:t>of</a:t>
            </a:r>
            <a:r>
              <a:rPr sz="4000" spc="-145" dirty="0"/>
              <a:t> </a:t>
            </a:r>
            <a:r>
              <a:rPr sz="4000" spc="-20" dirty="0"/>
              <a:t>Eigenvectors</a:t>
            </a:r>
            <a:r>
              <a:rPr sz="4000" spc="-155" dirty="0"/>
              <a:t> </a:t>
            </a:r>
            <a:r>
              <a:rPr sz="4000" dirty="0"/>
              <a:t>and</a:t>
            </a:r>
            <a:r>
              <a:rPr sz="4000" spc="-160" dirty="0"/>
              <a:t> </a:t>
            </a:r>
            <a:r>
              <a:rPr sz="4000" spc="-10" dirty="0"/>
              <a:t>Eigenvalues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1012444" y="1999488"/>
            <a:ext cx="8056245" cy="16706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770"/>
              </a:spcBef>
              <a:buChar char="•"/>
              <a:tabLst>
                <a:tab pos="3765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Example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dirty="0">
                <a:latin typeface="MS PGothic"/>
                <a:cs typeface="MS PGothic"/>
              </a:rPr>
              <a:t>×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endParaRPr sz="3200">
              <a:latin typeface="Arial"/>
              <a:cs typeface="Arial"/>
            </a:endParaRPr>
          </a:p>
          <a:p>
            <a:pPr marL="376555" indent="-338455">
              <a:lnSpc>
                <a:spcPct val="100000"/>
              </a:lnSpc>
              <a:spcBef>
                <a:spcPts val="67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i="1" spc="6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with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two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orthonormal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eigenvectors</a:t>
            </a:r>
            <a:endParaRPr sz="3200">
              <a:latin typeface="Arial"/>
              <a:cs typeface="Arial"/>
            </a:endParaRPr>
          </a:p>
          <a:p>
            <a:pPr marL="489584">
              <a:lnSpc>
                <a:spcPct val="100000"/>
              </a:lnSpc>
              <a:spcBef>
                <a:spcPts val="570"/>
              </a:spcBef>
            </a:pPr>
            <a:r>
              <a:rPr sz="2800" dirty="0">
                <a:latin typeface="Calibri"/>
                <a:cs typeface="Calibri"/>
              </a:rPr>
              <a:t>–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v</a:t>
            </a:r>
            <a:r>
              <a:rPr sz="2700" baseline="24691" dirty="0">
                <a:latin typeface="Calibri"/>
                <a:cs typeface="Calibri"/>
              </a:rPr>
              <a:t>(1)</a:t>
            </a:r>
            <a:r>
              <a:rPr sz="2700" spc="270" baseline="2469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eigenvalue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λ</a:t>
            </a:r>
            <a:r>
              <a:rPr sz="2700" baseline="-18518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v</a:t>
            </a:r>
            <a:r>
              <a:rPr sz="2700" baseline="24691" dirty="0">
                <a:latin typeface="Calibri"/>
                <a:cs typeface="Calibri"/>
              </a:rPr>
              <a:t>(2)</a:t>
            </a:r>
            <a:r>
              <a:rPr sz="2700" spc="277" baseline="2469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eigenvalue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λ</a:t>
            </a:r>
            <a:r>
              <a:rPr sz="2700" spc="-37" baseline="-18518" dirty="0">
                <a:latin typeface="Calibri"/>
                <a:cs typeface="Calibri"/>
              </a:rPr>
              <a:t>2</a:t>
            </a:r>
            <a:endParaRPr sz="2700" baseline="-18518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304" y="4619129"/>
            <a:ext cx="2231415" cy="2299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9500" y="4777353"/>
            <a:ext cx="2047633" cy="20789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2444" y="3905503"/>
            <a:ext cx="2560320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Plot</a:t>
            </a:r>
            <a:r>
              <a:rPr sz="18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1800" spc="-4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unit</a:t>
            </a:r>
            <a:r>
              <a:rPr sz="1800" spc="-4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vectors</a:t>
            </a:r>
            <a:r>
              <a:rPr sz="1800" spc="34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baseline="5208" dirty="0">
                <a:latin typeface="Times New Roman"/>
                <a:cs typeface="Times New Roman"/>
              </a:rPr>
              <a:t>u</a:t>
            </a:r>
            <a:r>
              <a:rPr sz="2400" b="1" i="1" spc="-247" baseline="5208" dirty="0">
                <a:latin typeface="Times New Roman"/>
                <a:cs typeface="Times New Roman"/>
              </a:rPr>
              <a:t> </a:t>
            </a:r>
            <a:r>
              <a:rPr sz="2400" spc="-712" baseline="5208" dirty="0">
                <a:latin typeface="Symbol"/>
                <a:cs typeface="Symbol"/>
              </a:rPr>
              <a:t></a:t>
            </a:r>
            <a:r>
              <a:rPr sz="2400" spc="-712" baseline="5208" dirty="0">
                <a:latin typeface="MT Extra"/>
                <a:cs typeface="MT Extra"/>
              </a:rPr>
              <a:t>lR</a:t>
            </a:r>
            <a:r>
              <a:rPr sz="1350" spc="-712" baseline="55555" dirty="0">
                <a:latin typeface="Cambria"/>
                <a:cs typeface="Cambria"/>
              </a:rPr>
              <a:t>2</a:t>
            </a:r>
            <a:endParaRPr sz="1350" baseline="55555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(circle)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12577" y="3905503"/>
            <a:ext cx="1760220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Plot</a:t>
            </a:r>
            <a:r>
              <a:rPr sz="1800" spc="-1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60066"/>
                </a:solidFill>
                <a:latin typeface="Arial"/>
                <a:cs typeface="Arial"/>
              </a:rPr>
              <a:t>vectors</a:t>
            </a:r>
            <a:r>
              <a:rPr sz="18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latin typeface="Calibri"/>
                <a:cs typeface="Calibri"/>
              </a:rPr>
              <a:t>A</a:t>
            </a:r>
            <a:r>
              <a:rPr sz="1800" b="1" i="1" spc="-35" dirty="0">
                <a:latin typeface="Calibri"/>
                <a:cs typeface="Calibri"/>
              </a:rPr>
              <a:t>u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(ellipse)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8396" y="5112511"/>
            <a:ext cx="2752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with</a:t>
            </a:r>
            <a:r>
              <a:rPr sz="1800" spc="-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60066"/>
                </a:solidFill>
                <a:latin typeface="Arial"/>
                <a:cs typeface="Arial"/>
              </a:rPr>
              <a:t>two</a:t>
            </a:r>
            <a:r>
              <a:rPr sz="1800" spc="-4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variables</a:t>
            </a:r>
            <a:r>
              <a:rPr sz="1800" spc="-4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i="1" dirty="0">
                <a:latin typeface="Calibri"/>
                <a:cs typeface="Calibri"/>
              </a:rPr>
              <a:t>x</a:t>
            </a:r>
            <a:r>
              <a:rPr sz="1800" baseline="-13888" dirty="0">
                <a:latin typeface="Calibri"/>
                <a:cs typeface="Calibri"/>
              </a:rPr>
              <a:t>1</a:t>
            </a:r>
            <a:r>
              <a:rPr sz="1800" spc="165" baseline="-13888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18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x</a:t>
            </a:r>
            <a:r>
              <a:rPr sz="1800" spc="-37" baseline="-13888" dirty="0">
                <a:latin typeface="Calibri"/>
                <a:cs typeface="Calibri"/>
              </a:rPr>
              <a:t>2</a:t>
            </a:r>
            <a:endParaRPr sz="1800" baseline="-138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11471" y="630936"/>
            <a:ext cx="5835015" cy="13576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906144">
              <a:lnSpc>
                <a:spcPts val="5210"/>
              </a:lnSpc>
              <a:spcBef>
                <a:spcPts val="265"/>
              </a:spcBef>
            </a:pPr>
            <a:r>
              <a:rPr spc="-10" dirty="0"/>
              <a:t>Python</a:t>
            </a:r>
            <a:r>
              <a:rPr spc="-235" dirty="0"/>
              <a:t> </a:t>
            </a:r>
            <a:r>
              <a:rPr dirty="0"/>
              <a:t>Code</a:t>
            </a:r>
            <a:r>
              <a:rPr spc="-235" dirty="0"/>
              <a:t> </a:t>
            </a:r>
            <a:r>
              <a:rPr spc="-25" dirty="0"/>
              <a:t>for </a:t>
            </a:r>
            <a:r>
              <a:rPr spc="-35" dirty="0"/>
              <a:t>Eigenvalue/Eigenvector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2099055"/>
            <a:ext cx="881761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51155" marR="5080" indent="-339090">
              <a:lnSpc>
                <a:spcPts val="1900"/>
              </a:lnSpc>
              <a:spcBef>
                <a:spcPts val="180"/>
              </a:spcBef>
              <a:buChar char="•"/>
              <a:tabLst>
                <a:tab pos="351155" algn="l"/>
              </a:tabLst>
            </a:pPr>
            <a:r>
              <a:rPr sz="1600" spc="-10" dirty="0">
                <a:solidFill>
                  <a:srgbClr val="3333CC"/>
                </a:solidFill>
                <a:latin typeface="Arial"/>
                <a:cs typeface="Arial"/>
              </a:rPr>
              <a:t>https://</a:t>
            </a:r>
            <a:r>
              <a:rPr sz="1600" spc="-10" dirty="0">
                <a:solidFill>
                  <a:srgbClr val="3333CC"/>
                </a:solidFill>
                <a:latin typeface="Arial"/>
                <a:cs typeface="Arial"/>
                <a:hlinkClick r:id="rId2"/>
              </a:rPr>
              <a:t>www.youtube.com/watch?v=mxkGMbrobY0&amp;feature=youtu.be&amp;fbclid=IwAR3ajOaxWmn</a:t>
            </a:r>
            <a:r>
              <a:rPr sz="1600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3333CC"/>
                </a:solidFill>
                <a:latin typeface="Arial"/>
                <a:cs typeface="Arial"/>
              </a:rPr>
              <a:t>V-</a:t>
            </a:r>
            <a:r>
              <a:rPr sz="1600" spc="-20" dirty="0">
                <a:solidFill>
                  <a:srgbClr val="3333CC"/>
                </a:solidFill>
                <a:latin typeface="Arial"/>
                <a:cs typeface="Arial"/>
              </a:rPr>
              <a:t>rYnAa6cwYfq9j6is6-</a:t>
            </a:r>
            <a:r>
              <a:rPr sz="1600" spc="-10" dirty="0">
                <a:solidFill>
                  <a:srgbClr val="3333CC"/>
                </a:solidFill>
                <a:latin typeface="Arial"/>
                <a:cs typeface="Arial"/>
              </a:rPr>
              <a:t>H8UhnIMCkhBu3Cqfvby_vicyU2fg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059" y="2921310"/>
            <a:ext cx="4353224" cy="19169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4852" y="2900326"/>
            <a:ext cx="1948197" cy="177551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14447" y="4968492"/>
            <a:ext cx="2029830" cy="193184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27787" y="5044757"/>
            <a:ext cx="2279437" cy="18869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7780" y="5023732"/>
            <a:ext cx="3541606" cy="133342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6132" y="993647"/>
            <a:ext cx="829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Eigendecomposition</a:t>
            </a:r>
            <a:r>
              <a:rPr spc="-135" dirty="0"/>
              <a:t> </a:t>
            </a:r>
            <a:r>
              <a:rPr dirty="0"/>
              <a:t>is</a:t>
            </a:r>
            <a:r>
              <a:rPr spc="-130" dirty="0"/>
              <a:t> </a:t>
            </a:r>
            <a:r>
              <a:rPr dirty="0"/>
              <a:t>not</a:t>
            </a:r>
            <a:r>
              <a:rPr spc="-114" dirty="0"/>
              <a:t> </a:t>
            </a:r>
            <a:r>
              <a:rPr spc="-10" dirty="0"/>
              <a:t>unique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855"/>
              </a:spcBef>
              <a:buChar char="•"/>
              <a:tabLst>
                <a:tab pos="363855" algn="l"/>
              </a:tabLst>
            </a:pPr>
            <a:r>
              <a:rPr spc="-20" dirty="0"/>
              <a:t>Eigendecomposition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sz="2800" i="1" spc="-10" dirty="0">
                <a:solidFill>
                  <a:srgbClr val="000000"/>
                </a:solidFill>
                <a:latin typeface="Calibri"/>
                <a:cs typeface="Calibri"/>
              </a:rPr>
              <a:t>A=Q</a:t>
            </a: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Λ</a:t>
            </a:r>
            <a:r>
              <a:rPr sz="2800" i="1" spc="-10" dirty="0">
                <a:solidFill>
                  <a:srgbClr val="000000"/>
                </a:solidFill>
                <a:latin typeface="Calibri"/>
                <a:cs typeface="Calibri"/>
              </a:rPr>
              <a:t>Q</a:t>
            </a:r>
            <a:r>
              <a:rPr sz="2700" spc="-15" baseline="24691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endParaRPr sz="2700" baseline="24691">
              <a:latin typeface="Calibri"/>
              <a:cs typeface="Calibri"/>
            </a:endParaRPr>
          </a:p>
          <a:p>
            <a:pPr marL="758825" marR="875030" lvl="1" indent="-281305">
              <a:lnSpc>
                <a:spcPts val="3310"/>
              </a:lnSpc>
              <a:spcBef>
                <a:spcPts val="820"/>
              </a:spcBef>
              <a:buChar char="–"/>
              <a:tabLst>
                <a:tab pos="76009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where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Q</a:t>
            </a:r>
            <a:r>
              <a:rPr sz="2800" i="1" spc="2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orthogonal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composed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of 	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eigenvectors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363855" marR="1489075" indent="-339090">
              <a:lnSpc>
                <a:spcPts val="3820"/>
              </a:lnSpc>
              <a:spcBef>
                <a:spcPts val="770"/>
              </a:spcBef>
              <a:buChar char="•"/>
              <a:tabLst>
                <a:tab pos="363855" algn="l"/>
              </a:tabLst>
            </a:pPr>
            <a:r>
              <a:rPr spc="-10" dirty="0"/>
              <a:t>Decomposition</a:t>
            </a:r>
            <a:r>
              <a:rPr spc="-110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dirty="0"/>
              <a:t>not</a:t>
            </a:r>
            <a:r>
              <a:rPr spc="-100" dirty="0"/>
              <a:t> </a:t>
            </a:r>
            <a:r>
              <a:rPr dirty="0"/>
              <a:t>unique</a:t>
            </a:r>
            <a:r>
              <a:rPr spc="-110" dirty="0"/>
              <a:t> </a:t>
            </a:r>
            <a:r>
              <a:rPr dirty="0"/>
              <a:t>when</a:t>
            </a:r>
            <a:r>
              <a:rPr spc="-110" dirty="0"/>
              <a:t> </a:t>
            </a:r>
            <a:r>
              <a:rPr spc="-25" dirty="0"/>
              <a:t>two </a:t>
            </a:r>
            <a:r>
              <a:rPr spc="-10" dirty="0"/>
              <a:t>eigenvalues</a:t>
            </a:r>
            <a:r>
              <a:rPr spc="-95" dirty="0"/>
              <a:t> </a:t>
            </a:r>
            <a:r>
              <a:rPr dirty="0"/>
              <a:t>are</a:t>
            </a:r>
            <a:r>
              <a:rPr spc="-100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spc="-20" dirty="0"/>
              <a:t>same</a:t>
            </a:r>
          </a:p>
          <a:p>
            <a:pPr marL="363855" marR="17780" indent="-339090">
              <a:lnSpc>
                <a:spcPts val="3790"/>
              </a:lnSpc>
              <a:spcBef>
                <a:spcPts val="690"/>
              </a:spcBef>
              <a:buChar char="•"/>
              <a:tabLst>
                <a:tab pos="363855" algn="l"/>
              </a:tabLst>
            </a:pPr>
            <a:r>
              <a:rPr dirty="0"/>
              <a:t>By</a:t>
            </a:r>
            <a:r>
              <a:rPr spc="-95" dirty="0"/>
              <a:t> </a:t>
            </a:r>
            <a:r>
              <a:rPr spc="-10" dirty="0"/>
              <a:t>convention</a:t>
            </a:r>
            <a:r>
              <a:rPr spc="-100" dirty="0"/>
              <a:t> </a:t>
            </a:r>
            <a:r>
              <a:rPr dirty="0"/>
              <a:t>order</a:t>
            </a:r>
            <a:r>
              <a:rPr spc="-90" dirty="0"/>
              <a:t> </a:t>
            </a:r>
            <a:r>
              <a:rPr dirty="0"/>
              <a:t>entries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Λ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10" dirty="0"/>
              <a:t>descending order:</a:t>
            </a:r>
          </a:p>
          <a:p>
            <a:pPr marL="758825" marR="846455" lvl="1" indent="-281305">
              <a:lnSpc>
                <a:spcPts val="3310"/>
              </a:lnSpc>
              <a:spcBef>
                <a:spcPts val="700"/>
              </a:spcBef>
              <a:buChar char="–"/>
              <a:tabLst>
                <a:tab pos="76009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Under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this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convention,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eigendecomposition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is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unique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all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eigenvalues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are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unique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What</a:t>
            </a:r>
            <a:r>
              <a:rPr sz="4000" spc="-155" dirty="0"/>
              <a:t> </a:t>
            </a:r>
            <a:r>
              <a:rPr sz="4000" dirty="0"/>
              <a:t>does</a:t>
            </a:r>
            <a:r>
              <a:rPr sz="4000" spc="-160" dirty="0"/>
              <a:t> </a:t>
            </a:r>
            <a:r>
              <a:rPr sz="4000" spc="-30" dirty="0"/>
              <a:t>eigendecomposition</a:t>
            </a:r>
            <a:r>
              <a:rPr sz="4000" spc="-160" dirty="0"/>
              <a:t> </a:t>
            </a:r>
            <a:r>
              <a:rPr sz="4000" dirty="0"/>
              <a:t>tell</a:t>
            </a:r>
            <a:r>
              <a:rPr sz="4000" spc="-150" dirty="0"/>
              <a:t> </a:t>
            </a:r>
            <a:r>
              <a:rPr sz="4000" spc="-25" dirty="0"/>
              <a:t>us?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560323" y="1865230"/>
            <a:ext cx="8908415" cy="456247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Tells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useful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facts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about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matrix:</a:t>
            </a:r>
            <a:endParaRPr sz="3200">
              <a:latin typeface="Arial"/>
              <a:cs typeface="Arial"/>
            </a:endParaRPr>
          </a:p>
          <a:p>
            <a:pPr marL="998219" lvl="1" indent="-508000">
              <a:lnSpc>
                <a:spcPct val="100000"/>
              </a:lnSpc>
              <a:spcBef>
                <a:spcPts val="565"/>
              </a:spcBef>
              <a:buAutoNum type="arabicPeriod"/>
              <a:tabLst>
                <a:tab pos="998219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336600"/>
                </a:solidFill>
                <a:latin typeface="Arial"/>
                <a:cs typeface="Arial"/>
              </a:rPr>
              <a:t>singular</a:t>
            </a:r>
            <a:r>
              <a:rPr sz="2800" i="1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&amp;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only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any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eigenvalue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zero</a:t>
            </a:r>
            <a:endParaRPr sz="2800">
              <a:latin typeface="Arial"/>
              <a:cs typeface="Arial"/>
            </a:endParaRPr>
          </a:p>
          <a:p>
            <a:pPr marL="1193165" lvl="1" indent="-70294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119316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Useful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optimize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quadratic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expressions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form</a:t>
            </a:r>
            <a:endParaRPr sz="2800">
              <a:latin typeface="Arial"/>
              <a:cs typeface="Arial"/>
            </a:endParaRPr>
          </a:p>
          <a:p>
            <a:pPr marL="1033144">
              <a:lnSpc>
                <a:spcPct val="100000"/>
              </a:lnSpc>
              <a:spcBef>
                <a:spcPts val="1055"/>
              </a:spcBef>
            </a:pPr>
            <a:r>
              <a:rPr sz="2800" i="1" spc="-10" dirty="0">
                <a:latin typeface="Calibri"/>
                <a:cs typeface="Calibri"/>
              </a:rPr>
              <a:t>f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800" spc="-10" dirty="0">
                <a:latin typeface="Calibri"/>
                <a:cs typeface="Calibri"/>
              </a:rPr>
              <a:t>)=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700" i="1" spc="-15" baseline="24691" dirty="0">
                <a:latin typeface="Calibri"/>
                <a:cs typeface="Calibri"/>
              </a:rPr>
              <a:t>T</a:t>
            </a:r>
            <a:r>
              <a:rPr sz="2800" i="1" spc="-10" dirty="0">
                <a:latin typeface="Calibri"/>
                <a:cs typeface="Calibri"/>
              </a:rPr>
              <a:t>A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subject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||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800" i="1" spc="-10" dirty="0">
                <a:latin typeface="Calibri"/>
                <a:cs typeface="Calibri"/>
              </a:rPr>
              <a:t>||</a:t>
            </a:r>
            <a:r>
              <a:rPr sz="2700" spc="-15" baseline="-18518" dirty="0">
                <a:latin typeface="Calibri"/>
                <a:cs typeface="Calibri"/>
              </a:rPr>
              <a:t>2</a:t>
            </a:r>
            <a:r>
              <a:rPr sz="2800" spc="-10" dirty="0">
                <a:latin typeface="Calibri"/>
                <a:cs typeface="Calibri"/>
              </a:rPr>
              <a:t>=1</a:t>
            </a:r>
            <a:endParaRPr sz="2800">
              <a:latin typeface="Calibri"/>
              <a:cs typeface="Calibri"/>
            </a:endParaRPr>
          </a:p>
          <a:p>
            <a:pPr marL="829310" marR="763270">
              <a:lnSpc>
                <a:spcPct val="100000"/>
              </a:lnSpc>
              <a:spcBef>
                <a:spcPts val="640"/>
              </a:spcBef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Whenever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Calibri"/>
                <a:cs typeface="Calibri"/>
              </a:rPr>
              <a:t>x</a:t>
            </a:r>
            <a:r>
              <a:rPr sz="2400" b="1" i="1" spc="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equal</a:t>
            </a:r>
            <a:r>
              <a:rPr sz="24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eigenvector,</a:t>
            </a:r>
            <a:r>
              <a:rPr sz="2400" spc="-15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f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equal</a:t>
            </a:r>
            <a:r>
              <a:rPr sz="2400" spc="-5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the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corresponding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eigenvalue</a:t>
            </a:r>
            <a:endParaRPr sz="2400">
              <a:latin typeface="Arial"/>
              <a:cs typeface="Arial"/>
            </a:endParaRPr>
          </a:p>
          <a:p>
            <a:pPr marL="829310" marR="213995">
              <a:lnSpc>
                <a:spcPct val="100800"/>
              </a:lnSpc>
              <a:spcBef>
                <a:spcPts val="409"/>
              </a:spcBef>
              <a:tabLst>
                <a:tab pos="3107690" algn="l"/>
                <a:tab pos="3686175" algn="l"/>
              </a:tabLst>
            </a:pP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Maximum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value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	of</a:t>
            </a:r>
            <a:r>
              <a:rPr sz="2400" spc="-5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f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max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eigen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value,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minimum</a:t>
            </a:r>
            <a:r>
              <a:rPr sz="2400" spc="-12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value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min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eigen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value</a:t>
            </a:r>
            <a:endParaRPr sz="2400">
              <a:latin typeface="Arial"/>
              <a:cs typeface="Arial"/>
            </a:endParaRPr>
          </a:p>
          <a:p>
            <a:pPr marL="829310" marR="456565">
              <a:lnSpc>
                <a:spcPct val="100000"/>
              </a:lnSpc>
              <a:spcBef>
                <a:spcPts val="530"/>
              </a:spcBef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Example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such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quadratic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form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appears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in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multivariate Gaussian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7588" y="6600740"/>
            <a:ext cx="108839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450" dirty="0">
                <a:latin typeface="Cambria"/>
                <a:cs typeface="Cambria"/>
              </a:rPr>
              <a:t>(2</a:t>
            </a:r>
            <a:r>
              <a:rPr sz="1450" i="1" dirty="0">
                <a:latin typeface="Calibri"/>
                <a:cs typeface="Calibri"/>
              </a:rPr>
              <a:t>π</a:t>
            </a:r>
            <a:r>
              <a:rPr sz="1450" dirty="0">
                <a:latin typeface="Cambria"/>
                <a:cs typeface="Cambria"/>
              </a:rPr>
              <a:t>)</a:t>
            </a:r>
            <a:r>
              <a:rPr sz="1275" i="1" baseline="42483" dirty="0">
                <a:latin typeface="Calibri"/>
                <a:cs typeface="Calibri"/>
              </a:rPr>
              <a:t>D</a:t>
            </a:r>
            <a:r>
              <a:rPr sz="1275" baseline="42483" dirty="0">
                <a:latin typeface="Cambria"/>
                <a:cs typeface="Cambria"/>
              </a:rPr>
              <a:t>/2</a:t>
            </a:r>
            <a:r>
              <a:rPr sz="1275" spc="345" baseline="42483" dirty="0">
                <a:latin typeface="Cambria"/>
                <a:cs typeface="Cambria"/>
              </a:rPr>
              <a:t> </a:t>
            </a:r>
            <a:r>
              <a:rPr sz="1450" spc="-55" dirty="0">
                <a:latin typeface="Cambria"/>
                <a:cs typeface="Cambria"/>
              </a:rPr>
              <a:t>|</a:t>
            </a:r>
            <a:r>
              <a:rPr sz="1450" spc="-65" dirty="0">
                <a:latin typeface="Cambria"/>
                <a:cs typeface="Cambria"/>
              </a:rPr>
              <a:t> </a:t>
            </a:r>
            <a:r>
              <a:rPr sz="1450" spc="260" dirty="0">
                <a:latin typeface="Cambria"/>
                <a:cs typeface="Cambria"/>
              </a:rPr>
              <a:t>Σ</a:t>
            </a:r>
            <a:r>
              <a:rPr sz="1450" spc="-80" dirty="0">
                <a:latin typeface="Cambria"/>
                <a:cs typeface="Cambria"/>
              </a:rPr>
              <a:t> </a:t>
            </a:r>
            <a:r>
              <a:rPr sz="1450" spc="-20" dirty="0">
                <a:latin typeface="Cambria"/>
                <a:cs typeface="Cambria"/>
              </a:rPr>
              <a:t>|</a:t>
            </a:r>
            <a:r>
              <a:rPr sz="1275" spc="-30" baseline="42483" dirty="0">
                <a:latin typeface="Cambria"/>
                <a:cs typeface="Cambria"/>
              </a:rPr>
              <a:t>1/2</a:t>
            </a:r>
            <a:endParaRPr sz="1275" baseline="42483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9251" y="6324543"/>
            <a:ext cx="107314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1332" y="6436886"/>
            <a:ext cx="38925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37490" algn="l"/>
              </a:tabLst>
            </a:pPr>
            <a:r>
              <a:rPr sz="850" i="1" spc="145" dirty="0">
                <a:latin typeface="Calibri"/>
                <a:cs typeface="Calibri"/>
              </a:rPr>
              <a:t>T</a:t>
            </a:r>
            <a:r>
              <a:rPr sz="850" i="1" dirty="0">
                <a:latin typeface="Calibri"/>
                <a:cs typeface="Calibri"/>
              </a:rPr>
              <a:t>	</a:t>
            </a:r>
            <a:r>
              <a:rPr sz="850" spc="40" dirty="0">
                <a:latin typeface="Cambria"/>
                <a:cs typeface="Cambria"/>
              </a:rPr>
              <a:t>−1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0310" y="6441792"/>
            <a:ext cx="261048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323340" algn="l"/>
                <a:tab pos="1862455" algn="l"/>
                <a:tab pos="2139315" algn="l"/>
              </a:tabLst>
            </a:pPr>
            <a:r>
              <a:rPr sz="1450" i="1" spc="125" dirty="0">
                <a:latin typeface="Calibri"/>
                <a:cs typeface="Calibri"/>
              </a:rPr>
              <a:t>N</a:t>
            </a:r>
            <a:r>
              <a:rPr sz="1450" spc="125" dirty="0">
                <a:latin typeface="Cambria"/>
                <a:cs typeface="Cambria"/>
              </a:rPr>
              <a:t>(x</a:t>
            </a:r>
            <a:r>
              <a:rPr sz="1450" spc="2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| </a:t>
            </a:r>
            <a:r>
              <a:rPr sz="1450" b="1" spc="105" dirty="0">
                <a:latin typeface="Microsoft New Tai Lue"/>
                <a:cs typeface="Microsoft New Tai Lue"/>
              </a:rPr>
              <a:t>µ</a:t>
            </a:r>
            <a:r>
              <a:rPr sz="1450" spc="105" dirty="0">
                <a:latin typeface="Cambria"/>
                <a:cs typeface="Cambria"/>
              </a:rPr>
              <a:t>,Σ)</a:t>
            </a:r>
            <a:r>
              <a:rPr sz="1450" spc="-25" dirty="0">
                <a:latin typeface="Cambria"/>
                <a:cs typeface="Cambria"/>
              </a:rPr>
              <a:t> </a:t>
            </a:r>
            <a:r>
              <a:rPr sz="1450" spc="350" dirty="0">
                <a:latin typeface="Cambria"/>
                <a:cs typeface="Cambria"/>
              </a:rPr>
              <a:t>=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2175" u="sng" baseline="34482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2175" u="sng" spc="-75" baseline="34482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2175" u="sng" baseline="34482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2175" u="sng" spc="-75" baseline="34482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2175" u="sng" baseline="34482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2175" u="none" spc="-120" baseline="34482" dirty="0">
                <a:latin typeface="Cambria"/>
                <a:cs typeface="Cambria"/>
              </a:rPr>
              <a:t> </a:t>
            </a:r>
            <a:r>
              <a:rPr sz="1450" u="none" dirty="0">
                <a:latin typeface="Cambria"/>
                <a:cs typeface="Cambria"/>
              </a:rPr>
              <a:t>exp</a:t>
            </a:r>
            <a:r>
              <a:rPr sz="1450" u="none" spc="-170" dirty="0">
                <a:latin typeface="Cambria"/>
                <a:cs typeface="Cambria"/>
              </a:rPr>
              <a:t> </a:t>
            </a:r>
            <a:r>
              <a:rPr sz="2175" u="none" spc="-1604" baseline="49808" dirty="0">
                <a:latin typeface="Cambria"/>
                <a:cs typeface="Cambria"/>
              </a:rPr>
              <a:t>⎧</a:t>
            </a:r>
            <a:r>
              <a:rPr sz="2175" u="none" spc="-1604" baseline="21072" dirty="0">
                <a:latin typeface="Cambria"/>
                <a:cs typeface="Cambria"/>
              </a:rPr>
              <a:t>⎪</a:t>
            </a:r>
            <a:r>
              <a:rPr sz="2175" u="none" spc="-112" baseline="40229" dirty="0">
                <a:latin typeface="Cambria"/>
                <a:cs typeface="Cambria"/>
              </a:rPr>
              <a:t>⎪</a:t>
            </a:r>
            <a:endParaRPr sz="2175" baseline="40229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7896" y="6656175"/>
            <a:ext cx="107314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00" dirty="0">
                <a:latin typeface="Cambria"/>
                <a:cs typeface="Cambria"/>
              </a:rPr>
              <a:t>⎩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29796" y="6441792"/>
            <a:ext cx="2047239" cy="4006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1455"/>
              </a:lnSpc>
              <a:spcBef>
                <a:spcPts val="130"/>
              </a:spcBef>
              <a:tabLst>
                <a:tab pos="407670" algn="l"/>
                <a:tab pos="1337945" algn="l"/>
              </a:tabLst>
            </a:pPr>
            <a:r>
              <a:rPr sz="2175" spc="-37" baseline="-5747" dirty="0">
                <a:latin typeface="Cambria"/>
                <a:cs typeface="Cambria"/>
              </a:rPr>
              <a:t>⎨</a:t>
            </a:r>
            <a:r>
              <a:rPr sz="1450" spc="-25" dirty="0">
                <a:latin typeface="Cambria"/>
                <a:cs typeface="Cambria"/>
              </a:rPr>
              <a:t>−</a:t>
            </a:r>
            <a:r>
              <a:rPr sz="1450" dirty="0">
                <a:latin typeface="Cambria"/>
                <a:cs typeface="Cambria"/>
              </a:rPr>
              <a:t>	(x</a:t>
            </a:r>
            <a:r>
              <a:rPr sz="1450" spc="-15" dirty="0">
                <a:latin typeface="Cambria"/>
                <a:cs typeface="Cambria"/>
              </a:rPr>
              <a:t> </a:t>
            </a:r>
            <a:r>
              <a:rPr sz="1450" spc="350" dirty="0">
                <a:latin typeface="Cambria"/>
                <a:cs typeface="Cambria"/>
              </a:rPr>
              <a:t>−</a:t>
            </a:r>
            <a:r>
              <a:rPr sz="1450" spc="-50" dirty="0">
                <a:latin typeface="Cambria"/>
                <a:cs typeface="Cambria"/>
              </a:rPr>
              <a:t> </a:t>
            </a:r>
            <a:r>
              <a:rPr sz="1450" b="1" dirty="0">
                <a:latin typeface="Microsoft New Tai Lue"/>
                <a:cs typeface="Microsoft New Tai Lue"/>
              </a:rPr>
              <a:t>µ</a:t>
            </a:r>
            <a:r>
              <a:rPr sz="1450" dirty="0">
                <a:latin typeface="Cambria"/>
                <a:cs typeface="Cambria"/>
              </a:rPr>
              <a:t>)</a:t>
            </a:r>
            <a:r>
              <a:rPr sz="1450" spc="430" dirty="0">
                <a:latin typeface="Cambria"/>
                <a:cs typeface="Cambria"/>
              </a:rPr>
              <a:t> </a:t>
            </a:r>
            <a:r>
              <a:rPr sz="1450" spc="210" dirty="0">
                <a:latin typeface="Cambria"/>
                <a:cs typeface="Cambria"/>
              </a:rPr>
              <a:t>Σ</a:t>
            </a:r>
            <a:r>
              <a:rPr sz="1450" dirty="0">
                <a:latin typeface="Cambria"/>
                <a:cs typeface="Cambria"/>
              </a:rPr>
              <a:t>	(x </a:t>
            </a:r>
            <a:r>
              <a:rPr sz="1450" spc="350" dirty="0">
                <a:latin typeface="Cambria"/>
                <a:cs typeface="Cambria"/>
              </a:rPr>
              <a:t>−</a:t>
            </a:r>
            <a:r>
              <a:rPr sz="1450" spc="-30" dirty="0">
                <a:latin typeface="Cambria"/>
                <a:cs typeface="Cambria"/>
              </a:rPr>
              <a:t> </a:t>
            </a:r>
            <a:r>
              <a:rPr sz="1450" b="1" spc="-25" dirty="0">
                <a:latin typeface="Microsoft New Tai Lue"/>
                <a:cs typeface="Microsoft New Tai Lue"/>
              </a:rPr>
              <a:t>µ</a:t>
            </a:r>
            <a:r>
              <a:rPr sz="1450" spc="-25" dirty="0">
                <a:latin typeface="Cambria"/>
                <a:cs typeface="Cambria"/>
              </a:rPr>
              <a:t>)</a:t>
            </a:r>
            <a:r>
              <a:rPr sz="2175" spc="-37" baseline="-5747" dirty="0">
                <a:latin typeface="Cambria"/>
                <a:cs typeface="Cambria"/>
              </a:rPr>
              <a:t>⎬</a:t>
            </a:r>
            <a:endParaRPr sz="2175" baseline="-5747">
              <a:latin typeface="Cambria"/>
              <a:cs typeface="Cambria"/>
            </a:endParaRPr>
          </a:p>
          <a:p>
            <a:pPr marL="38100">
              <a:lnSpc>
                <a:spcPts val="1455"/>
              </a:lnSpc>
              <a:tabLst>
                <a:tab pos="292735" algn="l"/>
              </a:tabLst>
            </a:pPr>
            <a:r>
              <a:rPr sz="2175" spc="-75" baseline="-19157" dirty="0">
                <a:latin typeface="Cambria"/>
                <a:cs typeface="Cambria"/>
              </a:rPr>
              <a:t>⎪</a:t>
            </a:r>
            <a:r>
              <a:rPr sz="2175" baseline="-19157" dirty="0">
                <a:latin typeface="Cambria"/>
                <a:cs typeface="Cambria"/>
              </a:rPr>
              <a:t>	</a:t>
            </a:r>
            <a:r>
              <a:rPr sz="1450" spc="-5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31460" y="6309825"/>
            <a:ext cx="107314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00" dirty="0">
                <a:latin typeface="Cambria"/>
                <a:cs typeface="Cambria"/>
              </a:rPr>
              <a:t>⎪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31460" y="6656175"/>
            <a:ext cx="107314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175" spc="-1792" baseline="1915" dirty="0">
                <a:latin typeface="Cambria"/>
                <a:cs typeface="Cambria"/>
              </a:rPr>
              <a:t>⎪</a:t>
            </a:r>
            <a:r>
              <a:rPr sz="1450" spc="-200" dirty="0">
                <a:latin typeface="Cambria"/>
                <a:cs typeface="Cambria"/>
              </a:rPr>
              <a:t>⎭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1363" y="6292796"/>
            <a:ext cx="4455795" cy="606425"/>
          </a:xfrm>
          <a:custGeom>
            <a:avLst/>
            <a:gdLst/>
            <a:ahLst/>
            <a:cxnLst/>
            <a:rect l="l" t="t" r="r" b="b"/>
            <a:pathLst>
              <a:path w="4455795" h="606425">
                <a:moveTo>
                  <a:pt x="0" y="0"/>
                </a:moveTo>
                <a:lnTo>
                  <a:pt x="4455265" y="0"/>
                </a:lnTo>
                <a:lnTo>
                  <a:pt x="4455265" y="605966"/>
                </a:lnTo>
                <a:lnTo>
                  <a:pt x="0" y="605966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8610">
              <a:lnSpc>
                <a:spcPct val="100000"/>
              </a:lnSpc>
              <a:spcBef>
                <a:spcPts val="100"/>
              </a:spcBef>
            </a:pPr>
            <a:r>
              <a:rPr dirty="0"/>
              <a:t>Positive</a:t>
            </a:r>
            <a:r>
              <a:rPr spc="-300" dirty="0"/>
              <a:t> </a:t>
            </a:r>
            <a:r>
              <a:rPr dirty="0"/>
              <a:t>Definite</a:t>
            </a:r>
            <a:r>
              <a:rPr spc="-300" dirty="0"/>
              <a:t> </a:t>
            </a:r>
            <a:r>
              <a:rPr spc="-10" dirty="0"/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2100072"/>
            <a:ext cx="8469630" cy="305435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63855" marR="17780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whose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eigenvalues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all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positive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is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called</a:t>
            </a:r>
            <a:r>
              <a:rPr sz="3200" spc="-1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3333CC"/>
                </a:solidFill>
                <a:latin typeface="Arial"/>
                <a:cs typeface="Arial"/>
              </a:rPr>
              <a:t>positive</a:t>
            </a:r>
            <a:r>
              <a:rPr sz="3200" i="1" spc="-1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3333CC"/>
                </a:solidFill>
                <a:latin typeface="Arial"/>
                <a:cs typeface="Arial"/>
              </a:rPr>
              <a:t>definite</a:t>
            </a:r>
            <a:endParaRPr sz="3200">
              <a:latin typeface="Arial"/>
              <a:cs typeface="Arial"/>
            </a:endParaRPr>
          </a:p>
          <a:p>
            <a:pPr marL="758825" lvl="1" indent="-281305">
              <a:lnSpc>
                <a:spcPct val="100000"/>
              </a:lnSpc>
              <a:spcBef>
                <a:spcPts val="455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Positive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or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zero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called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336600"/>
                </a:solidFill>
                <a:latin typeface="Arial"/>
                <a:cs typeface="Arial"/>
              </a:rPr>
              <a:t>positive</a:t>
            </a:r>
            <a:r>
              <a:rPr sz="2800" i="1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336600"/>
                </a:solidFill>
                <a:latin typeface="Arial"/>
                <a:cs typeface="Arial"/>
              </a:rPr>
              <a:t>semidefinite</a:t>
            </a:r>
            <a:endParaRPr sz="2800">
              <a:latin typeface="Arial"/>
              <a:cs typeface="Arial"/>
            </a:endParaRPr>
          </a:p>
          <a:p>
            <a:pPr marL="363855" marR="331470" indent="-339090">
              <a:lnSpc>
                <a:spcPts val="3790"/>
              </a:lnSpc>
              <a:spcBef>
                <a:spcPts val="894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eigen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values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all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negative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3333CC"/>
                </a:solidFill>
                <a:latin typeface="Arial"/>
                <a:cs typeface="Arial"/>
              </a:rPr>
              <a:t>negative definite</a:t>
            </a:r>
            <a:endParaRPr sz="3200">
              <a:latin typeface="Arial"/>
              <a:cs typeface="Arial"/>
            </a:endParaRPr>
          </a:p>
          <a:p>
            <a:pPr marL="758825" lvl="1" indent="-281305">
              <a:lnSpc>
                <a:spcPct val="100000"/>
              </a:lnSpc>
              <a:spcBef>
                <a:spcPts val="450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Positive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definite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matrices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guarantee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that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latin typeface="Calibri"/>
                <a:cs typeface="Calibri"/>
              </a:rPr>
              <a:t>x</a:t>
            </a:r>
            <a:r>
              <a:rPr sz="2400" i="1" baseline="24305" dirty="0">
                <a:latin typeface="Calibri"/>
                <a:cs typeface="Calibri"/>
              </a:rPr>
              <a:t>T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b="1" i="1" dirty="0">
                <a:latin typeface="Calibri"/>
                <a:cs typeface="Calibri"/>
              </a:rPr>
              <a:t>x</a:t>
            </a:r>
            <a:r>
              <a:rPr sz="2400" b="1" i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≥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6603" y="1248663"/>
            <a:ext cx="82467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Singular</a:t>
            </a:r>
            <a:r>
              <a:rPr sz="4000" spc="-185" dirty="0"/>
              <a:t> </a:t>
            </a:r>
            <a:r>
              <a:rPr sz="4000" dirty="0"/>
              <a:t>Value</a:t>
            </a:r>
            <a:r>
              <a:rPr sz="4000" spc="-195" dirty="0"/>
              <a:t> </a:t>
            </a:r>
            <a:r>
              <a:rPr sz="4000" spc="-25" dirty="0"/>
              <a:t>Decomposition</a:t>
            </a:r>
            <a:r>
              <a:rPr sz="4000" spc="-195" dirty="0"/>
              <a:t> </a:t>
            </a:r>
            <a:r>
              <a:rPr sz="4000" spc="-10" dirty="0"/>
              <a:t>(SVD</a:t>
            </a:r>
            <a:r>
              <a:rPr sz="3600" spc="-10" dirty="0"/>
              <a:t>)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573023" y="2064657"/>
            <a:ext cx="8835390" cy="37255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855"/>
              </a:spcBef>
              <a:buChar char="•"/>
              <a:tabLst>
                <a:tab pos="363855" algn="l"/>
                <a:tab pos="5984240" algn="l"/>
              </a:tabLst>
            </a:pP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Eigendecomposition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has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form: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800" i="1" spc="-25" dirty="0">
                <a:latin typeface="Calibri"/>
                <a:cs typeface="Calibri"/>
              </a:rPr>
              <a:t>A=V</a:t>
            </a:r>
            <a:r>
              <a:rPr sz="2800" spc="-25" dirty="0">
                <a:latin typeface="Calibri"/>
                <a:cs typeface="Calibri"/>
              </a:rPr>
              <a:t>diag(</a:t>
            </a:r>
            <a:r>
              <a:rPr sz="2800" spc="-25" dirty="0">
                <a:latin typeface="Times New Roman"/>
                <a:cs typeface="Times New Roman"/>
              </a:rPr>
              <a:t>λ</a:t>
            </a:r>
            <a:r>
              <a:rPr sz="2800" spc="-25" dirty="0">
                <a:latin typeface="Calibri"/>
                <a:cs typeface="Calibri"/>
              </a:rPr>
              <a:t>)</a:t>
            </a:r>
            <a:r>
              <a:rPr sz="2800" i="1" spc="-25" dirty="0">
                <a:latin typeface="Calibri"/>
                <a:cs typeface="Calibri"/>
              </a:rPr>
              <a:t>V</a:t>
            </a:r>
            <a:r>
              <a:rPr sz="2700" spc="-37" baseline="24691" dirty="0">
                <a:latin typeface="Calibri"/>
                <a:cs typeface="Calibri"/>
              </a:rPr>
              <a:t>-</a:t>
            </a:r>
            <a:r>
              <a:rPr sz="2700" spc="-75" baseline="24691" dirty="0">
                <a:latin typeface="Calibri"/>
                <a:cs typeface="Calibri"/>
              </a:rPr>
              <a:t>1</a:t>
            </a:r>
            <a:endParaRPr sz="2700" baseline="24691">
              <a:latin typeface="Calibri"/>
              <a:cs typeface="Calibri"/>
            </a:endParaRPr>
          </a:p>
          <a:p>
            <a:pPr marL="758825" lvl="1" indent="-281305">
              <a:lnSpc>
                <a:spcPct val="100000"/>
              </a:lnSpc>
              <a:spcBef>
                <a:spcPts val="665"/>
              </a:spcBef>
              <a:buChar char="–"/>
              <a:tabLst>
                <a:tab pos="758825" algn="l"/>
                <a:tab pos="367347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5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6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not</a:t>
            </a:r>
            <a:r>
              <a:rPr sz="2800" spc="-5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square,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eigendecomposition</a:t>
            </a:r>
            <a:r>
              <a:rPr sz="2800" spc="-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4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undefined</a:t>
            </a:r>
            <a:endParaRPr sz="2800">
              <a:latin typeface="Arial"/>
              <a:cs typeface="Arial"/>
            </a:endParaRPr>
          </a:p>
          <a:p>
            <a:pPr marL="363855" indent="-338455">
              <a:lnSpc>
                <a:spcPct val="100000"/>
              </a:lnSpc>
              <a:spcBef>
                <a:spcPts val="75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SVD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decomposition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form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A=UDV</a:t>
            </a:r>
            <a:r>
              <a:rPr sz="2700" i="1" spc="-15" baseline="24691" dirty="0">
                <a:latin typeface="Calibri"/>
                <a:cs typeface="Calibri"/>
              </a:rPr>
              <a:t>T</a:t>
            </a:r>
            <a:endParaRPr sz="2700" baseline="24691">
              <a:latin typeface="Calibri"/>
              <a:cs typeface="Calibri"/>
            </a:endParaRPr>
          </a:p>
          <a:p>
            <a:pPr marL="363855" indent="-338455">
              <a:lnSpc>
                <a:spcPct val="100000"/>
              </a:lnSpc>
              <a:spcBef>
                <a:spcPts val="64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SVD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more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general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than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eigendecomposition</a:t>
            </a:r>
            <a:endParaRPr sz="3200">
              <a:latin typeface="Arial"/>
              <a:cs typeface="Arial"/>
            </a:endParaRPr>
          </a:p>
          <a:p>
            <a:pPr marL="758825" lvl="1" indent="-281305">
              <a:lnSpc>
                <a:spcPct val="100000"/>
              </a:lnSpc>
              <a:spcBef>
                <a:spcPts val="665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Used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any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rather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than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symmetric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ones</a:t>
            </a:r>
            <a:endParaRPr sz="2800">
              <a:latin typeface="Arial"/>
              <a:cs typeface="Arial"/>
            </a:endParaRPr>
          </a:p>
          <a:p>
            <a:pPr marL="758825" lvl="1" indent="-281305">
              <a:lnSpc>
                <a:spcPct val="100000"/>
              </a:lnSpc>
              <a:spcBef>
                <a:spcPts val="625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Every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real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has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SVD</a:t>
            </a:r>
            <a:endParaRPr sz="2800">
              <a:latin typeface="Arial"/>
              <a:cs typeface="Arial"/>
            </a:endParaRPr>
          </a:p>
          <a:p>
            <a:pPr marL="1153795" lvl="2" indent="-224790">
              <a:lnSpc>
                <a:spcPct val="100000"/>
              </a:lnSpc>
              <a:spcBef>
                <a:spcPts val="545"/>
              </a:spcBef>
              <a:buChar char="•"/>
              <a:tabLst>
                <a:tab pos="115379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Same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not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true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eigen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decomposition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19007" y="542543"/>
            <a:ext cx="36226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SVD</a:t>
            </a:r>
            <a:r>
              <a:rPr spc="-220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0323" y="1235601"/>
            <a:ext cx="8850630" cy="58718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855"/>
              </a:spcBef>
              <a:buChar char="•"/>
              <a:tabLst>
                <a:tab pos="376555" algn="l"/>
                <a:tab pos="6700520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Write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i="1" spc="8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Calibri"/>
                <a:cs typeface="Calibri"/>
              </a:rPr>
              <a:t>3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matrices: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latin typeface="Calibri"/>
                <a:cs typeface="Calibri"/>
              </a:rPr>
              <a:t>A=UDV</a:t>
            </a:r>
            <a:r>
              <a:rPr sz="2700" spc="-15" baseline="24691" dirty="0">
                <a:latin typeface="Calibri"/>
                <a:cs typeface="Calibri"/>
              </a:rPr>
              <a:t>T</a:t>
            </a:r>
            <a:endParaRPr sz="2700" baseline="24691">
              <a:latin typeface="Calibri"/>
              <a:cs typeface="Calibri"/>
            </a:endParaRPr>
          </a:p>
          <a:p>
            <a:pPr marL="490220">
              <a:lnSpc>
                <a:spcPct val="100000"/>
              </a:lnSpc>
              <a:spcBef>
                <a:spcPts val="665"/>
              </a:spcBef>
              <a:tabLst>
                <a:tab pos="705040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5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8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m</a:t>
            </a:r>
            <a:r>
              <a:rPr sz="2800" dirty="0">
                <a:latin typeface="MS PGothic"/>
                <a:cs typeface="MS PGothic"/>
              </a:rPr>
              <a:t>×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,</a:t>
            </a:r>
            <a:r>
              <a:rPr sz="2800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then</a:t>
            </a:r>
            <a:r>
              <a:rPr sz="2800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U</a:t>
            </a:r>
            <a:r>
              <a:rPr sz="2800" i="1" spc="7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m</a:t>
            </a:r>
            <a:r>
              <a:rPr sz="2800" dirty="0">
                <a:latin typeface="MS PGothic"/>
                <a:cs typeface="MS PGothic"/>
              </a:rPr>
              <a:t>×</a:t>
            </a:r>
            <a:r>
              <a:rPr sz="2800" i="1" dirty="0">
                <a:latin typeface="Calibri"/>
                <a:cs typeface="Calibri"/>
              </a:rPr>
              <a:t>m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,</a:t>
            </a:r>
            <a:r>
              <a:rPr sz="2800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D</a:t>
            </a:r>
            <a:r>
              <a:rPr sz="2800" i="1" spc="7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m</a:t>
            </a:r>
            <a:r>
              <a:rPr sz="2800" spc="-20" dirty="0">
                <a:latin typeface="MS PGothic"/>
                <a:cs typeface="MS PGothic"/>
              </a:rPr>
              <a:t>×</a:t>
            </a:r>
            <a:r>
              <a:rPr sz="2800" i="1" spc="-20" dirty="0">
                <a:latin typeface="Calibri"/>
                <a:cs typeface="Calibri"/>
              </a:rPr>
              <a:t>n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,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</a:t>
            </a:r>
            <a:r>
              <a:rPr sz="2800" i="1" dirty="0">
                <a:latin typeface="Calibri"/>
                <a:cs typeface="Calibri"/>
              </a:rPr>
              <a:t>V</a:t>
            </a:r>
            <a:r>
              <a:rPr sz="2800" i="1" spc="9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4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n</a:t>
            </a:r>
            <a:r>
              <a:rPr sz="2800" spc="-25" dirty="0">
                <a:latin typeface="MS PGothic"/>
                <a:cs typeface="MS PGothic"/>
              </a:rPr>
              <a:t>×</a:t>
            </a:r>
            <a:r>
              <a:rPr sz="2800" i="1" spc="-25" dirty="0">
                <a:latin typeface="Calibri"/>
                <a:cs typeface="Calibri"/>
              </a:rPr>
              <a:t>n</a:t>
            </a:r>
            <a:endParaRPr sz="2800">
              <a:latin typeface="Calibri"/>
              <a:cs typeface="Calibri"/>
            </a:endParaRPr>
          </a:p>
          <a:p>
            <a:pPr marL="376555" indent="-338455">
              <a:lnSpc>
                <a:spcPct val="100000"/>
              </a:lnSpc>
              <a:spcBef>
                <a:spcPts val="75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Each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these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matrices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have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special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structure</a:t>
            </a:r>
            <a:endParaRPr sz="3200">
              <a:latin typeface="Arial"/>
              <a:cs typeface="Arial"/>
            </a:endParaRPr>
          </a:p>
          <a:p>
            <a:pPr marL="1166495" lvl="1" indent="-224790">
              <a:lnSpc>
                <a:spcPct val="100000"/>
              </a:lnSpc>
              <a:spcBef>
                <a:spcPts val="439"/>
              </a:spcBef>
              <a:buFont typeface="Calibri"/>
              <a:buChar char="•"/>
              <a:tabLst>
                <a:tab pos="1166495" algn="l"/>
              </a:tabLst>
            </a:pPr>
            <a:r>
              <a:rPr sz="2400" i="1" dirty="0">
                <a:latin typeface="Calibri"/>
                <a:cs typeface="Calibri"/>
              </a:rPr>
              <a:t>U</a:t>
            </a:r>
            <a:r>
              <a:rPr sz="2400" i="1" spc="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V</a:t>
            </a:r>
            <a:r>
              <a:rPr sz="2400" i="1" spc="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orthogonal</a:t>
            </a:r>
            <a:r>
              <a:rPr sz="2400" spc="-5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matrices</a:t>
            </a:r>
            <a:endParaRPr sz="2400">
              <a:latin typeface="Arial"/>
              <a:cs typeface="Arial"/>
            </a:endParaRPr>
          </a:p>
          <a:p>
            <a:pPr marL="1166495" lvl="1" indent="-224790">
              <a:lnSpc>
                <a:spcPct val="100000"/>
              </a:lnSpc>
              <a:spcBef>
                <a:spcPts val="525"/>
              </a:spcBef>
              <a:buFont typeface="Calibri"/>
              <a:buChar char="•"/>
              <a:tabLst>
                <a:tab pos="1166495" algn="l"/>
              </a:tabLst>
            </a:pPr>
            <a:r>
              <a:rPr sz="2400" i="1" dirty="0">
                <a:latin typeface="Calibri"/>
                <a:cs typeface="Calibri"/>
              </a:rPr>
              <a:t>D</a:t>
            </a:r>
            <a:r>
              <a:rPr sz="2400" i="1" spc="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diagonal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matrix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not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necessarily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square</a:t>
            </a:r>
            <a:endParaRPr sz="2400">
              <a:latin typeface="Arial"/>
              <a:cs typeface="Arial"/>
            </a:endParaRPr>
          </a:p>
          <a:p>
            <a:pPr marL="1618615" lvl="2" indent="-224790">
              <a:lnSpc>
                <a:spcPct val="100000"/>
              </a:lnSpc>
              <a:spcBef>
                <a:spcPts val="520"/>
              </a:spcBef>
              <a:buChar char="–"/>
              <a:tabLst>
                <a:tab pos="1618615" algn="l"/>
              </a:tabLst>
            </a:pPr>
            <a:r>
              <a:rPr sz="2000" spc="-10" dirty="0">
                <a:latin typeface="Arial"/>
                <a:cs typeface="Arial"/>
              </a:rPr>
              <a:t>Elements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Diagonal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i="1" dirty="0">
                <a:latin typeface="Calibri"/>
                <a:cs typeface="Calibri"/>
              </a:rPr>
              <a:t>D</a:t>
            </a:r>
            <a:r>
              <a:rPr sz="2000" i="1" spc="30" dirty="0">
                <a:latin typeface="Calibri"/>
                <a:cs typeface="Calibri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called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singular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values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spc="-5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1618615" lvl="2" indent="-224790">
              <a:lnSpc>
                <a:spcPct val="100000"/>
              </a:lnSpc>
              <a:spcBef>
                <a:spcPts val="409"/>
              </a:spcBef>
              <a:buChar char="–"/>
              <a:tabLst>
                <a:tab pos="1618615" algn="l"/>
              </a:tabLst>
            </a:pPr>
            <a:r>
              <a:rPr sz="2000" spc="-10" dirty="0">
                <a:latin typeface="Arial"/>
                <a:cs typeface="Arial"/>
              </a:rPr>
              <a:t>Columns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U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called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left</a:t>
            </a:r>
            <a:r>
              <a:rPr sz="2000" i="1" spc="-7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singular</a:t>
            </a:r>
            <a:r>
              <a:rPr sz="2000" i="1" spc="-7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vectors</a:t>
            </a:r>
            <a:endParaRPr sz="2000">
              <a:latin typeface="Arial"/>
              <a:cs typeface="Arial"/>
            </a:endParaRPr>
          </a:p>
          <a:p>
            <a:pPr marL="1618615" lvl="2" indent="-224790">
              <a:lnSpc>
                <a:spcPct val="100000"/>
              </a:lnSpc>
              <a:spcBef>
                <a:spcPts val="480"/>
              </a:spcBef>
              <a:buChar char="–"/>
              <a:tabLst>
                <a:tab pos="1618615" algn="l"/>
              </a:tabLst>
            </a:pPr>
            <a:r>
              <a:rPr sz="2000" spc="-10" dirty="0">
                <a:latin typeface="Arial"/>
                <a:cs typeface="Arial"/>
              </a:rPr>
              <a:t>Columns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called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right</a:t>
            </a:r>
            <a:r>
              <a:rPr sz="2000" i="1" spc="-8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singular</a:t>
            </a:r>
            <a:r>
              <a:rPr sz="2000" i="1" spc="-8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vectors</a:t>
            </a:r>
            <a:endParaRPr sz="2000">
              <a:latin typeface="Arial"/>
              <a:cs typeface="Arial"/>
            </a:endParaRPr>
          </a:p>
          <a:p>
            <a:pPr marL="376555" indent="-338455">
              <a:lnSpc>
                <a:spcPct val="100000"/>
              </a:lnSpc>
              <a:spcBef>
                <a:spcPts val="72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SVD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interpreted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terms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3333CC"/>
                </a:solidFill>
                <a:latin typeface="Arial"/>
                <a:cs typeface="Arial"/>
              </a:rPr>
              <a:t>eigendecomposition</a:t>
            </a:r>
            <a:endParaRPr sz="2800">
              <a:latin typeface="Arial"/>
              <a:cs typeface="Arial"/>
            </a:endParaRPr>
          </a:p>
          <a:p>
            <a:pPr marL="1166495" lvl="1" indent="-224790">
              <a:lnSpc>
                <a:spcPct val="100000"/>
              </a:lnSpc>
              <a:spcBef>
                <a:spcPts val="440"/>
              </a:spcBef>
              <a:buChar char="•"/>
              <a:tabLst>
                <a:tab pos="116649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Left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singular</a:t>
            </a:r>
            <a:r>
              <a:rPr sz="2400" spc="-6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vectors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eigenvectors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AA</a:t>
            </a:r>
            <a:r>
              <a:rPr sz="2400" spc="-37" baseline="24305" dirty="0">
                <a:latin typeface="Calibri"/>
                <a:cs typeface="Calibri"/>
              </a:rPr>
              <a:t>T</a:t>
            </a:r>
            <a:endParaRPr sz="2400" baseline="24305">
              <a:latin typeface="Calibri"/>
              <a:cs typeface="Calibri"/>
            </a:endParaRPr>
          </a:p>
          <a:p>
            <a:pPr marL="1166495" lvl="1" indent="-224790">
              <a:lnSpc>
                <a:spcPct val="100000"/>
              </a:lnSpc>
              <a:spcBef>
                <a:spcPts val="525"/>
              </a:spcBef>
              <a:buChar char="•"/>
              <a:tabLst>
                <a:tab pos="116649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Right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singular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vectors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eigenvectors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A</a:t>
            </a:r>
            <a:r>
              <a:rPr sz="2400" spc="-37" baseline="24305" dirty="0">
                <a:latin typeface="Calibri"/>
                <a:cs typeface="Calibri"/>
              </a:rPr>
              <a:t>T</a:t>
            </a:r>
            <a:r>
              <a:rPr sz="2400" i="1" spc="-25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167130" marR="406400" lvl="1" indent="-224790">
              <a:lnSpc>
                <a:spcPts val="2780"/>
              </a:lnSpc>
              <a:spcBef>
                <a:spcPts val="705"/>
              </a:spcBef>
              <a:buChar char="•"/>
              <a:tabLst>
                <a:tab pos="1168400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Nonzero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singular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values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square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roots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eigen 	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values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baseline="24305" dirty="0">
                <a:latin typeface="Calibri"/>
                <a:cs typeface="Calibri"/>
              </a:rPr>
              <a:t>T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.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Same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true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AA</a:t>
            </a:r>
            <a:r>
              <a:rPr sz="2400" spc="-37" baseline="24305" dirty="0">
                <a:latin typeface="Calibri"/>
                <a:cs typeface="Calibri"/>
              </a:rPr>
              <a:t>T</a:t>
            </a:r>
            <a:endParaRPr sz="2400" baseline="2430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2655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114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SVD</a:t>
            </a:r>
            <a:r>
              <a:rPr spc="-125" dirty="0"/>
              <a:t> </a:t>
            </a:r>
            <a:r>
              <a:rPr dirty="0"/>
              <a:t>in</a:t>
            </a:r>
            <a:r>
              <a:rPr spc="-110" dirty="0"/>
              <a:t> </a:t>
            </a:r>
            <a:r>
              <a:rPr spc="-25" dirty="0"/>
              <a:t>ML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2021114"/>
            <a:ext cx="8797290" cy="49123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520700" algn="l"/>
              </a:tabLst>
            </a:pP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1.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	SVD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used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generalizing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inversion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407670" algn="l"/>
              </a:tabLst>
            </a:pPr>
            <a:r>
              <a:rPr sz="2800" spc="-5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</a:t>
            </a:r>
            <a:r>
              <a:rPr sz="2800" spc="-35" dirty="0">
                <a:solidFill>
                  <a:srgbClr val="336600"/>
                </a:solidFill>
                <a:latin typeface="Arial"/>
                <a:cs typeface="Arial"/>
              </a:rPr>
              <a:t>Moore-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Penrose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inverse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(discussed</a:t>
            </a:r>
            <a:r>
              <a:rPr sz="2800" spc="-13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next)</a:t>
            </a:r>
            <a:endParaRPr sz="2800">
              <a:latin typeface="Arial"/>
              <a:cs typeface="Arial"/>
            </a:endParaRPr>
          </a:p>
          <a:p>
            <a:pPr marL="520700" indent="-508000">
              <a:lnSpc>
                <a:spcPct val="100000"/>
              </a:lnSpc>
              <a:spcBef>
                <a:spcPts val="750"/>
              </a:spcBef>
              <a:buAutoNum type="arabicPeriod" startAt="2"/>
              <a:tabLst>
                <a:tab pos="520700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Used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Recommendation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systems</a:t>
            </a:r>
            <a:endParaRPr sz="3200">
              <a:latin typeface="Arial"/>
              <a:cs typeface="Arial"/>
            </a:endParaRPr>
          </a:p>
          <a:p>
            <a:pPr marL="407670" lvl="1" indent="-394970">
              <a:lnSpc>
                <a:spcPct val="100000"/>
              </a:lnSpc>
              <a:spcBef>
                <a:spcPts val="665"/>
              </a:spcBef>
              <a:buChar char="–"/>
              <a:tabLst>
                <a:tab pos="407670" algn="l"/>
              </a:tabLst>
            </a:pP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Collaborative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filtering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(CF)</a:t>
            </a:r>
            <a:endParaRPr sz="2800">
              <a:latin typeface="Arial"/>
              <a:cs typeface="Arial"/>
            </a:endParaRPr>
          </a:p>
          <a:p>
            <a:pPr marL="803910" marR="125095" lvl="2" indent="-395605">
              <a:lnSpc>
                <a:spcPts val="2810"/>
              </a:lnSpc>
              <a:spcBef>
                <a:spcPts val="670"/>
              </a:spcBef>
              <a:buChar char="•"/>
              <a:tabLst>
                <a:tab pos="803910" algn="l"/>
              </a:tabLst>
            </a:pP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Method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predict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rating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for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30" dirty="0">
                <a:solidFill>
                  <a:srgbClr val="660066"/>
                </a:solidFill>
                <a:latin typeface="Arial"/>
                <a:cs typeface="Arial"/>
              </a:rPr>
              <a:t>user-</a:t>
            </a:r>
            <a:r>
              <a:rPr sz="2400" i="1" dirty="0">
                <a:solidFill>
                  <a:srgbClr val="660066"/>
                </a:solidFill>
                <a:latin typeface="Arial"/>
                <a:cs typeface="Arial"/>
              </a:rPr>
              <a:t>item</a:t>
            </a:r>
            <a:r>
              <a:rPr sz="2400" i="1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pair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based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history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ratings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given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by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user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given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9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item</a:t>
            </a:r>
            <a:endParaRPr sz="2400">
              <a:latin typeface="Arial"/>
              <a:cs typeface="Arial"/>
            </a:endParaRPr>
          </a:p>
          <a:p>
            <a:pPr marL="803910" marR="443230" lvl="2" indent="-395605">
              <a:lnSpc>
                <a:spcPts val="2780"/>
              </a:lnSpc>
              <a:spcBef>
                <a:spcPts val="620"/>
              </a:spcBef>
              <a:buChar char="•"/>
              <a:tabLst>
                <a:tab pos="80391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Most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CF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algorithms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are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based</a:t>
            </a:r>
            <a:r>
              <a:rPr sz="2400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on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30" dirty="0">
                <a:solidFill>
                  <a:srgbClr val="660066"/>
                </a:solidFill>
                <a:latin typeface="Arial"/>
                <a:cs typeface="Arial"/>
              </a:rPr>
              <a:t>user-</a:t>
            </a:r>
            <a:r>
              <a:rPr sz="2400" i="1" dirty="0">
                <a:solidFill>
                  <a:srgbClr val="660066"/>
                </a:solidFill>
                <a:latin typeface="Arial"/>
                <a:cs typeface="Arial"/>
              </a:rPr>
              <a:t>item</a:t>
            </a:r>
            <a:r>
              <a:rPr sz="2400" i="1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rating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matrix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where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each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row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represents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user,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each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column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item</a:t>
            </a:r>
            <a:endParaRPr sz="2400">
              <a:latin typeface="Arial"/>
              <a:cs typeface="Arial"/>
            </a:endParaRPr>
          </a:p>
          <a:p>
            <a:pPr marL="860425">
              <a:lnSpc>
                <a:spcPct val="100000"/>
              </a:lnSpc>
              <a:spcBef>
                <a:spcPts val="450"/>
              </a:spcBef>
              <a:tabLst>
                <a:tab pos="125539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Entries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matrix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ratings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given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users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items</a:t>
            </a:r>
            <a:endParaRPr sz="2000">
              <a:latin typeface="Arial"/>
              <a:cs typeface="Arial"/>
            </a:endParaRPr>
          </a:p>
          <a:p>
            <a:pPr marL="803910" marR="5080" lvl="2" indent="-395605">
              <a:lnSpc>
                <a:spcPts val="2780"/>
              </a:lnSpc>
              <a:spcBef>
                <a:spcPts val="690"/>
              </a:spcBef>
              <a:buChar char="•"/>
              <a:tabLst>
                <a:tab pos="80391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SVD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reduces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no.of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features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data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set</a:t>
            </a:r>
            <a:r>
              <a:rPr sz="2400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by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reducing</a:t>
            </a:r>
            <a:r>
              <a:rPr sz="2400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space </a:t>
            </a: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dimensions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from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K</a:t>
            </a:r>
            <a:r>
              <a:rPr sz="2400" i="1" spc="6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where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K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54799" y="519683"/>
            <a:ext cx="741680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SVD</a:t>
            </a:r>
            <a:r>
              <a:rPr spc="114" dirty="0"/>
              <a:t> </a:t>
            </a:r>
            <a:r>
              <a:rPr sz="5300" dirty="0"/>
              <a:t>in</a:t>
            </a:r>
            <a:r>
              <a:rPr sz="5300" spc="-85" dirty="0"/>
              <a:t> </a:t>
            </a:r>
            <a:r>
              <a:rPr spc="-20" dirty="0"/>
              <a:t>Collaborative</a:t>
            </a:r>
            <a:r>
              <a:rPr spc="-120" dirty="0"/>
              <a:t> </a:t>
            </a:r>
            <a:r>
              <a:rPr spc="-10" dirty="0"/>
              <a:t>Filtering</a:t>
            </a:r>
            <a:endParaRPr sz="53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63193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855"/>
              </a:spcBef>
              <a:buFont typeface="Calibri"/>
              <a:buChar char="•"/>
              <a:tabLst>
                <a:tab pos="363855" algn="l"/>
              </a:tabLst>
            </a:pPr>
            <a:r>
              <a:rPr i="1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i="1" spc="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spc="-90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dirty="0"/>
              <a:t>utility</a:t>
            </a:r>
            <a:r>
              <a:rPr spc="-85" dirty="0"/>
              <a:t> </a:t>
            </a:r>
            <a:r>
              <a:rPr spc="-10" dirty="0"/>
              <a:t>matrix</a:t>
            </a:r>
          </a:p>
          <a:p>
            <a:pPr marL="760095" lvl="1" indent="-282575">
              <a:lnSpc>
                <a:spcPct val="100000"/>
              </a:lnSpc>
              <a:spcBef>
                <a:spcPts val="665"/>
              </a:spcBef>
              <a:buFont typeface="Calibri"/>
              <a:buChar char="–"/>
              <a:tabLst>
                <a:tab pos="760095" algn="l"/>
              </a:tabLst>
            </a:pPr>
            <a:r>
              <a:rPr sz="2800" i="1" dirty="0">
                <a:latin typeface="Calibri"/>
                <a:cs typeface="Calibri"/>
              </a:rPr>
              <a:t>X</a:t>
            </a:r>
            <a:r>
              <a:rPr sz="2700" i="1" baseline="-18518" dirty="0">
                <a:latin typeface="Calibri"/>
                <a:cs typeface="Calibri"/>
              </a:rPr>
              <a:t>ij</a:t>
            </a:r>
            <a:r>
              <a:rPr sz="2700" i="1" spc="-82" baseline="-18518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denotes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how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user</a:t>
            </a:r>
            <a:r>
              <a:rPr sz="2800" spc="-1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i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likes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item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j</a:t>
            </a:r>
            <a:endParaRPr sz="2800">
              <a:latin typeface="Calibri"/>
              <a:cs typeface="Calibri"/>
            </a:endParaRPr>
          </a:p>
          <a:p>
            <a:pPr marL="758825" lvl="1" indent="-281305">
              <a:lnSpc>
                <a:spcPct val="100000"/>
              </a:lnSpc>
              <a:spcBef>
                <a:spcPts val="650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CF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fills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blank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(cell)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utility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that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has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no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entry</a:t>
            </a:r>
            <a:endParaRPr sz="2800">
              <a:latin typeface="Arial"/>
              <a:cs typeface="Arial"/>
            </a:endParaRPr>
          </a:p>
          <a:p>
            <a:pPr marL="363855" indent="-338455">
              <a:lnSpc>
                <a:spcPct val="100000"/>
              </a:lnSpc>
              <a:spcBef>
                <a:spcPts val="750"/>
              </a:spcBef>
              <a:buChar char="•"/>
              <a:tabLst>
                <a:tab pos="363855" algn="l"/>
              </a:tabLst>
            </a:pPr>
            <a:r>
              <a:rPr spc="-10" dirty="0">
                <a:solidFill>
                  <a:srgbClr val="0000FF"/>
                </a:solidFill>
              </a:rPr>
              <a:t>Scalability</a:t>
            </a:r>
            <a:r>
              <a:rPr spc="-1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and</a:t>
            </a:r>
            <a:r>
              <a:rPr spc="-1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sparsity</a:t>
            </a:r>
            <a:r>
              <a:rPr spc="-1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is</a:t>
            </a:r>
            <a:r>
              <a:rPr spc="-1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handled</a:t>
            </a:r>
            <a:r>
              <a:rPr spc="-1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using</a:t>
            </a:r>
            <a:r>
              <a:rPr spc="-130" dirty="0">
                <a:solidFill>
                  <a:srgbClr val="0000FF"/>
                </a:solidFill>
              </a:rPr>
              <a:t> </a:t>
            </a:r>
            <a:r>
              <a:rPr spc="-25" dirty="0">
                <a:solidFill>
                  <a:srgbClr val="0000FF"/>
                </a:solidFill>
              </a:rPr>
              <a:t>SV</a:t>
            </a:r>
            <a:r>
              <a:rPr spc="-25" dirty="0"/>
              <a:t>D</a:t>
            </a:r>
          </a:p>
          <a:p>
            <a:pPr marL="758825" marR="995044" lvl="1" indent="-281305">
              <a:lnSpc>
                <a:spcPts val="3310"/>
              </a:lnSpc>
              <a:spcBef>
                <a:spcPts val="695"/>
              </a:spcBef>
              <a:buChar char="–"/>
              <a:tabLst>
                <a:tab pos="76009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SVD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decreases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dimension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utility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by 	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extracting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its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latent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factors</a:t>
            </a:r>
            <a:endParaRPr sz="2800">
              <a:latin typeface="Arial"/>
              <a:cs typeface="Arial"/>
            </a:endParaRPr>
          </a:p>
          <a:p>
            <a:pPr marL="1153795" lvl="2" indent="-224790">
              <a:lnSpc>
                <a:spcPct val="100000"/>
              </a:lnSpc>
              <a:spcBef>
                <a:spcPts val="420"/>
              </a:spcBef>
              <a:buChar char="•"/>
              <a:tabLst>
                <a:tab pos="1153795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Map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each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user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and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item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into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latent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space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dimension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28881" y="1540827"/>
            <a:ext cx="6725284" cy="1297305"/>
            <a:chOff x="1628881" y="1540827"/>
            <a:chExt cx="6725284" cy="12973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5837" y="1592625"/>
              <a:ext cx="6514182" cy="11865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33590" y="1545537"/>
              <a:ext cx="6716395" cy="1287780"/>
            </a:xfrm>
            <a:custGeom>
              <a:avLst/>
              <a:gdLst/>
              <a:ahLst/>
              <a:cxnLst/>
              <a:rect l="l" t="t" r="r" b="b"/>
              <a:pathLst>
                <a:path w="6716395" h="1287780">
                  <a:moveTo>
                    <a:pt x="0" y="0"/>
                  </a:moveTo>
                  <a:lnTo>
                    <a:pt x="6715865" y="0"/>
                  </a:lnTo>
                  <a:lnTo>
                    <a:pt x="6715865" y="1287286"/>
                  </a:lnTo>
                  <a:lnTo>
                    <a:pt x="0" y="1287286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848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Moore-</a:t>
            </a:r>
            <a:r>
              <a:rPr spc="-10" dirty="0"/>
              <a:t>Penrose</a:t>
            </a:r>
            <a:r>
              <a:rPr spc="-220" dirty="0"/>
              <a:t> </a:t>
            </a:r>
            <a:r>
              <a:rPr spc="-10" dirty="0"/>
              <a:t>Pseudoinverse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2100072"/>
            <a:ext cx="8863965" cy="46202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63855" marR="883285" indent="-339090" algn="just">
              <a:lnSpc>
                <a:spcPct val="97500"/>
              </a:lnSpc>
              <a:spcBef>
                <a:spcPts val="19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Most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useful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feature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SVD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that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be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used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generalize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inversion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CC"/>
                </a:solidFill>
                <a:latin typeface="Arial"/>
                <a:cs typeface="Arial"/>
              </a:rPr>
              <a:t>non-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square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matrices</a:t>
            </a:r>
            <a:endParaRPr sz="3200">
              <a:latin typeface="Arial"/>
              <a:cs typeface="Arial"/>
            </a:endParaRPr>
          </a:p>
          <a:p>
            <a:pPr marL="363855" marR="1697989" indent="-339090" algn="just">
              <a:lnSpc>
                <a:spcPts val="3700"/>
              </a:lnSpc>
              <a:spcBef>
                <a:spcPts val="101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Practical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algorithms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computing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the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pseudoinverse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i="1" spc="8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are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based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SVD</a:t>
            </a:r>
            <a:endParaRPr sz="3200">
              <a:latin typeface="Arial"/>
              <a:cs typeface="Arial"/>
            </a:endParaRPr>
          </a:p>
          <a:p>
            <a:pPr marL="2738120">
              <a:lnSpc>
                <a:spcPct val="100000"/>
              </a:lnSpc>
              <a:spcBef>
                <a:spcPts val="455"/>
              </a:spcBef>
            </a:pPr>
            <a:r>
              <a:rPr sz="2400" i="1" spc="-10" dirty="0">
                <a:latin typeface="Calibri"/>
                <a:cs typeface="Calibri"/>
              </a:rPr>
              <a:t>A</a:t>
            </a:r>
            <a:r>
              <a:rPr sz="2400" i="1" spc="-15" baseline="24305" dirty="0">
                <a:latin typeface="Calibri"/>
                <a:cs typeface="Calibri"/>
              </a:rPr>
              <a:t>+</a:t>
            </a:r>
            <a:r>
              <a:rPr sz="2400" i="1" spc="-10" dirty="0">
                <a:latin typeface="Calibri"/>
                <a:cs typeface="Calibri"/>
              </a:rPr>
              <a:t>=VD</a:t>
            </a:r>
            <a:r>
              <a:rPr sz="2400" i="1" spc="-15" baseline="24305" dirty="0">
                <a:latin typeface="Calibri"/>
                <a:cs typeface="Calibri"/>
              </a:rPr>
              <a:t>+</a:t>
            </a:r>
            <a:r>
              <a:rPr sz="2400" i="1" spc="-10" dirty="0">
                <a:latin typeface="Calibri"/>
                <a:cs typeface="Calibri"/>
              </a:rPr>
              <a:t>U</a:t>
            </a:r>
            <a:r>
              <a:rPr sz="2400" i="1" spc="-15" baseline="24305" dirty="0">
                <a:latin typeface="Calibri"/>
                <a:cs typeface="Calibri"/>
              </a:rPr>
              <a:t>T</a:t>
            </a:r>
            <a:endParaRPr sz="2400" baseline="24305">
              <a:latin typeface="Calibri"/>
              <a:cs typeface="Calibri"/>
            </a:endParaRPr>
          </a:p>
          <a:p>
            <a:pPr marL="758825" lvl="1" indent="-281305">
              <a:lnSpc>
                <a:spcPct val="100000"/>
              </a:lnSpc>
              <a:spcBef>
                <a:spcPts val="605"/>
              </a:spcBef>
              <a:buChar char="–"/>
              <a:tabLst>
                <a:tab pos="7588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where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U,D,V</a:t>
            </a:r>
            <a:r>
              <a:rPr sz="2800" i="1" spc="2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are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SVD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154430" marR="17780" lvl="2" indent="-224790">
              <a:lnSpc>
                <a:spcPct val="99200"/>
              </a:lnSpc>
              <a:spcBef>
                <a:spcPts val="570"/>
              </a:spcBef>
              <a:buChar char="•"/>
              <a:tabLst>
                <a:tab pos="1155700" algn="l"/>
              </a:tabLst>
            </a:pPr>
            <a:r>
              <a:rPr sz="2400" spc="-20" dirty="0">
                <a:solidFill>
                  <a:srgbClr val="660066"/>
                </a:solidFill>
                <a:latin typeface="Arial"/>
                <a:cs typeface="Arial"/>
              </a:rPr>
              <a:t>Pseudoinverse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D</a:t>
            </a:r>
            <a:r>
              <a:rPr sz="2400" i="1" baseline="24305" dirty="0">
                <a:latin typeface="Calibri"/>
                <a:cs typeface="Calibri"/>
              </a:rPr>
              <a:t>+</a:t>
            </a:r>
            <a:r>
              <a:rPr sz="2400" i="1" spc="187" baseline="2430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Calibri"/>
                <a:cs typeface="Calibri"/>
              </a:rPr>
              <a:t>D</a:t>
            </a:r>
            <a:r>
              <a:rPr sz="2400" i="1" spc="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is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obtained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by</a:t>
            </a:r>
            <a:r>
              <a:rPr sz="2400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taking</a:t>
            </a:r>
            <a:r>
              <a:rPr sz="2400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the</a:t>
            </a:r>
            <a:r>
              <a:rPr sz="2400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reciprocal 	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of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its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nonzero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elements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when</a:t>
            </a:r>
            <a:r>
              <a:rPr sz="2400" spc="-10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taking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transpose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660066"/>
                </a:solidFill>
                <a:latin typeface="Arial"/>
                <a:cs typeface="Arial"/>
              </a:rPr>
              <a:t>of 	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resulting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845">
              <a:lnSpc>
                <a:spcPct val="100000"/>
              </a:lnSpc>
              <a:spcBef>
                <a:spcPts val="100"/>
              </a:spcBef>
            </a:pPr>
            <a:r>
              <a:rPr dirty="0"/>
              <a:t>Trace</a:t>
            </a:r>
            <a:r>
              <a:rPr spc="-12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10" dirty="0"/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5723" y="4309872"/>
            <a:ext cx="8729980" cy="99504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1155" marR="5080" indent="-339090">
              <a:lnSpc>
                <a:spcPts val="3790"/>
              </a:lnSpc>
              <a:spcBef>
                <a:spcPts val="25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Frobenius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norm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represented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as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5873" y="3689812"/>
            <a:ext cx="18034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i="1" dirty="0">
                <a:latin typeface="Cambria"/>
                <a:cs typeface="Cambria"/>
              </a:rPr>
              <a:t>i</a:t>
            </a:r>
            <a:r>
              <a:rPr sz="1450" i="1" spc="-130" dirty="0">
                <a:latin typeface="Cambria"/>
                <a:cs typeface="Cambria"/>
              </a:rPr>
              <a:t> </a:t>
            </a:r>
            <a:r>
              <a:rPr sz="1450" spc="-25" dirty="0">
                <a:latin typeface="Cambria"/>
                <a:cs typeface="Cambria"/>
              </a:rPr>
              <a:t>,</a:t>
            </a:r>
            <a:r>
              <a:rPr sz="1450" i="1" spc="-25" dirty="0">
                <a:latin typeface="Cambria"/>
                <a:cs typeface="Cambria"/>
              </a:rPr>
              <a:t>i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023" y="2100072"/>
            <a:ext cx="8465820" cy="158559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63855" marR="17780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Trace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operator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gives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sum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elements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along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diagonal</a:t>
            </a:r>
            <a:endParaRPr sz="3200">
              <a:latin typeface="Arial"/>
              <a:cs typeface="Arial"/>
            </a:endParaRPr>
          </a:p>
          <a:p>
            <a:pPr marR="713740" algn="ctr">
              <a:lnSpc>
                <a:spcPct val="100000"/>
              </a:lnSpc>
              <a:spcBef>
                <a:spcPts val="40"/>
              </a:spcBef>
            </a:pPr>
            <a:r>
              <a:rPr sz="2500" i="1" dirty="0">
                <a:latin typeface="Cambria"/>
                <a:cs typeface="Cambria"/>
              </a:rPr>
              <a:t>Tr</a:t>
            </a:r>
            <a:r>
              <a:rPr sz="2500" dirty="0">
                <a:latin typeface="Cambria"/>
                <a:cs typeface="Cambria"/>
              </a:rPr>
              <a:t>(</a:t>
            </a:r>
            <a:r>
              <a:rPr sz="2500" spc="-320" dirty="0">
                <a:latin typeface="Cambria"/>
                <a:cs typeface="Cambria"/>
              </a:rPr>
              <a:t> </a:t>
            </a:r>
            <a:r>
              <a:rPr sz="2500" i="1" spc="-20" dirty="0">
                <a:latin typeface="Cambria"/>
                <a:cs typeface="Cambria"/>
              </a:rPr>
              <a:t>A</a:t>
            </a:r>
            <a:r>
              <a:rPr sz="2500" i="1" spc="-204" dirty="0">
                <a:latin typeface="Cambria"/>
                <a:cs typeface="Cambria"/>
              </a:rPr>
              <a:t> </a:t>
            </a:r>
            <a:r>
              <a:rPr sz="2500" b="1" i="1" spc="55" dirty="0">
                <a:latin typeface="Times New Roman"/>
                <a:cs typeface="Times New Roman"/>
              </a:rPr>
              <a:t>)</a:t>
            </a:r>
            <a:r>
              <a:rPr sz="2500" i="1" spc="55" dirty="0">
                <a:latin typeface="Times New Roman"/>
                <a:cs typeface="Times New Roman"/>
              </a:rPr>
              <a:t>=</a:t>
            </a:r>
            <a:r>
              <a:rPr sz="2500" i="1" spc="-260" dirty="0">
                <a:latin typeface="Times New Roman"/>
                <a:cs typeface="Times New Roman"/>
              </a:rPr>
              <a:t> </a:t>
            </a:r>
            <a:r>
              <a:rPr sz="5625" spc="-52" baseline="-7407" dirty="0">
                <a:latin typeface="Symbol"/>
                <a:cs typeface="Symbol"/>
              </a:rPr>
              <a:t></a:t>
            </a:r>
            <a:r>
              <a:rPr sz="5625" spc="-757" baseline="-7407" dirty="0">
                <a:latin typeface="Times New Roman"/>
                <a:cs typeface="Times New Roman"/>
              </a:rPr>
              <a:t> </a:t>
            </a:r>
            <a:r>
              <a:rPr sz="2500" i="1" spc="-85" dirty="0">
                <a:latin typeface="Cambria"/>
                <a:cs typeface="Cambria"/>
              </a:rPr>
              <a:t>A</a:t>
            </a:r>
            <a:r>
              <a:rPr sz="2175" i="1" spc="-127" baseline="-34482" dirty="0">
                <a:latin typeface="Cambria"/>
                <a:cs typeface="Cambria"/>
              </a:rPr>
              <a:t>i</a:t>
            </a:r>
            <a:r>
              <a:rPr sz="2175" i="1" spc="-187" baseline="-34482" dirty="0">
                <a:latin typeface="Cambria"/>
                <a:cs typeface="Cambria"/>
              </a:rPr>
              <a:t> </a:t>
            </a:r>
            <a:r>
              <a:rPr sz="2175" spc="-37" baseline="-34482" dirty="0">
                <a:latin typeface="Cambria"/>
                <a:cs typeface="Cambria"/>
              </a:rPr>
              <a:t>,</a:t>
            </a:r>
            <a:r>
              <a:rPr sz="2175" i="1" spc="-37" baseline="-34482" dirty="0">
                <a:latin typeface="Cambria"/>
                <a:cs typeface="Cambria"/>
              </a:rPr>
              <a:t>i</a:t>
            </a:r>
            <a:endParaRPr sz="2175" baseline="-34482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7423" y="3203310"/>
            <a:ext cx="1910714" cy="775970"/>
          </a:xfrm>
          <a:custGeom>
            <a:avLst/>
            <a:gdLst/>
            <a:ahLst/>
            <a:cxnLst/>
            <a:rect l="l" t="t" r="r" b="b"/>
            <a:pathLst>
              <a:path w="1910714" h="775970">
                <a:moveTo>
                  <a:pt x="0" y="0"/>
                </a:moveTo>
                <a:lnTo>
                  <a:pt x="1910521" y="0"/>
                </a:lnTo>
                <a:lnTo>
                  <a:pt x="1910521" y="775511"/>
                </a:lnTo>
                <a:lnTo>
                  <a:pt x="0" y="775511"/>
                </a:lnTo>
                <a:lnTo>
                  <a:pt x="0" y="0"/>
                </a:lnTo>
                <a:close/>
              </a:path>
            </a:pathLst>
          </a:custGeom>
          <a:ln w="9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57651" y="5665914"/>
            <a:ext cx="387350" cy="450850"/>
          </a:xfrm>
          <a:custGeom>
            <a:avLst/>
            <a:gdLst/>
            <a:ahLst/>
            <a:cxnLst/>
            <a:rect l="l" t="t" r="r" b="b"/>
            <a:pathLst>
              <a:path w="387350" h="450850">
                <a:moveTo>
                  <a:pt x="14998" y="0"/>
                </a:moveTo>
                <a:lnTo>
                  <a:pt x="0" y="0"/>
                </a:lnTo>
                <a:lnTo>
                  <a:pt x="0" y="450735"/>
                </a:lnTo>
                <a:lnTo>
                  <a:pt x="14998" y="450735"/>
                </a:lnTo>
                <a:lnTo>
                  <a:pt x="14998" y="0"/>
                </a:lnTo>
                <a:close/>
              </a:path>
              <a:path w="387350" h="450850">
                <a:moveTo>
                  <a:pt x="89992" y="0"/>
                </a:moveTo>
                <a:lnTo>
                  <a:pt x="74993" y="0"/>
                </a:lnTo>
                <a:lnTo>
                  <a:pt x="74993" y="450735"/>
                </a:lnTo>
                <a:lnTo>
                  <a:pt x="89992" y="450735"/>
                </a:lnTo>
                <a:lnTo>
                  <a:pt x="89992" y="0"/>
                </a:lnTo>
                <a:close/>
              </a:path>
              <a:path w="387350" h="450850">
                <a:moveTo>
                  <a:pt x="311835" y="0"/>
                </a:moveTo>
                <a:lnTo>
                  <a:pt x="296837" y="0"/>
                </a:lnTo>
                <a:lnTo>
                  <a:pt x="296837" y="450735"/>
                </a:lnTo>
                <a:lnTo>
                  <a:pt x="311835" y="450735"/>
                </a:lnTo>
                <a:lnTo>
                  <a:pt x="311835" y="0"/>
                </a:lnTo>
                <a:close/>
              </a:path>
              <a:path w="387350" h="450850">
                <a:moveTo>
                  <a:pt x="386829" y="0"/>
                </a:moveTo>
                <a:lnTo>
                  <a:pt x="371830" y="0"/>
                </a:lnTo>
                <a:lnTo>
                  <a:pt x="371830" y="450735"/>
                </a:lnTo>
                <a:lnTo>
                  <a:pt x="386829" y="450735"/>
                </a:lnTo>
                <a:lnTo>
                  <a:pt x="3868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50014" y="5946348"/>
            <a:ext cx="10541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350" i="1" spc="-50" dirty="0">
                <a:latin typeface="Cambria"/>
                <a:cs typeface="Cambria"/>
              </a:rPr>
              <a:t>F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5286" y="5657941"/>
            <a:ext cx="153035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436245" algn="l"/>
                <a:tab pos="774065" algn="l"/>
              </a:tabLst>
            </a:pPr>
            <a:r>
              <a:rPr sz="2350" i="1" spc="-50" dirty="0">
                <a:latin typeface="Cambria"/>
                <a:cs typeface="Cambria"/>
              </a:rPr>
              <a:t>A</a:t>
            </a:r>
            <a:r>
              <a:rPr sz="2350" i="1" dirty="0">
                <a:latin typeface="Cambria"/>
                <a:cs typeface="Cambria"/>
              </a:rPr>
              <a:t>	</a:t>
            </a:r>
            <a:r>
              <a:rPr sz="2350" i="1" spc="-50" dirty="0">
                <a:latin typeface="Times New Roman"/>
                <a:cs typeface="Times New Roman"/>
              </a:rPr>
              <a:t>=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i="1" dirty="0">
                <a:latin typeface="Cambria"/>
                <a:cs typeface="Cambria"/>
              </a:rPr>
              <a:t>Tr</a:t>
            </a:r>
            <a:r>
              <a:rPr sz="2350" dirty="0">
                <a:latin typeface="Cambria"/>
                <a:cs typeface="Cambria"/>
              </a:rPr>
              <a:t>(</a:t>
            </a:r>
            <a:r>
              <a:rPr sz="2350" spc="-254" dirty="0">
                <a:latin typeface="Cambria"/>
                <a:cs typeface="Cambria"/>
              </a:rPr>
              <a:t> </a:t>
            </a:r>
            <a:r>
              <a:rPr sz="2350" i="1" spc="-25" dirty="0">
                <a:latin typeface="Cambria"/>
                <a:cs typeface="Cambria"/>
              </a:rPr>
              <a:t>A</a:t>
            </a:r>
            <a:r>
              <a:rPr sz="2350" spc="-25" dirty="0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0265" y="5478278"/>
            <a:ext cx="952500" cy="657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838200" algn="l"/>
              </a:tabLst>
            </a:pPr>
            <a:r>
              <a:rPr sz="4150" spc="-650" dirty="0">
                <a:latin typeface="Symbol"/>
                <a:cs typeface="Symbol"/>
              </a:rPr>
              <a:t>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650" dirty="0">
                <a:latin typeface="Symbol"/>
                <a:cs typeface="Symbol"/>
              </a:rPr>
              <a:t></a:t>
            </a:r>
            <a:endParaRPr sz="41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3657" y="5407674"/>
            <a:ext cx="114300" cy="51562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r>
              <a:rPr sz="1350" spc="-50" dirty="0">
                <a:latin typeface="Cambria"/>
                <a:cs typeface="Cambria"/>
              </a:rPr>
              <a:t>1</a:t>
            </a:r>
            <a:endParaRPr sz="1350">
              <a:latin typeface="Cambria"/>
              <a:cs typeface="Cambria"/>
            </a:endParaRPr>
          </a:p>
          <a:p>
            <a:pPr marL="3810">
              <a:lnSpc>
                <a:spcPct val="100000"/>
              </a:lnSpc>
              <a:spcBef>
                <a:spcPts val="305"/>
              </a:spcBef>
            </a:pPr>
            <a:r>
              <a:rPr sz="1350" spc="-50" dirty="0">
                <a:latin typeface="Cambria"/>
                <a:cs typeface="Cambria"/>
              </a:rPr>
              <a:t>2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12713" y="5383848"/>
            <a:ext cx="1939289" cy="826135"/>
            <a:chOff x="3512713" y="5383848"/>
            <a:chExt cx="1939289" cy="826135"/>
          </a:xfrm>
        </p:grpSpPr>
        <p:sp>
          <p:nvSpPr>
            <p:cNvPr id="14" name="object 14"/>
            <p:cNvSpPr/>
            <p:nvPr/>
          </p:nvSpPr>
          <p:spPr>
            <a:xfrm>
              <a:off x="5294447" y="5691128"/>
              <a:ext cx="96520" cy="7620"/>
            </a:xfrm>
            <a:custGeom>
              <a:avLst/>
              <a:gdLst/>
              <a:ahLst/>
              <a:cxnLst/>
              <a:rect l="l" t="t" r="r" b="b"/>
              <a:pathLst>
                <a:path w="96520" h="7620">
                  <a:moveTo>
                    <a:pt x="96312" y="0"/>
                  </a:moveTo>
                  <a:lnTo>
                    <a:pt x="0" y="0"/>
                  </a:lnTo>
                  <a:lnTo>
                    <a:pt x="0" y="7091"/>
                  </a:lnTo>
                  <a:lnTo>
                    <a:pt x="96312" y="7091"/>
                  </a:lnTo>
                  <a:lnTo>
                    <a:pt x="963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17423" y="5388557"/>
              <a:ext cx="1929764" cy="816610"/>
            </a:xfrm>
            <a:custGeom>
              <a:avLst/>
              <a:gdLst/>
              <a:ahLst/>
              <a:cxnLst/>
              <a:rect l="l" t="t" r="r" b="b"/>
              <a:pathLst>
                <a:path w="1929764" h="816610">
                  <a:moveTo>
                    <a:pt x="0" y="0"/>
                  </a:moveTo>
                  <a:lnTo>
                    <a:pt x="1929359" y="0"/>
                  </a:lnTo>
                  <a:lnTo>
                    <a:pt x="1929359" y="816327"/>
                  </a:lnTo>
                  <a:lnTo>
                    <a:pt x="0" y="816327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63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Determinant</a:t>
            </a:r>
            <a:r>
              <a:rPr spc="-135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dirty="0"/>
              <a:t>a</a:t>
            </a:r>
            <a:r>
              <a:rPr spc="-135" dirty="0"/>
              <a:t> </a:t>
            </a:r>
            <a:r>
              <a:rPr spc="-10" dirty="0"/>
              <a:t>Matrix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2084832"/>
            <a:ext cx="8303259" cy="311912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51155" marR="582295" indent="-339090">
              <a:lnSpc>
                <a:spcPct val="101899"/>
              </a:lnSpc>
              <a:spcBef>
                <a:spcPts val="25"/>
              </a:spcBef>
              <a:buChar char="•"/>
              <a:tabLst>
                <a:tab pos="351155" algn="l"/>
              </a:tabLst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Determinant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square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Calibri"/>
                <a:cs typeface="Calibri"/>
              </a:rPr>
              <a:t>det(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)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50" dirty="0">
                <a:solidFill>
                  <a:srgbClr val="3333CC"/>
                </a:solidFill>
                <a:latin typeface="Arial"/>
                <a:cs typeface="Arial"/>
              </a:rPr>
              <a:t>a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mapping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scalar</a:t>
            </a:r>
            <a:endParaRPr sz="3200">
              <a:latin typeface="Arial"/>
              <a:cs typeface="Arial"/>
            </a:endParaRPr>
          </a:p>
          <a:p>
            <a:pPr marL="351155" marR="5080" indent="-339090">
              <a:lnSpc>
                <a:spcPts val="3820"/>
              </a:lnSpc>
              <a:spcBef>
                <a:spcPts val="79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equal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product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all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eigenvalues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of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endParaRPr sz="3200">
              <a:latin typeface="Arial"/>
              <a:cs typeface="Arial"/>
            </a:endParaRPr>
          </a:p>
          <a:p>
            <a:pPr marL="351155" marR="602615" indent="-339090">
              <a:lnSpc>
                <a:spcPts val="3820"/>
              </a:lnSpc>
              <a:spcBef>
                <a:spcPts val="63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Measures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how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much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multiplication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the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expands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or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contracts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space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2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</a:t>
            </a:r>
            <a:r>
              <a:rPr spc="-295" dirty="0"/>
              <a:t> </a:t>
            </a:r>
            <a:r>
              <a:rPr spc="-25" dirty="0"/>
              <a:t>PCA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5723" y="1798320"/>
            <a:ext cx="8776970" cy="20497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1155" marR="5080" indent="-339090">
              <a:lnSpc>
                <a:spcPts val="3790"/>
              </a:lnSpc>
              <a:spcBef>
                <a:spcPts val="26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simple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ML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algorithm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3333CC"/>
                </a:solidFill>
                <a:latin typeface="Arial"/>
                <a:cs typeface="Arial"/>
              </a:rPr>
              <a:t>Principal</a:t>
            </a:r>
            <a:r>
              <a:rPr sz="3200" i="1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3333CC"/>
                </a:solidFill>
                <a:latin typeface="Arial"/>
                <a:cs typeface="Arial"/>
              </a:rPr>
              <a:t>Components Analysis</a:t>
            </a:r>
            <a:endParaRPr sz="3200">
              <a:latin typeface="Arial"/>
              <a:cs typeface="Arial"/>
            </a:endParaRPr>
          </a:p>
          <a:p>
            <a:pPr marL="351155" marR="8890" indent="-339090">
              <a:lnSpc>
                <a:spcPts val="3790"/>
              </a:lnSpc>
              <a:spcBef>
                <a:spcPts val="71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derived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using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only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knowledge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basic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linear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algebra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0">
              <a:lnSpc>
                <a:spcPct val="100000"/>
              </a:lnSpc>
              <a:spcBef>
                <a:spcPts val="100"/>
              </a:spcBef>
            </a:pPr>
            <a:r>
              <a:rPr dirty="0"/>
              <a:t>PCA</a:t>
            </a:r>
            <a:r>
              <a:rPr spc="-245" dirty="0"/>
              <a:t> </a:t>
            </a:r>
            <a:r>
              <a:rPr dirty="0"/>
              <a:t>Problem</a:t>
            </a:r>
            <a:r>
              <a:rPr spc="-25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9083" y="1783080"/>
            <a:ext cx="8312150" cy="385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Given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collection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m</a:t>
            </a:r>
            <a:r>
              <a:rPr sz="3200" i="1" spc="5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points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Calibri"/>
                <a:cs typeface="Calibri"/>
              </a:rPr>
              <a:t>{</a:t>
            </a:r>
            <a:r>
              <a:rPr sz="3200" b="1" i="1" dirty="0">
                <a:latin typeface="Calibri"/>
                <a:cs typeface="Calibri"/>
              </a:rPr>
              <a:t>x</a:t>
            </a:r>
            <a:r>
              <a:rPr sz="3150" baseline="23809" dirty="0">
                <a:latin typeface="Calibri"/>
                <a:cs typeface="Calibri"/>
              </a:rPr>
              <a:t>(1)</a:t>
            </a:r>
            <a:r>
              <a:rPr sz="3200" i="1" dirty="0">
                <a:latin typeface="Calibri"/>
                <a:cs typeface="Calibri"/>
              </a:rPr>
              <a:t>,..,</a:t>
            </a:r>
            <a:r>
              <a:rPr sz="3200" b="1" i="1" dirty="0">
                <a:latin typeface="Calibri"/>
                <a:cs typeface="Calibri"/>
              </a:rPr>
              <a:t>x</a:t>
            </a:r>
            <a:r>
              <a:rPr sz="3150" baseline="23809" dirty="0">
                <a:latin typeface="Calibri"/>
                <a:cs typeface="Calibri"/>
              </a:rPr>
              <a:t>(</a:t>
            </a:r>
            <a:r>
              <a:rPr sz="3150" i="1" baseline="23809" dirty="0">
                <a:latin typeface="Calibri"/>
                <a:cs typeface="Calibri"/>
              </a:rPr>
              <a:t>m</a:t>
            </a:r>
            <a:r>
              <a:rPr sz="3150" baseline="23809" dirty="0">
                <a:latin typeface="Calibri"/>
                <a:cs typeface="Calibri"/>
              </a:rPr>
              <a:t>)</a:t>
            </a:r>
            <a:r>
              <a:rPr sz="3200" dirty="0">
                <a:latin typeface="Calibri"/>
                <a:cs typeface="Calibri"/>
              </a:rPr>
              <a:t>}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25" dirty="0">
                <a:latin typeface="Calibri"/>
                <a:cs typeface="Calibri"/>
              </a:rPr>
              <a:t>R</a:t>
            </a:r>
            <a:r>
              <a:rPr sz="3150" i="1" spc="-37" baseline="23809" dirty="0">
                <a:latin typeface="Calibri"/>
                <a:cs typeface="Calibri"/>
              </a:rPr>
              <a:t>n</a:t>
            </a:r>
            <a:endParaRPr sz="3150" baseline="23809">
              <a:latin typeface="Calibri"/>
              <a:cs typeface="Calibri"/>
            </a:endParaRPr>
          </a:p>
          <a:p>
            <a:pPr marL="364490">
              <a:lnSpc>
                <a:spcPct val="100000"/>
              </a:lnSpc>
              <a:spcBef>
                <a:spcPts val="70"/>
              </a:spcBef>
            </a:pP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represent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them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lower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dimension.</a:t>
            </a:r>
            <a:endParaRPr sz="3200">
              <a:latin typeface="Arial"/>
              <a:cs typeface="Arial"/>
            </a:endParaRPr>
          </a:p>
          <a:p>
            <a:pPr marL="758190" lvl="1" indent="-281305">
              <a:lnSpc>
                <a:spcPct val="100000"/>
              </a:lnSpc>
              <a:spcBef>
                <a:spcPts val="450"/>
              </a:spcBef>
              <a:buChar char="–"/>
              <a:tabLst>
                <a:tab pos="75819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For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each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point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x</a:t>
            </a:r>
            <a:r>
              <a:rPr sz="2700" baseline="24691" dirty="0">
                <a:latin typeface="Calibri"/>
                <a:cs typeface="Calibri"/>
              </a:rPr>
              <a:t>(</a:t>
            </a:r>
            <a:r>
              <a:rPr sz="2700" i="1" baseline="24691" dirty="0">
                <a:latin typeface="Calibri"/>
                <a:cs typeface="Calibri"/>
              </a:rPr>
              <a:t>i</a:t>
            </a:r>
            <a:r>
              <a:rPr sz="2700" baseline="24691" dirty="0">
                <a:latin typeface="Calibri"/>
                <a:cs typeface="Calibri"/>
              </a:rPr>
              <a:t>)</a:t>
            </a:r>
            <a:r>
              <a:rPr sz="2700" spc="-30" baseline="2469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find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code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c</a:t>
            </a:r>
            <a:r>
              <a:rPr sz="2700" baseline="24691" dirty="0">
                <a:latin typeface="Calibri"/>
                <a:cs typeface="Calibri"/>
              </a:rPr>
              <a:t>(</a:t>
            </a:r>
            <a:r>
              <a:rPr sz="2700" i="1" baseline="24691" dirty="0">
                <a:latin typeface="Calibri"/>
                <a:cs typeface="Calibri"/>
              </a:rPr>
              <a:t>i</a:t>
            </a:r>
            <a:r>
              <a:rPr sz="2700" baseline="24691" dirty="0">
                <a:latin typeface="Calibri"/>
                <a:cs typeface="Calibri"/>
              </a:rPr>
              <a:t>)</a:t>
            </a:r>
            <a:r>
              <a:rPr sz="2700" spc="-30" baseline="2469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R</a:t>
            </a:r>
            <a:r>
              <a:rPr sz="2700" i="1" spc="-37" baseline="24691" dirty="0">
                <a:latin typeface="Calibri"/>
                <a:cs typeface="Calibri"/>
              </a:rPr>
              <a:t>l</a:t>
            </a:r>
            <a:endParaRPr sz="2700" baseline="24691">
              <a:latin typeface="Calibri"/>
              <a:cs typeface="Calibri"/>
            </a:endParaRPr>
          </a:p>
          <a:p>
            <a:pPr marL="758190" marR="415290" lvl="1" indent="-281305">
              <a:lnSpc>
                <a:spcPct val="101400"/>
              </a:lnSpc>
              <a:spcBef>
                <a:spcPts val="600"/>
              </a:spcBef>
              <a:buChar char="–"/>
              <a:tabLst>
                <a:tab pos="75946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If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l</a:t>
            </a:r>
            <a:r>
              <a:rPr sz="2800" i="1" spc="6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smaller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than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n</a:t>
            </a:r>
            <a:r>
              <a:rPr sz="2800" i="1" spc="6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it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will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take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less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memory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to 	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store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points</a:t>
            </a:r>
            <a:endParaRPr sz="2800">
              <a:latin typeface="Arial"/>
              <a:cs typeface="Arial"/>
            </a:endParaRPr>
          </a:p>
          <a:p>
            <a:pPr marL="758190" lvl="1" indent="-281305">
              <a:lnSpc>
                <a:spcPct val="100000"/>
              </a:lnSpc>
              <a:spcBef>
                <a:spcPts val="625"/>
              </a:spcBef>
              <a:buChar char="–"/>
              <a:tabLst>
                <a:tab pos="75819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This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lossy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compression</a:t>
            </a:r>
            <a:endParaRPr sz="2800">
              <a:latin typeface="Arial"/>
              <a:cs typeface="Arial"/>
            </a:endParaRPr>
          </a:p>
          <a:p>
            <a:pPr marL="758190" marR="366395" lvl="1" indent="-281305">
              <a:lnSpc>
                <a:spcPts val="3290"/>
              </a:lnSpc>
              <a:spcBef>
                <a:spcPts val="720"/>
              </a:spcBef>
              <a:buChar char="–"/>
              <a:tabLst>
                <a:tab pos="759460" algn="l"/>
                <a:tab pos="241300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Find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encoding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function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f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b="1" i="1" dirty="0">
                <a:latin typeface="Calibri"/>
                <a:cs typeface="Calibri"/>
              </a:rPr>
              <a:t>x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=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and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decoding 	function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x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i="1" dirty="0">
                <a:latin typeface="Calibri"/>
                <a:cs typeface="Calibri"/>
              </a:rPr>
              <a:t>≈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g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b="1" i="1" dirty="0">
                <a:latin typeface="Calibri"/>
                <a:cs typeface="Calibri"/>
              </a:rPr>
              <a:t>x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0390">
              <a:lnSpc>
                <a:spcPct val="100000"/>
              </a:lnSpc>
              <a:spcBef>
                <a:spcPts val="100"/>
              </a:spcBef>
            </a:pPr>
            <a:r>
              <a:rPr dirty="0"/>
              <a:t>PCA</a:t>
            </a:r>
            <a:r>
              <a:rPr spc="-215" dirty="0"/>
              <a:t> </a:t>
            </a:r>
            <a:r>
              <a:rPr dirty="0"/>
              <a:t>using</a:t>
            </a:r>
            <a:r>
              <a:rPr spc="-210" dirty="0"/>
              <a:t> </a:t>
            </a:r>
            <a:r>
              <a:rPr dirty="0"/>
              <a:t>Matrix</a:t>
            </a:r>
            <a:r>
              <a:rPr spc="-210" dirty="0"/>
              <a:t> </a:t>
            </a:r>
            <a:r>
              <a:rPr spc="-10" dirty="0"/>
              <a:t>multiplication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2100072"/>
            <a:ext cx="77101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One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choice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decoding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function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use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723" y="2490506"/>
            <a:ext cx="8663940" cy="42227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720"/>
              </a:spcBef>
              <a:tabLst>
                <a:tab pos="560260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multiplication: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g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b="1" i="1" dirty="0">
                <a:latin typeface="Calibri"/>
                <a:cs typeface="Calibri"/>
              </a:rPr>
              <a:t>c</a:t>
            </a:r>
            <a:r>
              <a:rPr sz="3200" dirty="0">
                <a:latin typeface="Calibri"/>
                <a:cs typeface="Calibri"/>
              </a:rPr>
              <a:t>)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Calibri"/>
                <a:cs typeface="Calibri"/>
              </a:rPr>
              <a:t>=D</a:t>
            </a:r>
            <a:r>
              <a:rPr sz="3200" b="1" i="1" spc="-25" dirty="0">
                <a:latin typeface="Calibri"/>
                <a:cs typeface="Calibri"/>
              </a:rPr>
              <a:t>c</a:t>
            </a:r>
            <a:r>
              <a:rPr sz="3200" b="1" i="1" dirty="0"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endParaRPr sz="3200">
              <a:latin typeface="Arial"/>
              <a:cs typeface="Arial"/>
            </a:endParaRPr>
          </a:p>
          <a:p>
            <a:pPr marL="464820">
              <a:lnSpc>
                <a:spcPct val="100000"/>
              </a:lnSpc>
              <a:spcBef>
                <a:spcPts val="545"/>
              </a:spcBef>
            </a:pPr>
            <a:r>
              <a:rPr sz="2800" dirty="0">
                <a:latin typeface="Calibri"/>
                <a:cs typeface="Calibri"/>
              </a:rPr>
              <a:t>–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</a:t>
            </a:r>
            <a:r>
              <a:rPr sz="2800" i="1" spc="7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with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l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columns</a:t>
            </a:r>
            <a:endParaRPr sz="2800">
              <a:latin typeface="Arial"/>
              <a:cs typeface="Arial"/>
            </a:endParaRPr>
          </a:p>
          <a:p>
            <a:pPr marL="351155" indent="-338455">
              <a:lnSpc>
                <a:spcPts val="3770"/>
              </a:lnSpc>
              <a:spcBef>
                <a:spcPts val="844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keep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encoding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easy,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require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columns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endParaRPr sz="3200">
              <a:latin typeface="Arial"/>
              <a:cs typeface="Arial"/>
            </a:endParaRPr>
          </a:p>
          <a:p>
            <a:pPr marL="351155">
              <a:lnSpc>
                <a:spcPts val="3770"/>
              </a:lnSpc>
            </a:pPr>
            <a:r>
              <a:rPr sz="3200" i="1" dirty="0">
                <a:latin typeface="Calibri"/>
                <a:cs typeface="Calibri"/>
              </a:rPr>
              <a:t>D</a:t>
            </a:r>
            <a:r>
              <a:rPr sz="3200" i="1" spc="8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orthogonal</a:t>
            </a:r>
            <a:r>
              <a:rPr sz="32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each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other</a:t>
            </a:r>
            <a:endParaRPr sz="3200">
              <a:latin typeface="Arial"/>
              <a:cs typeface="Arial"/>
            </a:endParaRPr>
          </a:p>
          <a:p>
            <a:pPr marL="747395" marR="134620" indent="-282575">
              <a:lnSpc>
                <a:spcPct val="100699"/>
              </a:lnSpc>
              <a:spcBef>
                <a:spcPts val="545"/>
              </a:spcBef>
              <a:tabLst>
                <a:tab pos="752284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constrain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solutions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require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columns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of</a:t>
            </a:r>
            <a:r>
              <a:rPr sz="2800" spc="-5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D</a:t>
            </a:r>
            <a:r>
              <a:rPr sz="2800" i="1" spc="90" dirty="0"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to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have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unit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norm</a:t>
            </a:r>
            <a:endParaRPr sz="28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6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need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find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optimal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code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c</a:t>
            </a:r>
            <a:r>
              <a:rPr sz="3200" i="1" dirty="0">
                <a:latin typeface="Calibri"/>
                <a:cs typeface="Calibri"/>
              </a:rPr>
              <a:t>*</a:t>
            </a:r>
            <a:r>
              <a:rPr sz="3200" i="1" spc="-7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given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Calibri"/>
                <a:cs typeface="Calibri"/>
              </a:rPr>
              <a:t>D</a:t>
            </a:r>
            <a:endParaRPr sz="32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64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Then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need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optimal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Calibri"/>
                <a:cs typeface="Calibri"/>
              </a:rPr>
              <a:t>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50601" y="2583074"/>
            <a:ext cx="99123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25" i="1" baseline="-24822" dirty="0">
                <a:latin typeface="Cambria"/>
                <a:cs typeface="Cambria"/>
              </a:rPr>
              <a:t>D</a:t>
            </a:r>
            <a:r>
              <a:rPr sz="3525" i="1" spc="-284" baseline="-24822" dirty="0">
                <a:latin typeface="Cambria"/>
                <a:cs typeface="Cambria"/>
              </a:rPr>
              <a:t> </a:t>
            </a:r>
            <a:r>
              <a:rPr sz="3525" spc="-82" baseline="-24822" dirty="0">
                <a:latin typeface="Symbol"/>
                <a:cs typeface="Symbol"/>
              </a:rPr>
              <a:t></a:t>
            </a:r>
            <a:r>
              <a:rPr sz="3525" spc="-82" baseline="-24822" dirty="0">
                <a:latin typeface="MT Extra"/>
                <a:cs typeface="MT Extra"/>
              </a:rPr>
              <a:t>�</a:t>
            </a:r>
            <a:r>
              <a:rPr sz="1350" i="1" spc="-55" dirty="0">
                <a:latin typeface="Cambria"/>
                <a:cs typeface="Cambria"/>
              </a:rPr>
              <a:t>n</a:t>
            </a:r>
            <a:r>
              <a:rPr sz="1350" spc="-55" dirty="0">
                <a:latin typeface="Symbol"/>
                <a:cs typeface="Symbol"/>
              </a:rPr>
              <a:t></a:t>
            </a:r>
            <a:r>
              <a:rPr sz="1350" i="1" spc="-55" dirty="0">
                <a:latin typeface="Cambria"/>
                <a:cs typeface="Cambria"/>
              </a:rPr>
              <a:t>l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230">
              <a:lnSpc>
                <a:spcPct val="100000"/>
              </a:lnSpc>
              <a:spcBef>
                <a:spcPts val="100"/>
              </a:spcBef>
            </a:pPr>
            <a:r>
              <a:rPr dirty="0"/>
              <a:t>Finding</a:t>
            </a:r>
            <a:r>
              <a:rPr spc="-240" dirty="0"/>
              <a:t> </a:t>
            </a:r>
            <a:r>
              <a:rPr dirty="0"/>
              <a:t>optimal</a:t>
            </a:r>
            <a:r>
              <a:rPr spc="-229" dirty="0"/>
              <a:t> </a:t>
            </a:r>
            <a:r>
              <a:rPr dirty="0"/>
              <a:t>code</a:t>
            </a:r>
            <a:r>
              <a:rPr spc="-240" dirty="0"/>
              <a:t> </a:t>
            </a:r>
            <a:r>
              <a:rPr dirty="0"/>
              <a:t>given</a:t>
            </a:r>
            <a:r>
              <a:rPr spc="-245" dirty="0"/>
              <a:t> </a:t>
            </a:r>
            <a:r>
              <a:rPr i="1" spc="-50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4813" y="6187440"/>
            <a:ext cx="23044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equivalent</a:t>
            </a:r>
            <a:r>
              <a:rPr sz="3200" spc="-2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5367" y="4014003"/>
            <a:ext cx="10287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i="1" spc="-50" dirty="0"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723" y="2084832"/>
            <a:ext cx="8835390" cy="19500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1155" marR="5080" indent="-339090">
              <a:lnSpc>
                <a:spcPct val="99100"/>
              </a:lnSpc>
              <a:spcBef>
                <a:spcPts val="135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generate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optimal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code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point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c*</a:t>
            </a:r>
            <a:r>
              <a:rPr sz="3200" i="1" spc="5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given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input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x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minimize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distance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between</a:t>
            </a:r>
            <a:r>
              <a:rPr sz="3200" spc="-1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input</a:t>
            </a:r>
            <a:r>
              <a:rPr sz="3200" spc="-1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point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spc="-50" dirty="0">
                <a:latin typeface="Calibri"/>
                <a:cs typeface="Calibri"/>
              </a:rPr>
              <a:t>x</a:t>
            </a:r>
            <a:r>
              <a:rPr sz="3200" b="1" i="1" spc="80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its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reconstruction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g</a:t>
            </a:r>
            <a:r>
              <a:rPr sz="3200" spc="-10" dirty="0">
                <a:latin typeface="Calibri"/>
                <a:cs typeface="Calibri"/>
              </a:rPr>
              <a:t>(</a:t>
            </a:r>
            <a:r>
              <a:rPr sz="3200" i="1" spc="-10" dirty="0">
                <a:latin typeface="Calibri"/>
                <a:cs typeface="Calibri"/>
              </a:rPr>
              <a:t>c*</a:t>
            </a:r>
            <a:r>
              <a:rPr sz="3200" spc="-1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2527935">
              <a:lnSpc>
                <a:spcPct val="100000"/>
              </a:lnSpc>
              <a:spcBef>
                <a:spcPts val="875"/>
              </a:spcBef>
              <a:tabLst>
                <a:tab pos="4143375" algn="l"/>
              </a:tabLst>
            </a:pPr>
            <a:r>
              <a:rPr sz="2350" b="1" i="1" dirty="0">
                <a:latin typeface="Times New Roman"/>
                <a:cs typeface="Times New Roman"/>
              </a:rPr>
              <a:t>c</a:t>
            </a:r>
            <a:r>
              <a:rPr sz="2350" dirty="0">
                <a:latin typeface="Cambria"/>
                <a:cs typeface="Cambria"/>
              </a:rPr>
              <a:t>*</a:t>
            </a:r>
            <a:r>
              <a:rPr sz="2350" spc="-60" dirty="0">
                <a:latin typeface="Cambria"/>
                <a:cs typeface="Cambria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12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Cambria"/>
                <a:cs typeface="Cambria"/>
              </a:rPr>
              <a:t>argmin</a:t>
            </a:r>
            <a:r>
              <a:rPr sz="2350" dirty="0">
                <a:latin typeface="Cambria"/>
                <a:cs typeface="Cambria"/>
              </a:rPr>
              <a:t>	</a:t>
            </a:r>
            <a:r>
              <a:rPr sz="2350" b="1" i="1" dirty="0">
                <a:latin typeface="Times New Roman"/>
                <a:cs typeface="Times New Roman"/>
              </a:rPr>
              <a:t>x</a:t>
            </a:r>
            <a:r>
              <a:rPr sz="2350" b="1" i="1" spc="-2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20" dirty="0">
                <a:latin typeface="Times New Roman"/>
                <a:cs typeface="Times New Roman"/>
              </a:rPr>
              <a:t> </a:t>
            </a:r>
            <a:r>
              <a:rPr sz="2350" i="1" spc="35" dirty="0">
                <a:latin typeface="Times New Roman"/>
                <a:cs typeface="Times New Roman"/>
              </a:rPr>
              <a:t>g</a:t>
            </a:r>
            <a:r>
              <a:rPr sz="2350" spc="35" dirty="0">
                <a:latin typeface="Cambria"/>
                <a:cs typeface="Cambria"/>
              </a:rPr>
              <a:t>(</a:t>
            </a:r>
            <a:r>
              <a:rPr sz="2350" b="1" i="1" spc="35" dirty="0">
                <a:latin typeface="Times New Roman"/>
                <a:cs typeface="Times New Roman"/>
              </a:rPr>
              <a:t>c</a:t>
            </a:r>
            <a:r>
              <a:rPr sz="2350" spc="35" dirty="0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86970" y="3655429"/>
            <a:ext cx="15240" cy="449580"/>
          </a:xfrm>
          <a:custGeom>
            <a:avLst/>
            <a:gdLst/>
            <a:ahLst/>
            <a:cxnLst/>
            <a:rect l="l" t="t" r="r" b="b"/>
            <a:pathLst>
              <a:path w="15239" h="449579">
                <a:moveTo>
                  <a:pt x="14913" y="0"/>
                </a:moveTo>
                <a:lnTo>
                  <a:pt x="0" y="0"/>
                </a:lnTo>
                <a:lnTo>
                  <a:pt x="0" y="448980"/>
                </a:lnTo>
                <a:lnTo>
                  <a:pt x="14913" y="448980"/>
                </a:lnTo>
                <a:lnTo>
                  <a:pt x="14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12401" y="3655429"/>
            <a:ext cx="15240" cy="449580"/>
          </a:xfrm>
          <a:custGeom>
            <a:avLst/>
            <a:gdLst/>
            <a:ahLst/>
            <a:cxnLst/>
            <a:rect l="l" t="t" r="r" b="b"/>
            <a:pathLst>
              <a:path w="15239" h="449579">
                <a:moveTo>
                  <a:pt x="14913" y="0"/>
                </a:moveTo>
                <a:lnTo>
                  <a:pt x="0" y="0"/>
                </a:lnTo>
                <a:lnTo>
                  <a:pt x="0" y="448980"/>
                </a:lnTo>
                <a:lnTo>
                  <a:pt x="14913" y="448980"/>
                </a:lnTo>
                <a:lnTo>
                  <a:pt x="14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59185" y="3655429"/>
            <a:ext cx="15240" cy="449580"/>
          </a:xfrm>
          <a:custGeom>
            <a:avLst/>
            <a:gdLst/>
            <a:ahLst/>
            <a:cxnLst/>
            <a:rect l="l" t="t" r="r" b="b"/>
            <a:pathLst>
              <a:path w="15239" h="449579">
                <a:moveTo>
                  <a:pt x="14912" y="0"/>
                </a:moveTo>
                <a:lnTo>
                  <a:pt x="0" y="0"/>
                </a:lnTo>
                <a:lnTo>
                  <a:pt x="0" y="448980"/>
                </a:lnTo>
                <a:lnTo>
                  <a:pt x="14912" y="448980"/>
                </a:lnTo>
                <a:lnTo>
                  <a:pt x="14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84617" y="3655429"/>
            <a:ext cx="15240" cy="449580"/>
          </a:xfrm>
          <a:custGeom>
            <a:avLst/>
            <a:gdLst/>
            <a:ahLst/>
            <a:cxnLst/>
            <a:rect l="l" t="t" r="r" b="b"/>
            <a:pathLst>
              <a:path w="15239" h="449579">
                <a:moveTo>
                  <a:pt x="14912" y="0"/>
                </a:moveTo>
                <a:lnTo>
                  <a:pt x="0" y="0"/>
                </a:lnTo>
                <a:lnTo>
                  <a:pt x="0" y="448980"/>
                </a:lnTo>
                <a:lnTo>
                  <a:pt x="14912" y="448980"/>
                </a:lnTo>
                <a:lnTo>
                  <a:pt x="14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59828" y="3934724"/>
            <a:ext cx="12192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50" dirty="0">
                <a:latin typeface="Cambria"/>
                <a:cs typeface="Cambria"/>
              </a:rPr>
              <a:t>2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0323" y="4193032"/>
            <a:ext cx="8574405" cy="20383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72795" marR="787400" indent="-282575">
              <a:lnSpc>
                <a:spcPct val="101400"/>
              </a:lnSpc>
              <a:spcBef>
                <a:spcPts val="5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Using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squared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L</a:t>
            </a:r>
            <a:r>
              <a:rPr sz="2700" baseline="24691" dirty="0">
                <a:latin typeface="Calibri"/>
                <a:cs typeface="Calibri"/>
              </a:rPr>
              <a:t>2</a:t>
            </a:r>
            <a:r>
              <a:rPr sz="2700" spc="367" baseline="24691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instead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Calibri"/>
                <a:cs typeface="Calibri"/>
              </a:rPr>
              <a:t>L</a:t>
            </a:r>
            <a:r>
              <a:rPr sz="2700" baseline="24691" dirty="0">
                <a:latin typeface="Calibri"/>
                <a:cs typeface="Calibri"/>
              </a:rPr>
              <a:t>2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,</a:t>
            </a:r>
            <a:r>
              <a:rPr sz="2800" spc="-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function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being minimized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equivalent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endParaRPr sz="2800">
              <a:latin typeface="Arial"/>
              <a:cs typeface="Arial"/>
            </a:endParaRPr>
          </a:p>
          <a:p>
            <a:pPr marL="2609850">
              <a:lnSpc>
                <a:spcPct val="100000"/>
              </a:lnSpc>
              <a:spcBef>
                <a:spcPts val="1814"/>
              </a:spcBef>
            </a:pPr>
            <a:r>
              <a:rPr sz="2350" dirty="0">
                <a:latin typeface="Cambria"/>
                <a:cs typeface="Cambria"/>
              </a:rPr>
              <a:t>(</a:t>
            </a:r>
            <a:r>
              <a:rPr sz="2350" spc="-295" dirty="0">
                <a:latin typeface="Cambria"/>
                <a:cs typeface="Cambria"/>
              </a:rPr>
              <a:t> </a:t>
            </a:r>
            <a:r>
              <a:rPr sz="2350" b="1" i="1" dirty="0">
                <a:latin typeface="Times New Roman"/>
                <a:cs typeface="Times New Roman"/>
              </a:rPr>
              <a:t>x</a:t>
            </a:r>
            <a:r>
              <a:rPr sz="2350" b="1" i="1" spc="-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0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g</a:t>
            </a:r>
            <a:r>
              <a:rPr sz="2350" dirty="0">
                <a:latin typeface="Cambria"/>
                <a:cs typeface="Cambria"/>
              </a:rPr>
              <a:t>(</a:t>
            </a:r>
            <a:r>
              <a:rPr sz="2350" b="1" i="1" dirty="0">
                <a:latin typeface="Times New Roman"/>
                <a:cs typeface="Times New Roman"/>
              </a:rPr>
              <a:t>c</a:t>
            </a:r>
            <a:r>
              <a:rPr sz="2350" dirty="0">
                <a:latin typeface="Cambria"/>
                <a:cs typeface="Cambria"/>
              </a:rPr>
              <a:t>))</a:t>
            </a:r>
            <a:r>
              <a:rPr sz="2025" i="1" baseline="43209" dirty="0">
                <a:latin typeface="Cambria"/>
                <a:cs typeface="Cambria"/>
              </a:rPr>
              <a:t>T</a:t>
            </a:r>
            <a:r>
              <a:rPr sz="2025" i="1" spc="-67" baseline="43209" dirty="0">
                <a:latin typeface="Cambria"/>
                <a:cs typeface="Cambria"/>
              </a:rPr>
              <a:t> </a:t>
            </a:r>
            <a:r>
              <a:rPr sz="2350" dirty="0">
                <a:latin typeface="Cambria"/>
                <a:cs typeface="Cambria"/>
              </a:rPr>
              <a:t>(</a:t>
            </a:r>
            <a:r>
              <a:rPr sz="2350" spc="-295" dirty="0">
                <a:latin typeface="Cambria"/>
                <a:cs typeface="Cambria"/>
              </a:rPr>
              <a:t> </a:t>
            </a:r>
            <a:r>
              <a:rPr sz="2350" b="1" i="1" dirty="0">
                <a:latin typeface="Times New Roman"/>
                <a:cs typeface="Times New Roman"/>
              </a:rPr>
              <a:t>x</a:t>
            </a:r>
            <a:r>
              <a:rPr sz="2350" b="1" i="1" spc="-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05" dirty="0">
                <a:latin typeface="Times New Roman"/>
                <a:cs typeface="Times New Roman"/>
              </a:rPr>
              <a:t> </a:t>
            </a:r>
            <a:r>
              <a:rPr sz="2350" i="1" spc="-20" dirty="0">
                <a:latin typeface="Times New Roman"/>
                <a:cs typeface="Times New Roman"/>
              </a:rPr>
              <a:t>g</a:t>
            </a:r>
            <a:r>
              <a:rPr sz="2350" spc="-20" dirty="0">
                <a:latin typeface="Cambria"/>
                <a:cs typeface="Cambria"/>
              </a:rPr>
              <a:t>(</a:t>
            </a:r>
            <a:r>
              <a:rPr sz="2350" b="1" i="1" spc="-20" dirty="0">
                <a:latin typeface="Times New Roman"/>
                <a:cs typeface="Times New Roman"/>
              </a:rPr>
              <a:t>c</a:t>
            </a:r>
            <a:r>
              <a:rPr sz="2350" spc="-20" dirty="0">
                <a:latin typeface="Cambria"/>
                <a:cs typeface="Cambria"/>
              </a:rPr>
              <a:t>))</a:t>
            </a:r>
            <a:endParaRPr sz="2350">
              <a:latin typeface="Cambria"/>
              <a:cs typeface="Cambria"/>
            </a:endParaRPr>
          </a:p>
          <a:p>
            <a:pPr marL="376555" indent="-338455">
              <a:lnSpc>
                <a:spcPct val="100000"/>
              </a:lnSpc>
              <a:spcBef>
                <a:spcPts val="605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Using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g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)=</a:t>
            </a:r>
            <a:r>
              <a:rPr sz="2800" i="1" spc="-10" dirty="0">
                <a:latin typeface="Calibri"/>
                <a:cs typeface="Calibri"/>
              </a:rPr>
              <a:t>D</a:t>
            </a:r>
            <a:r>
              <a:rPr sz="2800" b="1" i="1" spc="-10" dirty="0">
                <a:latin typeface="Calibri"/>
                <a:cs typeface="Calibri"/>
              </a:rPr>
              <a:t>c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optimal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code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shown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06168" y="6410395"/>
            <a:ext cx="328041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350" b="1" i="1" dirty="0">
                <a:latin typeface="Times New Roman"/>
                <a:cs typeface="Times New Roman"/>
              </a:rPr>
              <a:t>c</a:t>
            </a:r>
            <a:r>
              <a:rPr sz="2350" dirty="0">
                <a:latin typeface="Cambria"/>
                <a:cs typeface="Cambria"/>
              </a:rPr>
              <a:t>*</a:t>
            </a:r>
            <a:r>
              <a:rPr sz="2350" spc="-50" dirty="0">
                <a:latin typeface="Cambria"/>
                <a:cs typeface="Cambria"/>
              </a:rPr>
              <a:t> 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spc="-10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Cambria"/>
                <a:cs typeface="Cambria"/>
              </a:rPr>
              <a:t>argmin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spc="-170" dirty="0">
                <a:latin typeface="Times New Roman"/>
                <a:cs typeface="Times New Roman"/>
              </a:rPr>
              <a:t> </a:t>
            </a:r>
            <a:r>
              <a:rPr sz="2350" i="1" spc="95" dirty="0">
                <a:latin typeface="Times New Roman"/>
                <a:cs typeface="Times New Roman"/>
              </a:rPr>
              <a:t>2</a:t>
            </a:r>
            <a:r>
              <a:rPr sz="2350" b="1" i="1" spc="95" dirty="0">
                <a:latin typeface="Times New Roman"/>
                <a:cs typeface="Times New Roman"/>
              </a:rPr>
              <a:t>x</a:t>
            </a:r>
            <a:r>
              <a:rPr sz="2025" i="1" spc="142" baseline="43209" dirty="0">
                <a:latin typeface="Times New Roman"/>
                <a:cs typeface="Times New Roman"/>
              </a:rPr>
              <a:t>T</a:t>
            </a:r>
            <a:r>
              <a:rPr sz="2025" i="1" spc="195" baseline="43209" dirty="0">
                <a:latin typeface="Times New Roman"/>
                <a:cs typeface="Times New Roman"/>
              </a:rPr>
              <a:t> </a:t>
            </a:r>
            <a:r>
              <a:rPr sz="2350" i="1" spc="-20" dirty="0">
                <a:latin typeface="Times New Roman"/>
                <a:cs typeface="Times New Roman"/>
              </a:rPr>
              <a:t>D</a:t>
            </a:r>
            <a:r>
              <a:rPr sz="2350" b="1" i="1" spc="-20" dirty="0">
                <a:latin typeface="Times New Roman"/>
                <a:cs typeface="Times New Roman"/>
              </a:rPr>
              <a:t>c</a:t>
            </a:r>
            <a:r>
              <a:rPr sz="2350" b="1" i="1" spc="-33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+</a:t>
            </a:r>
            <a:r>
              <a:rPr sz="2350" i="1" spc="-340" dirty="0">
                <a:latin typeface="Times New Roman"/>
                <a:cs typeface="Times New Roman"/>
              </a:rPr>
              <a:t> </a:t>
            </a:r>
            <a:r>
              <a:rPr sz="2350" b="1" i="1" spc="50" dirty="0">
                <a:latin typeface="Times New Roman"/>
                <a:cs typeface="Times New Roman"/>
              </a:rPr>
              <a:t>c</a:t>
            </a:r>
            <a:r>
              <a:rPr sz="2025" i="1" spc="75" baseline="43209" dirty="0">
                <a:latin typeface="Times New Roman"/>
                <a:cs typeface="Times New Roman"/>
              </a:rPr>
              <a:t>T</a:t>
            </a:r>
            <a:r>
              <a:rPr sz="2025" i="1" spc="-67" baseline="43209" dirty="0">
                <a:latin typeface="Times New Roman"/>
                <a:cs typeface="Times New Roman"/>
              </a:rPr>
              <a:t> </a:t>
            </a:r>
            <a:r>
              <a:rPr sz="2350" b="1" i="1" spc="-50" dirty="0"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685">
              <a:lnSpc>
                <a:spcPct val="100000"/>
              </a:lnSpc>
              <a:spcBef>
                <a:spcPts val="100"/>
              </a:spcBef>
            </a:pPr>
            <a:r>
              <a:rPr dirty="0"/>
              <a:t>Optimal</a:t>
            </a:r>
            <a:r>
              <a:rPr spc="-229" dirty="0"/>
              <a:t> </a:t>
            </a:r>
            <a:r>
              <a:rPr spc="-10" dirty="0"/>
              <a:t>Encoding</a:t>
            </a:r>
            <a:r>
              <a:rPr spc="-229" dirty="0"/>
              <a:t> </a:t>
            </a:r>
            <a:r>
              <a:rPr dirty="0"/>
              <a:t>for</a:t>
            </a:r>
            <a:r>
              <a:rPr spc="-229" dirty="0"/>
              <a:t> </a:t>
            </a:r>
            <a:r>
              <a:rPr spc="-25" dirty="0"/>
              <a:t>PCA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723" y="2100072"/>
            <a:ext cx="41586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Using</a:t>
            </a:r>
            <a:r>
              <a:rPr sz="3200" spc="-1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calculus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323" y="2961186"/>
            <a:ext cx="8251190" cy="32232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79060">
              <a:lnSpc>
                <a:spcPts val="2295"/>
              </a:lnSpc>
              <a:spcBef>
                <a:spcPts val="135"/>
              </a:spcBef>
            </a:pPr>
            <a:r>
              <a:rPr sz="2000" i="1" dirty="0">
                <a:latin typeface="Cambria"/>
                <a:cs typeface="Cambria"/>
              </a:rPr>
              <a:t>c</a:t>
            </a:r>
            <a:r>
              <a:rPr sz="2000" i="1" spc="5" dirty="0">
                <a:latin typeface="Cambria"/>
                <a:cs typeface="Cambria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</a:t>
            </a:r>
            <a:r>
              <a:rPr sz="1725" i="1" baseline="43478" dirty="0">
                <a:latin typeface="Cambria"/>
                <a:cs typeface="Cambria"/>
              </a:rPr>
              <a:t>T</a:t>
            </a:r>
            <a:r>
              <a:rPr sz="1725" i="1" spc="97" baseline="43478" dirty="0">
                <a:latin typeface="Cambria"/>
                <a:cs typeface="Cambria"/>
              </a:rPr>
              <a:t> </a:t>
            </a:r>
            <a:r>
              <a:rPr sz="2000" b="1" i="1" spc="-60" dirty="0"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  <a:p>
            <a:pPr marL="376555" marR="30480" indent="-339090">
              <a:lnSpc>
                <a:spcPts val="3790"/>
              </a:lnSpc>
              <a:spcBef>
                <a:spcPts val="6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Thus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we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sz="32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encode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Calibri"/>
                <a:cs typeface="Calibri"/>
              </a:rPr>
              <a:t>x</a:t>
            </a:r>
            <a:r>
              <a:rPr sz="3200" b="1" i="1" spc="9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using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3333CC"/>
                </a:solidFill>
                <a:latin typeface="Arial"/>
                <a:cs typeface="Arial"/>
              </a:rPr>
              <a:t>matrix-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vector operation</a:t>
            </a:r>
            <a:endParaRPr sz="3200">
              <a:latin typeface="Arial"/>
              <a:cs typeface="Arial"/>
            </a:endParaRPr>
          </a:p>
          <a:p>
            <a:pPr marL="771525" lvl="1" indent="-281305">
              <a:lnSpc>
                <a:spcPct val="100000"/>
              </a:lnSpc>
              <a:spcBef>
                <a:spcPts val="450"/>
              </a:spcBef>
              <a:buChar char="–"/>
              <a:tabLst>
                <a:tab pos="7715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encode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use</a:t>
            </a:r>
            <a:r>
              <a:rPr sz="2800" spc="-10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f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i="1" spc="-10" dirty="0">
                <a:latin typeface="Calibri"/>
                <a:cs typeface="Calibri"/>
              </a:rPr>
              <a:t>=D</a:t>
            </a:r>
            <a:r>
              <a:rPr sz="2700" i="1" spc="-15" baseline="24691" dirty="0">
                <a:latin typeface="Calibri"/>
                <a:cs typeface="Calibri"/>
              </a:rPr>
              <a:t>T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endParaRPr sz="2800">
              <a:latin typeface="Calibri"/>
              <a:cs typeface="Calibri"/>
            </a:endParaRPr>
          </a:p>
          <a:p>
            <a:pPr marL="771525" lvl="1" indent="-281305">
              <a:lnSpc>
                <a:spcPts val="3335"/>
              </a:lnSpc>
              <a:spcBef>
                <a:spcPts val="625"/>
              </a:spcBef>
              <a:buChar char="–"/>
              <a:tabLst>
                <a:tab pos="7715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For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PCA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reconstruction,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since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g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i="1" spc="-10" dirty="0">
                <a:latin typeface="Calibri"/>
                <a:cs typeface="Calibri"/>
              </a:rPr>
              <a:t>=D</a:t>
            </a:r>
            <a:r>
              <a:rPr sz="2800" b="1" i="1" spc="-10" dirty="0">
                <a:latin typeface="Calibri"/>
                <a:cs typeface="Calibri"/>
              </a:rPr>
              <a:t>c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use</a:t>
            </a:r>
            <a:endParaRPr sz="2800">
              <a:latin typeface="Arial"/>
              <a:cs typeface="Arial"/>
            </a:endParaRPr>
          </a:p>
          <a:p>
            <a:pPr marL="772795">
              <a:lnSpc>
                <a:spcPts val="3335"/>
              </a:lnSpc>
            </a:pPr>
            <a:r>
              <a:rPr sz="2800" i="1" spc="-1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i="1" spc="-10" dirty="0">
                <a:latin typeface="Calibri"/>
                <a:cs typeface="Calibri"/>
              </a:rPr>
              <a:t>=g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i="1" spc="-10" dirty="0">
                <a:latin typeface="Calibri"/>
                <a:cs typeface="Calibri"/>
              </a:rPr>
              <a:t>f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r>
              <a:rPr sz="2800" spc="-10" dirty="0">
                <a:latin typeface="Calibri"/>
                <a:cs typeface="Calibri"/>
              </a:rPr>
              <a:t>))</a:t>
            </a:r>
            <a:r>
              <a:rPr sz="2800" i="1" spc="-10" dirty="0">
                <a:latin typeface="Calibri"/>
                <a:cs typeface="Calibri"/>
              </a:rPr>
              <a:t>=DD</a:t>
            </a:r>
            <a:r>
              <a:rPr sz="2700" i="1" spc="-15" baseline="24691" dirty="0">
                <a:latin typeface="Calibri"/>
                <a:cs typeface="Calibri"/>
              </a:rPr>
              <a:t>T</a:t>
            </a:r>
            <a:r>
              <a:rPr sz="2800" b="1" i="1" spc="-10" dirty="0">
                <a:latin typeface="Calibri"/>
                <a:cs typeface="Calibri"/>
              </a:rPr>
              <a:t>x</a:t>
            </a:r>
            <a:endParaRPr sz="2800">
              <a:latin typeface="Calibri"/>
              <a:cs typeface="Calibri"/>
            </a:endParaRPr>
          </a:p>
          <a:p>
            <a:pPr marL="771525" lvl="1" indent="-281305">
              <a:lnSpc>
                <a:spcPct val="100000"/>
              </a:lnSpc>
              <a:spcBef>
                <a:spcPts val="745"/>
              </a:spcBef>
              <a:buChar char="–"/>
              <a:tabLst>
                <a:tab pos="7715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Next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we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need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choose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encoding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matrix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01571" y="2120189"/>
            <a:ext cx="23221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Symbol"/>
                <a:cs typeface="Symbol"/>
              </a:rPr>
              <a:t>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Cambria"/>
                <a:cs typeface="Cambria"/>
              </a:rPr>
              <a:t>(</a:t>
            </a:r>
            <a:r>
              <a:rPr sz="2000" spc="65" dirty="0">
                <a:latin typeface="Symbol"/>
                <a:cs typeface="Symbol"/>
              </a:rPr>
              <a:t></a:t>
            </a:r>
            <a:r>
              <a:rPr sz="2000" i="1" spc="65" dirty="0">
                <a:latin typeface="Times New Roman"/>
                <a:cs typeface="Times New Roman"/>
              </a:rPr>
              <a:t>2</a:t>
            </a:r>
            <a:r>
              <a:rPr sz="2000" b="1" i="1" spc="65" dirty="0">
                <a:latin typeface="Times New Roman"/>
                <a:cs typeface="Times New Roman"/>
              </a:rPr>
              <a:t>x</a:t>
            </a:r>
            <a:r>
              <a:rPr sz="1725" i="1" spc="97" baseline="43478" dirty="0">
                <a:latin typeface="Times New Roman"/>
                <a:cs typeface="Times New Roman"/>
              </a:rPr>
              <a:t>T</a:t>
            </a:r>
            <a:r>
              <a:rPr sz="1725" i="1" spc="120" baseline="43478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D</a:t>
            </a:r>
            <a:r>
              <a:rPr sz="2000" b="1" i="1" spc="-10" dirty="0">
                <a:latin typeface="Times New Roman"/>
                <a:cs typeface="Times New Roman"/>
              </a:rPr>
              <a:t>c</a:t>
            </a:r>
            <a:r>
              <a:rPr sz="2000" b="1" i="1" spc="-30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+</a:t>
            </a:r>
            <a:r>
              <a:rPr sz="2000" i="1" spc="-30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</a:t>
            </a:r>
            <a:r>
              <a:rPr sz="1725" i="1" baseline="43478" dirty="0">
                <a:latin typeface="Times New Roman"/>
                <a:cs typeface="Times New Roman"/>
              </a:rPr>
              <a:t>T</a:t>
            </a:r>
            <a:r>
              <a:rPr sz="1725" i="1" spc="-82" baseline="43478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c)</a:t>
            </a:r>
            <a:r>
              <a:rPr sz="2000" b="1" i="1" spc="-2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=</a:t>
            </a:r>
            <a:r>
              <a:rPr sz="2000" b="1" i="1" spc="-120" dirty="0">
                <a:latin typeface="Times New Roman"/>
                <a:cs typeface="Times New Roman"/>
              </a:rPr>
              <a:t> </a:t>
            </a:r>
            <a:r>
              <a:rPr sz="2000" b="1" i="1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06953" y="2287955"/>
            <a:ext cx="1628139" cy="6076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395"/>
              </a:spcBef>
            </a:pPr>
            <a:r>
              <a:rPr sz="1150" i="1" spc="-50" dirty="0">
                <a:latin typeface="Cambria"/>
                <a:cs typeface="Cambria"/>
              </a:rPr>
              <a:t>c</a:t>
            </a:r>
            <a:endParaRPr sz="115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Symbol"/>
                <a:cs typeface="Symbol"/>
              </a:rPr>
              <a:t></a:t>
            </a:r>
            <a:r>
              <a:rPr sz="2000" i="1" dirty="0">
                <a:latin typeface="Times New Roman"/>
                <a:cs typeface="Times New Roman"/>
              </a:rPr>
              <a:t>2D</a:t>
            </a:r>
            <a:r>
              <a:rPr sz="1725" i="1" baseline="43478" dirty="0">
                <a:latin typeface="Cambria"/>
                <a:cs typeface="Cambria"/>
              </a:rPr>
              <a:t>T</a:t>
            </a:r>
            <a:r>
              <a:rPr sz="1725" i="1" spc="112" baseline="43478" dirty="0">
                <a:latin typeface="Cambria"/>
                <a:cs typeface="Cambria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x</a:t>
            </a:r>
            <a:r>
              <a:rPr sz="2000" b="1" i="1" spc="-28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+</a:t>
            </a:r>
            <a:r>
              <a:rPr sz="2000" i="1" spc="-3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2</a:t>
            </a:r>
            <a:r>
              <a:rPr sz="2000" b="1" i="1" dirty="0">
                <a:latin typeface="Times New Roman"/>
                <a:cs typeface="Times New Roman"/>
              </a:rPr>
              <a:t>c</a:t>
            </a:r>
            <a:r>
              <a:rPr sz="2000" b="1" i="1" spc="-1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=</a:t>
            </a:r>
            <a:r>
              <a:rPr sz="2000" b="1" i="1" spc="-105" dirty="0">
                <a:latin typeface="Times New Roman"/>
                <a:cs typeface="Times New Roman"/>
              </a:rPr>
              <a:t> </a:t>
            </a:r>
            <a:r>
              <a:rPr sz="2000" b="1" i="1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1219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6097" y="516128"/>
            <a:ext cx="45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83527" y="704088"/>
            <a:ext cx="69456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</a:t>
            </a:r>
            <a:r>
              <a:rPr spc="-220" dirty="0"/>
              <a:t> </a:t>
            </a:r>
            <a:r>
              <a:rPr dirty="0"/>
              <a:t>for</a:t>
            </a:r>
            <a:r>
              <a:rPr spc="-215" dirty="0"/>
              <a:t> </a:t>
            </a:r>
            <a:r>
              <a:rPr dirty="0"/>
              <a:t>finding</a:t>
            </a:r>
            <a:r>
              <a:rPr spc="-215" dirty="0"/>
              <a:t> </a:t>
            </a:r>
            <a:r>
              <a:rPr spc="-10" dirty="0"/>
              <a:t>optimal</a:t>
            </a:r>
            <a:r>
              <a:rPr spc="-229" dirty="0"/>
              <a:t> </a:t>
            </a:r>
            <a:r>
              <a:rPr i="1" spc="-50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0323" y="1408176"/>
            <a:ext cx="8608060" cy="201485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76555" marR="41275" indent="-339090">
              <a:lnSpc>
                <a:spcPct val="101299"/>
              </a:lnSpc>
              <a:spcBef>
                <a:spcPts val="50"/>
              </a:spcBef>
              <a:buChar char="•"/>
              <a:tabLst>
                <a:tab pos="3765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Revisit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idea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minimizing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3150" baseline="23809" dirty="0">
                <a:latin typeface="Calibri"/>
                <a:cs typeface="Calibri"/>
              </a:rPr>
              <a:t>2</a:t>
            </a:r>
            <a:r>
              <a:rPr sz="3150" spc="494" baseline="23809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distance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between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inputs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reconstructions</a:t>
            </a:r>
            <a:endParaRPr sz="3200">
              <a:latin typeface="Arial"/>
              <a:cs typeface="Arial"/>
            </a:endParaRPr>
          </a:p>
          <a:p>
            <a:pPr marL="771525" lvl="1" indent="-281305">
              <a:lnSpc>
                <a:spcPct val="100000"/>
              </a:lnSpc>
              <a:spcBef>
                <a:spcPts val="565"/>
              </a:spcBef>
              <a:buChar char="–"/>
              <a:tabLst>
                <a:tab pos="77152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But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cannot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consider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points</a:t>
            </a:r>
            <a:r>
              <a:rPr sz="2800" spc="-13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isolation</a:t>
            </a:r>
            <a:endParaRPr sz="2800">
              <a:latin typeface="Arial"/>
              <a:cs typeface="Arial"/>
            </a:endParaRPr>
          </a:p>
          <a:p>
            <a:pPr marL="869950" lvl="1" indent="-379730">
              <a:lnSpc>
                <a:spcPct val="100000"/>
              </a:lnSpc>
              <a:spcBef>
                <a:spcPts val="650"/>
              </a:spcBef>
              <a:buChar char="–"/>
              <a:tabLst>
                <a:tab pos="869950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So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minimize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error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over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all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points:</a:t>
            </a:r>
            <a:r>
              <a:rPr sz="2800" spc="-12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Frobenius</a:t>
            </a:r>
            <a:r>
              <a:rPr sz="2800" spc="-12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norm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4563" y="4036567"/>
            <a:ext cx="2416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 indent="-224790">
              <a:lnSpc>
                <a:spcPct val="100000"/>
              </a:lnSpc>
              <a:spcBef>
                <a:spcPts val="100"/>
              </a:spcBef>
              <a:buChar char="•"/>
              <a:tabLst>
                <a:tab pos="262890" algn="l"/>
              </a:tabLst>
            </a:pP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subject</a:t>
            </a:r>
            <a:r>
              <a:rPr sz="2400" spc="-1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60066"/>
                </a:solidFill>
                <a:latin typeface="Arial"/>
                <a:cs typeface="Arial"/>
              </a:rPr>
              <a:t>to</a:t>
            </a:r>
            <a:r>
              <a:rPr sz="2400" spc="-114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D</a:t>
            </a:r>
            <a:r>
              <a:rPr sz="2400" i="1" spc="-15" baseline="24305" dirty="0">
                <a:latin typeface="Calibri"/>
                <a:cs typeface="Calibri"/>
              </a:rPr>
              <a:t>T</a:t>
            </a:r>
            <a:r>
              <a:rPr sz="2400" i="1" spc="-10" dirty="0">
                <a:latin typeface="Calibri"/>
                <a:cs typeface="Calibri"/>
              </a:rPr>
              <a:t>D=I</a:t>
            </a:r>
            <a:r>
              <a:rPr sz="2400" i="1" spc="-15" baseline="-17361" dirty="0">
                <a:latin typeface="Calibri"/>
                <a:cs typeface="Calibri"/>
              </a:rPr>
              <a:t>l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723" y="4492752"/>
            <a:ext cx="40309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Use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design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1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X,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723" y="4991861"/>
            <a:ext cx="8558530" cy="1565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482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9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Given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by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stacking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all</a:t>
            </a:r>
            <a:r>
              <a:rPr sz="2800" spc="-10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vectors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describing</a:t>
            </a:r>
            <a:r>
              <a:rPr sz="2800" spc="-11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114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points</a:t>
            </a:r>
            <a:endParaRPr sz="2800">
              <a:latin typeface="Arial"/>
              <a:cs typeface="Arial"/>
            </a:endParaRPr>
          </a:p>
          <a:p>
            <a:pPr marL="351155" marR="870585" indent="-339090">
              <a:lnSpc>
                <a:spcPts val="3700"/>
              </a:lnSpc>
              <a:spcBef>
                <a:spcPts val="890"/>
              </a:spcBef>
              <a:buChar char="•"/>
              <a:tabLst>
                <a:tab pos="3511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derive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algorithm</a:t>
            </a:r>
            <a:r>
              <a:rPr sz="3200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finding</a:t>
            </a:r>
            <a:r>
              <a:rPr sz="3200" spc="-1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D*</a:t>
            </a:r>
            <a:r>
              <a:rPr sz="3200" i="1" spc="-11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start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CC"/>
                </a:solidFill>
                <a:latin typeface="Arial"/>
                <a:cs typeface="Arial"/>
              </a:rPr>
              <a:t>by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considering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case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3200" i="1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=1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7844" y="6616191"/>
            <a:ext cx="60909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In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this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case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just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a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single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vector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00650" y="6544055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65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69499" y="3749480"/>
            <a:ext cx="1098550" cy="421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i="1" dirty="0">
                <a:latin typeface="Times New Roman"/>
                <a:cs typeface="Times New Roman"/>
              </a:rPr>
              <a:t>D*</a:t>
            </a:r>
            <a:r>
              <a:rPr sz="1600" i="1" spc="-19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=</a:t>
            </a:r>
            <a:r>
              <a:rPr sz="1600" i="1" spc="-1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ambria"/>
                <a:cs typeface="Cambria"/>
              </a:rPr>
              <a:t>argmin</a:t>
            </a:r>
            <a:endParaRPr sz="1600">
              <a:latin typeface="Cambria"/>
              <a:cs typeface="Cambria"/>
            </a:endParaRPr>
          </a:p>
          <a:p>
            <a:pPr marL="728345">
              <a:lnSpc>
                <a:spcPct val="100000"/>
              </a:lnSpc>
              <a:spcBef>
                <a:spcPts val="25"/>
              </a:spcBef>
            </a:pPr>
            <a:r>
              <a:rPr sz="950" i="1" spc="-50" dirty="0">
                <a:latin typeface="Cambria"/>
                <a:cs typeface="Cambria"/>
              </a:rPr>
              <a:t>D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17464" y="3744084"/>
            <a:ext cx="158750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950" dirty="0">
                <a:latin typeface="Cambria"/>
                <a:cs typeface="Cambria"/>
              </a:rPr>
              <a:t>(</a:t>
            </a:r>
            <a:r>
              <a:rPr sz="950" i="1" dirty="0">
                <a:latin typeface="Cambria"/>
                <a:cs typeface="Cambria"/>
              </a:rPr>
              <a:t>i</a:t>
            </a:r>
            <a:r>
              <a:rPr sz="950" i="1" spc="-55" dirty="0">
                <a:latin typeface="Cambria"/>
                <a:cs typeface="Cambria"/>
              </a:rPr>
              <a:t> </a:t>
            </a:r>
            <a:r>
              <a:rPr sz="950" spc="-50" dirty="0">
                <a:latin typeface="Cambria"/>
                <a:cs typeface="Cambria"/>
              </a:rPr>
              <a:t>)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7492" y="3749480"/>
            <a:ext cx="75057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93370" algn="l"/>
              </a:tabLst>
            </a:pPr>
            <a:r>
              <a:rPr sz="1600" b="1" i="1" spc="-50" dirty="0">
                <a:latin typeface="Times New Roman"/>
                <a:cs typeface="Times New Roman"/>
              </a:rPr>
              <a:t>x</a:t>
            </a:r>
            <a:r>
              <a:rPr sz="1600" b="1" i="1" dirty="0">
                <a:latin typeface="Times New Roman"/>
                <a:cs typeface="Times New Roman"/>
              </a:rPr>
              <a:t>	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18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Cambria"/>
                <a:cs typeface="Cambria"/>
              </a:rPr>
              <a:t>r</a:t>
            </a:r>
            <a:r>
              <a:rPr sz="1600" i="1" spc="110" dirty="0">
                <a:latin typeface="Cambria"/>
                <a:cs typeface="Cambria"/>
              </a:rPr>
              <a:t>  </a:t>
            </a:r>
            <a:r>
              <a:rPr sz="1600" b="1" i="1" spc="-50" dirty="0"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51421" y="3744084"/>
            <a:ext cx="158750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950" dirty="0">
                <a:latin typeface="Cambria"/>
                <a:cs typeface="Cambria"/>
              </a:rPr>
              <a:t>(</a:t>
            </a:r>
            <a:r>
              <a:rPr sz="950" i="1" dirty="0">
                <a:latin typeface="Cambria"/>
                <a:cs typeface="Cambria"/>
              </a:rPr>
              <a:t>i</a:t>
            </a:r>
            <a:r>
              <a:rPr sz="950" i="1" spc="-55" dirty="0">
                <a:latin typeface="Cambria"/>
                <a:cs typeface="Cambria"/>
              </a:rPr>
              <a:t> </a:t>
            </a:r>
            <a:r>
              <a:rPr sz="950" spc="-50" dirty="0">
                <a:latin typeface="Cambria"/>
                <a:cs typeface="Cambria"/>
              </a:rPr>
              <a:t>)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47649" y="3608095"/>
            <a:ext cx="452120" cy="488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370205" algn="l"/>
              </a:tabLst>
            </a:pPr>
            <a:r>
              <a:rPr sz="3000" spc="-509" dirty="0">
                <a:latin typeface="Symbol"/>
                <a:cs typeface="Symbol"/>
              </a:rPr>
              <a:t>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09" dirty="0">
                <a:latin typeface="Symbol"/>
                <a:cs typeface="Symbol"/>
              </a:rPr>
              <a:t>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04788" y="3958861"/>
            <a:ext cx="4508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950" i="1" spc="-50" dirty="0">
                <a:latin typeface="Cambria"/>
                <a:cs typeface="Cambria"/>
              </a:rPr>
              <a:t>j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13692" y="3509880"/>
            <a:ext cx="123761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1155700" algn="l"/>
              </a:tabLst>
            </a:pPr>
            <a:r>
              <a:rPr sz="4000" spc="-855" dirty="0">
                <a:latin typeface="Symbol"/>
                <a:cs typeface="Symbol"/>
              </a:rPr>
              <a:t>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865" dirty="0">
                <a:latin typeface="Symbol"/>
                <a:cs typeface="Symbol"/>
              </a:rPr>
              <a:t>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34706" y="3613491"/>
            <a:ext cx="7937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950" spc="-50" dirty="0">
                <a:latin typeface="Cambria"/>
                <a:cs typeface="Cambria"/>
              </a:rPr>
              <a:t>2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79192" y="3686882"/>
            <a:ext cx="23431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450" spc="-50" dirty="0">
                <a:latin typeface="Symbol"/>
                <a:cs typeface="Symbol"/>
              </a:rPr>
              <a:t>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70298" y="3589207"/>
            <a:ext cx="92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spc="-50" dirty="0">
                <a:latin typeface="Symbol"/>
                <a:cs typeface="Symbol"/>
              </a:rPr>
              <a:t>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70298" y="3950766"/>
            <a:ext cx="29210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400" baseline="5208" dirty="0">
                <a:latin typeface="Symbol"/>
                <a:cs typeface="Symbol"/>
              </a:rPr>
              <a:t></a:t>
            </a:r>
            <a:r>
              <a:rPr sz="2400" spc="359" baseline="5208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Cambria"/>
                <a:cs typeface="Cambria"/>
              </a:rPr>
              <a:t>i</a:t>
            </a:r>
            <a:r>
              <a:rPr sz="950" i="1" spc="-85" dirty="0">
                <a:latin typeface="Cambria"/>
                <a:cs typeface="Cambria"/>
              </a:rPr>
              <a:t> </a:t>
            </a:r>
            <a:r>
              <a:rPr sz="950" spc="-10" dirty="0">
                <a:latin typeface="Cambria"/>
                <a:cs typeface="Cambria"/>
              </a:rPr>
              <a:t>,</a:t>
            </a:r>
            <a:r>
              <a:rPr sz="950" spc="-90" dirty="0">
                <a:latin typeface="Cambria"/>
                <a:cs typeface="Cambria"/>
              </a:rPr>
              <a:t> </a:t>
            </a:r>
            <a:r>
              <a:rPr sz="950" i="1" spc="-50" dirty="0">
                <a:latin typeface="Cambria"/>
                <a:cs typeface="Cambria"/>
              </a:rPr>
              <a:t>j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0298" y="3826649"/>
            <a:ext cx="6045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559435" algn="l"/>
              </a:tabLst>
            </a:pPr>
            <a:r>
              <a:rPr sz="1600" spc="-50" dirty="0">
                <a:latin typeface="Symbol"/>
                <a:cs typeface="Symbol"/>
              </a:rPr>
              <a:t>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950" i="1" spc="-50" dirty="0">
                <a:latin typeface="Cambria"/>
                <a:cs typeface="Cambria"/>
              </a:rPr>
              <a:t>j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17185" y="3495742"/>
            <a:ext cx="92710" cy="7099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65"/>
              </a:spcBef>
            </a:pPr>
            <a:r>
              <a:rPr sz="1600" spc="-50" dirty="0">
                <a:latin typeface="Symbol"/>
                <a:cs typeface="Symbol"/>
              </a:rPr>
              <a:t></a:t>
            </a:r>
            <a:endParaRPr sz="16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r>
              <a:rPr sz="1600" spc="-50" dirty="0">
                <a:latin typeface="Symbol"/>
                <a:cs typeface="Symbol"/>
              </a:rPr>
              <a:t>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7696" y="3435086"/>
            <a:ext cx="81915" cy="3613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0"/>
              </a:spcBef>
            </a:pPr>
            <a:r>
              <a:rPr sz="950" spc="-50" dirty="0">
                <a:latin typeface="Cambria"/>
                <a:cs typeface="Cambria"/>
              </a:rPr>
              <a:t>1</a:t>
            </a:r>
            <a:endParaRPr sz="950">
              <a:latin typeface="Cambria"/>
              <a:cs typeface="Cambria"/>
            </a:endParaRPr>
          </a:p>
          <a:p>
            <a:pPr marL="2540">
              <a:lnSpc>
                <a:spcPct val="100000"/>
              </a:lnSpc>
              <a:spcBef>
                <a:spcPts val="185"/>
              </a:spcBef>
            </a:pPr>
            <a:r>
              <a:rPr sz="950" spc="-50" dirty="0">
                <a:latin typeface="Cambria"/>
                <a:cs typeface="Cambria"/>
              </a:rPr>
              <a:t>2</a:t>
            </a:r>
            <a:endParaRPr sz="95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16954" y="3424660"/>
            <a:ext cx="3037840" cy="847725"/>
            <a:chOff x="4416954" y="3424660"/>
            <a:chExt cx="3037840" cy="847725"/>
          </a:xfrm>
        </p:grpSpPr>
        <p:sp>
          <p:nvSpPr>
            <p:cNvPr id="26" name="object 26"/>
            <p:cNvSpPr/>
            <p:nvPr/>
          </p:nvSpPr>
          <p:spPr>
            <a:xfrm>
              <a:off x="7328237" y="3633206"/>
              <a:ext cx="66040" cy="5080"/>
            </a:xfrm>
            <a:custGeom>
              <a:avLst/>
              <a:gdLst/>
              <a:ahLst/>
              <a:cxnLst/>
              <a:rect l="l" t="t" r="r" b="b"/>
              <a:pathLst>
                <a:path w="66040" h="5079">
                  <a:moveTo>
                    <a:pt x="65765" y="0"/>
                  </a:moveTo>
                  <a:lnTo>
                    <a:pt x="0" y="0"/>
                  </a:lnTo>
                  <a:lnTo>
                    <a:pt x="0" y="4856"/>
                  </a:lnTo>
                  <a:lnTo>
                    <a:pt x="65765" y="4856"/>
                  </a:lnTo>
                  <a:lnTo>
                    <a:pt x="657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21663" y="3429370"/>
              <a:ext cx="3028315" cy="838835"/>
            </a:xfrm>
            <a:custGeom>
              <a:avLst/>
              <a:gdLst/>
              <a:ahLst/>
              <a:cxnLst/>
              <a:rect l="l" t="t" r="r" b="b"/>
              <a:pathLst>
                <a:path w="3028315" h="838835">
                  <a:moveTo>
                    <a:pt x="0" y="0"/>
                  </a:moveTo>
                  <a:lnTo>
                    <a:pt x="3028262" y="0"/>
                  </a:lnTo>
                  <a:lnTo>
                    <a:pt x="3028262" y="838305"/>
                  </a:lnTo>
                  <a:lnTo>
                    <a:pt x="0" y="838305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40393" y="4466907"/>
            <a:ext cx="111252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25" i="1" baseline="-24822" dirty="0">
                <a:latin typeface="Times New Roman"/>
                <a:cs typeface="Times New Roman"/>
              </a:rPr>
              <a:t>X</a:t>
            </a:r>
            <a:r>
              <a:rPr sz="3525" i="1" spc="112" baseline="-24822" dirty="0">
                <a:latin typeface="Times New Roman"/>
                <a:cs typeface="Times New Roman"/>
              </a:rPr>
              <a:t> </a:t>
            </a:r>
            <a:r>
              <a:rPr sz="3525" spc="-585" baseline="-24822" dirty="0">
                <a:latin typeface="Symbol"/>
                <a:cs typeface="Symbol"/>
              </a:rPr>
              <a:t></a:t>
            </a:r>
            <a:r>
              <a:rPr sz="3525" spc="-585" baseline="-24822" dirty="0">
                <a:latin typeface="MT Extra"/>
                <a:cs typeface="MT Extra"/>
              </a:rPr>
              <a:t>IR</a:t>
            </a:r>
            <a:r>
              <a:rPr sz="1350" i="1" spc="-390" dirty="0">
                <a:latin typeface="Cambria"/>
                <a:cs typeface="Cambria"/>
              </a:rPr>
              <a:t>m</a:t>
            </a:r>
            <a:r>
              <a:rPr sz="1350" spc="-390" dirty="0">
                <a:latin typeface="Symbol"/>
                <a:cs typeface="Symbol"/>
              </a:rPr>
              <a:t></a:t>
            </a:r>
            <a:r>
              <a:rPr sz="1350" i="1" spc="-390" dirty="0">
                <a:latin typeface="Cambria"/>
                <a:cs typeface="Cambria"/>
              </a:rPr>
              <a:t>n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19" y="516128"/>
            <a:ext cx="8852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04860" algn="l"/>
              </a:tabLst>
            </a:pPr>
            <a:r>
              <a:rPr sz="1200" spc="-10" dirty="0">
                <a:latin typeface="Arial"/>
                <a:cs typeface="Arial"/>
              </a:rPr>
              <a:t>Machine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Learning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Srihari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1489">
              <a:lnSpc>
                <a:spcPct val="100000"/>
              </a:lnSpc>
              <a:spcBef>
                <a:spcPts val="100"/>
              </a:spcBef>
            </a:pPr>
            <a:r>
              <a:rPr dirty="0"/>
              <a:t>Final</a:t>
            </a:r>
            <a:r>
              <a:rPr spc="-170" dirty="0"/>
              <a:t> </a:t>
            </a:r>
            <a:r>
              <a:rPr spc="-10" dirty="0"/>
              <a:t>Solution</a:t>
            </a:r>
            <a:r>
              <a:rPr spc="-180" dirty="0"/>
              <a:t> </a:t>
            </a:r>
            <a:r>
              <a:rPr dirty="0"/>
              <a:t>to</a:t>
            </a:r>
            <a:r>
              <a:rPr spc="-180" dirty="0"/>
              <a:t> </a:t>
            </a:r>
            <a:r>
              <a:rPr spc="-25" dirty="0"/>
              <a:t>PCA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023" y="2084832"/>
            <a:ext cx="8513445" cy="389382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63855" marR="581025" indent="-339090">
              <a:lnSpc>
                <a:spcPct val="101899"/>
              </a:lnSpc>
              <a:spcBef>
                <a:spcPts val="2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3200" i="1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=1</a:t>
            </a:r>
            <a:r>
              <a:rPr sz="3200" i="1" dirty="0">
                <a:latin typeface="Times New Roman"/>
                <a:cs typeface="Times New Roman"/>
              </a:rPr>
              <a:t>,</a:t>
            </a:r>
            <a:r>
              <a:rPr sz="3200" i="1" spc="-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optimization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problem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solved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using</a:t>
            </a:r>
            <a:r>
              <a:rPr sz="3200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eigendecomposition</a:t>
            </a:r>
            <a:endParaRPr sz="3200">
              <a:latin typeface="Arial"/>
              <a:cs typeface="Arial"/>
            </a:endParaRPr>
          </a:p>
          <a:p>
            <a:pPr marL="760095" marR="394970" indent="-282575">
              <a:lnSpc>
                <a:spcPct val="99600"/>
              </a:lnSpc>
              <a:spcBef>
                <a:spcPts val="459"/>
              </a:spcBef>
              <a:tabLst>
                <a:tab pos="3168015" algn="l"/>
              </a:tabLst>
            </a:pP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–</a:t>
            </a:r>
            <a:r>
              <a:rPr sz="2800" spc="-16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Specifically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optimal</a:t>
            </a:r>
            <a:r>
              <a:rPr sz="2800" spc="-8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latin typeface="Calibri"/>
                <a:cs typeface="Calibri"/>
              </a:rPr>
              <a:t>d</a:t>
            </a:r>
            <a:r>
              <a:rPr sz="2800" b="1" i="1" spc="5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is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given</a:t>
            </a:r>
            <a:r>
              <a:rPr sz="2800" spc="-7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by</a:t>
            </a:r>
            <a:r>
              <a:rPr sz="2800" spc="-85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the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eigenvector</a:t>
            </a:r>
            <a:r>
              <a:rPr sz="2800" spc="-9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6600"/>
                </a:solidFill>
                <a:latin typeface="Arial"/>
                <a:cs typeface="Arial"/>
              </a:rPr>
              <a:t>of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	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700" baseline="24691" dirty="0">
                <a:latin typeface="Calibri"/>
                <a:cs typeface="Calibri"/>
              </a:rPr>
              <a:t>T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800" i="1" spc="65" dirty="0"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6600"/>
                </a:solidFill>
                <a:latin typeface="Arial"/>
                <a:cs typeface="Arial"/>
              </a:rPr>
              <a:t>corresponding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to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6600"/>
                </a:solidFill>
                <a:latin typeface="Arial"/>
                <a:cs typeface="Arial"/>
              </a:rPr>
              <a:t>the</a:t>
            </a:r>
            <a:r>
              <a:rPr sz="2800" spc="-7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6600"/>
                </a:solidFill>
                <a:latin typeface="Arial"/>
                <a:cs typeface="Arial"/>
              </a:rPr>
              <a:t>largest eigenvalue</a:t>
            </a:r>
            <a:endParaRPr sz="2800">
              <a:latin typeface="Arial"/>
              <a:cs typeface="Arial"/>
            </a:endParaRPr>
          </a:p>
          <a:p>
            <a:pPr marL="363855" marR="17780" indent="-339090">
              <a:lnSpc>
                <a:spcPct val="100299"/>
              </a:lnSpc>
              <a:spcBef>
                <a:spcPts val="645"/>
              </a:spcBef>
              <a:buChar char="•"/>
              <a:tabLst>
                <a:tab pos="363855" algn="l"/>
              </a:tabLst>
            </a:pP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More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generally,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matrix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D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is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given</a:t>
            </a:r>
            <a:r>
              <a:rPr sz="3200" spc="-10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latin typeface="Calibri"/>
                <a:cs typeface="Calibri"/>
              </a:rPr>
              <a:t>l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eigenvectors</a:t>
            </a:r>
            <a:r>
              <a:rPr sz="3200" spc="-9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sz="3200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Calibri"/>
                <a:cs typeface="Calibri"/>
              </a:rPr>
              <a:t>X</a:t>
            </a:r>
            <a:r>
              <a:rPr sz="3200" i="1" spc="75" dirty="0"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corresponding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sz="3200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largest eigenvalues</a:t>
            </a:r>
            <a:r>
              <a:rPr sz="3200" spc="-1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(Proof</a:t>
            </a:r>
            <a:r>
              <a:rPr sz="3200" spc="-1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3200" spc="-1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induction)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51358" y="6839711"/>
            <a:ext cx="22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66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5612</Words>
  <Application>Microsoft Office PowerPoint</Application>
  <PresentationFormat>Custom</PresentationFormat>
  <Paragraphs>1023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9" baseType="lpstr">
      <vt:lpstr>Meiryo UI</vt:lpstr>
      <vt:lpstr>MS Gothic</vt:lpstr>
      <vt:lpstr>MS PGothic</vt:lpstr>
      <vt:lpstr>Arial</vt:lpstr>
      <vt:lpstr>Calibri</vt:lpstr>
      <vt:lpstr>Cambria</vt:lpstr>
      <vt:lpstr>Georgia</vt:lpstr>
      <vt:lpstr>Microsoft New Tai Lue</vt:lpstr>
      <vt:lpstr>MT Extra</vt:lpstr>
      <vt:lpstr>Palatino Linotype</vt:lpstr>
      <vt:lpstr>Symbol</vt:lpstr>
      <vt:lpstr>Times New Roman</vt:lpstr>
      <vt:lpstr>Office Theme</vt:lpstr>
      <vt:lpstr>Linear Algebra for Machine Learning</vt:lpstr>
      <vt:lpstr>Importance of Linear Algebra in ML</vt:lpstr>
      <vt:lpstr>Topics in Linear Algebra for ML</vt:lpstr>
      <vt:lpstr>What is linear algebra?</vt:lpstr>
      <vt:lpstr>Why do we need to know it?</vt:lpstr>
      <vt:lpstr>Linear Algebra Topics</vt:lpstr>
      <vt:lpstr>Scalar</vt:lpstr>
      <vt:lpstr>Vector</vt:lpstr>
      <vt:lpstr>Matrices</vt:lpstr>
      <vt:lpstr>Tensor</vt:lpstr>
      <vt:lpstr>Dimensions of Tensors Fibers of a 3rd order tensor</vt:lpstr>
      <vt:lpstr>Numpy library in Python for tensors</vt:lpstr>
      <vt:lpstr>Transpose of a Matrix</vt:lpstr>
      <vt:lpstr>Vectors as special case of matrix</vt:lpstr>
      <vt:lpstr>Matrix Addition</vt:lpstr>
      <vt:lpstr>Multiplying Matrices</vt:lpstr>
      <vt:lpstr>Multiplying Vectors</vt:lpstr>
      <vt:lpstr>Matrix Product Properties</vt:lpstr>
      <vt:lpstr>Example flow of tensors in ML</vt:lpstr>
      <vt:lpstr>Linear Transformation</vt:lpstr>
      <vt:lpstr>Identity and Inverse Matrices</vt:lpstr>
      <vt:lpstr>Matrix Inverse</vt:lpstr>
      <vt:lpstr>Solving Simultaneous equations</vt:lpstr>
      <vt:lpstr>Machine LearningExample: System of Linear Equations in Linear Regression</vt:lpstr>
      <vt:lpstr>Closed-form solutions</vt:lpstr>
      <vt:lpstr>Linear Equations: Closed-Form Solutions</vt:lpstr>
      <vt:lpstr>Disadvantage of closed-form solutions</vt:lpstr>
      <vt:lpstr>How many solutions for Ax=b exist?</vt:lpstr>
      <vt:lpstr>Span of a set of vectors</vt:lpstr>
      <vt:lpstr>Conditions for a solution to Ax=b</vt:lpstr>
      <vt:lpstr>Use of a Vector in Regression</vt:lpstr>
      <vt:lpstr>Norms</vt:lpstr>
      <vt:lpstr>LP Norm</vt:lpstr>
      <vt:lpstr>Use of norm in Regression</vt:lpstr>
      <vt:lpstr>LP Norm and Distance</vt:lpstr>
      <vt:lpstr>Size of a Matrix: Frobenius Norm</vt:lpstr>
      <vt:lpstr>Angle between Vectors</vt:lpstr>
      <vt:lpstr>Special kind of Matrix: Diagonal</vt:lpstr>
      <vt:lpstr>Efficiency of Diagonal Matrix</vt:lpstr>
      <vt:lpstr>Special kind of Matrix: Symmetric</vt:lpstr>
      <vt:lpstr>Special Kinds of Vectors</vt:lpstr>
      <vt:lpstr>Matrix decomposition</vt:lpstr>
      <vt:lpstr>Eigenvector</vt:lpstr>
      <vt:lpstr>Eigenvalue and Characteristic Polynomial</vt:lpstr>
      <vt:lpstr>Example of Eigenvalue/Eigenvector</vt:lpstr>
      <vt:lpstr>Eigendecomposition</vt:lpstr>
      <vt:lpstr>Decomposition of Symmetric Matrix</vt:lpstr>
      <vt:lpstr>Effect of Eigenvectors and Eigenvalues</vt:lpstr>
      <vt:lpstr>Python Code for Eigenvalue/Eigenvector</vt:lpstr>
      <vt:lpstr>Eigendecomposition is not unique</vt:lpstr>
      <vt:lpstr>What does eigendecomposition tell us?</vt:lpstr>
      <vt:lpstr>Positive Definite Matrix</vt:lpstr>
      <vt:lpstr>Singular Value Decomposition (SVD)</vt:lpstr>
      <vt:lpstr>SVD Definition</vt:lpstr>
      <vt:lpstr>Use of SVD in ML</vt:lpstr>
      <vt:lpstr>SVD in Collaborative Filtering</vt:lpstr>
      <vt:lpstr>Moore-Penrose Pseudoinverse</vt:lpstr>
      <vt:lpstr>Trace of a Matrix</vt:lpstr>
      <vt:lpstr>Determinant of a Matrix</vt:lpstr>
      <vt:lpstr>Example: PCA</vt:lpstr>
      <vt:lpstr>PCA Problem Statement</vt:lpstr>
      <vt:lpstr>PCA using Matrix multiplication</vt:lpstr>
      <vt:lpstr>Finding optimal code given D</vt:lpstr>
      <vt:lpstr>Optimal Encoding for PCA</vt:lpstr>
      <vt:lpstr>Method for finding optimal D</vt:lpstr>
      <vt:lpstr>Final Solution to PCA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LinearAlgebra</dc:title>
  <dc:creator>Sargur Srihari</dc:creator>
  <cp:lastModifiedBy>Sanjit Setua</cp:lastModifiedBy>
  <cp:revision>2</cp:revision>
  <dcterms:created xsi:type="dcterms:W3CDTF">2024-09-06T02:05:16Z</dcterms:created>
  <dcterms:modified xsi:type="dcterms:W3CDTF">2024-09-06T02:33:43Z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2020-02-13T00:00:00Z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2024-09-06T00:00:00Z</vt:filetime>
  </property>
  <property fmtid="{D5CDD505-2E9C-101B-9397-08002B2CF9AE}" pid="5" name="Producer">
    <vt:lpwstr>macOS Version 10.15.2 (Build 19C57) Quartz PDFContext</vt:lpwstr>
  </property>
</Properties>
</file>