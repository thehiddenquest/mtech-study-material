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13252" y="606067"/>
            <a:ext cx="3231895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7749" y="987067"/>
            <a:ext cx="696290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091" y="2294605"/>
            <a:ext cx="7738109" cy="222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kybele.psych.cornell.edu/~edelman/Psych-465-Spring-2003/PCA-tutorial.pd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963" y="2968268"/>
            <a:ext cx="70827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Components</a:t>
            </a:r>
            <a:r>
              <a:rPr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19B1D2-3AF8-9C8A-EAF7-631F9C3B0FBF}"/>
              </a:ext>
            </a:extLst>
          </p:cNvPr>
          <p:cNvSpPr txBox="1"/>
          <p:nvPr/>
        </p:nvSpPr>
        <p:spPr>
          <a:xfrm>
            <a:off x="190500" y="457200"/>
            <a:ext cx="9677400" cy="651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Steps of PCA: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Standardize the data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If the features are on different scales, we standardize them to have mean 0 and variance 1.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covariance matrix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This matrix captures the correlations between features.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eigenvalues and eigenvectors of the covariance matrix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eigenvectors represent the directions (components) and the eigenvalues represent the magnitude of the variance in those directions.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Sort the eigenvalues and their corresponding eigenvectors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eigenvector with the highest eigenvalue is the first principal component, the next is the second, and so 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the data onto the new feature space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Multiply the standardized data by the top k eigenvectors (components) to get the new k-dimensional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55881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7570" y="152400"/>
            <a:ext cx="2564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788670"/>
            <a:ext cx="9296400" cy="51950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110489" indent="-344805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“spread”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set  of points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of mass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(mean)</a:t>
            </a:r>
          </a:p>
          <a:p>
            <a:pPr marL="356870" marR="8255" indent="-344805" algn="just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–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dimension e.g.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heights</a:t>
            </a:r>
          </a:p>
          <a:p>
            <a:pPr marL="356870" marR="394335" indent="-344805" algn="just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how much each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to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6870" marR="95885" indent="-344805" algn="just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2 dimensions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between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e.g.,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obtained.</a:t>
            </a:r>
          </a:p>
          <a:p>
            <a:pPr algn="just">
              <a:lnSpc>
                <a:spcPct val="100000"/>
              </a:lnSpc>
              <a:spcBef>
                <a:spcPts val="60"/>
              </a:spcBef>
              <a:buFont typeface="Comic Sans MS"/>
              <a:buChar char="•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805" algn="just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one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itself is the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4492" y="1892300"/>
            <a:ext cx="284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covariance </a:t>
            </a:r>
            <a:r>
              <a:rPr sz="2400" spc="-5" dirty="0">
                <a:latin typeface="Comic Sans MS"/>
                <a:cs typeface="Comic Sans MS"/>
              </a:rPr>
              <a:t>(X,Y)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1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Symbol"/>
                <a:cs typeface="Symbol"/>
              </a:rPr>
              <a:t>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6940" y="2069108"/>
            <a:ext cx="18262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5320" algn="l"/>
                <a:tab pos="1755775" algn="l"/>
              </a:tabLst>
            </a:pPr>
            <a:r>
              <a:rPr sz="1600" spc="-5" dirty="0">
                <a:latin typeface="Comic Sans MS"/>
                <a:cs typeface="Comic Sans MS"/>
              </a:rPr>
              <a:t>i=</a:t>
            </a:r>
            <a:r>
              <a:rPr sz="1600" dirty="0">
                <a:latin typeface="Comic Sans MS"/>
                <a:cs typeface="Comic Sans MS"/>
              </a:rPr>
              <a:t>1	i	i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37835" y="1892300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030" algn="l"/>
                <a:tab pos="1594485" algn="l"/>
              </a:tabLst>
            </a:pPr>
            <a:r>
              <a:rPr sz="2400" spc="-5" dirty="0">
                <a:latin typeface="Comic Sans MS"/>
                <a:cs typeface="Comic Sans MS"/>
              </a:rPr>
              <a:t>(X	</a:t>
            </a:r>
            <a:r>
              <a:rPr sz="2400" dirty="0">
                <a:latin typeface="Comic Sans MS"/>
                <a:cs typeface="Comic Sans MS"/>
              </a:rPr>
              <a:t>–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X) </a:t>
            </a:r>
            <a:r>
              <a:rPr sz="2400" spc="-5" dirty="0">
                <a:latin typeface="Comic Sans MS"/>
                <a:cs typeface="Comic Sans MS"/>
              </a:rPr>
              <a:t>(Y	</a:t>
            </a:r>
            <a:r>
              <a:rPr sz="2400" dirty="0">
                <a:latin typeface="Comic Sans MS"/>
                <a:cs typeface="Comic Sans MS"/>
              </a:rPr>
              <a:t>–</a:t>
            </a:r>
            <a:r>
              <a:rPr sz="2400" spc="-9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Y)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20279" y="2485289"/>
            <a:ext cx="9056752" cy="78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84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(n</a:t>
            </a:r>
            <a:r>
              <a:rPr spc="-10" dirty="0"/>
              <a:t> </a:t>
            </a:r>
            <a:r>
              <a:rPr dirty="0"/>
              <a:t>-1)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45484" y="758467"/>
            <a:ext cx="2564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</a:p>
        </p:txBody>
      </p:sp>
      <p:sp>
        <p:nvSpPr>
          <p:cNvPr id="7" name="object 7"/>
          <p:cNvSpPr/>
          <p:nvPr/>
        </p:nvSpPr>
        <p:spPr>
          <a:xfrm>
            <a:off x="4413503" y="2295144"/>
            <a:ext cx="3057525" cy="9525"/>
          </a:xfrm>
          <a:custGeom>
            <a:avLst/>
            <a:gdLst/>
            <a:ahLst/>
            <a:cxnLst/>
            <a:rect l="l" t="t" r="r" b="b"/>
            <a:pathLst>
              <a:path w="3057525" h="9525">
                <a:moveTo>
                  <a:pt x="3054096" y="0"/>
                </a:moveTo>
                <a:lnTo>
                  <a:pt x="3048" y="0"/>
                </a:lnTo>
                <a:lnTo>
                  <a:pt x="0" y="3047"/>
                </a:lnTo>
                <a:lnTo>
                  <a:pt x="0" y="6095"/>
                </a:lnTo>
                <a:lnTo>
                  <a:pt x="3048" y="9143"/>
                </a:lnTo>
                <a:lnTo>
                  <a:pt x="3054096" y="9143"/>
                </a:lnTo>
                <a:lnTo>
                  <a:pt x="3057144" y="6095"/>
                </a:lnTo>
                <a:lnTo>
                  <a:pt x="3057144" y="3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48655" y="1941576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46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234696" y="9144"/>
                </a:lnTo>
                <a:lnTo>
                  <a:pt x="237744" y="6096"/>
                </a:lnTo>
                <a:lnTo>
                  <a:pt x="237744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44056" y="1941576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46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234696" y="9144"/>
                </a:lnTo>
                <a:lnTo>
                  <a:pt x="237744" y="6096"/>
                </a:lnTo>
                <a:lnTo>
                  <a:pt x="237744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8255" y="3343655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46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234696" y="9144"/>
                </a:lnTo>
                <a:lnTo>
                  <a:pt x="237744" y="6096"/>
                </a:lnTo>
                <a:lnTo>
                  <a:pt x="237744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23903" y="1776490"/>
            <a:ext cx="1390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72714-FE2A-ED39-757C-0D6FC6D7E4A8}"/>
              </a:ext>
            </a:extLst>
          </p:cNvPr>
          <p:cNvSpPr txBox="1"/>
          <p:nvPr/>
        </p:nvSpPr>
        <p:spPr>
          <a:xfrm>
            <a:off x="233310" y="3474513"/>
            <a:ext cx="9215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870" marR="5080" indent="-344805">
              <a:lnSpc>
                <a:spcPct val="90200"/>
              </a:lnSpc>
              <a:buChar char="•"/>
              <a:tabLst>
                <a:tab pos="356870" algn="l"/>
                <a:tab pos="357505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if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had a 3-dimensional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could measure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between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and y dimensions,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 and z dimensions, and 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and z dimensions. 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and x, or y and y, or z and z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us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of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and z dimensions,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2420" y="758467"/>
            <a:ext cx="43573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Covariance</a:t>
            </a:r>
            <a:r>
              <a:rPr spc="-3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/>
          <p:nvPr/>
        </p:nvSpPr>
        <p:spPr>
          <a:xfrm>
            <a:off x="2529840" y="2438399"/>
            <a:ext cx="4913630" cy="1792605"/>
          </a:xfrm>
          <a:custGeom>
            <a:avLst/>
            <a:gdLst/>
            <a:ahLst/>
            <a:cxnLst/>
            <a:rect l="l" t="t" r="r" b="b"/>
            <a:pathLst>
              <a:path w="4913630" h="1792604">
                <a:moveTo>
                  <a:pt x="4498772" y="227545"/>
                </a:moveTo>
                <a:lnTo>
                  <a:pt x="4486643" y="219456"/>
                </a:lnTo>
                <a:lnTo>
                  <a:pt x="4477512" y="213360"/>
                </a:lnTo>
                <a:lnTo>
                  <a:pt x="4474464" y="210312"/>
                </a:lnTo>
                <a:lnTo>
                  <a:pt x="4440936" y="195072"/>
                </a:lnTo>
                <a:lnTo>
                  <a:pt x="4401312" y="182880"/>
                </a:lnTo>
                <a:lnTo>
                  <a:pt x="4358640" y="173736"/>
                </a:lnTo>
                <a:lnTo>
                  <a:pt x="4312920" y="173736"/>
                </a:lnTo>
                <a:lnTo>
                  <a:pt x="4312920" y="192024"/>
                </a:lnTo>
                <a:lnTo>
                  <a:pt x="4355592" y="192024"/>
                </a:lnTo>
                <a:lnTo>
                  <a:pt x="4398264" y="201168"/>
                </a:lnTo>
                <a:lnTo>
                  <a:pt x="4437888" y="213360"/>
                </a:lnTo>
                <a:lnTo>
                  <a:pt x="4469066" y="227545"/>
                </a:lnTo>
                <a:lnTo>
                  <a:pt x="4471759" y="227545"/>
                </a:lnTo>
                <a:lnTo>
                  <a:pt x="4498772" y="227545"/>
                </a:lnTo>
                <a:close/>
              </a:path>
              <a:path w="4913630" h="1792604">
                <a:moveTo>
                  <a:pt x="4913376" y="1520952"/>
                </a:moveTo>
                <a:lnTo>
                  <a:pt x="4910937" y="1514856"/>
                </a:lnTo>
                <a:lnTo>
                  <a:pt x="4907280" y="1505724"/>
                </a:lnTo>
                <a:lnTo>
                  <a:pt x="4904232" y="1496568"/>
                </a:lnTo>
                <a:lnTo>
                  <a:pt x="4892040" y="1478280"/>
                </a:lnTo>
                <a:lnTo>
                  <a:pt x="4885944" y="1472184"/>
                </a:lnTo>
                <a:lnTo>
                  <a:pt x="4885944" y="1520952"/>
                </a:lnTo>
                <a:lnTo>
                  <a:pt x="4885944" y="1536192"/>
                </a:lnTo>
                <a:lnTo>
                  <a:pt x="4883912" y="1540268"/>
                </a:lnTo>
                <a:lnTo>
                  <a:pt x="4882896" y="1539240"/>
                </a:lnTo>
                <a:lnTo>
                  <a:pt x="4870704" y="1548384"/>
                </a:lnTo>
                <a:lnTo>
                  <a:pt x="4858512" y="1553616"/>
                </a:lnTo>
                <a:lnTo>
                  <a:pt x="4858512" y="1551432"/>
                </a:lnTo>
                <a:lnTo>
                  <a:pt x="4834128" y="1557528"/>
                </a:lnTo>
                <a:lnTo>
                  <a:pt x="4803648" y="1563624"/>
                </a:lnTo>
                <a:lnTo>
                  <a:pt x="4678680" y="1563624"/>
                </a:lnTo>
                <a:lnTo>
                  <a:pt x="4626864" y="1560576"/>
                </a:lnTo>
                <a:lnTo>
                  <a:pt x="4568952" y="1554480"/>
                </a:lnTo>
                <a:lnTo>
                  <a:pt x="4550664" y="1552740"/>
                </a:lnTo>
                <a:lnTo>
                  <a:pt x="4550664" y="1292199"/>
                </a:lnTo>
                <a:lnTo>
                  <a:pt x="4578096" y="1304544"/>
                </a:lnTo>
                <a:lnTo>
                  <a:pt x="4632960" y="1335024"/>
                </a:lnTo>
                <a:lnTo>
                  <a:pt x="4684776" y="1359408"/>
                </a:lnTo>
                <a:lnTo>
                  <a:pt x="4727448" y="1386840"/>
                </a:lnTo>
                <a:lnTo>
                  <a:pt x="4770120" y="1411224"/>
                </a:lnTo>
                <a:lnTo>
                  <a:pt x="4803648" y="1435608"/>
                </a:lnTo>
                <a:lnTo>
                  <a:pt x="4834128" y="1456944"/>
                </a:lnTo>
                <a:lnTo>
                  <a:pt x="4873752" y="1496568"/>
                </a:lnTo>
                <a:lnTo>
                  <a:pt x="4879848" y="1505724"/>
                </a:lnTo>
                <a:lnTo>
                  <a:pt x="4885944" y="1520952"/>
                </a:lnTo>
                <a:lnTo>
                  <a:pt x="4885944" y="1472184"/>
                </a:lnTo>
                <a:lnTo>
                  <a:pt x="4852416" y="1438656"/>
                </a:lnTo>
                <a:lnTo>
                  <a:pt x="4821936" y="1417320"/>
                </a:lnTo>
                <a:lnTo>
                  <a:pt x="4788408" y="1392936"/>
                </a:lnTo>
                <a:lnTo>
                  <a:pt x="4745736" y="1368552"/>
                </a:lnTo>
                <a:lnTo>
                  <a:pt x="4703064" y="1341120"/>
                </a:lnTo>
                <a:lnTo>
                  <a:pt x="4651248" y="1316736"/>
                </a:lnTo>
                <a:lnTo>
                  <a:pt x="4596384" y="1286256"/>
                </a:lnTo>
                <a:lnTo>
                  <a:pt x="4550664" y="1265682"/>
                </a:lnTo>
                <a:lnTo>
                  <a:pt x="4550664" y="316992"/>
                </a:lnTo>
                <a:lnTo>
                  <a:pt x="4545241" y="292608"/>
                </a:lnTo>
                <a:lnTo>
                  <a:pt x="4544568" y="289560"/>
                </a:lnTo>
                <a:lnTo>
                  <a:pt x="4544568" y="286512"/>
                </a:lnTo>
                <a:lnTo>
                  <a:pt x="4544568" y="283464"/>
                </a:lnTo>
                <a:lnTo>
                  <a:pt x="4529328" y="259080"/>
                </a:lnTo>
                <a:lnTo>
                  <a:pt x="4518660" y="246888"/>
                </a:lnTo>
                <a:lnTo>
                  <a:pt x="4513313" y="240792"/>
                </a:lnTo>
                <a:lnTo>
                  <a:pt x="4507992" y="234696"/>
                </a:lnTo>
                <a:lnTo>
                  <a:pt x="4504944" y="231648"/>
                </a:lnTo>
                <a:lnTo>
                  <a:pt x="4500372" y="228600"/>
                </a:lnTo>
                <a:lnTo>
                  <a:pt x="4471416" y="228600"/>
                </a:lnTo>
                <a:lnTo>
                  <a:pt x="4468368" y="228600"/>
                </a:lnTo>
                <a:lnTo>
                  <a:pt x="4494885" y="246278"/>
                </a:lnTo>
                <a:lnTo>
                  <a:pt x="4514088" y="268224"/>
                </a:lnTo>
                <a:lnTo>
                  <a:pt x="4526280" y="287731"/>
                </a:lnTo>
                <a:lnTo>
                  <a:pt x="4526280" y="289560"/>
                </a:lnTo>
                <a:lnTo>
                  <a:pt x="4527042" y="290322"/>
                </a:lnTo>
                <a:lnTo>
                  <a:pt x="4532376" y="316992"/>
                </a:lnTo>
                <a:lnTo>
                  <a:pt x="4532376" y="1257236"/>
                </a:lnTo>
                <a:lnTo>
                  <a:pt x="4532376" y="1283970"/>
                </a:lnTo>
                <a:lnTo>
                  <a:pt x="4532376" y="1551000"/>
                </a:lnTo>
                <a:lnTo>
                  <a:pt x="4504944" y="1548384"/>
                </a:lnTo>
                <a:lnTo>
                  <a:pt x="4440936" y="1539240"/>
                </a:lnTo>
                <a:lnTo>
                  <a:pt x="4212336" y="1502664"/>
                </a:lnTo>
                <a:lnTo>
                  <a:pt x="4130040" y="1484376"/>
                </a:lnTo>
                <a:lnTo>
                  <a:pt x="4041648" y="1469136"/>
                </a:lnTo>
                <a:lnTo>
                  <a:pt x="3950208" y="1450848"/>
                </a:lnTo>
                <a:lnTo>
                  <a:pt x="3758184" y="1408176"/>
                </a:lnTo>
                <a:lnTo>
                  <a:pt x="3553968" y="1359408"/>
                </a:lnTo>
                <a:lnTo>
                  <a:pt x="3337560" y="1304544"/>
                </a:lnTo>
                <a:lnTo>
                  <a:pt x="2874264" y="1179576"/>
                </a:lnTo>
                <a:lnTo>
                  <a:pt x="2380488" y="1036320"/>
                </a:lnTo>
                <a:lnTo>
                  <a:pt x="2130552" y="960120"/>
                </a:lnTo>
                <a:lnTo>
                  <a:pt x="1655064" y="804672"/>
                </a:lnTo>
                <a:lnTo>
                  <a:pt x="1325880" y="691896"/>
                </a:lnTo>
                <a:lnTo>
                  <a:pt x="1222248" y="652272"/>
                </a:lnTo>
                <a:lnTo>
                  <a:pt x="1121664" y="615696"/>
                </a:lnTo>
                <a:lnTo>
                  <a:pt x="932688" y="542544"/>
                </a:lnTo>
                <a:lnTo>
                  <a:pt x="841248" y="509016"/>
                </a:lnTo>
                <a:lnTo>
                  <a:pt x="791451" y="487680"/>
                </a:lnTo>
                <a:lnTo>
                  <a:pt x="755904" y="472440"/>
                </a:lnTo>
                <a:lnTo>
                  <a:pt x="755904" y="474814"/>
                </a:lnTo>
                <a:lnTo>
                  <a:pt x="682752" y="445008"/>
                </a:lnTo>
                <a:lnTo>
                  <a:pt x="460248" y="347472"/>
                </a:lnTo>
                <a:lnTo>
                  <a:pt x="396240" y="316992"/>
                </a:lnTo>
                <a:lnTo>
                  <a:pt x="295656" y="266700"/>
                </a:lnTo>
                <a:lnTo>
                  <a:pt x="304800" y="262128"/>
                </a:lnTo>
                <a:lnTo>
                  <a:pt x="316992" y="256032"/>
                </a:lnTo>
                <a:lnTo>
                  <a:pt x="353568" y="243840"/>
                </a:lnTo>
                <a:lnTo>
                  <a:pt x="396240" y="234696"/>
                </a:lnTo>
                <a:lnTo>
                  <a:pt x="438912" y="234696"/>
                </a:lnTo>
                <a:lnTo>
                  <a:pt x="438912" y="216408"/>
                </a:lnTo>
                <a:lnTo>
                  <a:pt x="393192" y="216408"/>
                </a:lnTo>
                <a:lnTo>
                  <a:pt x="350520" y="225552"/>
                </a:lnTo>
                <a:lnTo>
                  <a:pt x="313944" y="237744"/>
                </a:lnTo>
                <a:lnTo>
                  <a:pt x="283464" y="252984"/>
                </a:lnTo>
                <a:lnTo>
                  <a:pt x="280416" y="252984"/>
                </a:lnTo>
                <a:lnTo>
                  <a:pt x="275742" y="256616"/>
                </a:lnTo>
                <a:lnTo>
                  <a:pt x="228600" y="231648"/>
                </a:lnTo>
                <a:lnTo>
                  <a:pt x="185928" y="204216"/>
                </a:lnTo>
                <a:lnTo>
                  <a:pt x="143256" y="179832"/>
                </a:lnTo>
                <a:lnTo>
                  <a:pt x="109728" y="155448"/>
                </a:lnTo>
                <a:lnTo>
                  <a:pt x="79248" y="134112"/>
                </a:lnTo>
                <a:lnTo>
                  <a:pt x="39624" y="94488"/>
                </a:lnTo>
                <a:lnTo>
                  <a:pt x="33528" y="85356"/>
                </a:lnTo>
                <a:lnTo>
                  <a:pt x="29870" y="76200"/>
                </a:lnTo>
                <a:lnTo>
                  <a:pt x="27432" y="70104"/>
                </a:lnTo>
                <a:lnTo>
                  <a:pt x="27432" y="57912"/>
                </a:lnTo>
                <a:lnTo>
                  <a:pt x="30035" y="51384"/>
                </a:lnTo>
                <a:lnTo>
                  <a:pt x="30480" y="51816"/>
                </a:lnTo>
                <a:lnTo>
                  <a:pt x="42672" y="42672"/>
                </a:lnTo>
                <a:lnTo>
                  <a:pt x="54864" y="37452"/>
                </a:lnTo>
                <a:lnTo>
                  <a:pt x="54864" y="39624"/>
                </a:lnTo>
                <a:lnTo>
                  <a:pt x="79248" y="33528"/>
                </a:lnTo>
                <a:lnTo>
                  <a:pt x="109728" y="27432"/>
                </a:lnTo>
                <a:lnTo>
                  <a:pt x="234696" y="27432"/>
                </a:lnTo>
                <a:lnTo>
                  <a:pt x="289560" y="30480"/>
                </a:lnTo>
                <a:lnTo>
                  <a:pt x="344424" y="36576"/>
                </a:lnTo>
                <a:lnTo>
                  <a:pt x="408432" y="42672"/>
                </a:lnTo>
                <a:lnTo>
                  <a:pt x="475488" y="51816"/>
                </a:lnTo>
                <a:lnTo>
                  <a:pt x="545592" y="64008"/>
                </a:lnTo>
                <a:lnTo>
                  <a:pt x="621792" y="76200"/>
                </a:lnTo>
                <a:lnTo>
                  <a:pt x="783336" y="106680"/>
                </a:lnTo>
                <a:lnTo>
                  <a:pt x="871728" y="121920"/>
                </a:lnTo>
                <a:lnTo>
                  <a:pt x="963168" y="143256"/>
                </a:lnTo>
                <a:lnTo>
                  <a:pt x="1057656" y="161544"/>
                </a:lnTo>
                <a:lnTo>
                  <a:pt x="1155192" y="182880"/>
                </a:lnTo>
                <a:lnTo>
                  <a:pt x="1359408" y="231648"/>
                </a:lnTo>
                <a:lnTo>
                  <a:pt x="1575816" y="286512"/>
                </a:lnTo>
                <a:lnTo>
                  <a:pt x="2039112" y="411480"/>
                </a:lnTo>
                <a:lnTo>
                  <a:pt x="2523566" y="551167"/>
                </a:lnTo>
                <a:lnTo>
                  <a:pt x="2523744" y="551688"/>
                </a:lnTo>
                <a:lnTo>
                  <a:pt x="2535936" y="554736"/>
                </a:lnTo>
                <a:lnTo>
                  <a:pt x="2782824" y="630936"/>
                </a:lnTo>
                <a:lnTo>
                  <a:pt x="3258312" y="786384"/>
                </a:lnTo>
                <a:lnTo>
                  <a:pt x="3587496" y="899160"/>
                </a:lnTo>
                <a:lnTo>
                  <a:pt x="3691128" y="938784"/>
                </a:lnTo>
                <a:lnTo>
                  <a:pt x="3791712" y="975360"/>
                </a:lnTo>
                <a:lnTo>
                  <a:pt x="3980688" y="1048512"/>
                </a:lnTo>
                <a:lnTo>
                  <a:pt x="4072128" y="1082040"/>
                </a:lnTo>
                <a:lnTo>
                  <a:pt x="4157472" y="1118616"/>
                </a:lnTo>
                <a:lnTo>
                  <a:pt x="4157472" y="1116584"/>
                </a:lnTo>
                <a:lnTo>
                  <a:pt x="4230624" y="1149096"/>
                </a:lnTo>
                <a:lnTo>
                  <a:pt x="4309872" y="1179576"/>
                </a:lnTo>
                <a:lnTo>
                  <a:pt x="4383024" y="1213104"/>
                </a:lnTo>
                <a:lnTo>
                  <a:pt x="4453128" y="1243584"/>
                </a:lnTo>
                <a:lnTo>
                  <a:pt x="4517136" y="1277112"/>
                </a:lnTo>
                <a:lnTo>
                  <a:pt x="4532376" y="1283970"/>
                </a:lnTo>
                <a:lnTo>
                  <a:pt x="4532376" y="1257236"/>
                </a:lnTo>
                <a:lnTo>
                  <a:pt x="4471416" y="1225296"/>
                </a:lnTo>
                <a:lnTo>
                  <a:pt x="4401312" y="1194816"/>
                </a:lnTo>
                <a:lnTo>
                  <a:pt x="4328160" y="1161288"/>
                </a:lnTo>
                <a:lnTo>
                  <a:pt x="4248912" y="1130808"/>
                </a:lnTo>
                <a:lnTo>
                  <a:pt x="4187177" y="1103376"/>
                </a:lnTo>
                <a:lnTo>
                  <a:pt x="4166616" y="1094232"/>
                </a:lnTo>
                <a:lnTo>
                  <a:pt x="4157472" y="1091184"/>
                </a:lnTo>
                <a:lnTo>
                  <a:pt x="4072128" y="1054608"/>
                </a:lnTo>
                <a:lnTo>
                  <a:pt x="3980688" y="1021080"/>
                </a:lnTo>
                <a:lnTo>
                  <a:pt x="3791712" y="947928"/>
                </a:lnTo>
                <a:lnTo>
                  <a:pt x="3691128" y="911352"/>
                </a:lnTo>
                <a:lnTo>
                  <a:pt x="3587496" y="871728"/>
                </a:lnTo>
                <a:lnTo>
                  <a:pt x="3258312" y="758952"/>
                </a:lnTo>
                <a:lnTo>
                  <a:pt x="2782824" y="603504"/>
                </a:lnTo>
                <a:lnTo>
                  <a:pt x="2535936" y="527304"/>
                </a:lnTo>
                <a:lnTo>
                  <a:pt x="2039112" y="384048"/>
                </a:lnTo>
                <a:lnTo>
                  <a:pt x="1575816" y="259080"/>
                </a:lnTo>
                <a:lnTo>
                  <a:pt x="1359408" y="204216"/>
                </a:lnTo>
                <a:lnTo>
                  <a:pt x="1155192" y="155448"/>
                </a:lnTo>
                <a:lnTo>
                  <a:pt x="1057656" y="134112"/>
                </a:lnTo>
                <a:lnTo>
                  <a:pt x="963168" y="115824"/>
                </a:lnTo>
                <a:lnTo>
                  <a:pt x="871728" y="94488"/>
                </a:lnTo>
                <a:lnTo>
                  <a:pt x="783336" y="79248"/>
                </a:lnTo>
                <a:lnTo>
                  <a:pt x="621792" y="48768"/>
                </a:lnTo>
                <a:lnTo>
                  <a:pt x="545592" y="36576"/>
                </a:lnTo>
                <a:lnTo>
                  <a:pt x="493014" y="27432"/>
                </a:lnTo>
                <a:lnTo>
                  <a:pt x="475488" y="24384"/>
                </a:lnTo>
                <a:lnTo>
                  <a:pt x="408432" y="15240"/>
                </a:lnTo>
                <a:lnTo>
                  <a:pt x="344424" y="9144"/>
                </a:lnTo>
                <a:lnTo>
                  <a:pt x="289560" y="3048"/>
                </a:lnTo>
                <a:lnTo>
                  <a:pt x="234696" y="0"/>
                </a:lnTo>
                <a:lnTo>
                  <a:pt x="109728" y="0"/>
                </a:lnTo>
                <a:lnTo>
                  <a:pt x="79248" y="6096"/>
                </a:lnTo>
                <a:lnTo>
                  <a:pt x="24384" y="24384"/>
                </a:lnTo>
                <a:lnTo>
                  <a:pt x="0" y="57912"/>
                </a:lnTo>
                <a:lnTo>
                  <a:pt x="0" y="70104"/>
                </a:lnTo>
                <a:lnTo>
                  <a:pt x="6096" y="85356"/>
                </a:lnTo>
                <a:lnTo>
                  <a:pt x="9144" y="94488"/>
                </a:lnTo>
                <a:lnTo>
                  <a:pt x="21336" y="112776"/>
                </a:lnTo>
                <a:lnTo>
                  <a:pt x="60960" y="152400"/>
                </a:lnTo>
                <a:lnTo>
                  <a:pt x="91440" y="173736"/>
                </a:lnTo>
                <a:lnTo>
                  <a:pt x="124968" y="198120"/>
                </a:lnTo>
                <a:lnTo>
                  <a:pt x="167640" y="222504"/>
                </a:lnTo>
                <a:lnTo>
                  <a:pt x="210312" y="249936"/>
                </a:lnTo>
                <a:lnTo>
                  <a:pt x="254355" y="273253"/>
                </a:lnTo>
                <a:lnTo>
                  <a:pt x="252984" y="274320"/>
                </a:lnTo>
                <a:lnTo>
                  <a:pt x="249936" y="277368"/>
                </a:lnTo>
                <a:lnTo>
                  <a:pt x="231648" y="298704"/>
                </a:lnTo>
                <a:lnTo>
                  <a:pt x="216408" y="323088"/>
                </a:lnTo>
                <a:lnTo>
                  <a:pt x="216408" y="326136"/>
                </a:lnTo>
                <a:lnTo>
                  <a:pt x="213360" y="353568"/>
                </a:lnTo>
                <a:lnTo>
                  <a:pt x="213360" y="1621536"/>
                </a:lnTo>
                <a:lnTo>
                  <a:pt x="216344" y="1642440"/>
                </a:lnTo>
                <a:lnTo>
                  <a:pt x="216408" y="1648968"/>
                </a:lnTo>
                <a:lnTo>
                  <a:pt x="231648" y="1673352"/>
                </a:lnTo>
                <a:lnTo>
                  <a:pt x="249936" y="1694688"/>
                </a:lnTo>
                <a:lnTo>
                  <a:pt x="252984" y="1697736"/>
                </a:lnTo>
                <a:lnTo>
                  <a:pt x="280416" y="1719072"/>
                </a:lnTo>
                <a:lnTo>
                  <a:pt x="283464" y="1719072"/>
                </a:lnTo>
                <a:lnTo>
                  <a:pt x="313944" y="1734312"/>
                </a:lnTo>
                <a:lnTo>
                  <a:pt x="350520" y="1746504"/>
                </a:lnTo>
                <a:lnTo>
                  <a:pt x="393192" y="1755648"/>
                </a:lnTo>
                <a:lnTo>
                  <a:pt x="438912" y="1758696"/>
                </a:lnTo>
                <a:lnTo>
                  <a:pt x="438912" y="1740408"/>
                </a:lnTo>
                <a:lnTo>
                  <a:pt x="396240" y="1737360"/>
                </a:lnTo>
                <a:lnTo>
                  <a:pt x="353568" y="1728216"/>
                </a:lnTo>
                <a:lnTo>
                  <a:pt x="316992" y="1716024"/>
                </a:lnTo>
                <a:lnTo>
                  <a:pt x="304787" y="1709928"/>
                </a:lnTo>
                <a:lnTo>
                  <a:pt x="286512" y="1700784"/>
                </a:lnTo>
                <a:lnTo>
                  <a:pt x="286321" y="1701330"/>
                </a:lnTo>
                <a:lnTo>
                  <a:pt x="273875" y="1691640"/>
                </a:lnTo>
                <a:lnTo>
                  <a:pt x="263423" y="1683512"/>
                </a:lnTo>
                <a:lnTo>
                  <a:pt x="262559" y="1682496"/>
                </a:lnTo>
                <a:lnTo>
                  <a:pt x="246888" y="1664208"/>
                </a:lnTo>
                <a:lnTo>
                  <a:pt x="235458" y="1645920"/>
                </a:lnTo>
                <a:lnTo>
                  <a:pt x="234696" y="1644700"/>
                </a:lnTo>
                <a:lnTo>
                  <a:pt x="234696" y="1642872"/>
                </a:lnTo>
                <a:lnTo>
                  <a:pt x="234251" y="1642440"/>
                </a:lnTo>
                <a:lnTo>
                  <a:pt x="233934" y="1639824"/>
                </a:lnTo>
                <a:lnTo>
                  <a:pt x="231648" y="1621536"/>
                </a:lnTo>
                <a:lnTo>
                  <a:pt x="231648" y="353568"/>
                </a:lnTo>
                <a:lnTo>
                  <a:pt x="234315" y="332232"/>
                </a:lnTo>
                <a:lnTo>
                  <a:pt x="234696" y="329184"/>
                </a:lnTo>
                <a:lnTo>
                  <a:pt x="233743" y="328879"/>
                </a:lnTo>
                <a:lnTo>
                  <a:pt x="235445" y="326136"/>
                </a:lnTo>
                <a:lnTo>
                  <a:pt x="246888" y="307848"/>
                </a:lnTo>
                <a:lnTo>
                  <a:pt x="262559" y="289560"/>
                </a:lnTo>
                <a:lnTo>
                  <a:pt x="263423" y="288544"/>
                </a:lnTo>
                <a:lnTo>
                  <a:pt x="271653" y="282143"/>
                </a:lnTo>
                <a:lnTo>
                  <a:pt x="377952" y="335280"/>
                </a:lnTo>
                <a:lnTo>
                  <a:pt x="441960" y="365760"/>
                </a:lnTo>
                <a:lnTo>
                  <a:pt x="664464" y="463296"/>
                </a:lnTo>
                <a:lnTo>
                  <a:pt x="746760" y="496824"/>
                </a:lnTo>
                <a:lnTo>
                  <a:pt x="755904" y="499872"/>
                </a:lnTo>
                <a:lnTo>
                  <a:pt x="841248" y="536448"/>
                </a:lnTo>
                <a:lnTo>
                  <a:pt x="932688" y="569976"/>
                </a:lnTo>
                <a:lnTo>
                  <a:pt x="1121664" y="643128"/>
                </a:lnTo>
                <a:lnTo>
                  <a:pt x="1222248" y="679704"/>
                </a:lnTo>
                <a:lnTo>
                  <a:pt x="1325880" y="719328"/>
                </a:lnTo>
                <a:lnTo>
                  <a:pt x="1655064" y="832104"/>
                </a:lnTo>
                <a:lnTo>
                  <a:pt x="2130552" y="987552"/>
                </a:lnTo>
                <a:lnTo>
                  <a:pt x="2380488" y="1063752"/>
                </a:lnTo>
                <a:lnTo>
                  <a:pt x="2874264" y="1207008"/>
                </a:lnTo>
                <a:lnTo>
                  <a:pt x="3337560" y="1331976"/>
                </a:lnTo>
                <a:lnTo>
                  <a:pt x="3553968" y="1386840"/>
                </a:lnTo>
                <a:lnTo>
                  <a:pt x="3758184" y="1435608"/>
                </a:lnTo>
                <a:lnTo>
                  <a:pt x="3950208" y="1478280"/>
                </a:lnTo>
                <a:lnTo>
                  <a:pt x="4041648" y="1496568"/>
                </a:lnTo>
                <a:lnTo>
                  <a:pt x="4130040" y="1511808"/>
                </a:lnTo>
                <a:lnTo>
                  <a:pt x="4212336" y="1530096"/>
                </a:lnTo>
                <a:lnTo>
                  <a:pt x="4440936" y="1566672"/>
                </a:lnTo>
                <a:lnTo>
                  <a:pt x="4504944" y="1575816"/>
                </a:lnTo>
                <a:lnTo>
                  <a:pt x="4532376" y="1578432"/>
                </a:lnTo>
                <a:lnTo>
                  <a:pt x="4532376" y="1648968"/>
                </a:lnTo>
                <a:lnTo>
                  <a:pt x="4526280" y="1673352"/>
                </a:lnTo>
                <a:lnTo>
                  <a:pt x="4527423" y="1673352"/>
                </a:lnTo>
                <a:lnTo>
                  <a:pt x="4514088" y="1694688"/>
                </a:lnTo>
                <a:lnTo>
                  <a:pt x="4494885" y="1716633"/>
                </a:lnTo>
                <a:lnTo>
                  <a:pt x="4468368" y="1734312"/>
                </a:lnTo>
                <a:lnTo>
                  <a:pt x="4469066" y="1735378"/>
                </a:lnTo>
                <a:lnTo>
                  <a:pt x="4437888" y="1749552"/>
                </a:lnTo>
                <a:lnTo>
                  <a:pt x="4398264" y="1761744"/>
                </a:lnTo>
                <a:lnTo>
                  <a:pt x="4355592" y="1770888"/>
                </a:lnTo>
                <a:lnTo>
                  <a:pt x="4312920" y="1773936"/>
                </a:lnTo>
                <a:lnTo>
                  <a:pt x="4312920" y="1792224"/>
                </a:lnTo>
                <a:lnTo>
                  <a:pt x="4358640" y="1789176"/>
                </a:lnTo>
                <a:lnTo>
                  <a:pt x="4401312" y="1780032"/>
                </a:lnTo>
                <a:lnTo>
                  <a:pt x="4440936" y="1767840"/>
                </a:lnTo>
                <a:lnTo>
                  <a:pt x="4477512" y="1749552"/>
                </a:lnTo>
                <a:lnTo>
                  <a:pt x="4486656" y="1743456"/>
                </a:lnTo>
                <a:lnTo>
                  <a:pt x="4500372" y="1734312"/>
                </a:lnTo>
                <a:lnTo>
                  <a:pt x="4504944" y="1731264"/>
                </a:lnTo>
                <a:lnTo>
                  <a:pt x="4507992" y="1728216"/>
                </a:lnTo>
                <a:lnTo>
                  <a:pt x="4513313" y="1722120"/>
                </a:lnTo>
                <a:lnTo>
                  <a:pt x="4518660" y="1716024"/>
                </a:lnTo>
                <a:lnTo>
                  <a:pt x="4529328" y="1703832"/>
                </a:lnTo>
                <a:lnTo>
                  <a:pt x="4544568" y="1679448"/>
                </a:lnTo>
                <a:lnTo>
                  <a:pt x="4544568" y="1676400"/>
                </a:lnTo>
                <a:lnTo>
                  <a:pt x="4545241" y="1673352"/>
                </a:lnTo>
                <a:lnTo>
                  <a:pt x="4545914" y="1670304"/>
                </a:lnTo>
                <a:lnTo>
                  <a:pt x="4550664" y="1648968"/>
                </a:lnTo>
                <a:lnTo>
                  <a:pt x="4550664" y="1580172"/>
                </a:lnTo>
                <a:lnTo>
                  <a:pt x="4568952" y="1581912"/>
                </a:lnTo>
                <a:lnTo>
                  <a:pt x="4626864" y="1588008"/>
                </a:lnTo>
                <a:lnTo>
                  <a:pt x="4678680" y="1591056"/>
                </a:lnTo>
                <a:lnTo>
                  <a:pt x="4803648" y="1591056"/>
                </a:lnTo>
                <a:lnTo>
                  <a:pt x="4834128" y="1584960"/>
                </a:lnTo>
                <a:lnTo>
                  <a:pt x="4888992" y="1566672"/>
                </a:lnTo>
                <a:lnTo>
                  <a:pt x="4913376" y="1536192"/>
                </a:lnTo>
                <a:lnTo>
                  <a:pt x="4913376" y="1520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091" y="1691132"/>
            <a:ext cx="7943215" cy="455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6261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Comic Sans MS"/>
                <a:cs typeface="Comic Sans MS"/>
              </a:rPr>
              <a:t>Representing </a:t>
            </a:r>
            <a:r>
              <a:rPr sz="2400" dirty="0">
                <a:latin typeface="Comic Sans MS"/>
                <a:cs typeface="Comic Sans MS"/>
              </a:rPr>
              <a:t>Covariance </a:t>
            </a:r>
            <a:r>
              <a:rPr sz="2400" spc="-5" dirty="0">
                <a:latin typeface="Comic Sans MS"/>
                <a:cs typeface="Comic Sans MS"/>
              </a:rPr>
              <a:t>between dimensions </a:t>
            </a:r>
            <a:r>
              <a:rPr sz="2400" dirty="0">
                <a:latin typeface="Comic Sans MS"/>
                <a:cs typeface="Comic Sans MS"/>
              </a:rPr>
              <a:t>as a  matrix e.g. </a:t>
            </a:r>
            <a:r>
              <a:rPr sz="2400" spc="-5" dirty="0">
                <a:latin typeface="Comic Sans MS"/>
                <a:cs typeface="Comic Sans MS"/>
              </a:rPr>
              <a:t>for </a:t>
            </a:r>
            <a:r>
              <a:rPr sz="2400" dirty="0">
                <a:latin typeface="Comic Sans MS"/>
                <a:cs typeface="Comic Sans MS"/>
              </a:rPr>
              <a:t>3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dimensions:</a:t>
            </a:r>
            <a:endParaRPr sz="2400">
              <a:latin typeface="Comic Sans MS"/>
              <a:cs typeface="Comic Sans MS"/>
            </a:endParaRPr>
          </a:p>
          <a:p>
            <a:pPr marL="1841500">
              <a:lnSpc>
                <a:spcPct val="100000"/>
              </a:lnSpc>
              <a:spcBef>
                <a:spcPts val="550"/>
              </a:spcBef>
              <a:tabLst>
                <a:tab pos="3157855" algn="l"/>
                <a:tab pos="4452620" algn="l"/>
              </a:tabLst>
            </a:pPr>
            <a:r>
              <a:rPr sz="2400" dirty="0">
                <a:latin typeface="Comic Sans MS"/>
                <a:cs typeface="Comic Sans MS"/>
              </a:rPr>
              <a:t>cov(x,x)	cov(x,y)	</a:t>
            </a:r>
            <a:r>
              <a:rPr sz="2400" spc="-10" dirty="0">
                <a:latin typeface="Comic Sans MS"/>
                <a:cs typeface="Comic Sans MS"/>
              </a:rPr>
              <a:t>cov(x,z)</a:t>
            </a:r>
            <a:endParaRPr sz="2400">
              <a:latin typeface="Comic Sans MS"/>
              <a:cs typeface="Comic Sans MS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  <a:tabLst>
                <a:tab pos="1721485" algn="l"/>
                <a:tab pos="3016885" algn="l"/>
                <a:tab pos="4283075" algn="l"/>
              </a:tabLst>
            </a:pPr>
            <a:r>
              <a:rPr sz="2400" dirty="0">
                <a:latin typeface="Comic Sans MS"/>
                <a:cs typeface="Comic Sans MS"/>
              </a:rPr>
              <a:t>C =	cov(y,x)	</a:t>
            </a:r>
            <a:r>
              <a:rPr sz="2400" spc="-10" dirty="0">
                <a:latin typeface="Comic Sans MS"/>
                <a:cs typeface="Comic Sans MS"/>
              </a:rPr>
              <a:t>cov(y,y)	</a:t>
            </a:r>
            <a:r>
              <a:rPr sz="2400" dirty="0">
                <a:latin typeface="Comic Sans MS"/>
                <a:cs typeface="Comic Sans MS"/>
              </a:rPr>
              <a:t>cov(y,z)</a:t>
            </a:r>
            <a:endParaRPr sz="2400">
              <a:latin typeface="Comic Sans MS"/>
              <a:cs typeface="Comic Sans MS"/>
            </a:endParaRPr>
          </a:p>
          <a:p>
            <a:pPr marL="1841500">
              <a:lnSpc>
                <a:spcPts val="2650"/>
              </a:lnSpc>
              <a:spcBef>
                <a:spcPts val="575"/>
              </a:spcBef>
              <a:tabLst>
                <a:tab pos="3141345" algn="l"/>
                <a:tab pos="4420870" algn="l"/>
              </a:tabLst>
            </a:pPr>
            <a:r>
              <a:rPr sz="2400" dirty="0">
                <a:latin typeface="Comic Sans MS"/>
                <a:cs typeface="Comic Sans MS"/>
              </a:rPr>
              <a:t>cov(z,x)	cov(z,y)	cov(z,z)</a:t>
            </a:r>
            <a:endParaRPr sz="2400">
              <a:latin typeface="Comic Sans MS"/>
              <a:cs typeface="Comic Sans MS"/>
            </a:endParaRPr>
          </a:p>
          <a:p>
            <a:pPr marR="5080" algn="r">
              <a:lnSpc>
                <a:spcPts val="2650"/>
              </a:lnSpc>
            </a:pPr>
            <a:r>
              <a:rPr sz="2400" b="1" dirty="0">
                <a:latin typeface="Arial"/>
                <a:cs typeface="Arial"/>
              </a:rPr>
              <a:t>Variances</a:t>
            </a:r>
            <a:endParaRPr sz="24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158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Diagonal </a:t>
            </a:r>
            <a:r>
              <a:rPr sz="2400" spc="-5" dirty="0">
                <a:latin typeface="Comic Sans MS"/>
                <a:cs typeface="Comic Sans MS"/>
              </a:rPr>
              <a:t>is the 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variances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x, </a:t>
            </a:r>
            <a:r>
              <a:rPr sz="2400" dirty="0">
                <a:latin typeface="Comic Sans MS"/>
                <a:cs typeface="Comic Sans MS"/>
              </a:rPr>
              <a:t>y and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z</a:t>
            </a:r>
            <a:endParaRPr sz="2400">
              <a:latin typeface="Comic Sans MS"/>
              <a:cs typeface="Comic Sans MS"/>
            </a:endParaRPr>
          </a:p>
          <a:p>
            <a:pPr marL="356870" marR="44450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cov(x,y) = cov(y,x) </a:t>
            </a:r>
            <a:r>
              <a:rPr sz="2400" spc="-15" dirty="0">
                <a:latin typeface="Comic Sans MS"/>
                <a:cs typeface="Comic Sans MS"/>
              </a:rPr>
              <a:t>hence </a:t>
            </a:r>
            <a:r>
              <a:rPr sz="2400" dirty="0">
                <a:latin typeface="Comic Sans MS"/>
                <a:cs typeface="Comic Sans MS"/>
              </a:rPr>
              <a:t>matrix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symmetrical</a:t>
            </a:r>
            <a:r>
              <a:rPr sz="2400" spc="-130" dirty="0">
                <a:solidFill>
                  <a:srgbClr val="0066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about  </a:t>
            </a:r>
            <a:r>
              <a:rPr sz="2400" spc="-5" dirty="0">
                <a:latin typeface="Comic Sans MS"/>
                <a:cs typeface="Comic Sans MS"/>
              </a:rPr>
              <a:t>the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diagonal</a:t>
            </a:r>
            <a:endParaRPr sz="2400">
              <a:latin typeface="Comic Sans MS"/>
              <a:cs typeface="Comic Sans MS"/>
            </a:endParaRPr>
          </a:p>
          <a:p>
            <a:pPr marL="356870" marR="699135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N-dimensional </a:t>
            </a:r>
            <a:r>
              <a:rPr sz="2400" spc="-5" dirty="0">
                <a:latin typeface="Comic Sans MS"/>
                <a:cs typeface="Comic Sans MS"/>
              </a:rPr>
              <a:t>data will result in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NxN </a:t>
            </a:r>
            <a:r>
              <a:rPr sz="2400" spc="-10" dirty="0">
                <a:solidFill>
                  <a:srgbClr val="0066FF"/>
                </a:solidFill>
                <a:latin typeface="Comic Sans MS"/>
                <a:cs typeface="Comic Sans MS"/>
              </a:rPr>
              <a:t>covariance 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matrix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484" y="758467"/>
            <a:ext cx="25647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840508"/>
            <a:ext cx="7162800" cy="34436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1905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spc="5" dirty="0">
                <a:latin typeface="Comic Sans MS"/>
                <a:cs typeface="Comic Sans MS"/>
              </a:rPr>
              <a:t>What </a:t>
            </a:r>
            <a:r>
              <a:rPr sz="2800" dirty="0">
                <a:latin typeface="Comic Sans MS"/>
                <a:cs typeface="Comic Sans MS"/>
              </a:rPr>
              <a:t>is the </a:t>
            </a:r>
            <a:r>
              <a:rPr sz="2800" spc="-5" dirty="0">
                <a:latin typeface="Comic Sans MS"/>
                <a:cs typeface="Comic Sans MS"/>
              </a:rPr>
              <a:t>interpretation </a:t>
            </a:r>
            <a:r>
              <a:rPr sz="2800" dirty="0">
                <a:latin typeface="Comic Sans MS"/>
                <a:cs typeface="Comic Sans MS"/>
              </a:rPr>
              <a:t>of </a:t>
            </a:r>
            <a:r>
              <a:rPr sz="2800" spc="-5" dirty="0">
                <a:latin typeface="Comic Sans MS"/>
                <a:cs typeface="Comic Sans MS"/>
              </a:rPr>
              <a:t>covariance  </a:t>
            </a:r>
            <a:r>
              <a:rPr sz="2800" dirty="0">
                <a:latin typeface="Comic Sans MS"/>
                <a:cs typeface="Comic Sans MS"/>
              </a:rPr>
              <a:t>calculations?</a:t>
            </a:r>
            <a:endParaRPr sz="2800">
              <a:latin typeface="Comic Sans MS"/>
              <a:cs typeface="Comic Sans MS"/>
            </a:endParaRPr>
          </a:p>
          <a:p>
            <a:pPr marL="356870">
              <a:lnSpc>
                <a:spcPct val="100000"/>
              </a:lnSpc>
              <a:spcBef>
                <a:spcPts val="695"/>
              </a:spcBef>
            </a:pPr>
            <a:r>
              <a:rPr sz="2800" dirty="0">
                <a:latin typeface="Comic Sans MS"/>
                <a:cs typeface="Comic Sans MS"/>
              </a:rPr>
              <a:t>e.g.: 2 </a:t>
            </a:r>
            <a:r>
              <a:rPr sz="2800" spc="-5" dirty="0">
                <a:latin typeface="Comic Sans MS"/>
                <a:cs typeface="Comic Sans MS"/>
              </a:rPr>
              <a:t>dimensional </a:t>
            </a:r>
            <a:r>
              <a:rPr sz="2800" dirty="0">
                <a:latin typeface="Comic Sans MS"/>
                <a:cs typeface="Comic Sans MS"/>
              </a:rPr>
              <a:t>data set</a:t>
            </a:r>
            <a:endParaRPr sz="2800">
              <a:latin typeface="Comic Sans MS"/>
              <a:cs typeface="Comic Sans MS"/>
            </a:endParaRPr>
          </a:p>
          <a:p>
            <a:pPr marL="356870" marR="5080">
              <a:lnSpc>
                <a:spcPct val="120000"/>
              </a:lnSpc>
            </a:pPr>
            <a:r>
              <a:rPr sz="2800" dirty="0">
                <a:latin typeface="Comic Sans MS"/>
                <a:cs typeface="Comic Sans MS"/>
              </a:rPr>
              <a:t>x: number of </a:t>
            </a:r>
            <a:r>
              <a:rPr sz="2800" spc="-10" dirty="0">
                <a:latin typeface="Comic Sans MS"/>
                <a:cs typeface="Comic Sans MS"/>
              </a:rPr>
              <a:t>hours </a:t>
            </a:r>
            <a:r>
              <a:rPr sz="2800" dirty="0">
                <a:latin typeface="Comic Sans MS"/>
                <a:cs typeface="Comic Sans MS"/>
              </a:rPr>
              <a:t>studied for a </a:t>
            </a:r>
            <a:r>
              <a:rPr sz="2800" spc="-5" dirty="0">
                <a:latin typeface="Comic Sans MS"/>
                <a:cs typeface="Comic Sans MS"/>
              </a:rPr>
              <a:t>subject  </a:t>
            </a:r>
            <a:r>
              <a:rPr sz="2800" dirty="0">
                <a:latin typeface="Comic Sans MS"/>
                <a:cs typeface="Comic Sans MS"/>
              </a:rPr>
              <a:t>y: marks obtained in that </a:t>
            </a:r>
            <a:r>
              <a:rPr sz="2800" spc="-10" dirty="0">
                <a:latin typeface="Comic Sans MS"/>
                <a:cs typeface="Comic Sans MS"/>
              </a:rPr>
              <a:t>subject  </a:t>
            </a:r>
            <a:r>
              <a:rPr sz="2800" dirty="0">
                <a:latin typeface="Comic Sans MS"/>
                <a:cs typeface="Comic Sans MS"/>
              </a:rPr>
              <a:t>covariance </a:t>
            </a:r>
            <a:r>
              <a:rPr sz="2800" spc="-5" dirty="0">
                <a:latin typeface="Comic Sans MS"/>
                <a:cs typeface="Comic Sans MS"/>
              </a:rPr>
              <a:t>value </a:t>
            </a:r>
            <a:r>
              <a:rPr sz="2800" dirty="0">
                <a:latin typeface="Comic Sans MS"/>
                <a:cs typeface="Comic Sans MS"/>
              </a:rPr>
              <a:t>is say: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spc="-15" dirty="0">
                <a:latin typeface="Comic Sans MS"/>
                <a:cs typeface="Comic Sans MS"/>
              </a:rPr>
              <a:t>104.53</a:t>
            </a:r>
            <a:endParaRPr sz="2800">
              <a:latin typeface="Comic Sans MS"/>
              <a:cs typeface="Comic Sans MS"/>
            </a:endParaRPr>
          </a:p>
          <a:p>
            <a:pPr marL="35687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omic Sans MS"/>
                <a:cs typeface="Comic Sans MS"/>
              </a:rPr>
              <a:t>what does </a:t>
            </a:r>
            <a:r>
              <a:rPr sz="2800" spc="-5" dirty="0">
                <a:latin typeface="Comic Sans MS"/>
                <a:cs typeface="Comic Sans MS"/>
              </a:rPr>
              <a:t>this value</a:t>
            </a:r>
            <a:r>
              <a:rPr sz="2800" dirty="0">
                <a:latin typeface="Comic Sans MS"/>
                <a:cs typeface="Comic Sans MS"/>
              </a:rPr>
              <a:t> mean?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195" y="1291867"/>
            <a:ext cx="48933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Covariance</a:t>
            </a:r>
            <a:r>
              <a:rPr spc="-20" dirty="0"/>
              <a:t> </a:t>
            </a:r>
            <a:r>
              <a:rPr dirty="0"/>
              <a:t>examples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1981200" y="2133600"/>
            <a:ext cx="6059424" cy="3425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8491" y="5586476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2122" y="3605268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484" y="682267"/>
            <a:ext cx="25647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480820"/>
            <a:ext cx="7994015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is not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sign.</a:t>
            </a:r>
          </a:p>
          <a:p>
            <a:pPr marL="356870" indent="-344805">
              <a:lnSpc>
                <a:spcPts val="2580"/>
              </a:lnSpc>
              <a:spcBef>
                <a:spcPts val="28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covariance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>
              <a:lnSpc>
                <a:spcPts val="2290"/>
              </a:lnSpc>
            </a:pP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dimensions increase </a:t>
            </a:r>
            <a:r>
              <a:rPr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 together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as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72390">
              <a:lnSpc>
                <a:spcPct val="80000"/>
              </a:lnSpc>
              <a:spcBef>
                <a:spcPts val="28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hours studied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increases, 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that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805">
              <a:lnSpc>
                <a:spcPts val="2580"/>
              </a:lnSpc>
              <a:spcBef>
                <a:spcPts val="28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sz="2400" spc="-3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306705" indent="-635">
              <a:lnSpc>
                <a:spcPct val="80000"/>
              </a:lnSpc>
              <a:spcBef>
                <a:spcPts val="275"/>
              </a:spcBef>
            </a:pPr>
            <a:r>
              <a:rPr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vice-versa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active social life  at PSU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5080" indent="-344805">
              <a:lnSpc>
                <a:spcPts val="2300"/>
              </a:lnSpc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dimensions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400" spc="-2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each other e.g. heights of students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 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484" y="682267"/>
            <a:ext cx="25647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657579"/>
            <a:ext cx="8038465" cy="3532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207010" indent="-344805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357505" algn="l"/>
              </a:tabLst>
            </a:pPr>
            <a:r>
              <a:rPr sz="3200" spc="-10" dirty="0">
                <a:solidFill>
                  <a:srgbClr val="0066FF"/>
                </a:solidFill>
                <a:latin typeface="Comic Sans MS"/>
                <a:cs typeface="Comic Sans MS"/>
              </a:rPr>
              <a:t>Why bother </a:t>
            </a:r>
            <a:r>
              <a:rPr sz="3200" spc="10" dirty="0">
                <a:solidFill>
                  <a:srgbClr val="0066FF"/>
                </a:solidFill>
                <a:latin typeface="Comic Sans MS"/>
                <a:cs typeface="Comic Sans MS"/>
              </a:rPr>
              <a:t>with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calculating </a:t>
            </a:r>
            <a:r>
              <a:rPr sz="3200" dirty="0">
                <a:solidFill>
                  <a:srgbClr val="0066FF"/>
                </a:solidFill>
                <a:latin typeface="Comic Sans MS"/>
                <a:cs typeface="Comic Sans MS"/>
              </a:rPr>
              <a:t>covariance  </a:t>
            </a:r>
            <a:r>
              <a:rPr sz="3200" spc="-10" dirty="0">
                <a:solidFill>
                  <a:srgbClr val="0066FF"/>
                </a:solidFill>
                <a:latin typeface="Comic Sans MS"/>
                <a:cs typeface="Comic Sans MS"/>
              </a:rPr>
              <a:t>when we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could </a:t>
            </a:r>
            <a:r>
              <a:rPr sz="3200" spc="10" dirty="0">
                <a:solidFill>
                  <a:srgbClr val="0066FF"/>
                </a:solidFill>
                <a:latin typeface="Comic Sans MS"/>
                <a:cs typeface="Comic Sans MS"/>
              </a:rPr>
              <a:t>just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plot </a:t>
            </a:r>
            <a:r>
              <a:rPr sz="3200" spc="-10" dirty="0">
                <a:solidFill>
                  <a:srgbClr val="0066FF"/>
                </a:solidFill>
                <a:latin typeface="Comic Sans MS"/>
                <a:cs typeface="Comic Sans MS"/>
              </a:rPr>
              <a:t>the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2 </a:t>
            </a:r>
            <a:r>
              <a:rPr sz="3200" spc="10" dirty="0">
                <a:solidFill>
                  <a:srgbClr val="0066FF"/>
                </a:solidFill>
                <a:latin typeface="Comic Sans MS"/>
                <a:cs typeface="Comic Sans MS"/>
              </a:rPr>
              <a:t>values </a:t>
            </a:r>
            <a:r>
              <a:rPr sz="3200" spc="-10" dirty="0">
                <a:solidFill>
                  <a:srgbClr val="0066FF"/>
                </a:solidFill>
                <a:latin typeface="Comic Sans MS"/>
                <a:cs typeface="Comic Sans MS"/>
              </a:rPr>
              <a:t>to 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see </a:t>
            </a:r>
            <a:r>
              <a:rPr sz="3200" spc="-10" dirty="0">
                <a:solidFill>
                  <a:srgbClr val="0066FF"/>
                </a:solidFill>
                <a:latin typeface="Comic Sans MS"/>
                <a:cs typeface="Comic Sans MS"/>
              </a:rPr>
              <a:t>their </a:t>
            </a:r>
            <a:r>
              <a:rPr sz="3200" spc="-5" dirty="0">
                <a:solidFill>
                  <a:srgbClr val="0066FF"/>
                </a:solidFill>
                <a:latin typeface="Comic Sans MS"/>
                <a:cs typeface="Comic Sans MS"/>
              </a:rPr>
              <a:t>relationship?</a:t>
            </a:r>
            <a:endParaRPr sz="3200">
              <a:latin typeface="Comic Sans MS"/>
              <a:cs typeface="Comic Sans MS"/>
            </a:endParaRPr>
          </a:p>
          <a:p>
            <a:pPr marL="356870" marR="5080">
              <a:lnSpc>
                <a:spcPct val="99800"/>
              </a:lnSpc>
              <a:spcBef>
                <a:spcPts val="775"/>
              </a:spcBef>
            </a:pPr>
            <a:r>
              <a:rPr sz="3200" spc="-5" dirty="0">
                <a:latin typeface="Comic Sans MS"/>
                <a:cs typeface="Comic Sans MS"/>
              </a:rPr>
              <a:t>Covariance </a:t>
            </a:r>
            <a:r>
              <a:rPr sz="3200" dirty="0">
                <a:latin typeface="Comic Sans MS"/>
                <a:cs typeface="Comic Sans MS"/>
              </a:rPr>
              <a:t>calculations </a:t>
            </a:r>
            <a:r>
              <a:rPr sz="3200" spc="-5" dirty="0">
                <a:latin typeface="Comic Sans MS"/>
                <a:cs typeface="Comic Sans MS"/>
              </a:rPr>
              <a:t>are </a:t>
            </a:r>
            <a:r>
              <a:rPr sz="3200" spc="-10" dirty="0">
                <a:latin typeface="Comic Sans MS"/>
                <a:cs typeface="Comic Sans MS"/>
              </a:rPr>
              <a:t>used to find  relationships </a:t>
            </a:r>
            <a:r>
              <a:rPr sz="3200" dirty="0">
                <a:latin typeface="Comic Sans MS"/>
                <a:cs typeface="Comic Sans MS"/>
              </a:rPr>
              <a:t>between dimensions </a:t>
            </a:r>
            <a:r>
              <a:rPr sz="3200" spc="-10" dirty="0">
                <a:latin typeface="Comic Sans MS"/>
                <a:cs typeface="Comic Sans MS"/>
              </a:rPr>
              <a:t>in </a:t>
            </a:r>
            <a:r>
              <a:rPr sz="3200" spc="-5" dirty="0">
                <a:latin typeface="Comic Sans MS"/>
                <a:cs typeface="Comic Sans MS"/>
              </a:rPr>
              <a:t>high  </a:t>
            </a:r>
            <a:r>
              <a:rPr sz="3200" spc="-10" dirty="0">
                <a:latin typeface="Comic Sans MS"/>
                <a:cs typeface="Comic Sans MS"/>
              </a:rPr>
              <a:t>dimensional </a:t>
            </a:r>
            <a:r>
              <a:rPr sz="3200" spc="10" dirty="0">
                <a:latin typeface="Comic Sans MS"/>
                <a:cs typeface="Comic Sans MS"/>
              </a:rPr>
              <a:t>data </a:t>
            </a:r>
            <a:r>
              <a:rPr sz="3200" spc="-5" dirty="0">
                <a:latin typeface="Comic Sans MS"/>
                <a:cs typeface="Comic Sans MS"/>
              </a:rPr>
              <a:t>sets </a:t>
            </a:r>
            <a:r>
              <a:rPr sz="3200" spc="-10" dirty="0">
                <a:latin typeface="Comic Sans MS"/>
                <a:cs typeface="Comic Sans MS"/>
              </a:rPr>
              <a:t>(usually </a:t>
            </a:r>
            <a:r>
              <a:rPr sz="3200" dirty="0">
                <a:latin typeface="Comic Sans MS"/>
                <a:cs typeface="Comic Sans MS"/>
              </a:rPr>
              <a:t>greater  </a:t>
            </a:r>
            <a:r>
              <a:rPr sz="3200" spc="-10" dirty="0">
                <a:latin typeface="Comic Sans MS"/>
                <a:cs typeface="Comic Sans MS"/>
              </a:rPr>
              <a:t>than 3) where </a:t>
            </a:r>
            <a:r>
              <a:rPr sz="3200" dirty="0">
                <a:latin typeface="Comic Sans MS"/>
                <a:cs typeface="Comic Sans MS"/>
              </a:rPr>
              <a:t>visualization </a:t>
            </a:r>
            <a:r>
              <a:rPr sz="3200" spc="-10" dirty="0">
                <a:latin typeface="Comic Sans MS"/>
                <a:cs typeface="Comic Sans MS"/>
              </a:rPr>
              <a:t>is</a:t>
            </a:r>
            <a:r>
              <a:rPr sz="3200" spc="-20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difficult.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1011" y="758467"/>
            <a:ext cx="9702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691132"/>
            <a:ext cx="7999095" cy="433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399415" indent="-344805">
              <a:lnSpc>
                <a:spcPct val="100000"/>
              </a:lnSpc>
              <a:spcBef>
                <a:spcPts val="100"/>
              </a:spcBef>
              <a:buFont typeface="Comic Sans MS"/>
              <a:buChar char="•"/>
              <a:tabLst>
                <a:tab pos="356870" algn="l"/>
                <a:tab pos="357505" algn="l"/>
              </a:tabLst>
            </a:pPr>
            <a:r>
              <a:rPr sz="2400" b="1" dirty="0">
                <a:latin typeface="Comic Sans MS"/>
                <a:cs typeface="Comic Sans MS"/>
              </a:rPr>
              <a:t>principal components analysis </a:t>
            </a:r>
            <a:r>
              <a:rPr sz="2400" b="1" spc="-5" dirty="0">
                <a:latin typeface="Comic Sans MS"/>
                <a:cs typeface="Comic Sans MS"/>
              </a:rPr>
              <a:t>(PCA)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42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technique  that </a:t>
            </a:r>
            <a:r>
              <a:rPr sz="2400" dirty="0">
                <a:latin typeface="Comic Sans MS"/>
                <a:cs typeface="Comic Sans MS"/>
              </a:rPr>
              <a:t>can </a:t>
            </a:r>
            <a:r>
              <a:rPr sz="2400" spc="-5" dirty="0">
                <a:latin typeface="Comic Sans MS"/>
                <a:cs typeface="Comic Sans MS"/>
              </a:rPr>
              <a:t>be used to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simplify a</a:t>
            </a:r>
            <a:r>
              <a:rPr sz="2400" spc="-50" dirty="0">
                <a:solidFill>
                  <a:srgbClr val="0066FF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dataset</a:t>
            </a:r>
            <a:endParaRPr sz="2400">
              <a:latin typeface="Comic Sans MS"/>
              <a:cs typeface="Comic Sans MS"/>
            </a:endParaRPr>
          </a:p>
          <a:p>
            <a:pPr marL="356870" marR="831850" indent="-344805">
              <a:lnSpc>
                <a:spcPct val="100000"/>
              </a:lnSpc>
              <a:spcBef>
                <a:spcPts val="55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Comic Sans MS"/>
                <a:cs typeface="Comic Sans MS"/>
              </a:rPr>
              <a:t>It is </a:t>
            </a:r>
            <a:r>
              <a:rPr sz="2400" dirty="0">
                <a:latin typeface="Comic Sans MS"/>
                <a:cs typeface="Comic Sans MS"/>
              </a:rPr>
              <a:t>a linear </a:t>
            </a:r>
            <a:r>
              <a:rPr sz="2400" spc="-5" dirty="0">
                <a:latin typeface="Comic Sans MS"/>
                <a:cs typeface="Comic Sans MS"/>
              </a:rPr>
              <a:t>transformation that </a:t>
            </a:r>
            <a:r>
              <a:rPr sz="2400" spc="-10" dirty="0">
                <a:latin typeface="Comic Sans MS"/>
                <a:cs typeface="Comic Sans MS"/>
              </a:rPr>
              <a:t>chooses </a:t>
            </a: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new  </a:t>
            </a:r>
            <a:r>
              <a:rPr sz="2400" dirty="0">
                <a:latin typeface="Comic Sans MS"/>
                <a:cs typeface="Comic Sans MS"/>
              </a:rPr>
              <a:t>coordinate system </a:t>
            </a:r>
            <a:r>
              <a:rPr sz="2400" spc="-5" dirty="0">
                <a:latin typeface="Comic Sans MS"/>
                <a:cs typeface="Comic Sans MS"/>
              </a:rPr>
              <a:t>for the data </a:t>
            </a:r>
            <a:r>
              <a:rPr sz="2400" spc="-20" dirty="0">
                <a:latin typeface="Comic Sans MS"/>
                <a:cs typeface="Comic Sans MS"/>
              </a:rPr>
              <a:t>set </a:t>
            </a:r>
            <a:r>
              <a:rPr sz="2400" dirty="0">
                <a:latin typeface="Comic Sans MS"/>
                <a:cs typeface="Comic Sans MS"/>
              </a:rPr>
              <a:t>such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that</a:t>
            </a:r>
            <a:endParaRPr sz="2400">
              <a:latin typeface="Comic Sans MS"/>
              <a:cs typeface="Comic Sans MS"/>
            </a:endParaRPr>
          </a:p>
          <a:p>
            <a:pPr marL="356870" marR="313055" indent="56959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omic Sans MS"/>
                <a:cs typeface="Comic Sans MS"/>
              </a:rPr>
              <a:t>greatest </a:t>
            </a:r>
            <a:r>
              <a:rPr sz="2400" spc="-5" dirty="0">
                <a:latin typeface="Comic Sans MS"/>
                <a:cs typeface="Comic Sans MS"/>
              </a:rPr>
              <a:t>variance by </a:t>
            </a:r>
            <a:r>
              <a:rPr sz="2400" dirty="0">
                <a:latin typeface="Comic Sans MS"/>
                <a:cs typeface="Comic Sans MS"/>
              </a:rPr>
              <a:t>any </a:t>
            </a:r>
            <a:r>
              <a:rPr sz="2400" spc="-10" dirty="0">
                <a:latin typeface="Comic Sans MS"/>
                <a:cs typeface="Comic Sans MS"/>
              </a:rPr>
              <a:t>projection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data  </a:t>
            </a:r>
            <a:r>
              <a:rPr sz="2400" dirty="0">
                <a:latin typeface="Comic Sans MS"/>
                <a:cs typeface="Comic Sans MS"/>
              </a:rPr>
              <a:t>set comes </a:t>
            </a:r>
            <a:r>
              <a:rPr sz="2400" spc="-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lie on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spc="-15" dirty="0">
                <a:latin typeface="Comic Sans MS"/>
                <a:cs typeface="Comic Sans MS"/>
              </a:rPr>
              <a:t>first </a:t>
            </a:r>
            <a:r>
              <a:rPr sz="2400" dirty="0">
                <a:latin typeface="Comic Sans MS"/>
                <a:cs typeface="Comic Sans MS"/>
              </a:rPr>
              <a:t>axis </a:t>
            </a:r>
            <a:r>
              <a:rPr sz="2400" spc="-5" dirty="0">
                <a:latin typeface="Comic Sans MS"/>
                <a:cs typeface="Comic Sans MS"/>
              </a:rPr>
              <a:t>(then </a:t>
            </a:r>
            <a:r>
              <a:rPr sz="2400" dirty="0">
                <a:latin typeface="Comic Sans MS"/>
                <a:cs typeface="Comic Sans MS"/>
              </a:rPr>
              <a:t>called </a:t>
            </a:r>
            <a:r>
              <a:rPr sz="2400" spc="-5" dirty="0">
                <a:latin typeface="Comic Sans MS"/>
                <a:cs typeface="Comic Sans MS"/>
              </a:rPr>
              <a:t>the  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first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principal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 component</a:t>
            </a:r>
            <a:r>
              <a:rPr sz="2400" spc="-5" dirty="0">
                <a:latin typeface="Comic Sans MS"/>
                <a:cs typeface="Comic Sans MS"/>
              </a:rPr>
              <a:t>),</a:t>
            </a:r>
            <a:endParaRPr sz="2400">
              <a:latin typeface="Comic Sans MS"/>
              <a:cs typeface="Comic Sans MS"/>
            </a:endParaRPr>
          </a:p>
          <a:p>
            <a:pPr marL="927100" marR="5080">
              <a:lnSpc>
                <a:spcPct val="100000"/>
              </a:lnSpc>
              <a:spcBef>
                <a:spcPts val="550"/>
              </a:spcBef>
              <a:tabLst>
                <a:tab pos="7330440" algn="l"/>
              </a:tabLst>
            </a:pPr>
            <a:r>
              <a:rPr sz="2400" spc="-5" dirty="0">
                <a:latin typeface="Comic Sans MS"/>
                <a:cs typeface="Comic Sans MS"/>
              </a:rPr>
              <a:t>th</a:t>
            </a:r>
            <a:r>
              <a:rPr sz="2400" dirty="0">
                <a:latin typeface="Comic Sans MS"/>
                <a:cs typeface="Comic Sans MS"/>
              </a:rPr>
              <a:t>e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second greatest </a:t>
            </a:r>
            <a:r>
              <a:rPr sz="2400" spc="-60" dirty="0">
                <a:latin typeface="Comic Sans MS"/>
                <a:cs typeface="Comic Sans MS"/>
              </a:rPr>
              <a:t>v</a:t>
            </a:r>
            <a:r>
              <a:rPr sz="2400" dirty="0">
                <a:latin typeface="Comic Sans MS"/>
                <a:cs typeface="Comic Sans MS"/>
              </a:rPr>
              <a:t>ariance on </a:t>
            </a:r>
            <a:r>
              <a:rPr sz="2400" spc="-5" dirty="0">
                <a:latin typeface="Comic Sans MS"/>
                <a:cs typeface="Comic Sans MS"/>
              </a:rPr>
              <a:t>th</a:t>
            </a:r>
            <a:r>
              <a:rPr sz="2400" dirty="0">
                <a:latin typeface="Comic Sans MS"/>
                <a:cs typeface="Comic Sans MS"/>
              </a:rPr>
              <a:t>e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second	axis,  and so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on.</a:t>
            </a:r>
            <a:endParaRPr sz="2400">
              <a:latin typeface="Comic Sans MS"/>
              <a:cs typeface="Comic Sans MS"/>
            </a:endParaRPr>
          </a:p>
          <a:p>
            <a:pPr marL="356870" marR="933450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PCA can </a:t>
            </a:r>
            <a:r>
              <a:rPr sz="2400" spc="-5" dirty="0">
                <a:latin typeface="Comic Sans MS"/>
                <a:cs typeface="Comic Sans MS"/>
              </a:rPr>
              <a:t>be used for 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reducing dimensionality </a:t>
            </a:r>
            <a:r>
              <a:rPr sz="2400" spc="-5" dirty="0">
                <a:latin typeface="Comic Sans MS"/>
                <a:cs typeface="Comic Sans MS"/>
              </a:rPr>
              <a:t>by  </a:t>
            </a:r>
            <a:r>
              <a:rPr sz="2400" dirty="0">
                <a:latin typeface="Comic Sans MS"/>
                <a:cs typeface="Comic Sans MS"/>
              </a:rPr>
              <a:t>eliminating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later principal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components.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667" y="758467"/>
            <a:ext cx="4121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Toy</a:t>
            </a:r>
            <a:r>
              <a:rPr spc="-3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7722" y="2376932"/>
            <a:ext cx="463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Consider </a:t>
            </a:r>
            <a:r>
              <a:rPr sz="2400" spc="-5" dirty="0">
                <a:latin typeface="Comic Sans MS"/>
                <a:cs typeface="Comic Sans MS"/>
              </a:rPr>
              <a:t>the following 3D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points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27632" y="30391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15255" y="30391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9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85032" y="3039110"/>
          <a:ext cx="56134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33045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33045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57855" y="30391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42432" y="30391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772656" y="30391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75613" y="5165456"/>
            <a:ext cx="54622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/>
                <a:cs typeface="Comic Sans MS"/>
              </a:rPr>
              <a:t>If </a:t>
            </a:r>
            <a:r>
              <a:rPr sz="2400" dirty="0">
                <a:latin typeface="Comic Sans MS"/>
                <a:cs typeface="Comic Sans MS"/>
              </a:rPr>
              <a:t>each component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stored </a:t>
            </a:r>
            <a:r>
              <a:rPr sz="2400" spc="-5" dirty="0">
                <a:latin typeface="Comic Sans MS"/>
                <a:cs typeface="Comic Sans MS"/>
              </a:rPr>
              <a:t>in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byte,  we need 18 </a:t>
            </a:r>
            <a:r>
              <a:rPr sz="2400" dirty="0">
                <a:latin typeface="Comic Sans MS"/>
                <a:cs typeface="Comic Sans MS"/>
              </a:rPr>
              <a:t>= 3 x 6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bytes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667" y="758467"/>
            <a:ext cx="4121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Toy</a:t>
            </a:r>
            <a:r>
              <a:rPr spc="-3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522" y="1614932"/>
            <a:ext cx="8069580" cy="1120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-635">
              <a:lnSpc>
                <a:spcPct val="99600"/>
              </a:lnSpc>
              <a:spcBef>
                <a:spcPts val="110"/>
              </a:spcBef>
              <a:tabLst>
                <a:tab pos="2193925" algn="l"/>
              </a:tabLst>
            </a:pPr>
            <a:r>
              <a:rPr sz="2400" dirty="0">
                <a:latin typeface="Comic Sans MS"/>
                <a:cs typeface="Comic Sans MS"/>
              </a:rPr>
              <a:t>Looking closer, </a:t>
            </a:r>
            <a:r>
              <a:rPr sz="2400" spc="-5" dirty="0">
                <a:latin typeface="Comic Sans MS"/>
                <a:cs typeface="Comic Sans MS"/>
              </a:rPr>
              <a:t>we </a:t>
            </a:r>
            <a:r>
              <a:rPr sz="2400" dirty="0">
                <a:latin typeface="Comic Sans MS"/>
                <a:cs typeface="Comic Sans MS"/>
              </a:rPr>
              <a:t>can see </a:t>
            </a:r>
            <a:r>
              <a:rPr sz="2400" spc="-5" dirty="0">
                <a:latin typeface="Comic Sans MS"/>
                <a:cs typeface="Comic Sans MS"/>
              </a:rPr>
              <a:t>that </a:t>
            </a:r>
            <a:r>
              <a:rPr sz="2400" dirty="0">
                <a:latin typeface="Comic Sans MS"/>
                <a:cs typeface="Comic Sans MS"/>
              </a:rPr>
              <a:t>all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points are</a:t>
            </a:r>
            <a:r>
              <a:rPr sz="2400" spc="-12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related  </a:t>
            </a:r>
            <a:r>
              <a:rPr sz="2400" dirty="0">
                <a:latin typeface="Comic Sans MS"/>
                <a:cs typeface="Comic Sans MS"/>
              </a:rPr>
              <a:t>geometrically:	</a:t>
            </a:r>
            <a:r>
              <a:rPr sz="2400" spc="-5" dirty="0">
                <a:latin typeface="Comic Sans MS"/>
                <a:cs typeface="Comic Sans MS"/>
              </a:rPr>
              <a:t>they </a:t>
            </a:r>
            <a:r>
              <a:rPr sz="2400" dirty="0">
                <a:latin typeface="Comic Sans MS"/>
                <a:cs typeface="Comic Sans MS"/>
              </a:rPr>
              <a:t>are all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spc="-15" dirty="0">
                <a:latin typeface="Comic Sans MS"/>
                <a:cs typeface="Comic Sans MS"/>
              </a:rPr>
              <a:t>same </a:t>
            </a:r>
            <a:r>
              <a:rPr sz="2400" dirty="0">
                <a:latin typeface="Comic Sans MS"/>
                <a:cs typeface="Comic Sans MS"/>
              </a:rPr>
              <a:t>point, scaled </a:t>
            </a:r>
            <a:r>
              <a:rPr sz="2400" spc="-5" dirty="0">
                <a:latin typeface="Comic Sans MS"/>
                <a:cs typeface="Comic Sans MS"/>
              </a:rPr>
              <a:t>by </a:t>
            </a:r>
            <a:r>
              <a:rPr sz="2400" dirty="0">
                <a:latin typeface="Comic Sans MS"/>
                <a:cs typeface="Comic Sans MS"/>
              </a:rPr>
              <a:t>a  </a:t>
            </a:r>
            <a:r>
              <a:rPr sz="2400" spc="-5" dirty="0">
                <a:latin typeface="Comic Sans MS"/>
                <a:cs typeface="Comic Sans MS"/>
              </a:rPr>
              <a:t>factor: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839456" y="31915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39255" y="3206750"/>
          <a:ext cx="561340" cy="1600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99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10055" y="4935220"/>
          <a:ext cx="533400" cy="1600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2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9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24655" y="49441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239255" y="49441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04705" y="3785046"/>
            <a:ext cx="661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1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10055" y="31915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10013" y="3785046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4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34055" y="49441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904644" y="55376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3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324855" y="49441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4495444" y="55376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5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839456" y="49441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010044" y="55376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6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3724655" y="318262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419244" y="3785046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2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248655" y="31915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734055" y="31915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667" y="758467"/>
            <a:ext cx="4121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Toy</a:t>
            </a:r>
            <a:r>
              <a:rPr spc="-30" dirty="0"/>
              <a:t> </a:t>
            </a:r>
            <a:r>
              <a:rPr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915656" y="19723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15455" y="1987550"/>
          <a:ext cx="56134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86255" y="371602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9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00855" y="37249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15455" y="37249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Comic Sans MS"/>
                          <a:cs typeface="Comic Sans MS"/>
                        </a:rPr>
                        <a:t>18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80905" y="2565846"/>
            <a:ext cx="661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1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86255" y="19723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086213" y="2565846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4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810255" y="37249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980844" y="43184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3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401055" y="37249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571644" y="43184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5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915656" y="3724909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086244" y="4318447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6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800855" y="196342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495444" y="2565846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= 2</a:t>
            </a:r>
            <a:r>
              <a:rPr sz="2400" spc="-1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*</a:t>
            </a:r>
            <a:endParaRPr sz="2400">
              <a:latin typeface="Comic Sans MS"/>
              <a:cs typeface="Comic Sans MS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324855" y="19723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810255" y="1972310"/>
          <a:ext cx="533400" cy="1600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73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685444" y="5577240"/>
            <a:ext cx="84702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They can </a:t>
            </a:r>
            <a:r>
              <a:rPr sz="2400" spc="-5" dirty="0">
                <a:latin typeface="Comic Sans MS"/>
                <a:cs typeface="Comic Sans MS"/>
              </a:rPr>
              <a:t>be </a:t>
            </a:r>
            <a:r>
              <a:rPr sz="2400" dirty="0">
                <a:latin typeface="Comic Sans MS"/>
                <a:cs typeface="Comic Sans MS"/>
              </a:rPr>
              <a:t>stored </a:t>
            </a:r>
            <a:r>
              <a:rPr sz="2400" spc="-5" dirty="0">
                <a:latin typeface="Comic Sans MS"/>
                <a:cs typeface="Comic Sans MS"/>
              </a:rPr>
              <a:t>using </a:t>
            </a:r>
            <a:r>
              <a:rPr sz="2400" dirty="0">
                <a:latin typeface="Comic Sans MS"/>
                <a:cs typeface="Comic Sans MS"/>
              </a:rPr>
              <a:t>only 9 </a:t>
            </a:r>
            <a:r>
              <a:rPr sz="2400" spc="-5" dirty="0">
                <a:latin typeface="Comic Sans MS"/>
                <a:cs typeface="Comic Sans MS"/>
              </a:rPr>
              <a:t>bytes (50% </a:t>
            </a:r>
            <a:r>
              <a:rPr sz="2400" dirty="0">
                <a:latin typeface="Comic Sans MS"/>
                <a:cs typeface="Comic Sans MS"/>
              </a:rPr>
              <a:t>savings!):  </a:t>
            </a:r>
            <a:r>
              <a:rPr sz="2400" spc="-5" dirty="0">
                <a:latin typeface="Comic Sans MS"/>
                <a:cs typeface="Comic Sans MS"/>
              </a:rPr>
              <a:t>Store </a:t>
            </a:r>
            <a:r>
              <a:rPr sz="2400" dirty="0">
                <a:latin typeface="Comic Sans MS"/>
                <a:cs typeface="Comic Sans MS"/>
              </a:rPr>
              <a:t>one point </a:t>
            </a:r>
            <a:r>
              <a:rPr sz="2000" spc="-10" dirty="0">
                <a:latin typeface="Comic Sans MS"/>
                <a:cs typeface="Comic Sans MS"/>
              </a:rPr>
              <a:t>(3 bytes) </a:t>
            </a:r>
            <a:r>
              <a:rPr sz="2400" dirty="0">
                <a:latin typeface="Comic Sans MS"/>
                <a:cs typeface="Comic Sans MS"/>
              </a:rPr>
              <a:t>+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multiplying constants </a:t>
            </a:r>
            <a:r>
              <a:rPr sz="2000" spc="-10" dirty="0">
                <a:latin typeface="Comic Sans MS"/>
                <a:cs typeface="Comic Sans MS"/>
              </a:rPr>
              <a:t>(6</a:t>
            </a:r>
            <a:r>
              <a:rPr sz="2000" spc="8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bytes)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691" y="718844"/>
            <a:ext cx="66960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Geometrical</a:t>
            </a:r>
            <a:r>
              <a:rPr spc="-5" dirty="0"/>
              <a:t> </a:t>
            </a:r>
            <a:r>
              <a:rPr spc="-10" dirty="0"/>
              <a:t>Interpretation:</a:t>
            </a:r>
          </a:p>
        </p:txBody>
      </p:sp>
      <p:sp>
        <p:nvSpPr>
          <p:cNvPr id="3" name="object 3"/>
          <p:cNvSpPr/>
          <p:nvPr/>
        </p:nvSpPr>
        <p:spPr>
          <a:xfrm>
            <a:off x="3806952" y="2816351"/>
            <a:ext cx="3352800" cy="2438400"/>
          </a:xfrm>
          <a:custGeom>
            <a:avLst/>
            <a:gdLst/>
            <a:ahLst/>
            <a:cxnLst/>
            <a:rect l="l" t="t" r="r" b="b"/>
            <a:pathLst>
              <a:path w="3352800" h="2438400">
                <a:moveTo>
                  <a:pt x="3352800" y="1676400"/>
                </a:moveTo>
                <a:lnTo>
                  <a:pt x="3276600" y="1636776"/>
                </a:lnTo>
                <a:lnTo>
                  <a:pt x="3276600" y="1669923"/>
                </a:lnTo>
                <a:lnTo>
                  <a:pt x="920496" y="1594307"/>
                </a:lnTo>
                <a:lnTo>
                  <a:pt x="920496" y="76200"/>
                </a:lnTo>
                <a:lnTo>
                  <a:pt x="950976" y="76200"/>
                </a:lnTo>
                <a:lnTo>
                  <a:pt x="942187" y="57912"/>
                </a:lnTo>
                <a:lnTo>
                  <a:pt x="914400" y="0"/>
                </a:lnTo>
                <a:lnTo>
                  <a:pt x="874776" y="76200"/>
                </a:lnTo>
                <a:lnTo>
                  <a:pt x="908304" y="76200"/>
                </a:lnTo>
                <a:lnTo>
                  <a:pt x="908304" y="1599946"/>
                </a:lnTo>
                <a:lnTo>
                  <a:pt x="53111" y="2383129"/>
                </a:lnTo>
                <a:lnTo>
                  <a:pt x="30480" y="2359152"/>
                </a:lnTo>
                <a:lnTo>
                  <a:pt x="0" y="2438400"/>
                </a:lnTo>
                <a:lnTo>
                  <a:pt x="82296" y="2414016"/>
                </a:lnTo>
                <a:lnTo>
                  <a:pt x="67894" y="2398776"/>
                </a:lnTo>
                <a:lnTo>
                  <a:pt x="59016" y="2389390"/>
                </a:lnTo>
                <a:lnTo>
                  <a:pt x="914260" y="1606169"/>
                </a:lnTo>
                <a:lnTo>
                  <a:pt x="914400" y="1606296"/>
                </a:lnTo>
                <a:lnTo>
                  <a:pt x="3276600" y="1679079"/>
                </a:lnTo>
                <a:lnTo>
                  <a:pt x="3276600" y="1712976"/>
                </a:lnTo>
                <a:lnTo>
                  <a:pt x="3346450" y="1679448"/>
                </a:lnTo>
                <a:lnTo>
                  <a:pt x="3352800" y="167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3922" y="1462532"/>
            <a:ext cx="447484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View each point </a:t>
            </a:r>
            <a:r>
              <a:rPr sz="2400" spc="-5" dirty="0">
                <a:latin typeface="Comic Sans MS"/>
                <a:cs typeface="Comic Sans MS"/>
              </a:rPr>
              <a:t>in 3D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space.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omic Sans MS"/>
                <a:cs typeface="Comic Sans MS"/>
              </a:rPr>
              <a:t>p3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34255" y="2276855"/>
            <a:ext cx="1914525" cy="2447925"/>
            <a:chOff x="4334255" y="2276855"/>
            <a:chExt cx="1914525" cy="2447925"/>
          </a:xfrm>
        </p:grpSpPr>
        <p:sp>
          <p:nvSpPr>
            <p:cNvPr id="6" name="object 6"/>
            <p:cNvSpPr/>
            <p:nvPr/>
          </p:nvSpPr>
          <p:spPr>
            <a:xfrm>
              <a:off x="4334256" y="2734055"/>
              <a:ext cx="1914525" cy="1990725"/>
            </a:xfrm>
            <a:custGeom>
              <a:avLst/>
              <a:gdLst/>
              <a:ahLst/>
              <a:cxnLst/>
              <a:rect l="l" t="t" r="r" b="b"/>
              <a:pathLst>
                <a:path w="1914525" h="1990725">
                  <a:moveTo>
                    <a:pt x="1533144" y="1984248"/>
                  </a:moveTo>
                  <a:lnTo>
                    <a:pt x="1530096" y="1981200"/>
                  </a:lnTo>
                  <a:lnTo>
                    <a:pt x="3048" y="1981200"/>
                  </a:lnTo>
                  <a:lnTo>
                    <a:pt x="0" y="1984248"/>
                  </a:lnTo>
                  <a:lnTo>
                    <a:pt x="0" y="1987296"/>
                  </a:lnTo>
                  <a:lnTo>
                    <a:pt x="3048" y="1990344"/>
                  </a:lnTo>
                  <a:lnTo>
                    <a:pt x="1530096" y="1990344"/>
                  </a:lnTo>
                  <a:lnTo>
                    <a:pt x="1533144" y="1987296"/>
                  </a:lnTo>
                  <a:lnTo>
                    <a:pt x="1533144" y="1984248"/>
                  </a:lnTo>
                  <a:close/>
                </a:path>
                <a:path w="1914525" h="1990725">
                  <a:moveTo>
                    <a:pt x="1914144" y="1755648"/>
                  </a:moveTo>
                  <a:lnTo>
                    <a:pt x="1911096" y="1752600"/>
                  </a:lnTo>
                  <a:lnTo>
                    <a:pt x="1908048" y="1752600"/>
                  </a:lnTo>
                  <a:lnTo>
                    <a:pt x="1609344" y="1976628"/>
                  </a:lnTo>
                  <a:lnTo>
                    <a:pt x="1609344" y="3048"/>
                  </a:lnTo>
                  <a:lnTo>
                    <a:pt x="1606296" y="0"/>
                  </a:lnTo>
                  <a:lnTo>
                    <a:pt x="1603248" y="0"/>
                  </a:lnTo>
                  <a:lnTo>
                    <a:pt x="1600200" y="3048"/>
                  </a:lnTo>
                  <a:lnTo>
                    <a:pt x="1600200" y="1984248"/>
                  </a:lnTo>
                  <a:lnTo>
                    <a:pt x="1600200" y="1987296"/>
                  </a:lnTo>
                  <a:lnTo>
                    <a:pt x="1603248" y="1990344"/>
                  </a:lnTo>
                  <a:lnTo>
                    <a:pt x="1606296" y="1990344"/>
                  </a:lnTo>
                  <a:lnTo>
                    <a:pt x="1911096" y="1761744"/>
                  </a:lnTo>
                  <a:lnTo>
                    <a:pt x="1914144" y="1758696"/>
                  </a:lnTo>
                  <a:lnTo>
                    <a:pt x="1914144" y="1755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5255" y="2276855"/>
              <a:ext cx="1533525" cy="2143125"/>
            </a:xfrm>
            <a:custGeom>
              <a:avLst/>
              <a:gdLst/>
              <a:ahLst/>
              <a:cxnLst/>
              <a:rect l="l" t="t" r="r" b="b"/>
              <a:pathLst>
                <a:path w="1533525" h="2143125">
                  <a:moveTo>
                    <a:pt x="1530096" y="0"/>
                  </a:moveTo>
                  <a:lnTo>
                    <a:pt x="1527048" y="0"/>
                  </a:lnTo>
                  <a:lnTo>
                    <a:pt x="1524000" y="3048"/>
                  </a:lnTo>
                  <a:lnTo>
                    <a:pt x="0" y="2136648"/>
                  </a:lnTo>
                  <a:lnTo>
                    <a:pt x="0" y="2139696"/>
                  </a:lnTo>
                  <a:lnTo>
                    <a:pt x="3048" y="2142744"/>
                  </a:lnTo>
                  <a:lnTo>
                    <a:pt x="6096" y="2142744"/>
                  </a:lnTo>
                  <a:lnTo>
                    <a:pt x="9144" y="2139696"/>
                  </a:lnTo>
                  <a:lnTo>
                    <a:pt x="1533144" y="6096"/>
                  </a:lnTo>
                  <a:lnTo>
                    <a:pt x="1533144" y="3048"/>
                  </a:lnTo>
                  <a:lnTo>
                    <a:pt x="15300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2855" y="4562855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768096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6096"/>
                  </a:lnTo>
                  <a:lnTo>
                    <a:pt x="3048" y="9144"/>
                  </a:lnTo>
                  <a:lnTo>
                    <a:pt x="768096" y="9144"/>
                  </a:lnTo>
                  <a:lnTo>
                    <a:pt x="771144" y="6096"/>
                  </a:lnTo>
                  <a:lnTo>
                    <a:pt x="771144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4855" y="4410455"/>
              <a:ext cx="1615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6656" y="3572255"/>
              <a:ext cx="1106805" cy="1076325"/>
            </a:xfrm>
            <a:custGeom>
              <a:avLst/>
              <a:gdLst/>
              <a:ahLst/>
              <a:cxnLst/>
              <a:rect l="l" t="t" r="r" b="b"/>
              <a:pathLst>
                <a:path w="1106804" h="1076325">
                  <a:moveTo>
                    <a:pt x="847344" y="3048"/>
                  </a:moveTo>
                  <a:lnTo>
                    <a:pt x="844296" y="0"/>
                  </a:lnTo>
                  <a:lnTo>
                    <a:pt x="841248" y="0"/>
                  </a:lnTo>
                  <a:lnTo>
                    <a:pt x="838200" y="3048"/>
                  </a:lnTo>
                  <a:lnTo>
                    <a:pt x="838200" y="996696"/>
                  </a:lnTo>
                  <a:lnTo>
                    <a:pt x="841248" y="999744"/>
                  </a:lnTo>
                  <a:lnTo>
                    <a:pt x="844296" y="999744"/>
                  </a:lnTo>
                  <a:lnTo>
                    <a:pt x="847344" y="996696"/>
                  </a:lnTo>
                  <a:lnTo>
                    <a:pt x="847344" y="3048"/>
                  </a:lnTo>
                  <a:close/>
                </a:path>
                <a:path w="1106804" h="1076325">
                  <a:moveTo>
                    <a:pt x="1106424" y="1069848"/>
                  </a:moveTo>
                  <a:lnTo>
                    <a:pt x="1103376" y="1066800"/>
                  </a:lnTo>
                  <a:lnTo>
                    <a:pt x="3048" y="1066800"/>
                  </a:lnTo>
                  <a:lnTo>
                    <a:pt x="0" y="1069848"/>
                  </a:lnTo>
                  <a:lnTo>
                    <a:pt x="0" y="1072896"/>
                  </a:lnTo>
                  <a:lnTo>
                    <a:pt x="3048" y="1075944"/>
                  </a:lnTo>
                  <a:lnTo>
                    <a:pt x="1103376" y="1075944"/>
                  </a:lnTo>
                  <a:lnTo>
                    <a:pt x="1106424" y="1072896"/>
                  </a:lnTo>
                  <a:lnTo>
                    <a:pt x="1106424" y="1069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38800" y="4456176"/>
              <a:ext cx="228600" cy="192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38800" y="3038855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6096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1606296"/>
                  </a:lnTo>
                  <a:lnTo>
                    <a:pt x="3048" y="1609344"/>
                  </a:lnTo>
                  <a:lnTo>
                    <a:pt x="6096" y="1609344"/>
                  </a:lnTo>
                  <a:lnTo>
                    <a:pt x="9144" y="1606296"/>
                  </a:lnTo>
                  <a:lnTo>
                    <a:pt x="9144" y="304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13922" y="4129531"/>
            <a:ext cx="7882890" cy="212852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R="1050925" algn="r">
              <a:lnSpc>
                <a:spcPct val="100000"/>
              </a:lnSpc>
              <a:spcBef>
                <a:spcPts val="1660"/>
              </a:spcBef>
            </a:pPr>
            <a:r>
              <a:rPr sz="2400" dirty="0">
                <a:latin typeface="Comic Sans MS"/>
                <a:cs typeface="Comic Sans MS"/>
              </a:rPr>
              <a:t>p2</a:t>
            </a:r>
            <a:endParaRPr sz="2400">
              <a:latin typeface="Comic Sans MS"/>
              <a:cs typeface="Comic Sans MS"/>
            </a:endParaRPr>
          </a:p>
          <a:p>
            <a:pPr marL="2527300">
              <a:lnSpc>
                <a:spcPct val="100000"/>
              </a:lnSpc>
              <a:spcBef>
                <a:spcPts val="1560"/>
              </a:spcBef>
            </a:pPr>
            <a:r>
              <a:rPr sz="2400" dirty="0">
                <a:latin typeface="Comic Sans MS"/>
                <a:cs typeface="Comic Sans MS"/>
              </a:rPr>
              <a:t>p1</a:t>
            </a:r>
            <a:endParaRPr sz="2400">
              <a:latin typeface="Comic Sans MS"/>
              <a:cs typeface="Comic Sans MS"/>
            </a:endParaRPr>
          </a:p>
          <a:p>
            <a:pPr marL="12700" marR="5080" indent="-635">
              <a:lnSpc>
                <a:spcPct val="100000"/>
              </a:lnSpc>
              <a:spcBef>
                <a:spcPts val="1920"/>
              </a:spcBef>
              <a:tabLst>
                <a:tab pos="781685" algn="l"/>
              </a:tabLst>
            </a:pPr>
            <a:r>
              <a:rPr sz="2400" spc="-5" dirty="0">
                <a:latin typeface="Comic Sans MS"/>
                <a:cs typeface="Comic Sans MS"/>
              </a:rPr>
              <a:t>But in this </a:t>
            </a:r>
            <a:r>
              <a:rPr sz="2400" dirty="0">
                <a:latin typeface="Comic Sans MS"/>
                <a:cs typeface="Comic Sans MS"/>
              </a:rPr>
              <a:t>example, </a:t>
            </a:r>
            <a:r>
              <a:rPr sz="2400" spc="-20" dirty="0">
                <a:latin typeface="Comic Sans MS"/>
                <a:cs typeface="Comic Sans MS"/>
              </a:rPr>
              <a:t>all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points happen </a:t>
            </a:r>
            <a:r>
              <a:rPr sz="2400" spc="-5" dirty="0">
                <a:latin typeface="Comic Sans MS"/>
                <a:cs typeface="Comic Sans MS"/>
              </a:rPr>
              <a:t>to belong to </a:t>
            </a:r>
            <a:r>
              <a:rPr sz="2400" dirty="0">
                <a:latin typeface="Comic Sans MS"/>
                <a:cs typeface="Comic Sans MS"/>
              </a:rPr>
              <a:t>a  line:	a </a:t>
            </a:r>
            <a:r>
              <a:rPr sz="2400" spc="-5" dirty="0">
                <a:latin typeface="Comic Sans MS"/>
                <a:cs typeface="Comic Sans MS"/>
              </a:rPr>
              <a:t>1D </a:t>
            </a:r>
            <a:r>
              <a:rPr sz="2400" dirty="0">
                <a:latin typeface="Comic Sans MS"/>
                <a:cs typeface="Comic Sans MS"/>
              </a:rPr>
              <a:t>subspace of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spc="-15" dirty="0">
                <a:latin typeface="Comic Sans MS"/>
                <a:cs typeface="Comic Sans MS"/>
              </a:rPr>
              <a:t>original </a:t>
            </a:r>
            <a:r>
              <a:rPr sz="2400" spc="-5" dirty="0">
                <a:latin typeface="Comic Sans MS"/>
                <a:cs typeface="Comic Sans MS"/>
              </a:rPr>
              <a:t>3D</a:t>
            </a:r>
            <a:r>
              <a:rPr sz="2400" spc="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space.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691" y="718844"/>
            <a:ext cx="66960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Geometrical</a:t>
            </a:r>
            <a:r>
              <a:rPr spc="-5" dirty="0"/>
              <a:t> </a:t>
            </a:r>
            <a:r>
              <a:rPr spc="-10" dirty="0"/>
              <a:t>Interpretation:</a:t>
            </a:r>
          </a:p>
        </p:txBody>
      </p:sp>
      <p:sp>
        <p:nvSpPr>
          <p:cNvPr id="3" name="object 3"/>
          <p:cNvSpPr/>
          <p:nvPr/>
        </p:nvSpPr>
        <p:spPr>
          <a:xfrm>
            <a:off x="3806952" y="2816351"/>
            <a:ext cx="3352800" cy="2438400"/>
          </a:xfrm>
          <a:custGeom>
            <a:avLst/>
            <a:gdLst/>
            <a:ahLst/>
            <a:cxnLst/>
            <a:rect l="l" t="t" r="r" b="b"/>
            <a:pathLst>
              <a:path w="3352800" h="2438400">
                <a:moveTo>
                  <a:pt x="3352800" y="1676400"/>
                </a:moveTo>
                <a:lnTo>
                  <a:pt x="3276600" y="1636776"/>
                </a:lnTo>
                <a:lnTo>
                  <a:pt x="3276600" y="1669923"/>
                </a:lnTo>
                <a:lnTo>
                  <a:pt x="920496" y="1594307"/>
                </a:lnTo>
                <a:lnTo>
                  <a:pt x="920496" y="76200"/>
                </a:lnTo>
                <a:lnTo>
                  <a:pt x="950976" y="76200"/>
                </a:lnTo>
                <a:lnTo>
                  <a:pt x="942187" y="57912"/>
                </a:lnTo>
                <a:lnTo>
                  <a:pt x="914400" y="0"/>
                </a:lnTo>
                <a:lnTo>
                  <a:pt x="874776" y="76200"/>
                </a:lnTo>
                <a:lnTo>
                  <a:pt x="908304" y="76200"/>
                </a:lnTo>
                <a:lnTo>
                  <a:pt x="908304" y="1599946"/>
                </a:lnTo>
                <a:lnTo>
                  <a:pt x="53111" y="2383129"/>
                </a:lnTo>
                <a:lnTo>
                  <a:pt x="30480" y="2359152"/>
                </a:lnTo>
                <a:lnTo>
                  <a:pt x="0" y="2438400"/>
                </a:lnTo>
                <a:lnTo>
                  <a:pt x="82296" y="2414016"/>
                </a:lnTo>
                <a:lnTo>
                  <a:pt x="67894" y="2398776"/>
                </a:lnTo>
                <a:lnTo>
                  <a:pt x="59016" y="2389390"/>
                </a:lnTo>
                <a:lnTo>
                  <a:pt x="914260" y="1606169"/>
                </a:lnTo>
                <a:lnTo>
                  <a:pt x="914400" y="1606296"/>
                </a:lnTo>
                <a:lnTo>
                  <a:pt x="3276600" y="1679079"/>
                </a:lnTo>
                <a:lnTo>
                  <a:pt x="3276600" y="1712976"/>
                </a:lnTo>
                <a:lnTo>
                  <a:pt x="3346450" y="1679448"/>
                </a:lnTo>
                <a:lnTo>
                  <a:pt x="3352800" y="167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3922" y="1462532"/>
            <a:ext cx="808545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Consider a </a:t>
            </a:r>
            <a:r>
              <a:rPr sz="2400" spc="-5" dirty="0">
                <a:latin typeface="Comic Sans MS"/>
                <a:cs typeface="Comic Sans MS"/>
              </a:rPr>
              <a:t>new </a:t>
            </a:r>
            <a:r>
              <a:rPr sz="2400" dirty="0">
                <a:latin typeface="Comic Sans MS"/>
                <a:cs typeface="Comic Sans MS"/>
              </a:rPr>
              <a:t>coordinate system </a:t>
            </a:r>
            <a:r>
              <a:rPr sz="2400" spc="-15" dirty="0">
                <a:latin typeface="Comic Sans MS"/>
                <a:cs typeface="Comic Sans MS"/>
              </a:rPr>
              <a:t>where </a:t>
            </a:r>
            <a:r>
              <a:rPr sz="2400" dirty="0">
                <a:latin typeface="Comic Sans MS"/>
                <a:cs typeface="Comic Sans MS"/>
              </a:rPr>
              <a:t>one of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axes 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along </a:t>
            </a:r>
            <a:r>
              <a:rPr sz="2400" spc="-5" dirty="0">
                <a:latin typeface="Comic Sans MS"/>
                <a:cs typeface="Comic Sans MS"/>
              </a:rPr>
              <a:t>the direction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</a:t>
            </a:r>
            <a:r>
              <a:rPr sz="2400" dirty="0">
                <a:latin typeface="Comic Sans MS"/>
                <a:cs typeface="Comic Sans MS"/>
              </a:rPr>
              <a:t> line:</a:t>
            </a:r>
            <a:endParaRPr sz="2400">
              <a:latin typeface="Comic Sans MS"/>
              <a:cs typeface="Comic Sans MS"/>
            </a:endParaRPr>
          </a:p>
          <a:p>
            <a:pPr marL="488315" algn="ctr">
              <a:lnSpc>
                <a:spcPct val="100000"/>
              </a:lnSpc>
              <a:spcBef>
                <a:spcPts val="2400"/>
              </a:spcBef>
            </a:pPr>
            <a:r>
              <a:rPr sz="2400" dirty="0">
                <a:latin typeface="Comic Sans MS"/>
                <a:cs typeface="Comic Sans MS"/>
              </a:rPr>
              <a:t>p3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34255" y="2276855"/>
            <a:ext cx="1914525" cy="2447925"/>
            <a:chOff x="4334255" y="2276855"/>
            <a:chExt cx="1914525" cy="2447925"/>
          </a:xfrm>
        </p:grpSpPr>
        <p:sp>
          <p:nvSpPr>
            <p:cNvPr id="6" name="object 6"/>
            <p:cNvSpPr/>
            <p:nvPr/>
          </p:nvSpPr>
          <p:spPr>
            <a:xfrm>
              <a:off x="4334256" y="2276855"/>
              <a:ext cx="1914525" cy="2447925"/>
            </a:xfrm>
            <a:custGeom>
              <a:avLst/>
              <a:gdLst/>
              <a:ahLst/>
              <a:cxnLst/>
              <a:rect l="l" t="t" r="r" b="b"/>
              <a:pathLst>
                <a:path w="1914525" h="2447925">
                  <a:moveTo>
                    <a:pt x="999744" y="2289048"/>
                  </a:moveTo>
                  <a:lnTo>
                    <a:pt x="996696" y="2286000"/>
                  </a:lnTo>
                  <a:lnTo>
                    <a:pt x="231648" y="2286000"/>
                  </a:lnTo>
                  <a:lnTo>
                    <a:pt x="228600" y="2289048"/>
                  </a:lnTo>
                  <a:lnTo>
                    <a:pt x="228600" y="2292096"/>
                  </a:lnTo>
                  <a:lnTo>
                    <a:pt x="231648" y="2295144"/>
                  </a:lnTo>
                  <a:lnTo>
                    <a:pt x="996696" y="2295144"/>
                  </a:lnTo>
                  <a:lnTo>
                    <a:pt x="999744" y="2292096"/>
                  </a:lnTo>
                  <a:lnTo>
                    <a:pt x="999744" y="2289048"/>
                  </a:lnTo>
                  <a:close/>
                </a:path>
                <a:path w="1914525" h="2447925">
                  <a:moveTo>
                    <a:pt x="1533144" y="2441448"/>
                  </a:moveTo>
                  <a:lnTo>
                    <a:pt x="1530096" y="2438400"/>
                  </a:lnTo>
                  <a:lnTo>
                    <a:pt x="3048" y="2438400"/>
                  </a:lnTo>
                  <a:lnTo>
                    <a:pt x="0" y="2441448"/>
                  </a:lnTo>
                  <a:lnTo>
                    <a:pt x="0" y="2444496"/>
                  </a:lnTo>
                  <a:lnTo>
                    <a:pt x="3048" y="2447544"/>
                  </a:lnTo>
                  <a:lnTo>
                    <a:pt x="1530096" y="2447544"/>
                  </a:lnTo>
                  <a:lnTo>
                    <a:pt x="1533144" y="2444496"/>
                  </a:lnTo>
                  <a:lnTo>
                    <a:pt x="1533144" y="2441448"/>
                  </a:lnTo>
                  <a:close/>
                </a:path>
                <a:path w="1914525" h="2447925">
                  <a:moveTo>
                    <a:pt x="1914144" y="2212848"/>
                  </a:moveTo>
                  <a:lnTo>
                    <a:pt x="1911096" y="2209800"/>
                  </a:lnTo>
                  <a:lnTo>
                    <a:pt x="1908048" y="2209800"/>
                  </a:lnTo>
                  <a:lnTo>
                    <a:pt x="1609344" y="2433828"/>
                  </a:lnTo>
                  <a:lnTo>
                    <a:pt x="1609344" y="460248"/>
                  </a:lnTo>
                  <a:lnTo>
                    <a:pt x="1606296" y="457200"/>
                  </a:lnTo>
                  <a:lnTo>
                    <a:pt x="1603248" y="457200"/>
                  </a:lnTo>
                  <a:lnTo>
                    <a:pt x="1600200" y="460248"/>
                  </a:lnTo>
                  <a:lnTo>
                    <a:pt x="1600200" y="2441448"/>
                  </a:lnTo>
                  <a:lnTo>
                    <a:pt x="1600200" y="2444496"/>
                  </a:lnTo>
                  <a:lnTo>
                    <a:pt x="1603248" y="2447544"/>
                  </a:lnTo>
                  <a:lnTo>
                    <a:pt x="1606296" y="2447544"/>
                  </a:lnTo>
                  <a:lnTo>
                    <a:pt x="1911096" y="2218944"/>
                  </a:lnTo>
                  <a:lnTo>
                    <a:pt x="1914144" y="2215896"/>
                  </a:lnTo>
                  <a:lnTo>
                    <a:pt x="1914144" y="2212848"/>
                  </a:lnTo>
                  <a:close/>
                </a:path>
                <a:path w="1914525" h="2447925">
                  <a:moveTo>
                    <a:pt x="1914144" y="3048"/>
                  </a:moveTo>
                  <a:lnTo>
                    <a:pt x="1911096" y="0"/>
                  </a:lnTo>
                  <a:lnTo>
                    <a:pt x="1908048" y="0"/>
                  </a:lnTo>
                  <a:lnTo>
                    <a:pt x="1905000" y="3048"/>
                  </a:lnTo>
                  <a:lnTo>
                    <a:pt x="381000" y="2136648"/>
                  </a:lnTo>
                  <a:lnTo>
                    <a:pt x="381000" y="2139696"/>
                  </a:lnTo>
                  <a:lnTo>
                    <a:pt x="384048" y="2142744"/>
                  </a:lnTo>
                  <a:lnTo>
                    <a:pt x="387096" y="2142744"/>
                  </a:lnTo>
                  <a:lnTo>
                    <a:pt x="390144" y="2139696"/>
                  </a:lnTo>
                  <a:lnTo>
                    <a:pt x="1914144" y="6096"/>
                  </a:lnTo>
                  <a:lnTo>
                    <a:pt x="1914144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24855" y="4410455"/>
              <a:ext cx="1615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6656" y="3572255"/>
              <a:ext cx="1106805" cy="1076325"/>
            </a:xfrm>
            <a:custGeom>
              <a:avLst/>
              <a:gdLst/>
              <a:ahLst/>
              <a:cxnLst/>
              <a:rect l="l" t="t" r="r" b="b"/>
              <a:pathLst>
                <a:path w="1106804" h="1076325">
                  <a:moveTo>
                    <a:pt x="847344" y="3048"/>
                  </a:moveTo>
                  <a:lnTo>
                    <a:pt x="844296" y="0"/>
                  </a:lnTo>
                  <a:lnTo>
                    <a:pt x="841248" y="0"/>
                  </a:lnTo>
                  <a:lnTo>
                    <a:pt x="838200" y="3048"/>
                  </a:lnTo>
                  <a:lnTo>
                    <a:pt x="838200" y="996696"/>
                  </a:lnTo>
                  <a:lnTo>
                    <a:pt x="841248" y="999744"/>
                  </a:lnTo>
                  <a:lnTo>
                    <a:pt x="844296" y="999744"/>
                  </a:lnTo>
                  <a:lnTo>
                    <a:pt x="847344" y="996696"/>
                  </a:lnTo>
                  <a:lnTo>
                    <a:pt x="847344" y="3048"/>
                  </a:lnTo>
                  <a:close/>
                </a:path>
                <a:path w="1106804" h="1076325">
                  <a:moveTo>
                    <a:pt x="1106424" y="1069848"/>
                  </a:moveTo>
                  <a:lnTo>
                    <a:pt x="1103376" y="1066800"/>
                  </a:lnTo>
                  <a:lnTo>
                    <a:pt x="3048" y="1066800"/>
                  </a:lnTo>
                  <a:lnTo>
                    <a:pt x="0" y="1069848"/>
                  </a:lnTo>
                  <a:lnTo>
                    <a:pt x="0" y="1072896"/>
                  </a:lnTo>
                  <a:lnTo>
                    <a:pt x="3048" y="1075944"/>
                  </a:lnTo>
                  <a:lnTo>
                    <a:pt x="1103376" y="1075944"/>
                  </a:lnTo>
                  <a:lnTo>
                    <a:pt x="1106424" y="1072896"/>
                  </a:lnTo>
                  <a:lnTo>
                    <a:pt x="1106424" y="1069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38800" y="4456176"/>
              <a:ext cx="228600" cy="192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38800" y="3038855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6096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1606296"/>
                  </a:lnTo>
                  <a:lnTo>
                    <a:pt x="3048" y="1609344"/>
                  </a:lnTo>
                  <a:lnTo>
                    <a:pt x="6096" y="1609344"/>
                  </a:lnTo>
                  <a:lnTo>
                    <a:pt x="9144" y="1606296"/>
                  </a:lnTo>
                  <a:lnTo>
                    <a:pt x="9144" y="304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626608" y="5727191"/>
            <a:ext cx="960119" cy="27940"/>
            <a:chOff x="5626608" y="5727191"/>
            <a:chExt cx="960119" cy="27940"/>
          </a:xfrm>
        </p:grpSpPr>
        <p:sp>
          <p:nvSpPr>
            <p:cNvPr id="12" name="object 12"/>
            <p:cNvSpPr/>
            <p:nvPr/>
          </p:nvSpPr>
          <p:spPr>
            <a:xfrm>
              <a:off x="5635752" y="5736335"/>
              <a:ext cx="951230" cy="18415"/>
            </a:xfrm>
            <a:custGeom>
              <a:avLst/>
              <a:gdLst/>
              <a:ahLst/>
              <a:cxnLst/>
              <a:rect l="l" t="t" r="r" b="b"/>
              <a:pathLst>
                <a:path w="951229" h="18414">
                  <a:moveTo>
                    <a:pt x="950976" y="0"/>
                  </a:moveTo>
                  <a:lnTo>
                    <a:pt x="0" y="0"/>
                  </a:lnTo>
                  <a:lnTo>
                    <a:pt x="0" y="18286"/>
                  </a:lnTo>
                  <a:lnTo>
                    <a:pt x="950976" y="18286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6608" y="5727191"/>
              <a:ext cx="951230" cy="18415"/>
            </a:xfrm>
            <a:custGeom>
              <a:avLst/>
              <a:gdLst/>
              <a:ahLst/>
              <a:cxnLst/>
              <a:rect l="l" t="t" r="r" b="b"/>
              <a:pathLst>
                <a:path w="951229" h="18414">
                  <a:moveTo>
                    <a:pt x="950976" y="0"/>
                  </a:moveTo>
                  <a:lnTo>
                    <a:pt x="0" y="0"/>
                  </a:lnTo>
                  <a:lnTo>
                    <a:pt x="0" y="18286"/>
                  </a:lnTo>
                  <a:lnTo>
                    <a:pt x="950976" y="18286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45591" y="6031991"/>
            <a:ext cx="475615" cy="27940"/>
            <a:chOff x="545591" y="6031991"/>
            <a:chExt cx="475615" cy="27940"/>
          </a:xfrm>
        </p:grpSpPr>
        <p:sp>
          <p:nvSpPr>
            <p:cNvPr id="15" name="object 15"/>
            <p:cNvSpPr/>
            <p:nvPr/>
          </p:nvSpPr>
          <p:spPr>
            <a:xfrm>
              <a:off x="554735" y="6041135"/>
              <a:ext cx="466725" cy="18415"/>
            </a:xfrm>
            <a:custGeom>
              <a:avLst/>
              <a:gdLst/>
              <a:ahLst/>
              <a:cxnLst/>
              <a:rect l="l" t="t" r="r" b="b"/>
              <a:pathLst>
                <a:path w="466725" h="18414">
                  <a:moveTo>
                    <a:pt x="466344" y="0"/>
                  </a:moveTo>
                  <a:lnTo>
                    <a:pt x="0" y="0"/>
                  </a:lnTo>
                  <a:lnTo>
                    <a:pt x="0" y="18286"/>
                  </a:lnTo>
                  <a:lnTo>
                    <a:pt x="466344" y="18286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5591" y="6031991"/>
              <a:ext cx="466725" cy="18415"/>
            </a:xfrm>
            <a:custGeom>
              <a:avLst/>
              <a:gdLst/>
              <a:ahLst/>
              <a:cxnLst/>
              <a:rect l="l" t="t" r="r" b="b"/>
              <a:pathLst>
                <a:path w="466725" h="18414">
                  <a:moveTo>
                    <a:pt x="466344" y="0"/>
                  </a:moveTo>
                  <a:lnTo>
                    <a:pt x="0" y="0"/>
                  </a:lnTo>
                  <a:lnTo>
                    <a:pt x="0" y="18286"/>
                  </a:lnTo>
                  <a:lnTo>
                    <a:pt x="466344" y="18286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2916" y="4129531"/>
            <a:ext cx="8973820" cy="223710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R="1760855" algn="r">
              <a:lnSpc>
                <a:spcPct val="100000"/>
              </a:lnSpc>
              <a:spcBef>
                <a:spcPts val="1660"/>
              </a:spcBef>
            </a:pPr>
            <a:r>
              <a:rPr sz="2400" dirty="0">
                <a:latin typeface="Comic Sans MS"/>
                <a:cs typeface="Comic Sans MS"/>
              </a:rPr>
              <a:t>p2</a:t>
            </a:r>
            <a:endParaRPr sz="2400">
              <a:latin typeface="Comic Sans MS"/>
              <a:cs typeface="Comic Sans MS"/>
            </a:endParaRPr>
          </a:p>
          <a:p>
            <a:pPr marL="2908300">
              <a:lnSpc>
                <a:spcPct val="100000"/>
              </a:lnSpc>
              <a:spcBef>
                <a:spcPts val="1560"/>
              </a:spcBef>
            </a:pPr>
            <a:r>
              <a:rPr sz="2400" dirty="0">
                <a:latin typeface="Comic Sans MS"/>
                <a:cs typeface="Comic Sans MS"/>
              </a:rPr>
              <a:t>p1</a:t>
            </a:r>
            <a:endParaRPr sz="2400">
              <a:latin typeface="Comic Sans MS"/>
              <a:cs typeface="Comic Sans MS"/>
            </a:endParaRPr>
          </a:p>
          <a:p>
            <a:pPr marL="12700" marR="5080">
              <a:lnSpc>
                <a:spcPts val="2400"/>
              </a:lnSpc>
              <a:spcBef>
                <a:spcPts val="1415"/>
              </a:spcBef>
              <a:tabLst>
                <a:tab pos="8128634" algn="l"/>
              </a:tabLst>
            </a:pPr>
            <a:r>
              <a:rPr sz="2000" spc="-10" dirty="0">
                <a:latin typeface="Comic Sans MS"/>
                <a:cs typeface="Comic Sans MS"/>
              </a:rPr>
              <a:t>In this </a:t>
            </a:r>
            <a:r>
              <a:rPr sz="2000" spc="-5" dirty="0">
                <a:latin typeface="Comic Sans MS"/>
                <a:cs typeface="Comic Sans MS"/>
              </a:rPr>
              <a:t>coordinate system, </a:t>
            </a:r>
            <a:r>
              <a:rPr sz="2000" dirty="0">
                <a:latin typeface="Comic Sans MS"/>
                <a:cs typeface="Comic Sans MS"/>
              </a:rPr>
              <a:t>every </a:t>
            </a:r>
            <a:r>
              <a:rPr sz="2000" spc="-5" dirty="0">
                <a:latin typeface="Comic Sans MS"/>
                <a:cs typeface="Comic Sans MS"/>
              </a:rPr>
              <a:t>point </a:t>
            </a:r>
            <a:r>
              <a:rPr sz="2000" spc="10" dirty="0">
                <a:latin typeface="Comic Sans MS"/>
                <a:cs typeface="Comic Sans MS"/>
              </a:rPr>
              <a:t>has </a:t>
            </a:r>
            <a:r>
              <a:rPr sz="2000" spc="-5" dirty="0">
                <a:latin typeface="Comic Sans MS"/>
                <a:cs typeface="Comic Sans MS"/>
              </a:rPr>
              <a:t>only </a:t>
            </a:r>
            <a:r>
              <a:rPr sz="2000" spc="10" dirty="0">
                <a:latin typeface="Comic Sans MS"/>
                <a:cs typeface="Comic Sans MS"/>
              </a:rPr>
              <a:t>one </a:t>
            </a:r>
            <a:r>
              <a:rPr sz="2000" spc="-5" dirty="0">
                <a:latin typeface="Comic Sans MS"/>
                <a:cs typeface="Comic Sans MS"/>
              </a:rPr>
              <a:t>non-zero coordinate: </a:t>
            </a:r>
            <a:r>
              <a:rPr sz="2000" spc="-10" dirty="0">
                <a:latin typeface="Comic Sans MS"/>
                <a:cs typeface="Comic Sans MS"/>
              </a:rPr>
              <a:t>we  </a:t>
            </a:r>
            <a:r>
              <a:rPr sz="2050" i="1" spc="-30" dirty="0">
                <a:latin typeface="Comic Sans MS"/>
                <a:cs typeface="Comic Sans MS"/>
              </a:rPr>
              <a:t>only </a:t>
            </a:r>
            <a:r>
              <a:rPr sz="2000" spc="-10" dirty="0">
                <a:latin typeface="Comic Sans MS"/>
                <a:cs typeface="Comic Sans MS"/>
              </a:rPr>
              <a:t>need to </a:t>
            </a:r>
            <a:r>
              <a:rPr sz="2000" dirty="0">
                <a:latin typeface="Comic Sans MS"/>
                <a:cs typeface="Comic Sans MS"/>
              </a:rPr>
              <a:t>store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dirty="0">
                <a:latin typeface="Comic Sans MS"/>
                <a:cs typeface="Comic Sans MS"/>
              </a:rPr>
              <a:t>direction </a:t>
            </a:r>
            <a:r>
              <a:rPr sz="2000" spc="-5" dirty="0">
                <a:latin typeface="Comic Sans MS"/>
                <a:cs typeface="Comic Sans MS"/>
              </a:rPr>
              <a:t>of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dirty="0">
                <a:latin typeface="Comic Sans MS"/>
                <a:cs typeface="Comic Sans MS"/>
              </a:rPr>
              <a:t>line </a:t>
            </a:r>
            <a:r>
              <a:rPr sz="1800" spc="-5" dirty="0">
                <a:latin typeface="Comic Sans MS"/>
                <a:cs typeface="Comic Sans MS"/>
              </a:rPr>
              <a:t>(a </a:t>
            </a:r>
            <a:r>
              <a:rPr sz="1800" dirty="0">
                <a:latin typeface="Comic Sans MS"/>
                <a:cs typeface="Comic Sans MS"/>
              </a:rPr>
              <a:t>3 </a:t>
            </a:r>
            <a:r>
              <a:rPr sz="1800" spc="-5" dirty="0">
                <a:latin typeface="Comic Sans MS"/>
                <a:cs typeface="Comic Sans MS"/>
              </a:rPr>
              <a:t>bytes image)</a:t>
            </a:r>
            <a:r>
              <a:rPr sz="1800" spc="24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the	</a:t>
            </a:r>
            <a:r>
              <a:rPr sz="2000" dirty="0">
                <a:latin typeface="Comic Sans MS"/>
                <a:cs typeface="Comic Sans MS"/>
              </a:rPr>
              <a:t>non-  </a:t>
            </a:r>
            <a:r>
              <a:rPr sz="2000" spc="-10" dirty="0">
                <a:latin typeface="Comic Sans MS"/>
                <a:cs typeface="Comic Sans MS"/>
              </a:rPr>
              <a:t>zero </a:t>
            </a:r>
            <a:r>
              <a:rPr sz="2000" dirty="0">
                <a:latin typeface="Comic Sans MS"/>
                <a:cs typeface="Comic Sans MS"/>
              </a:rPr>
              <a:t>coordinate </a:t>
            </a:r>
            <a:r>
              <a:rPr sz="2000" spc="-10" dirty="0">
                <a:latin typeface="Comic Sans MS"/>
                <a:cs typeface="Comic Sans MS"/>
              </a:rPr>
              <a:t>for </a:t>
            </a:r>
            <a:r>
              <a:rPr sz="2000" spc="-5" dirty="0">
                <a:latin typeface="Comic Sans MS"/>
                <a:cs typeface="Comic Sans MS"/>
              </a:rPr>
              <a:t>each of </a:t>
            </a:r>
            <a:r>
              <a:rPr sz="2000" spc="-10" dirty="0">
                <a:latin typeface="Comic Sans MS"/>
                <a:cs typeface="Comic Sans MS"/>
              </a:rPr>
              <a:t>the </a:t>
            </a:r>
            <a:r>
              <a:rPr sz="2000" dirty="0">
                <a:latin typeface="Comic Sans MS"/>
                <a:cs typeface="Comic Sans MS"/>
              </a:rPr>
              <a:t>points </a:t>
            </a:r>
            <a:r>
              <a:rPr sz="1800" spc="-5" dirty="0">
                <a:latin typeface="Comic Sans MS"/>
                <a:cs typeface="Comic Sans MS"/>
              </a:rPr>
              <a:t>(6</a:t>
            </a:r>
            <a:r>
              <a:rPr sz="1800" spc="5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bytes).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54552" y="3267455"/>
            <a:ext cx="1896110" cy="1167765"/>
          </a:xfrm>
          <a:custGeom>
            <a:avLst/>
            <a:gdLst/>
            <a:ahLst/>
            <a:cxnLst/>
            <a:rect l="l" t="t" r="r" b="b"/>
            <a:pathLst>
              <a:path w="1896110" h="1167764">
                <a:moveTo>
                  <a:pt x="1895856" y="0"/>
                </a:moveTo>
                <a:lnTo>
                  <a:pt x="1783080" y="60960"/>
                </a:lnTo>
                <a:lnTo>
                  <a:pt x="1814423" y="82918"/>
                </a:lnTo>
                <a:lnTo>
                  <a:pt x="1077645" y="1114983"/>
                </a:lnTo>
                <a:lnTo>
                  <a:pt x="666191" y="254139"/>
                </a:lnTo>
                <a:lnTo>
                  <a:pt x="701040" y="237744"/>
                </a:lnTo>
                <a:lnTo>
                  <a:pt x="600456" y="161544"/>
                </a:lnTo>
                <a:lnTo>
                  <a:pt x="597408" y="286512"/>
                </a:lnTo>
                <a:lnTo>
                  <a:pt x="630440" y="270967"/>
                </a:lnTo>
                <a:lnTo>
                  <a:pt x="1022553" y="1085570"/>
                </a:lnTo>
                <a:lnTo>
                  <a:pt x="99072" y="295224"/>
                </a:lnTo>
                <a:lnTo>
                  <a:pt x="109194" y="283464"/>
                </a:lnTo>
                <a:lnTo>
                  <a:pt x="124968" y="265176"/>
                </a:lnTo>
                <a:lnTo>
                  <a:pt x="0" y="234696"/>
                </a:lnTo>
                <a:lnTo>
                  <a:pt x="48768" y="353568"/>
                </a:lnTo>
                <a:lnTo>
                  <a:pt x="75082" y="323037"/>
                </a:lnTo>
                <a:lnTo>
                  <a:pt x="1054608" y="1164336"/>
                </a:lnTo>
                <a:lnTo>
                  <a:pt x="1066203" y="1149845"/>
                </a:lnTo>
                <a:lnTo>
                  <a:pt x="1088136" y="1167384"/>
                </a:lnTo>
                <a:lnTo>
                  <a:pt x="1844929" y="104267"/>
                </a:lnTo>
                <a:lnTo>
                  <a:pt x="1874520" y="124968"/>
                </a:lnTo>
                <a:lnTo>
                  <a:pt x="1884400" y="67056"/>
                </a:lnTo>
                <a:lnTo>
                  <a:pt x="18958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19400" marR="5080" indent="-27406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 Component </a:t>
            </a:r>
            <a:r>
              <a:rPr spc="-5" dirty="0"/>
              <a:t>Analysis  (PCA)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8691" y="2450059"/>
            <a:ext cx="7474584" cy="2940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357505" algn="l"/>
              </a:tabLst>
            </a:pPr>
            <a:r>
              <a:rPr sz="3200" spc="-5" dirty="0">
                <a:latin typeface="Comic Sans MS"/>
                <a:cs typeface="Comic Sans MS"/>
              </a:rPr>
              <a:t>Given a set of points, how </a:t>
            </a:r>
            <a:r>
              <a:rPr sz="3200" spc="-10" dirty="0">
                <a:latin typeface="Comic Sans MS"/>
                <a:cs typeface="Comic Sans MS"/>
              </a:rPr>
              <a:t>do we know  if they </a:t>
            </a:r>
            <a:r>
              <a:rPr sz="3200" spc="-5" dirty="0">
                <a:latin typeface="Comic Sans MS"/>
                <a:cs typeface="Comic Sans MS"/>
              </a:rPr>
              <a:t>can </a:t>
            </a:r>
            <a:r>
              <a:rPr sz="3200" spc="-10" dirty="0">
                <a:latin typeface="Comic Sans MS"/>
                <a:cs typeface="Comic Sans MS"/>
              </a:rPr>
              <a:t>be </a:t>
            </a:r>
            <a:r>
              <a:rPr sz="3200" spc="-5" dirty="0">
                <a:latin typeface="Comic Sans MS"/>
                <a:cs typeface="Comic Sans MS"/>
              </a:rPr>
              <a:t>compressed like </a:t>
            </a:r>
            <a:r>
              <a:rPr sz="3200" spc="-10" dirty="0">
                <a:latin typeface="Comic Sans MS"/>
                <a:cs typeface="Comic Sans MS"/>
              </a:rPr>
              <a:t>in the  </a:t>
            </a:r>
            <a:r>
              <a:rPr sz="3200" spc="-5" dirty="0">
                <a:latin typeface="Comic Sans MS"/>
                <a:cs typeface="Comic Sans MS"/>
              </a:rPr>
              <a:t>previous </a:t>
            </a:r>
            <a:r>
              <a:rPr sz="3200" dirty="0">
                <a:latin typeface="Comic Sans MS"/>
                <a:cs typeface="Comic Sans MS"/>
              </a:rPr>
              <a:t>example?</a:t>
            </a:r>
            <a:endParaRPr sz="3200">
              <a:latin typeface="Comic Sans MS"/>
              <a:cs typeface="Comic Sans MS"/>
            </a:endParaRPr>
          </a:p>
          <a:p>
            <a:pPr marL="756285" marR="158559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Comic Sans MS"/>
                <a:cs typeface="Comic Sans MS"/>
              </a:rPr>
              <a:t>The answer is to look </a:t>
            </a:r>
            <a:r>
              <a:rPr sz="2800" spc="-5" dirty="0">
                <a:latin typeface="Comic Sans MS"/>
                <a:cs typeface="Comic Sans MS"/>
              </a:rPr>
              <a:t>into the  </a:t>
            </a:r>
            <a:r>
              <a:rPr sz="2800" dirty="0">
                <a:latin typeface="Comic Sans MS"/>
                <a:cs typeface="Comic Sans MS"/>
              </a:rPr>
              <a:t>correlation between the</a:t>
            </a:r>
            <a:r>
              <a:rPr sz="2800" spc="-3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points</a:t>
            </a:r>
            <a:endParaRPr sz="2800">
              <a:latin typeface="Comic Sans MS"/>
              <a:cs typeface="Comic Sans MS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Comic Sans MS"/>
                <a:cs typeface="Comic Sans MS"/>
              </a:rPr>
              <a:t>The </a:t>
            </a:r>
            <a:r>
              <a:rPr sz="2800" spc="-5" dirty="0">
                <a:latin typeface="Comic Sans MS"/>
                <a:cs typeface="Comic Sans MS"/>
              </a:rPr>
              <a:t>tool </a:t>
            </a:r>
            <a:r>
              <a:rPr sz="2800" dirty="0">
                <a:latin typeface="Comic Sans MS"/>
                <a:cs typeface="Comic Sans MS"/>
              </a:rPr>
              <a:t>for </a:t>
            </a:r>
            <a:r>
              <a:rPr sz="2800" spc="-5" dirty="0">
                <a:latin typeface="Comic Sans MS"/>
                <a:cs typeface="Comic Sans MS"/>
              </a:rPr>
              <a:t>doing this </a:t>
            </a:r>
            <a:r>
              <a:rPr sz="2800" dirty="0">
                <a:latin typeface="Comic Sans MS"/>
                <a:cs typeface="Comic Sans MS"/>
              </a:rPr>
              <a:t>is called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PCA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1011" y="758467"/>
            <a:ext cx="9702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767332"/>
            <a:ext cx="8011795" cy="34594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>
              <a:lnSpc>
                <a:spcPct val="997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Comic Sans MS"/>
                <a:cs typeface="Comic Sans MS"/>
              </a:rPr>
              <a:t>By finding the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eigenvalues and eigenvectors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 </a:t>
            </a:r>
            <a:r>
              <a:rPr sz="2400" dirty="0">
                <a:latin typeface="Comic Sans MS"/>
                <a:cs typeface="Comic Sans MS"/>
              </a:rPr>
              <a:t>covariance matrix, </a:t>
            </a:r>
            <a:r>
              <a:rPr sz="2400" spc="-5" dirty="0">
                <a:latin typeface="Comic Sans MS"/>
                <a:cs typeface="Comic Sans MS"/>
              </a:rPr>
              <a:t>we find that the </a:t>
            </a:r>
            <a:r>
              <a:rPr sz="2400" spc="-10" dirty="0">
                <a:latin typeface="Comic Sans MS"/>
                <a:cs typeface="Comic Sans MS"/>
              </a:rPr>
              <a:t>eigenvectors </a:t>
            </a:r>
            <a:r>
              <a:rPr sz="2400" spc="-5" dirty="0">
                <a:latin typeface="Comic Sans MS"/>
                <a:cs typeface="Comic Sans MS"/>
              </a:rPr>
              <a:t>with  the </a:t>
            </a:r>
            <a:r>
              <a:rPr sz="2400" dirty="0">
                <a:latin typeface="Comic Sans MS"/>
                <a:cs typeface="Comic Sans MS"/>
              </a:rPr>
              <a:t>largest eigenvalues correspond </a:t>
            </a:r>
            <a:r>
              <a:rPr sz="2400" spc="-5" dirty="0">
                <a:latin typeface="Comic Sans MS"/>
                <a:cs typeface="Comic Sans MS"/>
              </a:rPr>
              <a:t>to the dimensions  that </a:t>
            </a:r>
            <a:r>
              <a:rPr sz="2400" dirty="0">
                <a:latin typeface="Comic Sans MS"/>
                <a:cs typeface="Comic Sans MS"/>
              </a:rPr>
              <a:t>have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spc="-15" dirty="0">
                <a:latin typeface="Comic Sans MS"/>
                <a:cs typeface="Comic Sans MS"/>
              </a:rPr>
              <a:t>strongest </a:t>
            </a:r>
            <a:r>
              <a:rPr sz="2400" dirty="0">
                <a:latin typeface="Comic Sans MS"/>
                <a:cs typeface="Comic Sans MS"/>
              </a:rPr>
              <a:t>correlation </a:t>
            </a:r>
            <a:r>
              <a:rPr sz="2400" spc="-5" dirty="0">
                <a:latin typeface="Comic Sans MS"/>
                <a:cs typeface="Comic Sans MS"/>
              </a:rPr>
              <a:t>in 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dataset.</a:t>
            </a:r>
            <a:endParaRPr sz="2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This </a:t>
            </a:r>
            <a:r>
              <a:rPr sz="2400" spc="-5" dirty="0">
                <a:latin typeface="Comic Sans MS"/>
                <a:cs typeface="Comic Sans MS"/>
              </a:rPr>
              <a:t>is the </a:t>
            </a:r>
            <a:r>
              <a:rPr sz="2400" dirty="0">
                <a:latin typeface="Comic Sans MS"/>
                <a:cs typeface="Comic Sans MS"/>
              </a:rPr>
              <a:t>principal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component.</a:t>
            </a:r>
            <a:endParaRPr sz="2400">
              <a:latin typeface="Comic Sans MS"/>
              <a:cs typeface="Comic Sans MS"/>
            </a:endParaRPr>
          </a:p>
          <a:p>
            <a:pPr marL="356870" marR="363855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omic Sans MS"/>
                <a:cs typeface="Comic Sans MS"/>
              </a:rPr>
              <a:t>PCA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useful statistical technique that </a:t>
            </a:r>
            <a:r>
              <a:rPr sz="2400" dirty="0">
                <a:latin typeface="Comic Sans MS"/>
                <a:cs typeface="Comic Sans MS"/>
              </a:rPr>
              <a:t>has </a:t>
            </a:r>
            <a:r>
              <a:rPr sz="2400" spc="-5" dirty="0">
                <a:latin typeface="Comic Sans MS"/>
                <a:cs typeface="Comic Sans MS"/>
              </a:rPr>
              <a:t>found  </a:t>
            </a:r>
            <a:r>
              <a:rPr sz="2400" dirty="0">
                <a:latin typeface="Comic Sans MS"/>
                <a:cs typeface="Comic Sans MS"/>
              </a:rPr>
              <a:t>application</a:t>
            </a:r>
            <a:r>
              <a:rPr sz="2400" spc="-5" dirty="0">
                <a:latin typeface="Comic Sans MS"/>
                <a:cs typeface="Comic Sans MS"/>
              </a:rPr>
              <a:t> in:</a:t>
            </a:r>
            <a:endParaRPr sz="24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470"/>
              </a:spcBef>
              <a:buChar char="–"/>
              <a:tabLst>
                <a:tab pos="755650" algn="l"/>
                <a:tab pos="756920" algn="l"/>
              </a:tabLst>
            </a:pPr>
            <a:r>
              <a:rPr sz="2000" spc="-10" dirty="0">
                <a:latin typeface="Comic Sans MS"/>
                <a:cs typeface="Comic Sans MS"/>
              </a:rPr>
              <a:t>fields </a:t>
            </a:r>
            <a:r>
              <a:rPr sz="2000" spc="-5" dirty="0">
                <a:latin typeface="Comic Sans MS"/>
                <a:cs typeface="Comic Sans MS"/>
              </a:rPr>
              <a:t>such </a:t>
            </a:r>
            <a:r>
              <a:rPr sz="2000" spc="15" dirty="0">
                <a:latin typeface="Comic Sans MS"/>
                <a:cs typeface="Comic Sans MS"/>
              </a:rPr>
              <a:t>as </a:t>
            </a:r>
            <a:r>
              <a:rPr sz="2000" spc="-10" dirty="0">
                <a:latin typeface="Comic Sans MS"/>
                <a:cs typeface="Comic Sans MS"/>
              </a:rPr>
              <a:t>face </a:t>
            </a:r>
            <a:r>
              <a:rPr sz="2000" spc="-5" dirty="0">
                <a:latin typeface="Comic Sans MS"/>
                <a:cs typeface="Comic Sans MS"/>
              </a:rPr>
              <a:t>recognition and </a:t>
            </a:r>
            <a:r>
              <a:rPr sz="2000" spc="5" dirty="0">
                <a:latin typeface="Comic Sans MS"/>
                <a:cs typeface="Comic Sans MS"/>
              </a:rPr>
              <a:t>image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compression</a:t>
            </a:r>
            <a:endParaRPr sz="20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5650" algn="l"/>
                <a:tab pos="756920" algn="l"/>
              </a:tabLst>
            </a:pPr>
            <a:r>
              <a:rPr sz="2000" spc="-10" dirty="0">
                <a:latin typeface="Comic Sans MS"/>
                <a:cs typeface="Comic Sans MS"/>
              </a:rPr>
              <a:t>finding </a:t>
            </a:r>
            <a:r>
              <a:rPr sz="2000" spc="-5" dirty="0">
                <a:latin typeface="Comic Sans MS"/>
                <a:cs typeface="Comic Sans MS"/>
              </a:rPr>
              <a:t>patterns </a:t>
            </a:r>
            <a:r>
              <a:rPr sz="2000" spc="-10" dirty="0">
                <a:latin typeface="Comic Sans MS"/>
                <a:cs typeface="Comic Sans MS"/>
              </a:rPr>
              <a:t>in </a:t>
            </a:r>
            <a:r>
              <a:rPr sz="2000" spc="10" dirty="0">
                <a:latin typeface="Comic Sans MS"/>
                <a:cs typeface="Comic Sans MS"/>
              </a:rPr>
              <a:t>data </a:t>
            </a:r>
            <a:r>
              <a:rPr sz="2000" spc="-5" dirty="0">
                <a:latin typeface="Comic Sans MS"/>
                <a:cs typeface="Comic Sans MS"/>
              </a:rPr>
              <a:t>of high</a:t>
            </a:r>
            <a:r>
              <a:rPr sz="2000" spc="3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dimension.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3252" y="606067"/>
            <a:ext cx="32296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omic Sans MS"/>
                <a:cs typeface="Comic Sans MS"/>
              </a:rPr>
              <a:t>PCA</a:t>
            </a:r>
            <a:r>
              <a:rPr sz="4000" spc="-45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Theorem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022" y="1614932"/>
            <a:ext cx="8428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 indent="-6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Let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1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2 </a:t>
            </a:r>
            <a:r>
              <a:rPr sz="2400" dirty="0">
                <a:latin typeface="Comic Sans MS"/>
                <a:cs typeface="Comic Sans MS"/>
              </a:rPr>
              <a:t>…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n </a:t>
            </a:r>
            <a:r>
              <a:rPr sz="2400" spc="-5" dirty="0">
                <a:latin typeface="Comic Sans MS"/>
                <a:cs typeface="Comic Sans MS"/>
              </a:rPr>
              <a:t>be </a:t>
            </a:r>
            <a:r>
              <a:rPr sz="2400" dirty="0">
                <a:latin typeface="Comic Sans MS"/>
                <a:cs typeface="Comic Sans MS"/>
              </a:rPr>
              <a:t>a set of n N x 1 </a:t>
            </a:r>
            <a:r>
              <a:rPr sz="2400" spc="-5" dirty="0">
                <a:latin typeface="Comic Sans MS"/>
                <a:cs typeface="Comic Sans MS"/>
              </a:rPr>
              <a:t>vectors </a:t>
            </a:r>
            <a:r>
              <a:rPr sz="2400" dirty="0">
                <a:latin typeface="Comic Sans MS"/>
                <a:cs typeface="Comic Sans MS"/>
              </a:rPr>
              <a:t>and let x </a:t>
            </a:r>
            <a:r>
              <a:rPr sz="2400" spc="-5" dirty="0">
                <a:latin typeface="Comic Sans MS"/>
                <a:cs typeface="Comic Sans MS"/>
              </a:rPr>
              <a:t>be their  </a:t>
            </a:r>
            <a:r>
              <a:rPr sz="2400" dirty="0">
                <a:latin typeface="Comic Sans MS"/>
                <a:cs typeface="Comic Sans MS"/>
              </a:rPr>
              <a:t>average: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63256" y="1667255"/>
            <a:ext cx="161925" cy="9525"/>
          </a:xfrm>
          <a:custGeom>
            <a:avLst/>
            <a:gdLst/>
            <a:ahLst/>
            <a:cxnLst/>
            <a:rect l="l" t="t" r="r" b="b"/>
            <a:pathLst>
              <a:path w="161925" h="9525">
                <a:moveTo>
                  <a:pt x="1584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158496" y="9144"/>
                </a:lnTo>
                <a:lnTo>
                  <a:pt x="161544" y="6096"/>
                </a:lnTo>
                <a:lnTo>
                  <a:pt x="161544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785004" y="3130295"/>
            <a:ext cx="2113915" cy="1582420"/>
            <a:chOff x="1785004" y="3130295"/>
            <a:chExt cx="2113915" cy="1582420"/>
          </a:xfrm>
        </p:grpSpPr>
        <p:sp>
          <p:nvSpPr>
            <p:cNvPr id="6" name="object 6"/>
            <p:cNvSpPr/>
            <p:nvPr/>
          </p:nvSpPr>
          <p:spPr>
            <a:xfrm>
              <a:off x="1785004" y="3130295"/>
              <a:ext cx="2113387" cy="15819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83863" y="4364735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228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" y="304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653171" y="3118104"/>
            <a:ext cx="2915285" cy="1609725"/>
            <a:chOff x="4653171" y="3118104"/>
            <a:chExt cx="2915285" cy="1609725"/>
          </a:xfrm>
        </p:grpSpPr>
        <p:sp>
          <p:nvSpPr>
            <p:cNvPr id="9" name="object 9"/>
            <p:cNvSpPr/>
            <p:nvPr/>
          </p:nvSpPr>
          <p:spPr>
            <a:xfrm>
              <a:off x="4653171" y="3118104"/>
              <a:ext cx="2915012" cy="15819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6704" y="4422648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228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" y="304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3252" y="606067"/>
            <a:ext cx="32296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  <a:r>
              <a:rPr spc="-45" dirty="0"/>
              <a:t> </a:t>
            </a:r>
            <a:r>
              <a:rPr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822" y="1386332"/>
            <a:ext cx="5647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 indent="-635">
              <a:lnSpc>
                <a:spcPct val="100000"/>
              </a:lnSpc>
              <a:spcBef>
                <a:spcPts val="100"/>
              </a:spcBef>
              <a:tabLst>
                <a:tab pos="448945" algn="l"/>
              </a:tabLst>
            </a:pPr>
            <a:r>
              <a:rPr sz="2400" dirty="0">
                <a:latin typeface="Comic Sans MS"/>
                <a:cs typeface="Comic Sans MS"/>
              </a:rPr>
              <a:t>Let </a:t>
            </a:r>
            <a:r>
              <a:rPr sz="2400" spc="-994" dirty="0">
                <a:latin typeface="Comic Sans MS"/>
                <a:cs typeface="Comic Sans MS"/>
              </a:rPr>
              <a:t>X</a:t>
            </a:r>
            <a:r>
              <a:rPr sz="2400" spc="969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be th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e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 x </a:t>
            </a:r>
            <a:r>
              <a:rPr sz="2400" spc="-135" dirty="0">
                <a:latin typeface="Comic Sans MS"/>
                <a:cs typeface="Comic Sans MS"/>
              </a:rPr>
              <a:t>n</a:t>
            </a:r>
            <a:r>
              <a:rPr sz="2400" u="sng" spc="-13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m</a:t>
            </a:r>
            <a:r>
              <a:rPr sz="2400" spc="-10" dirty="0">
                <a:latin typeface="Comic Sans MS"/>
                <a:cs typeface="Comic Sans MS"/>
              </a:rPr>
              <a:t>atrix </a:t>
            </a:r>
            <a:r>
              <a:rPr sz="2400" spc="-5" dirty="0">
                <a:latin typeface="Comic Sans MS"/>
                <a:cs typeface="Comic Sans MS"/>
              </a:rPr>
              <a:t>with </a:t>
            </a:r>
            <a:r>
              <a:rPr sz="2400" dirty="0">
                <a:latin typeface="Comic Sans MS"/>
                <a:cs typeface="Comic Sans MS"/>
              </a:rPr>
              <a:t>columns 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1	</a:t>
            </a:r>
            <a:r>
              <a:rPr sz="2400" dirty="0">
                <a:latin typeface="Comic Sans MS"/>
                <a:cs typeface="Comic Sans MS"/>
              </a:rPr>
              <a:t>- </a:t>
            </a:r>
            <a:r>
              <a:rPr sz="2400" spc="-5" dirty="0">
                <a:latin typeface="Comic Sans MS"/>
                <a:cs typeface="Comic Sans MS"/>
              </a:rPr>
              <a:t>x, </a:t>
            </a:r>
            <a:r>
              <a:rPr sz="2400" spc="-10" dirty="0">
                <a:latin typeface="Comic Sans MS"/>
                <a:cs typeface="Comic Sans MS"/>
              </a:rPr>
              <a:t>x</a:t>
            </a:r>
            <a:r>
              <a:rPr sz="2400" spc="-15" baseline="-20833" dirty="0">
                <a:latin typeface="Comic Sans MS"/>
                <a:cs typeface="Comic Sans MS"/>
              </a:rPr>
              <a:t>2 </a:t>
            </a:r>
            <a:r>
              <a:rPr sz="2400" dirty="0">
                <a:latin typeface="Comic Sans MS"/>
                <a:cs typeface="Comic Sans MS"/>
              </a:rPr>
              <a:t>– x,…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n </a:t>
            </a:r>
            <a:r>
              <a:rPr sz="2400" spc="-5" dirty="0">
                <a:latin typeface="Comic Sans MS"/>
                <a:cs typeface="Comic Sans MS"/>
              </a:rPr>
              <a:t>–x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: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082" y="4327652"/>
            <a:ext cx="7865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mic Sans MS"/>
                <a:cs typeface="Comic Sans MS"/>
              </a:rPr>
              <a:t>Note: </a:t>
            </a:r>
            <a:r>
              <a:rPr sz="2400" dirty="0">
                <a:latin typeface="Comic Sans MS"/>
                <a:cs typeface="Comic Sans MS"/>
              </a:rPr>
              <a:t>subtracting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mean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equivalent </a:t>
            </a:r>
            <a:r>
              <a:rPr sz="2400" spc="-30" dirty="0">
                <a:latin typeface="Comic Sans MS"/>
                <a:cs typeface="Comic Sans MS"/>
              </a:rPr>
              <a:t>to</a:t>
            </a:r>
            <a:r>
              <a:rPr sz="2400" spc="-409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translating  the </a:t>
            </a:r>
            <a:r>
              <a:rPr sz="2400" dirty="0">
                <a:latin typeface="Comic Sans MS"/>
                <a:cs typeface="Comic Sans MS"/>
              </a:rPr>
              <a:t>coordinate system </a:t>
            </a:r>
            <a:r>
              <a:rPr sz="2400" spc="-5" dirty="0">
                <a:latin typeface="Comic Sans MS"/>
                <a:cs typeface="Comic Sans MS"/>
              </a:rPr>
              <a:t>to the </a:t>
            </a:r>
            <a:r>
              <a:rPr sz="2400" dirty="0">
                <a:latin typeface="Comic Sans MS"/>
                <a:cs typeface="Comic Sans MS"/>
              </a:rPr>
              <a:t>location of </a:t>
            </a:r>
            <a:r>
              <a:rPr sz="2400" spc="-5" dirty="0">
                <a:latin typeface="Comic Sans MS"/>
                <a:cs typeface="Comic Sans MS"/>
              </a:rPr>
              <a:t>the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mean.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0492" y="2740151"/>
            <a:ext cx="5581051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3252" y="606067"/>
            <a:ext cx="32296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  <a:r>
              <a:rPr spc="-45" dirty="0"/>
              <a:t> </a:t>
            </a:r>
            <a:r>
              <a:rPr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222" y="1538732"/>
            <a:ext cx="497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Let Q = X </a:t>
            </a:r>
            <a:r>
              <a:rPr sz="2400" spc="-15" dirty="0">
                <a:latin typeface="Comic Sans MS"/>
                <a:cs typeface="Comic Sans MS"/>
              </a:rPr>
              <a:t>X</a:t>
            </a:r>
            <a:r>
              <a:rPr sz="2400" spc="-22" baseline="24305" dirty="0">
                <a:latin typeface="Comic Sans MS"/>
                <a:cs typeface="Comic Sans MS"/>
              </a:rPr>
              <a:t>T </a:t>
            </a:r>
            <a:r>
              <a:rPr sz="2400" spc="-5" dirty="0">
                <a:latin typeface="Comic Sans MS"/>
                <a:cs typeface="Comic Sans MS"/>
              </a:rPr>
              <a:t>be the </a:t>
            </a:r>
            <a:r>
              <a:rPr sz="2400" dirty="0">
                <a:latin typeface="Comic Sans MS"/>
                <a:cs typeface="Comic Sans MS"/>
              </a:rPr>
              <a:t>N x N</a:t>
            </a:r>
            <a:r>
              <a:rPr sz="2400" spc="-265" dirty="0">
                <a:latin typeface="Comic Sans MS"/>
                <a:cs typeface="Comic Sans MS"/>
              </a:rPr>
              <a:t> </a:t>
            </a:r>
            <a:r>
              <a:rPr sz="2400" spc="-15" dirty="0">
                <a:latin typeface="Comic Sans MS"/>
                <a:cs typeface="Comic Sans MS"/>
              </a:rPr>
              <a:t>matrix: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55264" y="5809488"/>
            <a:ext cx="1499870" cy="36830"/>
            <a:chOff x="3255264" y="5809488"/>
            <a:chExt cx="1499870" cy="36830"/>
          </a:xfrm>
        </p:grpSpPr>
        <p:sp>
          <p:nvSpPr>
            <p:cNvPr id="5" name="object 5"/>
            <p:cNvSpPr/>
            <p:nvPr/>
          </p:nvSpPr>
          <p:spPr>
            <a:xfrm>
              <a:off x="3267456" y="5821680"/>
              <a:ext cx="1487805" cy="24765"/>
            </a:xfrm>
            <a:custGeom>
              <a:avLst/>
              <a:gdLst/>
              <a:ahLst/>
              <a:cxnLst/>
              <a:rect l="l" t="t" r="r" b="b"/>
              <a:pathLst>
                <a:path w="1487804" h="24764">
                  <a:moveTo>
                    <a:pt x="1487424" y="0"/>
                  </a:moveTo>
                  <a:lnTo>
                    <a:pt x="0" y="0"/>
                  </a:lnTo>
                  <a:lnTo>
                    <a:pt x="0" y="24382"/>
                  </a:lnTo>
                  <a:lnTo>
                    <a:pt x="1487424" y="2438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55264" y="5809488"/>
              <a:ext cx="1487805" cy="24765"/>
            </a:xfrm>
            <a:custGeom>
              <a:avLst/>
              <a:gdLst/>
              <a:ahLst/>
              <a:cxnLst/>
              <a:rect l="l" t="t" r="r" b="b"/>
              <a:pathLst>
                <a:path w="1487804" h="24764">
                  <a:moveTo>
                    <a:pt x="1487424" y="0"/>
                  </a:moveTo>
                  <a:lnTo>
                    <a:pt x="0" y="0"/>
                  </a:lnTo>
                  <a:lnTo>
                    <a:pt x="0" y="24382"/>
                  </a:lnTo>
                  <a:lnTo>
                    <a:pt x="1487424" y="2438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6322" y="4358132"/>
            <a:ext cx="7802880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mic Sans MS"/>
                <a:cs typeface="Comic Sans MS"/>
              </a:rPr>
              <a:t>Notes:</a:t>
            </a:r>
            <a:endParaRPr sz="2400">
              <a:latin typeface="Comic Sans MS"/>
              <a:cs typeface="Comic Sans MS"/>
            </a:endParaRPr>
          </a:p>
          <a:p>
            <a:pPr marL="927100" indent="-457834">
              <a:lnSpc>
                <a:spcPts val="2870"/>
              </a:lnSpc>
              <a:buAutoNum type="arabicPeriod"/>
              <a:tabLst>
                <a:tab pos="926465" algn="l"/>
                <a:tab pos="927735" algn="l"/>
              </a:tabLst>
            </a:pPr>
            <a:r>
              <a:rPr sz="2400" dirty="0">
                <a:latin typeface="Comic Sans MS"/>
                <a:cs typeface="Comic Sans MS"/>
              </a:rPr>
              <a:t>Q </a:t>
            </a:r>
            <a:r>
              <a:rPr sz="2400" spc="-5" dirty="0">
                <a:latin typeface="Comic Sans MS"/>
                <a:cs typeface="Comic Sans MS"/>
              </a:rPr>
              <a:t>is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square</a:t>
            </a:r>
            <a:endParaRPr sz="2400">
              <a:latin typeface="Comic Sans MS"/>
              <a:cs typeface="Comic Sans MS"/>
            </a:endParaRPr>
          </a:p>
          <a:p>
            <a:pPr marL="927100" indent="-457834">
              <a:lnSpc>
                <a:spcPts val="282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dirty="0">
                <a:latin typeface="Comic Sans MS"/>
                <a:cs typeface="Comic Sans MS"/>
              </a:rPr>
              <a:t>Q </a:t>
            </a:r>
            <a:r>
              <a:rPr sz="2400" spc="-5" dirty="0">
                <a:latin typeface="Comic Sans MS"/>
                <a:cs typeface="Comic Sans MS"/>
              </a:rPr>
              <a:t>is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symmetric</a:t>
            </a:r>
            <a:endParaRPr sz="2400">
              <a:latin typeface="Comic Sans MS"/>
              <a:cs typeface="Comic Sans MS"/>
            </a:endParaRPr>
          </a:p>
          <a:p>
            <a:pPr marL="927100" indent="-457834">
              <a:lnSpc>
                <a:spcPts val="2940"/>
              </a:lnSpc>
              <a:buAutoNum type="arabicPeriod"/>
              <a:tabLst>
                <a:tab pos="927100" algn="l"/>
                <a:tab pos="927735" algn="l"/>
                <a:tab pos="4898390" algn="l"/>
              </a:tabLst>
            </a:pPr>
            <a:r>
              <a:rPr sz="2400" dirty="0">
                <a:latin typeface="Comic Sans MS"/>
                <a:cs typeface="Comic Sans MS"/>
              </a:rPr>
              <a:t>Q </a:t>
            </a:r>
            <a:r>
              <a:rPr sz="2400" spc="-5" dirty="0">
                <a:latin typeface="Comic Sans MS"/>
                <a:cs typeface="Comic Sans MS"/>
              </a:rPr>
              <a:t>is the</a:t>
            </a:r>
            <a:r>
              <a:rPr sz="2400" spc="20" dirty="0">
                <a:latin typeface="Comic Sans MS"/>
                <a:cs typeface="Comic Sans MS"/>
              </a:rPr>
              <a:t> </a:t>
            </a:r>
            <a:r>
              <a:rPr sz="2500" i="1" spc="-50" dirty="0">
                <a:latin typeface="Comic Sans MS"/>
                <a:cs typeface="Comic Sans MS"/>
              </a:rPr>
              <a:t>covariance</a:t>
            </a:r>
            <a:r>
              <a:rPr sz="2500" i="1" spc="-7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matrix	</a:t>
            </a:r>
            <a:r>
              <a:rPr sz="2400" spc="-5" dirty="0">
                <a:latin typeface="Comic Sans MS"/>
                <a:cs typeface="Comic Sans MS"/>
              </a:rPr>
              <a:t>[aka </a:t>
            </a:r>
            <a:r>
              <a:rPr sz="2400" spc="-10" dirty="0">
                <a:latin typeface="Comic Sans MS"/>
                <a:cs typeface="Comic Sans MS"/>
              </a:rPr>
              <a:t>scatter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matrix]</a:t>
            </a:r>
            <a:endParaRPr sz="2400">
              <a:latin typeface="Comic Sans MS"/>
              <a:cs typeface="Comic Sans MS"/>
            </a:endParaRPr>
          </a:p>
          <a:p>
            <a:pPr marL="927100" marR="267970" indent="-457200">
              <a:lnSpc>
                <a:spcPts val="2300"/>
              </a:lnSpc>
              <a:spcBef>
                <a:spcPts val="55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dirty="0">
                <a:latin typeface="Comic Sans MS"/>
                <a:cs typeface="Comic Sans MS"/>
              </a:rPr>
              <a:t>Q can </a:t>
            </a:r>
            <a:r>
              <a:rPr sz="2400" spc="-5" dirty="0">
                <a:latin typeface="Comic Sans MS"/>
                <a:cs typeface="Comic Sans MS"/>
              </a:rPr>
              <a:t>be very </a:t>
            </a:r>
            <a:r>
              <a:rPr sz="2400" dirty="0">
                <a:latin typeface="Comic Sans MS"/>
                <a:cs typeface="Comic Sans MS"/>
              </a:rPr>
              <a:t>large </a:t>
            </a:r>
            <a:r>
              <a:rPr sz="1800" spc="-5" dirty="0">
                <a:latin typeface="Comic Sans MS"/>
                <a:cs typeface="Comic Sans MS"/>
              </a:rPr>
              <a:t>(in vision, </a:t>
            </a:r>
            <a:r>
              <a:rPr sz="1800" dirty="0">
                <a:latin typeface="Comic Sans MS"/>
                <a:cs typeface="Comic Sans MS"/>
              </a:rPr>
              <a:t>N </a:t>
            </a:r>
            <a:r>
              <a:rPr sz="1800" spc="-5" dirty="0">
                <a:latin typeface="Comic Sans MS"/>
                <a:cs typeface="Comic Sans MS"/>
              </a:rPr>
              <a:t>is </a:t>
            </a:r>
            <a:r>
              <a:rPr sz="1800" dirty="0">
                <a:latin typeface="Comic Sans MS"/>
                <a:cs typeface="Comic Sans MS"/>
              </a:rPr>
              <a:t>often </a:t>
            </a:r>
            <a:r>
              <a:rPr sz="1800" spc="-15" dirty="0">
                <a:latin typeface="Comic Sans MS"/>
                <a:cs typeface="Comic Sans MS"/>
              </a:rPr>
              <a:t>the </a:t>
            </a:r>
            <a:r>
              <a:rPr sz="1800" spc="-5" dirty="0">
                <a:latin typeface="Comic Sans MS"/>
                <a:cs typeface="Comic Sans MS"/>
              </a:rPr>
              <a:t>number </a:t>
            </a:r>
            <a:r>
              <a:rPr sz="1800" dirty="0">
                <a:latin typeface="Comic Sans MS"/>
                <a:cs typeface="Comic Sans MS"/>
              </a:rPr>
              <a:t>of  pixels </a:t>
            </a:r>
            <a:r>
              <a:rPr sz="1800" spc="-5" dirty="0">
                <a:latin typeface="Comic Sans MS"/>
                <a:cs typeface="Comic Sans MS"/>
              </a:rPr>
              <a:t>in </a:t>
            </a:r>
            <a:r>
              <a:rPr sz="1800" dirty="0">
                <a:latin typeface="Comic Sans MS"/>
                <a:cs typeface="Comic Sans MS"/>
              </a:rPr>
              <a:t>an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image!)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0420" y="2286000"/>
            <a:ext cx="8271115" cy="1569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3252" y="606067"/>
            <a:ext cx="32296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  <a:r>
              <a:rPr spc="-45" dirty="0"/>
              <a:t> </a:t>
            </a:r>
            <a:r>
              <a:rPr dirty="0"/>
              <a:t>Theorem</a:t>
            </a:r>
          </a:p>
        </p:txBody>
      </p:sp>
      <p:sp>
        <p:nvSpPr>
          <p:cNvPr id="3" name="object 3"/>
          <p:cNvSpPr/>
          <p:nvPr/>
        </p:nvSpPr>
        <p:spPr>
          <a:xfrm>
            <a:off x="5944565" y="1520952"/>
            <a:ext cx="2821482" cy="950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4822" y="1508130"/>
            <a:ext cx="8563610" cy="425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Theorem:</a:t>
            </a:r>
            <a:endParaRPr sz="2400">
              <a:latin typeface="Comic Sans MS"/>
              <a:cs typeface="Comic Sans MS"/>
            </a:endParaRPr>
          </a:p>
          <a:p>
            <a:pPr marL="133096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Each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j </a:t>
            </a:r>
            <a:r>
              <a:rPr sz="2400" dirty="0">
                <a:latin typeface="Comic Sans MS"/>
                <a:cs typeface="Comic Sans MS"/>
              </a:rPr>
              <a:t>can </a:t>
            </a:r>
            <a:r>
              <a:rPr sz="2400" spc="-5" dirty="0">
                <a:latin typeface="Comic Sans MS"/>
                <a:cs typeface="Comic Sans MS"/>
              </a:rPr>
              <a:t>be written</a:t>
            </a:r>
            <a:r>
              <a:rPr sz="2400" spc="-2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as: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omic Sans MS"/>
              <a:cs typeface="Comic Sans MS"/>
            </a:endParaRPr>
          </a:p>
          <a:p>
            <a:pPr marL="431800" marR="856615" indent="-63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omic Sans MS"/>
                <a:cs typeface="Comic Sans MS"/>
              </a:rPr>
              <a:t>where </a:t>
            </a:r>
            <a:r>
              <a:rPr sz="2400" spc="-10" dirty="0">
                <a:latin typeface="Comic Sans MS"/>
                <a:cs typeface="Comic Sans MS"/>
              </a:rPr>
              <a:t>e</a:t>
            </a:r>
            <a:r>
              <a:rPr sz="2400" spc="-15" baseline="-20833" dirty="0">
                <a:latin typeface="Comic Sans MS"/>
                <a:cs typeface="Comic Sans MS"/>
              </a:rPr>
              <a:t>i </a:t>
            </a:r>
            <a:r>
              <a:rPr sz="2400" dirty="0">
                <a:latin typeface="Comic Sans MS"/>
                <a:cs typeface="Comic Sans MS"/>
              </a:rPr>
              <a:t>are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n </a:t>
            </a:r>
            <a:r>
              <a:rPr sz="2400" spc="-5" dirty="0">
                <a:latin typeface="Comic Sans MS"/>
                <a:cs typeface="Comic Sans MS"/>
              </a:rPr>
              <a:t>eigenvectors </a:t>
            </a:r>
            <a:r>
              <a:rPr sz="2400" dirty="0">
                <a:latin typeface="Comic Sans MS"/>
                <a:cs typeface="Comic Sans MS"/>
              </a:rPr>
              <a:t>of Q </a:t>
            </a:r>
            <a:r>
              <a:rPr sz="2400" spc="-5" dirty="0">
                <a:latin typeface="Comic Sans MS"/>
                <a:cs typeface="Comic Sans MS"/>
              </a:rPr>
              <a:t>with </a:t>
            </a:r>
            <a:r>
              <a:rPr sz="2400" spc="-10" dirty="0">
                <a:latin typeface="Comic Sans MS"/>
                <a:cs typeface="Comic Sans MS"/>
              </a:rPr>
              <a:t>non-zero  </a:t>
            </a:r>
            <a:r>
              <a:rPr sz="2400" dirty="0">
                <a:latin typeface="Comic Sans MS"/>
                <a:cs typeface="Comic Sans MS"/>
              </a:rPr>
              <a:t>eigenvalues.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omic Sans MS"/>
              <a:cs typeface="Comic Sans MS"/>
            </a:endParaRPr>
          </a:p>
          <a:p>
            <a:pPr marL="50800">
              <a:lnSpc>
                <a:spcPts val="2830"/>
              </a:lnSpc>
            </a:pPr>
            <a:r>
              <a:rPr sz="2400" b="1" dirty="0">
                <a:latin typeface="Comic Sans MS"/>
                <a:cs typeface="Comic Sans MS"/>
              </a:rPr>
              <a:t>Notes:</a:t>
            </a:r>
            <a:endParaRPr sz="2400">
              <a:latin typeface="Comic Sans MS"/>
              <a:cs typeface="Comic Sans MS"/>
            </a:endParaRPr>
          </a:p>
          <a:p>
            <a:pPr marL="965200" indent="-457834">
              <a:lnSpc>
                <a:spcPts val="2930"/>
              </a:lnSpc>
              <a:buAutoNum type="arabicPeriod"/>
              <a:tabLst>
                <a:tab pos="964565" algn="l"/>
                <a:tab pos="965835" algn="l"/>
              </a:tabLst>
            </a:pPr>
            <a:r>
              <a:rPr sz="2400" dirty="0">
                <a:latin typeface="Comic Sans MS"/>
                <a:cs typeface="Comic Sans MS"/>
              </a:rPr>
              <a:t>The eigenvectors e</a:t>
            </a:r>
            <a:r>
              <a:rPr sz="2400" baseline="-20833" dirty="0">
                <a:latin typeface="Comic Sans MS"/>
                <a:cs typeface="Comic Sans MS"/>
              </a:rPr>
              <a:t>1</a:t>
            </a:r>
            <a:r>
              <a:rPr sz="160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</a:t>
            </a:r>
            <a:r>
              <a:rPr sz="2400" spc="-15" baseline="-20833" dirty="0">
                <a:latin typeface="Comic Sans MS"/>
                <a:cs typeface="Comic Sans MS"/>
              </a:rPr>
              <a:t>2</a:t>
            </a:r>
            <a:r>
              <a:rPr sz="16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… e</a:t>
            </a:r>
            <a:r>
              <a:rPr sz="2400" baseline="-20833" dirty="0">
                <a:latin typeface="Comic Sans MS"/>
                <a:cs typeface="Comic Sans MS"/>
              </a:rPr>
              <a:t>n</a:t>
            </a:r>
            <a:r>
              <a:rPr sz="160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span an</a:t>
            </a:r>
            <a:r>
              <a:rPr sz="2400" spc="150" dirty="0">
                <a:latin typeface="Comic Sans MS"/>
                <a:cs typeface="Comic Sans MS"/>
              </a:rPr>
              <a:t> </a:t>
            </a:r>
            <a:r>
              <a:rPr sz="2500" b="1" i="1" u="heavy" spc="-6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eigenspace</a:t>
            </a:r>
            <a:endParaRPr sz="2500">
              <a:latin typeface="Comic Sans MS"/>
              <a:cs typeface="Comic Sans MS"/>
            </a:endParaRPr>
          </a:p>
          <a:p>
            <a:pPr marL="964565" marR="267335" indent="-457834">
              <a:lnSpc>
                <a:spcPts val="2500"/>
              </a:lnSpc>
              <a:spcBef>
                <a:spcPts val="380"/>
              </a:spcBef>
              <a:buAutoNum type="arabicPeriod"/>
              <a:tabLst>
                <a:tab pos="964565" algn="l"/>
                <a:tab pos="965200" algn="l"/>
              </a:tabLst>
            </a:pPr>
            <a:r>
              <a:rPr sz="2400" dirty="0">
                <a:latin typeface="Comic Sans MS"/>
                <a:cs typeface="Comic Sans MS"/>
              </a:rPr>
              <a:t>e</a:t>
            </a:r>
            <a:r>
              <a:rPr sz="2400" baseline="-20833" dirty="0">
                <a:latin typeface="Comic Sans MS"/>
                <a:cs typeface="Comic Sans MS"/>
              </a:rPr>
              <a:t>1 </a:t>
            </a:r>
            <a:r>
              <a:rPr sz="2400" dirty="0">
                <a:latin typeface="Comic Sans MS"/>
                <a:cs typeface="Comic Sans MS"/>
              </a:rPr>
              <a:t>e</a:t>
            </a:r>
            <a:r>
              <a:rPr sz="2400" baseline="-20833" dirty="0">
                <a:latin typeface="Comic Sans MS"/>
                <a:cs typeface="Comic Sans MS"/>
              </a:rPr>
              <a:t>2 </a:t>
            </a:r>
            <a:r>
              <a:rPr sz="2400" dirty="0">
                <a:latin typeface="Comic Sans MS"/>
                <a:cs typeface="Comic Sans MS"/>
              </a:rPr>
              <a:t>… e</a:t>
            </a:r>
            <a:r>
              <a:rPr sz="2400" baseline="-20833" dirty="0">
                <a:latin typeface="Comic Sans MS"/>
                <a:cs typeface="Comic Sans MS"/>
              </a:rPr>
              <a:t>n </a:t>
            </a:r>
            <a:r>
              <a:rPr sz="2400" dirty="0">
                <a:latin typeface="Comic Sans MS"/>
                <a:cs typeface="Comic Sans MS"/>
              </a:rPr>
              <a:t>are N x 1 </a:t>
            </a:r>
            <a:r>
              <a:rPr sz="2400" spc="-10" dirty="0">
                <a:latin typeface="Comic Sans MS"/>
                <a:cs typeface="Comic Sans MS"/>
              </a:rPr>
              <a:t>orthonormal </a:t>
            </a:r>
            <a:r>
              <a:rPr sz="2400" spc="-5" dirty="0">
                <a:latin typeface="Comic Sans MS"/>
                <a:cs typeface="Comic Sans MS"/>
              </a:rPr>
              <a:t>vectors </a:t>
            </a:r>
            <a:r>
              <a:rPr sz="2000" spc="-10" dirty="0">
                <a:latin typeface="Comic Sans MS"/>
                <a:cs typeface="Comic Sans MS"/>
              </a:rPr>
              <a:t>(directions in  </a:t>
            </a:r>
            <a:r>
              <a:rPr sz="2000" spc="-5" dirty="0">
                <a:latin typeface="Comic Sans MS"/>
                <a:cs typeface="Comic Sans MS"/>
              </a:rPr>
              <a:t>N-Dimensional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space)</a:t>
            </a:r>
            <a:endParaRPr sz="2000">
              <a:latin typeface="Comic Sans MS"/>
              <a:cs typeface="Comic Sans MS"/>
            </a:endParaRPr>
          </a:p>
          <a:p>
            <a:pPr marL="965200" indent="-457834">
              <a:lnSpc>
                <a:spcPts val="2760"/>
              </a:lnSpc>
              <a:buAutoNum type="arabicPeriod"/>
              <a:tabLst>
                <a:tab pos="964565" algn="l"/>
                <a:tab pos="965835" algn="l"/>
              </a:tabLst>
            </a:pPr>
            <a:r>
              <a:rPr sz="2400" dirty="0">
                <a:latin typeface="Comic Sans MS"/>
                <a:cs typeface="Comic Sans MS"/>
              </a:rPr>
              <a:t>The scalars </a:t>
            </a:r>
            <a:r>
              <a:rPr sz="2400" spc="-5" dirty="0">
                <a:latin typeface="Comic Sans MS"/>
                <a:cs typeface="Comic Sans MS"/>
              </a:rPr>
              <a:t>g</a:t>
            </a:r>
            <a:r>
              <a:rPr sz="2400" spc="-7" baseline="-20833" dirty="0">
                <a:latin typeface="Comic Sans MS"/>
                <a:cs typeface="Comic Sans MS"/>
              </a:rPr>
              <a:t>ji</a:t>
            </a:r>
            <a:r>
              <a:rPr sz="16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are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coordinates of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-20833" dirty="0">
                <a:latin typeface="Comic Sans MS"/>
                <a:cs typeface="Comic Sans MS"/>
              </a:rPr>
              <a:t>j</a:t>
            </a:r>
            <a:r>
              <a:rPr sz="1600" spc="-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in the</a:t>
            </a:r>
            <a:r>
              <a:rPr sz="2400" spc="-1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space.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7897" y="6324600"/>
            <a:ext cx="2602030" cy="377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6916" y="682267"/>
            <a:ext cx="67830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PCA to Compress</a:t>
            </a:r>
            <a:r>
              <a:rPr spc="-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991" y="1570459"/>
            <a:ext cx="7722870" cy="331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9570" marR="760730" indent="-344805" algn="just">
              <a:lnSpc>
                <a:spcPct val="150000"/>
              </a:lnSpc>
              <a:spcBef>
                <a:spcPts val="95"/>
              </a:spcBef>
              <a:buChar char="•"/>
              <a:tabLst>
                <a:tab pos="369570" algn="l"/>
              </a:tabLst>
            </a:pPr>
            <a:r>
              <a:rPr sz="2800" dirty="0">
                <a:latin typeface="Comic Sans MS"/>
                <a:cs typeface="Comic Sans MS"/>
              </a:rPr>
              <a:t>Expressing x in terms of </a:t>
            </a:r>
            <a:r>
              <a:rPr sz="2800" spc="-40" dirty="0">
                <a:latin typeface="Comic Sans MS"/>
                <a:cs typeface="Comic Sans MS"/>
              </a:rPr>
              <a:t>e</a:t>
            </a:r>
            <a:r>
              <a:rPr sz="2850" spc="-60" baseline="-20467" dirty="0">
                <a:latin typeface="Comic Sans MS"/>
                <a:cs typeface="Comic Sans MS"/>
              </a:rPr>
              <a:t>1 </a:t>
            </a:r>
            <a:r>
              <a:rPr sz="2800" spc="5" dirty="0">
                <a:latin typeface="Comic Sans MS"/>
                <a:cs typeface="Comic Sans MS"/>
              </a:rPr>
              <a:t>… </a:t>
            </a:r>
            <a:r>
              <a:rPr sz="2800" spc="-5" dirty="0">
                <a:latin typeface="Comic Sans MS"/>
                <a:cs typeface="Comic Sans MS"/>
              </a:rPr>
              <a:t>e</a:t>
            </a:r>
            <a:r>
              <a:rPr sz="2850" spc="-7" baseline="-20467" dirty="0">
                <a:latin typeface="Comic Sans MS"/>
                <a:cs typeface="Comic Sans MS"/>
              </a:rPr>
              <a:t>n </a:t>
            </a:r>
            <a:r>
              <a:rPr sz="2800" dirty="0">
                <a:latin typeface="Comic Sans MS"/>
                <a:cs typeface="Comic Sans MS"/>
              </a:rPr>
              <a:t>has </a:t>
            </a:r>
            <a:r>
              <a:rPr sz="2800" spc="-5" dirty="0">
                <a:latin typeface="Comic Sans MS"/>
                <a:cs typeface="Comic Sans MS"/>
              </a:rPr>
              <a:t>not  </a:t>
            </a:r>
            <a:r>
              <a:rPr sz="2800" dirty="0">
                <a:latin typeface="Comic Sans MS"/>
                <a:cs typeface="Comic Sans MS"/>
              </a:rPr>
              <a:t>changed the size of the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data</a:t>
            </a:r>
            <a:endParaRPr sz="2800">
              <a:latin typeface="Comic Sans MS"/>
              <a:cs typeface="Comic Sans MS"/>
            </a:endParaRPr>
          </a:p>
          <a:p>
            <a:pPr marL="369570" marR="17780" indent="-344805" algn="just">
              <a:lnSpc>
                <a:spcPct val="150300"/>
              </a:lnSpc>
              <a:spcBef>
                <a:spcPts val="665"/>
              </a:spcBef>
              <a:buChar char="•"/>
              <a:tabLst>
                <a:tab pos="369570" algn="l"/>
              </a:tabLst>
            </a:pPr>
            <a:r>
              <a:rPr sz="2800" spc="-5" dirty="0">
                <a:latin typeface="Comic Sans MS"/>
                <a:cs typeface="Comic Sans MS"/>
              </a:rPr>
              <a:t>However, </a:t>
            </a:r>
            <a:r>
              <a:rPr sz="2800" dirty="0">
                <a:latin typeface="Comic Sans MS"/>
                <a:cs typeface="Comic Sans MS"/>
              </a:rPr>
              <a:t>if the points are </a:t>
            </a:r>
            <a:r>
              <a:rPr sz="2800" spc="-10" dirty="0">
                <a:latin typeface="Comic Sans MS"/>
                <a:cs typeface="Comic Sans MS"/>
              </a:rPr>
              <a:t>highly </a:t>
            </a:r>
            <a:r>
              <a:rPr sz="2800" dirty="0">
                <a:latin typeface="Comic Sans MS"/>
                <a:cs typeface="Comic Sans MS"/>
              </a:rPr>
              <a:t>correlated  many of the coordinates of x </a:t>
            </a:r>
            <a:r>
              <a:rPr sz="2800" spc="-20" dirty="0">
                <a:latin typeface="Comic Sans MS"/>
                <a:cs typeface="Comic Sans MS"/>
              </a:rPr>
              <a:t>will </a:t>
            </a:r>
            <a:r>
              <a:rPr sz="2800" dirty="0">
                <a:latin typeface="Comic Sans MS"/>
                <a:cs typeface="Comic Sans MS"/>
              </a:rPr>
              <a:t>be zero or  closed to</a:t>
            </a:r>
            <a:r>
              <a:rPr sz="2800" spc="-5" dirty="0">
                <a:latin typeface="Comic Sans MS"/>
                <a:cs typeface="Comic Sans MS"/>
              </a:rPr>
              <a:t> zero.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627" y="5747258"/>
            <a:ext cx="4965700" cy="953769"/>
          </a:xfrm>
          <a:prstGeom prst="rect">
            <a:avLst/>
          </a:prstGeom>
          <a:solidFill>
            <a:srgbClr val="FFFF00"/>
          </a:solidFill>
          <a:ln w="9143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9060" marR="84455" indent="-635">
              <a:lnSpc>
                <a:spcPct val="100000"/>
              </a:lnSpc>
              <a:spcBef>
                <a:spcPts val="295"/>
              </a:spcBef>
            </a:pPr>
            <a:r>
              <a:rPr sz="2400" spc="-5" dirty="0">
                <a:latin typeface="Comic Sans MS"/>
                <a:cs typeface="Comic Sans MS"/>
              </a:rPr>
              <a:t>note: this </a:t>
            </a:r>
            <a:r>
              <a:rPr sz="2400" dirty="0">
                <a:latin typeface="Comic Sans MS"/>
                <a:cs typeface="Comic Sans MS"/>
              </a:rPr>
              <a:t>means </a:t>
            </a:r>
            <a:r>
              <a:rPr sz="2400" spc="-5" dirty="0">
                <a:latin typeface="Comic Sans MS"/>
                <a:cs typeface="Comic Sans MS"/>
              </a:rPr>
              <a:t>they </a:t>
            </a:r>
            <a:r>
              <a:rPr sz="2400" dirty="0">
                <a:latin typeface="Comic Sans MS"/>
                <a:cs typeface="Comic Sans MS"/>
              </a:rPr>
              <a:t>lie </a:t>
            </a:r>
            <a:r>
              <a:rPr sz="2400" spc="-5" dirty="0">
                <a:latin typeface="Comic Sans MS"/>
                <a:cs typeface="Comic Sans MS"/>
              </a:rPr>
              <a:t>in </a:t>
            </a:r>
            <a:r>
              <a:rPr sz="2400" dirty="0">
                <a:latin typeface="Comic Sans MS"/>
                <a:cs typeface="Comic Sans MS"/>
              </a:rPr>
              <a:t>a  </a:t>
            </a:r>
            <a:r>
              <a:rPr sz="2400" spc="-5" dirty="0">
                <a:latin typeface="Comic Sans MS"/>
                <a:cs typeface="Comic Sans MS"/>
              </a:rPr>
              <a:t>lower-dimensional </a:t>
            </a:r>
            <a:r>
              <a:rPr sz="2400" dirty="0">
                <a:latin typeface="Comic Sans MS"/>
                <a:cs typeface="Comic Sans MS"/>
              </a:rPr>
              <a:t>linear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subspace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6916" y="682267"/>
            <a:ext cx="67830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PCA to Compress</a:t>
            </a:r>
            <a:r>
              <a:rPr spc="-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991" y="1688059"/>
            <a:ext cx="7474584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9570" marR="17780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68935" algn="l"/>
                <a:tab pos="370205" algn="l"/>
              </a:tabLst>
            </a:pPr>
            <a:r>
              <a:rPr sz="3200" spc="-10" dirty="0">
                <a:latin typeface="Comic Sans MS"/>
                <a:cs typeface="Comic Sans MS"/>
              </a:rPr>
              <a:t>Sort the </a:t>
            </a:r>
            <a:r>
              <a:rPr sz="3200" spc="-5" dirty="0">
                <a:latin typeface="Comic Sans MS"/>
                <a:cs typeface="Comic Sans MS"/>
              </a:rPr>
              <a:t>eigenvectors </a:t>
            </a:r>
            <a:r>
              <a:rPr sz="3200" spc="20" dirty="0">
                <a:latin typeface="Comic Sans MS"/>
                <a:cs typeface="Comic Sans MS"/>
              </a:rPr>
              <a:t>e</a:t>
            </a:r>
            <a:r>
              <a:rPr sz="3150" spc="30" baseline="-21164" dirty="0">
                <a:latin typeface="Comic Sans MS"/>
                <a:cs typeface="Comic Sans MS"/>
              </a:rPr>
              <a:t>i </a:t>
            </a:r>
            <a:r>
              <a:rPr sz="3200" spc="-5" dirty="0">
                <a:latin typeface="Comic Sans MS"/>
                <a:cs typeface="Comic Sans MS"/>
              </a:rPr>
              <a:t>according </a:t>
            </a:r>
            <a:r>
              <a:rPr sz="3200" spc="-10" dirty="0">
                <a:latin typeface="Comic Sans MS"/>
                <a:cs typeface="Comic Sans MS"/>
              </a:rPr>
              <a:t>to  their </a:t>
            </a:r>
            <a:r>
              <a:rPr sz="3200" dirty="0">
                <a:latin typeface="Comic Sans MS"/>
                <a:cs typeface="Comic Sans MS"/>
              </a:rPr>
              <a:t>eigenvalue: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3848" y="2892551"/>
            <a:ext cx="3852672" cy="48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6047" y="3883152"/>
            <a:ext cx="3395471" cy="4815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65132" y="5102352"/>
            <a:ext cx="3547731" cy="1216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7289" y="3846040"/>
            <a:ext cx="2884170" cy="2036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 indent="-158750">
              <a:lnSpc>
                <a:spcPct val="100000"/>
              </a:lnSpc>
              <a:spcBef>
                <a:spcPts val="90"/>
              </a:spcBef>
              <a:buSzPct val="96875"/>
              <a:buChar char="•"/>
              <a:tabLst>
                <a:tab pos="171450" algn="l"/>
              </a:tabLst>
            </a:pPr>
            <a:r>
              <a:rPr sz="3200" spc="-10" dirty="0">
                <a:latin typeface="Comic Sans MS"/>
                <a:cs typeface="Comic Sans MS"/>
              </a:rPr>
              <a:t>Assuming</a:t>
            </a:r>
            <a:r>
              <a:rPr sz="3200" spc="-80" dirty="0"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that</a:t>
            </a:r>
            <a:endParaRPr sz="3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omic Sans MS"/>
              <a:buChar char="•"/>
            </a:pPr>
            <a:endParaRPr sz="5850">
              <a:latin typeface="Comic Sans MS"/>
              <a:cs typeface="Comic Sans MS"/>
            </a:endParaRPr>
          </a:p>
          <a:p>
            <a:pPr marL="247015" lvl="1" indent="-158750">
              <a:lnSpc>
                <a:spcPct val="100000"/>
              </a:lnSpc>
              <a:spcBef>
                <a:spcPts val="5"/>
              </a:spcBef>
              <a:buSzPct val="96875"/>
              <a:buChar char="•"/>
              <a:tabLst>
                <a:tab pos="247650" algn="l"/>
              </a:tabLst>
            </a:pPr>
            <a:r>
              <a:rPr sz="3200" spc="-5" dirty="0">
                <a:latin typeface="Comic Sans MS"/>
                <a:cs typeface="Comic Sans MS"/>
              </a:rPr>
              <a:t>Then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47416" y="4928869"/>
            <a:ext cx="4231005" cy="1563370"/>
          </a:xfrm>
          <a:custGeom>
            <a:avLst/>
            <a:gdLst/>
            <a:ahLst/>
            <a:cxnLst/>
            <a:rect l="l" t="t" r="r" b="b"/>
            <a:pathLst>
              <a:path w="4231005" h="1563370">
                <a:moveTo>
                  <a:pt x="4230624" y="0"/>
                </a:moveTo>
                <a:lnTo>
                  <a:pt x="4191000" y="0"/>
                </a:lnTo>
                <a:lnTo>
                  <a:pt x="4191000" y="39370"/>
                </a:lnTo>
                <a:lnTo>
                  <a:pt x="4191000" y="1523746"/>
                </a:lnTo>
                <a:lnTo>
                  <a:pt x="4191000" y="1545082"/>
                </a:lnTo>
                <a:lnTo>
                  <a:pt x="4191000" y="1545590"/>
                </a:lnTo>
                <a:lnTo>
                  <a:pt x="21336" y="1545590"/>
                </a:lnTo>
                <a:lnTo>
                  <a:pt x="21336" y="1545082"/>
                </a:lnTo>
                <a:lnTo>
                  <a:pt x="39624" y="1545082"/>
                </a:lnTo>
                <a:lnTo>
                  <a:pt x="4191000" y="1545082"/>
                </a:lnTo>
                <a:lnTo>
                  <a:pt x="4191000" y="1523746"/>
                </a:lnTo>
                <a:lnTo>
                  <a:pt x="39624" y="1523746"/>
                </a:lnTo>
                <a:lnTo>
                  <a:pt x="39624" y="39370"/>
                </a:lnTo>
                <a:lnTo>
                  <a:pt x="4191000" y="39370"/>
                </a:lnTo>
                <a:lnTo>
                  <a:pt x="4191000" y="0"/>
                </a:lnTo>
                <a:lnTo>
                  <a:pt x="0" y="0"/>
                </a:lnTo>
                <a:lnTo>
                  <a:pt x="0" y="21590"/>
                </a:lnTo>
                <a:lnTo>
                  <a:pt x="0" y="39370"/>
                </a:lnTo>
                <a:lnTo>
                  <a:pt x="0" y="1524000"/>
                </a:lnTo>
                <a:lnTo>
                  <a:pt x="0" y="1545590"/>
                </a:lnTo>
                <a:lnTo>
                  <a:pt x="0" y="1563370"/>
                </a:lnTo>
                <a:lnTo>
                  <a:pt x="4230624" y="1563370"/>
                </a:lnTo>
                <a:lnTo>
                  <a:pt x="4230624" y="1545590"/>
                </a:lnTo>
                <a:lnTo>
                  <a:pt x="4212336" y="1545590"/>
                </a:lnTo>
                <a:lnTo>
                  <a:pt x="4212336" y="1545082"/>
                </a:lnTo>
                <a:lnTo>
                  <a:pt x="4230624" y="1545082"/>
                </a:lnTo>
                <a:lnTo>
                  <a:pt x="4230624" y="1524000"/>
                </a:lnTo>
                <a:lnTo>
                  <a:pt x="4230624" y="1523746"/>
                </a:lnTo>
                <a:lnTo>
                  <a:pt x="4230624" y="39370"/>
                </a:lnTo>
                <a:lnTo>
                  <a:pt x="4230624" y="21590"/>
                </a:lnTo>
                <a:lnTo>
                  <a:pt x="4230624" y="21082"/>
                </a:lnTo>
                <a:lnTo>
                  <a:pt x="42306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2276" y="758467"/>
            <a:ext cx="51295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2796130" y="1825751"/>
            <a:ext cx="5570629" cy="4696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1491" y="1547876"/>
            <a:ext cx="8314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6FF"/>
                </a:solidFill>
                <a:latin typeface="Arial"/>
                <a:cs typeface="Arial"/>
                <a:hlinkClick r:id="rId3"/>
              </a:rPr>
              <a:t>http://kybele.psych.cornell.edu/~edelman/Psych-465-Spring-2003/PCA-tutorial.pdf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75888" y="1972055"/>
            <a:ext cx="3667125" cy="3057525"/>
          </a:xfrm>
          <a:custGeom>
            <a:avLst/>
            <a:gdLst/>
            <a:ahLst/>
            <a:cxnLst/>
            <a:rect l="l" t="t" r="r" b="b"/>
            <a:pathLst>
              <a:path w="3667125" h="3057525">
                <a:moveTo>
                  <a:pt x="3133344" y="1603248"/>
                </a:moveTo>
                <a:lnTo>
                  <a:pt x="3130296" y="1600200"/>
                </a:lnTo>
                <a:lnTo>
                  <a:pt x="1456944" y="1600200"/>
                </a:lnTo>
                <a:lnTo>
                  <a:pt x="1456944" y="3048"/>
                </a:lnTo>
                <a:lnTo>
                  <a:pt x="1453896" y="0"/>
                </a:lnTo>
                <a:lnTo>
                  <a:pt x="1450848" y="0"/>
                </a:lnTo>
                <a:lnTo>
                  <a:pt x="1447800" y="3048"/>
                </a:lnTo>
                <a:lnTo>
                  <a:pt x="1447800" y="1600200"/>
                </a:lnTo>
                <a:lnTo>
                  <a:pt x="3048" y="1600200"/>
                </a:lnTo>
                <a:lnTo>
                  <a:pt x="0" y="1603248"/>
                </a:lnTo>
                <a:lnTo>
                  <a:pt x="0" y="1606296"/>
                </a:lnTo>
                <a:lnTo>
                  <a:pt x="3048" y="1609344"/>
                </a:lnTo>
                <a:lnTo>
                  <a:pt x="1447800" y="1609344"/>
                </a:lnTo>
                <a:lnTo>
                  <a:pt x="1447800" y="3054096"/>
                </a:lnTo>
                <a:lnTo>
                  <a:pt x="1450848" y="3057144"/>
                </a:lnTo>
                <a:lnTo>
                  <a:pt x="1453896" y="3057144"/>
                </a:lnTo>
                <a:lnTo>
                  <a:pt x="1456944" y="3054096"/>
                </a:lnTo>
                <a:lnTo>
                  <a:pt x="1456944" y="1609344"/>
                </a:lnTo>
                <a:lnTo>
                  <a:pt x="3130296" y="1609344"/>
                </a:lnTo>
                <a:lnTo>
                  <a:pt x="3133344" y="1606296"/>
                </a:lnTo>
                <a:lnTo>
                  <a:pt x="3133344" y="1603248"/>
                </a:lnTo>
                <a:close/>
              </a:path>
              <a:path w="3667125" h="3057525">
                <a:moveTo>
                  <a:pt x="3666744" y="1167384"/>
                </a:moveTo>
                <a:lnTo>
                  <a:pt x="3660648" y="1130808"/>
                </a:lnTo>
                <a:lnTo>
                  <a:pt x="1688693" y="1494307"/>
                </a:lnTo>
                <a:lnTo>
                  <a:pt x="1706880" y="1453896"/>
                </a:lnTo>
                <a:lnTo>
                  <a:pt x="1680997" y="1473504"/>
                </a:lnTo>
                <a:lnTo>
                  <a:pt x="1680997" y="1516507"/>
                </a:lnTo>
                <a:lnTo>
                  <a:pt x="1679448" y="1514856"/>
                </a:lnTo>
                <a:lnTo>
                  <a:pt x="1680222" y="1513141"/>
                </a:lnTo>
                <a:lnTo>
                  <a:pt x="1680997" y="1516507"/>
                </a:lnTo>
                <a:lnTo>
                  <a:pt x="1680997" y="1473504"/>
                </a:lnTo>
                <a:lnTo>
                  <a:pt x="1606296" y="1530096"/>
                </a:lnTo>
                <a:lnTo>
                  <a:pt x="1728216" y="1566672"/>
                </a:lnTo>
                <a:lnTo>
                  <a:pt x="1699526" y="1536192"/>
                </a:lnTo>
                <a:lnTo>
                  <a:pt x="1697443" y="1533982"/>
                </a:lnTo>
                <a:lnTo>
                  <a:pt x="3666744" y="1167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40402" y="2983484"/>
            <a:ext cx="2477770" cy="180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mean</a:t>
            </a:r>
            <a:endParaRPr sz="2400">
              <a:latin typeface="Comic Sans MS"/>
              <a:cs typeface="Comic Sans MS"/>
            </a:endParaRPr>
          </a:p>
          <a:p>
            <a:pPr marL="12700" marR="5080" indent="-635" algn="just">
              <a:lnSpc>
                <a:spcPct val="99600"/>
              </a:lnSpc>
              <a:spcBef>
                <a:spcPts val="2555"/>
              </a:spcBef>
            </a:pPr>
            <a:r>
              <a:rPr sz="2400" spc="-5" dirty="0">
                <a:latin typeface="Comic Sans MS"/>
                <a:cs typeface="Comic Sans MS"/>
              </a:rPr>
              <a:t>this becomes the  new </a:t>
            </a:r>
            <a:r>
              <a:rPr sz="2400" dirty="0">
                <a:latin typeface="Comic Sans MS"/>
                <a:cs typeface="Comic Sans MS"/>
              </a:rPr>
              <a:t>origin of </a:t>
            </a:r>
            <a:r>
              <a:rPr sz="2400" spc="-5" dirty="0">
                <a:latin typeface="Comic Sans MS"/>
                <a:cs typeface="Comic Sans MS"/>
              </a:rPr>
              <a:t>the  data from now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502" y="2486621"/>
            <a:ext cx="1174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Comic Sans MS"/>
                <a:cs typeface="Comic Sans MS"/>
              </a:rPr>
              <a:t>y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47216" y="2700527"/>
            <a:ext cx="661670" cy="12700"/>
          </a:xfrm>
          <a:custGeom>
            <a:avLst/>
            <a:gdLst/>
            <a:ahLst/>
            <a:cxnLst/>
            <a:rect l="l" t="t" r="r" b="b"/>
            <a:pathLst>
              <a:path w="661669" h="12700">
                <a:moveTo>
                  <a:pt x="661416" y="0"/>
                </a:moveTo>
                <a:lnTo>
                  <a:pt x="0" y="0"/>
                </a:lnTo>
                <a:lnTo>
                  <a:pt x="0" y="12190"/>
                </a:lnTo>
                <a:lnTo>
                  <a:pt x="661416" y="12190"/>
                </a:lnTo>
                <a:lnTo>
                  <a:pt x="6614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0091" y="2186755"/>
            <a:ext cx="1200150" cy="30918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34"/>
              </a:spcBef>
              <a:buChar char="•"/>
              <a:tabLst>
                <a:tab pos="356870" algn="l"/>
                <a:tab pos="357505" algn="l"/>
              </a:tabLst>
            </a:pPr>
            <a:r>
              <a:rPr sz="1400" spc="-5" dirty="0">
                <a:latin typeface="Comic Sans MS"/>
                <a:cs typeface="Comic Sans MS"/>
              </a:rPr>
              <a:t>DATA: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</a:tabLst>
            </a:pPr>
            <a:r>
              <a:rPr sz="1400" spc="-5" dirty="0">
                <a:latin typeface="Comic Sans MS"/>
                <a:cs typeface="Comic Sans MS"/>
              </a:rPr>
              <a:t>x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  <a:tab pos="357505" algn="l"/>
                <a:tab pos="926465" algn="l"/>
              </a:tabLst>
            </a:pPr>
            <a:r>
              <a:rPr sz="1400" spc="-10" dirty="0">
                <a:latin typeface="Comic Sans MS"/>
                <a:cs typeface="Comic Sans MS"/>
              </a:rPr>
              <a:t>2.</a:t>
            </a:r>
            <a:r>
              <a:rPr sz="1400" spc="-5" dirty="0">
                <a:latin typeface="Comic Sans MS"/>
                <a:cs typeface="Comic Sans MS"/>
              </a:rPr>
              <a:t>5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2.4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10"/>
              </a:spcBef>
              <a:buChar char="•"/>
              <a:tabLst>
                <a:tab pos="356870" algn="l"/>
                <a:tab pos="357505" algn="l"/>
                <a:tab pos="926465" algn="l"/>
              </a:tabLst>
            </a:pPr>
            <a:r>
              <a:rPr sz="1400" spc="-10" dirty="0">
                <a:latin typeface="Comic Sans MS"/>
                <a:cs typeface="Comic Sans MS"/>
              </a:rPr>
              <a:t>0.</a:t>
            </a:r>
            <a:r>
              <a:rPr sz="1400" spc="-5" dirty="0">
                <a:latin typeface="Comic Sans MS"/>
                <a:cs typeface="Comic Sans MS"/>
              </a:rPr>
              <a:t>5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0.7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  <a:tab pos="926465" algn="l"/>
              </a:tabLst>
            </a:pPr>
            <a:r>
              <a:rPr sz="1400" spc="-10" dirty="0">
                <a:latin typeface="Comic Sans MS"/>
                <a:cs typeface="Comic Sans MS"/>
              </a:rPr>
              <a:t>2.</a:t>
            </a:r>
            <a:r>
              <a:rPr sz="1400" spc="-5" dirty="0">
                <a:latin typeface="Comic Sans MS"/>
                <a:cs typeface="Comic Sans MS"/>
              </a:rPr>
              <a:t>2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2.9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  <a:tab pos="926465" algn="l"/>
              </a:tabLst>
            </a:pPr>
            <a:r>
              <a:rPr sz="1400" spc="-10" dirty="0">
                <a:latin typeface="Comic Sans MS"/>
                <a:cs typeface="Comic Sans MS"/>
              </a:rPr>
              <a:t>1.</a:t>
            </a:r>
            <a:r>
              <a:rPr sz="1400" spc="-5" dirty="0">
                <a:latin typeface="Comic Sans MS"/>
                <a:cs typeface="Comic Sans MS"/>
              </a:rPr>
              <a:t>9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2.2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10" dirty="0">
                <a:latin typeface="Comic Sans MS"/>
                <a:cs typeface="Comic Sans MS"/>
              </a:rPr>
              <a:t>3.</a:t>
            </a:r>
            <a:r>
              <a:rPr sz="1400" spc="-5" dirty="0">
                <a:latin typeface="Comic Sans MS"/>
                <a:cs typeface="Comic Sans MS"/>
              </a:rPr>
              <a:t>1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3.0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10" dirty="0">
                <a:latin typeface="Comic Sans MS"/>
                <a:cs typeface="Comic Sans MS"/>
              </a:rPr>
              <a:t>2.</a:t>
            </a:r>
            <a:r>
              <a:rPr sz="1400" spc="-5" dirty="0">
                <a:latin typeface="Comic Sans MS"/>
                <a:cs typeface="Comic Sans MS"/>
              </a:rPr>
              <a:t>3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2.7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5" dirty="0">
                <a:latin typeface="Comic Sans MS"/>
                <a:cs typeface="Comic Sans MS"/>
              </a:rPr>
              <a:t>2	</a:t>
            </a:r>
            <a:r>
              <a:rPr sz="1400" spc="-10" dirty="0">
                <a:latin typeface="Comic Sans MS"/>
                <a:cs typeface="Comic Sans MS"/>
              </a:rPr>
              <a:t>1.6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5" dirty="0">
                <a:latin typeface="Comic Sans MS"/>
                <a:cs typeface="Comic Sans MS"/>
              </a:rPr>
              <a:t>1	</a:t>
            </a:r>
            <a:r>
              <a:rPr sz="1400" spc="-10" dirty="0">
                <a:latin typeface="Comic Sans MS"/>
                <a:cs typeface="Comic Sans MS"/>
              </a:rPr>
              <a:t>1.1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10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10" dirty="0">
                <a:latin typeface="Comic Sans MS"/>
                <a:cs typeface="Comic Sans MS"/>
              </a:rPr>
              <a:t>1.5	1.6</a:t>
            </a:r>
            <a:endParaRPr sz="14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  <a:tab pos="357505" algn="l"/>
                <a:tab pos="927100" algn="l"/>
              </a:tabLst>
            </a:pPr>
            <a:r>
              <a:rPr sz="1400" spc="-10" dirty="0">
                <a:latin typeface="Comic Sans MS"/>
                <a:cs typeface="Comic Sans MS"/>
              </a:rPr>
              <a:t>1.</a:t>
            </a:r>
            <a:r>
              <a:rPr sz="1400" spc="-5" dirty="0">
                <a:latin typeface="Comic Sans MS"/>
                <a:cs typeface="Comic Sans MS"/>
              </a:rPr>
              <a:t>1</a:t>
            </a:r>
            <a:r>
              <a:rPr sz="1400" dirty="0">
                <a:latin typeface="Comic Sans MS"/>
                <a:cs typeface="Comic Sans MS"/>
              </a:rPr>
              <a:t>	</a:t>
            </a:r>
            <a:r>
              <a:rPr sz="1400" spc="-10" dirty="0">
                <a:latin typeface="Comic Sans MS"/>
                <a:cs typeface="Comic Sans MS"/>
              </a:rPr>
              <a:t>0.9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00783" y="2493264"/>
            <a:ext cx="9525" cy="2905125"/>
          </a:xfrm>
          <a:custGeom>
            <a:avLst/>
            <a:gdLst/>
            <a:ahLst/>
            <a:cxnLst/>
            <a:rect l="l" t="t" r="r" b="b"/>
            <a:pathLst>
              <a:path w="9525" h="2905125">
                <a:moveTo>
                  <a:pt x="60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2901696"/>
                </a:lnTo>
                <a:lnTo>
                  <a:pt x="3048" y="2904744"/>
                </a:lnTo>
                <a:lnTo>
                  <a:pt x="6096" y="2904744"/>
                </a:lnTo>
                <a:lnTo>
                  <a:pt x="9143" y="2901696"/>
                </a:lnTo>
                <a:lnTo>
                  <a:pt x="9143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7584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654580"/>
            <a:ext cx="56261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Calculate the covariance matrix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4524" y="2123926"/>
            <a:ext cx="8591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omic Sans MS"/>
                <a:cs typeface="Comic Sans MS"/>
              </a:rPr>
              <a:t>cov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=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7597" y="2082490"/>
            <a:ext cx="4596765" cy="9645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2428875" algn="l"/>
              </a:tabLst>
            </a:pPr>
            <a:r>
              <a:rPr sz="2800" spc="-5" dirty="0">
                <a:latin typeface="Comic Sans MS"/>
                <a:cs typeface="Comic Sans MS"/>
              </a:rPr>
              <a:t>.616555556	</a:t>
            </a:r>
            <a:r>
              <a:rPr sz="2800" spc="-10" dirty="0">
                <a:latin typeface="Comic Sans MS"/>
                <a:cs typeface="Comic Sans MS"/>
              </a:rPr>
              <a:t>.615444444</a:t>
            </a:r>
            <a:endParaRPr sz="2800">
              <a:latin typeface="Comic Sans MS"/>
              <a:cs typeface="Comic Sans MS"/>
            </a:endParaRPr>
          </a:p>
          <a:p>
            <a:pPr marL="175895">
              <a:lnSpc>
                <a:spcPct val="100000"/>
              </a:lnSpc>
              <a:spcBef>
                <a:spcPts val="334"/>
              </a:spcBef>
              <a:tabLst>
                <a:tab pos="2592705" algn="l"/>
              </a:tabLst>
            </a:pPr>
            <a:r>
              <a:rPr sz="2800" spc="-5" dirty="0">
                <a:latin typeface="Comic Sans MS"/>
                <a:cs typeface="Comic Sans MS"/>
              </a:rPr>
              <a:t>.615444444	.716555556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163" y="3535067"/>
            <a:ext cx="7192009" cy="16059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6870" marR="5080" indent="-344805">
              <a:lnSpc>
                <a:spcPts val="3020"/>
              </a:lnSpc>
              <a:spcBef>
                <a:spcPts val="490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dirty="0">
                <a:latin typeface="Comic Sans MS"/>
                <a:cs typeface="Comic Sans MS"/>
              </a:rPr>
              <a:t>since the </a:t>
            </a:r>
            <a:r>
              <a:rPr sz="2800" spc="-5" dirty="0">
                <a:latin typeface="Comic Sans MS"/>
                <a:cs typeface="Comic Sans MS"/>
              </a:rPr>
              <a:t>non-diagonal </a:t>
            </a:r>
            <a:r>
              <a:rPr sz="2800" spc="-10" dirty="0">
                <a:latin typeface="Comic Sans MS"/>
                <a:cs typeface="Comic Sans MS"/>
              </a:rPr>
              <a:t>elements </a:t>
            </a:r>
            <a:r>
              <a:rPr sz="2800" dirty="0">
                <a:latin typeface="Comic Sans MS"/>
                <a:cs typeface="Comic Sans MS"/>
              </a:rPr>
              <a:t>in </a:t>
            </a:r>
            <a:r>
              <a:rPr sz="2800" spc="-5" dirty="0">
                <a:latin typeface="Comic Sans MS"/>
                <a:cs typeface="Comic Sans MS"/>
              </a:rPr>
              <a:t>this  </a:t>
            </a:r>
            <a:r>
              <a:rPr sz="2800" dirty="0">
                <a:latin typeface="Comic Sans MS"/>
                <a:cs typeface="Comic Sans MS"/>
              </a:rPr>
              <a:t>covariance matrix are positive, we </a:t>
            </a:r>
            <a:r>
              <a:rPr sz="2800" spc="-10" dirty="0">
                <a:latin typeface="Comic Sans MS"/>
                <a:cs typeface="Comic Sans MS"/>
              </a:rPr>
              <a:t>should  </a:t>
            </a:r>
            <a:r>
              <a:rPr sz="2800" dirty="0">
                <a:latin typeface="Comic Sans MS"/>
                <a:cs typeface="Comic Sans MS"/>
              </a:rPr>
              <a:t>expect that both the x and y </a:t>
            </a:r>
            <a:r>
              <a:rPr sz="2800" spc="-10" dirty="0">
                <a:latin typeface="Comic Sans MS"/>
                <a:cs typeface="Comic Sans MS"/>
              </a:rPr>
              <a:t>variable  </a:t>
            </a:r>
            <a:r>
              <a:rPr sz="2800" spc="-5" dirty="0">
                <a:latin typeface="Comic Sans MS"/>
                <a:cs typeface="Comic Sans MS"/>
              </a:rPr>
              <a:t>increase together.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53055" y="2200655"/>
            <a:ext cx="180340" cy="1042669"/>
          </a:xfrm>
          <a:custGeom>
            <a:avLst/>
            <a:gdLst/>
            <a:ahLst/>
            <a:cxnLst/>
            <a:rect l="l" t="t" r="r" b="b"/>
            <a:pathLst>
              <a:path w="180339" h="1042669">
                <a:moveTo>
                  <a:pt x="176783" y="0"/>
                </a:moveTo>
                <a:lnTo>
                  <a:pt x="173736" y="0"/>
                </a:lnTo>
                <a:lnTo>
                  <a:pt x="140207" y="3048"/>
                </a:lnTo>
                <a:lnTo>
                  <a:pt x="51816" y="48768"/>
                </a:lnTo>
                <a:lnTo>
                  <a:pt x="12192" y="106680"/>
                </a:lnTo>
                <a:lnTo>
                  <a:pt x="0" y="173736"/>
                </a:lnTo>
                <a:lnTo>
                  <a:pt x="0" y="862584"/>
                </a:lnTo>
                <a:lnTo>
                  <a:pt x="3048" y="896112"/>
                </a:lnTo>
                <a:lnTo>
                  <a:pt x="3048" y="899160"/>
                </a:lnTo>
                <a:lnTo>
                  <a:pt x="30480" y="963168"/>
                </a:lnTo>
                <a:lnTo>
                  <a:pt x="79248" y="1011936"/>
                </a:lnTo>
                <a:lnTo>
                  <a:pt x="140207" y="1039368"/>
                </a:lnTo>
                <a:lnTo>
                  <a:pt x="173736" y="1042416"/>
                </a:lnTo>
                <a:lnTo>
                  <a:pt x="176783" y="1042416"/>
                </a:lnTo>
                <a:lnTo>
                  <a:pt x="179831" y="1039368"/>
                </a:lnTo>
                <a:lnTo>
                  <a:pt x="179831" y="1036320"/>
                </a:lnTo>
                <a:lnTo>
                  <a:pt x="176783" y="1033272"/>
                </a:lnTo>
                <a:lnTo>
                  <a:pt x="143256" y="1030224"/>
                </a:lnTo>
                <a:lnTo>
                  <a:pt x="109727" y="1018032"/>
                </a:lnTo>
                <a:lnTo>
                  <a:pt x="82295" y="1002792"/>
                </a:lnTo>
                <a:lnTo>
                  <a:pt x="62701" y="987552"/>
                </a:lnTo>
                <a:lnTo>
                  <a:pt x="54863" y="987552"/>
                </a:lnTo>
                <a:lnTo>
                  <a:pt x="54863" y="981456"/>
                </a:lnTo>
                <a:lnTo>
                  <a:pt x="55625" y="981456"/>
                </a:lnTo>
                <a:lnTo>
                  <a:pt x="39624" y="960120"/>
                </a:lnTo>
                <a:lnTo>
                  <a:pt x="21336" y="929640"/>
                </a:lnTo>
                <a:lnTo>
                  <a:pt x="13023" y="899160"/>
                </a:lnTo>
                <a:lnTo>
                  <a:pt x="9143" y="899160"/>
                </a:lnTo>
                <a:lnTo>
                  <a:pt x="11937" y="896365"/>
                </a:lnTo>
                <a:lnTo>
                  <a:pt x="9143" y="865632"/>
                </a:lnTo>
                <a:lnTo>
                  <a:pt x="9143" y="176784"/>
                </a:lnTo>
                <a:lnTo>
                  <a:pt x="12192" y="143256"/>
                </a:lnTo>
                <a:lnTo>
                  <a:pt x="21336" y="109728"/>
                </a:lnTo>
                <a:lnTo>
                  <a:pt x="55880" y="57912"/>
                </a:lnTo>
                <a:lnTo>
                  <a:pt x="54863" y="57912"/>
                </a:lnTo>
                <a:lnTo>
                  <a:pt x="54863" y="54864"/>
                </a:lnTo>
                <a:lnTo>
                  <a:pt x="59435" y="54864"/>
                </a:lnTo>
                <a:lnTo>
                  <a:pt x="109727" y="21336"/>
                </a:lnTo>
                <a:lnTo>
                  <a:pt x="143256" y="12192"/>
                </a:lnTo>
                <a:lnTo>
                  <a:pt x="176783" y="9144"/>
                </a:lnTo>
                <a:lnTo>
                  <a:pt x="179831" y="6096"/>
                </a:lnTo>
                <a:lnTo>
                  <a:pt x="179831" y="3048"/>
                </a:lnTo>
                <a:lnTo>
                  <a:pt x="176783" y="0"/>
                </a:lnTo>
                <a:close/>
              </a:path>
              <a:path w="180339" h="1042669">
                <a:moveTo>
                  <a:pt x="54863" y="981456"/>
                </a:moveTo>
                <a:lnTo>
                  <a:pt x="54863" y="987552"/>
                </a:lnTo>
                <a:lnTo>
                  <a:pt x="57912" y="984504"/>
                </a:lnTo>
                <a:lnTo>
                  <a:pt x="56692" y="982878"/>
                </a:lnTo>
                <a:lnTo>
                  <a:pt x="54863" y="981456"/>
                </a:lnTo>
                <a:close/>
              </a:path>
              <a:path w="180339" h="1042669">
                <a:moveTo>
                  <a:pt x="56692" y="982878"/>
                </a:moveTo>
                <a:lnTo>
                  <a:pt x="57912" y="984504"/>
                </a:lnTo>
                <a:lnTo>
                  <a:pt x="54863" y="987552"/>
                </a:lnTo>
                <a:lnTo>
                  <a:pt x="62701" y="987552"/>
                </a:lnTo>
                <a:lnTo>
                  <a:pt x="56692" y="982878"/>
                </a:lnTo>
                <a:close/>
              </a:path>
              <a:path w="180339" h="1042669">
                <a:moveTo>
                  <a:pt x="55625" y="981456"/>
                </a:moveTo>
                <a:lnTo>
                  <a:pt x="54863" y="981456"/>
                </a:lnTo>
                <a:lnTo>
                  <a:pt x="56692" y="982878"/>
                </a:lnTo>
                <a:lnTo>
                  <a:pt x="55625" y="981456"/>
                </a:lnTo>
                <a:close/>
              </a:path>
              <a:path w="180339" h="1042669">
                <a:moveTo>
                  <a:pt x="11937" y="896365"/>
                </a:moveTo>
                <a:lnTo>
                  <a:pt x="9143" y="899160"/>
                </a:lnTo>
                <a:lnTo>
                  <a:pt x="12192" y="899160"/>
                </a:lnTo>
                <a:lnTo>
                  <a:pt x="11937" y="896365"/>
                </a:lnTo>
                <a:close/>
              </a:path>
              <a:path w="180339" h="1042669">
                <a:moveTo>
                  <a:pt x="12192" y="896112"/>
                </a:moveTo>
                <a:lnTo>
                  <a:pt x="11937" y="896365"/>
                </a:lnTo>
                <a:lnTo>
                  <a:pt x="12192" y="899160"/>
                </a:lnTo>
                <a:lnTo>
                  <a:pt x="13023" y="899160"/>
                </a:lnTo>
                <a:lnTo>
                  <a:pt x="12192" y="896112"/>
                </a:lnTo>
                <a:close/>
              </a:path>
              <a:path w="180339" h="1042669">
                <a:moveTo>
                  <a:pt x="57912" y="54864"/>
                </a:moveTo>
                <a:lnTo>
                  <a:pt x="54863" y="54864"/>
                </a:lnTo>
                <a:lnTo>
                  <a:pt x="54863" y="57912"/>
                </a:lnTo>
                <a:lnTo>
                  <a:pt x="56692" y="56692"/>
                </a:lnTo>
                <a:lnTo>
                  <a:pt x="57912" y="54864"/>
                </a:lnTo>
                <a:close/>
              </a:path>
              <a:path w="180339" h="1042669">
                <a:moveTo>
                  <a:pt x="56692" y="56692"/>
                </a:moveTo>
                <a:lnTo>
                  <a:pt x="54863" y="57912"/>
                </a:lnTo>
                <a:lnTo>
                  <a:pt x="55880" y="57912"/>
                </a:lnTo>
                <a:lnTo>
                  <a:pt x="56692" y="56692"/>
                </a:lnTo>
                <a:close/>
              </a:path>
              <a:path w="180339" h="1042669">
                <a:moveTo>
                  <a:pt x="59435" y="54864"/>
                </a:moveTo>
                <a:lnTo>
                  <a:pt x="57912" y="54864"/>
                </a:lnTo>
                <a:lnTo>
                  <a:pt x="56692" y="56692"/>
                </a:lnTo>
                <a:lnTo>
                  <a:pt x="59435" y="54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20711" y="2200655"/>
            <a:ext cx="182880" cy="1042669"/>
          </a:xfrm>
          <a:custGeom>
            <a:avLst/>
            <a:gdLst/>
            <a:ahLst/>
            <a:cxnLst/>
            <a:rect l="l" t="t" r="r" b="b"/>
            <a:pathLst>
              <a:path w="182879" h="1042669">
                <a:moveTo>
                  <a:pt x="123342" y="982878"/>
                </a:moveTo>
                <a:lnTo>
                  <a:pt x="100584" y="1002792"/>
                </a:lnTo>
                <a:lnTo>
                  <a:pt x="70104" y="1018032"/>
                </a:lnTo>
                <a:lnTo>
                  <a:pt x="36576" y="1030224"/>
                </a:lnTo>
                <a:lnTo>
                  <a:pt x="3048" y="1033272"/>
                </a:lnTo>
                <a:lnTo>
                  <a:pt x="0" y="1036320"/>
                </a:lnTo>
                <a:lnTo>
                  <a:pt x="0" y="1039368"/>
                </a:lnTo>
                <a:lnTo>
                  <a:pt x="3048" y="1042416"/>
                </a:lnTo>
                <a:lnTo>
                  <a:pt x="6096" y="1042416"/>
                </a:lnTo>
                <a:lnTo>
                  <a:pt x="39624" y="1039368"/>
                </a:lnTo>
                <a:lnTo>
                  <a:pt x="73152" y="1027176"/>
                </a:lnTo>
                <a:lnTo>
                  <a:pt x="103632" y="1011936"/>
                </a:lnTo>
                <a:lnTo>
                  <a:pt x="128016" y="990600"/>
                </a:lnTo>
                <a:lnTo>
                  <a:pt x="131064" y="987552"/>
                </a:lnTo>
                <a:lnTo>
                  <a:pt x="128016" y="987552"/>
                </a:lnTo>
                <a:lnTo>
                  <a:pt x="121920" y="984504"/>
                </a:lnTo>
                <a:lnTo>
                  <a:pt x="123342" y="982878"/>
                </a:lnTo>
                <a:close/>
              </a:path>
              <a:path w="182879" h="1042669">
                <a:moveTo>
                  <a:pt x="124968" y="981456"/>
                </a:moveTo>
                <a:lnTo>
                  <a:pt x="123342" y="982878"/>
                </a:lnTo>
                <a:lnTo>
                  <a:pt x="121920" y="984504"/>
                </a:lnTo>
                <a:lnTo>
                  <a:pt x="128016" y="987552"/>
                </a:lnTo>
                <a:lnTo>
                  <a:pt x="124968" y="981456"/>
                </a:lnTo>
                <a:close/>
              </a:path>
              <a:path w="182879" h="1042669">
                <a:moveTo>
                  <a:pt x="136398" y="981456"/>
                </a:moveTo>
                <a:lnTo>
                  <a:pt x="124968" y="981456"/>
                </a:lnTo>
                <a:lnTo>
                  <a:pt x="128016" y="987552"/>
                </a:lnTo>
                <a:lnTo>
                  <a:pt x="131064" y="987552"/>
                </a:lnTo>
                <a:lnTo>
                  <a:pt x="136398" y="981456"/>
                </a:lnTo>
                <a:close/>
              </a:path>
              <a:path w="182879" h="1042669">
                <a:moveTo>
                  <a:pt x="179832" y="140208"/>
                </a:moveTo>
                <a:lnTo>
                  <a:pt x="173736" y="140208"/>
                </a:lnTo>
                <a:lnTo>
                  <a:pt x="170942" y="143002"/>
                </a:lnTo>
                <a:lnTo>
                  <a:pt x="173736" y="173736"/>
                </a:lnTo>
                <a:lnTo>
                  <a:pt x="173736" y="862584"/>
                </a:lnTo>
                <a:lnTo>
                  <a:pt x="170688" y="896112"/>
                </a:lnTo>
                <a:lnTo>
                  <a:pt x="158496" y="929640"/>
                </a:lnTo>
                <a:lnTo>
                  <a:pt x="143256" y="960120"/>
                </a:lnTo>
                <a:lnTo>
                  <a:pt x="123342" y="982878"/>
                </a:lnTo>
                <a:lnTo>
                  <a:pt x="124968" y="981456"/>
                </a:lnTo>
                <a:lnTo>
                  <a:pt x="136398" y="981456"/>
                </a:lnTo>
                <a:lnTo>
                  <a:pt x="152400" y="963168"/>
                </a:lnTo>
                <a:lnTo>
                  <a:pt x="167640" y="932688"/>
                </a:lnTo>
                <a:lnTo>
                  <a:pt x="179832" y="899160"/>
                </a:lnTo>
                <a:lnTo>
                  <a:pt x="182880" y="865632"/>
                </a:lnTo>
                <a:lnTo>
                  <a:pt x="182880" y="176784"/>
                </a:lnTo>
                <a:lnTo>
                  <a:pt x="179832" y="143256"/>
                </a:lnTo>
                <a:lnTo>
                  <a:pt x="179832" y="140208"/>
                </a:lnTo>
                <a:close/>
              </a:path>
              <a:path w="182879" h="1042669">
                <a:moveTo>
                  <a:pt x="123342" y="56692"/>
                </a:moveTo>
                <a:lnTo>
                  <a:pt x="143256" y="82296"/>
                </a:lnTo>
                <a:lnTo>
                  <a:pt x="158496" y="109728"/>
                </a:lnTo>
                <a:lnTo>
                  <a:pt x="170688" y="143256"/>
                </a:lnTo>
                <a:lnTo>
                  <a:pt x="170942" y="143002"/>
                </a:lnTo>
                <a:lnTo>
                  <a:pt x="170688" y="140208"/>
                </a:lnTo>
                <a:lnTo>
                  <a:pt x="179832" y="140208"/>
                </a:lnTo>
                <a:lnTo>
                  <a:pt x="167640" y="106680"/>
                </a:lnTo>
                <a:lnTo>
                  <a:pt x="152400" y="79248"/>
                </a:lnTo>
                <a:lnTo>
                  <a:pt x="135805" y="57912"/>
                </a:lnTo>
                <a:lnTo>
                  <a:pt x="124968" y="57912"/>
                </a:lnTo>
                <a:lnTo>
                  <a:pt x="123342" y="56692"/>
                </a:lnTo>
                <a:close/>
              </a:path>
              <a:path w="182879" h="1042669">
                <a:moveTo>
                  <a:pt x="173736" y="140208"/>
                </a:moveTo>
                <a:lnTo>
                  <a:pt x="170688" y="140208"/>
                </a:lnTo>
                <a:lnTo>
                  <a:pt x="170942" y="143002"/>
                </a:lnTo>
                <a:lnTo>
                  <a:pt x="173736" y="140208"/>
                </a:lnTo>
                <a:close/>
              </a:path>
              <a:path w="182879" h="1042669">
                <a:moveTo>
                  <a:pt x="128016" y="54864"/>
                </a:moveTo>
                <a:lnTo>
                  <a:pt x="121920" y="54864"/>
                </a:lnTo>
                <a:lnTo>
                  <a:pt x="123342" y="56692"/>
                </a:lnTo>
                <a:lnTo>
                  <a:pt x="124968" y="57912"/>
                </a:lnTo>
                <a:lnTo>
                  <a:pt x="128016" y="54864"/>
                </a:lnTo>
                <a:close/>
              </a:path>
              <a:path w="182879" h="1042669">
                <a:moveTo>
                  <a:pt x="133434" y="54864"/>
                </a:moveTo>
                <a:lnTo>
                  <a:pt x="128016" y="54864"/>
                </a:lnTo>
                <a:lnTo>
                  <a:pt x="124968" y="57912"/>
                </a:lnTo>
                <a:lnTo>
                  <a:pt x="135805" y="57912"/>
                </a:lnTo>
                <a:lnTo>
                  <a:pt x="133434" y="54864"/>
                </a:lnTo>
                <a:close/>
              </a:path>
              <a:path w="182879" h="1042669">
                <a:moveTo>
                  <a:pt x="60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36576" y="12192"/>
                </a:lnTo>
                <a:lnTo>
                  <a:pt x="70104" y="21336"/>
                </a:lnTo>
                <a:lnTo>
                  <a:pt x="100584" y="39624"/>
                </a:lnTo>
                <a:lnTo>
                  <a:pt x="123342" y="56692"/>
                </a:lnTo>
                <a:lnTo>
                  <a:pt x="121920" y="54864"/>
                </a:lnTo>
                <a:lnTo>
                  <a:pt x="133434" y="54864"/>
                </a:lnTo>
                <a:lnTo>
                  <a:pt x="131064" y="51816"/>
                </a:lnTo>
                <a:lnTo>
                  <a:pt x="128016" y="48768"/>
                </a:lnTo>
                <a:lnTo>
                  <a:pt x="103632" y="30480"/>
                </a:lnTo>
                <a:lnTo>
                  <a:pt x="73152" y="12192"/>
                </a:lnTo>
                <a:lnTo>
                  <a:pt x="39624" y="3048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12918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8691" y="2450108"/>
            <a:ext cx="7614920" cy="2931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18034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Calculate the </a:t>
            </a:r>
            <a:r>
              <a:rPr sz="2800" spc="-5" dirty="0">
                <a:solidFill>
                  <a:srgbClr val="0066FF"/>
                </a:solidFill>
                <a:latin typeface="Comic Sans MS"/>
                <a:cs typeface="Comic Sans MS"/>
              </a:rPr>
              <a:t>eigenvectors </a:t>
            </a: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and eigenvalues  of the covariance</a:t>
            </a:r>
            <a:r>
              <a:rPr sz="2800" spc="-5" dirty="0">
                <a:solidFill>
                  <a:srgbClr val="0066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matrix</a:t>
            </a:r>
            <a:endParaRPr sz="2800">
              <a:latin typeface="Comic Sans MS"/>
              <a:cs typeface="Comic Sans MS"/>
            </a:endParaRPr>
          </a:p>
          <a:p>
            <a:pPr marR="1237615" algn="r">
              <a:lnSpc>
                <a:spcPct val="100000"/>
              </a:lnSpc>
              <a:spcBef>
                <a:spcPts val="695"/>
              </a:spcBef>
            </a:pPr>
            <a:r>
              <a:rPr sz="2800" dirty="0">
                <a:latin typeface="Comic Sans MS"/>
                <a:cs typeface="Comic Sans MS"/>
              </a:rPr>
              <a:t>eigenvalues =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.0490833989</a:t>
            </a:r>
            <a:endParaRPr sz="2800">
              <a:latin typeface="Comic Sans MS"/>
              <a:cs typeface="Comic Sans MS"/>
            </a:endParaRPr>
          </a:p>
          <a:p>
            <a:pPr marR="1257300" algn="r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Comic Sans MS"/>
                <a:cs typeface="Comic Sans MS"/>
              </a:rPr>
              <a:t>1.28402771</a:t>
            </a:r>
            <a:endParaRPr sz="2800">
              <a:latin typeface="Comic Sans MS"/>
              <a:cs typeface="Comic Sans MS"/>
            </a:endParaRPr>
          </a:p>
          <a:p>
            <a:pPr marR="85725" algn="r">
              <a:lnSpc>
                <a:spcPct val="100000"/>
              </a:lnSpc>
              <a:spcBef>
                <a:spcPts val="670"/>
              </a:spcBef>
              <a:tabLst>
                <a:tab pos="4965700" algn="l"/>
              </a:tabLst>
            </a:pPr>
            <a:r>
              <a:rPr sz="2800" dirty="0">
                <a:latin typeface="Comic Sans MS"/>
                <a:cs typeface="Comic Sans MS"/>
              </a:rPr>
              <a:t>eigenvectors = -.73</a:t>
            </a:r>
            <a:r>
              <a:rPr sz="2800" spc="-65" dirty="0">
                <a:latin typeface="Comic Sans MS"/>
                <a:cs typeface="Comic Sans MS"/>
              </a:rPr>
              <a:t>5</a:t>
            </a:r>
            <a:r>
              <a:rPr sz="2800" spc="-5" dirty="0">
                <a:latin typeface="Comic Sans MS"/>
                <a:cs typeface="Comic Sans MS"/>
              </a:rPr>
              <a:t>17865</a:t>
            </a:r>
            <a:r>
              <a:rPr sz="2800" dirty="0">
                <a:latin typeface="Comic Sans MS"/>
                <a:cs typeface="Comic Sans MS"/>
              </a:rPr>
              <a:t>6	-.677873399</a:t>
            </a:r>
            <a:endParaRPr sz="280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670"/>
              </a:spcBef>
              <a:tabLst>
                <a:tab pos="2260600" algn="l"/>
              </a:tabLst>
            </a:pPr>
            <a:r>
              <a:rPr sz="2800" spc="-5" dirty="0">
                <a:latin typeface="Comic Sans MS"/>
                <a:cs typeface="Comic Sans MS"/>
              </a:rPr>
              <a:t>.67787339</a:t>
            </a:r>
            <a:r>
              <a:rPr sz="2800" dirty="0">
                <a:latin typeface="Comic Sans MS"/>
                <a:cs typeface="Comic Sans MS"/>
              </a:rPr>
              <a:t>9	-735178656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8655" y="3343655"/>
            <a:ext cx="198120" cy="1152525"/>
          </a:xfrm>
          <a:custGeom>
            <a:avLst/>
            <a:gdLst/>
            <a:ahLst/>
            <a:cxnLst/>
            <a:rect l="l" t="t" r="r" b="b"/>
            <a:pathLst>
              <a:path w="198120" h="1152525">
                <a:moveTo>
                  <a:pt x="195072" y="0"/>
                </a:moveTo>
                <a:lnTo>
                  <a:pt x="192024" y="0"/>
                </a:lnTo>
                <a:lnTo>
                  <a:pt x="155448" y="3048"/>
                </a:lnTo>
                <a:lnTo>
                  <a:pt x="118872" y="15240"/>
                </a:lnTo>
                <a:lnTo>
                  <a:pt x="85344" y="33528"/>
                </a:lnTo>
                <a:lnTo>
                  <a:pt x="54864" y="57912"/>
                </a:lnTo>
                <a:lnTo>
                  <a:pt x="15240" y="118872"/>
                </a:lnTo>
                <a:lnTo>
                  <a:pt x="3048" y="155448"/>
                </a:lnTo>
                <a:lnTo>
                  <a:pt x="0" y="192024"/>
                </a:lnTo>
                <a:lnTo>
                  <a:pt x="0" y="954024"/>
                </a:lnTo>
                <a:lnTo>
                  <a:pt x="3048" y="993648"/>
                </a:lnTo>
                <a:lnTo>
                  <a:pt x="3048" y="996696"/>
                </a:lnTo>
                <a:lnTo>
                  <a:pt x="15240" y="1033272"/>
                </a:lnTo>
                <a:lnTo>
                  <a:pt x="54864" y="1094232"/>
                </a:lnTo>
                <a:lnTo>
                  <a:pt x="85344" y="1118616"/>
                </a:lnTo>
                <a:lnTo>
                  <a:pt x="118872" y="1136904"/>
                </a:lnTo>
                <a:lnTo>
                  <a:pt x="155448" y="1149096"/>
                </a:lnTo>
                <a:lnTo>
                  <a:pt x="192024" y="1152144"/>
                </a:lnTo>
                <a:lnTo>
                  <a:pt x="195072" y="1152144"/>
                </a:lnTo>
                <a:lnTo>
                  <a:pt x="198120" y="1149096"/>
                </a:lnTo>
                <a:lnTo>
                  <a:pt x="198120" y="1146048"/>
                </a:lnTo>
                <a:lnTo>
                  <a:pt x="195072" y="1143000"/>
                </a:lnTo>
                <a:lnTo>
                  <a:pt x="158496" y="1139952"/>
                </a:lnTo>
                <a:lnTo>
                  <a:pt x="121920" y="1127760"/>
                </a:lnTo>
                <a:lnTo>
                  <a:pt x="88392" y="1109472"/>
                </a:lnTo>
                <a:lnTo>
                  <a:pt x="64878" y="1091184"/>
                </a:lnTo>
                <a:lnTo>
                  <a:pt x="60960" y="1091184"/>
                </a:lnTo>
                <a:lnTo>
                  <a:pt x="60960" y="1088136"/>
                </a:lnTo>
                <a:lnTo>
                  <a:pt x="61874" y="1088136"/>
                </a:lnTo>
                <a:lnTo>
                  <a:pt x="42672" y="1060704"/>
                </a:lnTo>
                <a:lnTo>
                  <a:pt x="24384" y="1030224"/>
                </a:lnTo>
                <a:lnTo>
                  <a:pt x="13208" y="996696"/>
                </a:lnTo>
                <a:lnTo>
                  <a:pt x="12192" y="996696"/>
                </a:lnTo>
                <a:lnTo>
                  <a:pt x="9144" y="993648"/>
                </a:lnTo>
                <a:lnTo>
                  <a:pt x="11957" y="993648"/>
                </a:lnTo>
                <a:lnTo>
                  <a:pt x="9144" y="957072"/>
                </a:lnTo>
                <a:lnTo>
                  <a:pt x="9144" y="195072"/>
                </a:lnTo>
                <a:lnTo>
                  <a:pt x="12192" y="158496"/>
                </a:lnTo>
                <a:lnTo>
                  <a:pt x="24384" y="121920"/>
                </a:lnTo>
                <a:lnTo>
                  <a:pt x="42672" y="88392"/>
                </a:lnTo>
                <a:lnTo>
                  <a:pt x="61637" y="64008"/>
                </a:lnTo>
                <a:lnTo>
                  <a:pt x="60960" y="64008"/>
                </a:lnTo>
                <a:lnTo>
                  <a:pt x="60960" y="60960"/>
                </a:lnTo>
                <a:lnTo>
                  <a:pt x="64878" y="60960"/>
                </a:lnTo>
                <a:lnTo>
                  <a:pt x="88392" y="42672"/>
                </a:lnTo>
                <a:lnTo>
                  <a:pt x="121920" y="24384"/>
                </a:lnTo>
                <a:lnTo>
                  <a:pt x="158496" y="12192"/>
                </a:lnTo>
                <a:lnTo>
                  <a:pt x="195072" y="9144"/>
                </a:lnTo>
                <a:lnTo>
                  <a:pt x="198120" y="6096"/>
                </a:lnTo>
                <a:lnTo>
                  <a:pt x="198120" y="3048"/>
                </a:lnTo>
                <a:lnTo>
                  <a:pt x="195072" y="0"/>
                </a:lnTo>
                <a:close/>
              </a:path>
              <a:path w="198120" h="1152525">
                <a:moveTo>
                  <a:pt x="60960" y="1088136"/>
                </a:moveTo>
                <a:lnTo>
                  <a:pt x="60960" y="1091184"/>
                </a:lnTo>
                <a:lnTo>
                  <a:pt x="64008" y="1091184"/>
                </a:lnTo>
                <a:lnTo>
                  <a:pt x="62967" y="1089697"/>
                </a:lnTo>
                <a:lnTo>
                  <a:pt x="60960" y="1088136"/>
                </a:lnTo>
                <a:close/>
              </a:path>
              <a:path w="198120" h="1152525">
                <a:moveTo>
                  <a:pt x="62967" y="1089697"/>
                </a:moveTo>
                <a:lnTo>
                  <a:pt x="64008" y="1091184"/>
                </a:lnTo>
                <a:lnTo>
                  <a:pt x="64878" y="1091184"/>
                </a:lnTo>
                <a:lnTo>
                  <a:pt x="62967" y="1089697"/>
                </a:lnTo>
                <a:close/>
              </a:path>
              <a:path w="198120" h="1152525">
                <a:moveTo>
                  <a:pt x="61874" y="1088136"/>
                </a:moveTo>
                <a:lnTo>
                  <a:pt x="60960" y="1088136"/>
                </a:lnTo>
                <a:lnTo>
                  <a:pt x="62967" y="1089697"/>
                </a:lnTo>
                <a:lnTo>
                  <a:pt x="61874" y="1088136"/>
                </a:lnTo>
                <a:close/>
              </a:path>
              <a:path w="198120" h="1152525">
                <a:moveTo>
                  <a:pt x="11957" y="993648"/>
                </a:moveTo>
                <a:lnTo>
                  <a:pt x="9144" y="993648"/>
                </a:lnTo>
                <a:lnTo>
                  <a:pt x="12192" y="996696"/>
                </a:lnTo>
                <a:lnTo>
                  <a:pt x="11957" y="993648"/>
                </a:lnTo>
                <a:close/>
              </a:path>
              <a:path w="198120" h="1152525">
                <a:moveTo>
                  <a:pt x="12192" y="993648"/>
                </a:moveTo>
                <a:lnTo>
                  <a:pt x="11957" y="993648"/>
                </a:lnTo>
                <a:lnTo>
                  <a:pt x="12192" y="996696"/>
                </a:lnTo>
                <a:lnTo>
                  <a:pt x="13208" y="996696"/>
                </a:lnTo>
                <a:lnTo>
                  <a:pt x="12192" y="993648"/>
                </a:lnTo>
                <a:close/>
              </a:path>
              <a:path w="198120" h="1152525">
                <a:moveTo>
                  <a:pt x="64008" y="60960"/>
                </a:moveTo>
                <a:lnTo>
                  <a:pt x="60960" y="60960"/>
                </a:lnTo>
                <a:lnTo>
                  <a:pt x="60960" y="64008"/>
                </a:lnTo>
                <a:lnTo>
                  <a:pt x="62674" y="62674"/>
                </a:lnTo>
                <a:lnTo>
                  <a:pt x="64008" y="60960"/>
                </a:lnTo>
                <a:close/>
              </a:path>
              <a:path w="198120" h="1152525">
                <a:moveTo>
                  <a:pt x="62674" y="62674"/>
                </a:moveTo>
                <a:lnTo>
                  <a:pt x="60960" y="64008"/>
                </a:lnTo>
                <a:lnTo>
                  <a:pt x="61637" y="64008"/>
                </a:lnTo>
                <a:lnTo>
                  <a:pt x="62674" y="62674"/>
                </a:lnTo>
                <a:close/>
              </a:path>
              <a:path w="198120" h="1152525">
                <a:moveTo>
                  <a:pt x="64878" y="60960"/>
                </a:moveTo>
                <a:lnTo>
                  <a:pt x="64008" y="60960"/>
                </a:lnTo>
                <a:lnTo>
                  <a:pt x="62674" y="62674"/>
                </a:lnTo>
                <a:lnTo>
                  <a:pt x="64878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71231" y="3343655"/>
            <a:ext cx="201295" cy="1152525"/>
          </a:xfrm>
          <a:custGeom>
            <a:avLst/>
            <a:gdLst/>
            <a:ahLst/>
            <a:cxnLst/>
            <a:rect l="l" t="t" r="r" b="b"/>
            <a:pathLst>
              <a:path w="201295" h="1152525">
                <a:moveTo>
                  <a:pt x="138415" y="1089391"/>
                </a:moveTo>
                <a:lnTo>
                  <a:pt x="109727" y="1109472"/>
                </a:lnTo>
                <a:lnTo>
                  <a:pt x="79248" y="1127760"/>
                </a:lnTo>
                <a:lnTo>
                  <a:pt x="42672" y="1139952"/>
                </a:lnTo>
                <a:lnTo>
                  <a:pt x="3048" y="1143000"/>
                </a:lnTo>
                <a:lnTo>
                  <a:pt x="0" y="1146048"/>
                </a:lnTo>
                <a:lnTo>
                  <a:pt x="0" y="1149096"/>
                </a:lnTo>
                <a:lnTo>
                  <a:pt x="3048" y="1152144"/>
                </a:lnTo>
                <a:lnTo>
                  <a:pt x="6096" y="1152144"/>
                </a:lnTo>
                <a:lnTo>
                  <a:pt x="45720" y="1149096"/>
                </a:lnTo>
                <a:lnTo>
                  <a:pt x="82296" y="1136904"/>
                </a:lnTo>
                <a:lnTo>
                  <a:pt x="143256" y="1097280"/>
                </a:lnTo>
                <a:lnTo>
                  <a:pt x="148437" y="1091184"/>
                </a:lnTo>
                <a:lnTo>
                  <a:pt x="137160" y="1091184"/>
                </a:lnTo>
                <a:lnTo>
                  <a:pt x="138415" y="1089391"/>
                </a:lnTo>
                <a:close/>
              </a:path>
              <a:path w="201295" h="1152525">
                <a:moveTo>
                  <a:pt x="140208" y="1088136"/>
                </a:moveTo>
                <a:lnTo>
                  <a:pt x="138415" y="1089391"/>
                </a:lnTo>
                <a:lnTo>
                  <a:pt x="137160" y="1091184"/>
                </a:lnTo>
                <a:lnTo>
                  <a:pt x="140208" y="1091184"/>
                </a:lnTo>
                <a:lnTo>
                  <a:pt x="140208" y="1088136"/>
                </a:lnTo>
                <a:close/>
              </a:path>
              <a:path w="201295" h="1152525">
                <a:moveTo>
                  <a:pt x="150571" y="1088136"/>
                </a:moveTo>
                <a:lnTo>
                  <a:pt x="140208" y="1088136"/>
                </a:lnTo>
                <a:lnTo>
                  <a:pt x="140208" y="1091184"/>
                </a:lnTo>
                <a:lnTo>
                  <a:pt x="148437" y="1091184"/>
                </a:lnTo>
                <a:lnTo>
                  <a:pt x="150571" y="1088136"/>
                </a:lnTo>
                <a:close/>
              </a:path>
              <a:path w="201295" h="1152525">
                <a:moveTo>
                  <a:pt x="198120" y="155448"/>
                </a:moveTo>
                <a:lnTo>
                  <a:pt x="192024" y="155448"/>
                </a:lnTo>
                <a:lnTo>
                  <a:pt x="189210" y="158261"/>
                </a:lnTo>
                <a:lnTo>
                  <a:pt x="192024" y="192024"/>
                </a:lnTo>
                <a:lnTo>
                  <a:pt x="192024" y="954024"/>
                </a:lnTo>
                <a:lnTo>
                  <a:pt x="188975" y="993648"/>
                </a:lnTo>
                <a:lnTo>
                  <a:pt x="176784" y="1030224"/>
                </a:lnTo>
                <a:lnTo>
                  <a:pt x="158496" y="1060704"/>
                </a:lnTo>
                <a:lnTo>
                  <a:pt x="138415" y="1089391"/>
                </a:lnTo>
                <a:lnTo>
                  <a:pt x="140208" y="1088136"/>
                </a:lnTo>
                <a:lnTo>
                  <a:pt x="150571" y="1088136"/>
                </a:lnTo>
                <a:lnTo>
                  <a:pt x="167640" y="1063752"/>
                </a:lnTo>
                <a:lnTo>
                  <a:pt x="185927" y="1033272"/>
                </a:lnTo>
                <a:lnTo>
                  <a:pt x="198120" y="996696"/>
                </a:lnTo>
                <a:lnTo>
                  <a:pt x="201168" y="957072"/>
                </a:lnTo>
                <a:lnTo>
                  <a:pt x="201168" y="195072"/>
                </a:lnTo>
                <a:lnTo>
                  <a:pt x="198120" y="158496"/>
                </a:lnTo>
                <a:lnTo>
                  <a:pt x="198120" y="155448"/>
                </a:lnTo>
                <a:close/>
              </a:path>
              <a:path w="201295" h="1152525">
                <a:moveTo>
                  <a:pt x="138721" y="62967"/>
                </a:moveTo>
                <a:lnTo>
                  <a:pt x="158496" y="88392"/>
                </a:lnTo>
                <a:lnTo>
                  <a:pt x="176784" y="121920"/>
                </a:lnTo>
                <a:lnTo>
                  <a:pt x="188975" y="158496"/>
                </a:lnTo>
                <a:lnTo>
                  <a:pt x="189210" y="158261"/>
                </a:lnTo>
                <a:lnTo>
                  <a:pt x="188975" y="155448"/>
                </a:lnTo>
                <a:lnTo>
                  <a:pt x="198120" y="155448"/>
                </a:lnTo>
                <a:lnTo>
                  <a:pt x="185927" y="118872"/>
                </a:lnTo>
                <a:lnTo>
                  <a:pt x="167640" y="85344"/>
                </a:lnTo>
                <a:lnTo>
                  <a:pt x="151045" y="64008"/>
                </a:lnTo>
                <a:lnTo>
                  <a:pt x="140208" y="64008"/>
                </a:lnTo>
                <a:lnTo>
                  <a:pt x="138721" y="62967"/>
                </a:lnTo>
                <a:close/>
              </a:path>
              <a:path w="201295" h="1152525">
                <a:moveTo>
                  <a:pt x="192024" y="155448"/>
                </a:moveTo>
                <a:lnTo>
                  <a:pt x="188975" y="155448"/>
                </a:lnTo>
                <a:lnTo>
                  <a:pt x="189210" y="158261"/>
                </a:lnTo>
                <a:lnTo>
                  <a:pt x="192024" y="155448"/>
                </a:lnTo>
                <a:close/>
              </a:path>
              <a:path w="201295" h="1152525">
                <a:moveTo>
                  <a:pt x="140208" y="60960"/>
                </a:moveTo>
                <a:lnTo>
                  <a:pt x="137160" y="60960"/>
                </a:lnTo>
                <a:lnTo>
                  <a:pt x="138721" y="62967"/>
                </a:lnTo>
                <a:lnTo>
                  <a:pt x="140208" y="64008"/>
                </a:lnTo>
                <a:lnTo>
                  <a:pt x="140208" y="60960"/>
                </a:lnTo>
                <a:close/>
              </a:path>
              <a:path w="201295" h="1152525">
                <a:moveTo>
                  <a:pt x="148674" y="60960"/>
                </a:moveTo>
                <a:lnTo>
                  <a:pt x="140208" y="60960"/>
                </a:lnTo>
                <a:lnTo>
                  <a:pt x="140208" y="64008"/>
                </a:lnTo>
                <a:lnTo>
                  <a:pt x="151045" y="64008"/>
                </a:lnTo>
                <a:lnTo>
                  <a:pt x="148674" y="60960"/>
                </a:lnTo>
                <a:close/>
              </a:path>
              <a:path w="201295" h="1152525">
                <a:moveTo>
                  <a:pt x="60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42672" y="12192"/>
                </a:lnTo>
                <a:lnTo>
                  <a:pt x="79248" y="24384"/>
                </a:lnTo>
                <a:lnTo>
                  <a:pt x="109727" y="42672"/>
                </a:lnTo>
                <a:lnTo>
                  <a:pt x="138721" y="62967"/>
                </a:lnTo>
                <a:lnTo>
                  <a:pt x="137160" y="60960"/>
                </a:lnTo>
                <a:lnTo>
                  <a:pt x="148674" y="60960"/>
                </a:lnTo>
                <a:lnTo>
                  <a:pt x="146303" y="57912"/>
                </a:lnTo>
                <a:lnTo>
                  <a:pt x="143256" y="54864"/>
                </a:lnTo>
                <a:lnTo>
                  <a:pt x="112775" y="33528"/>
                </a:lnTo>
                <a:lnTo>
                  <a:pt x="82296" y="15240"/>
                </a:lnTo>
                <a:lnTo>
                  <a:pt x="45720" y="3048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29455" y="4334255"/>
            <a:ext cx="213360" cy="1228725"/>
          </a:xfrm>
          <a:custGeom>
            <a:avLst/>
            <a:gdLst/>
            <a:ahLst/>
            <a:cxnLst/>
            <a:rect l="l" t="t" r="r" b="b"/>
            <a:pathLst>
              <a:path w="213360" h="1228725">
                <a:moveTo>
                  <a:pt x="210312" y="0"/>
                </a:moveTo>
                <a:lnTo>
                  <a:pt x="207264" y="0"/>
                </a:lnTo>
                <a:lnTo>
                  <a:pt x="167640" y="3048"/>
                </a:lnTo>
                <a:lnTo>
                  <a:pt x="128016" y="15240"/>
                </a:lnTo>
                <a:lnTo>
                  <a:pt x="94488" y="33528"/>
                </a:lnTo>
                <a:lnTo>
                  <a:pt x="64008" y="60960"/>
                </a:lnTo>
                <a:lnTo>
                  <a:pt x="33528" y="94488"/>
                </a:lnTo>
                <a:lnTo>
                  <a:pt x="15240" y="128016"/>
                </a:lnTo>
                <a:lnTo>
                  <a:pt x="3048" y="167640"/>
                </a:lnTo>
                <a:lnTo>
                  <a:pt x="0" y="207264"/>
                </a:lnTo>
                <a:lnTo>
                  <a:pt x="0" y="1018032"/>
                </a:lnTo>
                <a:lnTo>
                  <a:pt x="3048" y="1060704"/>
                </a:lnTo>
                <a:lnTo>
                  <a:pt x="3048" y="1063752"/>
                </a:lnTo>
                <a:lnTo>
                  <a:pt x="15240" y="1100328"/>
                </a:lnTo>
                <a:lnTo>
                  <a:pt x="33528" y="1133856"/>
                </a:lnTo>
                <a:lnTo>
                  <a:pt x="60960" y="1164336"/>
                </a:lnTo>
                <a:lnTo>
                  <a:pt x="94488" y="1194816"/>
                </a:lnTo>
                <a:lnTo>
                  <a:pt x="128016" y="1213104"/>
                </a:lnTo>
                <a:lnTo>
                  <a:pt x="167640" y="1225296"/>
                </a:lnTo>
                <a:lnTo>
                  <a:pt x="207264" y="1228344"/>
                </a:lnTo>
                <a:lnTo>
                  <a:pt x="210312" y="1228344"/>
                </a:lnTo>
                <a:lnTo>
                  <a:pt x="213360" y="1225296"/>
                </a:lnTo>
                <a:lnTo>
                  <a:pt x="213360" y="1222248"/>
                </a:lnTo>
                <a:lnTo>
                  <a:pt x="210312" y="1219200"/>
                </a:lnTo>
                <a:lnTo>
                  <a:pt x="170688" y="1216152"/>
                </a:lnTo>
                <a:lnTo>
                  <a:pt x="131064" y="1203960"/>
                </a:lnTo>
                <a:lnTo>
                  <a:pt x="97536" y="1185672"/>
                </a:lnTo>
                <a:lnTo>
                  <a:pt x="73829" y="1164336"/>
                </a:lnTo>
                <a:lnTo>
                  <a:pt x="64008" y="1164336"/>
                </a:lnTo>
                <a:lnTo>
                  <a:pt x="67056" y="1158240"/>
                </a:lnTo>
                <a:lnTo>
                  <a:pt x="67360" y="1158240"/>
                </a:lnTo>
                <a:lnTo>
                  <a:pt x="42672" y="1130808"/>
                </a:lnTo>
                <a:lnTo>
                  <a:pt x="24384" y="1097280"/>
                </a:lnTo>
                <a:lnTo>
                  <a:pt x="13208" y="1063752"/>
                </a:lnTo>
                <a:lnTo>
                  <a:pt x="12192" y="1063752"/>
                </a:lnTo>
                <a:lnTo>
                  <a:pt x="9144" y="1060704"/>
                </a:lnTo>
                <a:lnTo>
                  <a:pt x="11974" y="1060704"/>
                </a:lnTo>
                <a:lnTo>
                  <a:pt x="9144" y="1021080"/>
                </a:lnTo>
                <a:lnTo>
                  <a:pt x="9144" y="210312"/>
                </a:lnTo>
                <a:lnTo>
                  <a:pt x="12192" y="170688"/>
                </a:lnTo>
                <a:lnTo>
                  <a:pt x="24384" y="131064"/>
                </a:lnTo>
                <a:lnTo>
                  <a:pt x="42672" y="97536"/>
                </a:lnTo>
                <a:lnTo>
                  <a:pt x="67360" y="70104"/>
                </a:lnTo>
                <a:lnTo>
                  <a:pt x="67056" y="70104"/>
                </a:lnTo>
                <a:lnTo>
                  <a:pt x="64008" y="64008"/>
                </a:lnTo>
                <a:lnTo>
                  <a:pt x="73829" y="64008"/>
                </a:lnTo>
                <a:lnTo>
                  <a:pt x="97536" y="42672"/>
                </a:lnTo>
                <a:lnTo>
                  <a:pt x="131064" y="24384"/>
                </a:lnTo>
                <a:lnTo>
                  <a:pt x="170688" y="12192"/>
                </a:lnTo>
                <a:lnTo>
                  <a:pt x="210312" y="9144"/>
                </a:lnTo>
                <a:lnTo>
                  <a:pt x="213360" y="6096"/>
                </a:lnTo>
                <a:lnTo>
                  <a:pt x="213360" y="3048"/>
                </a:lnTo>
                <a:lnTo>
                  <a:pt x="210312" y="0"/>
                </a:lnTo>
                <a:close/>
              </a:path>
              <a:path w="213360" h="1228725">
                <a:moveTo>
                  <a:pt x="67056" y="1158240"/>
                </a:moveTo>
                <a:lnTo>
                  <a:pt x="64008" y="1164336"/>
                </a:lnTo>
                <a:lnTo>
                  <a:pt x="70104" y="1161288"/>
                </a:lnTo>
                <a:lnTo>
                  <a:pt x="68660" y="1159683"/>
                </a:lnTo>
                <a:lnTo>
                  <a:pt x="67056" y="1158240"/>
                </a:lnTo>
                <a:close/>
              </a:path>
              <a:path w="213360" h="1228725">
                <a:moveTo>
                  <a:pt x="68660" y="1159683"/>
                </a:moveTo>
                <a:lnTo>
                  <a:pt x="70104" y="1161288"/>
                </a:lnTo>
                <a:lnTo>
                  <a:pt x="64008" y="1164336"/>
                </a:lnTo>
                <a:lnTo>
                  <a:pt x="73829" y="1164336"/>
                </a:lnTo>
                <a:lnTo>
                  <a:pt x="68660" y="1159683"/>
                </a:lnTo>
                <a:close/>
              </a:path>
              <a:path w="213360" h="1228725">
                <a:moveTo>
                  <a:pt x="67360" y="1158240"/>
                </a:moveTo>
                <a:lnTo>
                  <a:pt x="67056" y="1158240"/>
                </a:lnTo>
                <a:lnTo>
                  <a:pt x="68660" y="1159683"/>
                </a:lnTo>
                <a:lnTo>
                  <a:pt x="67360" y="1158240"/>
                </a:lnTo>
                <a:close/>
              </a:path>
              <a:path w="213360" h="1228725">
                <a:moveTo>
                  <a:pt x="11974" y="1060704"/>
                </a:moveTo>
                <a:lnTo>
                  <a:pt x="9144" y="1060704"/>
                </a:lnTo>
                <a:lnTo>
                  <a:pt x="12192" y="1063752"/>
                </a:lnTo>
                <a:lnTo>
                  <a:pt x="11974" y="1060704"/>
                </a:lnTo>
                <a:close/>
              </a:path>
              <a:path w="213360" h="1228725">
                <a:moveTo>
                  <a:pt x="12192" y="1060704"/>
                </a:moveTo>
                <a:lnTo>
                  <a:pt x="11974" y="1060704"/>
                </a:lnTo>
                <a:lnTo>
                  <a:pt x="12192" y="1063752"/>
                </a:lnTo>
                <a:lnTo>
                  <a:pt x="13208" y="1063752"/>
                </a:lnTo>
                <a:lnTo>
                  <a:pt x="12192" y="1060704"/>
                </a:lnTo>
                <a:close/>
              </a:path>
              <a:path w="213360" h="1228725">
                <a:moveTo>
                  <a:pt x="64008" y="64008"/>
                </a:moveTo>
                <a:lnTo>
                  <a:pt x="67056" y="70104"/>
                </a:lnTo>
                <a:lnTo>
                  <a:pt x="68660" y="68660"/>
                </a:lnTo>
                <a:lnTo>
                  <a:pt x="70104" y="67056"/>
                </a:lnTo>
                <a:lnTo>
                  <a:pt x="64008" y="64008"/>
                </a:lnTo>
                <a:close/>
              </a:path>
              <a:path w="213360" h="1228725">
                <a:moveTo>
                  <a:pt x="68660" y="68660"/>
                </a:moveTo>
                <a:lnTo>
                  <a:pt x="67056" y="70104"/>
                </a:lnTo>
                <a:lnTo>
                  <a:pt x="67360" y="70104"/>
                </a:lnTo>
                <a:lnTo>
                  <a:pt x="68660" y="68660"/>
                </a:lnTo>
                <a:close/>
              </a:path>
              <a:path w="213360" h="1228725">
                <a:moveTo>
                  <a:pt x="73829" y="64008"/>
                </a:moveTo>
                <a:lnTo>
                  <a:pt x="64008" y="64008"/>
                </a:lnTo>
                <a:lnTo>
                  <a:pt x="70104" y="67056"/>
                </a:lnTo>
                <a:lnTo>
                  <a:pt x="68660" y="68660"/>
                </a:lnTo>
                <a:lnTo>
                  <a:pt x="73829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54440" y="4334255"/>
            <a:ext cx="213360" cy="1228725"/>
          </a:xfrm>
          <a:custGeom>
            <a:avLst/>
            <a:gdLst/>
            <a:ahLst/>
            <a:cxnLst/>
            <a:rect l="l" t="t" r="r" b="b"/>
            <a:pathLst>
              <a:path w="213359" h="1228725">
                <a:moveTo>
                  <a:pt x="144699" y="1159683"/>
                </a:moveTo>
                <a:lnTo>
                  <a:pt x="115824" y="1185672"/>
                </a:lnTo>
                <a:lnTo>
                  <a:pt x="82295" y="1203960"/>
                </a:lnTo>
                <a:lnTo>
                  <a:pt x="45719" y="1216152"/>
                </a:lnTo>
                <a:lnTo>
                  <a:pt x="3048" y="1219200"/>
                </a:lnTo>
                <a:lnTo>
                  <a:pt x="0" y="1222248"/>
                </a:lnTo>
                <a:lnTo>
                  <a:pt x="0" y="1225296"/>
                </a:lnTo>
                <a:lnTo>
                  <a:pt x="3048" y="1228344"/>
                </a:lnTo>
                <a:lnTo>
                  <a:pt x="6095" y="1228344"/>
                </a:lnTo>
                <a:lnTo>
                  <a:pt x="48767" y="1225296"/>
                </a:lnTo>
                <a:lnTo>
                  <a:pt x="85343" y="1213104"/>
                </a:lnTo>
                <a:lnTo>
                  <a:pt x="118871" y="1194816"/>
                </a:lnTo>
                <a:lnTo>
                  <a:pt x="149351" y="1167384"/>
                </a:lnTo>
                <a:lnTo>
                  <a:pt x="152400" y="1164336"/>
                </a:lnTo>
                <a:lnTo>
                  <a:pt x="149351" y="1164336"/>
                </a:lnTo>
                <a:lnTo>
                  <a:pt x="143255" y="1161288"/>
                </a:lnTo>
                <a:lnTo>
                  <a:pt x="144699" y="1159683"/>
                </a:lnTo>
                <a:close/>
              </a:path>
              <a:path w="213359" h="1228725">
                <a:moveTo>
                  <a:pt x="146303" y="1158240"/>
                </a:moveTo>
                <a:lnTo>
                  <a:pt x="144699" y="1159683"/>
                </a:lnTo>
                <a:lnTo>
                  <a:pt x="143255" y="1161288"/>
                </a:lnTo>
                <a:lnTo>
                  <a:pt x="149351" y="1164336"/>
                </a:lnTo>
                <a:lnTo>
                  <a:pt x="146303" y="1158240"/>
                </a:lnTo>
                <a:close/>
              </a:path>
              <a:path w="213359" h="1228725">
                <a:moveTo>
                  <a:pt x="157886" y="1158240"/>
                </a:moveTo>
                <a:lnTo>
                  <a:pt x="146303" y="1158240"/>
                </a:lnTo>
                <a:lnTo>
                  <a:pt x="149351" y="1164336"/>
                </a:lnTo>
                <a:lnTo>
                  <a:pt x="152400" y="1164336"/>
                </a:lnTo>
                <a:lnTo>
                  <a:pt x="157886" y="1158240"/>
                </a:lnTo>
                <a:close/>
              </a:path>
              <a:path w="213359" h="1228725">
                <a:moveTo>
                  <a:pt x="210311" y="167640"/>
                </a:moveTo>
                <a:lnTo>
                  <a:pt x="204215" y="167640"/>
                </a:lnTo>
                <a:lnTo>
                  <a:pt x="201385" y="170470"/>
                </a:lnTo>
                <a:lnTo>
                  <a:pt x="204215" y="207264"/>
                </a:lnTo>
                <a:lnTo>
                  <a:pt x="204215" y="1018032"/>
                </a:lnTo>
                <a:lnTo>
                  <a:pt x="201167" y="1060704"/>
                </a:lnTo>
                <a:lnTo>
                  <a:pt x="188975" y="1097280"/>
                </a:lnTo>
                <a:lnTo>
                  <a:pt x="170687" y="1130808"/>
                </a:lnTo>
                <a:lnTo>
                  <a:pt x="144699" y="1159683"/>
                </a:lnTo>
                <a:lnTo>
                  <a:pt x="146303" y="1158240"/>
                </a:lnTo>
                <a:lnTo>
                  <a:pt x="157886" y="1158240"/>
                </a:lnTo>
                <a:lnTo>
                  <a:pt x="179831" y="1133856"/>
                </a:lnTo>
                <a:lnTo>
                  <a:pt x="198119" y="1100328"/>
                </a:lnTo>
                <a:lnTo>
                  <a:pt x="210311" y="1063752"/>
                </a:lnTo>
                <a:lnTo>
                  <a:pt x="213359" y="1021080"/>
                </a:lnTo>
                <a:lnTo>
                  <a:pt x="213359" y="210312"/>
                </a:lnTo>
                <a:lnTo>
                  <a:pt x="210311" y="170688"/>
                </a:lnTo>
                <a:lnTo>
                  <a:pt x="210311" y="167640"/>
                </a:lnTo>
                <a:close/>
              </a:path>
              <a:path w="213359" h="1228725">
                <a:moveTo>
                  <a:pt x="144699" y="68660"/>
                </a:moveTo>
                <a:lnTo>
                  <a:pt x="170687" y="97536"/>
                </a:lnTo>
                <a:lnTo>
                  <a:pt x="188975" y="131064"/>
                </a:lnTo>
                <a:lnTo>
                  <a:pt x="201167" y="170688"/>
                </a:lnTo>
                <a:lnTo>
                  <a:pt x="201385" y="170470"/>
                </a:lnTo>
                <a:lnTo>
                  <a:pt x="201167" y="167640"/>
                </a:lnTo>
                <a:lnTo>
                  <a:pt x="210311" y="167640"/>
                </a:lnTo>
                <a:lnTo>
                  <a:pt x="198119" y="128016"/>
                </a:lnTo>
                <a:lnTo>
                  <a:pt x="179831" y="94488"/>
                </a:lnTo>
                <a:lnTo>
                  <a:pt x="157886" y="70104"/>
                </a:lnTo>
                <a:lnTo>
                  <a:pt x="146303" y="70104"/>
                </a:lnTo>
                <a:lnTo>
                  <a:pt x="144699" y="68660"/>
                </a:lnTo>
                <a:close/>
              </a:path>
              <a:path w="213359" h="1228725">
                <a:moveTo>
                  <a:pt x="204215" y="167640"/>
                </a:moveTo>
                <a:lnTo>
                  <a:pt x="201167" y="167640"/>
                </a:lnTo>
                <a:lnTo>
                  <a:pt x="201385" y="170470"/>
                </a:lnTo>
                <a:lnTo>
                  <a:pt x="204215" y="167640"/>
                </a:lnTo>
                <a:close/>
              </a:path>
              <a:path w="213359" h="1228725">
                <a:moveTo>
                  <a:pt x="149351" y="64008"/>
                </a:moveTo>
                <a:lnTo>
                  <a:pt x="143255" y="67056"/>
                </a:lnTo>
                <a:lnTo>
                  <a:pt x="144699" y="68660"/>
                </a:lnTo>
                <a:lnTo>
                  <a:pt x="146303" y="70104"/>
                </a:lnTo>
                <a:lnTo>
                  <a:pt x="149351" y="64008"/>
                </a:lnTo>
                <a:close/>
              </a:path>
              <a:path w="213359" h="1228725">
                <a:moveTo>
                  <a:pt x="152400" y="64008"/>
                </a:moveTo>
                <a:lnTo>
                  <a:pt x="149351" y="64008"/>
                </a:lnTo>
                <a:lnTo>
                  <a:pt x="146303" y="70104"/>
                </a:lnTo>
                <a:lnTo>
                  <a:pt x="157886" y="70104"/>
                </a:lnTo>
                <a:lnTo>
                  <a:pt x="152400" y="64008"/>
                </a:lnTo>
                <a:close/>
              </a:path>
              <a:path w="213359" h="1228725">
                <a:moveTo>
                  <a:pt x="6095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45719" y="12192"/>
                </a:lnTo>
                <a:lnTo>
                  <a:pt x="82295" y="24384"/>
                </a:lnTo>
                <a:lnTo>
                  <a:pt x="115824" y="42672"/>
                </a:lnTo>
                <a:lnTo>
                  <a:pt x="144699" y="68660"/>
                </a:lnTo>
                <a:lnTo>
                  <a:pt x="143255" y="67056"/>
                </a:lnTo>
                <a:lnTo>
                  <a:pt x="149351" y="64008"/>
                </a:lnTo>
                <a:lnTo>
                  <a:pt x="152400" y="64008"/>
                </a:lnTo>
                <a:lnTo>
                  <a:pt x="149351" y="60960"/>
                </a:lnTo>
                <a:lnTo>
                  <a:pt x="118871" y="33528"/>
                </a:lnTo>
                <a:lnTo>
                  <a:pt x="85343" y="15240"/>
                </a:lnTo>
                <a:lnTo>
                  <a:pt x="48767" y="3048"/>
                </a:lnTo>
                <a:lnTo>
                  <a:pt x="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7584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1025585" y="1901951"/>
            <a:ext cx="5865942" cy="4913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52692" y="1928876"/>
            <a:ext cx="2719705" cy="524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7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•eigenvectors are plotted  as diagonal dotted lines  on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12700" marR="501015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•Note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they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are  perpendicular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to</a:t>
            </a:r>
            <a:r>
              <a:rPr sz="1800" spc="-90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each  other.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•Note one of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eigenvectors goes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  the middle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points,  like drawing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line of best  </a:t>
            </a:r>
            <a:r>
              <a:rPr sz="1800" dirty="0">
                <a:latin typeface="Arial"/>
                <a:cs typeface="Arial"/>
              </a:rPr>
              <a:t>fit.</a:t>
            </a:r>
            <a:endParaRPr sz="1800">
              <a:latin typeface="Arial"/>
              <a:cs typeface="Arial"/>
            </a:endParaRPr>
          </a:p>
          <a:p>
            <a:pPr marL="12700" marR="179070">
              <a:lnSpc>
                <a:spcPct val="100000"/>
              </a:lnSpc>
            </a:pP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•The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second</a:t>
            </a:r>
            <a:r>
              <a:rPr sz="1800" spc="-85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eigenvector  gives us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other,</a:t>
            </a:r>
            <a:r>
              <a:rPr sz="1800" spc="-55" dirty="0">
                <a:solidFill>
                  <a:srgbClr val="0066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less</a:t>
            </a:r>
            <a:endParaRPr sz="1800">
              <a:latin typeface="Arial"/>
              <a:cs typeface="Arial"/>
            </a:endParaRPr>
          </a:p>
          <a:p>
            <a:pPr marL="12700" marR="285115">
              <a:lnSpc>
                <a:spcPct val="100000"/>
              </a:lnSpc>
              <a:spcBef>
                <a:spcPts val="25"/>
              </a:spcBef>
            </a:pP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important, pattern in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the 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data,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that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all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points 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follow the main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line, but  are off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to the side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the  main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line by </a:t>
            </a:r>
            <a:r>
              <a:rPr sz="1800" dirty="0">
                <a:solidFill>
                  <a:srgbClr val="0066FF"/>
                </a:solidFill>
                <a:latin typeface="Arial"/>
                <a:cs typeface="Arial"/>
              </a:rPr>
              <a:t>some  </a:t>
            </a:r>
            <a:r>
              <a:rPr sz="1800" spc="-5" dirty="0">
                <a:solidFill>
                  <a:srgbClr val="0066FF"/>
                </a:solidFill>
                <a:latin typeface="Arial"/>
                <a:cs typeface="Arial"/>
              </a:rPr>
              <a:t>amount.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7584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7391" y="1703354"/>
            <a:ext cx="8086090" cy="38963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9570" indent="-344805">
              <a:lnSpc>
                <a:spcPct val="100000"/>
              </a:lnSpc>
              <a:spcBef>
                <a:spcPts val="385"/>
              </a:spcBef>
              <a:buChar char="•"/>
              <a:tabLst>
                <a:tab pos="369570" algn="l"/>
                <a:tab pos="370205" algn="l"/>
              </a:tabLst>
            </a:pP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Feature</a:t>
            </a: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0066FF"/>
                </a:solidFill>
                <a:latin typeface="Comic Sans MS"/>
                <a:cs typeface="Comic Sans MS"/>
              </a:rPr>
              <a:t>Vector</a:t>
            </a:r>
            <a:endParaRPr sz="2400">
              <a:latin typeface="Comic Sans MS"/>
              <a:cs typeface="Comic Sans MS"/>
            </a:endParaRPr>
          </a:p>
          <a:p>
            <a:pPr marL="93916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Comic Sans MS"/>
                <a:cs typeface="Comic Sans MS"/>
              </a:rPr>
              <a:t>FeatureVector = </a:t>
            </a:r>
            <a:r>
              <a:rPr sz="2400" spc="-5" dirty="0">
                <a:latin typeface="Comic Sans MS"/>
                <a:cs typeface="Comic Sans MS"/>
              </a:rPr>
              <a:t>(eig</a:t>
            </a:r>
            <a:r>
              <a:rPr sz="2400" spc="-7" baseline="-20833" dirty="0">
                <a:latin typeface="Comic Sans MS"/>
                <a:cs typeface="Comic Sans MS"/>
              </a:rPr>
              <a:t>1 </a:t>
            </a:r>
            <a:r>
              <a:rPr sz="2400" dirty="0">
                <a:latin typeface="Comic Sans MS"/>
                <a:cs typeface="Comic Sans MS"/>
              </a:rPr>
              <a:t>eig</a:t>
            </a:r>
            <a:r>
              <a:rPr sz="2400" baseline="-20833" dirty="0">
                <a:latin typeface="Comic Sans MS"/>
                <a:cs typeface="Comic Sans MS"/>
              </a:rPr>
              <a:t>2 </a:t>
            </a:r>
            <a:r>
              <a:rPr sz="2400" dirty="0">
                <a:latin typeface="Comic Sans MS"/>
                <a:cs typeface="Comic Sans MS"/>
              </a:rPr>
              <a:t>eig</a:t>
            </a:r>
            <a:r>
              <a:rPr sz="2400" baseline="-20833" dirty="0">
                <a:latin typeface="Comic Sans MS"/>
                <a:cs typeface="Comic Sans MS"/>
              </a:rPr>
              <a:t>3 </a:t>
            </a:r>
            <a:r>
              <a:rPr sz="2400" dirty="0">
                <a:latin typeface="Comic Sans MS"/>
                <a:cs typeface="Comic Sans MS"/>
              </a:rPr>
              <a:t>…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eig</a:t>
            </a:r>
            <a:r>
              <a:rPr sz="2400" spc="-7" baseline="-20833" dirty="0">
                <a:latin typeface="Comic Sans MS"/>
                <a:cs typeface="Comic Sans MS"/>
              </a:rPr>
              <a:t>n</a:t>
            </a:r>
            <a:r>
              <a:rPr sz="2400" spc="-5" dirty="0">
                <a:latin typeface="Comic Sans MS"/>
                <a:cs typeface="Comic Sans MS"/>
              </a:rPr>
              <a:t>)</a:t>
            </a:r>
            <a:endParaRPr sz="2400">
              <a:latin typeface="Comic Sans MS"/>
              <a:cs typeface="Comic Sans MS"/>
            </a:endParaRPr>
          </a:p>
          <a:p>
            <a:pPr marL="369570" marR="17780">
              <a:lnSpc>
                <a:spcPts val="2590"/>
              </a:lnSpc>
              <a:spcBef>
                <a:spcPts val="590"/>
              </a:spcBef>
            </a:pPr>
            <a:r>
              <a:rPr sz="2400" dirty="0">
                <a:latin typeface="Comic Sans MS"/>
                <a:cs typeface="Comic Sans MS"/>
              </a:rPr>
              <a:t>We can either </a:t>
            </a:r>
            <a:r>
              <a:rPr sz="2400" spc="-5" dirty="0">
                <a:latin typeface="Comic Sans MS"/>
                <a:cs typeface="Comic Sans MS"/>
              </a:rPr>
              <a:t>form </a:t>
            </a: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feature </a:t>
            </a:r>
            <a:r>
              <a:rPr sz="2400" spc="-15" dirty="0">
                <a:latin typeface="Comic Sans MS"/>
                <a:cs typeface="Comic Sans MS"/>
              </a:rPr>
              <a:t>vector </a:t>
            </a:r>
            <a:r>
              <a:rPr sz="2400" spc="-5" dirty="0">
                <a:latin typeface="Comic Sans MS"/>
                <a:cs typeface="Comic Sans MS"/>
              </a:rPr>
              <a:t>with both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 </a:t>
            </a:r>
            <a:r>
              <a:rPr sz="2400" dirty="0">
                <a:latin typeface="Comic Sans MS"/>
                <a:cs typeface="Comic Sans MS"/>
              </a:rPr>
              <a:t>eigenvectors:</a:t>
            </a:r>
            <a:endParaRPr sz="2400">
              <a:latin typeface="Comic Sans MS"/>
              <a:cs typeface="Comic Sans MS"/>
            </a:endParaRPr>
          </a:p>
          <a:p>
            <a:pPr marL="1854200">
              <a:lnSpc>
                <a:spcPct val="100000"/>
              </a:lnSpc>
              <a:spcBef>
                <a:spcPts val="254"/>
              </a:spcBef>
              <a:tabLst>
                <a:tab pos="4098925" algn="l"/>
              </a:tabLst>
            </a:pPr>
            <a:r>
              <a:rPr sz="2400" dirty="0">
                <a:latin typeface="Comic Sans MS"/>
                <a:cs typeface="Comic Sans MS"/>
              </a:rPr>
              <a:t>-.677873399	-.735178656</a:t>
            </a:r>
            <a:endParaRPr sz="2400">
              <a:latin typeface="Comic Sans MS"/>
              <a:cs typeface="Comic Sans MS"/>
            </a:endParaRPr>
          </a:p>
          <a:p>
            <a:pPr marL="1854200">
              <a:lnSpc>
                <a:spcPct val="100000"/>
              </a:lnSpc>
              <a:spcBef>
                <a:spcPts val="285"/>
              </a:spcBef>
              <a:tabLst>
                <a:tab pos="4141470" algn="l"/>
              </a:tabLst>
            </a:pPr>
            <a:r>
              <a:rPr sz="2400" dirty="0">
                <a:latin typeface="Comic Sans MS"/>
                <a:cs typeface="Comic Sans MS"/>
              </a:rPr>
              <a:t>-.735178656	</a:t>
            </a:r>
            <a:r>
              <a:rPr sz="2400" spc="-5" dirty="0">
                <a:latin typeface="Comic Sans MS"/>
                <a:cs typeface="Comic Sans MS"/>
              </a:rPr>
              <a:t>.677873399</a:t>
            </a:r>
            <a:endParaRPr sz="2400">
              <a:latin typeface="Comic Sans MS"/>
              <a:cs typeface="Comic Sans MS"/>
            </a:endParaRPr>
          </a:p>
          <a:p>
            <a:pPr marL="369570" marR="349250">
              <a:lnSpc>
                <a:spcPts val="2570"/>
              </a:lnSpc>
              <a:spcBef>
                <a:spcPts val="630"/>
              </a:spcBef>
            </a:pPr>
            <a:r>
              <a:rPr sz="2400" dirty="0">
                <a:latin typeface="Comic Sans MS"/>
                <a:cs typeface="Comic Sans MS"/>
              </a:rPr>
              <a:t>or, </a:t>
            </a:r>
            <a:r>
              <a:rPr sz="2400" spc="-5" dirty="0">
                <a:latin typeface="Comic Sans MS"/>
                <a:cs typeface="Comic Sans MS"/>
              </a:rPr>
              <a:t>we </a:t>
            </a:r>
            <a:r>
              <a:rPr sz="2400" dirty="0">
                <a:latin typeface="Comic Sans MS"/>
                <a:cs typeface="Comic Sans MS"/>
              </a:rPr>
              <a:t>can choose </a:t>
            </a:r>
            <a:r>
              <a:rPr sz="2400" spc="-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leave out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smaller, </a:t>
            </a:r>
            <a:r>
              <a:rPr sz="2400" spc="-15" dirty="0">
                <a:latin typeface="Comic Sans MS"/>
                <a:cs typeface="Comic Sans MS"/>
              </a:rPr>
              <a:t>less  </a:t>
            </a:r>
            <a:r>
              <a:rPr sz="2400" dirty="0">
                <a:latin typeface="Comic Sans MS"/>
                <a:cs typeface="Comic Sans MS"/>
              </a:rPr>
              <a:t>significant component and only have a single</a:t>
            </a:r>
            <a:r>
              <a:rPr sz="2400" spc="-10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column:</a:t>
            </a:r>
            <a:endParaRPr sz="2400">
              <a:latin typeface="Comic Sans MS"/>
              <a:cs typeface="Comic Sans MS"/>
            </a:endParaRPr>
          </a:p>
          <a:p>
            <a:pPr marL="1854200">
              <a:lnSpc>
                <a:spcPct val="100000"/>
              </a:lnSpc>
              <a:spcBef>
                <a:spcPts val="254"/>
              </a:spcBef>
            </a:pPr>
            <a:r>
              <a:rPr sz="2400" dirty="0">
                <a:latin typeface="Comic Sans MS"/>
                <a:cs typeface="Comic Sans MS"/>
              </a:rPr>
              <a:t>- </a:t>
            </a:r>
            <a:r>
              <a:rPr sz="2400" spc="-5" dirty="0">
                <a:latin typeface="Comic Sans MS"/>
                <a:cs typeface="Comic Sans MS"/>
              </a:rPr>
              <a:t>.677873399</a:t>
            </a:r>
            <a:endParaRPr sz="2400">
              <a:latin typeface="Comic Sans MS"/>
              <a:cs typeface="Comic Sans MS"/>
            </a:endParaRPr>
          </a:p>
          <a:p>
            <a:pPr marL="18542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Comic Sans MS"/>
                <a:cs typeface="Comic Sans MS"/>
              </a:rPr>
              <a:t>- </a:t>
            </a:r>
            <a:r>
              <a:rPr sz="2400" spc="-5" dirty="0">
                <a:latin typeface="Comic Sans MS"/>
                <a:cs typeface="Comic Sans MS"/>
              </a:rPr>
              <a:t>.735178656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1655" y="3191255"/>
            <a:ext cx="161925" cy="923925"/>
          </a:xfrm>
          <a:custGeom>
            <a:avLst/>
            <a:gdLst/>
            <a:ahLst/>
            <a:cxnLst/>
            <a:rect l="l" t="t" r="r" b="b"/>
            <a:pathLst>
              <a:path w="161925" h="923925">
                <a:moveTo>
                  <a:pt x="158495" y="0"/>
                </a:moveTo>
                <a:lnTo>
                  <a:pt x="155448" y="0"/>
                </a:lnTo>
                <a:lnTo>
                  <a:pt x="124968" y="3048"/>
                </a:lnTo>
                <a:lnTo>
                  <a:pt x="70104" y="24384"/>
                </a:lnTo>
                <a:lnTo>
                  <a:pt x="24383" y="70104"/>
                </a:lnTo>
                <a:lnTo>
                  <a:pt x="3048" y="124968"/>
                </a:lnTo>
                <a:lnTo>
                  <a:pt x="0" y="155448"/>
                </a:lnTo>
                <a:lnTo>
                  <a:pt x="0" y="765048"/>
                </a:lnTo>
                <a:lnTo>
                  <a:pt x="3048" y="795528"/>
                </a:lnTo>
                <a:lnTo>
                  <a:pt x="3048" y="798576"/>
                </a:lnTo>
                <a:lnTo>
                  <a:pt x="24383" y="853440"/>
                </a:lnTo>
                <a:lnTo>
                  <a:pt x="70104" y="899160"/>
                </a:lnTo>
                <a:lnTo>
                  <a:pt x="124968" y="920496"/>
                </a:lnTo>
                <a:lnTo>
                  <a:pt x="155448" y="923544"/>
                </a:lnTo>
                <a:lnTo>
                  <a:pt x="158495" y="923544"/>
                </a:lnTo>
                <a:lnTo>
                  <a:pt x="161544" y="920496"/>
                </a:lnTo>
                <a:lnTo>
                  <a:pt x="161544" y="917448"/>
                </a:lnTo>
                <a:lnTo>
                  <a:pt x="158495" y="914400"/>
                </a:lnTo>
                <a:lnTo>
                  <a:pt x="128016" y="911352"/>
                </a:lnTo>
                <a:lnTo>
                  <a:pt x="97536" y="902208"/>
                </a:lnTo>
                <a:lnTo>
                  <a:pt x="73151" y="890016"/>
                </a:lnTo>
                <a:lnTo>
                  <a:pt x="55372" y="874776"/>
                </a:lnTo>
                <a:lnTo>
                  <a:pt x="48768" y="874776"/>
                </a:lnTo>
                <a:lnTo>
                  <a:pt x="51816" y="871728"/>
                </a:lnTo>
                <a:lnTo>
                  <a:pt x="52196" y="871728"/>
                </a:lnTo>
                <a:lnTo>
                  <a:pt x="33527" y="850392"/>
                </a:lnTo>
                <a:lnTo>
                  <a:pt x="21336" y="826008"/>
                </a:lnTo>
                <a:lnTo>
                  <a:pt x="13106" y="798576"/>
                </a:lnTo>
                <a:lnTo>
                  <a:pt x="9143" y="798576"/>
                </a:lnTo>
                <a:lnTo>
                  <a:pt x="11914" y="795805"/>
                </a:lnTo>
                <a:lnTo>
                  <a:pt x="9143" y="768096"/>
                </a:lnTo>
                <a:lnTo>
                  <a:pt x="9143" y="158496"/>
                </a:lnTo>
                <a:lnTo>
                  <a:pt x="12192" y="128016"/>
                </a:lnTo>
                <a:lnTo>
                  <a:pt x="21336" y="97536"/>
                </a:lnTo>
                <a:lnTo>
                  <a:pt x="33527" y="73152"/>
                </a:lnTo>
                <a:lnTo>
                  <a:pt x="51816" y="54864"/>
                </a:lnTo>
                <a:lnTo>
                  <a:pt x="48768" y="48768"/>
                </a:lnTo>
                <a:lnTo>
                  <a:pt x="57912" y="48768"/>
                </a:lnTo>
                <a:lnTo>
                  <a:pt x="73151" y="33528"/>
                </a:lnTo>
                <a:lnTo>
                  <a:pt x="97536" y="21336"/>
                </a:lnTo>
                <a:lnTo>
                  <a:pt x="128016" y="12192"/>
                </a:lnTo>
                <a:lnTo>
                  <a:pt x="158495" y="9144"/>
                </a:lnTo>
                <a:lnTo>
                  <a:pt x="161544" y="6096"/>
                </a:lnTo>
                <a:lnTo>
                  <a:pt x="161544" y="3048"/>
                </a:lnTo>
                <a:lnTo>
                  <a:pt x="158495" y="0"/>
                </a:lnTo>
                <a:close/>
              </a:path>
              <a:path w="161925" h="923925">
                <a:moveTo>
                  <a:pt x="51816" y="871728"/>
                </a:moveTo>
                <a:lnTo>
                  <a:pt x="48768" y="874776"/>
                </a:lnTo>
                <a:lnTo>
                  <a:pt x="54863" y="874776"/>
                </a:lnTo>
                <a:lnTo>
                  <a:pt x="53339" y="873034"/>
                </a:lnTo>
                <a:lnTo>
                  <a:pt x="51816" y="871728"/>
                </a:lnTo>
                <a:close/>
              </a:path>
              <a:path w="161925" h="923925">
                <a:moveTo>
                  <a:pt x="53339" y="873034"/>
                </a:moveTo>
                <a:lnTo>
                  <a:pt x="54863" y="874776"/>
                </a:lnTo>
                <a:lnTo>
                  <a:pt x="55372" y="874776"/>
                </a:lnTo>
                <a:lnTo>
                  <a:pt x="53339" y="873034"/>
                </a:lnTo>
                <a:close/>
              </a:path>
              <a:path w="161925" h="923925">
                <a:moveTo>
                  <a:pt x="52196" y="871728"/>
                </a:moveTo>
                <a:lnTo>
                  <a:pt x="51816" y="871728"/>
                </a:lnTo>
                <a:lnTo>
                  <a:pt x="53339" y="873034"/>
                </a:lnTo>
                <a:lnTo>
                  <a:pt x="52196" y="871728"/>
                </a:lnTo>
                <a:close/>
              </a:path>
              <a:path w="161925" h="923925">
                <a:moveTo>
                  <a:pt x="11914" y="795805"/>
                </a:moveTo>
                <a:lnTo>
                  <a:pt x="9143" y="798576"/>
                </a:lnTo>
                <a:lnTo>
                  <a:pt x="12192" y="798576"/>
                </a:lnTo>
                <a:lnTo>
                  <a:pt x="11914" y="795805"/>
                </a:lnTo>
                <a:close/>
              </a:path>
              <a:path w="161925" h="923925">
                <a:moveTo>
                  <a:pt x="12192" y="795528"/>
                </a:moveTo>
                <a:lnTo>
                  <a:pt x="11914" y="795805"/>
                </a:lnTo>
                <a:lnTo>
                  <a:pt x="12192" y="798576"/>
                </a:lnTo>
                <a:lnTo>
                  <a:pt x="13106" y="798576"/>
                </a:lnTo>
                <a:lnTo>
                  <a:pt x="12192" y="795528"/>
                </a:lnTo>
                <a:close/>
              </a:path>
              <a:path w="161925" h="923925">
                <a:moveTo>
                  <a:pt x="48768" y="48768"/>
                </a:moveTo>
                <a:lnTo>
                  <a:pt x="51816" y="54864"/>
                </a:lnTo>
                <a:lnTo>
                  <a:pt x="54864" y="51816"/>
                </a:lnTo>
                <a:lnTo>
                  <a:pt x="48768" y="48768"/>
                </a:lnTo>
                <a:close/>
              </a:path>
              <a:path w="161925" h="923925">
                <a:moveTo>
                  <a:pt x="57912" y="48768"/>
                </a:moveTo>
                <a:lnTo>
                  <a:pt x="48768" y="48768"/>
                </a:lnTo>
                <a:lnTo>
                  <a:pt x="54864" y="51816"/>
                </a:lnTo>
                <a:lnTo>
                  <a:pt x="57912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77456" y="3191255"/>
            <a:ext cx="161925" cy="923925"/>
          </a:xfrm>
          <a:custGeom>
            <a:avLst/>
            <a:gdLst/>
            <a:ahLst/>
            <a:cxnLst/>
            <a:rect l="l" t="t" r="r" b="b"/>
            <a:pathLst>
              <a:path w="161925" h="923925">
                <a:moveTo>
                  <a:pt x="111034" y="873034"/>
                </a:moveTo>
                <a:lnTo>
                  <a:pt x="88392" y="890016"/>
                </a:lnTo>
                <a:lnTo>
                  <a:pt x="64008" y="902208"/>
                </a:lnTo>
                <a:lnTo>
                  <a:pt x="33527" y="911352"/>
                </a:lnTo>
                <a:lnTo>
                  <a:pt x="3048" y="914400"/>
                </a:lnTo>
                <a:lnTo>
                  <a:pt x="0" y="917448"/>
                </a:lnTo>
                <a:lnTo>
                  <a:pt x="0" y="920496"/>
                </a:lnTo>
                <a:lnTo>
                  <a:pt x="3048" y="923544"/>
                </a:lnTo>
                <a:lnTo>
                  <a:pt x="6096" y="923544"/>
                </a:lnTo>
                <a:lnTo>
                  <a:pt x="36575" y="920496"/>
                </a:lnTo>
                <a:lnTo>
                  <a:pt x="91440" y="899160"/>
                </a:lnTo>
                <a:lnTo>
                  <a:pt x="121157" y="874776"/>
                </a:lnTo>
                <a:lnTo>
                  <a:pt x="109727" y="874776"/>
                </a:lnTo>
                <a:lnTo>
                  <a:pt x="111034" y="873034"/>
                </a:lnTo>
                <a:close/>
              </a:path>
              <a:path w="161925" h="923925">
                <a:moveTo>
                  <a:pt x="112775" y="871728"/>
                </a:moveTo>
                <a:lnTo>
                  <a:pt x="111034" y="873034"/>
                </a:lnTo>
                <a:lnTo>
                  <a:pt x="109727" y="874776"/>
                </a:lnTo>
                <a:lnTo>
                  <a:pt x="112775" y="874776"/>
                </a:lnTo>
                <a:lnTo>
                  <a:pt x="112775" y="871728"/>
                </a:lnTo>
                <a:close/>
              </a:path>
              <a:path w="161925" h="923925">
                <a:moveTo>
                  <a:pt x="123444" y="871728"/>
                </a:moveTo>
                <a:lnTo>
                  <a:pt x="112775" y="871728"/>
                </a:lnTo>
                <a:lnTo>
                  <a:pt x="112775" y="874776"/>
                </a:lnTo>
                <a:lnTo>
                  <a:pt x="121157" y="874776"/>
                </a:lnTo>
                <a:lnTo>
                  <a:pt x="123444" y="871728"/>
                </a:lnTo>
                <a:close/>
              </a:path>
              <a:path w="161925" h="923925">
                <a:moveTo>
                  <a:pt x="158496" y="124968"/>
                </a:moveTo>
                <a:lnTo>
                  <a:pt x="155448" y="124968"/>
                </a:lnTo>
                <a:lnTo>
                  <a:pt x="149642" y="127870"/>
                </a:lnTo>
                <a:lnTo>
                  <a:pt x="152400" y="155448"/>
                </a:lnTo>
                <a:lnTo>
                  <a:pt x="152400" y="765048"/>
                </a:lnTo>
                <a:lnTo>
                  <a:pt x="149351" y="795528"/>
                </a:lnTo>
                <a:lnTo>
                  <a:pt x="140208" y="826008"/>
                </a:lnTo>
                <a:lnTo>
                  <a:pt x="128016" y="850392"/>
                </a:lnTo>
                <a:lnTo>
                  <a:pt x="111034" y="873034"/>
                </a:lnTo>
                <a:lnTo>
                  <a:pt x="112775" y="871728"/>
                </a:lnTo>
                <a:lnTo>
                  <a:pt x="123444" y="871728"/>
                </a:lnTo>
                <a:lnTo>
                  <a:pt x="137160" y="853440"/>
                </a:lnTo>
                <a:lnTo>
                  <a:pt x="149351" y="829056"/>
                </a:lnTo>
                <a:lnTo>
                  <a:pt x="158496" y="798576"/>
                </a:lnTo>
                <a:lnTo>
                  <a:pt x="161544" y="768096"/>
                </a:lnTo>
                <a:lnTo>
                  <a:pt x="161544" y="158496"/>
                </a:lnTo>
                <a:lnTo>
                  <a:pt x="158496" y="128016"/>
                </a:lnTo>
                <a:lnTo>
                  <a:pt x="158496" y="124968"/>
                </a:lnTo>
                <a:close/>
              </a:path>
              <a:path w="161925" h="923925">
                <a:moveTo>
                  <a:pt x="111034" y="53340"/>
                </a:moveTo>
                <a:lnTo>
                  <a:pt x="128016" y="73152"/>
                </a:lnTo>
                <a:lnTo>
                  <a:pt x="140208" y="97536"/>
                </a:lnTo>
                <a:lnTo>
                  <a:pt x="149351" y="128016"/>
                </a:lnTo>
                <a:lnTo>
                  <a:pt x="149642" y="127870"/>
                </a:lnTo>
                <a:lnTo>
                  <a:pt x="149351" y="124968"/>
                </a:lnTo>
                <a:lnTo>
                  <a:pt x="158496" y="124968"/>
                </a:lnTo>
                <a:lnTo>
                  <a:pt x="149351" y="94488"/>
                </a:lnTo>
                <a:lnTo>
                  <a:pt x="137160" y="70104"/>
                </a:lnTo>
                <a:lnTo>
                  <a:pt x="124097" y="54864"/>
                </a:lnTo>
                <a:lnTo>
                  <a:pt x="112775" y="54864"/>
                </a:lnTo>
                <a:lnTo>
                  <a:pt x="111034" y="53340"/>
                </a:lnTo>
                <a:close/>
              </a:path>
              <a:path w="161925" h="923925">
                <a:moveTo>
                  <a:pt x="155448" y="124968"/>
                </a:moveTo>
                <a:lnTo>
                  <a:pt x="149351" y="124968"/>
                </a:lnTo>
                <a:lnTo>
                  <a:pt x="149642" y="127870"/>
                </a:lnTo>
                <a:lnTo>
                  <a:pt x="155448" y="124968"/>
                </a:lnTo>
                <a:close/>
              </a:path>
              <a:path w="161925" h="923925">
                <a:moveTo>
                  <a:pt x="112775" y="48768"/>
                </a:moveTo>
                <a:lnTo>
                  <a:pt x="109727" y="51816"/>
                </a:lnTo>
                <a:lnTo>
                  <a:pt x="111034" y="53340"/>
                </a:lnTo>
                <a:lnTo>
                  <a:pt x="112775" y="54864"/>
                </a:lnTo>
                <a:lnTo>
                  <a:pt x="112775" y="48768"/>
                </a:lnTo>
                <a:close/>
              </a:path>
              <a:path w="161925" h="923925">
                <a:moveTo>
                  <a:pt x="118872" y="48768"/>
                </a:moveTo>
                <a:lnTo>
                  <a:pt x="112775" y="48768"/>
                </a:lnTo>
                <a:lnTo>
                  <a:pt x="112775" y="54864"/>
                </a:lnTo>
                <a:lnTo>
                  <a:pt x="124097" y="54864"/>
                </a:lnTo>
                <a:lnTo>
                  <a:pt x="118872" y="48768"/>
                </a:lnTo>
                <a:close/>
              </a:path>
              <a:path w="161925" h="923925">
                <a:moveTo>
                  <a:pt x="60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33527" y="12192"/>
                </a:lnTo>
                <a:lnTo>
                  <a:pt x="64008" y="21336"/>
                </a:lnTo>
                <a:lnTo>
                  <a:pt x="88392" y="33528"/>
                </a:lnTo>
                <a:lnTo>
                  <a:pt x="111034" y="53340"/>
                </a:lnTo>
                <a:lnTo>
                  <a:pt x="109727" y="51816"/>
                </a:lnTo>
                <a:lnTo>
                  <a:pt x="112775" y="48768"/>
                </a:lnTo>
                <a:lnTo>
                  <a:pt x="118872" y="48768"/>
                </a:lnTo>
                <a:lnTo>
                  <a:pt x="115824" y="45720"/>
                </a:lnTo>
                <a:lnTo>
                  <a:pt x="91440" y="24384"/>
                </a:lnTo>
                <a:lnTo>
                  <a:pt x="67055" y="12192"/>
                </a:lnTo>
                <a:lnTo>
                  <a:pt x="36575" y="3048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57855" y="4715255"/>
            <a:ext cx="173990" cy="1000125"/>
          </a:xfrm>
          <a:custGeom>
            <a:avLst/>
            <a:gdLst/>
            <a:ahLst/>
            <a:cxnLst/>
            <a:rect l="l" t="t" r="r" b="b"/>
            <a:pathLst>
              <a:path w="173989" h="1000125">
                <a:moveTo>
                  <a:pt x="170687" y="0"/>
                </a:moveTo>
                <a:lnTo>
                  <a:pt x="167639" y="0"/>
                </a:lnTo>
                <a:lnTo>
                  <a:pt x="134112" y="3048"/>
                </a:lnTo>
                <a:lnTo>
                  <a:pt x="76200" y="27432"/>
                </a:lnTo>
                <a:lnTo>
                  <a:pt x="27431" y="76200"/>
                </a:lnTo>
                <a:lnTo>
                  <a:pt x="3048" y="134112"/>
                </a:lnTo>
                <a:lnTo>
                  <a:pt x="0" y="167640"/>
                </a:lnTo>
                <a:lnTo>
                  <a:pt x="0" y="829056"/>
                </a:lnTo>
                <a:lnTo>
                  <a:pt x="3048" y="862584"/>
                </a:lnTo>
                <a:lnTo>
                  <a:pt x="3048" y="865632"/>
                </a:lnTo>
                <a:lnTo>
                  <a:pt x="27431" y="923544"/>
                </a:lnTo>
                <a:lnTo>
                  <a:pt x="76200" y="972312"/>
                </a:lnTo>
                <a:lnTo>
                  <a:pt x="134112" y="996696"/>
                </a:lnTo>
                <a:lnTo>
                  <a:pt x="167639" y="999744"/>
                </a:lnTo>
                <a:lnTo>
                  <a:pt x="170687" y="999744"/>
                </a:lnTo>
                <a:lnTo>
                  <a:pt x="173736" y="996696"/>
                </a:lnTo>
                <a:lnTo>
                  <a:pt x="173736" y="993648"/>
                </a:lnTo>
                <a:lnTo>
                  <a:pt x="170687" y="990600"/>
                </a:lnTo>
                <a:lnTo>
                  <a:pt x="137160" y="987552"/>
                </a:lnTo>
                <a:lnTo>
                  <a:pt x="106680" y="978408"/>
                </a:lnTo>
                <a:lnTo>
                  <a:pt x="79248" y="963168"/>
                </a:lnTo>
                <a:lnTo>
                  <a:pt x="61830" y="947928"/>
                </a:lnTo>
                <a:lnTo>
                  <a:pt x="51816" y="947928"/>
                </a:lnTo>
                <a:lnTo>
                  <a:pt x="54863" y="941832"/>
                </a:lnTo>
                <a:lnTo>
                  <a:pt x="55245" y="941832"/>
                </a:lnTo>
                <a:lnTo>
                  <a:pt x="36575" y="920496"/>
                </a:lnTo>
                <a:lnTo>
                  <a:pt x="21336" y="893064"/>
                </a:lnTo>
                <a:lnTo>
                  <a:pt x="13106" y="865632"/>
                </a:lnTo>
                <a:lnTo>
                  <a:pt x="12192" y="865632"/>
                </a:lnTo>
                <a:lnTo>
                  <a:pt x="9143" y="862584"/>
                </a:lnTo>
                <a:lnTo>
                  <a:pt x="11914" y="862584"/>
                </a:lnTo>
                <a:lnTo>
                  <a:pt x="9143" y="832104"/>
                </a:lnTo>
                <a:lnTo>
                  <a:pt x="9143" y="170688"/>
                </a:lnTo>
                <a:lnTo>
                  <a:pt x="12192" y="137160"/>
                </a:lnTo>
                <a:lnTo>
                  <a:pt x="21336" y="106680"/>
                </a:lnTo>
                <a:lnTo>
                  <a:pt x="36575" y="79248"/>
                </a:lnTo>
                <a:lnTo>
                  <a:pt x="55245" y="57912"/>
                </a:lnTo>
                <a:lnTo>
                  <a:pt x="54863" y="57912"/>
                </a:lnTo>
                <a:lnTo>
                  <a:pt x="51816" y="51816"/>
                </a:lnTo>
                <a:lnTo>
                  <a:pt x="61830" y="51816"/>
                </a:lnTo>
                <a:lnTo>
                  <a:pt x="79248" y="36576"/>
                </a:lnTo>
                <a:lnTo>
                  <a:pt x="106680" y="21336"/>
                </a:lnTo>
                <a:lnTo>
                  <a:pt x="137160" y="12192"/>
                </a:lnTo>
                <a:lnTo>
                  <a:pt x="170687" y="9144"/>
                </a:lnTo>
                <a:lnTo>
                  <a:pt x="173736" y="6096"/>
                </a:lnTo>
                <a:lnTo>
                  <a:pt x="173736" y="3048"/>
                </a:lnTo>
                <a:lnTo>
                  <a:pt x="170687" y="0"/>
                </a:lnTo>
                <a:close/>
              </a:path>
              <a:path w="173989" h="1000125">
                <a:moveTo>
                  <a:pt x="54863" y="941832"/>
                </a:moveTo>
                <a:lnTo>
                  <a:pt x="51816" y="947928"/>
                </a:lnTo>
                <a:lnTo>
                  <a:pt x="57912" y="944880"/>
                </a:lnTo>
                <a:lnTo>
                  <a:pt x="56489" y="943254"/>
                </a:lnTo>
                <a:lnTo>
                  <a:pt x="54863" y="941832"/>
                </a:lnTo>
                <a:close/>
              </a:path>
              <a:path w="173989" h="1000125">
                <a:moveTo>
                  <a:pt x="56489" y="943254"/>
                </a:moveTo>
                <a:lnTo>
                  <a:pt x="57912" y="944880"/>
                </a:lnTo>
                <a:lnTo>
                  <a:pt x="51816" y="947928"/>
                </a:lnTo>
                <a:lnTo>
                  <a:pt x="61830" y="947928"/>
                </a:lnTo>
                <a:lnTo>
                  <a:pt x="56489" y="943254"/>
                </a:lnTo>
                <a:close/>
              </a:path>
              <a:path w="173989" h="1000125">
                <a:moveTo>
                  <a:pt x="55245" y="941832"/>
                </a:moveTo>
                <a:lnTo>
                  <a:pt x="54863" y="941832"/>
                </a:lnTo>
                <a:lnTo>
                  <a:pt x="56489" y="943254"/>
                </a:lnTo>
                <a:lnTo>
                  <a:pt x="55245" y="941832"/>
                </a:lnTo>
                <a:close/>
              </a:path>
              <a:path w="173989" h="1000125">
                <a:moveTo>
                  <a:pt x="11914" y="862584"/>
                </a:moveTo>
                <a:lnTo>
                  <a:pt x="9143" y="862584"/>
                </a:lnTo>
                <a:lnTo>
                  <a:pt x="12192" y="865632"/>
                </a:lnTo>
                <a:lnTo>
                  <a:pt x="11914" y="862584"/>
                </a:lnTo>
                <a:close/>
              </a:path>
              <a:path w="173989" h="1000125">
                <a:moveTo>
                  <a:pt x="12192" y="862584"/>
                </a:moveTo>
                <a:lnTo>
                  <a:pt x="11914" y="862584"/>
                </a:lnTo>
                <a:lnTo>
                  <a:pt x="12192" y="865632"/>
                </a:lnTo>
                <a:lnTo>
                  <a:pt x="13106" y="865632"/>
                </a:lnTo>
                <a:lnTo>
                  <a:pt x="12192" y="862584"/>
                </a:lnTo>
                <a:close/>
              </a:path>
              <a:path w="173989" h="1000125">
                <a:moveTo>
                  <a:pt x="51816" y="51816"/>
                </a:moveTo>
                <a:lnTo>
                  <a:pt x="54863" y="57912"/>
                </a:lnTo>
                <a:lnTo>
                  <a:pt x="56489" y="56489"/>
                </a:lnTo>
                <a:lnTo>
                  <a:pt x="57912" y="54864"/>
                </a:lnTo>
                <a:lnTo>
                  <a:pt x="51816" y="51816"/>
                </a:lnTo>
                <a:close/>
              </a:path>
              <a:path w="173989" h="1000125">
                <a:moveTo>
                  <a:pt x="56489" y="56489"/>
                </a:moveTo>
                <a:lnTo>
                  <a:pt x="54863" y="57912"/>
                </a:lnTo>
                <a:lnTo>
                  <a:pt x="55245" y="57912"/>
                </a:lnTo>
                <a:lnTo>
                  <a:pt x="56489" y="56489"/>
                </a:lnTo>
                <a:close/>
              </a:path>
              <a:path w="173989" h="1000125">
                <a:moveTo>
                  <a:pt x="61830" y="51816"/>
                </a:moveTo>
                <a:lnTo>
                  <a:pt x="51816" y="51816"/>
                </a:lnTo>
                <a:lnTo>
                  <a:pt x="57912" y="54864"/>
                </a:lnTo>
                <a:lnTo>
                  <a:pt x="56489" y="56489"/>
                </a:lnTo>
                <a:lnTo>
                  <a:pt x="61830" y="518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31664" y="4715255"/>
            <a:ext cx="173990" cy="1000125"/>
          </a:xfrm>
          <a:custGeom>
            <a:avLst/>
            <a:gdLst/>
            <a:ahLst/>
            <a:cxnLst/>
            <a:rect l="l" t="t" r="r" b="b"/>
            <a:pathLst>
              <a:path w="173989" h="1000125">
                <a:moveTo>
                  <a:pt x="117246" y="943254"/>
                </a:moveTo>
                <a:lnTo>
                  <a:pt x="94487" y="963168"/>
                </a:lnTo>
                <a:lnTo>
                  <a:pt x="67056" y="978408"/>
                </a:lnTo>
                <a:lnTo>
                  <a:pt x="36575" y="987552"/>
                </a:lnTo>
                <a:lnTo>
                  <a:pt x="3048" y="990600"/>
                </a:lnTo>
                <a:lnTo>
                  <a:pt x="0" y="993648"/>
                </a:lnTo>
                <a:lnTo>
                  <a:pt x="0" y="996696"/>
                </a:lnTo>
                <a:lnTo>
                  <a:pt x="3048" y="999744"/>
                </a:lnTo>
                <a:lnTo>
                  <a:pt x="6096" y="999744"/>
                </a:lnTo>
                <a:lnTo>
                  <a:pt x="39624" y="996696"/>
                </a:lnTo>
                <a:lnTo>
                  <a:pt x="70103" y="987552"/>
                </a:lnTo>
                <a:lnTo>
                  <a:pt x="97536" y="972312"/>
                </a:lnTo>
                <a:lnTo>
                  <a:pt x="121920" y="950976"/>
                </a:lnTo>
                <a:lnTo>
                  <a:pt x="124968" y="947928"/>
                </a:lnTo>
                <a:lnTo>
                  <a:pt x="121920" y="947928"/>
                </a:lnTo>
                <a:lnTo>
                  <a:pt x="115824" y="944880"/>
                </a:lnTo>
                <a:lnTo>
                  <a:pt x="117246" y="943254"/>
                </a:lnTo>
                <a:close/>
              </a:path>
              <a:path w="173989" h="1000125">
                <a:moveTo>
                  <a:pt x="118872" y="941832"/>
                </a:moveTo>
                <a:lnTo>
                  <a:pt x="117246" y="943254"/>
                </a:lnTo>
                <a:lnTo>
                  <a:pt x="115824" y="944880"/>
                </a:lnTo>
                <a:lnTo>
                  <a:pt x="121920" y="947928"/>
                </a:lnTo>
                <a:lnTo>
                  <a:pt x="118872" y="941832"/>
                </a:lnTo>
                <a:close/>
              </a:path>
              <a:path w="173989" h="1000125">
                <a:moveTo>
                  <a:pt x="130301" y="941832"/>
                </a:moveTo>
                <a:lnTo>
                  <a:pt x="118872" y="941832"/>
                </a:lnTo>
                <a:lnTo>
                  <a:pt x="121920" y="947928"/>
                </a:lnTo>
                <a:lnTo>
                  <a:pt x="124968" y="947928"/>
                </a:lnTo>
                <a:lnTo>
                  <a:pt x="130301" y="941832"/>
                </a:lnTo>
                <a:close/>
              </a:path>
              <a:path w="173989" h="1000125">
                <a:moveTo>
                  <a:pt x="161544" y="134112"/>
                </a:moveTo>
                <a:lnTo>
                  <a:pt x="164591" y="167640"/>
                </a:lnTo>
                <a:lnTo>
                  <a:pt x="164591" y="829056"/>
                </a:lnTo>
                <a:lnTo>
                  <a:pt x="161544" y="862584"/>
                </a:lnTo>
                <a:lnTo>
                  <a:pt x="152400" y="893064"/>
                </a:lnTo>
                <a:lnTo>
                  <a:pt x="137160" y="920496"/>
                </a:lnTo>
                <a:lnTo>
                  <a:pt x="117246" y="943254"/>
                </a:lnTo>
                <a:lnTo>
                  <a:pt x="118872" y="941832"/>
                </a:lnTo>
                <a:lnTo>
                  <a:pt x="130301" y="941832"/>
                </a:lnTo>
                <a:lnTo>
                  <a:pt x="146303" y="923544"/>
                </a:lnTo>
                <a:lnTo>
                  <a:pt x="161544" y="896112"/>
                </a:lnTo>
                <a:lnTo>
                  <a:pt x="170687" y="865632"/>
                </a:lnTo>
                <a:lnTo>
                  <a:pt x="173736" y="832104"/>
                </a:lnTo>
                <a:lnTo>
                  <a:pt x="173736" y="170688"/>
                </a:lnTo>
                <a:lnTo>
                  <a:pt x="170687" y="137160"/>
                </a:lnTo>
                <a:lnTo>
                  <a:pt x="164591" y="137160"/>
                </a:lnTo>
                <a:lnTo>
                  <a:pt x="161544" y="134112"/>
                </a:lnTo>
                <a:close/>
              </a:path>
              <a:path w="173989" h="1000125">
                <a:moveTo>
                  <a:pt x="117246" y="56489"/>
                </a:moveTo>
                <a:lnTo>
                  <a:pt x="137160" y="79248"/>
                </a:lnTo>
                <a:lnTo>
                  <a:pt x="152400" y="106680"/>
                </a:lnTo>
                <a:lnTo>
                  <a:pt x="161544" y="137160"/>
                </a:lnTo>
                <a:lnTo>
                  <a:pt x="161821" y="137160"/>
                </a:lnTo>
                <a:lnTo>
                  <a:pt x="161544" y="134112"/>
                </a:lnTo>
                <a:lnTo>
                  <a:pt x="170687" y="134112"/>
                </a:lnTo>
                <a:lnTo>
                  <a:pt x="161544" y="103632"/>
                </a:lnTo>
                <a:lnTo>
                  <a:pt x="146303" y="76200"/>
                </a:lnTo>
                <a:lnTo>
                  <a:pt x="130301" y="57912"/>
                </a:lnTo>
                <a:lnTo>
                  <a:pt x="118872" y="57912"/>
                </a:lnTo>
                <a:lnTo>
                  <a:pt x="117246" y="56489"/>
                </a:lnTo>
                <a:close/>
              </a:path>
              <a:path w="173989" h="1000125">
                <a:moveTo>
                  <a:pt x="170687" y="134112"/>
                </a:moveTo>
                <a:lnTo>
                  <a:pt x="161544" y="134112"/>
                </a:lnTo>
                <a:lnTo>
                  <a:pt x="164591" y="137160"/>
                </a:lnTo>
                <a:lnTo>
                  <a:pt x="170687" y="137160"/>
                </a:lnTo>
                <a:lnTo>
                  <a:pt x="170687" y="134112"/>
                </a:lnTo>
                <a:close/>
              </a:path>
              <a:path w="173989" h="1000125">
                <a:moveTo>
                  <a:pt x="121920" y="51816"/>
                </a:moveTo>
                <a:lnTo>
                  <a:pt x="115824" y="54864"/>
                </a:lnTo>
                <a:lnTo>
                  <a:pt x="117246" y="56489"/>
                </a:lnTo>
                <a:lnTo>
                  <a:pt x="118872" y="57912"/>
                </a:lnTo>
                <a:lnTo>
                  <a:pt x="121920" y="51816"/>
                </a:lnTo>
                <a:close/>
              </a:path>
              <a:path w="173989" h="1000125">
                <a:moveTo>
                  <a:pt x="124968" y="51816"/>
                </a:moveTo>
                <a:lnTo>
                  <a:pt x="121920" y="51816"/>
                </a:lnTo>
                <a:lnTo>
                  <a:pt x="118872" y="57912"/>
                </a:lnTo>
                <a:lnTo>
                  <a:pt x="130301" y="57912"/>
                </a:lnTo>
                <a:lnTo>
                  <a:pt x="124968" y="51816"/>
                </a:lnTo>
                <a:close/>
              </a:path>
              <a:path w="173989" h="1000125">
                <a:moveTo>
                  <a:pt x="6096" y="0"/>
                </a:moveTo>
                <a:lnTo>
                  <a:pt x="3048" y="0"/>
                </a:lnTo>
                <a:lnTo>
                  <a:pt x="0" y="3048"/>
                </a:lnTo>
                <a:lnTo>
                  <a:pt x="0" y="6096"/>
                </a:lnTo>
                <a:lnTo>
                  <a:pt x="3048" y="9144"/>
                </a:lnTo>
                <a:lnTo>
                  <a:pt x="36575" y="12192"/>
                </a:lnTo>
                <a:lnTo>
                  <a:pt x="67056" y="21336"/>
                </a:lnTo>
                <a:lnTo>
                  <a:pt x="94487" y="36576"/>
                </a:lnTo>
                <a:lnTo>
                  <a:pt x="117246" y="56489"/>
                </a:lnTo>
                <a:lnTo>
                  <a:pt x="115824" y="54864"/>
                </a:lnTo>
                <a:lnTo>
                  <a:pt x="121920" y="51816"/>
                </a:lnTo>
                <a:lnTo>
                  <a:pt x="124968" y="51816"/>
                </a:lnTo>
                <a:lnTo>
                  <a:pt x="121920" y="48768"/>
                </a:lnTo>
                <a:lnTo>
                  <a:pt x="97536" y="27432"/>
                </a:lnTo>
                <a:lnTo>
                  <a:pt x="70103" y="12192"/>
                </a:lnTo>
                <a:lnTo>
                  <a:pt x="39624" y="3048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7584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02479" y="6467855"/>
            <a:ext cx="1213485" cy="36830"/>
            <a:chOff x="4602479" y="6467855"/>
            <a:chExt cx="1213485" cy="36830"/>
          </a:xfrm>
        </p:grpSpPr>
        <p:sp>
          <p:nvSpPr>
            <p:cNvPr id="4" name="object 4"/>
            <p:cNvSpPr/>
            <p:nvPr/>
          </p:nvSpPr>
          <p:spPr>
            <a:xfrm>
              <a:off x="4614671" y="6480047"/>
              <a:ext cx="1201420" cy="24765"/>
            </a:xfrm>
            <a:custGeom>
              <a:avLst/>
              <a:gdLst/>
              <a:ahLst/>
              <a:cxnLst/>
              <a:rect l="l" t="t" r="r" b="b"/>
              <a:pathLst>
                <a:path w="1201420" h="24765">
                  <a:moveTo>
                    <a:pt x="1200912" y="0"/>
                  </a:moveTo>
                  <a:lnTo>
                    <a:pt x="0" y="0"/>
                  </a:lnTo>
                  <a:lnTo>
                    <a:pt x="0" y="24382"/>
                  </a:lnTo>
                  <a:lnTo>
                    <a:pt x="1200912" y="24382"/>
                  </a:lnTo>
                  <a:lnTo>
                    <a:pt x="1200912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79" y="6467855"/>
              <a:ext cx="1201420" cy="24765"/>
            </a:xfrm>
            <a:custGeom>
              <a:avLst/>
              <a:gdLst/>
              <a:ahLst/>
              <a:cxnLst/>
              <a:rect l="l" t="t" r="r" b="b"/>
              <a:pathLst>
                <a:path w="1201420" h="24764">
                  <a:moveTo>
                    <a:pt x="1200912" y="0"/>
                  </a:moveTo>
                  <a:lnTo>
                    <a:pt x="0" y="0"/>
                  </a:lnTo>
                  <a:lnTo>
                    <a:pt x="0" y="24382"/>
                  </a:lnTo>
                  <a:lnTo>
                    <a:pt x="1200912" y="24382"/>
                  </a:lnTo>
                  <a:lnTo>
                    <a:pt x="1200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0091" y="1602523"/>
            <a:ext cx="7754620" cy="526542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1714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Deriving new data</a:t>
            </a:r>
            <a:r>
              <a:rPr sz="2800" spc="-5" dirty="0">
                <a:solidFill>
                  <a:srgbClr val="0066FF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0066FF"/>
                </a:solidFill>
                <a:latin typeface="Comic Sans MS"/>
                <a:cs typeface="Comic Sans MS"/>
              </a:rPr>
              <a:t>coordinates</a:t>
            </a:r>
            <a:endParaRPr sz="2800">
              <a:latin typeface="Comic Sans MS"/>
              <a:cs typeface="Comic Sans MS"/>
            </a:endParaRPr>
          </a:p>
          <a:p>
            <a:pPr marL="356870">
              <a:lnSpc>
                <a:spcPct val="100000"/>
              </a:lnSpc>
              <a:spcBef>
                <a:spcPts val="1135"/>
              </a:spcBef>
            </a:pPr>
            <a:r>
              <a:rPr sz="2000" b="1" spc="-5" dirty="0">
                <a:latin typeface="Comic Sans MS"/>
                <a:cs typeface="Comic Sans MS"/>
              </a:rPr>
              <a:t>FinalData = </a:t>
            </a:r>
            <a:r>
              <a:rPr sz="2000" b="1" spc="-10" dirty="0">
                <a:latin typeface="Comic Sans MS"/>
                <a:cs typeface="Comic Sans MS"/>
              </a:rPr>
              <a:t>RowFeatureVector </a:t>
            </a:r>
            <a:r>
              <a:rPr sz="2000" b="1" spc="-5" dirty="0">
                <a:latin typeface="Comic Sans MS"/>
                <a:cs typeface="Comic Sans MS"/>
              </a:rPr>
              <a:t>x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RowZeroMeanData</a:t>
            </a:r>
            <a:endParaRPr sz="2000">
              <a:latin typeface="Comic Sans MS"/>
              <a:cs typeface="Comic Sans MS"/>
            </a:endParaRPr>
          </a:p>
          <a:p>
            <a:pPr marL="356870" marR="123825" indent="-635">
              <a:lnSpc>
                <a:spcPts val="2590"/>
              </a:lnSpc>
              <a:spcBef>
                <a:spcPts val="795"/>
              </a:spcBef>
            </a:pP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RowFeatureVector </a:t>
            </a:r>
            <a:r>
              <a:rPr sz="2400" spc="-5" dirty="0">
                <a:latin typeface="Comic Sans MS"/>
                <a:cs typeface="Comic Sans MS"/>
              </a:rPr>
              <a:t>is the </a:t>
            </a:r>
            <a:r>
              <a:rPr sz="2400" spc="-15" dirty="0">
                <a:latin typeface="Comic Sans MS"/>
                <a:cs typeface="Comic Sans MS"/>
              </a:rPr>
              <a:t>matrix </a:t>
            </a:r>
            <a:r>
              <a:rPr sz="2400" spc="-5" dirty="0">
                <a:latin typeface="Comic Sans MS"/>
                <a:cs typeface="Comic Sans MS"/>
              </a:rPr>
              <a:t>with the  </a:t>
            </a:r>
            <a:r>
              <a:rPr sz="2400" dirty="0">
                <a:latin typeface="Comic Sans MS"/>
                <a:cs typeface="Comic Sans MS"/>
              </a:rPr>
              <a:t>eigenvectors </a:t>
            </a:r>
            <a:r>
              <a:rPr sz="2400" spc="-5" dirty="0">
                <a:latin typeface="Comic Sans MS"/>
                <a:cs typeface="Comic Sans MS"/>
              </a:rPr>
              <a:t>in the </a:t>
            </a:r>
            <a:r>
              <a:rPr sz="2400" dirty="0">
                <a:latin typeface="Comic Sans MS"/>
                <a:cs typeface="Comic Sans MS"/>
              </a:rPr>
              <a:t>columns </a:t>
            </a:r>
            <a:r>
              <a:rPr sz="2500" i="1" spc="-60" dirty="0">
                <a:latin typeface="Comic Sans MS"/>
                <a:cs typeface="Comic Sans MS"/>
              </a:rPr>
              <a:t>transposed </a:t>
            </a:r>
            <a:r>
              <a:rPr sz="2400" dirty="0">
                <a:latin typeface="Comic Sans MS"/>
                <a:cs typeface="Comic Sans MS"/>
              </a:rPr>
              <a:t>so </a:t>
            </a:r>
            <a:r>
              <a:rPr sz="2400" spc="-5" dirty="0">
                <a:latin typeface="Comic Sans MS"/>
                <a:cs typeface="Comic Sans MS"/>
              </a:rPr>
              <a:t>that the  </a:t>
            </a:r>
            <a:r>
              <a:rPr sz="2400" dirty="0">
                <a:latin typeface="Comic Sans MS"/>
                <a:cs typeface="Comic Sans MS"/>
              </a:rPr>
              <a:t>eigenvectors are </a:t>
            </a:r>
            <a:r>
              <a:rPr sz="2400" spc="-5" dirty="0">
                <a:latin typeface="Comic Sans MS"/>
                <a:cs typeface="Comic Sans MS"/>
              </a:rPr>
              <a:t>now in the rows, with the </a:t>
            </a:r>
            <a:r>
              <a:rPr sz="2400" dirty="0">
                <a:latin typeface="Comic Sans MS"/>
                <a:cs typeface="Comic Sans MS"/>
              </a:rPr>
              <a:t>most  significant eigenvector at </a:t>
            </a:r>
            <a:r>
              <a:rPr sz="2400" spc="-5" dirty="0">
                <a:latin typeface="Comic Sans MS"/>
                <a:cs typeface="Comic Sans MS"/>
              </a:rPr>
              <a:t>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top</a:t>
            </a:r>
            <a:endParaRPr sz="2400">
              <a:latin typeface="Comic Sans MS"/>
              <a:cs typeface="Comic Sans MS"/>
            </a:endParaRPr>
          </a:p>
          <a:p>
            <a:pPr marL="356870" marR="265430">
              <a:lnSpc>
                <a:spcPts val="3020"/>
              </a:lnSpc>
              <a:spcBef>
                <a:spcPts val="670"/>
              </a:spcBef>
            </a:pPr>
            <a:r>
              <a:rPr sz="2400" spc="-5" dirty="0">
                <a:solidFill>
                  <a:srgbClr val="0066FF"/>
                </a:solidFill>
                <a:latin typeface="Comic Sans MS"/>
                <a:cs typeface="Comic Sans MS"/>
              </a:rPr>
              <a:t>RowZeroMeanData </a:t>
            </a:r>
            <a:r>
              <a:rPr sz="2800" dirty="0">
                <a:latin typeface="Comic Sans MS"/>
                <a:cs typeface="Comic Sans MS"/>
              </a:rPr>
              <a:t>is the mean-adjusted </a:t>
            </a:r>
            <a:r>
              <a:rPr sz="2800" spc="-5" dirty="0">
                <a:latin typeface="Comic Sans MS"/>
                <a:cs typeface="Comic Sans MS"/>
              </a:rPr>
              <a:t>data  </a:t>
            </a:r>
            <a:r>
              <a:rPr sz="2900" i="1" spc="-50" dirty="0">
                <a:latin typeface="Comic Sans MS"/>
                <a:cs typeface="Comic Sans MS"/>
              </a:rPr>
              <a:t>transposed</a:t>
            </a:r>
            <a:r>
              <a:rPr sz="2800" spc="-50" dirty="0">
                <a:latin typeface="Comic Sans MS"/>
                <a:cs typeface="Comic Sans MS"/>
              </a:rPr>
              <a:t>, </a:t>
            </a:r>
            <a:r>
              <a:rPr sz="2800" spc="-5" dirty="0">
                <a:latin typeface="Comic Sans MS"/>
                <a:cs typeface="Comic Sans MS"/>
              </a:rPr>
              <a:t>ie. </a:t>
            </a:r>
            <a:r>
              <a:rPr sz="2800" dirty="0">
                <a:latin typeface="Comic Sans MS"/>
                <a:cs typeface="Comic Sans MS"/>
              </a:rPr>
              <a:t>the data items are in each  column, with </a:t>
            </a:r>
            <a:r>
              <a:rPr sz="2800" spc="-15" dirty="0">
                <a:latin typeface="Comic Sans MS"/>
                <a:cs typeface="Comic Sans MS"/>
              </a:rPr>
              <a:t>each </a:t>
            </a:r>
            <a:r>
              <a:rPr sz="2800" dirty="0">
                <a:latin typeface="Comic Sans MS"/>
                <a:cs typeface="Comic Sans MS"/>
              </a:rPr>
              <a:t>row holding a </a:t>
            </a:r>
            <a:r>
              <a:rPr sz="2800" spc="-10" dirty="0">
                <a:latin typeface="Comic Sans MS"/>
                <a:cs typeface="Comic Sans MS"/>
              </a:rPr>
              <a:t>separate  </a:t>
            </a:r>
            <a:r>
              <a:rPr sz="2800" spc="-5" dirty="0">
                <a:latin typeface="Comic Sans MS"/>
                <a:cs typeface="Comic Sans MS"/>
              </a:rPr>
              <a:t>dimension.</a:t>
            </a:r>
            <a:endParaRPr sz="2800">
              <a:latin typeface="Comic Sans MS"/>
              <a:cs typeface="Comic Sans MS"/>
            </a:endParaRPr>
          </a:p>
          <a:p>
            <a:pPr marL="546100" marR="5080" indent="-635">
              <a:lnSpc>
                <a:spcPct val="100000"/>
              </a:lnSpc>
              <a:spcBef>
                <a:spcPts val="3080"/>
              </a:spcBef>
            </a:pPr>
            <a:r>
              <a:rPr sz="2400" dirty="0">
                <a:latin typeface="Comic Sans MS"/>
                <a:cs typeface="Comic Sans MS"/>
              </a:rPr>
              <a:t>Note: his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essential </a:t>
            </a:r>
            <a:r>
              <a:rPr sz="2400" spc="-5" dirty="0">
                <a:latin typeface="Comic Sans MS"/>
                <a:cs typeface="Comic Sans MS"/>
              </a:rPr>
              <a:t>Rotating the </a:t>
            </a:r>
            <a:r>
              <a:rPr sz="2400" dirty="0">
                <a:latin typeface="Comic Sans MS"/>
                <a:cs typeface="Comic Sans MS"/>
              </a:rPr>
              <a:t>coordinate</a:t>
            </a:r>
            <a:r>
              <a:rPr sz="2400" spc="-1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axes  so </a:t>
            </a:r>
            <a:r>
              <a:rPr sz="2400" spc="-5" dirty="0">
                <a:latin typeface="Comic Sans MS"/>
                <a:cs typeface="Comic Sans MS"/>
              </a:rPr>
              <a:t>higher-variance </a:t>
            </a:r>
            <a:r>
              <a:rPr sz="2400" dirty="0">
                <a:latin typeface="Comic Sans MS"/>
                <a:cs typeface="Comic Sans MS"/>
              </a:rPr>
              <a:t>axes come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first.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651" y="758467"/>
            <a:ext cx="52108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–STEP</a:t>
            </a:r>
            <a:r>
              <a:rPr spc="-45" dirty="0"/>
              <a:t> </a:t>
            </a:r>
            <a:r>
              <a:rPr dirty="0"/>
              <a:t>5</a:t>
            </a:r>
          </a:p>
        </p:txBody>
      </p:sp>
      <p:sp>
        <p:nvSpPr>
          <p:cNvPr id="3" name="object 3"/>
          <p:cNvSpPr/>
          <p:nvPr/>
        </p:nvSpPr>
        <p:spPr>
          <a:xfrm>
            <a:off x="2406776" y="2215895"/>
            <a:ext cx="5514975" cy="4562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5683" y="758467"/>
            <a:ext cx="69894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:</a:t>
            </a:r>
            <a:r>
              <a:rPr spc="5" dirty="0"/>
              <a:t> </a:t>
            </a:r>
            <a:r>
              <a:rPr spc="-5" dirty="0"/>
              <a:t>Approximation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091" y="1764259"/>
            <a:ext cx="7914005" cy="2947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99900"/>
              </a:lnSpc>
              <a:spcBef>
                <a:spcPts val="95"/>
              </a:spcBef>
              <a:buChar char="•"/>
              <a:tabLst>
                <a:tab pos="356235" algn="l"/>
                <a:tab pos="357505" algn="l"/>
              </a:tabLst>
            </a:pPr>
            <a:r>
              <a:rPr sz="3200" spc="-10" dirty="0">
                <a:latin typeface="Comic Sans MS"/>
                <a:cs typeface="Comic Sans MS"/>
              </a:rPr>
              <a:t>If we reduced </a:t>
            </a:r>
            <a:r>
              <a:rPr sz="3200" spc="15" dirty="0">
                <a:latin typeface="Comic Sans MS"/>
                <a:cs typeface="Comic Sans MS"/>
              </a:rPr>
              <a:t>the </a:t>
            </a:r>
            <a:r>
              <a:rPr sz="3200" spc="-5" dirty="0">
                <a:latin typeface="Comic Sans MS"/>
                <a:cs typeface="Comic Sans MS"/>
              </a:rPr>
              <a:t>dimensionality,  obviously, </a:t>
            </a:r>
            <a:r>
              <a:rPr sz="3200" spc="-10" dirty="0">
                <a:latin typeface="Comic Sans MS"/>
                <a:cs typeface="Comic Sans MS"/>
              </a:rPr>
              <a:t>when </a:t>
            </a:r>
            <a:r>
              <a:rPr sz="3200" spc="-5" dirty="0">
                <a:latin typeface="Comic Sans MS"/>
                <a:cs typeface="Comic Sans MS"/>
              </a:rPr>
              <a:t>reconstructing </a:t>
            </a:r>
            <a:r>
              <a:rPr sz="3200" spc="-10" dirty="0">
                <a:latin typeface="Comic Sans MS"/>
                <a:cs typeface="Comic Sans MS"/>
              </a:rPr>
              <a:t>the data  we would </a:t>
            </a:r>
            <a:r>
              <a:rPr sz="3200" spc="-5" dirty="0">
                <a:latin typeface="Comic Sans MS"/>
                <a:cs typeface="Comic Sans MS"/>
              </a:rPr>
              <a:t>lose </a:t>
            </a:r>
            <a:r>
              <a:rPr sz="3200" spc="10" dirty="0">
                <a:latin typeface="Comic Sans MS"/>
                <a:cs typeface="Comic Sans MS"/>
              </a:rPr>
              <a:t>those </a:t>
            </a:r>
            <a:r>
              <a:rPr sz="3200" spc="-10" dirty="0">
                <a:latin typeface="Comic Sans MS"/>
                <a:cs typeface="Comic Sans MS"/>
              </a:rPr>
              <a:t>dimensions we  </a:t>
            </a:r>
            <a:r>
              <a:rPr sz="3200" spc="-5" dirty="0">
                <a:latin typeface="Comic Sans MS"/>
                <a:cs typeface="Comic Sans MS"/>
              </a:rPr>
              <a:t>chose </a:t>
            </a:r>
            <a:r>
              <a:rPr sz="3200" spc="-10" dirty="0">
                <a:latin typeface="Comic Sans MS"/>
                <a:cs typeface="Comic Sans MS"/>
              </a:rPr>
              <a:t>to </a:t>
            </a:r>
            <a:r>
              <a:rPr sz="3200" dirty="0">
                <a:latin typeface="Comic Sans MS"/>
                <a:cs typeface="Comic Sans MS"/>
              </a:rPr>
              <a:t>discard. </a:t>
            </a:r>
            <a:r>
              <a:rPr sz="3200" spc="-10" dirty="0">
                <a:latin typeface="Comic Sans MS"/>
                <a:cs typeface="Comic Sans MS"/>
              </a:rPr>
              <a:t>In </a:t>
            </a:r>
            <a:r>
              <a:rPr sz="3200" spc="-5" dirty="0">
                <a:latin typeface="Comic Sans MS"/>
                <a:cs typeface="Comic Sans MS"/>
              </a:rPr>
              <a:t>our </a:t>
            </a:r>
            <a:r>
              <a:rPr sz="3200" spc="5" dirty="0">
                <a:latin typeface="Comic Sans MS"/>
                <a:cs typeface="Comic Sans MS"/>
              </a:rPr>
              <a:t>example </a:t>
            </a:r>
            <a:r>
              <a:rPr sz="3200" spc="-5" dirty="0">
                <a:latin typeface="Comic Sans MS"/>
                <a:cs typeface="Comic Sans MS"/>
              </a:rPr>
              <a:t>let </a:t>
            </a:r>
            <a:r>
              <a:rPr sz="3200" spc="-10" dirty="0">
                <a:latin typeface="Comic Sans MS"/>
                <a:cs typeface="Comic Sans MS"/>
              </a:rPr>
              <a:t>us  </a:t>
            </a:r>
            <a:r>
              <a:rPr sz="3200" spc="-5" dirty="0">
                <a:latin typeface="Comic Sans MS"/>
                <a:cs typeface="Comic Sans MS"/>
              </a:rPr>
              <a:t>assume </a:t>
            </a:r>
            <a:r>
              <a:rPr sz="3200" spc="-10" dirty="0">
                <a:latin typeface="Comic Sans MS"/>
                <a:cs typeface="Comic Sans MS"/>
              </a:rPr>
              <a:t>that we </a:t>
            </a:r>
            <a:r>
              <a:rPr sz="3200" spc="-5" dirty="0">
                <a:latin typeface="Comic Sans MS"/>
                <a:cs typeface="Comic Sans MS"/>
              </a:rPr>
              <a:t>considered only </a:t>
            </a:r>
            <a:r>
              <a:rPr sz="3200" spc="-10" dirty="0">
                <a:latin typeface="Comic Sans MS"/>
                <a:cs typeface="Comic Sans MS"/>
              </a:rPr>
              <a:t>the </a:t>
            </a:r>
            <a:r>
              <a:rPr sz="3200" spc="-5" dirty="0">
                <a:latin typeface="Comic Sans MS"/>
                <a:cs typeface="Comic Sans MS"/>
              </a:rPr>
              <a:t>x  </a:t>
            </a:r>
            <a:r>
              <a:rPr sz="3200" spc="-10" dirty="0">
                <a:latin typeface="Comic Sans MS"/>
                <a:cs typeface="Comic Sans MS"/>
              </a:rPr>
              <a:t>dimension…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4475" y="758467"/>
            <a:ext cx="82600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 Example : Final</a:t>
            </a:r>
            <a:r>
              <a:rPr spc="25" dirty="0"/>
              <a:t> </a:t>
            </a:r>
            <a:r>
              <a:rPr spc="-5" dirty="0"/>
              <a:t>Approximation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657" y="1673351"/>
            <a:ext cx="8201659" cy="4285615"/>
            <a:chOff x="863657" y="1673351"/>
            <a:chExt cx="8201659" cy="4285615"/>
          </a:xfrm>
        </p:grpSpPr>
        <p:sp>
          <p:nvSpPr>
            <p:cNvPr id="4" name="object 4"/>
            <p:cNvSpPr/>
            <p:nvPr/>
          </p:nvSpPr>
          <p:spPr>
            <a:xfrm>
              <a:off x="863657" y="1691639"/>
              <a:ext cx="5418270" cy="4114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79263" y="1673351"/>
              <a:ext cx="4285488" cy="42854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13082" y="5879083"/>
            <a:ext cx="2065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/>
                <a:cs typeface="Comic Sans MS"/>
              </a:rPr>
              <a:t>2D </a:t>
            </a:r>
            <a:r>
              <a:rPr sz="2400" dirty="0">
                <a:latin typeface="Comic Sans MS"/>
                <a:cs typeface="Comic Sans MS"/>
              </a:rPr>
              <a:t>point</a:t>
            </a:r>
            <a:r>
              <a:rPr sz="2400" spc="-8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cloud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0753" y="5882101"/>
            <a:ext cx="30772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/>
                <a:cs typeface="Comic Sans MS"/>
              </a:rPr>
              <a:t>Approximation </a:t>
            </a:r>
            <a:r>
              <a:rPr sz="2400" dirty="0">
                <a:latin typeface="Comic Sans MS"/>
                <a:cs typeface="Comic Sans MS"/>
              </a:rPr>
              <a:t>using  one eigenvector</a:t>
            </a:r>
            <a:r>
              <a:rPr sz="2400" spc="-10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basis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marR="5080" indent="212725">
              <a:lnSpc>
                <a:spcPct val="100000"/>
              </a:lnSpc>
              <a:spcBef>
                <a:spcPts val="105"/>
              </a:spcBef>
            </a:pPr>
            <a:r>
              <a:rPr dirty="0"/>
              <a:t>Another way of </a:t>
            </a:r>
            <a:r>
              <a:rPr spc="-5" dirty="0"/>
              <a:t>thinking  </a:t>
            </a:r>
            <a:r>
              <a:rPr dirty="0"/>
              <a:t>about Principal</a:t>
            </a:r>
            <a:r>
              <a:rPr spc="-5" dirty="0"/>
              <a:t> </a:t>
            </a:r>
            <a:r>
              <a:rPr dirty="0"/>
              <a:t>component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8691" y="2450108"/>
            <a:ext cx="7438390" cy="18218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spc="-5" dirty="0">
                <a:latin typeface="Comic Sans MS"/>
                <a:cs typeface="Comic Sans MS"/>
              </a:rPr>
              <a:t>direction </a:t>
            </a:r>
            <a:r>
              <a:rPr sz="2800" dirty="0">
                <a:latin typeface="Comic Sans MS"/>
                <a:cs typeface="Comic Sans MS"/>
              </a:rPr>
              <a:t>of maximum </a:t>
            </a:r>
            <a:r>
              <a:rPr sz="2800" spc="-5" dirty="0">
                <a:latin typeface="Comic Sans MS"/>
                <a:cs typeface="Comic Sans MS"/>
              </a:rPr>
              <a:t>variance </a:t>
            </a:r>
            <a:r>
              <a:rPr sz="2800" dirty="0">
                <a:latin typeface="Comic Sans MS"/>
                <a:cs typeface="Comic Sans MS"/>
              </a:rPr>
              <a:t>in </a:t>
            </a:r>
            <a:r>
              <a:rPr sz="2800" spc="-20" dirty="0">
                <a:latin typeface="Comic Sans MS"/>
                <a:cs typeface="Comic Sans MS"/>
              </a:rPr>
              <a:t>the </a:t>
            </a:r>
            <a:r>
              <a:rPr sz="2800" spc="-5" dirty="0">
                <a:latin typeface="Comic Sans MS"/>
                <a:cs typeface="Comic Sans MS"/>
              </a:rPr>
              <a:t>input  </a:t>
            </a:r>
            <a:r>
              <a:rPr sz="2800" dirty="0">
                <a:latin typeface="Comic Sans MS"/>
                <a:cs typeface="Comic Sans MS"/>
              </a:rPr>
              <a:t>space</a:t>
            </a:r>
            <a:endParaRPr sz="2800">
              <a:latin typeface="Comic Sans MS"/>
              <a:cs typeface="Comic Sans MS"/>
            </a:endParaRPr>
          </a:p>
          <a:p>
            <a:pPr marL="356870" marR="904240" indent="-344805">
              <a:lnSpc>
                <a:spcPct val="100000"/>
              </a:lnSpc>
              <a:spcBef>
                <a:spcPts val="695"/>
              </a:spcBef>
              <a:buChar char="•"/>
              <a:tabLst>
                <a:tab pos="356235" algn="l"/>
                <a:tab pos="356870" algn="l"/>
              </a:tabLst>
            </a:pPr>
            <a:r>
              <a:rPr sz="2800" dirty="0">
                <a:latin typeface="Comic Sans MS"/>
                <a:cs typeface="Comic Sans MS"/>
              </a:rPr>
              <a:t>happens to be same as the principal  eigenvector of the covariance</a:t>
            </a:r>
            <a:r>
              <a:rPr sz="2800" spc="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matrix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2572" y="1291867"/>
            <a:ext cx="64916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One-dimensional</a:t>
            </a:r>
            <a:r>
              <a:rPr dirty="0"/>
              <a:t> projection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31720" y="2740151"/>
            <a:ext cx="5590032" cy="3578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79682" y="5421883"/>
            <a:ext cx="2196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/>
                <a:cs typeface="Comic Sans MS"/>
              </a:rPr>
              <a:t>find </a:t>
            </a:r>
            <a:r>
              <a:rPr sz="2400" dirty="0">
                <a:latin typeface="Comic Sans MS"/>
                <a:cs typeface="Comic Sans MS"/>
              </a:rPr>
              <a:t>projection  </a:t>
            </a:r>
            <a:r>
              <a:rPr sz="2400" spc="-5" dirty="0">
                <a:latin typeface="Comic Sans MS"/>
                <a:cs typeface="Comic Sans MS"/>
              </a:rPr>
              <a:t>that</a:t>
            </a:r>
            <a:r>
              <a:rPr sz="2400" spc="-9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maximizes  </a:t>
            </a:r>
            <a:r>
              <a:rPr sz="2400" spc="-5" dirty="0">
                <a:latin typeface="Comic Sans MS"/>
                <a:cs typeface="Comic Sans MS"/>
              </a:rPr>
              <a:t>variance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8691" y="1291867"/>
            <a:ext cx="7336155" cy="2747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92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omic Sans MS"/>
                <a:cs typeface="Comic Sans MS"/>
              </a:rPr>
              <a:t>Covariance to</a:t>
            </a:r>
            <a:r>
              <a:rPr sz="4000" spc="-5" dirty="0">
                <a:latin typeface="Comic Sans MS"/>
                <a:cs typeface="Comic Sans MS"/>
              </a:rPr>
              <a:t> variance</a:t>
            </a:r>
            <a:endParaRPr sz="4000">
              <a:latin typeface="Comic Sans MS"/>
              <a:cs typeface="Comic Sans MS"/>
            </a:endParaRPr>
          </a:p>
          <a:p>
            <a:pPr marL="356870" marR="5080" indent="-344805">
              <a:lnSpc>
                <a:spcPct val="100000"/>
              </a:lnSpc>
              <a:spcBef>
                <a:spcPts val="4305"/>
              </a:spcBef>
              <a:buChar char="•"/>
              <a:tabLst>
                <a:tab pos="356235" algn="l"/>
                <a:tab pos="357505" algn="l"/>
              </a:tabLst>
            </a:pPr>
            <a:r>
              <a:rPr sz="3200" spc="-5" dirty="0">
                <a:latin typeface="Comic Sans MS"/>
                <a:cs typeface="Comic Sans MS"/>
              </a:rPr>
              <a:t>From </a:t>
            </a:r>
            <a:r>
              <a:rPr sz="3200" spc="-10" dirty="0">
                <a:latin typeface="Comic Sans MS"/>
                <a:cs typeface="Comic Sans MS"/>
              </a:rPr>
              <a:t>the </a:t>
            </a:r>
            <a:r>
              <a:rPr sz="3200" dirty="0">
                <a:latin typeface="Comic Sans MS"/>
                <a:cs typeface="Comic Sans MS"/>
              </a:rPr>
              <a:t>covariance, </a:t>
            </a:r>
            <a:r>
              <a:rPr sz="3200" spc="-10" dirty="0">
                <a:latin typeface="Comic Sans MS"/>
                <a:cs typeface="Comic Sans MS"/>
              </a:rPr>
              <a:t>the </a:t>
            </a:r>
            <a:r>
              <a:rPr sz="3200" dirty="0">
                <a:latin typeface="Comic Sans MS"/>
                <a:cs typeface="Comic Sans MS"/>
              </a:rPr>
              <a:t>variance </a:t>
            </a:r>
            <a:r>
              <a:rPr sz="3200" spc="-5" dirty="0">
                <a:latin typeface="Comic Sans MS"/>
                <a:cs typeface="Comic Sans MS"/>
              </a:rPr>
              <a:t>of  any projection can </a:t>
            </a:r>
            <a:r>
              <a:rPr sz="3200" spc="-10" dirty="0">
                <a:latin typeface="Comic Sans MS"/>
                <a:cs typeface="Comic Sans MS"/>
              </a:rPr>
              <a:t>be</a:t>
            </a:r>
            <a:r>
              <a:rPr sz="3200" spc="60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calculated.</a:t>
            </a:r>
            <a:endParaRPr sz="3200">
              <a:latin typeface="Comic Sans MS"/>
              <a:cs typeface="Comic Sans MS"/>
            </a:endParaRPr>
          </a:p>
          <a:p>
            <a:pPr marL="356870" indent="-344805">
              <a:lnSpc>
                <a:spcPct val="100000"/>
              </a:lnSpc>
              <a:spcBef>
                <a:spcPts val="61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Comic Sans MS"/>
                <a:cs typeface="Comic Sans MS"/>
              </a:rPr>
              <a:t>Let </a:t>
            </a:r>
            <a:r>
              <a:rPr sz="3350" i="1" spc="-110" dirty="0">
                <a:latin typeface="Comic Sans MS"/>
                <a:cs typeface="Comic Sans MS"/>
              </a:rPr>
              <a:t>w </a:t>
            </a:r>
            <a:r>
              <a:rPr sz="3200" spc="-10" dirty="0">
                <a:latin typeface="Comic Sans MS"/>
                <a:cs typeface="Comic Sans MS"/>
              </a:rPr>
              <a:t>be </a:t>
            </a:r>
            <a:r>
              <a:rPr sz="3200" spc="-5" dirty="0">
                <a:latin typeface="Comic Sans MS"/>
                <a:cs typeface="Comic Sans MS"/>
              </a:rPr>
              <a:t>a </a:t>
            </a:r>
            <a:r>
              <a:rPr sz="3200" spc="-10" dirty="0">
                <a:latin typeface="Comic Sans MS"/>
                <a:cs typeface="Comic Sans MS"/>
              </a:rPr>
              <a:t>unit</a:t>
            </a:r>
            <a:r>
              <a:rPr sz="3200" spc="140" dirty="0"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vector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2492" y="4351464"/>
            <a:ext cx="1301115" cy="8197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7800" spc="-660" baseline="-5341" dirty="0">
                <a:latin typeface="Symbol"/>
                <a:cs typeface="Symbol"/>
              </a:rPr>
              <a:t></a:t>
            </a:r>
            <a:r>
              <a:rPr sz="3600" i="1" spc="90" dirty="0">
                <a:latin typeface="Times New Roman"/>
                <a:cs typeface="Times New Roman"/>
              </a:rPr>
              <a:t>w</a:t>
            </a:r>
            <a:r>
              <a:rPr sz="3150" i="1" baseline="43650" dirty="0">
                <a:latin typeface="Times New Roman"/>
                <a:cs typeface="Times New Roman"/>
              </a:rPr>
              <a:t>T</a:t>
            </a:r>
            <a:r>
              <a:rPr sz="3150" i="1" spc="157" baseline="43650" dirty="0">
                <a:latin typeface="Times New Roman"/>
                <a:cs typeface="Times New Roman"/>
              </a:rPr>
              <a:t> </a:t>
            </a:r>
            <a:r>
              <a:rPr sz="3600" i="1" spc="80" dirty="0">
                <a:latin typeface="Times New Roman"/>
                <a:cs typeface="Times New Roman"/>
              </a:rPr>
              <a:t>x</a:t>
            </a:r>
            <a:r>
              <a:rPr sz="7800" spc="-630" baseline="-5341" dirty="0">
                <a:latin typeface="Symbol"/>
                <a:cs typeface="Symbol"/>
              </a:rPr>
              <a:t></a:t>
            </a:r>
            <a:r>
              <a:rPr sz="3150" baseline="63492" dirty="0">
                <a:latin typeface="Times New Roman"/>
                <a:cs typeface="Times New Roman"/>
              </a:rPr>
              <a:t>2</a:t>
            </a:r>
            <a:endParaRPr sz="3150" baseline="63492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7336" y="4501908"/>
            <a:ext cx="134620" cy="814069"/>
          </a:xfrm>
          <a:custGeom>
            <a:avLst/>
            <a:gdLst/>
            <a:ahLst/>
            <a:cxnLst/>
            <a:rect l="l" t="t" r="r" b="b"/>
            <a:pathLst>
              <a:path w="134619" h="814070">
                <a:moveTo>
                  <a:pt x="134112" y="3048"/>
                </a:moveTo>
                <a:lnTo>
                  <a:pt x="131064" y="0"/>
                </a:lnTo>
                <a:lnTo>
                  <a:pt x="128016" y="0"/>
                </a:lnTo>
                <a:lnTo>
                  <a:pt x="128016" y="3048"/>
                </a:lnTo>
                <a:lnTo>
                  <a:pt x="0" y="408419"/>
                </a:lnTo>
                <a:lnTo>
                  <a:pt x="0" y="411467"/>
                </a:lnTo>
                <a:lnTo>
                  <a:pt x="128016" y="813803"/>
                </a:lnTo>
                <a:lnTo>
                  <a:pt x="134112" y="813803"/>
                </a:lnTo>
                <a:lnTo>
                  <a:pt x="6096" y="411467"/>
                </a:lnTo>
                <a:lnTo>
                  <a:pt x="3048" y="408419"/>
                </a:lnTo>
                <a:lnTo>
                  <a:pt x="6096" y="408419"/>
                </a:lnTo>
                <a:lnTo>
                  <a:pt x="134112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2944" y="4501908"/>
            <a:ext cx="131445" cy="814069"/>
          </a:xfrm>
          <a:custGeom>
            <a:avLst/>
            <a:gdLst/>
            <a:ahLst/>
            <a:cxnLst/>
            <a:rect l="l" t="t" r="r" b="b"/>
            <a:pathLst>
              <a:path w="131445" h="814070">
                <a:moveTo>
                  <a:pt x="131064" y="408419"/>
                </a:moveTo>
                <a:lnTo>
                  <a:pt x="6096" y="3048"/>
                </a:lnTo>
                <a:lnTo>
                  <a:pt x="3048" y="0"/>
                </a:lnTo>
                <a:lnTo>
                  <a:pt x="0" y="0"/>
                </a:lnTo>
                <a:lnTo>
                  <a:pt x="0" y="3048"/>
                </a:lnTo>
                <a:lnTo>
                  <a:pt x="124968" y="408419"/>
                </a:lnTo>
                <a:lnTo>
                  <a:pt x="124968" y="411467"/>
                </a:lnTo>
                <a:lnTo>
                  <a:pt x="0" y="813803"/>
                </a:lnTo>
                <a:lnTo>
                  <a:pt x="6096" y="813803"/>
                </a:lnTo>
                <a:lnTo>
                  <a:pt x="131064" y="411467"/>
                </a:lnTo>
                <a:lnTo>
                  <a:pt x="128016" y="408419"/>
                </a:lnTo>
                <a:lnTo>
                  <a:pt x="131064" y="4084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94632" y="4605527"/>
            <a:ext cx="113030" cy="607060"/>
          </a:xfrm>
          <a:custGeom>
            <a:avLst/>
            <a:gdLst/>
            <a:ahLst/>
            <a:cxnLst/>
            <a:rect l="l" t="t" r="r" b="b"/>
            <a:pathLst>
              <a:path w="113029" h="607060">
                <a:moveTo>
                  <a:pt x="112776" y="3048"/>
                </a:moveTo>
                <a:lnTo>
                  <a:pt x="109728" y="0"/>
                </a:lnTo>
                <a:lnTo>
                  <a:pt x="106680" y="0"/>
                </a:lnTo>
                <a:lnTo>
                  <a:pt x="106680" y="3048"/>
                </a:lnTo>
                <a:lnTo>
                  <a:pt x="0" y="304800"/>
                </a:lnTo>
                <a:lnTo>
                  <a:pt x="0" y="307848"/>
                </a:lnTo>
                <a:lnTo>
                  <a:pt x="106680" y="606552"/>
                </a:lnTo>
                <a:lnTo>
                  <a:pt x="112776" y="606552"/>
                </a:lnTo>
                <a:lnTo>
                  <a:pt x="6096" y="307848"/>
                </a:lnTo>
                <a:lnTo>
                  <a:pt x="3048" y="304800"/>
                </a:lnTo>
                <a:lnTo>
                  <a:pt x="6096" y="304800"/>
                </a:lnTo>
                <a:lnTo>
                  <a:pt x="112776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18176" y="4605527"/>
            <a:ext cx="113030" cy="607060"/>
          </a:xfrm>
          <a:custGeom>
            <a:avLst/>
            <a:gdLst/>
            <a:ahLst/>
            <a:cxnLst/>
            <a:rect l="l" t="t" r="r" b="b"/>
            <a:pathLst>
              <a:path w="113029" h="607060">
                <a:moveTo>
                  <a:pt x="112776" y="304800"/>
                </a:moveTo>
                <a:lnTo>
                  <a:pt x="6096" y="3048"/>
                </a:lnTo>
                <a:lnTo>
                  <a:pt x="3048" y="0"/>
                </a:lnTo>
                <a:lnTo>
                  <a:pt x="0" y="0"/>
                </a:lnTo>
                <a:lnTo>
                  <a:pt x="0" y="3048"/>
                </a:lnTo>
                <a:lnTo>
                  <a:pt x="106680" y="304800"/>
                </a:lnTo>
                <a:lnTo>
                  <a:pt x="106680" y="307848"/>
                </a:lnTo>
                <a:lnTo>
                  <a:pt x="0" y="606552"/>
                </a:lnTo>
                <a:lnTo>
                  <a:pt x="6096" y="606552"/>
                </a:lnTo>
                <a:lnTo>
                  <a:pt x="112776" y="307848"/>
                </a:lnTo>
                <a:lnTo>
                  <a:pt x="109728" y="304800"/>
                </a:lnTo>
                <a:lnTo>
                  <a:pt x="112776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15155" y="4355083"/>
            <a:ext cx="3884295" cy="218503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516255" indent="-478790">
              <a:lnSpc>
                <a:spcPct val="100000"/>
              </a:lnSpc>
              <a:spcBef>
                <a:spcPts val="1685"/>
              </a:spcBef>
              <a:buFont typeface="Symbol"/>
              <a:buChar char=""/>
              <a:tabLst>
                <a:tab pos="516255" algn="l"/>
                <a:tab pos="516890" algn="l"/>
                <a:tab pos="1439545" algn="l"/>
                <a:tab pos="1708150" algn="l"/>
              </a:tabLst>
            </a:pPr>
            <a:r>
              <a:rPr sz="3600" i="1" spc="45" dirty="0">
                <a:latin typeface="Times New Roman"/>
                <a:cs typeface="Times New Roman"/>
              </a:rPr>
              <a:t>w</a:t>
            </a:r>
            <a:r>
              <a:rPr sz="3150" i="1" spc="67" baseline="43650" dirty="0">
                <a:latin typeface="Times New Roman"/>
                <a:cs typeface="Times New Roman"/>
              </a:rPr>
              <a:t>T</a:t>
            </a:r>
            <a:r>
              <a:rPr sz="3150" i="1" spc="157" baseline="4365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x	</a:t>
            </a:r>
            <a:r>
              <a:rPr sz="3150" baseline="63492" dirty="0">
                <a:latin typeface="Times New Roman"/>
                <a:cs typeface="Times New Roman"/>
              </a:rPr>
              <a:t>2	</a:t>
            </a:r>
            <a:r>
              <a:rPr sz="3600" dirty="0">
                <a:latin typeface="Symbol"/>
                <a:cs typeface="Symbol"/>
              </a:rPr>
              <a:t>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w</a:t>
            </a:r>
            <a:r>
              <a:rPr sz="3150" i="1" spc="67" baseline="43650" dirty="0">
                <a:latin typeface="Times New Roman"/>
                <a:cs typeface="Times New Roman"/>
              </a:rPr>
              <a:t>T</a:t>
            </a:r>
            <a:r>
              <a:rPr sz="3150" i="1" spc="-450" baseline="4365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Cw</a:t>
            </a:r>
            <a:endParaRPr sz="3600">
              <a:latin typeface="Times New Roman"/>
              <a:cs typeface="Times New Roman"/>
            </a:endParaRPr>
          </a:p>
          <a:p>
            <a:pPr marL="2211070" marR="30480" indent="-503555">
              <a:lnSpc>
                <a:spcPct val="91300"/>
              </a:lnSpc>
              <a:spcBef>
                <a:spcPts val="2935"/>
              </a:spcBef>
            </a:pPr>
            <a:r>
              <a:rPr sz="5400" baseline="13888" dirty="0">
                <a:latin typeface="Symbol"/>
                <a:cs typeface="Symbol"/>
              </a:rPr>
              <a:t></a:t>
            </a:r>
            <a:r>
              <a:rPr sz="5400" spc="-284" baseline="13888" dirty="0">
                <a:latin typeface="Times New Roman"/>
                <a:cs typeface="Times New Roman"/>
              </a:rPr>
              <a:t> </a:t>
            </a:r>
            <a:r>
              <a:rPr sz="8100" spc="375" baseline="4115" dirty="0">
                <a:latin typeface="Symbol"/>
                <a:cs typeface="Symbol"/>
              </a:rPr>
              <a:t></a:t>
            </a:r>
            <a:r>
              <a:rPr sz="5400" i="1" spc="-187" baseline="13888" dirty="0">
                <a:latin typeface="Times New Roman"/>
                <a:cs typeface="Times New Roman"/>
              </a:rPr>
              <a:t>w</a:t>
            </a:r>
            <a:r>
              <a:rPr sz="2100" i="1" spc="110" dirty="0">
                <a:latin typeface="Times New Roman"/>
                <a:cs typeface="Times New Roman"/>
              </a:rPr>
              <a:t>i</a:t>
            </a:r>
            <a:r>
              <a:rPr sz="5400" i="1" spc="-150" baseline="13888" dirty="0">
                <a:latin typeface="Times New Roman"/>
                <a:cs typeface="Times New Roman"/>
              </a:rPr>
              <a:t>C</a:t>
            </a:r>
            <a:r>
              <a:rPr sz="2100" i="1" dirty="0">
                <a:latin typeface="Times New Roman"/>
                <a:cs typeface="Times New Roman"/>
              </a:rPr>
              <a:t>ij</a:t>
            </a:r>
            <a:r>
              <a:rPr sz="2100" i="1" spc="-305" dirty="0">
                <a:latin typeface="Times New Roman"/>
                <a:cs typeface="Times New Roman"/>
              </a:rPr>
              <a:t> </a:t>
            </a:r>
            <a:r>
              <a:rPr sz="5400" i="1" spc="569" baseline="13888" dirty="0">
                <a:latin typeface="Times New Roman"/>
                <a:cs typeface="Times New Roman"/>
              </a:rPr>
              <a:t>w</a:t>
            </a:r>
            <a:r>
              <a:rPr sz="2100" i="1" dirty="0">
                <a:latin typeface="Times New Roman"/>
                <a:cs typeface="Times New Roman"/>
              </a:rPr>
              <a:t>j  ij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6011" y="1291867"/>
            <a:ext cx="47847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Maximizing</a:t>
            </a:r>
            <a:r>
              <a:rPr spc="-30" dirty="0"/>
              <a:t> </a:t>
            </a:r>
            <a:r>
              <a:rPr spc="-5" dirty="0"/>
              <a:t>variance</a:t>
            </a:r>
          </a:p>
        </p:txBody>
      </p:sp>
      <p:sp>
        <p:nvSpPr>
          <p:cNvPr id="3" name="object 3"/>
          <p:cNvSpPr/>
          <p:nvPr/>
        </p:nvSpPr>
        <p:spPr>
          <a:xfrm>
            <a:off x="4550664" y="4498847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41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5840" y="4498847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41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05991" y="2351624"/>
            <a:ext cx="6712584" cy="24237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69570" indent="-344805">
              <a:lnSpc>
                <a:spcPct val="100000"/>
              </a:lnSpc>
              <a:spcBef>
                <a:spcPts val="865"/>
              </a:spcBef>
              <a:buChar char="•"/>
              <a:tabLst>
                <a:tab pos="368935" algn="l"/>
                <a:tab pos="370205" algn="l"/>
              </a:tabLst>
            </a:pPr>
            <a:r>
              <a:rPr sz="3200" spc="-5" dirty="0">
                <a:latin typeface="Comic Sans MS"/>
                <a:cs typeface="Comic Sans MS"/>
              </a:rPr>
              <a:t>Principal </a:t>
            </a:r>
            <a:r>
              <a:rPr sz="3200" dirty="0">
                <a:latin typeface="Comic Sans MS"/>
                <a:cs typeface="Comic Sans MS"/>
              </a:rPr>
              <a:t>eigenvector </a:t>
            </a:r>
            <a:r>
              <a:rPr sz="3200" spc="-5" dirty="0">
                <a:latin typeface="Comic Sans MS"/>
                <a:cs typeface="Comic Sans MS"/>
              </a:rPr>
              <a:t>of</a:t>
            </a:r>
            <a:r>
              <a:rPr sz="3200" spc="-20" dirty="0">
                <a:latin typeface="Comic Sans MS"/>
                <a:cs typeface="Comic Sans MS"/>
              </a:rPr>
              <a:t> </a:t>
            </a:r>
            <a:r>
              <a:rPr sz="3200" spc="-5" dirty="0">
                <a:latin typeface="Comic Sans MS"/>
                <a:cs typeface="Comic Sans MS"/>
              </a:rPr>
              <a:t>C</a:t>
            </a:r>
            <a:endParaRPr sz="320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Comic Sans MS"/>
                <a:cs typeface="Comic Sans MS"/>
              </a:rPr>
              <a:t>– the one with the largest</a:t>
            </a:r>
            <a:r>
              <a:rPr sz="2800" spc="17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eigenvalue.</a:t>
            </a:r>
            <a:endParaRPr sz="2800">
              <a:latin typeface="Comic Sans MS"/>
              <a:cs typeface="Comic Sans MS"/>
            </a:endParaRPr>
          </a:p>
          <a:p>
            <a:pPr marL="495934" algn="ctr">
              <a:lnSpc>
                <a:spcPct val="100000"/>
              </a:lnSpc>
              <a:spcBef>
                <a:spcPts val="3304"/>
              </a:spcBef>
            </a:pPr>
            <a:r>
              <a:rPr sz="3600" i="1" spc="45" dirty="0">
                <a:latin typeface="Times New Roman"/>
                <a:cs typeface="Times New Roman"/>
              </a:rPr>
              <a:t>w</a:t>
            </a:r>
            <a:r>
              <a:rPr sz="3150" spc="67" baseline="43650" dirty="0">
                <a:latin typeface="Times New Roman"/>
                <a:cs typeface="Times New Roman"/>
              </a:rPr>
              <a:t>* </a:t>
            </a:r>
            <a:r>
              <a:rPr sz="3600" dirty="0">
                <a:latin typeface="Symbol"/>
                <a:cs typeface="Symbol"/>
              </a:rPr>
              <a:t>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65" dirty="0">
                <a:latin typeface="Times New Roman"/>
                <a:cs typeface="Times New Roman"/>
              </a:rPr>
              <a:t>argmax</a:t>
            </a:r>
            <a:r>
              <a:rPr sz="3600" spc="-459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w</a:t>
            </a:r>
            <a:r>
              <a:rPr sz="3150" i="1" spc="67" baseline="43650" dirty="0">
                <a:latin typeface="Times New Roman"/>
                <a:cs typeface="Times New Roman"/>
              </a:rPr>
              <a:t>T </a:t>
            </a:r>
            <a:r>
              <a:rPr sz="3600" i="1" dirty="0">
                <a:latin typeface="Times New Roman"/>
                <a:cs typeface="Times New Roman"/>
              </a:rPr>
              <a:t>Cw</a:t>
            </a:r>
            <a:endParaRPr sz="3600">
              <a:latin typeface="Times New Roman"/>
              <a:cs typeface="Times New Roman"/>
            </a:endParaRPr>
          </a:p>
          <a:p>
            <a:pPr marL="280670" algn="ctr">
              <a:lnSpc>
                <a:spcPct val="100000"/>
              </a:lnSpc>
              <a:spcBef>
                <a:spcPts val="80"/>
              </a:spcBef>
            </a:pPr>
            <a:r>
              <a:rPr sz="2100" i="1" spc="50" dirty="0">
                <a:latin typeface="Times New Roman"/>
                <a:cs typeface="Times New Roman"/>
              </a:rPr>
              <a:t>w</a:t>
            </a:r>
            <a:r>
              <a:rPr sz="2100" spc="50" dirty="0">
                <a:latin typeface="Times New Roman"/>
                <a:cs typeface="Times New Roman"/>
              </a:rPr>
              <a:t>: </a:t>
            </a:r>
            <a:r>
              <a:rPr sz="2100" i="1" dirty="0">
                <a:latin typeface="Times New Roman"/>
                <a:cs typeface="Times New Roman"/>
              </a:rPr>
              <a:t>w</a:t>
            </a:r>
            <a:r>
              <a:rPr sz="2100" i="1" spc="-34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4923" y="5362249"/>
            <a:ext cx="48514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max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4711" y="5590032"/>
            <a:ext cx="0" cy="27749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6840" y="5590032"/>
            <a:ext cx="0" cy="277495"/>
          </a:xfrm>
          <a:custGeom>
            <a:avLst/>
            <a:gdLst/>
            <a:ahLst/>
            <a:cxnLst/>
            <a:rect l="l" t="t" r="r" b="b"/>
            <a:pathLst>
              <a:path h="277495">
                <a:moveTo>
                  <a:pt x="0" y="0"/>
                </a:moveTo>
                <a:lnTo>
                  <a:pt x="0" y="27736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5979" y="5514649"/>
            <a:ext cx="8420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40" dirty="0">
                <a:latin typeface="Times New Roman"/>
                <a:cs typeface="Times New Roman"/>
              </a:rPr>
              <a:t>w</a:t>
            </a:r>
            <a:r>
              <a:rPr sz="2100" spc="40" dirty="0">
                <a:latin typeface="Times New Roman"/>
                <a:cs typeface="Times New Roman"/>
              </a:rPr>
              <a:t>: </a:t>
            </a:r>
            <a:r>
              <a:rPr sz="2100" i="1" dirty="0">
                <a:latin typeface="Times New Roman"/>
                <a:cs typeface="Times New Roman"/>
              </a:rPr>
              <a:t>w</a:t>
            </a:r>
            <a:r>
              <a:rPr sz="2100" i="1" spc="-38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Symbol"/>
                <a:cs typeface="Symbol"/>
              </a:rPr>
              <a:t></a:t>
            </a:r>
            <a:r>
              <a:rPr sz="2100" spc="-25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0444" y="4990612"/>
            <a:ext cx="3903345" cy="656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812165" algn="l"/>
              </a:tabLst>
            </a:pPr>
            <a:r>
              <a:rPr sz="3750" i="1" spc="-85" dirty="0">
                <a:latin typeface="Symbol"/>
                <a:cs typeface="Symbol"/>
              </a:rPr>
              <a:t></a:t>
            </a:r>
            <a:r>
              <a:rPr sz="3750" spc="-85" dirty="0">
                <a:latin typeface="Times New Roman"/>
                <a:cs typeface="Times New Roman"/>
              </a:rPr>
              <a:t>	</a:t>
            </a:r>
            <a:r>
              <a:rPr sz="6150" spc="-44" baseline="-2710" dirty="0">
                <a:latin typeface="Symbol"/>
                <a:cs typeface="Symbol"/>
              </a:rPr>
              <a:t></a:t>
            </a:r>
            <a:r>
              <a:rPr sz="3600" i="1" spc="-30" dirty="0">
                <a:latin typeface="Times New Roman"/>
                <a:cs typeface="Times New Roman"/>
              </a:rPr>
              <a:t>C</a:t>
            </a:r>
            <a:r>
              <a:rPr sz="6150" spc="-44" baseline="-2710" dirty="0">
                <a:latin typeface="Symbol"/>
                <a:cs typeface="Symbol"/>
              </a:rPr>
              <a:t></a:t>
            </a:r>
            <a:r>
              <a:rPr sz="6150" spc="-794" baseline="-27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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max</a:t>
            </a:r>
            <a:r>
              <a:rPr sz="3600" spc="-425" dirty="0">
                <a:latin typeface="Times New Roman"/>
                <a:cs typeface="Times New Roman"/>
              </a:rPr>
              <a:t> </a:t>
            </a:r>
            <a:r>
              <a:rPr sz="3600" i="1" spc="45" dirty="0">
                <a:latin typeface="Times New Roman"/>
                <a:cs typeface="Times New Roman"/>
              </a:rPr>
              <a:t>w</a:t>
            </a:r>
            <a:r>
              <a:rPr sz="3150" i="1" spc="67" baseline="43650" dirty="0">
                <a:latin typeface="Times New Roman"/>
                <a:cs typeface="Times New Roman"/>
              </a:rPr>
              <a:t>T</a:t>
            </a:r>
            <a:r>
              <a:rPr sz="3150" i="1" spc="-330" baseline="4365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1771" y="6034134"/>
            <a:ext cx="18345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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i="1" spc="35" dirty="0">
                <a:latin typeface="Times New Roman"/>
                <a:cs typeface="Times New Roman"/>
              </a:rPr>
              <a:t>w</a:t>
            </a:r>
            <a:r>
              <a:rPr sz="3150" spc="52" baseline="43650" dirty="0">
                <a:latin typeface="Times New Roman"/>
                <a:cs typeface="Times New Roman"/>
              </a:rPr>
              <a:t>*</a:t>
            </a:r>
            <a:r>
              <a:rPr sz="3150" i="1" spc="52" baseline="43650" dirty="0">
                <a:latin typeface="Times New Roman"/>
                <a:cs typeface="Times New Roman"/>
              </a:rPr>
              <a:t>T</a:t>
            </a:r>
            <a:r>
              <a:rPr sz="3150" i="1" spc="-487" baseline="43650" dirty="0">
                <a:latin typeface="Times New Roman"/>
                <a:cs typeface="Times New Roman"/>
              </a:rPr>
              <a:t> </a:t>
            </a:r>
            <a:r>
              <a:rPr sz="3600" i="1" spc="30" dirty="0">
                <a:latin typeface="Times New Roman"/>
                <a:cs typeface="Times New Roman"/>
              </a:rPr>
              <a:t>Cw</a:t>
            </a:r>
            <a:r>
              <a:rPr sz="3150" spc="44" baseline="43650" dirty="0">
                <a:latin typeface="Times New Roman"/>
                <a:cs typeface="Times New Roman"/>
              </a:rPr>
              <a:t>*</a:t>
            </a:r>
            <a:endParaRPr sz="3150" baseline="4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2420" y="1291867"/>
            <a:ext cx="43414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83279" algn="l"/>
              </a:tabLst>
            </a:pPr>
            <a:r>
              <a:rPr spc="-5" dirty="0"/>
              <a:t>Implementin</a:t>
            </a:r>
            <a:r>
              <a:rPr dirty="0"/>
              <a:t>g	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7691" y="2450059"/>
            <a:ext cx="8166734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235" algn="l"/>
                <a:tab pos="357505" algn="l"/>
              </a:tabLst>
            </a:pPr>
            <a:r>
              <a:rPr sz="3200" spc="-5" dirty="0">
                <a:latin typeface="Comic Sans MS"/>
                <a:cs typeface="Comic Sans MS"/>
              </a:rPr>
              <a:t>Need </a:t>
            </a:r>
            <a:r>
              <a:rPr sz="3200" spc="-10" dirty="0">
                <a:latin typeface="Comic Sans MS"/>
                <a:cs typeface="Comic Sans MS"/>
              </a:rPr>
              <a:t>to find </a:t>
            </a:r>
            <a:r>
              <a:rPr sz="3200" dirty="0">
                <a:latin typeface="Comic Sans MS"/>
                <a:cs typeface="Comic Sans MS"/>
              </a:rPr>
              <a:t>“first” </a:t>
            </a:r>
            <a:r>
              <a:rPr sz="3200" spc="-5" dirty="0">
                <a:latin typeface="Comic Sans MS"/>
                <a:cs typeface="Comic Sans MS"/>
              </a:rPr>
              <a:t>k </a:t>
            </a:r>
            <a:r>
              <a:rPr sz="3200" dirty="0">
                <a:latin typeface="Comic Sans MS"/>
                <a:cs typeface="Comic Sans MS"/>
              </a:rPr>
              <a:t>eigenvectors </a:t>
            </a:r>
            <a:r>
              <a:rPr sz="3200" spc="-5" dirty="0">
                <a:latin typeface="Comic Sans MS"/>
                <a:cs typeface="Comic Sans MS"/>
              </a:rPr>
              <a:t>of</a:t>
            </a:r>
            <a:r>
              <a:rPr sz="3200" spc="5" dirty="0">
                <a:latin typeface="Comic Sans MS"/>
                <a:cs typeface="Comic Sans MS"/>
              </a:rPr>
              <a:t> </a:t>
            </a:r>
            <a:r>
              <a:rPr sz="3200" spc="-10" dirty="0">
                <a:latin typeface="Comic Sans MS"/>
                <a:cs typeface="Comic Sans MS"/>
              </a:rPr>
              <a:t>Q: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2404" y="3349752"/>
            <a:ext cx="8271115" cy="1569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18722" y="5424932"/>
            <a:ext cx="7601584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Q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N x N </a:t>
            </a:r>
            <a:r>
              <a:rPr sz="2400" spc="-5" dirty="0">
                <a:latin typeface="Comic Sans MS"/>
                <a:cs typeface="Comic Sans MS"/>
              </a:rPr>
              <a:t>(Again, </a:t>
            </a:r>
            <a:r>
              <a:rPr sz="2400" dirty="0">
                <a:latin typeface="Comic Sans MS"/>
                <a:cs typeface="Comic Sans MS"/>
              </a:rPr>
              <a:t>N </a:t>
            </a:r>
            <a:r>
              <a:rPr sz="2400" spc="-10" dirty="0">
                <a:latin typeface="Comic Sans MS"/>
                <a:cs typeface="Comic Sans MS"/>
              </a:rPr>
              <a:t>could </a:t>
            </a:r>
            <a:r>
              <a:rPr sz="2400" spc="-5" dirty="0">
                <a:latin typeface="Comic Sans MS"/>
                <a:cs typeface="Comic Sans MS"/>
              </a:rPr>
              <a:t>be the number </a:t>
            </a:r>
            <a:r>
              <a:rPr sz="2400" dirty="0">
                <a:latin typeface="Comic Sans MS"/>
                <a:cs typeface="Comic Sans MS"/>
              </a:rPr>
              <a:t>of pixels </a:t>
            </a:r>
            <a:r>
              <a:rPr sz="2400" spc="-5" dirty="0">
                <a:latin typeface="Comic Sans MS"/>
                <a:cs typeface="Comic Sans MS"/>
              </a:rPr>
              <a:t>in  </a:t>
            </a:r>
            <a:r>
              <a:rPr sz="2400" dirty="0">
                <a:latin typeface="Comic Sans MS"/>
                <a:cs typeface="Comic Sans MS"/>
              </a:rPr>
              <a:t>an </a:t>
            </a:r>
            <a:r>
              <a:rPr sz="2400" spc="-5" dirty="0">
                <a:latin typeface="Comic Sans MS"/>
                <a:cs typeface="Comic Sans MS"/>
              </a:rPr>
              <a:t>image. </a:t>
            </a:r>
            <a:r>
              <a:rPr sz="2400" dirty="0">
                <a:latin typeface="Comic Sans MS"/>
                <a:cs typeface="Comic Sans MS"/>
              </a:rPr>
              <a:t>For a </a:t>
            </a:r>
            <a:r>
              <a:rPr sz="2400" spc="-5" dirty="0">
                <a:latin typeface="Comic Sans MS"/>
                <a:cs typeface="Comic Sans MS"/>
              </a:rPr>
              <a:t>256 </a:t>
            </a:r>
            <a:r>
              <a:rPr sz="2400" dirty="0">
                <a:latin typeface="Comic Sans MS"/>
                <a:cs typeface="Comic Sans MS"/>
              </a:rPr>
              <a:t>x </a:t>
            </a:r>
            <a:r>
              <a:rPr sz="2400" spc="-5" dirty="0">
                <a:latin typeface="Comic Sans MS"/>
                <a:cs typeface="Comic Sans MS"/>
              </a:rPr>
              <a:t>256 image, </a:t>
            </a:r>
            <a:r>
              <a:rPr sz="2400" dirty="0">
                <a:latin typeface="Comic Sans MS"/>
                <a:cs typeface="Comic Sans MS"/>
              </a:rPr>
              <a:t>N = </a:t>
            </a:r>
            <a:r>
              <a:rPr sz="2400" spc="-5" dirty="0">
                <a:latin typeface="Comic Sans MS"/>
                <a:cs typeface="Comic Sans MS"/>
              </a:rPr>
              <a:t>65536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!!)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ts val="2855"/>
              </a:lnSpc>
            </a:pPr>
            <a:r>
              <a:rPr sz="2400" spc="-5" dirty="0">
                <a:latin typeface="Comic Sans MS"/>
                <a:cs typeface="Comic Sans MS"/>
              </a:rPr>
              <a:t>Don’t want to </a:t>
            </a:r>
            <a:r>
              <a:rPr sz="2400" dirty="0">
                <a:latin typeface="Comic Sans MS"/>
                <a:cs typeface="Comic Sans MS"/>
              </a:rPr>
              <a:t>explicitly compute</a:t>
            </a:r>
            <a:r>
              <a:rPr sz="2400" spc="-5" dirty="0">
                <a:latin typeface="Comic Sans MS"/>
                <a:cs typeface="Comic Sans MS"/>
              </a:rPr>
              <a:t> Q!!!!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4790" marR="5080" indent="-275272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Singular </a:t>
            </a:r>
            <a:r>
              <a:rPr dirty="0"/>
              <a:t>Value Decomposition  </a:t>
            </a:r>
            <a:r>
              <a:rPr spc="-5" dirty="0"/>
              <a:t>(SVD)</a:t>
            </a:r>
          </a:p>
        </p:txBody>
      </p:sp>
      <p:sp>
        <p:nvSpPr>
          <p:cNvPr id="3" name="object 3"/>
          <p:cNvSpPr/>
          <p:nvPr/>
        </p:nvSpPr>
        <p:spPr>
          <a:xfrm>
            <a:off x="3291840" y="3349752"/>
            <a:ext cx="2877312" cy="530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5822" y="2453132"/>
            <a:ext cx="8058150" cy="4027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70510" indent="-6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/>
                <a:cs typeface="Comic Sans MS"/>
              </a:rPr>
              <a:t>Any </a:t>
            </a:r>
            <a:r>
              <a:rPr sz="2400" dirty="0">
                <a:latin typeface="Comic Sans MS"/>
                <a:cs typeface="Comic Sans MS"/>
              </a:rPr>
              <a:t>m x n matrix X can </a:t>
            </a:r>
            <a:r>
              <a:rPr sz="2400" spc="-5" dirty="0">
                <a:latin typeface="Comic Sans MS"/>
                <a:cs typeface="Comic Sans MS"/>
              </a:rPr>
              <a:t>be written </a:t>
            </a:r>
            <a:r>
              <a:rPr sz="2400" dirty="0">
                <a:latin typeface="Comic Sans MS"/>
                <a:cs typeface="Comic Sans MS"/>
              </a:rPr>
              <a:t>as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spc="-15" dirty="0">
                <a:latin typeface="Comic Sans MS"/>
                <a:cs typeface="Comic Sans MS"/>
              </a:rPr>
              <a:t>product </a:t>
            </a:r>
            <a:r>
              <a:rPr sz="2400" dirty="0">
                <a:latin typeface="Comic Sans MS"/>
                <a:cs typeface="Comic Sans MS"/>
              </a:rPr>
              <a:t>of 3  matrices: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33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2455"/>
              </a:spcBef>
            </a:pPr>
            <a:r>
              <a:rPr sz="2400" dirty="0">
                <a:latin typeface="Comic Sans MS"/>
                <a:cs typeface="Comic Sans MS"/>
              </a:rPr>
              <a:t>Where:</a:t>
            </a:r>
            <a:endParaRPr sz="2400">
              <a:latin typeface="Comic Sans MS"/>
              <a:cs typeface="Comic Sans MS"/>
            </a:endParaRPr>
          </a:p>
          <a:p>
            <a:pPr marL="260985" indent="-210820">
              <a:lnSpc>
                <a:spcPct val="100000"/>
              </a:lnSpc>
              <a:spcBef>
                <a:spcPts val="290"/>
              </a:spcBef>
              <a:buChar char="•"/>
              <a:tabLst>
                <a:tab pos="261620" algn="l"/>
              </a:tabLst>
            </a:pPr>
            <a:r>
              <a:rPr sz="2400" dirty="0">
                <a:latin typeface="Comic Sans MS"/>
                <a:cs typeface="Comic Sans MS"/>
              </a:rPr>
              <a:t>U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m x m and </a:t>
            </a:r>
            <a:r>
              <a:rPr sz="2400" spc="-5" dirty="0">
                <a:latin typeface="Comic Sans MS"/>
                <a:cs typeface="Comic Sans MS"/>
              </a:rPr>
              <a:t>its </a:t>
            </a:r>
            <a:r>
              <a:rPr sz="2400" spc="-15" dirty="0">
                <a:latin typeface="Comic Sans MS"/>
                <a:cs typeface="Comic Sans MS"/>
              </a:rPr>
              <a:t>columns </a:t>
            </a:r>
            <a:r>
              <a:rPr sz="2400" dirty="0">
                <a:latin typeface="Comic Sans MS"/>
                <a:cs typeface="Comic Sans MS"/>
              </a:rPr>
              <a:t>are orthonormal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vectors</a:t>
            </a:r>
            <a:endParaRPr sz="2400">
              <a:latin typeface="Comic Sans MS"/>
              <a:cs typeface="Comic Sans MS"/>
            </a:endParaRPr>
          </a:p>
          <a:p>
            <a:pPr marL="260985" indent="-210820">
              <a:lnSpc>
                <a:spcPct val="100000"/>
              </a:lnSpc>
              <a:spcBef>
                <a:spcPts val="260"/>
              </a:spcBef>
              <a:buChar char="•"/>
              <a:tabLst>
                <a:tab pos="261620" algn="l"/>
              </a:tabLst>
            </a:pPr>
            <a:r>
              <a:rPr sz="2400" dirty="0">
                <a:latin typeface="Comic Sans MS"/>
                <a:cs typeface="Comic Sans MS"/>
              </a:rPr>
              <a:t>V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n x n and </a:t>
            </a:r>
            <a:r>
              <a:rPr sz="2400" spc="-5" dirty="0">
                <a:latin typeface="Comic Sans MS"/>
                <a:cs typeface="Comic Sans MS"/>
              </a:rPr>
              <a:t>its </a:t>
            </a:r>
            <a:r>
              <a:rPr sz="2400" dirty="0">
                <a:latin typeface="Comic Sans MS"/>
                <a:cs typeface="Comic Sans MS"/>
              </a:rPr>
              <a:t>columns are orthonormal</a:t>
            </a:r>
            <a:r>
              <a:rPr sz="2400" spc="-114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vectors</a:t>
            </a:r>
            <a:endParaRPr sz="2400">
              <a:latin typeface="Comic Sans MS"/>
              <a:cs typeface="Comic Sans MS"/>
            </a:endParaRPr>
          </a:p>
          <a:p>
            <a:pPr marL="50800" marR="43180" indent="-635">
              <a:lnSpc>
                <a:spcPct val="110000"/>
              </a:lnSpc>
              <a:buChar char="•"/>
              <a:tabLst>
                <a:tab pos="261620" algn="l"/>
              </a:tabLst>
            </a:pPr>
            <a:r>
              <a:rPr sz="2400" dirty="0">
                <a:latin typeface="Comic Sans MS"/>
                <a:cs typeface="Comic Sans MS"/>
              </a:rPr>
              <a:t>D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m x n </a:t>
            </a:r>
            <a:r>
              <a:rPr sz="2400" spc="-5" dirty="0">
                <a:latin typeface="Comic Sans MS"/>
                <a:cs typeface="Comic Sans MS"/>
              </a:rPr>
              <a:t>diagonal </a:t>
            </a:r>
            <a:r>
              <a:rPr sz="2400" dirty="0">
                <a:latin typeface="Comic Sans MS"/>
                <a:cs typeface="Comic Sans MS"/>
              </a:rPr>
              <a:t>and </a:t>
            </a:r>
            <a:r>
              <a:rPr sz="2400" spc="-5" dirty="0">
                <a:latin typeface="Comic Sans MS"/>
                <a:cs typeface="Comic Sans MS"/>
              </a:rPr>
              <a:t>its diagonal </a:t>
            </a:r>
            <a:r>
              <a:rPr sz="2400" dirty="0">
                <a:latin typeface="Comic Sans MS"/>
                <a:cs typeface="Comic Sans MS"/>
              </a:rPr>
              <a:t>elements are </a:t>
            </a:r>
            <a:r>
              <a:rPr sz="2400" spc="-10" dirty="0">
                <a:latin typeface="Comic Sans MS"/>
                <a:cs typeface="Comic Sans MS"/>
              </a:rPr>
              <a:t>called 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singular </a:t>
            </a:r>
            <a:r>
              <a:rPr sz="2400" spc="-5" dirty="0">
                <a:latin typeface="Comic Sans MS"/>
                <a:cs typeface="Comic Sans MS"/>
              </a:rPr>
              <a:t>values </a:t>
            </a:r>
            <a:r>
              <a:rPr sz="2400" dirty="0">
                <a:latin typeface="Comic Sans MS"/>
                <a:cs typeface="Comic Sans MS"/>
              </a:rPr>
              <a:t>of X, and are </a:t>
            </a:r>
            <a:r>
              <a:rPr sz="2400" spc="-15" dirty="0">
                <a:latin typeface="Comic Sans MS"/>
                <a:cs typeface="Comic Sans MS"/>
              </a:rPr>
              <a:t>such </a:t>
            </a:r>
            <a:r>
              <a:rPr sz="2400" spc="-5" dirty="0">
                <a:latin typeface="Comic Sans MS"/>
                <a:cs typeface="Comic Sans MS"/>
              </a:rPr>
              <a:t>that:</a:t>
            </a:r>
            <a:endParaRPr sz="2400">
              <a:latin typeface="Comic Sans MS"/>
              <a:cs typeface="Comic Sans MS"/>
            </a:endParaRPr>
          </a:p>
          <a:p>
            <a:pPr marL="151384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Symbol"/>
                <a:cs typeface="Symbol"/>
              </a:rPr>
              <a:t></a:t>
            </a:r>
            <a:r>
              <a:rPr sz="2400" spc="-7" baseline="-20833" dirty="0">
                <a:latin typeface="Comic Sans MS"/>
                <a:cs typeface="Comic Sans MS"/>
              </a:rPr>
              <a:t>1 </a:t>
            </a:r>
            <a:r>
              <a:rPr sz="2400" dirty="0">
                <a:latin typeface="Arial"/>
                <a:cs typeface="Arial"/>
              </a:rPr>
              <a:t>¸ </a:t>
            </a:r>
            <a:r>
              <a:rPr sz="2400" spc="-5" dirty="0">
                <a:latin typeface="Symbol"/>
                <a:cs typeface="Symbol"/>
              </a:rPr>
              <a:t></a:t>
            </a:r>
            <a:r>
              <a:rPr sz="2400" spc="-7" baseline="-20833" dirty="0">
                <a:latin typeface="Comic Sans MS"/>
                <a:cs typeface="Comic Sans MS"/>
              </a:rPr>
              <a:t>2 </a:t>
            </a:r>
            <a:r>
              <a:rPr sz="2400" dirty="0">
                <a:latin typeface="Arial"/>
                <a:cs typeface="Arial"/>
              </a:rPr>
              <a:t>¸ </a:t>
            </a:r>
            <a:r>
              <a:rPr sz="2400" dirty="0">
                <a:latin typeface="Comic Sans MS"/>
                <a:cs typeface="Comic Sans MS"/>
              </a:rPr>
              <a:t>… </a:t>
            </a:r>
            <a:r>
              <a:rPr sz="2400" spc="-5" dirty="0">
                <a:latin typeface="Symbol"/>
                <a:cs typeface="Symbol"/>
              </a:rPr>
              <a:t></a:t>
            </a:r>
            <a:r>
              <a:rPr sz="2400" spc="-7" baseline="-20833" dirty="0">
                <a:latin typeface="Comic Sans MS"/>
                <a:cs typeface="Comic Sans MS"/>
              </a:rPr>
              <a:t>n </a:t>
            </a:r>
            <a:r>
              <a:rPr sz="2400" dirty="0">
                <a:latin typeface="Arial"/>
                <a:cs typeface="Arial"/>
              </a:rPr>
              <a:t>¸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dirty="0">
                <a:latin typeface="Comic Sans MS"/>
                <a:cs typeface="Comic Sans MS"/>
              </a:rPr>
              <a:t>0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060" y="566444"/>
            <a:ext cx="37122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SVD</a:t>
            </a:r>
            <a:r>
              <a:rPr spc="-55" dirty="0"/>
              <a:t> </a:t>
            </a:r>
            <a:r>
              <a:rPr dirty="0"/>
              <a:t>Properties</a:t>
            </a:r>
          </a:p>
        </p:txBody>
      </p:sp>
      <p:sp>
        <p:nvSpPr>
          <p:cNvPr id="3" name="object 3"/>
          <p:cNvSpPr/>
          <p:nvPr/>
        </p:nvSpPr>
        <p:spPr>
          <a:xfrm>
            <a:off x="3444240" y="1520952"/>
            <a:ext cx="2877312" cy="530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122" y="2992628"/>
            <a:ext cx="7442834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10820">
              <a:lnSpc>
                <a:spcPct val="100000"/>
              </a:lnSpc>
              <a:spcBef>
                <a:spcPts val="100"/>
              </a:spcBef>
              <a:buChar char="•"/>
              <a:tabLst>
                <a:tab pos="248920" algn="l"/>
              </a:tabLst>
            </a:pPr>
            <a:r>
              <a:rPr sz="2400" dirty="0">
                <a:latin typeface="Comic Sans MS"/>
                <a:cs typeface="Comic Sans MS"/>
              </a:rPr>
              <a:t>The columns of U are </a:t>
            </a:r>
            <a:r>
              <a:rPr sz="2400" spc="-5" dirty="0">
                <a:latin typeface="Comic Sans MS"/>
                <a:cs typeface="Comic Sans MS"/>
              </a:rPr>
              <a:t>the eigenvectors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5" dirty="0">
                <a:latin typeface="Comic Sans MS"/>
                <a:cs typeface="Comic Sans MS"/>
              </a:rPr>
              <a:t>XX</a:t>
            </a:r>
            <a:r>
              <a:rPr sz="2400" spc="-22" baseline="24305" dirty="0">
                <a:latin typeface="Comic Sans MS"/>
                <a:cs typeface="Comic Sans MS"/>
              </a:rPr>
              <a:t>T</a:t>
            </a:r>
            <a:endParaRPr sz="2400" baseline="24305">
              <a:latin typeface="Comic Sans MS"/>
              <a:cs typeface="Comic Sans MS"/>
            </a:endParaRPr>
          </a:p>
          <a:p>
            <a:pPr marL="248285" indent="-210820">
              <a:lnSpc>
                <a:spcPct val="100000"/>
              </a:lnSpc>
              <a:spcBef>
                <a:spcPts val="1700"/>
              </a:spcBef>
              <a:buChar char="•"/>
              <a:tabLst>
                <a:tab pos="248920" algn="l"/>
                <a:tab pos="3434079" algn="l"/>
              </a:tabLst>
            </a:pPr>
            <a:r>
              <a:rPr sz="2400" dirty="0">
                <a:latin typeface="Comic Sans MS"/>
                <a:cs typeface="Comic Sans MS"/>
              </a:rPr>
              <a:t>The columns of V are	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eigenvectors of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X</a:t>
            </a:r>
            <a:r>
              <a:rPr sz="2400" spc="-15" baseline="24305" dirty="0">
                <a:latin typeface="Comic Sans MS"/>
                <a:cs typeface="Comic Sans MS"/>
              </a:rPr>
              <a:t>T</a:t>
            </a:r>
            <a:r>
              <a:rPr sz="2400" spc="-10" dirty="0">
                <a:latin typeface="Comic Sans MS"/>
                <a:cs typeface="Comic Sans MS"/>
              </a:rPr>
              <a:t>X</a:t>
            </a:r>
            <a:endParaRPr sz="2400">
              <a:latin typeface="Comic Sans MS"/>
              <a:cs typeface="Comic Sans MS"/>
            </a:endParaRPr>
          </a:p>
          <a:p>
            <a:pPr marL="38100" marR="30480" indent="-635">
              <a:lnSpc>
                <a:spcPct val="160000"/>
              </a:lnSpc>
              <a:buChar char="•"/>
              <a:tabLst>
                <a:tab pos="248920" algn="l"/>
              </a:tabLst>
            </a:pPr>
            <a:r>
              <a:rPr sz="2400" dirty="0">
                <a:latin typeface="Comic Sans MS"/>
                <a:cs typeface="Comic Sans MS"/>
              </a:rPr>
              <a:t>The squares of </a:t>
            </a:r>
            <a:r>
              <a:rPr sz="2400" spc="-5" dirty="0">
                <a:latin typeface="Comic Sans MS"/>
                <a:cs typeface="Comic Sans MS"/>
              </a:rPr>
              <a:t>the diagonal </a:t>
            </a:r>
            <a:r>
              <a:rPr sz="2400" dirty="0">
                <a:latin typeface="Comic Sans MS"/>
                <a:cs typeface="Comic Sans MS"/>
              </a:rPr>
              <a:t>elements of D are</a:t>
            </a:r>
            <a:r>
              <a:rPr sz="2400" spc="-13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the  </a:t>
            </a:r>
            <a:r>
              <a:rPr sz="2400" dirty="0">
                <a:latin typeface="Comic Sans MS"/>
                <a:cs typeface="Comic Sans MS"/>
              </a:rPr>
              <a:t>eigenvalues of XX</a:t>
            </a:r>
            <a:r>
              <a:rPr sz="2400" baseline="24305" dirty="0">
                <a:latin typeface="Comic Sans MS"/>
                <a:cs typeface="Comic Sans MS"/>
              </a:rPr>
              <a:t>T</a:t>
            </a:r>
            <a:r>
              <a:rPr sz="160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26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r>
              <a:rPr sz="2400" spc="-7" baseline="24305" dirty="0">
                <a:latin typeface="Comic Sans MS"/>
                <a:cs typeface="Comic Sans MS"/>
              </a:rPr>
              <a:t>T</a:t>
            </a:r>
            <a:r>
              <a:rPr sz="2400" spc="-5" dirty="0">
                <a:latin typeface="Comic Sans MS"/>
                <a:cs typeface="Comic Sans MS"/>
              </a:rPr>
              <a:t>X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2155</Words>
  <Application>Microsoft Office PowerPoint</Application>
  <PresentationFormat>Custom</PresentationFormat>
  <Paragraphs>311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Comic Sans MS</vt:lpstr>
      <vt:lpstr>Symbol</vt:lpstr>
      <vt:lpstr>Times New Roman</vt:lpstr>
      <vt:lpstr>Office Theme</vt:lpstr>
      <vt:lpstr>Principal Components Analysis</vt:lpstr>
      <vt:lpstr>PowerPoint Presentation</vt:lpstr>
      <vt:lpstr>Covariance</vt:lpstr>
      <vt:lpstr>Covariance</vt:lpstr>
      <vt:lpstr>Covariance Matrix</vt:lpstr>
      <vt:lpstr>Covariance</vt:lpstr>
      <vt:lpstr>Covariance examples</vt:lpstr>
      <vt:lpstr>Covariance</vt:lpstr>
      <vt:lpstr>Covariance</vt:lpstr>
      <vt:lpstr>PCA</vt:lpstr>
      <vt:lpstr>PCA Toy Example</vt:lpstr>
      <vt:lpstr>PCA Toy Example</vt:lpstr>
      <vt:lpstr>PCA Toy Example</vt:lpstr>
      <vt:lpstr>Geometrical Interpretation:</vt:lpstr>
      <vt:lpstr>Geometrical Interpretation:</vt:lpstr>
      <vt:lpstr>Principal Component Analysis  (PCA)</vt:lpstr>
      <vt:lpstr>PCA</vt:lpstr>
      <vt:lpstr>PowerPoint Presentation</vt:lpstr>
      <vt:lpstr>PCA Theorem</vt:lpstr>
      <vt:lpstr>PCA Theorem</vt:lpstr>
      <vt:lpstr>PCA Theorem</vt:lpstr>
      <vt:lpstr>Using PCA to Compress Data</vt:lpstr>
      <vt:lpstr>Using PCA to Compress Data</vt:lpstr>
      <vt:lpstr>PCA Example –STEP 1</vt:lpstr>
      <vt:lpstr>PCA Example –STEP 2</vt:lpstr>
      <vt:lpstr>PCA Example –STEP 3</vt:lpstr>
      <vt:lpstr>PCA Example –STEP 3</vt:lpstr>
      <vt:lpstr>PCA Example –STEP 4</vt:lpstr>
      <vt:lpstr>PCA Example –STEP 5</vt:lpstr>
      <vt:lpstr>PCA Example –STEP 5</vt:lpstr>
      <vt:lpstr>PCA Example : Approximation</vt:lpstr>
      <vt:lpstr>PCA Example : Final Approximation</vt:lpstr>
      <vt:lpstr>Another way of thinking  about Principal component</vt:lpstr>
      <vt:lpstr>One-dimensional projection</vt:lpstr>
      <vt:lpstr>PowerPoint Presentation</vt:lpstr>
      <vt:lpstr>Maximizing variance</vt:lpstr>
      <vt:lpstr>Implementing PCA</vt:lpstr>
      <vt:lpstr>Singular Value Decomposition  (SVD)</vt:lpstr>
      <vt:lpstr>SVD Properties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Components Analysis</dc:title>
  <dc:creator>Setua</dc:creator>
  <cp:lastModifiedBy>Sanjit Setua</cp:lastModifiedBy>
  <cp:revision>5</cp:revision>
  <dcterms:created xsi:type="dcterms:W3CDTF">2021-03-15T10:02:47Z</dcterms:created>
  <dcterms:modified xsi:type="dcterms:W3CDTF">2025-11-10T04:50:48Z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2021-03-15T00:00:00Z</vt:filetime>
  </property>
</Properties>
</file>