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19" r:id="rId3"/>
    <p:sldId id="421" r:id="rId4"/>
    <p:sldId id="257" r:id="rId5"/>
    <p:sldId id="258" r:id="rId6"/>
    <p:sldId id="259" r:id="rId7"/>
    <p:sldId id="261" r:id="rId8"/>
    <p:sldId id="260" r:id="rId9"/>
    <p:sldId id="262" r:id="rId10"/>
    <p:sldId id="425" r:id="rId11"/>
    <p:sldId id="426" r:id="rId12"/>
    <p:sldId id="423" r:id="rId13"/>
    <p:sldId id="42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7139-C5AD-213F-FC08-C8492F637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37F2D-351A-686A-A4C1-6FED9E9E9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38AA-90BB-04C6-401D-7A5D66F1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3082A-7786-52ED-9C84-F27AC9EE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D4001-378B-F244-1A96-25421A14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2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4986-BF7B-E171-AD17-3A836C60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0DB5-B44B-6C3E-69DC-8574FB31F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54F2D-B765-703D-99CF-3C1B1B84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637C-2521-3996-EECF-AC1C4919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0C475-BC0A-5ADB-03B3-8A057A4F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8D70-CAA2-ABBD-ACDD-2FD95231E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4A675-D71A-395A-068E-1DE73669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FE9DB-534C-4D83-59DE-FA2654CF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DB67D-A6E1-D4E9-54C7-3F92D517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35043-BBC9-65CE-30FC-5ED71DA8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8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9D7A-1B2E-F092-FE94-E983B351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B1F70-0DE6-3F88-337E-66ACB36BD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1FDB4-F1F2-CF54-914D-6FD514226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293E8-1B90-E837-968F-F60568D9C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43FE8-58DF-B5B9-2990-89632038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9B52A-FDF0-6048-2964-7EE0CF1A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1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D5ED-7F8F-FD9B-74B1-37B05C37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E5CE2-AF17-3DA7-F616-D50231EBF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A1AC0-941B-9617-5024-669E1DD71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5E429-BEA9-20DD-21AF-C9191E415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B71BD-572D-4A39-E69E-2BF0EE264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75DCA4-D3EC-449C-F002-66FAC519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97B09F-BDFC-0341-8F31-01614ECF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22D0D8-F90F-8AE2-9B6C-318B5C43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7E16-5089-1D88-118D-D4DF0E57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5C1687-861D-15C1-715E-B210679DA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BB4D9-C812-F67F-0BD7-02EBF9F4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E88E4-7858-F05C-AE38-A67A241E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6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D5EEB-AE57-9BF3-E2A6-9D935653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8B93A-1BAE-0C80-8F13-E4D3FF44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0A7BA-F470-4C99-FA28-5CBD319F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4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37CF-82A8-C92E-B944-C1945EC0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B6F2C-50C0-BC6B-93B6-0093DC7DB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0CC7D-4587-3E55-BCAF-A74ABC838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3D2A2-F048-B72D-A685-36C382BF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280BE-ABA0-FF01-AEDD-38A30E74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0F518-26E9-172F-7FE4-14CAE8A0A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90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90C2-F940-411D-801C-61DBBD5E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51710-C835-88B4-B9F3-8FE97EA9C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D4953-45FC-9A42-9888-EC0EEB8AD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0CD3D-7F63-C860-F428-DA92AEF2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1979B-02D6-6F6A-DCA8-1CCA7B75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0FA00-3462-0BC9-4F2C-CC63D5D6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8011-4DBC-089A-A275-038013EC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590AD-A4B5-5427-0F14-E7715E5CB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0FDF4-CFCC-CBAB-B7B7-51E86289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403A7-A237-B7AB-DBD7-5EABA204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DAC8F-923C-396F-1038-EAC85CA2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70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D92B4-1782-EB23-BD8A-8224BD019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05F5A-166D-C93E-0B62-5B7E09AFD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A490B-F045-B427-C23C-B2BAA06B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87867-F035-2469-6AE9-3E01DC9D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AAF8-3580-C3D7-FA62-B144EFCB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141E1C-36A6-147F-9FD2-0380B525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E1F09-1E36-D2E5-F2D9-8BF592127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C50EF-0DC2-B576-9DE1-4B53CE137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189CF-F1E1-4039-ACFC-F06482B1DFF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8C80C-3413-C32E-C3D8-60510961D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622E5-A015-FF14-3439-73E3C0315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B29BE-3826-49C1-ABAD-F6B96C886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D840-9421-CA6B-4C4A-940AB58A5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SVM-ALGO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0ED3E-7E75-A755-A81B-D76779FE00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9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BDBA84-929D-7063-DC72-01ED461EFE56}"/>
              </a:ext>
            </a:extLst>
          </p:cNvPr>
          <p:cNvSpPr txBox="1"/>
          <p:nvPr/>
        </p:nvSpPr>
        <p:spPr>
          <a:xfrm>
            <a:off x="589935" y="375061"/>
            <a:ext cx="11194026" cy="463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Concepts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An (n-1)-dimensional subspace that divides the space into two halves, used as the decision boundary for classification.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 Vectors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Data points closest to the hyperplane that influence its position and margin; they are critical in defining the classifier.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Margin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gap between the hyperplane and the closest support vectors, which SVM maximizes to improve generalization and classification performance.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D62B8A-1FCE-CA60-D746-88763E3B5C84}"/>
              </a:ext>
            </a:extLst>
          </p:cNvPr>
          <p:cNvSpPr txBox="1"/>
          <p:nvPr/>
        </p:nvSpPr>
        <p:spPr>
          <a:xfrm>
            <a:off x="260555" y="405581"/>
            <a:ext cx="11597148" cy="5825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 Margin vs. Soft Margin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Hard margin requires perfect separation with no misclassification, which is often not possible. Soft margin allows some misclassifications to balance margin size and errors, handled through slack variables and regularization.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Kernel Trick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Enables SVM to perform non-linear classification by implicitly mapping input data into higher-dimensional spaces using kernel functions (e.g., linear, polynomial, radial basis function (RBF)) without explicitly computing the transformation.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Regularization Parameter (C)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Controls trade-off between maximizing margin and minimizing classification error; a higher value penalizes misclassification more strictly.​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Hinge Loss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loss function used in SVM that penalizes points violating the margin or misclassified, combined with regularization in the optimization problem.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046661-FBD3-EE85-51AF-61E9A3FC56FA}"/>
                  </a:ext>
                </a:extLst>
              </p:cNvPr>
              <p:cNvSpPr txBox="1"/>
              <p:nvPr/>
            </p:nvSpPr>
            <p:spPr>
              <a:xfrm>
                <a:off x="634180" y="98537"/>
                <a:ext cx="11557819" cy="6801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for Linear SVM (Hard Margin):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12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Setup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30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dataset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Sup>
                          <m:sSub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 i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</m:d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24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{−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, +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30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hyperplane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maximizes the margin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 classes, subject to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 Problem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30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sz="2400" i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Lagrangian Formulation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Introduce Lagrange multipliers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α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ar-AE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400" i="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400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046661-FBD3-EE85-51AF-61E9A3FC5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80" y="98537"/>
                <a:ext cx="11557819" cy="6801606"/>
              </a:xfrm>
              <a:prstGeom prst="rect">
                <a:avLst/>
              </a:prstGeom>
              <a:blipFill>
                <a:blip r:embed="rId2"/>
                <a:stretch>
                  <a:fillRect l="-791"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2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5AFD1C-3B3F-175A-5BB9-5024B09B1B6E}"/>
                  </a:ext>
                </a:extLst>
              </p:cNvPr>
              <p:cNvSpPr txBox="1"/>
              <p:nvPr/>
            </p:nvSpPr>
            <p:spPr>
              <a:xfrm>
                <a:off x="542003" y="0"/>
                <a:ext cx="10711016" cy="6087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l">
                  <a:spcBef>
                    <a:spcPts val="300"/>
                  </a:spcBef>
                  <a:spcAft>
                    <a:spcPts val="1200"/>
                  </a:spcAft>
                </a:pPr>
                <a:endParaRPr lang="en-US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Dual Problem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Maximize the dual function:</a:t>
                </a:r>
              </a:p>
              <a:p>
                <a:pPr lvl="1" algn="l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Solve for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30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quadratic programming to find optimal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Recover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3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l">
                  <a:spcBef>
                    <a:spcPts val="45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where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 vectors).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Classification Rule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algn="l">
                  <a:spcBef>
                    <a:spcPts val="30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new point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predict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sign</m:t>
                    </m:r>
                    <m:d>
                      <m:dPr>
                        <m:ctrlPr>
                          <a:rPr lang="ar-AE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2400" b="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5AFD1C-3B3F-175A-5BB9-5024B09B1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03" y="0"/>
                <a:ext cx="10711016" cy="6087372"/>
              </a:xfrm>
              <a:prstGeom prst="rect">
                <a:avLst/>
              </a:prstGeom>
              <a:blipFill>
                <a:blip r:embed="rId2"/>
                <a:stretch>
                  <a:fillRect l="-911" b="-1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81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C5DBDA-4FBE-688B-7367-BF4E7C50D226}"/>
                  </a:ext>
                </a:extLst>
              </p:cNvPr>
              <p:cNvSpPr txBox="1"/>
              <p:nvPr/>
            </p:nvSpPr>
            <p:spPr>
              <a:xfrm>
                <a:off x="615744" y="450595"/>
                <a:ext cx="11359945" cy="58144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ts val="2250"/>
                  </a:lnSpc>
                  <a:spcBef>
                    <a:spcPts val="2400"/>
                  </a:spcBef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Linear SVM with 2D Data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Dataset: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Class +1: (1,2), (2,2)</a:t>
                </a:r>
                <a:endParaRPr lang="ar-AE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Class -1: (0,0), (1,0)</a:t>
                </a:r>
                <a:endParaRPr lang="ar-AE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Write Constraints</a:t>
                </a:r>
                <a:b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point: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GB" sz="2400" dirty="0"/>
                  <a:t>	(1,1)</a:t>
                </a:r>
                <a14:m>
                  <m:oMath xmlns:m="http://schemas.openxmlformats.org/officeDocument/2006/math">
                    <m:r>
                      <a:rPr lang="ar-AE" sz="24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:      </a:t>
                </a:r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</a:pPr>
                <a:r>
                  <a:rPr lang="en-GB" sz="2400" dirty="0"/>
                  <a:t>	(2,2)</a:t>
                </a:r>
                <a14:m>
                  <m:oMath xmlns:m="http://schemas.openxmlformats.org/officeDocument/2006/math">
                    <m:r>
                      <a:rPr lang="ar-AE" sz="24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</a:pPr>
                <a:r>
                  <a:rPr lang="en-GB" sz="2400" dirty="0"/>
                  <a:t>	(0,0)</a:t>
                </a:r>
                <a14:m>
                  <m:oMath xmlns:m="http://schemas.openxmlformats.org/officeDocument/2006/math">
                    <m:r>
                      <a:rPr lang="ar-AE" sz="24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</a:pPr>
                <a:r>
                  <a:rPr lang="en-GB" sz="2400" dirty="0"/>
                  <a:t>	(1,0)</a:t>
                </a:r>
                <a14:m>
                  <m:oMath xmlns:m="http://schemas.openxmlformats.org/officeDocument/2006/math">
                    <m:r>
                      <a:rPr lang="ar-AE" sz="24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≤−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C5DBDA-4FBE-688B-7367-BF4E7C50D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44" y="450595"/>
                <a:ext cx="11359945" cy="5814412"/>
              </a:xfrm>
              <a:prstGeom prst="rect">
                <a:avLst/>
              </a:prstGeom>
              <a:blipFill>
                <a:blip r:embed="rId2"/>
                <a:stretch>
                  <a:fillRect l="-805" t="-2096" b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018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B51F67-ED47-C806-7F89-D303DA41001A}"/>
                  </a:ext>
                </a:extLst>
              </p:cNvPr>
              <p:cNvSpPr txBox="1"/>
              <p:nvPr/>
            </p:nvSpPr>
            <p:spPr>
              <a:xfrm>
                <a:off x="881215" y="666586"/>
                <a:ext cx="1051928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Sketch Margins</a:t>
                </a:r>
                <a:b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8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optimal hyperplane lies midway between the closest points from each class. Here, the support vectors are (1,1)</a:t>
                </a:r>
                <a14:m>
                  <m:oMath xmlns:m="http://schemas.openxmlformats.org/officeDocument/2006/math">
                    <m:r>
                      <a:rPr lang="ar-AE" sz="2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8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8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 (1,0)</a:t>
                </a:r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B51F67-ED47-C806-7F89-D303DA410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15" y="666586"/>
                <a:ext cx="10519288" cy="1384995"/>
              </a:xfrm>
              <a:prstGeom prst="rect">
                <a:avLst/>
              </a:prstGeom>
              <a:blipFill>
                <a:blip r:embed="rId2"/>
                <a:stretch>
                  <a:fillRect l="-1217" t="-4386" b="-10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22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808F6B-0C7E-D873-4B39-7185ED46AF3B}"/>
                  </a:ext>
                </a:extLst>
              </p:cNvPr>
              <p:cNvSpPr txBox="1"/>
              <p:nvPr/>
            </p:nvSpPr>
            <p:spPr>
              <a:xfrm>
                <a:off x="895965" y="441607"/>
                <a:ext cx="10799506" cy="5083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Step 3: Solve for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b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</a:b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Assume support vectors (1,1)</a:t>
                </a:r>
                <a14:m>
                  <m:oMath xmlns:m="http://schemas.openxmlformats.org/officeDocument/2006/math">
                    <m:r>
                      <a:rPr lang="ar-AE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and (1,0)</a:t>
                </a:r>
                <a14:m>
                  <m:oMath xmlns:m="http://schemas.openxmlformats.org/officeDocument/2006/math">
                    <m:r>
                      <a:rPr lang="ar-AE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lie on the margins: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Subtracting: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 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Choose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to ensure the hyperplane is equidistant. Then: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Check: 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(valid).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Thus,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, </a:t>
                </a:r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</a:t>
                </a:r>
                <a:b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</a:b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Hyperplane: 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808F6B-0C7E-D873-4B39-7185ED46A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5" y="441607"/>
                <a:ext cx="10799506" cy="5083443"/>
              </a:xfrm>
              <a:prstGeom prst="rect">
                <a:avLst/>
              </a:prstGeom>
              <a:blipFill>
                <a:blip r:embed="rId2"/>
                <a:stretch>
                  <a:fillRect l="-903" t="-959" r="-113" b="-1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10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C905AD-65ED-6918-E4D2-0F71C6B5B4E5}"/>
                  </a:ext>
                </a:extLst>
              </p:cNvPr>
              <p:cNvSpPr txBox="1"/>
              <p:nvPr/>
            </p:nvSpPr>
            <p:spPr>
              <a:xfrm>
                <a:off x="512505" y="252040"/>
                <a:ext cx="6098458" cy="3682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Verify</a:t>
                </a:r>
                <a:endParaRPr lang="en-US" sz="2400" b="0" i="0" dirty="0">
                  <a:solidFill>
                    <a:srgbClr val="0F1115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Margin: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2400" i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Classification:</a:t>
                </a:r>
              </a:p>
              <a:p>
                <a:pPr marL="742950" lvl="1" indent="-285750" algn="l">
                  <a:spcBef>
                    <a:spcPts val="3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/>
                  <a:t>(1,1)</a:t>
                </a:r>
                <a14:m>
                  <m:oMath xmlns:m="http://schemas.openxmlformats.org/officeDocument/2006/math">
                    <m:r>
                      <a:rPr lang="ar-AE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→ 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+1.</a:t>
                </a:r>
              </a:p>
              <a:p>
                <a:pPr marL="742950" lvl="1" indent="-285750"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/>
                  <a:t>(1,0)</a:t>
                </a:r>
                <a14:m>
                  <m:oMath xmlns:m="http://schemas.openxmlformats.org/officeDocument/2006/math">
                    <m:r>
                      <a:rPr lang="ar-AE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→ 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-1.</a:t>
                </a: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C905AD-65ED-6918-E4D2-0F71C6B5B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5" y="252040"/>
                <a:ext cx="6098458" cy="3682868"/>
              </a:xfrm>
              <a:prstGeom prst="rect">
                <a:avLst/>
              </a:prstGeom>
              <a:blipFill>
                <a:blip r:embed="rId2"/>
                <a:stretch>
                  <a:fillRect l="-1500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8FD3142-CE5E-488C-2704-70B0E522624F}"/>
              </a:ext>
            </a:extLst>
          </p:cNvPr>
          <p:cNvSpPr txBox="1"/>
          <p:nvPr/>
        </p:nvSpPr>
        <p:spPr>
          <a:xfrm>
            <a:off x="275303" y="4339955"/>
            <a:ext cx="11404192" cy="2266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endParaRPr lang="en-US" sz="24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non-linearly separable data, use </a:t>
            </a:r>
            <a:r>
              <a:rPr lang="en-US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soft-margin SVM</a:t>
            </a:r>
            <a:r>
              <a:rPr lang="en-US" sz="2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slack variables.</a:t>
            </a:r>
          </a:p>
          <a:p>
            <a:pPr>
              <a:lnSpc>
                <a:spcPts val="2100"/>
              </a:lnSpc>
              <a:spcBef>
                <a:spcPts val="4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non-linear boundaries, use </a:t>
            </a:r>
            <a:r>
              <a:rPr lang="en-US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tricks</a:t>
            </a:r>
            <a:r>
              <a:rPr lang="en-US" sz="2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(e.g., RBF, polynomial).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72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50CDC9-6B9C-973C-2F93-86A1FB32298C}"/>
              </a:ext>
            </a:extLst>
          </p:cNvPr>
          <p:cNvSpPr txBox="1"/>
          <p:nvPr/>
        </p:nvSpPr>
        <p:spPr>
          <a:xfrm>
            <a:off x="586248" y="241949"/>
            <a:ext cx="10902746" cy="3740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Lagrangian formulation is 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 just a mathematical trick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- it's a fundamental approach that: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Transforms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constrained problems into unconstrained ones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Reveals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important structural insights (like support vectors)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Enables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powerful techniques (like kernel methods)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Provides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both practical algorithms and theoretical understanding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It's the 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backbone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that makes SVM both theoretically elegant and practically powerful!</a:t>
            </a:r>
          </a:p>
        </p:txBody>
      </p:sp>
    </p:spTree>
    <p:extLst>
      <p:ext uri="{BB962C8B-B14F-4D97-AF65-F5344CB8AC3E}">
        <p14:creationId xmlns:p14="http://schemas.microsoft.com/office/powerpoint/2010/main" val="3518710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C07F92-E43A-1491-017A-ED344365C38E}"/>
                  </a:ext>
                </a:extLst>
              </p:cNvPr>
              <p:cNvSpPr txBox="1"/>
              <p:nvPr/>
            </p:nvSpPr>
            <p:spPr>
              <a:xfrm>
                <a:off x="733731" y="325633"/>
                <a:ext cx="10799507" cy="3930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Why is it needed?</a:t>
                </a:r>
                <a:endParaRPr lang="en-US" sz="24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24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Dual Problem</a:t>
                </a: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The Lagrangian formulation yields the dual problem, which depends solely on the inner products of the feature vectors. This is crucial for the kernel trick.</a:t>
                </a:r>
              </a:p>
              <a:p>
                <a:pPr marL="342900" marR="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24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Solving with Kernels</a:t>
                </a: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In the dual problem, we can replace the inner products with kernel functions, allowing us to work in high-dimensional spaces without explicitly computing the coordinates.</a:t>
                </a:r>
              </a:p>
              <a:p>
                <a:pPr marL="342900" marR="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sz="24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Support Vectors</a:t>
                </a: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The solution of the dual problem reveals that only a few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are non-zero (the support vectors), which simplifies the model.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C07F92-E43A-1491-017A-ED344365C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31" y="325633"/>
                <a:ext cx="10799507" cy="3930050"/>
              </a:xfrm>
              <a:prstGeom prst="rect">
                <a:avLst/>
              </a:prstGeom>
              <a:blipFill>
                <a:blip r:embed="rId2"/>
                <a:stretch>
                  <a:fillRect l="-847" t="-1240" r="-621" b="-2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55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ACC204-6E06-743A-26FF-493CF6D83A79}"/>
                  </a:ext>
                </a:extLst>
              </p:cNvPr>
              <p:cNvSpPr txBox="1"/>
              <p:nvPr/>
            </p:nvSpPr>
            <p:spPr>
              <a:xfrm>
                <a:off x="409267" y="374591"/>
                <a:ext cx="11271456" cy="6061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GB" sz="2400" b="1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</a:t>
                </a:r>
                <a:r>
                  <a:rPr lang="en-GB" sz="2400" b="1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Lagrangian</a:t>
                </a:r>
                <a:r>
                  <a:rPr lang="en-GB" sz="2400" b="1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Formulation?</a:t>
                </a:r>
              </a:p>
              <a:p>
                <a:pPr algn="l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SVM, we want to find the hyperplane that maximizes the margin between two classes. The problem is naturally a constrained optimization problem: we want to minimize the norm of the weights (to maximize the margin) subject to the constraints that each data point is correctly classified (with a margin of at least 1).</a:t>
                </a:r>
              </a:p>
              <a:p>
                <a:pPr algn="l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primal problem for hard-margin SVM is:</a:t>
                </a:r>
                <a:b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Minimize: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GB" sz="24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sSup>
                      <m:sSupPr>
                        <m:ctrlPr>
                          <a:rPr lang="en-GB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GB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GB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GB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GB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24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for all 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24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a convex optimization problem with linear constraints. We use the </a:t>
                </a:r>
                <a:r>
                  <a:rPr lang="en-GB" sz="24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Lagrangian</a:t>
                </a:r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formulation to transform this constrained problem into an unconstrained one, which is easier to solve. The </a:t>
                </a:r>
                <a:r>
                  <a:rPr lang="en-GB" sz="24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Lagrangian</a:t>
                </a:r>
                <a:r>
                  <a:rPr lang="en-GB" sz="2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also allows us to leverage the kernel trick for non-linear SVMs.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ACC204-6E06-743A-26FF-493CF6D83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67" y="374591"/>
                <a:ext cx="11271456" cy="6061531"/>
              </a:xfrm>
              <a:prstGeom prst="rect">
                <a:avLst/>
              </a:prstGeom>
              <a:blipFill>
                <a:blip r:embed="rId2"/>
                <a:stretch>
                  <a:fillRect l="-811" t="-804" b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157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443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994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quote-cjk-patch</vt:lpstr>
      <vt:lpstr>Symbol</vt:lpstr>
      <vt:lpstr>Times New Roman</vt:lpstr>
      <vt:lpstr>Office Theme</vt:lpstr>
      <vt:lpstr>SVM-ALGO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Sanjit Setua</dc:creator>
  <cp:lastModifiedBy>Sanjit Setua</cp:lastModifiedBy>
  <cp:revision>11</cp:revision>
  <dcterms:created xsi:type="dcterms:W3CDTF">2025-11-10T00:16:25Z</dcterms:created>
  <dcterms:modified xsi:type="dcterms:W3CDTF">2025-11-10T04:48:32Z</dcterms:modified>
</cp:coreProperties>
</file>