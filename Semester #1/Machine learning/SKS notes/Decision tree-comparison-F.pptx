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7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2298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5731B-3F82-4687-813B-454B2FC1343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74925" y="1257300"/>
            <a:ext cx="262255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1A39CA-79FA-44B2-A02E-42630C08A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69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Decision Tre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A3829-AAD4-4F5A-8125-CBF98EF5D8BA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Decision Tre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7CEC6-9A2C-46A6-864C-36D452E50D9C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Decision Tre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F00BC-C8DA-4C04-B676-F1FE413D34AC}" type="datetime1">
              <a:rPr lang="en-US" smtClean="0"/>
              <a:t>10/13/2025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Decision Tre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71F4C-DA86-4631-BF2B-B8F49986E426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Decision 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7627E-69A5-4188-8F6C-311B3619E5B5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Decision Tre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ED59E4-D083-418C-8EBF-BF3F86465C21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62889"/>
            <a:ext cx="6769734" cy="5934075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314325" indent="-301625" algn="just">
              <a:lnSpc>
                <a:spcPct val="100000"/>
              </a:lnSpc>
              <a:spcBef>
                <a:spcPts val="1410"/>
              </a:spcBef>
              <a:buAutoNum type="arabicPeriod"/>
              <a:tabLst>
                <a:tab pos="314325" algn="l"/>
              </a:tabLst>
            </a:pPr>
            <a:r>
              <a:rPr sz="2400" b="1" dirty="0">
                <a:latin typeface="Calibri"/>
                <a:cs typeface="Calibri"/>
              </a:rPr>
              <a:t>Introduction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Decision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Trees</a:t>
            </a:r>
            <a:endParaRPr sz="2400">
              <a:latin typeface="Calibri"/>
              <a:cs typeface="Calibri"/>
            </a:endParaRPr>
          </a:p>
          <a:p>
            <a:pPr marL="12700" marR="392430" algn="just">
              <a:lnSpc>
                <a:spcPct val="117900"/>
              </a:lnSpc>
              <a:spcBef>
                <a:spcPts val="795"/>
              </a:spcBef>
            </a:pP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Decision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Tree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supervised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learning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algorithm </a:t>
            </a:r>
            <a:r>
              <a:rPr sz="2400" b="1" dirty="0">
                <a:latin typeface="Calibri"/>
                <a:cs typeface="Calibri"/>
              </a:rPr>
              <a:t>used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both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classification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regression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tasks.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It</a:t>
            </a:r>
            <a:endParaRPr sz="2400">
              <a:latin typeface="Calibri"/>
              <a:cs typeface="Calibri"/>
            </a:endParaRPr>
          </a:p>
          <a:p>
            <a:pPr marL="12700" marR="5080" algn="just">
              <a:lnSpc>
                <a:spcPct val="117900"/>
              </a:lnSpc>
            </a:pPr>
            <a:r>
              <a:rPr sz="2400" b="1" dirty="0">
                <a:latin typeface="Calibri"/>
                <a:cs typeface="Calibri"/>
              </a:rPr>
              <a:t>works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recursively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splitting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dataset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into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subsets </a:t>
            </a:r>
            <a:r>
              <a:rPr sz="2400" b="1" dirty="0">
                <a:latin typeface="Calibri"/>
                <a:cs typeface="Calibri"/>
              </a:rPr>
              <a:t>based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feature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values,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forming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tree-</a:t>
            </a:r>
            <a:r>
              <a:rPr sz="2400" b="1" dirty="0">
                <a:latin typeface="Calibri"/>
                <a:cs typeface="Calibri"/>
              </a:rPr>
              <a:t>like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structure where:</a:t>
            </a:r>
            <a:endParaRPr sz="2400">
              <a:latin typeface="Calibri"/>
              <a:cs typeface="Calibri"/>
            </a:endParaRPr>
          </a:p>
          <a:p>
            <a:pPr marL="469265" lvl="1" indent="-227965" algn="just">
              <a:lnSpc>
                <a:spcPct val="100000"/>
              </a:lnSpc>
              <a:spcBef>
                <a:spcPts val="1310"/>
              </a:spcBef>
              <a:buSzPct val="41666"/>
              <a:buFont typeface="Symbol"/>
              <a:buChar char=""/>
              <a:tabLst>
                <a:tab pos="469265" algn="l"/>
              </a:tabLst>
            </a:pPr>
            <a:r>
              <a:rPr sz="2400" b="1" dirty="0">
                <a:latin typeface="Calibri"/>
                <a:cs typeface="Calibri"/>
              </a:rPr>
              <a:t>Internal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nodes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represent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tests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features,</a:t>
            </a:r>
            <a:endParaRPr sz="2400">
              <a:latin typeface="Calibri"/>
              <a:cs typeface="Calibri"/>
            </a:endParaRPr>
          </a:p>
          <a:p>
            <a:pPr marL="469265" lvl="1" indent="-227965" algn="just">
              <a:lnSpc>
                <a:spcPct val="100000"/>
              </a:lnSpc>
              <a:spcBef>
                <a:spcPts val="515"/>
              </a:spcBef>
              <a:buSzPct val="41666"/>
              <a:buFont typeface="Symbol"/>
              <a:buChar char=""/>
              <a:tabLst>
                <a:tab pos="469265" algn="l"/>
              </a:tabLst>
            </a:pPr>
            <a:r>
              <a:rPr sz="2400" b="1" spc="-10" dirty="0">
                <a:latin typeface="Calibri"/>
                <a:cs typeface="Calibri"/>
              </a:rPr>
              <a:t>Branches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represent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decision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outcomes,</a:t>
            </a:r>
            <a:endParaRPr sz="2400">
              <a:latin typeface="Calibri"/>
              <a:cs typeface="Calibri"/>
            </a:endParaRPr>
          </a:p>
          <a:p>
            <a:pPr marL="468630" marR="1082675" lvl="1" indent="-227965" algn="just">
              <a:lnSpc>
                <a:spcPct val="117500"/>
              </a:lnSpc>
              <a:spcBef>
                <a:spcPts val="1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Leaf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nodes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represent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predicted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classes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or 	</a:t>
            </a:r>
            <a:r>
              <a:rPr sz="2400" b="1" dirty="0">
                <a:latin typeface="Calibri"/>
                <a:cs typeface="Calibri"/>
              </a:rPr>
              <a:t>numerical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values.</a:t>
            </a:r>
            <a:endParaRPr sz="2400">
              <a:latin typeface="Calibri"/>
              <a:cs typeface="Calibri"/>
            </a:endParaRPr>
          </a:p>
          <a:p>
            <a:pPr marL="12700" marR="115570">
              <a:lnSpc>
                <a:spcPts val="3400"/>
              </a:lnSpc>
              <a:spcBef>
                <a:spcPts val="90"/>
              </a:spcBef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goal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construct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model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predicts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the </a:t>
            </a:r>
            <a:r>
              <a:rPr sz="2400" b="1" dirty="0">
                <a:latin typeface="Calibri"/>
                <a:cs typeface="Calibri"/>
              </a:rPr>
              <a:t>value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target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variable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learning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simple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decision </a:t>
            </a:r>
            <a:r>
              <a:rPr sz="2400" b="1" dirty="0">
                <a:latin typeface="Calibri"/>
                <a:cs typeface="Calibri"/>
              </a:rPr>
              <a:t>rules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inferred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from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data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features.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372A2F-20A3-8742-EAB1-E4EC58980493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8C43207A-A4DA-434E-B025-A2D522CD2B05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7DC278-D5F4-E30E-F289-F2C41A0C23C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4165FC-05E6-8D30-BBAE-E2864A4F087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29259"/>
            <a:ext cx="2016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2.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Key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Concepts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8629" y="1002030"/>
          <a:ext cx="6912609" cy="6246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7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2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44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Term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95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515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Root</a:t>
                      </a:r>
                      <a:r>
                        <a:rPr sz="20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924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topmost</a:t>
                      </a:r>
                      <a:r>
                        <a:rPr sz="20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node</a:t>
                      </a:r>
                      <a:r>
                        <a:rPr sz="20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represents</a:t>
                      </a:r>
                      <a:r>
                        <a:rPr sz="20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entire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6034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dataset;</a:t>
                      </a:r>
                      <a:r>
                        <a:rPr sz="20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20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0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split</a:t>
                      </a:r>
                      <a:r>
                        <a:rPr sz="20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into</a:t>
                      </a:r>
                      <a:r>
                        <a:rPr sz="20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sub-nodes.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95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515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Splitting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924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process</a:t>
                      </a:r>
                      <a:r>
                        <a:rPr sz="20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dividing</a:t>
                      </a:r>
                      <a:r>
                        <a:rPr sz="20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dataset</a:t>
                      </a:r>
                      <a:r>
                        <a:rPr sz="20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into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603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subsets</a:t>
                      </a:r>
                      <a:r>
                        <a:rPr sz="20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20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20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attribute</a:t>
                      </a:r>
                      <a:r>
                        <a:rPr sz="20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values.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809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Decision</a:t>
                      </a:r>
                      <a:r>
                        <a:rPr sz="20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0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node</a:t>
                      </a:r>
                      <a:r>
                        <a:rPr sz="20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20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splits</a:t>
                      </a:r>
                      <a:r>
                        <a:rPr sz="20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further</a:t>
                      </a:r>
                      <a:r>
                        <a:rPr sz="20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into</a:t>
                      </a:r>
                      <a:r>
                        <a:rPr sz="20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20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nodes.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995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Leaf</a:t>
                      </a:r>
                      <a:r>
                        <a:rPr sz="20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20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Terminal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0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node</a:t>
                      </a:r>
                      <a:r>
                        <a:rPr sz="20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20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represents</a:t>
                      </a:r>
                      <a:r>
                        <a:rPr sz="20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final</a:t>
                      </a:r>
                      <a:r>
                        <a:rPr sz="20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class</a:t>
                      </a:r>
                      <a:r>
                        <a:rPr sz="20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label</a:t>
                      </a:r>
                      <a:r>
                        <a:rPr sz="20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5" dirty="0">
                          <a:latin typeface="Calibri"/>
                          <a:cs typeface="Calibri"/>
                        </a:rPr>
                        <a:t>or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603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prediction.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185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Pruning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936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process</a:t>
                      </a:r>
                      <a:r>
                        <a:rPr sz="20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removing</a:t>
                      </a:r>
                      <a:r>
                        <a:rPr sz="20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unnecessary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6034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branches</a:t>
                      </a:r>
                      <a:r>
                        <a:rPr sz="20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0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reduce</a:t>
                      </a:r>
                      <a:r>
                        <a:rPr sz="20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overfitting.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995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Entropy</a:t>
                      </a:r>
                      <a:r>
                        <a:rPr sz="20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20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Gini</a:t>
                      </a:r>
                      <a:r>
                        <a:rPr sz="2000" b="1" spc="-50" dirty="0">
                          <a:latin typeface="Calibri"/>
                          <a:cs typeface="Calibri"/>
                        </a:rPr>
                        <a:t> /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Variance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Metrics</a:t>
                      </a:r>
                      <a:r>
                        <a:rPr sz="20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20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0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determine</a:t>
                      </a:r>
                      <a:r>
                        <a:rPr sz="20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“purity”</a:t>
                      </a:r>
                      <a:r>
                        <a:rPr sz="20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5" dirty="0">
                          <a:latin typeface="Calibri"/>
                          <a:cs typeface="Calibri"/>
                        </a:rPr>
                        <a:t>or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6034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homogeneity</a:t>
                      </a:r>
                      <a:r>
                        <a:rPr sz="20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0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node.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7058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515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Information</a:t>
                      </a:r>
                      <a:r>
                        <a:rPr sz="20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Gain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924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reduction</a:t>
                      </a:r>
                      <a:r>
                        <a:rPr sz="20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0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impurity</a:t>
                      </a:r>
                      <a:r>
                        <a:rPr sz="20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achieved</a:t>
                      </a:r>
                      <a:r>
                        <a:rPr sz="20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5" dirty="0">
                          <a:latin typeface="Calibri"/>
                          <a:cs typeface="Calibri"/>
                        </a:rPr>
                        <a:t>by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603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splitting</a:t>
                      </a:r>
                      <a:r>
                        <a:rPr sz="20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20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attribute.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77134-810F-5081-96D5-500B79F42B61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43257656-E614-4D58-9936-0191C78E3C96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40AF5-94FB-7F5D-1347-D9CDCFE5B1B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A50EC-E119-1263-3FD5-B6F690E6F56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262889"/>
            <a:ext cx="6797675" cy="903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43865" indent="301625">
              <a:lnSpc>
                <a:spcPct val="145500"/>
              </a:lnSpc>
              <a:spcBef>
                <a:spcPts val="100"/>
              </a:spcBef>
              <a:buAutoNum type="arabicPeriod" startAt="3"/>
              <a:tabLst>
                <a:tab pos="301625" algn="l"/>
              </a:tabLst>
            </a:pPr>
            <a:r>
              <a:rPr sz="2400" b="1" spc="-25" dirty="0">
                <a:latin typeface="Calibri"/>
                <a:cs typeface="Calibri"/>
              </a:rPr>
              <a:t>Step-</a:t>
            </a:r>
            <a:r>
              <a:rPr sz="2400" b="1" spc="-40" dirty="0">
                <a:latin typeface="Calibri"/>
                <a:cs typeface="Calibri"/>
              </a:rPr>
              <a:t>by-</a:t>
            </a: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Process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Building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Decision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Tree </a:t>
            </a: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1: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Select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Best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Feature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Split</a:t>
            </a:r>
            <a:endParaRPr sz="2400">
              <a:latin typeface="Calibri"/>
              <a:cs typeface="Calibri"/>
            </a:endParaRPr>
          </a:p>
          <a:p>
            <a:pPr marL="457200" lvl="1" indent="-229235">
              <a:lnSpc>
                <a:spcPct val="101699"/>
              </a:lnSpc>
              <a:spcBef>
                <a:spcPts val="1270"/>
              </a:spcBef>
              <a:buSzPct val="41666"/>
              <a:buFont typeface="Symbol"/>
              <a:buChar char=""/>
              <a:tabLst>
                <a:tab pos="457200" algn="l"/>
              </a:tabLst>
            </a:pPr>
            <a:r>
              <a:rPr sz="2400" b="1" dirty="0">
                <a:latin typeface="Calibri"/>
                <a:cs typeface="Calibri"/>
              </a:rPr>
              <a:t>Choose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feature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best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separates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data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at </a:t>
            </a:r>
            <a:r>
              <a:rPr sz="2400" b="1" dirty="0">
                <a:latin typeface="Calibri"/>
                <a:cs typeface="Calibri"/>
              </a:rPr>
              <a:t>each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node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according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splitting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criterion.</a:t>
            </a:r>
            <a:endParaRPr sz="2400">
              <a:latin typeface="Calibri"/>
              <a:cs typeface="Calibri"/>
            </a:endParaRPr>
          </a:p>
          <a:p>
            <a:pPr marL="457200" lvl="1" indent="-228600">
              <a:lnSpc>
                <a:spcPct val="100000"/>
              </a:lnSpc>
              <a:spcBef>
                <a:spcPts val="45"/>
              </a:spcBef>
              <a:buSzPct val="41666"/>
              <a:buFont typeface="Symbol"/>
              <a:buChar char=""/>
              <a:tabLst>
                <a:tab pos="457200" algn="l"/>
              </a:tabLst>
            </a:pPr>
            <a:r>
              <a:rPr sz="2400" b="1" dirty="0">
                <a:latin typeface="Calibri"/>
                <a:cs typeface="Calibri"/>
              </a:rPr>
              <a:t>Common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criteria:</a:t>
            </a:r>
            <a:endParaRPr sz="2400">
              <a:latin typeface="Calibri"/>
              <a:cs typeface="Calibri"/>
            </a:endParaRPr>
          </a:p>
          <a:p>
            <a:pPr marL="914400" lvl="2" indent="-228600">
              <a:lnSpc>
                <a:spcPct val="100000"/>
              </a:lnSpc>
              <a:spcBef>
                <a:spcPts val="50"/>
              </a:spcBef>
              <a:buSzPct val="41666"/>
              <a:buFont typeface="Courier New"/>
              <a:buChar char="o"/>
              <a:tabLst>
                <a:tab pos="914400" algn="l"/>
              </a:tabLst>
            </a:pPr>
            <a:r>
              <a:rPr sz="2400" b="1" dirty="0">
                <a:latin typeface="Calibri"/>
                <a:cs typeface="Calibri"/>
              </a:rPr>
              <a:t>Entropy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&amp;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Information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(for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classification)</a:t>
            </a:r>
            <a:endParaRPr sz="2400">
              <a:latin typeface="Calibri"/>
              <a:cs typeface="Calibri"/>
            </a:endParaRPr>
          </a:p>
          <a:p>
            <a:pPr marL="914400" lvl="2" indent="-228600">
              <a:lnSpc>
                <a:spcPct val="100000"/>
              </a:lnSpc>
              <a:spcBef>
                <a:spcPts val="50"/>
              </a:spcBef>
              <a:buSzPct val="41666"/>
              <a:buFont typeface="Courier New"/>
              <a:buChar char="o"/>
              <a:tabLst>
                <a:tab pos="914400" algn="l"/>
              </a:tabLst>
            </a:pPr>
            <a:r>
              <a:rPr sz="2400" b="1" dirty="0">
                <a:latin typeface="Calibri"/>
                <a:cs typeface="Calibri"/>
              </a:rPr>
              <a:t>Gini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Index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(for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classification)</a:t>
            </a:r>
            <a:endParaRPr sz="2400">
              <a:latin typeface="Calibri"/>
              <a:cs typeface="Calibri"/>
            </a:endParaRPr>
          </a:p>
          <a:p>
            <a:pPr marR="606425" lvl="2" indent="914400">
              <a:lnSpc>
                <a:spcPct val="101699"/>
              </a:lnSpc>
              <a:spcBef>
                <a:spcPts val="10"/>
              </a:spcBef>
              <a:buSzPct val="41666"/>
              <a:buFont typeface="Courier New"/>
              <a:buChar char="o"/>
              <a:tabLst>
                <a:tab pos="914400" algn="l"/>
              </a:tabLst>
            </a:pPr>
            <a:r>
              <a:rPr sz="2400" b="1" spc="-10" dirty="0">
                <a:latin typeface="Calibri"/>
                <a:cs typeface="Calibri"/>
              </a:rPr>
              <a:t>Variance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Reduction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/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MSE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(for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regression) </a:t>
            </a: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2: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Split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Dataset</a:t>
            </a:r>
            <a:endParaRPr sz="2400">
              <a:latin typeface="Calibri"/>
              <a:cs typeface="Calibri"/>
            </a:endParaRPr>
          </a:p>
          <a:p>
            <a:pPr marL="457200" marR="732790" lvl="1" indent="-229235">
              <a:lnSpc>
                <a:spcPct val="101699"/>
              </a:lnSpc>
              <a:buSzPct val="41666"/>
              <a:buFont typeface="Symbol"/>
              <a:buChar char=""/>
              <a:tabLst>
                <a:tab pos="457200" algn="l"/>
              </a:tabLst>
            </a:pPr>
            <a:r>
              <a:rPr sz="2400" b="1" dirty="0">
                <a:latin typeface="Calibri"/>
                <a:cs typeface="Calibri"/>
              </a:rPr>
              <a:t>Divide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dataset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into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subsets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based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the </a:t>
            </a:r>
            <a:r>
              <a:rPr sz="2400" b="1" dirty="0">
                <a:latin typeface="Calibri"/>
                <a:cs typeface="Calibri"/>
              </a:rPr>
              <a:t>chosen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30" dirty="0">
                <a:latin typeface="Calibri"/>
                <a:cs typeface="Calibri"/>
              </a:rPr>
              <a:t>feature’s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possible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values.</a:t>
            </a:r>
            <a:endParaRPr sz="2400">
              <a:latin typeface="Calibri"/>
              <a:cs typeface="Calibri"/>
            </a:endParaRPr>
          </a:p>
          <a:p>
            <a:pPr marL="457200" lvl="1" indent="-228600">
              <a:lnSpc>
                <a:spcPct val="100000"/>
              </a:lnSpc>
              <a:spcBef>
                <a:spcPts val="50"/>
              </a:spcBef>
              <a:buSzPct val="41666"/>
              <a:buFont typeface="Symbol"/>
              <a:buChar char=""/>
              <a:tabLst>
                <a:tab pos="457200" algn="l"/>
              </a:tabLst>
            </a:pPr>
            <a:r>
              <a:rPr sz="2400" b="1" dirty="0">
                <a:latin typeface="Calibri"/>
                <a:cs typeface="Calibri"/>
              </a:rPr>
              <a:t>Example: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feature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“Weather”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with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values</a:t>
            </a:r>
            <a:endParaRPr sz="2400">
              <a:latin typeface="Calibri"/>
              <a:cs typeface="Calibri"/>
            </a:endParaRPr>
          </a:p>
          <a:p>
            <a:pPr marL="457200" marR="1096010">
              <a:lnSpc>
                <a:spcPct val="101699"/>
              </a:lnSpc>
            </a:pPr>
            <a:r>
              <a:rPr sz="2400" b="1" spc="-25" dirty="0">
                <a:latin typeface="Calibri"/>
                <a:cs typeface="Calibri"/>
              </a:rPr>
              <a:t>{Sunny,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Rainy,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Overcast},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split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dataset accordingly.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3: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Recurse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Each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Subset</a:t>
            </a:r>
            <a:endParaRPr sz="2400">
              <a:latin typeface="Calibri"/>
              <a:cs typeface="Calibri"/>
            </a:endParaRPr>
          </a:p>
          <a:p>
            <a:pPr marL="457200" marR="690245" lvl="1" indent="-229235">
              <a:lnSpc>
                <a:spcPct val="101699"/>
              </a:lnSpc>
              <a:buSzPct val="41666"/>
              <a:buFont typeface="Symbol"/>
              <a:buChar char=""/>
              <a:tabLst>
                <a:tab pos="457200" algn="l"/>
              </a:tabLst>
            </a:pPr>
            <a:r>
              <a:rPr sz="2400" b="1" dirty="0">
                <a:latin typeface="Calibri"/>
                <a:cs typeface="Calibri"/>
              </a:rPr>
              <a:t>Repeat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1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2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recursively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each </a:t>
            </a:r>
            <a:r>
              <a:rPr sz="2400" b="1" dirty="0">
                <a:latin typeface="Calibri"/>
                <a:cs typeface="Calibri"/>
              </a:rPr>
              <a:t>subset</a:t>
            </a:r>
            <a:r>
              <a:rPr sz="2400" b="1" spc="-1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until:</a:t>
            </a:r>
            <a:endParaRPr sz="2400">
              <a:latin typeface="Calibri"/>
              <a:cs typeface="Calibri"/>
            </a:endParaRPr>
          </a:p>
          <a:p>
            <a:pPr marL="914400" marR="506730" lvl="2" indent="-228600">
              <a:lnSpc>
                <a:spcPts val="2930"/>
              </a:lnSpc>
              <a:spcBef>
                <a:spcPts val="105"/>
              </a:spcBef>
              <a:buSzPct val="41666"/>
              <a:buFont typeface="Courier New"/>
              <a:buChar char="o"/>
              <a:tabLst>
                <a:tab pos="914400" algn="l"/>
              </a:tabLst>
            </a:pPr>
            <a:r>
              <a:rPr sz="2400" b="1" dirty="0">
                <a:latin typeface="Calibri"/>
                <a:cs typeface="Calibri"/>
              </a:rPr>
              <a:t>All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data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points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subgroup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belong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the </a:t>
            </a:r>
            <a:r>
              <a:rPr sz="2400" b="1" dirty="0">
                <a:latin typeface="Calibri"/>
                <a:cs typeface="Calibri"/>
              </a:rPr>
              <a:t>same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class,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or</a:t>
            </a:r>
            <a:endParaRPr sz="2400">
              <a:latin typeface="Calibri"/>
              <a:cs typeface="Calibri"/>
            </a:endParaRPr>
          </a:p>
          <a:p>
            <a:pPr marL="914400" lvl="2" indent="-228600">
              <a:lnSpc>
                <a:spcPts val="2825"/>
              </a:lnSpc>
              <a:buSzPct val="41666"/>
              <a:buFont typeface="Courier New"/>
              <a:buChar char="o"/>
              <a:tabLst>
                <a:tab pos="914400" algn="l"/>
              </a:tabLst>
            </a:pPr>
            <a:r>
              <a:rPr sz="2400" b="1" dirty="0">
                <a:latin typeface="Calibri"/>
                <a:cs typeface="Calibri"/>
              </a:rPr>
              <a:t>There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remaining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features,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or</a:t>
            </a:r>
            <a:endParaRPr sz="2400">
              <a:latin typeface="Calibri"/>
              <a:cs typeface="Calibri"/>
            </a:endParaRPr>
          </a:p>
          <a:p>
            <a:pPr marL="914400" marR="384810" lvl="2" indent="-228600">
              <a:lnSpc>
                <a:spcPts val="2940"/>
              </a:lnSpc>
              <a:spcBef>
                <a:spcPts val="95"/>
              </a:spcBef>
              <a:buSzPct val="41666"/>
              <a:buFont typeface="Courier New"/>
              <a:buChar char="o"/>
              <a:tabLst>
                <a:tab pos="914400" algn="l"/>
              </a:tabLst>
            </a:pP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stopping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criterion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(like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minimum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samples </a:t>
            </a:r>
            <a:r>
              <a:rPr sz="2400" b="1" dirty="0">
                <a:latin typeface="Calibri"/>
                <a:cs typeface="Calibri"/>
              </a:rPr>
              <a:t>per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node)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reached.</a:t>
            </a:r>
            <a:endParaRPr sz="2400">
              <a:latin typeface="Calibri"/>
              <a:cs typeface="Calibri"/>
            </a:endParaRPr>
          </a:p>
          <a:p>
            <a:pPr marL="685800">
              <a:lnSpc>
                <a:spcPct val="100000"/>
              </a:lnSpc>
              <a:spcBef>
                <a:spcPts val="1340"/>
              </a:spcBef>
            </a:pPr>
            <a:r>
              <a:rPr sz="1000" spc="-50" dirty="0"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FC8996-BD63-4573-24D1-C5AB954CF6DA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4F82B37-BCAD-4DB5-AAEE-4B2770E19C40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DE846D-C6B9-BCEC-D55E-5C0C7844C97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36AE98-FD41-D669-C6E4-0B6DDFD74FB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6400" y="429259"/>
            <a:ext cx="6851650" cy="739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4: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Assign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Leaf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Node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Labels</a:t>
            </a:r>
            <a:endParaRPr sz="2400">
              <a:latin typeface="Calibri"/>
              <a:cs typeface="Calibri"/>
            </a:endParaRPr>
          </a:p>
          <a:p>
            <a:pPr marL="508000" indent="-228600">
              <a:lnSpc>
                <a:spcPct val="100000"/>
              </a:lnSpc>
              <a:spcBef>
                <a:spcPts val="50"/>
              </a:spcBef>
              <a:buSzPct val="41666"/>
              <a:buFont typeface="Symbol"/>
              <a:buChar char=""/>
              <a:tabLst>
                <a:tab pos="508000" algn="l"/>
              </a:tabLst>
            </a:pP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subset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pure,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assign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class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label.</a:t>
            </a:r>
            <a:endParaRPr sz="2400">
              <a:latin typeface="Calibri"/>
              <a:cs typeface="Calibri"/>
            </a:endParaRPr>
          </a:p>
          <a:p>
            <a:pPr marL="508000" marR="78105" indent="-229235">
              <a:lnSpc>
                <a:spcPct val="101699"/>
              </a:lnSpc>
              <a:buSzPct val="41666"/>
              <a:buFont typeface="Symbol"/>
              <a:buChar char=""/>
              <a:tabLst>
                <a:tab pos="508000" algn="l"/>
              </a:tabLst>
            </a:pPr>
            <a:r>
              <a:rPr sz="2400" b="1" dirty="0">
                <a:latin typeface="Calibri"/>
                <a:cs typeface="Calibri"/>
              </a:rPr>
              <a:t>Assign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majority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class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impure,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but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splitting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is </a:t>
            </a:r>
            <a:r>
              <a:rPr sz="2400" b="1" dirty="0">
                <a:latin typeface="Calibri"/>
                <a:cs typeface="Calibri"/>
              </a:rPr>
              <a:t>no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longer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beneficial.</a:t>
            </a:r>
            <a:endParaRPr sz="24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60"/>
              </a:spcBef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5: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Pruning</a:t>
            </a:r>
            <a:endParaRPr sz="2400">
              <a:latin typeface="Calibri"/>
              <a:cs typeface="Calibri"/>
            </a:endParaRPr>
          </a:p>
          <a:p>
            <a:pPr marL="508000" marR="99695" indent="-229235">
              <a:lnSpc>
                <a:spcPct val="101699"/>
              </a:lnSpc>
              <a:buSzPct val="41666"/>
              <a:buFont typeface="Symbol"/>
              <a:buChar char=""/>
              <a:tabLst>
                <a:tab pos="508000" algn="l"/>
              </a:tabLst>
            </a:pPr>
            <a:r>
              <a:rPr sz="2400" b="1" spc="-10" dirty="0">
                <a:latin typeface="Calibri"/>
                <a:cs typeface="Calibri"/>
              </a:rPr>
              <a:t>Remove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branches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add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little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predictive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power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reduce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overfitting.</a:t>
            </a:r>
            <a:endParaRPr sz="2400">
              <a:latin typeface="Calibri"/>
              <a:cs typeface="Calibri"/>
            </a:endParaRPr>
          </a:p>
          <a:p>
            <a:pPr marL="508000" indent="-228600">
              <a:lnSpc>
                <a:spcPct val="100000"/>
              </a:lnSpc>
              <a:spcBef>
                <a:spcPts val="50"/>
              </a:spcBef>
              <a:buSzPct val="41666"/>
              <a:buFont typeface="Symbol"/>
              <a:buChar char=""/>
              <a:tabLst>
                <a:tab pos="508000" algn="l"/>
              </a:tabLst>
            </a:pPr>
            <a:r>
              <a:rPr sz="2400" b="1" spc="-10" dirty="0">
                <a:latin typeface="Calibri"/>
                <a:cs typeface="Calibri"/>
              </a:rPr>
              <a:t>Types:</a:t>
            </a:r>
            <a:endParaRPr sz="2400">
              <a:latin typeface="Calibri"/>
              <a:cs typeface="Calibri"/>
            </a:endParaRPr>
          </a:p>
          <a:p>
            <a:pPr marL="965200" marR="43180" lvl="1" indent="-228600">
              <a:lnSpc>
                <a:spcPct val="101699"/>
              </a:lnSpc>
              <a:buSzPct val="41666"/>
              <a:buFont typeface="Courier New"/>
              <a:buChar char="o"/>
              <a:tabLst>
                <a:tab pos="965200" algn="l"/>
              </a:tabLst>
            </a:pPr>
            <a:r>
              <a:rPr sz="2400" b="1" spc="-20" dirty="0">
                <a:latin typeface="Calibri"/>
                <a:cs typeface="Calibri"/>
              </a:rPr>
              <a:t>Pre-</a:t>
            </a:r>
            <a:r>
              <a:rPr sz="2400" b="1" dirty="0">
                <a:latin typeface="Calibri"/>
                <a:cs typeface="Calibri"/>
              </a:rPr>
              <a:t>pruning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(Early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stopping):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Stop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tree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growth </a:t>
            </a:r>
            <a:r>
              <a:rPr sz="2400" b="1" dirty="0">
                <a:latin typeface="Calibri"/>
                <a:cs typeface="Calibri"/>
              </a:rPr>
              <a:t>early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(e.g.,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max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depth,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min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samples).</a:t>
            </a:r>
            <a:endParaRPr sz="2400">
              <a:latin typeface="Calibri"/>
              <a:cs typeface="Calibri"/>
            </a:endParaRPr>
          </a:p>
          <a:p>
            <a:pPr marL="965200" marR="100330" lvl="1" indent="-228600">
              <a:lnSpc>
                <a:spcPts val="2940"/>
              </a:lnSpc>
              <a:spcBef>
                <a:spcPts val="95"/>
              </a:spcBef>
              <a:buSzPct val="41666"/>
              <a:buFont typeface="Courier New"/>
              <a:buChar char="o"/>
              <a:tabLst>
                <a:tab pos="965200" algn="l"/>
              </a:tabLst>
            </a:pPr>
            <a:r>
              <a:rPr sz="2400" b="1" spc="-40" dirty="0">
                <a:latin typeface="Calibri"/>
                <a:cs typeface="Calibri"/>
              </a:rPr>
              <a:t>Post-</a:t>
            </a:r>
            <a:r>
              <a:rPr sz="2400" b="1" dirty="0">
                <a:latin typeface="Calibri"/>
                <a:cs typeface="Calibri"/>
              </a:rPr>
              <a:t>pruning: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Grow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full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tree,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remove </a:t>
            </a:r>
            <a:r>
              <a:rPr sz="2400" b="1" dirty="0">
                <a:latin typeface="Calibri"/>
                <a:cs typeface="Calibri"/>
              </a:rPr>
              <a:t>unhelpful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branches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using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validation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  <a:p>
            <a:pPr marL="50800">
              <a:lnSpc>
                <a:spcPts val="2820"/>
              </a:lnSpc>
            </a:pPr>
            <a:r>
              <a:rPr sz="2400" b="1" dirty="0">
                <a:latin typeface="Calibri"/>
                <a:cs typeface="Calibri"/>
              </a:rPr>
              <a:t>4.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Splitting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Criteria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(Classification)</a:t>
            </a:r>
            <a:endParaRPr sz="2400">
              <a:latin typeface="Calibri"/>
              <a:cs typeface="Calibri"/>
            </a:endParaRPr>
          </a:p>
          <a:p>
            <a:pPr marL="50800" marR="2618105">
              <a:lnSpc>
                <a:spcPct val="101699"/>
              </a:lnSpc>
            </a:pPr>
            <a:r>
              <a:rPr sz="2400" b="1" dirty="0">
                <a:latin typeface="Calibri"/>
                <a:cs typeface="Calibri"/>
              </a:rPr>
              <a:t>(a)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Entropy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Information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Gain </a:t>
            </a:r>
            <a:r>
              <a:rPr sz="2400" b="1" dirty="0">
                <a:latin typeface="Calibri"/>
                <a:cs typeface="Calibri"/>
              </a:rPr>
              <a:t>Entropy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(E)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measures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impurity:</a:t>
            </a:r>
            <a:endParaRPr sz="2400">
              <a:latin typeface="Calibri"/>
              <a:cs typeface="Calibri"/>
            </a:endParaRPr>
          </a:p>
          <a:p>
            <a:pPr marR="438150" algn="ctr">
              <a:lnSpc>
                <a:spcPts val="2090"/>
              </a:lnSpc>
            </a:pPr>
            <a:r>
              <a:rPr sz="1750" spc="-50" dirty="0">
                <a:latin typeface="Cambria Math"/>
                <a:cs typeface="Cambria Math"/>
              </a:rPr>
              <a:t>𝒌</a:t>
            </a:r>
            <a:endParaRPr sz="1750">
              <a:latin typeface="Cambria Math"/>
              <a:cs typeface="Cambria Math"/>
            </a:endParaRPr>
          </a:p>
          <a:p>
            <a:pPr marL="109220" algn="ctr">
              <a:lnSpc>
                <a:spcPct val="100000"/>
              </a:lnSpc>
              <a:spcBef>
                <a:spcPts val="825"/>
              </a:spcBef>
              <a:tabLst>
                <a:tab pos="2197100" algn="l"/>
              </a:tabLst>
            </a:pPr>
            <a:r>
              <a:rPr sz="2400" dirty="0">
                <a:latin typeface="Cambria Math"/>
                <a:cs typeface="Cambria Math"/>
              </a:rPr>
              <a:t>𝑬(𝑺)</a:t>
            </a:r>
            <a:r>
              <a:rPr sz="2400" spc="9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1425" dirty="0">
                <a:latin typeface="Cambria Math"/>
                <a:cs typeface="Cambria Math"/>
              </a:rPr>
              <a:t>∑</a:t>
            </a:r>
            <a:r>
              <a:rPr sz="2400" dirty="0">
                <a:latin typeface="Cambria Math"/>
                <a:cs typeface="Cambria Math"/>
              </a:rPr>
              <a:t>	𝒑</a:t>
            </a:r>
            <a:r>
              <a:rPr sz="2625" baseline="-15873" dirty="0">
                <a:latin typeface="Cambria Math"/>
                <a:cs typeface="Cambria Math"/>
              </a:rPr>
              <a:t>𝒊</a:t>
            </a:r>
            <a:r>
              <a:rPr sz="2400" dirty="0">
                <a:latin typeface="Cambria Math"/>
                <a:cs typeface="Cambria Math"/>
              </a:rPr>
              <a:t>𝐥𝐨𝐠</a:t>
            </a:r>
            <a:r>
              <a:rPr sz="2400" spc="65" dirty="0">
                <a:latin typeface="Cambria Math"/>
                <a:cs typeface="Cambria Math"/>
              </a:rPr>
              <a:t> </a:t>
            </a:r>
            <a:r>
              <a:rPr sz="2625" spc="-15" baseline="-15873" dirty="0">
                <a:latin typeface="Cambria Math"/>
                <a:cs typeface="Cambria Math"/>
              </a:rPr>
              <a:t>𝟐</a:t>
            </a:r>
            <a:r>
              <a:rPr sz="2400" spc="-10" dirty="0">
                <a:latin typeface="Cambria Math"/>
                <a:cs typeface="Cambria Math"/>
              </a:rPr>
              <a:t>(𝒑</a:t>
            </a:r>
            <a:r>
              <a:rPr sz="2625" spc="-15" baseline="-15873" dirty="0">
                <a:latin typeface="Cambria Math"/>
                <a:cs typeface="Cambria Math"/>
              </a:rPr>
              <a:t>𝒊</a:t>
            </a:r>
            <a:r>
              <a:rPr sz="2400" spc="-10" dirty="0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  <a:p>
            <a:pPr marR="438150" algn="ctr">
              <a:lnSpc>
                <a:spcPct val="100000"/>
              </a:lnSpc>
              <a:spcBef>
                <a:spcPts val="830"/>
              </a:spcBef>
            </a:pPr>
            <a:r>
              <a:rPr sz="1750" spc="-25" dirty="0">
                <a:latin typeface="Cambria Math"/>
                <a:cs typeface="Cambria Math"/>
              </a:rPr>
              <a:t>𝒊=𝟏</a:t>
            </a:r>
            <a:endParaRPr sz="17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75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Calibri"/>
                <a:cs typeface="Calibri"/>
              </a:rPr>
              <a:t>where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𝒑</a:t>
            </a:r>
            <a:r>
              <a:rPr sz="2625" baseline="-15873" dirty="0">
                <a:latin typeface="Cambria Math"/>
                <a:cs typeface="Cambria Math"/>
              </a:rPr>
              <a:t>𝒊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proportion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class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𝒊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dataset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𝑺</a:t>
            </a:r>
            <a:r>
              <a:rPr sz="2400" b="1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199ECF-232C-C53B-5E90-76E5D1DC5F1F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3E7093EA-2040-4997-8366-4D66ABF6B42C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A333E-5313-6814-50D9-1B423995A6F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98D74C-6D76-0760-B570-A77D0C9B79F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29259"/>
            <a:ext cx="6216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Information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(IG)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reduction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Entropy: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3068" y="1009365"/>
            <a:ext cx="3837304" cy="907415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  <a:tabLst>
                <a:tab pos="2947670" algn="l"/>
              </a:tabLst>
            </a:pPr>
            <a:r>
              <a:rPr sz="2400" spc="-20" dirty="0">
                <a:latin typeface="Cambria Math"/>
                <a:cs typeface="Cambria Math"/>
              </a:rPr>
              <a:t>𝑰𝑮(𝑺,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𝑨)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𝑬(𝑺)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−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1425" dirty="0">
                <a:latin typeface="Cambria Math"/>
                <a:cs typeface="Cambria Math"/>
              </a:rPr>
              <a:t>∑</a:t>
            </a:r>
            <a:endParaRPr sz="2400">
              <a:latin typeface="Cambria Math"/>
              <a:cs typeface="Cambria Math"/>
            </a:endParaRPr>
          </a:p>
          <a:p>
            <a:pPr marL="2477135">
              <a:lnSpc>
                <a:spcPct val="100000"/>
              </a:lnSpc>
              <a:spcBef>
                <a:spcPts val="830"/>
              </a:spcBef>
            </a:pPr>
            <a:r>
              <a:rPr sz="1750" spc="-10" dirty="0">
                <a:latin typeface="Cambria Math"/>
                <a:cs typeface="Cambria Math"/>
              </a:rPr>
              <a:t>𝒗∈𝑽𝒂𝒍𝒖𝒆𝒔(𝑨)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70601" y="1068069"/>
            <a:ext cx="15938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/>
                <a:cs typeface="Cambria Math"/>
              </a:rPr>
              <a:t>𝒗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24653" y="923290"/>
            <a:ext cx="6927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9915" algn="l"/>
              </a:tabLst>
            </a:pPr>
            <a:r>
              <a:rPr sz="2400" dirty="0">
                <a:latin typeface="Cambria Math"/>
                <a:cs typeface="Cambria Math"/>
              </a:rPr>
              <a:t>∣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𝑺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97804" y="1357630"/>
            <a:ext cx="546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∣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𝑺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37353" y="1374902"/>
            <a:ext cx="668020" cy="20320"/>
          </a:xfrm>
          <a:custGeom>
            <a:avLst/>
            <a:gdLst/>
            <a:ahLst/>
            <a:cxnLst/>
            <a:rect l="l" t="t" r="r" b="b"/>
            <a:pathLst>
              <a:path w="668020" h="20319">
                <a:moveTo>
                  <a:pt x="667816" y="0"/>
                </a:moveTo>
                <a:lnTo>
                  <a:pt x="0" y="0"/>
                </a:lnTo>
                <a:lnTo>
                  <a:pt x="0" y="19811"/>
                </a:lnTo>
                <a:lnTo>
                  <a:pt x="667816" y="19811"/>
                </a:lnTo>
                <a:lnTo>
                  <a:pt x="6678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41185" y="1298193"/>
            <a:ext cx="15938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/>
                <a:cs typeface="Cambria Math"/>
              </a:rPr>
              <a:t>𝒗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42838" y="1153414"/>
            <a:ext cx="798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8495" algn="l"/>
              </a:tabLst>
            </a:pPr>
            <a:r>
              <a:rPr sz="2400" spc="-25" dirty="0">
                <a:latin typeface="Cambria Math"/>
                <a:cs typeface="Cambria Math"/>
              </a:rPr>
              <a:t>𝑬(𝑺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4500" y="1871217"/>
            <a:ext cx="6719570" cy="2379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9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feature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with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highest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Information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chosen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for </a:t>
            </a:r>
            <a:r>
              <a:rPr sz="2400" b="1" spc="-10" dirty="0">
                <a:latin typeface="Calibri"/>
                <a:cs typeface="Calibri"/>
              </a:rPr>
              <a:t>splitting.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latin typeface="Calibri"/>
                <a:cs typeface="Calibri"/>
              </a:rPr>
              <a:t>(b)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Gini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Index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Gini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Impurity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dataset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𝑺</a:t>
            </a:r>
            <a:r>
              <a:rPr sz="2400" b="1" spc="-20" dirty="0">
                <a:latin typeface="Calibri"/>
                <a:cs typeface="Calibri"/>
              </a:rPr>
              <a:t>is:</a:t>
            </a:r>
            <a:endParaRPr sz="2400">
              <a:latin typeface="Calibri"/>
              <a:cs typeface="Calibri"/>
            </a:endParaRPr>
          </a:p>
          <a:p>
            <a:pPr marL="1021080" algn="ctr">
              <a:lnSpc>
                <a:spcPct val="100000"/>
              </a:lnSpc>
              <a:spcBef>
                <a:spcPts val="1250"/>
              </a:spcBef>
            </a:pPr>
            <a:r>
              <a:rPr sz="1750" spc="-50" dirty="0">
                <a:latin typeface="Cambria Math"/>
                <a:cs typeface="Cambria Math"/>
              </a:rPr>
              <a:t>𝒌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26919" y="4185761"/>
            <a:ext cx="2002789" cy="907415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2400" dirty="0">
                <a:latin typeface="Cambria Math"/>
                <a:cs typeface="Cambria Math"/>
              </a:rPr>
              <a:t>𝑮(𝑺)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𝟏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spc="1415" dirty="0">
                <a:latin typeface="Cambria Math"/>
                <a:cs typeface="Cambria Math"/>
              </a:rPr>
              <a:t>∑</a:t>
            </a:r>
            <a:endParaRPr sz="2400">
              <a:latin typeface="Cambria Math"/>
              <a:cs typeface="Cambria Math"/>
            </a:endParaRPr>
          </a:p>
          <a:p>
            <a:pPr marR="16510" algn="r">
              <a:lnSpc>
                <a:spcPct val="100000"/>
              </a:lnSpc>
              <a:spcBef>
                <a:spcPts val="830"/>
              </a:spcBef>
            </a:pPr>
            <a:r>
              <a:rPr sz="1750" spc="-25" dirty="0">
                <a:latin typeface="Cambria Math"/>
                <a:cs typeface="Cambria Math"/>
              </a:rPr>
              <a:t>𝒊=𝟏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75301" y="4485259"/>
            <a:ext cx="10858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/>
                <a:cs typeface="Cambria Math"/>
              </a:rPr>
              <a:t>𝒊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60925" y="4207890"/>
            <a:ext cx="398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37" baseline="-21990" dirty="0">
                <a:latin typeface="Cambria Math"/>
                <a:cs typeface="Cambria Math"/>
              </a:rPr>
              <a:t>𝒑</a:t>
            </a:r>
            <a:r>
              <a:rPr sz="1750" spc="-25" dirty="0">
                <a:latin typeface="Cambria Math"/>
                <a:cs typeface="Cambria Math"/>
              </a:rPr>
              <a:t>𝟐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4500" y="5534025"/>
            <a:ext cx="6824345" cy="888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9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Lower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Gini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means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higher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purity.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feature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with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the </a:t>
            </a:r>
            <a:r>
              <a:rPr sz="2400" b="1" dirty="0">
                <a:latin typeface="Calibri"/>
                <a:cs typeface="Calibri"/>
              </a:rPr>
              <a:t>lowest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weighted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Gini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impurity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selected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splitting.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1DE13C0-FC3A-F3F7-C41A-A29AA20C4C60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3453A862-54D3-4B2D-9A89-4120BDE0F8C1}" type="datetime1">
              <a:rPr lang="en-US" smtClean="0"/>
              <a:t>10/13/2025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339CE686-1C8A-3387-F7E0-97903A1AF61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FBB07ED-2CA7-DF81-789F-D5A6E7050D9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29259"/>
            <a:ext cx="5490210" cy="76327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50"/>
              </a:spcBef>
            </a:pPr>
            <a:r>
              <a:rPr sz="2400" b="1" dirty="0">
                <a:latin typeface="Calibri"/>
                <a:cs typeface="Calibri"/>
              </a:rPr>
              <a:t>5.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Example: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Building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Simple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Decision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Tree </a:t>
            </a:r>
            <a:r>
              <a:rPr sz="2400" b="1" spc="-10" dirty="0">
                <a:latin typeface="Calibri"/>
                <a:cs typeface="Calibri"/>
              </a:rPr>
              <a:t>Dataset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35808" y="1214119"/>
          <a:ext cx="2777490" cy="3328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6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Weather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Temperature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Play?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Hot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Mild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Hot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Mild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Cool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Cool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44500" y="4369434"/>
            <a:ext cx="4845050" cy="1089660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400" b="1" spc="-35" dirty="0">
                <a:latin typeface="Calibri"/>
                <a:cs typeface="Calibri"/>
              </a:rPr>
              <a:t>Target: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Play?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(Yes/No)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ii: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Compute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Entropy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Target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91435" y="5853048"/>
            <a:ext cx="182880" cy="20320"/>
          </a:xfrm>
          <a:custGeom>
            <a:avLst/>
            <a:gdLst/>
            <a:ahLst/>
            <a:cxnLst/>
            <a:rect l="l" t="t" r="r" b="b"/>
            <a:pathLst>
              <a:path w="182880" h="20320">
                <a:moveTo>
                  <a:pt x="182880" y="0"/>
                </a:moveTo>
                <a:lnTo>
                  <a:pt x="0" y="0"/>
                </a:lnTo>
                <a:lnTo>
                  <a:pt x="0" y="19812"/>
                </a:lnTo>
                <a:lnTo>
                  <a:pt x="182880" y="19812"/>
                </a:lnTo>
                <a:lnTo>
                  <a:pt x="1828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28695" y="5853048"/>
            <a:ext cx="182880" cy="20320"/>
          </a:xfrm>
          <a:custGeom>
            <a:avLst/>
            <a:gdLst/>
            <a:ahLst/>
            <a:cxnLst/>
            <a:rect l="l" t="t" r="r" b="b"/>
            <a:pathLst>
              <a:path w="182879" h="20320">
                <a:moveTo>
                  <a:pt x="182879" y="0"/>
                </a:moveTo>
                <a:lnTo>
                  <a:pt x="0" y="0"/>
                </a:lnTo>
                <a:lnTo>
                  <a:pt x="0" y="19812"/>
                </a:lnTo>
                <a:lnTo>
                  <a:pt x="182879" y="19812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74286" y="5853048"/>
            <a:ext cx="183515" cy="20320"/>
          </a:xfrm>
          <a:custGeom>
            <a:avLst/>
            <a:gdLst/>
            <a:ahLst/>
            <a:cxnLst/>
            <a:rect l="l" t="t" r="r" b="b"/>
            <a:pathLst>
              <a:path w="183514" h="20320">
                <a:moveTo>
                  <a:pt x="183184" y="0"/>
                </a:moveTo>
                <a:lnTo>
                  <a:pt x="0" y="0"/>
                </a:lnTo>
                <a:lnTo>
                  <a:pt x="0" y="19812"/>
                </a:lnTo>
                <a:lnTo>
                  <a:pt x="183184" y="19812"/>
                </a:lnTo>
                <a:lnTo>
                  <a:pt x="183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78735" y="5401436"/>
            <a:ext cx="2628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9325" algn="l"/>
                <a:tab pos="1495425" algn="l"/>
                <a:tab pos="2432685" algn="l"/>
              </a:tabLst>
            </a:pPr>
            <a:r>
              <a:rPr sz="2400" spc="-50" dirty="0">
                <a:latin typeface="Cambria Math"/>
                <a:cs typeface="Cambria Math"/>
              </a:rPr>
              <a:t>𝟒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𝟒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𝟐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11801" y="5853048"/>
            <a:ext cx="182880" cy="20320"/>
          </a:xfrm>
          <a:custGeom>
            <a:avLst/>
            <a:gdLst/>
            <a:ahLst/>
            <a:cxnLst/>
            <a:rect l="l" t="t" r="r" b="b"/>
            <a:pathLst>
              <a:path w="182879" h="20320">
                <a:moveTo>
                  <a:pt x="182879" y="0"/>
                </a:moveTo>
                <a:lnTo>
                  <a:pt x="0" y="0"/>
                </a:lnTo>
                <a:lnTo>
                  <a:pt x="0" y="19812"/>
                </a:lnTo>
                <a:lnTo>
                  <a:pt x="182879" y="19812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9100" y="5631560"/>
            <a:ext cx="6273165" cy="314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4210" algn="ctr">
              <a:lnSpc>
                <a:spcPts val="2245"/>
              </a:lnSpc>
              <a:spcBef>
                <a:spcPts val="100"/>
              </a:spcBef>
              <a:tabLst>
                <a:tab pos="2275205" algn="l"/>
                <a:tab pos="3228975" algn="l"/>
                <a:tab pos="3757929" algn="l"/>
                <a:tab pos="4645025" algn="l"/>
              </a:tabLst>
            </a:pPr>
            <a:r>
              <a:rPr sz="2400" dirty="0">
                <a:latin typeface="Cambria Math"/>
                <a:cs typeface="Cambria Math"/>
              </a:rPr>
              <a:t>𝑬(𝑺)</a:t>
            </a:r>
            <a:r>
              <a:rPr sz="2400" spc="10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−(</a:t>
            </a:r>
            <a:r>
              <a:rPr sz="2400" dirty="0">
                <a:latin typeface="Cambria Math"/>
                <a:cs typeface="Cambria Math"/>
              </a:rPr>
              <a:t>	𝐥𝐨𝐠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625" spc="-75" baseline="-15873" dirty="0">
                <a:latin typeface="Cambria Math"/>
                <a:cs typeface="Cambria Math"/>
              </a:rPr>
              <a:t>𝟐</a:t>
            </a:r>
            <a:r>
              <a:rPr sz="2625" baseline="-15873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+</a:t>
            </a:r>
            <a:r>
              <a:rPr sz="2400" dirty="0">
                <a:latin typeface="Cambria Math"/>
                <a:cs typeface="Cambria Math"/>
              </a:rPr>
              <a:t>	𝐥𝐨𝐠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625" spc="-75" baseline="-15873" dirty="0">
                <a:latin typeface="Cambria Math"/>
                <a:cs typeface="Cambria Math"/>
              </a:rPr>
              <a:t>𝟐</a:t>
            </a:r>
            <a:r>
              <a:rPr sz="2625" baseline="-15873" dirty="0"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)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𝟗𝟏𝟖</a:t>
            </a:r>
            <a:endParaRPr sz="2400">
              <a:latin typeface="Cambria Math"/>
              <a:cs typeface="Cambria Math"/>
            </a:endParaRPr>
          </a:p>
          <a:p>
            <a:pPr marL="674370" algn="ctr">
              <a:lnSpc>
                <a:spcPts val="1950"/>
              </a:lnSpc>
              <a:tabLst>
                <a:tab pos="1611630" algn="l"/>
                <a:tab pos="2157095" algn="l"/>
                <a:tab pos="3094355" algn="l"/>
              </a:tabLst>
            </a:pPr>
            <a:r>
              <a:rPr sz="2400" spc="-50" dirty="0">
                <a:latin typeface="Cambria Math"/>
                <a:cs typeface="Cambria Math"/>
              </a:rPr>
              <a:t>𝟔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𝟔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𝟔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  <a:p>
            <a:pPr marL="38100">
              <a:lnSpc>
                <a:spcPts val="2585"/>
              </a:lnSpc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ii: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Compute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Information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“Weather”</a:t>
            </a:r>
            <a:endParaRPr sz="24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45"/>
              </a:spcBef>
            </a:pPr>
            <a:r>
              <a:rPr sz="2400" b="1" dirty="0">
                <a:latin typeface="Calibri"/>
                <a:cs typeface="Calibri"/>
              </a:rPr>
              <a:t>Partition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by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Weather:</a:t>
            </a:r>
            <a:endParaRPr sz="2400">
              <a:latin typeface="Calibri"/>
              <a:cs typeface="Calibri"/>
            </a:endParaRPr>
          </a:p>
          <a:p>
            <a:pPr marL="495300" indent="-228600">
              <a:lnSpc>
                <a:spcPct val="100000"/>
              </a:lnSpc>
              <a:spcBef>
                <a:spcPts val="60"/>
              </a:spcBef>
              <a:buSzPct val="41666"/>
              <a:buFont typeface="Symbol"/>
              <a:buChar char=""/>
              <a:tabLst>
                <a:tab pos="495300" algn="l"/>
              </a:tabLst>
            </a:pPr>
            <a:r>
              <a:rPr sz="2400" b="1" dirty="0">
                <a:latin typeface="Calibri"/>
                <a:cs typeface="Calibri"/>
              </a:rPr>
              <a:t>Sunny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{No,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No}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𝑬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495300" indent="-228600">
              <a:lnSpc>
                <a:spcPct val="100000"/>
              </a:lnSpc>
              <a:spcBef>
                <a:spcPts val="50"/>
              </a:spcBef>
              <a:buSzPct val="41666"/>
              <a:buFont typeface="Symbol"/>
              <a:buChar char=""/>
              <a:tabLst>
                <a:tab pos="495300" algn="l"/>
              </a:tabLst>
            </a:pPr>
            <a:r>
              <a:rPr sz="2400" b="1" spc="-10" dirty="0">
                <a:latin typeface="Calibri"/>
                <a:cs typeface="Calibri"/>
              </a:rPr>
              <a:t>Overcast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{Yes,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45" dirty="0">
                <a:latin typeface="Calibri"/>
                <a:cs typeface="Calibri"/>
              </a:rPr>
              <a:t>Yes}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𝑬</a:t>
            </a:r>
            <a:r>
              <a:rPr sz="2400" spc="8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7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495300" indent="-228600">
              <a:lnSpc>
                <a:spcPct val="100000"/>
              </a:lnSpc>
              <a:spcBef>
                <a:spcPts val="50"/>
              </a:spcBef>
              <a:buSzPct val="41666"/>
              <a:buFont typeface="Symbol"/>
              <a:buChar char=""/>
              <a:tabLst>
                <a:tab pos="495300" algn="l"/>
              </a:tabLst>
            </a:pPr>
            <a:r>
              <a:rPr sz="2400" b="1" dirty="0">
                <a:latin typeface="Calibri"/>
                <a:cs typeface="Calibri"/>
              </a:rPr>
              <a:t>Rainy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30" dirty="0">
                <a:latin typeface="Calibri"/>
                <a:cs typeface="Calibri"/>
              </a:rPr>
              <a:t>{Yes, </a:t>
            </a:r>
            <a:r>
              <a:rPr sz="2400" b="1" spc="-40" dirty="0">
                <a:latin typeface="Calibri"/>
                <a:cs typeface="Calibri"/>
              </a:rPr>
              <a:t>Yes}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𝑬</a:t>
            </a:r>
            <a:r>
              <a:rPr sz="2400" spc="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9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1005840">
              <a:lnSpc>
                <a:spcPct val="100000"/>
              </a:lnSpc>
              <a:spcBef>
                <a:spcPts val="50"/>
              </a:spcBef>
            </a:pPr>
            <a:r>
              <a:rPr sz="2400" dirty="0">
                <a:latin typeface="Cambria Math"/>
                <a:cs typeface="Cambria Math"/>
              </a:rPr>
              <a:t>𝑬</a:t>
            </a:r>
            <a:r>
              <a:rPr sz="2625" baseline="-15873" dirty="0">
                <a:latin typeface="Cambria Math"/>
                <a:cs typeface="Cambria Math"/>
              </a:rPr>
              <a:t>𝒔𝒑𝒍𝒊𝒕</a:t>
            </a:r>
            <a:r>
              <a:rPr sz="2400" dirty="0">
                <a:latin typeface="Cambria Math"/>
                <a:cs typeface="Cambria Math"/>
              </a:rPr>
              <a:t>(𝑾𝒆𝒂𝒕𝒉𝒆𝒓)</a:t>
            </a:r>
            <a:r>
              <a:rPr sz="2400" spc="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4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1005840">
              <a:lnSpc>
                <a:spcPct val="100000"/>
              </a:lnSpc>
              <a:spcBef>
                <a:spcPts val="250"/>
              </a:spcBef>
            </a:pPr>
            <a:r>
              <a:rPr sz="2400" dirty="0">
                <a:latin typeface="Cambria Math"/>
                <a:cs typeface="Cambria Math"/>
              </a:rPr>
              <a:t>𝑰𝑮(𝑾𝒆𝒂𝒕𝒉𝒆𝒓)</a:t>
            </a:r>
            <a:r>
              <a:rPr sz="2400" spc="10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𝟗𝟏𝟖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𝟎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𝟗𝟏𝟖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AECB7F4-CE58-C7DA-CF81-CA3956F10EE7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829809DD-67B7-44FF-9FF6-249E2AD75487}" type="datetime1">
              <a:rPr lang="en-US" smtClean="0"/>
              <a:t>10/13/2025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137B7B6-1746-6295-A601-0847D4FD5A7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63DE0A7-381F-339E-0402-7B4759D795A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29259"/>
            <a:ext cx="6701155" cy="529526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50"/>
              </a:spcBef>
            </a:pP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“Weather”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gives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maximum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Information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Gain,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so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it </a:t>
            </a:r>
            <a:r>
              <a:rPr sz="2400" b="1" dirty="0">
                <a:latin typeface="Calibri"/>
                <a:cs typeface="Calibri"/>
              </a:rPr>
              <a:t>becomes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root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node.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iii: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Form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Tree</a:t>
            </a:r>
            <a:endParaRPr sz="2400">
              <a:latin typeface="Calibri"/>
              <a:cs typeface="Calibri"/>
            </a:endParaRPr>
          </a:p>
          <a:p>
            <a:pPr marL="838835">
              <a:lnSpc>
                <a:spcPct val="100000"/>
              </a:lnSpc>
              <a:spcBef>
                <a:spcPts val="1305"/>
              </a:spcBef>
            </a:pPr>
            <a:r>
              <a:rPr sz="2400" b="1" spc="-10" dirty="0">
                <a:latin typeface="Calibri"/>
                <a:cs typeface="Calibri"/>
              </a:rPr>
              <a:t>[Weather]</a:t>
            </a:r>
            <a:endParaRPr sz="2400">
              <a:latin typeface="Calibri"/>
              <a:cs typeface="Calibri"/>
            </a:endParaRPr>
          </a:p>
          <a:p>
            <a:pPr marL="768350">
              <a:lnSpc>
                <a:spcPct val="100000"/>
              </a:lnSpc>
              <a:spcBef>
                <a:spcPts val="1320"/>
              </a:spcBef>
              <a:tabLst>
                <a:tab pos="1175385" algn="l"/>
                <a:tab pos="1666239" algn="l"/>
              </a:tabLst>
            </a:pPr>
            <a:r>
              <a:rPr sz="2400" b="1" spc="-50" dirty="0">
                <a:latin typeface="Calibri"/>
                <a:cs typeface="Calibri"/>
              </a:rPr>
              <a:t>/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50" dirty="0">
                <a:latin typeface="Calibri"/>
                <a:cs typeface="Calibri"/>
              </a:rPr>
              <a:t>|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50" dirty="0">
                <a:latin typeface="Calibri"/>
                <a:cs typeface="Calibri"/>
              </a:rPr>
              <a:t>\</a:t>
            </a:r>
            <a:endParaRPr sz="2400">
              <a:latin typeface="Calibri"/>
              <a:cs typeface="Calibri"/>
            </a:endParaRPr>
          </a:p>
          <a:p>
            <a:pPr marL="631190" marR="3411854" indent="-68580">
              <a:lnSpc>
                <a:spcPts val="4200"/>
              </a:lnSpc>
              <a:spcBef>
                <a:spcPts val="350"/>
              </a:spcBef>
              <a:tabLst>
                <a:tab pos="1409700" algn="l"/>
                <a:tab pos="2163445" algn="l"/>
              </a:tabLst>
            </a:pPr>
            <a:r>
              <a:rPr sz="2400" b="1" dirty="0">
                <a:latin typeface="Calibri"/>
                <a:cs typeface="Calibri"/>
              </a:rPr>
              <a:t>Sunny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Overcast</a:t>
            </a:r>
            <a:r>
              <a:rPr sz="2400" b="1" spc="-11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Rainy </a:t>
            </a:r>
            <a:r>
              <a:rPr sz="2400" b="1" spc="-25" dirty="0">
                <a:latin typeface="Calibri"/>
                <a:cs typeface="Calibri"/>
              </a:rPr>
              <a:t>No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Yes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Yes</a:t>
            </a:r>
            <a:endParaRPr sz="2400">
              <a:latin typeface="Calibri"/>
              <a:cs typeface="Calibri"/>
            </a:endParaRPr>
          </a:p>
          <a:p>
            <a:pPr marL="12700" marR="1073150" indent="68580">
              <a:lnSpc>
                <a:spcPct val="117900"/>
              </a:lnSpc>
              <a:spcBef>
                <a:spcPts val="434"/>
              </a:spcBef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final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decision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tree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perfectly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classifies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all </a:t>
            </a:r>
            <a:r>
              <a:rPr sz="2400" b="1" spc="-10" dirty="0">
                <a:latin typeface="Calibri"/>
                <a:cs typeface="Calibri"/>
              </a:rPr>
              <a:t>examples.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2400" b="1" dirty="0">
                <a:latin typeface="Calibri"/>
                <a:cs typeface="Calibri"/>
              </a:rPr>
              <a:t>6.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Advantages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Limitations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8629" y="5907150"/>
          <a:ext cx="6912609" cy="2605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6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4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Advantages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Limitations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473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Easy</a:t>
                      </a:r>
                      <a:r>
                        <a:rPr sz="24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4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understand</a:t>
                      </a:r>
                      <a:r>
                        <a:rPr sz="24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and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interpret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Prone</a:t>
                      </a:r>
                      <a:r>
                        <a:rPr sz="24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overfitting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5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838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Works</a:t>
                      </a:r>
                      <a:r>
                        <a:rPr sz="24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24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both</a:t>
                      </a:r>
                      <a:r>
                        <a:rPr sz="24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categorical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numerical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data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Unstable</a:t>
                      </a:r>
                      <a:r>
                        <a:rPr sz="24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24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small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400" b="1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changes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F4403-2EDB-C14C-CC68-FC161C15C37A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2CECFCA-B4C7-4697-B1A6-CE5522F6A2EF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DCC4-5027-D23A-A82D-716F250C483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44D9D-BFAA-30A8-DC8E-0149C7947F8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68629" y="470153"/>
          <a:ext cx="6912609" cy="3472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6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4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Advantages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Limitations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5895">
                <a:tc>
                  <a:txBody>
                    <a:bodyPr/>
                    <a:lstStyle/>
                    <a:p>
                      <a:pPr marL="23495" marR="1602105">
                        <a:lnSpc>
                          <a:spcPct val="117900"/>
                        </a:lnSpc>
                        <a:spcBef>
                          <a:spcPts val="126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need</a:t>
                      </a:r>
                      <a:r>
                        <a:rPr sz="2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data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normalization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60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produce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biased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5400" marR="455930">
                        <a:lnSpc>
                          <a:spcPct val="117500"/>
                        </a:lnSpc>
                        <a:spcBef>
                          <a:spcPts val="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trees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some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classes dominate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399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Handles</a:t>
                      </a:r>
                      <a:r>
                        <a:rPr sz="2400" b="1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missing</a:t>
                      </a:r>
                      <a:r>
                        <a:rPr sz="2400" b="1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values</a:t>
                      </a:r>
                      <a:r>
                        <a:rPr sz="2400" b="1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well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495" marR="1607185">
                        <a:lnSpc>
                          <a:spcPct val="117900"/>
                        </a:lnSpc>
                        <a:spcBef>
                          <a:spcPts val="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(depending</a:t>
                      </a:r>
                      <a:r>
                        <a:rPr sz="2400" b="1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on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implementation)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266065">
                        <a:lnSpc>
                          <a:spcPct val="117600"/>
                        </a:lnSpc>
                        <a:spcBef>
                          <a:spcPts val="127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May</a:t>
                      </a:r>
                      <a:r>
                        <a:rPr sz="24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struggle</a:t>
                      </a:r>
                      <a:r>
                        <a:rPr sz="24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complex</a:t>
                      </a:r>
                      <a:r>
                        <a:rPr sz="24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relationships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61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444500" y="4302378"/>
            <a:ext cx="6564630" cy="3879215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314325" indent="-301625" algn="just">
              <a:lnSpc>
                <a:spcPct val="100000"/>
              </a:lnSpc>
              <a:spcBef>
                <a:spcPts val="1405"/>
              </a:spcBef>
              <a:buAutoNum type="arabicPeriod" startAt="7"/>
              <a:tabLst>
                <a:tab pos="314325" algn="l"/>
              </a:tabLst>
            </a:pPr>
            <a:r>
              <a:rPr sz="2400" b="1" spc="-10" dirty="0">
                <a:latin typeface="Calibri"/>
                <a:cs typeface="Calibri"/>
              </a:rPr>
              <a:t>Extensions</a:t>
            </a:r>
            <a:endParaRPr sz="2400">
              <a:latin typeface="Calibri"/>
              <a:cs typeface="Calibri"/>
            </a:endParaRPr>
          </a:p>
          <a:p>
            <a:pPr marL="468630" marR="105410" lvl="1" indent="-227965" algn="just">
              <a:lnSpc>
                <a:spcPct val="118000"/>
              </a:lnSpc>
              <a:spcBef>
                <a:spcPts val="79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Random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Forests: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Ensemble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multiple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decision 	</a:t>
            </a:r>
            <a:r>
              <a:rPr sz="2400" b="1" dirty="0">
                <a:latin typeface="Calibri"/>
                <a:cs typeface="Calibri"/>
              </a:rPr>
              <a:t>trees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improve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generalization.</a:t>
            </a:r>
            <a:endParaRPr sz="2400">
              <a:latin typeface="Calibri"/>
              <a:cs typeface="Calibri"/>
            </a:endParaRPr>
          </a:p>
          <a:p>
            <a:pPr marL="468630" marR="245745" lvl="1" indent="-227965" algn="just">
              <a:lnSpc>
                <a:spcPct val="117700"/>
              </a:lnSpc>
              <a:spcBef>
                <a:spcPts val="81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spc="-10" dirty="0">
                <a:latin typeface="Calibri"/>
                <a:cs typeface="Calibri"/>
              </a:rPr>
              <a:t>Gradient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Boosted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Trees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(XGBoost,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LightGBM): 	</a:t>
            </a:r>
            <a:r>
              <a:rPr sz="2400" b="1" dirty="0">
                <a:latin typeface="Calibri"/>
                <a:cs typeface="Calibri"/>
              </a:rPr>
              <a:t>Sequentially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built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trees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minimize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prediction 	errors.</a:t>
            </a:r>
            <a:endParaRPr sz="2400">
              <a:latin typeface="Calibri"/>
              <a:cs typeface="Calibri"/>
            </a:endParaRPr>
          </a:p>
          <a:p>
            <a:pPr marL="468630" marR="5080" lvl="1" indent="-227965" algn="just">
              <a:lnSpc>
                <a:spcPct val="117500"/>
              </a:lnSpc>
              <a:spcBef>
                <a:spcPts val="819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Oblique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Decision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Trees: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linear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combinations 	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features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each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node.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8A16A-7284-1283-3CA9-F973ADF90793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3F6CD25C-9CD8-49D7-BD9C-E9C87C4B552A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2FE6F-F77A-4A9C-A721-43EB2FA7994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C9267-13F2-E8F5-6904-C41D14BFAE6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793750"/>
            <a:ext cx="6867525" cy="537845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14325" indent="-301625">
              <a:lnSpc>
                <a:spcPct val="100000"/>
              </a:lnSpc>
              <a:spcBef>
                <a:spcPts val="1420"/>
              </a:spcBef>
              <a:buAutoNum type="arabicPeriod" startAt="8"/>
              <a:tabLst>
                <a:tab pos="314325" algn="l"/>
              </a:tabLst>
            </a:pPr>
            <a:r>
              <a:rPr sz="2400" b="1" spc="-10" dirty="0">
                <a:latin typeface="Calibri"/>
                <a:cs typeface="Calibri"/>
              </a:rPr>
              <a:t>Summary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17900"/>
              </a:lnSpc>
              <a:spcBef>
                <a:spcPts val="805"/>
              </a:spcBef>
            </a:pPr>
            <a:r>
              <a:rPr sz="2400" b="1" dirty="0">
                <a:latin typeface="Calibri"/>
                <a:cs typeface="Calibri"/>
              </a:rPr>
              <a:t>Decision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Trees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represent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most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intuitive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and </a:t>
            </a:r>
            <a:r>
              <a:rPr sz="2400" b="1" spc="-10" dirty="0">
                <a:latin typeface="Calibri"/>
                <a:cs typeface="Calibri"/>
              </a:rPr>
              <a:t>interpretable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models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machine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learning.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Their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2400" b="1" spc="-10" dirty="0">
                <a:latin typeface="Calibri"/>
                <a:cs typeface="Calibri"/>
              </a:rPr>
              <a:t>construction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involves:</a:t>
            </a:r>
            <a:endParaRPr sz="2400">
              <a:latin typeface="Calibri"/>
              <a:cs typeface="Calibri"/>
            </a:endParaRPr>
          </a:p>
          <a:p>
            <a:pPr marL="469900" marR="361950" lvl="1" indent="-229235">
              <a:lnSpc>
                <a:spcPct val="118000"/>
              </a:lnSpc>
              <a:spcBef>
                <a:spcPts val="79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Selecting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optimal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features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using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impurity-based metrics,</a:t>
            </a:r>
            <a:endParaRPr sz="2400">
              <a:latin typeface="Calibri"/>
              <a:cs typeface="Calibri"/>
            </a:endParaRPr>
          </a:p>
          <a:p>
            <a:pPr marL="469900" lvl="1" indent="-228600">
              <a:lnSpc>
                <a:spcPct val="100000"/>
              </a:lnSpc>
              <a:spcBef>
                <a:spcPts val="1305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spc="-10" dirty="0">
                <a:latin typeface="Calibri"/>
                <a:cs typeface="Calibri"/>
              </a:rPr>
              <a:t>Recursively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partitioning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dataset,</a:t>
            </a:r>
            <a:endParaRPr sz="2400">
              <a:latin typeface="Calibri"/>
              <a:cs typeface="Calibri"/>
            </a:endParaRPr>
          </a:p>
          <a:p>
            <a:pPr marL="469900" lvl="1" indent="-228600">
              <a:lnSpc>
                <a:spcPct val="100000"/>
              </a:lnSpc>
              <a:spcBef>
                <a:spcPts val="132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Optionally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pruning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model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generalization.</a:t>
            </a:r>
            <a:endParaRPr sz="2400">
              <a:latin typeface="Calibri"/>
              <a:cs typeface="Calibri"/>
            </a:endParaRPr>
          </a:p>
          <a:p>
            <a:pPr marL="12700" marR="140970" algn="just">
              <a:lnSpc>
                <a:spcPct val="118000"/>
              </a:lnSpc>
              <a:spcBef>
                <a:spcPts val="790"/>
              </a:spcBef>
            </a:pPr>
            <a:r>
              <a:rPr sz="2400" b="1" dirty="0">
                <a:latin typeface="Calibri"/>
                <a:cs typeface="Calibri"/>
              </a:rPr>
              <a:t>They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serve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foundation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advanced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ensemble </a:t>
            </a:r>
            <a:r>
              <a:rPr sz="2400" b="1" dirty="0">
                <a:latin typeface="Calibri"/>
                <a:cs typeface="Calibri"/>
              </a:rPr>
              <a:t>methods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like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Random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Forests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Gradient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Boosting, </a:t>
            </a:r>
            <a:r>
              <a:rPr sz="2400" b="1" dirty="0">
                <a:latin typeface="Calibri"/>
                <a:cs typeface="Calibri"/>
              </a:rPr>
              <a:t>which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dominate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many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real-</a:t>
            </a:r>
            <a:r>
              <a:rPr sz="2400" b="1" dirty="0">
                <a:latin typeface="Calibri"/>
                <a:cs typeface="Calibri"/>
              </a:rPr>
              <a:t>world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AI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applications.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FFA78B-9DBF-E4A8-9CFD-B918A9B23E0E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9B5F477E-4BB0-485E-A046-2CD2B0F122E3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E9F602-8737-6050-20C7-078E5EBBEA9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EED587-C078-C2E6-91F2-8BB5AEF767C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29259"/>
            <a:ext cx="4216400" cy="878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1605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Comparison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2000" b="1" dirty="0">
                <a:latin typeface="Tahoma"/>
                <a:cs typeface="Tahoma"/>
              </a:rPr>
              <a:t>1.</a:t>
            </a:r>
            <a:r>
              <a:rPr sz="2000" b="1" spc="-20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Overview</a:t>
            </a:r>
            <a:endParaRPr sz="20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8629" y="1459483"/>
          <a:ext cx="6912609" cy="3992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8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4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7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1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931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Algorithm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78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Full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78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Developed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By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Year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78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78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ID3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71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Iterative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Dichotomiser</a:t>
                      </a:r>
                      <a:r>
                        <a:rPr sz="20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Ross</a:t>
                      </a:r>
                      <a:r>
                        <a:rPr sz="20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Quinlan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71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1986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71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Classification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71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31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C4.5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78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Successor</a:t>
                      </a:r>
                      <a:r>
                        <a:rPr sz="20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of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ID3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Ross</a:t>
                      </a:r>
                      <a:r>
                        <a:rPr sz="20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Quinlan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78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1993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78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Classification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78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CART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235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147955">
                        <a:lnSpc>
                          <a:spcPct val="111000"/>
                        </a:lnSpc>
                        <a:spcBef>
                          <a:spcPts val="113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Classification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Regression Trees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43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Breiman,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5400" marR="367030">
                        <a:lnSpc>
                          <a:spcPct val="111000"/>
                        </a:lnSpc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Friedman, Olshen, Stone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1984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235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 marR="220345">
                        <a:lnSpc>
                          <a:spcPct val="111000"/>
                        </a:lnSpc>
                        <a:spcBef>
                          <a:spcPts val="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Classification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Regression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74B6B-24ED-C83A-04B2-C3790CB92E61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84AFFFC2-CDF6-4A66-966D-667421A8E309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40E88-431F-0A53-DA30-9DC5EE5763B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4BFA5-181D-31F9-AE53-A403AE75C3A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868425"/>
            <a:ext cx="21488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2.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Splitting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Criteria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8629" y="1349755"/>
          <a:ext cx="6912609" cy="4669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3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4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7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Aspect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ID3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C4.5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CART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3495" marR="200660">
                        <a:lnSpc>
                          <a:spcPct val="111000"/>
                        </a:lnSpc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Splitting Measure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898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 marR="343535">
                        <a:lnSpc>
                          <a:spcPct val="111000"/>
                        </a:lnSpc>
                        <a:spcBef>
                          <a:spcPts val="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Information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Gain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(Entropy)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403860">
                        <a:lnSpc>
                          <a:spcPct val="111000"/>
                        </a:lnSpc>
                        <a:spcBef>
                          <a:spcPts val="113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Gain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Ratio (normalized Information Gain)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43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Gini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Index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5400" marR="453390">
                        <a:lnSpc>
                          <a:spcPct val="11100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(classification)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Variance Reduction (regression)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7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Goal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Maximize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 marR="343535">
                        <a:lnSpc>
                          <a:spcPct val="111000"/>
                        </a:lnSpc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Information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Gain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59690">
                        <a:lnSpc>
                          <a:spcPct val="111000"/>
                        </a:lnSpc>
                        <a:spcBef>
                          <a:spcPts val="113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Maximize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Gain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Ratio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43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64135">
                        <a:lnSpc>
                          <a:spcPct val="111000"/>
                        </a:lnSpc>
                        <a:spcBef>
                          <a:spcPts val="113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Minimize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Gini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impurity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variance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43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6495">
                <a:tc>
                  <a:txBody>
                    <a:bodyPr/>
                    <a:lstStyle/>
                    <a:p>
                      <a:pPr marL="23495" marR="125095">
                        <a:lnSpc>
                          <a:spcPct val="111100"/>
                        </a:lnSpc>
                        <a:spcBef>
                          <a:spcPts val="113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Bias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Handling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43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Biased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toward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 marR="285750">
                        <a:lnSpc>
                          <a:spcPct val="111000"/>
                        </a:lnSpc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multi-valued attributes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Reduces</a:t>
                      </a:r>
                      <a:r>
                        <a:rPr sz="20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bias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 marR="549910">
                        <a:lnSpc>
                          <a:spcPct val="11100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Gain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Ratio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71120">
                        <a:lnSpc>
                          <a:spcPct val="111100"/>
                        </a:lnSpc>
                        <a:spcBef>
                          <a:spcPts val="113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Naturally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unbiased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(binary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splits)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43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103FD-1AC5-388F-B6D7-D6DCF0747816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2A487FA-F8DA-4D71-8B3A-B89C40CA823C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2CA99-7196-D23A-361F-6E832A73544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FCCDB-DA31-C806-20F6-A558630B5C2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27735"/>
            <a:ext cx="17532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3.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Type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Splits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8629" y="910589"/>
          <a:ext cx="6912609" cy="4328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5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584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Aspect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ID3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C4.5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CART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7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Split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Multiway</a:t>
                      </a:r>
                      <a:r>
                        <a:rPr sz="20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(each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 marR="38100">
                        <a:lnSpc>
                          <a:spcPct val="11100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attribute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value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creates</a:t>
                      </a: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branch)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Multiway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Binary</a:t>
                      </a:r>
                      <a:r>
                        <a:rPr sz="20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only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5400" marR="121920">
                        <a:lnSpc>
                          <a:spcPct val="11100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(each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node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splits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two)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55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3495" marR="225425">
                        <a:lnSpc>
                          <a:spcPct val="111100"/>
                        </a:lnSpc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Continuous Attributes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supported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25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379095" indent="63500">
                        <a:lnSpc>
                          <a:spcPct val="111100"/>
                        </a:lnSpc>
                        <a:spcBef>
                          <a:spcPts val="114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Supported (using thresholds)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44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Supported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(binary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5400" marR="690880">
                        <a:lnSpc>
                          <a:spcPct val="111000"/>
                        </a:lnSpc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threshold splits)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6495">
                <a:tc>
                  <a:txBody>
                    <a:bodyPr/>
                    <a:lstStyle/>
                    <a:p>
                      <a:pPr marL="23495" marR="227329">
                        <a:lnSpc>
                          <a:spcPct val="111000"/>
                        </a:lnSpc>
                        <a:spcBef>
                          <a:spcPts val="114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Categorical Attributes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45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Supported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Supported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Supported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5400" marR="283845">
                        <a:lnSpc>
                          <a:spcPct val="11100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(converted</a:t>
                      </a:r>
                      <a:r>
                        <a:rPr sz="20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binary</a:t>
                      </a:r>
                      <a:r>
                        <a:rPr sz="20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form)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2C61F-39C1-197E-4669-FD05F5E3C8E0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8A9C2715-C6CA-4627-8FB3-2D2452CD2F85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C0D3A-6422-14FD-F744-41616960856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08A38-800B-26AA-F571-057930F9E58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27735"/>
            <a:ext cx="18827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4.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Handling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8629" y="910589"/>
          <a:ext cx="6912609" cy="3804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7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5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1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584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Aspect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ID3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C4.5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CART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Missing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Values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Not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handled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Handled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probabilistically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Handled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using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surrogate</a:t>
                      </a:r>
                      <a:r>
                        <a:rPr sz="20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splits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Noisy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Sensitive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robust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Robust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(due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 to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pruning)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31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Pruning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90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pruning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Post-pruning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90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Cost-complexity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pruning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804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Output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Decision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Tree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sz="20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40" dirty="0">
                          <a:latin typeface="Times New Roman"/>
                          <a:cs typeface="Times New Roman"/>
                        </a:rPr>
                        <a:t>Tree</a:t>
                      </a:r>
                      <a:r>
                        <a:rPr sz="20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Rule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Set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Binary</a:t>
                      </a:r>
                      <a:r>
                        <a:rPr sz="20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Tree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Rule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Set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01442-A5EE-4860-6FB2-E0C8CCA39F3E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ECCC7F4-ED79-4626-A04D-ECAE36E55721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A9D70-7C6E-B92E-B922-9DFDF56AAA1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72365-9E6E-B72C-A0A3-88B0A1099F4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27735"/>
            <a:ext cx="24968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5.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Output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Purpose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8629" y="910589"/>
          <a:ext cx="6912609" cy="3804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8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584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Aspect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ID3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C4.5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CART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Target</a:t>
                      </a:r>
                      <a:r>
                        <a:rPr sz="200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Variable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Categorical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Categorical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Categorical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or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Continuous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Prediction</a:t>
                      </a:r>
                      <a:r>
                        <a:rPr sz="2000" b="1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Classification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only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Classification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only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Classification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Regression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31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Output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Representation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Tree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90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Tree</a:t>
                      </a:r>
                      <a:r>
                        <a:rPr sz="20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0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Rules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90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Tree</a:t>
                      </a:r>
                      <a:r>
                        <a:rPr sz="20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0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Rules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90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804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Interpretability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20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(binary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simplifies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logic)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44500" y="5146675"/>
            <a:ext cx="24485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6.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Pruning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Techniques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68629" y="5629782"/>
          <a:ext cx="6912609" cy="2486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3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1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584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Aspect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ID3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C4.5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CART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7130">
                <a:tc>
                  <a:txBody>
                    <a:bodyPr/>
                    <a:lstStyle/>
                    <a:p>
                      <a:pPr marL="23495" marR="359410">
                        <a:lnSpc>
                          <a:spcPct val="111000"/>
                        </a:lnSpc>
                        <a:spcBef>
                          <a:spcPts val="114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Pruning 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Available?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45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561975" indent="63500">
                        <a:lnSpc>
                          <a:spcPct val="111000"/>
                        </a:lnSpc>
                        <a:spcBef>
                          <a:spcPts val="1145"/>
                        </a:spcBef>
                      </a:pPr>
                      <a:r>
                        <a:rPr sz="2000" b="1" spc="-30" dirty="0">
                          <a:latin typeface="Times New Roman"/>
                          <a:cs typeface="Times New Roman"/>
                        </a:rPr>
                        <a:t>Error-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based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pruning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45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Cost-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 marR="591820">
                        <a:lnSpc>
                          <a:spcPct val="111000"/>
                        </a:lnSpc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complexity pruning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944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Effect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90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Overfitting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likely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Improves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generalization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Reduces</a:t>
                      </a:r>
                      <a:r>
                        <a:rPr sz="20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tree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complexity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E712ED-5404-0B45-35EF-5B93D72AD0A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75BBADEA-3967-44E2-9EB0-90496A691D13}" type="datetime1">
              <a:rPr lang="en-US" smtClean="0"/>
              <a:t>10/13/2025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0A18D2-47FE-FC44-8F21-FF7897C5AA1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95797DD-C8EA-FA7B-C64B-9273463097B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1307337"/>
            <a:ext cx="32359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7.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Computational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Complexity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8629" y="1790191"/>
          <a:ext cx="6912609" cy="28244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1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5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5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584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Aspect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ID3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C4.5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CART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55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20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Time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247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O(n</a:t>
                      </a:r>
                      <a:r>
                        <a:rPr sz="20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×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 marR="81280">
                        <a:lnSpc>
                          <a:spcPts val="2670"/>
                        </a:lnSpc>
                        <a:spcBef>
                          <a:spcPts val="13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m 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×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log</a:t>
                      </a: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m)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O(n ×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×</a:t>
                      </a:r>
                      <a:r>
                        <a:rPr sz="20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log 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m)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 marR="311785">
                        <a:lnSpc>
                          <a:spcPct val="11100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(more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complex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due to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threshold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search)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O(n ×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×</a:t>
                      </a:r>
                      <a:r>
                        <a:rPr sz="20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log 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m)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 marR="466725">
                        <a:lnSpc>
                          <a:spcPct val="11100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(binary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but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checks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many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thresholds)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31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Memory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Requirement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Low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Moderate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Moderate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44500" y="4605654"/>
            <a:ext cx="53403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Times New Roman"/>
                <a:cs typeface="Times New Roman"/>
              </a:rPr>
              <a:t>(n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=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number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of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samples,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m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=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number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of</a:t>
            </a:r>
            <a:r>
              <a:rPr sz="2000" b="1" i="1" spc="-5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attributes)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CB170-8063-88BE-D1F7-15A7F6939C6D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93437E6-7AD7-49AD-B772-3C5679ACEFC0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83BE8-1A33-CF2D-D32B-745E17C35CD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F7A55-1379-08B4-CC09-084E0902592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868425"/>
            <a:ext cx="47371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8.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Example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Summary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(Play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Tennis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Dataset)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8629" y="1349755"/>
          <a:ext cx="6912609" cy="4144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2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39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Aspect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ID3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C4.5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CART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55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Root</a:t>
                      </a:r>
                      <a:r>
                        <a:rPr sz="2000" b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Attribute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235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Outlook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5400" marR="398145">
                        <a:lnSpc>
                          <a:spcPct val="111000"/>
                        </a:lnSpc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(highest Information Gain)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Temperature</a:t>
                      </a:r>
                      <a:r>
                        <a:rPr sz="20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≤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5400" marR="502920">
                        <a:lnSpc>
                          <a:spcPct val="11100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73.5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(highest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Gain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Ratio)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71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 marR="323850">
                        <a:lnSpc>
                          <a:spcPct val="111000"/>
                        </a:lnSpc>
                        <a:spcBef>
                          <a:spcPts val="113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Outlook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(best</a:t>
                      </a:r>
                      <a:r>
                        <a:rPr sz="20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Gini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reduction)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43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Split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Multiway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Multiway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Binary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713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Handling</a:t>
                      </a:r>
                      <a:r>
                        <a:rPr sz="20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of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3495" marR="391795">
                        <a:lnSpc>
                          <a:spcPct val="111000"/>
                        </a:lnSpc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Continuous Attributes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threshold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 marR="423545" indent="63500">
                        <a:lnSpc>
                          <a:spcPct val="111000"/>
                        </a:lnSpc>
                        <a:spcBef>
                          <a:spcPts val="113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Uses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threshold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43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Tree</a:t>
                      </a:r>
                      <a:r>
                        <a:rPr sz="20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Output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way</a:t>
                      </a:r>
                      <a:r>
                        <a:rPr sz="20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branches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2 or</a:t>
                      </a: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more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Binary</a:t>
                      </a:r>
                      <a:r>
                        <a:rPr sz="20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only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258DA-05A0-FE5A-BCDA-393B96B4A81E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231B7ACF-3948-429C-B19B-FEBD7BCBAF68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88B77-E40B-31EF-B375-F3A138C7C84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9577F-968A-F9CC-F5EA-65BE970ABC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27735"/>
            <a:ext cx="33286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9.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Advantages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Limitations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8629" y="910589"/>
          <a:ext cx="6912609" cy="4329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8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0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584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Algorithm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Advantages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Limitations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7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ID3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1162050">
                        <a:lnSpc>
                          <a:spcPct val="111000"/>
                        </a:lnSpc>
                        <a:spcBef>
                          <a:spcPts val="114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Simple,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easy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implement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44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Overfits,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continuous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5400" marR="300990">
                        <a:lnSpc>
                          <a:spcPct val="11100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data,</a:t>
                      </a:r>
                      <a:r>
                        <a:rPr sz="20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biased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toward multi-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valued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attributes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7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C4.5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Handles</a:t>
                      </a:r>
                      <a:r>
                        <a:rPr sz="20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continuous</a:t>
                      </a:r>
                      <a:r>
                        <a:rPr sz="20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 marR="836930">
                        <a:lnSpc>
                          <a:spcPts val="2670"/>
                        </a:lnSpc>
                        <a:spcBef>
                          <a:spcPts val="12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missing</a:t>
                      </a:r>
                      <a:r>
                        <a:rPr sz="20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data,</a:t>
                      </a:r>
                      <a:r>
                        <a:rPr sz="20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uses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pruning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751840">
                        <a:lnSpc>
                          <a:spcPct val="111100"/>
                        </a:lnSpc>
                        <a:spcBef>
                          <a:spcPts val="114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Slower,</a:t>
                      </a:r>
                      <a:r>
                        <a:rPr sz="20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higher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computational</a:t>
                      </a: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cost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44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CART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247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Works</a:t>
                      </a:r>
                      <a:r>
                        <a:rPr sz="20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000" b="1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classification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 marR="551180">
                        <a:lnSpc>
                          <a:spcPct val="11100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regression,</a:t>
                      </a:r>
                      <a:r>
                        <a:rPr sz="20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binary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simplifies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decisions,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robust</a:t>
                      </a:r>
                      <a:r>
                        <a:rPr sz="20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pruning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18415">
                        <a:lnSpc>
                          <a:spcPct val="111000"/>
                        </a:lnSpc>
                        <a:spcBef>
                          <a:spcPts val="114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Binary</a:t>
                      </a:r>
                      <a:r>
                        <a:rPr sz="20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splits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may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increase</a:t>
                      </a:r>
                      <a:r>
                        <a:rPr sz="20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tree</a:t>
                      </a:r>
                      <a:r>
                        <a:rPr sz="20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size,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computationally</a:t>
                      </a: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intensive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44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44500" y="5671184"/>
            <a:ext cx="17627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10.</a:t>
            </a:r>
            <a:r>
              <a:rPr sz="2000" b="1" spc="-114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Applications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68629" y="6154038"/>
          <a:ext cx="5867400" cy="2942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53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584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Domain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Example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Use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Finance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Credit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scoring,</a:t>
                      </a:r>
                      <a:r>
                        <a:rPr sz="20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loan</a:t>
                      </a:r>
                      <a:r>
                        <a:rPr sz="20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approval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Healthcare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Disease</a:t>
                      </a: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diagnosis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(C4.5,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CART)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Marketing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Customer</a:t>
                      </a:r>
                      <a:r>
                        <a:rPr sz="2000" b="1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segmentation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Education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Student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prediction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Systems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time decision</a:t>
                      </a: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logic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D7FE20-AE3F-DD1F-B8B6-8328D26F78A6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FD2F32D8-E2E5-43DB-B153-DE854C4B708A}" type="datetime1">
              <a:rPr lang="en-US" smtClean="0"/>
              <a:t>10/13/2025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036DC57-AE3D-E741-776B-ACAD870E893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3EC1E29-05F4-DEFA-2A43-3DA4FD80792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27735"/>
            <a:ext cx="22072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imes New Roman"/>
                <a:cs typeface="Times New Roman"/>
              </a:rPr>
              <a:t>11.</a:t>
            </a:r>
            <a:r>
              <a:rPr sz="2000" b="1" spc="-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Visual</a:t>
            </a:r>
            <a:r>
              <a:rPr sz="2000" b="1" spc="-1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Summary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8629" y="910589"/>
          <a:ext cx="6912609" cy="6594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4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1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584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Feature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ID3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C4.5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CART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Splitting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Criterion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Information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Gain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Gain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Ratio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Gini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0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Variance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Split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Multiway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Multiway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Binary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31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Continuous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Missing</a:t>
                      </a:r>
                      <a:r>
                        <a:rPr sz="20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Values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spc="-30" dirty="0">
                          <a:latin typeface="Times New Roman"/>
                          <a:cs typeface="Times New Roman"/>
                        </a:rPr>
                        <a:t>Target</a:t>
                      </a:r>
                      <a:r>
                        <a:rPr sz="20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Categorical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Categorical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Categorical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/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Continuous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Pruning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931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Form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90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Tree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90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Tree</a:t>
                      </a:r>
                      <a:r>
                        <a:rPr sz="20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/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Rules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Tree</a:t>
                      </a:r>
                      <a:r>
                        <a:rPr sz="20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0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Rules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90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Overfitting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Control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None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Moderate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Strong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Developed</a:t>
                      </a:r>
                      <a:r>
                        <a:rPr sz="20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By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Quinlan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Quinlan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Breiman</a:t>
                      </a:r>
                      <a:r>
                        <a:rPr sz="20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al.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3526D-FC28-050F-B32D-5221D6BFFA01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990990A8-5D41-4AB0-9670-C1E0CA66FE1A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C9A67-3DF4-1F03-7C07-9BC991FB68C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672E1-4DCD-5EDC-3233-8FCE7B8BC1B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92455"/>
            <a:ext cx="6840855" cy="6015990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394335" indent="-381635">
              <a:lnSpc>
                <a:spcPct val="100000"/>
              </a:lnSpc>
              <a:spcBef>
                <a:spcPts val="1170"/>
              </a:spcBef>
              <a:buAutoNum type="arabicPeriod" startAt="12"/>
              <a:tabLst>
                <a:tab pos="394335" algn="l"/>
              </a:tabLst>
            </a:pPr>
            <a:r>
              <a:rPr sz="2000" b="1" dirty="0">
                <a:latin typeface="Times New Roman"/>
                <a:cs typeface="Times New Roman"/>
              </a:rPr>
              <a:t>Summary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Insight</a:t>
            </a:r>
            <a:endParaRPr sz="2000">
              <a:latin typeface="Times New Roman"/>
              <a:cs typeface="Times New Roman"/>
            </a:endParaRPr>
          </a:p>
          <a:p>
            <a:pPr marL="469900" marR="1682750" lvl="1" indent="-229235">
              <a:lnSpc>
                <a:spcPct val="111000"/>
              </a:lnSpc>
              <a:spcBef>
                <a:spcPts val="805"/>
              </a:spcBef>
              <a:buSzPct val="50000"/>
              <a:buFont typeface="Symbol"/>
              <a:buChar char=""/>
              <a:tabLst>
                <a:tab pos="469900" algn="l"/>
              </a:tabLst>
            </a:pPr>
            <a:r>
              <a:rPr sz="2000" b="1" dirty="0">
                <a:latin typeface="Times New Roman"/>
                <a:cs typeface="Times New Roman"/>
              </a:rPr>
              <a:t>ID3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foundation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algorithm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—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fast</a:t>
            </a:r>
            <a:r>
              <a:rPr sz="2000" b="1" spc="-25" dirty="0">
                <a:latin typeface="Times New Roman"/>
                <a:cs typeface="Times New Roman"/>
              </a:rPr>
              <a:t> and </a:t>
            </a:r>
            <a:r>
              <a:rPr sz="2000" b="1" dirty="0">
                <a:latin typeface="Times New Roman"/>
                <a:cs typeface="Times New Roman"/>
              </a:rPr>
              <a:t>straightforward,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but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limited.</a:t>
            </a:r>
            <a:endParaRPr sz="2000">
              <a:latin typeface="Times New Roman"/>
              <a:cs typeface="Times New Roman"/>
            </a:endParaRPr>
          </a:p>
          <a:p>
            <a:pPr marL="469900" marR="389255" lvl="1" indent="-229235">
              <a:lnSpc>
                <a:spcPct val="111000"/>
              </a:lnSpc>
              <a:spcBef>
                <a:spcPts val="790"/>
              </a:spcBef>
              <a:buSzPct val="50000"/>
              <a:buFont typeface="Symbol"/>
              <a:buChar char=""/>
              <a:tabLst>
                <a:tab pos="469900" algn="l"/>
              </a:tabLst>
            </a:pPr>
            <a:r>
              <a:rPr sz="2000" b="1" dirty="0">
                <a:latin typeface="Times New Roman"/>
                <a:cs typeface="Times New Roman"/>
              </a:rPr>
              <a:t>C4.5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improves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ID3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adding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pruning,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continuous</a:t>
            </a:r>
            <a:r>
              <a:rPr sz="2000" b="1" spc="-20" dirty="0">
                <a:latin typeface="Times New Roman"/>
                <a:cs typeface="Times New Roman"/>
              </a:rPr>
              <a:t> data </a:t>
            </a:r>
            <a:r>
              <a:rPr sz="2000" b="1" dirty="0">
                <a:latin typeface="Times New Roman"/>
                <a:cs typeface="Times New Roman"/>
              </a:rPr>
              <a:t>support,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Gain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Ratio.</a:t>
            </a:r>
            <a:endParaRPr sz="2000">
              <a:latin typeface="Times New Roman"/>
              <a:cs typeface="Times New Roman"/>
            </a:endParaRPr>
          </a:p>
          <a:p>
            <a:pPr marL="469900" marR="405130" lvl="1" indent="-229235">
              <a:lnSpc>
                <a:spcPct val="111100"/>
              </a:lnSpc>
              <a:spcBef>
                <a:spcPts val="800"/>
              </a:spcBef>
              <a:buSzPct val="50000"/>
              <a:buFont typeface="Symbol"/>
              <a:buChar char=""/>
              <a:tabLst>
                <a:tab pos="469900" algn="l"/>
              </a:tabLst>
            </a:pPr>
            <a:r>
              <a:rPr sz="2000" b="1" spc="-25" dirty="0">
                <a:latin typeface="Times New Roman"/>
                <a:cs typeface="Times New Roman"/>
              </a:rPr>
              <a:t>CART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generalizes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concept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—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handles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both </a:t>
            </a:r>
            <a:r>
              <a:rPr sz="2000" b="1" dirty="0">
                <a:latin typeface="Times New Roman"/>
                <a:cs typeface="Times New Roman"/>
              </a:rPr>
              <a:t>classification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regression,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consistently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produces </a:t>
            </a:r>
            <a:r>
              <a:rPr sz="2000" b="1" dirty="0">
                <a:latin typeface="Times New Roman"/>
                <a:cs typeface="Times New Roman"/>
              </a:rPr>
              <a:t>binary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trees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easier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interpret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deploy.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225"/>
              </a:spcBef>
              <a:buFont typeface="Symbol"/>
              <a:buChar char=""/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Simple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Terms:</a:t>
            </a:r>
            <a:endParaRPr sz="200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070"/>
              </a:spcBef>
              <a:buSzPct val="50000"/>
              <a:buFont typeface="Symbol"/>
              <a:buChar char=""/>
              <a:tabLst>
                <a:tab pos="469900" algn="l"/>
              </a:tabLst>
            </a:pPr>
            <a:r>
              <a:rPr sz="2000" b="1" dirty="0">
                <a:latin typeface="Times New Roman"/>
                <a:cs typeface="Times New Roman"/>
              </a:rPr>
              <a:t>ID3: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Basic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—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builds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multiway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categorical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trees.</a:t>
            </a:r>
            <a:endParaRPr sz="2000">
              <a:latin typeface="Times New Roman"/>
              <a:cs typeface="Times New Roman"/>
            </a:endParaRPr>
          </a:p>
          <a:p>
            <a:pPr marL="469900" marR="226060" lvl="1" indent="-229235">
              <a:lnSpc>
                <a:spcPct val="111100"/>
              </a:lnSpc>
              <a:spcBef>
                <a:spcPts val="800"/>
              </a:spcBef>
              <a:buFont typeface="Symbol"/>
              <a:buChar char=""/>
              <a:tabLst>
                <a:tab pos="469900" algn="l"/>
                <a:tab pos="534035" algn="l"/>
              </a:tabLst>
            </a:pP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2000" b="1" dirty="0">
                <a:latin typeface="Times New Roman"/>
                <a:cs typeface="Times New Roman"/>
              </a:rPr>
              <a:t>C4.5: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Smarter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—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handles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continuous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data,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prunes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trees, </a:t>
            </a:r>
            <a:r>
              <a:rPr sz="2000" b="1" dirty="0">
                <a:latin typeface="Times New Roman"/>
                <a:cs typeface="Times New Roman"/>
              </a:rPr>
              <a:t>reduces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bias.</a:t>
            </a:r>
            <a:endParaRPr sz="2000">
              <a:latin typeface="Times New Roman"/>
              <a:cs typeface="Times New Roman"/>
            </a:endParaRPr>
          </a:p>
          <a:p>
            <a:pPr marL="469900" marR="5080" lvl="1" indent="-229235">
              <a:lnSpc>
                <a:spcPct val="111000"/>
              </a:lnSpc>
              <a:spcBef>
                <a:spcPts val="795"/>
              </a:spcBef>
              <a:buFont typeface="Symbol"/>
              <a:buChar char=""/>
              <a:tabLst>
                <a:tab pos="469900" algn="l"/>
                <a:tab pos="534035" algn="l"/>
              </a:tabLst>
            </a:pP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2000" b="1" spc="-60" dirty="0">
                <a:latin typeface="Times New Roman"/>
                <a:cs typeface="Times New Roman"/>
              </a:rPr>
              <a:t>CART: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Versatile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—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supports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regression,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binary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splits,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 </a:t>
            </a:r>
            <a:r>
              <a:rPr sz="2000" b="1" dirty="0">
                <a:latin typeface="Times New Roman"/>
                <a:cs typeface="Times New Roman"/>
              </a:rPr>
              <a:t>robust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pruning.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46DB1B-88B7-2802-E364-454A9A11D42E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BF27DC89-3D16-448A-A378-BAB3A8447E96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1DFE2-9C6B-DE1B-4C91-7BAD5CA0AE5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E669B-AAD3-43B7-DA9C-1130CE60AD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62889"/>
            <a:ext cx="6883400" cy="9274810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410"/>
              </a:spcBef>
            </a:pPr>
            <a:r>
              <a:rPr sz="2400" b="1" dirty="0">
                <a:latin typeface="Calibri"/>
                <a:cs typeface="Calibri"/>
              </a:rPr>
              <a:t>ID3</a:t>
            </a:r>
            <a:r>
              <a:rPr sz="2400" b="1" spc="-10" dirty="0">
                <a:latin typeface="Calibri"/>
                <a:cs typeface="Calibri"/>
              </a:rPr>
              <a:t> Algorithm</a:t>
            </a:r>
            <a:endParaRPr sz="2400">
              <a:latin typeface="Calibri"/>
              <a:cs typeface="Calibri"/>
            </a:endParaRPr>
          </a:p>
          <a:p>
            <a:pPr marL="12700" marR="5080" algn="just">
              <a:lnSpc>
                <a:spcPct val="117900"/>
              </a:lnSpc>
              <a:spcBef>
                <a:spcPts val="795"/>
              </a:spcBef>
              <a:tabLst>
                <a:tab pos="1636395" algn="l"/>
                <a:tab pos="2987675" algn="l"/>
                <a:tab pos="5593715" algn="l"/>
              </a:tabLst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240" dirty="0">
                <a:latin typeface="Calibri"/>
                <a:cs typeface="Calibri"/>
              </a:rPr>
              <a:t>   </a:t>
            </a:r>
            <a:r>
              <a:rPr sz="2400" b="1" dirty="0">
                <a:latin typeface="Calibri"/>
                <a:cs typeface="Calibri"/>
              </a:rPr>
              <a:t>ID3</a:t>
            </a:r>
            <a:r>
              <a:rPr sz="2400" b="1" spc="250" dirty="0">
                <a:latin typeface="Calibri"/>
                <a:cs typeface="Calibri"/>
              </a:rPr>
              <a:t>   </a:t>
            </a:r>
            <a:r>
              <a:rPr sz="2400" b="1" dirty="0">
                <a:latin typeface="Calibri"/>
                <a:cs typeface="Calibri"/>
              </a:rPr>
              <a:t>(Iterative</a:t>
            </a:r>
            <a:r>
              <a:rPr sz="2400" b="1" spc="240" dirty="0">
                <a:latin typeface="Calibri"/>
                <a:cs typeface="Calibri"/>
              </a:rPr>
              <a:t>   </a:t>
            </a:r>
            <a:r>
              <a:rPr sz="2400" b="1" dirty="0">
                <a:latin typeface="Calibri"/>
                <a:cs typeface="Calibri"/>
              </a:rPr>
              <a:t>Dichotomiser</a:t>
            </a:r>
            <a:r>
              <a:rPr sz="2400" b="1" spc="245" dirty="0">
                <a:latin typeface="Calibri"/>
                <a:cs typeface="Calibri"/>
              </a:rPr>
              <a:t>   </a:t>
            </a:r>
            <a:r>
              <a:rPr sz="2400" b="1" dirty="0">
                <a:latin typeface="Calibri"/>
                <a:cs typeface="Calibri"/>
              </a:rPr>
              <a:t>3)</a:t>
            </a:r>
            <a:r>
              <a:rPr sz="2400" b="1" spc="245" dirty="0">
                <a:latin typeface="Calibri"/>
                <a:cs typeface="Calibri"/>
              </a:rPr>
              <a:t>   </a:t>
            </a:r>
            <a:r>
              <a:rPr sz="2400" b="1" spc="-10" dirty="0">
                <a:latin typeface="Calibri"/>
                <a:cs typeface="Calibri"/>
              </a:rPr>
              <a:t>algorithm, </a:t>
            </a:r>
            <a:r>
              <a:rPr sz="2400" b="1" dirty="0">
                <a:latin typeface="Calibri"/>
                <a:cs typeface="Calibri"/>
              </a:rPr>
              <a:t>developed</a:t>
            </a:r>
            <a:r>
              <a:rPr sz="2400" b="1" spc="5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by</a:t>
            </a:r>
            <a:r>
              <a:rPr sz="2400" b="1" spc="5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Ross</a:t>
            </a:r>
            <a:r>
              <a:rPr sz="2400" b="1" spc="5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Quinlan</a:t>
            </a:r>
            <a:r>
              <a:rPr sz="2400" b="1" spc="5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(1986),</a:t>
            </a:r>
            <a:r>
              <a:rPr sz="2400" b="1" spc="5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5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5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supervised </a:t>
            </a:r>
            <a:r>
              <a:rPr sz="2400" b="1" dirty="0">
                <a:latin typeface="Calibri"/>
                <a:cs typeface="Calibri"/>
              </a:rPr>
              <a:t>machine</a:t>
            </a:r>
            <a:r>
              <a:rPr sz="2400" b="1" spc="60" dirty="0">
                <a:latin typeface="Calibri"/>
                <a:cs typeface="Calibri"/>
              </a:rPr>
              <a:t>  </a:t>
            </a:r>
            <a:r>
              <a:rPr sz="2400" b="1" dirty="0">
                <a:latin typeface="Calibri"/>
                <a:cs typeface="Calibri"/>
              </a:rPr>
              <a:t>learning</a:t>
            </a:r>
            <a:r>
              <a:rPr sz="2400" b="1" spc="65" dirty="0">
                <a:latin typeface="Calibri"/>
                <a:cs typeface="Calibri"/>
              </a:rPr>
              <a:t>  </a:t>
            </a:r>
            <a:r>
              <a:rPr sz="2400" b="1" dirty="0">
                <a:latin typeface="Calibri"/>
                <a:cs typeface="Calibri"/>
              </a:rPr>
              <a:t>algorithm</a:t>
            </a:r>
            <a:r>
              <a:rPr sz="2400" b="1" spc="60" dirty="0">
                <a:latin typeface="Calibri"/>
                <a:cs typeface="Calibri"/>
              </a:rPr>
              <a:t>  </a:t>
            </a:r>
            <a:r>
              <a:rPr sz="2400" b="1" dirty="0">
                <a:latin typeface="Calibri"/>
                <a:cs typeface="Calibri"/>
              </a:rPr>
              <a:t>used</a:t>
            </a:r>
            <a:r>
              <a:rPr sz="2400" b="1" spc="70" dirty="0">
                <a:latin typeface="Calibri"/>
                <a:cs typeface="Calibri"/>
              </a:rPr>
              <a:t> 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65" dirty="0">
                <a:latin typeface="Calibri"/>
                <a:cs typeface="Calibri"/>
              </a:rPr>
              <a:t>  </a:t>
            </a:r>
            <a:r>
              <a:rPr sz="2400" b="1" dirty="0">
                <a:latin typeface="Calibri"/>
                <a:cs typeface="Calibri"/>
              </a:rPr>
              <a:t>build</a:t>
            </a:r>
            <a:r>
              <a:rPr sz="2400" b="1" spc="55" dirty="0">
                <a:latin typeface="Calibri"/>
                <a:cs typeface="Calibri"/>
              </a:rPr>
              <a:t>  </a:t>
            </a:r>
            <a:r>
              <a:rPr sz="2400" b="1" spc="-10" dirty="0">
                <a:latin typeface="Calibri"/>
                <a:cs typeface="Calibri"/>
              </a:rPr>
              <a:t>decision trees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for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10" dirty="0">
                <a:latin typeface="Calibri"/>
                <a:cs typeface="Calibri"/>
              </a:rPr>
              <a:t>classification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10" dirty="0">
                <a:latin typeface="Calibri"/>
                <a:cs typeface="Calibri"/>
              </a:rPr>
              <a:t>problems. </a:t>
            </a:r>
            <a:r>
              <a:rPr sz="2400" b="1" dirty="0">
                <a:latin typeface="Calibri"/>
                <a:cs typeface="Calibri"/>
              </a:rPr>
              <a:t>It</a:t>
            </a:r>
            <a:r>
              <a:rPr sz="2400" b="1" spc="2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uses</a:t>
            </a:r>
            <a:r>
              <a:rPr sz="2400" b="1" spc="2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Information</a:t>
            </a:r>
            <a:r>
              <a:rPr sz="2400" b="1" spc="2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2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based</a:t>
            </a:r>
            <a:r>
              <a:rPr sz="2400" b="1" spc="2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22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Entropy</a:t>
            </a:r>
            <a:r>
              <a:rPr sz="2400" b="1" spc="2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229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decide </a:t>
            </a:r>
            <a:r>
              <a:rPr sz="2400" b="1" dirty="0">
                <a:latin typeface="Calibri"/>
                <a:cs typeface="Calibri"/>
              </a:rPr>
              <a:t>which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attribute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split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at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each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node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the </a:t>
            </a:r>
            <a:r>
              <a:rPr sz="2400" b="1" spc="-10" dirty="0">
                <a:latin typeface="Calibri"/>
                <a:cs typeface="Calibri"/>
              </a:rPr>
              <a:t>tree.</a:t>
            </a:r>
            <a:endParaRPr sz="2400">
              <a:latin typeface="Calibri"/>
              <a:cs typeface="Calibri"/>
            </a:endParaRPr>
          </a:p>
          <a:p>
            <a:pPr marL="12700" marR="5715" algn="just">
              <a:lnSpc>
                <a:spcPct val="117800"/>
              </a:lnSpc>
              <a:spcBef>
                <a:spcPts val="805"/>
              </a:spcBef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4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main</a:t>
            </a:r>
            <a:r>
              <a:rPr sz="2400" b="1" spc="4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objective</a:t>
            </a:r>
            <a:r>
              <a:rPr sz="2400" b="1" spc="43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43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ID3</a:t>
            </a:r>
            <a:r>
              <a:rPr sz="2400" b="1" spc="4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4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4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create</a:t>
            </a:r>
            <a:r>
              <a:rPr sz="2400" b="1" spc="43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434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smallest </a:t>
            </a:r>
            <a:r>
              <a:rPr sz="2400" b="1" dirty="0">
                <a:latin typeface="Calibri"/>
                <a:cs typeface="Calibri"/>
              </a:rPr>
              <a:t>possible</a:t>
            </a:r>
            <a:r>
              <a:rPr sz="2400" b="1" spc="125" dirty="0">
                <a:latin typeface="Calibri"/>
                <a:cs typeface="Calibri"/>
              </a:rPr>
              <a:t>  </a:t>
            </a:r>
            <a:r>
              <a:rPr sz="2400" b="1" dirty="0">
                <a:latin typeface="Calibri"/>
                <a:cs typeface="Calibri"/>
              </a:rPr>
              <a:t>decision</a:t>
            </a:r>
            <a:r>
              <a:rPr sz="2400" b="1" spc="130" dirty="0">
                <a:latin typeface="Calibri"/>
                <a:cs typeface="Calibri"/>
              </a:rPr>
              <a:t>  </a:t>
            </a:r>
            <a:r>
              <a:rPr sz="2400" b="1" dirty="0">
                <a:latin typeface="Calibri"/>
                <a:cs typeface="Calibri"/>
              </a:rPr>
              <a:t>tree</a:t>
            </a:r>
            <a:r>
              <a:rPr sz="2400" b="1" spc="125" dirty="0">
                <a:latin typeface="Calibri"/>
                <a:cs typeface="Calibri"/>
              </a:rPr>
              <a:t> 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125" dirty="0">
                <a:latin typeface="Calibri"/>
                <a:cs typeface="Calibri"/>
              </a:rPr>
              <a:t>  </a:t>
            </a:r>
            <a:r>
              <a:rPr sz="2400" b="1" dirty="0">
                <a:latin typeface="Calibri"/>
                <a:cs typeface="Calibri"/>
              </a:rPr>
              <a:t>correctly</a:t>
            </a:r>
            <a:r>
              <a:rPr sz="2400" b="1" spc="130" dirty="0">
                <a:latin typeface="Calibri"/>
                <a:cs typeface="Calibri"/>
              </a:rPr>
              <a:t>  </a:t>
            </a:r>
            <a:r>
              <a:rPr sz="2400" b="1" dirty="0">
                <a:latin typeface="Calibri"/>
                <a:cs typeface="Calibri"/>
              </a:rPr>
              <a:t>classifies</a:t>
            </a:r>
            <a:r>
              <a:rPr sz="2400" b="1" spc="130" dirty="0">
                <a:latin typeface="Calibri"/>
                <a:cs typeface="Calibri"/>
              </a:rPr>
              <a:t>  </a:t>
            </a:r>
            <a:r>
              <a:rPr sz="2400" b="1" spc="-25" dirty="0">
                <a:latin typeface="Calibri"/>
                <a:cs typeface="Calibri"/>
              </a:rPr>
              <a:t>the </a:t>
            </a:r>
            <a:r>
              <a:rPr sz="2400" b="1" dirty="0">
                <a:latin typeface="Calibri"/>
                <a:cs typeface="Calibri"/>
              </a:rPr>
              <a:t>training</a:t>
            </a:r>
            <a:r>
              <a:rPr sz="2400" b="1" spc="5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data</a:t>
            </a:r>
            <a:r>
              <a:rPr sz="2400" b="1" spc="5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while</a:t>
            </a:r>
            <a:r>
              <a:rPr sz="2400" b="1" spc="5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maximizing</a:t>
            </a:r>
            <a:r>
              <a:rPr sz="2400" b="1" spc="5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information</a:t>
            </a:r>
            <a:r>
              <a:rPr sz="2400" b="1" spc="5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5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at </a:t>
            </a:r>
            <a:r>
              <a:rPr sz="2400" b="1" dirty="0">
                <a:latin typeface="Calibri"/>
                <a:cs typeface="Calibri"/>
              </a:rPr>
              <a:t>every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split.</a:t>
            </a:r>
            <a:endParaRPr sz="2400">
              <a:latin typeface="Calibri"/>
              <a:cs typeface="Calibri"/>
            </a:endParaRPr>
          </a:p>
          <a:p>
            <a:pPr marL="314325" indent="-301625" algn="just">
              <a:lnSpc>
                <a:spcPct val="100000"/>
              </a:lnSpc>
              <a:spcBef>
                <a:spcPts val="1320"/>
              </a:spcBef>
              <a:buAutoNum type="arabicPeriod" startAt="2"/>
              <a:tabLst>
                <a:tab pos="314325" algn="l"/>
              </a:tabLst>
            </a:pPr>
            <a:r>
              <a:rPr sz="2400" b="1" spc="-10" dirty="0">
                <a:latin typeface="Calibri"/>
                <a:cs typeface="Calibri"/>
              </a:rPr>
              <a:t>Conceptual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Overview</a:t>
            </a:r>
            <a:endParaRPr sz="2400">
              <a:latin typeface="Calibri"/>
              <a:cs typeface="Calibri"/>
            </a:endParaRPr>
          </a:p>
          <a:p>
            <a:pPr marL="469265" lvl="1" indent="-227965" algn="just">
              <a:lnSpc>
                <a:spcPct val="100000"/>
              </a:lnSpc>
              <a:spcBef>
                <a:spcPts val="1310"/>
              </a:spcBef>
              <a:buSzPct val="41666"/>
              <a:buFont typeface="Symbol"/>
              <a:buChar char=""/>
              <a:tabLst>
                <a:tab pos="469265" algn="l"/>
              </a:tabLst>
            </a:pPr>
            <a:r>
              <a:rPr sz="2400" b="1" dirty="0">
                <a:latin typeface="Calibri"/>
                <a:cs typeface="Calibri"/>
              </a:rPr>
              <a:t>Type:</a:t>
            </a:r>
            <a:r>
              <a:rPr sz="2400" b="1" spc="-1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Classification</a:t>
            </a:r>
            <a:endParaRPr sz="2400">
              <a:latin typeface="Calibri"/>
              <a:cs typeface="Calibri"/>
            </a:endParaRPr>
          </a:p>
          <a:p>
            <a:pPr marL="469265" lvl="1" indent="-227965" algn="just">
              <a:lnSpc>
                <a:spcPct val="100000"/>
              </a:lnSpc>
              <a:spcBef>
                <a:spcPts val="250"/>
              </a:spcBef>
              <a:buSzPct val="41666"/>
              <a:buFont typeface="Symbol"/>
              <a:buChar char=""/>
              <a:tabLst>
                <a:tab pos="469265" algn="l"/>
              </a:tabLst>
            </a:pPr>
            <a:r>
              <a:rPr sz="2400" b="1" dirty="0">
                <a:latin typeface="Calibri"/>
                <a:cs typeface="Calibri"/>
              </a:rPr>
              <a:t>Approach: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60" dirty="0">
                <a:latin typeface="Calibri"/>
                <a:cs typeface="Calibri"/>
              </a:rPr>
              <a:t>Top-</a:t>
            </a:r>
            <a:r>
              <a:rPr sz="2400" b="1" dirty="0">
                <a:latin typeface="Calibri"/>
                <a:cs typeface="Calibri"/>
              </a:rPr>
              <a:t>down,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greedy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search</a:t>
            </a:r>
            <a:endParaRPr sz="2400">
              <a:latin typeface="Calibri"/>
              <a:cs typeface="Calibri"/>
            </a:endParaRPr>
          </a:p>
          <a:p>
            <a:pPr marL="469900" marR="561975" lvl="1" indent="-229235">
              <a:lnSpc>
                <a:spcPct val="101800"/>
              </a:lnSpc>
              <a:spcBef>
                <a:spcPts val="20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spc="-10" dirty="0">
                <a:latin typeface="Calibri"/>
                <a:cs typeface="Calibri"/>
              </a:rPr>
              <a:t>Splitting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Criterion: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Information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(based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on </a:t>
            </a:r>
            <a:r>
              <a:rPr sz="2400" b="1" spc="-10" dirty="0">
                <a:latin typeface="Calibri"/>
                <a:cs typeface="Calibri"/>
              </a:rPr>
              <a:t>Entropy)</a:t>
            </a:r>
            <a:endParaRPr sz="2400">
              <a:latin typeface="Calibri"/>
              <a:cs typeface="Calibri"/>
            </a:endParaRPr>
          </a:p>
          <a:p>
            <a:pPr marL="469900" marR="1294130" lvl="1" indent="-229235">
              <a:lnSpc>
                <a:spcPct val="101699"/>
              </a:lnSpc>
              <a:spcBef>
                <a:spcPts val="204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Input: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labeled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dataset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with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categorical attributes</a:t>
            </a:r>
            <a:endParaRPr sz="2400">
              <a:latin typeface="Calibri"/>
              <a:cs typeface="Calibri"/>
            </a:endParaRPr>
          </a:p>
          <a:p>
            <a:pPr marL="469900" marR="734695" lvl="1" indent="-229235">
              <a:lnSpc>
                <a:spcPct val="101699"/>
              </a:lnSpc>
              <a:spcBef>
                <a:spcPts val="20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Output: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decision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tree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can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predict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class labels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C215D0-D217-5F02-97F4-5E4F2134E509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02470A5-C151-4313-941B-866C5CC9FCE7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CA053-94AF-0CC4-A9AC-BA826F5205B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ADD846-E61E-B363-CCB7-C5190E0F77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62889"/>
            <a:ext cx="6378575" cy="2480310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400" b="1" dirty="0">
                <a:latin typeface="Calibri"/>
                <a:cs typeface="Calibri"/>
              </a:rPr>
              <a:t>3.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Key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Definitions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2400" b="1" dirty="0">
                <a:latin typeface="Calibri"/>
                <a:cs typeface="Calibri"/>
              </a:rPr>
              <a:t>(a)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Entropy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(Measure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Impurity)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17900"/>
              </a:lnSpc>
              <a:spcBef>
                <a:spcPts val="805"/>
              </a:spcBef>
            </a:pPr>
            <a:r>
              <a:rPr sz="2400" b="1" dirty="0">
                <a:latin typeface="Calibri"/>
                <a:cs typeface="Calibri"/>
              </a:rPr>
              <a:t>Entropy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quantifies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uncertainty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impurity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a </a:t>
            </a:r>
            <a:r>
              <a:rPr sz="2400" b="1" spc="-10" dirty="0">
                <a:latin typeface="Calibri"/>
                <a:cs typeface="Calibri"/>
              </a:rPr>
              <a:t>dataset:</a:t>
            </a:r>
            <a:endParaRPr sz="2400">
              <a:latin typeface="Calibri"/>
              <a:cs typeface="Calibri"/>
            </a:endParaRPr>
          </a:p>
          <a:p>
            <a:pPr marL="986790" algn="ctr">
              <a:lnSpc>
                <a:spcPct val="100000"/>
              </a:lnSpc>
              <a:spcBef>
                <a:spcPts val="1250"/>
              </a:spcBef>
            </a:pPr>
            <a:r>
              <a:rPr sz="1750" spc="-50" dirty="0">
                <a:latin typeface="Cambria Math"/>
                <a:cs typeface="Cambria Math"/>
              </a:rPr>
              <a:t>𝒌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8638" y="2677622"/>
            <a:ext cx="4689475" cy="908685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35"/>
              </a:spcBef>
              <a:tabLst>
                <a:tab pos="3162300" algn="l"/>
              </a:tabLst>
            </a:pPr>
            <a:r>
              <a:rPr sz="2400" dirty="0">
                <a:latin typeface="Cambria Math"/>
                <a:cs typeface="Cambria Math"/>
              </a:rPr>
              <a:t>𝑬𝒏𝒕𝒓𝒐𝒑𝒚(𝑺)</a:t>
            </a:r>
            <a:r>
              <a:rPr sz="2400" spc="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8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1425" dirty="0">
                <a:latin typeface="Cambria Math"/>
                <a:cs typeface="Cambria Math"/>
              </a:rPr>
              <a:t>∑</a:t>
            </a:r>
            <a:r>
              <a:rPr sz="2400" dirty="0">
                <a:latin typeface="Cambria Math"/>
                <a:cs typeface="Cambria Math"/>
              </a:rPr>
              <a:t>	𝒑</a:t>
            </a:r>
            <a:r>
              <a:rPr sz="2625" baseline="-15873" dirty="0">
                <a:latin typeface="Cambria Math"/>
                <a:cs typeface="Cambria Math"/>
              </a:rPr>
              <a:t>𝒊</a:t>
            </a:r>
            <a:r>
              <a:rPr sz="2400" dirty="0">
                <a:latin typeface="Cambria Math"/>
                <a:cs typeface="Cambria Math"/>
              </a:rPr>
              <a:t>𝐥𝐨𝐠</a:t>
            </a:r>
            <a:r>
              <a:rPr sz="2400" spc="65" dirty="0">
                <a:latin typeface="Cambria Math"/>
                <a:cs typeface="Cambria Math"/>
              </a:rPr>
              <a:t> </a:t>
            </a:r>
            <a:r>
              <a:rPr sz="2625" spc="-15" baseline="-15873" dirty="0">
                <a:latin typeface="Cambria Math"/>
                <a:cs typeface="Cambria Math"/>
              </a:rPr>
              <a:t>𝟐</a:t>
            </a:r>
            <a:r>
              <a:rPr sz="2400" spc="-10" dirty="0">
                <a:latin typeface="Cambria Math"/>
                <a:cs typeface="Cambria Math"/>
              </a:rPr>
              <a:t>(𝒑</a:t>
            </a:r>
            <a:r>
              <a:rPr sz="2625" spc="-15" baseline="-15873" dirty="0">
                <a:latin typeface="Cambria Math"/>
                <a:cs typeface="Cambria Math"/>
              </a:rPr>
              <a:t>𝒊</a:t>
            </a:r>
            <a:r>
              <a:rPr sz="2400" spc="-10" dirty="0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  <a:p>
            <a:pPr marL="467359" algn="ctr">
              <a:lnSpc>
                <a:spcPct val="100000"/>
              </a:lnSpc>
              <a:spcBef>
                <a:spcPts val="835"/>
              </a:spcBef>
            </a:pPr>
            <a:r>
              <a:rPr sz="1750" spc="-25" dirty="0">
                <a:latin typeface="Cambria Math"/>
                <a:cs typeface="Cambria Math"/>
              </a:rPr>
              <a:t>𝒊=𝟏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100" y="3394074"/>
            <a:ext cx="6910070" cy="3549650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5"/>
              </a:spcBef>
            </a:pPr>
            <a:r>
              <a:rPr sz="2400" b="1" spc="-10" dirty="0">
                <a:latin typeface="Calibri"/>
                <a:cs typeface="Calibri"/>
              </a:rPr>
              <a:t>Where:</a:t>
            </a:r>
            <a:endParaRPr sz="2400">
              <a:latin typeface="Calibri"/>
              <a:cs typeface="Calibri"/>
            </a:endParaRPr>
          </a:p>
          <a:p>
            <a:pPr marL="495300" indent="-228600">
              <a:lnSpc>
                <a:spcPct val="100000"/>
              </a:lnSpc>
              <a:spcBef>
                <a:spcPts val="1310"/>
              </a:spcBef>
              <a:buSzPct val="41666"/>
              <a:buFont typeface="Symbol"/>
              <a:buChar char=""/>
              <a:tabLst>
                <a:tab pos="495300" algn="l"/>
              </a:tabLst>
            </a:pPr>
            <a:r>
              <a:rPr sz="2400" dirty="0">
                <a:latin typeface="Cambria Math"/>
                <a:cs typeface="Cambria Math"/>
              </a:rPr>
              <a:t>𝑺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dataset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(set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samples),</a:t>
            </a:r>
            <a:endParaRPr sz="2400">
              <a:latin typeface="Calibri"/>
              <a:cs typeface="Calibri"/>
            </a:endParaRPr>
          </a:p>
          <a:p>
            <a:pPr marL="495300" indent="-228600">
              <a:lnSpc>
                <a:spcPct val="100000"/>
              </a:lnSpc>
              <a:spcBef>
                <a:spcPts val="1320"/>
              </a:spcBef>
              <a:buSzPct val="41666"/>
              <a:buFont typeface="Symbol"/>
              <a:buChar char=""/>
              <a:tabLst>
                <a:tab pos="495300" algn="l"/>
              </a:tabLst>
            </a:pPr>
            <a:r>
              <a:rPr sz="2400" dirty="0">
                <a:latin typeface="Cambria Math"/>
                <a:cs typeface="Cambria Math"/>
              </a:rPr>
              <a:t>𝒌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number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possible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classes,</a:t>
            </a:r>
            <a:endParaRPr sz="2400">
              <a:latin typeface="Calibri"/>
              <a:cs typeface="Calibri"/>
            </a:endParaRPr>
          </a:p>
          <a:p>
            <a:pPr marL="38100" marR="534670" indent="457200">
              <a:lnSpc>
                <a:spcPct val="145400"/>
              </a:lnSpc>
              <a:buSzPct val="41666"/>
              <a:buFont typeface="Symbol"/>
              <a:buChar char=""/>
              <a:tabLst>
                <a:tab pos="495300" algn="l"/>
              </a:tabLst>
            </a:pPr>
            <a:r>
              <a:rPr sz="2400" dirty="0">
                <a:latin typeface="Cambria Math"/>
                <a:cs typeface="Cambria Math"/>
              </a:rPr>
              <a:t>𝒑</a:t>
            </a:r>
            <a:r>
              <a:rPr sz="2625" baseline="-15873" dirty="0">
                <a:latin typeface="Cambria Math"/>
                <a:cs typeface="Cambria Math"/>
              </a:rPr>
              <a:t>𝒊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proportion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samples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belonging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class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𝒊</a:t>
            </a:r>
            <a:r>
              <a:rPr sz="2400" b="1" spc="-25" dirty="0">
                <a:latin typeface="Calibri"/>
                <a:cs typeface="Calibri"/>
              </a:rPr>
              <a:t>. </a:t>
            </a:r>
            <a:r>
              <a:rPr sz="2400" b="1" dirty="0">
                <a:latin typeface="Calibri"/>
                <a:cs typeface="Calibri"/>
              </a:rPr>
              <a:t>Low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Entropy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high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purity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(data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mostly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class)</a:t>
            </a:r>
            <a:endParaRPr sz="2400">
              <a:latin typeface="Calibri"/>
              <a:cs typeface="Calibri"/>
            </a:endParaRPr>
          </a:p>
          <a:p>
            <a:pPr marL="38100" marR="30480">
              <a:lnSpc>
                <a:spcPct val="117900"/>
              </a:lnSpc>
            </a:pPr>
            <a:r>
              <a:rPr sz="2400" b="1" dirty="0">
                <a:latin typeface="Calibri"/>
                <a:cs typeface="Calibri"/>
              </a:rPr>
              <a:t>High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Entropy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high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impurity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(data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evenly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distributed </a:t>
            </a:r>
            <a:r>
              <a:rPr sz="2400" b="1" dirty="0">
                <a:latin typeface="Calibri"/>
                <a:cs typeface="Calibri"/>
              </a:rPr>
              <a:t>among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classes)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667F-B6D0-F4CA-A9B7-0F043F49C4E9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D9686593-EDF8-4A0D-A1BB-5A3D7D98F82A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95CAD-26A0-B51A-91BB-1EC768111B3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D40ADB-EEC3-01BE-9A58-3F35A77B91F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363473"/>
            <a:ext cx="6794500" cy="323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27100">
              <a:lnSpc>
                <a:spcPct val="118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(b)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Information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(Measure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Reduction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in </a:t>
            </a:r>
            <a:r>
              <a:rPr sz="2400" b="1" spc="-10" dirty="0">
                <a:latin typeface="Calibri"/>
                <a:cs typeface="Calibri"/>
              </a:rPr>
              <a:t>Entropy)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17900"/>
              </a:lnSpc>
              <a:spcBef>
                <a:spcPts val="790"/>
              </a:spcBef>
            </a:pPr>
            <a:r>
              <a:rPr sz="2400" b="1" dirty="0">
                <a:latin typeface="Calibri"/>
                <a:cs typeface="Calibri"/>
              </a:rPr>
              <a:t>When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split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dataset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𝑺</a:t>
            </a:r>
            <a:r>
              <a:rPr sz="2400" b="1" dirty="0">
                <a:latin typeface="Calibri"/>
                <a:cs typeface="Calibri"/>
              </a:rPr>
              <a:t>based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attribute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b="1" dirty="0">
                <a:latin typeface="Calibri"/>
                <a:cs typeface="Calibri"/>
              </a:rPr>
              <a:t>,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the </a:t>
            </a:r>
            <a:r>
              <a:rPr sz="2400" b="1" spc="-10" dirty="0">
                <a:latin typeface="Calibri"/>
                <a:cs typeface="Calibri"/>
              </a:rPr>
              <a:t>Information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reduction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Entropy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achieved </a:t>
            </a:r>
            <a:r>
              <a:rPr sz="2400" b="1" dirty="0">
                <a:latin typeface="Calibri"/>
                <a:cs typeface="Calibri"/>
              </a:rPr>
              <a:t>by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this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split:</a:t>
            </a:r>
            <a:endParaRPr sz="2400">
              <a:latin typeface="Calibri"/>
              <a:cs typeface="Calibri"/>
            </a:endParaRPr>
          </a:p>
          <a:p>
            <a:pPr marL="560070">
              <a:lnSpc>
                <a:spcPct val="100000"/>
              </a:lnSpc>
              <a:spcBef>
                <a:spcPts val="1320"/>
              </a:spcBef>
            </a:pPr>
            <a:r>
              <a:rPr sz="2400" spc="-20" dirty="0">
                <a:latin typeface="Cambria Math"/>
                <a:cs typeface="Cambria Math"/>
              </a:rPr>
              <a:t>𝑰𝑮(𝑺,</a:t>
            </a:r>
            <a:r>
              <a:rPr sz="2400" spc="-9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𝑨)</a:t>
            </a:r>
            <a:endParaRPr sz="2400">
              <a:latin typeface="Cambria Math"/>
              <a:cs typeface="Cambria Math"/>
            </a:endParaRPr>
          </a:p>
          <a:p>
            <a:pPr marL="1474470">
              <a:lnSpc>
                <a:spcPct val="100000"/>
              </a:lnSpc>
              <a:spcBef>
                <a:spcPts val="390"/>
              </a:spcBef>
            </a:pP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𝑬𝒏𝒕𝒓𝒐𝒑𝒚(𝑺)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06270" y="3664554"/>
            <a:ext cx="1668145" cy="907415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  <a:tabLst>
                <a:tab pos="779145" algn="l"/>
              </a:tabLst>
            </a:pPr>
            <a:r>
              <a:rPr sz="2400" spc="-50" dirty="0">
                <a:latin typeface="Cambria Math"/>
                <a:cs typeface="Cambria Math"/>
              </a:rPr>
              <a:t>−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1425" dirty="0">
                <a:latin typeface="Cambria Math"/>
                <a:cs typeface="Cambria Math"/>
              </a:rPr>
              <a:t>∑</a:t>
            </a:r>
            <a:endParaRPr sz="2400">
              <a:latin typeface="Cambria Math"/>
              <a:cs typeface="Cambria Math"/>
            </a:endParaRPr>
          </a:p>
          <a:p>
            <a:pPr marL="307975">
              <a:lnSpc>
                <a:spcPct val="100000"/>
              </a:lnSpc>
              <a:spcBef>
                <a:spcPts val="830"/>
              </a:spcBef>
            </a:pPr>
            <a:r>
              <a:rPr sz="1750" spc="-10" dirty="0">
                <a:latin typeface="Cambria Math"/>
                <a:cs typeface="Cambria Math"/>
              </a:rPr>
              <a:t>𝒗∈𝑽𝒂𝒍𝒖𝒆𝒔(𝑨)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5201" y="3723259"/>
            <a:ext cx="15938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/>
                <a:cs typeface="Cambria Math"/>
              </a:rPr>
              <a:t>𝒗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28998" y="3578478"/>
            <a:ext cx="6927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9915" algn="l"/>
              </a:tabLst>
            </a:pPr>
            <a:r>
              <a:rPr sz="2400" dirty="0">
                <a:latin typeface="Cambria Math"/>
                <a:cs typeface="Cambria Math"/>
              </a:rPr>
              <a:t>∣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𝑺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02151" y="4012819"/>
            <a:ext cx="546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∣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𝑺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41698" y="4030090"/>
            <a:ext cx="668020" cy="20320"/>
          </a:xfrm>
          <a:custGeom>
            <a:avLst/>
            <a:gdLst/>
            <a:ahLst/>
            <a:cxnLst/>
            <a:rect l="l" t="t" r="r" b="b"/>
            <a:pathLst>
              <a:path w="668020" h="20320">
                <a:moveTo>
                  <a:pt x="667816" y="0"/>
                </a:moveTo>
                <a:lnTo>
                  <a:pt x="0" y="0"/>
                </a:lnTo>
                <a:lnTo>
                  <a:pt x="0" y="19812"/>
                </a:lnTo>
                <a:lnTo>
                  <a:pt x="667816" y="19812"/>
                </a:lnTo>
                <a:lnTo>
                  <a:pt x="6678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83858" y="3953383"/>
            <a:ext cx="15938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/>
                <a:cs typeface="Cambria Math"/>
              </a:rPr>
              <a:t>𝒗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3821" y="3808603"/>
            <a:ext cx="2118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78660" algn="l"/>
              </a:tabLst>
            </a:pPr>
            <a:r>
              <a:rPr sz="2400" dirty="0">
                <a:latin typeface="Cambria Math"/>
                <a:cs typeface="Cambria Math"/>
              </a:rPr>
              <a:t>× </a:t>
            </a:r>
            <a:r>
              <a:rPr sz="2400" spc="-10" dirty="0">
                <a:latin typeface="Cambria Math"/>
                <a:cs typeface="Cambria Math"/>
              </a:rPr>
              <a:t>𝑬𝒏𝒕𝒓𝒐𝒑𝒚(𝑺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9100" y="4957952"/>
            <a:ext cx="6409055" cy="2585720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5"/>
              </a:spcBef>
            </a:pPr>
            <a:r>
              <a:rPr sz="2400" b="1" spc="-10" dirty="0">
                <a:latin typeface="Calibri"/>
                <a:cs typeface="Calibri"/>
              </a:rPr>
              <a:t>Where:</a:t>
            </a:r>
            <a:endParaRPr sz="2400">
              <a:latin typeface="Calibri"/>
              <a:cs typeface="Calibri"/>
            </a:endParaRPr>
          </a:p>
          <a:p>
            <a:pPr marL="495300" indent="-228600">
              <a:lnSpc>
                <a:spcPct val="100000"/>
              </a:lnSpc>
              <a:spcBef>
                <a:spcPts val="1310"/>
              </a:spcBef>
              <a:buSzPct val="41666"/>
              <a:buFont typeface="Symbol"/>
              <a:buChar char=""/>
              <a:tabLst>
                <a:tab pos="495300" algn="l"/>
              </a:tabLst>
            </a:pPr>
            <a:r>
              <a:rPr sz="2400" dirty="0">
                <a:latin typeface="Cambria Math"/>
                <a:cs typeface="Cambria Math"/>
              </a:rPr>
              <a:t>𝑽𝒂𝒍𝒖𝒆𝒔(𝑨)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possible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values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attribute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𝑨</a:t>
            </a:r>
            <a:r>
              <a:rPr sz="2400" b="1" spc="-25" dirty="0">
                <a:latin typeface="Calibri"/>
                <a:cs typeface="Calibri"/>
              </a:rPr>
              <a:t>,</a:t>
            </a:r>
            <a:endParaRPr sz="2400">
              <a:latin typeface="Calibri"/>
              <a:cs typeface="Calibri"/>
            </a:endParaRPr>
          </a:p>
          <a:p>
            <a:pPr marL="495300" indent="-228600">
              <a:lnSpc>
                <a:spcPct val="100000"/>
              </a:lnSpc>
              <a:spcBef>
                <a:spcPts val="1320"/>
              </a:spcBef>
              <a:buSzPct val="41666"/>
              <a:buFont typeface="Symbol"/>
              <a:buChar char=""/>
              <a:tabLst>
                <a:tab pos="495300" algn="l"/>
              </a:tabLst>
            </a:pPr>
            <a:r>
              <a:rPr sz="2400" dirty="0">
                <a:latin typeface="Cambria Math"/>
                <a:cs typeface="Cambria Math"/>
              </a:rPr>
              <a:t>𝑺</a:t>
            </a:r>
            <a:r>
              <a:rPr sz="2625" baseline="-15873" dirty="0">
                <a:latin typeface="Cambria Math"/>
                <a:cs typeface="Cambria Math"/>
              </a:rPr>
              <a:t>𝒗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subset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𝑺</a:t>
            </a:r>
            <a:r>
              <a:rPr sz="2400" b="1" dirty="0">
                <a:latin typeface="Calibri"/>
                <a:cs typeface="Calibri"/>
              </a:rPr>
              <a:t>where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attribute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𝑨</a:t>
            </a:r>
            <a:r>
              <a:rPr sz="2400" b="1" spc="-10" dirty="0">
                <a:latin typeface="Calibri"/>
                <a:cs typeface="Calibri"/>
              </a:rPr>
              <a:t>takes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value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𝒗</a:t>
            </a:r>
            <a:r>
              <a:rPr sz="2400" b="1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38100" marR="93345">
              <a:lnSpc>
                <a:spcPct val="117900"/>
              </a:lnSpc>
              <a:spcBef>
                <a:spcPts val="790"/>
              </a:spcBef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attribute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with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highest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Information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is </a:t>
            </a:r>
            <a:r>
              <a:rPr sz="2400" b="1" dirty="0">
                <a:latin typeface="Calibri"/>
                <a:cs typeface="Calibri"/>
              </a:rPr>
              <a:t>selected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splitting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each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node.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9F7508B-B16C-72B8-2892-7EDE6443B0E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82BEBEE1-B6EC-425A-99F6-2DB9EB4026D3}" type="datetime1">
              <a:rPr lang="en-US" smtClean="0"/>
              <a:t>10/13/2025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42E3F3B-55E3-3D2C-5D9C-BE9404220FC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CF4A395-A65C-09D5-3811-2857FA7B7A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6400" y="262889"/>
            <a:ext cx="6909434" cy="9268460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352425" indent="-301625">
              <a:lnSpc>
                <a:spcPct val="100000"/>
              </a:lnSpc>
              <a:spcBef>
                <a:spcPts val="1410"/>
              </a:spcBef>
              <a:buAutoNum type="arabicPeriod" startAt="4"/>
              <a:tabLst>
                <a:tab pos="352425" algn="l"/>
              </a:tabLst>
            </a:pPr>
            <a:r>
              <a:rPr sz="2400" b="1" dirty="0">
                <a:latin typeface="Calibri"/>
                <a:cs typeface="Calibri"/>
              </a:rPr>
              <a:t>ID3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Algorithm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Steps</a:t>
            </a:r>
            <a:endParaRPr sz="24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310"/>
              </a:spcBef>
            </a:pPr>
            <a:r>
              <a:rPr sz="2400" b="1" dirty="0">
                <a:latin typeface="Calibri"/>
                <a:cs typeface="Calibri"/>
              </a:rPr>
              <a:t>Input: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training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dataset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𝑫</a:t>
            </a:r>
            <a:r>
              <a:rPr sz="2400" b="1" dirty="0">
                <a:latin typeface="Calibri"/>
                <a:cs typeface="Calibri"/>
              </a:rPr>
              <a:t>with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attributes</a:t>
            </a:r>
            <a:endParaRPr sz="2400">
              <a:latin typeface="Calibri"/>
              <a:cs typeface="Calibri"/>
            </a:endParaRPr>
          </a:p>
          <a:p>
            <a:pPr marL="184785">
              <a:lnSpc>
                <a:spcPct val="100000"/>
              </a:lnSpc>
              <a:spcBef>
                <a:spcPts val="515"/>
              </a:spcBef>
            </a:pPr>
            <a:r>
              <a:rPr sz="2400" dirty="0">
                <a:latin typeface="Cambria Math"/>
                <a:cs typeface="Cambria Math"/>
              </a:rPr>
              <a:t>𝑨</a:t>
            </a:r>
            <a:r>
              <a:rPr sz="2625" baseline="-15873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625" baseline="-15873" dirty="0">
                <a:latin typeface="Cambria Math"/>
                <a:cs typeface="Cambria Math"/>
              </a:rPr>
              <a:t>𝟐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.</a:t>
            </a:r>
            <a:r>
              <a:rPr sz="2400" spc="-10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.</a:t>
            </a:r>
            <a:r>
              <a:rPr sz="2400" spc="-1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.</a:t>
            </a:r>
            <a:r>
              <a:rPr sz="2400" spc="-9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1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𝑨</a:t>
            </a:r>
            <a:r>
              <a:rPr sz="2625" spc="-37" baseline="-15873" dirty="0">
                <a:latin typeface="Cambria Math"/>
                <a:cs typeface="Cambria Math"/>
              </a:rPr>
              <a:t>𝒏</a:t>
            </a:r>
            <a:endParaRPr sz="2625" baseline="-15873">
              <a:latin typeface="Cambria Math"/>
              <a:cs typeface="Cambria Math"/>
            </a:endParaRPr>
          </a:p>
          <a:p>
            <a:pPr marL="1193800" lvl="1" indent="-228600">
              <a:lnSpc>
                <a:spcPct val="100000"/>
              </a:lnSpc>
              <a:spcBef>
                <a:spcPts val="1190"/>
              </a:spcBef>
              <a:buSzPct val="41666"/>
              <a:buFont typeface="Symbol"/>
              <a:buChar char=""/>
              <a:tabLst>
                <a:tab pos="1193800" algn="l"/>
              </a:tabLst>
            </a:pPr>
            <a:r>
              <a:rPr sz="2400" b="1" spc="-35" dirty="0">
                <a:latin typeface="Calibri"/>
                <a:cs typeface="Calibri"/>
              </a:rPr>
              <a:t>Target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attribute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𝑪</a:t>
            </a:r>
            <a:r>
              <a:rPr sz="2400" b="1" dirty="0">
                <a:latin typeface="Calibri"/>
                <a:cs typeface="Calibri"/>
              </a:rPr>
              <a:t>(class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label)</a:t>
            </a:r>
            <a:endParaRPr sz="2400">
              <a:latin typeface="Calibri"/>
              <a:cs typeface="Calibri"/>
            </a:endParaRPr>
          </a:p>
          <a:p>
            <a:pPr marL="50800" marR="43180">
              <a:lnSpc>
                <a:spcPct val="101699"/>
              </a:lnSpc>
            </a:pPr>
            <a:r>
              <a:rPr sz="2400" b="1" dirty="0">
                <a:latin typeface="Calibri"/>
                <a:cs typeface="Calibri"/>
              </a:rPr>
              <a:t>Output: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decision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tree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classifies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unseen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samples </a:t>
            </a:r>
            <a:r>
              <a:rPr sz="2400" b="1" dirty="0">
                <a:latin typeface="Calibri"/>
                <a:cs typeface="Calibri"/>
              </a:rPr>
              <a:t>Algorithm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Procedure:</a:t>
            </a:r>
            <a:endParaRPr sz="2400">
              <a:latin typeface="Calibri"/>
              <a:cs typeface="Calibri"/>
            </a:endParaRPr>
          </a:p>
          <a:p>
            <a:pPr marL="965200" marR="146050" indent="-686435">
              <a:lnSpc>
                <a:spcPct val="101699"/>
              </a:lnSpc>
              <a:spcBef>
                <a:spcPts val="1260"/>
              </a:spcBef>
              <a:buAutoNum type="arabicPeriod"/>
              <a:tabLst>
                <a:tab pos="989330" algn="l"/>
              </a:tabLst>
            </a:pPr>
            <a:r>
              <a:rPr sz="2400" b="1" spc="-10" dirty="0">
                <a:latin typeface="Calibri"/>
                <a:cs typeface="Calibri"/>
              </a:rPr>
              <a:t>Calculate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Entropy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Target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Variable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the 	</a:t>
            </a:r>
            <a:r>
              <a:rPr sz="2400" b="1" dirty="0">
                <a:latin typeface="Calibri"/>
                <a:cs typeface="Calibri"/>
              </a:rPr>
              <a:t>current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dataset.</a:t>
            </a:r>
            <a:endParaRPr sz="2400">
              <a:latin typeface="Calibri"/>
              <a:cs typeface="Calibri"/>
            </a:endParaRPr>
          </a:p>
          <a:p>
            <a:pPr marL="965200" indent="-685800">
              <a:lnSpc>
                <a:spcPct val="100000"/>
              </a:lnSpc>
              <a:spcBef>
                <a:spcPts val="60"/>
              </a:spcBef>
              <a:buAutoNum type="arabicPeriod"/>
              <a:tabLst>
                <a:tab pos="965200" algn="l"/>
              </a:tabLst>
            </a:pP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each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attribute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𝑨</a:t>
            </a:r>
            <a:r>
              <a:rPr sz="2400" b="1" spc="-25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965200" lvl="1" indent="-228600">
              <a:lnSpc>
                <a:spcPct val="100000"/>
              </a:lnSpc>
              <a:spcBef>
                <a:spcPts val="45"/>
              </a:spcBef>
              <a:buSzPct val="41666"/>
              <a:buFont typeface="Courier New"/>
              <a:buChar char="o"/>
              <a:tabLst>
                <a:tab pos="965200" algn="l"/>
              </a:tabLst>
            </a:pPr>
            <a:r>
              <a:rPr sz="2400" b="1" spc="-10" dirty="0">
                <a:latin typeface="Calibri"/>
                <a:cs typeface="Calibri"/>
              </a:rPr>
              <a:t>Calculate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Entropy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each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value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𝑨</a:t>
            </a:r>
            <a:r>
              <a:rPr sz="2400" b="1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965200" lvl="1" indent="-228600">
              <a:lnSpc>
                <a:spcPct val="100000"/>
              </a:lnSpc>
              <a:spcBef>
                <a:spcPts val="50"/>
              </a:spcBef>
              <a:buSzPct val="41666"/>
              <a:buFont typeface="Courier New"/>
              <a:buChar char="o"/>
              <a:tabLst>
                <a:tab pos="965200" algn="l"/>
              </a:tabLst>
            </a:pPr>
            <a:r>
              <a:rPr sz="2400" b="1" dirty="0">
                <a:latin typeface="Calibri"/>
                <a:cs typeface="Calibri"/>
              </a:rPr>
              <a:t>Compute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Information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(IG)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𝑨</a:t>
            </a:r>
            <a:r>
              <a:rPr sz="2400" b="1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965200" marR="202565" indent="-686435">
              <a:lnSpc>
                <a:spcPct val="101699"/>
              </a:lnSpc>
              <a:buAutoNum type="arabicPeriod"/>
              <a:tabLst>
                <a:tab pos="989330" algn="l"/>
              </a:tabLst>
            </a:pPr>
            <a:r>
              <a:rPr sz="2400" b="1" dirty="0">
                <a:latin typeface="Calibri"/>
                <a:cs typeface="Calibri"/>
              </a:rPr>
              <a:t>Select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attribute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with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highest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IG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the 	</a:t>
            </a:r>
            <a:r>
              <a:rPr sz="2400" b="1" dirty="0">
                <a:latin typeface="Calibri"/>
                <a:cs typeface="Calibri"/>
              </a:rPr>
              <a:t>decision </a:t>
            </a:r>
            <a:r>
              <a:rPr sz="2400" b="1" spc="-10" dirty="0">
                <a:latin typeface="Calibri"/>
                <a:cs typeface="Calibri"/>
              </a:rPr>
              <a:t>node.</a:t>
            </a:r>
            <a:endParaRPr sz="2400">
              <a:latin typeface="Calibri"/>
              <a:cs typeface="Calibri"/>
            </a:endParaRPr>
          </a:p>
          <a:p>
            <a:pPr marL="965200" marR="69215" indent="-686435">
              <a:lnSpc>
                <a:spcPct val="101699"/>
              </a:lnSpc>
              <a:buAutoNum type="arabicPeriod"/>
              <a:tabLst>
                <a:tab pos="966469" algn="l"/>
              </a:tabLst>
            </a:pPr>
            <a:r>
              <a:rPr sz="2400" b="1" dirty="0">
                <a:latin typeface="Calibri"/>
                <a:cs typeface="Calibri"/>
              </a:rPr>
              <a:t>Split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dataset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into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subsets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according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that 	</a:t>
            </a:r>
            <a:r>
              <a:rPr sz="2400" b="1" spc="-25" dirty="0">
                <a:latin typeface="Calibri"/>
                <a:cs typeface="Calibri"/>
              </a:rPr>
              <a:t>attribute’s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possible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values.</a:t>
            </a:r>
            <a:endParaRPr sz="2400">
              <a:latin typeface="Calibri"/>
              <a:cs typeface="Calibri"/>
            </a:endParaRPr>
          </a:p>
          <a:p>
            <a:pPr marL="965200" indent="-685800">
              <a:lnSpc>
                <a:spcPct val="100000"/>
              </a:lnSpc>
              <a:spcBef>
                <a:spcPts val="60"/>
              </a:spcBef>
              <a:buAutoNum type="arabicPeriod"/>
              <a:tabLst>
                <a:tab pos="965200" algn="l"/>
              </a:tabLst>
            </a:pPr>
            <a:r>
              <a:rPr sz="2400" b="1" spc="-10" dirty="0">
                <a:latin typeface="Calibri"/>
                <a:cs typeface="Calibri"/>
              </a:rPr>
              <a:t>Recurse:</a:t>
            </a:r>
            <a:endParaRPr sz="2400">
              <a:latin typeface="Calibri"/>
              <a:cs typeface="Calibri"/>
            </a:endParaRPr>
          </a:p>
          <a:p>
            <a:pPr marL="965200" marR="972819" lvl="1" indent="-228600">
              <a:lnSpc>
                <a:spcPct val="101699"/>
              </a:lnSpc>
              <a:buSzPct val="41666"/>
              <a:buFont typeface="Courier New"/>
              <a:buChar char="o"/>
              <a:tabLst>
                <a:tab pos="965200" algn="l"/>
              </a:tabLst>
            </a:pP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each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subset,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repeat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Steps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1–4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using </a:t>
            </a:r>
            <a:r>
              <a:rPr sz="2400" b="1" dirty="0">
                <a:latin typeface="Calibri"/>
                <a:cs typeface="Calibri"/>
              </a:rPr>
              <a:t>remaining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attributes.</a:t>
            </a:r>
            <a:endParaRPr sz="2400">
              <a:latin typeface="Calibri"/>
              <a:cs typeface="Calibri"/>
            </a:endParaRPr>
          </a:p>
          <a:p>
            <a:pPr marL="965200" lvl="1" indent="-228600">
              <a:lnSpc>
                <a:spcPct val="100000"/>
              </a:lnSpc>
              <a:spcBef>
                <a:spcPts val="50"/>
              </a:spcBef>
              <a:buSzPct val="41666"/>
              <a:buFont typeface="Courier New"/>
              <a:buChar char="o"/>
              <a:tabLst>
                <a:tab pos="965200" algn="l"/>
              </a:tabLst>
            </a:pPr>
            <a:r>
              <a:rPr sz="2400" b="1" dirty="0">
                <a:latin typeface="Calibri"/>
                <a:cs typeface="Calibri"/>
              </a:rPr>
              <a:t>Stop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when:</a:t>
            </a:r>
            <a:endParaRPr sz="2400">
              <a:latin typeface="Calibri"/>
              <a:cs typeface="Calibri"/>
            </a:endParaRPr>
          </a:p>
          <a:p>
            <a:pPr marL="1422400" lvl="2" indent="-228600">
              <a:lnSpc>
                <a:spcPct val="100000"/>
              </a:lnSpc>
              <a:spcBef>
                <a:spcPts val="45"/>
              </a:spcBef>
              <a:buSzPct val="41666"/>
              <a:buFont typeface="Wingdings"/>
              <a:buChar char=""/>
              <a:tabLst>
                <a:tab pos="1422400" algn="l"/>
              </a:tabLst>
            </a:pPr>
            <a:r>
              <a:rPr sz="2400" b="1" dirty="0">
                <a:latin typeface="Calibri"/>
                <a:cs typeface="Calibri"/>
              </a:rPr>
              <a:t>All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samples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subset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belong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class</a:t>
            </a:r>
            <a:endParaRPr sz="2400">
              <a:latin typeface="Calibri"/>
              <a:cs typeface="Calibri"/>
            </a:endParaRPr>
          </a:p>
          <a:p>
            <a:pPr marL="1422400">
              <a:lnSpc>
                <a:spcPct val="100000"/>
              </a:lnSpc>
              <a:spcBef>
                <a:spcPts val="50"/>
              </a:spcBef>
            </a:pP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make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it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leaf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node.</a:t>
            </a:r>
            <a:endParaRPr sz="2400">
              <a:latin typeface="Calibri"/>
              <a:cs typeface="Calibri"/>
            </a:endParaRPr>
          </a:p>
          <a:p>
            <a:pPr marL="1422400" marR="36195" lvl="2" indent="-228600">
              <a:lnSpc>
                <a:spcPts val="2940"/>
              </a:lnSpc>
              <a:spcBef>
                <a:spcPts val="85"/>
              </a:spcBef>
              <a:buSzPct val="41666"/>
              <a:buFont typeface="Wingdings"/>
              <a:buChar char=""/>
              <a:tabLst>
                <a:tab pos="1422400" algn="l"/>
              </a:tabLst>
            </a:pPr>
            <a:r>
              <a:rPr sz="2400" b="1" dirty="0">
                <a:latin typeface="Calibri"/>
                <a:cs typeface="Calibri"/>
              </a:rPr>
              <a:t>There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remaining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attributes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assign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majority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class.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B17EBB-8F48-4381-AABF-8643BB8E6160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D64EEECC-8900-4687-A95A-9BECC4B3FF79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571E77-9803-55FE-5C97-EC5CD192A16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C7FC2A-AE66-2379-F516-70072E5C9A4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793750"/>
            <a:ext cx="6671945" cy="152400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400" b="1" dirty="0">
                <a:latin typeface="Calibri"/>
                <a:cs typeface="Calibri"/>
              </a:rPr>
              <a:t>5.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Example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—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Building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ID3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Decision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Tree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17900"/>
              </a:lnSpc>
              <a:spcBef>
                <a:spcPts val="805"/>
              </a:spcBef>
            </a:pPr>
            <a:r>
              <a:rPr sz="2400" b="1" dirty="0">
                <a:latin typeface="Calibri"/>
                <a:cs typeface="Calibri"/>
              </a:rPr>
              <a:t>We’ll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build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ID3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tree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using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classic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“Play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Tennis” dataset.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41780" y="2517901"/>
            <a:ext cx="424180" cy="5031740"/>
            <a:chOff x="1141780" y="2517901"/>
            <a:chExt cx="424180" cy="5031740"/>
          </a:xfrm>
        </p:grpSpPr>
        <p:sp>
          <p:nvSpPr>
            <p:cNvPr id="4" name="object 4"/>
            <p:cNvSpPr/>
            <p:nvPr/>
          </p:nvSpPr>
          <p:spPr>
            <a:xfrm>
              <a:off x="1141780" y="2517901"/>
              <a:ext cx="424180" cy="2742565"/>
            </a:xfrm>
            <a:custGeom>
              <a:avLst/>
              <a:gdLst/>
              <a:ahLst/>
              <a:cxnLst/>
              <a:rect l="l" t="t" r="r" b="b"/>
              <a:pathLst>
                <a:path w="424180" h="2742565">
                  <a:moveTo>
                    <a:pt x="6096" y="457276"/>
                  </a:moveTo>
                  <a:lnTo>
                    <a:pt x="0" y="457276"/>
                  </a:lnTo>
                  <a:lnTo>
                    <a:pt x="0" y="881253"/>
                  </a:lnTo>
                  <a:lnTo>
                    <a:pt x="6096" y="881253"/>
                  </a:lnTo>
                  <a:lnTo>
                    <a:pt x="6096" y="457276"/>
                  </a:lnTo>
                  <a:close/>
                </a:path>
                <a:path w="424180" h="2742565">
                  <a:moveTo>
                    <a:pt x="423621" y="2735973"/>
                  </a:moveTo>
                  <a:lnTo>
                    <a:pt x="417563" y="2735973"/>
                  </a:lnTo>
                  <a:lnTo>
                    <a:pt x="6096" y="2735973"/>
                  </a:lnTo>
                  <a:lnTo>
                    <a:pt x="0" y="2735973"/>
                  </a:lnTo>
                  <a:lnTo>
                    <a:pt x="0" y="2742057"/>
                  </a:lnTo>
                  <a:lnTo>
                    <a:pt x="6096" y="2742057"/>
                  </a:lnTo>
                  <a:lnTo>
                    <a:pt x="417525" y="2742057"/>
                  </a:lnTo>
                  <a:lnTo>
                    <a:pt x="423621" y="2742057"/>
                  </a:lnTo>
                  <a:lnTo>
                    <a:pt x="423621" y="2735973"/>
                  </a:lnTo>
                  <a:close/>
                </a:path>
                <a:path w="424180" h="2742565">
                  <a:moveTo>
                    <a:pt x="423621" y="2708541"/>
                  </a:moveTo>
                  <a:lnTo>
                    <a:pt x="417563" y="2708541"/>
                  </a:lnTo>
                  <a:lnTo>
                    <a:pt x="6096" y="2708541"/>
                  </a:lnTo>
                  <a:lnTo>
                    <a:pt x="0" y="2708541"/>
                  </a:lnTo>
                  <a:lnTo>
                    <a:pt x="0" y="2714625"/>
                  </a:lnTo>
                  <a:lnTo>
                    <a:pt x="6096" y="2714625"/>
                  </a:lnTo>
                  <a:lnTo>
                    <a:pt x="417525" y="2714625"/>
                  </a:lnTo>
                  <a:lnTo>
                    <a:pt x="423621" y="2714625"/>
                  </a:lnTo>
                  <a:lnTo>
                    <a:pt x="423621" y="2708541"/>
                  </a:lnTo>
                  <a:close/>
                </a:path>
                <a:path w="424180" h="2742565">
                  <a:moveTo>
                    <a:pt x="423621" y="2280297"/>
                  </a:moveTo>
                  <a:lnTo>
                    <a:pt x="417563" y="2280297"/>
                  </a:lnTo>
                  <a:lnTo>
                    <a:pt x="6096" y="2280297"/>
                  </a:lnTo>
                  <a:lnTo>
                    <a:pt x="0" y="2280297"/>
                  </a:lnTo>
                  <a:lnTo>
                    <a:pt x="0" y="2286381"/>
                  </a:lnTo>
                  <a:lnTo>
                    <a:pt x="0" y="2708529"/>
                  </a:lnTo>
                  <a:lnTo>
                    <a:pt x="6096" y="2708529"/>
                  </a:lnTo>
                  <a:lnTo>
                    <a:pt x="6096" y="2286381"/>
                  </a:lnTo>
                  <a:lnTo>
                    <a:pt x="417525" y="2286381"/>
                  </a:lnTo>
                  <a:lnTo>
                    <a:pt x="417525" y="2708529"/>
                  </a:lnTo>
                  <a:lnTo>
                    <a:pt x="423621" y="2708529"/>
                  </a:lnTo>
                  <a:lnTo>
                    <a:pt x="423621" y="2286381"/>
                  </a:lnTo>
                  <a:lnTo>
                    <a:pt x="423621" y="2280297"/>
                  </a:lnTo>
                  <a:close/>
                </a:path>
                <a:path w="424180" h="2742565">
                  <a:moveTo>
                    <a:pt x="423621" y="2252865"/>
                  </a:moveTo>
                  <a:lnTo>
                    <a:pt x="417563" y="2252865"/>
                  </a:lnTo>
                  <a:lnTo>
                    <a:pt x="6096" y="2252865"/>
                  </a:lnTo>
                  <a:lnTo>
                    <a:pt x="0" y="2252865"/>
                  </a:lnTo>
                  <a:lnTo>
                    <a:pt x="0" y="2258949"/>
                  </a:lnTo>
                  <a:lnTo>
                    <a:pt x="6096" y="2258949"/>
                  </a:lnTo>
                  <a:lnTo>
                    <a:pt x="417525" y="2258949"/>
                  </a:lnTo>
                  <a:lnTo>
                    <a:pt x="423621" y="2258949"/>
                  </a:lnTo>
                  <a:lnTo>
                    <a:pt x="423621" y="2252865"/>
                  </a:lnTo>
                  <a:close/>
                </a:path>
                <a:path w="424180" h="2742565">
                  <a:moveTo>
                    <a:pt x="423621" y="1823097"/>
                  </a:moveTo>
                  <a:lnTo>
                    <a:pt x="417563" y="1823097"/>
                  </a:lnTo>
                  <a:lnTo>
                    <a:pt x="6096" y="1823097"/>
                  </a:lnTo>
                  <a:lnTo>
                    <a:pt x="0" y="1823097"/>
                  </a:lnTo>
                  <a:lnTo>
                    <a:pt x="0" y="1829181"/>
                  </a:lnTo>
                  <a:lnTo>
                    <a:pt x="0" y="2252853"/>
                  </a:lnTo>
                  <a:lnTo>
                    <a:pt x="6096" y="2252853"/>
                  </a:lnTo>
                  <a:lnTo>
                    <a:pt x="6096" y="1829181"/>
                  </a:lnTo>
                  <a:lnTo>
                    <a:pt x="417525" y="1829181"/>
                  </a:lnTo>
                  <a:lnTo>
                    <a:pt x="417525" y="2252853"/>
                  </a:lnTo>
                  <a:lnTo>
                    <a:pt x="423621" y="2252853"/>
                  </a:lnTo>
                  <a:lnTo>
                    <a:pt x="423621" y="1829181"/>
                  </a:lnTo>
                  <a:lnTo>
                    <a:pt x="423621" y="1823097"/>
                  </a:lnTo>
                  <a:close/>
                </a:path>
                <a:path w="424180" h="2742565">
                  <a:moveTo>
                    <a:pt x="423621" y="1795665"/>
                  </a:moveTo>
                  <a:lnTo>
                    <a:pt x="417563" y="1795665"/>
                  </a:lnTo>
                  <a:lnTo>
                    <a:pt x="6096" y="1795665"/>
                  </a:lnTo>
                  <a:lnTo>
                    <a:pt x="0" y="1795665"/>
                  </a:lnTo>
                  <a:lnTo>
                    <a:pt x="0" y="1801749"/>
                  </a:lnTo>
                  <a:lnTo>
                    <a:pt x="6096" y="1801749"/>
                  </a:lnTo>
                  <a:lnTo>
                    <a:pt x="417525" y="1801749"/>
                  </a:lnTo>
                  <a:lnTo>
                    <a:pt x="423621" y="1801749"/>
                  </a:lnTo>
                  <a:lnTo>
                    <a:pt x="423621" y="1795665"/>
                  </a:lnTo>
                  <a:close/>
                </a:path>
                <a:path w="424180" h="2742565">
                  <a:moveTo>
                    <a:pt x="423621" y="1365897"/>
                  </a:moveTo>
                  <a:lnTo>
                    <a:pt x="417563" y="1365897"/>
                  </a:lnTo>
                  <a:lnTo>
                    <a:pt x="6096" y="1365897"/>
                  </a:lnTo>
                  <a:lnTo>
                    <a:pt x="0" y="1365897"/>
                  </a:lnTo>
                  <a:lnTo>
                    <a:pt x="0" y="1371981"/>
                  </a:lnTo>
                  <a:lnTo>
                    <a:pt x="0" y="1795653"/>
                  </a:lnTo>
                  <a:lnTo>
                    <a:pt x="6096" y="1795653"/>
                  </a:lnTo>
                  <a:lnTo>
                    <a:pt x="6096" y="1371981"/>
                  </a:lnTo>
                  <a:lnTo>
                    <a:pt x="417525" y="1371981"/>
                  </a:lnTo>
                  <a:lnTo>
                    <a:pt x="417525" y="1795653"/>
                  </a:lnTo>
                  <a:lnTo>
                    <a:pt x="423621" y="1795653"/>
                  </a:lnTo>
                  <a:lnTo>
                    <a:pt x="423621" y="1371981"/>
                  </a:lnTo>
                  <a:lnTo>
                    <a:pt x="423621" y="1365897"/>
                  </a:lnTo>
                  <a:close/>
                </a:path>
                <a:path w="424180" h="2742565">
                  <a:moveTo>
                    <a:pt x="423621" y="1338465"/>
                  </a:moveTo>
                  <a:lnTo>
                    <a:pt x="417563" y="1338465"/>
                  </a:lnTo>
                  <a:lnTo>
                    <a:pt x="6096" y="1338465"/>
                  </a:lnTo>
                  <a:lnTo>
                    <a:pt x="0" y="1338465"/>
                  </a:lnTo>
                  <a:lnTo>
                    <a:pt x="0" y="1344549"/>
                  </a:lnTo>
                  <a:lnTo>
                    <a:pt x="6096" y="1344549"/>
                  </a:lnTo>
                  <a:lnTo>
                    <a:pt x="417525" y="1344549"/>
                  </a:lnTo>
                  <a:lnTo>
                    <a:pt x="423621" y="1344549"/>
                  </a:lnTo>
                  <a:lnTo>
                    <a:pt x="423621" y="1338465"/>
                  </a:lnTo>
                  <a:close/>
                </a:path>
                <a:path w="424180" h="2742565">
                  <a:moveTo>
                    <a:pt x="423621" y="908697"/>
                  </a:moveTo>
                  <a:lnTo>
                    <a:pt x="417563" y="908697"/>
                  </a:lnTo>
                  <a:lnTo>
                    <a:pt x="6096" y="908697"/>
                  </a:lnTo>
                  <a:lnTo>
                    <a:pt x="0" y="908697"/>
                  </a:lnTo>
                  <a:lnTo>
                    <a:pt x="0" y="914781"/>
                  </a:lnTo>
                  <a:lnTo>
                    <a:pt x="0" y="1338453"/>
                  </a:lnTo>
                  <a:lnTo>
                    <a:pt x="6096" y="1338453"/>
                  </a:lnTo>
                  <a:lnTo>
                    <a:pt x="6096" y="914781"/>
                  </a:lnTo>
                  <a:lnTo>
                    <a:pt x="417525" y="914781"/>
                  </a:lnTo>
                  <a:lnTo>
                    <a:pt x="417525" y="1338453"/>
                  </a:lnTo>
                  <a:lnTo>
                    <a:pt x="423621" y="1338453"/>
                  </a:lnTo>
                  <a:lnTo>
                    <a:pt x="423621" y="914781"/>
                  </a:lnTo>
                  <a:lnTo>
                    <a:pt x="423621" y="908697"/>
                  </a:lnTo>
                  <a:close/>
                </a:path>
                <a:path w="424180" h="2742565">
                  <a:moveTo>
                    <a:pt x="423621" y="881265"/>
                  </a:moveTo>
                  <a:lnTo>
                    <a:pt x="417563" y="881265"/>
                  </a:lnTo>
                  <a:lnTo>
                    <a:pt x="6096" y="881265"/>
                  </a:lnTo>
                  <a:lnTo>
                    <a:pt x="0" y="881265"/>
                  </a:lnTo>
                  <a:lnTo>
                    <a:pt x="0" y="887349"/>
                  </a:lnTo>
                  <a:lnTo>
                    <a:pt x="6096" y="887349"/>
                  </a:lnTo>
                  <a:lnTo>
                    <a:pt x="417525" y="887349"/>
                  </a:lnTo>
                  <a:lnTo>
                    <a:pt x="423621" y="887349"/>
                  </a:lnTo>
                  <a:lnTo>
                    <a:pt x="423621" y="881265"/>
                  </a:lnTo>
                  <a:close/>
                </a:path>
                <a:path w="424180" h="2742565">
                  <a:moveTo>
                    <a:pt x="423621" y="457276"/>
                  </a:moveTo>
                  <a:lnTo>
                    <a:pt x="417525" y="457276"/>
                  </a:lnTo>
                  <a:lnTo>
                    <a:pt x="417525" y="881253"/>
                  </a:lnTo>
                  <a:lnTo>
                    <a:pt x="423621" y="881253"/>
                  </a:lnTo>
                  <a:lnTo>
                    <a:pt x="423621" y="457276"/>
                  </a:lnTo>
                  <a:close/>
                </a:path>
                <a:path w="424180" h="2742565">
                  <a:moveTo>
                    <a:pt x="423621" y="451104"/>
                  </a:moveTo>
                  <a:lnTo>
                    <a:pt x="417563" y="451104"/>
                  </a:lnTo>
                  <a:lnTo>
                    <a:pt x="6096" y="451104"/>
                  </a:lnTo>
                  <a:lnTo>
                    <a:pt x="0" y="451104"/>
                  </a:lnTo>
                  <a:lnTo>
                    <a:pt x="0" y="457200"/>
                  </a:lnTo>
                  <a:lnTo>
                    <a:pt x="6096" y="457200"/>
                  </a:lnTo>
                  <a:lnTo>
                    <a:pt x="417525" y="457200"/>
                  </a:lnTo>
                  <a:lnTo>
                    <a:pt x="423621" y="457200"/>
                  </a:lnTo>
                  <a:lnTo>
                    <a:pt x="423621" y="451104"/>
                  </a:lnTo>
                  <a:close/>
                </a:path>
                <a:path w="424180" h="2742565">
                  <a:moveTo>
                    <a:pt x="423621" y="0"/>
                  </a:moveTo>
                  <a:lnTo>
                    <a:pt x="417525" y="0"/>
                  </a:lnTo>
                  <a:lnTo>
                    <a:pt x="417525" y="423672"/>
                  </a:lnTo>
                  <a:lnTo>
                    <a:pt x="6096" y="423672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423672"/>
                  </a:lnTo>
                  <a:lnTo>
                    <a:pt x="0" y="429768"/>
                  </a:lnTo>
                  <a:lnTo>
                    <a:pt x="6096" y="429768"/>
                  </a:lnTo>
                  <a:lnTo>
                    <a:pt x="417525" y="429768"/>
                  </a:lnTo>
                  <a:lnTo>
                    <a:pt x="423621" y="429768"/>
                  </a:lnTo>
                  <a:lnTo>
                    <a:pt x="423621" y="423672"/>
                  </a:lnTo>
                  <a:lnTo>
                    <a:pt x="4236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41780" y="5253875"/>
              <a:ext cx="424180" cy="2295525"/>
            </a:xfrm>
            <a:custGeom>
              <a:avLst/>
              <a:gdLst/>
              <a:ahLst/>
              <a:cxnLst/>
              <a:rect l="l" t="t" r="r" b="b"/>
              <a:pathLst>
                <a:path w="424180" h="2295525">
                  <a:moveTo>
                    <a:pt x="423621" y="1847329"/>
                  </a:moveTo>
                  <a:lnTo>
                    <a:pt x="417563" y="1847329"/>
                  </a:lnTo>
                  <a:lnTo>
                    <a:pt x="6096" y="1847329"/>
                  </a:lnTo>
                  <a:lnTo>
                    <a:pt x="0" y="1847329"/>
                  </a:lnTo>
                  <a:lnTo>
                    <a:pt x="0" y="1853425"/>
                  </a:lnTo>
                  <a:lnTo>
                    <a:pt x="0" y="2295385"/>
                  </a:lnTo>
                  <a:lnTo>
                    <a:pt x="6096" y="2295385"/>
                  </a:lnTo>
                  <a:lnTo>
                    <a:pt x="6096" y="1853425"/>
                  </a:lnTo>
                  <a:lnTo>
                    <a:pt x="417525" y="1853425"/>
                  </a:lnTo>
                  <a:lnTo>
                    <a:pt x="417525" y="2295385"/>
                  </a:lnTo>
                  <a:lnTo>
                    <a:pt x="423621" y="2295385"/>
                  </a:lnTo>
                  <a:lnTo>
                    <a:pt x="423621" y="1853425"/>
                  </a:lnTo>
                  <a:lnTo>
                    <a:pt x="423621" y="1847329"/>
                  </a:lnTo>
                  <a:close/>
                </a:path>
                <a:path w="424180" h="2295525">
                  <a:moveTo>
                    <a:pt x="423621" y="1819910"/>
                  </a:moveTo>
                  <a:lnTo>
                    <a:pt x="417563" y="1819910"/>
                  </a:lnTo>
                  <a:lnTo>
                    <a:pt x="6096" y="1819910"/>
                  </a:lnTo>
                  <a:lnTo>
                    <a:pt x="0" y="1819910"/>
                  </a:lnTo>
                  <a:lnTo>
                    <a:pt x="0" y="1825993"/>
                  </a:lnTo>
                  <a:lnTo>
                    <a:pt x="6096" y="1825993"/>
                  </a:lnTo>
                  <a:lnTo>
                    <a:pt x="417525" y="1825993"/>
                  </a:lnTo>
                  <a:lnTo>
                    <a:pt x="423621" y="1825993"/>
                  </a:lnTo>
                  <a:lnTo>
                    <a:pt x="423621" y="1819910"/>
                  </a:lnTo>
                  <a:close/>
                </a:path>
                <a:path w="424180" h="2295525">
                  <a:moveTo>
                    <a:pt x="423621" y="1371841"/>
                  </a:moveTo>
                  <a:lnTo>
                    <a:pt x="417563" y="1371841"/>
                  </a:lnTo>
                  <a:lnTo>
                    <a:pt x="6096" y="1371841"/>
                  </a:lnTo>
                  <a:lnTo>
                    <a:pt x="0" y="1371841"/>
                  </a:lnTo>
                  <a:lnTo>
                    <a:pt x="0" y="1377937"/>
                  </a:lnTo>
                  <a:lnTo>
                    <a:pt x="0" y="1819897"/>
                  </a:lnTo>
                  <a:lnTo>
                    <a:pt x="6096" y="1819897"/>
                  </a:lnTo>
                  <a:lnTo>
                    <a:pt x="6096" y="1377937"/>
                  </a:lnTo>
                  <a:lnTo>
                    <a:pt x="417525" y="1377937"/>
                  </a:lnTo>
                  <a:lnTo>
                    <a:pt x="417525" y="1819897"/>
                  </a:lnTo>
                  <a:lnTo>
                    <a:pt x="423621" y="1819897"/>
                  </a:lnTo>
                  <a:lnTo>
                    <a:pt x="423621" y="1377937"/>
                  </a:lnTo>
                  <a:lnTo>
                    <a:pt x="423621" y="1371841"/>
                  </a:lnTo>
                  <a:close/>
                </a:path>
                <a:path w="424180" h="2295525">
                  <a:moveTo>
                    <a:pt x="423621" y="1344422"/>
                  </a:moveTo>
                  <a:lnTo>
                    <a:pt x="417563" y="1344422"/>
                  </a:lnTo>
                  <a:lnTo>
                    <a:pt x="6096" y="1344422"/>
                  </a:lnTo>
                  <a:lnTo>
                    <a:pt x="0" y="1344422"/>
                  </a:lnTo>
                  <a:lnTo>
                    <a:pt x="0" y="1350505"/>
                  </a:lnTo>
                  <a:lnTo>
                    <a:pt x="6096" y="1350505"/>
                  </a:lnTo>
                  <a:lnTo>
                    <a:pt x="417525" y="1350505"/>
                  </a:lnTo>
                  <a:lnTo>
                    <a:pt x="423621" y="1350505"/>
                  </a:lnTo>
                  <a:lnTo>
                    <a:pt x="423621" y="1344422"/>
                  </a:lnTo>
                  <a:close/>
                </a:path>
                <a:path w="424180" h="2295525">
                  <a:moveTo>
                    <a:pt x="423621" y="914641"/>
                  </a:moveTo>
                  <a:lnTo>
                    <a:pt x="417563" y="914641"/>
                  </a:lnTo>
                  <a:lnTo>
                    <a:pt x="6096" y="914641"/>
                  </a:lnTo>
                  <a:lnTo>
                    <a:pt x="0" y="914641"/>
                  </a:lnTo>
                  <a:lnTo>
                    <a:pt x="0" y="920737"/>
                  </a:lnTo>
                  <a:lnTo>
                    <a:pt x="0" y="1344409"/>
                  </a:lnTo>
                  <a:lnTo>
                    <a:pt x="6096" y="1344409"/>
                  </a:lnTo>
                  <a:lnTo>
                    <a:pt x="6096" y="920737"/>
                  </a:lnTo>
                  <a:lnTo>
                    <a:pt x="417525" y="920737"/>
                  </a:lnTo>
                  <a:lnTo>
                    <a:pt x="417525" y="1344409"/>
                  </a:lnTo>
                  <a:lnTo>
                    <a:pt x="423621" y="1344409"/>
                  </a:lnTo>
                  <a:lnTo>
                    <a:pt x="423621" y="920737"/>
                  </a:lnTo>
                  <a:lnTo>
                    <a:pt x="423621" y="914641"/>
                  </a:lnTo>
                  <a:close/>
                </a:path>
                <a:path w="424180" h="2295525">
                  <a:moveTo>
                    <a:pt x="423621" y="457441"/>
                  </a:moveTo>
                  <a:lnTo>
                    <a:pt x="417563" y="457441"/>
                  </a:lnTo>
                  <a:lnTo>
                    <a:pt x="417525" y="463537"/>
                  </a:lnTo>
                  <a:lnTo>
                    <a:pt x="417525" y="887209"/>
                  </a:lnTo>
                  <a:lnTo>
                    <a:pt x="6096" y="887209"/>
                  </a:lnTo>
                  <a:lnTo>
                    <a:pt x="6096" y="463537"/>
                  </a:lnTo>
                  <a:lnTo>
                    <a:pt x="417525" y="463537"/>
                  </a:lnTo>
                  <a:lnTo>
                    <a:pt x="417525" y="457441"/>
                  </a:lnTo>
                  <a:lnTo>
                    <a:pt x="6096" y="457441"/>
                  </a:lnTo>
                  <a:lnTo>
                    <a:pt x="0" y="457441"/>
                  </a:lnTo>
                  <a:lnTo>
                    <a:pt x="0" y="463537"/>
                  </a:lnTo>
                  <a:lnTo>
                    <a:pt x="0" y="887209"/>
                  </a:lnTo>
                  <a:lnTo>
                    <a:pt x="0" y="893305"/>
                  </a:lnTo>
                  <a:lnTo>
                    <a:pt x="6096" y="893305"/>
                  </a:lnTo>
                  <a:lnTo>
                    <a:pt x="417525" y="893305"/>
                  </a:lnTo>
                  <a:lnTo>
                    <a:pt x="423621" y="893305"/>
                  </a:lnTo>
                  <a:lnTo>
                    <a:pt x="423621" y="887209"/>
                  </a:lnTo>
                  <a:lnTo>
                    <a:pt x="423621" y="463537"/>
                  </a:lnTo>
                  <a:lnTo>
                    <a:pt x="423621" y="457441"/>
                  </a:lnTo>
                  <a:close/>
                </a:path>
                <a:path w="424180" h="2295525">
                  <a:moveTo>
                    <a:pt x="423621" y="0"/>
                  </a:moveTo>
                  <a:lnTo>
                    <a:pt x="417525" y="0"/>
                  </a:lnTo>
                  <a:lnTo>
                    <a:pt x="417525" y="6032"/>
                  </a:lnTo>
                  <a:lnTo>
                    <a:pt x="417525" y="430009"/>
                  </a:lnTo>
                  <a:lnTo>
                    <a:pt x="6096" y="430009"/>
                  </a:lnTo>
                  <a:lnTo>
                    <a:pt x="6096" y="6032"/>
                  </a:lnTo>
                  <a:lnTo>
                    <a:pt x="0" y="6032"/>
                  </a:lnTo>
                  <a:lnTo>
                    <a:pt x="0" y="430009"/>
                  </a:lnTo>
                  <a:lnTo>
                    <a:pt x="0" y="436105"/>
                  </a:lnTo>
                  <a:lnTo>
                    <a:pt x="6096" y="436105"/>
                  </a:lnTo>
                  <a:lnTo>
                    <a:pt x="417525" y="436105"/>
                  </a:lnTo>
                  <a:lnTo>
                    <a:pt x="423621" y="436105"/>
                  </a:lnTo>
                  <a:lnTo>
                    <a:pt x="423621" y="430009"/>
                  </a:lnTo>
                  <a:lnTo>
                    <a:pt x="423621" y="6083"/>
                  </a:lnTo>
                  <a:lnTo>
                    <a:pt x="4236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141780" y="8058670"/>
            <a:ext cx="424180" cy="923925"/>
          </a:xfrm>
          <a:custGeom>
            <a:avLst/>
            <a:gdLst/>
            <a:ahLst/>
            <a:cxnLst/>
            <a:rect l="l" t="t" r="r" b="b"/>
            <a:pathLst>
              <a:path w="424180" h="923925">
                <a:moveTo>
                  <a:pt x="6096" y="0"/>
                </a:moveTo>
                <a:lnTo>
                  <a:pt x="0" y="0"/>
                </a:lnTo>
                <a:lnTo>
                  <a:pt x="0" y="441947"/>
                </a:lnTo>
                <a:lnTo>
                  <a:pt x="6096" y="441947"/>
                </a:lnTo>
                <a:lnTo>
                  <a:pt x="6096" y="0"/>
                </a:lnTo>
                <a:close/>
              </a:path>
              <a:path w="424180" h="923925">
                <a:moveTo>
                  <a:pt x="423621" y="917397"/>
                </a:moveTo>
                <a:lnTo>
                  <a:pt x="417563" y="917397"/>
                </a:lnTo>
                <a:lnTo>
                  <a:pt x="6096" y="917397"/>
                </a:lnTo>
                <a:lnTo>
                  <a:pt x="0" y="917397"/>
                </a:lnTo>
                <a:lnTo>
                  <a:pt x="0" y="923480"/>
                </a:lnTo>
                <a:lnTo>
                  <a:pt x="6096" y="923480"/>
                </a:lnTo>
                <a:lnTo>
                  <a:pt x="417525" y="923480"/>
                </a:lnTo>
                <a:lnTo>
                  <a:pt x="423621" y="923480"/>
                </a:lnTo>
                <a:lnTo>
                  <a:pt x="423621" y="917397"/>
                </a:lnTo>
                <a:close/>
              </a:path>
              <a:path w="424180" h="923925">
                <a:moveTo>
                  <a:pt x="423621" y="469392"/>
                </a:moveTo>
                <a:lnTo>
                  <a:pt x="417563" y="469392"/>
                </a:lnTo>
                <a:lnTo>
                  <a:pt x="6096" y="469392"/>
                </a:lnTo>
                <a:lnTo>
                  <a:pt x="0" y="469392"/>
                </a:lnTo>
                <a:lnTo>
                  <a:pt x="0" y="475424"/>
                </a:lnTo>
                <a:lnTo>
                  <a:pt x="0" y="917384"/>
                </a:lnTo>
                <a:lnTo>
                  <a:pt x="6096" y="917384"/>
                </a:lnTo>
                <a:lnTo>
                  <a:pt x="6096" y="475475"/>
                </a:lnTo>
                <a:lnTo>
                  <a:pt x="417525" y="475475"/>
                </a:lnTo>
                <a:lnTo>
                  <a:pt x="417525" y="917384"/>
                </a:lnTo>
                <a:lnTo>
                  <a:pt x="423621" y="917384"/>
                </a:lnTo>
                <a:lnTo>
                  <a:pt x="423621" y="475475"/>
                </a:lnTo>
                <a:lnTo>
                  <a:pt x="423621" y="469392"/>
                </a:lnTo>
                <a:close/>
              </a:path>
              <a:path w="424180" h="923925">
                <a:moveTo>
                  <a:pt x="423621" y="441960"/>
                </a:moveTo>
                <a:lnTo>
                  <a:pt x="417563" y="441960"/>
                </a:lnTo>
                <a:lnTo>
                  <a:pt x="6096" y="441960"/>
                </a:lnTo>
                <a:lnTo>
                  <a:pt x="0" y="441960"/>
                </a:lnTo>
                <a:lnTo>
                  <a:pt x="0" y="448043"/>
                </a:lnTo>
                <a:lnTo>
                  <a:pt x="6096" y="448043"/>
                </a:lnTo>
                <a:lnTo>
                  <a:pt x="417525" y="448043"/>
                </a:lnTo>
                <a:lnTo>
                  <a:pt x="423621" y="448043"/>
                </a:lnTo>
                <a:lnTo>
                  <a:pt x="423621" y="441960"/>
                </a:lnTo>
                <a:close/>
              </a:path>
              <a:path w="424180" h="923925">
                <a:moveTo>
                  <a:pt x="423621" y="0"/>
                </a:moveTo>
                <a:lnTo>
                  <a:pt x="417525" y="0"/>
                </a:lnTo>
                <a:lnTo>
                  <a:pt x="417525" y="441947"/>
                </a:lnTo>
                <a:lnTo>
                  <a:pt x="423621" y="441947"/>
                </a:lnTo>
                <a:lnTo>
                  <a:pt x="4236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118920" y="2498851"/>
          <a:ext cx="5601335" cy="69634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1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67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14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5930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Day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Outlook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Temperature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Humidity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314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Wind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PlayTennis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Sunny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Hot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5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Weak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Sunny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Hot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Strong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Overcast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Hot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5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Weak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Rain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Mild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5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Weak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Rain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Cool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Normal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5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Weak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Rain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Cool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Normal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Strong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Overcast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Cool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Normal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Strong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Sunny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Mild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5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Weak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Cool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Normal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112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Weak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Rain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Mild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Normal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11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Weak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Mild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Normal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Strong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Mild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Strong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Hot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Normal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11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Weak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Rain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Mild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Strong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1141780" y="9003500"/>
            <a:ext cx="424180" cy="449580"/>
          </a:xfrm>
          <a:custGeom>
            <a:avLst/>
            <a:gdLst/>
            <a:ahLst/>
            <a:cxnLst/>
            <a:rect l="l" t="t" r="r" b="b"/>
            <a:pathLst>
              <a:path w="424180" h="449579">
                <a:moveTo>
                  <a:pt x="423621" y="0"/>
                </a:moveTo>
                <a:lnTo>
                  <a:pt x="417563" y="0"/>
                </a:lnTo>
                <a:lnTo>
                  <a:pt x="6096" y="0"/>
                </a:lnTo>
                <a:lnTo>
                  <a:pt x="0" y="0"/>
                </a:lnTo>
                <a:lnTo>
                  <a:pt x="0" y="6083"/>
                </a:lnTo>
                <a:lnTo>
                  <a:pt x="0" y="449567"/>
                </a:lnTo>
                <a:lnTo>
                  <a:pt x="6096" y="449567"/>
                </a:lnTo>
                <a:lnTo>
                  <a:pt x="6096" y="6083"/>
                </a:lnTo>
                <a:lnTo>
                  <a:pt x="417525" y="6083"/>
                </a:lnTo>
                <a:lnTo>
                  <a:pt x="417525" y="449567"/>
                </a:lnTo>
                <a:lnTo>
                  <a:pt x="423621" y="449567"/>
                </a:lnTo>
                <a:lnTo>
                  <a:pt x="423621" y="6083"/>
                </a:lnTo>
                <a:lnTo>
                  <a:pt x="4236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2F95725-A5F1-9042-7712-39A5DA1CC231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BD28E7A2-593B-4A3C-ACB4-F92304D7293E}" type="datetime1">
              <a:rPr lang="en-US" smtClean="0"/>
              <a:t>10/13/2025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C5EA473-6AB2-3A8B-7CC9-E7ADFB52F45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0B1104A-42B5-9975-2FF0-8AA896842A8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793750"/>
            <a:ext cx="6368415" cy="1624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58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i: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Compute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Entropy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Target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Variable </a:t>
            </a:r>
            <a:r>
              <a:rPr sz="2400" b="1" dirty="0">
                <a:latin typeface="Calibri"/>
                <a:cs typeface="Calibri"/>
              </a:rPr>
              <a:t>There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are:</a:t>
            </a:r>
            <a:endParaRPr sz="24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305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9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“Yes”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5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“No”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8580" y="2758185"/>
            <a:ext cx="2438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𝑬𝒏𝒕𝒓𝒐𝒑𝒚(𝑺)</a:t>
            </a:r>
            <a:r>
              <a:rPr sz="2400" spc="6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6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−(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64103" y="2979673"/>
            <a:ext cx="364490" cy="20320"/>
          </a:xfrm>
          <a:custGeom>
            <a:avLst/>
            <a:gdLst/>
            <a:ahLst/>
            <a:cxnLst/>
            <a:rect l="l" t="t" r="r" b="b"/>
            <a:pathLst>
              <a:path w="364489" h="20319">
                <a:moveTo>
                  <a:pt x="364236" y="0"/>
                </a:moveTo>
                <a:lnTo>
                  <a:pt x="0" y="0"/>
                </a:lnTo>
                <a:lnTo>
                  <a:pt x="0" y="19811"/>
                </a:lnTo>
                <a:lnTo>
                  <a:pt x="364236" y="19811"/>
                </a:lnTo>
                <a:lnTo>
                  <a:pt x="364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41319" y="2528061"/>
            <a:ext cx="1328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2840" algn="l"/>
              </a:tabLst>
            </a:pPr>
            <a:r>
              <a:rPr sz="2400" spc="-50" dirty="0">
                <a:latin typeface="Cambria Math"/>
                <a:cs typeface="Cambria Math"/>
              </a:rPr>
              <a:t>𝟗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𝟗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84496" y="2979673"/>
            <a:ext cx="364490" cy="20320"/>
          </a:xfrm>
          <a:custGeom>
            <a:avLst/>
            <a:gdLst/>
            <a:ahLst/>
            <a:cxnLst/>
            <a:rect l="l" t="t" r="r" b="b"/>
            <a:pathLst>
              <a:path w="364489" h="20319">
                <a:moveTo>
                  <a:pt x="364236" y="0"/>
                </a:moveTo>
                <a:lnTo>
                  <a:pt x="0" y="0"/>
                </a:lnTo>
                <a:lnTo>
                  <a:pt x="0" y="19811"/>
                </a:lnTo>
                <a:lnTo>
                  <a:pt x="364236" y="19811"/>
                </a:lnTo>
                <a:lnTo>
                  <a:pt x="364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11445" y="2979673"/>
            <a:ext cx="364490" cy="20320"/>
          </a:xfrm>
          <a:custGeom>
            <a:avLst/>
            <a:gdLst/>
            <a:ahLst/>
            <a:cxnLst/>
            <a:rect l="l" t="t" r="r" b="b"/>
            <a:pathLst>
              <a:path w="364489" h="20319">
                <a:moveTo>
                  <a:pt x="364236" y="0"/>
                </a:moveTo>
                <a:lnTo>
                  <a:pt x="0" y="0"/>
                </a:lnTo>
                <a:lnTo>
                  <a:pt x="0" y="19811"/>
                </a:lnTo>
                <a:lnTo>
                  <a:pt x="364236" y="19811"/>
                </a:lnTo>
                <a:lnTo>
                  <a:pt x="364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288660" y="2528061"/>
            <a:ext cx="1328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2840" algn="l"/>
              </a:tabLst>
            </a:pPr>
            <a:r>
              <a:rPr sz="2400" spc="-50" dirty="0">
                <a:latin typeface="Cambria Math"/>
                <a:cs typeface="Cambria Math"/>
              </a:rPr>
              <a:t>𝟓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51403" y="2962782"/>
            <a:ext cx="335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2840" algn="l"/>
                <a:tab pos="1859914" algn="l"/>
                <a:tab pos="2980055" algn="l"/>
              </a:tabLst>
            </a:pPr>
            <a:r>
              <a:rPr sz="2400" spc="-25" dirty="0">
                <a:latin typeface="Cambria Math"/>
                <a:cs typeface="Cambria Math"/>
              </a:rPr>
              <a:t>𝟏𝟒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𝟏𝟒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𝟏𝟒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𝟏𝟒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31965" y="2979673"/>
            <a:ext cx="364490" cy="20320"/>
          </a:xfrm>
          <a:custGeom>
            <a:avLst/>
            <a:gdLst/>
            <a:ahLst/>
            <a:cxnLst/>
            <a:rect l="l" t="t" r="r" b="b"/>
            <a:pathLst>
              <a:path w="364490" h="20319">
                <a:moveTo>
                  <a:pt x="364236" y="0"/>
                </a:moveTo>
                <a:lnTo>
                  <a:pt x="0" y="0"/>
                </a:lnTo>
                <a:lnTo>
                  <a:pt x="0" y="19811"/>
                </a:lnTo>
                <a:lnTo>
                  <a:pt x="364236" y="19811"/>
                </a:lnTo>
                <a:lnTo>
                  <a:pt x="364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03954" y="2758185"/>
            <a:ext cx="3158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  <a:tabLst>
                <a:tab pos="1211580" algn="l"/>
                <a:tab pos="1923414" algn="l"/>
                <a:tab pos="2993390" algn="l"/>
              </a:tabLst>
            </a:pPr>
            <a:r>
              <a:rPr sz="2400" dirty="0">
                <a:latin typeface="Cambria Math"/>
                <a:cs typeface="Cambria Math"/>
              </a:rPr>
              <a:t>𝐥𝐨𝐠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625" spc="-75" baseline="-15873" dirty="0">
                <a:latin typeface="Cambria Math"/>
                <a:cs typeface="Cambria Math"/>
              </a:rPr>
              <a:t>𝟐</a:t>
            </a:r>
            <a:r>
              <a:rPr sz="2625" baseline="-15873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+</a:t>
            </a:r>
            <a:r>
              <a:rPr sz="2400" dirty="0">
                <a:latin typeface="Cambria Math"/>
                <a:cs typeface="Cambria Math"/>
              </a:rPr>
              <a:t>	𝐥𝐨𝐠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625" spc="-75" baseline="-15873" dirty="0">
                <a:latin typeface="Cambria Math"/>
                <a:cs typeface="Cambria Math"/>
              </a:rPr>
              <a:t>𝟐</a:t>
            </a:r>
            <a:r>
              <a:rPr sz="2625" baseline="-15873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4500" y="3263010"/>
            <a:ext cx="6643370" cy="288036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421130">
              <a:lnSpc>
                <a:spcPct val="100000"/>
              </a:lnSpc>
              <a:spcBef>
                <a:spcPts val="470"/>
              </a:spcBef>
            </a:pP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𝟗𝟒𝟎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ii: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Compute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Information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Each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Attribute</a:t>
            </a:r>
            <a:endParaRPr sz="2400">
              <a:latin typeface="Calibri"/>
              <a:cs typeface="Calibri"/>
            </a:endParaRPr>
          </a:p>
          <a:p>
            <a:pPr marL="12700" marR="582930">
              <a:lnSpc>
                <a:spcPct val="117900"/>
              </a:lnSpc>
              <a:spcBef>
                <a:spcPts val="790"/>
              </a:spcBef>
            </a:pPr>
            <a:r>
              <a:rPr sz="2400" b="1" spc="-10" dirty="0">
                <a:latin typeface="Calibri"/>
                <a:cs typeface="Calibri"/>
              </a:rPr>
              <a:t>Let’s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compute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Outlook,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Humidity,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Wind,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and </a:t>
            </a:r>
            <a:r>
              <a:rPr sz="2400" b="1" spc="-10" dirty="0">
                <a:latin typeface="Calibri"/>
                <a:cs typeface="Calibri"/>
              </a:rPr>
              <a:t>Temperature.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8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(a)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Outlook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014220" y="6324726"/>
          <a:ext cx="3820160" cy="2332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80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8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Outlook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Total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Entropy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66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Sunny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0.971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Overcast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0.000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Rain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0.971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00CE7FF-F60B-F73C-439C-C0C89820C5D5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D7FB402-6D78-47CD-9C75-FDBC18DFB431}" type="datetime1">
              <a:rPr lang="en-US" smtClean="0"/>
              <a:t>10/13/2025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01EA20EF-3BB7-F395-34CD-92C777F6136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C930452-4AF7-74AE-3BFF-11DEFE5ED88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28926" y="1380997"/>
            <a:ext cx="365125" cy="20320"/>
          </a:xfrm>
          <a:custGeom>
            <a:avLst/>
            <a:gdLst/>
            <a:ahLst/>
            <a:cxnLst/>
            <a:rect l="l" t="t" r="r" b="b"/>
            <a:pathLst>
              <a:path w="365125" h="20319">
                <a:moveTo>
                  <a:pt x="364540" y="0"/>
                </a:moveTo>
                <a:lnTo>
                  <a:pt x="0" y="0"/>
                </a:lnTo>
                <a:lnTo>
                  <a:pt x="0" y="19811"/>
                </a:lnTo>
                <a:lnTo>
                  <a:pt x="364540" y="19811"/>
                </a:lnTo>
                <a:lnTo>
                  <a:pt x="3645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04080" y="1380997"/>
            <a:ext cx="364490" cy="20320"/>
          </a:xfrm>
          <a:custGeom>
            <a:avLst/>
            <a:gdLst/>
            <a:ahLst/>
            <a:cxnLst/>
            <a:rect l="l" t="t" r="r" b="b"/>
            <a:pathLst>
              <a:path w="364489" h="20319">
                <a:moveTo>
                  <a:pt x="364236" y="0"/>
                </a:moveTo>
                <a:lnTo>
                  <a:pt x="0" y="0"/>
                </a:lnTo>
                <a:lnTo>
                  <a:pt x="0" y="19811"/>
                </a:lnTo>
                <a:lnTo>
                  <a:pt x="364236" y="19811"/>
                </a:lnTo>
                <a:lnTo>
                  <a:pt x="364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17184" y="1380997"/>
            <a:ext cx="364490" cy="20320"/>
          </a:xfrm>
          <a:custGeom>
            <a:avLst/>
            <a:gdLst/>
            <a:ahLst/>
            <a:cxnLst/>
            <a:rect l="l" t="t" r="r" b="b"/>
            <a:pathLst>
              <a:path w="364489" h="20319">
                <a:moveTo>
                  <a:pt x="364236" y="0"/>
                </a:moveTo>
                <a:lnTo>
                  <a:pt x="0" y="0"/>
                </a:lnTo>
                <a:lnTo>
                  <a:pt x="0" y="19811"/>
                </a:lnTo>
                <a:lnTo>
                  <a:pt x="364236" y="19811"/>
                </a:lnTo>
                <a:lnTo>
                  <a:pt x="364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93700" y="294893"/>
            <a:ext cx="6638925" cy="423291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155"/>
              </a:spcBef>
            </a:pPr>
            <a:r>
              <a:rPr sz="2400" b="1" spc="-20" dirty="0">
                <a:latin typeface="Calibri"/>
                <a:cs typeface="Calibri"/>
              </a:rPr>
              <a:t>Weighted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Entropy:</a:t>
            </a:r>
            <a:endParaRPr sz="2400">
              <a:latin typeface="Calibri"/>
              <a:cs typeface="Calibri"/>
            </a:endParaRPr>
          </a:p>
          <a:p>
            <a:pPr marL="2025014">
              <a:lnSpc>
                <a:spcPts val="2345"/>
              </a:lnSpc>
              <a:spcBef>
                <a:spcPts val="1060"/>
              </a:spcBef>
              <a:tabLst>
                <a:tab pos="3900170" algn="l"/>
                <a:tab pos="5113020" algn="l"/>
              </a:tabLst>
            </a:pPr>
            <a:r>
              <a:rPr sz="2400" spc="-50" dirty="0">
                <a:latin typeface="Cambria Math"/>
                <a:cs typeface="Cambria Math"/>
              </a:rPr>
              <a:t>𝟓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𝟒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  <a:p>
            <a:pPr marL="349250" algn="ctr">
              <a:lnSpc>
                <a:spcPts val="2345"/>
              </a:lnSpc>
            </a:pPr>
            <a:r>
              <a:rPr sz="2400" dirty="0">
                <a:latin typeface="Cambria Math"/>
                <a:cs typeface="Cambria Math"/>
              </a:rPr>
              <a:t>𝑬</a:t>
            </a:r>
            <a:r>
              <a:rPr sz="2625" baseline="-15873" dirty="0">
                <a:latin typeface="Cambria Math"/>
                <a:cs typeface="Cambria Math"/>
              </a:rPr>
              <a:t>𝑶𝒖𝒕𝒍𝒐𝒐𝒌</a:t>
            </a:r>
            <a:r>
              <a:rPr sz="2625" spc="450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3600" spc="-30" baseline="-37037" dirty="0">
                <a:latin typeface="Cambria Math"/>
                <a:cs typeface="Cambria Math"/>
              </a:rPr>
              <a:t>𝟏𝟒</a:t>
            </a:r>
            <a:r>
              <a:rPr sz="3600" spc="-209" baseline="-37037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𝟗𝟕𝟏)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3600" spc="-30" baseline="-37037" dirty="0">
                <a:latin typeface="Cambria Math"/>
                <a:cs typeface="Cambria Math"/>
              </a:rPr>
              <a:t>𝟏𝟒</a:t>
            </a:r>
            <a:r>
              <a:rPr sz="3600" spc="-217" baseline="-37037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(𝟎)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3600" spc="-30" baseline="-37037" dirty="0">
                <a:latin typeface="Cambria Math"/>
                <a:cs typeface="Cambria Math"/>
              </a:rPr>
              <a:t>𝟏𝟒</a:t>
            </a:r>
            <a:r>
              <a:rPr sz="3600" spc="-202" baseline="-37037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𝟗𝟕𝟏)</a:t>
            </a:r>
            <a:endParaRPr sz="2400">
              <a:latin typeface="Cambria Math"/>
              <a:cs typeface="Cambria Math"/>
            </a:endParaRPr>
          </a:p>
          <a:p>
            <a:pPr marL="1365250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𝟔𝟗𝟑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745"/>
              </a:spcBef>
            </a:pPr>
            <a:endParaRPr sz="2400">
              <a:latin typeface="Cambria Math"/>
              <a:cs typeface="Cambria Math"/>
            </a:endParaRPr>
          </a:p>
          <a:p>
            <a:pPr marL="635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Information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Gain:</a:t>
            </a:r>
            <a:endParaRPr sz="2400">
              <a:latin typeface="Calibri"/>
              <a:cs typeface="Calibri"/>
            </a:endParaRPr>
          </a:p>
          <a:p>
            <a:pPr marL="349250" algn="ctr">
              <a:lnSpc>
                <a:spcPct val="100000"/>
              </a:lnSpc>
              <a:spcBef>
                <a:spcPts val="1325"/>
              </a:spcBef>
            </a:pPr>
            <a:r>
              <a:rPr sz="2400" dirty="0">
                <a:latin typeface="Cambria Math"/>
                <a:cs typeface="Cambria Math"/>
              </a:rPr>
              <a:t>𝑰𝑮(𝑶𝒖𝒕𝒍𝒐𝒐𝒌)</a:t>
            </a:r>
            <a:r>
              <a:rPr sz="2400" spc="5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𝟗𝟒𝟎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𝟔𝟗𝟑</a:t>
            </a:r>
            <a:r>
              <a:rPr sz="2400" spc="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𝟐𝟒𝟕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745"/>
              </a:spcBef>
            </a:pPr>
            <a:endParaRPr sz="2400">
              <a:latin typeface="Cambria Math"/>
              <a:cs typeface="Cambria Math"/>
            </a:endParaRPr>
          </a:p>
          <a:p>
            <a:pPr marL="635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(b)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Humidity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983739" y="4710557"/>
          <a:ext cx="3882390" cy="1748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7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Humidity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Total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Entropy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0.985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29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Normal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0.592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2408173" y="7395336"/>
            <a:ext cx="365125" cy="20320"/>
          </a:xfrm>
          <a:custGeom>
            <a:avLst/>
            <a:gdLst/>
            <a:ahLst/>
            <a:cxnLst/>
            <a:rect l="l" t="t" r="r" b="b"/>
            <a:pathLst>
              <a:path w="365125" h="20320">
                <a:moveTo>
                  <a:pt x="364540" y="0"/>
                </a:moveTo>
                <a:lnTo>
                  <a:pt x="0" y="0"/>
                </a:lnTo>
                <a:lnTo>
                  <a:pt x="0" y="19812"/>
                </a:lnTo>
                <a:lnTo>
                  <a:pt x="364540" y="19812"/>
                </a:lnTo>
                <a:lnTo>
                  <a:pt x="3645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83328" y="7395336"/>
            <a:ext cx="364490" cy="20320"/>
          </a:xfrm>
          <a:custGeom>
            <a:avLst/>
            <a:gdLst/>
            <a:ahLst/>
            <a:cxnLst/>
            <a:rect l="l" t="t" r="r" b="b"/>
            <a:pathLst>
              <a:path w="364489" h="20320">
                <a:moveTo>
                  <a:pt x="364236" y="0"/>
                </a:moveTo>
                <a:lnTo>
                  <a:pt x="0" y="0"/>
                </a:lnTo>
                <a:lnTo>
                  <a:pt x="0" y="19812"/>
                </a:lnTo>
                <a:lnTo>
                  <a:pt x="364236" y="19812"/>
                </a:lnTo>
                <a:lnTo>
                  <a:pt x="364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9100" y="6324980"/>
            <a:ext cx="6693534" cy="285623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95"/>
              </a:spcBef>
            </a:pPr>
            <a:r>
              <a:rPr sz="2400" b="1" spc="-20" dirty="0">
                <a:latin typeface="Calibri"/>
                <a:cs typeface="Calibri"/>
              </a:rPr>
              <a:t>Weighted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Entropy:</a:t>
            </a:r>
            <a:endParaRPr sz="2400">
              <a:latin typeface="Calibri"/>
              <a:cs typeface="Calibri"/>
            </a:endParaRPr>
          </a:p>
          <a:p>
            <a:pPr marR="469265" algn="ctr">
              <a:lnSpc>
                <a:spcPts val="2345"/>
              </a:lnSpc>
              <a:spcBef>
                <a:spcPts val="994"/>
              </a:spcBef>
              <a:tabLst>
                <a:tab pos="1874520" algn="l"/>
              </a:tabLst>
            </a:pPr>
            <a:r>
              <a:rPr sz="2400" spc="-50" dirty="0">
                <a:latin typeface="Cambria Math"/>
                <a:cs typeface="Cambria Math"/>
              </a:rPr>
              <a:t>𝟕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  <a:p>
            <a:pPr marL="243840" algn="ctr">
              <a:lnSpc>
                <a:spcPts val="2345"/>
              </a:lnSpc>
            </a:pPr>
            <a:r>
              <a:rPr sz="2400" dirty="0">
                <a:latin typeface="Cambria Math"/>
                <a:cs typeface="Cambria Math"/>
              </a:rPr>
              <a:t>𝑬</a:t>
            </a:r>
            <a:r>
              <a:rPr sz="2625" baseline="-15873" dirty="0">
                <a:latin typeface="Cambria Math"/>
                <a:cs typeface="Cambria Math"/>
              </a:rPr>
              <a:t>𝑯𝒖𝒎𝒊𝒅𝒊𝒕𝒚</a:t>
            </a:r>
            <a:r>
              <a:rPr sz="2625" spc="480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3600" spc="-30" baseline="-37037" dirty="0">
                <a:latin typeface="Cambria Math"/>
                <a:cs typeface="Cambria Math"/>
              </a:rPr>
              <a:t>𝟏𝟒</a:t>
            </a:r>
            <a:r>
              <a:rPr sz="3600" spc="-195" baseline="-37037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𝟗𝟖𝟓)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3600" spc="-30" baseline="-37037" dirty="0">
                <a:latin typeface="Cambria Math"/>
                <a:cs typeface="Cambria Math"/>
              </a:rPr>
              <a:t>𝟏𝟒</a:t>
            </a:r>
            <a:r>
              <a:rPr sz="3600" spc="-217" baseline="-37037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𝟓𝟗𝟐)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𝟕𝟖𝟗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4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Information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Gain:</a:t>
            </a:r>
            <a:endParaRPr sz="2400">
              <a:latin typeface="Calibri"/>
              <a:cs typeface="Calibri"/>
            </a:endParaRPr>
          </a:p>
          <a:p>
            <a:pPr marL="243840" algn="ctr">
              <a:lnSpc>
                <a:spcPct val="100000"/>
              </a:lnSpc>
              <a:spcBef>
                <a:spcPts val="1320"/>
              </a:spcBef>
            </a:pPr>
            <a:r>
              <a:rPr sz="2400" dirty="0">
                <a:latin typeface="Cambria Math"/>
                <a:cs typeface="Cambria Math"/>
              </a:rPr>
              <a:t>𝑰𝑮(𝑯𝒖𝒎𝒊𝒅𝒊𝒕𝒚)</a:t>
            </a:r>
            <a:r>
              <a:rPr sz="2400" spc="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𝟗𝟒𝟎</a:t>
            </a:r>
            <a:r>
              <a:rPr sz="2400" spc="-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𝟕𝟖𝟗</a:t>
            </a:r>
            <a:r>
              <a:rPr sz="2400" spc="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𝟏𝟓𝟏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C6BDA5D-D7A6-8644-52A1-AF9DC4F95636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B8D05E56-6886-4507-9A70-A6254307B325}" type="datetime1">
              <a:rPr lang="en-US" smtClean="0"/>
              <a:t>10/13/2025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BBC1497-3B33-8484-AAA3-FA59A6BDA93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F8D095C-92B8-CE03-BE53-76363C7A8A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29259"/>
            <a:ext cx="1090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(c)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Wind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154427" y="1002029"/>
          <a:ext cx="3541395" cy="1750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6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Wind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Total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Entropy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66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Weak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0.811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Strong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1.000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173477" y="3690239"/>
            <a:ext cx="365125" cy="20320"/>
          </a:xfrm>
          <a:custGeom>
            <a:avLst/>
            <a:gdLst/>
            <a:ahLst/>
            <a:cxnLst/>
            <a:rect l="l" t="t" r="r" b="b"/>
            <a:pathLst>
              <a:path w="365125" h="20320">
                <a:moveTo>
                  <a:pt x="364540" y="0"/>
                </a:moveTo>
                <a:lnTo>
                  <a:pt x="0" y="0"/>
                </a:lnTo>
                <a:lnTo>
                  <a:pt x="0" y="19812"/>
                </a:lnTo>
                <a:lnTo>
                  <a:pt x="364540" y="19812"/>
                </a:lnTo>
                <a:lnTo>
                  <a:pt x="3645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46854" y="3690239"/>
            <a:ext cx="365125" cy="20320"/>
          </a:xfrm>
          <a:custGeom>
            <a:avLst/>
            <a:gdLst/>
            <a:ahLst/>
            <a:cxnLst/>
            <a:rect l="l" t="t" r="r" b="b"/>
            <a:pathLst>
              <a:path w="365125" h="20320">
                <a:moveTo>
                  <a:pt x="364540" y="0"/>
                </a:moveTo>
                <a:lnTo>
                  <a:pt x="0" y="0"/>
                </a:lnTo>
                <a:lnTo>
                  <a:pt x="0" y="19812"/>
                </a:lnTo>
                <a:lnTo>
                  <a:pt x="364540" y="19812"/>
                </a:lnTo>
                <a:lnTo>
                  <a:pt x="3645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6400" y="2616072"/>
            <a:ext cx="6482715" cy="380619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10"/>
              </a:spcBef>
            </a:pPr>
            <a:r>
              <a:rPr sz="2400" b="1" spc="-20" dirty="0">
                <a:latin typeface="Calibri"/>
                <a:cs typeface="Calibri"/>
              </a:rPr>
              <a:t>Weighted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Entropy:</a:t>
            </a:r>
            <a:endParaRPr sz="2400">
              <a:latin typeface="Calibri"/>
              <a:cs typeface="Calibri"/>
            </a:endParaRPr>
          </a:p>
          <a:p>
            <a:pPr marL="1856739">
              <a:lnSpc>
                <a:spcPts val="2345"/>
              </a:lnSpc>
              <a:spcBef>
                <a:spcPts val="1010"/>
              </a:spcBef>
              <a:tabLst>
                <a:tab pos="3729990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  <a:p>
            <a:pPr marL="480059" algn="ctr">
              <a:lnSpc>
                <a:spcPts val="2345"/>
              </a:lnSpc>
            </a:pPr>
            <a:r>
              <a:rPr sz="2400" dirty="0">
                <a:latin typeface="Cambria Math"/>
                <a:cs typeface="Cambria Math"/>
              </a:rPr>
              <a:t>𝑬</a:t>
            </a:r>
            <a:r>
              <a:rPr sz="2625" baseline="-15873" dirty="0">
                <a:latin typeface="Cambria Math"/>
                <a:cs typeface="Cambria Math"/>
              </a:rPr>
              <a:t>𝑾𝒊𝒏𝒅</a:t>
            </a:r>
            <a:r>
              <a:rPr sz="2625" spc="46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3600" spc="-30" baseline="-37037" dirty="0">
                <a:latin typeface="Cambria Math"/>
                <a:cs typeface="Cambria Math"/>
              </a:rPr>
              <a:t>𝟏𝟒</a:t>
            </a:r>
            <a:r>
              <a:rPr sz="3600" spc="-209" baseline="-37037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𝟖𝟏𝟏)</a:t>
            </a:r>
            <a:r>
              <a:rPr sz="2400" spc="-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3600" spc="-30" baseline="-37037" dirty="0">
                <a:latin typeface="Cambria Math"/>
                <a:cs typeface="Cambria Math"/>
              </a:rPr>
              <a:t>𝟏𝟒</a:t>
            </a:r>
            <a:r>
              <a:rPr sz="3600" spc="-195" baseline="-37037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(𝟏.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𝟎𝟎𝟎)</a:t>
            </a:r>
            <a:r>
              <a:rPr sz="2400" spc="10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𝟖𝟗𝟐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Calibri"/>
                <a:cs typeface="Calibri"/>
              </a:rPr>
              <a:t>Information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Gain:</a:t>
            </a:r>
            <a:endParaRPr sz="2400">
              <a:latin typeface="Calibri"/>
              <a:cs typeface="Calibri"/>
            </a:endParaRPr>
          </a:p>
          <a:p>
            <a:pPr marL="480059" algn="ctr">
              <a:lnSpc>
                <a:spcPct val="100000"/>
              </a:lnSpc>
              <a:spcBef>
                <a:spcPts val="1330"/>
              </a:spcBef>
            </a:pPr>
            <a:r>
              <a:rPr sz="2400" dirty="0">
                <a:latin typeface="Cambria Math"/>
                <a:cs typeface="Cambria Math"/>
              </a:rPr>
              <a:t>𝑰𝑮(𝑾𝒊𝒏𝒅)</a:t>
            </a:r>
            <a:r>
              <a:rPr sz="2400" spc="7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𝟗𝟒𝟎</a:t>
            </a:r>
            <a:r>
              <a:rPr sz="2400" spc="-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10" dirty="0">
                <a:latin typeface="Cambria Math"/>
                <a:cs typeface="Cambria Math"/>
              </a:rPr>
              <a:t> 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𝟖𝟗𝟐</a:t>
            </a:r>
            <a:r>
              <a:rPr sz="2400" spc="9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𝟎𝟒𝟖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750"/>
              </a:spcBef>
            </a:pPr>
            <a:endParaRPr sz="24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(d)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Temperature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758188" y="6603618"/>
          <a:ext cx="4335780" cy="2331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9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80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01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15" dirty="0">
                          <a:latin typeface="Calibri"/>
                          <a:cs typeface="Calibri"/>
                        </a:rPr>
                        <a:t>Temperature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Total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Entropy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Hot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1.000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Mild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0.918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29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Cool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0.811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084443B-5670-17F7-410A-4EC8D29B57C6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49FF5B9-BAE3-4C0A-ADB9-425A45A89D60}" type="datetime1">
              <a:rPr lang="en-US" smtClean="0"/>
              <a:t>10/13/2025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4D4057-5BE4-38E0-7891-F4FE27ECE26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CFAA2D8-98C2-79DD-C9F0-6C5C375515F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45461" y="1374902"/>
            <a:ext cx="364490" cy="20320"/>
          </a:xfrm>
          <a:custGeom>
            <a:avLst/>
            <a:gdLst/>
            <a:ahLst/>
            <a:cxnLst/>
            <a:rect l="l" t="t" r="r" b="b"/>
            <a:pathLst>
              <a:path w="364489" h="20319">
                <a:moveTo>
                  <a:pt x="364236" y="0"/>
                </a:moveTo>
                <a:lnTo>
                  <a:pt x="0" y="0"/>
                </a:lnTo>
                <a:lnTo>
                  <a:pt x="0" y="19811"/>
                </a:lnTo>
                <a:lnTo>
                  <a:pt x="364236" y="19811"/>
                </a:lnTo>
                <a:lnTo>
                  <a:pt x="364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56127" y="1374902"/>
            <a:ext cx="364490" cy="20320"/>
          </a:xfrm>
          <a:custGeom>
            <a:avLst/>
            <a:gdLst/>
            <a:ahLst/>
            <a:cxnLst/>
            <a:rect l="l" t="t" r="r" b="b"/>
            <a:pathLst>
              <a:path w="364489" h="20319">
                <a:moveTo>
                  <a:pt x="364236" y="0"/>
                </a:moveTo>
                <a:lnTo>
                  <a:pt x="0" y="0"/>
                </a:lnTo>
                <a:lnTo>
                  <a:pt x="0" y="19811"/>
                </a:lnTo>
                <a:lnTo>
                  <a:pt x="364236" y="19811"/>
                </a:lnTo>
                <a:lnTo>
                  <a:pt x="364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30901" y="1374902"/>
            <a:ext cx="364490" cy="20320"/>
          </a:xfrm>
          <a:custGeom>
            <a:avLst/>
            <a:gdLst/>
            <a:ahLst/>
            <a:cxnLst/>
            <a:rect l="l" t="t" r="r" b="b"/>
            <a:pathLst>
              <a:path w="364489" h="20319">
                <a:moveTo>
                  <a:pt x="364236" y="0"/>
                </a:moveTo>
                <a:lnTo>
                  <a:pt x="0" y="0"/>
                </a:lnTo>
                <a:lnTo>
                  <a:pt x="0" y="19811"/>
                </a:lnTo>
                <a:lnTo>
                  <a:pt x="364236" y="19811"/>
                </a:lnTo>
                <a:lnTo>
                  <a:pt x="364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93700" y="300989"/>
            <a:ext cx="6651625" cy="421894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110"/>
              </a:spcBef>
            </a:pPr>
            <a:r>
              <a:rPr sz="2400" b="1" spc="-20" dirty="0">
                <a:latin typeface="Calibri"/>
                <a:cs typeface="Calibri"/>
              </a:rPr>
              <a:t>Weighted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Entropy:</a:t>
            </a:r>
            <a:endParaRPr sz="2400">
              <a:latin typeface="Calibri"/>
              <a:cs typeface="Calibri"/>
            </a:endParaRPr>
          </a:p>
          <a:p>
            <a:pPr marL="400050" algn="ctr">
              <a:lnSpc>
                <a:spcPts val="2345"/>
              </a:lnSpc>
              <a:spcBef>
                <a:spcPts val="1010"/>
              </a:spcBef>
              <a:tabLst>
                <a:tab pos="1910714" algn="l"/>
                <a:tab pos="3785235" algn="l"/>
              </a:tabLst>
            </a:pPr>
            <a:r>
              <a:rPr sz="2400" spc="-50" dirty="0">
                <a:latin typeface="Cambria Math"/>
                <a:cs typeface="Cambria Math"/>
              </a:rPr>
              <a:t>𝟒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𝟔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  <a:p>
            <a:pPr marL="336550" algn="ctr">
              <a:lnSpc>
                <a:spcPts val="2345"/>
              </a:lnSpc>
            </a:pPr>
            <a:r>
              <a:rPr sz="2400" dirty="0">
                <a:latin typeface="Cambria Math"/>
                <a:cs typeface="Cambria Math"/>
              </a:rPr>
              <a:t>𝑬</a:t>
            </a:r>
            <a:r>
              <a:rPr sz="2625" baseline="-15873" dirty="0">
                <a:latin typeface="Cambria Math"/>
                <a:cs typeface="Cambria Math"/>
              </a:rPr>
              <a:t>𝑻𝒆𝒎𝒑</a:t>
            </a:r>
            <a:r>
              <a:rPr sz="2625" spc="50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3600" spc="-30" baseline="-37037" dirty="0">
                <a:latin typeface="Cambria Math"/>
                <a:cs typeface="Cambria Math"/>
              </a:rPr>
              <a:t>𝟏𝟒</a:t>
            </a:r>
            <a:r>
              <a:rPr sz="3600" spc="-202" baseline="-37037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(𝟏.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𝟎)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 </a:t>
            </a:r>
            <a:r>
              <a:rPr sz="3600" spc="-30" baseline="-37037" dirty="0">
                <a:latin typeface="Cambria Math"/>
                <a:cs typeface="Cambria Math"/>
              </a:rPr>
              <a:t>𝟏𝟒</a:t>
            </a:r>
            <a:r>
              <a:rPr sz="3600" spc="-202" baseline="-37037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𝟗𝟏𝟖)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3600" spc="-30" baseline="-37037" dirty="0">
                <a:latin typeface="Cambria Math"/>
                <a:cs typeface="Cambria Math"/>
              </a:rPr>
              <a:t>𝟏𝟒</a:t>
            </a:r>
            <a:r>
              <a:rPr sz="3600" spc="-209" baseline="-37037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𝟖𝟏𝟏)</a:t>
            </a:r>
            <a:endParaRPr sz="2400">
              <a:latin typeface="Cambria Math"/>
              <a:cs typeface="Cambria Math"/>
            </a:endParaRPr>
          </a:p>
          <a:p>
            <a:pPr marL="1352550">
              <a:lnSpc>
                <a:spcPct val="100000"/>
              </a:lnSpc>
              <a:spcBef>
                <a:spcPts val="1465"/>
              </a:spcBef>
            </a:pP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𝟗𝟏𝟏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745"/>
              </a:spcBef>
            </a:pPr>
            <a:endParaRPr sz="2400">
              <a:latin typeface="Cambria Math"/>
              <a:cs typeface="Cambria Math"/>
            </a:endParaRPr>
          </a:p>
          <a:p>
            <a:pPr marL="635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Information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Gain:</a:t>
            </a:r>
            <a:endParaRPr sz="2400">
              <a:latin typeface="Calibri"/>
              <a:cs typeface="Calibri"/>
            </a:endParaRPr>
          </a:p>
          <a:p>
            <a:pPr marL="336550" algn="ctr">
              <a:lnSpc>
                <a:spcPct val="100000"/>
              </a:lnSpc>
              <a:spcBef>
                <a:spcPts val="1320"/>
              </a:spcBef>
            </a:pPr>
            <a:r>
              <a:rPr sz="2400" dirty="0">
                <a:latin typeface="Cambria Math"/>
                <a:cs typeface="Cambria Math"/>
              </a:rPr>
              <a:t>𝑰𝑮(𝑻𝒆𝒎𝒑)</a:t>
            </a:r>
            <a:r>
              <a:rPr sz="2400" spc="8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𝟗𝟒𝟎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𝟗𝟏𝟏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𝟎𝟐𝟗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745"/>
              </a:spcBef>
            </a:pPr>
            <a:endParaRPr sz="2400">
              <a:latin typeface="Cambria Math"/>
              <a:cs typeface="Cambria Math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iii: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Select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Attribute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with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Highest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IG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944116" y="4702936"/>
          <a:ext cx="3961765" cy="2916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9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0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Attribute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Information</a:t>
                      </a:r>
                      <a:r>
                        <a:rPr sz="2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Gain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Outlook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0.247</a:t>
                      </a:r>
                      <a:r>
                        <a:rPr sz="2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(Highest)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Humidity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0.151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Wind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0.048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15" dirty="0">
                          <a:latin typeface="Calibri"/>
                          <a:cs typeface="Calibri"/>
                        </a:rPr>
                        <a:t>Temperature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0.029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444500" y="7445502"/>
            <a:ext cx="4854575" cy="1089660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400" b="1" dirty="0">
                <a:latin typeface="Calibri"/>
                <a:cs typeface="Calibri"/>
              </a:rPr>
              <a:t>Best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attribute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Outlook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2400" b="1" dirty="0">
                <a:latin typeface="Calibri"/>
                <a:cs typeface="Calibri"/>
              </a:rPr>
              <a:t>So,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“Outlook”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becomes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root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node.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0BC4833-57CC-9006-462A-93B923F00FA5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2C8D5DF8-42C5-4D88-948F-7B9B6ADEDB91}" type="datetime1">
              <a:rPr lang="en-US" smtClean="0"/>
              <a:t>10/13/2025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7A2B424-73DB-311D-A1BC-ED2A6DA5559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5BE634C-657B-3FBD-0A2C-898791F9D40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62889"/>
            <a:ext cx="6533515" cy="8470265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iv: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Split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Recurse</a:t>
            </a:r>
            <a:endParaRPr sz="2400">
              <a:latin typeface="Calibri"/>
              <a:cs typeface="Calibri"/>
            </a:endParaRPr>
          </a:p>
          <a:p>
            <a:pPr marL="419734" indent="-407034">
              <a:lnSpc>
                <a:spcPct val="100000"/>
              </a:lnSpc>
              <a:spcBef>
                <a:spcPts val="1310"/>
              </a:spcBef>
              <a:buAutoNum type="alphaLcParenBoth"/>
              <a:tabLst>
                <a:tab pos="419734" algn="l"/>
              </a:tabLst>
            </a:pPr>
            <a:r>
              <a:rPr sz="2400" b="1" dirty="0">
                <a:latin typeface="Calibri"/>
                <a:cs typeface="Calibri"/>
              </a:rPr>
              <a:t>Outlook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10" dirty="0">
                <a:latin typeface="Calibri"/>
                <a:cs typeface="Calibri"/>
              </a:rPr>
              <a:t> Overcast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All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“Yes”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Leaf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Node: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Play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Yes</a:t>
            </a:r>
            <a:endParaRPr sz="2400">
              <a:latin typeface="Calibri"/>
              <a:cs typeface="Calibri"/>
            </a:endParaRPr>
          </a:p>
          <a:p>
            <a:pPr marL="433070" indent="-420370">
              <a:lnSpc>
                <a:spcPct val="100000"/>
              </a:lnSpc>
              <a:spcBef>
                <a:spcPts val="1305"/>
              </a:spcBef>
              <a:buAutoNum type="alphaLcParenBoth" startAt="2"/>
              <a:tabLst>
                <a:tab pos="433070" algn="l"/>
              </a:tabLst>
            </a:pPr>
            <a:r>
              <a:rPr sz="2400" b="1" dirty="0">
                <a:latin typeface="Calibri"/>
                <a:cs typeface="Calibri"/>
              </a:rPr>
              <a:t>Outlook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Sunny</a:t>
            </a:r>
            <a:endParaRPr sz="2400">
              <a:latin typeface="Calibri"/>
              <a:cs typeface="Calibri"/>
            </a:endParaRPr>
          </a:p>
          <a:p>
            <a:pPr marL="12700" marR="2673350">
              <a:lnSpc>
                <a:spcPct val="118000"/>
              </a:lnSpc>
              <a:spcBef>
                <a:spcPts val="805"/>
              </a:spcBef>
            </a:pPr>
            <a:r>
              <a:rPr sz="2400" b="1" dirty="0">
                <a:latin typeface="Calibri"/>
                <a:cs typeface="Calibri"/>
              </a:rPr>
              <a:t>Subset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{Day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1,2,8,9,11} </a:t>
            </a:r>
            <a:r>
              <a:rPr sz="2400" b="1" spc="-35" dirty="0">
                <a:latin typeface="Calibri"/>
                <a:cs typeface="Calibri"/>
              </a:rPr>
              <a:t>Target: </a:t>
            </a:r>
            <a:r>
              <a:rPr sz="2400" b="1" dirty="0">
                <a:latin typeface="Calibri"/>
                <a:cs typeface="Calibri"/>
              </a:rPr>
              <a:t>2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40" dirty="0">
                <a:latin typeface="Calibri"/>
                <a:cs typeface="Calibri"/>
              </a:rPr>
              <a:t>Yes,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3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Not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pure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ts val="3400"/>
              </a:lnSpc>
              <a:spcBef>
                <a:spcPts val="180"/>
              </a:spcBef>
            </a:pP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Recurse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using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remaining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attributes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best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split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= </a:t>
            </a:r>
            <a:r>
              <a:rPr sz="2400" b="1" spc="-10" dirty="0">
                <a:latin typeface="Calibri"/>
                <a:cs typeface="Calibri"/>
              </a:rPr>
              <a:t>Humidity</a:t>
            </a:r>
            <a:endParaRPr sz="2400">
              <a:latin typeface="Calibri"/>
              <a:cs typeface="Calibri"/>
            </a:endParaRPr>
          </a:p>
          <a:p>
            <a:pPr marL="469900" lvl="1" indent="-228600">
              <a:lnSpc>
                <a:spcPct val="100000"/>
              </a:lnSpc>
              <a:spcBef>
                <a:spcPts val="112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Humidity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High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25" dirty="0">
                <a:latin typeface="Calibri"/>
                <a:cs typeface="Calibri"/>
              </a:rPr>
              <a:t> No</a:t>
            </a:r>
            <a:endParaRPr sz="2400">
              <a:latin typeface="Calibri"/>
              <a:cs typeface="Calibri"/>
            </a:endParaRPr>
          </a:p>
          <a:p>
            <a:pPr marL="469900" lvl="1" indent="-228600">
              <a:lnSpc>
                <a:spcPct val="100000"/>
              </a:lnSpc>
              <a:spcBef>
                <a:spcPts val="1305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Humidity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Normal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Yes</a:t>
            </a:r>
            <a:endParaRPr sz="2400">
              <a:latin typeface="Calibri"/>
              <a:cs typeface="Calibri"/>
            </a:endParaRPr>
          </a:p>
          <a:p>
            <a:pPr marL="396875" indent="-384175">
              <a:lnSpc>
                <a:spcPct val="100000"/>
              </a:lnSpc>
              <a:spcBef>
                <a:spcPts val="1325"/>
              </a:spcBef>
              <a:buAutoNum type="alphaLcParenBoth" startAt="3"/>
              <a:tabLst>
                <a:tab pos="396875" algn="l"/>
              </a:tabLst>
            </a:pPr>
            <a:r>
              <a:rPr sz="2400" b="1" dirty="0">
                <a:latin typeface="Calibri"/>
                <a:cs typeface="Calibri"/>
              </a:rPr>
              <a:t>Outlook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Rain</a:t>
            </a:r>
            <a:endParaRPr sz="2400">
              <a:latin typeface="Calibri"/>
              <a:cs typeface="Calibri"/>
            </a:endParaRPr>
          </a:p>
          <a:p>
            <a:pPr marL="12700" marR="3096260">
              <a:lnSpc>
                <a:spcPct val="117900"/>
              </a:lnSpc>
              <a:spcBef>
                <a:spcPts val="790"/>
              </a:spcBef>
            </a:pPr>
            <a:r>
              <a:rPr sz="2400" b="1" dirty="0">
                <a:latin typeface="Calibri"/>
                <a:cs typeface="Calibri"/>
              </a:rPr>
              <a:t>Subset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{Day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4,5,6,10,14} </a:t>
            </a:r>
            <a:r>
              <a:rPr sz="2400" b="1" spc="-35" dirty="0">
                <a:latin typeface="Calibri"/>
                <a:cs typeface="Calibri"/>
              </a:rPr>
              <a:t>Target: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3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40" dirty="0">
                <a:latin typeface="Calibri"/>
                <a:cs typeface="Calibri"/>
              </a:rPr>
              <a:t>Yes,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2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No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17500"/>
              </a:lnSpc>
              <a:spcBef>
                <a:spcPts val="15"/>
              </a:spcBef>
            </a:pP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Recurse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using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remaining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attributes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best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split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= </a:t>
            </a:r>
            <a:r>
              <a:rPr sz="2400" b="1" spc="-20" dirty="0">
                <a:latin typeface="Calibri"/>
                <a:cs typeface="Calibri"/>
              </a:rPr>
              <a:t>Wind</a:t>
            </a:r>
            <a:endParaRPr sz="2400">
              <a:latin typeface="Calibri"/>
              <a:cs typeface="Calibri"/>
            </a:endParaRPr>
          </a:p>
          <a:p>
            <a:pPr marL="469900" lvl="1" indent="-228600">
              <a:lnSpc>
                <a:spcPct val="100000"/>
              </a:lnSpc>
              <a:spcBef>
                <a:spcPts val="132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Wind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Weak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Yes</a:t>
            </a:r>
            <a:endParaRPr sz="2400">
              <a:latin typeface="Calibri"/>
              <a:cs typeface="Calibri"/>
            </a:endParaRPr>
          </a:p>
          <a:p>
            <a:pPr marL="469900" lvl="1" indent="-228600">
              <a:lnSpc>
                <a:spcPct val="100000"/>
              </a:lnSpc>
              <a:spcBef>
                <a:spcPts val="131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Wind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Strong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No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2B7637-DECF-21B8-E60C-BB438FDCDE5F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70628043-C7E3-4C98-834D-50974DCBCFBA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B37C2B-0F9E-6469-0B36-64FD6D2F8F9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638743-DE34-E714-F45D-00189565BE2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62889"/>
            <a:ext cx="3361054" cy="215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0" algn="ctr">
              <a:lnSpc>
                <a:spcPct val="1455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v: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Final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Decision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Tree </a:t>
            </a:r>
            <a:r>
              <a:rPr sz="2400" b="1" spc="-10" dirty="0">
                <a:latin typeface="Calibri"/>
                <a:cs typeface="Calibri"/>
              </a:rPr>
              <a:t>[Outlook]</a:t>
            </a:r>
            <a:endParaRPr sz="2400">
              <a:latin typeface="Calibri"/>
              <a:cs typeface="Calibri"/>
            </a:endParaRPr>
          </a:p>
          <a:p>
            <a:pPr marR="373380" algn="ctr">
              <a:lnSpc>
                <a:spcPct val="100000"/>
              </a:lnSpc>
              <a:spcBef>
                <a:spcPts val="1320"/>
              </a:spcBef>
              <a:tabLst>
                <a:tab pos="406400" algn="l"/>
                <a:tab pos="895985" algn="l"/>
              </a:tabLst>
            </a:pPr>
            <a:r>
              <a:rPr sz="2400" b="1" spc="-50" dirty="0">
                <a:latin typeface="Calibri"/>
                <a:cs typeface="Calibri"/>
              </a:rPr>
              <a:t>/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50" dirty="0">
                <a:latin typeface="Calibri"/>
                <a:cs typeface="Calibri"/>
              </a:rPr>
              <a:t>|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50" dirty="0">
                <a:latin typeface="Calibri"/>
                <a:cs typeface="Calibri"/>
              </a:rPr>
              <a:t>\</a:t>
            </a:r>
            <a:endParaRPr sz="2400">
              <a:latin typeface="Calibri"/>
              <a:cs typeface="Calibri"/>
            </a:endParaRPr>
          </a:p>
          <a:p>
            <a:pPr marL="549910" algn="ctr">
              <a:lnSpc>
                <a:spcPct val="100000"/>
              </a:lnSpc>
              <a:spcBef>
                <a:spcPts val="1305"/>
              </a:spcBef>
              <a:tabLst>
                <a:tab pos="1462405" algn="l"/>
                <a:tab pos="2775585" algn="l"/>
              </a:tabLst>
            </a:pPr>
            <a:r>
              <a:rPr sz="2400" b="1" spc="-10" dirty="0">
                <a:latin typeface="Calibri"/>
                <a:cs typeface="Calibri"/>
              </a:rPr>
              <a:t>Sunny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10" dirty="0">
                <a:latin typeface="Calibri"/>
                <a:cs typeface="Calibri"/>
              </a:rPr>
              <a:t>Overcast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0" dirty="0">
                <a:latin typeface="Calibri"/>
                <a:cs typeface="Calibri"/>
              </a:rPr>
              <a:t>Rain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25450" y="2648966"/>
          <a:ext cx="3754120" cy="2434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3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1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465">
                <a:tc>
                  <a:txBody>
                    <a:bodyPr/>
                    <a:lstStyle/>
                    <a:p>
                      <a:pPr marL="581660">
                        <a:lnSpc>
                          <a:spcPts val="2280"/>
                        </a:lnSpc>
                        <a:tabLst>
                          <a:tab pos="1401445" algn="l"/>
                        </a:tabLst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|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ts val="2280"/>
                        </a:lnSpc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\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[Humidity]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[Wind]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marL="30607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781685" algn="l"/>
                        </a:tabLst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\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R="94615" algn="r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269240" algn="l"/>
                        </a:tabLst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\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90"/>
                        </a:spcBef>
                        <a:tabLst>
                          <a:tab pos="812800" algn="l"/>
                        </a:tabLst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Normal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R="3556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Weak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Strong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683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37465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1221740" algn="l"/>
                        </a:tabLst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810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1BE3F-984C-0E7A-68FD-EB5EB898A31A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32233729-D3C2-4DAE-A5C7-F47C2EFAE6F5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C711D-C792-0BA5-A4A0-380390556DE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EDDFE-A1DE-7FFA-8EA4-C0BC30B9805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29259"/>
            <a:ext cx="2623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6.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Advantages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ID3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8629" y="1002029"/>
          <a:ext cx="6912609" cy="4639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8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2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Advantage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282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Simple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2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Intuitive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5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Easy</a:t>
                      </a:r>
                      <a:r>
                        <a:rPr sz="24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4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understand</a:t>
                      </a:r>
                      <a:r>
                        <a:rPr sz="24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and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implement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473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Fast</a:t>
                      </a:r>
                      <a:r>
                        <a:rPr sz="2400" b="1" spc="-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Learning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5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Greedy</a:t>
                      </a:r>
                      <a:r>
                        <a:rPr sz="24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algorithm;</a:t>
                      </a:r>
                      <a:r>
                        <a:rPr sz="24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efficient</a:t>
                      </a:r>
                      <a:r>
                        <a:rPr sz="24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on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small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datasets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346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Works</a:t>
                      </a:r>
                      <a:r>
                        <a:rPr sz="2400" b="1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Well</a:t>
                      </a:r>
                      <a:r>
                        <a:rPr sz="2400" b="1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with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Categorical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Data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Naturally</a:t>
                      </a:r>
                      <a:r>
                        <a:rPr sz="2400" b="1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handles</a:t>
                      </a:r>
                      <a:r>
                        <a:rPr sz="2400" b="1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discrete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features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4094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Produces</a:t>
                      </a:r>
                      <a:r>
                        <a:rPr sz="2400" b="1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Readable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Rules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Output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2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expressed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as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human-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readable</a:t>
                      </a:r>
                      <a:r>
                        <a:rPr sz="24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IF–THEN</a:t>
                      </a:r>
                      <a:r>
                        <a:rPr sz="24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rules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D15F8-8664-0348-5547-A1A870ED77CB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42DB9413-0533-4119-832F-E2F4D0D0B325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3315F-6D80-F891-8D35-07443C48296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EA2CA-E57B-0F21-95CB-637687E15E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29259"/>
            <a:ext cx="1734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7.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Limitations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8629" y="1002029"/>
          <a:ext cx="6912609" cy="5502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6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3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Limitation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282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Overfitting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5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May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produce</a:t>
                      </a:r>
                      <a:r>
                        <a:rPr sz="24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overly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complex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trees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noisy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data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6530">
                <a:tc>
                  <a:txBody>
                    <a:bodyPr/>
                    <a:lstStyle/>
                    <a:p>
                      <a:pPr marL="23495" marR="78105">
                        <a:lnSpc>
                          <a:spcPct val="118000"/>
                        </a:lnSpc>
                        <a:spcBef>
                          <a:spcPts val="125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Biased</a:t>
                      </a:r>
                      <a:r>
                        <a:rPr sz="2400" b="1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toward</a:t>
                      </a:r>
                      <a:r>
                        <a:rPr sz="2400" b="1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Multi-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valued</a:t>
                      </a:r>
                      <a:r>
                        <a:rPr sz="2400" b="1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Attributes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593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Attributes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many</a:t>
                      </a:r>
                      <a:r>
                        <a:rPr sz="2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distinct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 marR="652780">
                        <a:lnSpc>
                          <a:spcPct val="11790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values</a:t>
                      </a:r>
                      <a:r>
                        <a:rPr sz="24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may</a:t>
                      </a:r>
                      <a:r>
                        <a:rPr sz="2400" b="1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appear</a:t>
                      </a:r>
                      <a:r>
                        <a:rPr sz="24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4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have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higher</a:t>
                      </a:r>
                      <a:r>
                        <a:rPr sz="24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IG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462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Cannot</a:t>
                      </a:r>
                      <a:r>
                        <a:rPr sz="24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Handle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495" marR="632460">
                        <a:lnSpc>
                          <a:spcPct val="11790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Continuous</a:t>
                      </a:r>
                      <a:r>
                        <a:rPr sz="2400" b="1" spc="-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Data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Directly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268605">
                        <a:lnSpc>
                          <a:spcPct val="117900"/>
                        </a:lnSpc>
                        <a:spcBef>
                          <a:spcPts val="126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Requires</a:t>
                      </a:r>
                      <a:r>
                        <a:rPr sz="24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discretization</a:t>
                      </a:r>
                      <a:r>
                        <a:rPr sz="24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before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use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60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4094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Sensitive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Data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Changes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Small</a:t>
                      </a:r>
                      <a:r>
                        <a:rPr sz="2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changes</a:t>
                      </a:r>
                      <a:r>
                        <a:rPr sz="2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training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data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may</a:t>
                      </a:r>
                      <a:r>
                        <a:rPr sz="24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alter</a:t>
                      </a:r>
                      <a:r>
                        <a:rPr sz="24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tree</a:t>
                      </a:r>
                      <a:r>
                        <a:rPr sz="24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structure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028DC-49B2-CAF2-B948-9AD5D433FED9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1AD4AA6-DD64-47DA-A0B0-9038F82188C7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9612B-0E3B-7B12-DEF8-345361460DC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D716F-8573-04C9-1DF6-1E2BE279414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29259"/>
            <a:ext cx="2509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8.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Extensions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ID3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8629" y="1002029"/>
          <a:ext cx="6912609" cy="4209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3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Algorithm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Improvement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282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C4.5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(Quinlan,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1993)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Handles</a:t>
                      </a:r>
                      <a:r>
                        <a:rPr sz="2400" b="1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continuous</a:t>
                      </a:r>
                      <a:r>
                        <a:rPr sz="2400" b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data,</a:t>
                      </a:r>
                      <a:r>
                        <a:rPr sz="2400" b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pruning,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4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missing</a:t>
                      </a:r>
                      <a:r>
                        <a:rPr sz="24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values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473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CART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(Breiman,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1984)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Uses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Gini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Index,</a:t>
                      </a:r>
                      <a:r>
                        <a:rPr sz="2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supports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regression,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binary</a:t>
                      </a:r>
                      <a:r>
                        <a:rPr sz="2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splits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346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C5.0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5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Faster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2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memory-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efficient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version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C4.5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44500" y="5532300"/>
            <a:ext cx="6833234" cy="3227070"/>
          </a:xfrm>
          <a:prstGeom prst="rect">
            <a:avLst/>
          </a:prstGeom>
        </p:spPr>
        <p:txBody>
          <a:bodyPr vert="horz" wrap="square" lIns="0" tIns="217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sz="2400" b="1" dirty="0">
                <a:latin typeface="Calibri"/>
                <a:cs typeface="Calibri"/>
              </a:rPr>
              <a:t>9.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Summary</a:t>
            </a:r>
            <a:endParaRPr sz="2400">
              <a:latin typeface="Calibri"/>
              <a:cs typeface="Calibri"/>
            </a:endParaRPr>
          </a:p>
          <a:p>
            <a:pPr marL="12700" marR="326390">
              <a:lnSpc>
                <a:spcPct val="117500"/>
              </a:lnSpc>
              <a:spcBef>
                <a:spcPts val="925"/>
              </a:spcBef>
            </a:pP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ID3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algorithm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builds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decision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trees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by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selecting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attributes </a:t>
            </a:r>
            <a:r>
              <a:rPr sz="2000" b="1" dirty="0">
                <a:latin typeface="Calibri"/>
                <a:cs typeface="Calibri"/>
              </a:rPr>
              <a:t>with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maximum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information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gain,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thus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minimizing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17900"/>
              </a:lnSpc>
              <a:spcBef>
                <a:spcPts val="5"/>
              </a:spcBef>
            </a:pPr>
            <a:r>
              <a:rPr sz="2000" b="1" dirty="0">
                <a:latin typeface="Calibri"/>
                <a:cs typeface="Calibri"/>
              </a:rPr>
              <a:t>uncertainty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classification.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It’s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foundational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evolution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of </a:t>
            </a:r>
            <a:r>
              <a:rPr sz="2000" b="1" dirty="0">
                <a:latin typeface="Calibri"/>
                <a:cs typeface="Calibri"/>
              </a:rPr>
              <a:t>modern</a:t>
            </a:r>
            <a:r>
              <a:rPr sz="2000" b="1" spc="-20" dirty="0">
                <a:latin typeface="Calibri"/>
                <a:cs typeface="Calibri"/>
              </a:rPr>
              <a:t> tree-</a:t>
            </a:r>
            <a:r>
              <a:rPr sz="2000" b="1" dirty="0">
                <a:latin typeface="Calibri"/>
                <a:cs typeface="Calibri"/>
              </a:rPr>
              <a:t>based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learners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such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C4.5,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35" dirty="0">
                <a:latin typeface="Calibri"/>
                <a:cs typeface="Calibri"/>
              </a:rPr>
              <a:t>CART,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Random Forests.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Despite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its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simplicity,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ID3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remains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cornerstone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for </a:t>
            </a:r>
            <a:r>
              <a:rPr sz="2000" b="1" spc="-10" dirty="0">
                <a:latin typeface="Calibri"/>
                <a:cs typeface="Calibri"/>
              </a:rPr>
              <a:t>understanding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how</a:t>
            </a:r>
            <a:r>
              <a:rPr sz="2000" b="1" spc="-25" dirty="0">
                <a:latin typeface="Calibri"/>
                <a:cs typeface="Calibri"/>
              </a:rPr>
              <a:t> entropy-</a:t>
            </a:r>
            <a:r>
              <a:rPr sz="2000" b="1" dirty="0">
                <a:latin typeface="Calibri"/>
                <a:cs typeface="Calibri"/>
              </a:rPr>
              <a:t>driven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learning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works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AI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20" dirty="0">
                <a:latin typeface="Calibri"/>
                <a:cs typeface="Calibri"/>
              </a:rPr>
              <a:t> data </a:t>
            </a:r>
            <a:r>
              <a:rPr sz="2000" b="1" spc="-10" dirty="0">
                <a:latin typeface="Calibri"/>
                <a:cs typeface="Calibri"/>
              </a:rPr>
              <a:t>mining.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BD453-8D8A-6024-E18B-CD7C25C4D52A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512BCDA6-E84E-418A-AF9D-38068B680EFA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634BD-13C6-29FF-D894-18AA1A19A75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304E5-96E7-47BB-3759-598BA4753AE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62889"/>
            <a:ext cx="6861809" cy="5604510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400" b="1" dirty="0">
                <a:latin typeface="Calibri"/>
                <a:cs typeface="Calibri"/>
              </a:rPr>
              <a:t>C4.5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Algorithm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2400" b="1" dirty="0">
                <a:latin typeface="Calibri"/>
                <a:cs typeface="Calibri"/>
              </a:rPr>
              <a:t>1.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Introduction</a:t>
            </a:r>
            <a:endParaRPr sz="2400">
              <a:latin typeface="Calibri"/>
              <a:cs typeface="Calibri"/>
            </a:endParaRPr>
          </a:p>
          <a:p>
            <a:pPr marL="12700" marR="67310">
              <a:lnSpc>
                <a:spcPct val="117900"/>
              </a:lnSpc>
              <a:spcBef>
                <a:spcPts val="805"/>
              </a:spcBef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C4.5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algorithm,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proposed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by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Ross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Quinlan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(1993),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extension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ID3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(Iterative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Dichotomiser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3) </a:t>
            </a:r>
            <a:r>
              <a:rPr sz="2400" b="1" spc="-10" dirty="0">
                <a:latin typeface="Calibri"/>
                <a:cs typeface="Calibri"/>
              </a:rPr>
              <a:t>algorithm.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400" b="1" dirty="0">
                <a:latin typeface="Calibri"/>
                <a:cs typeface="Calibri"/>
              </a:rPr>
              <a:t>It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improves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upon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ID3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by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overcoming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its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limitations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—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17900"/>
              </a:lnSpc>
              <a:spcBef>
                <a:spcPts val="5"/>
              </a:spcBef>
            </a:pPr>
            <a:r>
              <a:rPr sz="2400" b="1" dirty="0">
                <a:latin typeface="Calibri"/>
                <a:cs typeface="Calibri"/>
              </a:rPr>
              <a:t>especially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its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inability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handle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continuous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attributes, </a:t>
            </a:r>
            <a:r>
              <a:rPr sz="2400" b="1" dirty="0">
                <a:latin typeface="Calibri"/>
                <a:cs typeface="Calibri"/>
              </a:rPr>
              <a:t>missing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values,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overfitting.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2400" b="1" dirty="0">
                <a:latin typeface="Calibri"/>
                <a:cs typeface="Calibri"/>
              </a:rPr>
              <a:t>C4.5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most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influential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algorithms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for</a:t>
            </a:r>
            <a:endParaRPr sz="2400">
              <a:latin typeface="Calibri"/>
              <a:cs typeface="Calibri"/>
            </a:endParaRPr>
          </a:p>
          <a:p>
            <a:pPr marL="12700" marR="273050">
              <a:lnSpc>
                <a:spcPct val="117900"/>
              </a:lnSpc>
            </a:pPr>
            <a:r>
              <a:rPr sz="2400" b="1" dirty="0">
                <a:latin typeface="Calibri"/>
                <a:cs typeface="Calibri"/>
              </a:rPr>
              <a:t>building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decision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trees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forms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foundation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of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C5.0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Random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Forest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algorithms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widely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used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machine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learning.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71597A-781B-323A-9501-ED141107911A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DA7AC7F4-24B9-4705-A3DB-3B347C124FE8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7D4D9-51F3-EAE6-7F2E-D66AFCBBADB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8D00-ECA3-6EBA-F544-C812BDCDE45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29259"/>
            <a:ext cx="2891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2.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Key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Features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C4.5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8629" y="1002030"/>
          <a:ext cx="6912609" cy="72510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Feature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66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Type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Supervised</a:t>
                      </a:r>
                      <a:r>
                        <a:rPr sz="24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learning</a:t>
                      </a:r>
                      <a:r>
                        <a:rPr sz="24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(classification)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Input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Training</a:t>
                      </a:r>
                      <a:r>
                        <a:rPr sz="24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dataset</a:t>
                      </a:r>
                      <a:r>
                        <a:rPr sz="24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24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both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130" marR="1226820">
                        <a:lnSpc>
                          <a:spcPts val="3400"/>
                        </a:lnSpc>
                        <a:spcBef>
                          <a:spcPts val="20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continuous</a:t>
                      </a:r>
                      <a:r>
                        <a:rPr sz="24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400" b="1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categorical attributes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346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5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decision</a:t>
                      </a:r>
                      <a:r>
                        <a:rPr sz="2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tree</a:t>
                      </a:r>
                      <a:r>
                        <a:rPr sz="2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(or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2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rules)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for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classification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473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Splitting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Criterion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Gain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Ratio</a:t>
                      </a:r>
                      <a:r>
                        <a:rPr sz="2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(a</a:t>
                      </a:r>
                      <a:r>
                        <a:rPr sz="2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normalized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form</a:t>
                      </a:r>
                      <a:r>
                        <a:rPr sz="2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of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Information</a:t>
                      </a:r>
                      <a:r>
                        <a:rPr sz="2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Gain)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473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Handling</a:t>
                      </a:r>
                      <a:r>
                        <a:rPr sz="24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of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Missing</a:t>
                      </a:r>
                      <a:r>
                        <a:rPr sz="2400" b="1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Values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Probabilistic</a:t>
                      </a:r>
                      <a:r>
                        <a:rPr sz="24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splitting</a:t>
                      </a:r>
                      <a:r>
                        <a:rPr sz="24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4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records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24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missing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attribute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values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66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Pruning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40" dirty="0">
                          <a:latin typeface="Calibri"/>
                          <a:cs typeface="Calibri"/>
                        </a:rPr>
                        <a:t>Post-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pruning</a:t>
                      </a:r>
                      <a:r>
                        <a:rPr sz="2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reduce</a:t>
                      </a:r>
                      <a:r>
                        <a:rPr sz="2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overfitting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14094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Output</a:t>
                      </a:r>
                      <a:r>
                        <a:rPr sz="24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Format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5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Human-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readable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decision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tree</a:t>
                      </a:r>
                      <a:r>
                        <a:rPr sz="2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if–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then</a:t>
                      </a:r>
                      <a:r>
                        <a:rPr sz="2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rule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set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4CBCC-C8B0-8F2F-3E3C-05520A28570A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F7AAFE08-677A-442F-8C77-5EBA04911A54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BBD52-401D-384D-28F6-C2CF70B8BE2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5AEFD-6811-5DFB-1054-51F93B1C6E7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961390"/>
            <a:ext cx="5766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3.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Motivation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—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Why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C4.5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Improves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Over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ID3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8629" y="1535683"/>
          <a:ext cx="6912609" cy="60839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8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1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Limitation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ID3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Solution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C4.5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473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Handles</a:t>
                      </a:r>
                      <a:r>
                        <a:rPr sz="2400" b="1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only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categorical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data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Handles</a:t>
                      </a:r>
                      <a:r>
                        <a:rPr sz="2400" b="1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continuous</a:t>
                      </a:r>
                      <a:r>
                        <a:rPr sz="2400" b="1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(numeric)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attributes</a:t>
                      </a:r>
                      <a:r>
                        <a:rPr sz="2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via</a:t>
                      </a:r>
                      <a:r>
                        <a:rPr sz="2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thresholding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462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Bias</a:t>
                      </a:r>
                      <a:r>
                        <a:rPr sz="2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toward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495" marR="141605">
                        <a:lnSpc>
                          <a:spcPct val="117900"/>
                        </a:lnSpc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attributes</a:t>
                      </a:r>
                      <a:r>
                        <a:rPr sz="2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2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many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values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675005">
                        <a:lnSpc>
                          <a:spcPct val="117900"/>
                        </a:lnSpc>
                        <a:spcBef>
                          <a:spcPts val="126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Uses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Gain</a:t>
                      </a:r>
                      <a:r>
                        <a:rPr sz="24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Ratio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instead</a:t>
                      </a:r>
                      <a:r>
                        <a:rPr sz="24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plain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Information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Gain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60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473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Overfitting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5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Performs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post-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pruning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using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error-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 estimates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346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Missing</a:t>
                      </a:r>
                      <a:r>
                        <a:rPr sz="2400" b="1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values</a:t>
                      </a:r>
                      <a:r>
                        <a:rPr sz="2400" b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cause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errors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Handles</a:t>
                      </a:r>
                      <a:r>
                        <a:rPr sz="2400" b="1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missing</a:t>
                      </a:r>
                      <a:r>
                        <a:rPr sz="2400" b="1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attribute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values</a:t>
                      </a:r>
                      <a:r>
                        <a:rPr sz="2400" b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probabilistically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4094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rule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2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5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Converts</a:t>
                      </a:r>
                      <a:r>
                        <a:rPr sz="24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tree</a:t>
                      </a:r>
                      <a:r>
                        <a:rPr sz="24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into</a:t>
                      </a:r>
                      <a:r>
                        <a:rPr sz="24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an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optimized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if–then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rule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set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F672E-9ED5-47A9-9C94-D8B58E850D61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4DE2CF2E-93C2-496F-8844-6DB94A13C733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8D38A-2CC3-36D7-F57B-011A094A883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CEED9-008B-9E6D-4439-96036FDC576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62889"/>
            <a:ext cx="3923665" cy="2891790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314325" indent="-301625">
              <a:lnSpc>
                <a:spcPct val="100000"/>
              </a:lnSpc>
              <a:spcBef>
                <a:spcPts val="1410"/>
              </a:spcBef>
              <a:buAutoNum type="arabicPeriod" startAt="4"/>
              <a:tabLst>
                <a:tab pos="314325" algn="l"/>
              </a:tabLst>
            </a:pPr>
            <a:r>
              <a:rPr sz="2400" b="1" dirty="0">
                <a:latin typeface="Calibri"/>
                <a:cs typeface="Calibri"/>
              </a:rPr>
              <a:t>Core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Concepts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Formulas</a:t>
            </a:r>
            <a:endParaRPr sz="2400">
              <a:latin typeface="Calibri"/>
              <a:cs typeface="Calibri"/>
            </a:endParaRPr>
          </a:p>
          <a:p>
            <a:pPr marL="467995" lvl="1" indent="-455295">
              <a:lnSpc>
                <a:spcPct val="100000"/>
              </a:lnSpc>
              <a:spcBef>
                <a:spcPts val="1310"/>
              </a:spcBef>
              <a:buAutoNum type="arabicPeriod"/>
              <a:tabLst>
                <a:tab pos="467995" algn="l"/>
              </a:tabLst>
            </a:pPr>
            <a:r>
              <a:rPr sz="2400" b="1" spc="-10" dirty="0">
                <a:latin typeface="Calibri"/>
                <a:cs typeface="Calibri"/>
              </a:rPr>
              <a:t>Entropy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400" b="1" dirty="0">
                <a:latin typeface="Calibri"/>
                <a:cs typeface="Calibri"/>
              </a:rPr>
              <a:t>Same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as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ID3:</a:t>
            </a:r>
            <a:endParaRPr sz="2400">
              <a:latin typeface="Calibri"/>
              <a:cs typeface="Calibri"/>
            </a:endParaRPr>
          </a:p>
          <a:p>
            <a:pPr marL="3441065" algn="ctr">
              <a:lnSpc>
                <a:spcPct val="100000"/>
              </a:lnSpc>
              <a:spcBef>
                <a:spcPts val="1250"/>
              </a:spcBef>
            </a:pPr>
            <a:r>
              <a:rPr sz="1750" spc="-50" dirty="0">
                <a:latin typeface="Cambria Math"/>
                <a:cs typeface="Cambria Math"/>
              </a:rPr>
              <a:t>𝒌</a:t>
            </a:r>
            <a:endParaRPr sz="1750">
              <a:latin typeface="Cambria Math"/>
              <a:cs typeface="Cambria Math"/>
            </a:endParaRPr>
          </a:p>
          <a:p>
            <a:pPr marL="1141730">
              <a:lnSpc>
                <a:spcPct val="100000"/>
              </a:lnSpc>
              <a:spcBef>
                <a:spcPts val="825"/>
              </a:spcBef>
            </a:pPr>
            <a:r>
              <a:rPr sz="2400" dirty="0">
                <a:latin typeface="Cambria Math"/>
                <a:cs typeface="Cambria Math"/>
              </a:rPr>
              <a:t>𝑬𝒏𝒕𝒓𝒐𝒑𝒚(𝑺)</a:t>
            </a:r>
            <a:r>
              <a:rPr sz="2400" spc="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8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1425" dirty="0">
                <a:latin typeface="Cambria Math"/>
                <a:cs typeface="Cambria Math"/>
              </a:rPr>
              <a:t>∑</a:t>
            </a:r>
            <a:endParaRPr sz="2400">
              <a:latin typeface="Cambria Math"/>
              <a:cs typeface="Cambria Math"/>
            </a:endParaRPr>
          </a:p>
          <a:p>
            <a:pPr marL="3441700" algn="ctr">
              <a:lnSpc>
                <a:spcPct val="100000"/>
              </a:lnSpc>
              <a:spcBef>
                <a:spcPts val="830"/>
              </a:spcBef>
            </a:pPr>
            <a:r>
              <a:rPr sz="1750" spc="-25" dirty="0">
                <a:latin typeface="Cambria Math"/>
                <a:cs typeface="Cambria Math"/>
              </a:rPr>
              <a:t>𝒊=𝟏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73472" y="2390902"/>
            <a:ext cx="1551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𝒑</a:t>
            </a:r>
            <a:r>
              <a:rPr sz="2625" baseline="-15873" dirty="0">
                <a:latin typeface="Cambria Math"/>
                <a:cs typeface="Cambria Math"/>
              </a:rPr>
              <a:t>𝒊</a:t>
            </a:r>
            <a:r>
              <a:rPr sz="2400" dirty="0">
                <a:latin typeface="Cambria Math"/>
                <a:cs typeface="Cambria Math"/>
              </a:rPr>
              <a:t>𝐥𝐨𝐠</a:t>
            </a:r>
            <a:r>
              <a:rPr sz="2400" spc="65" dirty="0">
                <a:latin typeface="Cambria Math"/>
                <a:cs typeface="Cambria Math"/>
              </a:rPr>
              <a:t> </a:t>
            </a:r>
            <a:r>
              <a:rPr sz="2625" spc="-30" baseline="-15873" dirty="0">
                <a:latin typeface="Cambria Math"/>
                <a:cs typeface="Cambria Math"/>
              </a:rPr>
              <a:t>𝟐</a:t>
            </a:r>
            <a:r>
              <a:rPr sz="2400" spc="-20" dirty="0">
                <a:latin typeface="Cambria Math"/>
                <a:cs typeface="Cambria Math"/>
              </a:rPr>
              <a:t>(𝒑</a:t>
            </a:r>
            <a:r>
              <a:rPr sz="2625" spc="-30" baseline="-15873" dirty="0">
                <a:latin typeface="Cambria Math"/>
                <a:cs typeface="Cambria Math"/>
              </a:rPr>
              <a:t>𝒊</a:t>
            </a:r>
            <a:r>
              <a:rPr sz="2400" spc="-20" dirty="0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6400" y="3128898"/>
            <a:ext cx="6864350" cy="2404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where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𝒑</a:t>
            </a:r>
            <a:r>
              <a:rPr sz="2625" baseline="-15873" dirty="0">
                <a:latin typeface="Cambria Math"/>
                <a:cs typeface="Cambria Math"/>
              </a:rPr>
              <a:t>𝒊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proportion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samples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belonging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class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𝒊</a:t>
            </a:r>
            <a:r>
              <a:rPr sz="2400" b="1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75"/>
              </a:spcBef>
            </a:pPr>
            <a:endParaRPr sz="24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4.2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Information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(IG)</a:t>
            </a:r>
            <a:endParaRPr sz="2400">
              <a:latin typeface="Calibri"/>
              <a:cs typeface="Calibri"/>
            </a:endParaRPr>
          </a:p>
          <a:p>
            <a:pPr marL="598170">
              <a:lnSpc>
                <a:spcPct val="100000"/>
              </a:lnSpc>
              <a:spcBef>
                <a:spcPts val="1320"/>
              </a:spcBef>
            </a:pPr>
            <a:r>
              <a:rPr sz="2400" spc="-20" dirty="0">
                <a:latin typeface="Cambria Math"/>
                <a:cs typeface="Cambria Math"/>
              </a:rPr>
              <a:t>𝑰𝑮(𝑺,</a:t>
            </a:r>
            <a:r>
              <a:rPr sz="2400" spc="-9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𝑨)</a:t>
            </a:r>
            <a:endParaRPr sz="2400">
              <a:latin typeface="Cambria Math"/>
              <a:cs typeface="Cambria Math"/>
            </a:endParaRPr>
          </a:p>
          <a:p>
            <a:pPr marL="1512570">
              <a:lnSpc>
                <a:spcPct val="100000"/>
              </a:lnSpc>
              <a:spcBef>
                <a:spcPts val="390"/>
              </a:spcBef>
            </a:pP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𝑬𝒏𝒕𝒓𝒐𝒑𝒚(𝑺)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6270" y="5601811"/>
            <a:ext cx="1668145" cy="907415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  <a:tabLst>
                <a:tab pos="779145" algn="l"/>
              </a:tabLst>
            </a:pPr>
            <a:r>
              <a:rPr sz="2400" spc="-50" dirty="0">
                <a:latin typeface="Cambria Math"/>
                <a:cs typeface="Cambria Math"/>
              </a:rPr>
              <a:t>−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1425" dirty="0">
                <a:latin typeface="Cambria Math"/>
                <a:cs typeface="Cambria Math"/>
              </a:rPr>
              <a:t>∑</a:t>
            </a:r>
            <a:endParaRPr sz="2400">
              <a:latin typeface="Cambria Math"/>
              <a:cs typeface="Cambria Math"/>
            </a:endParaRPr>
          </a:p>
          <a:p>
            <a:pPr marL="307975">
              <a:lnSpc>
                <a:spcPct val="100000"/>
              </a:lnSpc>
              <a:spcBef>
                <a:spcPts val="830"/>
              </a:spcBef>
            </a:pPr>
            <a:r>
              <a:rPr sz="1750" spc="-10" dirty="0">
                <a:latin typeface="Cambria Math"/>
                <a:cs typeface="Cambria Math"/>
              </a:rPr>
              <a:t>𝒗∈𝑽𝒂𝒍𝒖𝒆𝒔(𝑨)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5201" y="5660517"/>
            <a:ext cx="15938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/>
                <a:cs typeface="Cambria Math"/>
              </a:rPr>
              <a:t>𝒗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28998" y="5515736"/>
            <a:ext cx="6927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9915" algn="l"/>
              </a:tabLst>
            </a:pPr>
            <a:r>
              <a:rPr sz="2400" dirty="0">
                <a:latin typeface="Cambria Math"/>
                <a:cs typeface="Cambria Math"/>
              </a:rPr>
              <a:t>∣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𝑺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2151" y="5950077"/>
            <a:ext cx="546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∣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𝑺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41698" y="5967348"/>
            <a:ext cx="668020" cy="20320"/>
          </a:xfrm>
          <a:custGeom>
            <a:avLst/>
            <a:gdLst/>
            <a:ahLst/>
            <a:cxnLst/>
            <a:rect l="l" t="t" r="r" b="b"/>
            <a:pathLst>
              <a:path w="668020" h="20320">
                <a:moveTo>
                  <a:pt x="667816" y="0"/>
                </a:moveTo>
                <a:lnTo>
                  <a:pt x="0" y="0"/>
                </a:lnTo>
                <a:lnTo>
                  <a:pt x="0" y="19812"/>
                </a:lnTo>
                <a:lnTo>
                  <a:pt x="667816" y="19812"/>
                </a:lnTo>
                <a:lnTo>
                  <a:pt x="6678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483858" y="5890641"/>
            <a:ext cx="15938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/>
                <a:cs typeface="Cambria Math"/>
              </a:rPr>
              <a:t>𝒗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63821" y="5745860"/>
            <a:ext cx="2118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78660" algn="l"/>
              </a:tabLst>
            </a:pPr>
            <a:r>
              <a:rPr sz="2400" dirty="0">
                <a:latin typeface="Cambria Math"/>
                <a:cs typeface="Cambria Math"/>
              </a:rPr>
              <a:t>× </a:t>
            </a:r>
            <a:r>
              <a:rPr sz="2400" spc="-10" dirty="0">
                <a:latin typeface="Cambria Math"/>
                <a:cs typeface="Cambria Math"/>
              </a:rPr>
              <a:t>𝑬𝒏𝒕𝒓𝒐𝒑𝒚(𝑺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4500" y="6998207"/>
            <a:ext cx="6258560" cy="131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100"/>
              </a:spcBef>
            </a:pPr>
            <a:r>
              <a:rPr sz="2400" b="1" spc="-25" dirty="0">
                <a:latin typeface="Calibri"/>
                <a:cs typeface="Calibri"/>
              </a:rPr>
              <a:t>However,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ID3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tends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favor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attributes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with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many </a:t>
            </a:r>
            <a:r>
              <a:rPr sz="2400" b="1" dirty="0">
                <a:latin typeface="Calibri"/>
                <a:cs typeface="Calibri"/>
              </a:rPr>
              <a:t>distinct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values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(like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“ID”).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2400" b="1" spc="-80" dirty="0">
                <a:latin typeface="Calibri"/>
                <a:cs typeface="Calibri"/>
              </a:rPr>
              <a:t>To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fix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this,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C4.5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introduces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Ratio.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6F7277E9-AFDC-00F7-6DD6-8F6096C1A70F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8A3059AD-B123-48B6-8E0F-B00BA01D76A7}" type="datetime1">
              <a:rPr lang="en-US" smtClean="0"/>
              <a:t>10/13/2025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86F7787-3506-4ABE-2DFA-B15A4A8407F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200577B-FBD4-7909-2F83-9AAB019DCD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792226"/>
            <a:ext cx="2676525" cy="1095375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2400" b="1" dirty="0">
                <a:latin typeface="Calibri"/>
                <a:cs typeface="Calibri"/>
              </a:rPr>
              <a:t>4.3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Split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Information</a:t>
            </a:r>
            <a:endParaRPr sz="2400">
              <a:latin typeface="Calibri"/>
              <a:cs typeface="Calibri"/>
            </a:endParaRPr>
          </a:p>
          <a:p>
            <a:pPr marL="529590">
              <a:lnSpc>
                <a:spcPct val="100000"/>
              </a:lnSpc>
              <a:spcBef>
                <a:spcPts val="1330"/>
              </a:spcBef>
            </a:pPr>
            <a:r>
              <a:rPr sz="2400" spc="-20" dirty="0">
                <a:latin typeface="Cambria Math"/>
                <a:cs typeface="Cambria Math"/>
              </a:rPr>
              <a:t>𝑺𝒑𝒍𝒊𝒕𝑰𝒏𝒇𝒐(𝑺,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𝑨)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75789" y="1957293"/>
            <a:ext cx="1962785" cy="907415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  <a:tabLst>
                <a:tab pos="1073150" algn="l"/>
              </a:tabLst>
            </a:pP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−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1425" dirty="0">
                <a:latin typeface="Cambria Math"/>
                <a:cs typeface="Cambria Math"/>
              </a:rPr>
              <a:t>∑</a:t>
            </a:r>
            <a:endParaRPr sz="2400">
              <a:latin typeface="Cambria Math"/>
              <a:cs typeface="Cambria Math"/>
            </a:endParaRPr>
          </a:p>
          <a:p>
            <a:pPr marL="602615">
              <a:lnSpc>
                <a:spcPct val="100000"/>
              </a:lnSpc>
              <a:spcBef>
                <a:spcPts val="830"/>
              </a:spcBef>
            </a:pPr>
            <a:r>
              <a:rPr sz="1750" spc="-10" dirty="0">
                <a:latin typeface="Cambria Math"/>
                <a:cs typeface="Cambria Math"/>
              </a:rPr>
              <a:t>𝒗∈𝑽𝒂𝒍𝒖𝒆𝒔(𝑨)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05604" y="2322829"/>
            <a:ext cx="668020" cy="20320"/>
          </a:xfrm>
          <a:custGeom>
            <a:avLst/>
            <a:gdLst/>
            <a:ahLst/>
            <a:cxnLst/>
            <a:rect l="l" t="t" r="r" b="b"/>
            <a:pathLst>
              <a:path w="668020" h="20319">
                <a:moveTo>
                  <a:pt x="667512" y="0"/>
                </a:moveTo>
                <a:lnTo>
                  <a:pt x="0" y="0"/>
                </a:lnTo>
                <a:lnTo>
                  <a:pt x="0" y="19811"/>
                </a:lnTo>
                <a:lnTo>
                  <a:pt x="667512" y="19811"/>
                </a:lnTo>
                <a:lnTo>
                  <a:pt x="6675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07353" y="2322829"/>
            <a:ext cx="668020" cy="20320"/>
          </a:xfrm>
          <a:custGeom>
            <a:avLst/>
            <a:gdLst/>
            <a:ahLst/>
            <a:cxnLst/>
            <a:rect l="l" t="t" r="r" b="b"/>
            <a:pathLst>
              <a:path w="668020" h="20319">
                <a:moveTo>
                  <a:pt x="667511" y="0"/>
                </a:moveTo>
                <a:lnTo>
                  <a:pt x="0" y="0"/>
                </a:lnTo>
                <a:lnTo>
                  <a:pt x="0" y="19811"/>
                </a:lnTo>
                <a:lnTo>
                  <a:pt x="667511" y="19811"/>
                </a:lnTo>
                <a:lnTo>
                  <a:pt x="6675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42104" y="1802638"/>
            <a:ext cx="2722880" cy="8940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40"/>
              </a:spcBef>
              <a:tabLst>
                <a:tab pos="1864995" algn="l"/>
              </a:tabLst>
            </a:pPr>
            <a:r>
              <a:rPr sz="2400" dirty="0">
                <a:latin typeface="Cambria Math"/>
                <a:cs typeface="Cambria Math"/>
              </a:rPr>
              <a:t>∣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𝑺</a:t>
            </a:r>
            <a:r>
              <a:rPr sz="2625" baseline="-15873" dirty="0">
                <a:latin typeface="Cambria Math"/>
                <a:cs typeface="Cambria Math"/>
              </a:rPr>
              <a:t>𝒗</a:t>
            </a:r>
            <a:r>
              <a:rPr sz="2625" spc="54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∣</a:t>
            </a:r>
            <a:r>
              <a:rPr sz="2400" spc="10" dirty="0">
                <a:latin typeface="Cambria Math"/>
                <a:cs typeface="Cambria Math"/>
              </a:rPr>
              <a:t> </a:t>
            </a:r>
            <a:r>
              <a:rPr sz="3600" baseline="-41666" dirty="0">
                <a:latin typeface="Cambria Math"/>
                <a:cs typeface="Cambria Math"/>
              </a:rPr>
              <a:t>×</a:t>
            </a:r>
            <a:r>
              <a:rPr sz="3600" spc="-7" baseline="-41666" dirty="0">
                <a:latin typeface="Cambria Math"/>
                <a:cs typeface="Cambria Math"/>
              </a:rPr>
              <a:t> </a:t>
            </a:r>
            <a:r>
              <a:rPr sz="3600" spc="-37" baseline="-41666" dirty="0">
                <a:latin typeface="Cambria Math"/>
                <a:cs typeface="Cambria Math"/>
              </a:rPr>
              <a:t>𝐥𝐨𝐠</a:t>
            </a:r>
            <a:r>
              <a:rPr sz="3600" baseline="-41666" dirty="0"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∣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𝑺</a:t>
            </a:r>
            <a:r>
              <a:rPr sz="2625" baseline="-15873" dirty="0">
                <a:latin typeface="Cambria Math"/>
                <a:cs typeface="Cambria Math"/>
              </a:rPr>
              <a:t>𝒗</a:t>
            </a:r>
            <a:r>
              <a:rPr sz="2625" spc="562" baseline="-15873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∣</a:t>
            </a:r>
            <a:r>
              <a:rPr sz="3600" spc="-37" baseline="-41666" dirty="0">
                <a:latin typeface="Cambria Math"/>
                <a:cs typeface="Cambria Math"/>
              </a:rPr>
              <a:t>)</a:t>
            </a:r>
            <a:endParaRPr sz="3600" baseline="-41666">
              <a:latin typeface="Cambria Math"/>
              <a:cs typeface="Cambria Math"/>
            </a:endParaRPr>
          </a:p>
          <a:p>
            <a:pPr marL="136525">
              <a:lnSpc>
                <a:spcPct val="100000"/>
              </a:lnSpc>
              <a:spcBef>
                <a:spcPts val="540"/>
              </a:spcBef>
              <a:tabLst>
                <a:tab pos="1593215" algn="l"/>
              </a:tabLst>
            </a:pPr>
            <a:r>
              <a:rPr sz="2400" dirty="0">
                <a:latin typeface="Cambria Math"/>
                <a:cs typeface="Cambria Math"/>
              </a:rPr>
              <a:t>∣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𝑺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∣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625" baseline="34920" dirty="0">
                <a:latin typeface="Cambria Math"/>
                <a:cs typeface="Cambria Math"/>
              </a:rPr>
              <a:t>𝟐</a:t>
            </a:r>
            <a:r>
              <a:rPr sz="3600" baseline="37037" dirty="0">
                <a:latin typeface="Cambria Math"/>
                <a:cs typeface="Cambria Math"/>
              </a:rPr>
              <a:t>(</a:t>
            </a:r>
            <a:r>
              <a:rPr sz="3600" spc="89" baseline="37037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∣</a:t>
            </a:r>
            <a:r>
              <a:rPr sz="2400" spc="15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𝑺</a:t>
            </a:r>
            <a:r>
              <a:rPr sz="2400" spc="16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500" y="3351402"/>
            <a:ext cx="6375400" cy="1951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9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This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measures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how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broadly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attribute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splits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the </a:t>
            </a:r>
            <a:r>
              <a:rPr sz="2400" b="1" spc="-10" dirty="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65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4.4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Ratio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(GR)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9714" y="5646801"/>
            <a:ext cx="1496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𝑮𝑹(𝑺,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𝑨)</a:t>
            </a:r>
            <a:r>
              <a:rPr sz="2400" spc="15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1878" y="5416677"/>
            <a:ext cx="1104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𝑰𝑮(𝑺,</a:t>
            </a:r>
            <a:r>
              <a:rPr sz="2400" spc="-9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𝑨)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84575" y="5851016"/>
            <a:ext cx="2159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 Math"/>
                <a:cs typeface="Cambria Math"/>
              </a:rPr>
              <a:t>𝑺𝒑𝒍𝒊𝒕𝑰𝒏𝒇𝒐(𝑺,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𝑨)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97275" y="5868289"/>
            <a:ext cx="2134235" cy="20320"/>
          </a:xfrm>
          <a:custGeom>
            <a:avLst/>
            <a:gdLst/>
            <a:ahLst/>
            <a:cxnLst/>
            <a:rect l="l" t="t" r="r" b="b"/>
            <a:pathLst>
              <a:path w="2134235" h="20320">
                <a:moveTo>
                  <a:pt x="2133854" y="0"/>
                </a:moveTo>
                <a:lnTo>
                  <a:pt x="0" y="0"/>
                </a:lnTo>
                <a:lnTo>
                  <a:pt x="0" y="19812"/>
                </a:lnTo>
                <a:lnTo>
                  <a:pt x="2133854" y="19812"/>
                </a:lnTo>
                <a:lnTo>
                  <a:pt x="21338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44500" y="6730365"/>
            <a:ext cx="6595745" cy="1320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8000"/>
              </a:lnSpc>
              <a:spcBef>
                <a:spcPts val="95"/>
              </a:spcBef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attribute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with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highest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Ratio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selected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splitting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(provided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Information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above average).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E5A9A74-2D71-88B4-64E4-D9960C76B890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9AEEC482-1195-4F25-B6E6-6C552C3B61F9}" type="datetime1">
              <a:rPr lang="en-US" smtClean="0"/>
              <a:t>10/13/2025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59B2D655-530A-A280-5208-EB731AF7DE9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F45BF67-0193-7C2B-BAD5-45326BA8350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62889"/>
            <a:ext cx="6804025" cy="8040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181350">
              <a:lnSpc>
                <a:spcPct val="1455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4.5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Continuous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Attributes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numeric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attributes,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C4.5:</a:t>
            </a:r>
            <a:endParaRPr sz="2400">
              <a:latin typeface="Calibri"/>
              <a:cs typeface="Calibri"/>
            </a:endParaRPr>
          </a:p>
          <a:p>
            <a:pPr marL="927100" indent="-685800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927100" algn="l"/>
              </a:tabLst>
            </a:pPr>
            <a:r>
              <a:rPr sz="2400" b="1" dirty="0">
                <a:latin typeface="Calibri"/>
                <a:cs typeface="Calibri"/>
              </a:rPr>
              <a:t>Sorts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all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samples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based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attribute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value.</a:t>
            </a:r>
            <a:endParaRPr sz="2400">
              <a:latin typeface="Calibri"/>
              <a:cs typeface="Calibri"/>
            </a:endParaRPr>
          </a:p>
          <a:p>
            <a:pPr marL="469900" marR="805180" indent="-229235">
              <a:lnSpc>
                <a:spcPct val="117900"/>
              </a:lnSpc>
              <a:spcBef>
                <a:spcPts val="790"/>
              </a:spcBef>
              <a:buAutoNum type="arabicPeriod"/>
              <a:tabLst>
                <a:tab pos="469900" algn="l"/>
                <a:tab pos="927100" algn="l"/>
              </a:tabLst>
            </a:pPr>
            <a:r>
              <a:rPr sz="2400" b="1" spc="-20" dirty="0">
                <a:latin typeface="Calibri"/>
                <a:cs typeface="Calibri"/>
              </a:rPr>
              <a:t>	Evaluates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potential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split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points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between consecutive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values.</a:t>
            </a:r>
            <a:endParaRPr sz="2400">
              <a:latin typeface="Calibri"/>
              <a:cs typeface="Calibri"/>
            </a:endParaRPr>
          </a:p>
          <a:p>
            <a:pPr marL="469900" marR="930910" indent="-229235">
              <a:lnSpc>
                <a:spcPct val="117500"/>
              </a:lnSpc>
              <a:spcBef>
                <a:spcPts val="819"/>
              </a:spcBef>
              <a:buAutoNum type="arabicPeriod"/>
              <a:tabLst>
                <a:tab pos="469900" algn="l"/>
                <a:tab pos="927100" algn="l"/>
              </a:tabLst>
            </a:pPr>
            <a:r>
              <a:rPr sz="2400" b="1" dirty="0">
                <a:latin typeface="Calibri"/>
                <a:cs typeface="Calibri"/>
              </a:rPr>
              <a:t>	Chooses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threshold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𝒕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maximizes Information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Gain.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split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condition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becomes:</a:t>
            </a:r>
            <a:endParaRPr sz="2400">
              <a:latin typeface="Calibri"/>
              <a:cs typeface="Calibri"/>
            </a:endParaRPr>
          </a:p>
          <a:p>
            <a:pPr marL="1734820">
              <a:lnSpc>
                <a:spcPct val="100000"/>
              </a:lnSpc>
              <a:spcBef>
                <a:spcPts val="515"/>
              </a:spcBef>
            </a:pP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≤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&gt;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2400" b="1" dirty="0">
                <a:latin typeface="Calibri"/>
                <a:cs typeface="Calibri"/>
              </a:rPr>
              <a:t>4.6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Pruning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400" b="1" dirty="0">
                <a:latin typeface="Calibri"/>
                <a:cs typeface="Calibri"/>
              </a:rPr>
              <a:t>C4.5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uses</a:t>
            </a:r>
            <a:r>
              <a:rPr sz="2400" b="1" spc="-35" dirty="0">
                <a:latin typeface="Calibri"/>
                <a:cs typeface="Calibri"/>
              </a:rPr>
              <a:t> post-</a:t>
            </a:r>
            <a:r>
              <a:rPr sz="2400" b="1" dirty="0">
                <a:latin typeface="Calibri"/>
                <a:cs typeface="Calibri"/>
              </a:rPr>
              <a:t>pruning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simplify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decision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tree:</a:t>
            </a:r>
            <a:endParaRPr sz="2400">
              <a:latin typeface="Calibri"/>
              <a:cs typeface="Calibri"/>
            </a:endParaRPr>
          </a:p>
          <a:p>
            <a:pPr marL="469900" marR="222250" indent="-229235">
              <a:lnSpc>
                <a:spcPct val="117900"/>
              </a:lnSpc>
              <a:spcBef>
                <a:spcPts val="795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spc="-10" dirty="0">
                <a:latin typeface="Calibri"/>
                <a:cs typeface="Calibri"/>
              </a:rPr>
              <a:t>After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building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full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tree,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estimates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error rate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each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subtree.</a:t>
            </a:r>
            <a:endParaRPr sz="2400">
              <a:latin typeface="Calibri"/>
              <a:cs typeface="Calibri"/>
            </a:endParaRPr>
          </a:p>
          <a:p>
            <a:pPr marL="469900" marR="5080" indent="-229235">
              <a:lnSpc>
                <a:spcPct val="118000"/>
              </a:lnSpc>
              <a:spcBef>
                <a:spcPts val="79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replacing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subtree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with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leaf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node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reduces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the </a:t>
            </a:r>
            <a:r>
              <a:rPr sz="2400" b="1" spc="-10" dirty="0">
                <a:latin typeface="Calibri"/>
                <a:cs typeface="Calibri"/>
              </a:rPr>
              <a:t>estimated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error,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pruning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occurs.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400" b="1" dirty="0">
                <a:latin typeface="Calibri"/>
                <a:cs typeface="Calibri"/>
              </a:rPr>
              <a:t>This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improves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generalization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reduces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overfitting.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32DA6-3778-9016-CCC2-A006D968259B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DDBEFFAA-9AED-4852-9E37-84A90D896EE9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455968-E51E-7E2F-C456-EB702901C67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C9DD2A-D7A8-CE0E-86D7-45F2E66D7E9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62889"/>
            <a:ext cx="6758305" cy="8140700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314325" indent="-301625">
              <a:lnSpc>
                <a:spcPct val="100000"/>
              </a:lnSpc>
              <a:spcBef>
                <a:spcPts val="1410"/>
              </a:spcBef>
              <a:buAutoNum type="arabicPeriod" startAt="5"/>
              <a:tabLst>
                <a:tab pos="314325" algn="l"/>
              </a:tabLst>
            </a:pPr>
            <a:r>
              <a:rPr sz="2400" b="1" spc="-25" dirty="0">
                <a:latin typeface="Calibri"/>
                <a:cs typeface="Calibri"/>
              </a:rPr>
              <a:t>Step-</a:t>
            </a:r>
            <a:r>
              <a:rPr sz="2400" b="1" spc="-40" dirty="0">
                <a:latin typeface="Calibri"/>
                <a:cs typeface="Calibri"/>
              </a:rPr>
              <a:t>by-</a:t>
            </a: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Procedure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C4.5</a:t>
            </a:r>
            <a:endParaRPr sz="2400">
              <a:latin typeface="Calibri"/>
              <a:cs typeface="Calibri"/>
            </a:endParaRPr>
          </a:p>
          <a:p>
            <a:pPr marL="927100" lvl="1" indent="-685800">
              <a:lnSpc>
                <a:spcPct val="100000"/>
              </a:lnSpc>
              <a:spcBef>
                <a:spcPts val="1310"/>
              </a:spcBef>
              <a:buAutoNum type="arabicPeriod"/>
              <a:tabLst>
                <a:tab pos="927100" algn="l"/>
              </a:tabLst>
            </a:pPr>
            <a:r>
              <a:rPr sz="2400" b="1" dirty="0">
                <a:latin typeface="Calibri"/>
                <a:cs typeface="Calibri"/>
              </a:rPr>
              <a:t>Compute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Entropy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target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variable.</a:t>
            </a:r>
            <a:endParaRPr sz="2400">
              <a:latin typeface="Calibri"/>
              <a:cs typeface="Calibri"/>
            </a:endParaRPr>
          </a:p>
          <a:p>
            <a:pPr marL="927100" lvl="1" indent="-685800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927100" algn="l"/>
              </a:tabLst>
            </a:pP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each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attribute:</a:t>
            </a:r>
            <a:endParaRPr sz="2400">
              <a:latin typeface="Calibri"/>
              <a:cs typeface="Calibri"/>
            </a:endParaRPr>
          </a:p>
          <a:p>
            <a:pPr marL="927100" lvl="2" indent="-228600">
              <a:lnSpc>
                <a:spcPct val="100000"/>
              </a:lnSpc>
              <a:spcBef>
                <a:spcPts val="1305"/>
              </a:spcBef>
              <a:buSzPct val="41666"/>
              <a:buFont typeface="Courier New"/>
              <a:buChar char="o"/>
              <a:tabLst>
                <a:tab pos="927100" algn="l"/>
              </a:tabLst>
            </a:pP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categorical: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calculate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Ratio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directly.</a:t>
            </a:r>
            <a:endParaRPr sz="2400">
              <a:latin typeface="Calibri"/>
              <a:cs typeface="Calibri"/>
            </a:endParaRPr>
          </a:p>
          <a:p>
            <a:pPr marL="927100" marR="796925" lvl="2" indent="-228600">
              <a:lnSpc>
                <a:spcPct val="118000"/>
              </a:lnSpc>
              <a:spcBef>
                <a:spcPts val="805"/>
              </a:spcBef>
              <a:buSzPct val="41666"/>
              <a:buFont typeface="Courier New"/>
              <a:buChar char="o"/>
              <a:tabLst>
                <a:tab pos="927100" algn="l"/>
              </a:tabLst>
            </a:pP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continuous: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find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threshold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𝒕</a:t>
            </a:r>
            <a:r>
              <a:rPr sz="2400" b="1" spc="-10" dirty="0">
                <a:latin typeface="Calibri"/>
                <a:cs typeface="Calibri"/>
              </a:rPr>
              <a:t>that maximizes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Ratio.</a:t>
            </a:r>
            <a:endParaRPr sz="2400">
              <a:latin typeface="Calibri"/>
              <a:cs typeface="Calibri"/>
            </a:endParaRPr>
          </a:p>
          <a:p>
            <a:pPr marL="469900" marR="5080" lvl="1" indent="-229235">
              <a:lnSpc>
                <a:spcPct val="117900"/>
              </a:lnSpc>
              <a:spcBef>
                <a:spcPts val="790"/>
              </a:spcBef>
              <a:buAutoNum type="arabicPeriod"/>
              <a:tabLst>
                <a:tab pos="469900" algn="l"/>
                <a:tab pos="927100" algn="l"/>
              </a:tabLst>
            </a:pPr>
            <a:r>
              <a:rPr sz="2400" b="1" dirty="0">
                <a:latin typeface="Calibri"/>
                <a:cs typeface="Calibri"/>
              </a:rPr>
              <a:t>	Select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best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attribute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with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highest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Gain </a:t>
            </a:r>
            <a:r>
              <a:rPr sz="2400" b="1" dirty="0">
                <a:latin typeface="Calibri"/>
                <a:cs typeface="Calibri"/>
              </a:rPr>
              <a:t>Ratio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decision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node.</a:t>
            </a:r>
            <a:endParaRPr sz="2400">
              <a:latin typeface="Calibri"/>
              <a:cs typeface="Calibri"/>
            </a:endParaRPr>
          </a:p>
          <a:p>
            <a:pPr marL="469900" marR="952500" lvl="1" indent="-229235">
              <a:lnSpc>
                <a:spcPct val="117900"/>
              </a:lnSpc>
              <a:spcBef>
                <a:spcPts val="795"/>
              </a:spcBef>
              <a:buAutoNum type="arabicPeriod"/>
              <a:tabLst>
                <a:tab pos="469900" algn="l"/>
                <a:tab pos="927100" algn="l"/>
              </a:tabLst>
            </a:pPr>
            <a:r>
              <a:rPr sz="2400" b="1" dirty="0">
                <a:latin typeface="Calibri"/>
                <a:cs typeface="Calibri"/>
              </a:rPr>
              <a:t>	Split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dataset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into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subsets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based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on </a:t>
            </a:r>
            <a:r>
              <a:rPr sz="2400" b="1" spc="-20" dirty="0">
                <a:latin typeface="Calibri"/>
                <a:cs typeface="Calibri"/>
              </a:rPr>
              <a:t>attribute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values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threshold.</a:t>
            </a:r>
            <a:endParaRPr sz="2400">
              <a:latin typeface="Calibri"/>
              <a:cs typeface="Calibri"/>
            </a:endParaRPr>
          </a:p>
          <a:p>
            <a:pPr marL="927100" lvl="1" indent="-685800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927100" algn="l"/>
              </a:tabLst>
            </a:pPr>
            <a:r>
              <a:rPr sz="2400" b="1" dirty="0">
                <a:latin typeface="Calibri"/>
                <a:cs typeface="Calibri"/>
              </a:rPr>
              <a:t>Recurse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each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subset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until:</a:t>
            </a:r>
            <a:endParaRPr sz="2400">
              <a:latin typeface="Calibri"/>
              <a:cs typeface="Calibri"/>
            </a:endParaRPr>
          </a:p>
          <a:p>
            <a:pPr marL="927100" lvl="2" indent="-228600">
              <a:lnSpc>
                <a:spcPct val="100000"/>
              </a:lnSpc>
              <a:spcBef>
                <a:spcPts val="1310"/>
              </a:spcBef>
              <a:buSzPct val="41666"/>
              <a:buFont typeface="Courier New"/>
              <a:buChar char="o"/>
              <a:tabLst>
                <a:tab pos="927100" algn="l"/>
              </a:tabLst>
            </a:pPr>
            <a:r>
              <a:rPr sz="2400" b="1" dirty="0">
                <a:latin typeface="Calibri"/>
                <a:cs typeface="Calibri"/>
              </a:rPr>
              <a:t>All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instances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belong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same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class,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or</a:t>
            </a:r>
            <a:endParaRPr sz="2400">
              <a:latin typeface="Calibri"/>
              <a:cs typeface="Calibri"/>
            </a:endParaRPr>
          </a:p>
          <a:p>
            <a:pPr marL="927100" lvl="2" indent="-228600">
              <a:lnSpc>
                <a:spcPct val="100000"/>
              </a:lnSpc>
              <a:spcBef>
                <a:spcPts val="1320"/>
              </a:spcBef>
              <a:buSzPct val="41666"/>
              <a:buFont typeface="Courier New"/>
              <a:buChar char="o"/>
              <a:tabLst>
                <a:tab pos="927100" algn="l"/>
              </a:tabLst>
            </a:pPr>
            <a:r>
              <a:rPr sz="2400" b="1" dirty="0">
                <a:latin typeface="Calibri"/>
                <a:cs typeface="Calibri"/>
              </a:rPr>
              <a:t>There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remaining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attributes.</a:t>
            </a:r>
            <a:endParaRPr sz="2400">
              <a:latin typeface="Calibri"/>
              <a:cs typeface="Calibri"/>
            </a:endParaRPr>
          </a:p>
          <a:p>
            <a:pPr marL="927100" lvl="1" indent="-685800">
              <a:lnSpc>
                <a:spcPct val="100000"/>
              </a:lnSpc>
              <a:spcBef>
                <a:spcPts val="1305"/>
              </a:spcBef>
              <a:buAutoNum type="arabicPeriod"/>
              <a:tabLst>
                <a:tab pos="927100" algn="l"/>
              </a:tabLst>
            </a:pPr>
            <a:r>
              <a:rPr sz="2400" b="1" dirty="0">
                <a:latin typeface="Calibri"/>
                <a:cs typeface="Calibri"/>
              </a:rPr>
              <a:t>Prune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tree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using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30" dirty="0">
                <a:latin typeface="Calibri"/>
                <a:cs typeface="Calibri"/>
              </a:rPr>
              <a:t>post-</a:t>
            </a:r>
            <a:r>
              <a:rPr sz="2400" b="1" dirty="0">
                <a:latin typeface="Calibri"/>
                <a:cs typeface="Calibri"/>
              </a:rPr>
              <a:t>pruning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techniques.</a:t>
            </a:r>
            <a:endParaRPr sz="2400">
              <a:latin typeface="Calibri"/>
              <a:cs typeface="Calibri"/>
            </a:endParaRPr>
          </a:p>
          <a:p>
            <a:pPr marL="469900" marR="370840" lvl="1" indent="-229235">
              <a:lnSpc>
                <a:spcPct val="117900"/>
              </a:lnSpc>
              <a:spcBef>
                <a:spcPts val="795"/>
              </a:spcBef>
              <a:buAutoNum type="arabicPeriod"/>
              <a:tabLst>
                <a:tab pos="469900" algn="l"/>
                <a:tab pos="927100" algn="l"/>
              </a:tabLst>
            </a:pPr>
            <a:r>
              <a:rPr sz="2400" b="1" dirty="0">
                <a:latin typeface="Calibri"/>
                <a:cs typeface="Calibri"/>
              </a:rPr>
              <a:t>	Convert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tree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into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if–then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rule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for </a:t>
            </a:r>
            <a:r>
              <a:rPr sz="2400" b="1" dirty="0">
                <a:latin typeface="Calibri"/>
                <a:cs typeface="Calibri"/>
              </a:rPr>
              <a:t>easier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interpretation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(optional).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137863-E1E8-B064-689D-C4BB1291F5A7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5D7D1ADC-6538-4C2F-BF0B-54C7196176DD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38FCF-478D-BCF9-502B-9455D6FC483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59CB9-8DF6-353F-72E7-9B8C8F0368F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29259"/>
            <a:ext cx="6720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6.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Example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—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Applying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C4.5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“Play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Tennis”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Dataset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86154" y="1002029"/>
          <a:ext cx="5678170" cy="7355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7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9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Outlook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Temperature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Humidity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Wind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PlayTennis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Sunny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85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85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Weak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Sunny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80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90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Strong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Overcast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83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78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Weak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Rain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70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96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Weak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Rain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68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80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Weak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Rain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65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70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Strong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Overcast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64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65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Strong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Sunny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72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95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Weak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Sunny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69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70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Weak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Rain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75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80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Weak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Sunny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75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70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Strong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Overcast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72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90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Strong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Overcast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81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75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Weak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Rain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71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91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Strong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44500" y="8353806"/>
            <a:ext cx="40068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latin typeface="Times New Roman"/>
                <a:cs typeface="Times New Roman"/>
              </a:rPr>
              <a:t>Target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variable: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PlayTennis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(Yes/No)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349D7C-B847-6E3B-6421-08AE03C11F2F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5C004D6A-47BF-4F34-9BE2-3F643E778050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C9F263-B37B-5CFB-5EB2-3434AFBBE93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53648-3D57-1AE0-05A1-6F469EDD06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94893"/>
            <a:ext cx="3949700" cy="102616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i: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Calculate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Target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Entropy</a:t>
            </a:r>
            <a:endParaRPr sz="2400">
              <a:latin typeface="Calibri"/>
              <a:cs typeface="Calibri"/>
            </a:endParaRPr>
          </a:p>
          <a:p>
            <a:pPr marR="749935" algn="r">
              <a:lnSpc>
                <a:spcPct val="100000"/>
              </a:lnSpc>
              <a:spcBef>
                <a:spcPts val="1060"/>
              </a:spcBef>
            </a:pPr>
            <a:r>
              <a:rPr sz="2400" spc="-50" dirty="0">
                <a:latin typeface="Cambria Math"/>
                <a:cs typeface="Cambria Math"/>
              </a:rPr>
              <a:t>𝟗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64103" y="1380997"/>
            <a:ext cx="364490" cy="20320"/>
          </a:xfrm>
          <a:custGeom>
            <a:avLst/>
            <a:gdLst/>
            <a:ahLst/>
            <a:cxnLst/>
            <a:rect l="l" t="t" r="r" b="b"/>
            <a:pathLst>
              <a:path w="364489" h="20319">
                <a:moveTo>
                  <a:pt x="364236" y="0"/>
                </a:moveTo>
                <a:lnTo>
                  <a:pt x="0" y="0"/>
                </a:lnTo>
                <a:lnTo>
                  <a:pt x="0" y="19811"/>
                </a:lnTo>
                <a:lnTo>
                  <a:pt x="364236" y="19811"/>
                </a:lnTo>
                <a:lnTo>
                  <a:pt x="364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3180" y="1159509"/>
            <a:ext cx="35604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866390" algn="l"/>
              </a:tabLst>
            </a:pPr>
            <a:r>
              <a:rPr sz="2400" dirty="0">
                <a:latin typeface="Cambria Math"/>
                <a:cs typeface="Cambria Math"/>
              </a:rPr>
              <a:t>𝑬𝒏𝒕𝒓𝒐𝒑𝒚(𝑺)</a:t>
            </a:r>
            <a:r>
              <a:rPr sz="2400" spc="6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6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−(</a:t>
            </a:r>
            <a:r>
              <a:rPr sz="2400" dirty="0">
                <a:latin typeface="Cambria Math"/>
                <a:cs typeface="Cambria Math"/>
              </a:rPr>
              <a:t>	𝐥𝐨𝐠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625" spc="-75" baseline="-15873" dirty="0">
                <a:latin typeface="Cambria Math"/>
                <a:cs typeface="Cambria Math"/>
              </a:rPr>
              <a:t>𝟐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84496" y="1380997"/>
            <a:ext cx="364490" cy="20320"/>
          </a:xfrm>
          <a:custGeom>
            <a:avLst/>
            <a:gdLst/>
            <a:ahLst/>
            <a:cxnLst/>
            <a:rect l="l" t="t" r="r" b="b"/>
            <a:pathLst>
              <a:path w="364489" h="20319">
                <a:moveTo>
                  <a:pt x="364236" y="0"/>
                </a:moveTo>
                <a:lnTo>
                  <a:pt x="0" y="0"/>
                </a:lnTo>
                <a:lnTo>
                  <a:pt x="0" y="19811"/>
                </a:lnTo>
                <a:lnTo>
                  <a:pt x="364236" y="19811"/>
                </a:lnTo>
                <a:lnTo>
                  <a:pt x="364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61713" y="929385"/>
            <a:ext cx="9347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9140" algn="l"/>
              </a:tabLst>
            </a:pPr>
            <a:r>
              <a:rPr sz="2400" spc="-50" dirty="0">
                <a:latin typeface="Cambria Math"/>
                <a:cs typeface="Cambria Math"/>
              </a:rPr>
              <a:t>𝟗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11445" y="1380997"/>
            <a:ext cx="364490" cy="20320"/>
          </a:xfrm>
          <a:custGeom>
            <a:avLst/>
            <a:gdLst/>
            <a:ahLst/>
            <a:cxnLst/>
            <a:rect l="l" t="t" r="r" b="b"/>
            <a:pathLst>
              <a:path w="364489" h="20319">
                <a:moveTo>
                  <a:pt x="364236" y="0"/>
                </a:moveTo>
                <a:lnTo>
                  <a:pt x="0" y="0"/>
                </a:lnTo>
                <a:lnTo>
                  <a:pt x="0" y="19811"/>
                </a:lnTo>
                <a:lnTo>
                  <a:pt x="364236" y="19811"/>
                </a:lnTo>
                <a:lnTo>
                  <a:pt x="364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09182" y="929385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51403" y="1363726"/>
            <a:ext cx="335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2840" algn="l"/>
                <a:tab pos="1859914" algn="l"/>
                <a:tab pos="2980055" algn="l"/>
              </a:tabLst>
            </a:pPr>
            <a:r>
              <a:rPr sz="2400" spc="-25" dirty="0">
                <a:latin typeface="Cambria Math"/>
                <a:cs typeface="Cambria Math"/>
              </a:rPr>
              <a:t>𝟏𝟒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𝟏𝟒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𝟏𝟒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𝟏𝟒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31965" y="1380997"/>
            <a:ext cx="364490" cy="20320"/>
          </a:xfrm>
          <a:custGeom>
            <a:avLst/>
            <a:gdLst/>
            <a:ahLst/>
            <a:cxnLst/>
            <a:rect l="l" t="t" r="r" b="b"/>
            <a:pathLst>
              <a:path w="364490" h="20319">
                <a:moveTo>
                  <a:pt x="364236" y="0"/>
                </a:moveTo>
                <a:lnTo>
                  <a:pt x="0" y="0"/>
                </a:lnTo>
                <a:lnTo>
                  <a:pt x="0" y="19811"/>
                </a:lnTo>
                <a:lnTo>
                  <a:pt x="364236" y="19811"/>
                </a:lnTo>
                <a:lnTo>
                  <a:pt x="364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864989" y="1159509"/>
            <a:ext cx="1997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762000" algn="l"/>
                <a:tab pos="1832610" algn="l"/>
              </a:tabLst>
            </a:pPr>
            <a:r>
              <a:rPr sz="2400" spc="-50" dirty="0">
                <a:latin typeface="Cambria Math"/>
                <a:cs typeface="Cambria Math"/>
              </a:rPr>
              <a:t>+</a:t>
            </a:r>
            <a:r>
              <a:rPr sz="2400" dirty="0">
                <a:latin typeface="Cambria Math"/>
                <a:cs typeface="Cambria Math"/>
              </a:rPr>
              <a:t>	𝐥𝐨𝐠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625" spc="-75" baseline="-15873" dirty="0">
                <a:latin typeface="Cambria Math"/>
                <a:cs typeface="Cambria Math"/>
              </a:rPr>
              <a:t>𝟐</a:t>
            </a:r>
            <a:r>
              <a:rPr sz="2625" baseline="-15873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4500" y="1667001"/>
            <a:ext cx="7354570" cy="66833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421130">
              <a:lnSpc>
                <a:spcPct val="100000"/>
              </a:lnSpc>
              <a:spcBef>
                <a:spcPts val="459"/>
              </a:spcBef>
            </a:pP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𝟗𝟒𝟎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ii: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Handle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Continuous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Attribute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—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Temperature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400" b="1" dirty="0">
                <a:latin typeface="Calibri"/>
                <a:cs typeface="Calibri"/>
              </a:rPr>
              <a:t>Sort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Temperature:</a:t>
            </a:r>
            <a:endParaRPr sz="2400">
              <a:latin typeface="Calibri"/>
              <a:cs typeface="Calibri"/>
            </a:endParaRPr>
          </a:p>
          <a:p>
            <a:pPr marR="459740" algn="ctr">
              <a:lnSpc>
                <a:spcPct val="100000"/>
              </a:lnSpc>
              <a:spcBef>
                <a:spcPts val="520"/>
              </a:spcBef>
            </a:pPr>
            <a:r>
              <a:rPr sz="2400" spc="-10" dirty="0">
                <a:latin typeface="Cambria Math"/>
                <a:cs typeface="Cambria Math"/>
              </a:rPr>
              <a:t>𝟔𝟒,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𝟔𝟓,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𝟔𝟖,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𝟔𝟗,</a:t>
            </a:r>
            <a:r>
              <a:rPr sz="2400" spc="-14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𝟕𝟎,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𝟕𝟏,</a:t>
            </a:r>
            <a:r>
              <a:rPr sz="2400" spc="-14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𝟕𝟐,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𝟕𝟓,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𝟕𝟓,</a:t>
            </a:r>
            <a:r>
              <a:rPr sz="2400" spc="-14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𝟖𝟎,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𝟖𝟏,</a:t>
            </a:r>
            <a:r>
              <a:rPr sz="2400" spc="-14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𝟖𝟑,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𝟖𝟓</a:t>
            </a:r>
            <a:endParaRPr sz="2400">
              <a:latin typeface="Cambria Math"/>
              <a:cs typeface="Cambria Math"/>
            </a:endParaRPr>
          </a:p>
          <a:p>
            <a:pPr marL="12700" marR="1261745">
              <a:lnSpc>
                <a:spcPct val="117900"/>
              </a:lnSpc>
              <a:spcBef>
                <a:spcPts val="660"/>
              </a:spcBef>
            </a:pPr>
            <a:r>
              <a:rPr sz="2400" b="1" dirty="0">
                <a:latin typeface="Calibri"/>
                <a:cs typeface="Calibri"/>
              </a:rPr>
              <a:t>Possible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midpoints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between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consecutive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unique values: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2400" spc="-10" dirty="0">
                <a:latin typeface="Cambria Math"/>
                <a:cs typeface="Cambria Math"/>
              </a:rPr>
              <a:t>𝟔𝟒.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𝟓,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𝟔𝟔.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𝟓,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𝟔𝟖.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𝟓,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𝟔𝟗.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𝟓,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𝟕𝟎.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𝟓,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𝟕𝟏.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𝟓,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𝟕𝟑.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𝟓,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𝟕𝟕.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𝟓,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𝟖𝟎.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𝟓,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𝟖𝟐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each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threshold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𝒕</a:t>
            </a:r>
            <a:r>
              <a:rPr sz="2400" b="1" dirty="0">
                <a:latin typeface="Calibri"/>
                <a:cs typeface="Calibri"/>
              </a:rPr>
              <a:t>,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compute:</a:t>
            </a:r>
            <a:endParaRPr sz="2400">
              <a:latin typeface="Calibri"/>
              <a:cs typeface="Calibri"/>
            </a:endParaRPr>
          </a:p>
          <a:p>
            <a:pPr marR="461645" algn="ctr">
              <a:lnSpc>
                <a:spcPct val="100000"/>
              </a:lnSpc>
              <a:spcBef>
                <a:spcPts val="1320"/>
              </a:spcBef>
            </a:pPr>
            <a:r>
              <a:rPr sz="2400" spc="-20" dirty="0">
                <a:latin typeface="Cambria Math"/>
                <a:cs typeface="Cambria Math"/>
              </a:rPr>
              <a:t>𝑰𝑮(𝑺,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𝑻𝒆𝒎𝒑𝒆𝒓𝒂𝒕𝒖𝒓𝒆</a:t>
            </a:r>
            <a:r>
              <a:rPr sz="2400" spc="9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≤</a:t>
            </a:r>
            <a:r>
              <a:rPr sz="2400" spc="10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𝒕)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2400">
              <a:latin typeface="Cambria Math"/>
              <a:cs typeface="Cambria Math"/>
            </a:endParaRPr>
          </a:p>
          <a:p>
            <a:pPr marL="12700" marR="1172210">
              <a:lnSpc>
                <a:spcPct val="145800"/>
              </a:lnSpc>
            </a:pP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choose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𝒕</a:t>
            </a:r>
            <a:r>
              <a:rPr sz="2400" b="1" dirty="0">
                <a:latin typeface="Calibri"/>
                <a:cs typeface="Calibri"/>
              </a:rPr>
              <a:t>with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maximum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Ratio.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example,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suppose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best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threshold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2400" dirty="0">
                <a:latin typeface="Cambria Math"/>
                <a:cs typeface="Cambria Math"/>
              </a:rPr>
              <a:t>𝑻𝒆𝒎𝒑𝒆𝒓𝒂𝒕𝒖𝒓𝒆</a:t>
            </a:r>
            <a:r>
              <a:rPr sz="2400" spc="7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≤</a:t>
            </a:r>
            <a:r>
              <a:rPr sz="2400" spc="10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𝟕𝟑.</a:t>
            </a:r>
            <a:r>
              <a:rPr sz="2400" spc="-1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𝟓</a:t>
            </a:r>
            <a:r>
              <a:rPr sz="2400" b="1" dirty="0">
                <a:latin typeface="Calibri"/>
                <a:cs typeface="Calibri"/>
              </a:rPr>
              <a:t>,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giving:</a:t>
            </a:r>
            <a:endParaRPr sz="2400">
              <a:latin typeface="Calibri"/>
              <a:cs typeface="Calibri"/>
            </a:endParaRPr>
          </a:p>
          <a:p>
            <a:pPr marR="460375" algn="ctr">
              <a:lnSpc>
                <a:spcPct val="100000"/>
              </a:lnSpc>
              <a:spcBef>
                <a:spcPts val="1320"/>
              </a:spcBef>
            </a:pPr>
            <a:r>
              <a:rPr sz="2400" dirty="0">
                <a:latin typeface="Cambria Math"/>
                <a:cs typeface="Cambria Math"/>
              </a:rPr>
              <a:t>𝑰𝑮</a:t>
            </a:r>
            <a:r>
              <a:rPr sz="2400" spc="10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𝟐𝟏,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𝑮𝑹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𝟒𝟓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50C3BFB-7EEE-196E-A5D9-ACFF155E269D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97ECEE3D-D36A-448E-9EC7-1BAAFE7197B6}" type="datetime1">
              <a:rPr lang="en-US" smtClean="0"/>
              <a:t>10/13/2025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D901DD6-6561-EC81-2BEE-3138C1B4F4C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D9D4D02-8499-8279-991B-4DDE20CA81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961390"/>
            <a:ext cx="5740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iii: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Compute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Ratio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All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Attributes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8629" y="1535683"/>
          <a:ext cx="6912609" cy="3347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8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37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14094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Attribute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47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Type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47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Information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Gain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SplitInfo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47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Gain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Ratio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Outlook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Categorical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0.247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0.940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0.262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Temperature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Continuous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0.210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0.460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0.457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66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Humidity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Continuous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0.151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0.390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0.387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Wind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Categorical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0.048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0.985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0.049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44500" y="4709033"/>
            <a:ext cx="6684009" cy="4081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1315" indent="68580">
              <a:lnSpc>
                <a:spcPct val="1455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Best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Attribute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Temperature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(highest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Ratio) </a:t>
            </a:r>
            <a:r>
              <a:rPr sz="2400" b="1" dirty="0">
                <a:latin typeface="Calibri"/>
                <a:cs typeface="Calibri"/>
              </a:rPr>
              <a:t>So,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Temperature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≤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73.5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becomes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root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split.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75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iv: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Recurse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Subsets</a:t>
            </a:r>
            <a:endParaRPr sz="2400">
              <a:latin typeface="Calibri"/>
              <a:cs typeface="Calibri"/>
            </a:endParaRPr>
          </a:p>
          <a:p>
            <a:pPr marL="469900" marR="5080" indent="-229235">
              <a:lnSpc>
                <a:spcPct val="118000"/>
              </a:lnSpc>
              <a:spcBef>
                <a:spcPts val="79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Temperature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≤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73.5,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then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most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“Yes”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further </a:t>
            </a:r>
            <a:r>
              <a:rPr sz="2400" b="1" dirty="0">
                <a:latin typeface="Calibri"/>
                <a:cs typeface="Calibri"/>
              </a:rPr>
              <a:t>split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“Outlook”.</a:t>
            </a:r>
            <a:endParaRPr sz="2400">
              <a:latin typeface="Calibri"/>
              <a:cs typeface="Calibri"/>
            </a:endParaRPr>
          </a:p>
          <a:p>
            <a:pPr marL="469900" marR="29845" indent="-229235">
              <a:lnSpc>
                <a:spcPct val="117500"/>
              </a:lnSpc>
              <a:spcBef>
                <a:spcPts val="815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temperature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is&gt;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73.5,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check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“Humidity”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for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best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Ratio.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1865D-7746-8A7F-1246-6562149D5398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CD49FCD-73D3-4381-A14A-58BC442C4975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3EFDE-D211-B442-C4B1-E5504161458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95F67-0810-1DB1-8626-FFC3274C844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29259"/>
            <a:ext cx="5638800" cy="1988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After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recursive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splitting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pruning,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get: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8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v: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Final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C4.5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Decision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Tree</a:t>
            </a:r>
            <a:endParaRPr sz="2400">
              <a:latin typeface="Calibri"/>
              <a:cs typeface="Calibri"/>
            </a:endParaRPr>
          </a:p>
          <a:p>
            <a:pPr marR="332105" algn="ctr">
              <a:lnSpc>
                <a:spcPct val="100000"/>
              </a:lnSpc>
              <a:spcBef>
                <a:spcPts val="1305"/>
              </a:spcBef>
            </a:pPr>
            <a:r>
              <a:rPr sz="2400" b="1" spc="-30" dirty="0">
                <a:latin typeface="Calibri"/>
                <a:cs typeface="Calibri"/>
              </a:rPr>
              <a:t>[Temperature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≤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73.5?]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39341" y="2393569"/>
            <a:ext cx="1250950" cy="215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 marR="614680" indent="207010">
              <a:lnSpc>
                <a:spcPct val="1455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/ </a:t>
            </a:r>
            <a:r>
              <a:rPr sz="2400" b="1" spc="-85" dirty="0">
                <a:latin typeface="Calibri"/>
                <a:cs typeface="Calibri"/>
              </a:rPr>
              <a:t>Yes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400" b="1" spc="-10" dirty="0">
                <a:latin typeface="Calibri"/>
                <a:cs typeface="Calibri"/>
              </a:rPr>
              <a:t>[Outlook]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  <a:tabLst>
                <a:tab pos="349250" algn="l"/>
                <a:tab pos="702945" algn="l"/>
              </a:tabLst>
            </a:pPr>
            <a:r>
              <a:rPr sz="2400" b="1" spc="-50" dirty="0">
                <a:latin typeface="Calibri"/>
                <a:cs typeface="Calibri"/>
              </a:rPr>
              <a:t>/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50" dirty="0">
                <a:latin typeface="Calibri"/>
                <a:cs typeface="Calibri"/>
              </a:rPr>
              <a:t>|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50" dirty="0">
                <a:latin typeface="Calibri"/>
                <a:cs typeface="Calibri"/>
              </a:rPr>
              <a:t>\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85642" y="2560066"/>
            <a:ext cx="156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\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95114" y="2924682"/>
            <a:ext cx="1652905" cy="109220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400" b="1" spc="-25" dirty="0">
                <a:latin typeface="Calibri"/>
                <a:cs typeface="Calibri"/>
              </a:rPr>
              <a:t>No</a:t>
            </a:r>
            <a:endParaRPr sz="2400">
              <a:latin typeface="Calibri"/>
              <a:cs typeface="Calibri"/>
            </a:endParaRPr>
          </a:p>
          <a:p>
            <a:pPr marL="276225">
              <a:lnSpc>
                <a:spcPct val="100000"/>
              </a:lnSpc>
              <a:spcBef>
                <a:spcPts val="1320"/>
              </a:spcBef>
            </a:pPr>
            <a:r>
              <a:rPr sz="2400" b="1" spc="-10" dirty="0">
                <a:latin typeface="Calibri"/>
                <a:cs typeface="Calibri"/>
              </a:rPr>
              <a:t>[Humidity]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8573" y="3989958"/>
            <a:ext cx="2029460" cy="162433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1420"/>
              </a:spcBef>
              <a:tabLst>
                <a:tab pos="728345" algn="l"/>
              </a:tabLst>
            </a:pPr>
            <a:r>
              <a:rPr sz="2400" b="1" spc="-50" dirty="0">
                <a:latin typeface="Calibri"/>
                <a:cs typeface="Calibri"/>
              </a:rPr>
              <a:t>/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50" dirty="0">
                <a:latin typeface="Calibri"/>
                <a:cs typeface="Calibri"/>
              </a:rPr>
              <a:t>\</a:t>
            </a:r>
            <a:endParaRPr sz="2400">
              <a:latin typeface="Calibri"/>
              <a:cs typeface="Calibri"/>
            </a:endParaRPr>
          </a:p>
          <a:p>
            <a:pPr marL="73025" marR="5080" indent="-60960">
              <a:lnSpc>
                <a:spcPct val="145500"/>
              </a:lnSpc>
              <a:spcBef>
                <a:spcPts val="10"/>
              </a:spcBef>
              <a:tabLst>
                <a:tab pos="1069340" algn="l"/>
                <a:tab pos="1128395" algn="l"/>
              </a:tabLst>
            </a:pPr>
            <a:r>
              <a:rPr sz="2400" b="1" spc="-20" dirty="0">
                <a:latin typeface="Calibri"/>
                <a:cs typeface="Calibri"/>
              </a:rPr>
              <a:t>High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10" dirty="0">
                <a:latin typeface="Calibri"/>
                <a:cs typeface="Calibri"/>
              </a:rPr>
              <a:t>Normal </a:t>
            </a:r>
            <a:r>
              <a:rPr sz="2400" b="1" spc="-25" dirty="0">
                <a:latin typeface="Calibri"/>
                <a:cs typeface="Calibri"/>
              </a:rPr>
              <a:t>No</a:t>
            </a:r>
            <a:r>
              <a:rPr sz="2400" b="1" dirty="0">
                <a:latin typeface="Calibri"/>
                <a:cs typeface="Calibri"/>
              </a:rPr>
              <a:t>		</a:t>
            </a:r>
            <a:r>
              <a:rPr sz="2400" b="1" spc="-25" dirty="0">
                <a:latin typeface="Calibri"/>
                <a:cs typeface="Calibri"/>
              </a:rPr>
              <a:t>Yes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3548" y="4690998"/>
            <a:ext cx="2604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Rain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Overcast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Sunny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9341" y="5055488"/>
            <a:ext cx="189865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5800"/>
              </a:lnSpc>
              <a:spcBef>
                <a:spcPts val="100"/>
              </a:spcBef>
              <a:tabLst>
                <a:tab pos="639445" algn="l"/>
                <a:tab pos="767080" algn="l"/>
                <a:tab pos="1520190" algn="l"/>
                <a:tab pos="1611630" algn="l"/>
              </a:tabLst>
            </a:pPr>
            <a:r>
              <a:rPr sz="2400" b="1" spc="-50" dirty="0">
                <a:latin typeface="Calibri"/>
                <a:cs typeface="Calibri"/>
              </a:rPr>
              <a:t>|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50" dirty="0">
                <a:latin typeface="Calibri"/>
                <a:cs typeface="Calibri"/>
              </a:rPr>
              <a:t>|</a:t>
            </a:r>
            <a:r>
              <a:rPr sz="2400" b="1" dirty="0">
                <a:latin typeface="Calibri"/>
                <a:cs typeface="Calibri"/>
              </a:rPr>
              <a:t>		</a:t>
            </a:r>
            <a:r>
              <a:rPr sz="2400" b="1" spc="-50" dirty="0">
                <a:latin typeface="Calibri"/>
                <a:cs typeface="Calibri"/>
              </a:rPr>
              <a:t>| </a:t>
            </a:r>
            <a:r>
              <a:rPr sz="2400" b="1" spc="-25" dirty="0">
                <a:latin typeface="Calibri"/>
                <a:cs typeface="Calibri"/>
              </a:rPr>
              <a:t>Yes</a:t>
            </a:r>
            <a:r>
              <a:rPr sz="2400" b="1" dirty="0">
                <a:latin typeface="Calibri"/>
                <a:cs typeface="Calibri"/>
              </a:rPr>
              <a:t>		</a:t>
            </a:r>
            <a:r>
              <a:rPr sz="2400" b="1" spc="-25" dirty="0">
                <a:latin typeface="Calibri"/>
                <a:cs typeface="Calibri"/>
              </a:rPr>
              <a:t>Yes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No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0CE93E2-9FB0-8953-C7E9-8DC2053FE01F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55F3A669-1253-48EB-A889-CBDB91A05425}" type="datetime1">
              <a:rPr lang="en-US" smtClean="0"/>
              <a:t>10/13/2025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CB2EBF2-91C1-01E0-528D-6B055836117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763521F-7160-09C8-8B96-4FE9AB1051A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62889"/>
            <a:ext cx="6853555" cy="6340475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vi: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Convert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If–Then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Rules</a:t>
            </a:r>
            <a:endParaRPr sz="2400">
              <a:latin typeface="Calibri"/>
              <a:cs typeface="Calibri"/>
            </a:endParaRPr>
          </a:p>
          <a:p>
            <a:pPr marL="469900" marR="1073785" indent="-229235">
              <a:lnSpc>
                <a:spcPct val="117900"/>
              </a:lnSpc>
              <a:spcBef>
                <a:spcPts val="795"/>
              </a:spcBef>
              <a:buAutoNum type="arabicPeriod"/>
              <a:tabLst>
                <a:tab pos="469900" algn="l"/>
                <a:tab pos="927100" algn="l"/>
              </a:tabLst>
            </a:pPr>
            <a:r>
              <a:rPr sz="2400" b="1" dirty="0">
                <a:latin typeface="Calibri"/>
                <a:cs typeface="Calibri"/>
              </a:rPr>
              <a:t>	If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(Temperature </a:t>
            </a:r>
            <a:r>
              <a:rPr sz="2400" b="1" dirty="0">
                <a:latin typeface="Calibri"/>
                <a:cs typeface="Calibri"/>
              </a:rPr>
              <a:t>≤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73.5)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(Outlook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= </a:t>
            </a:r>
            <a:r>
              <a:rPr sz="2400" b="1" spc="-10" dirty="0">
                <a:latin typeface="Calibri"/>
                <a:cs typeface="Calibri"/>
              </a:rPr>
              <a:t>Overcast)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Play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Yes</a:t>
            </a:r>
            <a:endParaRPr sz="2400">
              <a:latin typeface="Calibri"/>
              <a:cs typeface="Calibri"/>
            </a:endParaRPr>
          </a:p>
          <a:p>
            <a:pPr marL="469900" marR="5080" indent="-229235">
              <a:lnSpc>
                <a:spcPct val="117900"/>
              </a:lnSpc>
              <a:spcBef>
                <a:spcPts val="800"/>
              </a:spcBef>
              <a:buAutoNum type="arabicPeriod"/>
              <a:tabLst>
                <a:tab pos="469900" algn="l"/>
                <a:tab pos="927100" algn="l"/>
              </a:tabLst>
            </a:pPr>
            <a:r>
              <a:rPr sz="2400" b="1" dirty="0">
                <a:latin typeface="Calibri"/>
                <a:cs typeface="Calibri"/>
              </a:rPr>
              <a:t>	If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(Temperature </a:t>
            </a:r>
            <a:r>
              <a:rPr sz="2400" b="1" dirty="0">
                <a:latin typeface="Calibri"/>
                <a:cs typeface="Calibri"/>
              </a:rPr>
              <a:t>≤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73.5)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(Outlook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Rain)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→ </a:t>
            </a:r>
            <a:r>
              <a:rPr sz="2400" b="1" dirty="0">
                <a:latin typeface="Calibri"/>
                <a:cs typeface="Calibri"/>
              </a:rPr>
              <a:t>Play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Yes</a:t>
            </a:r>
            <a:endParaRPr sz="2400">
              <a:latin typeface="Calibri"/>
              <a:cs typeface="Calibri"/>
            </a:endParaRPr>
          </a:p>
          <a:p>
            <a:pPr marL="927100" indent="-685800">
              <a:lnSpc>
                <a:spcPct val="100000"/>
              </a:lnSpc>
              <a:spcBef>
                <a:spcPts val="1310"/>
              </a:spcBef>
              <a:buAutoNum type="arabicPeriod"/>
              <a:tabLst>
                <a:tab pos="927100" algn="l"/>
              </a:tabLst>
            </a:pP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(Temperature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≤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73.5)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(Outlook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Sunny)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20"/>
              </a:spcBef>
            </a:pP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Play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No</a:t>
            </a:r>
            <a:endParaRPr sz="2400">
              <a:latin typeface="Calibri"/>
              <a:cs typeface="Calibri"/>
            </a:endParaRPr>
          </a:p>
          <a:p>
            <a:pPr marL="469900" marR="930910" indent="-229235">
              <a:lnSpc>
                <a:spcPct val="117900"/>
              </a:lnSpc>
              <a:spcBef>
                <a:spcPts val="790"/>
              </a:spcBef>
              <a:buAutoNum type="arabicPeriod" startAt="4"/>
              <a:tabLst>
                <a:tab pos="469900" algn="l"/>
                <a:tab pos="927100" algn="l"/>
              </a:tabLst>
            </a:pPr>
            <a:r>
              <a:rPr sz="2400" b="1" dirty="0">
                <a:latin typeface="Calibri"/>
                <a:cs typeface="Calibri"/>
              </a:rPr>
              <a:t>	If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(Temperature </a:t>
            </a:r>
            <a:r>
              <a:rPr sz="2400" b="1" dirty="0">
                <a:latin typeface="Calibri"/>
                <a:cs typeface="Calibri"/>
              </a:rPr>
              <a:t>&gt;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73.5)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(Humidity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= </a:t>
            </a:r>
            <a:r>
              <a:rPr sz="2400" b="1" dirty="0">
                <a:latin typeface="Calibri"/>
                <a:cs typeface="Calibri"/>
              </a:rPr>
              <a:t>Normal)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Play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Yes</a:t>
            </a:r>
            <a:endParaRPr sz="2400">
              <a:latin typeface="Calibri"/>
              <a:cs typeface="Calibri"/>
            </a:endParaRPr>
          </a:p>
          <a:p>
            <a:pPr marL="927100" indent="-685800">
              <a:lnSpc>
                <a:spcPct val="100000"/>
              </a:lnSpc>
              <a:spcBef>
                <a:spcPts val="1310"/>
              </a:spcBef>
              <a:buAutoNum type="arabicPeriod" startAt="4"/>
              <a:tabLst>
                <a:tab pos="927100" algn="l"/>
              </a:tabLst>
            </a:pP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(Temperature </a:t>
            </a:r>
            <a:r>
              <a:rPr sz="2400" b="1" dirty="0">
                <a:latin typeface="Calibri"/>
                <a:cs typeface="Calibri"/>
              </a:rPr>
              <a:t>&gt;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73.5)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(Humidity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High)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20"/>
              </a:spcBef>
            </a:pP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Play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No</a:t>
            </a:r>
            <a:endParaRPr sz="2400">
              <a:latin typeface="Calibri"/>
              <a:cs typeface="Calibri"/>
            </a:endParaRPr>
          </a:p>
          <a:p>
            <a:pPr marL="12700" marR="1068705">
              <a:lnSpc>
                <a:spcPct val="117900"/>
              </a:lnSpc>
              <a:spcBef>
                <a:spcPts val="800"/>
              </a:spcBef>
            </a:pPr>
            <a:r>
              <a:rPr sz="2400" b="1" dirty="0">
                <a:latin typeface="Calibri"/>
                <a:cs typeface="Calibri"/>
              </a:rPr>
              <a:t>These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rules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interpretable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practical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for </a:t>
            </a:r>
            <a:r>
              <a:rPr sz="2400" b="1" dirty="0">
                <a:latin typeface="Calibri"/>
                <a:cs typeface="Calibri"/>
              </a:rPr>
              <a:t>decision </a:t>
            </a:r>
            <a:r>
              <a:rPr sz="2400" b="1" spc="-10" dirty="0">
                <a:latin typeface="Calibri"/>
                <a:cs typeface="Calibri"/>
              </a:rPr>
              <a:t>support.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D0B2BC-8EC4-3912-D639-E2815A9F5314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60E7A527-65A0-43F7-958C-EAB530704908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DB5FFF-CD9F-1EF9-35BA-F5664C41C08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119928-D22F-25E1-236D-07A60C8DBD6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29259"/>
            <a:ext cx="2748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7.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Advantages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C4.5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8629" y="1002030"/>
          <a:ext cx="6912609" cy="5654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1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8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Advantage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282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Handles</a:t>
                      </a:r>
                      <a:r>
                        <a:rPr sz="2400" b="1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continuous</a:t>
                      </a:r>
                      <a:r>
                        <a:rPr sz="2400" b="1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&amp;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categorical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data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Dynamically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selects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thresholds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473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Robust</a:t>
                      </a:r>
                      <a:r>
                        <a:rPr sz="24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missing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values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Uses</a:t>
                      </a:r>
                      <a:r>
                        <a:rPr sz="2400" b="1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probability-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based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splitting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346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Avoids</a:t>
                      </a:r>
                      <a:r>
                        <a:rPr sz="24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attribute</a:t>
                      </a:r>
                      <a:r>
                        <a:rPr sz="24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bias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5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Gain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Ratio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compensates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for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high-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value</a:t>
                      </a:r>
                      <a:r>
                        <a:rPr sz="2400" b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attributes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473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Pruning</a:t>
                      </a:r>
                      <a:r>
                        <a:rPr sz="2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reduces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overfitting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7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Improves</a:t>
                      </a:r>
                      <a:r>
                        <a:rPr sz="2400" b="1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generalization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66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4094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Human-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readable</a:t>
                      </a:r>
                      <a:r>
                        <a:rPr sz="2400" b="1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rules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5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Converts</a:t>
                      </a:r>
                      <a:r>
                        <a:rPr sz="24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tree</a:t>
                      </a:r>
                      <a:r>
                        <a:rPr sz="24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into</a:t>
                      </a:r>
                      <a:r>
                        <a:rPr sz="24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rule-based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format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50502-C754-693E-9343-72F9EED5D1FA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2C76B6EC-C4D6-4E52-9D49-2ECC456095E4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06863-29CD-C8AE-B590-4FA398E82B0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95D2D-390B-754D-7B4F-D5DB95C363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29259"/>
            <a:ext cx="1734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8.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Limitations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8629" y="1002029"/>
          <a:ext cx="6912609" cy="3634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9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1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44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Limitation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95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Computationally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expensive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Especially</a:t>
                      </a:r>
                      <a:r>
                        <a:rPr sz="20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0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large</a:t>
                      </a:r>
                      <a:r>
                        <a:rPr sz="20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datasets</a:t>
                      </a:r>
                      <a:r>
                        <a:rPr sz="20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20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many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continuous</a:t>
                      </a:r>
                      <a:r>
                        <a:rPr sz="20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features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809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Still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greedy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Does</a:t>
                      </a:r>
                      <a:r>
                        <a:rPr sz="20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20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guarantee</a:t>
                      </a:r>
                      <a:r>
                        <a:rPr sz="20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globally</a:t>
                      </a:r>
                      <a:r>
                        <a:rPr sz="20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optimal</a:t>
                      </a:r>
                      <a:r>
                        <a:rPr sz="20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tree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95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Sensitive</a:t>
                      </a:r>
                      <a:r>
                        <a:rPr sz="20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0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noisy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data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May</a:t>
                      </a:r>
                      <a:r>
                        <a:rPr sz="20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require</a:t>
                      </a:r>
                      <a:r>
                        <a:rPr sz="20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careful</a:t>
                      </a:r>
                      <a:r>
                        <a:rPr sz="20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pruning</a:t>
                      </a:r>
                      <a:r>
                        <a:rPr sz="20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5" dirty="0">
                          <a:latin typeface="Calibri"/>
                          <a:cs typeface="Calibri"/>
                        </a:rPr>
                        <a:t>and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validation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058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515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Memory-intensive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924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Requires</a:t>
                      </a:r>
                      <a:r>
                        <a:rPr sz="20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storing</a:t>
                      </a:r>
                      <a:r>
                        <a:rPr sz="20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thresholds</a:t>
                      </a:r>
                      <a:r>
                        <a:rPr sz="20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entropy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values</a:t>
                      </a:r>
                      <a:r>
                        <a:rPr sz="20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0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20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candidate</a:t>
                      </a:r>
                      <a:r>
                        <a:rPr sz="20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split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44500" y="4994528"/>
            <a:ext cx="6699884" cy="332422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14325" indent="-301625">
              <a:lnSpc>
                <a:spcPct val="100000"/>
              </a:lnSpc>
              <a:spcBef>
                <a:spcPts val="1420"/>
              </a:spcBef>
              <a:buAutoNum type="arabicPeriod" startAt="9"/>
              <a:tabLst>
                <a:tab pos="314325" algn="l"/>
              </a:tabLst>
            </a:pPr>
            <a:r>
              <a:rPr sz="2400" b="1" spc="-10" dirty="0">
                <a:latin typeface="Calibri"/>
                <a:cs typeface="Calibri"/>
              </a:rPr>
              <a:t>Applications</a:t>
            </a:r>
            <a:endParaRPr sz="2400">
              <a:latin typeface="Calibri"/>
              <a:cs typeface="Calibri"/>
            </a:endParaRPr>
          </a:p>
          <a:p>
            <a:pPr marL="469900" marR="223520" lvl="1" indent="-229235">
              <a:lnSpc>
                <a:spcPct val="101699"/>
              </a:lnSpc>
              <a:spcBef>
                <a:spcPts val="127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Medical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diagnosis: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Identifying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disease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based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on </a:t>
            </a:r>
            <a:r>
              <a:rPr sz="2400" b="1" spc="-10" dirty="0">
                <a:latin typeface="Calibri"/>
                <a:cs typeface="Calibri"/>
              </a:rPr>
              <a:t>patient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marL="469900" lvl="1" indent="-228600">
              <a:lnSpc>
                <a:spcPct val="100000"/>
              </a:lnSpc>
              <a:spcBef>
                <a:spcPts val="5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Finance: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Credit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scoring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risk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assessment</a:t>
            </a:r>
            <a:endParaRPr sz="2400">
              <a:latin typeface="Calibri"/>
              <a:cs typeface="Calibri"/>
            </a:endParaRPr>
          </a:p>
          <a:p>
            <a:pPr marL="469900" marR="400050" lvl="1" indent="-229235">
              <a:lnSpc>
                <a:spcPct val="101699"/>
              </a:lnSpc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spc="-10" dirty="0">
                <a:latin typeface="Calibri"/>
                <a:cs typeface="Calibri"/>
              </a:rPr>
              <a:t>Marketing: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Customer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segmentation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churn prediction</a:t>
            </a:r>
            <a:endParaRPr sz="2400">
              <a:latin typeface="Calibri"/>
              <a:cs typeface="Calibri"/>
            </a:endParaRPr>
          </a:p>
          <a:p>
            <a:pPr marL="469900" lvl="1" indent="-228600">
              <a:lnSpc>
                <a:spcPct val="100000"/>
              </a:lnSpc>
              <a:spcBef>
                <a:spcPts val="5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spc="-10" dirty="0">
                <a:latin typeface="Calibri"/>
                <a:cs typeface="Calibri"/>
              </a:rPr>
              <a:t>Education: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Predicting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student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performance</a:t>
            </a:r>
            <a:endParaRPr sz="2400">
              <a:latin typeface="Calibri"/>
              <a:cs typeface="Calibri"/>
            </a:endParaRPr>
          </a:p>
          <a:p>
            <a:pPr marL="469900" lvl="1" indent="-228600">
              <a:lnSpc>
                <a:spcPct val="100000"/>
              </a:lnSpc>
              <a:spcBef>
                <a:spcPts val="45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IoT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/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Smart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Systems: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Rule-</a:t>
            </a:r>
            <a:r>
              <a:rPr sz="2400" b="1" dirty="0">
                <a:latin typeface="Calibri"/>
                <a:cs typeface="Calibri"/>
              </a:rPr>
              <a:t>based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decision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triggers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E8A03-D836-7FC9-8DB8-417C8E1097B3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E6AAAB1-E089-4425-8979-5F9A8D55DAE7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85437-65DD-1878-E996-6357392CA32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5643E-6162-65A2-CDFD-BFC6E4CCF1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62889"/>
            <a:ext cx="6817359" cy="5071110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410"/>
              </a:spcBef>
            </a:pPr>
            <a:r>
              <a:rPr sz="2400" b="1" dirty="0">
                <a:latin typeface="Calibri"/>
                <a:cs typeface="Calibri"/>
              </a:rPr>
              <a:t>10.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Summary</a:t>
            </a:r>
            <a:endParaRPr sz="2400">
              <a:latin typeface="Calibri"/>
              <a:cs typeface="Calibri"/>
            </a:endParaRPr>
          </a:p>
          <a:p>
            <a:pPr marL="12700" marR="988060" algn="just">
              <a:lnSpc>
                <a:spcPct val="117900"/>
              </a:lnSpc>
              <a:spcBef>
                <a:spcPts val="795"/>
              </a:spcBef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C4.5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algorithm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powerful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versatile </a:t>
            </a:r>
            <a:r>
              <a:rPr sz="2400" b="1" dirty="0">
                <a:latin typeface="Calibri"/>
                <a:cs typeface="Calibri"/>
              </a:rPr>
              <a:t>decision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tree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learning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method,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addressing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key </a:t>
            </a:r>
            <a:r>
              <a:rPr sz="2400" b="1" dirty="0">
                <a:latin typeface="Calibri"/>
                <a:cs typeface="Calibri"/>
              </a:rPr>
              <a:t>limitations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ID3.</a:t>
            </a:r>
            <a:endParaRPr sz="2400">
              <a:latin typeface="Calibri"/>
              <a:cs typeface="Calibri"/>
            </a:endParaRPr>
          </a:p>
          <a:p>
            <a:pPr marL="12700" marR="56515">
              <a:lnSpc>
                <a:spcPct val="117800"/>
              </a:lnSpc>
            </a:pPr>
            <a:r>
              <a:rPr sz="2400" b="1" dirty="0">
                <a:latin typeface="Calibri"/>
                <a:cs typeface="Calibri"/>
              </a:rPr>
              <a:t>Using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Ratio,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continuous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attribute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handling, </a:t>
            </a:r>
            <a:r>
              <a:rPr sz="2400" b="1" dirty="0">
                <a:latin typeface="Calibri"/>
                <a:cs typeface="Calibri"/>
              </a:rPr>
              <a:t>missing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value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management,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post-</a:t>
            </a:r>
            <a:r>
              <a:rPr sz="2400" b="1" dirty="0">
                <a:latin typeface="Calibri"/>
                <a:cs typeface="Calibri"/>
              </a:rPr>
              <a:t>pruning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creates </a:t>
            </a:r>
            <a:r>
              <a:rPr sz="2400" b="1" dirty="0">
                <a:latin typeface="Calibri"/>
                <a:cs typeface="Calibri"/>
              </a:rPr>
              <a:t>more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accurate,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generalizable,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interpretable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2400" b="1" spc="-10" dirty="0">
                <a:latin typeface="Calibri"/>
                <a:cs typeface="Calibri"/>
              </a:rPr>
              <a:t>models.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400" b="1" dirty="0">
                <a:latin typeface="Calibri"/>
                <a:cs typeface="Calibri"/>
              </a:rPr>
              <a:t>C4.5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remains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foundational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machine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learning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ts val="3400"/>
              </a:lnSpc>
              <a:spcBef>
                <a:spcPts val="80"/>
              </a:spcBef>
            </a:pPr>
            <a:r>
              <a:rPr sz="2400" b="1" dirty="0">
                <a:latin typeface="Calibri"/>
                <a:cs typeface="Calibri"/>
              </a:rPr>
              <a:t>data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mining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—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influencing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modern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algorithms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such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as </a:t>
            </a:r>
            <a:r>
              <a:rPr sz="2400" b="1" dirty="0">
                <a:latin typeface="Calibri"/>
                <a:cs typeface="Calibri"/>
              </a:rPr>
              <a:t>C5.0,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Random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Forests,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Gradient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Boosted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Trees.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68D1B6-D810-142A-B1C6-4A6F44DD7C3B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97F1D10-9EE3-495B-BEEF-7ED9A7B5EEC9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87B1C8-617C-582D-1BF7-C5FB76484AF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BCBB75-791D-E305-FA58-DF9ECE1DA07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29259"/>
            <a:ext cx="6830059" cy="8430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CART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Algorithm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80"/>
              </a:spcBef>
            </a:pP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/>
              <a:tabLst>
                <a:tab pos="314325" algn="l"/>
              </a:tabLst>
            </a:pPr>
            <a:r>
              <a:rPr sz="2400" b="1" spc="-10" dirty="0">
                <a:latin typeface="Calibri"/>
                <a:cs typeface="Calibri"/>
              </a:rPr>
              <a:t>Introduction</a:t>
            </a:r>
            <a:endParaRPr sz="2400">
              <a:latin typeface="Calibri"/>
              <a:cs typeface="Calibri"/>
            </a:endParaRPr>
          </a:p>
          <a:p>
            <a:pPr marL="12700" marR="972819">
              <a:lnSpc>
                <a:spcPct val="117900"/>
              </a:lnSpc>
              <a:spcBef>
                <a:spcPts val="790"/>
              </a:spcBef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CART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(Classification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Regression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Trees) </a:t>
            </a:r>
            <a:r>
              <a:rPr sz="2400" b="1" dirty="0">
                <a:latin typeface="Calibri"/>
                <a:cs typeface="Calibri"/>
              </a:rPr>
              <a:t>algorithm,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developed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by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Leo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Breiman,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Jerome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2400" b="1" dirty="0">
                <a:latin typeface="Calibri"/>
                <a:cs typeface="Calibri"/>
              </a:rPr>
              <a:t>Friedman,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Richard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Olshen,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Charles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Stone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(1984),</a:t>
            </a:r>
            <a:endParaRPr sz="2400">
              <a:latin typeface="Calibri"/>
              <a:cs typeface="Calibri"/>
            </a:endParaRPr>
          </a:p>
          <a:p>
            <a:pPr marL="12700" marR="161290">
              <a:lnSpc>
                <a:spcPct val="117900"/>
              </a:lnSpc>
              <a:spcBef>
                <a:spcPts val="5"/>
              </a:spcBef>
            </a:pP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most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widely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used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decision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tree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learning methods.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2400" b="1" dirty="0">
                <a:latin typeface="Calibri"/>
                <a:cs typeface="Calibri"/>
              </a:rPr>
              <a:t>Unlike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ID3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C4.5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(which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primarily</a:t>
            </a:r>
            <a:endParaRPr sz="2400">
              <a:latin typeface="Calibri"/>
              <a:cs typeface="Calibri"/>
            </a:endParaRPr>
          </a:p>
          <a:p>
            <a:pPr marL="12700" marR="69215">
              <a:lnSpc>
                <a:spcPts val="3400"/>
              </a:lnSpc>
              <a:spcBef>
                <a:spcPts val="195"/>
              </a:spcBef>
            </a:pPr>
            <a:r>
              <a:rPr sz="2400" b="1" spc="-20" dirty="0">
                <a:latin typeface="Calibri"/>
                <a:cs typeface="Calibri"/>
              </a:rPr>
              <a:t>classification-</a:t>
            </a:r>
            <a:r>
              <a:rPr sz="2400" b="1" dirty="0">
                <a:latin typeface="Calibri"/>
                <a:cs typeface="Calibri"/>
              </a:rPr>
              <a:t>based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use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Information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</a:t>
            </a:r>
            <a:r>
              <a:rPr sz="2400" b="1" spc="-20" dirty="0">
                <a:latin typeface="Calibri"/>
                <a:cs typeface="Calibri"/>
              </a:rPr>
              <a:t> Gain </a:t>
            </a:r>
            <a:r>
              <a:rPr sz="2400" b="1" dirty="0">
                <a:latin typeface="Calibri"/>
                <a:cs typeface="Calibri"/>
              </a:rPr>
              <a:t>Ratio),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CART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supports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both:</a:t>
            </a:r>
            <a:endParaRPr sz="2400">
              <a:latin typeface="Calibri"/>
              <a:cs typeface="Calibri"/>
            </a:endParaRPr>
          </a:p>
          <a:p>
            <a:pPr marL="469900" marR="490220" lvl="1" indent="-229235">
              <a:lnSpc>
                <a:spcPct val="117900"/>
              </a:lnSpc>
              <a:spcBef>
                <a:spcPts val="59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spc="-10" dirty="0">
                <a:latin typeface="Calibri"/>
                <a:cs typeface="Calibri"/>
              </a:rPr>
              <a:t>Classification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Trees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categorical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(discrete) target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variables</a:t>
            </a:r>
            <a:endParaRPr sz="2400">
              <a:latin typeface="Calibri"/>
              <a:cs typeface="Calibri"/>
            </a:endParaRPr>
          </a:p>
          <a:p>
            <a:pPr marL="469900" marR="696595" lvl="1" indent="-229235">
              <a:lnSpc>
                <a:spcPct val="117900"/>
              </a:lnSpc>
              <a:spcBef>
                <a:spcPts val="795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spc="-10" dirty="0">
                <a:latin typeface="Calibri"/>
                <a:cs typeface="Calibri"/>
              </a:rPr>
              <a:t>Regression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Trees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continuous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(numeric) target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variables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17700"/>
              </a:lnSpc>
              <a:spcBef>
                <a:spcPts val="810"/>
              </a:spcBef>
            </a:pPr>
            <a:r>
              <a:rPr sz="2400" b="1" dirty="0">
                <a:latin typeface="Calibri"/>
                <a:cs typeface="Calibri"/>
              </a:rPr>
              <a:t>CART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constructs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binary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trees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only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—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every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internal </a:t>
            </a:r>
            <a:r>
              <a:rPr sz="2400" b="1" dirty="0">
                <a:latin typeface="Calibri"/>
                <a:cs typeface="Calibri"/>
              </a:rPr>
              <a:t>node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splits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dataset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into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exactly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two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subsets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based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condition.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AA07C6-581A-5E4C-D3B6-0BE01A400528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22E6A4D0-5443-4499-BBA7-31669723CFCB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D3E06-0EA6-A7FC-11A9-D313B367A5D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709383-636C-FCEE-1D1A-00C002B9BB8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29259"/>
            <a:ext cx="3759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2.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Key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Characteristics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CART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8629" y="1002030"/>
          <a:ext cx="6912609" cy="5958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8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2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Feature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66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Type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Supervised</a:t>
                      </a:r>
                      <a:r>
                        <a:rPr sz="2400" b="1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learning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Binary</a:t>
                      </a:r>
                      <a:r>
                        <a:rPr sz="2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Decision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Tree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473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Splitting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Criterion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Gini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Index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(for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classification)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/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Variance</a:t>
                      </a:r>
                      <a:r>
                        <a:rPr sz="2400" b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Reduction</a:t>
                      </a:r>
                      <a:r>
                        <a:rPr sz="2400" b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(for</a:t>
                      </a:r>
                      <a:r>
                        <a:rPr sz="2400" b="1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regression)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Pruning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35" dirty="0">
                          <a:latin typeface="Calibri"/>
                          <a:cs typeface="Calibri"/>
                        </a:rPr>
                        <a:t>Cost-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Complexity</a:t>
                      </a:r>
                      <a:r>
                        <a:rPr sz="2400" b="1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Pruning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346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Handles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5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Both</a:t>
                      </a:r>
                      <a:r>
                        <a:rPr sz="24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categorical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4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continuous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attributes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Output</a:t>
                      </a:r>
                      <a:r>
                        <a:rPr sz="2400" b="1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format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Tree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24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if–then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rules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14094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Support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for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missing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values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Surrogate</a:t>
                      </a:r>
                      <a:r>
                        <a:rPr sz="2400" b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splits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5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F00E9-99E4-F2DD-4551-D2411BBD2E43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564ACCCB-269C-42DC-BF46-1A4A2D15C116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333D2-D02B-F4B0-C2DB-13E2A8F22E1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02531-D54F-41CE-CAA8-DB126667956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29259"/>
            <a:ext cx="5491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3.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Differences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between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ID3,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C4.5,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CART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8629" y="1002030"/>
          <a:ext cx="6912609" cy="5885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9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1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44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Feature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ID3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C4.5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CART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90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Split</a:t>
                      </a:r>
                      <a:r>
                        <a:rPr sz="20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type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Multiway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Multiway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Binary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219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Splitting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criterion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Information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Gain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Gain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 Ratio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936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Gini</a:t>
                      </a:r>
                      <a:r>
                        <a:rPr sz="20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Index</a:t>
                      </a:r>
                      <a:r>
                        <a:rPr sz="20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0" dirty="0">
                          <a:latin typeface="Calibri"/>
                          <a:cs typeface="Calibri"/>
                        </a:rPr>
                        <a:t>/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Variance</a:t>
                      </a:r>
                      <a:r>
                        <a:rPr sz="2000" b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Reduction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95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Handles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continuous</a:t>
                      </a:r>
                      <a:r>
                        <a:rPr sz="20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data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93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93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93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995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Handles</a:t>
                      </a:r>
                      <a:r>
                        <a:rPr sz="20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missing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data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51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924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51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924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b="1" spc="-40" dirty="0">
                          <a:latin typeface="Calibri"/>
                          <a:cs typeface="Calibri"/>
                        </a:rPr>
                        <a:t>Yes</a:t>
                      </a:r>
                      <a:r>
                        <a:rPr sz="20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(via</a:t>
                      </a:r>
                      <a:r>
                        <a:rPr sz="20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surrogate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splits)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185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Pruning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936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936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sz="2000" b="1" spc="-30" dirty="0">
                          <a:latin typeface="Calibri"/>
                          <a:cs typeface="Calibri"/>
                        </a:rPr>
                        <a:t>Post-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pruning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936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Cost-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complexity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pruning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90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Tree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Tree</a:t>
                      </a:r>
                      <a:r>
                        <a:rPr sz="20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20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Rules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Tree</a:t>
                      </a:r>
                      <a:r>
                        <a:rPr sz="20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20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Rules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7058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sz="2000" b="1" spc="-30" dirty="0">
                          <a:latin typeface="Calibri"/>
                          <a:cs typeface="Calibri"/>
                        </a:rPr>
                        <a:t>Target</a:t>
                      </a:r>
                      <a:r>
                        <a:rPr sz="20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type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936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Categorical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only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Categorical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only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Categorical</a:t>
                      </a:r>
                      <a:r>
                        <a:rPr sz="2000" b="1" spc="-25" dirty="0">
                          <a:latin typeface="Calibri"/>
                          <a:cs typeface="Calibri"/>
                        </a:rPr>
                        <a:t> or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Continuous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C4815-5359-920B-E81E-0A91A05BBBCE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6C3F0A7-048E-4BA0-8718-542E2D9B605D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36893-3813-9AAD-4B12-CC64F7507E8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1C164-29AD-E21D-1CF3-5CCFB84C617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62889"/>
            <a:ext cx="5934075" cy="3013710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314325" indent="-301625">
              <a:lnSpc>
                <a:spcPct val="100000"/>
              </a:lnSpc>
              <a:spcBef>
                <a:spcPts val="1410"/>
              </a:spcBef>
              <a:buAutoNum type="arabicPeriod" startAt="4"/>
              <a:tabLst>
                <a:tab pos="314325" algn="l"/>
              </a:tabLst>
            </a:pPr>
            <a:r>
              <a:rPr sz="2400" b="1" spc="-10" dirty="0">
                <a:latin typeface="Calibri"/>
                <a:cs typeface="Calibri"/>
              </a:rPr>
              <a:t>Theoretical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Foundation</a:t>
            </a:r>
            <a:endParaRPr sz="2400">
              <a:latin typeface="Calibri"/>
              <a:cs typeface="Calibri"/>
            </a:endParaRPr>
          </a:p>
          <a:p>
            <a:pPr marL="12700" marR="2585720" lvl="1" indent="456565">
              <a:lnSpc>
                <a:spcPts val="4200"/>
              </a:lnSpc>
              <a:spcBef>
                <a:spcPts val="350"/>
              </a:spcBef>
              <a:buAutoNum type="arabicPeriod"/>
              <a:tabLst>
                <a:tab pos="469265" algn="l"/>
              </a:tabLst>
            </a:pP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Classification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Trees </a:t>
            </a:r>
            <a:r>
              <a:rPr sz="2400" b="1" dirty="0">
                <a:latin typeface="Calibri"/>
                <a:cs typeface="Calibri"/>
              </a:rPr>
              <a:t>Gini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Index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17900"/>
              </a:lnSpc>
              <a:spcBef>
                <a:spcPts val="430"/>
              </a:spcBef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Gini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impurity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measures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degree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class heterogeneity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dataset.</a:t>
            </a:r>
            <a:endParaRPr sz="2400">
              <a:latin typeface="Calibri"/>
              <a:cs typeface="Calibri"/>
            </a:endParaRPr>
          </a:p>
          <a:p>
            <a:pPr marR="1775460" algn="r">
              <a:lnSpc>
                <a:spcPct val="100000"/>
              </a:lnSpc>
              <a:spcBef>
                <a:spcPts val="1265"/>
              </a:spcBef>
            </a:pPr>
            <a:r>
              <a:rPr sz="1750" spc="-50" dirty="0">
                <a:latin typeface="Cambria Math"/>
                <a:cs typeface="Cambria Math"/>
              </a:rPr>
              <a:t>𝒌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4701" y="3211925"/>
            <a:ext cx="2426970" cy="907415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2400" dirty="0">
                <a:latin typeface="Cambria Math"/>
                <a:cs typeface="Cambria Math"/>
              </a:rPr>
              <a:t>𝑮𝒊𝒏𝒊(𝑺)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𝟏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1425" dirty="0">
                <a:latin typeface="Cambria Math"/>
                <a:cs typeface="Cambria Math"/>
              </a:rPr>
              <a:t>∑</a:t>
            </a:r>
            <a:endParaRPr sz="2400">
              <a:latin typeface="Cambria Math"/>
              <a:cs typeface="Cambria Math"/>
            </a:endParaRPr>
          </a:p>
          <a:p>
            <a:pPr marR="18415" algn="r">
              <a:lnSpc>
                <a:spcPct val="100000"/>
              </a:lnSpc>
              <a:spcBef>
                <a:spcPts val="830"/>
              </a:spcBef>
            </a:pPr>
            <a:r>
              <a:rPr sz="1750" spc="-25" dirty="0">
                <a:latin typeface="Cambria Math"/>
                <a:cs typeface="Cambria Math"/>
              </a:rPr>
              <a:t>𝒊=𝟏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87136" y="3511423"/>
            <a:ext cx="10858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/>
                <a:cs typeface="Cambria Math"/>
              </a:rPr>
              <a:t>𝒊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72760" y="3234055"/>
            <a:ext cx="398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37" baseline="-21990" dirty="0">
                <a:latin typeface="Cambria Math"/>
                <a:cs typeface="Cambria Math"/>
              </a:rPr>
              <a:t>𝒑</a:t>
            </a:r>
            <a:r>
              <a:rPr sz="1750" spc="-25" dirty="0">
                <a:latin typeface="Cambria Math"/>
                <a:cs typeface="Cambria Math"/>
              </a:rPr>
              <a:t>𝟐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100" y="4459096"/>
            <a:ext cx="6709409" cy="2484120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10"/>
              </a:spcBef>
            </a:pPr>
            <a:r>
              <a:rPr sz="2400" b="1" dirty="0">
                <a:latin typeface="Calibri"/>
                <a:cs typeface="Calibri"/>
              </a:rPr>
              <a:t>where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𝒑</a:t>
            </a:r>
            <a:r>
              <a:rPr sz="2625" baseline="-15873" dirty="0">
                <a:latin typeface="Cambria Math"/>
                <a:cs typeface="Cambria Math"/>
              </a:rPr>
              <a:t>𝒊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proportion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class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𝒊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dataset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𝑺</a:t>
            </a:r>
            <a:r>
              <a:rPr sz="2400" b="1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495300" marR="492125" indent="-229235">
              <a:lnSpc>
                <a:spcPct val="117900"/>
              </a:lnSpc>
              <a:spcBef>
                <a:spcPts val="795"/>
              </a:spcBef>
              <a:buSzPct val="41666"/>
              <a:buFont typeface="Symbol"/>
              <a:buChar char=""/>
              <a:tabLst>
                <a:tab pos="495300" algn="l"/>
              </a:tabLst>
            </a:pPr>
            <a:r>
              <a:rPr sz="2400" b="1" dirty="0">
                <a:latin typeface="Calibri"/>
                <a:cs typeface="Calibri"/>
              </a:rPr>
              <a:t>Gini(S)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0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perfect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purity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(all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belong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one </a:t>
            </a:r>
            <a:r>
              <a:rPr sz="2400" b="1" spc="-10" dirty="0">
                <a:latin typeface="Calibri"/>
                <a:cs typeface="Calibri"/>
              </a:rPr>
              <a:t>class)</a:t>
            </a:r>
            <a:endParaRPr sz="2400">
              <a:latin typeface="Calibri"/>
              <a:cs typeface="Calibri"/>
            </a:endParaRPr>
          </a:p>
          <a:p>
            <a:pPr marL="495300" marR="30480" indent="-229235">
              <a:lnSpc>
                <a:spcPct val="117900"/>
              </a:lnSpc>
              <a:spcBef>
                <a:spcPts val="790"/>
              </a:spcBef>
              <a:buSzPct val="41666"/>
              <a:buFont typeface="Symbol"/>
              <a:buChar char=""/>
              <a:tabLst>
                <a:tab pos="495300" algn="l"/>
              </a:tabLst>
            </a:pPr>
            <a:r>
              <a:rPr sz="2400" b="1" dirty="0">
                <a:latin typeface="Calibri"/>
                <a:cs typeface="Calibri"/>
              </a:rPr>
              <a:t>Gini(S)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max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(≈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0.5)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high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impurity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(equal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mix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classes)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E55854-8C45-A78D-A2CD-E7552498F689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20403337-045B-4CAC-8901-843453010592}" type="datetime1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0D3017-610F-EA44-E559-F6AB04D713D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A970F6-CE6D-3B63-CE4C-D1E6BFC46CC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9100" y="262889"/>
            <a:ext cx="5998845" cy="1624965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10"/>
              </a:spcBef>
            </a:pPr>
            <a:r>
              <a:rPr sz="2400" b="1" dirty="0">
                <a:latin typeface="Calibri"/>
                <a:cs typeface="Calibri"/>
              </a:rPr>
              <a:t>Gini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Gain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(Reduction)</a:t>
            </a:r>
            <a:endParaRPr sz="24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310"/>
              </a:spcBef>
            </a:pP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split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by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attribute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b="1" dirty="0">
                <a:latin typeface="Calibri"/>
                <a:cs typeface="Calibri"/>
              </a:rPr>
              <a:t>into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subsets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𝑺</a:t>
            </a:r>
            <a:r>
              <a:rPr sz="2625" baseline="-15873" dirty="0">
                <a:latin typeface="Cambria Math"/>
                <a:cs typeface="Cambria Math"/>
              </a:rPr>
              <a:t>𝟏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𝑺</a:t>
            </a:r>
            <a:r>
              <a:rPr sz="2625" spc="-37" baseline="-15873" dirty="0">
                <a:latin typeface="Cambria Math"/>
                <a:cs typeface="Cambria Math"/>
              </a:rPr>
              <a:t>𝟐</a:t>
            </a:r>
            <a:r>
              <a:rPr sz="2400" b="1" spc="-25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1123315">
              <a:lnSpc>
                <a:spcPct val="100000"/>
              </a:lnSpc>
              <a:spcBef>
                <a:spcPts val="1330"/>
              </a:spcBef>
            </a:pPr>
            <a:r>
              <a:rPr sz="2400" spc="-10" dirty="0">
                <a:latin typeface="Cambria Math"/>
                <a:cs typeface="Cambria Math"/>
              </a:rPr>
              <a:t>𝚫𝑮𝒊𝒏𝒊(𝑨)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5709" y="1871218"/>
            <a:ext cx="743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∣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𝑺</a:t>
            </a:r>
            <a:r>
              <a:rPr sz="2625" baseline="-15873" dirty="0">
                <a:latin typeface="Cambria Math"/>
                <a:cs typeface="Cambria Math"/>
              </a:rPr>
              <a:t>𝟏</a:t>
            </a:r>
            <a:r>
              <a:rPr sz="2625" spc="562" baseline="-15873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13809" y="2322829"/>
            <a:ext cx="666115" cy="20320"/>
          </a:xfrm>
          <a:custGeom>
            <a:avLst/>
            <a:gdLst/>
            <a:ahLst/>
            <a:cxnLst/>
            <a:rect l="l" t="t" r="r" b="b"/>
            <a:pathLst>
              <a:path w="666114" h="20319">
                <a:moveTo>
                  <a:pt x="665988" y="0"/>
                </a:moveTo>
                <a:lnTo>
                  <a:pt x="0" y="0"/>
                </a:lnTo>
                <a:lnTo>
                  <a:pt x="0" y="19811"/>
                </a:lnTo>
                <a:lnTo>
                  <a:pt x="665988" y="19811"/>
                </a:lnTo>
                <a:lnTo>
                  <a:pt x="6659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18842" y="2101342"/>
            <a:ext cx="3851275" cy="595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245"/>
              </a:lnSpc>
              <a:spcBef>
                <a:spcPts val="100"/>
              </a:spcBef>
              <a:tabLst>
                <a:tab pos="2574290" algn="l"/>
              </a:tabLst>
            </a:pP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𝑮𝒊𝒏𝒊(𝑺)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(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latin typeface="Cambria Math"/>
                <a:cs typeface="Cambria Math"/>
              </a:rPr>
              <a:t>𝑮𝒊𝒏𝒊(𝑺</a:t>
            </a:r>
            <a:r>
              <a:rPr sz="2625" spc="-15" baseline="-15873" dirty="0">
                <a:latin typeface="Cambria Math"/>
                <a:cs typeface="Cambria Math"/>
              </a:rPr>
              <a:t>𝟏</a:t>
            </a:r>
            <a:r>
              <a:rPr sz="2400" spc="-10" dirty="0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  <a:p>
            <a:pPr marL="605790" algn="ctr">
              <a:lnSpc>
                <a:spcPts val="2245"/>
              </a:lnSpc>
            </a:pPr>
            <a:r>
              <a:rPr sz="2400" dirty="0">
                <a:latin typeface="Cambria Math"/>
                <a:cs typeface="Cambria Math"/>
              </a:rPr>
              <a:t>∣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𝑺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4242" y="2870961"/>
            <a:ext cx="253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+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86226" y="2785617"/>
            <a:ext cx="1587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/>
                <a:cs typeface="Cambria Math"/>
              </a:rPr>
              <a:t>𝟐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40279" y="2640838"/>
            <a:ext cx="6927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9915" algn="l"/>
              </a:tabLst>
            </a:pPr>
            <a:r>
              <a:rPr sz="2400" dirty="0">
                <a:latin typeface="Cambria Math"/>
                <a:cs typeface="Cambria Math"/>
              </a:rPr>
              <a:t>∣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𝑺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13430" y="3075558"/>
            <a:ext cx="546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∣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𝑺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752979" y="3092450"/>
            <a:ext cx="666115" cy="20320"/>
          </a:xfrm>
          <a:custGeom>
            <a:avLst/>
            <a:gdLst/>
            <a:ahLst/>
            <a:cxnLst/>
            <a:rect l="l" t="t" r="r" b="b"/>
            <a:pathLst>
              <a:path w="666114" h="20319">
                <a:moveTo>
                  <a:pt x="665988" y="0"/>
                </a:moveTo>
                <a:lnTo>
                  <a:pt x="0" y="0"/>
                </a:lnTo>
                <a:lnTo>
                  <a:pt x="0" y="19811"/>
                </a:lnTo>
                <a:lnTo>
                  <a:pt x="665988" y="19811"/>
                </a:lnTo>
                <a:lnTo>
                  <a:pt x="6659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384928" y="3016123"/>
            <a:ext cx="1587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/>
                <a:cs typeface="Cambria Math"/>
              </a:rPr>
              <a:t>𝟐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58083" y="2870961"/>
            <a:ext cx="1351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5215" algn="l"/>
              </a:tabLst>
            </a:pPr>
            <a:r>
              <a:rPr sz="2400" spc="-10" dirty="0">
                <a:latin typeface="Cambria Math"/>
                <a:cs typeface="Cambria Math"/>
              </a:rPr>
              <a:t>𝑮𝒊𝒏𝒊(𝑺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))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97126" y="6392036"/>
            <a:ext cx="1315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𝑽𝒂𝒓(𝑺)</a:t>
            </a:r>
            <a:r>
              <a:rPr sz="2400" spc="5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41319" y="6161913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4500" y="3918330"/>
            <a:ext cx="6766559" cy="2374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0880">
              <a:lnSpc>
                <a:spcPct val="1179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attribute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(and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threshold,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continuous)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that </a:t>
            </a:r>
            <a:r>
              <a:rPr sz="2400" b="1" spc="-10" dirty="0">
                <a:latin typeface="Calibri"/>
                <a:cs typeface="Calibri"/>
              </a:rPr>
              <a:t>maximizes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ΔGini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chosen.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latin typeface="Calibri"/>
                <a:cs typeface="Calibri"/>
              </a:rPr>
              <a:t>4.2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Regression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Trees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2400" b="1" dirty="0">
                <a:latin typeface="Calibri"/>
                <a:cs typeface="Calibri"/>
              </a:rPr>
              <a:t>Instead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Gini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Entropy,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variance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reduction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used.</a:t>
            </a:r>
            <a:endParaRPr sz="2400">
              <a:latin typeface="Calibri"/>
              <a:cs typeface="Calibri"/>
            </a:endParaRPr>
          </a:p>
          <a:p>
            <a:pPr marL="460375" algn="ctr">
              <a:lnSpc>
                <a:spcPct val="100000"/>
              </a:lnSpc>
              <a:spcBef>
                <a:spcPts val="1215"/>
              </a:spcBef>
            </a:pPr>
            <a:r>
              <a:rPr sz="1750" spc="-25" dirty="0">
                <a:latin typeface="Cambria Math"/>
                <a:cs typeface="Cambria Math"/>
              </a:rPr>
              <a:t>∣𝑺∣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72154" y="6596253"/>
            <a:ext cx="546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∣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𝑺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284854" y="6613525"/>
            <a:ext cx="521334" cy="20320"/>
          </a:xfrm>
          <a:custGeom>
            <a:avLst/>
            <a:gdLst/>
            <a:ahLst/>
            <a:cxnLst/>
            <a:rect l="l" t="t" r="r" b="b"/>
            <a:pathLst>
              <a:path w="521335" h="20320">
                <a:moveTo>
                  <a:pt x="521208" y="0"/>
                </a:moveTo>
                <a:lnTo>
                  <a:pt x="0" y="0"/>
                </a:lnTo>
                <a:lnTo>
                  <a:pt x="0" y="19812"/>
                </a:lnTo>
                <a:lnTo>
                  <a:pt x="521208" y="19812"/>
                </a:lnTo>
                <a:lnTo>
                  <a:pt x="5212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938140" y="6536817"/>
            <a:ext cx="10858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/>
                <a:cs typeface="Cambria Math"/>
              </a:rPr>
              <a:t>𝒊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18254" y="6247987"/>
            <a:ext cx="2084705" cy="907415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35"/>
              </a:spcBef>
              <a:tabLst>
                <a:tab pos="822960" algn="l"/>
                <a:tab pos="1295400" algn="l"/>
              </a:tabLst>
            </a:pPr>
            <a:r>
              <a:rPr sz="2400" spc="1425" dirty="0">
                <a:latin typeface="Cambria Math"/>
                <a:cs typeface="Cambria Math"/>
              </a:rPr>
              <a:t>∑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(𝒚</a:t>
            </a:r>
            <a:r>
              <a:rPr sz="2400" dirty="0">
                <a:latin typeface="Cambria Math"/>
                <a:cs typeface="Cambria Math"/>
              </a:rPr>
              <a:t>	−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1075" dirty="0">
                <a:latin typeface="Cambria Math"/>
                <a:cs typeface="Cambria Math"/>
              </a:rPr>
              <a:t>𝒚</a:t>
            </a:r>
            <a:r>
              <a:rPr sz="3600" spc="-7" baseline="1157" dirty="0">
                <a:latin typeface="Cambria Math"/>
                <a:cs typeface="Cambria Math"/>
              </a:rPr>
              <a:t>ˉ</a:t>
            </a:r>
            <a:r>
              <a:rPr sz="3600" spc="-240" baseline="1157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)</a:t>
            </a:r>
            <a:r>
              <a:rPr sz="2625" spc="-37" baseline="28571" dirty="0">
                <a:latin typeface="Cambria Math"/>
                <a:cs typeface="Cambria Math"/>
              </a:rPr>
              <a:t>𝟐</a:t>
            </a:r>
            <a:endParaRPr sz="2625" baseline="28571">
              <a:latin typeface="Cambria Math"/>
              <a:cs typeface="Cambria Math"/>
            </a:endParaRPr>
          </a:p>
          <a:p>
            <a:pPr marL="51435">
              <a:lnSpc>
                <a:spcPct val="100000"/>
              </a:lnSpc>
              <a:spcBef>
                <a:spcPts val="830"/>
              </a:spcBef>
            </a:pPr>
            <a:r>
              <a:rPr sz="1750" spc="-25" dirty="0">
                <a:latin typeface="Cambria Math"/>
                <a:cs typeface="Cambria Math"/>
              </a:rPr>
              <a:t>𝒊=𝟏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6E27F938-5F6A-5FD6-C689-2505E4A02581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B461FA17-9BE4-4AE5-9EAA-3097D7816195}" type="datetime1">
              <a:rPr lang="en-US" smtClean="0"/>
              <a:t>10/13/2025</a:t>
            </a:fld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D607970F-673F-EF2C-AE31-7C07C1095BF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86B00454-91A0-4713-8E71-12A303FA979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363473"/>
            <a:ext cx="5851525" cy="1422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best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split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minimizes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weighted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average </a:t>
            </a:r>
            <a:r>
              <a:rPr sz="2400" b="1" dirty="0">
                <a:latin typeface="Calibri"/>
                <a:cs typeface="Calibri"/>
              </a:rPr>
              <a:t>variance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child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nodes.</a:t>
            </a:r>
            <a:endParaRPr sz="2400">
              <a:latin typeface="Calibri"/>
              <a:cs typeface="Calibri"/>
            </a:endParaRPr>
          </a:p>
          <a:p>
            <a:pPr marL="1175385">
              <a:lnSpc>
                <a:spcPct val="100000"/>
              </a:lnSpc>
              <a:spcBef>
                <a:spcPts val="1320"/>
              </a:spcBef>
            </a:pPr>
            <a:r>
              <a:rPr sz="2400" spc="-10" dirty="0">
                <a:latin typeface="Cambria Math"/>
                <a:cs typeface="Cambria Math"/>
              </a:rPr>
              <a:t>𝚫𝑽𝒂𝒓(𝑨)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5709" y="1769109"/>
            <a:ext cx="743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∣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𝑺</a:t>
            </a:r>
            <a:r>
              <a:rPr sz="2625" baseline="-15873" dirty="0">
                <a:latin typeface="Cambria Math"/>
                <a:cs typeface="Cambria Math"/>
              </a:rPr>
              <a:t>𝟏</a:t>
            </a:r>
            <a:r>
              <a:rPr sz="2625" spc="562" baseline="-15873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13809" y="2220722"/>
            <a:ext cx="666115" cy="20320"/>
          </a:xfrm>
          <a:custGeom>
            <a:avLst/>
            <a:gdLst/>
            <a:ahLst/>
            <a:cxnLst/>
            <a:rect l="l" t="t" r="r" b="b"/>
            <a:pathLst>
              <a:path w="666114" h="20319">
                <a:moveTo>
                  <a:pt x="665988" y="0"/>
                </a:moveTo>
                <a:lnTo>
                  <a:pt x="0" y="0"/>
                </a:lnTo>
                <a:lnTo>
                  <a:pt x="0" y="19811"/>
                </a:lnTo>
                <a:lnTo>
                  <a:pt x="665988" y="19811"/>
                </a:lnTo>
                <a:lnTo>
                  <a:pt x="6659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96947" y="1999233"/>
            <a:ext cx="3695065" cy="595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245"/>
              </a:lnSpc>
              <a:spcBef>
                <a:spcPts val="100"/>
              </a:spcBef>
              <a:tabLst>
                <a:tab pos="2496185" algn="l"/>
              </a:tabLst>
            </a:pP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0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𝑽𝒂𝒓(𝑺)</a:t>
            </a:r>
            <a:r>
              <a:rPr sz="2400" spc="-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(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latin typeface="Cambria Math"/>
                <a:cs typeface="Cambria Math"/>
              </a:rPr>
              <a:t>𝑽𝒂𝒓(𝑺</a:t>
            </a:r>
            <a:r>
              <a:rPr sz="2625" spc="-15" baseline="-15873" dirty="0">
                <a:latin typeface="Cambria Math"/>
                <a:cs typeface="Cambria Math"/>
              </a:rPr>
              <a:t>𝟏</a:t>
            </a:r>
            <a:r>
              <a:rPr sz="2400" spc="-10" dirty="0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  <a:p>
            <a:pPr marL="605790" algn="ctr">
              <a:lnSpc>
                <a:spcPts val="2245"/>
              </a:lnSpc>
            </a:pPr>
            <a:r>
              <a:rPr sz="2400" dirty="0">
                <a:latin typeface="Cambria Math"/>
                <a:cs typeface="Cambria Math"/>
              </a:rPr>
              <a:t>∣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𝑺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22347" y="2770378"/>
            <a:ext cx="253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+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63951" y="2685033"/>
            <a:ext cx="1587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/>
                <a:cs typeface="Cambria Math"/>
              </a:rPr>
              <a:t>𝟐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8002" y="2540254"/>
            <a:ext cx="6927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9915" algn="l"/>
              </a:tabLst>
            </a:pPr>
            <a:r>
              <a:rPr sz="2400" dirty="0">
                <a:latin typeface="Cambria Math"/>
                <a:cs typeface="Cambria Math"/>
              </a:rPr>
              <a:t>∣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𝑺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91154" y="2974975"/>
            <a:ext cx="546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∣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𝑺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30702" y="2991866"/>
            <a:ext cx="666115" cy="20320"/>
          </a:xfrm>
          <a:custGeom>
            <a:avLst/>
            <a:gdLst/>
            <a:ahLst/>
            <a:cxnLst/>
            <a:rect l="l" t="t" r="r" b="b"/>
            <a:pathLst>
              <a:path w="666114" h="20319">
                <a:moveTo>
                  <a:pt x="665988" y="0"/>
                </a:moveTo>
                <a:lnTo>
                  <a:pt x="0" y="0"/>
                </a:lnTo>
                <a:lnTo>
                  <a:pt x="0" y="19811"/>
                </a:lnTo>
                <a:lnTo>
                  <a:pt x="665988" y="19811"/>
                </a:lnTo>
                <a:lnTo>
                  <a:pt x="6659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384928" y="2915157"/>
            <a:ext cx="1587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/>
                <a:cs typeface="Cambria Math"/>
              </a:rPr>
              <a:t>𝟐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34283" y="2770378"/>
            <a:ext cx="1275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9015" algn="l"/>
              </a:tabLst>
            </a:pPr>
            <a:r>
              <a:rPr sz="2400" spc="-10" dirty="0">
                <a:latin typeface="Cambria Math"/>
                <a:cs typeface="Cambria Math"/>
              </a:rPr>
              <a:t>𝑽𝒂𝒓(𝑺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))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9100" y="3183762"/>
            <a:ext cx="5927090" cy="4718685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5"/>
              </a:spcBef>
            </a:pPr>
            <a:r>
              <a:rPr sz="2400" b="1" dirty="0">
                <a:latin typeface="Calibri"/>
                <a:cs typeface="Calibri"/>
              </a:rPr>
              <a:t>4.3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Cost-</a:t>
            </a:r>
            <a:r>
              <a:rPr sz="2400" b="1" dirty="0">
                <a:latin typeface="Calibri"/>
                <a:cs typeface="Calibri"/>
              </a:rPr>
              <a:t>Complexity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Pruning</a:t>
            </a:r>
            <a:endParaRPr sz="2400">
              <a:latin typeface="Calibri"/>
              <a:cs typeface="Calibri"/>
            </a:endParaRPr>
          </a:p>
          <a:p>
            <a:pPr marL="38100" marR="339090">
              <a:lnSpc>
                <a:spcPts val="4200"/>
              </a:lnSpc>
              <a:spcBef>
                <a:spcPts val="350"/>
              </a:spcBef>
            </a:pPr>
            <a:r>
              <a:rPr sz="2400" b="1" dirty="0">
                <a:latin typeface="Calibri"/>
                <a:cs typeface="Calibri"/>
              </a:rPr>
              <a:t>CART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uses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post-</a:t>
            </a:r>
            <a:r>
              <a:rPr sz="2400" b="1" dirty="0">
                <a:latin typeface="Calibri"/>
                <a:cs typeface="Calibri"/>
              </a:rPr>
              <a:t>pruning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avoid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overfitting. </a:t>
            </a:r>
            <a:r>
              <a:rPr sz="2400" b="1" spc="-20" dirty="0">
                <a:latin typeface="Calibri"/>
                <a:cs typeface="Calibri"/>
              </a:rPr>
              <a:t>Let:</a:t>
            </a:r>
            <a:endParaRPr sz="2400">
              <a:latin typeface="Calibri"/>
              <a:cs typeface="Calibri"/>
            </a:endParaRPr>
          </a:p>
          <a:p>
            <a:pPr marL="495300" marR="412750" indent="-229235">
              <a:lnSpc>
                <a:spcPct val="118000"/>
              </a:lnSpc>
              <a:spcBef>
                <a:spcPts val="430"/>
              </a:spcBef>
              <a:buSzPct val="41666"/>
              <a:buFont typeface="Symbol"/>
              <a:buChar char=""/>
              <a:tabLst>
                <a:tab pos="495300" algn="l"/>
              </a:tabLst>
            </a:pPr>
            <a:r>
              <a:rPr sz="2400" dirty="0">
                <a:latin typeface="Cambria Math"/>
                <a:cs typeface="Cambria Math"/>
              </a:rPr>
              <a:t>𝑹(𝑻)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misclassification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rate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(or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MSE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for </a:t>
            </a:r>
            <a:r>
              <a:rPr sz="2400" b="1" spc="-10" dirty="0">
                <a:latin typeface="Calibri"/>
                <a:cs typeface="Calibri"/>
              </a:rPr>
              <a:t>regression)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tree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𝑻</a:t>
            </a:r>
            <a:endParaRPr sz="2400">
              <a:latin typeface="Cambria Math"/>
              <a:cs typeface="Cambria Math"/>
            </a:endParaRPr>
          </a:p>
          <a:p>
            <a:pPr marL="495300" indent="-228600">
              <a:lnSpc>
                <a:spcPct val="100000"/>
              </a:lnSpc>
              <a:spcBef>
                <a:spcPts val="1305"/>
              </a:spcBef>
              <a:buSzPct val="41666"/>
              <a:buFont typeface="Symbol"/>
              <a:buChar char=""/>
              <a:tabLst>
                <a:tab pos="495300" algn="l"/>
              </a:tabLst>
            </a:pPr>
            <a:r>
              <a:rPr sz="2400" dirty="0">
                <a:latin typeface="Cambria Math"/>
                <a:cs typeface="Cambria Math"/>
              </a:rPr>
              <a:t>∣</a:t>
            </a:r>
            <a:r>
              <a:rPr sz="2400" spc="10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𝑻</a:t>
            </a:r>
            <a:r>
              <a:rPr sz="2400" spc="9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∣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number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terminal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nodes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(leaves)</a:t>
            </a:r>
            <a:endParaRPr sz="2400">
              <a:latin typeface="Calibri"/>
              <a:cs typeface="Calibri"/>
            </a:endParaRPr>
          </a:p>
          <a:p>
            <a:pPr marL="38100" marR="30480" indent="457200">
              <a:lnSpc>
                <a:spcPct val="145400"/>
              </a:lnSpc>
              <a:spcBef>
                <a:spcPts val="15"/>
              </a:spcBef>
              <a:buSzPct val="41666"/>
              <a:buFont typeface="Symbol"/>
              <a:buChar char=""/>
              <a:tabLst>
                <a:tab pos="495300" algn="l"/>
              </a:tabLst>
            </a:pPr>
            <a:r>
              <a:rPr sz="2400" dirty="0">
                <a:latin typeface="Cambria Math"/>
                <a:cs typeface="Cambria Math"/>
              </a:rPr>
              <a:t>𝜶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complexity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parameter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(penalty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size) </a:t>
            </a:r>
            <a:r>
              <a:rPr sz="2400" b="1" dirty="0">
                <a:latin typeface="Calibri"/>
                <a:cs typeface="Calibri"/>
              </a:rPr>
              <a:t>Then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30" dirty="0">
                <a:latin typeface="Calibri"/>
                <a:cs typeface="Calibri"/>
              </a:rPr>
              <a:t>cost-</a:t>
            </a:r>
            <a:r>
              <a:rPr sz="2400" b="1" dirty="0">
                <a:latin typeface="Calibri"/>
                <a:cs typeface="Calibri"/>
              </a:rPr>
              <a:t>complexity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measure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is:</a:t>
            </a:r>
            <a:endParaRPr sz="2400">
              <a:latin typeface="Calibri"/>
              <a:cs typeface="Calibri"/>
            </a:endParaRPr>
          </a:p>
          <a:p>
            <a:pPr marL="1936750">
              <a:lnSpc>
                <a:spcPct val="100000"/>
              </a:lnSpc>
              <a:spcBef>
                <a:spcPts val="1335"/>
              </a:spcBef>
            </a:pPr>
            <a:r>
              <a:rPr sz="2400" dirty="0">
                <a:latin typeface="Cambria Math"/>
                <a:cs typeface="Cambria Math"/>
              </a:rPr>
              <a:t>𝑹</a:t>
            </a:r>
            <a:r>
              <a:rPr sz="2625" baseline="-15873" dirty="0">
                <a:latin typeface="Cambria Math"/>
                <a:cs typeface="Cambria Math"/>
              </a:rPr>
              <a:t>𝜶</a:t>
            </a:r>
            <a:r>
              <a:rPr sz="2400" dirty="0">
                <a:latin typeface="Cambria Math"/>
                <a:cs typeface="Cambria Math"/>
              </a:rPr>
              <a:t>(𝑻)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𝑹(𝑻)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 𝜶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∣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𝑻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49442E5-22F6-82D0-B13D-E3821BB947A8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B4FD8961-EF4B-4979-AD94-D06C45A5A1D4}" type="datetime1">
              <a:rPr lang="en-US" smtClean="0"/>
              <a:t>10/13/2025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5B3EABE0-C156-051E-9EFB-7BB7EA49811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CF989EA-7018-92EB-E88D-366D3A753AD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9100" y="262889"/>
            <a:ext cx="6562090" cy="3651885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10"/>
              </a:spcBef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pruning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process:</a:t>
            </a:r>
            <a:endParaRPr sz="2400">
              <a:latin typeface="Calibri"/>
              <a:cs typeface="Calibri"/>
            </a:endParaRPr>
          </a:p>
          <a:p>
            <a:pPr marL="952500" indent="-685800">
              <a:lnSpc>
                <a:spcPct val="100000"/>
              </a:lnSpc>
              <a:spcBef>
                <a:spcPts val="1310"/>
              </a:spcBef>
              <a:buAutoNum type="arabicPeriod"/>
              <a:tabLst>
                <a:tab pos="952500" algn="l"/>
              </a:tabLst>
            </a:pPr>
            <a:r>
              <a:rPr sz="2400" b="1" dirty="0">
                <a:latin typeface="Calibri"/>
                <a:cs typeface="Calibri"/>
              </a:rPr>
              <a:t>Start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from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fully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grown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tree.</a:t>
            </a:r>
            <a:endParaRPr sz="2400">
              <a:latin typeface="Calibri"/>
              <a:cs typeface="Calibri"/>
            </a:endParaRPr>
          </a:p>
          <a:p>
            <a:pPr marL="952500" indent="-685800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952500" algn="l"/>
              </a:tabLst>
            </a:pPr>
            <a:r>
              <a:rPr sz="2400" b="1" dirty="0">
                <a:latin typeface="Calibri"/>
                <a:cs typeface="Calibri"/>
              </a:rPr>
              <a:t>Gradually</a:t>
            </a:r>
            <a:r>
              <a:rPr sz="2400" b="1" spc="-1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remove</a:t>
            </a:r>
            <a:r>
              <a:rPr sz="2400" b="1" spc="-1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subtrees</a:t>
            </a:r>
            <a:r>
              <a:rPr sz="2400" b="1" spc="-1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114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increase</a:t>
            </a:r>
            <a:endParaRPr sz="2400">
              <a:latin typeface="Calibri"/>
              <a:cs typeface="Calibri"/>
            </a:endParaRPr>
          </a:p>
          <a:p>
            <a:pPr marL="495300">
              <a:lnSpc>
                <a:spcPct val="100000"/>
              </a:lnSpc>
              <a:spcBef>
                <a:spcPts val="515"/>
              </a:spcBef>
            </a:pPr>
            <a:r>
              <a:rPr sz="2400" dirty="0">
                <a:latin typeface="Cambria Math"/>
                <a:cs typeface="Cambria Math"/>
              </a:rPr>
              <a:t>𝑹</a:t>
            </a:r>
            <a:r>
              <a:rPr sz="2625" baseline="-15873" dirty="0">
                <a:latin typeface="Cambria Math"/>
                <a:cs typeface="Cambria Math"/>
              </a:rPr>
              <a:t>𝜶</a:t>
            </a:r>
            <a:r>
              <a:rPr sz="2400" dirty="0">
                <a:latin typeface="Cambria Math"/>
                <a:cs typeface="Cambria Math"/>
              </a:rPr>
              <a:t>(𝑻)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least.</a:t>
            </a:r>
            <a:endParaRPr sz="2400">
              <a:latin typeface="Calibri"/>
              <a:cs typeface="Calibri"/>
            </a:endParaRPr>
          </a:p>
          <a:p>
            <a:pPr marL="952500" indent="-685800">
              <a:lnSpc>
                <a:spcPct val="100000"/>
              </a:lnSpc>
              <a:spcBef>
                <a:spcPts val="1310"/>
              </a:spcBef>
              <a:buAutoNum type="arabicPeriod" startAt="3"/>
              <a:tabLst>
                <a:tab pos="952500" algn="l"/>
              </a:tabLst>
            </a:pPr>
            <a:r>
              <a:rPr sz="2400" b="1" dirty="0">
                <a:latin typeface="Calibri"/>
                <a:cs typeface="Calibri"/>
              </a:rPr>
              <a:t>Choose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optimal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𝜶</a:t>
            </a:r>
            <a:r>
              <a:rPr sz="2400" b="1" dirty="0">
                <a:latin typeface="Calibri"/>
                <a:cs typeface="Calibri"/>
              </a:rPr>
              <a:t>using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cross-</a:t>
            </a:r>
            <a:r>
              <a:rPr sz="2400" b="1" spc="-10" dirty="0">
                <a:latin typeface="Calibri"/>
                <a:cs typeface="Calibri"/>
              </a:rPr>
              <a:t>validation.</a:t>
            </a:r>
            <a:endParaRPr sz="24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320"/>
              </a:spcBef>
            </a:pPr>
            <a:r>
              <a:rPr sz="2400" b="1" dirty="0">
                <a:latin typeface="Calibri"/>
                <a:cs typeface="Calibri"/>
              </a:rPr>
              <a:t>5.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CART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Algorithm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—</a:t>
            </a:r>
            <a:r>
              <a:rPr sz="2400" b="1" spc="-25" dirty="0">
                <a:latin typeface="Calibri"/>
                <a:cs typeface="Calibri"/>
              </a:rPr>
              <a:t> Step-</a:t>
            </a:r>
            <a:r>
              <a:rPr sz="2400" b="1" spc="-40" dirty="0">
                <a:latin typeface="Calibri"/>
                <a:cs typeface="Calibri"/>
              </a:rPr>
              <a:t>by-</a:t>
            </a: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Procedure</a:t>
            </a:r>
            <a:endParaRPr sz="2400">
              <a:latin typeface="Calibri"/>
              <a:cs typeface="Calibri"/>
            </a:endParaRPr>
          </a:p>
          <a:p>
            <a:pPr marL="266700">
              <a:lnSpc>
                <a:spcPct val="100000"/>
              </a:lnSpc>
              <a:spcBef>
                <a:spcPts val="1310"/>
              </a:spcBef>
            </a:pPr>
            <a:r>
              <a:rPr sz="2400" b="1" dirty="0">
                <a:latin typeface="Calibri"/>
                <a:cs typeface="Calibri"/>
              </a:rPr>
              <a:t>i.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Start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with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entire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dataset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𝑺</a:t>
            </a:r>
            <a:r>
              <a:rPr sz="2400" b="1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100" y="5756528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alibri"/>
                <a:cs typeface="Calibri"/>
              </a:rPr>
              <a:t>iii.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00" y="3895471"/>
            <a:ext cx="6656070" cy="2252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 indent="-685800">
              <a:lnSpc>
                <a:spcPct val="100000"/>
              </a:lnSpc>
              <a:spcBef>
                <a:spcPts val="100"/>
              </a:spcBef>
              <a:buAutoNum type="romanLcPeriod" startAt="2"/>
              <a:tabLst>
                <a:tab pos="698500" algn="l"/>
              </a:tabLst>
            </a:pP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each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attribute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𝑨</a:t>
            </a:r>
            <a:r>
              <a:rPr sz="2400" b="1" spc="-25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698500" marR="127000" lvl="1" indent="-228600">
              <a:lnSpc>
                <a:spcPts val="2940"/>
              </a:lnSpc>
              <a:spcBef>
                <a:spcPts val="95"/>
              </a:spcBef>
              <a:buSzPct val="41666"/>
              <a:buFont typeface="Courier New"/>
              <a:buChar char="o"/>
              <a:tabLst>
                <a:tab pos="698500" algn="l"/>
              </a:tabLst>
            </a:pP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categorical: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consider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every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possible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binary split.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ts val="2820"/>
              </a:lnSpc>
              <a:buSzPct val="41666"/>
              <a:buFont typeface="Courier New"/>
              <a:buChar char="o"/>
              <a:tabLst>
                <a:tab pos="698500" algn="l"/>
              </a:tabLst>
            </a:pP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continuous: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evaluate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thresholds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𝒕</a:t>
            </a:r>
            <a:r>
              <a:rPr sz="2400" b="1" dirty="0">
                <a:latin typeface="Calibri"/>
                <a:cs typeface="Calibri"/>
              </a:rPr>
              <a:t>(e.g.,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spc="6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≤</a:t>
            </a:r>
            <a:endParaRPr sz="2400">
              <a:latin typeface="Cambria Math"/>
              <a:cs typeface="Cambria Math"/>
            </a:endParaRPr>
          </a:p>
          <a:p>
            <a:pPr marL="698500">
              <a:lnSpc>
                <a:spcPct val="100000"/>
              </a:lnSpc>
              <a:spcBef>
                <a:spcPts val="50"/>
              </a:spcBef>
            </a:pPr>
            <a:r>
              <a:rPr sz="2400" spc="-25" dirty="0">
                <a:latin typeface="Cambria Math"/>
                <a:cs typeface="Cambria Math"/>
              </a:rPr>
              <a:t>𝒕</a:t>
            </a:r>
            <a:r>
              <a:rPr sz="2400" b="1" spc="-25" dirty="0">
                <a:latin typeface="Calibri"/>
                <a:cs typeface="Calibri"/>
              </a:rPr>
              <a:t>).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ct val="100000"/>
              </a:lnSpc>
              <a:spcBef>
                <a:spcPts val="45"/>
              </a:spcBef>
            </a:pPr>
            <a:r>
              <a:rPr sz="2400" b="1" dirty="0">
                <a:latin typeface="Calibri"/>
                <a:cs typeface="Calibri"/>
              </a:rPr>
              <a:t>Compute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Gini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reduction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(classification)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6128384"/>
            <a:ext cx="6533515" cy="1135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variance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reduction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(regression).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1699"/>
              </a:lnSpc>
              <a:tabLst>
                <a:tab pos="698500" algn="l"/>
              </a:tabLst>
            </a:pPr>
            <a:r>
              <a:rPr sz="2400" b="1" spc="-25" dirty="0">
                <a:latin typeface="Calibri"/>
                <a:cs typeface="Calibri"/>
              </a:rPr>
              <a:t>iv.</a:t>
            </a:r>
            <a:r>
              <a:rPr sz="2400" b="1" dirty="0">
                <a:latin typeface="Calibri"/>
                <a:cs typeface="Calibri"/>
              </a:rPr>
              <a:t>	Select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best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split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maximizes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reduction. </a:t>
            </a:r>
            <a:r>
              <a:rPr sz="2400" b="1" dirty="0">
                <a:latin typeface="Calibri"/>
                <a:cs typeface="Calibri"/>
              </a:rPr>
              <a:t>v.Partition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dataset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into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two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subsets.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100" y="8361426"/>
            <a:ext cx="400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alibri"/>
                <a:cs typeface="Calibri"/>
              </a:rPr>
              <a:t>vii.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3100" y="7245477"/>
            <a:ext cx="6468745" cy="150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 indent="-685800">
              <a:lnSpc>
                <a:spcPct val="100000"/>
              </a:lnSpc>
              <a:spcBef>
                <a:spcPts val="100"/>
              </a:spcBef>
              <a:buAutoNum type="romanLcPeriod" startAt="6"/>
              <a:tabLst>
                <a:tab pos="698500" algn="l"/>
              </a:tabLst>
            </a:pPr>
            <a:r>
              <a:rPr sz="2400" b="1" dirty="0">
                <a:latin typeface="Calibri"/>
                <a:cs typeface="Calibri"/>
              </a:rPr>
              <a:t>Repeat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recursively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each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subset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until: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50"/>
              </a:spcBef>
              <a:buSzPct val="41666"/>
              <a:buFont typeface="Courier New"/>
              <a:buChar char="o"/>
              <a:tabLst>
                <a:tab pos="698500" algn="l"/>
              </a:tabLst>
            </a:pPr>
            <a:r>
              <a:rPr sz="2400" b="1" dirty="0">
                <a:latin typeface="Calibri"/>
                <a:cs typeface="Calibri"/>
              </a:rPr>
              <a:t>Node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pure,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or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50"/>
              </a:spcBef>
              <a:buSzPct val="41666"/>
              <a:buFont typeface="Courier New"/>
              <a:buChar char="o"/>
              <a:tabLst>
                <a:tab pos="698500" algn="l"/>
              </a:tabLst>
            </a:pPr>
            <a:r>
              <a:rPr sz="2400" b="1" dirty="0">
                <a:latin typeface="Calibri"/>
                <a:cs typeface="Calibri"/>
              </a:rPr>
              <a:t>Minimum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split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size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reached.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ct val="100000"/>
              </a:lnSpc>
              <a:spcBef>
                <a:spcPts val="45"/>
              </a:spcBef>
            </a:pPr>
            <a:r>
              <a:rPr sz="2400" b="1" dirty="0">
                <a:latin typeface="Calibri"/>
                <a:cs typeface="Calibri"/>
              </a:rPr>
              <a:t>Prune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tree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using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cost-</a:t>
            </a:r>
            <a:r>
              <a:rPr sz="2400" b="1" dirty="0">
                <a:latin typeface="Calibri"/>
                <a:cs typeface="Calibri"/>
              </a:rPr>
              <a:t>complexity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pruning.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2DC383D-9790-41C8-2320-BAD5DF81132E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0D401F3-A367-4516-A541-C49ABF6930D5}" type="datetime1">
              <a:rPr lang="en-US" smtClean="0"/>
              <a:t>10/13/2025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CAA4A14-F6CF-C760-E773-80214ED6BFC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10FB039-BAC3-643B-AF53-60AA039204F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62889"/>
            <a:ext cx="4598035" cy="1089660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400" b="1" dirty="0">
                <a:latin typeface="Calibri"/>
                <a:cs typeface="Calibri"/>
              </a:rPr>
              <a:t>6.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Example: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Classification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Tree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2400" b="1" spc="-10" dirty="0">
                <a:latin typeface="Calibri"/>
                <a:cs typeface="Calibri"/>
              </a:rPr>
              <a:t>Dataset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—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“Play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Tennis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(Simplified)”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183383" y="1535683"/>
          <a:ext cx="3482975" cy="5247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1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Outlook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15" dirty="0">
                          <a:latin typeface="Calibri"/>
                          <a:cs typeface="Calibri"/>
                        </a:rPr>
                        <a:t>Temperature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Play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Sunny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Hot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Sunny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Mild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Overcast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Hot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66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Rain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Mild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Rain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Cool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Overcast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Cool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Sunny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Cool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229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Rain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Hot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44500" y="6777608"/>
            <a:ext cx="2651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5" dirty="0">
                <a:latin typeface="Calibri"/>
                <a:cs typeface="Calibri"/>
              </a:rPr>
              <a:t>Target: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Play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(Yes/No)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D029E-81FC-CE97-4949-41F22DA6DE94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975ADD9E-46D5-454C-A236-B944F6A777ED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F7D98-6CC4-3E25-3D61-8D3E421E665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9B18B-9147-9D71-0F58-0AA658FAFF7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52726" y="6395592"/>
            <a:ext cx="182880" cy="20320"/>
          </a:xfrm>
          <a:custGeom>
            <a:avLst/>
            <a:gdLst/>
            <a:ahLst/>
            <a:cxnLst/>
            <a:rect l="l" t="t" r="r" b="b"/>
            <a:pathLst>
              <a:path w="182880" h="20320">
                <a:moveTo>
                  <a:pt x="182880" y="0"/>
                </a:moveTo>
                <a:lnTo>
                  <a:pt x="0" y="0"/>
                </a:lnTo>
                <a:lnTo>
                  <a:pt x="0" y="19812"/>
                </a:lnTo>
                <a:lnTo>
                  <a:pt x="182880" y="19812"/>
                </a:lnTo>
                <a:lnTo>
                  <a:pt x="1828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284854" y="6395592"/>
            <a:ext cx="182880" cy="20320"/>
          </a:xfrm>
          <a:custGeom>
            <a:avLst/>
            <a:gdLst/>
            <a:ahLst/>
            <a:cxnLst/>
            <a:rect l="l" t="t" r="r" b="b"/>
            <a:pathLst>
              <a:path w="182879" h="20320">
                <a:moveTo>
                  <a:pt x="182879" y="0"/>
                </a:moveTo>
                <a:lnTo>
                  <a:pt x="0" y="0"/>
                </a:lnTo>
                <a:lnTo>
                  <a:pt x="0" y="19812"/>
                </a:lnTo>
                <a:lnTo>
                  <a:pt x="182879" y="19812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5333" y="6395592"/>
            <a:ext cx="182880" cy="20320"/>
          </a:xfrm>
          <a:custGeom>
            <a:avLst/>
            <a:gdLst/>
            <a:ahLst/>
            <a:cxnLst/>
            <a:rect l="l" t="t" r="r" b="b"/>
            <a:pathLst>
              <a:path w="182879" h="20320">
                <a:moveTo>
                  <a:pt x="182879" y="0"/>
                </a:moveTo>
                <a:lnTo>
                  <a:pt x="0" y="0"/>
                </a:lnTo>
                <a:lnTo>
                  <a:pt x="0" y="19812"/>
                </a:lnTo>
                <a:lnTo>
                  <a:pt x="182879" y="19812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93700" y="262889"/>
            <a:ext cx="6751955" cy="8765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1729105">
              <a:lnSpc>
                <a:spcPct val="1455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i: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Compute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Gini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Index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Root </a:t>
            </a:r>
            <a:r>
              <a:rPr sz="2400" b="1" dirty="0">
                <a:latin typeface="Calibri"/>
                <a:cs typeface="Calibri"/>
              </a:rPr>
              <a:t>There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8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samples: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4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Yes, </a:t>
            </a:r>
            <a:r>
              <a:rPr sz="2400" b="1" dirty="0">
                <a:latin typeface="Calibri"/>
                <a:cs typeface="Calibri"/>
              </a:rPr>
              <a:t>4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No.</a:t>
            </a:r>
            <a:endParaRPr sz="2400">
              <a:latin typeface="Calibri"/>
              <a:cs typeface="Calibri"/>
            </a:endParaRPr>
          </a:p>
          <a:p>
            <a:pPr marL="88265" algn="ctr">
              <a:lnSpc>
                <a:spcPct val="100000"/>
              </a:lnSpc>
              <a:spcBef>
                <a:spcPts val="1450"/>
              </a:spcBef>
            </a:pPr>
            <a:r>
              <a:rPr sz="2400" dirty="0">
                <a:latin typeface="Cambria Math"/>
                <a:cs typeface="Cambria Math"/>
              </a:rPr>
              <a:t>𝑮𝒊𝒏𝒊(𝑺)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𝟏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[(𝟒/𝟖)</a:t>
            </a:r>
            <a:r>
              <a:rPr sz="2625" baseline="28571" dirty="0">
                <a:latin typeface="Cambria Math"/>
                <a:cs typeface="Cambria Math"/>
              </a:rPr>
              <a:t>𝟐</a:t>
            </a:r>
            <a:r>
              <a:rPr sz="2625" spc="315" baseline="28571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(𝟒/𝟖)</a:t>
            </a:r>
            <a:r>
              <a:rPr sz="2625" spc="-15" baseline="28571" dirty="0">
                <a:latin typeface="Cambria Math"/>
                <a:cs typeface="Cambria Math"/>
              </a:rPr>
              <a:t>𝟐</a:t>
            </a:r>
            <a:r>
              <a:rPr sz="2400" spc="-10" dirty="0">
                <a:latin typeface="Cambria Math"/>
                <a:cs typeface="Cambria Math"/>
              </a:rPr>
              <a:t>]</a:t>
            </a:r>
            <a:endParaRPr sz="2400">
              <a:latin typeface="Cambria Math"/>
              <a:cs typeface="Cambria Math"/>
            </a:endParaRPr>
          </a:p>
          <a:p>
            <a:pPr marL="1148715" algn="ctr">
              <a:lnSpc>
                <a:spcPct val="100000"/>
              </a:lnSpc>
              <a:spcBef>
                <a:spcPts val="385"/>
              </a:spcBef>
            </a:pP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𝟏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[𝟎.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𝟐𝟓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𝟐𝟓]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  <a:p>
            <a:pPr marL="63500">
              <a:lnSpc>
                <a:spcPct val="100000"/>
              </a:lnSpc>
              <a:spcBef>
                <a:spcPts val="384"/>
              </a:spcBef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ii: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Compute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Gini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each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possible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split</a:t>
            </a:r>
            <a:endParaRPr sz="24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latin typeface="Calibri"/>
                <a:cs typeface="Calibri"/>
              </a:rPr>
              <a:t>Split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1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—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Attribute: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Outlook</a:t>
            </a:r>
            <a:endParaRPr sz="2400">
              <a:latin typeface="Calibri"/>
              <a:cs typeface="Calibri"/>
            </a:endParaRPr>
          </a:p>
          <a:p>
            <a:pPr marL="520700" indent="-228600">
              <a:lnSpc>
                <a:spcPct val="100000"/>
              </a:lnSpc>
              <a:spcBef>
                <a:spcPts val="1310"/>
              </a:spcBef>
              <a:buSzPct val="41666"/>
              <a:buFont typeface="Symbol"/>
              <a:buChar char=""/>
              <a:tabLst>
                <a:tab pos="520700" algn="l"/>
              </a:tabLst>
            </a:pPr>
            <a:r>
              <a:rPr sz="2400" b="1" dirty="0">
                <a:latin typeface="Calibri"/>
                <a:cs typeface="Calibri"/>
              </a:rPr>
              <a:t>Sunny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{No,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No,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No}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Gini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marL="520700" indent="-228600">
              <a:lnSpc>
                <a:spcPct val="100000"/>
              </a:lnSpc>
              <a:spcBef>
                <a:spcPts val="1320"/>
              </a:spcBef>
              <a:buSzPct val="41666"/>
              <a:buFont typeface="Symbol"/>
              <a:buChar char=""/>
              <a:tabLst>
                <a:tab pos="520700" algn="l"/>
              </a:tabLst>
            </a:pPr>
            <a:r>
              <a:rPr sz="2400" b="1" spc="-10" dirty="0">
                <a:latin typeface="Calibri"/>
                <a:cs typeface="Calibri"/>
              </a:rPr>
              <a:t>Overcast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{Yes,</a:t>
            </a:r>
            <a:r>
              <a:rPr sz="2400" b="1" spc="-45" dirty="0">
                <a:latin typeface="Calibri"/>
                <a:cs typeface="Calibri"/>
              </a:rPr>
              <a:t> Yes}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Gini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marL="520700" marR="490855" indent="-229235">
              <a:lnSpc>
                <a:spcPct val="122500"/>
              </a:lnSpc>
              <a:spcBef>
                <a:spcPts val="795"/>
              </a:spcBef>
              <a:buSzPct val="41666"/>
              <a:buFont typeface="Symbol"/>
              <a:buChar char=""/>
              <a:tabLst>
                <a:tab pos="520700" algn="l"/>
              </a:tabLst>
            </a:pPr>
            <a:r>
              <a:rPr sz="2400" b="1" dirty="0">
                <a:latin typeface="Calibri"/>
                <a:cs typeface="Calibri"/>
              </a:rPr>
              <a:t>Rain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30" dirty="0">
                <a:latin typeface="Calibri"/>
                <a:cs typeface="Calibri"/>
              </a:rPr>
              <a:t>{Yes, </a:t>
            </a:r>
            <a:r>
              <a:rPr sz="2400" b="1" spc="-40" dirty="0">
                <a:latin typeface="Calibri"/>
                <a:cs typeface="Calibri"/>
              </a:rPr>
              <a:t>Yes,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No}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Gini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𝟏</a:t>
            </a:r>
            <a:r>
              <a:rPr sz="2400" spc="-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[(𝟐/𝟑)</a:t>
            </a:r>
            <a:r>
              <a:rPr sz="2625" baseline="28571" dirty="0">
                <a:latin typeface="Cambria Math"/>
                <a:cs typeface="Cambria Math"/>
              </a:rPr>
              <a:t>𝟐</a:t>
            </a:r>
            <a:r>
              <a:rPr sz="2625" spc="292" baseline="28571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+ </a:t>
            </a:r>
            <a:r>
              <a:rPr sz="2400" dirty="0">
                <a:latin typeface="Cambria Math"/>
                <a:cs typeface="Cambria Math"/>
              </a:rPr>
              <a:t>(𝟏/𝟑)</a:t>
            </a:r>
            <a:r>
              <a:rPr sz="2625" baseline="28571" dirty="0">
                <a:latin typeface="Cambria Math"/>
                <a:cs typeface="Cambria Math"/>
              </a:rPr>
              <a:t>𝟐</a:t>
            </a:r>
            <a:r>
              <a:rPr sz="2400" dirty="0">
                <a:latin typeface="Cambria Math"/>
                <a:cs typeface="Cambria Math"/>
              </a:rPr>
              <a:t>]</a:t>
            </a:r>
            <a:r>
              <a:rPr sz="2400" spc="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4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𝟒𝟒𝟒</a:t>
            </a:r>
            <a:endParaRPr sz="2400">
              <a:latin typeface="Cambria Math"/>
              <a:cs typeface="Cambria Math"/>
            </a:endParaRPr>
          </a:p>
          <a:p>
            <a:pPr marL="63500">
              <a:lnSpc>
                <a:spcPct val="100000"/>
              </a:lnSpc>
              <a:spcBef>
                <a:spcPts val="1175"/>
              </a:spcBef>
            </a:pPr>
            <a:r>
              <a:rPr sz="2400" b="1" spc="-20" dirty="0">
                <a:latin typeface="Calibri"/>
                <a:cs typeface="Calibri"/>
              </a:rPr>
              <a:t>Weighted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Gini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after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split:</a:t>
            </a:r>
            <a:endParaRPr sz="2400">
              <a:latin typeface="Calibri"/>
              <a:cs typeface="Calibri"/>
            </a:endParaRPr>
          </a:p>
          <a:p>
            <a:pPr marL="1858645">
              <a:lnSpc>
                <a:spcPts val="2345"/>
              </a:lnSpc>
              <a:spcBef>
                <a:spcPts val="1010"/>
              </a:spcBef>
              <a:tabLst>
                <a:tab pos="2890520" algn="l"/>
                <a:tab pos="3921125" algn="l"/>
              </a:tabLst>
            </a:pPr>
            <a:r>
              <a:rPr sz="2400" spc="-50" dirty="0">
                <a:latin typeface="Cambria Math"/>
                <a:cs typeface="Cambria Math"/>
              </a:rPr>
              <a:t>𝟑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𝟐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  <a:p>
            <a:pPr marL="313055">
              <a:lnSpc>
                <a:spcPts val="2345"/>
              </a:lnSpc>
            </a:pPr>
            <a:r>
              <a:rPr sz="2400" dirty="0">
                <a:latin typeface="Cambria Math"/>
                <a:cs typeface="Cambria Math"/>
              </a:rPr>
              <a:t>𝑮𝒊𝒏𝒊</a:t>
            </a:r>
            <a:r>
              <a:rPr sz="2625" baseline="-15873" dirty="0">
                <a:latin typeface="Cambria Math"/>
                <a:cs typeface="Cambria Math"/>
              </a:rPr>
              <a:t>𝒔𝒑𝒍𝒊𝒕</a:t>
            </a:r>
            <a:r>
              <a:rPr sz="2625" spc="47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3600" spc="-30" baseline="-37037" dirty="0">
                <a:latin typeface="Cambria Math"/>
                <a:cs typeface="Cambria Math"/>
              </a:rPr>
              <a:t>𝟖</a:t>
            </a:r>
            <a:r>
              <a:rPr sz="3600" spc="-195" baseline="-37037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(𝟎)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3600" spc="-30" baseline="-37037" dirty="0">
                <a:latin typeface="Cambria Math"/>
                <a:cs typeface="Cambria Math"/>
              </a:rPr>
              <a:t>𝟖</a:t>
            </a:r>
            <a:r>
              <a:rPr sz="3600" spc="-217" baseline="-37037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(𝟎) +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3600" spc="-30" baseline="-37037" dirty="0">
                <a:latin typeface="Cambria Math"/>
                <a:cs typeface="Cambria Math"/>
              </a:rPr>
              <a:t>𝟖</a:t>
            </a:r>
            <a:r>
              <a:rPr sz="3600" spc="-195" baseline="-37037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𝟒𝟒𝟒)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𝟏𝟔𝟔𝟓</a:t>
            </a:r>
            <a:endParaRPr sz="2400">
              <a:latin typeface="Cambria Math"/>
              <a:cs typeface="Cambria Math"/>
            </a:endParaRPr>
          </a:p>
          <a:p>
            <a:pPr marL="313055">
              <a:lnSpc>
                <a:spcPct val="100000"/>
              </a:lnSpc>
              <a:spcBef>
                <a:spcPts val="1490"/>
              </a:spcBef>
            </a:pPr>
            <a:r>
              <a:rPr sz="2400" dirty="0">
                <a:latin typeface="Cambria Math"/>
                <a:cs typeface="Cambria Math"/>
              </a:rPr>
              <a:t>𝚫𝑮𝒊𝒏𝒊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𝟓 −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𝟏𝟔𝟔𝟓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𝟑𝟑𝟑𝟓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745"/>
              </a:spcBef>
            </a:pPr>
            <a:endParaRPr sz="2400">
              <a:latin typeface="Cambria Math"/>
              <a:cs typeface="Cambria Math"/>
            </a:endParaRPr>
          </a:p>
          <a:p>
            <a:pPr marL="635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Split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2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—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Attribute: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30" dirty="0">
                <a:latin typeface="Calibri"/>
                <a:cs typeface="Calibri"/>
              </a:rPr>
              <a:t>Temperature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(continuous)</a:t>
            </a:r>
            <a:endParaRPr sz="24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1310"/>
              </a:spcBef>
            </a:pPr>
            <a:r>
              <a:rPr sz="2400" b="1" dirty="0">
                <a:latin typeface="Calibri"/>
                <a:cs typeface="Calibri"/>
              </a:rPr>
              <a:t>Possible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thresholds: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{Cool,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Mild,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Hot}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evaluate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as</a:t>
            </a:r>
            <a:endParaRPr sz="24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515"/>
              </a:spcBef>
            </a:pPr>
            <a:r>
              <a:rPr sz="2400" dirty="0">
                <a:latin typeface="Cambria Math"/>
                <a:cs typeface="Cambria Math"/>
              </a:rPr>
              <a:t>𝑻𝒆𝒎𝒑𝒆𝒓𝒂𝒕𝒖𝒓𝒆</a:t>
            </a:r>
            <a:r>
              <a:rPr sz="2400" spc="8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≤</a:t>
            </a:r>
            <a:r>
              <a:rPr sz="2400" spc="85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𝑴𝒊𝒍𝒅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48C2595-F269-7768-439E-76F941115A56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5E83BD7-3AEA-440C-9D1F-2C833973A93C}" type="datetime1">
              <a:rPr lang="en-US" smtClean="0"/>
              <a:t>10/13/2025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D287898-2D88-EA9C-7499-265103EBDC5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464700E-74B5-4C24-0E4E-EE71F82DDF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363473"/>
            <a:ext cx="6605270" cy="5048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8419" indent="-229235">
              <a:lnSpc>
                <a:spcPct val="118000"/>
              </a:lnSpc>
              <a:spcBef>
                <a:spcPts val="10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≤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Mild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{Mild,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Cool,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Cool,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Mild,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Cool}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mix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of </a:t>
            </a:r>
            <a:r>
              <a:rPr sz="2400" b="1" spc="-10" dirty="0">
                <a:latin typeface="Calibri"/>
                <a:cs typeface="Calibri"/>
              </a:rPr>
              <a:t>Yes/No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15"/>
              </a:spcBef>
            </a:pPr>
            <a:r>
              <a:rPr sz="2400" b="1" spc="-10" dirty="0">
                <a:latin typeface="Calibri"/>
                <a:cs typeface="Calibri"/>
              </a:rPr>
              <a:t>After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calculation,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assume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ΔGini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0.25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ts val="4200"/>
              </a:lnSpc>
              <a:spcBef>
                <a:spcPts val="345"/>
              </a:spcBef>
            </a:pPr>
            <a:r>
              <a:rPr sz="2400" b="1" dirty="0">
                <a:latin typeface="Calibri"/>
                <a:cs typeface="Calibri"/>
              </a:rPr>
              <a:t>Best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split: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Outlook,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since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gives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max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ΔGini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0.3335 </a:t>
            </a: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iii: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Split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Outlook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2400" b="1" dirty="0">
                <a:latin typeface="Calibri"/>
                <a:cs typeface="Calibri"/>
              </a:rPr>
              <a:t>Now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have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3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branches:</a:t>
            </a:r>
            <a:endParaRPr sz="24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31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Sunny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All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leaf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node</a:t>
            </a:r>
            <a:endParaRPr sz="24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32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spc="-10" dirty="0">
                <a:latin typeface="Calibri"/>
                <a:cs typeface="Calibri"/>
              </a:rPr>
              <a:t>Overcast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All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Yes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leaf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node</a:t>
            </a:r>
            <a:endParaRPr sz="2400">
              <a:latin typeface="Calibri"/>
              <a:cs typeface="Calibri"/>
            </a:endParaRPr>
          </a:p>
          <a:p>
            <a:pPr marL="12700" marR="1945005" indent="457200">
              <a:lnSpc>
                <a:spcPts val="4200"/>
              </a:lnSpc>
              <a:spcBef>
                <a:spcPts val="15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Rain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mix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needs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further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split </a:t>
            </a:r>
            <a:r>
              <a:rPr sz="2400" b="1" dirty="0">
                <a:latin typeface="Calibri"/>
                <a:cs typeface="Calibri"/>
              </a:rPr>
              <a:t>Subset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Rain: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223007" y="5593206"/>
          <a:ext cx="3402329" cy="2332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1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Outlook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Temperature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Play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66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Rain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Mild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Rain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Cool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Rain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Hot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44500" y="7852409"/>
            <a:ext cx="5172075" cy="888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9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Compute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Gini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splitting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Rain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subset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by </a:t>
            </a:r>
            <a:r>
              <a:rPr sz="2400" b="1" spc="-10" dirty="0">
                <a:latin typeface="Calibri"/>
                <a:cs typeface="Calibri"/>
              </a:rPr>
              <a:t>Temperature: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D294B-457A-CAF4-1707-CA34ABA975CE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450B6836-698C-4987-8F9D-68F0567AA14C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D0711-709E-EE4B-8B48-8EF230F7748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9CF29-FB41-E731-4E81-700838B75D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62889"/>
            <a:ext cx="6509384" cy="8445500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469900" indent="-228600">
              <a:lnSpc>
                <a:spcPct val="100000"/>
              </a:lnSpc>
              <a:spcBef>
                <a:spcPts val="141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spc="-35" dirty="0">
                <a:latin typeface="Calibri"/>
                <a:cs typeface="Calibri"/>
              </a:rPr>
              <a:t>Temperature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≤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Mild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{Yes,</a:t>
            </a:r>
            <a:r>
              <a:rPr sz="2400" b="1" spc="-35" dirty="0">
                <a:latin typeface="Calibri"/>
                <a:cs typeface="Calibri"/>
              </a:rPr>
              <a:t> Yes}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Gini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marL="12700" marR="1189355" indent="457200">
              <a:lnSpc>
                <a:spcPts val="4200"/>
              </a:lnSpc>
              <a:spcBef>
                <a:spcPts val="35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spc="-35" dirty="0">
                <a:latin typeface="Calibri"/>
                <a:cs typeface="Calibri"/>
              </a:rPr>
              <a:t>Temperature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&gt;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Mild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{No}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Gini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0 </a:t>
            </a:r>
            <a:r>
              <a:rPr sz="2400" b="1" spc="-20" dirty="0">
                <a:latin typeface="Calibri"/>
                <a:cs typeface="Calibri"/>
              </a:rPr>
              <a:t>Weighted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Gini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0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perfect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split!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15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iv: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Final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CART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Tree</a:t>
            </a:r>
            <a:endParaRPr sz="2400">
              <a:latin typeface="Calibri"/>
              <a:cs typeface="Calibri"/>
            </a:endParaRPr>
          </a:p>
          <a:p>
            <a:pPr marL="1183005">
              <a:lnSpc>
                <a:spcPct val="100000"/>
              </a:lnSpc>
              <a:spcBef>
                <a:spcPts val="1315"/>
              </a:spcBef>
            </a:pPr>
            <a:r>
              <a:rPr sz="2400" b="1" spc="-10" dirty="0">
                <a:latin typeface="Calibri"/>
                <a:cs typeface="Calibri"/>
              </a:rPr>
              <a:t>[Outlook?]</a:t>
            </a:r>
            <a:endParaRPr sz="2400">
              <a:latin typeface="Calibri"/>
              <a:cs typeface="Calibri"/>
            </a:endParaRPr>
          </a:p>
          <a:p>
            <a:pPr marL="1183005">
              <a:lnSpc>
                <a:spcPct val="100000"/>
              </a:lnSpc>
              <a:spcBef>
                <a:spcPts val="1320"/>
              </a:spcBef>
              <a:tabLst>
                <a:tab pos="1589405" algn="l"/>
                <a:tab pos="2077720" algn="l"/>
              </a:tabLst>
            </a:pPr>
            <a:r>
              <a:rPr sz="2400" b="1" spc="-50" dirty="0">
                <a:latin typeface="Calibri"/>
                <a:cs typeface="Calibri"/>
              </a:rPr>
              <a:t>/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50" dirty="0">
                <a:latin typeface="Calibri"/>
                <a:cs typeface="Calibri"/>
              </a:rPr>
              <a:t>|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50" dirty="0">
                <a:latin typeface="Calibri"/>
                <a:cs typeface="Calibri"/>
              </a:rPr>
              <a:t>\</a:t>
            </a:r>
            <a:endParaRPr sz="2400">
              <a:latin typeface="Calibri"/>
              <a:cs typeface="Calibri"/>
            </a:endParaRPr>
          </a:p>
          <a:p>
            <a:pPr marL="838835">
              <a:lnSpc>
                <a:spcPct val="100000"/>
              </a:lnSpc>
              <a:spcBef>
                <a:spcPts val="1305"/>
              </a:spcBef>
              <a:tabLst>
                <a:tab pos="1751964" algn="l"/>
                <a:tab pos="2995295" algn="l"/>
              </a:tabLst>
            </a:pPr>
            <a:r>
              <a:rPr sz="2400" b="1" spc="-10" dirty="0">
                <a:latin typeface="Calibri"/>
                <a:cs typeface="Calibri"/>
              </a:rPr>
              <a:t>Sunny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10" dirty="0">
                <a:latin typeface="Calibri"/>
                <a:cs typeface="Calibri"/>
              </a:rPr>
              <a:t>Overcast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0" dirty="0">
                <a:latin typeface="Calibri"/>
                <a:cs typeface="Calibri"/>
              </a:rPr>
              <a:t>Rain</a:t>
            </a:r>
            <a:endParaRPr sz="2400">
              <a:latin typeface="Calibri"/>
              <a:cs typeface="Calibri"/>
            </a:endParaRPr>
          </a:p>
          <a:p>
            <a:pPr marL="907415">
              <a:lnSpc>
                <a:spcPct val="100000"/>
              </a:lnSpc>
              <a:spcBef>
                <a:spcPts val="1320"/>
              </a:spcBef>
              <a:tabLst>
                <a:tab pos="1755139" algn="l"/>
                <a:tab pos="2439035" algn="l"/>
              </a:tabLst>
            </a:pPr>
            <a:r>
              <a:rPr sz="2400" b="1" spc="-25" dirty="0">
                <a:latin typeface="Calibri"/>
                <a:cs typeface="Calibri"/>
              </a:rPr>
              <a:t>No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Yes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30" dirty="0">
                <a:latin typeface="Calibri"/>
                <a:cs typeface="Calibri"/>
              </a:rPr>
              <a:t>[Temp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≤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Mild?]</a:t>
            </a:r>
            <a:endParaRPr sz="2400">
              <a:latin typeface="Calibri"/>
              <a:cs typeface="Calibri"/>
            </a:endParaRPr>
          </a:p>
          <a:p>
            <a:pPr marL="2079625">
              <a:lnSpc>
                <a:spcPct val="100000"/>
              </a:lnSpc>
              <a:spcBef>
                <a:spcPts val="1310"/>
              </a:spcBef>
              <a:tabLst>
                <a:tab pos="2899410" algn="l"/>
              </a:tabLst>
            </a:pPr>
            <a:r>
              <a:rPr sz="2400" b="1" spc="-50" dirty="0">
                <a:latin typeface="Calibri"/>
                <a:cs typeface="Calibri"/>
              </a:rPr>
              <a:t>/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50" dirty="0">
                <a:latin typeface="Calibri"/>
                <a:cs typeface="Calibri"/>
              </a:rPr>
              <a:t>\</a:t>
            </a:r>
            <a:endParaRPr sz="2400">
              <a:latin typeface="Calibri"/>
              <a:cs typeface="Calibri"/>
            </a:endParaRPr>
          </a:p>
          <a:p>
            <a:pPr marL="12700" marR="3095625" indent="1927860">
              <a:lnSpc>
                <a:spcPct val="145400"/>
              </a:lnSpc>
              <a:spcBef>
                <a:spcPts val="15"/>
              </a:spcBef>
              <a:tabLst>
                <a:tab pos="3039745" algn="l"/>
              </a:tabLst>
            </a:pPr>
            <a:r>
              <a:rPr sz="2400" b="1" spc="-25" dirty="0">
                <a:latin typeface="Calibri"/>
                <a:cs typeface="Calibri"/>
              </a:rPr>
              <a:t>Yes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No </a:t>
            </a: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v: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Convert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Rules</a:t>
            </a:r>
            <a:endParaRPr sz="2400">
              <a:latin typeface="Calibri"/>
              <a:cs typeface="Calibri"/>
            </a:endParaRPr>
          </a:p>
          <a:p>
            <a:pPr marL="468630" indent="-227329">
              <a:lnSpc>
                <a:spcPct val="100000"/>
              </a:lnSpc>
              <a:spcBef>
                <a:spcPts val="1320"/>
              </a:spcBef>
              <a:buAutoNum type="romanLcPeriod"/>
              <a:tabLst>
                <a:tab pos="468630" algn="l"/>
              </a:tabLst>
            </a:pP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Outlook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Overcast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Play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Yes</a:t>
            </a:r>
            <a:endParaRPr sz="2400">
              <a:latin typeface="Calibri"/>
              <a:cs typeface="Calibri"/>
            </a:endParaRPr>
          </a:p>
          <a:p>
            <a:pPr marL="927100" indent="-685800">
              <a:lnSpc>
                <a:spcPct val="100000"/>
              </a:lnSpc>
              <a:spcBef>
                <a:spcPts val="1310"/>
              </a:spcBef>
              <a:buAutoNum type="romanLcPeriod"/>
              <a:tabLst>
                <a:tab pos="927100" algn="l"/>
              </a:tabLst>
            </a:pP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Outlook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Sunny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Play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No</a:t>
            </a:r>
            <a:endParaRPr sz="2400">
              <a:latin typeface="Calibri"/>
              <a:cs typeface="Calibri"/>
            </a:endParaRPr>
          </a:p>
          <a:p>
            <a:pPr marL="469900" marR="5080" indent="-229235">
              <a:lnSpc>
                <a:spcPct val="117900"/>
              </a:lnSpc>
              <a:spcBef>
                <a:spcPts val="790"/>
              </a:spcBef>
              <a:buAutoNum type="romanLcPeriod"/>
              <a:tabLst>
                <a:tab pos="469900" algn="l"/>
                <a:tab pos="927100" algn="l"/>
              </a:tabLst>
            </a:pPr>
            <a:r>
              <a:rPr sz="2400" b="1" dirty="0">
                <a:latin typeface="Calibri"/>
                <a:cs typeface="Calibri"/>
              </a:rPr>
              <a:t>	If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Outlook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Rain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Temperature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≤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Mild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→ </a:t>
            </a:r>
            <a:r>
              <a:rPr sz="2400" b="1" dirty="0">
                <a:latin typeface="Calibri"/>
                <a:cs typeface="Calibri"/>
              </a:rPr>
              <a:t>Play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Yes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57C23D-81C5-9CEB-9C11-358CEE3400DB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B4F0A5D6-AD95-44A7-BDEC-593AFF64E8D9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B72EBE-77F3-D64B-49E7-A695C248105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9DE6CB-AFFA-EBF9-0BB0-E647D789A48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363473"/>
            <a:ext cx="6509384" cy="195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229235">
              <a:lnSpc>
                <a:spcPct val="118000"/>
              </a:lnSpc>
              <a:spcBef>
                <a:spcPts val="100"/>
              </a:spcBef>
              <a:tabLst>
                <a:tab pos="927100" algn="l"/>
              </a:tabLst>
            </a:pPr>
            <a:r>
              <a:rPr sz="2400" b="1" spc="-25" dirty="0">
                <a:latin typeface="Calibri"/>
                <a:cs typeface="Calibri"/>
              </a:rPr>
              <a:t>iv.</a:t>
            </a:r>
            <a:r>
              <a:rPr sz="2400" b="1" dirty="0">
                <a:latin typeface="Calibri"/>
                <a:cs typeface="Calibri"/>
              </a:rPr>
              <a:t>	If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Outlook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Rain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Temperature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&gt;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Mild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→ </a:t>
            </a:r>
            <a:r>
              <a:rPr sz="2400" b="1" dirty="0">
                <a:latin typeface="Calibri"/>
                <a:cs typeface="Calibri"/>
              </a:rPr>
              <a:t>Play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No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75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6.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Example: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Regression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Tree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(Short)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00504" y="2498851"/>
          <a:ext cx="3848735" cy="4083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6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Experience</a:t>
                      </a:r>
                      <a:r>
                        <a:rPr sz="2400" b="1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(yrs)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Salary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($000)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40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50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60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80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29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90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100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44500" y="6374150"/>
            <a:ext cx="6779259" cy="2926715"/>
          </a:xfrm>
          <a:prstGeom prst="rect">
            <a:avLst/>
          </a:prstGeom>
        </p:spPr>
        <p:txBody>
          <a:bodyPr vert="horz" wrap="square" lIns="0" tIns="213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400" b="1" spc="-35" dirty="0">
                <a:latin typeface="Calibri"/>
                <a:cs typeface="Calibri"/>
              </a:rPr>
              <a:t>Target: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Salary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2000" b="1" dirty="0">
                <a:latin typeface="Calibri"/>
                <a:cs typeface="Calibri"/>
              </a:rPr>
              <a:t>Possible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split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at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Experience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≤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5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→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two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subsets:</a:t>
            </a:r>
            <a:endParaRPr sz="20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50"/>
              </a:spcBef>
              <a:buSzPct val="50000"/>
              <a:buFont typeface="Symbol"/>
              <a:buChar char=""/>
              <a:tabLst>
                <a:tab pos="469900" algn="l"/>
              </a:tabLst>
            </a:pPr>
            <a:r>
              <a:rPr sz="2000" b="1" dirty="0">
                <a:latin typeface="Calibri"/>
                <a:cs typeface="Calibri"/>
              </a:rPr>
              <a:t>Left: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{1,3,5}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→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mean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=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50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→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variance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=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66.7</a:t>
            </a:r>
            <a:endParaRPr sz="20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35"/>
              </a:spcBef>
              <a:buSzPct val="50000"/>
              <a:buFont typeface="Symbol"/>
              <a:buChar char=""/>
              <a:tabLst>
                <a:tab pos="469900" algn="l"/>
              </a:tabLst>
            </a:pPr>
            <a:r>
              <a:rPr sz="2000" b="1" dirty="0">
                <a:latin typeface="Calibri"/>
                <a:cs typeface="Calibri"/>
              </a:rPr>
              <a:t>Right: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{7,9,11}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→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mean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=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90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→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variance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=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66.7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ts val="2450"/>
              </a:lnSpc>
              <a:spcBef>
                <a:spcPts val="75"/>
              </a:spcBef>
            </a:pPr>
            <a:r>
              <a:rPr sz="2000" b="1" spc="-10" dirty="0">
                <a:latin typeface="Calibri"/>
                <a:cs typeface="Calibri"/>
              </a:rPr>
              <a:t>Weighted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Variance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after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split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=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66.7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→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perfect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if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lower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than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root </a:t>
            </a:r>
            <a:r>
              <a:rPr sz="2000" b="1" spc="-10" dirty="0">
                <a:latin typeface="Calibri"/>
                <a:cs typeface="Calibri"/>
              </a:rPr>
              <a:t>variance.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345"/>
              </a:lnSpc>
            </a:pPr>
            <a:r>
              <a:rPr sz="2000" b="1" dirty="0">
                <a:latin typeface="Calibri"/>
                <a:cs typeface="Calibri"/>
              </a:rPr>
              <a:t>CART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continues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recursively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refine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splits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until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variance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000" b="1" dirty="0">
                <a:latin typeface="Calibri"/>
                <a:cs typeface="Calibri"/>
              </a:rPr>
              <a:t>reduction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becomes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insignificant.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70404-A363-8058-605C-D1AB32FF60BE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E57190B-9454-4B99-9DBB-755EAF96BC68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A37E2-354F-B43A-DF39-6D67D53848D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9F9C2-BA44-A8F6-2963-C1B2906205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29259"/>
            <a:ext cx="2862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8.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Advantages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CART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8629" y="1002030"/>
          <a:ext cx="6912609" cy="5654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3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6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Advantage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282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Handles</a:t>
                      </a:r>
                      <a:r>
                        <a:rPr sz="24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both</a:t>
                      </a:r>
                      <a:r>
                        <a:rPr sz="24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categorical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numerical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targets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Classification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and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regression</a:t>
                      </a:r>
                      <a:r>
                        <a:rPr sz="2400" b="1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both</a:t>
                      </a:r>
                      <a:r>
                        <a:rPr sz="24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supported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473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Robust</a:t>
                      </a:r>
                      <a:r>
                        <a:rPr sz="24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outliers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5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Because</a:t>
                      </a:r>
                      <a:r>
                        <a:rPr sz="24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binary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splits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reduce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impact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noise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346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Pruning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avoids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overfitting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5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spc="-35" dirty="0">
                          <a:latin typeface="Calibri"/>
                          <a:cs typeface="Calibri"/>
                        </a:rPr>
                        <a:t>Cost-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complexity</a:t>
                      </a:r>
                      <a:r>
                        <a:rPr sz="24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pruning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cross-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validation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473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7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Missing</a:t>
                      </a:r>
                      <a:r>
                        <a:rPr sz="2400" b="1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values</a:t>
                      </a:r>
                      <a:r>
                        <a:rPr sz="2400" b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supported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66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Surrogate</a:t>
                      </a:r>
                      <a:r>
                        <a:rPr sz="24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splits</a:t>
                      </a:r>
                      <a:r>
                        <a:rPr sz="24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help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handle</a:t>
                      </a:r>
                      <a:r>
                        <a:rPr sz="24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missing</a:t>
                      </a:r>
                      <a:r>
                        <a:rPr sz="24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data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4094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Interpretability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5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Produces</a:t>
                      </a:r>
                      <a:r>
                        <a:rPr sz="2400" b="1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simple,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understandable</a:t>
                      </a:r>
                      <a:r>
                        <a:rPr sz="2400" b="1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rules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2CE9C-AEAC-9C2B-3B87-DC5CAAB59CDE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89D61641-A647-4984-AD28-52C06885F081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8117A-CAF5-53E9-83A5-DE4F739800F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2D1DE-DA92-BFCF-D23A-75F5EDBF1F5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29259"/>
            <a:ext cx="1734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9.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Limitations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8629" y="1002029"/>
          <a:ext cx="6912609" cy="4639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4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5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Limitation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282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Binary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splits</a:t>
                      </a:r>
                      <a:r>
                        <a:rPr sz="2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make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large</a:t>
                      </a:r>
                      <a:r>
                        <a:rPr sz="24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trees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May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lead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overcomplex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structure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473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Sensitive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small</a:t>
                      </a:r>
                      <a:r>
                        <a:rPr sz="2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changes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data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result</a:t>
                      </a:r>
                      <a:r>
                        <a:rPr sz="2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different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tree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346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Greedy</a:t>
                      </a:r>
                      <a:r>
                        <a:rPr sz="24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search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5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May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24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find</a:t>
                      </a:r>
                      <a:r>
                        <a:rPr sz="24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globally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optimal</a:t>
                      </a:r>
                      <a:r>
                        <a:rPr sz="24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tree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4094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Computationally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expensive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Especially</a:t>
                      </a:r>
                      <a:r>
                        <a:rPr sz="2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continuous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attributes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44500" y="6001893"/>
            <a:ext cx="5502275" cy="3220085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405"/>
              </a:spcBef>
              <a:buAutoNum type="arabicPeriod" startAt="10"/>
              <a:tabLst>
                <a:tab pos="469265" algn="l"/>
              </a:tabLst>
            </a:pPr>
            <a:r>
              <a:rPr sz="2400" b="1" spc="-10" dirty="0">
                <a:latin typeface="Calibri"/>
                <a:cs typeface="Calibri"/>
              </a:rPr>
              <a:t>Applications</a:t>
            </a:r>
            <a:endParaRPr sz="2400">
              <a:latin typeface="Calibri"/>
              <a:cs typeface="Calibri"/>
            </a:endParaRPr>
          </a:p>
          <a:p>
            <a:pPr marL="469900" lvl="1" indent="-228600">
              <a:lnSpc>
                <a:spcPct val="100000"/>
              </a:lnSpc>
              <a:spcBef>
                <a:spcPts val="131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Credit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scoring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fraud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detection</a:t>
            </a:r>
            <a:endParaRPr sz="2400">
              <a:latin typeface="Calibri"/>
              <a:cs typeface="Calibri"/>
            </a:endParaRPr>
          </a:p>
          <a:p>
            <a:pPr marL="469900" lvl="1" indent="-228600">
              <a:lnSpc>
                <a:spcPct val="100000"/>
              </a:lnSpc>
              <a:spcBef>
                <a:spcPts val="132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Customer</a:t>
            </a:r>
            <a:r>
              <a:rPr sz="2400" b="1" spc="-1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segmentation</a:t>
            </a:r>
            <a:endParaRPr sz="2400">
              <a:latin typeface="Calibri"/>
              <a:cs typeface="Calibri"/>
            </a:endParaRPr>
          </a:p>
          <a:p>
            <a:pPr marL="469900" lvl="1" indent="-228600">
              <a:lnSpc>
                <a:spcPct val="100000"/>
              </a:lnSpc>
              <a:spcBef>
                <a:spcPts val="131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Medical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diagnosis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prognosis</a:t>
            </a:r>
            <a:endParaRPr sz="2400">
              <a:latin typeface="Calibri"/>
              <a:cs typeface="Calibri"/>
            </a:endParaRPr>
          </a:p>
          <a:p>
            <a:pPr marL="469900" lvl="1" indent="-228600">
              <a:lnSpc>
                <a:spcPct val="100000"/>
              </a:lnSpc>
              <a:spcBef>
                <a:spcPts val="132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spc="-10" dirty="0">
                <a:latin typeface="Calibri"/>
                <a:cs typeface="Calibri"/>
              </a:rPr>
              <a:t>Predictive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maintenance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(IoT)</a:t>
            </a:r>
            <a:endParaRPr sz="2400">
              <a:latin typeface="Calibri"/>
              <a:cs typeface="Calibri"/>
            </a:endParaRPr>
          </a:p>
          <a:p>
            <a:pPr marL="469900" lvl="1" indent="-228600">
              <a:lnSpc>
                <a:spcPct val="100000"/>
              </a:lnSpc>
              <a:spcBef>
                <a:spcPts val="131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Real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estate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price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prediction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(regression)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50978-8018-C857-C6FA-FCB29DCB033D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F47F511-7AE9-4B24-AADD-106AC3F4B9F5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A44C65-A851-BD6B-DB80-52F1F9774EC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5468C-DF4E-1609-93EA-328DCF72496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393569"/>
            <a:ext cx="6549390" cy="5071110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400" b="1" dirty="0">
                <a:latin typeface="Calibri"/>
                <a:cs typeface="Calibri"/>
              </a:rPr>
              <a:t>11.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Summary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CART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algorithm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versatile,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powerful,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12700" marR="57150">
              <a:lnSpc>
                <a:spcPct val="117900"/>
              </a:lnSpc>
            </a:pPr>
            <a:r>
              <a:rPr sz="2400" b="1" spc="-10" dirty="0">
                <a:latin typeface="Calibri"/>
                <a:cs typeface="Calibri"/>
              </a:rPr>
              <a:t>interpretable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decision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tree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framework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handles </a:t>
            </a:r>
            <a:r>
              <a:rPr sz="2400" b="1" dirty="0">
                <a:latin typeface="Calibri"/>
                <a:cs typeface="Calibri"/>
              </a:rPr>
              <a:t>both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classification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regression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problems.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2400" b="1" dirty="0">
                <a:latin typeface="Calibri"/>
                <a:cs typeface="Calibri"/>
              </a:rPr>
              <a:t>By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using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Gini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Index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/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Variance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Reduction,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binary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400" b="1" dirty="0">
                <a:latin typeface="Calibri"/>
                <a:cs typeface="Calibri"/>
              </a:rPr>
              <a:t>splits,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30" dirty="0">
                <a:latin typeface="Calibri"/>
                <a:cs typeface="Calibri"/>
              </a:rPr>
              <a:t>cost-</a:t>
            </a:r>
            <a:r>
              <a:rPr sz="2400" b="1" dirty="0">
                <a:latin typeface="Calibri"/>
                <a:cs typeface="Calibri"/>
              </a:rPr>
              <a:t>complexity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pruning,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CART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produces</a:t>
            </a:r>
            <a:endParaRPr sz="2400">
              <a:latin typeface="Calibri"/>
              <a:cs typeface="Calibri"/>
            </a:endParaRPr>
          </a:p>
          <a:p>
            <a:pPr marL="12700" marR="1353820">
              <a:lnSpc>
                <a:spcPct val="117900"/>
              </a:lnSpc>
              <a:spcBef>
                <a:spcPts val="5"/>
              </a:spcBef>
            </a:pPr>
            <a:r>
              <a:rPr sz="2400" b="1" dirty="0">
                <a:latin typeface="Calibri"/>
                <a:cs typeface="Calibri"/>
              </a:rPr>
              <a:t>decision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trees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both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accurate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and </a:t>
            </a:r>
            <a:r>
              <a:rPr sz="2400" b="1" spc="-10" dirty="0">
                <a:latin typeface="Calibri"/>
                <a:cs typeface="Calibri"/>
              </a:rPr>
              <a:t>generalizable.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17700"/>
              </a:lnSpc>
              <a:spcBef>
                <a:spcPts val="810"/>
              </a:spcBef>
            </a:pPr>
            <a:r>
              <a:rPr sz="2400" b="1" dirty="0">
                <a:latin typeface="Calibri"/>
                <a:cs typeface="Calibri"/>
              </a:rPr>
              <a:t>It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remains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foundation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ensemble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methods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such </a:t>
            </a:r>
            <a:r>
              <a:rPr sz="2400" b="1" dirty="0">
                <a:latin typeface="Calibri"/>
                <a:cs typeface="Calibri"/>
              </a:rPr>
              <a:t>as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Random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Forests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Gradient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Boosted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Trees (GBTs).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E9C12E-8083-4749-4275-66EC4D05D6D1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9917757E-2B9E-4B82-BEFD-D1249897FB67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898289-654E-DF95-53F5-AE5F004E634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52CCA6-E373-F630-AA67-09688C21803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384809"/>
            <a:ext cx="6886575" cy="3171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 algn="just">
              <a:lnSpc>
                <a:spcPct val="1109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Key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tests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evaluations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“accept”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Decision</a:t>
            </a:r>
            <a:r>
              <a:rPr sz="2400" b="1" spc="-114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Tree </a:t>
            </a:r>
            <a:r>
              <a:rPr sz="2400" b="1" spc="-10" dirty="0">
                <a:latin typeface="Times New Roman"/>
                <a:cs typeface="Times New Roman"/>
              </a:rPr>
              <a:t>model.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6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1.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Performance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Metrics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(The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Primary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Tests)</a:t>
            </a: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0900"/>
              </a:lnSpc>
              <a:spcBef>
                <a:spcPts val="800"/>
              </a:spcBef>
              <a:tabLst>
                <a:tab pos="2418080" algn="l"/>
                <a:tab pos="4077335" algn="l"/>
                <a:tab pos="6475730" algn="l"/>
              </a:tabLst>
            </a:pP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first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question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is:</a:t>
            </a:r>
            <a:r>
              <a:rPr sz="2400" b="1" spc="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“How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accurate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reliable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are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model’s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predictions?”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metrics</a:t>
            </a:r>
            <a:r>
              <a:rPr sz="2400" b="1" spc="5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prioritization depends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on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whether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35" dirty="0">
                <a:latin typeface="Times New Roman"/>
                <a:cs typeface="Times New Roman"/>
              </a:rPr>
              <a:t>it’s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500" y="3430651"/>
            <a:ext cx="5758180" cy="1548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10335">
              <a:lnSpc>
                <a:spcPct val="1387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classification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or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regression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tree. </a:t>
            </a:r>
            <a:r>
              <a:rPr sz="2400" b="1" dirty="0">
                <a:latin typeface="Times New Roman"/>
                <a:cs typeface="Times New Roman"/>
              </a:rPr>
              <a:t>For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Classification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Trees:</a:t>
            </a:r>
            <a:endParaRPr sz="24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115"/>
              </a:spcBef>
              <a:buSzPct val="41666"/>
              <a:buFont typeface="Symbol"/>
              <a:buChar char=""/>
              <a:tabLst>
                <a:tab pos="469900" algn="l"/>
                <a:tab pos="2589530" algn="l"/>
                <a:tab pos="3856354" algn="l"/>
                <a:tab pos="4975860" algn="l"/>
              </a:tabLst>
            </a:pPr>
            <a:r>
              <a:rPr sz="2400" b="1" dirty="0">
                <a:latin typeface="Times New Roman"/>
                <a:cs typeface="Times New Roman"/>
              </a:rPr>
              <a:t>Accuracy: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The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simplest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metric.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35" dirty="0">
                <a:latin typeface="Times New Roman"/>
                <a:cs typeface="Times New Roman"/>
              </a:rPr>
              <a:t>(Total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77130" y="4587366"/>
            <a:ext cx="948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correct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4951348"/>
            <a:ext cx="6656070" cy="4392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8255" algn="just">
              <a:lnSpc>
                <a:spcPct val="111100"/>
              </a:lnSpc>
              <a:spcBef>
                <a:spcPts val="105"/>
              </a:spcBef>
            </a:pPr>
            <a:r>
              <a:rPr sz="2400" b="1" dirty="0">
                <a:latin typeface="Times New Roman"/>
                <a:cs typeface="Times New Roman"/>
              </a:rPr>
              <a:t>predictions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/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Total predictions). Good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for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quick </a:t>
            </a:r>
            <a:r>
              <a:rPr sz="2400" b="1" dirty="0">
                <a:latin typeface="Times New Roman"/>
                <a:cs typeface="Times New Roman"/>
              </a:rPr>
              <a:t>check</a:t>
            </a:r>
            <a:r>
              <a:rPr sz="2400" b="1" spc="15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but</a:t>
            </a:r>
            <a:r>
              <a:rPr sz="2400" b="1" spc="14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can</a:t>
            </a:r>
            <a:r>
              <a:rPr sz="2400" b="1" spc="15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be</a:t>
            </a:r>
            <a:r>
              <a:rPr sz="2400" b="1" spc="15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misleading</a:t>
            </a:r>
            <a:r>
              <a:rPr sz="2400" b="1" spc="15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for</a:t>
            </a:r>
            <a:r>
              <a:rPr sz="2400" b="1" spc="125" dirty="0">
                <a:latin typeface="Times New Roman"/>
                <a:cs typeface="Times New Roman"/>
              </a:rPr>
              <a:t>  </a:t>
            </a:r>
            <a:r>
              <a:rPr sz="2400" b="1" spc="-10" dirty="0">
                <a:latin typeface="Times New Roman"/>
                <a:cs typeface="Times New Roman"/>
              </a:rPr>
              <a:t>imbalanced datasets.</a:t>
            </a:r>
            <a:endParaRPr sz="240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spcBef>
                <a:spcPts val="1115"/>
              </a:spcBef>
              <a:buSzPct val="41666"/>
              <a:buFont typeface="Symbol"/>
              <a:buChar char=""/>
              <a:tabLst>
                <a:tab pos="240665" algn="l"/>
              </a:tabLst>
            </a:pPr>
            <a:r>
              <a:rPr sz="2400" b="1" dirty="0">
                <a:latin typeface="Times New Roman"/>
                <a:cs typeface="Times New Roman"/>
              </a:rPr>
              <a:t>Precision,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Recall,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F1-Score:</a:t>
            </a:r>
            <a:endParaRPr sz="2400">
              <a:latin typeface="Times New Roman"/>
              <a:cs typeface="Times New Roman"/>
            </a:endParaRPr>
          </a:p>
          <a:p>
            <a:pPr marL="698500" marR="6350" lvl="1" indent="-228600" algn="just">
              <a:lnSpc>
                <a:spcPct val="111000"/>
              </a:lnSpc>
              <a:spcBef>
                <a:spcPts val="800"/>
              </a:spcBef>
              <a:buSzPct val="41666"/>
              <a:buFont typeface="Courier New"/>
              <a:buChar char="o"/>
              <a:tabLst>
                <a:tab pos="698500" algn="l"/>
              </a:tabLst>
            </a:pPr>
            <a:r>
              <a:rPr sz="2400" b="1" dirty="0">
                <a:latin typeface="Times New Roman"/>
                <a:cs typeface="Times New Roman"/>
              </a:rPr>
              <a:t>Precision: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57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all</a:t>
            </a:r>
            <a:r>
              <a:rPr sz="2400" b="1" spc="57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instances</a:t>
            </a:r>
            <a:r>
              <a:rPr sz="2400" b="1" spc="57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predicted</a:t>
            </a:r>
            <a:r>
              <a:rPr sz="2400" b="1" spc="570" dirty="0">
                <a:latin typeface="Times New Roman"/>
                <a:cs typeface="Times New Roman"/>
              </a:rPr>
              <a:t>  </a:t>
            </a:r>
            <a:r>
              <a:rPr sz="2400" b="1" spc="-25" dirty="0">
                <a:latin typeface="Times New Roman"/>
                <a:cs typeface="Times New Roman"/>
              </a:rPr>
              <a:t>as </a:t>
            </a:r>
            <a:r>
              <a:rPr sz="2400" b="1" dirty="0">
                <a:latin typeface="Times New Roman"/>
                <a:cs typeface="Times New Roman"/>
              </a:rPr>
              <a:t>positive,</a:t>
            </a:r>
            <a:r>
              <a:rPr sz="2400" b="1" spc="15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how</a:t>
            </a:r>
            <a:r>
              <a:rPr sz="2400" b="1" spc="16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many</a:t>
            </a:r>
            <a:r>
              <a:rPr sz="2400" b="1" spc="16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are</a:t>
            </a:r>
            <a:r>
              <a:rPr sz="2400" b="1" spc="16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actually</a:t>
            </a:r>
            <a:r>
              <a:rPr sz="2400" b="1" spc="160" dirty="0">
                <a:latin typeface="Times New Roman"/>
                <a:cs typeface="Times New Roman"/>
              </a:rPr>
              <a:t>  </a:t>
            </a:r>
            <a:r>
              <a:rPr sz="2400" b="1" spc="-10" dirty="0">
                <a:latin typeface="Times New Roman"/>
                <a:cs typeface="Times New Roman"/>
              </a:rPr>
              <a:t>positive? </a:t>
            </a:r>
            <a:r>
              <a:rPr sz="2400" b="1" dirty="0">
                <a:latin typeface="Times New Roman"/>
                <a:cs typeface="Times New Roman"/>
              </a:rPr>
              <a:t>(Important</a:t>
            </a:r>
            <a:r>
              <a:rPr sz="2400" b="1" spc="1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when</a:t>
            </a:r>
            <a:r>
              <a:rPr sz="2400" b="1" spc="1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1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cost</a:t>
            </a:r>
            <a:r>
              <a:rPr sz="2400" b="1" spc="1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1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false</a:t>
            </a:r>
            <a:r>
              <a:rPr sz="2400" b="1" spc="1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positives</a:t>
            </a:r>
            <a:r>
              <a:rPr sz="2400" b="1" spc="15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is </a:t>
            </a:r>
            <a:r>
              <a:rPr sz="2400" b="1" dirty="0">
                <a:latin typeface="Times New Roman"/>
                <a:cs typeface="Times New Roman"/>
              </a:rPr>
              <a:t>high,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e.g.,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spam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filtering).</a:t>
            </a:r>
            <a:endParaRPr sz="240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ct val="111200"/>
              </a:lnSpc>
              <a:spcBef>
                <a:spcPts val="795"/>
              </a:spcBef>
              <a:buSzPct val="41666"/>
              <a:buFont typeface="Courier New"/>
              <a:buChar char="o"/>
              <a:tabLst>
                <a:tab pos="698500" algn="l"/>
              </a:tabLst>
            </a:pPr>
            <a:r>
              <a:rPr sz="2400" b="1" dirty="0">
                <a:latin typeface="Times New Roman"/>
                <a:cs typeface="Times New Roman"/>
              </a:rPr>
              <a:t>Recall</a:t>
            </a:r>
            <a:r>
              <a:rPr sz="2400" b="1" spc="30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(Sensitivity):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30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all</a:t>
            </a:r>
            <a:r>
              <a:rPr sz="2400" b="1" spc="31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actual</a:t>
            </a:r>
            <a:r>
              <a:rPr sz="2400" b="1" spc="305" dirty="0">
                <a:latin typeface="Times New Roman"/>
                <a:cs typeface="Times New Roman"/>
              </a:rPr>
              <a:t>  </a:t>
            </a:r>
            <a:r>
              <a:rPr sz="2400" b="1" spc="-10" dirty="0">
                <a:latin typeface="Times New Roman"/>
                <a:cs typeface="Times New Roman"/>
              </a:rPr>
              <a:t>positive instances,</a:t>
            </a:r>
            <a:r>
              <a:rPr sz="2400" b="1" spc="-114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how</a:t>
            </a:r>
            <a:r>
              <a:rPr sz="2400" b="1" spc="-1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many</a:t>
            </a:r>
            <a:r>
              <a:rPr sz="2400" b="1" spc="-114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did</a:t>
            </a:r>
            <a:r>
              <a:rPr sz="2400" b="1" spc="-1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we</a:t>
            </a:r>
            <a:r>
              <a:rPr sz="2400" b="1" spc="-1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correctly</a:t>
            </a:r>
            <a:r>
              <a:rPr sz="2400" b="1" spc="-114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predict?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6CB81AE-7DF5-A0D3-F0E3-270C869CE3DE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BD75D44-CC89-444E-B6F4-D820F623DA9F}" type="datetime1">
              <a:rPr lang="en-US" smtClean="0"/>
              <a:t>10/13/2025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5AECB8-598A-7268-89E3-A10EF5F932F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A67F095-108E-4E30-FC42-31C1F48EB86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384809"/>
            <a:ext cx="6659245" cy="4289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 marR="11430" algn="just">
              <a:lnSpc>
                <a:spcPct val="1109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(Important</a:t>
            </a:r>
            <a:r>
              <a:rPr sz="2400" b="1" spc="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when</a:t>
            </a:r>
            <a:r>
              <a:rPr sz="2400" b="1" spc="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cost</a:t>
            </a:r>
            <a:r>
              <a:rPr sz="2400" b="1" spc="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false</a:t>
            </a:r>
            <a:r>
              <a:rPr sz="2400" b="1" spc="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negatives</a:t>
            </a:r>
            <a:r>
              <a:rPr sz="2400" b="1" spc="5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is </a:t>
            </a:r>
            <a:r>
              <a:rPr sz="2400" b="1" dirty="0">
                <a:latin typeface="Times New Roman"/>
                <a:cs typeface="Times New Roman"/>
              </a:rPr>
              <a:t>high,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e.g.,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disease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screening).</a:t>
            </a:r>
            <a:endParaRPr sz="2400">
              <a:latin typeface="Times New Roman"/>
              <a:cs typeface="Times New Roman"/>
            </a:endParaRPr>
          </a:p>
          <a:p>
            <a:pPr marL="698500" marR="5080" indent="-228600" algn="just">
              <a:lnSpc>
                <a:spcPct val="111100"/>
              </a:lnSpc>
              <a:spcBef>
                <a:spcPts val="795"/>
              </a:spcBef>
              <a:buSzPct val="41666"/>
              <a:buFont typeface="Courier New"/>
              <a:buChar char="o"/>
              <a:tabLst>
                <a:tab pos="69850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F1-</a:t>
            </a:r>
            <a:r>
              <a:rPr sz="2400" b="1" dirty="0">
                <a:latin typeface="Times New Roman"/>
                <a:cs typeface="Times New Roman"/>
              </a:rPr>
              <a:t>Score: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5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harmonic</a:t>
            </a:r>
            <a:r>
              <a:rPr sz="2400" b="1" spc="5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mean</a:t>
            </a:r>
            <a:r>
              <a:rPr sz="2400" b="1" spc="5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50" dirty="0">
                <a:latin typeface="Times New Roman"/>
                <a:cs typeface="Times New Roman"/>
              </a:rPr>
              <a:t>  </a:t>
            </a:r>
            <a:r>
              <a:rPr sz="2400" b="1" spc="-10" dirty="0">
                <a:latin typeface="Times New Roman"/>
                <a:cs typeface="Times New Roman"/>
              </a:rPr>
              <a:t>Precision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25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Recall.</a:t>
            </a:r>
            <a:r>
              <a:rPr sz="2400" b="1" spc="16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19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single</a:t>
            </a:r>
            <a:r>
              <a:rPr sz="2400" b="1" spc="25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score</a:t>
            </a:r>
            <a:r>
              <a:rPr sz="2400" b="1" spc="26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that</a:t>
            </a:r>
            <a:r>
              <a:rPr sz="2400" b="1" spc="254" dirty="0">
                <a:latin typeface="Times New Roman"/>
                <a:cs typeface="Times New Roman"/>
              </a:rPr>
              <a:t>  </a:t>
            </a:r>
            <a:r>
              <a:rPr sz="2400" b="1" spc="-10" dirty="0">
                <a:latin typeface="Times New Roman"/>
                <a:cs typeface="Times New Roman"/>
              </a:rPr>
              <a:t>balances </a:t>
            </a:r>
            <a:r>
              <a:rPr sz="2400" b="1" dirty="0">
                <a:latin typeface="Times New Roman"/>
                <a:cs typeface="Times New Roman"/>
              </a:rPr>
              <a:t>both.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This</a:t>
            </a:r>
            <a:r>
              <a:rPr sz="2400" b="1" spc="1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1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often</a:t>
            </a:r>
            <a:r>
              <a:rPr sz="2400" b="1" spc="1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1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best</a:t>
            </a:r>
            <a:r>
              <a:rPr sz="2400" b="1" spc="1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overall</a:t>
            </a:r>
            <a:r>
              <a:rPr sz="2400" b="1" spc="1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metric</a:t>
            </a:r>
            <a:r>
              <a:rPr sz="2400" b="1" spc="15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for </a:t>
            </a:r>
            <a:r>
              <a:rPr sz="2400" b="1" dirty="0">
                <a:latin typeface="Times New Roman"/>
                <a:cs typeface="Times New Roman"/>
              </a:rPr>
              <a:t>imbalanced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datasets.</a:t>
            </a:r>
            <a:endParaRPr sz="2400">
              <a:latin typeface="Times New Roman"/>
              <a:cs typeface="Times New Roman"/>
            </a:endParaRPr>
          </a:p>
          <a:p>
            <a:pPr marL="240029" marR="7620" indent="-227965" algn="just">
              <a:lnSpc>
                <a:spcPct val="111000"/>
              </a:lnSpc>
              <a:spcBef>
                <a:spcPts val="800"/>
              </a:spcBef>
              <a:buSzPct val="41666"/>
              <a:buFont typeface="Symbol"/>
              <a:buChar char=""/>
              <a:tabLst>
                <a:tab pos="241300" algn="l"/>
              </a:tabLst>
            </a:pPr>
            <a:r>
              <a:rPr sz="2400" b="1" dirty="0">
                <a:latin typeface="Times New Roman"/>
                <a:cs typeface="Times New Roman"/>
              </a:rPr>
              <a:t>Confusion</a:t>
            </a:r>
            <a:r>
              <a:rPr sz="2400" b="1" spc="4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Matrix: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5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must-</a:t>
            </a:r>
            <a:r>
              <a:rPr sz="2400" b="1" dirty="0">
                <a:latin typeface="Times New Roman"/>
                <a:cs typeface="Times New Roman"/>
              </a:rPr>
              <a:t>have.</a:t>
            </a:r>
            <a:r>
              <a:rPr sz="2400" b="1" spc="4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It</a:t>
            </a:r>
            <a:r>
              <a:rPr sz="2400" b="1" spc="4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provides</a:t>
            </a:r>
            <a:r>
              <a:rPr sz="2400" b="1" spc="45" dirty="0">
                <a:latin typeface="Times New Roman"/>
                <a:cs typeface="Times New Roman"/>
              </a:rPr>
              <a:t>  </a:t>
            </a:r>
            <a:r>
              <a:rPr sz="2400" b="1" spc="-50" dirty="0">
                <a:latin typeface="Times New Roman"/>
                <a:cs typeface="Times New Roman"/>
              </a:rPr>
              <a:t>a 	</a:t>
            </a:r>
            <a:r>
              <a:rPr sz="2400" b="1" dirty="0">
                <a:latin typeface="Times New Roman"/>
                <a:cs typeface="Times New Roman"/>
              </a:rPr>
              <a:t>complete</a:t>
            </a:r>
            <a:r>
              <a:rPr sz="2400" b="1" spc="8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picture</a:t>
            </a:r>
            <a:r>
              <a:rPr sz="2400" b="1" spc="8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7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8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model’s</a:t>
            </a:r>
            <a:r>
              <a:rPr sz="2400" b="1" spc="80" dirty="0">
                <a:latin typeface="Times New Roman"/>
                <a:cs typeface="Times New Roman"/>
              </a:rPr>
              <a:t>  </a:t>
            </a:r>
            <a:r>
              <a:rPr sz="2400" b="1" spc="-10" dirty="0">
                <a:latin typeface="Times New Roman"/>
                <a:cs typeface="Times New Roman"/>
              </a:rPr>
              <a:t>performance, 	</a:t>
            </a:r>
            <a:r>
              <a:rPr sz="2400" b="1" dirty="0">
                <a:latin typeface="Times New Roman"/>
                <a:cs typeface="Times New Roman"/>
              </a:rPr>
              <a:t>showing</a:t>
            </a:r>
            <a:r>
              <a:rPr sz="2400" b="1" spc="27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28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counts</a:t>
            </a:r>
            <a:r>
              <a:rPr sz="2400" b="1" spc="27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24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True</a:t>
            </a:r>
            <a:r>
              <a:rPr sz="2400" b="1" spc="27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Positives,</a:t>
            </a:r>
            <a:r>
              <a:rPr sz="2400" b="1" spc="235" dirty="0">
                <a:latin typeface="Times New Roman"/>
                <a:cs typeface="Times New Roman"/>
              </a:rPr>
              <a:t>  </a:t>
            </a:r>
            <a:r>
              <a:rPr sz="2400" b="1" spc="-20" dirty="0">
                <a:latin typeface="Times New Roman"/>
                <a:cs typeface="Times New Roman"/>
              </a:rPr>
              <a:t>True 	</a:t>
            </a:r>
            <a:r>
              <a:rPr sz="2400" b="1" dirty="0">
                <a:latin typeface="Times New Roman"/>
                <a:cs typeface="Times New Roman"/>
              </a:rPr>
              <a:t>Negatives,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False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Positives,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False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Negatives.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100" y="4750181"/>
            <a:ext cx="2457450" cy="836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10900"/>
              </a:lnSpc>
              <a:spcBef>
                <a:spcPts val="100"/>
              </a:spcBef>
              <a:buSzPct val="41666"/>
              <a:buFont typeface="Symbol"/>
              <a:buChar char=""/>
              <a:tabLst>
                <a:tab pos="241300" algn="l"/>
                <a:tab pos="1313815" algn="l"/>
              </a:tabLst>
            </a:pPr>
            <a:r>
              <a:rPr sz="2400" b="1" spc="-20" dirty="0">
                <a:latin typeface="Times New Roman"/>
                <a:cs typeface="Times New Roman"/>
              </a:rPr>
              <a:t>Area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Under </a:t>
            </a:r>
            <a:r>
              <a:rPr sz="2400" b="1" dirty="0">
                <a:latin typeface="Times New Roman"/>
                <a:cs typeface="Times New Roman"/>
              </a:rPr>
              <a:t>ROC):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Measures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34973" y="4750181"/>
            <a:ext cx="4095750" cy="1243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975" marR="6350" indent="-295910" algn="r">
              <a:lnSpc>
                <a:spcPct val="110900"/>
              </a:lnSpc>
              <a:spcBef>
                <a:spcPts val="100"/>
              </a:spcBef>
              <a:tabLst>
                <a:tab pos="854710" algn="l"/>
                <a:tab pos="1139825" algn="l"/>
                <a:tab pos="1968500" algn="l"/>
                <a:tab pos="2571750" algn="l"/>
                <a:tab pos="3216275" algn="l"/>
                <a:tab pos="3826510" algn="l"/>
              </a:tabLst>
            </a:pPr>
            <a:r>
              <a:rPr sz="2400" b="1" spc="-25" dirty="0">
                <a:latin typeface="Times New Roman"/>
                <a:cs typeface="Times New Roman"/>
              </a:rPr>
              <a:t>the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ROC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Curve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(AUC- </a:t>
            </a:r>
            <a:r>
              <a:rPr sz="2400" b="1" spc="-25" dirty="0">
                <a:latin typeface="Times New Roman"/>
                <a:cs typeface="Times New Roman"/>
              </a:rPr>
              <a:t>the</a:t>
            </a:r>
            <a:r>
              <a:rPr sz="2400" b="1" dirty="0">
                <a:latin typeface="Times New Roman"/>
                <a:cs typeface="Times New Roman"/>
              </a:rPr>
              <a:t>		</a:t>
            </a:r>
            <a:r>
              <a:rPr sz="2400" b="1" spc="-10" dirty="0">
                <a:latin typeface="Times New Roman"/>
                <a:cs typeface="Times New Roman"/>
              </a:rPr>
              <a:t>model’s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ability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to</a:t>
            </a:r>
            <a:endParaRPr sz="24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325"/>
              </a:spcBef>
            </a:pPr>
            <a:r>
              <a:rPr sz="2400" b="1" spc="-25" dirty="0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5562980"/>
            <a:ext cx="1450340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distinguish comparing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0237" y="5562980"/>
            <a:ext cx="1141095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2725" marR="5080" indent="-200660">
              <a:lnSpc>
                <a:spcPct val="1108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between models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82363" y="5562980"/>
            <a:ext cx="3243580" cy="836294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129794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classes.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Excellent</a:t>
            </a:r>
            <a:endParaRPr sz="2400">
              <a:latin typeface="Times New Roman"/>
              <a:cs typeface="Times New Roman"/>
            </a:endParaRPr>
          </a:p>
          <a:p>
            <a:pPr marL="278130">
              <a:lnSpc>
                <a:spcPct val="100000"/>
              </a:lnSpc>
              <a:spcBef>
                <a:spcPts val="315"/>
              </a:spcBef>
              <a:tabLst>
                <a:tab pos="1333500" algn="l"/>
              </a:tabLst>
            </a:pPr>
            <a:r>
              <a:rPr sz="2400" b="1" spc="-25" dirty="0">
                <a:latin typeface="Times New Roman"/>
                <a:cs typeface="Times New Roman"/>
              </a:rPr>
              <a:t>and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understanding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500" y="6375272"/>
            <a:ext cx="6885305" cy="3069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6350" algn="just">
              <a:lnSpc>
                <a:spcPct val="1108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performance</a:t>
            </a:r>
            <a:r>
              <a:rPr sz="2400" b="1" spc="3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across</a:t>
            </a:r>
            <a:r>
              <a:rPr sz="2400" b="1" spc="3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all</a:t>
            </a:r>
            <a:r>
              <a:rPr sz="2400" b="1" spc="3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classification</a:t>
            </a:r>
            <a:r>
              <a:rPr sz="2400" b="1" spc="3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thresholds. </a:t>
            </a:r>
            <a:r>
              <a:rPr sz="2400" b="1" spc="-20" dirty="0">
                <a:latin typeface="Times New Roman"/>
                <a:cs typeface="Times New Roman"/>
              </a:rPr>
              <a:t>An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AUC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&gt;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0.9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excellent,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&gt;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0.8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good.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120"/>
              </a:spcBef>
            </a:pPr>
            <a:r>
              <a:rPr sz="2400" b="1" dirty="0">
                <a:latin typeface="Times New Roman"/>
                <a:cs typeface="Times New Roman"/>
              </a:rPr>
              <a:t>For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Regression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Trees:</a:t>
            </a:r>
            <a:endParaRPr sz="2400">
              <a:latin typeface="Times New Roman"/>
              <a:cs typeface="Times New Roman"/>
            </a:endParaRPr>
          </a:p>
          <a:p>
            <a:pPr marL="468630" marR="5080" indent="-227965" algn="just">
              <a:lnSpc>
                <a:spcPct val="111000"/>
              </a:lnSpc>
              <a:spcBef>
                <a:spcPts val="80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Times New Roman"/>
                <a:cs typeface="Times New Roman"/>
              </a:rPr>
              <a:t>Mean</a:t>
            </a:r>
            <a:r>
              <a:rPr sz="2400" b="1" spc="41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Absolute</a:t>
            </a:r>
            <a:r>
              <a:rPr sz="2400" b="1" spc="52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Error</a:t>
            </a:r>
            <a:r>
              <a:rPr sz="2400" b="1" spc="49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(MAE):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520" dirty="0">
                <a:latin typeface="Times New Roman"/>
                <a:cs typeface="Times New Roman"/>
              </a:rPr>
              <a:t>  </a:t>
            </a:r>
            <a:r>
              <a:rPr sz="2400" b="1" spc="-10" dirty="0">
                <a:latin typeface="Times New Roman"/>
                <a:cs typeface="Times New Roman"/>
              </a:rPr>
              <a:t>average 	</a:t>
            </a:r>
            <a:r>
              <a:rPr sz="2400" b="1" dirty="0">
                <a:latin typeface="Times New Roman"/>
                <a:cs typeface="Times New Roman"/>
              </a:rPr>
              <a:t>absolute</a:t>
            </a:r>
            <a:r>
              <a:rPr sz="2400" b="1" spc="35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difference</a:t>
            </a:r>
            <a:r>
              <a:rPr sz="2400" b="1" spc="35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between</a:t>
            </a:r>
            <a:r>
              <a:rPr sz="2400" b="1" spc="36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predictions</a:t>
            </a:r>
            <a:r>
              <a:rPr sz="2400" b="1" spc="350" dirty="0">
                <a:latin typeface="Times New Roman"/>
                <a:cs typeface="Times New Roman"/>
              </a:rPr>
              <a:t>  </a:t>
            </a:r>
            <a:r>
              <a:rPr sz="2400" b="1" spc="-25" dirty="0">
                <a:latin typeface="Times New Roman"/>
                <a:cs typeface="Times New Roman"/>
              </a:rPr>
              <a:t>and 	</a:t>
            </a:r>
            <a:r>
              <a:rPr sz="2400" b="1" dirty="0">
                <a:latin typeface="Times New Roman"/>
                <a:cs typeface="Times New Roman"/>
              </a:rPr>
              <a:t>actual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values.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Easy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interpret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(e.g.,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“on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average, 	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prediction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off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by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X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units”).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DA2F41-7099-C089-8BD5-99F503E56188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894E91C-2C47-4AA8-B15C-01D1E57324EB}" type="datetime1">
              <a:rPr lang="en-US" smtClean="0"/>
              <a:t>10/13/2025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72F2F9-B793-FF72-9349-A70D0658750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0B04B8E-153F-29E1-CB31-6D91471BC97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384809"/>
            <a:ext cx="6886575" cy="9161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8630" marR="5715" indent="-227965" algn="just">
              <a:lnSpc>
                <a:spcPct val="111100"/>
              </a:lnSpc>
              <a:spcBef>
                <a:spcPts val="95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Times New Roman"/>
                <a:cs typeface="Times New Roman"/>
              </a:rPr>
              <a:t>Root</a:t>
            </a:r>
            <a:r>
              <a:rPr sz="2400" b="1" spc="1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Mean</a:t>
            </a:r>
            <a:r>
              <a:rPr sz="2400" b="1" spc="1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Squared</a:t>
            </a:r>
            <a:r>
              <a:rPr sz="2400" b="1" spc="1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Error</a:t>
            </a:r>
            <a:r>
              <a:rPr sz="2400" b="1" spc="1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(RMSE):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18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square 	</a:t>
            </a:r>
            <a:r>
              <a:rPr sz="2400" b="1" dirty="0">
                <a:latin typeface="Times New Roman"/>
                <a:cs typeface="Times New Roman"/>
              </a:rPr>
              <a:t>root</a:t>
            </a:r>
            <a:r>
              <a:rPr sz="2400" b="1" spc="29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29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29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average</a:t>
            </a:r>
            <a:r>
              <a:rPr sz="2400" b="1" spc="29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29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squared</a:t>
            </a:r>
            <a:r>
              <a:rPr sz="2400" b="1" spc="295" dirty="0">
                <a:latin typeface="Times New Roman"/>
                <a:cs typeface="Times New Roman"/>
              </a:rPr>
              <a:t>  </a:t>
            </a:r>
            <a:r>
              <a:rPr sz="2400" b="1" spc="-10" dirty="0">
                <a:latin typeface="Times New Roman"/>
                <a:cs typeface="Times New Roman"/>
              </a:rPr>
              <a:t>differences. 	</a:t>
            </a:r>
            <a:r>
              <a:rPr sz="2400" b="1" dirty="0">
                <a:latin typeface="Times New Roman"/>
                <a:cs typeface="Times New Roman"/>
              </a:rPr>
              <a:t>Punishes</a:t>
            </a:r>
            <a:r>
              <a:rPr sz="2400" b="1" spc="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larger</a:t>
            </a:r>
            <a:r>
              <a:rPr sz="2400" b="1" spc="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errors</a:t>
            </a:r>
            <a:r>
              <a:rPr sz="2400" b="1" spc="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more</a:t>
            </a:r>
            <a:r>
              <a:rPr sz="2400" b="1" spc="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severely</a:t>
            </a:r>
            <a:r>
              <a:rPr sz="2400" b="1" spc="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than</a:t>
            </a:r>
            <a:r>
              <a:rPr sz="2400" b="1" spc="6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MAE. 	</a:t>
            </a:r>
            <a:r>
              <a:rPr sz="2400" b="1" dirty="0">
                <a:latin typeface="Times New Roman"/>
                <a:cs typeface="Times New Roman"/>
              </a:rPr>
              <a:t>Useful</a:t>
            </a:r>
            <a:r>
              <a:rPr sz="2400" b="1" spc="50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when</a:t>
            </a:r>
            <a:r>
              <a:rPr sz="2400" b="1" spc="50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large</a:t>
            </a:r>
            <a:r>
              <a:rPr sz="2400" b="1" spc="50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errors</a:t>
            </a:r>
            <a:r>
              <a:rPr sz="2400" b="1" spc="50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are</a:t>
            </a:r>
            <a:r>
              <a:rPr sz="2400" b="1" spc="500" dirty="0">
                <a:latin typeface="Times New Roman"/>
                <a:cs typeface="Times New Roman"/>
              </a:rPr>
              <a:t>  </a:t>
            </a:r>
            <a:r>
              <a:rPr sz="2400" b="1" spc="-10" dirty="0">
                <a:latin typeface="Times New Roman"/>
                <a:cs typeface="Times New Roman"/>
              </a:rPr>
              <a:t>particularly 	undesirable.</a:t>
            </a:r>
            <a:endParaRPr sz="2400">
              <a:latin typeface="Times New Roman"/>
              <a:cs typeface="Times New Roman"/>
            </a:endParaRPr>
          </a:p>
          <a:p>
            <a:pPr marL="468630" marR="5715" indent="-227965" algn="just">
              <a:lnSpc>
                <a:spcPct val="111000"/>
              </a:lnSpc>
              <a:spcBef>
                <a:spcPts val="795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spc="-25" dirty="0">
                <a:latin typeface="Times New Roman"/>
                <a:cs typeface="Times New Roman"/>
              </a:rPr>
              <a:t>R-</a:t>
            </a:r>
            <a:r>
              <a:rPr sz="2400" b="1" dirty="0">
                <a:latin typeface="Times New Roman"/>
                <a:cs typeface="Times New Roman"/>
              </a:rPr>
              <a:t>Squared</a:t>
            </a:r>
            <a:r>
              <a:rPr sz="2400" b="1" spc="5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(R²):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509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proportion</a:t>
            </a:r>
            <a:r>
              <a:rPr sz="2400" b="1" spc="5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509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variance</a:t>
            </a:r>
            <a:r>
              <a:rPr sz="2400" b="1" spc="51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in 	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target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variable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that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explained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by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model. 	</a:t>
            </a:r>
            <a:r>
              <a:rPr sz="2400" b="1" dirty="0">
                <a:latin typeface="Times New Roman"/>
                <a:cs typeface="Times New Roman"/>
              </a:rPr>
              <a:t>Ranges</a:t>
            </a:r>
            <a:r>
              <a:rPr sz="2400" b="1" spc="204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from</a:t>
            </a:r>
            <a:r>
              <a:rPr sz="2400" b="1" spc="2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0</a:t>
            </a:r>
            <a:r>
              <a:rPr sz="2400" b="1" spc="2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2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b="1" spc="2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(or</a:t>
            </a:r>
            <a:r>
              <a:rPr sz="2400" b="1" spc="1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negative</a:t>
            </a:r>
            <a:r>
              <a:rPr sz="2400" b="1" spc="204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for</a:t>
            </a:r>
            <a:r>
              <a:rPr sz="2400" b="1" spc="16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worse-than- 	</a:t>
            </a:r>
            <a:r>
              <a:rPr sz="2400" b="1" dirty="0">
                <a:latin typeface="Times New Roman"/>
                <a:cs typeface="Times New Roman"/>
              </a:rPr>
              <a:t>baseline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models).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Closer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better.</a:t>
            </a: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1000"/>
              </a:lnSpc>
              <a:spcBef>
                <a:spcPts val="800"/>
              </a:spcBef>
            </a:pPr>
            <a:r>
              <a:rPr sz="2400" b="1" dirty="0">
                <a:latin typeface="Times New Roman"/>
                <a:cs typeface="Times New Roman"/>
              </a:rPr>
              <a:t>Acceptance</a:t>
            </a:r>
            <a:r>
              <a:rPr sz="2400" b="1" spc="254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Criterion: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2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model’s</a:t>
            </a:r>
            <a:r>
              <a:rPr sz="2400" b="1" spc="2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performance</a:t>
            </a:r>
            <a:r>
              <a:rPr sz="2400" b="1" spc="26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on </a:t>
            </a:r>
            <a:r>
              <a:rPr sz="2400" b="1" dirty="0">
                <a:latin typeface="Times New Roman"/>
                <a:cs typeface="Times New Roman"/>
              </a:rPr>
              <a:t>these</a:t>
            </a:r>
            <a:r>
              <a:rPr sz="2400" b="1" spc="4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metrics</a:t>
            </a:r>
            <a:r>
              <a:rPr sz="2400" b="1" spc="4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must</a:t>
            </a:r>
            <a:r>
              <a:rPr sz="2400" b="1" spc="4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meet</a:t>
            </a:r>
            <a:r>
              <a:rPr sz="2400" b="1" spc="4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or</a:t>
            </a:r>
            <a:r>
              <a:rPr sz="2400" b="1" spc="1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exceed</a:t>
            </a:r>
            <a:r>
              <a:rPr sz="2400" b="1" spc="4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40" dirty="0">
                <a:latin typeface="Times New Roman"/>
                <a:cs typeface="Times New Roman"/>
              </a:rPr>
              <a:t>  </a:t>
            </a:r>
            <a:r>
              <a:rPr sz="2400" b="1" spc="-10" dirty="0">
                <a:latin typeface="Times New Roman"/>
                <a:cs typeface="Times New Roman"/>
              </a:rPr>
              <a:t>pre-defined </a:t>
            </a:r>
            <a:r>
              <a:rPr sz="2400" b="1" dirty="0">
                <a:latin typeface="Times New Roman"/>
                <a:cs typeface="Times New Roman"/>
              </a:rPr>
              <a:t>business</a:t>
            </a:r>
            <a:r>
              <a:rPr sz="2400" b="1" spc="2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threshold</a:t>
            </a:r>
            <a:r>
              <a:rPr sz="2400" b="1" spc="2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or</a:t>
            </a:r>
            <a:r>
              <a:rPr sz="2400" b="1" spc="2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outperform</a:t>
            </a:r>
            <a:r>
              <a:rPr sz="2400" b="1" spc="2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2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simple</a:t>
            </a:r>
            <a:r>
              <a:rPr sz="2400" b="1" spc="28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baseline </a:t>
            </a:r>
            <a:r>
              <a:rPr sz="2400" b="1" dirty="0">
                <a:latin typeface="Times New Roman"/>
                <a:cs typeface="Times New Roman"/>
              </a:rPr>
              <a:t>model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(e.g.,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predicting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mean/mode).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2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9525" algn="just">
              <a:lnSpc>
                <a:spcPct val="1113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2.</a:t>
            </a:r>
            <a:r>
              <a:rPr sz="2400" b="1" spc="560" dirty="0">
                <a:latin typeface="Times New Roman"/>
                <a:cs typeface="Times New Roman"/>
              </a:rPr>
              <a:t>   </a:t>
            </a:r>
            <a:r>
              <a:rPr sz="2400" b="1" dirty="0">
                <a:latin typeface="Times New Roman"/>
                <a:cs typeface="Times New Roman"/>
              </a:rPr>
              <a:t>Generalization</a:t>
            </a:r>
            <a:r>
              <a:rPr sz="2400" b="1" spc="490" dirty="0">
                <a:latin typeface="Times New Roman"/>
                <a:cs typeface="Times New Roman"/>
              </a:rPr>
              <a:t>   </a:t>
            </a:r>
            <a:r>
              <a:rPr sz="2400" b="1" dirty="0">
                <a:latin typeface="Times New Roman"/>
                <a:cs typeface="Times New Roman"/>
              </a:rPr>
              <a:t>Ability:</a:t>
            </a:r>
            <a:r>
              <a:rPr sz="2400" b="1" spc="555" dirty="0">
                <a:latin typeface="Times New Roman"/>
                <a:cs typeface="Times New Roman"/>
              </a:rPr>
              <a:t>   </a:t>
            </a:r>
            <a:r>
              <a:rPr sz="2400" b="1" dirty="0">
                <a:latin typeface="Times New Roman"/>
                <a:cs typeface="Times New Roman"/>
              </a:rPr>
              <a:t>Overfitting</a:t>
            </a:r>
            <a:r>
              <a:rPr sz="2400" b="1" spc="555" dirty="0">
                <a:latin typeface="Times New Roman"/>
                <a:cs typeface="Times New Roman"/>
              </a:rPr>
              <a:t>   </a:t>
            </a:r>
            <a:r>
              <a:rPr sz="2400" b="1" spc="-25" dirty="0">
                <a:latin typeface="Times New Roman"/>
                <a:cs typeface="Times New Roman"/>
              </a:rPr>
              <a:t>and </a:t>
            </a:r>
            <a:r>
              <a:rPr sz="2400" b="1" dirty="0">
                <a:latin typeface="Times New Roman"/>
                <a:cs typeface="Times New Roman"/>
              </a:rPr>
              <a:t>Underfitting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(The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Core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Challenge)</a:t>
            </a: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1000"/>
              </a:lnSpc>
              <a:spcBef>
                <a:spcPts val="800"/>
              </a:spcBef>
            </a:pPr>
            <a:r>
              <a:rPr sz="2400" b="1" dirty="0">
                <a:latin typeface="Times New Roman"/>
                <a:cs typeface="Times New Roman"/>
              </a:rPr>
              <a:t>This</a:t>
            </a:r>
            <a:r>
              <a:rPr sz="2400" b="1" spc="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most</a:t>
            </a:r>
            <a:r>
              <a:rPr sz="2400" b="1" spc="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critical</a:t>
            </a:r>
            <a:r>
              <a:rPr sz="2400" b="1" spc="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test</a:t>
            </a:r>
            <a:r>
              <a:rPr sz="2400" b="1" spc="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for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Decision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Trees.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They </a:t>
            </a:r>
            <a:r>
              <a:rPr sz="2400" b="1" dirty="0">
                <a:latin typeface="Times New Roman"/>
                <a:cs typeface="Times New Roman"/>
              </a:rPr>
              <a:t>are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highly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prone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 </a:t>
            </a:r>
            <a:r>
              <a:rPr sz="2400" b="1" spc="-10" dirty="0">
                <a:latin typeface="Times New Roman"/>
                <a:cs typeface="Times New Roman"/>
              </a:rPr>
              <a:t>overfitting—</a:t>
            </a:r>
            <a:r>
              <a:rPr sz="2400" b="1" dirty="0">
                <a:latin typeface="Times New Roman"/>
                <a:cs typeface="Times New Roman"/>
              </a:rPr>
              <a:t>learning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training </a:t>
            </a:r>
            <a:r>
              <a:rPr sz="2400" b="1" dirty="0">
                <a:latin typeface="Times New Roman"/>
                <a:cs typeface="Times New Roman"/>
              </a:rPr>
              <a:t>data</a:t>
            </a:r>
            <a:r>
              <a:rPr sz="2400" b="1" spc="9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too</a:t>
            </a:r>
            <a:r>
              <a:rPr sz="2400" b="1" spc="9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well,</a:t>
            </a:r>
            <a:r>
              <a:rPr sz="2400" b="1" spc="9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including</a:t>
            </a:r>
            <a:r>
              <a:rPr sz="2400" b="1" spc="9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its</a:t>
            </a:r>
            <a:r>
              <a:rPr sz="2400" b="1" spc="9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noise,</a:t>
            </a:r>
            <a:r>
              <a:rPr sz="2400" b="1" spc="9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9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failing</a:t>
            </a:r>
            <a:r>
              <a:rPr sz="2400" b="1" spc="95" dirty="0">
                <a:latin typeface="Times New Roman"/>
                <a:cs typeface="Times New Roman"/>
              </a:rPr>
              <a:t>  </a:t>
            </a:r>
            <a:r>
              <a:rPr sz="2400" b="1" spc="-25" dirty="0">
                <a:latin typeface="Times New Roman"/>
                <a:cs typeface="Times New Roman"/>
              </a:rPr>
              <a:t>to </a:t>
            </a:r>
            <a:r>
              <a:rPr sz="2400" b="1" dirty="0">
                <a:latin typeface="Times New Roman"/>
                <a:cs typeface="Times New Roman"/>
              </a:rPr>
              <a:t>generalize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new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115"/>
              </a:spcBef>
            </a:pPr>
            <a:r>
              <a:rPr sz="2400" b="1" dirty="0">
                <a:latin typeface="Times New Roman"/>
                <a:cs typeface="Times New Roman"/>
              </a:rPr>
              <a:t>How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40" dirty="0">
                <a:latin typeface="Times New Roman"/>
                <a:cs typeface="Times New Roman"/>
              </a:rPr>
              <a:t>Test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for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Overfitting: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690D2-2FC9-8A60-B233-BA5C121845F0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7D43394A-54A2-414A-AAD8-A2901BE0219D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101300-B871-C4EC-971D-7D7AB0C1A87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468C98-BC1C-A2FA-D25B-C59C7CDE181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384809"/>
            <a:ext cx="6660515" cy="8959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8255" indent="-227965" algn="just">
              <a:lnSpc>
                <a:spcPct val="110900"/>
              </a:lnSpc>
              <a:spcBef>
                <a:spcPts val="100"/>
              </a:spcBef>
              <a:buSzPct val="41666"/>
              <a:buFont typeface="Symbol"/>
              <a:buChar char=""/>
              <a:tabLst>
                <a:tab pos="241300" algn="l"/>
              </a:tabLst>
            </a:pP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390" dirty="0">
                <a:latin typeface="Times New Roman"/>
                <a:cs typeface="Times New Roman"/>
              </a:rPr>
              <a:t>   </a:t>
            </a:r>
            <a:r>
              <a:rPr sz="2400" b="1" dirty="0">
                <a:latin typeface="Times New Roman"/>
                <a:cs typeface="Times New Roman"/>
              </a:rPr>
              <a:t>Gold</a:t>
            </a:r>
            <a:r>
              <a:rPr sz="2400" b="1" spc="390" dirty="0">
                <a:latin typeface="Times New Roman"/>
                <a:cs typeface="Times New Roman"/>
              </a:rPr>
              <a:t>   </a:t>
            </a:r>
            <a:r>
              <a:rPr sz="2400" b="1" dirty="0">
                <a:latin typeface="Times New Roman"/>
                <a:cs typeface="Times New Roman"/>
              </a:rPr>
              <a:t>Standard:</a:t>
            </a:r>
            <a:r>
              <a:rPr sz="2400" b="1" spc="370" dirty="0">
                <a:latin typeface="Times New Roman"/>
                <a:cs typeface="Times New Roman"/>
              </a:rPr>
              <a:t>   </a:t>
            </a:r>
            <a:r>
              <a:rPr sz="2400" b="1" spc="-40" dirty="0">
                <a:latin typeface="Times New Roman"/>
                <a:cs typeface="Times New Roman"/>
              </a:rPr>
              <a:t>Train-</a:t>
            </a:r>
            <a:r>
              <a:rPr sz="2400" b="1" spc="-35" dirty="0">
                <a:latin typeface="Times New Roman"/>
                <a:cs typeface="Times New Roman"/>
              </a:rPr>
              <a:t>Validation-</a:t>
            </a:r>
            <a:r>
              <a:rPr sz="2400" b="1" spc="-20" dirty="0">
                <a:latin typeface="Times New Roman"/>
                <a:cs typeface="Times New Roman"/>
              </a:rPr>
              <a:t>Test 	</a:t>
            </a:r>
            <a:r>
              <a:rPr sz="2400" b="1" dirty="0">
                <a:latin typeface="Times New Roman"/>
                <a:cs typeface="Times New Roman"/>
              </a:rPr>
              <a:t>Split: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Split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your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data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into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three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sets:</a:t>
            </a:r>
            <a:endParaRPr sz="2400">
              <a:latin typeface="Times New Roman"/>
              <a:cs typeface="Times New Roman"/>
            </a:endParaRPr>
          </a:p>
          <a:p>
            <a:pPr marL="697865" lvl="1" indent="-231775" algn="just">
              <a:lnSpc>
                <a:spcPct val="100000"/>
              </a:lnSpc>
              <a:spcBef>
                <a:spcPts val="1115"/>
              </a:spcBef>
              <a:buSzPct val="95833"/>
              <a:buAutoNum type="arabicPeriod"/>
              <a:tabLst>
                <a:tab pos="69786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Training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Set: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Used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build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tree.</a:t>
            </a:r>
            <a:endParaRPr sz="2400">
              <a:latin typeface="Times New Roman"/>
              <a:cs typeface="Times New Roman"/>
            </a:endParaRPr>
          </a:p>
          <a:p>
            <a:pPr marL="698500" marR="8255" lvl="1" indent="-232410" algn="just">
              <a:lnSpc>
                <a:spcPct val="110800"/>
              </a:lnSpc>
              <a:spcBef>
                <a:spcPts val="815"/>
              </a:spcBef>
              <a:buSzPct val="95833"/>
              <a:buAutoNum type="arabicPeriod"/>
              <a:tabLst>
                <a:tab pos="698500" algn="l"/>
              </a:tabLst>
            </a:pPr>
            <a:r>
              <a:rPr sz="2400" b="1" spc="-25" dirty="0">
                <a:latin typeface="Times New Roman"/>
                <a:cs typeface="Times New Roman"/>
              </a:rPr>
              <a:t>Validation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Set: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Used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tune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hyperparameters </a:t>
            </a:r>
            <a:r>
              <a:rPr sz="2400" b="1" dirty="0">
                <a:latin typeface="Times New Roman"/>
                <a:cs typeface="Times New Roman"/>
              </a:rPr>
              <a:t>(e.g.,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max_depth,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min_samples_leaf)</a:t>
            </a:r>
            <a:r>
              <a:rPr sz="2400" b="1" spc="505" dirty="0">
                <a:latin typeface="Times New Roman"/>
                <a:cs typeface="Times New Roman"/>
              </a:rPr>
              <a:t>     </a:t>
            </a:r>
            <a:r>
              <a:rPr sz="2400" b="1" spc="-25" dirty="0">
                <a:latin typeface="Times New Roman"/>
                <a:cs typeface="Times New Roman"/>
              </a:rPr>
              <a:t>and </a:t>
            </a:r>
            <a:r>
              <a:rPr sz="2400" b="1" dirty="0">
                <a:latin typeface="Times New Roman"/>
                <a:cs typeface="Times New Roman"/>
              </a:rPr>
              <a:t>check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for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overfitting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during</a:t>
            </a:r>
            <a:r>
              <a:rPr sz="2400" b="1" i="1" spc="-30" dirty="0">
                <a:latin typeface="Times New Roman"/>
                <a:cs typeface="Times New Roman"/>
              </a:rPr>
              <a:t> </a:t>
            </a:r>
            <a:r>
              <a:rPr sz="2400" b="1" i="1" spc="-10" dirty="0">
                <a:latin typeface="Times New Roman"/>
                <a:cs typeface="Times New Roman"/>
              </a:rPr>
              <a:t>development</a:t>
            </a:r>
            <a:r>
              <a:rPr sz="2400" b="1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698500" marR="5080" lvl="1" indent="-232410" algn="just">
              <a:lnSpc>
                <a:spcPct val="111100"/>
              </a:lnSpc>
              <a:spcBef>
                <a:spcPts val="800"/>
              </a:spcBef>
              <a:buSzPct val="95833"/>
              <a:buAutoNum type="arabicPeriod"/>
              <a:tabLst>
                <a:tab pos="698500" algn="l"/>
              </a:tabLst>
            </a:pPr>
            <a:r>
              <a:rPr sz="2400" b="1" dirty="0">
                <a:latin typeface="Times New Roman"/>
                <a:cs typeface="Times New Roman"/>
              </a:rPr>
              <a:t>Test</a:t>
            </a:r>
            <a:r>
              <a:rPr sz="2400" b="1" spc="459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Set</a:t>
            </a:r>
            <a:r>
              <a:rPr sz="2400" b="1" spc="459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(Hold-</a:t>
            </a:r>
            <a:r>
              <a:rPr sz="2400" b="1" dirty="0">
                <a:latin typeface="Times New Roman"/>
                <a:cs typeface="Times New Roman"/>
              </a:rPr>
              <a:t>out</a:t>
            </a:r>
            <a:r>
              <a:rPr sz="2400" b="1" spc="4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Set):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Used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only</a:t>
            </a:r>
            <a:r>
              <a:rPr sz="2400" b="1" spc="459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once,</a:t>
            </a:r>
            <a:r>
              <a:rPr sz="2400" b="1" spc="459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for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final</a:t>
            </a:r>
            <a:r>
              <a:rPr sz="2400" b="1" spc="37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acceptance</a:t>
            </a:r>
            <a:r>
              <a:rPr sz="2400" b="1" spc="36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test.</a:t>
            </a:r>
            <a:r>
              <a:rPr sz="2400" b="1" spc="37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It</a:t>
            </a:r>
            <a:r>
              <a:rPr sz="2400" b="1" spc="37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provides</a:t>
            </a:r>
            <a:r>
              <a:rPr sz="2400" b="1" spc="375" dirty="0">
                <a:latin typeface="Times New Roman"/>
                <a:cs typeface="Times New Roman"/>
              </a:rPr>
              <a:t>  </a:t>
            </a:r>
            <a:r>
              <a:rPr sz="2400" b="1" spc="-25" dirty="0">
                <a:latin typeface="Times New Roman"/>
                <a:cs typeface="Times New Roman"/>
              </a:rPr>
              <a:t>an </a:t>
            </a:r>
            <a:r>
              <a:rPr sz="2400" b="1" dirty="0">
                <a:latin typeface="Times New Roman"/>
                <a:cs typeface="Times New Roman"/>
              </a:rPr>
              <a:t>unbiased</a:t>
            </a:r>
            <a:r>
              <a:rPr sz="2400" b="1" spc="17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estimate</a:t>
            </a:r>
            <a:r>
              <a:rPr sz="2400" b="1" spc="18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17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how</a:t>
            </a:r>
            <a:r>
              <a:rPr sz="2400" b="1" spc="17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18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model</a:t>
            </a:r>
            <a:r>
              <a:rPr sz="2400" b="1" spc="185" dirty="0">
                <a:latin typeface="Times New Roman"/>
                <a:cs typeface="Times New Roman"/>
              </a:rPr>
              <a:t>  </a:t>
            </a:r>
            <a:r>
              <a:rPr sz="2400" b="1" spc="-20" dirty="0">
                <a:latin typeface="Times New Roman"/>
                <a:cs typeface="Times New Roman"/>
              </a:rPr>
              <a:t>will </a:t>
            </a:r>
            <a:r>
              <a:rPr sz="2400" b="1" dirty="0">
                <a:latin typeface="Times New Roman"/>
                <a:cs typeface="Times New Roman"/>
              </a:rPr>
              <a:t>perform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production.</a:t>
            </a:r>
            <a:endParaRPr sz="240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spcBef>
                <a:spcPts val="1115"/>
              </a:spcBef>
              <a:buSzPct val="41666"/>
              <a:buFont typeface="Symbol"/>
              <a:buChar char=""/>
              <a:tabLst>
                <a:tab pos="240665" algn="l"/>
              </a:tabLst>
            </a:pPr>
            <a:r>
              <a:rPr sz="2400" b="1" dirty="0">
                <a:latin typeface="Times New Roman"/>
                <a:cs typeface="Times New Roman"/>
              </a:rPr>
              <a:t>Key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Sign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Overfitting:</a:t>
            </a:r>
            <a:endParaRPr sz="2400">
              <a:latin typeface="Times New Roman"/>
              <a:cs typeface="Times New Roman"/>
            </a:endParaRPr>
          </a:p>
          <a:p>
            <a:pPr marL="698500" marR="10795" indent="-228600" algn="just">
              <a:lnSpc>
                <a:spcPct val="110800"/>
              </a:lnSpc>
              <a:spcBef>
                <a:spcPts val="810"/>
              </a:spcBef>
              <a:buSzPct val="41666"/>
              <a:buFont typeface="Courier New"/>
              <a:buChar char="o"/>
              <a:tabLst>
                <a:tab pos="698500" algn="l"/>
              </a:tabLst>
            </a:pPr>
            <a:r>
              <a:rPr sz="2400" b="1" dirty="0">
                <a:latin typeface="Times New Roman"/>
                <a:cs typeface="Times New Roman"/>
              </a:rPr>
              <a:t>High</a:t>
            </a:r>
            <a:r>
              <a:rPr sz="2400" b="1" spc="2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performance</a:t>
            </a:r>
            <a:r>
              <a:rPr sz="2400" b="1" spc="2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(e.g.,</a:t>
            </a:r>
            <a:r>
              <a:rPr sz="2400" b="1" spc="2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98%</a:t>
            </a:r>
            <a:r>
              <a:rPr sz="2400" b="1" spc="2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accuracy)</a:t>
            </a:r>
            <a:r>
              <a:rPr sz="2400" b="1" spc="30" dirty="0">
                <a:latin typeface="Times New Roman"/>
                <a:cs typeface="Times New Roman"/>
              </a:rPr>
              <a:t>  </a:t>
            </a:r>
            <a:r>
              <a:rPr sz="2400" b="1" spc="-25" dirty="0">
                <a:latin typeface="Times New Roman"/>
                <a:cs typeface="Times New Roman"/>
              </a:rPr>
              <a:t>on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training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set.</a:t>
            </a:r>
            <a:endParaRPr sz="2400">
              <a:latin typeface="Times New Roman"/>
              <a:cs typeface="Times New Roman"/>
            </a:endParaRPr>
          </a:p>
          <a:p>
            <a:pPr marL="698500" marR="10795" indent="-228600" algn="just">
              <a:lnSpc>
                <a:spcPct val="111200"/>
              </a:lnSpc>
              <a:spcBef>
                <a:spcPts val="790"/>
              </a:spcBef>
              <a:buSzPct val="41666"/>
              <a:buFont typeface="Courier New"/>
              <a:buChar char="o"/>
              <a:tabLst>
                <a:tab pos="698500" algn="l"/>
              </a:tabLst>
            </a:pPr>
            <a:r>
              <a:rPr sz="2400" b="1" dirty="0">
                <a:latin typeface="Times New Roman"/>
                <a:cs typeface="Times New Roman"/>
              </a:rPr>
              <a:t>Significantly</a:t>
            </a:r>
            <a:r>
              <a:rPr sz="2400" b="1" spc="6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lower</a:t>
            </a:r>
            <a:r>
              <a:rPr sz="2400" b="1" spc="4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performance</a:t>
            </a:r>
            <a:r>
              <a:rPr sz="2400" b="1" spc="5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(e.g.,</a:t>
            </a:r>
            <a:r>
              <a:rPr sz="2400" b="1" spc="60" dirty="0">
                <a:latin typeface="Times New Roman"/>
                <a:cs typeface="Times New Roman"/>
              </a:rPr>
              <a:t>  </a:t>
            </a:r>
            <a:r>
              <a:rPr sz="2400" b="1" spc="-25" dirty="0">
                <a:latin typeface="Times New Roman"/>
                <a:cs typeface="Times New Roman"/>
              </a:rPr>
              <a:t>75% </a:t>
            </a:r>
            <a:r>
              <a:rPr sz="2400" b="1" dirty="0">
                <a:latin typeface="Times New Roman"/>
                <a:cs typeface="Times New Roman"/>
              </a:rPr>
              <a:t>accuracy)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on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validation/test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set.</a:t>
            </a:r>
            <a:endParaRPr sz="240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spcBef>
                <a:spcPts val="1120"/>
              </a:spcBef>
              <a:buSzPct val="41666"/>
              <a:buFont typeface="Symbol"/>
              <a:buChar char=""/>
              <a:tabLst>
                <a:tab pos="240665" algn="l"/>
              </a:tabLst>
            </a:pPr>
            <a:r>
              <a:rPr sz="2400" b="1" dirty="0">
                <a:latin typeface="Times New Roman"/>
                <a:cs typeface="Times New Roman"/>
              </a:rPr>
              <a:t>Visual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Diagnostic: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Learning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Curves</a:t>
            </a:r>
            <a:endParaRPr sz="2400">
              <a:latin typeface="Times New Roman"/>
              <a:cs typeface="Times New Roman"/>
            </a:endParaRPr>
          </a:p>
          <a:p>
            <a:pPr marL="698500" marR="10160" lvl="1" indent="-228600" algn="just">
              <a:lnSpc>
                <a:spcPct val="111000"/>
              </a:lnSpc>
              <a:spcBef>
                <a:spcPts val="800"/>
              </a:spcBef>
              <a:buSzPct val="41666"/>
              <a:buFont typeface="Courier New"/>
              <a:buChar char="o"/>
              <a:tabLst>
                <a:tab pos="698500" algn="l"/>
              </a:tabLst>
            </a:pPr>
            <a:r>
              <a:rPr sz="2400" b="1" dirty="0">
                <a:latin typeface="Times New Roman"/>
                <a:cs typeface="Times New Roman"/>
              </a:rPr>
              <a:t>Plot</a:t>
            </a:r>
            <a:r>
              <a:rPr sz="2400" b="1" spc="1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1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model’s</a:t>
            </a:r>
            <a:r>
              <a:rPr sz="2400" b="1" spc="1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performance</a:t>
            </a:r>
            <a:r>
              <a:rPr sz="2400" b="1" spc="1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(e.g.,</a:t>
            </a:r>
            <a:r>
              <a:rPr sz="2400" b="1" spc="1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error)</a:t>
            </a:r>
            <a:r>
              <a:rPr sz="2400" b="1" spc="15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on </a:t>
            </a:r>
            <a:r>
              <a:rPr sz="2400" b="1" dirty="0">
                <a:latin typeface="Times New Roman"/>
                <a:cs typeface="Times New Roman"/>
              </a:rPr>
              <a:t>both</a:t>
            </a:r>
            <a:r>
              <a:rPr sz="2400" b="1" spc="2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2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training</a:t>
            </a:r>
            <a:r>
              <a:rPr sz="2400" b="1" spc="2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2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validation</a:t>
            </a:r>
            <a:r>
              <a:rPr sz="2400" b="1" spc="254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sets</a:t>
            </a:r>
            <a:r>
              <a:rPr sz="2400" b="1" spc="2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against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18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number</a:t>
            </a:r>
            <a:r>
              <a:rPr sz="2400" b="1" spc="16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18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training</a:t>
            </a:r>
            <a:r>
              <a:rPr sz="2400" b="1" spc="18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examples</a:t>
            </a:r>
            <a:r>
              <a:rPr sz="2400" b="1" spc="19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or</a:t>
            </a:r>
            <a:r>
              <a:rPr sz="2400" b="1" spc="155" dirty="0">
                <a:latin typeface="Times New Roman"/>
                <a:cs typeface="Times New Roman"/>
              </a:rPr>
              <a:t>  </a:t>
            </a:r>
            <a:r>
              <a:rPr sz="2400" b="1" spc="-20" dirty="0">
                <a:latin typeface="Times New Roman"/>
                <a:cs typeface="Times New Roman"/>
              </a:rPr>
              <a:t>tree </a:t>
            </a:r>
            <a:r>
              <a:rPr sz="2400" b="1" spc="-10" dirty="0">
                <a:latin typeface="Times New Roman"/>
                <a:cs typeface="Times New Roman"/>
              </a:rPr>
              <a:t>complexity.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AE3AD-F7AB-11B7-4A5E-D185FD756E86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6D0191A6-AE5E-4EDC-B904-FD3A562C316E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D12460-005D-FED8-D2E7-6536F5DA529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7D630C-A121-3693-12FA-572E21FF0C2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384809"/>
            <a:ext cx="6886575" cy="4289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7100" marR="8255" indent="-228600" algn="just">
              <a:lnSpc>
                <a:spcPct val="111100"/>
              </a:lnSpc>
              <a:spcBef>
                <a:spcPts val="95"/>
              </a:spcBef>
              <a:buSzPct val="41666"/>
              <a:buFont typeface="Courier New"/>
              <a:buChar char="o"/>
              <a:tabLst>
                <a:tab pos="927100" algn="l"/>
              </a:tabLst>
            </a:pP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healthy</a:t>
            </a:r>
            <a:r>
              <a:rPr sz="2400" b="1" spc="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model: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training</a:t>
            </a:r>
            <a:r>
              <a:rPr sz="2400" b="1" spc="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validation </a:t>
            </a:r>
            <a:r>
              <a:rPr sz="2400" b="1" dirty="0">
                <a:latin typeface="Times New Roman"/>
                <a:cs typeface="Times New Roman"/>
              </a:rPr>
              <a:t>curves</a:t>
            </a:r>
            <a:r>
              <a:rPr sz="2400" b="1" spc="55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converge</a:t>
            </a:r>
            <a:r>
              <a:rPr sz="2400" b="1" spc="55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55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55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similar</a:t>
            </a:r>
            <a:r>
              <a:rPr sz="2400" b="1" spc="53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level</a:t>
            </a:r>
            <a:r>
              <a:rPr sz="2400" b="1" spc="555" dirty="0">
                <a:latin typeface="Times New Roman"/>
                <a:cs typeface="Times New Roman"/>
              </a:rPr>
              <a:t>  </a:t>
            </a:r>
            <a:r>
              <a:rPr sz="2400" b="1" spc="-25" dirty="0">
                <a:latin typeface="Times New Roman"/>
                <a:cs typeface="Times New Roman"/>
              </a:rPr>
              <a:t>of </a:t>
            </a:r>
            <a:r>
              <a:rPr sz="2400" b="1" spc="-10" dirty="0">
                <a:latin typeface="Times New Roman"/>
                <a:cs typeface="Times New Roman"/>
              </a:rPr>
              <a:t>performance.</a:t>
            </a:r>
            <a:endParaRPr sz="2400">
              <a:latin typeface="Times New Roman"/>
              <a:cs typeface="Times New Roman"/>
            </a:endParaRPr>
          </a:p>
          <a:p>
            <a:pPr marL="927100" marR="5715" indent="-228600" algn="just">
              <a:lnSpc>
                <a:spcPct val="111000"/>
              </a:lnSpc>
              <a:spcBef>
                <a:spcPts val="795"/>
              </a:spcBef>
              <a:buSzPct val="41666"/>
              <a:buFont typeface="Courier New"/>
              <a:buChar char="o"/>
              <a:tabLst>
                <a:tab pos="927100" algn="l"/>
              </a:tabLst>
            </a:pPr>
            <a:r>
              <a:rPr sz="2400" b="1" dirty="0">
                <a:latin typeface="Times New Roman"/>
                <a:cs typeface="Times New Roman"/>
              </a:rPr>
              <a:t>An</a:t>
            </a:r>
            <a:r>
              <a:rPr sz="2400" b="1" spc="1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overfit</a:t>
            </a:r>
            <a:r>
              <a:rPr sz="2400" b="1" spc="1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model: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large</a:t>
            </a:r>
            <a:r>
              <a:rPr sz="2400" b="1" spc="1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gap</a:t>
            </a:r>
            <a:r>
              <a:rPr sz="2400" b="1" spc="1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exists</a:t>
            </a:r>
            <a:r>
              <a:rPr sz="2400" b="1" spc="16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between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38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training</a:t>
            </a:r>
            <a:r>
              <a:rPr sz="2400" b="1" spc="38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38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validation</a:t>
            </a:r>
            <a:r>
              <a:rPr sz="2400" b="1" spc="380" dirty="0">
                <a:latin typeface="Times New Roman"/>
                <a:cs typeface="Times New Roman"/>
              </a:rPr>
              <a:t>  </a:t>
            </a:r>
            <a:r>
              <a:rPr sz="2400" b="1" spc="-10" dirty="0">
                <a:latin typeface="Times New Roman"/>
                <a:cs typeface="Times New Roman"/>
              </a:rPr>
              <a:t>performance curves.</a:t>
            </a: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1000"/>
              </a:lnSpc>
              <a:spcBef>
                <a:spcPts val="805"/>
              </a:spcBef>
            </a:pPr>
            <a:r>
              <a:rPr sz="2400" b="1" dirty="0">
                <a:latin typeface="Times New Roman"/>
                <a:cs typeface="Times New Roman"/>
              </a:rPr>
              <a:t>Acceptance</a:t>
            </a:r>
            <a:r>
              <a:rPr sz="2400" b="1" spc="3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Criterion: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4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performance</a:t>
            </a:r>
            <a:r>
              <a:rPr sz="2400" b="1" spc="4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on</a:t>
            </a:r>
            <a:r>
              <a:rPr sz="2400" b="1" spc="4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 </a:t>
            </a:r>
            <a:r>
              <a:rPr sz="2400" b="1" spc="-20" dirty="0">
                <a:latin typeface="Times New Roman"/>
                <a:cs typeface="Times New Roman"/>
              </a:rPr>
              <a:t>test </a:t>
            </a:r>
            <a:r>
              <a:rPr sz="2400" b="1" dirty="0">
                <a:latin typeface="Times New Roman"/>
                <a:cs typeface="Times New Roman"/>
              </a:rPr>
              <a:t>set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must</a:t>
            </a:r>
            <a:r>
              <a:rPr sz="2400" b="1" spc="1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</a:t>
            </a:r>
            <a:r>
              <a:rPr sz="2400" b="1" spc="1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acceptable</a:t>
            </a:r>
            <a:r>
              <a:rPr sz="2400" b="1" spc="1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1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there</a:t>
            </a:r>
            <a:r>
              <a:rPr sz="2400" b="1" spc="1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should</a:t>
            </a:r>
            <a:r>
              <a:rPr sz="2400" b="1" spc="1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 no</a:t>
            </a:r>
            <a:r>
              <a:rPr sz="2400" b="1" spc="1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large </a:t>
            </a:r>
            <a:r>
              <a:rPr sz="2400" b="1" dirty="0">
                <a:latin typeface="Times New Roman"/>
                <a:cs typeface="Times New Roman"/>
              </a:rPr>
              <a:t>gap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between</a:t>
            </a:r>
            <a:r>
              <a:rPr sz="2400" b="1" spc="355" dirty="0">
                <a:latin typeface="Times New Roman"/>
                <a:cs typeface="Times New Roman"/>
              </a:rPr>
              <a:t>   </a:t>
            </a:r>
            <a:r>
              <a:rPr sz="2400" b="1" dirty="0">
                <a:latin typeface="Times New Roman"/>
                <a:cs typeface="Times New Roman"/>
              </a:rPr>
              <a:t>training</a:t>
            </a:r>
            <a:r>
              <a:rPr sz="2400" b="1" spc="355" dirty="0">
                <a:latin typeface="Times New Roman"/>
                <a:cs typeface="Times New Roman"/>
              </a:rPr>
              <a:t>  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355" dirty="0">
                <a:latin typeface="Times New Roman"/>
                <a:cs typeface="Times New Roman"/>
              </a:rPr>
              <a:t>   </a:t>
            </a:r>
            <a:r>
              <a:rPr sz="2400" b="1" dirty="0">
                <a:latin typeface="Times New Roman"/>
                <a:cs typeface="Times New Roman"/>
              </a:rPr>
              <a:t>test</a:t>
            </a:r>
            <a:r>
              <a:rPr sz="2400" b="1" spc="360" dirty="0">
                <a:latin typeface="Times New Roman"/>
                <a:cs typeface="Times New Roman"/>
              </a:rPr>
              <a:t>   </a:t>
            </a:r>
            <a:r>
              <a:rPr sz="2400" b="1" spc="-10" dirty="0">
                <a:latin typeface="Times New Roman"/>
                <a:cs typeface="Times New Roman"/>
              </a:rPr>
              <a:t>performance, </a:t>
            </a:r>
            <a:r>
              <a:rPr sz="2400" b="1" dirty="0">
                <a:latin typeface="Times New Roman"/>
                <a:cs typeface="Times New Roman"/>
              </a:rPr>
              <a:t>indicating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good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generalization.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500" y="6171057"/>
            <a:ext cx="6889115" cy="317309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15"/>
              </a:spcBef>
            </a:pPr>
            <a:r>
              <a:rPr sz="2400" b="1" dirty="0">
                <a:latin typeface="Times New Roman"/>
                <a:cs typeface="Times New Roman"/>
              </a:rPr>
              <a:t>3.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Model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Interpretation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Stability</a:t>
            </a: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1100"/>
              </a:lnSpc>
              <a:spcBef>
                <a:spcPts val="795"/>
              </a:spcBef>
            </a:pP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42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key</a:t>
            </a:r>
            <a:r>
              <a:rPr sz="2400" b="1" spc="49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advantage</a:t>
            </a:r>
            <a:r>
              <a:rPr sz="2400" b="1" spc="49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484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Decision</a:t>
            </a:r>
            <a:r>
              <a:rPr sz="2400" b="1" spc="45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Trees</a:t>
            </a:r>
            <a:r>
              <a:rPr sz="2400" b="1" spc="484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490" dirty="0">
                <a:latin typeface="Times New Roman"/>
                <a:cs typeface="Times New Roman"/>
              </a:rPr>
              <a:t>  </a:t>
            </a:r>
            <a:r>
              <a:rPr sz="2400" b="1" spc="-10" dirty="0">
                <a:latin typeface="Times New Roman"/>
                <a:cs typeface="Times New Roman"/>
              </a:rPr>
              <a:t>their </a:t>
            </a:r>
            <a:r>
              <a:rPr sz="2400" b="1" spc="-20" dirty="0">
                <a:latin typeface="Times New Roman"/>
                <a:cs typeface="Times New Roman"/>
              </a:rPr>
              <a:t>interpretability.</a:t>
            </a:r>
            <a:r>
              <a:rPr sz="2400" b="1" spc="-130" dirty="0">
                <a:latin typeface="Times New Roman"/>
                <a:cs typeface="Times New Roman"/>
              </a:rPr>
              <a:t> </a:t>
            </a:r>
            <a:r>
              <a:rPr sz="2400" b="1" spc="-114" dirty="0">
                <a:latin typeface="Times New Roman"/>
                <a:cs typeface="Times New Roman"/>
              </a:rPr>
              <a:t>You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should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check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if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model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makes </a:t>
            </a:r>
            <a:r>
              <a:rPr sz="2400" b="1" dirty="0">
                <a:latin typeface="Times New Roman"/>
                <a:cs typeface="Times New Roman"/>
              </a:rPr>
              <a:t>intuitive </a:t>
            </a:r>
            <a:r>
              <a:rPr sz="2400" b="1" spc="-10" dirty="0">
                <a:latin typeface="Times New Roman"/>
                <a:cs typeface="Times New Roman"/>
              </a:rPr>
              <a:t>sense.</a:t>
            </a:r>
            <a:endParaRPr sz="2400">
              <a:latin typeface="Times New Roman"/>
              <a:cs typeface="Times New Roman"/>
            </a:endParaRPr>
          </a:p>
          <a:p>
            <a:pPr marL="468630" marR="10160" indent="-227965" algn="just">
              <a:lnSpc>
                <a:spcPct val="111000"/>
              </a:lnSpc>
              <a:spcBef>
                <a:spcPts val="80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Times New Roman"/>
                <a:cs typeface="Times New Roman"/>
              </a:rPr>
              <a:t>Feature</a:t>
            </a:r>
            <a:r>
              <a:rPr sz="2400" b="1" spc="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Importance: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model</a:t>
            </a:r>
            <a:r>
              <a:rPr sz="2400" b="1" spc="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should</a:t>
            </a:r>
            <a:r>
              <a:rPr sz="2400" b="1" spc="6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calculate 	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38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importance</a:t>
            </a:r>
            <a:r>
              <a:rPr sz="2400" b="1" spc="38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38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each</a:t>
            </a:r>
            <a:r>
              <a:rPr sz="2400" b="1" spc="38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feature.</a:t>
            </a:r>
            <a:r>
              <a:rPr sz="2400" b="1" spc="35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380" dirty="0">
                <a:latin typeface="Times New Roman"/>
                <a:cs typeface="Times New Roman"/>
              </a:rPr>
              <a:t>  </a:t>
            </a:r>
            <a:r>
              <a:rPr sz="2400" b="1" spc="-20" dirty="0">
                <a:latin typeface="Times New Roman"/>
                <a:cs typeface="Times New Roman"/>
              </a:rPr>
              <a:t>most 	</a:t>
            </a:r>
            <a:r>
              <a:rPr sz="2400" b="1" dirty="0">
                <a:latin typeface="Times New Roman"/>
                <a:cs typeface="Times New Roman"/>
              </a:rPr>
              <a:t>important</a:t>
            </a:r>
            <a:r>
              <a:rPr sz="2400" b="1" spc="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features</a:t>
            </a:r>
            <a:r>
              <a:rPr sz="2400" b="1" spc="1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should</a:t>
            </a:r>
            <a:r>
              <a:rPr sz="2400" b="1" spc="1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</a:t>
            </a:r>
            <a:r>
              <a:rPr sz="2400" b="1" spc="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logically</a:t>
            </a:r>
            <a:r>
              <a:rPr sz="2400" b="1" spc="10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connected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E21DD-1C79-CEC4-13B6-9C2FA77B7AF1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FB899C5-A825-453D-BD6C-D91783B875A0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5E2C2-2AC7-411F-F266-1111B6302A4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B2165-CE5F-8376-6D33-C5B9AAC8962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384809"/>
            <a:ext cx="6886575" cy="8856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8890" algn="just">
              <a:lnSpc>
                <a:spcPct val="111100"/>
              </a:lnSpc>
              <a:spcBef>
                <a:spcPts val="95"/>
              </a:spcBef>
            </a:pP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business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problem.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If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seemingly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irrelevant </a:t>
            </a:r>
            <a:r>
              <a:rPr sz="2400" b="1" dirty="0">
                <a:latin typeface="Times New Roman"/>
                <a:cs typeface="Times New Roman"/>
              </a:rPr>
              <a:t>feature</a:t>
            </a:r>
            <a:r>
              <a:rPr sz="2400" b="1" spc="5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5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at  the  top,  it  might  indicate</a:t>
            </a:r>
            <a:r>
              <a:rPr sz="2400" b="1" spc="5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59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data </a:t>
            </a:r>
            <a:r>
              <a:rPr sz="2400" b="1" dirty="0">
                <a:latin typeface="Times New Roman"/>
                <a:cs typeface="Times New Roman"/>
              </a:rPr>
              <a:t>leakage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issue.</a:t>
            </a:r>
            <a:endParaRPr sz="2400">
              <a:latin typeface="Times New Roman"/>
              <a:cs typeface="Times New Roman"/>
            </a:endParaRPr>
          </a:p>
          <a:p>
            <a:pPr marL="468630" marR="8255" indent="-227965" algn="just">
              <a:lnSpc>
                <a:spcPct val="110800"/>
              </a:lnSpc>
              <a:spcBef>
                <a:spcPts val="805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Visualize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spc="-30" dirty="0">
                <a:latin typeface="Times New Roman"/>
                <a:cs typeface="Times New Roman"/>
              </a:rPr>
              <a:t>the</a:t>
            </a:r>
            <a:r>
              <a:rPr sz="2400" b="1" spc="-12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Tree: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For</a:t>
            </a:r>
            <a:r>
              <a:rPr sz="2400" b="1" spc="-1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smaller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trees,</a:t>
            </a:r>
            <a:r>
              <a:rPr sz="2400" b="1" spc="-1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literally</a:t>
            </a:r>
            <a:r>
              <a:rPr sz="2400" b="1" spc="-12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look 	</a:t>
            </a:r>
            <a:r>
              <a:rPr sz="2400" b="1" dirty="0">
                <a:latin typeface="Times New Roman"/>
                <a:cs typeface="Times New Roman"/>
              </a:rPr>
              <a:t>at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it.</a:t>
            </a:r>
            <a:endParaRPr sz="2400">
              <a:latin typeface="Times New Roman"/>
              <a:cs typeface="Times New Roman"/>
            </a:endParaRPr>
          </a:p>
          <a:p>
            <a:pPr marL="927100" marR="6350" lvl="1" indent="-228600" algn="just">
              <a:lnSpc>
                <a:spcPct val="111100"/>
              </a:lnSpc>
              <a:spcBef>
                <a:spcPts val="795"/>
              </a:spcBef>
              <a:buSzPct val="41666"/>
              <a:buFont typeface="Courier New"/>
              <a:buChar char="o"/>
              <a:tabLst>
                <a:tab pos="927100" algn="l"/>
              </a:tabLst>
            </a:pPr>
            <a:r>
              <a:rPr sz="2400" b="1" dirty="0">
                <a:latin typeface="Times New Roman"/>
                <a:cs typeface="Times New Roman"/>
              </a:rPr>
              <a:t>Do</a:t>
            </a:r>
            <a:r>
              <a:rPr sz="2400" b="1" spc="1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1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splits</a:t>
            </a:r>
            <a:r>
              <a:rPr sz="2400" b="1" spc="1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make</a:t>
            </a:r>
            <a:r>
              <a:rPr sz="2400" b="1" spc="1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logical</a:t>
            </a:r>
            <a:r>
              <a:rPr sz="2400" b="1" spc="1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sense?</a:t>
            </a:r>
            <a:r>
              <a:rPr sz="2400" b="1" spc="1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(e.g.,</a:t>
            </a:r>
            <a:r>
              <a:rPr sz="2400" b="1" spc="1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16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rule </a:t>
            </a:r>
            <a:r>
              <a:rPr sz="2400" b="1" dirty="0">
                <a:latin typeface="Times New Roman"/>
                <a:cs typeface="Times New Roman"/>
              </a:rPr>
              <a:t>like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IF</a:t>
            </a:r>
            <a:r>
              <a:rPr sz="2400" b="1" spc="2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age</a:t>
            </a:r>
            <a:r>
              <a:rPr sz="2400" b="1" spc="3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&gt;</a:t>
            </a:r>
            <a:r>
              <a:rPr sz="2400" b="1" spc="3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60</a:t>
            </a:r>
            <a:r>
              <a:rPr sz="2400" b="1" spc="2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THEN</a:t>
            </a:r>
            <a:r>
              <a:rPr sz="2400" b="1" spc="3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high</a:t>
            </a:r>
            <a:r>
              <a:rPr sz="2400" b="1" spc="3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risk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for</a:t>
            </a:r>
            <a:r>
              <a:rPr sz="2400" b="1" spc="2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31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heart </a:t>
            </a:r>
            <a:r>
              <a:rPr sz="2400" b="1" dirty="0">
                <a:latin typeface="Times New Roman"/>
                <a:cs typeface="Times New Roman"/>
              </a:rPr>
              <a:t>disease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model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makes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sense).</a:t>
            </a:r>
            <a:endParaRPr sz="2400">
              <a:latin typeface="Times New Roman"/>
              <a:cs typeface="Times New Roman"/>
            </a:endParaRPr>
          </a:p>
          <a:p>
            <a:pPr marL="927100" marR="5080" lvl="1" indent="-228600" algn="just">
              <a:lnSpc>
                <a:spcPct val="111300"/>
              </a:lnSpc>
              <a:spcBef>
                <a:spcPts val="790"/>
              </a:spcBef>
              <a:buSzPct val="41666"/>
              <a:buFont typeface="Courier New"/>
              <a:buChar char="o"/>
              <a:tabLst>
                <a:tab pos="927100" algn="l"/>
              </a:tabLst>
            </a:pP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tree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too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large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complex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useful? </a:t>
            </a:r>
            <a:r>
              <a:rPr sz="2400" b="1" dirty="0">
                <a:latin typeface="Times New Roman"/>
                <a:cs typeface="Times New Roman"/>
              </a:rPr>
              <a:t>This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might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require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more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pruning.</a:t>
            </a:r>
            <a:endParaRPr sz="2400">
              <a:latin typeface="Times New Roman"/>
              <a:cs typeface="Times New Roman"/>
            </a:endParaRPr>
          </a:p>
          <a:p>
            <a:pPr marL="468630" marR="7620" indent="-227965" algn="just">
              <a:lnSpc>
                <a:spcPct val="110900"/>
              </a:lnSpc>
              <a:spcBef>
                <a:spcPts val="80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Times New Roman"/>
                <a:cs typeface="Times New Roman"/>
              </a:rPr>
              <a:t>Stability</a:t>
            </a:r>
            <a:r>
              <a:rPr sz="2400" b="1" spc="135" dirty="0">
                <a:latin typeface="Times New Roman"/>
                <a:cs typeface="Times New Roman"/>
              </a:rPr>
              <a:t>  </a:t>
            </a:r>
            <a:r>
              <a:rPr sz="2400" b="1" spc="-25" dirty="0">
                <a:latin typeface="Times New Roman"/>
                <a:cs typeface="Times New Roman"/>
              </a:rPr>
              <a:t>Test:</a:t>
            </a:r>
            <a:r>
              <a:rPr sz="2400" b="1" dirty="0">
                <a:latin typeface="Times New Roman"/>
                <a:cs typeface="Times New Roman"/>
              </a:rPr>
              <a:t> Decision</a:t>
            </a:r>
            <a:r>
              <a:rPr sz="2400" b="1" spc="17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trees</a:t>
            </a:r>
            <a:r>
              <a:rPr sz="2400" b="1" spc="17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can</a:t>
            </a:r>
            <a:r>
              <a:rPr sz="2400" b="1" spc="17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be</a:t>
            </a:r>
            <a:r>
              <a:rPr sz="2400" b="1" spc="175" dirty="0">
                <a:latin typeface="Times New Roman"/>
                <a:cs typeface="Times New Roman"/>
              </a:rPr>
              <a:t>  </a:t>
            </a:r>
            <a:r>
              <a:rPr sz="2400" b="1" spc="-10" dirty="0">
                <a:latin typeface="Times New Roman"/>
                <a:cs typeface="Times New Roman"/>
              </a:rPr>
              <a:t>unstable 	</a:t>
            </a:r>
            <a:r>
              <a:rPr sz="2400" b="1" dirty="0">
                <a:latin typeface="Times New Roman"/>
                <a:cs typeface="Times New Roman"/>
              </a:rPr>
              <a:t>(small</a:t>
            </a:r>
            <a:r>
              <a:rPr sz="2400" b="1" spc="2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changes</a:t>
            </a:r>
            <a:r>
              <a:rPr sz="2400" b="1" spc="2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2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data</a:t>
            </a:r>
            <a:r>
              <a:rPr sz="2400" b="1" spc="2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can</a:t>
            </a:r>
            <a:r>
              <a:rPr sz="2400" b="1" spc="2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lead</a:t>
            </a:r>
            <a:r>
              <a:rPr sz="2400" b="1" spc="2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2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28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completely 	</a:t>
            </a:r>
            <a:r>
              <a:rPr sz="2400" b="1" dirty="0">
                <a:latin typeface="Times New Roman"/>
                <a:cs typeface="Times New Roman"/>
              </a:rPr>
              <a:t>different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tree).</a:t>
            </a:r>
            <a:r>
              <a:rPr sz="2400" b="1" spc="-120" dirty="0">
                <a:latin typeface="Times New Roman"/>
                <a:cs typeface="Times New Roman"/>
              </a:rPr>
              <a:t> </a:t>
            </a:r>
            <a:r>
              <a:rPr sz="2400" b="1" spc="-90" dirty="0">
                <a:latin typeface="Times New Roman"/>
                <a:cs typeface="Times New Roman"/>
              </a:rPr>
              <a:t>You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can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test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this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by:</a:t>
            </a:r>
            <a:endParaRPr sz="2400">
              <a:latin typeface="Times New Roman"/>
              <a:cs typeface="Times New Roman"/>
            </a:endParaRPr>
          </a:p>
          <a:p>
            <a:pPr marL="927100" marR="8255" lvl="1" indent="-228600" algn="just">
              <a:lnSpc>
                <a:spcPct val="111300"/>
              </a:lnSpc>
              <a:spcBef>
                <a:spcPts val="790"/>
              </a:spcBef>
              <a:buSzPct val="41666"/>
              <a:buFont typeface="Courier New"/>
              <a:buChar char="o"/>
              <a:tabLst>
                <a:tab pos="927100" algn="l"/>
              </a:tabLst>
            </a:pPr>
            <a:r>
              <a:rPr sz="2400" b="1" dirty="0">
                <a:latin typeface="Times New Roman"/>
                <a:cs typeface="Times New Roman"/>
              </a:rPr>
              <a:t>Training</a:t>
            </a:r>
            <a:r>
              <a:rPr sz="2400" b="1" spc="32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32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model</a:t>
            </a:r>
            <a:r>
              <a:rPr sz="2400" b="1" spc="32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on</a:t>
            </a:r>
            <a:r>
              <a:rPr sz="2400" b="1" spc="32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slightly</a:t>
            </a:r>
            <a:r>
              <a:rPr sz="2400" b="1" spc="330" dirty="0">
                <a:latin typeface="Times New Roman"/>
                <a:cs typeface="Times New Roman"/>
              </a:rPr>
              <a:t>  </a:t>
            </a:r>
            <a:r>
              <a:rPr sz="2400" b="1" spc="-10" dirty="0">
                <a:latin typeface="Times New Roman"/>
                <a:cs typeface="Times New Roman"/>
              </a:rPr>
              <a:t>different </a:t>
            </a:r>
            <a:r>
              <a:rPr sz="2400" b="1" dirty="0">
                <a:latin typeface="Times New Roman"/>
                <a:cs typeface="Times New Roman"/>
              </a:rPr>
              <a:t>subsets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  <a:p>
            <a:pPr marL="927100" marR="8890" lvl="1" indent="-228600" algn="just">
              <a:lnSpc>
                <a:spcPct val="111100"/>
              </a:lnSpc>
              <a:spcBef>
                <a:spcPts val="800"/>
              </a:spcBef>
              <a:buSzPct val="41666"/>
              <a:buFont typeface="Courier New"/>
              <a:buChar char="o"/>
              <a:tabLst>
                <a:tab pos="927100" algn="l"/>
              </a:tabLst>
            </a:pP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4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model</a:t>
            </a:r>
            <a:r>
              <a:rPr sz="2400" b="1" spc="4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4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stable</a:t>
            </a:r>
            <a:r>
              <a:rPr sz="2400" b="1" spc="4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if</a:t>
            </a:r>
            <a:r>
              <a:rPr sz="2400" b="1" spc="434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4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key</a:t>
            </a:r>
            <a:r>
              <a:rPr sz="2400" b="1" spc="4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features</a:t>
            </a:r>
            <a:r>
              <a:rPr sz="2400" b="1" spc="44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and </a:t>
            </a:r>
            <a:r>
              <a:rPr sz="2400" b="1" dirty="0">
                <a:latin typeface="Times New Roman"/>
                <a:cs typeface="Times New Roman"/>
              </a:rPr>
              <a:t>overall</a:t>
            </a:r>
            <a:r>
              <a:rPr sz="2400" b="1" spc="27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structure</a:t>
            </a:r>
            <a:r>
              <a:rPr sz="2400" b="1" spc="27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remain</a:t>
            </a:r>
            <a:r>
              <a:rPr sz="2400" b="1" spc="27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consistent.</a:t>
            </a:r>
            <a:r>
              <a:rPr sz="2400" b="1" spc="27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If</a:t>
            </a:r>
            <a:r>
              <a:rPr sz="2400" b="1" spc="270" dirty="0">
                <a:latin typeface="Times New Roman"/>
                <a:cs typeface="Times New Roman"/>
              </a:rPr>
              <a:t>  </a:t>
            </a:r>
            <a:r>
              <a:rPr sz="2400" b="1" spc="-25" dirty="0">
                <a:latin typeface="Times New Roman"/>
                <a:cs typeface="Times New Roman"/>
              </a:rPr>
              <a:t>it </a:t>
            </a:r>
            <a:r>
              <a:rPr sz="2400" b="1" dirty="0">
                <a:latin typeface="Times New Roman"/>
                <a:cs typeface="Times New Roman"/>
              </a:rPr>
              <a:t>changes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drastically,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it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may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not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reliable.</a:t>
            </a:r>
            <a:endParaRPr sz="2400">
              <a:latin typeface="Times New Roman"/>
              <a:cs typeface="Times New Roman"/>
            </a:endParaRPr>
          </a:p>
          <a:p>
            <a:pPr marL="12700" marR="7620" algn="just">
              <a:lnSpc>
                <a:spcPct val="110800"/>
              </a:lnSpc>
              <a:spcBef>
                <a:spcPts val="805"/>
              </a:spcBef>
            </a:pPr>
            <a:r>
              <a:rPr sz="2400" b="1" dirty="0">
                <a:latin typeface="Times New Roman"/>
                <a:cs typeface="Times New Roman"/>
              </a:rPr>
              <a:t>Acceptance</a:t>
            </a:r>
            <a:r>
              <a:rPr sz="2400" b="1" spc="225" dirty="0">
                <a:latin typeface="Times New Roman"/>
                <a:cs typeface="Times New Roman"/>
              </a:rPr>
              <a:t>   </a:t>
            </a:r>
            <a:r>
              <a:rPr sz="2400" b="1" dirty="0">
                <a:latin typeface="Times New Roman"/>
                <a:cs typeface="Times New Roman"/>
              </a:rPr>
              <a:t>Criterion: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225" dirty="0">
                <a:latin typeface="Times New Roman"/>
                <a:cs typeface="Times New Roman"/>
              </a:rPr>
              <a:t>   </a:t>
            </a:r>
            <a:r>
              <a:rPr sz="2400" b="1" dirty="0">
                <a:latin typeface="Times New Roman"/>
                <a:cs typeface="Times New Roman"/>
              </a:rPr>
              <a:t>model’s</a:t>
            </a:r>
            <a:r>
              <a:rPr sz="2400" b="1" spc="229" dirty="0">
                <a:latin typeface="Times New Roman"/>
                <a:cs typeface="Times New Roman"/>
              </a:rPr>
              <a:t>   </a:t>
            </a:r>
            <a:r>
              <a:rPr sz="2400" b="1" dirty="0">
                <a:latin typeface="Times New Roman"/>
                <a:cs typeface="Times New Roman"/>
              </a:rPr>
              <a:t>logic</a:t>
            </a:r>
            <a:r>
              <a:rPr sz="2400" b="1" spc="225" dirty="0">
                <a:latin typeface="Times New Roman"/>
                <a:cs typeface="Times New Roman"/>
              </a:rPr>
              <a:t>   </a:t>
            </a:r>
            <a:r>
              <a:rPr sz="2400" b="1" spc="-20" dirty="0">
                <a:latin typeface="Times New Roman"/>
                <a:cs typeface="Times New Roman"/>
              </a:rPr>
              <a:t>(key </a:t>
            </a:r>
            <a:r>
              <a:rPr sz="2400" b="1" dirty="0">
                <a:latin typeface="Times New Roman"/>
                <a:cs typeface="Times New Roman"/>
              </a:rPr>
              <a:t>features</a:t>
            </a:r>
            <a:r>
              <a:rPr sz="2400" b="1" spc="434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4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rules)</a:t>
            </a:r>
            <a:r>
              <a:rPr sz="2400" b="1" spc="4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should</a:t>
            </a:r>
            <a:r>
              <a:rPr sz="2400" b="1" spc="4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</a:t>
            </a:r>
            <a:r>
              <a:rPr sz="2400" b="1" spc="4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justifiable</a:t>
            </a:r>
            <a:r>
              <a:rPr sz="2400" b="1" spc="4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4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align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15735C-10FE-087B-6B98-3A7278EBB9B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462A713F-A9BD-443D-9537-1A89035208C3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81BE57-7639-683B-339F-1B575F4018B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02815-B2DD-D27D-5147-BCB30543822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384809"/>
            <a:ext cx="6885940" cy="4491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" algn="just">
              <a:lnSpc>
                <a:spcPct val="1109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with</a:t>
            </a:r>
            <a:r>
              <a:rPr sz="2400" b="1" spc="2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domain</a:t>
            </a:r>
            <a:r>
              <a:rPr sz="2400" b="1" spc="2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knowledge.</a:t>
            </a:r>
            <a:r>
              <a:rPr sz="2400" b="1" spc="3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It</a:t>
            </a:r>
            <a:r>
              <a:rPr sz="2400" b="1" spc="3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should</a:t>
            </a:r>
            <a:r>
              <a:rPr sz="2400" b="1" spc="3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be</a:t>
            </a:r>
            <a:r>
              <a:rPr sz="2400" b="1" spc="30" dirty="0">
                <a:latin typeface="Times New Roman"/>
                <a:cs typeface="Times New Roman"/>
              </a:rPr>
              <a:t>  </a:t>
            </a:r>
            <a:r>
              <a:rPr sz="2400" b="1" spc="-10" dirty="0">
                <a:latin typeface="Times New Roman"/>
                <a:cs typeface="Times New Roman"/>
              </a:rPr>
              <a:t>sufficiently stable.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60"/>
              </a:spcBef>
            </a:pPr>
            <a:endParaRPr sz="2400">
              <a:latin typeface="Times New Roman"/>
              <a:cs typeface="Times New Roman"/>
            </a:endParaRPr>
          </a:p>
          <a:p>
            <a:pPr marL="317500" indent="-304800" algn="just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317500" algn="l"/>
              </a:tabLst>
            </a:pPr>
            <a:r>
              <a:rPr sz="2400" b="1" dirty="0">
                <a:latin typeface="Times New Roman"/>
                <a:cs typeface="Times New Roman"/>
              </a:rPr>
              <a:t>Hyperparameter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spc="-30" dirty="0">
                <a:latin typeface="Times New Roman"/>
                <a:cs typeface="Times New Roman"/>
              </a:rPr>
              <a:t>Tuning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Complexity</a:t>
            </a: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0900"/>
              </a:lnSpc>
              <a:spcBef>
                <a:spcPts val="800"/>
              </a:spcBef>
            </a:pPr>
            <a:r>
              <a:rPr sz="2400" b="1" dirty="0">
                <a:latin typeface="Times New Roman"/>
                <a:cs typeface="Times New Roman"/>
              </a:rPr>
              <a:t>An</a:t>
            </a:r>
            <a:r>
              <a:rPr sz="2400" b="1" spc="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accepted</a:t>
            </a:r>
            <a:r>
              <a:rPr sz="2400" b="1" spc="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model</a:t>
            </a:r>
            <a:r>
              <a:rPr sz="2400" b="1" spc="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not</a:t>
            </a:r>
            <a:r>
              <a:rPr sz="2400" b="1" spc="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just</a:t>
            </a:r>
            <a:r>
              <a:rPr sz="2400" b="1" spc="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default</a:t>
            </a:r>
            <a:r>
              <a:rPr sz="2400" b="1" spc="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model;</a:t>
            </a:r>
            <a:r>
              <a:rPr sz="2400" b="1" spc="9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it’s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tuned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one.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Key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hyperparameters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tune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prevent overfitting:</a:t>
            </a:r>
            <a:endParaRPr sz="2400">
              <a:latin typeface="Times New Roman"/>
              <a:cs typeface="Times New Roman"/>
            </a:endParaRPr>
          </a:p>
          <a:p>
            <a:pPr marL="468630" marR="5080" lvl="1" indent="-227965" algn="just">
              <a:lnSpc>
                <a:spcPct val="111000"/>
              </a:lnSpc>
              <a:spcBef>
                <a:spcPts val="80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sz="2400" b="1" dirty="0">
                <a:latin typeface="Times New Roman"/>
                <a:cs typeface="Times New Roman"/>
              </a:rPr>
              <a:t>Maximum</a:t>
            </a:r>
            <a:r>
              <a:rPr sz="2400" b="1" spc="484" dirty="0">
                <a:latin typeface="Times New Roman"/>
                <a:cs typeface="Times New Roman"/>
              </a:rPr>
              <a:t>   </a:t>
            </a:r>
            <a:r>
              <a:rPr sz="2400" b="1" dirty="0">
                <a:latin typeface="Times New Roman"/>
                <a:cs typeface="Times New Roman"/>
              </a:rPr>
              <a:t>Depth</a:t>
            </a:r>
            <a:r>
              <a:rPr sz="2400" b="1" spc="495" dirty="0">
                <a:latin typeface="Times New Roman"/>
                <a:cs typeface="Times New Roman"/>
              </a:rPr>
              <a:t>   </a:t>
            </a:r>
            <a:r>
              <a:rPr sz="2400" b="1" dirty="0">
                <a:latin typeface="Times New Roman"/>
                <a:cs typeface="Times New Roman"/>
              </a:rPr>
              <a:t>(max_depth):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495" dirty="0">
                <a:latin typeface="Times New Roman"/>
                <a:cs typeface="Times New Roman"/>
              </a:rPr>
              <a:t>   </a:t>
            </a:r>
            <a:r>
              <a:rPr sz="2400" b="1" spc="-20" dirty="0">
                <a:latin typeface="Times New Roman"/>
                <a:cs typeface="Times New Roman"/>
              </a:rPr>
              <a:t>most 	</a:t>
            </a:r>
            <a:r>
              <a:rPr sz="2400" b="1" dirty="0">
                <a:latin typeface="Times New Roman"/>
                <a:cs typeface="Times New Roman"/>
              </a:rPr>
              <a:t>effective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way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control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tree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size.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Limits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how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deep 	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tree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can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grow.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100" y="4992751"/>
            <a:ext cx="3638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41666"/>
              <a:buFont typeface="Symbol"/>
              <a:buChar char=""/>
              <a:tabLst>
                <a:tab pos="241300" algn="l"/>
                <a:tab pos="254063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Minimum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Samples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5399913"/>
            <a:ext cx="3888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(min_samples_leaf):</a:t>
            </a:r>
            <a:r>
              <a:rPr sz="2400" b="1" spc="-114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Requires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79857" y="4951348"/>
            <a:ext cx="2047875" cy="840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880" marR="5080" indent="-43815">
              <a:lnSpc>
                <a:spcPct val="111300"/>
              </a:lnSpc>
              <a:spcBef>
                <a:spcPts val="100"/>
              </a:spcBef>
              <a:tabLst>
                <a:tab pos="765810" algn="l"/>
                <a:tab pos="1442085" algn="l"/>
              </a:tabLst>
            </a:pPr>
            <a:r>
              <a:rPr sz="2400" b="1" spc="-25" dirty="0">
                <a:latin typeface="Times New Roman"/>
                <a:cs typeface="Times New Roman"/>
              </a:rPr>
              <a:t>per</a:t>
            </a:r>
            <a:r>
              <a:rPr sz="2400" b="1" dirty="0">
                <a:latin typeface="Times New Roman"/>
                <a:cs typeface="Times New Roman"/>
              </a:rPr>
              <a:t>		</a:t>
            </a:r>
            <a:r>
              <a:rPr sz="2400" b="1" spc="-20" dirty="0">
                <a:latin typeface="Times New Roman"/>
                <a:cs typeface="Times New Roman"/>
              </a:rPr>
              <a:t>Leaf </a:t>
            </a:r>
            <a:r>
              <a:rPr sz="2400" b="1" spc="-50" dirty="0">
                <a:latin typeface="Times New Roman"/>
                <a:cs typeface="Times New Roman"/>
              </a:rPr>
              <a:t>a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minimum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100" y="5765672"/>
            <a:ext cx="6657340" cy="3476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8890" algn="just">
              <a:lnSpc>
                <a:spcPct val="111000"/>
              </a:lnSpc>
              <a:spcBef>
                <a:spcPts val="95"/>
              </a:spcBef>
            </a:pPr>
            <a:r>
              <a:rPr sz="2400" b="1" dirty="0">
                <a:latin typeface="Times New Roman"/>
                <a:cs typeface="Times New Roman"/>
              </a:rPr>
              <a:t>number</a:t>
            </a:r>
            <a:r>
              <a:rPr sz="2400" b="1" spc="2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3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samples</a:t>
            </a:r>
            <a:r>
              <a:rPr sz="2400" b="1" spc="3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3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3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leaf</a:t>
            </a:r>
            <a:r>
              <a:rPr sz="2400" b="1" spc="3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node.</a:t>
            </a:r>
            <a:r>
              <a:rPr sz="2400" b="1" spc="3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Prevents</a:t>
            </a:r>
            <a:r>
              <a:rPr sz="2400" b="1" spc="31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the </a:t>
            </a:r>
            <a:r>
              <a:rPr sz="2400" b="1" dirty="0">
                <a:latin typeface="Times New Roman"/>
                <a:cs typeface="Times New Roman"/>
              </a:rPr>
              <a:t>tree</a:t>
            </a:r>
            <a:r>
              <a:rPr sz="2400" b="1" spc="16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from</a:t>
            </a:r>
            <a:r>
              <a:rPr sz="2400" b="1" spc="16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creating</a:t>
            </a:r>
            <a:r>
              <a:rPr sz="2400" b="1" spc="16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too</a:t>
            </a:r>
            <a:r>
              <a:rPr sz="2400" b="1" spc="16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specific</a:t>
            </a:r>
            <a:r>
              <a:rPr sz="2400" b="1" spc="16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leaves</a:t>
            </a:r>
            <a:r>
              <a:rPr sz="2400" b="1" spc="16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165" dirty="0">
                <a:latin typeface="Times New Roman"/>
                <a:cs typeface="Times New Roman"/>
              </a:rPr>
              <a:t>  </a:t>
            </a:r>
            <a:r>
              <a:rPr sz="2400" b="1" spc="-25" dirty="0">
                <a:latin typeface="Times New Roman"/>
                <a:cs typeface="Times New Roman"/>
              </a:rPr>
              <a:t>the </a:t>
            </a:r>
            <a:r>
              <a:rPr sz="2400" b="1" dirty="0">
                <a:latin typeface="Times New Roman"/>
                <a:cs typeface="Times New Roman"/>
              </a:rPr>
              <a:t>training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  <a:p>
            <a:pPr marL="240029" marR="6350" indent="-227965" algn="just">
              <a:lnSpc>
                <a:spcPct val="111100"/>
              </a:lnSpc>
              <a:spcBef>
                <a:spcPts val="795"/>
              </a:spcBef>
              <a:buSzPct val="41666"/>
              <a:buFont typeface="Symbol"/>
              <a:buChar char=""/>
              <a:tabLst>
                <a:tab pos="241300" algn="l"/>
                <a:tab pos="2534285" algn="l"/>
                <a:tab pos="4608195" algn="l"/>
                <a:tab pos="603313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Minimum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Samples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per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Split 	</a:t>
            </a:r>
            <a:r>
              <a:rPr sz="2400" b="1" dirty="0">
                <a:latin typeface="Times New Roman"/>
                <a:cs typeface="Times New Roman"/>
              </a:rPr>
              <a:t>(min_samples_split):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9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minimum</a:t>
            </a:r>
            <a:r>
              <a:rPr sz="2400" b="1" spc="9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number</a:t>
            </a:r>
            <a:r>
              <a:rPr sz="2400" b="1" spc="60" dirty="0">
                <a:latin typeface="Times New Roman"/>
                <a:cs typeface="Times New Roman"/>
              </a:rPr>
              <a:t>  </a:t>
            </a:r>
            <a:r>
              <a:rPr sz="2400" b="1" spc="-25" dirty="0">
                <a:latin typeface="Times New Roman"/>
                <a:cs typeface="Times New Roman"/>
              </a:rPr>
              <a:t>of 	</a:t>
            </a:r>
            <a:r>
              <a:rPr sz="2400" b="1" dirty="0">
                <a:latin typeface="Times New Roman"/>
                <a:cs typeface="Times New Roman"/>
              </a:rPr>
              <a:t>samples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required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split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internal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node.</a:t>
            </a:r>
            <a:endParaRPr sz="2400">
              <a:latin typeface="Times New Roman"/>
              <a:cs typeface="Times New Roman"/>
            </a:endParaRPr>
          </a:p>
          <a:p>
            <a:pPr marL="240029" marR="5080" indent="-227965" algn="just">
              <a:lnSpc>
                <a:spcPct val="110800"/>
              </a:lnSpc>
              <a:spcBef>
                <a:spcPts val="805"/>
              </a:spcBef>
              <a:buSzPct val="41666"/>
              <a:buFont typeface="Symbol"/>
              <a:buChar char=""/>
              <a:tabLst>
                <a:tab pos="241300" algn="l"/>
              </a:tabLst>
            </a:pPr>
            <a:r>
              <a:rPr sz="2400" b="1" dirty="0">
                <a:latin typeface="Times New Roman"/>
                <a:cs typeface="Times New Roman"/>
              </a:rPr>
              <a:t>Cost</a:t>
            </a:r>
            <a:r>
              <a:rPr sz="2400" b="1" spc="3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Complexity</a:t>
            </a:r>
            <a:r>
              <a:rPr sz="2400" b="1" spc="2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Pruning</a:t>
            </a:r>
            <a:r>
              <a:rPr sz="2400" b="1" spc="3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(ccp_alpha): A</a:t>
            </a:r>
            <a:r>
              <a:rPr sz="2400" b="1" spc="53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more 	</a:t>
            </a:r>
            <a:r>
              <a:rPr sz="2400" b="1" dirty="0">
                <a:latin typeface="Times New Roman"/>
                <a:cs typeface="Times New Roman"/>
              </a:rPr>
              <a:t>advanced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method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that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prunes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tree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after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it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has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77B1FD-52B2-92DD-6FC0-8EF02C10B0D6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E87E629-32EF-4CA0-B1AC-E7E36D7C2F50}" type="datetime1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CA6B42-6AFB-E56D-5C24-DB583345C5F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2EDE11-A6A4-8D86-D7BA-7875D58986E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384809"/>
            <a:ext cx="6884034" cy="2563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algn="just">
              <a:lnSpc>
                <a:spcPct val="1109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grown</a:t>
            </a:r>
            <a:r>
              <a:rPr sz="2400" b="1" spc="6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7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remove</a:t>
            </a:r>
            <a:r>
              <a:rPr sz="2400" b="1" spc="7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branches</a:t>
            </a:r>
            <a:r>
              <a:rPr sz="2400" b="1" spc="6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that</a:t>
            </a:r>
            <a:r>
              <a:rPr sz="2400" b="1" spc="7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provide</a:t>
            </a:r>
            <a:r>
              <a:rPr sz="2400" b="1" spc="70" dirty="0">
                <a:latin typeface="Times New Roman"/>
                <a:cs typeface="Times New Roman"/>
              </a:rPr>
              <a:t>  </a:t>
            </a:r>
            <a:r>
              <a:rPr sz="2400" b="1" spc="-10" dirty="0">
                <a:latin typeface="Times New Roman"/>
                <a:cs typeface="Times New Roman"/>
              </a:rPr>
              <a:t>little </a:t>
            </a:r>
            <a:r>
              <a:rPr sz="2400" b="1" dirty="0">
                <a:latin typeface="Times New Roman"/>
                <a:cs typeface="Times New Roman"/>
              </a:rPr>
              <a:t>predictive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power.</a:t>
            </a: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1100"/>
              </a:lnSpc>
              <a:spcBef>
                <a:spcPts val="795"/>
              </a:spcBef>
            </a:pPr>
            <a:r>
              <a:rPr sz="2400" b="1" dirty="0">
                <a:latin typeface="Times New Roman"/>
                <a:cs typeface="Times New Roman"/>
              </a:rPr>
              <a:t>Acceptance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Criterion: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model’s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hyperparameters </a:t>
            </a:r>
            <a:r>
              <a:rPr sz="2400" b="1" dirty="0">
                <a:latin typeface="Times New Roman"/>
                <a:cs typeface="Times New Roman"/>
              </a:rPr>
              <a:t>should</a:t>
            </a:r>
            <a:r>
              <a:rPr sz="2400" b="1" spc="16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have</a:t>
            </a:r>
            <a:r>
              <a:rPr sz="2400" b="1" spc="16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been</a:t>
            </a:r>
            <a:r>
              <a:rPr sz="2400" b="1" spc="16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systematically</a:t>
            </a:r>
            <a:r>
              <a:rPr sz="2400" b="1" spc="16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tuned</a:t>
            </a:r>
            <a:r>
              <a:rPr sz="2400" b="1" spc="16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(e.g.,</a:t>
            </a:r>
            <a:r>
              <a:rPr sz="2400" b="1" spc="160" dirty="0">
                <a:latin typeface="Times New Roman"/>
                <a:cs typeface="Times New Roman"/>
              </a:rPr>
              <a:t>  </a:t>
            </a:r>
            <a:r>
              <a:rPr sz="2400" b="1" spc="-25" dirty="0">
                <a:latin typeface="Times New Roman"/>
                <a:cs typeface="Times New Roman"/>
              </a:rPr>
              <a:t>via </a:t>
            </a:r>
            <a:r>
              <a:rPr sz="2400" b="1" dirty="0">
                <a:latin typeface="Times New Roman"/>
                <a:cs typeface="Times New Roman"/>
              </a:rPr>
              <a:t>GridSearchCV</a:t>
            </a:r>
            <a:r>
              <a:rPr sz="2400" b="1" spc="550" dirty="0">
                <a:latin typeface="Times New Roman"/>
                <a:cs typeface="Times New Roman"/>
              </a:rPr>
              <a:t>   </a:t>
            </a:r>
            <a:r>
              <a:rPr sz="2400" b="1" dirty="0">
                <a:latin typeface="Times New Roman"/>
                <a:cs typeface="Times New Roman"/>
              </a:rPr>
              <a:t>or</a:t>
            </a:r>
            <a:r>
              <a:rPr sz="2400" b="1" spc="555" dirty="0">
                <a:latin typeface="Times New Roman"/>
                <a:cs typeface="Times New Roman"/>
              </a:rPr>
              <a:t>   </a:t>
            </a:r>
            <a:r>
              <a:rPr sz="2400" b="1" dirty="0">
                <a:latin typeface="Times New Roman"/>
                <a:cs typeface="Times New Roman"/>
              </a:rPr>
              <a:t>RandomSearchCV)</a:t>
            </a:r>
            <a:r>
              <a:rPr sz="2400" b="1" spc="570" dirty="0">
                <a:latin typeface="Times New Roman"/>
                <a:cs typeface="Times New Roman"/>
              </a:rPr>
              <a:t>   </a:t>
            </a:r>
            <a:r>
              <a:rPr sz="2400" b="1" spc="-10" dirty="0">
                <a:latin typeface="Times New Roman"/>
                <a:cs typeface="Times New Roman"/>
              </a:rPr>
              <a:t>using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validation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set,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not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test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set.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22C2B7-333D-E5B0-D693-8950C02FCDA5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9580A506-6834-4B01-A83D-DE608E92D163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373848-1401-E8C7-18ED-F55719FECA4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A75B0-4357-3DB4-A8E1-8DD7AFC432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384809"/>
            <a:ext cx="6774815" cy="836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900"/>
              </a:lnSpc>
              <a:spcBef>
                <a:spcPts val="100"/>
              </a:spcBef>
            </a:pPr>
            <a:r>
              <a:rPr sz="2400" b="1" spc="-20" dirty="0">
                <a:latin typeface="Times New Roman"/>
                <a:cs typeface="Times New Roman"/>
              </a:rPr>
              <a:t>Summary: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Acceptance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Checklist for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 Decision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Tree </a:t>
            </a:r>
            <a:r>
              <a:rPr sz="2400" b="1" spc="-10" dirty="0">
                <a:latin typeface="Times New Roman"/>
                <a:cs typeface="Times New Roman"/>
              </a:rPr>
              <a:t>Model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7200" y="1370329"/>
          <a:ext cx="7419340" cy="7570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3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5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Aspect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Test/Method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 marR="2159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Look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800" b="1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Acceptance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Crit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1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54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Performance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 marR="142875">
                        <a:lnSpc>
                          <a:spcPct val="110900"/>
                        </a:lnSpc>
                        <a:spcBef>
                          <a:spcPts val="434"/>
                        </a:spcBef>
                        <a:tabLst>
                          <a:tab pos="1469390" algn="l"/>
                        </a:tabLst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Accuracy,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F1-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Score (Classification), MAE/RMSE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517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(Regression)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  <a:spcBef>
                          <a:spcPts val="196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52400">
                        <a:lnSpc>
                          <a:spcPct val="110600"/>
                        </a:lnSpc>
                        <a:tabLst>
                          <a:tab pos="1144905" algn="l"/>
                          <a:tab pos="1856739" algn="l"/>
                          <a:tab pos="2212975" algn="l"/>
                          <a:tab pos="3582670" algn="l"/>
                        </a:tabLst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Metrics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meet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pre-defined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b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threshold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8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SET.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4892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1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54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Generalization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 marR="143510">
                        <a:lnSpc>
                          <a:spcPct val="110600"/>
                        </a:lnSpc>
                        <a:spcBef>
                          <a:spcPts val="440"/>
                        </a:spcBef>
                        <a:tabLst>
                          <a:tab pos="1342390" algn="l"/>
                        </a:tabLst>
                      </a:pP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Train-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Split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Performance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Gap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 marR="219710">
                        <a:lnSpc>
                          <a:spcPct val="110600"/>
                        </a:lnSpc>
                        <a:spcBef>
                          <a:spcPts val="163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800" b="1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significant</a:t>
                      </a:r>
                      <a:r>
                        <a:rPr sz="1800" b="1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800" b="1" spc="3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drop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sets.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0701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8050"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186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Generalization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362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86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8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Curves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362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 marR="50165">
                        <a:lnSpc>
                          <a:spcPct val="110600"/>
                        </a:lnSpc>
                        <a:spcBef>
                          <a:spcPts val="44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800" b="1" spc="1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b="1" spc="1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validation</a:t>
                      </a:r>
                      <a:r>
                        <a:rPr sz="1800" b="1" spc="1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error</a:t>
                      </a:r>
                      <a:r>
                        <a:rPr sz="1800" b="1" spc="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curv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converged.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1580">
                <a:tc>
                  <a:txBody>
                    <a:bodyPr/>
                    <a:lstStyle/>
                    <a:p>
                      <a:pPr marL="2540" marR="569595">
                        <a:lnSpc>
                          <a:spcPct val="110600"/>
                        </a:lnSpc>
                        <a:spcBef>
                          <a:spcPts val="163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Overfitting Control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070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 marR="140970">
                        <a:lnSpc>
                          <a:spcPct val="110600"/>
                        </a:lnSpc>
                        <a:spcBef>
                          <a:spcPts val="163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Hyperparameter Tuning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070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 marR="2159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Parameters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52400" marR="12065">
                        <a:lnSpc>
                          <a:spcPct val="110600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max_depth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min_samples_le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been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optimized.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6780"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184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Interpretability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343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 marR="648335">
                        <a:lnSpc>
                          <a:spcPct val="110700"/>
                        </a:lnSpc>
                        <a:spcBef>
                          <a:spcPts val="42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Feature Importance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 marR="3175">
                        <a:lnSpc>
                          <a:spcPct val="110700"/>
                        </a:lnSpc>
                        <a:spcBef>
                          <a:spcPts val="42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most</a:t>
                      </a:r>
                      <a:r>
                        <a:rPr sz="180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important</a:t>
                      </a:r>
                      <a:r>
                        <a:rPr sz="18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sz="18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8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logi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justifiable.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8050"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186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Interpretability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362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 marR="515620">
                        <a:lnSpc>
                          <a:spcPct val="110600"/>
                        </a:lnSpc>
                        <a:spcBef>
                          <a:spcPts val="440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Tree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Visualization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 marR="123189">
                        <a:lnSpc>
                          <a:spcPct val="110600"/>
                        </a:lnSpc>
                        <a:spcBef>
                          <a:spcPts val="44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b="1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sz="1800" b="1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rules</a:t>
                      </a:r>
                      <a:r>
                        <a:rPr sz="1800" b="1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make</a:t>
                      </a:r>
                      <a:r>
                        <a:rPr sz="1800" b="1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sense</a:t>
                      </a:r>
                      <a:r>
                        <a:rPr sz="1800" b="1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b="1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expert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(for</a:t>
                      </a:r>
                      <a:r>
                        <a:rPr sz="18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reasonably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sized</a:t>
                      </a:r>
                      <a:r>
                        <a:rPr sz="18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trees).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CD93-2C9D-1A95-BCA0-D34F0E372FE8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2E0E65A5-45F3-4F9B-A64B-1D2B3C32236E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3E991-0DA6-591C-EE0F-74DCE84334D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507DF-F716-F347-5CDA-914410EA3B9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57200" y="457200"/>
          <a:ext cx="7400925" cy="3025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3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6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Aspect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Test/Method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 marR="317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Look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800" b="1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Acceptance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Crit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0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54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Stability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 marR="521334">
                        <a:lnSpc>
                          <a:spcPct val="110600"/>
                        </a:lnSpc>
                        <a:spcBef>
                          <a:spcPts val="1630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Data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Subsampling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070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 algn="just">
                        <a:lnSpc>
                          <a:spcPct val="110800"/>
                        </a:lnSpc>
                        <a:spcBef>
                          <a:spcPts val="42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b="1" spc="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800" b="1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structure</a:t>
                      </a:r>
                      <a:r>
                        <a:rPr sz="1800" b="1" spc="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b="1" spc="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important</a:t>
                      </a:r>
                      <a:r>
                        <a:rPr sz="1800" b="1" spc="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f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don’t</a:t>
                      </a:r>
                      <a:r>
                        <a:rPr sz="1800" b="1" spc="37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sz="1800" b="1" spc="37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wildly</a:t>
                      </a:r>
                      <a:r>
                        <a:rPr sz="1800" b="1" spc="37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800" b="1" spc="37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smal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changes.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1580">
                <a:tc>
                  <a:txBody>
                    <a:bodyPr/>
                    <a:lstStyle/>
                    <a:p>
                      <a:pPr marL="2540" marR="653415">
                        <a:lnSpc>
                          <a:spcPct val="110600"/>
                        </a:lnSpc>
                        <a:spcBef>
                          <a:spcPts val="163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Business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Validation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070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 marR="144780">
                        <a:lnSpc>
                          <a:spcPct val="110600"/>
                        </a:lnSpc>
                        <a:spcBef>
                          <a:spcPts val="1630"/>
                        </a:spcBef>
                        <a:tabLst>
                          <a:tab pos="1367790" algn="l"/>
                        </a:tabLst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Review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Stakeholders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070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 marR="31750">
                        <a:lnSpc>
                          <a:spcPct val="110600"/>
                        </a:lnSpc>
                        <a:spcBef>
                          <a:spcPts val="440"/>
                        </a:spcBef>
                        <a:tabLst>
                          <a:tab pos="705485" algn="l"/>
                          <a:tab pos="1322070" algn="l"/>
                          <a:tab pos="1628775" algn="l"/>
                          <a:tab pos="2287905" algn="l"/>
                          <a:tab pos="2888615" algn="l"/>
                          <a:tab pos="3427729" algn="l"/>
                        </a:tabLst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model’s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predictions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ru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validated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against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world expertise.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444500" y="3433698"/>
            <a:ext cx="6887209" cy="1546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10800"/>
              </a:lnSpc>
              <a:spcBef>
                <a:spcPts val="105"/>
              </a:spcBef>
            </a:pPr>
            <a:r>
              <a:rPr sz="1800" b="1" dirty="0">
                <a:latin typeface="Times New Roman"/>
                <a:cs typeface="Times New Roman"/>
              </a:rPr>
              <a:t>Note: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Accepting</a:t>
            </a:r>
            <a:r>
              <a:rPr sz="1800" b="1" spc="1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1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model</a:t>
            </a:r>
            <a:r>
              <a:rPr sz="1800" b="1" spc="1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is</a:t>
            </a:r>
            <a:r>
              <a:rPr sz="1800" b="1" spc="1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1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holistic</a:t>
            </a:r>
            <a:r>
              <a:rPr sz="1800" b="1" spc="1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process.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model</a:t>
            </a:r>
            <a:r>
              <a:rPr sz="1800" b="1" spc="1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with</a:t>
            </a:r>
            <a:r>
              <a:rPr sz="1800" b="1" spc="114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13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slightly lower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F1-</a:t>
            </a:r>
            <a:r>
              <a:rPr sz="1800" b="1" spc="-20" dirty="0">
                <a:latin typeface="Times New Roman"/>
                <a:cs typeface="Times New Roman"/>
              </a:rPr>
              <a:t>score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that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is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stable,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interpretable,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makes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sense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business </a:t>
            </a:r>
            <a:r>
              <a:rPr sz="1800" b="1" dirty="0">
                <a:latin typeface="Times New Roman"/>
                <a:cs typeface="Times New Roman"/>
              </a:rPr>
              <a:t>experts</a:t>
            </a:r>
            <a:r>
              <a:rPr sz="1800" b="1" spc="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is</a:t>
            </a:r>
            <a:r>
              <a:rPr sz="1800" b="1" spc="1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almost</a:t>
            </a:r>
            <a:r>
              <a:rPr sz="1800" b="1" spc="1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always</a:t>
            </a:r>
            <a:r>
              <a:rPr sz="1800" b="1" spc="1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more</a:t>
            </a:r>
            <a:r>
              <a:rPr sz="1800" b="1" spc="1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valuable</a:t>
            </a:r>
            <a:r>
              <a:rPr sz="1800" b="1" spc="1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than</a:t>
            </a:r>
            <a:r>
              <a:rPr sz="1800" b="1" spc="1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slightly</a:t>
            </a:r>
            <a:r>
              <a:rPr sz="1800" b="1" spc="11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higher-</a:t>
            </a:r>
            <a:r>
              <a:rPr sz="1800" b="1" spc="-10" dirty="0">
                <a:latin typeface="Times New Roman"/>
                <a:cs typeface="Times New Roman"/>
              </a:rPr>
              <a:t>scoring </a:t>
            </a:r>
            <a:r>
              <a:rPr sz="1800" b="1" dirty="0">
                <a:latin typeface="Times New Roman"/>
                <a:cs typeface="Times New Roman"/>
              </a:rPr>
              <a:t>“black</a:t>
            </a:r>
            <a:r>
              <a:rPr sz="1800" b="1" spc="2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box”</a:t>
            </a:r>
            <a:r>
              <a:rPr sz="1800" b="1" spc="2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that</a:t>
            </a:r>
            <a:r>
              <a:rPr sz="1800" b="1" spc="2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fails</a:t>
            </a:r>
            <a:r>
              <a:rPr sz="1800" b="1" spc="2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these</a:t>
            </a:r>
            <a:r>
              <a:rPr sz="1800" b="1" spc="2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other</a:t>
            </a:r>
            <a:r>
              <a:rPr sz="1800" b="1" spc="2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critical</a:t>
            </a:r>
            <a:r>
              <a:rPr sz="1800" b="1" spc="28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tests.</a:t>
            </a:r>
            <a:r>
              <a:rPr sz="1800" b="1" spc="2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2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Decision</a:t>
            </a:r>
            <a:r>
              <a:rPr sz="1800" b="1" spc="2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Tree’s strength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is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its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transparency,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so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leverage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that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in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your</a:t>
            </a:r>
            <a:r>
              <a:rPr sz="1800" b="1" spc="-1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acceptance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process.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C32BD-C655-8690-B380-8D1A1694C7A3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E4080CD-E139-4F57-AC18-BD0132D61C1D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16D4D-31D8-EB54-7435-35473192ACE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7E72D-13FE-D73D-343D-59F6A655F3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932433"/>
            <a:ext cx="6586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Storage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before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after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creation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Decision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Tree: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7200" y="1472437"/>
          <a:ext cx="6935470" cy="4846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0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8050"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186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Stage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362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 marR="974090">
                        <a:lnSpc>
                          <a:spcPct val="110600"/>
                        </a:lnSpc>
                        <a:spcBef>
                          <a:spcPts val="44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What is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Memory?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86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Stored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Disk?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362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1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54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Training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 marR="217804">
                        <a:lnSpc>
                          <a:spcPct val="110900"/>
                        </a:lnSpc>
                        <a:spcBef>
                          <a:spcPts val="42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entire</a:t>
                      </a:r>
                      <a:r>
                        <a:rPr sz="18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dataset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algorithm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building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tree.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 marR="1056005">
                        <a:lnSpc>
                          <a:spcPct val="110600"/>
                        </a:lnSpc>
                        <a:spcBef>
                          <a:spcPts val="163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(Nothing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yet,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checkpoints)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070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0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54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Validation/Testing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 marR="396240">
                        <a:lnSpc>
                          <a:spcPct val="110800"/>
                        </a:lnSpc>
                        <a:spcBef>
                          <a:spcPts val="42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tree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prediction.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5176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(Nothing</a:t>
                      </a:r>
                      <a:r>
                        <a:rPr sz="18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yet)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6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540" marR="744855">
                        <a:lnSpc>
                          <a:spcPct val="110600"/>
                        </a:lnSpc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Post-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Testing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(Final)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65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52400" marR="365125">
                        <a:lnSpc>
                          <a:spcPct val="1106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final,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validated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model.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65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 marR="22225">
                        <a:lnSpc>
                          <a:spcPct val="110800"/>
                        </a:lnSpc>
                        <a:spcBef>
                          <a:spcPts val="434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Serialized</a:t>
                      </a:r>
                      <a:r>
                        <a:rPr sz="18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Model: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file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containing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 tree's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split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rules,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leaf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values,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and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metadata.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2C961-59D0-3E3C-4B8B-D24E6B9FEC77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B0CEBD7-3E3B-48D3-BBF4-11C3CD5B8A30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E475D-7C88-6B05-EDF9-A2BED530BF3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883D7-7F4C-A621-CF80-1E07DF5A1D2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932433"/>
            <a:ext cx="3315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7800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Terminating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Conditions: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8629" y="1485391"/>
          <a:ext cx="6912609" cy="5786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6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8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073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Terminating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Condition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Description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1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Example</a:t>
                      </a:r>
                      <a:r>
                        <a:rPr sz="18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 Effect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1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samples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same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class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pure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25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Make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leaf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with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class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73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8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attributes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left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1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8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sz="18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sz="18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to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split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Leaf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majority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class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1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attribute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values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same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possible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further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split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Leaf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majority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class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3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Gain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below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threshold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1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Split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gives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no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improvement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Stop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further</a:t>
                      </a:r>
                      <a:r>
                        <a:rPr sz="18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splitting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1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073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Min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samples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per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node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Too</a:t>
                      </a:r>
                      <a:r>
                        <a:rPr sz="18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few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samples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1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Leaf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majority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class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1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Max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depth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reached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Depth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limit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set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Stop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growing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073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Impurity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1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Perfectly</a:t>
                      </a:r>
                      <a:r>
                        <a:rPr sz="18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classified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node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Stop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splitting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1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6B7D6-B617-244E-4233-E57C2B28664B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8A08588-7BB2-4C22-A8FD-886707C8DF36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311BB-438B-0F6E-A507-A3728B01425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Decision Tre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EE22B-29A8-A7EE-3232-0DED1DE1D90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7501</Words>
  <Application>Microsoft Office PowerPoint</Application>
  <PresentationFormat>Custom</PresentationFormat>
  <Paragraphs>1784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3" baseType="lpstr">
      <vt:lpstr>Calibri</vt:lpstr>
      <vt:lpstr>Cambria Math</vt:lpstr>
      <vt:lpstr>Courier New</vt:lpstr>
      <vt:lpstr>Symbol</vt:lpstr>
      <vt:lpstr>Tahoma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Sanjit Setua</dc:creator>
  <cp:lastModifiedBy>Sanjit Setua</cp:lastModifiedBy>
  <cp:revision>1</cp:revision>
  <dcterms:created xsi:type="dcterms:W3CDTF">2025-10-13T04:55:29Z</dcterms:created>
  <dcterms:modified xsi:type="dcterms:W3CDTF">2025-10-13T04:57:32Z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2025-10-13T00:00:00Z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2025-10-13T00:00:00Z</vt:filetime>
  </property>
  <property fmtid="{D5CDD505-2E9C-101B-9397-08002B2CF9AE}" pid="5" name="Producer">
    <vt:lpwstr>Microsoft® Word 2021</vt:lpwstr>
  </property>
</Properties>
</file>