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79" d="100"/>
          <a:sy n="79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28A0D-1795-4851-8B78-5076D6506E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BE804-BB7D-4651-C2F7-1426CE5380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85275-97EB-359C-7DCE-7D00A446F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7F294-3B25-4395-A2D1-D924D21AE5D9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CAB2C-EBD4-4FE1-C196-6803AEE5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D7F38-5D6E-697C-CD59-104B6483A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8FAE4-81B9-42E3-BE94-95DA3CDFD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16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0D6DD-7AF8-D0E8-F475-351947447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BCE42-9EC0-9334-02FD-E6FD66E30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7E388-BD24-C03B-AF27-97F334F26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7F294-3B25-4395-A2D1-D924D21AE5D9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7EA01-AE0D-FC72-8153-CF8823A6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15C9C-34FE-F9DF-CA49-5F06D3431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8FAE4-81B9-42E3-BE94-95DA3CDFD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251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57848-4DD5-B819-0161-4B8B3FC7D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2A62D-921D-123B-5A3E-E2238B4FB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7087A-0004-BBBC-9BC1-3EB76134B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7F294-3B25-4395-A2D1-D924D21AE5D9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334AC-55F8-15A2-90A5-C1B2EFBB8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77B31-D49E-62F4-BE92-657E49AE2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8FAE4-81B9-42E3-BE94-95DA3CDFD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686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FBF6-C28D-5257-0229-B6A62D3C8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55907-2B69-E0C9-1734-90B56746A4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28088-3E27-57CE-EDE4-106EFBAC3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69518F-6CEF-0434-4AC0-49F78E480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7F294-3B25-4395-A2D1-D924D21AE5D9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5DD81-E962-2FE1-9CFD-CC9743E9C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725C2-4B8D-B8DD-62E1-E5BE98C50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8FAE4-81B9-42E3-BE94-95DA3CDFD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913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3B2AA-BBED-08A9-CFF0-6F9DC7797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2F017-1EA9-676B-B113-50568EC85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FAB10F-60F2-BEC5-9BCC-7156C24439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0D8685-7263-3F5B-C839-214C44A1F3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181B54-72CF-CB4C-0FFB-5F2FF9A26A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08620A-31D5-E3F7-0084-7E15370BA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7F294-3B25-4395-A2D1-D924D21AE5D9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7623C7-1850-FC9D-3607-195D34355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ECD813-1AFC-97B1-3049-8C290676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8FAE4-81B9-42E3-BE94-95DA3CDFD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42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94EC-36B5-F1E4-AD93-C0FE5E982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FF9DB5-40B7-9A82-615B-19ED74C7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7F294-3B25-4395-A2D1-D924D21AE5D9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0927DC-FAEB-51FE-B090-788E3C6B9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F74F0-FC97-F5A0-F904-E290BBEBE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8FAE4-81B9-42E3-BE94-95DA3CDFD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428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B2D023-FD4F-B579-A323-9F33D7872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7F294-3B25-4395-A2D1-D924D21AE5D9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72C2AD-448F-2CF8-ACAB-AE29DCD86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DC86A-FFD4-4C71-22AF-DD8BC315D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8FAE4-81B9-42E3-BE94-95DA3CDFD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282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CCB7B-4AF4-979D-3135-617987893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B46C5-4E24-F1E2-452A-34B11827D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D9FD3A-DF2E-1602-AE6F-8C8F91BBC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3F0482-BB8D-77B0-8FE9-B002D56B8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7F294-3B25-4395-A2D1-D924D21AE5D9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D565F-8E05-4FBE-5280-735D75162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67224-C9E4-3D8E-4C1F-294C5F006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8FAE4-81B9-42E3-BE94-95DA3CDFD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912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A6E5C-B935-3C00-98A8-BBCA01BC0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2B1A3E-46BC-4D3F-7420-5518479AEC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9837B9-8A97-80EB-6AB4-4CCD067F0D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F0A356-AEC1-9834-835B-C855FFB31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7F294-3B25-4395-A2D1-D924D21AE5D9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76726-1B8F-6C7E-E71F-B8FBE434B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75F5DA-FE72-EDAB-DE75-62F71ADC2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8FAE4-81B9-42E3-BE94-95DA3CDFD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397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A972-4F1F-F48D-0AE9-CEC9EC726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7E882C-1EF0-FD8E-E72B-3BF35DCA3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7AE65-7ACA-EC11-5EC2-F1BF81726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7F294-3B25-4395-A2D1-D924D21AE5D9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0C0CE-FBC6-AD25-3BF8-E46C8B35E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4BFAD-6245-1AE7-8DAD-D781616F0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8FAE4-81B9-42E3-BE94-95DA3CDFD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65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F3F732-C9A0-EE69-422D-0D5176FE9E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9712C-2EC6-4CBA-50D1-667296863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09F84-CEC8-1789-BE14-84BE8F4FB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7F294-3B25-4395-A2D1-D924D21AE5D9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0A863-C9B7-AB5F-DF4F-8A679F6F2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A7A6A-A988-CB5C-2C38-6C9D641B4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8FAE4-81B9-42E3-BE94-95DA3CDFD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34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14DCA3-96F5-0BD4-31A2-64FF1F4D7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1D9C2-EB82-9CE4-515B-C03B2C485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1AFDC-09AA-7D0F-69D7-0824726FA9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7F294-3B25-4395-A2D1-D924D21AE5D9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305FD-0023-9705-E77C-A7736BB616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C2D2B-C082-8B2F-701E-2C3A8448F9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8FAE4-81B9-42E3-BE94-95DA3CDFD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297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FD648-AE40-4B9E-E27C-ABFFD32487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Effects of 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955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A3B5FF-C1C9-377A-4F95-698FD469371D}"/>
              </a:ext>
            </a:extLst>
          </p:cNvPr>
          <p:cNvSpPr txBox="1"/>
          <p:nvPr/>
        </p:nvSpPr>
        <p:spPr>
          <a:xfrm>
            <a:off x="524256" y="358140"/>
            <a:ext cx="11289792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quote-cjk-patch"/>
              </a:rPr>
              <a:t>Artificial Intelligence (AI) has many benefits, but it also comes with several negative effects and risks. Here are some of the major concerns:</a:t>
            </a:r>
          </a:p>
          <a:p>
            <a:pPr algn="l">
              <a:buNone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quote-cjk-patch"/>
              </a:rPr>
              <a:t>1. </a:t>
            </a:r>
            <a:r>
              <a:rPr lang="en-GB" sz="2800" b="1" i="0" dirty="0">
                <a:solidFill>
                  <a:srgbClr val="404040"/>
                </a:solidFill>
                <a:effectLst/>
                <a:latin typeface="quote-cjk-patch"/>
              </a:rPr>
              <a:t>Job Displacement</a:t>
            </a:r>
            <a:endParaRPr lang="en-GB" sz="2800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quote-cjk-patch"/>
              </a:rPr>
              <a:t>AI and automation can replace human jobs, especially in manufacturing, customer service, and data analysis.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quote-cjk-patch"/>
              </a:rPr>
              <a:t>Low-skilled workers are at higher risk of unemployment.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404040"/>
              </a:solidFill>
              <a:latin typeface="quote-cjk-patch"/>
            </a:endParaRPr>
          </a:p>
          <a:p>
            <a:pPr algn="l"/>
            <a:endParaRPr lang="en-GB" sz="2800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quote-cjk-patch"/>
              </a:rPr>
              <a:t>2. </a:t>
            </a:r>
            <a:r>
              <a:rPr lang="en-GB" sz="2800" b="1" i="0" dirty="0">
                <a:solidFill>
                  <a:srgbClr val="404040"/>
                </a:solidFill>
                <a:effectLst/>
                <a:latin typeface="quote-cjk-patch"/>
              </a:rPr>
              <a:t>Bias and Discrimination</a:t>
            </a:r>
            <a:endParaRPr lang="en-GB" sz="2800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quote-cjk-patch"/>
              </a:rPr>
              <a:t>AI systems can inherit biases from training data, leading to unfair decisions in hiring, lending, and law enforcement.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quote-cjk-patch"/>
              </a:rPr>
              <a:t>Facial recognition and predictive policing have shown racial and gender biases.</a:t>
            </a:r>
          </a:p>
        </p:txBody>
      </p:sp>
    </p:spTree>
    <p:extLst>
      <p:ext uri="{BB962C8B-B14F-4D97-AF65-F5344CB8AC3E}">
        <p14:creationId xmlns:p14="http://schemas.microsoft.com/office/powerpoint/2010/main" val="4241684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652A8C-F49A-665E-450E-81412CEB8FB5}"/>
              </a:ext>
            </a:extLst>
          </p:cNvPr>
          <p:cNvSpPr txBox="1"/>
          <p:nvPr/>
        </p:nvSpPr>
        <p:spPr>
          <a:xfrm>
            <a:off x="292608" y="257431"/>
            <a:ext cx="1147267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3. </a:t>
            </a:r>
            <a:r>
              <a:rPr lang="en-GB" sz="2800" b="1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Privacy Concerns</a:t>
            </a:r>
            <a:endParaRPr lang="en-GB" sz="2800" b="0" i="0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AI-powered surveillance can lead to mass data collection, violating personal privacy.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Deepfake technology can manipulate images/videos, spreading misinformation.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2800" b="0" i="0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4. </a:t>
            </a:r>
            <a:r>
              <a:rPr lang="en-GB" sz="2800" b="1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Risks</a:t>
            </a:r>
            <a:endParaRPr lang="en-GB" sz="2800" b="0" i="0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can be used for cyberattacks, such as automated hacking or deepfake scams.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weapons could make warfare more dangerous.</a:t>
            </a:r>
          </a:p>
        </p:txBody>
      </p:sp>
    </p:spTree>
    <p:extLst>
      <p:ext uri="{BB962C8B-B14F-4D97-AF65-F5344CB8AC3E}">
        <p14:creationId xmlns:p14="http://schemas.microsoft.com/office/powerpoint/2010/main" val="1915337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F51782-75A0-79DA-83A6-9FBFCC92FEA9}"/>
              </a:ext>
            </a:extLst>
          </p:cNvPr>
          <p:cNvSpPr txBox="1"/>
          <p:nvPr/>
        </p:nvSpPr>
        <p:spPr>
          <a:xfrm>
            <a:off x="524256" y="330397"/>
            <a:ext cx="1120444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quote-cjk-patch"/>
              </a:rPr>
              <a:t>5. </a:t>
            </a:r>
            <a:r>
              <a:rPr lang="en-GB" sz="2800" b="1" i="0" dirty="0">
                <a:solidFill>
                  <a:srgbClr val="404040"/>
                </a:solidFill>
                <a:effectLst/>
                <a:latin typeface="quote-cjk-patch"/>
              </a:rPr>
              <a:t>Loss of Human Control (Autonomy Risks)</a:t>
            </a:r>
            <a:endParaRPr lang="en-GB" sz="2800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quote-cjk-patch"/>
              </a:rPr>
              <a:t>Advanced AI systems may act unpredictably if not properly aligned with human values.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quote-cjk-patch"/>
              </a:rPr>
              <a:t>Over-reliance on AI could reduce human decision-making skills.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404040"/>
              </a:solidFill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sz="2800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pPr algn="l">
              <a:buNone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quote-cjk-patch"/>
              </a:rPr>
              <a:t>6. </a:t>
            </a:r>
            <a:r>
              <a:rPr lang="en-GB" sz="2800" b="1" i="0" dirty="0">
                <a:solidFill>
                  <a:srgbClr val="404040"/>
                </a:solidFill>
                <a:effectLst/>
                <a:latin typeface="quote-cjk-patch"/>
              </a:rPr>
              <a:t>Economic Inequality</a:t>
            </a:r>
            <a:endParaRPr lang="en-GB" sz="2800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quote-cjk-patch"/>
              </a:rPr>
              <a:t>AI could widen the wealth gap, as tech companies and wealthy nations benefit the most.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quote-cjk-patch"/>
              </a:rPr>
              <a:t>Workers without AI-related skills may face lower wages or job loss.</a:t>
            </a:r>
          </a:p>
        </p:txBody>
      </p:sp>
    </p:spTree>
    <p:extLst>
      <p:ext uri="{BB962C8B-B14F-4D97-AF65-F5344CB8AC3E}">
        <p14:creationId xmlns:p14="http://schemas.microsoft.com/office/powerpoint/2010/main" val="2690810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7B16CA-0D6A-2A5B-1929-199506C80228}"/>
              </a:ext>
            </a:extLst>
          </p:cNvPr>
          <p:cNvSpPr txBox="1"/>
          <p:nvPr/>
        </p:nvSpPr>
        <p:spPr>
          <a:xfrm>
            <a:off x="524256" y="281983"/>
            <a:ext cx="112776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7. </a:t>
            </a:r>
            <a:r>
              <a:rPr lang="en-GB" sz="2800" b="1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Ethical and Moral Issues</a:t>
            </a:r>
            <a:endParaRPr lang="en-GB" sz="2800" b="0" i="0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in healthcare (e.g., life-and-death decisions) raises ethical dilemmas.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content (art, writing) challenges intellectual property rights.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sz="2800" b="0" i="0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8. </a:t>
            </a:r>
            <a:r>
              <a:rPr lang="en-GB" sz="2800" b="1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AI</a:t>
            </a:r>
            <a:endParaRPr lang="en-GB" sz="2800" b="0" i="0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Overuse of AI assistants (like chatbots) might reduce critical thinking and creativity.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Errors in AI systems (e.g., medical diagnosis mistakes) can have serious consequences.</a:t>
            </a:r>
          </a:p>
        </p:txBody>
      </p:sp>
    </p:spTree>
    <p:extLst>
      <p:ext uri="{BB962C8B-B14F-4D97-AF65-F5344CB8AC3E}">
        <p14:creationId xmlns:p14="http://schemas.microsoft.com/office/powerpoint/2010/main" val="369074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645440-3690-8844-2AEC-E6F97E807DF3}"/>
              </a:ext>
            </a:extLst>
          </p:cNvPr>
          <p:cNvSpPr txBox="1"/>
          <p:nvPr/>
        </p:nvSpPr>
        <p:spPr>
          <a:xfrm>
            <a:off x="597408" y="477409"/>
            <a:ext cx="1141171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9. </a:t>
            </a:r>
            <a:r>
              <a:rPr lang="en-GB" sz="2800" b="1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Impact</a:t>
            </a:r>
            <a:endParaRPr lang="en-GB" sz="2800" b="0" i="0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large AI models consumes massive energy, contributing to carbon emissions.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28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sz="2800" b="0" i="0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10. </a:t>
            </a:r>
            <a:r>
              <a:rPr lang="en-GB" sz="2800" b="1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 Manipulation</a:t>
            </a:r>
            <a:endParaRPr lang="en-GB" sz="2800" b="0" i="0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AI-driven algorithms on social media can spread misinformation, polarize opinions, and manipulate elections.</a:t>
            </a:r>
          </a:p>
        </p:txBody>
      </p:sp>
    </p:spTree>
    <p:extLst>
      <p:ext uri="{BB962C8B-B14F-4D97-AF65-F5344CB8AC3E}">
        <p14:creationId xmlns:p14="http://schemas.microsoft.com/office/powerpoint/2010/main" val="887744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3772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331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quote-cjk-patch</vt:lpstr>
      <vt:lpstr>Times New Roman</vt:lpstr>
      <vt:lpstr>Office Theme</vt:lpstr>
      <vt:lpstr>Effects of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Sanjit Setua</dc:creator>
  <cp:lastModifiedBy>Sanjit Setua</cp:lastModifiedBy>
  <cp:revision>5</cp:revision>
  <dcterms:created xsi:type="dcterms:W3CDTF">2025-08-11T04:49:46Z</dcterms:created>
  <dcterms:modified xsi:type="dcterms:W3CDTF">2025-09-13T01:25:51Z</dcterms:modified>
</cp:coreProperties>
</file>