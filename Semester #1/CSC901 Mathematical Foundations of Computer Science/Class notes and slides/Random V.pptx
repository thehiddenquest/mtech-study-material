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37.bin"/>
  <Override ContentType="application/vnd.openxmlformats-officedocument.oleObject" PartName="/ppt/embeddings/oleObject9.bin"/>
  <Override ContentType="application/vnd.openxmlformats-officedocument.oleObject" PartName="/ppt/embeddings/oleObject32.bin"/>
  <Override ContentType="application/vnd.openxmlformats-officedocument.oleObject" PartName="/ppt/embeddings/oleObject15.bin"/>
  <Override ContentType="application/vnd.openxmlformats-officedocument.oleObject" PartName="/ppt/embeddings/oleObject29.bin"/>
  <Override ContentType="application/vnd.openxmlformats-officedocument.oleObject" PartName="/ppt/embeddings/oleObject40.bin"/>
  <Override ContentType="application/vnd.openxmlformats-officedocument.oleObject" PartName="/ppt/embeddings/oleObject4.bin"/>
  <Override ContentType="application/vnd.openxmlformats-officedocument.oleObject" PartName="/ppt/embeddings/oleObject28.bin"/>
  <Override ContentType="application/vnd.openxmlformats-officedocument.oleObject" PartName="/ppt/embeddings/oleObject11.bin"/>
  <Override ContentType="application/vnd.openxmlformats-officedocument.oleObject" PartName="/ppt/embeddings/oleObject8.bin"/>
  <Override ContentType="application/vnd.openxmlformats-officedocument.oleObject" PartName="/ppt/embeddings/oleObject33.bin"/>
  <Override ContentType="application/vnd.openxmlformats-officedocument.oleObject" PartName="/ppt/embeddings/oleObject24.bin"/>
  <Override ContentType="application/vnd.openxmlformats-officedocument.oleObject" PartName="/ppt/embeddings/oleObject25.bin"/>
  <Override ContentType="application/vnd.openxmlformats-officedocument.oleObject" PartName="/ppt/embeddings/oleObject20.bin"/>
  <Override ContentType="application/vnd.openxmlformats-officedocument.oleObject" PartName="/ppt/embeddings/oleObject12.bin"/>
  <Override ContentType="application/vnd.openxmlformats-officedocument.oleObject" PartName="/ppt/embeddings/oleObject3.bin"/>
  <Override ContentType="application/vnd.openxmlformats-officedocument.oleObject" PartName="/ppt/embeddings/oleObject17.bin"/>
  <Override ContentType="application/vnd.openxmlformats-officedocument.oleObject" PartName="/ppt/embeddings/oleObject7.bin"/>
  <Override ContentType="application/vnd.openxmlformats-officedocument.oleObject" PartName="/ppt/embeddings/oleObject16.bin"/>
  <Override ContentType="application/vnd.openxmlformats-officedocument.oleObject" PartName="/ppt/embeddings/oleObject2.bin"/>
  <Override ContentType="application/vnd.openxmlformats-officedocument.oleObject" PartName="/ppt/embeddings/oleObject34.bin"/>
  <Override ContentType="application/vnd.openxmlformats-officedocument.oleObject" PartName="/ppt/embeddings/oleObject21.bin"/>
  <Override ContentType="application/vnd.openxmlformats-officedocument.oleObject" PartName="/ppt/embeddings/oleObject38.bin"/>
  <Override ContentType="application/vnd.openxmlformats-officedocument.oleObject" PartName="/ppt/embeddings/oleObject13.bin"/>
  <Override ContentType="application/vnd.openxmlformats-officedocument.oleObject" PartName="/ppt/embeddings/oleObject26.bin"/>
  <Override ContentType="application/vnd.openxmlformats-officedocument.oleObject" PartName="/ppt/embeddings/oleObject6.bin"/>
  <Override ContentType="application/vnd.openxmlformats-officedocument.oleObject" PartName="/ppt/embeddings/oleObject30.bin"/>
  <Override ContentType="application/vnd.openxmlformats-officedocument.oleObject" PartName="/ppt/embeddings/oleObject18.bin"/>
  <Override ContentType="application/vnd.openxmlformats-officedocument.oleObject" PartName="/ppt/embeddings/oleObject1.bin"/>
  <Override ContentType="application/vnd.openxmlformats-officedocument.oleObject" PartName="/ppt/embeddings/oleObject39.bin"/>
  <Override ContentType="application/vnd.openxmlformats-officedocument.oleObject" PartName="/ppt/embeddings/oleObject35.bin"/>
  <Override ContentType="application/vnd.openxmlformats-officedocument.oleObject" PartName="/ppt/embeddings/oleObject22.bin"/>
  <Override ContentType="application/vnd.openxmlformats-officedocument.oleObject" PartName="/ppt/embeddings/oleObject19.bin"/>
  <Override ContentType="application/vnd.openxmlformats-officedocument.oleObject" PartName="/ppt/embeddings/oleObject14.bin"/>
  <Override ContentType="application/vnd.openxmlformats-officedocument.oleObject" PartName="/ppt/embeddings/oleObject31.bin"/>
  <Override ContentType="application/vnd.openxmlformats-officedocument.oleObject" PartName="/ppt/embeddings/oleObject5.bin"/>
  <Override ContentType="application/vnd.openxmlformats-officedocument.oleObject" PartName="/ppt/embeddings/oleObject10.bin"/>
  <Override ContentType="application/vnd.openxmlformats-officedocument.oleObject" PartName="/ppt/embeddings/oleObject27.bin"/>
  <Override ContentType="application/vnd.openxmlformats-officedocument.oleObject" PartName="/ppt/embeddings/oleObject23.bin"/>
  <Override ContentType="application/vnd.openxmlformats-officedocument.oleObject" PartName="/ppt/embeddings/oleObject36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</p:sldIdLst>
  <p:sldSz cy="6858000" cx="9144000"/>
  <p:notesSz cx="6934200" cy="9283700"/>
  <p:embeddedFontLst>
    <p:embeddedFont>
      <p:font typeface="Arimo"/>
      <p:regular r:id="rId90"/>
      <p:bold r:id="rId91"/>
      <p:italic r:id="rId92"/>
      <p:boldItalic r:id="rId93"/>
    </p:embeddedFont>
    <p:embeddedFont>
      <p:font typeface="Tahoma"/>
      <p:regular r:id="rId94"/>
      <p:bold r:id="rId95"/>
    </p:embeddedFont>
    <p:embeddedFont>
      <p:font typeface="Noto Sans Symbols"/>
      <p:regular r:id="rId96"/>
      <p:bold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98" roundtripDataSignature="AMtx7mgHUIzXrXgpT/qyS/mo8tRvpXMF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909C95-C989-4B01-82C3-3AA90FAFA577}">
  <a:tblStyle styleId="{54909C95-C989-4B01-82C3-3AA90FAFA5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Tahoma-bold.fntdata"/><Relationship Id="rId94" Type="http://schemas.openxmlformats.org/officeDocument/2006/relationships/font" Target="fonts/Tahoma-regular.fntdata"/><Relationship Id="rId97" Type="http://schemas.openxmlformats.org/officeDocument/2006/relationships/font" Target="fonts/NotoSansSymbols-bold.fntdata"/><Relationship Id="rId96" Type="http://schemas.openxmlformats.org/officeDocument/2006/relationships/font" Target="fonts/NotoSansSymbols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98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font" Target="fonts/Arimo-bold.fntdata"/><Relationship Id="rId90" Type="http://schemas.openxmlformats.org/officeDocument/2006/relationships/font" Target="fonts/Arimo-regular.fntdata"/><Relationship Id="rId93" Type="http://schemas.openxmlformats.org/officeDocument/2006/relationships/font" Target="fonts/Arimo-boldItalic.fntdata"/><Relationship Id="rId92" Type="http://schemas.openxmlformats.org/officeDocument/2006/relationships/font" Target="fonts/Arim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/Relationships>
</file>

<file path=ppt/drawings/_rels/vmlDrawing9.vml.rels><?xml version="1.0" encoding="UTF-8" standalone="yes"?>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10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/Relationships>
</file>

<file path=ppt/drawings/_rels/vmlDrawing11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5.png"/></Relationships>
</file>

<file path=ppt/drawings/_rels/vmlDrawing12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/Relationships>
</file>

<file path=ppt/drawings/_rels/vmlDrawing13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14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15.vml.rels><?xml version="1.0" encoding="UTF-8" standalone="yes"?>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16.vml.rels><?xml version="1.0" encoding="UTF-8" standalone="yes"?>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14.png"/></Relationships>
</file>

<file path=ppt/drawings/_rels/vmlDrawing17.vml.rels><?xml version="1.0" encoding="UTF-8" standalone="yes"?><Relationships xmlns="http://schemas.openxmlformats.org/package/2006/relationships"><Relationship Id="rId1" Type="http://schemas.openxmlformats.org/officeDocument/2006/relationships/image" Target="../media/image36.png"/></Relationships>
</file>

<file path=ppt/drawings/_rels/vmlDrawing18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9.png"/></Relationships>
</file>

<file path=ppt/drawings/_rels/vmlDrawing19.vml.rels><?xml version="1.0" encoding="UTF-8" standalone="yes"?>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28.png"/></Relationships>
</file>

<file path=ppt/drawings/_rels/vmlDrawing20.vml.rels><?xml version="1.0" encoding="UTF-8" standalone="yes"?>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13.png"/><Relationship Id="rId3" Type="http://schemas.openxmlformats.org/officeDocument/2006/relationships/image" Target="../media/image25.png"/></Relationships>
</file>

<file path=ppt/drawings/_rels/vmlDrawing21.vml.rels><?xml version="1.0" encoding="UTF-8" standalone="yes"?>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21.png"/></Relationships>
</file>

<file path=ppt/drawings/_rels/vmlDrawing22.vml.rels><?xml version="1.0" encoding="UTF-8" standalone="yes"?><Relationships xmlns="http://schemas.openxmlformats.org/package/2006/relationships"><Relationship Id="rId1" Type="http://schemas.openxmlformats.org/officeDocument/2006/relationships/image" Target="../media/image35.png"/></Relationships>
</file>

<file path=ppt/drawings/_rels/vmlDrawing23.vml.rels><?xml version="1.0" encoding="UTF-8" standalone="yes"?>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4.png"/><Relationship Id="rId3" Type="http://schemas.openxmlformats.org/officeDocument/2006/relationships/image" Target="../media/image26.png"/></Relationships>
</file>

<file path=ppt/drawings/_rels/vmlDrawing24.vml.rels><?xml version="1.0" encoding="UTF-8" standalone="yes"?>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25.vml.rels><?xml version="1.0" encoding="UTF-8" standalone="yes"?>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43.png"/></Relationships>
</file>

<file path=ppt/drawings/_rels/vmlDrawing26.vml.rels><?xml version="1.0" encoding="UTF-8" standalone="yes"?><Relationships xmlns="http://schemas.openxmlformats.org/package/2006/relationships"><Relationship Id="rId1" Type="http://schemas.openxmlformats.org/officeDocument/2006/relationships/image" Target="../media/image38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3929062" y="8818562"/>
            <a:ext cx="30035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934200" cy="9283700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 txBox="1"/>
          <p:nvPr>
            <p:ph idx="2" type="hdr"/>
          </p:nvPr>
        </p:nvSpPr>
        <p:spPr>
          <a:xfrm>
            <a:off x="0" y="0"/>
            <a:ext cx="30035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3929062" y="0"/>
            <a:ext cx="30035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n"/>
          <p:cNvSpPr/>
          <p:nvPr>
            <p:ph idx="3" type="sldImg"/>
          </p:nvPr>
        </p:nvSpPr>
        <p:spPr>
          <a:xfrm>
            <a:off x="1146175" y="695325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" name="Google Shape;8;n"/>
          <p:cNvSpPr txBox="1"/>
          <p:nvPr>
            <p:ph idx="1" type="body"/>
          </p:nvPr>
        </p:nvSpPr>
        <p:spPr>
          <a:xfrm>
            <a:off x="923925" y="4410075"/>
            <a:ext cx="5084762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n"/>
          <p:cNvSpPr txBox="1"/>
          <p:nvPr>
            <p:ph idx="11" type="ftr"/>
          </p:nvPr>
        </p:nvSpPr>
        <p:spPr>
          <a:xfrm>
            <a:off x="0" y="8818562"/>
            <a:ext cx="30035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" name="Google Shape;10;n"/>
          <p:cNvSpPr txBox="1"/>
          <p:nvPr>
            <p:ph idx="4" type="sldNum"/>
          </p:nvPr>
        </p:nvSpPr>
        <p:spPr>
          <a:xfrm>
            <a:off x="3929062" y="8818562"/>
            <a:ext cx="300355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-215900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1101725" y="685800"/>
            <a:ext cx="4681537" cy="3511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908050" y="4425950"/>
            <a:ext cx="5067300" cy="419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1101725" y="685800"/>
            <a:ext cx="4681537" cy="3511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908050" y="4425950"/>
            <a:ext cx="5067300" cy="41973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It turns out that if you were to go out and sample many, many times, most sample statistics that you could calculate would follow a normal distribution. 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are the 2 parameters (from last time) that define any normal distribution?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/>
              <a:t>Remember that a normal curve is characterized by two parameters, a mean and a variability (SD)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do you think the mean value of a sample statistic would be?  The standard deviation?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/>
              <a:t>Remember standard deviation is natural variability of the population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/>
              <a:t>Standard error can be standard error of the mean or standard error of the odds ratio or standard error of the difference of 2 means, etc.  The standard error of any sample statistic.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1" name="Google Shape;271;p11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3" name="Google Shape;293;p13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3" name="Google Shape;353;p15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9" name="Google Shape;359;p16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7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5" name="Google Shape;365;p17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3" name="Google Shape;373;p18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6" name="Google Shape;386;p19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0" name="Google Shape;400;p20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49c5a9c03_0_0:notes"/>
          <p:cNvSpPr txBox="1"/>
          <p:nvPr>
            <p:ph idx="12" type="sldNum"/>
          </p:nvPr>
        </p:nvSpPr>
        <p:spPr>
          <a:xfrm>
            <a:off x="3929062" y="8818562"/>
            <a:ext cx="3003600" cy="463500"/>
          </a:xfrm>
          <a:prstGeom prst="rect">
            <a:avLst/>
          </a:prstGeom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649c5a9c03_0_0:notes"/>
          <p:cNvSpPr/>
          <p:nvPr>
            <p:ph idx="2" type="sldImg"/>
          </p:nvPr>
        </p:nvSpPr>
        <p:spPr>
          <a:xfrm>
            <a:off x="1146175" y="695325"/>
            <a:ext cx="4640400" cy="347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649c5a9c03_0_0:notes"/>
          <p:cNvSpPr txBox="1"/>
          <p:nvPr>
            <p:ph idx="1" type="body"/>
          </p:nvPr>
        </p:nvSpPr>
        <p:spPr>
          <a:xfrm>
            <a:off x="923925" y="4410075"/>
            <a:ext cx="5084700" cy="4176600"/>
          </a:xfrm>
          <a:prstGeom prst="rect">
            <a:avLst/>
          </a:prstGeom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649c5a9c03_0_0:notes"/>
          <p:cNvSpPr txBox="1"/>
          <p:nvPr>
            <p:ph idx="3" type="sldNum"/>
          </p:nvPr>
        </p:nvSpPr>
        <p:spPr>
          <a:xfrm>
            <a:off x="3929062" y="8818562"/>
            <a:ext cx="3003600" cy="463500"/>
          </a:xfrm>
          <a:prstGeom prst="rect">
            <a:avLst/>
          </a:prstGeom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-215900" lvl="0" marL="2159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1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3" name="Google Shape;433;p21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2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2" name="Google Shape;442;p22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3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7" name="Google Shape;477;p23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97" name="Google Shape;497;p24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5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19" name="Google Shape;519;p25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6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31" name="Google Shape;531;p26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7:notes"/>
          <p:cNvSpPr/>
          <p:nvPr>
            <p:ph idx="2" type="sldImg"/>
          </p:nvPr>
        </p:nvSpPr>
        <p:spPr>
          <a:xfrm>
            <a:off x="1101725" y="685800"/>
            <a:ext cx="4681537" cy="3511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47" name="Google Shape;547;p27:notes"/>
          <p:cNvSpPr txBox="1"/>
          <p:nvPr>
            <p:ph idx="1" type="body"/>
          </p:nvPr>
        </p:nvSpPr>
        <p:spPr>
          <a:xfrm>
            <a:off x="908050" y="4425950"/>
            <a:ext cx="5067300" cy="419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8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53" name="Google Shape;553;p28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9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70" name="Google Shape;570;p29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0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76" name="Google Shape;576;p30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1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3" name="Google Shape;623;p31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2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32" name="Google Shape;632;p32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3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43" name="Google Shape;643;p33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4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52" name="Google Shape;652;p34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5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0" name="Google Shape;670;p35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6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6" name="Google Shape;676;p36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7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82" name="Google Shape;682;p37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8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88" name="Google Shape;688;p38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9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22" name="Google Shape;722;p39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0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52" name="Google Shape;752;p40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1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58" name="Google Shape;758;p41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2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64" name="Google Shape;764;p42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3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70" name="Google Shape;770;p43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4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76" name="Google Shape;776;p44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5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82" name="Google Shape;782;p45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6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88" name="Google Shape;788;p46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1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94" name="Google Shape;794;p51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2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00" name="Google Shape;800;p52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3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07" name="Google Shape;807;p53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4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13" name="Google Shape;813;p54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5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3" name="Google Shape;853;p55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6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94" name="Google Shape;894;p56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7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00" name="Google Shape;900;p57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8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08" name="Google Shape;908;p58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0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17" name="Google Shape;917;p60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61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23" name="Google Shape;923;p61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2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31" name="Google Shape;931;p62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3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37" name="Google Shape;937;p63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4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46" name="Google Shape;946;p64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5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59" name="Google Shape;959;p65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6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67" name="Google Shape;967;p66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67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57" name="Google Shape;1057;p67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68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63" name="Google Shape;1063;p68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69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69" name="Google Shape;1069;p69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70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0" name="Google Shape;1080;p70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71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91" name="Google Shape;1091;p71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72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99" name="Google Shape;1099;p72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73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05" name="Google Shape;1105;p73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4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11" name="Google Shape;1111;p74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75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18" name="Google Shape;1118;p75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76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26" name="Google Shape;1126;p76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77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35" name="Google Shape;1135;p77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78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80" name="Google Shape;1180;p78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79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26" name="Google Shape;1226;p79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80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32" name="Google Shape;1232;p80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81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38" name="Google Shape;1238;p81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82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45" name="Google Shape;1245;p82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83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51" name="Google Shape;1251;p83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4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58" name="Google Shape;1258;p84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85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66" name="Google Shape;1266;p85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6:notes"/>
          <p:cNvSpPr/>
          <p:nvPr>
            <p:ph idx="2" type="sldImg"/>
          </p:nvPr>
        </p:nvSpPr>
        <p:spPr>
          <a:xfrm>
            <a:off x="1146175" y="695325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73" name="Google Shape;1273;p86:notes"/>
          <p:cNvSpPr txBox="1"/>
          <p:nvPr>
            <p:ph idx="1" type="body"/>
          </p:nvPr>
        </p:nvSpPr>
        <p:spPr>
          <a:xfrm>
            <a:off x="923925" y="4410075"/>
            <a:ext cx="508635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8"/>
          <p:cNvSpPr txBox="1"/>
          <p:nvPr>
            <p:ph idx="10" type="dt"/>
          </p:nvPr>
        </p:nvSpPr>
        <p:spPr>
          <a:xfrm>
            <a:off x="990600" y="6248400"/>
            <a:ext cx="19034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8"/>
          <p:cNvSpPr txBox="1"/>
          <p:nvPr>
            <p:ph idx="11" type="ftr"/>
          </p:nvPr>
        </p:nvSpPr>
        <p:spPr>
          <a:xfrm>
            <a:off x="3429000" y="6248400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8"/>
          <p:cNvSpPr txBox="1"/>
          <p:nvPr>
            <p:ph idx="12" type="sldNum"/>
          </p:nvPr>
        </p:nvSpPr>
        <p:spPr>
          <a:xfrm>
            <a:off x="6858000" y="6248400"/>
            <a:ext cx="19034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0"/>
          <p:cNvSpPr txBox="1"/>
          <p:nvPr>
            <p:ph type="title"/>
          </p:nvPr>
        </p:nvSpPr>
        <p:spPr>
          <a:xfrm>
            <a:off x="1150937" y="214312"/>
            <a:ext cx="779145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0"/>
          <p:cNvSpPr txBox="1"/>
          <p:nvPr>
            <p:ph idx="1" type="body"/>
          </p:nvPr>
        </p:nvSpPr>
        <p:spPr>
          <a:xfrm>
            <a:off x="1182687" y="2017712"/>
            <a:ext cx="7770812" cy="41132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0"/>
          <p:cNvSpPr txBox="1"/>
          <p:nvPr>
            <p:ph idx="10" type="dt"/>
          </p:nvPr>
        </p:nvSpPr>
        <p:spPr>
          <a:xfrm>
            <a:off x="1162050" y="6243637"/>
            <a:ext cx="19034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0"/>
          <p:cNvSpPr txBox="1"/>
          <p:nvPr>
            <p:ph idx="11" type="ftr"/>
          </p:nvPr>
        </p:nvSpPr>
        <p:spPr>
          <a:xfrm>
            <a:off x="3657600" y="6243637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0"/>
          <p:cNvSpPr txBox="1"/>
          <p:nvPr>
            <p:ph idx="12" type="sldNum"/>
          </p:nvPr>
        </p:nvSpPr>
        <p:spPr>
          <a:xfrm>
            <a:off x="7042150" y="6243637"/>
            <a:ext cx="19034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1"/>
          <p:cNvSpPr txBox="1"/>
          <p:nvPr>
            <p:ph idx="10" type="dt"/>
          </p:nvPr>
        </p:nvSpPr>
        <p:spPr>
          <a:xfrm>
            <a:off x="1162050" y="6243637"/>
            <a:ext cx="19034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1"/>
          <p:cNvSpPr txBox="1"/>
          <p:nvPr>
            <p:ph idx="11" type="ftr"/>
          </p:nvPr>
        </p:nvSpPr>
        <p:spPr>
          <a:xfrm>
            <a:off x="3657600" y="6243637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1"/>
          <p:cNvSpPr txBox="1"/>
          <p:nvPr>
            <p:ph idx="12" type="sldNum"/>
          </p:nvPr>
        </p:nvSpPr>
        <p:spPr>
          <a:xfrm>
            <a:off x="7042150" y="6243637"/>
            <a:ext cx="19034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87"/>
          <p:cNvGrpSpPr/>
          <p:nvPr/>
        </p:nvGrpSpPr>
        <p:grpSpPr>
          <a:xfrm>
            <a:off x="0" y="2438400"/>
            <a:ext cx="9007475" cy="1050925"/>
            <a:chOff x="0" y="1536"/>
            <a:chExt cx="5674" cy="662"/>
          </a:xfrm>
        </p:grpSpPr>
        <p:grpSp>
          <p:nvGrpSpPr>
            <p:cNvPr id="13" name="Google Shape;13;p87"/>
            <p:cNvGrpSpPr/>
            <p:nvPr/>
          </p:nvGrpSpPr>
          <p:grpSpPr>
            <a:xfrm>
              <a:off x="183" y="1604"/>
              <a:ext cx="447" cy="298"/>
              <a:chOff x="183" y="1604"/>
              <a:chExt cx="447" cy="298"/>
            </a:xfrm>
          </p:grpSpPr>
          <p:sp>
            <p:nvSpPr>
              <p:cNvPr id="14" name="Google Shape;14;p87"/>
              <p:cNvSpPr/>
              <p:nvPr/>
            </p:nvSpPr>
            <p:spPr>
              <a:xfrm>
                <a:off x="183" y="1604"/>
                <a:ext cx="275" cy="298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" name="Google Shape;15;p87"/>
              <p:cNvSpPr/>
              <p:nvPr/>
            </p:nvSpPr>
            <p:spPr>
              <a:xfrm>
                <a:off x="424" y="1604"/>
                <a:ext cx="206" cy="298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3333CC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" name="Google Shape;16;p87"/>
            <p:cNvGrpSpPr/>
            <p:nvPr/>
          </p:nvGrpSpPr>
          <p:grpSpPr>
            <a:xfrm>
              <a:off x="261" y="1870"/>
              <a:ext cx="463" cy="298"/>
              <a:chOff x="261" y="1870"/>
              <a:chExt cx="463" cy="298"/>
            </a:xfrm>
          </p:grpSpPr>
          <p:sp>
            <p:nvSpPr>
              <p:cNvPr id="17" name="Google Shape;17;p87"/>
              <p:cNvSpPr/>
              <p:nvPr/>
            </p:nvSpPr>
            <p:spPr>
              <a:xfrm>
                <a:off x="261" y="1870"/>
                <a:ext cx="265" cy="298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" name="Google Shape;18;p87"/>
              <p:cNvSpPr/>
              <p:nvPr/>
            </p:nvSpPr>
            <p:spPr>
              <a:xfrm>
                <a:off x="493" y="1870"/>
                <a:ext cx="231" cy="298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FFCF01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9" name="Google Shape;19;p87"/>
            <p:cNvSpPr/>
            <p:nvPr/>
          </p:nvSpPr>
          <p:spPr>
            <a:xfrm>
              <a:off x="0" y="1824"/>
              <a:ext cx="352" cy="265"/>
            </a:xfrm>
            <a:prstGeom prst="rect">
              <a:avLst/>
            </a:prstGeom>
            <a:gradFill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" name="Google Shape;20;p87"/>
            <p:cNvSpPr/>
            <p:nvPr/>
          </p:nvSpPr>
          <p:spPr>
            <a:xfrm>
              <a:off x="400" y="1536"/>
              <a:ext cx="19" cy="662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" name="Google Shape;21;p87"/>
            <p:cNvSpPr/>
            <p:nvPr/>
          </p:nvSpPr>
          <p:spPr>
            <a:xfrm flipH="1" rot="10800000">
              <a:off x="199" y="2054"/>
              <a:ext cx="5475" cy="3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1C1C1C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2" name="Google Shape;22;p87"/>
          <p:cNvSpPr txBox="1"/>
          <p:nvPr>
            <p:ph type="title"/>
          </p:nvPr>
        </p:nvSpPr>
        <p:spPr>
          <a:xfrm>
            <a:off x="990600" y="1676400"/>
            <a:ext cx="7770812" cy="14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3" name="Google Shape;23;p87"/>
          <p:cNvSpPr txBox="1"/>
          <p:nvPr>
            <p:ph idx="10" type="dt"/>
          </p:nvPr>
        </p:nvSpPr>
        <p:spPr>
          <a:xfrm>
            <a:off x="990600" y="6248400"/>
            <a:ext cx="19034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87"/>
          <p:cNvSpPr txBox="1"/>
          <p:nvPr>
            <p:ph idx="11" type="ftr"/>
          </p:nvPr>
        </p:nvSpPr>
        <p:spPr>
          <a:xfrm>
            <a:off x="3429000" y="6248400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87"/>
          <p:cNvSpPr txBox="1"/>
          <p:nvPr>
            <p:ph idx="12" type="sldNum"/>
          </p:nvPr>
        </p:nvSpPr>
        <p:spPr>
          <a:xfrm>
            <a:off x="6858000" y="6248400"/>
            <a:ext cx="19034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9"/>
          <p:cNvSpPr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89"/>
          <p:cNvSpPr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89"/>
          <p:cNvSpPr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89"/>
          <p:cNvSpPr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89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89"/>
          <p:cNvSpPr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89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89"/>
          <p:cNvSpPr txBox="1"/>
          <p:nvPr>
            <p:ph type="title"/>
          </p:nvPr>
        </p:nvSpPr>
        <p:spPr>
          <a:xfrm>
            <a:off x="1150937" y="214312"/>
            <a:ext cx="779145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1" name="Google Shape;41;p89"/>
          <p:cNvSpPr txBox="1"/>
          <p:nvPr>
            <p:ph idx="1" type="body"/>
          </p:nvPr>
        </p:nvSpPr>
        <p:spPr>
          <a:xfrm>
            <a:off x="1182687" y="2017712"/>
            <a:ext cx="7770812" cy="41132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2" name="Google Shape;42;p89"/>
          <p:cNvSpPr txBox="1"/>
          <p:nvPr>
            <p:ph idx="10" type="dt"/>
          </p:nvPr>
        </p:nvSpPr>
        <p:spPr>
          <a:xfrm>
            <a:off x="1162050" y="6243637"/>
            <a:ext cx="19034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3" name="Google Shape;43;p89"/>
          <p:cNvSpPr txBox="1"/>
          <p:nvPr>
            <p:ph idx="11" type="ftr"/>
          </p:nvPr>
        </p:nvSpPr>
        <p:spPr>
          <a:xfrm>
            <a:off x="3657600" y="6243637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4" name="Google Shape;44;p89"/>
          <p:cNvSpPr txBox="1"/>
          <p:nvPr>
            <p:ph idx="12" type="sldNum"/>
          </p:nvPr>
        </p:nvSpPr>
        <p:spPr>
          <a:xfrm>
            <a:off x="7042150" y="6243637"/>
            <a:ext cx="19034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  <a:defRPr b="0" i="0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  <a:defRPr b="0" i="0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  <a:defRPr b="0" i="0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  <a:defRPr b="0" i="0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  <a:defRPr b="0" i="0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  <a:defRPr b="0" i="0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  <a:defRPr b="0" i="0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  <a:defRPr b="0" i="0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  <a:defRPr b="0" i="0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png"/><Relationship Id="rId7" Type="http://schemas.openxmlformats.org/officeDocument/2006/relationships/oleObject" Target="../embeddings/oleObject3.bin"/><Relationship Id="rId8" Type="http://schemas.openxmlformats.org/officeDocument/2006/relationships/oleObject" Target="../embeddings/oleObject3.bin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6.bin"/><Relationship Id="rId5" Type="http://schemas.openxmlformats.org/officeDocument/2006/relationships/oleObject" Target="../embeddings/oleObject6.bin"/><Relationship Id="rId6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7.bin"/><Relationship Id="rId5" Type="http://schemas.openxmlformats.org/officeDocument/2006/relationships/oleObject" Target="../embeddings/oleObject7.bin"/><Relationship Id="rId6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8.bin"/><Relationship Id="rId5" Type="http://schemas.openxmlformats.org/officeDocument/2006/relationships/oleObject" Target="../embeddings/oleObject8.bin"/><Relationship Id="rId6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9.bin"/><Relationship Id="rId9" Type="http://schemas.openxmlformats.org/officeDocument/2006/relationships/image" Target="../media/image17.png"/><Relationship Id="rId5" Type="http://schemas.openxmlformats.org/officeDocument/2006/relationships/oleObject" Target="../embeddings/oleObject9.bin"/><Relationship Id="rId6" Type="http://schemas.openxmlformats.org/officeDocument/2006/relationships/image" Target="../media/image1.png"/><Relationship Id="rId7" Type="http://schemas.openxmlformats.org/officeDocument/2006/relationships/oleObject" Target="../embeddings/oleObject10.bin"/><Relationship Id="rId8" Type="http://schemas.openxmlformats.org/officeDocument/2006/relationships/oleObject" Target="../embeddings/oleObject10.bin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vmlDrawing" Target="../drawings/vmlDrawing9.vml"/><Relationship Id="rId4" Type="http://schemas.openxmlformats.org/officeDocument/2006/relationships/oleObject" Target="../embeddings/oleObject11.bin"/><Relationship Id="rId5" Type="http://schemas.openxmlformats.org/officeDocument/2006/relationships/oleObject" Target="../embeddings/oleObject11.bin"/><Relationship Id="rId6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vmlDrawing" Target="../drawings/vmlDrawing10.vml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0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9.png"/><Relationship Id="rId7" Type="http://schemas.openxmlformats.org/officeDocument/2006/relationships/oleObject" Target="../embeddings/oleObject13.bin"/><Relationship Id="rId8" Type="http://schemas.openxmlformats.org/officeDocument/2006/relationships/oleObject" Target="../embeddings/oleObject13.bin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vmlDrawing" Target="../drawings/vmlDrawing11.vml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5.png"/><Relationship Id="rId5" Type="http://schemas.openxmlformats.org/officeDocument/2006/relationships/oleObject" Target="../embeddings/oleObject14.bin"/><Relationship Id="rId6" Type="http://schemas.openxmlformats.org/officeDocument/2006/relationships/image" Target="../media/image8.png"/><Relationship Id="rId7" Type="http://schemas.openxmlformats.org/officeDocument/2006/relationships/oleObject" Target="../embeddings/oleObject15.bin"/><Relationship Id="rId8" Type="http://schemas.openxmlformats.org/officeDocument/2006/relationships/oleObject" Target="../embeddings/oleObject15.bin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vmlDrawing" Target="../drawings/vmlDrawing12.vml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0.png"/><Relationship Id="rId5" Type="http://schemas.openxmlformats.org/officeDocument/2006/relationships/oleObject" Target="../embeddings/oleObject16.bin"/><Relationship Id="rId6" Type="http://schemas.openxmlformats.org/officeDocument/2006/relationships/image" Target="../media/image9.png"/><Relationship Id="rId7" Type="http://schemas.openxmlformats.org/officeDocument/2006/relationships/oleObject" Target="../embeddings/oleObject17.bin"/><Relationship Id="rId8" Type="http://schemas.openxmlformats.org/officeDocument/2006/relationships/oleObject" Target="../embeddings/oleObject17.bin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vmlDrawing" Target="../drawings/vmlDrawing13.vml"/><Relationship Id="rId4" Type="http://schemas.openxmlformats.org/officeDocument/2006/relationships/oleObject" Target="../embeddings/oleObject18.bin"/><Relationship Id="rId5" Type="http://schemas.openxmlformats.org/officeDocument/2006/relationships/oleObject" Target="../embeddings/oleObject18.bin"/><Relationship Id="rId6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vmlDrawing" Target="../drawings/vmlDrawing14.vml"/><Relationship Id="rId4" Type="http://schemas.openxmlformats.org/officeDocument/2006/relationships/oleObject" Target="../embeddings/oleObject19.bin"/><Relationship Id="rId5" Type="http://schemas.openxmlformats.org/officeDocument/2006/relationships/oleObject" Target="../embeddings/oleObject19.bin"/><Relationship Id="rId6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vmlDrawing" Target="../drawings/vmlDrawing15.vml"/><Relationship Id="rId4" Type="http://schemas.openxmlformats.org/officeDocument/2006/relationships/oleObject" Target="../embeddings/oleObject20.bin"/><Relationship Id="rId5" Type="http://schemas.openxmlformats.org/officeDocument/2006/relationships/oleObject" Target="../embeddings/oleObject20.bin"/><Relationship Id="rId6" Type="http://schemas.openxmlformats.org/officeDocument/2006/relationships/image" Target="../media/image2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vmlDrawing" Target="../drawings/vmlDrawing16.vml"/><Relationship Id="rId4" Type="http://schemas.openxmlformats.org/officeDocument/2006/relationships/oleObject" Target="../embeddings/oleObject21.bin"/><Relationship Id="rId9" Type="http://schemas.openxmlformats.org/officeDocument/2006/relationships/image" Target="../media/image14.png"/><Relationship Id="rId5" Type="http://schemas.openxmlformats.org/officeDocument/2006/relationships/oleObject" Target="../embeddings/oleObject21.bin"/><Relationship Id="rId6" Type="http://schemas.openxmlformats.org/officeDocument/2006/relationships/image" Target="../media/image32.png"/><Relationship Id="rId7" Type="http://schemas.openxmlformats.org/officeDocument/2006/relationships/oleObject" Target="../embeddings/oleObject22.bin"/><Relationship Id="rId8" Type="http://schemas.openxmlformats.org/officeDocument/2006/relationships/oleObject" Target="../embeddings/oleObject22.bin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vmlDrawing" Target="../drawings/vmlDrawing17.vml"/><Relationship Id="rId4" Type="http://schemas.openxmlformats.org/officeDocument/2006/relationships/oleObject" Target="../embeddings/oleObject23.bin"/><Relationship Id="rId5" Type="http://schemas.openxmlformats.org/officeDocument/2006/relationships/oleObject" Target="../embeddings/oleObject23.bin"/><Relationship Id="rId6" Type="http://schemas.openxmlformats.org/officeDocument/2006/relationships/image" Target="../media/image3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vmlDrawing" Target="../drawings/vmlDrawing18.v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9.png"/><Relationship Id="rId5" Type="http://schemas.openxmlformats.org/officeDocument/2006/relationships/oleObject" Target="../embeddings/oleObject24.bin"/><Relationship Id="rId6" Type="http://schemas.openxmlformats.org/officeDocument/2006/relationships/image" Target="../media/image12.png"/><Relationship Id="rId7" Type="http://schemas.openxmlformats.org/officeDocument/2006/relationships/oleObject" Target="../embeddings/oleObject25.bin"/><Relationship Id="rId8" Type="http://schemas.openxmlformats.org/officeDocument/2006/relationships/oleObject" Target="../embeddings/oleObject25.bin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vmlDrawing" Target="../drawings/vmlDrawing19.vml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8.png"/><Relationship Id="rId5" Type="http://schemas.openxmlformats.org/officeDocument/2006/relationships/oleObject" Target="../embeddings/oleObject26.bin"/><Relationship Id="rId6" Type="http://schemas.openxmlformats.org/officeDocument/2006/relationships/image" Target="../media/image16.png"/><Relationship Id="rId7" Type="http://schemas.openxmlformats.org/officeDocument/2006/relationships/oleObject" Target="../embeddings/oleObject27.bin"/><Relationship Id="rId8" Type="http://schemas.openxmlformats.org/officeDocument/2006/relationships/oleObject" Target="../embeddings/oleObject27.bin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vmlDrawing" Target="../drawings/vmlDrawing20.vml"/><Relationship Id="rId4" Type="http://schemas.openxmlformats.org/officeDocument/2006/relationships/oleObject" Target="../embeddings/oleObject28.bin"/><Relationship Id="rId11" Type="http://schemas.openxmlformats.org/officeDocument/2006/relationships/oleObject" Target="../embeddings/oleObject30.bin"/><Relationship Id="rId10" Type="http://schemas.openxmlformats.org/officeDocument/2006/relationships/oleObject" Target="../embeddings/oleObject30.bin"/><Relationship Id="rId12" Type="http://schemas.openxmlformats.org/officeDocument/2006/relationships/image" Target="../media/image25.png"/><Relationship Id="rId9" Type="http://schemas.openxmlformats.org/officeDocument/2006/relationships/image" Target="../media/image13.pn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24.png"/><Relationship Id="rId7" Type="http://schemas.openxmlformats.org/officeDocument/2006/relationships/oleObject" Target="../embeddings/oleObject29.bin"/><Relationship Id="rId8" Type="http://schemas.openxmlformats.org/officeDocument/2006/relationships/oleObject" Target="../embeddings/oleObject29.bin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vmlDrawing" Target="../drawings/vmlDrawing21.vml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1.png"/><Relationship Id="rId5" Type="http://schemas.openxmlformats.org/officeDocument/2006/relationships/oleObject" Target="../embeddings/oleObject31.bin"/><Relationship Id="rId6" Type="http://schemas.openxmlformats.org/officeDocument/2006/relationships/image" Target="../media/image37.png"/><Relationship Id="rId7" Type="http://schemas.openxmlformats.org/officeDocument/2006/relationships/oleObject" Target="../embeddings/oleObject32.bin"/><Relationship Id="rId8" Type="http://schemas.openxmlformats.org/officeDocument/2006/relationships/oleObject" Target="../embeddings/oleObject32.bin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vmlDrawing" Target="../drawings/vmlDrawing22.vml"/><Relationship Id="rId4" Type="http://schemas.openxmlformats.org/officeDocument/2006/relationships/oleObject" Target="../embeddings/oleObject33.bin"/><Relationship Id="rId5" Type="http://schemas.openxmlformats.org/officeDocument/2006/relationships/oleObject" Target="../embeddings/oleObject33.bin"/><Relationship Id="rId6" Type="http://schemas.openxmlformats.org/officeDocument/2006/relationships/image" Target="../media/image3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vmlDrawing" Target="../drawings/vmlDrawing23.vml"/><Relationship Id="rId4" Type="http://schemas.openxmlformats.org/officeDocument/2006/relationships/oleObject" Target="../embeddings/oleObject34.bin"/><Relationship Id="rId11" Type="http://schemas.openxmlformats.org/officeDocument/2006/relationships/oleObject" Target="../embeddings/oleObject36.bin"/><Relationship Id="rId10" Type="http://schemas.openxmlformats.org/officeDocument/2006/relationships/oleObject" Target="../embeddings/oleObject36.bin"/><Relationship Id="rId12" Type="http://schemas.openxmlformats.org/officeDocument/2006/relationships/image" Target="../media/image26.png"/><Relationship Id="rId9" Type="http://schemas.openxmlformats.org/officeDocument/2006/relationships/image" Target="../media/image44.png"/><Relationship Id="rId5" Type="http://schemas.openxmlformats.org/officeDocument/2006/relationships/oleObject" Target="../embeddings/oleObject34.bin"/><Relationship Id="rId6" Type="http://schemas.openxmlformats.org/officeDocument/2006/relationships/image" Target="../media/image41.png"/><Relationship Id="rId7" Type="http://schemas.openxmlformats.org/officeDocument/2006/relationships/oleObject" Target="../embeddings/oleObject35.bin"/><Relationship Id="rId8" Type="http://schemas.openxmlformats.org/officeDocument/2006/relationships/oleObject" Target="../embeddings/oleObject35.bin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0.png"/><Relationship Id="rId4" Type="http://schemas.openxmlformats.org/officeDocument/2006/relationships/image" Target="../media/image4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vmlDrawing" Target="../drawings/vmlDrawing24.vml"/><Relationship Id="rId4" Type="http://schemas.openxmlformats.org/officeDocument/2006/relationships/oleObject" Target="../embeddings/oleObject37.bin"/><Relationship Id="rId5" Type="http://schemas.openxmlformats.org/officeDocument/2006/relationships/oleObject" Target="../embeddings/oleObject37.bin"/><Relationship Id="rId6" Type="http://schemas.openxmlformats.org/officeDocument/2006/relationships/image" Target="../media/image40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9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vmlDrawing" Target="../drawings/vmlDrawing25.vml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png"/><Relationship Id="rId5" Type="http://schemas.openxmlformats.org/officeDocument/2006/relationships/oleObject" Target="../embeddings/oleObject38.bin"/><Relationship Id="rId6" Type="http://schemas.openxmlformats.org/officeDocument/2006/relationships/image" Target="../media/image34.png"/><Relationship Id="rId7" Type="http://schemas.openxmlformats.org/officeDocument/2006/relationships/oleObject" Target="../embeddings/oleObject39.bin"/><Relationship Id="rId8" Type="http://schemas.openxmlformats.org/officeDocument/2006/relationships/oleObject" Target="../embeddings/oleObject39.bin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vmlDrawing" Target="../drawings/vmlDrawing26.vml"/><Relationship Id="rId4" Type="http://schemas.openxmlformats.org/officeDocument/2006/relationships/oleObject" Target="../embeddings/oleObject40.bin"/><Relationship Id="rId5" Type="http://schemas.openxmlformats.org/officeDocument/2006/relationships/oleObject" Target="../embeddings/oleObject40.bin"/><Relationship Id="rId6" Type="http://schemas.openxmlformats.org/officeDocument/2006/relationships/image" Target="../media/image38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idx="4294967295" type="title"/>
          </p:nvPr>
        </p:nvSpPr>
        <p:spPr>
          <a:xfrm>
            <a:off x="990600" y="1371600"/>
            <a:ext cx="8763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Probability Distributions</a:t>
            </a:r>
            <a:br>
              <a:rPr b="1" i="0" lang="en-US" sz="32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1143000" y="152400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Random Variable</a:t>
            </a:r>
            <a:endParaRPr/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5334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Tahoma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random variable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takes on a defined set of values with different probabilities.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For example, if you roll a die, the outcome is random (not fixed) and there are 6 possible outcomes, each of which occur with probability one-sixth. 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For example, if you poll people about their voting preferences, the percentage of the sample that responds “Yes on Proposition 100” is a also a random variable (the percentage will be slightly differently every time you poll). </a:t>
            </a:r>
            <a:endParaRPr/>
          </a:p>
          <a:p>
            <a:pPr indent="-341312" lvl="0" marL="3413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13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Tahoma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Roughly, 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probability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is how frequently we expect different outcomes to occur if we repeat the experiment over and over (“frequentist” view)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Random variables can be discrete or continuous</a:t>
            </a:r>
            <a:endParaRPr/>
          </a:p>
        </p:txBody>
      </p:sp>
      <p:sp>
        <p:nvSpPr>
          <p:cNvPr id="71" name="Google Shape;71;p3"/>
          <p:cNvSpPr txBox="1"/>
          <p:nvPr>
            <p:ph idx="1" type="body"/>
          </p:nvPr>
        </p:nvSpPr>
        <p:spPr>
          <a:xfrm>
            <a:off x="9144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Discrete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random variables have a countable number of outcomes</a:t>
            </a:r>
            <a:endParaRPr/>
          </a:p>
          <a:p>
            <a:pPr indent="-284162" lvl="1" marL="741362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Examples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Dead/alive, dice, counts, etc.</a:t>
            </a:r>
            <a:endParaRPr/>
          </a:p>
          <a:p>
            <a:pPr indent="-341312" lvl="0" marL="34131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Continuous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random variables have an infinite continuum of possible values.</a:t>
            </a: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284162" lvl="1" marL="741362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Examples: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blood pressure, weight, the speed of a car, the real numbers from 1 to 6.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1350962" y="304800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r>
              <a:rPr b="1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Probability functions</a:t>
            </a:r>
            <a:endParaRPr/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7620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probability function maps the possible values of 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against their respective probabilities of occurrence, 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p(x)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p(x)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is a number from 0 to 1.0.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area under a probability function is always 1.</a:t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233862" y="3257550"/>
            <a:ext cx="9144000" cy="1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276600" y="3733800"/>
            <a:ext cx="30480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3175" y="6513512"/>
            <a:ext cx="9144000" cy="1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b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Discrete example: roll of a die</a:t>
            </a:r>
            <a:endParaRPr/>
          </a:p>
        </p:txBody>
      </p:sp>
      <p:grpSp>
        <p:nvGrpSpPr>
          <p:cNvPr id="86" name="Google Shape;86;p5"/>
          <p:cNvGrpSpPr/>
          <p:nvPr/>
        </p:nvGrpSpPr>
        <p:grpSpPr>
          <a:xfrm>
            <a:off x="914400" y="2362200"/>
            <a:ext cx="7313612" cy="4189412"/>
            <a:chOff x="576" y="1488"/>
            <a:chExt cx="4607" cy="2639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576" y="1488"/>
              <a:ext cx="4607" cy="1967"/>
              <a:chOff x="576" y="1488"/>
              <a:chExt cx="4607" cy="1967"/>
            </a:xfrm>
          </p:grpSpPr>
          <p:cxnSp>
            <p:nvCxnSpPr>
              <p:cNvPr id="88" name="Google Shape;88;p5"/>
              <p:cNvCxnSpPr/>
              <p:nvPr/>
            </p:nvCxnSpPr>
            <p:spPr>
              <a:xfrm>
                <a:off x="2894" y="2760"/>
                <a:ext cx="0" cy="214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3184" y="2760"/>
                <a:ext cx="0" cy="214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3473" y="2760"/>
                <a:ext cx="0" cy="214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3763" y="2760"/>
                <a:ext cx="0" cy="214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4053" y="2760"/>
                <a:ext cx="0" cy="214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4343" y="2760"/>
                <a:ext cx="0" cy="214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grpSp>
            <p:nvGrpSpPr>
              <p:cNvPr id="94" name="Google Shape;94;p5"/>
              <p:cNvGrpSpPr/>
              <p:nvPr/>
            </p:nvGrpSpPr>
            <p:grpSpPr>
              <a:xfrm>
                <a:off x="576" y="1488"/>
                <a:ext cx="4607" cy="1967"/>
                <a:chOff x="576" y="1488"/>
                <a:chExt cx="4607" cy="1967"/>
              </a:xfrm>
            </p:grpSpPr>
            <p:cxnSp>
              <p:nvCxnSpPr>
                <p:cNvPr id="95" name="Google Shape;95;p5"/>
                <p:cNvCxnSpPr/>
                <p:nvPr/>
              </p:nvCxnSpPr>
              <p:spPr>
                <a:xfrm>
                  <a:off x="2604" y="1488"/>
                  <a:ext cx="0" cy="1967"/>
                </a:xfrm>
                <a:prstGeom prst="straightConnector1">
                  <a:avLst/>
                </a:prstGeom>
                <a:noFill/>
                <a:ln cap="sq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5"/>
                <p:cNvCxnSpPr/>
                <p:nvPr/>
              </p:nvCxnSpPr>
              <p:spPr>
                <a:xfrm>
                  <a:off x="576" y="2909"/>
                  <a:ext cx="4171" cy="0"/>
                </a:xfrm>
                <a:prstGeom prst="straightConnector1">
                  <a:avLst/>
                </a:prstGeom>
                <a:noFill/>
                <a:ln cap="sq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sp>
              <p:nvSpPr>
                <p:cNvPr id="97" name="Google Shape;97;p5"/>
                <p:cNvSpPr txBox="1"/>
                <p:nvPr/>
              </p:nvSpPr>
              <p:spPr>
                <a:xfrm>
                  <a:off x="4777" y="2909"/>
                  <a:ext cx="406" cy="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80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Times New Roman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x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8" name="Google Shape;98;p5"/>
                <p:cNvSpPr txBox="1"/>
                <p:nvPr/>
              </p:nvSpPr>
              <p:spPr>
                <a:xfrm>
                  <a:off x="2749" y="1488"/>
                  <a:ext cx="685" cy="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80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cxnSp>
              <p:nvCxnSpPr>
                <p:cNvPr id="99" name="Google Shape;99;p5"/>
                <p:cNvCxnSpPr/>
                <p:nvPr/>
              </p:nvCxnSpPr>
              <p:spPr>
                <a:xfrm>
                  <a:off x="2459" y="2610"/>
                  <a:ext cx="232" cy="0"/>
                </a:xfrm>
                <a:prstGeom prst="straightConnector1">
                  <a:avLst/>
                </a:prstGeom>
                <a:noFill/>
                <a:ln cap="sq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sp>
              <p:nvSpPr>
                <p:cNvPr id="100" name="Google Shape;100;p5"/>
                <p:cNvSpPr txBox="1"/>
                <p:nvPr/>
              </p:nvSpPr>
              <p:spPr>
                <a:xfrm>
                  <a:off x="2170" y="2461"/>
                  <a:ext cx="301" cy="1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1/6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  <p:sp>
            <p:nvSpPr>
              <p:cNvPr id="101" name="Google Shape;101;p5"/>
              <p:cNvSpPr txBox="1"/>
              <p:nvPr/>
            </p:nvSpPr>
            <p:spPr>
              <a:xfrm>
                <a:off x="2894" y="3058"/>
                <a:ext cx="11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2" name="Google Shape;102;p5"/>
              <p:cNvSpPr txBox="1"/>
              <p:nvPr/>
            </p:nvSpPr>
            <p:spPr>
              <a:xfrm>
                <a:off x="3763" y="3058"/>
                <a:ext cx="104" cy="2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4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3" name="Google Shape;103;p5"/>
              <p:cNvSpPr txBox="1"/>
              <p:nvPr/>
            </p:nvSpPr>
            <p:spPr>
              <a:xfrm>
                <a:off x="4053" y="3058"/>
                <a:ext cx="115" cy="2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5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4" name="Google Shape;104;p5"/>
              <p:cNvSpPr txBox="1"/>
              <p:nvPr/>
            </p:nvSpPr>
            <p:spPr>
              <a:xfrm>
                <a:off x="4343" y="3058"/>
                <a:ext cx="150" cy="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6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5" name="Google Shape;105;p5"/>
              <p:cNvSpPr txBox="1"/>
              <p:nvPr/>
            </p:nvSpPr>
            <p:spPr>
              <a:xfrm>
                <a:off x="3184" y="3058"/>
                <a:ext cx="127" cy="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2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6" name="Google Shape;106;p5"/>
              <p:cNvSpPr txBox="1"/>
              <p:nvPr/>
            </p:nvSpPr>
            <p:spPr>
              <a:xfrm>
                <a:off x="3473" y="3058"/>
                <a:ext cx="127" cy="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3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2871" y="2544"/>
                <a:ext cx="91" cy="357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3160" y="2544"/>
                <a:ext cx="103" cy="357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3450" y="2544"/>
                <a:ext cx="91" cy="357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3728" y="2544"/>
                <a:ext cx="92" cy="357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4018" y="2544"/>
                <a:ext cx="91" cy="357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4308" y="2544"/>
                <a:ext cx="91" cy="357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3" name="Google Shape;113;p5"/>
            <p:cNvGrpSpPr/>
            <p:nvPr/>
          </p:nvGrpSpPr>
          <p:grpSpPr>
            <a:xfrm>
              <a:off x="3408" y="3456"/>
              <a:ext cx="1583" cy="671"/>
              <a:chOff x="3408" y="3456"/>
              <a:chExt cx="1583" cy="671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3408" y="3456"/>
                <a:ext cx="1583" cy="6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aphicFrame>
            <p:nvGraphicFramePr>
              <p:cNvPr id="115" name="Google Shape;115;p5"/>
              <p:cNvGraphicFramePr/>
              <p:nvPr/>
            </p:nvGraphicFramePr>
            <p:xfrm>
              <a:off x="3552" y="3552"/>
              <a:ext cx="1099" cy="567"/>
            </p:xfrm>
            <a:graphic>
              <a:graphicData uri="http://schemas.openxmlformats.org/presentationml/2006/ole">
                <mc:AlternateContent>
                  <mc:Choice Requires="v">
                    <p:oleObj r:id="rId4" imgH="567" imgW="1099" spid="_x0000_s1">
                      <p:embed/>
                    </p:oleObj>
                  </mc:Choice>
                  <mc:Fallback>
                    <p:oleObj r:id="rId5" imgH="567" imgW="1099">
                      <p:embed/>
                      <p:pic>
                        <p:nvPicPr>
                          <p:cNvPr id="115" name="Google Shape;115;p5"/>
                          <p:cNvPicPr preferRelativeResize="0"/>
                          <p:nvPr/>
                        </p:nvPicPr>
                        <p:blipFill rotWithShape="1">
                          <a:blip r:embed="rId6">
                            <a:alphaModFix/>
                          </a:blip>
                          <a:srcRect b="0" l="0" r="0" t="0"/>
                          <a:stretch/>
                        </p:blipFill>
                        <p:spPr>
                          <a:xfrm>
                            <a:off x="3552" y="3552"/>
                            <a:ext cx="1099" cy="5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3175" y="6513512"/>
            <a:ext cx="9144000" cy="1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6"/>
          <p:cNvSpPr txBox="1"/>
          <p:nvPr>
            <p:ph type="title"/>
          </p:nvPr>
        </p:nvSpPr>
        <p:spPr>
          <a:xfrm>
            <a:off x="1143000" y="304800"/>
            <a:ext cx="8334375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Probability mass function (pmf)</a:t>
            </a:r>
            <a:endParaRPr/>
          </a:p>
        </p:txBody>
      </p:sp>
      <p:grpSp>
        <p:nvGrpSpPr>
          <p:cNvPr id="122" name="Google Shape;122;p6"/>
          <p:cNvGrpSpPr/>
          <p:nvPr/>
        </p:nvGrpSpPr>
        <p:grpSpPr>
          <a:xfrm>
            <a:off x="2454275" y="1984375"/>
            <a:ext cx="6111875" cy="4876799"/>
            <a:chOff x="1546" y="1250"/>
            <a:chExt cx="3850" cy="3072"/>
          </a:xfrm>
        </p:grpSpPr>
        <p:grpSp>
          <p:nvGrpSpPr>
            <p:cNvPr id="123" name="Google Shape;123;p6"/>
            <p:cNvGrpSpPr/>
            <p:nvPr/>
          </p:nvGrpSpPr>
          <p:grpSpPr>
            <a:xfrm>
              <a:off x="1546" y="1250"/>
              <a:ext cx="3850" cy="2904"/>
              <a:chOff x="1546" y="1250"/>
              <a:chExt cx="3850" cy="2904"/>
            </a:xfrm>
          </p:grpSpPr>
          <p:grpSp>
            <p:nvGrpSpPr>
              <p:cNvPr id="124" name="Google Shape;124;p6"/>
              <p:cNvGrpSpPr/>
              <p:nvPr/>
            </p:nvGrpSpPr>
            <p:grpSpPr>
              <a:xfrm>
                <a:off x="1557" y="1253"/>
                <a:ext cx="3825" cy="2898"/>
                <a:chOff x="1557" y="1253"/>
                <a:chExt cx="3825" cy="2898"/>
              </a:xfrm>
            </p:grpSpPr>
            <p:grpSp>
              <p:nvGrpSpPr>
                <p:cNvPr id="125" name="Google Shape;125;p6"/>
                <p:cNvGrpSpPr/>
                <p:nvPr/>
              </p:nvGrpSpPr>
              <p:grpSpPr>
                <a:xfrm>
                  <a:off x="1557" y="1253"/>
                  <a:ext cx="1852" cy="327"/>
                  <a:chOff x="1557" y="1253"/>
                  <a:chExt cx="1852" cy="327"/>
                </a:xfrm>
              </p:grpSpPr>
              <p:sp>
                <p:nvSpPr>
                  <p:cNvPr id="126" name="Google Shape;126;p6"/>
                  <p:cNvSpPr txBox="1"/>
                  <p:nvPr/>
                </p:nvSpPr>
                <p:spPr>
                  <a:xfrm>
                    <a:off x="1733" y="1253"/>
                    <a:ext cx="1500" cy="3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1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x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1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27" name="Google Shape;127;p6"/>
                  <p:cNvSpPr/>
                  <p:nvPr/>
                </p:nvSpPr>
                <p:spPr>
                  <a:xfrm>
                    <a:off x="1557" y="1253"/>
                    <a:ext cx="1852" cy="327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28" name="Google Shape;128;p6"/>
                <p:cNvGrpSpPr/>
                <p:nvPr/>
              </p:nvGrpSpPr>
              <p:grpSpPr>
                <a:xfrm>
                  <a:off x="3412" y="1253"/>
                  <a:ext cx="1970" cy="327"/>
                  <a:chOff x="3412" y="1253"/>
                  <a:chExt cx="1970" cy="327"/>
                </a:xfrm>
              </p:grpSpPr>
              <p:sp>
                <p:nvSpPr>
                  <p:cNvPr id="129" name="Google Shape;129;p6"/>
                  <p:cNvSpPr txBox="1"/>
                  <p:nvPr/>
                </p:nvSpPr>
                <p:spPr>
                  <a:xfrm>
                    <a:off x="3587" y="1253"/>
                    <a:ext cx="1619" cy="3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1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p(x)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1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30" name="Google Shape;130;p6"/>
                  <p:cNvSpPr/>
                  <p:nvPr/>
                </p:nvSpPr>
                <p:spPr>
                  <a:xfrm>
                    <a:off x="3412" y="1253"/>
                    <a:ext cx="1970" cy="327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31" name="Google Shape;131;p6"/>
                <p:cNvGrpSpPr/>
                <p:nvPr/>
              </p:nvGrpSpPr>
              <p:grpSpPr>
                <a:xfrm>
                  <a:off x="1557" y="1581"/>
                  <a:ext cx="1852" cy="428"/>
                  <a:chOff x="1557" y="1581"/>
                  <a:chExt cx="1852" cy="428"/>
                </a:xfrm>
              </p:grpSpPr>
              <p:sp>
                <p:nvSpPr>
                  <p:cNvPr id="132" name="Google Shape;132;p6"/>
                  <p:cNvSpPr txBox="1"/>
                  <p:nvPr/>
                </p:nvSpPr>
                <p:spPr>
                  <a:xfrm>
                    <a:off x="1733" y="1581"/>
                    <a:ext cx="1500" cy="4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0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1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33" name="Google Shape;133;p6"/>
                  <p:cNvSpPr/>
                  <p:nvPr/>
                </p:nvSpPr>
                <p:spPr>
                  <a:xfrm>
                    <a:off x="1557" y="1581"/>
                    <a:ext cx="1852" cy="428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34" name="Google Shape;134;p6"/>
                <p:cNvGrpSpPr/>
                <p:nvPr/>
              </p:nvGrpSpPr>
              <p:grpSpPr>
                <a:xfrm>
                  <a:off x="3412" y="1581"/>
                  <a:ext cx="1970" cy="428"/>
                  <a:chOff x="3412" y="1581"/>
                  <a:chExt cx="1970" cy="428"/>
                </a:xfrm>
              </p:grpSpPr>
              <p:sp>
                <p:nvSpPr>
                  <p:cNvPr id="135" name="Google Shape;135;p6"/>
                  <p:cNvSpPr txBox="1"/>
                  <p:nvPr/>
                </p:nvSpPr>
                <p:spPr>
                  <a:xfrm>
                    <a:off x="3587" y="1581"/>
                    <a:ext cx="1619" cy="4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1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p(x=1)</a:t>
                    </a:r>
                    <a:r>
                      <a:rPr b="0" i="0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36" name="Google Shape;136;p6"/>
                  <p:cNvSpPr/>
                  <p:nvPr/>
                </p:nvSpPr>
                <p:spPr>
                  <a:xfrm>
                    <a:off x="3412" y="1581"/>
                    <a:ext cx="1970" cy="428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37" name="Google Shape;137;p6"/>
                <p:cNvGrpSpPr/>
                <p:nvPr/>
              </p:nvGrpSpPr>
              <p:grpSpPr>
                <a:xfrm>
                  <a:off x="1557" y="2009"/>
                  <a:ext cx="1852" cy="427"/>
                  <a:chOff x="1557" y="2009"/>
                  <a:chExt cx="1852" cy="427"/>
                </a:xfrm>
              </p:grpSpPr>
              <p:sp>
                <p:nvSpPr>
                  <p:cNvPr id="138" name="Google Shape;138;p6"/>
                  <p:cNvSpPr txBox="1"/>
                  <p:nvPr/>
                </p:nvSpPr>
                <p:spPr>
                  <a:xfrm>
                    <a:off x="1733" y="2009"/>
                    <a:ext cx="1500" cy="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0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2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39" name="Google Shape;139;p6"/>
                  <p:cNvSpPr/>
                  <p:nvPr/>
                </p:nvSpPr>
                <p:spPr>
                  <a:xfrm>
                    <a:off x="1557" y="2009"/>
                    <a:ext cx="1852" cy="427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40" name="Google Shape;140;p6"/>
                <p:cNvGrpSpPr/>
                <p:nvPr/>
              </p:nvGrpSpPr>
              <p:grpSpPr>
                <a:xfrm>
                  <a:off x="3412" y="2009"/>
                  <a:ext cx="1970" cy="427"/>
                  <a:chOff x="3412" y="2009"/>
                  <a:chExt cx="1970" cy="427"/>
                </a:xfrm>
              </p:grpSpPr>
              <p:sp>
                <p:nvSpPr>
                  <p:cNvPr id="141" name="Google Shape;141;p6"/>
                  <p:cNvSpPr txBox="1"/>
                  <p:nvPr/>
                </p:nvSpPr>
                <p:spPr>
                  <a:xfrm>
                    <a:off x="3587" y="2009"/>
                    <a:ext cx="1619" cy="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1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p(x=2)</a:t>
                    </a:r>
                    <a:r>
                      <a:rPr b="0" i="0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42" name="Google Shape;142;p6"/>
                  <p:cNvSpPr/>
                  <p:nvPr/>
                </p:nvSpPr>
                <p:spPr>
                  <a:xfrm>
                    <a:off x="3412" y="2009"/>
                    <a:ext cx="1970" cy="427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43" name="Google Shape;143;p6"/>
                <p:cNvGrpSpPr/>
                <p:nvPr/>
              </p:nvGrpSpPr>
              <p:grpSpPr>
                <a:xfrm>
                  <a:off x="1557" y="2438"/>
                  <a:ext cx="1852" cy="427"/>
                  <a:chOff x="1557" y="2438"/>
                  <a:chExt cx="1852" cy="427"/>
                </a:xfrm>
              </p:grpSpPr>
              <p:sp>
                <p:nvSpPr>
                  <p:cNvPr id="144" name="Google Shape;144;p6"/>
                  <p:cNvSpPr txBox="1"/>
                  <p:nvPr/>
                </p:nvSpPr>
                <p:spPr>
                  <a:xfrm>
                    <a:off x="1733" y="2438"/>
                    <a:ext cx="1500" cy="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0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3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45" name="Google Shape;145;p6"/>
                  <p:cNvSpPr/>
                  <p:nvPr/>
                </p:nvSpPr>
                <p:spPr>
                  <a:xfrm>
                    <a:off x="1557" y="2438"/>
                    <a:ext cx="1852" cy="427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46" name="Google Shape;146;p6"/>
                <p:cNvGrpSpPr/>
                <p:nvPr/>
              </p:nvGrpSpPr>
              <p:grpSpPr>
                <a:xfrm>
                  <a:off x="3412" y="2438"/>
                  <a:ext cx="1970" cy="427"/>
                  <a:chOff x="3412" y="2438"/>
                  <a:chExt cx="1970" cy="427"/>
                </a:xfrm>
              </p:grpSpPr>
              <p:sp>
                <p:nvSpPr>
                  <p:cNvPr id="147" name="Google Shape;147;p6"/>
                  <p:cNvSpPr txBox="1"/>
                  <p:nvPr/>
                </p:nvSpPr>
                <p:spPr>
                  <a:xfrm>
                    <a:off x="3587" y="2438"/>
                    <a:ext cx="1619" cy="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1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p(x=3)</a:t>
                    </a:r>
                    <a:r>
                      <a:rPr b="0" i="0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48" name="Google Shape;148;p6"/>
                  <p:cNvSpPr/>
                  <p:nvPr/>
                </p:nvSpPr>
                <p:spPr>
                  <a:xfrm>
                    <a:off x="3412" y="2438"/>
                    <a:ext cx="1970" cy="427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49" name="Google Shape;149;p6"/>
                <p:cNvGrpSpPr/>
                <p:nvPr/>
              </p:nvGrpSpPr>
              <p:grpSpPr>
                <a:xfrm>
                  <a:off x="1557" y="2867"/>
                  <a:ext cx="1852" cy="428"/>
                  <a:chOff x="1557" y="2867"/>
                  <a:chExt cx="1852" cy="428"/>
                </a:xfrm>
              </p:grpSpPr>
              <p:sp>
                <p:nvSpPr>
                  <p:cNvPr id="150" name="Google Shape;150;p6"/>
                  <p:cNvSpPr txBox="1"/>
                  <p:nvPr/>
                </p:nvSpPr>
                <p:spPr>
                  <a:xfrm>
                    <a:off x="1733" y="2867"/>
                    <a:ext cx="1500" cy="4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0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4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51" name="Google Shape;151;p6"/>
                  <p:cNvSpPr/>
                  <p:nvPr/>
                </p:nvSpPr>
                <p:spPr>
                  <a:xfrm>
                    <a:off x="1557" y="2867"/>
                    <a:ext cx="1852" cy="428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52" name="Google Shape;152;p6"/>
                <p:cNvGrpSpPr/>
                <p:nvPr/>
              </p:nvGrpSpPr>
              <p:grpSpPr>
                <a:xfrm>
                  <a:off x="3412" y="2867"/>
                  <a:ext cx="1970" cy="428"/>
                  <a:chOff x="3412" y="2867"/>
                  <a:chExt cx="1970" cy="428"/>
                </a:xfrm>
              </p:grpSpPr>
              <p:sp>
                <p:nvSpPr>
                  <p:cNvPr id="153" name="Google Shape;153;p6"/>
                  <p:cNvSpPr txBox="1"/>
                  <p:nvPr/>
                </p:nvSpPr>
                <p:spPr>
                  <a:xfrm>
                    <a:off x="3587" y="2867"/>
                    <a:ext cx="1619" cy="4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1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p(x=4)</a:t>
                    </a:r>
                    <a:r>
                      <a:rPr b="0" i="0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54" name="Google Shape;154;p6"/>
                  <p:cNvSpPr/>
                  <p:nvPr/>
                </p:nvSpPr>
                <p:spPr>
                  <a:xfrm>
                    <a:off x="3412" y="2867"/>
                    <a:ext cx="1970" cy="428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55" name="Google Shape;155;p6"/>
                <p:cNvGrpSpPr/>
                <p:nvPr/>
              </p:nvGrpSpPr>
              <p:grpSpPr>
                <a:xfrm>
                  <a:off x="1557" y="3295"/>
                  <a:ext cx="1852" cy="427"/>
                  <a:chOff x="1557" y="3295"/>
                  <a:chExt cx="1852" cy="427"/>
                </a:xfrm>
              </p:grpSpPr>
              <p:sp>
                <p:nvSpPr>
                  <p:cNvPr id="156" name="Google Shape;156;p6"/>
                  <p:cNvSpPr txBox="1"/>
                  <p:nvPr/>
                </p:nvSpPr>
                <p:spPr>
                  <a:xfrm>
                    <a:off x="1733" y="3295"/>
                    <a:ext cx="1500" cy="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0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5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57" name="Google Shape;157;p6"/>
                  <p:cNvSpPr/>
                  <p:nvPr/>
                </p:nvSpPr>
                <p:spPr>
                  <a:xfrm>
                    <a:off x="1557" y="3295"/>
                    <a:ext cx="1852" cy="427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58" name="Google Shape;158;p6"/>
                <p:cNvGrpSpPr/>
                <p:nvPr/>
              </p:nvGrpSpPr>
              <p:grpSpPr>
                <a:xfrm>
                  <a:off x="3412" y="3295"/>
                  <a:ext cx="1970" cy="427"/>
                  <a:chOff x="3412" y="3295"/>
                  <a:chExt cx="1970" cy="427"/>
                </a:xfrm>
              </p:grpSpPr>
              <p:sp>
                <p:nvSpPr>
                  <p:cNvPr id="159" name="Google Shape;159;p6"/>
                  <p:cNvSpPr txBox="1"/>
                  <p:nvPr/>
                </p:nvSpPr>
                <p:spPr>
                  <a:xfrm>
                    <a:off x="3587" y="3295"/>
                    <a:ext cx="1619" cy="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1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p(x=5)</a:t>
                    </a:r>
                    <a:r>
                      <a:rPr b="0" i="0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60" name="Google Shape;160;p6"/>
                  <p:cNvSpPr/>
                  <p:nvPr/>
                </p:nvSpPr>
                <p:spPr>
                  <a:xfrm>
                    <a:off x="3412" y="3295"/>
                    <a:ext cx="1970" cy="427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61" name="Google Shape;161;p6"/>
                <p:cNvGrpSpPr/>
                <p:nvPr/>
              </p:nvGrpSpPr>
              <p:grpSpPr>
                <a:xfrm>
                  <a:off x="1557" y="3724"/>
                  <a:ext cx="1852" cy="427"/>
                  <a:chOff x="1557" y="3724"/>
                  <a:chExt cx="1852" cy="427"/>
                </a:xfrm>
              </p:grpSpPr>
              <p:sp>
                <p:nvSpPr>
                  <p:cNvPr id="162" name="Google Shape;162;p6"/>
                  <p:cNvSpPr txBox="1"/>
                  <p:nvPr/>
                </p:nvSpPr>
                <p:spPr>
                  <a:xfrm>
                    <a:off x="1733" y="3724"/>
                    <a:ext cx="1500" cy="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0" lang="en-US" sz="24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63" name="Google Shape;163;p6"/>
                  <p:cNvSpPr/>
                  <p:nvPr/>
                </p:nvSpPr>
                <p:spPr>
                  <a:xfrm>
                    <a:off x="1557" y="3724"/>
                    <a:ext cx="1852" cy="427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64" name="Google Shape;164;p6"/>
                <p:cNvGrpSpPr/>
                <p:nvPr/>
              </p:nvGrpSpPr>
              <p:grpSpPr>
                <a:xfrm>
                  <a:off x="3412" y="3724"/>
                  <a:ext cx="1970" cy="427"/>
                  <a:chOff x="3412" y="3724"/>
                  <a:chExt cx="1970" cy="427"/>
                </a:xfrm>
              </p:grpSpPr>
              <p:sp>
                <p:nvSpPr>
                  <p:cNvPr id="165" name="Google Shape;165;p6"/>
                  <p:cNvSpPr txBox="1"/>
                  <p:nvPr/>
                </p:nvSpPr>
                <p:spPr>
                  <a:xfrm>
                    <a:off x="3587" y="3724"/>
                    <a:ext cx="1619" cy="42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mo"/>
                      <a:buNone/>
                    </a:pPr>
                    <a:r>
                      <a:rPr b="0" i="1" lang="en-US" sz="2400" u="sng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p(x=6)</a:t>
                    </a:r>
                    <a:r>
                      <a:rPr b="0" i="0" lang="en-US" sz="2400" u="sng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sng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66" name="Google Shape;166;p6"/>
                  <p:cNvSpPr/>
                  <p:nvPr/>
                </p:nvSpPr>
                <p:spPr>
                  <a:xfrm>
                    <a:off x="3412" y="3724"/>
                    <a:ext cx="1970" cy="427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167" name="Google Shape;167;p6"/>
              <p:cNvSpPr/>
              <p:nvPr/>
            </p:nvSpPr>
            <p:spPr>
              <a:xfrm>
                <a:off x="1546" y="1250"/>
                <a:ext cx="3850" cy="2904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68" name="Google Shape;168;p6"/>
            <p:cNvSpPr txBox="1"/>
            <p:nvPr/>
          </p:nvSpPr>
          <p:spPr>
            <a:xfrm>
              <a:off x="3909" y="4083"/>
              <a:ext cx="858" cy="2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680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1.0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>
            <p:ph type="title"/>
          </p:nvPr>
        </p:nvSpPr>
        <p:spPr>
          <a:xfrm>
            <a:off x="990600" y="381000"/>
            <a:ext cx="8486775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Cumulative distribution function (CDF)</a:t>
            </a:r>
            <a:endParaRPr/>
          </a:p>
        </p:txBody>
      </p:sp>
      <p:grpSp>
        <p:nvGrpSpPr>
          <p:cNvPr id="174" name="Google Shape;174;p7"/>
          <p:cNvGrpSpPr/>
          <p:nvPr/>
        </p:nvGrpSpPr>
        <p:grpSpPr>
          <a:xfrm>
            <a:off x="1600200" y="2701925"/>
            <a:ext cx="6094412" cy="2838450"/>
            <a:chOff x="1008" y="1702"/>
            <a:chExt cx="3839" cy="1788"/>
          </a:xfrm>
        </p:grpSpPr>
        <p:grpSp>
          <p:nvGrpSpPr>
            <p:cNvPr id="175" name="Google Shape;175;p7"/>
            <p:cNvGrpSpPr/>
            <p:nvPr/>
          </p:nvGrpSpPr>
          <p:grpSpPr>
            <a:xfrm>
              <a:off x="2738" y="1885"/>
              <a:ext cx="1447" cy="1170"/>
              <a:chOff x="2738" y="1885"/>
              <a:chExt cx="1447" cy="1170"/>
            </a:xfrm>
          </p:grpSpPr>
          <p:sp>
            <p:nvSpPr>
              <p:cNvPr id="176" name="Google Shape;176;p7"/>
              <p:cNvSpPr/>
              <p:nvPr/>
            </p:nvSpPr>
            <p:spPr>
              <a:xfrm>
                <a:off x="2738" y="2912"/>
                <a:ext cx="240" cy="140"/>
              </a:xfrm>
              <a:prstGeom prst="rect">
                <a:avLst/>
              </a:prstGeom>
              <a:solidFill>
                <a:srgbClr val="00E4A8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2979" y="2707"/>
                <a:ext cx="300" cy="300"/>
              </a:xfrm>
              <a:prstGeom prst="rect">
                <a:avLst/>
              </a:prstGeom>
              <a:solidFill>
                <a:srgbClr val="00E4A8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3220" y="2502"/>
                <a:ext cx="241" cy="553"/>
              </a:xfrm>
              <a:prstGeom prst="rect">
                <a:avLst/>
              </a:prstGeom>
              <a:solidFill>
                <a:srgbClr val="00E4A8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3462" y="2301"/>
                <a:ext cx="322" cy="751"/>
              </a:xfrm>
              <a:prstGeom prst="rect">
                <a:avLst/>
              </a:prstGeom>
              <a:solidFill>
                <a:srgbClr val="00E4A8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0" name="Google Shape;180;p7"/>
              <p:cNvSpPr/>
              <p:nvPr/>
            </p:nvSpPr>
            <p:spPr>
              <a:xfrm>
                <a:off x="3703" y="2091"/>
                <a:ext cx="241" cy="961"/>
              </a:xfrm>
              <a:prstGeom prst="rect">
                <a:avLst/>
              </a:prstGeom>
              <a:solidFill>
                <a:srgbClr val="00E4A8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p7"/>
              <p:cNvSpPr/>
              <p:nvPr/>
            </p:nvSpPr>
            <p:spPr>
              <a:xfrm>
                <a:off x="3945" y="1885"/>
                <a:ext cx="240" cy="1167"/>
              </a:xfrm>
              <a:prstGeom prst="rect">
                <a:avLst/>
              </a:prstGeom>
              <a:solidFill>
                <a:srgbClr val="00E4A8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2" name="Google Shape;182;p7"/>
            <p:cNvGrpSpPr/>
            <p:nvPr/>
          </p:nvGrpSpPr>
          <p:grpSpPr>
            <a:xfrm>
              <a:off x="1008" y="1702"/>
              <a:ext cx="3839" cy="1788"/>
              <a:chOff x="1008" y="1702"/>
              <a:chExt cx="3839" cy="1788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1008" y="1702"/>
                <a:ext cx="3839" cy="1788"/>
                <a:chOff x="1008" y="1702"/>
                <a:chExt cx="3839" cy="1788"/>
              </a:xfrm>
            </p:grpSpPr>
            <p:cxnSp>
              <p:nvCxnSpPr>
                <p:cNvPr id="184" name="Google Shape;184;p7"/>
                <p:cNvCxnSpPr/>
                <p:nvPr/>
              </p:nvCxnSpPr>
              <p:spPr>
                <a:xfrm>
                  <a:off x="2617" y="2912"/>
                  <a:ext cx="193" cy="0"/>
                </a:xfrm>
                <a:prstGeom prst="straightConnector1">
                  <a:avLst/>
                </a:prstGeom>
                <a:noFill/>
                <a:ln cap="sq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1008" y="1702"/>
                  <a:ext cx="3839" cy="1788"/>
                  <a:chOff x="1008" y="1702"/>
                  <a:chExt cx="3839" cy="1788"/>
                </a:xfrm>
              </p:grpSpPr>
              <p:cxnSp>
                <p:nvCxnSpPr>
                  <p:cNvPr id="186" name="Google Shape;186;p7"/>
                  <p:cNvCxnSpPr/>
                  <p:nvPr/>
                </p:nvCxnSpPr>
                <p:spPr>
                  <a:xfrm>
                    <a:off x="2736" y="1872"/>
                    <a:ext cx="0" cy="1618"/>
                  </a:xfrm>
                  <a:prstGeom prst="straightConnector1">
                    <a:avLst/>
                  </a:prstGeom>
                  <a:noFill/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7" name="Google Shape;187;p7"/>
                  <p:cNvCxnSpPr/>
                  <p:nvPr/>
                </p:nvCxnSpPr>
                <p:spPr>
                  <a:xfrm>
                    <a:off x="1008" y="3058"/>
                    <a:ext cx="3476" cy="0"/>
                  </a:xfrm>
                  <a:prstGeom prst="straightConnector1">
                    <a:avLst/>
                  </a:prstGeom>
                  <a:noFill/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8" name="Google Shape;188;p7"/>
                  <p:cNvSpPr txBox="1"/>
                  <p:nvPr/>
                </p:nvSpPr>
                <p:spPr>
                  <a:xfrm>
                    <a:off x="4509" y="3080"/>
                    <a:ext cx="338" cy="24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6800" lIns="90000" spcFirstLastPara="1" rIns="90000" wrap="square" tIns="468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1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x</a:t>
                    </a:r>
                    <a:endParaRPr/>
                  </a:p>
                </p:txBody>
              </p:sp>
              <p:sp>
                <p:nvSpPr>
                  <p:cNvPr id="189" name="Google Shape;189;p7"/>
                  <p:cNvSpPr txBox="1"/>
                  <p:nvPr/>
                </p:nvSpPr>
                <p:spPr>
                  <a:xfrm>
                    <a:off x="2979" y="1702"/>
                    <a:ext cx="570" cy="24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6800" lIns="90000" spcFirstLastPara="1" rIns="90000" wrap="square" tIns="468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1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P(x)</a:t>
                    </a:r>
                    <a:endParaRPr/>
                  </a:p>
                </p:txBody>
              </p:sp>
              <p:sp>
                <p:nvSpPr>
                  <p:cNvPr id="190" name="Google Shape;190;p7"/>
                  <p:cNvSpPr txBox="1"/>
                  <p:nvPr/>
                </p:nvSpPr>
                <p:spPr>
                  <a:xfrm>
                    <a:off x="2352" y="2832"/>
                    <a:ext cx="251" cy="1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0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1/6</a:t>
                    </a:r>
                    <a:endParaRPr/>
                  </a:p>
                </p:txBody>
              </p:sp>
              <p:sp>
                <p:nvSpPr>
                  <p:cNvPr id="191" name="Google Shape;191;p7"/>
                  <p:cNvSpPr txBox="1"/>
                  <p:nvPr/>
                </p:nvSpPr>
                <p:spPr>
                  <a:xfrm>
                    <a:off x="2979" y="3140"/>
                    <a:ext cx="96" cy="10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0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1</a:t>
                    </a:r>
                    <a:endParaRPr/>
                  </a:p>
                </p:txBody>
              </p:sp>
              <p:sp>
                <p:nvSpPr>
                  <p:cNvPr id="192" name="Google Shape;192;p7"/>
                  <p:cNvSpPr txBox="1"/>
                  <p:nvPr/>
                </p:nvSpPr>
                <p:spPr>
                  <a:xfrm>
                    <a:off x="3703" y="3140"/>
                    <a:ext cx="87" cy="13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0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4</a:t>
                    </a:r>
                    <a:endParaRPr/>
                  </a:p>
                </p:txBody>
              </p:sp>
              <p:sp>
                <p:nvSpPr>
                  <p:cNvPr id="193" name="Google Shape;193;p7"/>
                  <p:cNvSpPr txBox="1"/>
                  <p:nvPr/>
                </p:nvSpPr>
                <p:spPr>
                  <a:xfrm>
                    <a:off x="3945" y="3140"/>
                    <a:ext cx="96" cy="14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0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5</a:t>
                    </a:r>
                    <a:endParaRPr/>
                  </a:p>
                </p:txBody>
              </p:sp>
              <p:sp>
                <p:nvSpPr>
                  <p:cNvPr id="194" name="Google Shape;194;p7"/>
                  <p:cNvSpPr txBox="1"/>
                  <p:nvPr/>
                </p:nvSpPr>
                <p:spPr>
                  <a:xfrm>
                    <a:off x="4186" y="3140"/>
                    <a:ext cx="125" cy="1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0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6</a:t>
                    </a:r>
                    <a:endParaRPr/>
                  </a:p>
                </p:txBody>
              </p:sp>
              <p:sp>
                <p:nvSpPr>
                  <p:cNvPr id="195" name="Google Shape;195;p7"/>
                  <p:cNvSpPr txBox="1"/>
                  <p:nvPr/>
                </p:nvSpPr>
                <p:spPr>
                  <a:xfrm>
                    <a:off x="3220" y="3140"/>
                    <a:ext cx="106" cy="12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0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2</a:t>
                    </a:r>
                    <a:endParaRPr/>
                  </a:p>
                </p:txBody>
              </p:sp>
              <p:sp>
                <p:nvSpPr>
                  <p:cNvPr id="196" name="Google Shape;196;p7"/>
                  <p:cNvSpPr txBox="1"/>
                  <p:nvPr/>
                </p:nvSpPr>
                <p:spPr>
                  <a:xfrm>
                    <a:off x="3462" y="3140"/>
                    <a:ext cx="105" cy="12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0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3</a:t>
                    </a:r>
                    <a:endParaRPr/>
                  </a:p>
                </p:txBody>
              </p:sp>
              <p:cxnSp>
                <p:nvCxnSpPr>
                  <p:cNvPr id="197" name="Google Shape;197;p7"/>
                  <p:cNvCxnSpPr/>
                  <p:nvPr/>
                </p:nvCxnSpPr>
                <p:spPr>
                  <a:xfrm>
                    <a:off x="2617" y="2091"/>
                    <a:ext cx="193" cy="0"/>
                  </a:xfrm>
                  <a:prstGeom prst="straightConnector1">
                    <a:avLst/>
                  </a:prstGeom>
                  <a:noFill/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8" name="Google Shape;198;p7"/>
                  <p:cNvCxnSpPr/>
                  <p:nvPr/>
                </p:nvCxnSpPr>
                <p:spPr>
                  <a:xfrm>
                    <a:off x="2617" y="2707"/>
                    <a:ext cx="193" cy="0"/>
                  </a:xfrm>
                  <a:prstGeom prst="straightConnector1">
                    <a:avLst/>
                  </a:prstGeom>
                  <a:noFill/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9" name="Google Shape;199;p7"/>
                  <p:cNvCxnSpPr/>
                  <p:nvPr/>
                </p:nvCxnSpPr>
                <p:spPr>
                  <a:xfrm>
                    <a:off x="2617" y="2296"/>
                    <a:ext cx="193" cy="0"/>
                  </a:xfrm>
                  <a:prstGeom prst="straightConnector1">
                    <a:avLst/>
                  </a:prstGeom>
                  <a:noFill/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00" name="Google Shape;200;p7"/>
                  <p:cNvCxnSpPr/>
                  <p:nvPr/>
                </p:nvCxnSpPr>
                <p:spPr>
                  <a:xfrm>
                    <a:off x="2617" y="1885"/>
                    <a:ext cx="193" cy="0"/>
                  </a:xfrm>
                  <a:prstGeom prst="straightConnector1">
                    <a:avLst/>
                  </a:prstGeom>
                  <a:noFill/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01" name="Google Shape;201;p7"/>
                  <p:cNvCxnSpPr/>
                  <p:nvPr/>
                </p:nvCxnSpPr>
                <p:spPr>
                  <a:xfrm>
                    <a:off x="2617" y="2502"/>
                    <a:ext cx="193" cy="0"/>
                  </a:xfrm>
                  <a:prstGeom prst="straightConnector1">
                    <a:avLst/>
                  </a:prstGeom>
                  <a:noFill/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</p:grpSp>
          <p:sp>
            <p:nvSpPr>
              <p:cNvPr id="202" name="Google Shape;202;p7"/>
              <p:cNvSpPr txBox="1"/>
              <p:nvPr/>
            </p:nvSpPr>
            <p:spPr>
              <a:xfrm>
                <a:off x="2336" y="2604"/>
                <a:ext cx="251" cy="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1/3</a:t>
                </a:r>
                <a:endParaRPr/>
              </a:p>
            </p:txBody>
          </p:sp>
          <p:sp>
            <p:nvSpPr>
              <p:cNvPr id="203" name="Google Shape;203;p7"/>
              <p:cNvSpPr txBox="1"/>
              <p:nvPr/>
            </p:nvSpPr>
            <p:spPr>
              <a:xfrm>
                <a:off x="2336" y="2399"/>
                <a:ext cx="251" cy="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1/2</a:t>
                </a:r>
                <a:endParaRPr/>
              </a:p>
            </p:txBody>
          </p:sp>
          <p:sp>
            <p:nvSpPr>
              <p:cNvPr id="204" name="Google Shape;204;p7"/>
              <p:cNvSpPr txBox="1"/>
              <p:nvPr/>
            </p:nvSpPr>
            <p:spPr>
              <a:xfrm>
                <a:off x="2336" y="2194"/>
                <a:ext cx="251" cy="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2/3</a:t>
                </a:r>
                <a:endParaRPr/>
              </a:p>
            </p:txBody>
          </p:sp>
          <p:sp>
            <p:nvSpPr>
              <p:cNvPr id="205" name="Google Shape;205;p7"/>
              <p:cNvSpPr txBox="1"/>
              <p:nvPr/>
            </p:nvSpPr>
            <p:spPr>
              <a:xfrm>
                <a:off x="2336" y="1988"/>
                <a:ext cx="251" cy="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5/6</a:t>
                </a:r>
                <a:endParaRPr/>
              </a:p>
            </p:txBody>
          </p:sp>
          <p:sp>
            <p:nvSpPr>
              <p:cNvPr id="206" name="Google Shape;206;p7"/>
              <p:cNvSpPr txBox="1"/>
              <p:nvPr/>
            </p:nvSpPr>
            <p:spPr>
              <a:xfrm>
                <a:off x="2336" y="1783"/>
                <a:ext cx="251" cy="1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1.0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 txBox="1"/>
          <p:nvPr>
            <p:ph type="title"/>
          </p:nvPr>
        </p:nvSpPr>
        <p:spPr>
          <a:xfrm>
            <a:off x="11430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Cumulative distribution function</a:t>
            </a:r>
            <a:endParaRPr/>
          </a:p>
        </p:txBody>
      </p:sp>
      <p:grpSp>
        <p:nvGrpSpPr>
          <p:cNvPr id="212" name="Google Shape;212;p8"/>
          <p:cNvGrpSpPr/>
          <p:nvPr/>
        </p:nvGrpSpPr>
        <p:grpSpPr>
          <a:xfrm>
            <a:off x="2209800" y="1828800"/>
            <a:ext cx="4951412" cy="4570412"/>
            <a:chOff x="1392" y="1152"/>
            <a:chExt cx="3119" cy="2879"/>
          </a:xfrm>
        </p:grpSpPr>
        <p:grpSp>
          <p:nvGrpSpPr>
            <p:cNvPr id="213" name="Google Shape;213;p8"/>
            <p:cNvGrpSpPr/>
            <p:nvPr/>
          </p:nvGrpSpPr>
          <p:grpSpPr>
            <a:xfrm>
              <a:off x="1400" y="1154"/>
              <a:ext cx="3101" cy="2874"/>
              <a:chOff x="1400" y="1154"/>
              <a:chExt cx="3101" cy="2874"/>
            </a:xfrm>
          </p:grpSpPr>
          <p:grpSp>
            <p:nvGrpSpPr>
              <p:cNvPr id="214" name="Google Shape;214;p8"/>
              <p:cNvGrpSpPr/>
              <p:nvPr/>
            </p:nvGrpSpPr>
            <p:grpSpPr>
              <a:xfrm>
                <a:off x="1400" y="1154"/>
                <a:ext cx="1314" cy="324"/>
                <a:chOff x="1400" y="1154"/>
                <a:chExt cx="1314" cy="324"/>
              </a:xfrm>
            </p:grpSpPr>
            <p:sp>
              <p:nvSpPr>
                <p:cNvPr id="215" name="Google Shape;215;p8"/>
                <p:cNvSpPr txBox="1"/>
                <p:nvPr/>
              </p:nvSpPr>
              <p:spPr>
                <a:xfrm>
                  <a:off x="1525" y="1154"/>
                  <a:ext cx="1064" cy="3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x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1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16" name="Google Shape;216;p8"/>
                <p:cNvSpPr/>
                <p:nvPr/>
              </p:nvSpPr>
              <p:spPr>
                <a:xfrm>
                  <a:off x="1400" y="1154"/>
                  <a:ext cx="1314" cy="3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17" name="Google Shape;217;p8"/>
              <p:cNvGrpSpPr/>
              <p:nvPr/>
            </p:nvGrpSpPr>
            <p:grpSpPr>
              <a:xfrm>
                <a:off x="2716" y="1154"/>
                <a:ext cx="1785" cy="324"/>
                <a:chOff x="2716" y="1154"/>
                <a:chExt cx="1785" cy="324"/>
              </a:xfrm>
            </p:grpSpPr>
            <p:sp>
              <p:nvSpPr>
                <p:cNvPr id="218" name="Google Shape;218;p8"/>
                <p:cNvSpPr txBox="1"/>
                <p:nvPr/>
              </p:nvSpPr>
              <p:spPr>
                <a:xfrm>
                  <a:off x="2840" y="1154"/>
                  <a:ext cx="1535" cy="3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P(x≤A)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1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19" name="Google Shape;219;p8"/>
                <p:cNvSpPr/>
                <p:nvPr/>
              </p:nvSpPr>
              <p:spPr>
                <a:xfrm>
                  <a:off x="2716" y="1154"/>
                  <a:ext cx="1785" cy="3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20" name="Google Shape;220;p8"/>
              <p:cNvGrpSpPr/>
              <p:nvPr/>
            </p:nvGrpSpPr>
            <p:grpSpPr>
              <a:xfrm>
                <a:off x="1400" y="1479"/>
                <a:ext cx="1314" cy="424"/>
                <a:chOff x="1400" y="1479"/>
                <a:chExt cx="1314" cy="424"/>
              </a:xfrm>
            </p:grpSpPr>
            <p:sp>
              <p:nvSpPr>
                <p:cNvPr id="221" name="Google Shape;221;p8"/>
                <p:cNvSpPr txBox="1"/>
                <p:nvPr/>
              </p:nvSpPr>
              <p:spPr>
                <a:xfrm>
                  <a:off x="1525" y="1479"/>
                  <a:ext cx="1064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22" name="Google Shape;222;p8"/>
                <p:cNvSpPr/>
                <p:nvPr/>
              </p:nvSpPr>
              <p:spPr>
                <a:xfrm>
                  <a:off x="1400" y="1479"/>
                  <a:ext cx="1314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23" name="Google Shape;223;p8"/>
              <p:cNvGrpSpPr/>
              <p:nvPr/>
            </p:nvGrpSpPr>
            <p:grpSpPr>
              <a:xfrm>
                <a:off x="2716" y="1479"/>
                <a:ext cx="1785" cy="424"/>
                <a:chOff x="2716" y="1479"/>
                <a:chExt cx="1785" cy="424"/>
              </a:xfrm>
            </p:grpSpPr>
            <p:sp>
              <p:nvSpPr>
                <p:cNvPr id="224" name="Google Shape;224;p8"/>
                <p:cNvSpPr txBox="1"/>
                <p:nvPr/>
              </p:nvSpPr>
              <p:spPr>
                <a:xfrm>
                  <a:off x="2840" y="1479"/>
                  <a:ext cx="1535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P(x≤1)</a:t>
                  </a: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=1/6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25" name="Google Shape;225;p8"/>
                <p:cNvSpPr/>
                <p:nvPr/>
              </p:nvSpPr>
              <p:spPr>
                <a:xfrm>
                  <a:off x="2716" y="1479"/>
                  <a:ext cx="1785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26" name="Google Shape;226;p8"/>
              <p:cNvGrpSpPr/>
              <p:nvPr/>
            </p:nvGrpSpPr>
            <p:grpSpPr>
              <a:xfrm>
                <a:off x="1400" y="1904"/>
                <a:ext cx="1314" cy="424"/>
                <a:chOff x="1400" y="1904"/>
                <a:chExt cx="1314" cy="424"/>
              </a:xfrm>
            </p:grpSpPr>
            <p:sp>
              <p:nvSpPr>
                <p:cNvPr id="227" name="Google Shape;227;p8"/>
                <p:cNvSpPr txBox="1"/>
                <p:nvPr/>
              </p:nvSpPr>
              <p:spPr>
                <a:xfrm>
                  <a:off x="1525" y="1904"/>
                  <a:ext cx="1064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28" name="Google Shape;228;p8"/>
                <p:cNvSpPr/>
                <p:nvPr/>
              </p:nvSpPr>
              <p:spPr>
                <a:xfrm>
                  <a:off x="1400" y="1904"/>
                  <a:ext cx="1314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29" name="Google Shape;229;p8"/>
              <p:cNvGrpSpPr/>
              <p:nvPr/>
            </p:nvGrpSpPr>
            <p:grpSpPr>
              <a:xfrm>
                <a:off x="2716" y="1904"/>
                <a:ext cx="1785" cy="424"/>
                <a:chOff x="2716" y="1904"/>
                <a:chExt cx="1785" cy="424"/>
              </a:xfrm>
            </p:grpSpPr>
            <p:sp>
              <p:nvSpPr>
                <p:cNvPr id="230" name="Google Shape;230;p8"/>
                <p:cNvSpPr txBox="1"/>
                <p:nvPr/>
              </p:nvSpPr>
              <p:spPr>
                <a:xfrm>
                  <a:off x="2840" y="1904"/>
                  <a:ext cx="1535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P(x≤2)</a:t>
                  </a: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=2/6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31" name="Google Shape;231;p8"/>
                <p:cNvSpPr/>
                <p:nvPr/>
              </p:nvSpPr>
              <p:spPr>
                <a:xfrm>
                  <a:off x="2716" y="1904"/>
                  <a:ext cx="1785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32" name="Google Shape;232;p8"/>
              <p:cNvGrpSpPr/>
              <p:nvPr/>
            </p:nvGrpSpPr>
            <p:grpSpPr>
              <a:xfrm>
                <a:off x="1400" y="2329"/>
                <a:ext cx="1314" cy="424"/>
                <a:chOff x="1400" y="2329"/>
                <a:chExt cx="1314" cy="424"/>
              </a:xfrm>
            </p:grpSpPr>
            <p:sp>
              <p:nvSpPr>
                <p:cNvPr id="233" name="Google Shape;233;p8"/>
                <p:cNvSpPr txBox="1"/>
                <p:nvPr/>
              </p:nvSpPr>
              <p:spPr>
                <a:xfrm>
                  <a:off x="1525" y="2329"/>
                  <a:ext cx="1064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3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34" name="Google Shape;234;p8"/>
                <p:cNvSpPr/>
                <p:nvPr/>
              </p:nvSpPr>
              <p:spPr>
                <a:xfrm>
                  <a:off x="1400" y="2329"/>
                  <a:ext cx="1314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35" name="Google Shape;235;p8"/>
              <p:cNvGrpSpPr/>
              <p:nvPr/>
            </p:nvGrpSpPr>
            <p:grpSpPr>
              <a:xfrm>
                <a:off x="2716" y="2329"/>
                <a:ext cx="1785" cy="424"/>
                <a:chOff x="2716" y="2329"/>
                <a:chExt cx="1785" cy="424"/>
              </a:xfrm>
            </p:grpSpPr>
            <p:sp>
              <p:nvSpPr>
                <p:cNvPr id="236" name="Google Shape;236;p8"/>
                <p:cNvSpPr txBox="1"/>
                <p:nvPr/>
              </p:nvSpPr>
              <p:spPr>
                <a:xfrm>
                  <a:off x="2840" y="2329"/>
                  <a:ext cx="1535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P(x≤3)</a:t>
                  </a: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=3/6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37" name="Google Shape;237;p8"/>
                <p:cNvSpPr/>
                <p:nvPr/>
              </p:nvSpPr>
              <p:spPr>
                <a:xfrm>
                  <a:off x="2716" y="2329"/>
                  <a:ext cx="1785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38" name="Google Shape;238;p8"/>
              <p:cNvGrpSpPr/>
              <p:nvPr/>
            </p:nvGrpSpPr>
            <p:grpSpPr>
              <a:xfrm>
                <a:off x="1400" y="2754"/>
                <a:ext cx="1314" cy="424"/>
                <a:chOff x="1400" y="2754"/>
                <a:chExt cx="1314" cy="424"/>
              </a:xfrm>
            </p:grpSpPr>
            <p:sp>
              <p:nvSpPr>
                <p:cNvPr id="239" name="Google Shape;239;p8"/>
                <p:cNvSpPr txBox="1"/>
                <p:nvPr/>
              </p:nvSpPr>
              <p:spPr>
                <a:xfrm>
                  <a:off x="1525" y="2754"/>
                  <a:ext cx="1064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40" name="Google Shape;240;p8"/>
                <p:cNvSpPr/>
                <p:nvPr/>
              </p:nvSpPr>
              <p:spPr>
                <a:xfrm>
                  <a:off x="1400" y="2754"/>
                  <a:ext cx="1314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41" name="Google Shape;241;p8"/>
              <p:cNvGrpSpPr/>
              <p:nvPr/>
            </p:nvGrpSpPr>
            <p:grpSpPr>
              <a:xfrm>
                <a:off x="2716" y="2754"/>
                <a:ext cx="1785" cy="424"/>
                <a:chOff x="2716" y="2754"/>
                <a:chExt cx="1785" cy="424"/>
              </a:xfrm>
            </p:grpSpPr>
            <p:sp>
              <p:nvSpPr>
                <p:cNvPr id="242" name="Google Shape;242;p8"/>
                <p:cNvSpPr txBox="1"/>
                <p:nvPr/>
              </p:nvSpPr>
              <p:spPr>
                <a:xfrm>
                  <a:off x="2840" y="2754"/>
                  <a:ext cx="1535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P(x≤4)</a:t>
                  </a: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=4/6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43" name="Google Shape;243;p8"/>
                <p:cNvSpPr/>
                <p:nvPr/>
              </p:nvSpPr>
              <p:spPr>
                <a:xfrm>
                  <a:off x="2716" y="2754"/>
                  <a:ext cx="1785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44" name="Google Shape;244;p8"/>
              <p:cNvGrpSpPr/>
              <p:nvPr/>
            </p:nvGrpSpPr>
            <p:grpSpPr>
              <a:xfrm>
                <a:off x="1400" y="3179"/>
                <a:ext cx="1314" cy="424"/>
                <a:chOff x="1400" y="3179"/>
                <a:chExt cx="1314" cy="424"/>
              </a:xfrm>
            </p:grpSpPr>
            <p:sp>
              <p:nvSpPr>
                <p:cNvPr id="245" name="Google Shape;245;p8"/>
                <p:cNvSpPr txBox="1"/>
                <p:nvPr/>
              </p:nvSpPr>
              <p:spPr>
                <a:xfrm>
                  <a:off x="1525" y="3179"/>
                  <a:ext cx="1064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5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46" name="Google Shape;246;p8"/>
                <p:cNvSpPr/>
                <p:nvPr/>
              </p:nvSpPr>
              <p:spPr>
                <a:xfrm>
                  <a:off x="1400" y="3179"/>
                  <a:ext cx="1314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47" name="Google Shape;247;p8"/>
              <p:cNvGrpSpPr/>
              <p:nvPr/>
            </p:nvGrpSpPr>
            <p:grpSpPr>
              <a:xfrm>
                <a:off x="2716" y="3179"/>
                <a:ext cx="1785" cy="424"/>
                <a:chOff x="2716" y="3179"/>
                <a:chExt cx="1785" cy="424"/>
              </a:xfrm>
            </p:grpSpPr>
            <p:sp>
              <p:nvSpPr>
                <p:cNvPr id="248" name="Google Shape;248;p8"/>
                <p:cNvSpPr txBox="1"/>
                <p:nvPr/>
              </p:nvSpPr>
              <p:spPr>
                <a:xfrm>
                  <a:off x="2840" y="3179"/>
                  <a:ext cx="1535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P(x≤5)</a:t>
                  </a: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=5/6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49" name="Google Shape;249;p8"/>
                <p:cNvSpPr/>
                <p:nvPr/>
              </p:nvSpPr>
              <p:spPr>
                <a:xfrm>
                  <a:off x="2716" y="3179"/>
                  <a:ext cx="1785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50" name="Google Shape;250;p8"/>
              <p:cNvGrpSpPr/>
              <p:nvPr/>
            </p:nvGrpSpPr>
            <p:grpSpPr>
              <a:xfrm>
                <a:off x="1400" y="3604"/>
                <a:ext cx="1314" cy="424"/>
                <a:chOff x="1400" y="3604"/>
                <a:chExt cx="1314" cy="424"/>
              </a:xfrm>
            </p:grpSpPr>
            <p:sp>
              <p:nvSpPr>
                <p:cNvPr id="251" name="Google Shape;251;p8"/>
                <p:cNvSpPr txBox="1"/>
                <p:nvPr/>
              </p:nvSpPr>
              <p:spPr>
                <a:xfrm>
                  <a:off x="1525" y="3604"/>
                  <a:ext cx="1064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52" name="Google Shape;252;p8"/>
                <p:cNvSpPr/>
                <p:nvPr/>
              </p:nvSpPr>
              <p:spPr>
                <a:xfrm>
                  <a:off x="1400" y="3604"/>
                  <a:ext cx="1314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53" name="Google Shape;253;p8"/>
              <p:cNvGrpSpPr/>
              <p:nvPr/>
            </p:nvGrpSpPr>
            <p:grpSpPr>
              <a:xfrm>
                <a:off x="2716" y="3604"/>
                <a:ext cx="1785" cy="424"/>
                <a:chOff x="2716" y="3604"/>
                <a:chExt cx="1785" cy="424"/>
              </a:xfrm>
            </p:grpSpPr>
            <p:sp>
              <p:nvSpPr>
                <p:cNvPr id="254" name="Google Shape;254;p8"/>
                <p:cNvSpPr txBox="1"/>
                <p:nvPr/>
              </p:nvSpPr>
              <p:spPr>
                <a:xfrm>
                  <a:off x="2840" y="3604"/>
                  <a:ext cx="1535" cy="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0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P(x≤6)</a:t>
                  </a:r>
                  <a:r>
                    <a:rPr b="0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=6/6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55" name="Google Shape;255;p8"/>
                <p:cNvSpPr/>
                <p:nvPr/>
              </p:nvSpPr>
              <p:spPr>
                <a:xfrm>
                  <a:off x="2716" y="3604"/>
                  <a:ext cx="1785" cy="42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256" name="Google Shape;256;p8"/>
            <p:cNvSpPr/>
            <p:nvPr/>
          </p:nvSpPr>
          <p:spPr>
            <a:xfrm>
              <a:off x="1392" y="1152"/>
              <a:ext cx="3119" cy="2879"/>
            </a:xfrm>
            <a:prstGeom prst="rect">
              <a:avLst/>
            </a:prstGeom>
            <a:noFill/>
            <a:ln cap="sq" cmpd="sng" w="9525">
              <a:solidFill>
                <a:srgbClr val="A0A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 txBox="1"/>
          <p:nvPr>
            <p:ph type="title"/>
          </p:nvPr>
        </p:nvSpPr>
        <p:spPr>
          <a:xfrm>
            <a:off x="13716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Examples</a:t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304800" y="1981200"/>
            <a:ext cx="9144000" cy="2606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What’s the probability that you roll a 3 or less?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P(x≤3)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=1/2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What’s the probability that you roll a 5 or higher?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P(x≥5)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 – </a:t>
            </a: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P(x≤4)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1-2/3 = 1/3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Practice Problem</a:t>
            </a:r>
            <a:endParaRPr/>
          </a:p>
        </p:txBody>
      </p:sp>
      <p:sp>
        <p:nvSpPr>
          <p:cNvPr id="268" name="Google Shape;268;p10"/>
          <p:cNvSpPr txBox="1"/>
          <p:nvPr>
            <p:ph idx="1" type="body"/>
          </p:nvPr>
        </p:nvSpPr>
        <p:spPr>
          <a:xfrm>
            <a:off x="457200" y="2057400"/>
            <a:ext cx="84582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Which of the following are probability functions?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a.      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f(x)=.25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for x=9,10,11,12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b.      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f(x)= (3-x)/2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for x=1,2,3,4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c.      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f(x)= (x</a:t>
            </a:r>
            <a:r>
              <a:rPr b="0" baseline="3000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+x+1)/25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for x=0,1,2,3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 txBox="1"/>
          <p:nvPr>
            <p:ph type="title"/>
          </p:nvPr>
        </p:nvSpPr>
        <p:spPr>
          <a:xfrm>
            <a:off x="11430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Answer (a)</a:t>
            </a:r>
            <a:endParaRPr/>
          </a:p>
        </p:txBody>
      </p:sp>
      <p:sp>
        <p:nvSpPr>
          <p:cNvPr id="274" name="Google Shape;274;p11"/>
          <p:cNvSpPr txBox="1"/>
          <p:nvPr>
            <p:ph idx="1" type="body"/>
          </p:nvPr>
        </p:nvSpPr>
        <p:spPr>
          <a:xfrm>
            <a:off x="457200" y="2133600"/>
            <a:ext cx="84582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mo"/>
              <a:buNone/>
            </a:pPr>
            <a:r>
              <a:rPr b="0" i="0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a.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     </a:t>
            </a:r>
            <a:r>
              <a:rPr b="0" i="1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f(x)=.25</a:t>
            </a:r>
            <a:r>
              <a:rPr b="0" i="0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for x=9,10,11,12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275" name="Google Shape;275;p11"/>
          <p:cNvGrpSpPr/>
          <p:nvPr/>
        </p:nvGrpSpPr>
        <p:grpSpPr>
          <a:xfrm>
            <a:off x="5713413" y="2895600"/>
            <a:ext cx="2971799" cy="1446212"/>
            <a:chOff x="3599" y="1824"/>
            <a:chExt cx="1872" cy="911"/>
          </a:xfrm>
        </p:grpSpPr>
        <p:sp>
          <p:nvSpPr>
            <p:cNvPr id="276" name="Google Shape;276;p11"/>
            <p:cNvSpPr txBox="1"/>
            <p:nvPr/>
          </p:nvSpPr>
          <p:spPr>
            <a:xfrm>
              <a:off x="3912" y="1824"/>
              <a:ext cx="1559" cy="494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80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mo"/>
                <a:buNone/>
              </a:pPr>
              <a:r>
                <a:rPr b="1" i="0" lang="en-US" sz="2400" u="none">
                  <a:solidFill>
                    <a:srgbClr val="FF0000"/>
                  </a:solidFill>
                  <a:latin typeface="Arimo"/>
                  <a:ea typeface="Arimo"/>
                  <a:cs typeface="Arimo"/>
                  <a:sym typeface="Arimo"/>
                </a:rPr>
                <a:t>Yes, probability function!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00" u="non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277" name="Google Shape;277;p11"/>
            <p:cNvCxnSpPr/>
            <p:nvPr/>
          </p:nvCxnSpPr>
          <p:spPr>
            <a:xfrm flipH="1">
              <a:off x="3599" y="2319"/>
              <a:ext cx="664" cy="416"/>
            </a:xfrm>
            <a:prstGeom prst="straightConnector1">
              <a:avLst/>
            </a:prstGeom>
            <a:noFill/>
            <a:ln cap="sq" cmpd="sng" w="95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aphicFrame>
        <p:nvGraphicFramePr>
          <p:cNvPr id="278" name="Google Shape;278;p11"/>
          <p:cNvGraphicFramePr/>
          <p:nvPr/>
        </p:nvGraphicFramePr>
        <p:xfrm>
          <a:off x="68580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{54909C95-C989-4B01-82C3-3AA90FAFA577}</a:tableStyleId>
              </a:tblPr>
              <a:tblGrid>
                <a:gridCol w="2400300"/>
                <a:gridCol w="2400300"/>
              </a:tblGrid>
              <a:tr h="71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1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x 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1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f(x)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 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.25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 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.25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11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.25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12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sng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.25</a:t>
                      </a: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11"/>
          <p:cNvSpPr txBox="1"/>
          <p:nvPr/>
        </p:nvSpPr>
        <p:spPr>
          <a:xfrm>
            <a:off x="3048000" y="6172200"/>
            <a:ext cx="144780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1.0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"/>
          <p:cNvSpPr txBox="1"/>
          <p:nvPr>
            <p:ph type="title"/>
          </p:nvPr>
        </p:nvSpPr>
        <p:spPr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Answer (b)</a:t>
            </a:r>
            <a:endParaRPr/>
          </a:p>
        </p:txBody>
      </p:sp>
      <p:sp>
        <p:nvSpPr>
          <p:cNvPr id="285" name="Google Shape;285;p12"/>
          <p:cNvSpPr txBox="1"/>
          <p:nvPr>
            <p:ph idx="1" type="body"/>
          </p:nvPr>
        </p:nvSpPr>
        <p:spPr>
          <a:xfrm>
            <a:off x="457200" y="1905000"/>
            <a:ext cx="84582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mo"/>
              <a:buNone/>
            </a:pPr>
            <a:r>
              <a:rPr b="0" i="0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b.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     </a:t>
            </a:r>
            <a:r>
              <a:rPr b="0" i="1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f(x)= (3-x)/2</a:t>
            </a:r>
            <a:r>
              <a:rPr b="0" i="0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for x=1,2,3,4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aphicFrame>
        <p:nvGraphicFramePr>
          <p:cNvPr id="286" name="Google Shape;286;p12"/>
          <p:cNvGraphicFramePr/>
          <p:nvPr/>
        </p:nvGraphicFramePr>
        <p:xfrm>
          <a:off x="68580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{54909C95-C989-4B01-82C3-3AA90FAFA577}</a:tableStyleId>
              </a:tblPr>
              <a:tblGrid>
                <a:gridCol w="2400300"/>
                <a:gridCol w="2857500"/>
              </a:tblGrid>
              <a:tr h="71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1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x 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1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f(x)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(3-1)/2=1.0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(3-2)/2=.5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(3-3)/2=0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(3-4)/2=-.5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87" name="Google Shape;287;p12"/>
          <p:cNvGrpSpPr/>
          <p:nvPr/>
        </p:nvGrpSpPr>
        <p:grpSpPr>
          <a:xfrm>
            <a:off x="4876800" y="3124200"/>
            <a:ext cx="4265612" cy="2894012"/>
            <a:chOff x="3072" y="1968"/>
            <a:chExt cx="2687" cy="1823"/>
          </a:xfrm>
        </p:grpSpPr>
        <p:cxnSp>
          <p:nvCxnSpPr>
            <p:cNvPr id="288" name="Google Shape;288;p12"/>
            <p:cNvCxnSpPr/>
            <p:nvPr/>
          </p:nvCxnSpPr>
          <p:spPr>
            <a:xfrm flipH="1">
              <a:off x="3503" y="3216"/>
              <a:ext cx="1009" cy="335"/>
            </a:xfrm>
            <a:prstGeom prst="straightConnector1">
              <a:avLst/>
            </a:prstGeom>
            <a:noFill/>
            <a:ln cap="sq" cmpd="sng" w="95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289" name="Google Shape;289;p12"/>
            <p:cNvSpPr/>
            <p:nvPr/>
          </p:nvSpPr>
          <p:spPr>
            <a:xfrm>
              <a:off x="3072" y="3456"/>
              <a:ext cx="335" cy="335"/>
            </a:xfrm>
            <a:prstGeom prst="ellipse">
              <a:avLst/>
            </a:prstGeom>
            <a:noFill/>
            <a:ln cap="sq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0" name="Google Shape;290;p12"/>
            <p:cNvSpPr txBox="1"/>
            <p:nvPr/>
          </p:nvSpPr>
          <p:spPr>
            <a:xfrm>
              <a:off x="3648" y="1968"/>
              <a:ext cx="2111" cy="1247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80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Though this sums to 1, you can’t have a negative probability; therefore, it’s not a probability function.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 txBox="1"/>
          <p:nvPr>
            <p:ph type="title"/>
          </p:nvPr>
        </p:nvSpPr>
        <p:spPr>
          <a:xfrm>
            <a:off x="13716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Answer (c)</a:t>
            </a:r>
            <a:endParaRPr/>
          </a:p>
        </p:txBody>
      </p:sp>
      <p:sp>
        <p:nvSpPr>
          <p:cNvPr id="296" name="Google Shape;296;p13"/>
          <p:cNvSpPr txBox="1"/>
          <p:nvPr>
            <p:ph idx="1" type="body"/>
          </p:nvPr>
        </p:nvSpPr>
        <p:spPr>
          <a:xfrm>
            <a:off x="304800" y="1981200"/>
            <a:ext cx="84582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mo"/>
              <a:buNone/>
            </a:pPr>
            <a:r>
              <a:rPr b="0" i="0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c.      </a:t>
            </a:r>
            <a:r>
              <a:rPr b="0" i="1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f(x)= (x</a:t>
            </a:r>
            <a:r>
              <a:rPr b="0" baseline="30000" i="1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r>
              <a:rPr b="0" i="1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+x+1)/25</a:t>
            </a:r>
            <a:r>
              <a:rPr b="0" i="0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for x=0,1,2,3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aphicFrame>
        <p:nvGraphicFramePr>
          <p:cNvPr id="297" name="Google Shape;297;p13"/>
          <p:cNvGraphicFramePr/>
          <p:nvPr/>
        </p:nvGraphicFramePr>
        <p:xfrm>
          <a:off x="68580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{54909C95-C989-4B01-82C3-3AA90FAFA577}</a:tableStyleId>
              </a:tblPr>
              <a:tblGrid>
                <a:gridCol w="2400300"/>
                <a:gridCol w="2400300"/>
              </a:tblGrid>
              <a:tr h="71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x 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f(x)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1/25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3/25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7/25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/>
                    </a:p>
                  </a:txBody>
                  <a:tcPr marT="53900" marB="0" marR="90000" marL="90000">
                    <a:lnL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sng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13/25</a:t>
                      </a:r>
                      <a:r>
                        <a:rPr b="1" i="0" lang="en-US" sz="2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endParaRPr/>
                    </a:p>
                  </a:txBody>
                  <a:tcPr marT="53900" marB="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98" name="Google Shape;298;p13"/>
          <p:cNvGrpSpPr/>
          <p:nvPr/>
        </p:nvGrpSpPr>
        <p:grpSpPr>
          <a:xfrm>
            <a:off x="3200400" y="4343400"/>
            <a:ext cx="5942012" cy="2239962"/>
            <a:chOff x="2016" y="2736"/>
            <a:chExt cx="3743" cy="1411"/>
          </a:xfrm>
        </p:grpSpPr>
        <p:sp>
          <p:nvSpPr>
            <p:cNvPr id="299" name="Google Shape;299;p13"/>
            <p:cNvSpPr txBox="1"/>
            <p:nvPr/>
          </p:nvSpPr>
          <p:spPr>
            <a:xfrm>
              <a:off x="3648" y="2736"/>
              <a:ext cx="2111" cy="671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80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Doesn’t sum to 1.  Thus, it’s not a probability function. </a:t>
              </a:r>
              <a:endParaRPr/>
            </a:p>
          </p:txBody>
        </p:sp>
        <p:sp>
          <p:nvSpPr>
            <p:cNvPr id="300" name="Google Shape;300;p13"/>
            <p:cNvSpPr txBox="1"/>
            <p:nvPr/>
          </p:nvSpPr>
          <p:spPr>
            <a:xfrm>
              <a:off x="2016" y="3888"/>
              <a:ext cx="911" cy="2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1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24/25</a:t>
              </a:r>
              <a:endParaRPr/>
            </a:p>
          </p:txBody>
        </p:sp>
        <p:cxnSp>
          <p:nvCxnSpPr>
            <p:cNvPr id="301" name="Google Shape;301;p13"/>
            <p:cNvCxnSpPr/>
            <p:nvPr/>
          </p:nvCxnSpPr>
          <p:spPr>
            <a:xfrm flipH="1">
              <a:off x="2639" y="3456"/>
              <a:ext cx="1153" cy="527"/>
            </a:xfrm>
            <a:prstGeom prst="straightConnector1">
              <a:avLst/>
            </a:prstGeom>
            <a:noFill/>
            <a:ln cap="sq" cmpd="sng" w="95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Practice Problem:</a:t>
            </a:r>
            <a:endParaRPr/>
          </a:p>
        </p:txBody>
      </p:sp>
      <p:sp>
        <p:nvSpPr>
          <p:cNvPr id="307" name="Google Shape;307;p14"/>
          <p:cNvSpPr txBox="1"/>
          <p:nvPr>
            <p:ph idx="1" type="body"/>
          </p:nvPr>
        </p:nvSpPr>
        <p:spPr>
          <a:xfrm>
            <a:off x="685800" y="1889913"/>
            <a:ext cx="777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number of ships to arrive at a harbor on any given day is a random variable represented by 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The probability distribution for 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is: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08" name="Google Shape;308;p14"/>
          <p:cNvGrpSpPr/>
          <p:nvPr/>
        </p:nvGrpSpPr>
        <p:grpSpPr>
          <a:xfrm>
            <a:off x="1905000" y="3276600"/>
            <a:ext cx="6399212" cy="836612"/>
            <a:chOff x="1200" y="2064"/>
            <a:chExt cx="4031" cy="527"/>
          </a:xfrm>
        </p:grpSpPr>
        <p:grpSp>
          <p:nvGrpSpPr>
            <p:cNvPr id="309" name="Google Shape;309;p14"/>
            <p:cNvGrpSpPr/>
            <p:nvPr/>
          </p:nvGrpSpPr>
          <p:grpSpPr>
            <a:xfrm>
              <a:off x="1205" y="2066"/>
              <a:ext cx="4020" cy="523"/>
              <a:chOff x="1205" y="2066"/>
              <a:chExt cx="4020" cy="523"/>
            </a:xfrm>
          </p:grpSpPr>
          <p:grpSp>
            <p:nvGrpSpPr>
              <p:cNvPr id="310" name="Google Shape;310;p14"/>
              <p:cNvGrpSpPr/>
              <p:nvPr/>
            </p:nvGrpSpPr>
            <p:grpSpPr>
              <a:xfrm>
                <a:off x="1205" y="2066"/>
                <a:ext cx="720" cy="261"/>
                <a:chOff x="1205" y="2066"/>
                <a:chExt cx="720" cy="261"/>
              </a:xfrm>
            </p:grpSpPr>
            <p:sp>
              <p:nvSpPr>
                <p:cNvPr id="311" name="Google Shape;311;p14"/>
                <p:cNvSpPr txBox="1"/>
                <p:nvPr/>
              </p:nvSpPr>
              <p:spPr>
                <a:xfrm>
                  <a:off x="1283" y="2066"/>
                  <a:ext cx="56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x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12" name="Google Shape;312;p14"/>
                <p:cNvSpPr/>
                <p:nvPr/>
              </p:nvSpPr>
              <p:spPr>
                <a:xfrm>
                  <a:off x="1205" y="2066"/>
                  <a:ext cx="720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13" name="Google Shape;313;p14"/>
              <p:cNvGrpSpPr/>
              <p:nvPr/>
            </p:nvGrpSpPr>
            <p:grpSpPr>
              <a:xfrm>
                <a:off x="1926" y="2066"/>
                <a:ext cx="659" cy="261"/>
                <a:chOff x="1926" y="2066"/>
                <a:chExt cx="659" cy="261"/>
              </a:xfrm>
            </p:grpSpPr>
            <p:sp>
              <p:nvSpPr>
                <p:cNvPr id="314" name="Google Shape;314;p14"/>
                <p:cNvSpPr txBox="1"/>
                <p:nvPr/>
              </p:nvSpPr>
              <p:spPr>
                <a:xfrm>
                  <a:off x="2004" y="2066"/>
                  <a:ext cx="503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15" name="Google Shape;315;p14"/>
                <p:cNvSpPr/>
                <p:nvPr/>
              </p:nvSpPr>
              <p:spPr>
                <a:xfrm>
                  <a:off x="1926" y="2066"/>
                  <a:ext cx="659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16" name="Google Shape;316;p14"/>
              <p:cNvGrpSpPr/>
              <p:nvPr/>
            </p:nvGrpSpPr>
            <p:grpSpPr>
              <a:xfrm>
                <a:off x="2587" y="2066"/>
                <a:ext cx="659" cy="261"/>
                <a:chOff x="2587" y="2066"/>
                <a:chExt cx="659" cy="261"/>
              </a:xfrm>
            </p:grpSpPr>
            <p:sp>
              <p:nvSpPr>
                <p:cNvPr id="317" name="Google Shape;317;p14"/>
                <p:cNvSpPr txBox="1"/>
                <p:nvPr/>
              </p:nvSpPr>
              <p:spPr>
                <a:xfrm>
                  <a:off x="2664" y="2066"/>
                  <a:ext cx="503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18" name="Google Shape;318;p14"/>
                <p:cNvSpPr/>
                <p:nvPr/>
              </p:nvSpPr>
              <p:spPr>
                <a:xfrm>
                  <a:off x="2587" y="2066"/>
                  <a:ext cx="659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19" name="Google Shape;319;p14"/>
              <p:cNvGrpSpPr/>
              <p:nvPr/>
            </p:nvGrpSpPr>
            <p:grpSpPr>
              <a:xfrm>
                <a:off x="3247" y="2066"/>
                <a:ext cx="658" cy="261"/>
                <a:chOff x="3247" y="2066"/>
                <a:chExt cx="658" cy="261"/>
              </a:xfrm>
            </p:grpSpPr>
            <p:sp>
              <p:nvSpPr>
                <p:cNvPr id="320" name="Google Shape;320;p14"/>
                <p:cNvSpPr txBox="1"/>
                <p:nvPr/>
              </p:nvSpPr>
              <p:spPr>
                <a:xfrm>
                  <a:off x="3324" y="2066"/>
                  <a:ext cx="503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21" name="Google Shape;321;p14"/>
                <p:cNvSpPr/>
                <p:nvPr/>
              </p:nvSpPr>
              <p:spPr>
                <a:xfrm>
                  <a:off x="3247" y="2066"/>
                  <a:ext cx="658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22" name="Google Shape;322;p14"/>
              <p:cNvGrpSpPr/>
              <p:nvPr/>
            </p:nvGrpSpPr>
            <p:grpSpPr>
              <a:xfrm>
                <a:off x="3907" y="2066"/>
                <a:ext cx="659" cy="261"/>
                <a:chOff x="3907" y="2066"/>
                <a:chExt cx="659" cy="261"/>
              </a:xfrm>
            </p:grpSpPr>
            <p:sp>
              <p:nvSpPr>
                <p:cNvPr id="323" name="Google Shape;323;p14"/>
                <p:cNvSpPr txBox="1"/>
                <p:nvPr/>
              </p:nvSpPr>
              <p:spPr>
                <a:xfrm>
                  <a:off x="3984" y="2066"/>
                  <a:ext cx="503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13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24" name="Google Shape;324;p14"/>
                <p:cNvSpPr/>
                <p:nvPr/>
              </p:nvSpPr>
              <p:spPr>
                <a:xfrm>
                  <a:off x="3907" y="2066"/>
                  <a:ext cx="659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25" name="Google Shape;325;p14"/>
              <p:cNvGrpSpPr/>
              <p:nvPr/>
            </p:nvGrpSpPr>
            <p:grpSpPr>
              <a:xfrm>
                <a:off x="4567" y="2066"/>
                <a:ext cx="658" cy="261"/>
                <a:chOff x="4567" y="2066"/>
                <a:chExt cx="658" cy="261"/>
              </a:xfrm>
            </p:grpSpPr>
            <p:sp>
              <p:nvSpPr>
                <p:cNvPr id="326" name="Google Shape;326;p14"/>
                <p:cNvSpPr txBox="1"/>
                <p:nvPr/>
              </p:nvSpPr>
              <p:spPr>
                <a:xfrm>
                  <a:off x="4644" y="2066"/>
                  <a:ext cx="503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27" name="Google Shape;327;p14"/>
                <p:cNvSpPr/>
                <p:nvPr/>
              </p:nvSpPr>
              <p:spPr>
                <a:xfrm>
                  <a:off x="4567" y="2066"/>
                  <a:ext cx="658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28" name="Google Shape;328;p14"/>
              <p:cNvGrpSpPr/>
              <p:nvPr/>
            </p:nvGrpSpPr>
            <p:grpSpPr>
              <a:xfrm>
                <a:off x="1205" y="2328"/>
                <a:ext cx="720" cy="261"/>
                <a:chOff x="1205" y="2328"/>
                <a:chExt cx="720" cy="261"/>
              </a:xfrm>
            </p:grpSpPr>
            <p:sp>
              <p:nvSpPr>
                <p:cNvPr id="329" name="Google Shape;329;p14"/>
                <p:cNvSpPr txBox="1"/>
                <p:nvPr/>
              </p:nvSpPr>
              <p:spPr>
                <a:xfrm>
                  <a:off x="1283" y="2328"/>
                  <a:ext cx="56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30" name="Google Shape;330;p14"/>
                <p:cNvSpPr/>
                <p:nvPr/>
              </p:nvSpPr>
              <p:spPr>
                <a:xfrm>
                  <a:off x="1205" y="2328"/>
                  <a:ext cx="720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31" name="Google Shape;331;p14"/>
              <p:cNvGrpSpPr/>
              <p:nvPr/>
            </p:nvGrpSpPr>
            <p:grpSpPr>
              <a:xfrm>
                <a:off x="1926" y="2328"/>
                <a:ext cx="659" cy="261"/>
                <a:chOff x="1926" y="2328"/>
                <a:chExt cx="659" cy="261"/>
              </a:xfrm>
            </p:grpSpPr>
            <p:sp>
              <p:nvSpPr>
                <p:cNvPr id="332" name="Google Shape;332;p14"/>
                <p:cNvSpPr txBox="1"/>
                <p:nvPr/>
              </p:nvSpPr>
              <p:spPr>
                <a:xfrm>
                  <a:off x="2004" y="2328"/>
                  <a:ext cx="503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33" name="Google Shape;333;p14"/>
                <p:cNvSpPr/>
                <p:nvPr/>
              </p:nvSpPr>
              <p:spPr>
                <a:xfrm>
                  <a:off x="1926" y="2328"/>
                  <a:ext cx="659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34" name="Google Shape;334;p14"/>
              <p:cNvGrpSpPr/>
              <p:nvPr/>
            </p:nvGrpSpPr>
            <p:grpSpPr>
              <a:xfrm>
                <a:off x="2587" y="2328"/>
                <a:ext cx="659" cy="261"/>
                <a:chOff x="2587" y="2328"/>
                <a:chExt cx="659" cy="261"/>
              </a:xfrm>
            </p:grpSpPr>
            <p:sp>
              <p:nvSpPr>
                <p:cNvPr id="335" name="Google Shape;335;p14"/>
                <p:cNvSpPr txBox="1"/>
                <p:nvPr/>
              </p:nvSpPr>
              <p:spPr>
                <a:xfrm>
                  <a:off x="2664" y="2328"/>
                  <a:ext cx="503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36" name="Google Shape;336;p14"/>
                <p:cNvSpPr/>
                <p:nvPr/>
              </p:nvSpPr>
              <p:spPr>
                <a:xfrm>
                  <a:off x="2587" y="2328"/>
                  <a:ext cx="659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37" name="Google Shape;337;p14"/>
              <p:cNvGrpSpPr/>
              <p:nvPr/>
            </p:nvGrpSpPr>
            <p:grpSpPr>
              <a:xfrm>
                <a:off x="3247" y="2328"/>
                <a:ext cx="658" cy="261"/>
                <a:chOff x="3247" y="2328"/>
                <a:chExt cx="658" cy="261"/>
              </a:xfrm>
            </p:grpSpPr>
            <p:sp>
              <p:nvSpPr>
                <p:cNvPr id="338" name="Google Shape;338;p14"/>
                <p:cNvSpPr txBox="1"/>
                <p:nvPr/>
              </p:nvSpPr>
              <p:spPr>
                <a:xfrm>
                  <a:off x="3324" y="2328"/>
                  <a:ext cx="503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39" name="Google Shape;339;p14"/>
                <p:cNvSpPr/>
                <p:nvPr/>
              </p:nvSpPr>
              <p:spPr>
                <a:xfrm>
                  <a:off x="3247" y="2328"/>
                  <a:ext cx="658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40" name="Google Shape;340;p14"/>
              <p:cNvGrpSpPr/>
              <p:nvPr/>
            </p:nvGrpSpPr>
            <p:grpSpPr>
              <a:xfrm>
                <a:off x="3907" y="2328"/>
                <a:ext cx="659" cy="261"/>
                <a:chOff x="3907" y="2328"/>
                <a:chExt cx="659" cy="261"/>
              </a:xfrm>
            </p:grpSpPr>
            <p:sp>
              <p:nvSpPr>
                <p:cNvPr id="341" name="Google Shape;341;p14"/>
                <p:cNvSpPr txBox="1"/>
                <p:nvPr/>
              </p:nvSpPr>
              <p:spPr>
                <a:xfrm>
                  <a:off x="3984" y="2328"/>
                  <a:ext cx="503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42" name="Google Shape;342;p14"/>
                <p:cNvSpPr/>
                <p:nvPr/>
              </p:nvSpPr>
              <p:spPr>
                <a:xfrm>
                  <a:off x="3907" y="2328"/>
                  <a:ext cx="659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343" name="Google Shape;343;p14"/>
              <p:cNvGrpSpPr/>
              <p:nvPr/>
            </p:nvGrpSpPr>
            <p:grpSpPr>
              <a:xfrm>
                <a:off x="4567" y="2328"/>
                <a:ext cx="658" cy="261"/>
                <a:chOff x="4567" y="2328"/>
                <a:chExt cx="658" cy="261"/>
              </a:xfrm>
            </p:grpSpPr>
            <p:sp>
              <p:nvSpPr>
                <p:cNvPr id="344" name="Google Shape;344;p14"/>
                <p:cNvSpPr txBox="1"/>
                <p:nvPr/>
              </p:nvSpPr>
              <p:spPr>
                <a:xfrm>
                  <a:off x="4644" y="2328"/>
                  <a:ext cx="503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345" name="Google Shape;345;p14"/>
                <p:cNvSpPr/>
                <p:nvPr/>
              </p:nvSpPr>
              <p:spPr>
                <a:xfrm>
                  <a:off x="4567" y="2328"/>
                  <a:ext cx="658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346" name="Google Shape;346;p14"/>
            <p:cNvSpPr/>
            <p:nvPr/>
          </p:nvSpPr>
          <p:spPr>
            <a:xfrm>
              <a:off x="1200" y="2064"/>
              <a:ext cx="4031" cy="527"/>
            </a:xfrm>
            <a:prstGeom prst="rect">
              <a:avLst/>
            </a:prstGeom>
            <a:noFill/>
            <a:ln cap="sq" cmpd="sng" w="9525">
              <a:solidFill>
                <a:srgbClr val="A0A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47" name="Google Shape;347;p14"/>
          <p:cNvSpPr txBox="1"/>
          <p:nvPr/>
        </p:nvSpPr>
        <p:spPr>
          <a:xfrm>
            <a:off x="92075" y="4608512"/>
            <a:ext cx="74676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Find the probability that on a given day: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a.    exactly 14 ships arrive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b.    At least 12 ships arrive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c.    At most 11 ships arrive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5975350" y="5256212"/>
            <a:ext cx="259080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mo"/>
              <a:buNone/>
            </a:pPr>
            <a:r>
              <a:rPr b="1" i="0" lang="en-US" sz="24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 </a:t>
            </a:r>
            <a:r>
              <a:rPr b="1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p(x=14)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.1 </a:t>
            </a:r>
            <a:endParaRPr/>
          </a:p>
        </p:txBody>
      </p:sp>
      <p:sp>
        <p:nvSpPr>
          <p:cNvPr id="349" name="Google Shape;349;p14"/>
          <p:cNvSpPr txBox="1"/>
          <p:nvPr/>
        </p:nvSpPr>
        <p:spPr>
          <a:xfrm>
            <a:off x="5688012" y="5832475"/>
            <a:ext cx="373380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p(x</a:t>
            </a:r>
            <a:r>
              <a:rPr b="1" i="1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b="1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12)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(.2 + .1 +.1) = .4</a:t>
            </a:r>
            <a:r>
              <a:rPr b="1" i="0" lang="en-US" sz="2400" u="none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50" name="Google Shape;350;p14"/>
          <p:cNvSpPr txBox="1"/>
          <p:nvPr/>
        </p:nvSpPr>
        <p:spPr>
          <a:xfrm>
            <a:off x="5334000" y="6446837"/>
            <a:ext cx="304800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p(x≤11)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(.4 +.2) = .6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Practice Problem:</a:t>
            </a:r>
            <a:endParaRPr/>
          </a:p>
        </p:txBody>
      </p:sp>
      <p:sp>
        <p:nvSpPr>
          <p:cNvPr id="356" name="Google Shape;356;p15"/>
          <p:cNvSpPr txBox="1"/>
          <p:nvPr>
            <p:ph idx="1" type="body"/>
          </p:nvPr>
        </p:nvSpPr>
        <p:spPr>
          <a:xfrm>
            <a:off x="304800" y="2133600"/>
            <a:ext cx="84582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531812" lvl="0" marL="533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mo"/>
              <a:buNone/>
            </a:pPr>
            <a:r>
              <a:rPr b="0" i="0" lang="en-US" sz="2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You are lecturing to a group of 1000 students.  You ask them to each randomly pick an integer between 1 and 10.  Assuming, their picks are truly random:</a:t>
            </a:r>
            <a:endParaRPr/>
          </a:p>
          <a:p>
            <a:pPr indent="-457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320"/>
              <a:buFont typeface="Tahoma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What’s your best guess for how many students picked the number 9?</a:t>
            </a:r>
            <a:endParaRPr/>
          </a:p>
          <a:p>
            <a:pPr indent="-379412" lvl="2" marL="1295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Since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p(x=9)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= 1/10, we’d expect about 1/10</a:t>
            </a:r>
            <a:r>
              <a:rPr b="0" baseline="30000" i="0" lang="en-US" sz="2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of the 1000 students to pick 9.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100 students. </a:t>
            </a:r>
            <a:endParaRPr/>
          </a:p>
          <a:p>
            <a:pPr indent="-457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320"/>
              <a:buFont typeface="Tahoma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What percentage of the students would you expect picked a number less than or equal to 6? </a:t>
            </a:r>
            <a:endParaRPr/>
          </a:p>
          <a:p>
            <a:pPr indent="-379412" lvl="2" marL="1295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Since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p(x≤ 6)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= 1/10 + 1/10 + 1/10 + 1/10 + 1/10 + 1/10 =.6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60%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Important discrete distributions in epidemiology…</a:t>
            </a:r>
            <a:endParaRPr/>
          </a:p>
        </p:txBody>
      </p:sp>
      <p:sp>
        <p:nvSpPr>
          <p:cNvPr id="362" name="Google Shape;362;p16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Binomial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Yes/no outcomes (dead/alive, treated/untreated, smoker/non-smoker, sick/well, etc.)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Poisson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Counts (e.g., how many cases of disease in a given area)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Continuous case</a:t>
            </a:r>
            <a:endParaRPr/>
          </a:p>
        </p:txBody>
      </p:sp>
      <p:sp>
        <p:nvSpPr>
          <p:cNvPr id="368" name="Google Shape;368;p17"/>
          <p:cNvSpPr txBox="1"/>
          <p:nvPr>
            <p:ph idx="1" type="body"/>
          </p:nvPr>
        </p:nvSpPr>
        <p:spPr>
          <a:xfrm>
            <a:off x="381000" y="1828800"/>
            <a:ext cx="84582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531812" lvl="0" marL="5318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Noto Sans Symbols"/>
              <a:buChar char="▪"/>
            </a:pPr>
            <a:r>
              <a:rPr b="0" i="0" lang="en-US" sz="2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probability function that accompanies a continuous random variable is a continuous mathematical function that integrates to 1.  </a:t>
            </a:r>
            <a:endParaRPr/>
          </a:p>
          <a:p>
            <a:pPr indent="-531812" lvl="0" marL="531812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Noto Sans Symbols"/>
              <a:buChar char="▪"/>
            </a:pPr>
            <a:r>
              <a:rPr b="0" i="0" lang="en-US" sz="2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probabilities associated with continuous functions are just areas under the curve (integrals!).</a:t>
            </a:r>
            <a:endParaRPr/>
          </a:p>
          <a:p>
            <a:pPr indent="-531812" lvl="0" marL="531812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Noto Sans Symbols"/>
              <a:buChar char="▪"/>
            </a:pPr>
            <a:r>
              <a:rPr b="0" i="0" lang="en-US" sz="2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Probabilities are given for a range of values, rather than a particular value (e.g., the probability of getting a math SAT score between 700 and 800 is 2%).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5486400" y="4038600"/>
            <a:ext cx="2590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1828800" y="2590800"/>
            <a:ext cx="43434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Continuous case</a:t>
            </a:r>
            <a:endParaRPr/>
          </a:p>
        </p:txBody>
      </p:sp>
      <p:sp>
        <p:nvSpPr>
          <p:cNvPr id="376" name="Google Shape;376;p18"/>
          <p:cNvSpPr txBox="1"/>
          <p:nvPr>
            <p:ph idx="1" type="body"/>
          </p:nvPr>
        </p:nvSpPr>
        <p:spPr>
          <a:xfrm>
            <a:off x="381000" y="1828800"/>
            <a:ext cx="84582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For example, recall the negative exponential function (in probability, this is called an “exponential distribution”):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377" name="Google Shape;377;p18"/>
          <p:cNvGrpSpPr/>
          <p:nvPr/>
        </p:nvGrpSpPr>
        <p:grpSpPr>
          <a:xfrm>
            <a:off x="5648325" y="2860225"/>
            <a:ext cx="1827212" cy="684212"/>
            <a:chOff x="3648" y="1776"/>
            <a:chExt cx="1151" cy="431"/>
          </a:xfrm>
        </p:grpSpPr>
        <p:sp>
          <p:nvSpPr>
            <p:cNvPr id="378" name="Google Shape;378;p18"/>
            <p:cNvSpPr/>
            <p:nvPr/>
          </p:nvSpPr>
          <p:spPr>
            <a:xfrm>
              <a:off x="3648" y="1776"/>
              <a:ext cx="1151" cy="431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379" name="Google Shape;379;p18"/>
            <p:cNvGraphicFramePr/>
            <p:nvPr/>
          </p:nvGraphicFramePr>
          <p:xfrm>
            <a:off x="3792" y="1824"/>
            <a:ext cx="865" cy="317"/>
          </p:xfrm>
          <a:graphic>
            <a:graphicData uri="http://schemas.openxmlformats.org/presentationml/2006/ole">
              <mc:AlternateContent>
                <mc:Choice Requires="v">
                  <p:oleObj r:id="rId4" imgH="317" imgW="865" spid="_x0000_s1">
                    <p:embed/>
                  </p:oleObj>
                </mc:Choice>
                <mc:Fallback>
                  <p:oleObj r:id="rId5" imgH="317" imgW="865">
                    <p:embed/>
                    <p:pic>
                      <p:nvPicPr>
                        <p:cNvPr id="379" name="Google Shape;379;p18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792" y="1824"/>
                          <a:ext cx="865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0" name="Google Shape;380;p18"/>
          <p:cNvGrpSpPr/>
          <p:nvPr/>
        </p:nvGrpSpPr>
        <p:grpSpPr>
          <a:xfrm>
            <a:off x="2514600" y="4495800"/>
            <a:ext cx="3960812" cy="1035050"/>
            <a:chOff x="1584" y="2832"/>
            <a:chExt cx="2495" cy="652"/>
          </a:xfrm>
        </p:grpSpPr>
        <p:sp>
          <p:nvSpPr>
            <p:cNvPr id="381" name="Google Shape;381;p18"/>
            <p:cNvSpPr/>
            <p:nvPr/>
          </p:nvSpPr>
          <p:spPr>
            <a:xfrm>
              <a:off x="1584" y="2909"/>
              <a:ext cx="2495" cy="575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382" name="Google Shape;382;p18"/>
            <p:cNvGraphicFramePr/>
            <p:nvPr/>
          </p:nvGraphicFramePr>
          <p:xfrm>
            <a:off x="1680" y="2832"/>
            <a:ext cx="2172" cy="652"/>
          </p:xfrm>
          <a:graphic>
            <a:graphicData uri="http://schemas.openxmlformats.org/presentationml/2006/ole">
              <mc:AlternateContent>
                <mc:Choice Requires="v">
                  <p:oleObj r:id="rId7" imgH="652" imgW="2172" spid="_x0000_s2">
                    <p:embed/>
                  </p:oleObj>
                </mc:Choice>
                <mc:Fallback>
                  <p:oleObj r:id="rId8" imgH="652" imgW="2172">
                    <p:embed/>
                    <p:pic>
                      <p:nvPicPr>
                        <p:cNvPr id="382" name="Google Shape;382;p18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680" y="2832"/>
                          <a:ext cx="2172" cy="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3" name="Google Shape;383;p18"/>
          <p:cNvSpPr txBox="1"/>
          <p:nvPr/>
        </p:nvSpPr>
        <p:spPr>
          <a:xfrm>
            <a:off x="684212" y="3733800"/>
            <a:ext cx="5160962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-16002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This function integrates to 1: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Continuous case: “probability density function” (pdf)</a:t>
            </a:r>
            <a:endParaRPr/>
          </a:p>
        </p:txBody>
      </p:sp>
      <p:grpSp>
        <p:nvGrpSpPr>
          <p:cNvPr id="389" name="Google Shape;389;p19"/>
          <p:cNvGrpSpPr/>
          <p:nvPr/>
        </p:nvGrpSpPr>
        <p:grpSpPr>
          <a:xfrm>
            <a:off x="1828800" y="2743199"/>
            <a:ext cx="5256212" cy="2513012"/>
            <a:chOff x="1152" y="1728"/>
            <a:chExt cx="3311" cy="1583"/>
          </a:xfrm>
        </p:grpSpPr>
        <p:grpSp>
          <p:nvGrpSpPr>
            <p:cNvPr id="390" name="Google Shape;390;p19"/>
            <p:cNvGrpSpPr/>
            <p:nvPr/>
          </p:nvGrpSpPr>
          <p:grpSpPr>
            <a:xfrm>
              <a:off x="1152" y="1728"/>
              <a:ext cx="3311" cy="1583"/>
              <a:chOff x="1152" y="1728"/>
              <a:chExt cx="3311" cy="1583"/>
            </a:xfrm>
          </p:grpSpPr>
          <p:cxnSp>
            <p:nvCxnSpPr>
              <p:cNvPr id="391" name="Google Shape;391;p19"/>
              <p:cNvCxnSpPr/>
              <p:nvPr/>
            </p:nvCxnSpPr>
            <p:spPr>
              <a:xfrm>
                <a:off x="2610" y="1728"/>
                <a:ext cx="0" cy="1583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92" name="Google Shape;392;p19"/>
              <p:cNvCxnSpPr/>
              <p:nvPr/>
            </p:nvCxnSpPr>
            <p:spPr>
              <a:xfrm>
                <a:off x="1152" y="2910"/>
                <a:ext cx="2998" cy="0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393" name="Google Shape;393;p19"/>
              <p:cNvSpPr txBox="1"/>
              <p:nvPr/>
            </p:nvSpPr>
            <p:spPr>
              <a:xfrm>
                <a:off x="4172" y="2872"/>
                <a:ext cx="291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1" i="1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/>
              </a:p>
            </p:txBody>
          </p:sp>
          <p:sp>
            <p:nvSpPr>
              <p:cNvPr id="394" name="Google Shape;394;p19"/>
              <p:cNvSpPr txBox="1"/>
              <p:nvPr/>
            </p:nvSpPr>
            <p:spPr>
              <a:xfrm>
                <a:off x="2714" y="1728"/>
                <a:ext cx="1173" cy="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1" i="1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p(x)=e</a:t>
                </a:r>
                <a:r>
                  <a:rPr b="1" baseline="30000" i="1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-x</a:t>
                </a:r>
                <a:endParaRPr/>
              </a:p>
            </p:txBody>
          </p:sp>
        </p:grpSp>
        <p:sp>
          <p:nvSpPr>
            <p:cNvPr id="395" name="Google Shape;395;p19"/>
            <p:cNvSpPr txBox="1"/>
            <p:nvPr/>
          </p:nvSpPr>
          <p:spPr>
            <a:xfrm>
              <a:off x="2401" y="2222"/>
              <a:ext cx="82" cy="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</p:grpSp>
      <p:sp>
        <p:nvSpPr>
          <p:cNvPr id="396" name="Google Shape;396;p19"/>
          <p:cNvSpPr txBox="1"/>
          <p:nvPr/>
        </p:nvSpPr>
        <p:spPr>
          <a:xfrm>
            <a:off x="0" y="5530850"/>
            <a:ext cx="9144000" cy="779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probability that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any exact particular value (such as 1.9976) is 0; we can only assign probabilities to possible ranges of x.  </a:t>
            </a:r>
            <a:endParaRPr/>
          </a:p>
        </p:txBody>
      </p:sp>
      <p:cxnSp>
        <p:nvCxnSpPr>
          <p:cNvPr id="397" name="Google Shape;397;p19"/>
          <p:cNvCxnSpPr/>
          <p:nvPr/>
        </p:nvCxnSpPr>
        <p:spPr>
          <a:xfrm>
            <a:off x="4800600" y="4191000"/>
            <a:ext cx="1587" cy="457200"/>
          </a:xfrm>
          <a:prstGeom prst="straightConnector1">
            <a:avLst/>
          </a:prstGeom>
          <a:noFill/>
          <a:ln cap="sq" cmpd="sng" w="9525">
            <a:solidFill>
              <a:srgbClr val="00E4A8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"/>
          <p:cNvSpPr txBox="1"/>
          <p:nvPr/>
        </p:nvSpPr>
        <p:spPr>
          <a:xfrm>
            <a:off x="990600" y="1066800"/>
            <a:ext cx="9144000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the probability of </a:t>
            </a: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falling within 1 to 2: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03" name="Google Shape;403;p20"/>
          <p:cNvGrpSpPr/>
          <p:nvPr/>
        </p:nvGrpSpPr>
        <p:grpSpPr>
          <a:xfrm>
            <a:off x="609600" y="5715000"/>
            <a:ext cx="7542212" cy="1141412"/>
            <a:chOff x="384" y="3600"/>
            <a:chExt cx="4751" cy="719"/>
          </a:xfrm>
        </p:grpSpPr>
        <p:sp>
          <p:nvSpPr>
            <p:cNvPr id="404" name="Google Shape;404;p20"/>
            <p:cNvSpPr/>
            <p:nvPr/>
          </p:nvSpPr>
          <p:spPr>
            <a:xfrm>
              <a:off x="384" y="3600"/>
              <a:ext cx="4751" cy="719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405" name="Google Shape;405;p20"/>
            <p:cNvGraphicFramePr/>
            <p:nvPr/>
          </p:nvGraphicFramePr>
          <p:xfrm>
            <a:off x="616" y="3742"/>
            <a:ext cx="4431" cy="577"/>
          </p:xfrm>
          <a:graphic>
            <a:graphicData uri="http://schemas.openxmlformats.org/presentationml/2006/ole">
              <mc:AlternateContent>
                <mc:Choice Requires="v">
                  <p:oleObj r:id="rId4" imgH="577" imgW="4431" spid="_x0000_s1">
                    <p:embed/>
                  </p:oleObj>
                </mc:Choice>
                <mc:Fallback>
                  <p:oleObj r:id="rId5" imgH="577" imgW="4431">
                    <p:embed/>
                    <p:pic>
                      <p:nvPicPr>
                        <p:cNvPr id="405" name="Google Shape;405;p20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616" y="3742"/>
                          <a:ext cx="4431" cy="5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6" name="Google Shape;406;p20"/>
          <p:cNvGrpSpPr/>
          <p:nvPr/>
        </p:nvGrpSpPr>
        <p:grpSpPr>
          <a:xfrm>
            <a:off x="1752600" y="2782987"/>
            <a:ext cx="5256212" cy="2524125"/>
            <a:chOff x="1152" y="1728"/>
            <a:chExt cx="3311" cy="1590"/>
          </a:xfrm>
        </p:grpSpPr>
        <p:grpSp>
          <p:nvGrpSpPr>
            <p:cNvPr id="407" name="Google Shape;407;p20"/>
            <p:cNvGrpSpPr/>
            <p:nvPr/>
          </p:nvGrpSpPr>
          <p:grpSpPr>
            <a:xfrm>
              <a:off x="1152" y="1728"/>
              <a:ext cx="3311" cy="1590"/>
              <a:chOff x="1152" y="1728"/>
              <a:chExt cx="3311" cy="1590"/>
            </a:xfrm>
          </p:grpSpPr>
          <p:grpSp>
            <p:nvGrpSpPr>
              <p:cNvPr id="408" name="Google Shape;408;p20"/>
              <p:cNvGrpSpPr/>
              <p:nvPr/>
            </p:nvGrpSpPr>
            <p:grpSpPr>
              <a:xfrm>
                <a:off x="1152" y="1728"/>
                <a:ext cx="3311" cy="1583"/>
                <a:chOff x="1152" y="1728"/>
                <a:chExt cx="3311" cy="1583"/>
              </a:xfrm>
            </p:grpSpPr>
            <p:grpSp>
              <p:nvGrpSpPr>
                <p:cNvPr id="409" name="Google Shape;409;p20"/>
                <p:cNvGrpSpPr/>
                <p:nvPr/>
              </p:nvGrpSpPr>
              <p:grpSpPr>
                <a:xfrm>
                  <a:off x="1152" y="1728"/>
                  <a:ext cx="3311" cy="1583"/>
                  <a:chOff x="1152" y="1728"/>
                  <a:chExt cx="3311" cy="1583"/>
                </a:xfrm>
              </p:grpSpPr>
              <p:cxnSp>
                <p:nvCxnSpPr>
                  <p:cNvPr id="410" name="Google Shape;410;p20"/>
                  <p:cNvCxnSpPr/>
                  <p:nvPr/>
                </p:nvCxnSpPr>
                <p:spPr>
                  <a:xfrm>
                    <a:off x="2610" y="1728"/>
                    <a:ext cx="0" cy="1583"/>
                  </a:xfrm>
                  <a:prstGeom prst="straightConnector1">
                    <a:avLst/>
                  </a:prstGeom>
                  <a:noFill/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11" name="Google Shape;411;p20"/>
                  <p:cNvCxnSpPr/>
                  <p:nvPr/>
                </p:nvCxnSpPr>
                <p:spPr>
                  <a:xfrm>
                    <a:off x="1152" y="2910"/>
                    <a:ext cx="2998" cy="0"/>
                  </a:xfrm>
                  <a:prstGeom prst="straightConnector1">
                    <a:avLst/>
                  </a:prstGeom>
                  <a:noFill/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12" name="Google Shape;412;p20"/>
                  <p:cNvSpPr txBox="1"/>
                  <p:nvPr/>
                </p:nvSpPr>
                <p:spPr>
                  <a:xfrm>
                    <a:off x="4172" y="2872"/>
                    <a:ext cx="291" cy="28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6800" lIns="90000" spcFirstLastPara="1" rIns="90000" wrap="square" tIns="468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1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x</a:t>
                    </a:r>
                    <a:endParaRPr/>
                  </a:p>
                </p:txBody>
              </p:sp>
              <p:sp>
                <p:nvSpPr>
                  <p:cNvPr id="413" name="Google Shape;413;p20"/>
                  <p:cNvSpPr txBox="1"/>
                  <p:nvPr/>
                </p:nvSpPr>
                <p:spPr>
                  <a:xfrm>
                    <a:off x="2714" y="1728"/>
                    <a:ext cx="1077" cy="28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6800" lIns="90000" spcFirstLastPara="1" rIns="90000" wrap="square" tIns="468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1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p(x)=e</a:t>
                    </a:r>
                    <a:r>
                      <a:rPr b="1" baseline="30000" i="1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-x</a:t>
                    </a:r>
                    <a:endParaRPr/>
                  </a:p>
                </p:txBody>
              </p:sp>
            </p:grpSp>
            <p:sp>
              <p:nvSpPr>
                <p:cNvPr id="414" name="Google Shape;414;p20"/>
                <p:cNvSpPr txBox="1"/>
                <p:nvPr/>
              </p:nvSpPr>
              <p:spPr>
                <a:xfrm>
                  <a:off x="2401" y="2222"/>
                  <a:ext cx="82" cy="1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Times New Roman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415" name="Google Shape;415;p20"/>
              <p:cNvGrpSpPr/>
              <p:nvPr/>
            </p:nvGrpSpPr>
            <p:grpSpPr>
              <a:xfrm>
                <a:off x="2832" y="2592"/>
                <a:ext cx="471" cy="726"/>
                <a:chOff x="2832" y="2592"/>
                <a:chExt cx="471" cy="726"/>
              </a:xfrm>
            </p:grpSpPr>
            <p:sp>
              <p:nvSpPr>
                <p:cNvPr id="416" name="Google Shape;416;p20"/>
                <p:cNvSpPr/>
                <p:nvPr/>
              </p:nvSpPr>
              <p:spPr>
                <a:xfrm>
                  <a:off x="2880" y="2592"/>
                  <a:ext cx="287" cy="143"/>
                </a:xfrm>
                <a:prstGeom prst="rtTriangle">
                  <a:avLst/>
                </a:prstGeom>
                <a:solidFill>
                  <a:srgbClr val="00E4A8"/>
                </a:solidFill>
                <a:ln cap="sq" cmpd="sng" w="34900">
                  <a:solidFill>
                    <a:srgbClr val="00E4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17" name="Google Shape;417;p20"/>
                <p:cNvSpPr/>
                <p:nvPr/>
              </p:nvSpPr>
              <p:spPr>
                <a:xfrm>
                  <a:off x="2880" y="2738"/>
                  <a:ext cx="383" cy="189"/>
                </a:xfrm>
                <a:prstGeom prst="rect">
                  <a:avLst/>
                </a:prstGeom>
                <a:solidFill>
                  <a:srgbClr val="00E4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418" name="Google Shape;418;p20"/>
                <p:cNvCxnSpPr/>
                <p:nvPr/>
              </p:nvCxnSpPr>
              <p:spPr>
                <a:xfrm>
                  <a:off x="2880" y="2928"/>
                  <a:ext cx="0" cy="143"/>
                </a:xfrm>
                <a:prstGeom prst="straightConnector1">
                  <a:avLst/>
                </a:prstGeom>
                <a:noFill/>
                <a:ln cap="sq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19" name="Google Shape;419;p20"/>
                <p:cNvCxnSpPr/>
                <p:nvPr/>
              </p:nvCxnSpPr>
              <p:spPr>
                <a:xfrm>
                  <a:off x="3264" y="2928"/>
                  <a:ext cx="0" cy="143"/>
                </a:xfrm>
                <a:prstGeom prst="straightConnector1">
                  <a:avLst/>
                </a:prstGeom>
                <a:noFill/>
                <a:ln cap="sq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sp>
              <p:nvSpPr>
                <p:cNvPr id="420" name="Google Shape;420;p20"/>
                <p:cNvSpPr txBox="1"/>
                <p:nvPr/>
              </p:nvSpPr>
              <p:spPr>
                <a:xfrm>
                  <a:off x="2832" y="3120"/>
                  <a:ext cx="79" cy="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Times New Roman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/>
                </a:p>
              </p:txBody>
            </p:sp>
            <p:sp>
              <p:nvSpPr>
                <p:cNvPr id="421" name="Google Shape;421;p20"/>
                <p:cNvSpPr txBox="1"/>
                <p:nvPr/>
              </p:nvSpPr>
              <p:spPr>
                <a:xfrm>
                  <a:off x="3216" y="3120"/>
                  <a:ext cx="87" cy="1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Times New Roman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/>
                </a:p>
              </p:txBody>
            </p:sp>
          </p:grpSp>
        </p:grpSp>
        <p:cxnSp>
          <p:nvCxnSpPr>
            <p:cNvPr id="422" name="Google Shape;422;p20"/>
            <p:cNvCxnSpPr/>
            <p:nvPr/>
          </p:nvCxnSpPr>
          <p:spPr>
            <a:xfrm>
              <a:off x="2880" y="2592"/>
              <a:ext cx="0" cy="335"/>
            </a:xfrm>
            <a:prstGeom prst="straightConnector1">
              <a:avLst/>
            </a:prstGeom>
            <a:noFill/>
            <a:ln cap="sq" cmpd="sng" w="31675">
              <a:solidFill>
                <a:srgbClr val="00E4A8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49c5a9c03_0_0"/>
          <p:cNvSpPr txBox="1"/>
          <p:nvPr>
            <p:ph type="title"/>
          </p:nvPr>
        </p:nvSpPr>
        <p:spPr>
          <a:xfrm>
            <a:off x="1150937" y="214312"/>
            <a:ext cx="7791600" cy="1460400"/>
          </a:xfrm>
          <a:prstGeom prst="rect">
            <a:avLst/>
          </a:prstGeom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649c5a9c03_0_0"/>
          <p:cNvSpPr txBox="1"/>
          <p:nvPr>
            <p:ph idx="1" type="body"/>
          </p:nvPr>
        </p:nvSpPr>
        <p:spPr>
          <a:xfrm>
            <a:off x="1182687" y="2017712"/>
            <a:ext cx="7770900" cy="41133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Cumulative distribution function</a:t>
            </a:r>
            <a:endParaRPr/>
          </a:p>
        </p:txBody>
      </p:sp>
      <p:sp>
        <p:nvSpPr>
          <p:cNvPr id="436" name="Google Shape;436;p21"/>
          <p:cNvSpPr txBox="1"/>
          <p:nvPr/>
        </p:nvSpPr>
        <p:spPr>
          <a:xfrm>
            <a:off x="533400" y="2209800"/>
            <a:ext cx="9144000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in the discrete case, we can specify the “cumulative distribution function” (CDF):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CDF here = P(</a:t>
            </a: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≤A)= </a:t>
            </a:r>
            <a:endParaRPr/>
          </a:p>
        </p:txBody>
      </p:sp>
      <p:grpSp>
        <p:nvGrpSpPr>
          <p:cNvPr id="437" name="Google Shape;437;p21"/>
          <p:cNvGrpSpPr/>
          <p:nvPr/>
        </p:nvGrpSpPr>
        <p:grpSpPr>
          <a:xfrm>
            <a:off x="762000" y="4343400"/>
            <a:ext cx="5789612" cy="1065212"/>
            <a:chOff x="480" y="2736"/>
            <a:chExt cx="3647" cy="671"/>
          </a:xfrm>
        </p:grpSpPr>
        <p:sp>
          <p:nvSpPr>
            <p:cNvPr id="438" name="Google Shape;438;p21"/>
            <p:cNvSpPr/>
            <p:nvPr/>
          </p:nvSpPr>
          <p:spPr>
            <a:xfrm>
              <a:off x="480" y="2736"/>
              <a:ext cx="3647" cy="671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439" name="Google Shape;439;p21"/>
            <p:cNvGraphicFramePr/>
            <p:nvPr/>
          </p:nvGraphicFramePr>
          <p:xfrm>
            <a:off x="480" y="2797"/>
            <a:ext cx="3554" cy="575"/>
          </p:xfrm>
          <a:graphic>
            <a:graphicData uri="http://schemas.openxmlformats.org/presentationml/2006/ole">
              <mc:AlternateContent>
                <mc:Choice Requires="v">
                  <p:oleObj r:id="rId4" imgH="575" imgW="3554" spid="_x0000_s1">
                    <p:embed/>
                  </p:oleObj>
                </mc:Choice>
                <mc:Fallback>
                  <p:oleObj r:id="rId5" imgH="575" imgW="3554">
                    <p:embed/>
                    <p:pic>
                      <p:nvPicPr>
                        <p:cNvPr id="439" name="Google Shape;439;p21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480" y="2797"/>
                          <a:ext cx="3554" cy="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endParaRPr/>
          </a:p>
        </p:txBody>
      </p:sp>
      <p:grpSp>
        <p:nvGrpSpPr>
          <p:cNvPr id="445" name="Google Shape;445;p22"/>
          <p:cNvGrpSpPr/>
          <p:nvPr/>
        </p:nvGrpSpPr>
        <p:grpSpPr>
          <a:xfrm>
            <a:off x="1905000" y="2209800"/>
            <a:ext cx="5408612" cy="2055812"/>
            <a:chOff x="1200" y="1392"/>
            <a:chExt cx="3407" cy="1295"/>
          </a:xfrm>
        </p:grpSpPr>
        <p:grpSp>
          <p:nvGrpSpPr>
            <p:cNvPr id="446" name="Google Shape;446;p22"/>
            <p:cNvGrpSpPr/>
            <p:nvPr/>
          </p:nvGrpSpPr>
          <p:grpSpPr>
            <a:xfrm>
              <a:off x="1200" y="1392"/>
              <a:ext cx="3407" cy="1295"/>
              <a:chOff x="1200" y="1392"/>
              <a:chExt cx="3407" cy="1295"/>
            </a:xfrm>
          </p:grpSpPr>
          <p:cxnSp>
            <p:nvCxnSpPr>
              <p:cNvPr id="447" name="Google Shape;447;p22"/>
              <p:cNvCxnSpPr/>
              <p:nvPr/>
            </p:nvCxnSpPr>
            <p:spPr>
              <a:xfrm>
                <a:off x="3287" y="2228"/>
                <a:ext cx="0" cy="173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448" name="Google Shape;448;p22"/>
              <p:cNvSpPr txBox="1"/>
              <p:nvPr/>
            </p:nvSpPr>
            <p:spPr>
              <a:xfrm>
                <a:off x="3278" y="2425"/>
                <a:ext cx="94" cy="1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/>
              </a:p>
            </p:txBody>
          </p:sp>
          <p:grpSp>
            <p:nvGrpSpPr>
              <p:cNvPr id="449" name="Google Shape;449;p22"/>
              <p:cNvGrpSpPr/>
              <p:nvPr/>
            </p:nvGrpSpPr>
            <p:grpSpPr>
              <a:xfrm>
                <a:off x="1200" y="1392"/>
                <a:ext cx="3407" cy="1295"/>
                <a:chOff x="1200" y="1392"/>
                <a:chExt cx="3407" cy="1295"/>
              </a:xfrm>
            </p:grpSpPr>
            <p:grpSp>
              <p:nvGrpSpPr>
                <p:cNvPr id="450" name="Google Shape;450;p22"/>
                <p:cNvGrpSpPr/>
                <p:nvPr/>
              </p:nvGrpSpPr>
              <p:grpSpPr>
                <a:xfrm>
                  <a:off x="2712" y="1923"/>
                  <a:ext cx="578" cy="433"/>
                  <a:chOff x="2712" y="1923"/>
                  <a:chExt cx="578" cy="433"/>
                </a:xfrm>
              </p:grpSpPr>
              <p:sp>
                <p:nvSpPr>
                  <p:cNvPr id="451" name="Google Shape;451;p22"/>
                  <p:cNvSpPr/>
                  <p:nvPr/>
                </p:nvSpPr>
                <p:spPr>
                  <a:xfrm>
                    <a:off x="3007" y="2207"/>
                    <a:ext cx="283" cy="149"/>
                  </a:xfrm>
                  <a:prstGeom prst="rect">
                    <a:avLst/>
                  </a:prstGeom>
                  <a:solidFill>
                    <a:srgbClr val="00E4A8"/>
                  </a:solidFill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52" name="Google Shape;452;p22"/>
                  <p:cNvSpPr/>
                  <p:nvPr/>
                </p:nvSpPr>
                <p:spPr>
                  <a:xfrm>
                    <a:off x="2742" y="1955"/>
                    <a:ext cx="40" cy="392"/>
                  </a:xfrm>
                  <a:prstGeom prst="rect">
                    <a:avLst/>
                  </a:prstGeom>
                  <a:solidFill>
                    <a:srgbClr val="00E4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53" name="Google Shape;453;p22"/>
                  <p:cNvSpPr/>
                  <p:nvPr/>
                </p:nvSpPr>
                <p:spPr>
                  <a:xfrm>
                    <a:off x="2712" y="1923"/>
                    <a:ext cx="48" cy="408"/>
                  </a:xfrm>
                  <a:prstGeom prst="rect">
                    <a:avLst/>
                  </a:prstGeom>
                  <a:solidFill>
                    <a:srgbClr val="00E4A8"/>
                  </a:solidFill>
                  <a:ln cap="sq" cmpd="sng" w="9525">
                    <a:solidFill>
                      <a:srgbClr val="00E4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54" name="Google Shape;454;p22"/>
                  <p:cNvSpPr/>
                  <p:nvPr/>
                </p:nvSpPr>
                <p:spPr>
                  <a:xfrm>
                    <a:off x="2820" y="2018"/>
                    <a:ext cx="39" cy="336"/>
                  </a:xfrm>
                  <a:prstGeom prst="rect">
                    <a:avLst/>
                  </a:prstGeom>
                  <a:solidFill>
                    <a:srgbClr val="00E4A8"/>
                  </a:solidFill>
                  <a:ln cap="sq" cmpd="sng" w="9525">
                    <a:solidFill>
                      <a:srgbClr val="00E4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55" name="Google Shape;455;p22"/>
                  <p:cNvSpPr/>
                  <p:nvPr/>
                </p:nvSpPr>
                <p:spPr>
                  <a:xfrm>
                    <a:off x="2863" y="2057"/>
                    <a:ext cx="39" cy="297"/>
                  </a:xfrm>
                  <a:prstGeom prst="rect">
                    <a:avLst/>
                  </a:prstGeom>
                  <a:solidFill>
                    <a:srgbClr val="00E4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456" name="Google Shape;456;p22"/>
                <p:cNvGrpSpPr/>
                <p:nvPr/>
              </p:nvGrpSpPr>
              <p:grpSpPr>
                <a:xfrm>
                  <a:off x="1200" y="1392"/>
                  <a:ext cx="3407" cy="1295"/>
                  <a:chOff x="1200" y="1392"/>
                  <a:chExt cx="3407" cy="1295"/>
                </a:xfrm>
              </p:grpSpPr>
              <p:grpSp>
                <p:nvGrpSpPr>
                  <p:cNvPr id="457" name="Google Shape;457;p22"/>
                  <p:cNvGrpSpPr/>
                  <p:nvPr/>
                </p:nvGrpSpPr>
                <p:grpSpPr>
                  <a:xfrm>
                    <a:off x="1200" y="1392"/>
                    <a:ext cx="3407" cy="1295"/>
                    <a:chOff x="1200" y="1392"/>
                    <a:chExt cx="3407" cy="1295"/>
                  </a:xfrm>
                </p:grpSpPr>
                <p:grpSp>
                  <p:nvGrpSpPr>
                    <p:cNvPr id="458" name="Google Shape;458;p22"/>
                    <p:cNvGrpSpPr/>
                    <p:nvPr/>
                  </p:nvGrpSpPr>
                  <p:grpSpPr>
                    <a:xfrm>
                      <a:off x="1200" y="1392"/>
                      <a:ext cx="3407" cy="1295"/>
                      <a:chOff x="1200" y="1392"/>
                      <a:chExt cx="3407" cy="1295"/>
                    </a:xfrm>
                  </p:grpSpPr>
                  <p:grpSp>
                    <p:nvGrpSpPr>
                      <p:cNvPr id="459" name="Google Shape;459;p22"/>
                      <p:cNvGrpSpPr/>
                      <p:nvPr/>
                    </p:nvGrpSpPr>
                    <p:grpSpPr>
                      <a:xfrm>
                        <a:off x="1200" y="1392"/>
                        <a:ext cx="3407" cy="1295"/>
                        <a:chOff x="1200" y="1392"/>
                        <a:chExt cx="3407" cy="1295"/>
                      </a:xfrm>
                    </p:grpSpPr>
                    <p:cxnSp>
                      <p:nvCxnSpPr>
                        <p:cNvPr id="460" name="Google Shape;460;p22"/>
                        <p:cNvCxnSpPr/>
                        <p:nvPr/>
                      </p:nvCxnSpPr>
                      <p:spPr>
                        <a:xfrm>
                          <a:off x="2700" y="1392"/>
                          <a:ext cx="0" cy="1295"/>
                        </a:xfrm>
                        <a:prstGeom prst="straightConnector1">
                          <a:avLst/>
                        </a:prstGeom>
                        <a:noFill/>
                        <a:ln cap="sq" cmpd="sng" w="9525">
                          <a:solidFill>
                            <a:srgbClr val="000000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61" name="Google Shape;461;p22"/>
                        <p:cNvCxnSpPr/>
                        <p:nvPr/>
                      </p:nvCxnSpPr>
                      <p:spPr>
                        <a:xfrm>
                          <a:off x="1200" y="2359"/>
                          <a:ext cx="3084" cy="0"/>
                        </a:xfrm>
                        <a:prstGeom prst="straightConnector1">
                          <a:avLst/>
                        </a:prstGeom>
                        <a:noFill/>
                        <a:ln cap="sq" cmpd="sng" w="9525">
                          <a:solidFill>
                            <a:srgbClr val="000000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sp>
                      <p:nvSpPr>
                        <p:cNvPr id="462" name="Google Shape;462;p22"/>
                        <p:cNvSpPr txBox="1"/>
                        <p:nvPr/>
                      </p:nvSpPr>
                      <p:spPr>
                        <a:xfrm>
                          <a:off x="4307" y="2328"/>
                          <a:ext cx="300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6800" lIns="90000" spcFirstLastPara="1" rIns="90000" wrap="square" tIns="46800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2000"/>
                            <a:buFont typeface="Times New Roman"/>
                            <a:buNone/>
                          </a:pPr>
                          <a:r>
                            <a:rPr b="1" i="1" lang="en-US" sz="2000" u="none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x</a:t>
                          </a:r>
                          <a:endParaRPr/>
                        </a:p>
                      </p:txBody>
                    </p:sp>
                    <p:sp>
                      <p:nvSpPr>
                        <p:cNvPr id="463" name="Google Shape;463;p22"/>
                        <p:cNvSpPr txBox="1"/>
                        <p:nvPr/>
                      </p:nvSpPr>
                      <p:spPr>
                        <a:xfrm>
                          <a:off x="2807" y="1392"/>
                          <a:ext cx="506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6800" lIns="90000" spcFirstLastPara="1" rIns="90000" wrap="square" tIns="46800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2000"/>
                            <a:buFont typeface="Times New Roman"/>
                            <a:buNone/>
                          </a:pPr>
                          <a:r>
                            <a:rPr b="1" i="1" lang="en-US" sz="2000" u="none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p(x)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464" name="Google Shape;464;p22"/>
                      <p:cNvSpPr txBox="1"/>
                      <p:nvPr/>
                    </p:nvSpPr>
                    <p:spPr>
                      <a:xfrm>
                        <a:off x="2485" y="1796"/>
                        <a:ext cx="85" cy="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0" lIns="0" spcFirstLastPara="1" rIns="0" wrap="square" tIns="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000"/>
                          <a:buFont typeface="Times New Roman"/>
                          <a:buNone/>
                        </a:pPr>
                        <a:r>
                          <a:rPr b="1" i="0" lang="en-US" sz="2000" u="none">
                            <a:solidFill>
                              <a:srgbClr val="000000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a:t>1</a:t>
                        </a:r>
                        <a:endParaRPr/>
                      </a:p>
                    </p:txBody>
                  </p:sp>
                </p:grpSp>
                <p:sp>
                  <p:nvSpPr>
                    <p:cNvPr id="465" name="Google Shape;465;p22"/>
                    <p:cNvSpPr/>
                    <p:nvPr/>
                  </p:nvSpPr>
                  <p:spPr>
                    <a:xfrm>
                      <a:off x="3007" y="2109"/>
                      <a:ext cx="283" cy="101"/>
                    </a:xfrm>
                    <a:prstGeom prst="rtTriangle">
                      <a:avLst/>
                    </a:prstGeom>
                    <a:solidFill>
                      <a:srgbClr val="00E4A8"/>
                    </a:solidFill>
                    <a:ln cap="sq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466" name="Google Shape;466;p22"/>
                    <p:cNvSpPr/>
                    <p:nvPr/>
                  </p:nvSpPr>
                  <p:spPr>
                    <a:xfrm flipH="1">
                      <a:off x="2709" y="1904"/>
                      <a:ext cx="40" cy="450"/>
                    </a:xfrm>
                    <a:prstGeom prst="rect">
                      <a:avLst/>
                    </a:prstGeom>
                    <a:solidFill>
                      <a:srgbClr val="00E4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467" name="Google Shape;467;p22"/>
                    <p:cNvSpPr/>
                    <p:nvPr/>
                  </p:nvSpPr>
                  <p:spPr>
                    <a:xfrm>
                      <a:off x="2706" y="2182"/>
                      <a:ext cx="584" cy="180"/>
                    </a:xfrm>
                    <a:prstGeom prst="rect">
                      <a:avLst/>
                    </a:prstGeom>
                    <a:solidFill>
                      <a:srgbClr val="00E4A8"/>
                    </a:solidFill>
                    <a:ln cap="sq" cmpd="sng" w="9525">
                      <a:solidFill>
                        <a:srgbClr val="00E4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468" name="Google Shape;468;p22"/>
                    <p:cNvSpPr/>
                    <p:nvPr/>
                  </p:nvSpPr>
                  <p:spPr>
                    <a:xfrm>
                      <a:off x="2777" y="2010"/>
                      <a:ext cx="39" cy="344"/>
                    </a:xfrm>
                    <a:prstGeom prst="rect">
                      <a:avLst/>
                    </a:prstGeom>
                    <a:solidFill>
                      <a:srgbClr val="00E4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469" name="Google Shape;469;p22"/>
                    <p:cNvSpPr/>
                    <p:nvPr/>
                  </p:nvSpPr>
                  <p:spPr>
                    <a:xfrm>
                      <a:off x="2914" y="2081"/>
                      <a:ext cx="40" cy="273"/>
                    </a:xfrm>
                    <a:prstGeom prst="rect">
                      <a:avLst/>
                    </a:prstGeom>
                    <a:solidFill>
                      <a:srgbClr val="00E4A8"/>
                    </a:solidFill>
                    <a:ln cap="sq" cmpd="sng" w="9525">
                      <a:solidFill>
                        <a:srgbClr val="00E4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</p:grpSp>
              <p:sp>
                <p:nvSpPr>
                  <p:cNvPr id="470" name="Google Shape;470;p22"/>
                  <p:cNvSpPr/>
                  <p:nvPr/>
                </p:nvSpPr>
                <p:spPr>
                  <a:xfrm>
                    <a:off x="2966" y="2112"/>
                    <a:ext cx="40" cy="235"/>
                  </a:xfrm>
                  <a:prstGeom prst="rect">
                    <a:avLst/>
                  </a:prstGeom>
                  <a:solidFill>
                    <a:srgbClr val="00E4A8"/>
                  </a:solidFill>
                  <a:ln cap="sq" cmpd="sng" w="9525">
                    <a:solidFill>
                      <a:srgbClr val="00E4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sp>
          <p:nvSpPr>
            <p:cNvPr id="471" name="Google Shape;471;p22"/>
            <p:cNvSpPr/>
            <p:nvPr/>
          </p:nvSpPr>
          <p:spPr>
            <a:xfrm>
              <a:off x="2736" y="2160"/>
              <a:ext cx="383" cy="143"/>
            </a:xfrm>
            <a:prstGeom prst="rect">
              <a:avLst/>
            </a:prstGeom>
            <a:solidFill>
              <a:srgbClr val="00E4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72" name="Google Shape;472;p22"/>
          <p:cNvGrpSpPr/>
          <p:nvPr/>
        </p:nvGrpSpPr>
        <p:grpSpPr>
          <a:xfrm>
            <a:off x="1600200" y="4953000"/>
            <a:ext cx="6627812" cy="760412"/>
            <a:chOff x="1008" y="3120"/>
            <a:chExt cx="4175" cy="479"/>
          </a:xfrm>
        </p:grpSpPr>
        <p:sp>
          <p:nvSpPr>
            <p:cNvPr id="473" name="Google Shape;473;p22"/>
            <p:cNvSpPr/>
            <p:nvPr/>
          </p:nvSpPr>
          <p:spPr>
            <a:xfrm>
              <a:off x="1008" y="3120"/>
              <a:ext cx="4175" cy="479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474" name="Google Shape;474;p22"/>
            <p:cNvGraphicFramePr/>
            <p:nvPr/>
          </p:nvGraphicFramePr>
          <p:xfrm>
            <a:off x="1104" y="3120"/>
            <a:ext cx="3839" cy="443"/>
          </p:xfrm>
          <a:graphic>
            <a:graphicData uri="http://schemas.openxmlformats.org/presentationml/2006/ole">
              <mc:AlternateContent>
                <mc:Choice Requires="v">
                  <p:oleObj r:id="rId4" imgH="443" imgW="3839" spid="_x0000_s1">
                    <p:embed/>
                  </p:oleObj>
                </mc:Choice>
                <mc:Fallback>
                  <p:oleObj r:id="rId5" imgH="443" imgW="3839">
                    <p:embed/>
                    <p:pic>
                      <p:nvPicPr>
                        <p:cNvPr id="474" name="Google Shape;474;p22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104" y="3120"/>
                          <a:ext cx="3839" cy="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Example 2: Uniform distribution</a:t>
            </a:r>
            <a:endParaRPr/>
          </a:p>
        </p:txBody>
      </p:sp>
      <p:sp>
        <p:nvSpPr>
          <p:cNvPr id="480" name="Google Shape;480;p23"/>
          <p:cNvSpPr txBox="1"/>
          <p:nvPr/>
        </p:nvSpPr>
        <p:spPr>
          <a:xfrm>
            <a:off x="304800" y="1905000"/>
            <a:ext cx="8839200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uniform distribution: all values are equally likely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uniform distribution: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f(x)=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,  for 1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endParaRPr/>
          </a:p>
        </p:txBody>
      </p:sp>
      <p:grpSp>
        <p:nvGrpSpPr>
          <p:cNvPr id="481" name="Google Shape;481;p23"/>
          <p:cNvGrpSpPr/>
          <p:nvPr/>
        </p:nvGrpSpPr>
        <p:grpSpPr>
          <a:xfrm>
            <a:off x="2743200" y="3048000"/>
            <a:ext cx="4418012" cy="1903412"/>
            <a:chOff x="1728" y="1920"/>
            <a:chExt cx="2783" cy="1199"/>
          </a:xfrm>
        </p:grpSpPr>
        <p:sp>
          <p:nvSpPr>
            <p:cNvPr id="482" name="Google Shape;482;p23"/>
            <p:cNvSpPr/>
            <p:nvPr/>
          </p:nvSpPr>
          <p:spPr>
            <a:xfrm>
              <a:off x="2976" y="2362"/>
              <a:ext cx="684" cy="469"/>
            </a:xfrm>
            <a:prstGeom prst="rect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83" name="Google Shape;483;p23"/>
            <p:cNvGrpSpPr/>
            <p:nvPr/>
          </p:nvGrpSpPr>
          <p:grpSpPr>
            <a:xfrm>
              <a:off x="1728" y="1920"/>
              <a:ext cx="2783" cy="1199"/>
              <a:chOff x="1728" y="1920"/>
              <a:chExt cx="2783" cy="1199"/>
            </a:xfrm>
          </p:grpSpPr>
          <p:grpSp>
            <p:nvGrpSpPr>
              <p:cNvPr id="484" name="Google Shape;484;p23"/>
              <p:cNvGrpSpPr/>
              <p:nvPr/>
            </p:nvGrpSpPr>
            <p:grpSpPr>
              <a:xfrm>
                <a:off x="1728" y="1920"/>
                <a:ext cx="2783" cy="1199"/>
                <a:chOff x="1728" y="1920"/>
                <a:chExt cx="2783" cy="1199"/>
              </a:xfrm>
            </p:grpSpPr>
            <p:cxnSp>
              <p:nvCxnSpPr>
                <p:cNvPr id="485" name="Google Shape;485;p23"/>
                <p:cNvCxnSpPr/>
                <p:nvPr/>
              </p:nvCxnSpPr>
              <p:spPr>
                <a:xfrm>
                  <a:off x="2976" y="1920"/>
                  <a:ext cx="0" cy="1199"/>
                </a:xfrm>
                <a:prstGeom prst="straightConnector1">
                  <a:avLst/>
                </a:prstGeom>
                <a:noFill/>
                <a:ln cap="sq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86" name="Google Shape;486;p23"/>
                <p:cNvCxnSpPr/>
                <p:nvPr/>
              </p:nvCxnSpPr>
              <p:spPr>
                <a:xfrm>
                  <a:off x="1728" y="2832"/>
                  <a:ext cx="2519" cy="0"/>
                </a:xfrm>
                <a:prstGeom prst="straightConnector1">
                  <a:avLst/>
                </a:prstGeom>
                <a:noFill/>
                <a:ln cap="sq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sp>
              <p:nvSpPr>
                <p:cNvPr id="487" name="Google Shape;487;p23"/>
                <p:cNvSpPr txBox="1"/>
                <p:nvPr/>
              </p:nvSpPr>
              <p:spPr>
                <a:xfrm>
                  <a:off x="4266" y="2786"/>
                  <a:ext cx="245" cy="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80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Times New Roman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x</a:t>
                  </a:r>
                  <a:endParaRPr/>
                </a:p>
              </p:txBody>
            </p:sp>
            <p:sp>
              <p:nvSpPr>
                <p:cNvPr id="488" name="Google Shape;488;p23"/>
                <p:cNvSpPr txBox="1"/>
                <p:nvPr/>
              </p:nvSpPr>
              <p:spPr>
                <a:xfrm>
                  <a:off x="3041" y="1920"/>
                  <a:ext cx="413" cy="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80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Times New Roman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p(x)</a:t>
                  </a:r>
                  <a:endParaRPr/>
                </a:p>
              </p:txBody>
            </p:sp>
          </p:grpSp>
          <p:sp>
            <p:nvSpPr>
              <p:cNvPr id="489" name="Google Shape;489;p23"/>
              <p:cNvSpPr txBox="1"/>
              <p:nvPr/>
            </p:nvSpPr>
            <p:spPr>
              <a:xfrm>
                <a:off x="2778" y="2294"/>
                <a:ext cx="69" cy="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/>
              </a:p>
            </p:txBody>
          </p:sp>
        </p:grpSp>
        <p:sp>
          <p:nvSpPr>
            <p:cNvPr id="490" name="Google Shape;490;p23"/>
            <p:cNvSpPr txBox="1"/>
            <p:nvPr/>
          </p:nvSpPr>
          <p:spPr>
            <a:xfrm>
              <a:off x="3634" y="2951"/>
              <a:ext cx="70" cy="1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</p:grpSp>
      <p:grpSp>
        <p:nvGrpSpPr>
          <p:cNvPr id="491" name="Google Shape;491;p23"/>
          <p:cNvGrpSpPr/>
          <p:nvPr/>
        </p:nvGrpSpPr>
        <p:grpSpPr>
          <a:xfrm>
            <a:off x="0" y="5257800"/>
            <a:ext cx="9142412" cy="1598612"/>
            <a:chOff x="0" y="3312"/>
            <a:chExt cx="5759" cy="1007"/>
          </a:xfrm>
        </p:grpSpPr>
        <p:sp>
          <p:nvSpPr>
            <p:cNvPr id="492" name="Google Shape;492;p23"/>
            <p:cNvSpPr/>
            <p:nvPr/>
          </p:nvSpPr>
          <p:spPr>
            <a:xfrm>
              <a:off x="3456" y="3600"/>
              <a:ext cx="1919" cy="719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3" name="Google Shape;493;p23"/>
            <p:cNvSpPr txBox="1"/>
            <p:nvPr/>
          </p:nvSpPr>
          <p:spPr>
            <a:xfrm>
              <a:off x="0" y="3312"/>
              <a:ext cx="5759" cy="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 New Roman"/>
                <a:buNone/>
              </a:pPr>
              <a:r>
                <a:rPr b="0" i="0" lang="en-US" sz="28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 can see it’s a probability distribution because it integrates to 1 (the area under the curve is 1):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mo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 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endParaRPr/>
            </a:p>
          </p:txBody>
        </p:sp>
        <p:graphicFrame>
          <p:nvGraphicFramePr>
            <p:cNvPr id="494" name="Google Shape;494;p23"/>
            <p:cNvGraphicFramePr/>
            <p:nvPr/>
          </p:nvGraphicFramePr>
          <p:xfrm>
            <a:off x="3792" y="3756"/>
            <a:ext cx="1391" cy="563"/>
          </p:xfrm>
          <a:graphic>
            <a:graphicData uri="http://schemas.openxmlformats.org/presentationml/2006/ole">
              <mc:AlternateContent>
                <mc:Choice Requires="v">
                  <p:oleObj r:id="rId4" imgH="563" imgW="1391" spid="_x0000_s1">
                    <p:embed/>
                  </p:oleObj>
                </mc:Choice>
                <mc:Fallback>
                  <p:oleObj r:id="rId5" imgH="563" imgW="1391">
                    <p:embed/>
                    <p:pic>
                      <p:nvPicPr>
                        <p:cNvPr id="494" name="Google Shape;494;p23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792" y="3756"/>
                          <a:ext cx="1391" cy="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Example: Uniform distribution</a:t>
            </a:r>
            <a:endParaRPr/>
          </a:p>
        </p:txBody>
      </p:sp>
      <p:sp>
        <p:nvSpPr>
          <p:cNvPr id="500" name="Google Shape;500;p24"/>
          <p:cNvSpPr/>
          <p:nvPr/>
        </p:nvSpPr>
        <p:spPr>
          <a:xfrm>
            <a:off x="1371600" y="5791200"/>
            <a:ext cx="57912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24"/>
          <p:cNvSpPr txBox="1"/>
          <p:nvPr/>
        </p:nvSpPr>
        <p:spPr>
          <a:xfrm>
            <a:off x="304800" y="1905000"/>
            <a:ext cx="88392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mo"/>
              <a:buNone/>
            </a:pPr>
            <a:r>
              <a:rPr b="0" i="0" lang="en-US" sz="2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 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What’s the probability that </a:t>
            </a:r>
            <a:r>
              <a:rPr b="0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between ¼ and ½? </a:t>
            </a:r>
            <a:endParaRPr/>
          </a:p>
        </p:txBody>
      </p:sp>
      <p:grpSp>
        <p:nvGrpSpPr>
          <p:cNvPr id="502" name="Google Shape;502;p24"/>
          <p:cNvGrpSpPr/>
          <p:nvPr/>
        </p:nvGrpSpPr>
        <p:grpSpPr>
          <a:xfrm>
            <a:off x="1828800" y="3124200"/>
            <a:ext cx="4951412" cy="2360612"/>
            <a:chOff x="1152" y="1968"/>
            <a:chExt cx="3119" cy="1487"/>
          </a:xfrm>
        </p:grpSpPr>
        <p:grpSp>
          <p:nvGrpSpPr>
            <p:cNvPr id="503" name="Google Shape;503;p24"/>
            <p:cNvGrpSpPr/>
            <p:nvPr/>
          </p:nvGrpSpPr>
          <p:grpSpPr>
            <a:xfrm>
              <a:off x="1152" y="1968"/>
              <a:ext cx="3119" cy="1487"/>
              <a:chOff x="1152" y="1968"/>
              <a:chExt cx="3119" cy="1487"/>
            </a:xfrm>
          </p:grpSpPr>
          <p:grpSp>
            <p:nvGrpSpPr>
              <p:cNvPr id="504" name="Google Shape;504;p24"/>
              <p:cNvGrpSpPr/>
              <p:nvPr/>
            </p:nvGrpSpPr>
            <p:grpSpPr>
              <a:xfrm>
                <a:off x="1152" y="1968"/>
                <a:ext cx="3119" cy="1487"/>
                <a:chOff x="1152" y="1968"/>
                <a:chExt cx="3119" cy="1487"/>
              </a:xfrm>
            </p:grpSpPr>
            <p:grpSp>
              <p:nvGrpSpPr>
                <p:cNvPr id="505" name="Google Shape;505;p24"/>
                <p:cNvGrpSpPr/>
                <p:nvPr/>
              </p:nvGrpSpPr>
              <p:grpSpPr>
                <a:xfrm>
                  <a:off x="1152" y="1968"/>
                  <a:ext cx="3119" cy="1487"/>
                  <a:chOff x="1152" y="1968"/>
                  <a:chExt cx="3119" cy="1487"/>
                </a:xfrm>
              </p:grpSpPr>
              <p:cxnSp>
                <p:nvCxnSpPr>
                  <p:cNvPr id="506" name="Google Shape;506;p24"/>
                  <p:cNvCxnSpPr/>
                  <p:nvPr/>
                </p:nvCxnSpPr>
                <p:spPr>
                  <a:xfrm>
                    <a:off x="2525" y="1968"/>
                    <a:ext cx="0" cy="1487"/>
                  </a:xfrm>
                  <a:prstGeom prst="straightConnector1">
                    <a:avLst/>
                  </a:prstGeom>
                  <a:noFill/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07" name="Google Shape;507;p24"/>
                  <p:cNvCxnSpPr/>
                  <p:nvPr/>
                </p:nvCxnSpPr>
                <p:spPr>
                  <a:xfrm>
                    <a:off x="1152" y="3078"/>
                    <a:ext cx="2824" cy="0"/>
                  </a:xfrm>
                  <a:prstGeom prst="straightConnector1">
                    <a:avLst/>
                  </a:prstGeom>
                  <a:noFill/>
                  <a:ln cap="sq" cmpd="sng" w="9525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508" name="Google Shape;508;p24"/>
                  <p:cNvSpPr txBox="1"/>
                  <p:nvPr/>
                </p:nvSpPr>
                <p:spPr>
                  <a:xfrm>
                    <a:off x="3997" y="3042"/>
                    <a:ext cx="274" cy="2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6800" lIns="90000" spcFirstLastPara="1" rIns="90000" wrap="square" tIns="468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1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x</a:t>
                    </a:r>
                    <a:endParaRPr/>
                  </a:p>
                </p:txBody>
              </p:sp>
              <p:sp>
                <p:nvSpPr>
                  <p:cNvPr id="509" name="Google Shape;509;p24"/>
                  <p:cNvSpPr txBox="1"/>
                  <p:nvPr/>
                </p:nvSpPr>
                <p:spPr>
                  <a:xfrm>
                    <a:off x="2623" y="1968"/>
                    <a:ext cx="464" cy="2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6800" lIns="90000" spcFirstLastPara="1" rIns="90000" wrap="square" tIns="468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Times New Roman"/>
                      <a:buNone/>
                    </a:pPr>
                    <a:r>
                      <a:rPr b="1" i="1" lang="en-US" sz="200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p(x)</a:t>
                    </a:r>
                    <a:endParaRPr/>
                  </a:p>
                </p:txBody>
              </p:sp>
            </p:grpSp>
            <p:sp>
              <p:nvSpPr>
                <p:cNvPr id="510" name="Google Shape;510;p24"/>
                <p:cNvSpPr txBox="1"/>
                <p:nvPr/>
              </p:nvSpPr>
              <p:spPr>
                <a:xfrm>
                  <a:off x="2329" y="2432"/>
                  <a:ext cx="77" cy="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Times New Roman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/>
                </a:p>
              </p:txBody>
            </p:sp>
          </p:grpSp>
          <p:sp>
            <p:nvSpPr>
              <p:cNvPr id="511" name="Google Shape;511;p24"/>
              <p:cNvSpPr txBox="1"/>
              <p:nvPr/>
            </p:nvSpPr>
            <p:spPr>
              <a:xfrm>
                <a:off x="3312" y="3168"/>
                <a:ext cx="78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/>
              </a:p>
            </p:txBody>
          </p:sp>
          <p:sp>
            <p:nvSpPr>
              <p:cNvPr id="512" name="Google Shape;512;p24"/>
              <p:cNvSpPr/>
              <p:nvPr/>
            </p:nvSpPr>
            <p:spPr>
              <a:xfrm>
                <a:off x="2523" y="2516"/>
                <a:ext cx="794" cy="560"/>
              </a:xfrm>
              <a:prstGeom prst="rect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513" name="Google Shape;513;p24"/>
            <p:cNvSpPr/>
            <p:nvPr/>
          </p:nvSpPr>
          <p:spPr>
            <a:xfrm>
              <a:off x="2743" y="2517"/>
              <a:ext cx="184" cy="554"/>
            </a:xfrm>
            <a:prstGeom prst="rect">
              <a:avLst/>
            </a:prstGeom>
            <a:solidFill>
              <a:srgbClr val="00E4A8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4" name="Google Shape;514;p24"/>
            <p:cNvSpPr txBox="1"/>
            <p:nvPr/>
          </p:nvSpPr>
          <p:spPr>
            <a:xfrm>
              <a:off x="2688" y="3096"/>
              <a:ext cx="172" cy="2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¼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5" name="Google Shape;515;p24"/>
            <p:cNvSpPr txBox="1"/>
            <p:nvPr/>
          </p:nvSpPr>
          <p:spPr>
            <a:xfrm>
              <a:off x="2893" y="3105"/>
              <a:ext cx="172" cy="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½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16" name="Google Shape;516;p24"/>
          <p:cNvSpPr txBox="1"/>
          <p:nvPr/>
        </p:nvSpPr>
        <p:spPr>
          <a:xfrm>
            <a:off x="1066800" y="6096000"/>
            <a:ext cx="91440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P(½ </a:t>
            </a:r>
            <a:r>
              <a:rPr b="1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b="1" i="1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¼ )= ¼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Practice Problem </a:t>
            </a:r>
            <a:endParaRPr/>
          </a:p>
        </p:txBody>
      </p:sp>
      <p:sp>
        <p:nvSpPr>
          <p:cNvPr id="522" name="Google Shape;522;p25"/>
          <p:cNvSpPr/>
          <p:nvPr/>
        </p:nvSpPr>
        <p:spPr>
          <a:xfrm>
            <a:off x="1371600" y="5791200"/>
            <a:ext cx="57912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25"/>
          <p:cNvSpPr txBox="1"/>
          <p:nvPr/>
        </p:nvSpPr>
        <p:spPr>
          <a:xfrm>
            <a:off x="304800" y="2133600"/>
            <a:ext cx="88392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4. 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Suppose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that survival drops off rapidly in the year following diagnosis of a certain type of advanced cancer.  Suppose that the length of survival (or time-to-death) is a random variable that approximately follows an exponential distribution with parameter 2 (makes it a steeper drop off): </a:t>
            </a:r>
            <a:endParaRPr/>
          </a:p>
        </p:txBody>
      </p:sp>
      <p:sp>
        <p:nvSpPr>
          <p:cNvPr id="524" name="Google Shape;524;p25"/>
          <p:cNvSpPr/>
          <p:nvPr/>
        </p:nvSpPr>
        <p:spPr>
          <a:xfrm>
            <a:off x="3481387" y="2971800"/>
            <a:ext cx="9144000" cy="1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25" name="Google Shape;525;p25"/>
          <p:cNvGrpSpPr/>
          <p:nvPr/>
        </p:nvGrpSpPr>
        <p:grpSpPr>
          <a:xfrm>
            <a:off x="1752600" y="3810000"/>
            <a:ext cx="4951412" cy="1766887"/>
            <a:chOff x="1104" y="2400"/>
            <a:chExt cx="3119" cy="1113"/>
          </a:xfrm>
        </p:grpSpPr>
        <p:sp>
          <p:nvSpPr>
            <p:cNvPr id="526" name="Google Shape;526;p25"/>
            <p:cNvSpPr/>
            <p:nvPr/>
          </p:nvSpPr>
          <p:spPr>
            <a:xfrm>
              <a:off x="1104" y="2400"/>
              <a:ext cx="3119" cy="1103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527" name="Google Shape;527;p25"/>
            <p:cNvGraphicFramePr/>
            <p:nvPr/>
          </p:nvGraphicFramePr>
          <p:xfrm>
            <a:off x="1366" y="2448"/>
            <a:ext cx="2498" cy="1065"/>
          </p:xfrm>
          <a:graphic>
            <a:graphicData uri="http://schemas.openxmlformats.org/presentationml/2006/ole">
              <mc:AlternateContent>
                <mc:Choice Requires="v">
                  <p:oleObj r:id="rId4" imgH="1065" imgW="2498" spid="_x0000_s1">
                    <p:embed/>
                  </p:oleObj>
                </mc:Choice>
                <mc:Fallback>
                  <p:oleObj r:id="rId5" imgH="1065" imgW="2498">
                    <p:embed/>
                    <p:pic>
                      <p:nvPicPr>
                        <p:cNvPr id="527" name="Google Shape;527;p25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366" y="2448"/>
                          <a:ext cx="2498" cy="10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8" name="Google Shape;528;p25"/>
          <p:cNvSpPr txBox="1"/>
          <p:nvPr/>
        </p:nvSpPr>
        <p:spPr>
          <a:xfrm>
            <a:off x="304800" y="5867400"/>
            <a:ext cx="9144000" cy="779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What’s the probability that a person who is diagnosed with this illness survives a year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Answer </a:t>
            </a:r>
            <a:endParaRPr/>
          </a:p>
        </p:txBody>
      </p:sp>
      <p:sp>
        <p:nvSpPr>
          <p:cNvPr id="534" name="Google Shape;534;p26"/>
          <p:cNvSpPr/>
          <p:nvPr/>
        </p:nvSpPr>
        <p:spPr>
          <a:xfrm>
            <a:off x="1371600" y="5791200"/>
            <a:ext cx="57912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26"/>
          <p:cNvSpPr txBox="1"/>
          <p:nvPr/>
        </p:nvSpPr>
        <p:spPr>
          <a:xfrm>
            <a:off x="304800" y="2209800"/>
            <a:ext cx="8839200" cy="2363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probability of dying within 1 year can be calculated using the cumulative distribution function: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1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26"/>
          <p:cNvSpPr/>
          <p:nvPr/>
        </p:nvSpPr>
        <p:spPr>
          <a:xfrm>
            <a:off x="3481387" y="2971800"/>
            <a:ext cx="9144000" cy="1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7" name="Google Shape;537;p26"/>
          <p:cNvSpPr txBox="1"/>
          <p:nvPr/>
        </p:nvSpPr>
        <p:spPr>
          <a:xfrm>
            <a:off x="304800" y="4572000"/>
            <a:ext cx="9144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chance of surviving past 1 year is: 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P(x≥1) = 1 – P(x≤1)</a:t>
            </a:r>
            <a:endParaRPr/>
          </a:p>
        </p:txBody>
      </p:sp>
      <p:grpSp>
        <p:nvGrpSpPr>
          <p:cNvPr id="538" name="Google Shape;538;p26"/>
          <p:cNvGrpSpPr/>
          <p:nvPr/>
        </p:nvGrpSpPr>
        <p:grpSpPr>
          <a:xfrm>
            <a:off x="3124200" y="3505200"/>
            <a:ext cx="3960812" cy="777875"/>
            <a:chOff x="1968" y="2208"/>
            <a:chExt cx="2495" cy="490"/>
          </a:xfrm>
        </p:grpSpPr>
        <p:sp>
          <p:nvSpPr>
            <p:cNvPr id="539" name="Google Shape;539;p26"/>
            <p:cNvSpPr/>
            <p:nvPr/>
          </p:nvSpPr>
          <p:spPr>
            <a:xfrm>
              <a:off x="1968" y="2208"/>
              <a:ext cx="2495" cy="479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540" name="Google Shape;540;p26"/>
            <p:cNvGraphicFramePr/>
            <p:nvPr/>
          </p:nvGraphicFramePr>
          <p:xfrm>
            <a:off x="2160" y="2256"/>
            <a:ext cx="2111" cy="442"/>
          </p:xfrm>
          <a:graphic>
            <a:graphicData uri="http://schemas.openxmlformats.org/presentationml/2006/ole">
              <mc:AlternateContent>
                <mc:Choice Requires="v">
                  <p:oleObj r:id="rId4" imgH="442" imgW="2111" spid="_x0000_s1">
                    <p:embed/>
                  </p:oleObj>
                </mc:Choice>
                <mc:Fallback>
                  <p:oleObj r:id="rId5" imgH="442" imgW="2111">
                    <p:embed/>
                    <p:pic>
                      <p:nvPicPr>
                        <p:cNvPr id="540" name="Google Shape;540;p26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160" y="2256"/>
                          <a:ext cx="2111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1" name="Google Shape;541;p26"/>
          <p:cNvGrpSpPr/>
          <p:nvPr/>
        </p:nvGrpSpPr>
        <p:grpSpPr>
          <a:xfrm>
            <a:off x="3200400" y="5334000"/>
            <a:ext cx="2741612" cy="531812"/>
            <a:chOff x="2016" y="3360"/>
            <a:chExt cx="1727" cy="335"/>
          </a:xfrm>
        </p:grpSpPr>
        <p:sp>
          <p:nvSpPr>
            <p:cNvPr id="542" name="Google Shape;542;p26"/>
            <p:cNvSpPr/>
            <p:nvPr/>
          </p:nvSpPr>
          <p:spPr>
            <a:xfrm>
              <a:off x="2016" y="3360"/>
              <a:ext cx="1727" cy="335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543" name="Google Shape;543;p26"/>
            <p:cNvGraphicFramePr/>
            <p:nvPr/>
          </p:nvGraphicFramePr>
          <p:xfrm>
            <a:off x="2160" y="3408"/>
            <a:ext cx="1343" cy="262"/>
          </p:xfrm>
          <a:graphic>
            <a:graphicData uri="http://schemas.openxmlformats.org/presentationml/2006/ole">
              <mc:AlternateContent>
                <mc:Choice Requires="v">
                  <p:oleObj r:id="rId7" imgH="262" imgW="1343" spid="_x0000_s2">
                    <p:embed/>
                  </p:oleObj>
                </mc:Choice>
                <mc:Fallback>
                  <p:oleObj r:id="rId8" imgH="262" imgW="1343">
                    <p:embed/>
                    <p:pic>
                      <p:nvPicPr>
                        <p:cNvPr id="543" name="Google Shape;543;p26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160" y="3408"/>
                          <a:ext cx="1343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4" name="Google Shape;544;p26"/>
          <p:cNvSpPr txBox="1"/>
          <p:nvPr/>
        </p:nvSpPr>
        <p:spPr>
          <a:xfrm>
            <a:off x="304800" y="2667000"/>
            <a:ext cx="6400800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Cumulative distribution function is: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7"/>
          <p:cNvSpPr txBox="1"/>
          <p:nvPr>
            <p:ph type="title"/>
          </p:nvPr>
        </p:nvSpPr>
        <p:spPr>
          <a:xfrm>
            <a:off x="1371600" y="609600"/>
            <a:ext cx="80010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r>
              <a:rPr b="1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Expected Value and Variance</a:t>
            </a:r>
            <a:br>
              <a:rPr b="1" i="0" lang="en-US" sz="4800" u="none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550" name="Google Shape;550;p2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All probability distributions are characterized by an expected value and a variance (standard deviation squared). 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8"/>
          <p:cNvSpPr txBox="1"/>
          <p:nvPr/>
        </p:nvSpPr>
        <p:spPr>
          <a:xfrm>
            <a:off x="914400" y="1066800"/>
            <a:ext cx="100584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182562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bell-curve (normal) distribution:</a:t>
            </a:r>
            <a:endParaRPr/>
          </a:p>
        </p:txBody>
      </p:sp>
      <p:grpSp>
        <p:nvGrpSpPr>
          <p:cNvPr id="556" name="Google Shape;556;p28"/>
          <p:cNvGrpSpPr/>
          <p:nvPr/>
        </p:nvGrpSpPr>
        <p:grpSpPr>
          <a:xfrm>
            <a:off x="2057400" y="2209800"/>
            <a:ext cx="3656012" cy="1979612"/>
            <a:chOff x="1296" y="1392"/>
            <a:chExt cx="2303" cy="1247"/>
          </a:xfrm>
        </p:grpSpPr>
        <p:pic>
          <p:nvPicPr>
            <p:cNvPr id="557" name="Google Shape;55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88" y="1392"/>
              <a:ext cx="2015" cy="1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p28"/>
            <p:cNvSpPr/>
            <p:nvPr/>
          </p:nvSpPr>
          <p:spPr>
            <a:xfrm>
              <a:off x="1296" y="2496"/>
              <a:ext cx="2303" cy="143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59" name="Google Shape;559;p28"/>
          <p:cNvGrpSpPr/>
          <p:nvPr/>
        </p:nvGrpSpPr>
        <p:grpSpPr>
          <a:xfrm>
            <a:off x="4271962" y="4122738"/>
            <a:ext cx="2584450" cy="1441449"/>
            <a:chOff x="2691" y="2597"/>
            <a:chExt cx="1628" cy="908"/>
          </a:xfrm>
        </p:grpSpPr>
        <p:sp>
          <p:nvSpPr>
            <p:cNvPr id="560" name="Google Shape;560;p28"/>
            <p:cNvSpPr txBox="1"/>
            <p:nvPr/>
          </p:nvSpPr>
          <p:spPr>
            <a:xfrm>
              <a:off x="2784" y="2688"/>
              <a:ext cx="1535" cy="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One standard deviation from the mean (</a:t>
              </a:r>
              <a:r>
                <a:rPr b="1" i="0" lang="en-US" sz="2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σ</a:t>
              </a:r>
              <a:r>
                <a:rPr b="1" i="0" lang="en-US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61" name="Google Shape;561;p28"/>
            <p:cNvCxnSpPr/>
            <p:nvPr/>
          </p:nvCxnSpPr>
          <p:spPr>
            <a:xfrm rot="10800000">
              <a:off x="2691" y="2597"/>
              <a:ext cx="0" cy="340"/>
            </a:xfrm>
            <a:prstGeom prst="straightConnector1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562" name="Google Shape;562;p28"/>
          <p:cNvGrpSpPr/>
          <p:nvPr/>
        </p:nvGrpSpPr>
        <p:grpSpPr>
          <a:xfrm>
            <a:off x="3124200" y="3960813"/>
            <a:ext cx="1363662" cy="1585913"/>
            <a:chOff x="1968" y="2495"/>
            <a:chExt cx="859" cy="999"/>
          </a:xfrm>
        </p:grpSpPr>
        <p:grpSp>
          <p:nvGrpSpPr>
            <p:cNvPr id="563" name="Google Shape;563;p28"/>
            <p:cNvGrpSpPr/>
            <p:nvPr/>
          </p:nvGrpSpPr>
          <p:grpSpPr>
            <a:xfrm>
              <a:off x="1968" y="2495"/>
              <a:ext cx="859" cy="999"/>
              <a:chOff x="1968" y="2495"/>
              <a:chExt cx="859" cy="999"/>
            </a:xfrm>
          </p:grpSpPr>
          <p:sp>
            <p:nvSpPr>
              <p:cNvPr id="564" name="Google Shape;564;p28"/>
              <p:cNvSpPr txBox="1"/>
              <p:nvPr/>
            </p:nvSpPr>
            <p:spPr>
              <a:xfrm>
                <a:off x="1968" y="2976"/>
                <a:ext cx="859" cy="5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Times New Roman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Mean (</a:t>
                </a:r>
                <a:r>
                  <a:rPr b="1" i="0" lang="en-US" sz="2000" u="non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μ</a:t>
                </a:r>
                <a:r>
                  <a:rPr b="1" i="0" lang="en-US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65" name="Google Shape;565;p28"/>
              <p:cNvCxnSpPr/>
              <p:nvPr/>
            </p:nvCxnSpPr>
            <p:spPr>
              <a:xfrm rot="10800000">
                <a:off x="2448" y="2495"/>
                <a:ext cx="0" cy="505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</p:grpSp>
        <p:cxnSp>
          <p:nvCxnSpPr>
            <p:cNvPr id="566" name="Google Shape;566;p28"/>
            <p:cNvCxnSpPr/>
            <p:nvPr/>
          </p:nvCxnSpPr>
          <p:spPr>
            <a:xfrm>
              <a:off x="2490" y="2858"/>
              <a:ext cx="200" cy="0"/>
            </a:xfrm>
            <a:prstGeom prst="straightConnector1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67" name="Google Shape;567;p28"/>
            <p:cNvCxnSpPr/>
            <p:nvPr/>
          </p:nvCxnSpPr>
          <p:spPr>
            <a:xfrm rot="10800000">
              <a:off x="2448" y="2558"/>
              <a:ext cx="0" cy="340"/>
            </a:xfrm>
            <a:prstGeom prst="straightConnector1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9"/>
          <p:cNvSpPr txBox="1"/>
          <p:nvPr>
            <p:ph type="title"/>
          </p:nvPr>
        </p:nvSpPr>
        <p:spPr>
          <a:xfrm>
            <a:off x="1143000" y="457200"/>
            <a:ext cx="9829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Expected value, or mean</a:t>
            </a:r>
            <a:endParaRPr/>
          </a:p>
        </p:txBody>
      </p:sp>
      <p:sp>
        <p:nvSpPr>
          <p:cNvPr id="573" name="Google Shape;573;p29"/>
          <p:cNvSpPr txBox="1"/>
          <p:nvPr>
            <p:ph idx="1" type="body"/>
          </p:nvPr>
        </p:nvSpPr>
        <p:spPr>
          <a:xfrm>
            <a:off x="381000" y="2209800"/>
            <a:ext cx="84582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we understand the underlying probability function of a certain phenomenon, then we can make informed decisions based on how we expect </a:t>
            </a: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to behave on-average over the long-run…(so called “frequentist” theory of probability).  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Expected value is just the weighted average or mean (µ) of random variable </a:t>
            </a: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  Imagine placing the masses </a:t>
            </a: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at the points </a:t>
            </a: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on a beam; the balance point of the beam is the expected value of </a:t>
            </a: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Example: expected value</a:t>
            </a:r>
            <a:endParaRPr/>
          </a:p>
        </p:txBody>
      </p:sp>
      <p:sp>
        <p:nvSpPr>
          <p:cNvPr id="579" name="Google Shape;579;p30"/>
          <p:cNvSpPr txBox="1"/>
          <p:nvPr>
            <p:ph idx="1" type="body"/>
          </p:nvPr>
        </p:nvSpPr>
        <p:spPr>
          <a:xfrm>
            <a:off x="609600" y="2514600"/>
            <a:ext cx="777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Recall the following probability distribution of ship arrivals:</a:t>
            </a:r>
            <a:endParaRPr/>
          </a:p>
        </p:txBody>
      </p:sp>
      <p:grpSp>
        <p:nvGrpSpPr>
          <p:cNvPr id="580" name="Google Shape;580;p30"/>
          <p:cNvGrpSpPr/>
          <p:nvPr/>
        </p:nvGrpSpPr>
        <p:grpSpPr>
          <a:xfrm>
            <a:off x="998537" y="3889375"/>
            <a:ext cx="5772150" cy="830262"/>
            <a:chOff x="629" y="2450"/>
            <a:chExt cx="3636" cy="523"/>
          </a:xfrm>
        </p:grpSpPr>
        <p:grpSp>
          <p:nvGrpSpPr>
            <p:cNvPr id="581" name="Google Shape;581;p30"/>
            <p:cNvGrpSpPr/>
            <p:nvPr/>
          </p:nvGrpSpPr>
          <p:grpSpPr>
            <a:xfrm>
              <a:off x="629" y="2450"/>
              <a:ext cx="651" cy="261"/>
              <a:chOff x="629" y="2450"/>
              <a:chExt cx="651" cy="261"/>
            </a:xfrm>
          </p:grpSpPr>
          <p:sp>
            <p:nvSpPr>
              <p:cNvPr id="582" name="Google Shape;582;p30"/>
              <p:cNvSpPr txBox="1"/>
              <p:nvPr/>
            </p:nvSpPr>
            <p:spPr>
              <a:xfrm>
                <a:off x="699" y="2450"/>
                <a:ext cx="511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1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x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83" name="Google Shape;583;p30"/>
              <p:cNvSpPr/>
              <p:nvPr/>
            </p:nvSpPr>
            <p:spPr>
              <a:xfrm>
                <a:off x="629" y="2450"/>
                <a:ext cx="651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84" name="Google Shape;584;p30"/>
            <p:cNvGrpSpPr/>
            <p:nvPr/>
          </p:nvGrpSpPr>
          <p:grpSpPr>
            <a:xfrm>
              <a:off x="1281" y="2450"/>
              <a:ext cx="596" cy="261"/>
              <a:chOff x="1281" y="2450"/>
              <a:chExt cx="596" cy="261"/>
            </a:xfrm>
          </p:grpSpPr>
          <p:sp>
            <p:nvSpPr>
              <p:cNvPr id="585" name="Google Shape;585;p30"/>
              <p:cNvSpPr txBox="1"/>
              <p:nvPr/>
            </p:nvSpPr>
            <p:spPr>
              <a:xfrm>
                <a:off x="1352" y="2450"/>
                <a:ext cx="455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0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10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86" name="Google Shape;586;p30"/>
              <p:cNvSpPr/>
              <p:nvPr/>
            </p:nvSpPr>
            <p:spPr>
              <a:xfrm>
                <a:off x="1281" y="2450"/>
                <a:ext cx="596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87" name="Google Shape;587;p30"/>
            <p:cNvGrpSpPr/>
            <p:nvPr/>
          </p:nvGrpSpPr>
          <p:grpSpPr>
            <a:xfrm>
              <a:off x="1878" y="2450"/>
              <a:ext cx="596" cy="261"/>
              <a:chOff x="1878" y="2450"/>
              <a:chExt cx="596" cy="261"/>
            </a:xfrm>
          </p:grpSpPr>
          <p:sp>
            <p:nvSpPr>
              <p:cNvPr id="588" name="Google Shape;588;p30"/>
              <p:cNvSpPr txBox="1"/>
              <p:nvPr/>
            </p:nvSpPr>
            <p:spPr>
              <a:xfrm>
                <a:off x="1949" y="2450"/>
                <a:ext cx="455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0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11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89" name="Google Shape;589;p30"/>
              <p:cNvSpPr/>
              <p:nvPr/>
            </p:nvSpPr>
            <p:spPr>
              <a:xfrm>
                <a:off x="1878" y="2450"/>
                <a:ext cx="596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90" name="Google Shape;590;p30"/>
            <p:cNvGrpSpPr/>
            <p:nvPr/>
          </p:nvGrpSpPr>
          <p:grpSpPr>
            <a:xfrm>
              <a:off x="2476" y="2450"/>
              <a:ext cx="595" cy="261"/>
              <a:chOff x="2476" y="2450"/>
              <a:chExt cx="595" cy="261"/>
            </a:xfrm>
          </p:grpSpPr>
          <p:sp>
            <p:nvSpPr>
              <p:cNvPr id="591" name="Google Shape;591;p30"/>
              <p:cNvSpPr txBox="1"/>
              <p:nvPr/>
            </p:nvSpPr>
            <p:spPr>
              <a:xfrm>
                <a:off x="2546" y="2450"/>
                <a:ext cx="455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0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12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2" name="Google Shape;592;p30"/>
              <p:cNvSpPr/>
              <p:nvPr/>
            </p:nvSpPr>
            <p:spPr>
              <a:xfrm>
                <a:off x="2476" y="2450"/>
                <a:ext cx="595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93" name="Google Shape;593;p30"/>
            <p:cNvGrpSpPr/>
            <p:nvPr/>
          </p:nvGrpSpPr>
          <p:grpSpPr>
            <a:xfrm>
              <a:off x="3073" y="2450"/>
              <a:ext cx="596" cy="261"/>
              <a:chOff x="3073" y="2450"/>
              <a:chExt cx="596" cy="261"/>
            </a:xfrm>
          </p:grpSpPr>
          <p:sp>
            <p:nvSpPr>
              <p:cNvPr id="594" name="Google Shape;594;p30"/>
              <p:cNvSpPr txBox="1"/>
              <p:nvPr/>
            </p:nvSpPr>
            <p:spPr>
              <a:xfrm>
                <a:off x="3143" y="2450"/>
                <a:ext cx="455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0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13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5" name="Google Shape;595;p30"/>
              <p:cNvSpPr/>
              <p:nvPr/>
            </p:nvSpPr>
            <p:spPr>
              <a:xfrm>
                <a:off x="3073" y="2450"/>
                <a:ext cx="596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96" name="Google Shape;596;p30"/>
            <p:cNvGrpSpPr/>
            <p:nvPr/>
          </p:nvGrpSpPr>
          <p:grpSpPr>
            <a:xfrm>
              <a:off x="3670" y="2450"/>
              <a:ext cx="595" cy="261"/>
              <a:chOff x="3670" y="2450"/>
              <a:chExt cx="595" cy="261"/>
            </a:xfrm>
          </p:grpSpPr>
          <p:sp>
            <p:nvSpPr>
              <p:cNvPr id="597" name="Google Shape;597;p30"/>
              <p:cNvSpPr txBox="1"/>
              <p:nvPr/>
            </p:nvSpPr>
            <p:spPr>
              <a:xfrm>
                <a:off x="3739" y="2450"/>
                <a:ext cx="455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0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14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8" name="Google Shape;598;p30"/>
              <p:cNvSpPr/>
              <p:nvPr/>
            </p:nvSpPr>
            <p:spPr>
              <a:xfrm>
                <a:off x="3670" y="2450"/>
                <a:ext cx="595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99" name="Google Shape;599;p30"/>
            <p:cNvGrpSpPr/>
            <p:nvPr/>
          </p:nvGrpSpPr>
          <p:grpSpPr>
            <a:xfrm>
              <a:off x="629" y="2712"/>
              <a:ext cx="651" cy="261"/>
              <a:chOff x="629" y="2712"/>
              <a:chExt cx="651" cy="261"/>
            </a:xfrm>
          </p:grpSpPr>
          <p:sp>
            <p:nvSpPr>
              <p:cNvPr id="600" name="Google Shape;600;p30"/>
              <p:cNvSpPr txBox="1"/>
              <p:nvPr/>
            </p:nvSpPr>
            <p:spPr>
              <a:xfrm>
                <a:off x="699" y="2712"/>
                <a:ext cx="511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1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P(x)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01" name="Google Shape;601;p30"/>
              <p:cNvSpPr/>
              <p:nvPr/>
            </p:nvSpPr>
            <p:spPr>
              <a:xfrm>
                <a:off x="629" y="2712"/>
                <a:ext cx="651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02" name="Google Shape;602;p30"/>
            <p:cNvGrpSpPr/>
            <p:nvPr/>
          </p:nvGrpSpPr>
          <p:grpSpPr>
            <a:xfrm>
              <a:off x="1281" y="2712"/>
              <a:ext cx="596" cy="261"/>
              <a:chOff x="1281" y="2712"/>
              <a:chExt cx="596" cy="261"/>
            </a:xfrm>
          </p:grpSpPr>
          <p:sp>
            <p:nvSpPr>
              <p:cNvPr id="603" name="Google Shape;603;p30"/>
              <p:cNvSpPr txBox="1"/>
              <p:nvPr/>
            </p:nvSpPr>
            <p:spPr>
              <a:xfrm>
                <a:off x="1352" y="2712"/>
                <a:ext cx="455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0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.4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04" name="Google Shape;604;p30"/>
              <p:cNvSpPr/>
              <p:nvPr/>
            </p:nvSpPr>
            <p:spPr>
              <a:xfrm>
                <a:off x="1281" y="2712"/>
                <a:ext cx="596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05" name="Google Shape;605;p30"/>
            <p:cNvGrpSpPr/>
            <p:nvPr/>
          </p:nvGrpSpPr>
          <p:grpSpPr>
            <a:xfrm>
              <a:off x="1878" y="2712"/>
              <a:ext cx="596" cy="261"/>
              <a:chOff x="1878" y="2712"/>
              <a:chExt cx="596" cy="261"/>
            </a:xfrm>
          </p:grpSpPr>
          <p:sp>
            <p:nvSpPr>
              <p:cNvPr id="606" name="Google Shape;606;p30"/>
              <p:cNvSpPr txBox="1"/>
              <p:nvPr/>
            </p:nvSpPr>
            <p:spPr>
              <a:xfrm>
                <a:off x="1949" y="2712"/>
                <a:ext cx="455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0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.2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07" name="Google Shape;607;p30"/>
              <p:cNvSpPr/>
              <p:nvPr/>
            </p:nvSpPr>
            <p:spPr>
              <a:xfrm>
                <a:off x="1878" y="2712"/>
                <a:ext cx="596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08" name="Google Shape;608;p30"/>
            <p:cNvGrpSpPr/>
            <p:nvPr/>
          </p:nvGrpSpPr>
          <p:grpSpPr>
            <a:xfrm>
              <a:off x="2476" y="2712"/>
              <a:ext cx="595" cy="261"/>
              <a:chOff x="2476" y="2712"/>
              <a:chExt cx="595" cy="261"/>
            </a:xfrm>
          </p:grpSpPr>
          <p:sp>
            <p:nvSpPr>
              <p:cNvPr id="609" name="Google Shape;609;p30"/>
              <p:cNvSpPr txBox="1"/>
              <p:nvPr/>
            </p:nvSpPr>
            <p:spPr>
              <a:xfrm>
                <a:off x="2546" y="2712"/>
                <a:ext cx="455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0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.2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10" name="Google Shape;610;p30"/>
              <p:cNvSpPr/>
              <p:nvPr/>
            </p:nvSpPr>
            <p:spPr>
              <a:xfrm>
                <a:off x="2476" y="2712"/>
                <a:ext cx="595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11" name="Google Shape;611;p30"/>
            <p:cNvGrpSpPr/>
            <p:nvPr/>
          </p:nvGrpSpPr>
          <p:grpSpPr>
            <a:xfrm>
              <a:off x="3073" y="2712"/>
              <a:ext cx="596" cy="261"/>
              <a:chOff x="3073" y="2712"/>
              <a:chExt cx="596" cy="261"/>
            </a:xfrm>
          </p:grpSpPr>
          <p:sp>
            <p:nvSpPr>
              <p:cNvPr id="612" name="Google Shape;612;p30"/>
              <p:cNvSpPr txBox="1"/>
              <p:nvPr/>
            </p:nvSpPr>
            <p:spPr>
              <a:xfrm>
                <a:off x="3143" y="2712"/>
                <a:ext cx="455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0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.1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13" name="Google Shape;613;p30"/>
              <p:cNvSpPr/>
              <p:nvPr/>
            </p:nvSpPr>
            <p:spPr>
              <a:xfrm>
                <a:off x="3073" y="2712"/>
                <a:ext cx="596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14" name="Google Shape;614;p30"/>
            <p:cNvGrpSpPr/>
            <p:nvPr/>
          </p:nvGrpSpPr>
          <p:grpSpPr>
            <a:xfrm>
              <a:off x="3670" y="2712"/>
              <a:ext cx="595" cy="261"/>
              <a:chOff x="3670" y="2712"/>
              <a:chExt cx="595" cy="261"/>
            </a:xfrm>
          </p:grpSpPr>
          <p:sp>
            <p:nvSpPr>
              <p:cNvPr id="615" name="Google Shape;615;p30"/>
              <p:cNvSpPr txBox="1"/>
              <p:nvPr/>
            </p:nvSpPr>
            <p:spPr>
              <a:xfrm>
                <a:off x="3739" y="2712"/>
                <a:ext cx="455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mo"/>
                  <a:buNone/>
                </a:pPr>
                <a:r>
                  <a:rPr b="1" i="0" lang="en-US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.1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4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>
                <a:off x="3670" y="2712"/>
                <a:ext cx="595" cy="26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617" name="Google Shape;617;p30"/>
          <p:cNvSpPr/>
          <p:nvPr/>
        </p:nvSpPr>
        <p:spPr>
          <a:xfrm>
            <a:off x="989750" y="3590088"/>
            <a:ext cx="5789700" cy="836700"/>
          </a:xfrm>
          <a:prstGeom prst="rect">
            <a:avLst/>
          </a:prstGeom>
          <a:noFill/>
          <a:ln cap="sq" cmpd="sng" w="9525">
            <a:solidFill>
              <a:srgbClr val="A0A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30"/>
          <p:cNvSpPr/>
          <p:nvPr/>
        </p:nvSpPr>
        <p:spPr>
          <a:xfrm>
            <a:off x="3276600" y="4800600"/>
            <a:ext cx="838200" cy="762000"/>
          </a:xfrm>
          <a:prstGeom prst="flowChartExtra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9" name="Google Shape;619;p30"/>
          <p:cNvSpPr/>
          <p:nvPr/>
        </p:nvSpPr>
        <p:spPr>
          <a:xfrm>
            <a:off x="2952750" y="3214687"/>
            <a:ext cx="9144000" cy="1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20" name="Google Shape;620;p30"/>
          <p:cNvGraphicFramePr/>
          <p:nvPr/>
        </p:nvGraphicFramePr>
        <p:xfrm>
          <a:off x="1752600" y="5827712"/>
          <a:ext cx="5486400" cy="725487"/>
        </p:xfrm>
        <a:graphic>
          <a:graphicData uri="http://schemas.openxmlformats.org/presentationml/2006/ole">
            <mc:AlternateContent>
              <mc:Choice Requires="v">
                <p:oleObj r:id="rId4" imgH="725487" imgW="5486400" spid="_x0000_s1">
                  <p:embed/>
                </p:oleObj>
              </mc:Choice>
              <mc:Fallback>
                <p:oleObj r:id="rId5" imgH="725487" imgW="5486400">
                  <p:embed/>
                  <p:pic>
                    <p:nvPicPr>
                      <p:cNvPr id="620" name="Google Shape;620;p3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752600" y="5827712"/>
                        <a:ext cx="5486400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Expected value, formally</a:t>
            </a:r>
            <a:endParaRPr/>
          </a:p>
        </p:txBody>
      </p:sp>
      <p:graphicFrame>
        <p:nvGraphicFramePr>
          <p:cNvPr id="626" name="Google Shape;626;p31"/>
          <p:cNvGraphicFramePr/>
          <p:nvPr/>
        </p:nvGraphicFramePr>
        <p:xfrm>
          <a:off x="2133600" y="2667000"/>
          <a:ext cx="4448175" cy="1392237"/>
        </p:xfrm>
        <a:graphic>
          <a:graphicData uri="http://schemas.openxmlformats.org/presentationml/2006/ole">
            <mc:AlternateContent>
              <mc:Choice Requires="v">
                <p:oleObj r:id="rId4" imgH="1392237" imgW="4448175" spid="_x0000_s1">
                  <p:embed/>
                </p:oleObj>
              </mc:Choice>
              <mc:Fallback>
                <p:oleObj r:id="rId5" imgH="1392237" imgW="4448175">
                  <p:embed/>
                  <p:pic>
                    <p:nvPicPr>
                      <p:cNvPr id="626" name="Google Shape;626;p3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133600" y="2667000"/>
                        <a:ext cx="4448175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7" name="Google Shape;627;p31"/>
          <p:cNvSpPr txBox="1"/>
          <p:nvPr/>
        </p:nvSpPr>
        <p:spPr>
          <a:xfrm>
            <a:off x="685800" y="2057400"/>
            <a:ext cx="62484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case:</a:t>
            </a:r>
            <a:endParaRPr/>
          </a:p>
        </p:txBody>
      </p:sp>
      <p:sp>
        <p:nvSpPr>
          <p:cNvPr id="628" name="Google Shape;628;p31"/>
          <p:cNvSpPr txBox="1"/>
          <p:nvPr/>
        </p:nvSpPr>
        <p:spPr>
          <a:xfrm>
            <a:off x="609600" y="4724400"/>
            <a:ext cx="62484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case:</a:t>
            </a:r>
            <a:endParaRPr/>
          </a:p>
        </p:txBody>
      </p:sp>
      <p:graphicFrame>
        <p:nvGraphicFramePr>
          <p:cNvPr id="629" name="Google Shape;629;p31"/>
          <p:cNvGraphicFramePr/>
          <p:nvPr/>
        </p:nvGraphicFramePr>
        <p:xfrm>
          <a:off x="2895600" y="5334000"/>
          <a:ext cx="4191000" cy="1352550"/>
        </p:xfrm>
        <a:graphic>
          <a:graphicData uri="http://schemas.openxmlformats.org/presentationml/2006/ole">
            <mc:AlternateContent>
              <mc:Choice Requires="v">
                <p:oleObj r:id="rId7" imgH="1352550" imgW="4191000" spid="_x0000_s2">
                  <p:embed/>
                </p:oleObj>
              </mc:Choice>
              <mc:Fallback>
                <p:oleObj r:id="rId8" imgH="1352550" imgW="4191000">
                  <p:embed/>
                  <p:pic>
                    <p:nvPicPr>
                      <p:cNvPr id="629" name="Google Shape;629;p31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895600" y="5334000"/>
                        <a:ext cx="419100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2"/>
          <p:cNvSpPr txBox="1"/>
          <p:nvPr>
            <p:ph type="title"/>
          </p:nvPr>
        </p:nvSpPr>
        <p:spPr>
          <a:xfrm>
            <a:off x="990600" y="5334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Empirical Mean is a special case of Expected Value…</a:t>
            </a:r>
            <a:endParaRPr/>
          </a:p>
        </p:txBody>
      </p:sp>
      <p:sp>
        <p:nvSpPr>
          <p:cNvPr id="635" name="Google Shape;635;p32"/>
          <p:cNvSpPr txBox="1"/>
          <p:nvPr/>
        </p:nvSpPr>
        <p:spPr>
          <a:xfrm>
            <a:off x="533400" y="2133600"/>
            <a:ext cx="7848600" cy="3810000"/>
          </a:xfrm>
          <a:prstGeom prst="rect">
            <a:avLst/>
          </a:prstGeom>
          <a:solidFill>
            <a:srgbClr val="EAEAEA"/>
          </a:solidFill>
          <a:ln cap="sq" cmpd="sng" w="9525">
            <a:solidFill>
              <a:srgbClr val="00E4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1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mean, for a sample of n subjects:   = </a:t>
            </a:r>
            <a:endParaRPr/>
          </a:p>
        </p:txBody>
      </p:sp>
      <p:graphicFrame>
        <p:nvGraphicFramePr>
          <p:cNvPr id="636" name="Google Shape;636;p32"/>
          <p:cNvGraphicFramePr/>
          <p:nvPr/>
        </p:nvGraphicFramePr>
        <p:xfrm>
          <a:off x="2692400" y="3505200"/>
          <a:ext cx="4064000" cy="2028825"/>
        </p:xfrm>
        <a:graphic>
          <a:graphicData uri="http://schemas.openxmlformats.org/presentationml/2006/ole">
            <mc:AlternateContent>
              <mc:Choice Requires="v">
                <p:oleObj r:id="rId4" imgH="2028825" imgW="4064000" spid="_x0000_s1">
                  <p:embed/>
                </p:oleObj>
              </mc:Choice>
              <mc:Fallback>
                <p:oleObj r:id="rId5" imgH="2028825" imgW="4064000">
                  <p:embed/>
                  <p:pic>
                    <p:nvPicPr>
                      <p:cNvPr id="636" name="Google Shape;636;p3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692400" y="3505200"/>
                        <a:ext cx="4064000" cy="202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7" name="Google Shape;637;p32"/>
          <p:cNvGraphicFramePr/>
          <p:nvPr/>
        </p:nvGraphicFramePr>
        <p:xfrm>
          <a:off x="6216650" y="4529137"/>
          <a:ext cx="379412" cy="676275"/>
        </p:xfrm>
        <a:graphic>
          <a:graphicData uri="http://schemas.openxmlformats.org/presentationml/2006/ole">
            <mc:AlternateContent>
              <mc:Choice Requires="v">
                <p:oleObj r:id="rId7" imgH="676275" imgW="379412" spid="_x0000_s2">
                  <p:embed/>
                </p:oleObj>
              </mc:Choice>
              <mc:Fallback>
                <p:oleObj r:id="rId8" imgH="676275" imgW="379412">
                  <p:embed/>
                  <p:pic>
                    <p:nvPicPr>
                      <p:cNvPr id="637" name="Google Shape;637;p32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216650" y="4529137"/>
                        <a:ext cx="37941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8" name="Google Shape;638;p32"/>
          <p:cNvGrpSpPr/>
          <p:nvPr/>
        </p:nvGrpSpPr>
        <p:grpSpPr>
          <a:xfrm>
            <a:off x="1143000" y="5180013"/>
            <a:ext cx="6475412" cy="1511299"/>
            <a:chOff x="720" y="3263"/>
            <a:chExt cx="4079" cy="952"/>
          </a:xfrm>
        </p:grpSpPr>
        <p:sp>
          <p:nvSpPr>
            <p:cNvPr id="639" name="Google Shape;639;p32"/>
            <p:cNvSpPr txBox="1"/>
            <p:nvPr/>
          </p:nvSpPr>
          <p:spPr>
            <a:xfrm>
              <a:off x="720" y="3696"/>
              <a:ext cx="4079" cy="519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ahoma"/>
                <a:buNone/>
              </a:pPr>
              <a:r>
                <a:rPr b="1" i="0" lang="en-US" sz="2400" u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The probability (frequency) of each person in the sample is 1/n.</a:t>
              </a:r>
              <a:endParaRPr/>
            </a:p>
          </p:txBody>
        </p:sp>
        <p:cxnSp>
          <p:nvCxnSpPr>
            <p:cNvPr id="640" name="Google Shape;640;p32"/>
            <p:cNvCxnSpPr/>
            <p:nvPr/>
          </p:nvCxnSpPr>
          <p:spPr>
            <a:xfrm flipH="1" rot="10800000">
              <a:off x="3696" y="3263"/>
              <a:ext cx="191" cy="433"/>
            </a:xfrm>
            <a:prstGeom prst="straightConnector1">
              <a:avLst/>
            </a:prstGeom>
            <a:noFill/>
            <a:ln cap="sq" cmpd="sng" w="9525">
              <a:solidFill>
                <a:srgbClr val="00E4A8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Expected value, formally</a:t>
            </a:r>
            <a:endParaRPr/>
          </a:p>
        </p:txBody>
      </p:sp>
      <p:graphicFrame>
        <p:nvGraphicFramePr>
          <p:cNvPr id="646" name="Google Shape;646;p33"/>
          <p:cNvGraphicFramePr/>
          <p:nvPr/>
        </p:nvGraphicFramePr>
        <p:xfrm>
          <a:off x="2133600" y="2667000"/>
          <a:ext cx="4448175" cy="1392237"/>
        </p:xfrm>
        <a:graphic>
          <a:graphicData uri="http://schemas.openxmlformats.org/presentationml/2006/ole">
            <mc:AlternateContent>
              <mc:Choice Requires="v">
                <p:oleObj r:id="rId4" imgH="1392237" imgW="4448175" spid="_x0000_s1">
                  <p:embed/>
                </p:oleObj>
              </mc:Choice>
              <mc:Fallback>
                <p:oleObj r:id="rId5" imgH="1392237" imgW="4448175">
                  <p:embed/>
                  <p:pic>
                    <p:nvPicPr>
                      <p:cNvPr id="646" name="Google Shape;646;p3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133600" y="2667000"/>
                        <a:ext cx="4448175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7" name="Google Shape;647;p33"/>
          <p:cNvSpPr txBox="1"/>
          <p:nvPr/>
        </p:nvSpPr>
        <p:spPr>
          <a:xfrm>
            <a:off x="685800" y="2057400"/>
            <a:ext cx="62484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case:</a:t>
            </a:r>
            <a:endParaRPr/>
          </a:p>
        </p:txBody>
      </p:sp>
      <p:sp>
        <p:nvSpPr>
          <p:cNvPr id="648" name="Google Shape;648;p33"/>
          <p:cNvSpPr txBox="1"/>
          <p:nvPr/>
        </p:nvSpPr>
        <p:spPr>
          <a:xfrm>
            <a:off x="609600" y="4724400"/>
            <a:ext cx="62484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case:</a:t>
            </a:r>
            <a:endParaRPr/>
          </a:p>
        </p:txBody>
      </p:sp>
      <p:graphicFrame>
        <p:nvGraphicFramePr>
          <p:cNvPr id="649" name="Google Shape;649;p33"/>
          <p:cNvGraphicFramePr/>
          <p:nvPr/>
        </p:nvGraphicFramePr>
        <p:xfrm>
          <a:off x="2895600" y="5334000"/>
          <a:ext cx="4191000" cy="1352550"/>
        </p:xfrm>
        <a:graphic>
          <a:graphicData uri="http://schemas.openxmlformats.org/presentationml/2006/ole">
            <mc:AlternateContent>
              <mc:Choice Requires="v">
                <p:oleObj r:id="rId7" imgH="1352550" imgW="4191000" spid="_x0000_s2">
                  <p:embed/>
                </p:oleObj>
              </mc:Choice>
              <mc:Fallback>
                <p:oleObj r:id="rId8" imgH="1352550" imgW="4191000">
                  <p:embed/>
                  <p:pic>
                    <p:nvPicPr>
                      <p:cNvPr id="649" name="Google Shape;649;p3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895600" y="5334000"/>
                        <a:ext cx="419100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4"/>
          <p:cNvSpPr txBox="1"/>
          <p:nvPr>
            <p:ph type="title"/>
          </p:nvPr>
        </p:nvSpPr>
        <p:spPr>
          <a:xfrm>
            <a:off x="914400" y="381000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Extension to continuous case:</a:t>
            </a:r>
            <a:b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uniform distribution</a:t>
            </a:r>
            <a:endParaRPr/>
          </a:p>
        </p:txBody>
      </p:sp>
      <p:sp>
        <p:nvSpPr>
          <p:cNvPr id="655" name="Google Shape;655;p34"/>
          <p:cNvSpPr/>
          <p:nvPr/>
        </p:nvSpPr>
        <p:spPr>
          <a:xfrm>
            <a:off x="2952750" y="3214687"/>
            <a:ext cx="9144000" cy="1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6" name="Google Shape;656;p34"/>
          <p:cNvCxnSpPr/>
          <p:nvPr/>
        </p:nvCxnSpPr>
        <p:spPr>
          <a:xfrm>
            <a:off x="3838575" y="2743200"/>
            <a:ext cx="1587" cy="22860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7" name="Google Shape;657;p34"/>
          <p:cNvCxnSpPr/>
          <p:nvPr/>
        </p:nvCxnSpPr>
        <p:spPr>
          <a:xfrm>
            <a:off x="1524000" y="4449762"/>
            <a:ext cx="4760912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58" name="Google Shape;658;p34"/>
          <p:cNvSpPr txBox="1"/>
          <p:nvPr/>
        </p:nvSpPr>
        <p:spPr>
          <a:xfrm>
            <a:off x="6318250" y="4394200"/>
            <a:ext cx="463550" cy="41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659" name="Google Shape;659;p34"/>
          <p:cNvSpPr txBox="1"/>
          <p:nvPr/>
        </p:nvSpPr>
        <p:spPr>
          <a:xfrm>
            <a:off x="4002087" y="2743200"/>
            <a:ext cx="782637" cy="41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p(x)</a:t>
            </a:r>
            <a:endParaRPr/>
          </a:p>
        </p:txBody>
      </p:sp>
      <p:sp>
        <p:nvSpPr>
          <p:cNvPr id="660" name="Google Shape;660;p34"/>
          <p:cNvSpPr txBox="1"/>
          <p:nvPr/>
        </p:nvSpPr>
        <p:spPr>
          <a:xfrm>
            <a:off x="3508375" y="3455987"/>
            <a:ext cx="131762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61" name="Google Shape;661;p34"/>
          <p:cNvSpPr txBox="1"/>
          <p:nvPr/>
        </p:nvSpPr>
        <p:spPr>
          <a:xfrm>
            <a:off x="5124450" y="4706937"/>
            <a:ext cx="1333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62" name="Google Shape;662;p34"/>
          <p:cNvSpPr/>
          <p:nvPr/>
        </p:nvSpPr>
        <p:spPr>
          <a:xfrm>
            <a:off x="3835400" y="3584575"/>
            <a:ext cx="1338262" cy="860425"/>
          </a:xfrm>
          <a:prstGeom prst="rect">
            <a:avLst/>
          </a:prstGeom>
          <a:solidFill>
            <a:srgbClr val="00E4A8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3" name="Google Shape;663;p34"/>
          <p:cNvSpPr/>
          <p:nvPr/>
        </p:nvSpPr>
        <p:spPr>
          <a:xfrm>
            <a:off x="4418012" y="4521200"/>
            <a:ext cx="212725" cy="320675"/>
          </a:xfrm>
          <a:prstGeom prst="flowChartExtra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4" name="Google Shape;664;p34"/>
          <p:cNvSpPr/>
          <p:nvPr/>
        </p:nvSpPr>
        <p:spPr>
          <a:xfrm>
            <a:off x="3529012" y="3195637"/>
            <a:ext cx="9144000" cy="1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65" name="Google Shape;665;p34"/>
          <p:cNvGrpSpPr/>
          <p:nvPr/>
        </p:nvGrpSpPr>
        <p:grpSpPr>
          <a:xfrm>
            <a:off x="2590800" y="5410200"/>
            <a:ext cx="3960812" cy="1065212"/>
            <a:chOff x="1632" y="3408"/>
            <a:chExt cx="2495" cy="671"/>
          </a:xfrm>
        </p:grpSpPr>
        <p:sp>
          <p:nvSpPr>
            <p:cNvPr id="666" name="Google Shape;666;p34"/>
            <p:cNvSpPr/>
            <p:nvPr/>
          </p:nvSpPr>
          <p:spPr>
            <a:xfrm>
              <a:off x="1632" y="3408"/>
              <a:ext cx="2495" cy="671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667" name="Google Shape;667;p34"/>
            <p:cNvGraphicFramePr/>
            <p:nvPr/>
          </p:nvGraphicFramePr>
          <p:xfrm>
            <a:off x="1728" y="3471"/>
            <a:ext cx="2255" cy="504"/>
          </p:xfrm>
          <a:graphic>
            <a:graphicData uri="http://schemas.openxmlformats.org/presentationml/2006/ole">
              <mc:AlternateContent>
                <mc:Choice Requires="v">
                  <p:oleObj r:id="rId4" imgH="504" imgW="2255" spid="_x0000_s1">
                    <p:embed/>
                  </p:oleObj>
                </mc:Choice>
                <mc:Fallback>
                  <p:oleObj r:id="rId5" imgH="504" imgW="2255">
                    <p:embed/>
                    <p:pic>
                      <p:nvPicPr>
                        <p:cNvPr id="667" name="Google Shape;667;p34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728" y="3471"/>
                          <a:ext cx="2255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Symbol Interlude</a:t>
            </a:r>
            <a:endParaRPr/>
          </a:p>
        </p:txBody>
      </p:sp>
      <p:sp>
        <p:nvSpPr>
          <p:cNvPr id="673" name="Google Shape;673;p35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E(X) = µ 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these symbols are used interchangeably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Expected Value</a:t>
            </a:r>
            <a:endParaRPr/>
          </a:p>
        </p:txBody>
      </p:sp>
      <p:sp>
        <p:nvSpPr>
          <p:cNvPr id="679" name="Google Shape;679;p36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Expected value is an extremely useful concept for good decision-making!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Example: the lottery</a:t>
            </a:r>
            <a:endParaRPr/>
          </a:p>
        </p:txBody>
      </p:sp>
      <p:sp>
        <p:nvSpPr>
          <p:cNvPr id="685" name="Google Shape;685;p3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Lottery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(also known as a tax on people who are bad at math…)</a:t>
            </a:r>
            <a:endParaRPr/>
          </a:p>
          <a:p>
            <a:pPr indent="-341312" lvl="0" marL="341312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certain lottery works by picking 6 numbers from 1 to 49.  It costs $1.00 to play the lottery, and if you win, you win $2 million after taxes.  </a:t>
            </a:r>
            <a:endParaRPr/>
          </a:p>
          <a:p>
            <a:pPr indent="-341312" lvl="0" marL="341312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1312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you play the lottery once, what are your expected winnings or losses?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Lottery</a:t>
            </a:r>
            <a:endParaRPr/>
          </a:p>
        </p:txBody>
      </p:sp>
      <p:grpSp>
        <p:nvGrpSpPr>
          <p:cNvPr id="691" name="Google Shape;691;p38"/>
          <p:cNvGrpSpPr/>
          <p:nvPr/>
        </p:nvGrpSpPr>
        <p:grpSpPr>
          <a:xfrm>
            <a:off x="914400" y="2438400"/>
            <a:ext cx="4799012" cy="1446212"/>
            <a:chOff x="576" y="1536"/>
            <a:chExt cx="3023" cy="911"/>
          </a:xfrm>
        </p:grpSpPr>
        <p:sp>
          <p:nvSpPr>
            <p:cNvPr id="692" name="Google Shape;692;p38"/>
            <p:cNvSpPr/>
            <p:nvPr/>
          </p:nvSpPr>
          <p:spPr>
            <a:xfrm>
              <a:off x="576" y="1536"/>
              <a:ext cx="3023" cy="911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aphicFrame>
          <p:nvGraphicFramePr>
            <p:cNvPr id="693" name="Google Shape;693;p38"/>
            <p:cNvGraphicFramePr/>
            <p:nvPr/>
          </p:nvGraphicFramePr>
          <p:xfrm>
            <a:off x="1177" y="1703"/>
            <a:ext cx="2315" cy="647"/>
          </p:xfrm>
          <a:graphic>
            <a:graphicData uri="http://schemas.openxmlformats.org/presentationml/2006/ole">
              <mc:AlternateContent>
                <mc:Choice Requires="v">
                  <p:oleObj r:id="rId4" imgH="647" imgW="2315" spid="_x0000_s1">
                    <p:embed/>
                  </p:oleObj>
                </mc:Choice>
                <mc:Fallback>
                  <p:oleObj r:id="rId5" imgH="647" imgW="2315">
                    <p:embed/>
                    <p:pic>
                      <p:nvPicPr>
                        <p:cNvPr id="693" name="Google Shape;693;p38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177" y="1703"/>
                          <a:ext cx="2315" cy="6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4" name="Google Shape;694;p38"/>
          <p:cNvGrpSpPr/>
          <p:nvPr/>
        </p:nvGrpSpPr>
        <p:grpSpPr>
          <a:xfrm>
            <a:off x="381000" y="4876800"/>
            <a:ext cx="7235825" cy="1674812"/>
            <a:chOff x="240" y="3072"/>
            <a:chExt cx="4558" cy="1055"/>
          </a:xfrm>
        </p:grpSpPr>
        <p:grpSp>
          <p:nvGrpSpPr>
            <p:cNvPr id="695" name="Google Shape;695;p38"/>
            <p:cNvGrpSpPr/>
            <p:nvPr/>
          </p:nvGrpSpPr>
          <p:grpSpPr>
            <a:xfrm>
              <a:off x="249" y="3075"/>
              <a:ext cx="4538" cy="1049"/>
              <a:chOff x="249" y="3075"/>
              <a:chExt cx="4538" cy="1049"/>
            </a:xfrm>
          </p:grpSpPr>
          <p:grpSp>
            <p:nvGrpSpPr>
              <p:cNvPr id="696" name="Google Shape;696;p38"/>
              <p:cNvGrpSpPr/>
              <p:nvPr/>
            </p:nvGrpSpPr>
            <p:grpSpPr>
              <a:xfrm>
                <a:off x="249" y="3075"/>
                <a:ext cx="2385" cy="318"/>
                <a:chOff x="249" y="3075"/>
                <a:chExt cx="2385" cy="318"/>
              </a:xfrm>
            </p:grpSpPr>
            <p:sp>
              <p:nvSpPr>
                <p:cNvPr id="697" name="Google Shape;697;p38"/>
                <p:cNvSpPr txBox="1"/>
                <p:nvPr/>
              </p:nvSpPr>
              <p:spPr>
                <a:xfrm>
                  <a:off x="389" y="3075"/>
                  <a:ext cx="2105" cy="3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x$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698" name="Google Shape;698;p38"/>
                <p:cNvSpPr/>
                <p:nvPr/>
              </p:nvSpPr>
              <p:spPr>
                <a:xfrm>
                  <a:off x="249" y="3075"/>
                  <a:ext cx="2385" cy="318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699" name="Google Shape;699;p38"/>
              <p:cNvGrpSpPr/>
              <p:nvPr/>
            </p:nvGrpSpPr>
            <p:grpSpPr>
              <a:xfrm>
                <a:off x="2636" y="3075"/>
                <a:ext cx="2151" cy="318"/>
                <a:chOff x="2636" y="3075"/>
                <a:chExt cx="2151" cy="318"/>
              </a:xfrm>
            </p:grpSpPr>
            <p:sp>
              <p:nvSpPr>
                <p:cNvPr id="700" name="Google Shape;700;p38"/>
                <p:cNvSpPr txBox="1"/>
                <p:nvPr/>
              </p:nvSpPr>
              <p:spPr>
                <a:xfrm>
                  <a:off x="2776" y="3075"/>
                  <a:ext cx="1871" cy="3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701" name="Google Shape;701;p38"/>
                <p:cNvSpPr/>
                <p:nvPr/>
              </p:nvSpPr>
              <p:spPr>
                <a:xfrm>
                  <a:off x="2636" y="3075"/>
                  <a:ext cx="2151" cy="318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702" name="Google Shape;702;p38"/>
              <p:cNvGrpSpPr/>
              <p:nvPr/>
            </p:nvGrpSpPr>
            <p:grpSpPr>
              <a:xfrm>
                <a:off x="249" y="3394"/>
                <a:ext cx="2385" cy="411"/>
                <a:chOff x="249" y="3394"/>
                <a:chExt cx="2385" cy="411"/>
              </a:xfrm>
            </p:grpSpPr>
            <p:sp>
              <p:nvSpPr>
                <p:cNvPr id="703" name="Google Shape;703;p38"/>
                <p:cNvSpPr txBox="1"/>
                <p:nvPr/>
              </p:nvSpPr>
              <p:spPr>
                <a:xfrm>
                  <a:off x="389" y="3394"/>
                  <a:ext cx="2105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-1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704" name="Google Shape;704;p38"/>
                <p:cNvSpPr/>
                <p:nvPr/>
              </p:nvSpPr>
              <p:spPr>
                <a:xfrm>
                  <a:off x="249" y="3394"/>
                  <a:ext cx="2385" cy="41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705" name="Google Shape;705;p38"/>
              <p:cNvGrpSpPr/>
              <p:nvPr/>
            </p:nvGrpSpPr>
            <p:grpSpPr>
              <a:xfrm>
                <a:off x="2636" y="3394"/>
                <a:ext cx="2151" cy="411"/>
                <a:chOff x="2636" y="3394"/>
                <a:chExt cx="2151" cy="411"/>
              </a:xfrm>
            </p:grpSpPr>
            <p:sp>
              <p:nvSpPr>
                <p:cNvPr id="706" name="Google Shape;706;p38"/>
                <p:cNvSpPr txBox="1"/>
                <p:nvPr/>
              </p:nvSpPr>
              <p:spPr>
                <a:xfrm>
                  <a:off x="2776" y="3394"/>
                  <a:ext cx="1871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.999999928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707" name="Google Shape;707;p38"/>
                <p:cNvSpPr/>
                <p:nvPr/>
              </p:nvSpPr>
              <p:spPr>
                <a:xfrm>
                  <a:off x="2636" y="3394"/>
                  <a:ext cx="2151" cy="41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708" name="Google Shape;708;p38"/>
              <p:cNvGrpSpPr/>
              <p:nvPr/>
            </p:nvGrpSpPr>
            <p:grpSpPr>
              <a:xfrm>
                <a:off x="249" y="3806"/>
                <a:ext cx="2385" cy="318"/>
                <a:chOff x="249" y="3806"/>
                <a:chExt cx="2385" cy="318"/>
              </a:xfrm>
            </p:grpSpPr>
            <p:sp>
              <p:nvSpPr>
                <p:cNvPr id="709" name="Google Shape;709;p38"/>
                <p:cNvSpPr txBox="1"/>
                <p:nvPr/>
              </p:nvSpPr>
              <p:spPr>
                <a:xfrm>
                  <a:off x="389" y="3806"/>
                  <a:ext cx="2105" cy="3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+ 2 million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710" name="Google Shape;710;p38"/>
                <p:cNvSpPr/>
                <p:nvPr/>
              </p:nvSpPr>
              <p:spPr>
                <a:xfrm>
                  <a:off x="249" y="3806"/>
                  <a:ext cx="2385" cy="318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711" name="Google Shape;711;p38"/>
              <p:cNvGrpSpPr/>
              <p:nvPr/>
            </p:nvGrpSpPr>
            <p:grpSpPr>
              <a:xfrm>
                <a:off x="2636" y="3806"/>
                <a:ext cx="2151" cy="318"/>
                <a:chOff x="2636" y="3806"/>
                <a:chExt cx="2151" cy="318"/>
              </a:xfrm>
            </p:grpSpPr>
            <p:sp>
              <p:nvSpPr>
                <p:cNvPr id="712" name="Google Shape;712;p38"/>
                <p:cNvSpPr txBox="1"/>
                <p:nvPr/>
              </p:nvSpPr>
              <p:spPr>
                <a:xfrm>
                  <a:off x="2776" y="3806"/>
                  <a:ext cx="1871" cy="3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	7.2 x 10</a:t>
                  </a:r>
                  <a:r>
                    <a:rPr b="1" baseline="30000" i="1" lang="en-US" sz="20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--8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baseline="30000" i="1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3" name="Google Shape;713;p38"/>
                <p:cNvSpPr/>
                <p:nvPr/>
              </p:nvSpPr>
              <p:spPr>
                <a:xfrm>
                  <a:off x="2636" y="3806"/>
                  <a:ext cx="2151" cy="318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714" name="Google Shape;714;p38"/>
            <p:cNvSpPr/>
            <p:nvPr/>
          </p:nvSpPr>
          <p:spPr>
            <a:xfrm>
              <a:off x="240" y="3072"/>
              <a:ext cx="4558" cy="1055"/>
            </a:xfrm>
            <a:prstGeom prst="rect">
              <a:avLst/>
            </a:prstGeom>
            <a:noFill/>
            <a:ln cap="sq" cmpd="sng" w="9525">
              <a:solidFill>
                <a:srgbClr val="A0A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15" name="Google Shape;715;p38"/>
          <p:cNvSpPr txBox="1"/>
          <p:nvPr/>
        </p:nvSpPr>
        <p:spPr>
          <a:xfrm>
            <a:off x="685800" y="1828800"/>
            <a:ext cx="670560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probability of winning in 1 try:</a:t>
            </a:r>
            <a:endParaRPr/>
          </a:p>
        </p:txBody>
      </p:sp>
      <p:sp>
        <p:nvSpPr>
          <p:cNvPr id="716" name="Google Shape;716;p38"/>
          <p:cNvSpPr txBox="1"/>
          <p:nvPr/>
        </p:nvSpPr>
        <p:spPr>
          <a:xfrm>
            <a:off x="228600" y="4267200"/>
            <a:ext cx="670560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probability function (note, sums to 1.0):</a:t>
            </a:r>
            <a:endParaRPr/>
          </a:p>
        </p:txBody>
      </p:sp>
      <p:grpSp>
        <p:nvGrpSpPr>
          <p:cNvPr id="717" name="Google Shape;717;p38"/>
          <p:cNvGrpSpPr/>
          <p:nvPr/>
        </p:nvGrpSpPr>
        <p:grpSpPr>
          <a:xfrm>
            <a:off x="2208213" y="2667000"/>
            <a:ext cx="6476999" cy="2033587"/>
            <a:chOff x="1391" y="1680"/>
            <a:chExt cx="4080" cy="1281"/>
          </a:xfrm>
        </p:grpSpPr>
        <p:sp>
          <p:nvSpPr>
            <p:cNvPr id="718" name="Google Shape;718;p38"/>
            <p:cNvSpPr txBox="1"/>
            <p:nvPr/>
          </p:nvSpPr>
          <p:spPr>
            <a:xfrm>
              <a:off x="4112" y="1680"/>
              <a:ext cx="1359" cy="1281"/>
            </a:xfrm>
            <a:prstGeom prst="rect">
              <a:avLst/>
            </a:prstGeom>
            <a:solidFill>
              <a:srgbClr val="FFFFFF"/>
            </a:solidFill>
            <a:ln cap="sq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“49 choose 6”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FF0000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 of 49 numbers, this is the number of distinct combinations of 6.</a:t>
              </a:r>
              <a:endParaRPr/>
            </a:p>
          </p:txBody>
        </p:sp>
        <p:cxnSp>
          <p:nvCxnSpPr>
            <p:cNvPr id="719" name="Google Shape;719;p38"/>
            <p:cNvCxnSpPr/>
            <p:nvPr/>
          </p:nvCxnSpPr>
          <p:spPr>
            <a:xfrm rot="10800000">
              <a:off x="1391" y="2083"/>
              <a:ext cx="2768" cy="181"/>
            </a:xfrm>
            <a:prstGeom prst="straightConnector1">
              <a:avLst/>
            </a:prstGeom>
            <a:noFill/>
            <a:ln cap="sq" cmpd="sng" w="952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1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Expected Value</a:t>
            </a:r>
            <a:endParaRPr/>
          </a:p>
        </p:txBody>
      </p:sp>
      <p:grpSp>
        <p:nvGrpSpPr>
          <p:cNvPr id="725" name="Google Shape;725;p39"/>
          <p:cNvGrpSpPr/>
          <p:nvPr/>
        </p:nvGrpSpPr>
        <p:grpSpPr>
          <a:xfrm>
            <a:off x="381000" y="2133600"/>
            <a:ext cx="7235825" cy="1598612"/>
            <a:chOff x="240" y="1344"/>
            <a:chExt cx="4558" cy="1007"/>
          </a:xfrm>
        </p:grpSpPr>
        <p:grpSp>
          <p:nvGrpSpPr>
            <p:cNvPr id="726" name="Google Shape;726;p39"/>
            <p:cNvGrpSpPr/>
            <p:nvPr/>
          </p:nvGrpSpPr>
          <p:grpSpPr>
            <a:xfrm>
              <a:off x="249" y="1346"/>
              <a:ext cx="4538" cy="1003"/>
              <a:chOff x="249" y="1346"/>
              <a:chExt cx="4538" cy="1003"/>
            </a:xfrm>
          </p:grpSpPr>
          <p:grpSp>
            <p:nvGrpSpPr>
              <p:cNvPr id="727" name="Google Shape;727;p39"/>
              <p:cNvGrpSpPr/>
              <p:nvPr/>
            </p:nvGrpSpPr>
            <p:grpSpPr>
              <a:xfrm>
                <a:off x="249" y="1346"/>
                <a:ext cx="2385" cy="304"/>
                <a:chOff x="249" y="1346"/>
                <a:chExt cx="2385" cy="304"/>
              </a:xfrm>
            </p:grpSpPr>
            <p:sp>
              <p:nvSpPr>
                <p:cNvPr id="728" name="Google Shape;728;p39"/>
                <p:cNvSpPr txBox="1"/>
                <p:nvPr/>
              </p:nvSpPr>
              <p:spPr>
                <a:xfrm>
                  <a:off x="389" y="1346"/>
                  <a:ext cx="2105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x$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729" name="Google Shape;729;p39"/>
                <p:cNvSpPr/>
                <p:nvPr/>
              </p:nvSpPr>
              <p:spPr>
                <a:xfrm>
                  <a:off x="249" y="1346"/>
                  <a:ext cx="2385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730" name="Google Shape;730;p39"/>
              <p:cNvGrpSpPr/>
              <p:nvPr/>
            </p:nvGrpSpPr>
            <p:grpSpPr>
              <a:xfrm>
                <a:off x="2636" y="1346"/>
                <a:ext cx="2151" cy="304"/>
                <a:chOff x="2636" y="1346"/>
                <a:chExt cx="2151" cy="304"/>
              </a:xfrm>
            </p:grpSpPr>
            <p:sp>
              <p:nvSpPr>
                <p:cNvPr id="731" name="Google Shape;731;p39"/>
                <p:cNvSpPr txBox="1"/>
                <p:nvPr/>
              </p:nvSpPr>
              <p:spPr>
                <a:xfrm>
                  <a:off x="2776" y="1346"/>
                  <a:ext cx="1871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732" name="Google Shape;732;p39"/>
                <p:cNvSpPr/>
                <p:nvPr/>
              </p:nvSpPr>
              <p:spPr>
                <a:xfrm>
                  <a:off x="2636" y="1346"/>
                  <a:ext cx="2151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733" name="Google Shape;733;p39"/>
              <p:cNvGrpSpPr/>
              <p:nvPr/>
            </p:nvGrpSpPr>
            <p:grpSpPr>
              <a:xfrm>
                <a:off x="249" y="1651"/>
                <a:ext cx="2385" cy="392"/>
                <a:chOff x="249" y="1651"/>
                <a:chExt cx="2385" cy="392"/>
              </a:xfrm>
            </p:grpSpPr>
            <p:sp>
              <p:nvSpPr>
                <p:cNvPr id="734" name="Google Shape;734;p39"/>
                <p:cNvSpPr txBox="1"/>
                <p:nvPr/>
              </p:nvSpPr>
              <p:spPr>
                <a:xfrm>
                  <a:off x="389" y="1651"/>
                  <a:ext cx="2105" cy="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-1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735" name="Google Shape;735;p39"/>
                <p:cNvSpPr/>
                <p:nvPr/>
              </p:nvSpPr>
              <p:spPr>
                <a:xfrm>
                  <a:off x="249" y="1651"/>
                  <a:ext cx="2385" cy="392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736" name="Google Shape;736;p39"/>
              <p:cNvGrpSpPr/>
              <p:nvPr/>
            </p:nvGrpSpPr>
            <p:grpSpPr>
              <a:xfrm>
                <a:off x="2636" y="1651"/>
                <a:ext cx="2151" cy="392"/>
                <a:chOff x="2636" y="1651"/>
                <a:chExt cx="2151" cy="392"/>
              </a:xfrm>
            </p:grpSpPr>
            <p:sp>
              <p:nvSpPr>
                <p:cNvPr id="737" name="Google Shape;737;p39"/>
                <p:cNvSpPr txBox="1"/>
                <p:nvPr/>
              </p:nvSpPr>
              <p:spPr>
                <a:xfrm>
                  <a:off x="2776" y="1651"/>
                  <a:ext cx="1871" cy="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.999999928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738" name="Google Shape;738;p39"/>
                <p:cNvSpPr/>
                <p:nvPr/>
              </p:nvSpPr>
              <p:spPr>
                <a:xfrm>
                  <a:off x="2636" y="1651"/>
                  <a:ext cx="2151" cy="392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739" name="Google Shape;739;p39"/>
              <p:cNvGrpSpPr/>
              <p:nvPr/>
            </p:nvGrpSpPr>
            <p:grpSpPr>
              <a:xfrm>
                <a:off x="249" y="2045"/>
                <a:ext cx="2385" cy="304"/>
                <a:chOff x="249" y="2045"/>
                <a:chExt cx="2385" cy="304"/>
              </a:xfrm>
            </p:grpSpPr>
            <p:sp>
              <p:nvSpPr>
                <p:cNvPr id="740" name="Google Shape;740;p39"/>
                <p:cNvSpPr txBox="1"/>
                <p:nvPr/>
              </p:nvSpPr>
              <p:spPr>
                <a:xfrm>
                  <a:off x="389" y="2045"/>
                  <a:ext cx="2105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+ 2 million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741" name="Google Shape;741;p39"/>
                <p:cNvSpPr/>
                <p:nvPr/>
              </p:nvSpPr>
              <p:spPr>
                <a:xfrm>
                  <a:off x="249" y="2045"/>
                  <a:ext cx="2385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742" name="Google Shape;742;p39"/>
              <p:cNvGrpSpPr/>
              <p:nvPr/>
            </p:nvGrpSpPr>
            <p:grpSpPr>
              <a:xfrm>
                <a:off x="2636" y="2045"/>
                <a:ext cx="2151" cy="304"/>
                <a:chOff x="2636" y="2045"/>
                <a:chExt cx="2151" cy="304"/>
              </a:xfrm>
            </p:grpSpPr>
            <p:sp>
              <p:nvSpPr>
                <p:cNvPr id="743" name="Google Shape;743;p39"/>
                <p:cNvSpPr txBox="1"/>
                <p:nvPr/>
              </p:nvSpPr>
              <p:spPr>
                <a:xfrm>
                  <a:off x="2776" y="2045"/>
                  <a:ext cx="1871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	7.2 x 10</a:t>
                  </a:r>
                  <a:r>
                    <a:rPr b="1" baseline="30000" i="1" lang="en-US" sz="20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--8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baseline="30000" i="1" sz="20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44" name="Google Shape;744;p39"/>
                <p:cNvSpPr/>
                <p:nvPr/>
              </p:nvSpPr>
              <p:spPr>
                <a:xfrm>
                  <a:off x="2636" y="2045"/>
                  <a:ext cx="2151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745" name="Google Shape;745;p39"/>
            <p:cNvSpPr/>
            <p:nvPr/>
          </p:nvSpPr>
          <p:spPr>
            <a:xfrm>
              <a:off x="240" y="1344"/>
              <a:ext cx="4558" cy="1007"/>
            </a:xfrm>
            <a:prstGeom prst="rect">
              <a:avLst/>
            </a:prstGeom>
            <a:noFill/>
            <a:ln cap="sq" cmpd="sng" w="9525">
              <a:solidFill>
                <a:srgbClr val="A0A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46" name="Google Shape;746;p39"/>
          <p:cNvSpPr txBox="1"/>
          <p:nvPr/>
        </p:nvSpPr>
        <p:spPr>
          <a:xfrm>
            <a:off x="381000" y="1676400"/>
            <a:ext cx="670560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probability function</a:t>
            </a:r>
            <a:endParaRPr/>
          </a:p>
        </p:txBody>
      </p:sp>
      <p:sp>
        <p:nvSpPr>
          <p:cNvPr id="747" name="Google Shape;747;p39"/>
          <p:cNvSpPr txBox="1"/>
          <p:nvPr/>
        </p:nvSpPr>
        <p:spPr>
          <a:xfrm>
            <a:off x="304800" y="4191000"/>
            <a:ext cx="670560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Value</a:t>
            </a:r>
            <a:endParaRPr/>
          </a:p>
        </p:txBody>
      </p:sp>
      <p:sp>
        <p:nvSpPr>
          <p:cNvPr id="748" name="Google Shape;748;p39"/>
          <p:cNvSpPr txBox="1"/>
          <p:nvPr/>
        </p:nvSpPr>
        <p:spPr>
          <a:xfrm>
            <a:off x="0" y="4648200"/>
            <a:ext cx="91440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E(X) = P(win)*$2,000,000   +  P(lose)*-$1.00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2.0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10</a:t>
            </a:r>
            <a:r>
              <a:rPr b="0" baseline="3000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7.2 x 10</a:t>
            </a:r>
            <a:r>
              <a:rPr b="0" baseline="3000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-8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.999999928 (-1) =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.144 - .999999928 = -$.86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r>
              <a:rPr b="0" i="1" lang="en-US" sz="11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749" name="Google Shape;749;p39"/>
          <p:cNvSpPr txBox="1"/>
          <p:nvPr/>
        </p:nvSpPr>
        <p:spPr>
          <a:xfrm>
            <a:off x="-4762" y="5716587"/>
            <a:ext cx="6249987" cy="1144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expected value is never good!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shouldn’t play if you expect to lose money!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1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Expected Value</a:t>
            </a:r>
            <a:endParaRPr/>
          </a:p>
        </p:txBody>
      </p:sp>
      <p:sp>
        <p:nvSpPr>
          <p:cNvPr id="755" name="Google Shape;755;p40"/>
          <p:cNvSpPr txBox="1"/>
          <p:nvPr/>
        </p:nvSpPr>
        <p:spPr>
          <a:xfrm>
            <a:off x="0" y="2133600"/>
            <a:ext cx="91440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play the lottery every week for 10 years, what are your expected winnings or losses?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520 x (-.86) = -$447.20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Tahoma"/>
              <a:buNone/>
            </a:pPr>
            <a:br>
              <a:rPr b="0" i="0" lang="en-US" sz="2800" u="sng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800" u="sng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Gambling</a:t>
            </a:r>
            <a:r>
              <a:rPr b="0" i="0" lang="en-US" sz="28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 (or how casinos can afford to give so many free drinks…)</a:t>
            </a:r>
            <a:endParaRPr/>
          </a:p>
        </p:txBody>
      </p:sp>
      <p:sp>
        <p:nvSpPr>
          <p:cNvPr id="761" name="Google Shape;761;p41"/>
          <p:cNvSpPr txBox="1"/>
          <p:nvPr>
            <p:ph idx="1" type="body"/>
          </p:nvPr>
        </p:nvSpPr>
        <p:spPr>
          <a:xfrm>
            <a:off x="990600" y="20574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A roulette wheel has the numbers 1 through 36, as well as 0 and 00.  If you bet $1 that an odd number comes up, you win or lose  $1 according to whether or not that event occurs.  If random variable X denotes your net gain, X=1 with probability 18/38 and X= -1 with probability 20/38.  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E(X) = 1(18/38) – 1 (20/38) = -$.053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 average, the casino wins (and the player loses) 5 cents per game.  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casino rakes in even more if the stakes are higher: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E(X) = 10(18/38) – 10 (20/38) = -$.53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the cost is $10 per game, the casino wins an average of 53 cents per game.  If 10,000 games are played in a night, that’s a cool $5300.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**A few notes about Expected Value as a mathematical operator:</a:t>
            </a:r>
            <a:endParaRPr/>
          </a:p>
        </p:txBody>
      </p:sp>
      <p:sp>
        <p:nvSpPr>
          <p:cNvPr id="767" name="Google Shape;767;p42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c= a constant number (i.e., not a variable) and 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are any random variables…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E(c) = c 	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E(c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)=cE(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		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E(c + 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)=c + E(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 E(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E(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b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E(c) = c </a:t>
            </a:r>
            <a:endParaRPr/>
          </a:p>
        </p:txBody>
      </p:sp>
      <p:sp>
        <p:nvSpPr>
          <p:cNvPr id="773" name="Google Shape;773;p43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E(c) = c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Example: If you cash in soda cans in CA, you always get 5 cents per can. 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Therefore, there’s no randomness.  You always expect to (and do) get 5 cents.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E(c</a:t>
            </a:r>
            <a:r>
              <a:rPr b="0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)=cE(</a:t>
            </a:r>
            <a:r>
              <a:rPr b="0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sp>
        <p:nvSpPr>
          <p:cNvPr id="779" name="Google Shape;779;p44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E(c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)=cE(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	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Example: If the casino charges $10 per game instead of $1, then the casino expects to make 10 times as much on average from the game (See roulette example above!)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E(c + </a:t>
            </a:r>
            <a:r>
              <a:rPr b="0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)=c + E(</a:t>
            </a:r>
            <a:r>
              <a:rPr b="0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sp>
        <p:nvSpPr>
          <p:cNvPr id="785" name="Google Shape;785;p45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E(c + 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)=c + 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Example, if the casino throws in a free drink worth exactly $5.00 every time you play a game, you always expect to (and do) gain an extra $5.00 regardless of the outcome of the game.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E(</a:t>
            </a:r>
            <a:r>
              <a:rPr b="0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)= E(</a:t>
            </a:r>
            <a:r>
              <a:rPr b="0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) + E(</a:t>
            </a:r>
            <a:r>
              <a:rPr b="0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)  </a:t>
            </a:r>
            <a:endParaRPr/>
          </a:p>
        </p:txBody>
      </p:sp>
      <p:sp>
        <p:nvSpPr>
          <p:cNvPr id="791" name="Google Shape;791;p46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 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Example: If you play the lottery twice, you expect to lose: -$.86 + -$.86. 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1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1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NOTE: This works even if X and Y are dependent!!  Does not require independence!!  Proof left for later…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Practice Problem </a:t>
            </a:r>
            <a:endParaRPr/>
          </a:p>
        </p:txBody>
      </p:sp>
      <p:sp>
        <p:nvSpPr>
          <p:cNvPr id="797" name="Google Shape;797;p5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mo"/>
              <a:buNone/>
            </a:pPr>
            <a:r>
              <a:rPr b="0" i="0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If X is a random integer between 1 and 10, what’s the expected value of X?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99999"/>
              </a:buClr>
              <a:buSzPts val="3200"/>
              <a:buFont typeface="Arimo"/>
              <a:buNone/>
            </a:pPr>
            <a:r>
              <a:rPr b="0" i="0" lang="en-US" sz="3200" u="none">
                <a:solidFill>
                  <a:srgbClr val="999999"/>
                </a:solidFill>
                <a:latin typeface="Arimo"/>
                <a:ea typeface="Arimo"/>
                <a:cs typeface="Arimo"/>
                <a:sym typeface="Arimo"/>
              </a:rPr>
              <a:t>	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999999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Answer</a:t>
            </a:r>
            <a:endParaRPr/>
          </a:p>
        </p:txBody>
      </p:sp>
      <p:sp>
        <p:nvSpPr>
          <p:cNvPr id="803" name="Google Shape;803;p52"/>
          <p:cNvSpPr txBox="1"/>
          <p:nvPr>
            <p:ph idx="1" type="body"/>
          </p:nvPr>
        </p:nvSpPr>
        <p:spPr>
          <a:xfrm>
            <a:off x="1182687" y="2017712"/>
            <a:ext cx="7772400" cy="11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If X is a random integer between 1 and 10, what’s the expected value of X?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999999"/>
              </a:buClr>
              <a:buSzPts val="2800"/>
              <a:buFont typeface="Arimo"/>
              <a:buNone/>
            </a:pPr>
            <a:r>
              <a:rPr b="0" i="0" lang="en-US" sz="2800" u="none">
                <a:solidFill>
                  <a:srgbClr val="999999"/>
                </a:solidFill>
                <a:latin typeface="Arimo"/>
                <a:ea typeface="Arimo"/>
                <a:cs typeface="Arimo"/>
                <a:sym typeface="Arimo"/>
              </a:rPr>
              <a:t>	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99999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aphicFrame>
        <p:nvGraphicFramePr>
          <p:cNvPr id="804" name="Google Shape;804;p52"/>
          <p:cNvGraphicFramePr/>
          <p:nvPr/>
        </p:nvGraphicFramePr>
        <p:xfrm>
          <a:off x="1219200" y="3657600"/>
          <a:ext cx="6521450" cy="844550"/>
        </p:xfrm>
        <a:graphic>
          <a:graphicData uri="http://schemas.openxmlformats.org/presentationml/2006/ole">
            <mc:AlternateContent>
              <mc:Choice Requires="v">
                <p:oleObj r:id="rId4" imgH="844550" imgW="6521450" spid="_x0000_s1">
                  <p:embed/>
                </p:oleObj>
              </mc:Choice>
              <mc:Fallback>
                <p:oleObj r:id="rId5" imgH="844550" imgW="6521450">
                  <p:embed/>
                  <p:pic>
                    <p:nvPicPr>
                      <p:cNvPr id="804" name="Google Shape;804;p5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219200" y="3657600"/>
                        <a:ext cx="65214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Expected value isn’t everything though…</a:t>
            </a:r>
            <a:endParaRPr/>
          </a:p>
        </p:txBody>
      </p:sp>
      <p:sp>
        <p:nvSpPr>
          <p:cNvPr id="810" name="Google Shape;810;p53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Take the show “Deal or No Deal”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Everyone know the rules?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Let’s say you are down to two cases left. $1 and $400,000. The banker offers you $200,000. 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So, Deal or No Deal?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5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Deal or No Deal…</a:t>
            </a:r>
            <a:endParaRPr/>
          </a:p>
        </p:txBody>
      </p:sp>
      <p:sp>
        <p:nvSpPr>
          <p:cNvPr id="816" name="Google Shape;816;p54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This could really be represented as a probability distribution and a non-random variable:</a:t>
            </a:r>
            <a:endParaRPr/>
          </a:p>
        </p:txBody>
      </p:sp>
      <p:grpSp>
        <p:nvGrpSpPr>
          <p:cNvPr id="817" name="Google Shape;817;p54"/>
          <p:cNvGrpSpPr/>
          <p:nvPr/>
        </p:nvGrpSpPr>
        <p:grpSpPr>
          <a:xfrm>
            <a:off x="914400" y="3733800"/>
            <a:ext cx="7235825" cy="1598612"/>
            <a:chOff x="576" y="2352"/>
            <a:chExt cx="4558" cy="1007"/>
          </a:xfrm>
        </p:grpSpPr>
        <p:grpSp>
          <p:nvGrpSpPr>
            <p:cNvPr id="818" name="Google Shape;818;p54"/>
            <p:cNvGrpSpPr/>
            <p:nvPr/>
          </p:nvGrpSpPr>
          <p:grpSpPr>
            <a:xfrm>
              <a:off x="586" y="2354"/>
              <a:ext cx="4538" cy="1003"/>
              <a:chOff x="586" y="2354"/>
              <a:chExt cx="4538" cy="1003"/>
            </a:xfrm>
          </p:grpSpPr>
          <p:grpSp>
            <p:nvGrpSpPr>
              <p:cNvPr id="819" name="Google Shape;819;p54"/>
              <p:cNvGrpSpPr/>
              <p:nvPr/>
            </p:nvGrpSpPr>
            <p:grpSpPr>
              <a:xfrm>
                <a:off x="586" y="2354"/>
                <a:ext cx="2385" cy="304"/>
                <a:chOff x="586" y="2354"/>
                <a:chExt cx="2385" cy="304"/>
              </a:xfrm>
            </p:grpSpPr>
            <p:sp>
              <p:nvSpPr>
                <p:cNvPr id="820" name="Google Shape;820;p54"/>
                <p:cNvSpPr txBox="1"/>
                <p:nvPr/>
              </p:nvSpPr>
              <p:spPr>
                <a:xfrm>
                  <a:off x="725" y="2354"/>
                  <a:ext cx="2105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x$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21" name="Google Shape;821;p54"/>
                <p:cNvSpPr/>
                <p:nvPr/>
              </p:nvSpPr>
              <p:spPr>
                <a:xfrm>
                  <a:off x="586" y="2354"/>
                  <a:ext cx="2385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822" name="Google Shape;822;p54"/>
              <p:cNvGrpSpPr/>
              <p:nvPr/>
            </p:nvGrpSpPr>
            <p:grpSpPr>
              <a:xfrm>
                <a:off x="2973" y="2354"/>
                <a:ext cx="2151" cy="304"/>
                <a:chOff x="2973" y="2354"/>
                <a:chExt cx="2151" cy="304"/>
              </a:xfrm>
            </p:grpSpPr>
            <p:sp>
              <p:nvSpPr>
                <p:cNvPr id="823" name="Google Shape;823;p54"/>
                <p:cNvSpPr txBox="1"/>
                <p:nvPr/>
              </p:nvSpPr>
              <p:spPr>
                <a:xfrm>
                  <a:off x="3112" y="2354"/>
                  <a:ext cx="1871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24" name="Google Shape;824;p54"/>
                <p:cNvSpPr/>
                <p:nvPr/>
              </p:nvSpPr>
              <p:spPr>
                <a:xfrm>
                  <a:off x="2973" y="2354"/>
                  <a:ext cx="2151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825" name="Google Shape;825;p54"/>
              <p:cNvGrpSpPr/>
              <p:nvPr/>
            </p:nvGrpSpPr>
            <p:grpSpPr>
              <a:xfrm>
                <a:off x="586" y="2659"/>
                <a:ext cx="2385" cy="392"/>
                <a:chOff x="586" y="2659"/>
                <a:chExt cx="2385" cy="392"/>
              </a:xfrm>
            </p:grpSpPr>
            <p:sp>
              <p:nvSpPr>
                <p:cNvPr id="826" name="Google Shape;826;p54"/>
                <p:cNvSpPr txBox="1"/>
                <p:nvPr/>
              </p:nvSpPr>
              <p:spPr>
                <a:xfrm>
                  <a:off x="725" y="2659"/>
                  <a:ext cx="2105" cy="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+1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27" name="Google Shape;827;p54"/>
                <p:cNvSpPr/>
                <p:nvPr/>
              </p:nvSpPr>
              <p:spPr>
                <a:xfrm>
                  <a:off x="586" y="2659"/>
                  <a:ext cx="2385" cy="392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828" name="Google Shape;828;p54"/>
              <p:cNvGrpSpPr/>
              <p:nvPr/>
            </p:nvGrpSpPr>
            <p:grpSpPr>
              <a:xfrm>
                <a:off x="2973" y="2659"/>
                <a:ext cx="2151" cy="392"/>
                <a:chOff x="2973" y="2659"/>
                <a:chExt cx="2151" cy="392"/>
              </a:xfrm>
            </p:grpSpPr>
            <p:sp>
              <p:nvSpPr>
                <p:cNvPr id="829" name="Google Shape;829;p54"/>
                <p:cNvSpPr txBox="1"/>
                <p:nvPr/>
              </p:nvSpPr>
              <p:spPr>
                <a:xfrm>
                  <a:off x="3112" y="2659"/>
                  <a:ext cx="1871" cy="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.50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30" name="Google Shape;830;p54"/>
                <p:cNvSpPr/>
                <p:nvPr/>
              </p:nvSpPr>
              <p:spPr>
                <a:xfrm>
                  <a:off x="2973" y="2659"/>
                  <a:ext cx="2151" cy="392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831" name="Google Shape;831;p54"/>
              <p:cNvGrpSpPr/>
              <p:nvPr/>
            </p:nvGrpSpPr>
            <p:grpSpPr>
              <a:xfrm>
                <a:off x="586" y="3053"/>
                <a:ext cx="2385" cy="304"/>
                <a:chOff x="586" y="3053"/>
                <a:chExt cx="2385" cy="304"/>
              </a:xfrm>
            </p:grpSpPr>
            <p:sp>
              <p:nvSpPr>
                <p:cNvPr id="832" name="Google Shape;832;p54"/>
                <p:cNvSpPr txBox="1"/>
                <p:nvPr/>
              </p:nvSpPr>
              <p:spPr>
                <a:xfrm>
                  <a:off x="725" y="3053"/>
                  <a:ext cx="2105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+$400,000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33" name="Google Shape;833;p54"/>
                <p:cNvSpPr/>
                <p:nvPr/>
              </p:nvSpPr>
              <p:spPr>
                <a:xfrm>
                  <a:off x="586" y="3053"/>
                  <a:ext cx="2385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834" name="Google Shape;834;p54"/>
              <p:cNvGrpSpPr/>
              <p:nvPr/>
            </p:nvGrpSpPr>
            <p:grpSpPr>
              <a:xfrm>
                <a:off x="2973" y="3053"/>
                <a:ext cx="2151" cy="304"/>
                <a:chOff x="2973" y="3053"/>
                <a:chExt cx="2151" cy="304"/>
              </a:xfrm>
            </p:grpSpPr>
            <p:sp>
              <p:nvSpPr>
                <p:cNvPr id="835" name="Google Shape;835;p54"/>
                <p:cNvSpPr txBox="1"/>
                <p:nvPr/>
              </p:nvSpPr>
              <p:spPr>
                <a:xfrm>
                  <a:off x="3112" y="3053"/>
                  <a:ext cx="1871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0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	    </a:t>
                  </a: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.50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36" name="Google Shape;836;p54"/>
                <p:cNvSpPr/>
                <p:nvPr/>
              </p:nvSpPr>
              <p:spPr>
                <a:xfrm>
                  <a:off x="2973" y="3053"/>
                  <a:ext cx="2151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837" name="Google Shape;837;p54"/>
            <p:cNvSpPr/>
            <p:nvPr/>
          </p:nvSpPr>
          <p:spPr>
            <a:xfrm>
              <a:off x="576" y="2352"/>
              <a:ext cx="4558" cy="1007"/>
            </a:xfrm>
            <a:prstGeom prst="rect">
              <a:avLst/>
            </a:prstGeom>
            <a:noFill/>
            <a:ln cap="sq" cmpd="sng" w="9525">
              <a:solidFill>
                <a:srgbClr val="A0A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38" name="Google Shape;838;p54"/>
          <p:cNvGrpSpPr/>
          <p:nvPr/>
        </p:nvGrpSpPr>
        <p:grpSpPr>
          <a:xfrm>
            <a:off x="914400" y="5751512"/>
            <a:ext cx="7204075" cy="1104900"/>
            <a:chOff x="576" y="3623"/>
            <a:chExt cx="4538" cy="696"/>
          </a:xfrm>
        </p:grpSpPr>
        <p:grpSp>
          <p:nvGrpSpPr>
            <p:cNvPr id="839" name="Google Shape;839;p54"/>
            <p:cNvGrpSpPr/>
            <p:nvPr/>
          </p:nvGrpSpPr>
          <p:grpSpPr>
            <a:xfrm>
              <a:off x="576" y="3623"/>
              <a:ext cx="2385" cy="304"/>
              <a:chOff x="576" y="3623"/>
              <a:chExt cx="2385" cy="304"/>
            </a:xfrm>
          </p:grpSpPr>
          <p:sp>
            <p:nvSpPr>
              <p:cNvPr id="840" name="Google Shape;840;p54"/>
              <p:cNvSpPr txBox="1"/>
              <p:nvPr/>
            </p:nvSpPr>
            <p:spPr>
              <a:xfrm>
                <a:off x="716" y="3623"/>
                <a:ext cx="2105" cy="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1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x$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41" name="Google Shape;841;p54"/>
              <p:cNvSpPr/>
              <p:nvPr/>
            </p:nvSpPr>
            <p:spPr>
              <a:xfrm>
                <a:off x="576" y="3623"/>
                <a:ext cx="2385" cy="304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42" name="Google Shape;842;p54"/>
            <p:cNvGrpSpPr/>
            <p:nvPr/>
          </p:nvGrpSpPr>
          <p:grpSpPr>
            <a:xfrm>
              <a:off x="2963" y="3623"/>
              <a:ext cx="2151" cy="304"/>
              <a:chOff x="2963" y="3623"/>
              <a:chExt cx="2151" cy="304"/>
            </a:xfrm>
          </p:grpSpPr>
          <p:sp>
            <p:nvSpPr>
              <p:cNvPr id="843" name="Google Shape;843;p54"/>
              <p:cNvSpPr txBox="1"/>
              <p:nvPr/>
            </p:nvSpPr>
            <p:spPr>
              <a:xfrm>
                <a:off x="3102" y="3623"/>
                <a:ext cx="1872" cy="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1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p(x)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44" name="Google Shape;844;p54"/>
              <p:cNvSpPr/>
              <p:nvPr/>
            </p:nvSpPr>
            <p:spPr>
              <a:xfrm>
                <a:off x="2963" y="3623"/>
                <a:ext cx="2151" cy="304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45" name="Google Shape;845;p54"/>
            <p:cNvGrpSpPr/>
            <p:nvPr/>
          </p:nvGrpSpPr>
          <p:grpSpPr>
            <a:xfrm>
              <a:off x="576" y="3928"/>
              <a:ext cx="2385" cy="391"/>
              <a:chOff x="576" y="3928"/>
              <a:chExt cx="2385" cy="391"/>
            </a:xfrm>
          </p:grpSpPr>
          <p:sp>
            <p:nvSpPr>
              <p:cNvPr id="846" name="Google Shape;846;p54"/>
              <p:cNvSpPr txBox="1"/>
              <p:nvPr/>
            </p:nvSpPr>
            <p:spPr>
              <a:xfrm>
                <a:off x="716" y="3928"/>
                <a:ext cx="2105" cy="3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+$200,000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47" name="Google Shape;847;p54"/>
              <p:cNvSpPr/>
              <p:nvPr/>
            </p:nvSpPr>
            <p:spPr>
              <a:xfrm>
                <a:off x="576" y="3928"/>
                <a:ext cx="2385" cy="39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48" name="Google Shape;848;p54"/>
            <p:cNvGrpSpPr/>
            <p:nvPr/>
          </p:nvGrpSpPr>
          <p:grpSpPr>
            <a:xfrm>
              <a:off x="2963" y="3928"/>
              <a:ext cx="2151" cy="391"/>
              <a:chOff x="2963" y="3928"/>
              <a:chExt cx="2151" cy="391"/>
            </a:xfrm>
          </p:grpSpPr>
          <p:sp>
            <p:nvSpPr>
              <p:cNvPr id="849" name="Google Shape;849;p54"/>
              <p:cNvSpPr txBox="1"/>
              <p:nvPr/>
            </p:nvSpPr>
            <p:spPr>
              <a:xfrm>
                <a:off x="3102" y="3928"/>
                <a:ext cx="1872" cy="3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1.0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50" name="Google Shape;850;p54"/>
              <p:cNvSpPr/>
              <p:nvPr/>
            </p:nvSpPr>
            <p:spPr>
              <a:xfrm>
                <a:off x="2963" y="3928"/>
                <a:ext cx="2151" cy="39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Expected value doesn’t help…</a:t>
            </a:r>
            <a:endParaRPr/>
          </a:p>
        </p:txBody>
      </p:sp>
      <p:grpSp>
        <p:nvGrpSpPr>
          <p:cNvPr id="856" name="Google Shape;856;p55"/>
          <p:cNvGrpSpPr/>
          <p:nvPr/>
        </p:nvGrpSpPr>
        <p:grpSpPr>
          <a:xfrm>
            <a:off x="914400" y="2362200"/>
            <a:ext cx="7235825" cy="1598612"/>
            <a:chOff x="576" y="1488"/>
            <a:chExt cx="4558" cy="1007"/>
          </a:xfrm>
        </p:grpSpPr>
        <p:grpSp>
          <p:nvGrpSpPr>
            <p:cNvPr id="857" name="Google Shape;857;p55"/>
            <p:cNvGrpSpPr/>
            <p:nvPr/>
          </p:nvGrpSpPr>
          <p:grpSpPr>
            <a:xfrm>
              <a:off x="586" y="1490"/>
              <a:ext cx="4538" cy="1003"/>
              <a:chOff x="586" y="1490"/>
              <a:chExt cx="4538" cy="1003"/>
            </a:xfrm>
          </p:grpSpPr>
          <p:grpSp>
            <p:nvGrpSpPr>
              <p:cNvPr id="858" name="Google Shape;858;p55"/>
              <p:cNvGrpSpPr/>
              <p:nvPr/>
            </p:nvGrpSpPr>
            <p:grpSpPr>
              <a:xfrm>
                <a:off x="586" y="1490"/>
                <a:ext cx="2385" cy="304"/>
                <a:chOff x="586" y="1490"/>
                <a:chExt cx="2385" cy="304"/>
              </a:xfrm>
            </p:grpSpPr>
            <p:sp>
              <p:nvSpPr>
                <p:cNvPr id="859" name="Google Shape;859;p55"/>
                <p:cNvSpPr txBox="1"/>
                <p:nvPr/>
              </p:nvSpPr>
              <p:spPr>
                <a:xfrm>
                  <a:off x="725" y="1490"/>
                  <a:ext cx="2105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x$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60" name="Google Shape;860;p55"/>
                <p:cNvSpPr/>
                <p:nvPr/>
              </p:nvSpPr>
              <p:spPr>
                <a:xfrm>
                  <a:off x="586" y="1490"/>
                  <a:ext cx="2385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861" name="Google Shape;861;p55"/>
              <p:cNvGrpSpPr/>
              <p:nvPr/>
            </p:nvGrpSpPr>
            <p:grpSpPr>
              <a:xfrm>
                <a:off x="2973" y="1490"/>
                <a:ext cx="2151" cy="304"/>
                <a:chOff x="2973" y="1490"/>
                <a:chExt cx="2151" cy="304"/>
              </a:xfrm>
            </p:grpSpPr>
            <p:sp>
              <p:nvSpPr>
                <p:cNvPr id="862" name="Google Shape;862;p55"/>
                <p:cNvSpPr txBox="1"/>
                <p:nvPr/>
              </p:nvSpPr>
              <p:spPr>
                <a:xfrm>
                  <a:off x="3112" y="1490"/>
                  <a:ext cx="1871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63" name="Google Shape;863;p55"/>
                <p:cNvSpPr/>
                <p:nvPr/>
              </p:nvSpPr>
              <p:spPr>
                <a:xfrm>
                  <a:off x="2973" y="1490"/>
                  <a:ext cx="2151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864" name="Google Shape;864;p55"/>
              <p:cNvGrpSpPr/>
              <p:nvPr/>
            </p:nvGrpSpPr>
            <p:grpSpPr>
              <a:xfrm>
                <a:off x="586" y="1795"/>
                <a:ext cx="2385" cy="392"/>
                <a:chOff x="586" y="1795"/>
                <a:chExt cx="2385" cy="392"/>
              </a:xfrm>
            </p:grpSpPr>
            <p:sp>
              <p:nvSpPr>
                <p:cNvPr id="865" name="Google Shape;865;p55"/>
                <p:cNvSpPr txBox="1"/>
                <p:nvPr/>
              </p:nvSpPr>
              <p:spPr>
                <a:xfrm>
                  <a:off x="725" y="1795"/>
                  <a:ext cx="2105" cy="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+1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66" name="Google Shape;866;p55"/>
                <p:cNvSpPr/>
                <p:nvPr/>
              </p:nvSpPr>
              <p:spPr>
                <a:xfrm>
                  <a:off x="586" y="1795"/>
                  <a:ext cx="2385" cy="392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867" name="Google Shape;867;p55"/>
              <p:cNvGrpSpPr/>
              <p:nvPr/>
            </p:nvGrpSpPr>
            <p:grpSpPr>
              <a:xfrm>
                <a:off x="2973" y="1795"/>
                <a:ext cx="2151" cy="392"/>
                <a:chOff x="2973" y="1795"/>
                <a:chExt cx="2151" cy="392"/>
              </a:xfrm>
            </p:grpSpPr>
            <p:sp>
              <p:nvSpPr>
                <p:cNvPr id="868" name="Google Shape;868;p55"/>
                <p:cNvSpPr txBox="1"/>
                <p:nvPr/>
              </p:nvSpPr>
              <p:spPr>
                <a:xfrm>
                  <a:off x="3112" y="1795"/>
                  <a:ext cx="1871" cy="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.50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69" name="Google Shape;869;p55"/>
                <p:cNvSpPr/>
                <p:nvPr/>
              </p:nvSpPr>
              <p:spPr>
                <a:xfrm>
                  <a:off x="2973" y="1795"/>
                  <a:ext cx="2151" cy="392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870" name="Google Shape;870;p55"/>
              <p:cNvGrpSpPr/>
              <p:nvPr/>
            </p:nvGrpSpPr>
            <p:grpSpPr>
              <a:xfrm>
                <a:off x="586" y="2189"/>
                <a:ext cx="2385" cy="304"/>
                <a:chOff x="586" y="2189"/>
                <a:chExt cx="2385" cy="304"/>
              </a:xfrm>
            </p:grpSpPr>
            <p:sp>
              <p:nvSpPr>
                <p:cNvPr id="871" name="Google Shape;871;p55"/>
                <p:cNvSpPr txBox="1"/>
                <p:nvPr/>
              </p:nvSpPr>
              <p:spPr>
                <a:xfrm>
                  <a:off x="725" y="2189"/>
                  <a:ext cx="2105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+$400,000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72" name="Google Shape;872;p55"/>
                <p:cNvSpPr/>
                <p:nvPr/>
              </p:nvSpPr>
              <p:spPr>
                <a:xfrm>
                  <a:off x="586" y="2189"/>
                  <a:ext cx="2385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873" name="Google Shape;873;p55"/>
              <p:cNvGrpSpPr/>
              <p:nvPr/>
            </p:nvGrpSpPr>
            <p:grpSpPr>
              <a:xfrm>
                <a:off x="2973" y="2189"/>
                <a:ext cx="2151" cy="304"/>
                <a:chOff x="2973" y="2189"/>
                <a:chExt cx="2151" cy="304"/>
              </a:xfrm>
            </p:grpSpPr>
            <p:sp>
              <p:nvSpPr>
                <p:cNvPr id="874" name="Google Shape;874;p55"/>
                <p:cNvSpPr txBox="1"/>
                <p:nvPr/>
              </p:nvSpPr>
              <p:spPr>
                <a:xfrm>
                  <a:off x="3112" y="2189"/>
                  <a:ext cx="1871" cy="3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mo"/>
                    <a:buNone/>
                  </a:pPr>
                  <a:r>
                    <a:rPr b="0" i="1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	    </a:t>
                  </a:r>
                  <a:r>
                    <a:rPr b="1" i="0" lang="en-US" sz="2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.50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75" name="Google Shape;875;p55"/>
                <p:cNvSpPr/>
                <p:nvPr/>
              </p:nvSpPr>
              <p:spPr>
                <a:xfrm>
                  <a:off x="2973" y="2189"/>
                  <a:ext cx="2151" cy="304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876" name="Google Shape;876;p55"/>
            <p:cNvSpPr/>
            <p:nvPr/>
          </p:nvSpPr>
          <p:spPr>
            <a:xfrm>
              <a:off x="576" y="1488"/>
              <a:ext cx="4558" cy="1007"/>
            </a:xfrm>
            <a:prstGeom prst="rect">
              <a:avLst/>
            </a:prstGeom>
            <a:noFill/>
            <a:ln cap="sq" cmpd="sng" w="9525">
              <a:solidFill>
                <a:srgbClr val="A0A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77" name="Google Shape;877;p55"/>
          <p:cNvGrpSpPr/>
          <p:nvPr/>
        </p:nvGrpSpPr>
        <p:grpSpPr>
          <a:xfrm>
            <a:off x="990600" y="5105400"/>
            <a:ext cx="7204075" cy="1104900"/>
            <a:chOff x="624" y="3216"/>
            <a:chExt cx="4538" cy="696"/>
          </a:xfrm>
        </p:grpSpPr>
        <p:grpSp>
          <p:nvGrpSpPr>
            <p:cNvPr id="878" name="Google Shape;878;p55"/>
            <p:cNvGrpSpPr/>
            <p:nvPr/>
          </p:nvGrpSpPr>
          <p:grpSpPr>
            <a:xfrm>
              <a:off x="624" y="3216"/>
              <a:ext cx="2385" cy="304"/>
              <a:chOff x="624" y="3216"/>
              <a:chExt cx="2385" cy="304"/>
            </a:xfrm>
          </p:grpSpPr>
          <p:sp>
            <p:nvSpPr>
              <p:cNvPr id="879" name="Google Shape;879;p55"/>
              <p:cNvSpPr txBox="1"/>
              <p:nvPr/>
            </p:nvSpPr>
            <p:spPr>
              <a:xfrm>
                <a:off x="764" y="3216"/>
                <a:ext cx="2105" cy="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1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x$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80" name="Google Shape;880;p55"/>
              <p:cNvSpPr/>
              <p:nvPr/>
            </p:nvSpPr>
            <p:spPr>
              <a:xfrm>
                <a:off x="624" y="3216"/>
                <a:ext cx="2385" cy="304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81" name="Google Shape;881;p55"/>
            <p:cNvGrpSpPr/>
            <p:nvPr/>
          </p:nvGrpSpPr>
          <p:grpSpPr>
            <a:xfrm>
              <a:off x="3011" y="3216"/>
              <a:ext cx="2151" cy="304"/>
              <a:chOff x="3011" y="3216"/>
              <a:chExt cx="2151" cy="304"/>
            </a:xfrm>
          </p:grpSpPr>
          <p:sp>
            <p:nvSpPr>
              <p:cNvPr id="882" name="Google Shape;882;p55"/>
              <p:cNvSpPr txBox="1"/>
              <p:nvPr/>
            </p:nvSpPr>
            <p:spPr>
              <a:xfrm>
                <a:off x="3150" y="3216"/>
                <a:ext cx="1872" cy="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1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p(x)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83" name="Google Shape;883;p55"/>
              <p:cNvSpPr/>
              <p:nvPr/>
            </p:nvSpPr>
            <p:spPr>
              <a:xfrm>
                <a:off x="3011" y="3216"/>
                <a:ext cx="2151" cy="304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84" name="Google Shape;884;p55"/>
            <p:cNvGrpSpPr/>
            <p:nvPr/>
          </p:nvGrpSpPr>
          <p:grpSpPr>
            <a:xfrm>
              <a:off x="624" y="3521"/>
              <a:ext cx="2385" cy="391"/>
              <a:chOff x="624" y="3521"/>
              <a:chExt cx="2385" cy="391"/>
            </a:xfrm>
          </p:grpSpPr>
          <p:sp>
            <p:nvSpPr>
              <p:cNvPr id="885" name="Google Shape;885;p55"/>
              <p:cNvSpPr txBox="1"/>
              <p:nvPr/>
            </p:nvSpPr>
            <p:spPr>
              <a:xfrm>
                <a:off x="764" y="3521"/>
                <a:ext cx="2105" cy="3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+$200,000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86" name="Google Shape;886;p55"/>
              <p:cNvSpPr/>
              <p:nvPr/>
            </p:nvSpPr>
            <p:spPr>
              <a:xfrm>
                <a:off x="624" y="3521"/>
                <a:ext cx="2385" cy="39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87" name="Google Shape;887;p55"/>
            <p:cNvGrpSpPr/>
            <p:nvPr/>
          </p:nvGrpSpPr>
          <p:grpSpPr>
            <a:xfrm>
              <a:off x="3011" y="3521"/>
              <a:ext cx="2151" cy="391"/>
              <a:chOff x="3011" y="3521"/>
              <a:chExt cx="2151" cy="391"/>
            </a:xfrm>
          </p:grpSpPr>
          <p:sp>
            <p:nvSpPr>
              <p:cNvPr id="888" name="Google Shape;888;p55"/>
              <p:cNvSpPr txBox="1"/>
              <p:nvPr/>
            </p:nvSpPr>
            <p:spPr>
              <a:xfrm>
                <a:off x="3150" y="3521"/>
                <a:ext cx="1872" cy="3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mo"/>
                  <a:buNone/>
                </a:pPr>
                <a:r>
                  <a:rPr b="1" i="0" lang="en-US" sz="20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1.0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89" name="Google Shape;889;p55"/>
              <p:cNvSpPr/>
              <p:nvPr/>
            </p:nvSpPr>
            <p:spPr>
              <a:xfrm>
                <a:off x="3011" y="3521"/>
                <a:ext cx="2151" cy="391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aphicFrame>
        <p:nvGraphicFramePr>
          <p:cNvPr id="890" name="Google Shape;890;p55"/>
          <p:cNvGraphicFramePr/>
          <p:nvPr/>
        </p:nvGraphicFramePr>
        <p:xfrm>
          <a:off x="1470025" y="4038600"/>
          <a:ext cx="6454775" cy="619125"/>
        </p:xfrm>
        <a:graphic>
          <a:graphicData uri="http://schemas.openxmlformats.org/presentationml/2006/ole">
            <mc:AlternateContent>
              <mc:Choice Requires="v">
                <p:oleObj r:id="rId4" imgH="619125" imgW="6454775" spid="_x0000_s1">
                  <p:embed/>
                </p:oleObj>
              </mc:Choice>
              <mc:Fallback>
                <p:oleObj r:id="rId5" imgH="619125" imgW="6454775">
                  <p:embed/>
                  <p:pic>
                    <p:nvPicPr>
                      <p:cNvPr id="890" name="Google Shape;890;p5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470025" y="4038600"/>
                        <a:ext cx="64547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" name="Google Shape;891;p55"/>
          <p:cNvGraphicFramePr/>
          <p:nvPr/>
        </p:nvGraphicFramePr>
        <p:xfrm>
          <a:off x="3425825" y="6375400"/>
          <a:ext cx="2141537" cy="344487"/>
        </p:xfrm>
        <a:graphic>
          <a:graphicData uri="http://schemas.openxmlformats.org/presentationml/2006/ole">
            <mc:AlternateContent>
              <mc:Choice Requires="v">
                <p:oleObj r:id="rId7" imgH="344487" imgW="2141537" spid="_x0000_s2">
                  <p:embed/>
                </p:oleObj>
              </mc:Choice>
              <mc:Fallback>
                <p:oleObj r:id="rId8" imgH="344487" imgW="2141537">
                  <p:embed/>
                  <p:pic>
                    <p:nvPicPr>
                      <p:cNvPr id="891" name="Google Shape;891;p55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425825" y="6375400"/>
                        <a:ext cx="2141537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5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How to decide?</a:t>
            </a:r>
            <a:endParaRPr/>
          </a:p>
        </p:txBody>
      </p:sp>
      <p:sp>
        <p:nvSpPr>
          <p:cNvPr id="897" name="Google Shape;897;p56"/>
          <p:cNvSpPr txBox="1"/>
          <p:nvPr/>
        </p:nvSpPr>
        <p:spPr>
          <a:xfrm>
            <a:off x="609600" y="2209800"/>
            <a:ext cx="7620000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Variance!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If you take the deal, the variance/standard deviation is 0.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you don’t take the deal, what is average deviation from the mean?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What’s your gut guess?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Variance/standard deviation</a:t>
            </a:r>
            <a:endParaRPr/>
          </a:p>
        </p:txBody>
      </p:sp>
      <p:sp>
        <p:nvSpPr>
          <p:cNvPr id="903" name="Google Shape;903;p5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“The average (expected) squared distance (or deviation) from the mean”</a:t>
            </a:r>
            <a:endParaRPr/>
          </a:p>
        </p:txBody>
      </p:sp>
      <p:graphicFrame>
        <p:nvGraphicFramePr>
          <p:cNvPr id="904" name="Google Shape;904;p57"/>
          <p:cNvGraphicFramePr/>
          <p:nvPr/>
        </p:nvGraphicFramePr>
        <p:xfrm>
          <a:off x="939800" y="3695700"/>
          <a:ext cx="7864475" cy="962025"/>
        </p:xfrm>
        <a:graphic>
          <a:graphicData uri="http://schemas.openxmlformats.org/presentationml/2006/ole">
            <mc:AlternateContent>
              <mc:Choice Requires="v">
                <p:oleObj r:id="rId4" imgH="962025" imgW="7864475" spid="_x0000_s1">
                  <p:embed/>
                </p:oleObj>
              </mc:Choice>
              <mc:Fallback>
                <p:oleObj r:id="rId5" imgH="962025" imgW="7864475">
                  <p:embed/>
                  <p:pic>
                    <p:nvPicPr>
                      <p:cNvPr id="904" name="Google Shape;904;p5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39800" y="3695700"/>
                        <a:ext cx="786447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5" name="Google Shape;905;p57"/>
          <p:cNvSpPr txBox="1"/>
          <p:nvPr/>
        </p:nvSpPr>
        <p:spPr>
          <a:xfrm>
            <a:off x="1143000" y="5942012"/>
            <a:ext cx="72390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**We square because squaring has better properties than absolute value.  Take square root to get back linear average distance from the mean (=”standard deviation”).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5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Variance, formally</a:t>
            </a:r>
            <a:endParaRPr/>
          </a:p>
        </p:txBody>
      </p:sp>
      <p:graphicFrame>
        <p:nvGraphicFramePr>
          <p:cNvPr id="911" name="Google Shape;911;p58"/>
          <p:cNvGraphicFramePr/>
          <p:nvPr/>
        </p:nvGraphicFramePr>
        <p:xfrm>
          <a:off x="1471612" y="2743200"/>
          <a:ext cx="6045200" cy="1017587"/>
        </p:xfrm>
        <a:graphic>
          <a:graphicData uri="http://schemas.openxmlformats.org/presentationml/2006/ole">
            <mc:AlternateContent>
              <mc:Choice Requires="v">
                <p:oleObj r:id="rId4" imgH="1017587" imgW="6045200" spid="_x0000_s1">
                  <p:embed/>
                </p:oleObj>
              </mc:Choice>
              <mc:Fallback>
                <p:oleObj r:id="rId5" imgH="1017587" imgW="6045200">
                  <p:embed/>
                  <p:pic>
                    <p:nvPicPr>
                      <p:cNvPr id="911" name="Google Shape;911;p5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471612" y="2743200"/>
                        <a:ext cx="6045200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2" name="Google Shape;912;p58"/>
          <p:cNvSpPr txBox="1"/>
          <p:nvPr/>
        </p:nvSpPr>
        <p:spPr>
          <a:xfrm>
            <a:off x="685800" y="2057400"/>
            <a:ext cx="62484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case:</a:t>
            </a:r>
            <a:endParaRPr/>
          </a:p>
        </p:txBody>
      </p:sp>
      <p:sp>
        <p:nvSpPr>
          <p:cNvPr id="913" name="Google Shape;913;p58"/>
          <p:cNvSpPr txBox="1"/>
          <p:nvPr/>
        </p:nvSpPr>
        <p:spPr>
          <a:xfrm>
            <a:off x="609600" y="4724400"/>
            <a:ext cx="62484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case:</a:t>
            </a:r>
            <a:endParaRPr/>
          </a:p>
        </p:txBody>
      </p:sp>
      <p:graphicFrame>
        <p:nvGraphicFramePr>
          <p:cNvPr id="914" name="Google Shape;914;p58"/>
          <p:cNvGraphicFramePr/>
          <p:nvPr/>
        </p:nvGraphicFramePr>
        <p:xfrm>
          <a:off x="1589087" y="5287962"/>
          <a:ext cx="6275387" cy="1393825"/>
        </p:xfrm>
        <a:graphic>
          <a:graphicData uri="http://schemas.openxmlformats.org/presentationml/2006/ole">
            <mc:AlternateContent>
              <mc:Choice Requires="v">
                <p:oleObj r:id="rId7" imgH="1393825" imgW="6275387" spid="_x0000_s2">
                  <p:embed/>
                </p:oleObj>
              </mc:Choice>
              <mc:Fallback>
                <p:oleObj r:id="rId8" imgH="1393825" imgW="6275387">
                  <p:embed/>
                  <p:pic>
                    <p:nvPicPr>
                      <p:cNvPr id="914" name="Google Shape;914;p58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9087" y="5287962"/>
                        <a:ext cx="6275387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Symbol Interlude</a:t>
            </a:r>
            <a:endParaRPr/>
          </a:p>
        </p:txBody>
      </p:sp>
      <p:sp>
        <p:nvSpPr>
          <p:cNvPr id="920" name="Google Shape;920;p60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Var(X) =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baseline="3000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these symbols are used interchangeably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Variance: Deal or No Deal</a:t>
            </a:r>
            <a:endParaRPr/>
          </a:p>
        </p:txBody>
      </p:sp>
      <p:graphicFrame>
        <p:nvGraphicFramePr>
          <p:cNvPr id="926" name="Google Shape;926;p61"/>
          <p:cNvGraphicFramePr/>
          <p:nvPr/>
        </p:nvGraphicFramePr>
        <p:xfrm>
          <a:off x="2319337" y="2438400"/>
          <a:ext cx="3897312" cy="962025"/>
        </p:xfrm>
        <a:graphic>
          <a:graphicData uri="http://schemas.openxmlformats.org/presentationml/2006/ole">
            <mc:AlternateContent>
              <mc:Choice Requires="v">
                <p:oleObj r:id="rId4" imgH="962025" imgW="3897312" spid="_x0000_s1">
                  <p:embed/>
                </p:oleObj>
              </mc:Choice>
              <mc:Fallback>
                <p:oleObj r:id="rId5" imgH="962025" imgW="3897312">
                  <p:embed/>
                  <p:pic>
                    <p:nvPicPr>
                      <p:cNvPr id="926" name="Google Shape;926;p6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319337" y="2438400"/>
                        <a:ext cx="3897312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7" name="Google Shape;927;p61"/>
          <p:cNvGraphicFramePr/>
          <p:nvPr/>
        </p:nvGraphicFramePr>
        <p:xfrm>
          <a:off x="0" y="3581400"/>
          <a:ext cx="9144000" cy="2279650"/>
        </p:xfrm>
        <a:graphic>
          <a:graphicData uri="http://schemas.openxmlformats.org/presentationml/2006/ole">
            <mc:AlternateContent>
              <mc:Choice Requires="v">
                <p:oleObj r:id="rId7" imgH="2279650" imgW="9144000" spid="_x0000_s2">
                  <p:embed/>
                </p:oleObj>
              </mc:Choice>
              <mc:Fallback>
                <p:oleObj r:id="rId8" imgH="2279650" imgW="9144000">
                  <p:embed/>
                  <p:pic>
                    <p:nvPicPr>
                      <p:cNvPr id="927" name="Google Shape;927;p61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0" y="3581400"/>
                        <a:ext cx="9144000" cy="227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8" name="Google Shape;928;p61"/>
          <p:cNvSpPr txBox="1"/>
          <p:nvPr/>
        </p:nvSpPr>
        <p:spPr>
          <a:xfrm>
            <a:off x="457200" y="6400800"/>
            <a:ext cx="7620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1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Now you examine your personal risk tolerance…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Practice Problem</a:t>
            </a:r>
            <a:endParaRPr/>
          </a:p>
        </p:txBody>
      </p:sp>
      <p:sp>
        <p:nvSpPr>
          <p:cNvPr id="934" name="Google Shape;934;p62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A roulette wheel has the numbers 1 through 36, as well as 0 and 00.  If you bet $1.00 that an odd number comes up, you win or lose $1.00 according to whether or not that event occurs.  If 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denotes your net gain, 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=1 with probability 18/38 and 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-1 with probability 20/38. 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We already calculated the mean to be = -$.053.  What’s the variance of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Answer</a:t>
            </a:r>
            <a:endParaRPr/>
          </a:p>
        </p:txBody>
      </p:sp>
      <p:sp>
        <p:nvSpPr>
          <p:cNvPr id="940" name="Google Shape;940;p63"/>
          <p:cNvSpPr txBox="1"/>
          <p:nvPr>
            <p:ph idx="1" type="body"/>
          </p:nvPr>
        </p:nvSpPr>
        <p:spPr>
          <a:xfrm>
            <a:off x="685800" y="5562600"/>
            <a:ext cx="7772400" cy="1295400"/>
          </a:xfrm>
          <a:prstGeom prst="rect">
            <a:avLst/>
          </a:prstGeom>
          <a:noFill/>
          <a:ln cap="sq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	Standard deviation is $.99. Interpretation: On average, you’re either 1 dollar above or 1 dollar below the mean, which is just under zero.  Makes sense!</a:t>
            </a:r>
            <a:endParaRPr/>
          </a:p>
        </p:txBody>
      </p:sp>
      <p:graphicFrame>
        <p:nvGraphicFramePr>
          <p:cNvPr id="941" name="Google Shape;941;p63"/>
          <p:cNvGraphicFramePr/>
          <p:nvPr/>
        </p:nvGraphicFramePr>
        <p:xfrm>
          <a:off x="1447800" y="2057400"/>
          <a:ext cx="4230687" cy="1017587"/>
        </p:xfrm>
        <a:graphic>
          <a:graphicData uri="http://schemas.openxmlformats.org/presentationml/2006/ole">
            <mc:AlternateContent>
              <mc:Choice Requires="v">
                <p:oleObj r:id="rId4" imgH="1017587" imgW="4230687" spid="_x0000_s1">
                  <p:embed/>
                </p:oleObj>
              </mc:Choice>
              <mc:Fallback>
                <p:oleObj r:id="rId5" imgH="1017587" imgW="4230687">
                  <p:embed/>
                  <p:pic>
                    <p:nvPicPr>
                      <p:cNvPr id="941" name="Google Shape;941;p6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447800" y="2057400"/>
                        <a:ext cx="4230687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" name="Google Shape;942;p63"/>
          <p:cNvGraphicFramePr/>
          <p:nvPr/>
        </p:nvGraphicFramePr>
        <p:xfrm>
          <a:off x="2438400" y="3048000"/>
          <a:ext cx="5181600" cy="1646237"/>
        </p:xfrm>
        <a:graphic>
          <a:graphicData uri="http://schemas.openxmlformats.org/presentationml/2006/ole">
            <mc:AlternateContent>
              <mc:Choice Requires="v">
                <p:oleObj r:id="rId7" imgH="1646237" imgW="5181600" spid="_x0000_s2">
                  <p:embed/>
                </p:oleObj>
              </mc:Choice>
              <mc:Fallback>
                <p:oleObj r:id="rId8" imgH="1646237" imgW="5181600">
                  <p:embed/>
                  <p:pic>
                    <p:nvPicPr>
                      <p:cNvPr id="942" name="Google Shape;942;p6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438400" y="3048000"/>
                        <a:ext cx="5181600" cy="164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3" name="Google Shape;943;p63"/>
          <p:cNvGraphicFramePr/>
          <p:nvPr/>
        </p:nvGraphicFramePr>
        <p:xfrm>
          <a:off x="1676400" y="4724400"/>
          <a:ext cx="3021012" cy="677862"/>
        </p:xfrm>
        <a:graphic>
          <a:graphicData uri="http://schemas.openxmlformats.org/presentationml/2006/ole">
            <mc:AlternateContent>
              <mc:Choice Requires="v">
                <p:oleObj r:id="rId10" imgH="677862" imgW="3021012" spid="_x0000_s3">
                  <p:embed/>
                </p:oleObj>
              </mc:Choice>
              <mc:Fallback>
                <p:oleObj r:id="rId11" imgH="677862" imgW="3021012">
                  <p:embed/>
                  <p:pic>
                    <p:nvPicPr>
                      <p:cNvPr id="943" name="Google Shape;943;p63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76400" y="4724400"/>
                        <a:ext cx="3021012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Handy calculation formula!</a:t>
            </a:r>
            <a:endParaRPr/>
          </a:p>
        </p:txBody>
      </p:sp>
      <p:sp>
        <p:nvSpPr>
          <p:cNvPr id="949" name="Google Shape;949;p64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0" name="Google Shape;950;p64"/>
          <p:cNvSpPr txBox="1"/>
          <p:nvPr/>
        </p:nvSpPr>
        <p:spPr>
          <a:xfrm>
            <a:off x="457200" y="2514600"/>
            <a:ext cx="8001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1" i="0" lang="en-US" sz="1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Handy calculation formula (if you ever need to calculate by hand!):</a:t>
            </a:r>
            <a:endParaRPr/>
          </a:p>
        </p:txBody>
      </p:sp>
      <p:grpSp>
        <p:nvGrpSpPr>
          <p:cNvPr id="951" name="Google Shape;951;p64"/>
          <p:cNvGrpSpPr/>
          <p:nvPr/>
        </p:nvGrpSpPr>
        <p:grpSpPr>
          <a:xfrm>
            <a:off x="520700" y="3238500"/>
            <a:ext cx="8726487" cy="2076449"/>
            <a:chOff x="144" y="1968"/>
            <a:chExt cx="5497" cy="1308"/>
          </a:xfrm>
        </p:grpSpPr>
        <p:graphicFrame>
          <p:nvGraphicFramePr>
            <p:cNvPr id="952" name="Google Shape;952;p64"/>
            <p:cNvGraphicFramePr/>
            <p:nvPr/>
          </p:nvGraphicFramePr>
          <p:xfrm>
            <a:off x="144" y="1968"/>
            <a:ext cx="5497" cy="664"/>
          </p:xfrm>
          <a:graphic>
            <a:graphicData uri="http://schemas.openxmlformats.org/presentationml/2006/ole">
              <mc:AlternateContent>
                <mc:Choice Requires="v">
                  <p:oleObj r:id="rId4" imgH="664" imgW="5497" spid="_x0000_s1">
                    <p:embed/>
                  </p:oleObj>
                </mc:Choice>
                <mc:Fallback>
                  <p:oleObj r:id="rId5" imgH="664" imgW="5497">
                    <p:embed/>
                    <p:pic>
                      <p:nvPicPr>
                        <p:cNvPr id="952" name="Google Shape;952;p64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44" y="1968"/>
                          <a:ext cx="5497" cy="6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53" name="Google Shape;953;p64"/>
            <p:cNvGrpSpPr/>
            <p:nvPr/>
          </p:nvGrpSpPr>
          <p:grpSpPr>
            <a:xfrm>
              <a:off x="2016" y="2351"/>
              <a:ext cx="2400" cy="925"/>
              <a:chOff x="2016" y="2351"/>
              <a:chExt cx="2400" cy="925"/>
            </a:xfrm>
          </p:grpSpPr>
          <p:sp>
            <p:nvSpPr>
              <p:cNvPr id="954" name="Google Shape;954;p64"/>
              <p:cNvSpPr txBox="1"/>
              <p:nvPr/>
            </p:nvSpPr>
            <p:spPr>
              <a:xfrm>
                <a:off x="2016" y="2976"/>
                <a:ext cx="24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ahoma"/>
                  <a:buNone/>
                </a:pPr>
                <a:r>
                  <a:rPr b="1" i="0" lang="en-US" sz="1800" u="non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Intervening algebra!</a:t>
                </a:r>
                <a:endParaRPr/>
              </a:p>
            </p:txBody>
          </p:sp>
          <p:cxnSp>
            <p:nvCxnSpPr>
              <p:cNvPr id="955" name="Google Shape;955;p64"/>
              <p:cNvCxnSpPr/>
              <p:nvPr/>
            </p:nvCxnSpPr>
            <p:spPr>
              <a:xfrm flipH="1" rot="10800000">
                <a:off x="3072" y="2351"/>
                <a:ext cx="335" cy="625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</p:grpSp>
      </p:grpSp>
      <p:graphicFrame>
        <p:nvGraphicFramePr>
          <p:cNvPr id="956" name="Google Shape;956;p64"/>
          <p:cNvGraphicFramePr/>
          <p:nvPr/>
        </p:nvGraphicFramePr>
        <p:xfrm>
          <a:off x="5895975" y="4419600"/>
          <a:ext cx="3248025" cy="677862"/>
        </p:xfrm>
        <a:graphic>
          <a:graphicData uri="http://schemas.openxmlformats.org/presentationml/2006/ole">
            <mc:AlternateContent>
              <mc:Choice Requires="v">
                <p:oleObj r:id="rId7" imgH="677862" imgW="3248025" spid="_x0000_s2">
                  <p:embed/>
                </p:oleObj>
              </mc:Choice>
              <mc:Fallback>
                <p:oleObj r:id="rId8" imgH="677862" imgW="3248025">
                  <p:embed/>
                  <p:pic>
                    <p:nvPicPr>
                      <p:cNvPr id="956" name="Google Shape;956;p64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95975" y="4419600"/>
                        <a:ext cx="3248025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r>
              <a:rPr b="1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Var(</a:t>
            </a:r>
            <a:r>
              <a:rPr b="1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1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) = E(</a:t>
            </a:r>
            <a:r>
              <a:rPr b="1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1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1" i="0" lang="en-US" sz="3200" u="none">
                <a:solidFill>
                  <a:srgbClr val="33339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1" baseline="3000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2   </a:t>
            </a:r>
            <a:r>
              <a:rPr b="1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= E(</a:t>
            </a:r>
            <a:r>
              <a:rPr b="1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1" baseline="3000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) – [E(</a:t>
            </a:r>
            <a:r>
              <a:rPr b="1" i="1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1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)]</a:t>
            </a:r>
            <a:r>
              <a:rPr b="1" baseline="3000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       (your calculation formula!)</a:t>
            </a:r>
            <a:endParaRPr/>
          </a:p>
        </p:txBody>
      </p:sp>
      <p:sp>
        <p:nvSpPr>
          <p:cNvPr id="962" name="Google Shape;962;p65"/>
          <p:cNvSpPr txBox="1"/>
          <p:nvPr>
            <p:ph idx="1" type="body"/>
          </p:nvPr>
        </p:nvSpPr>
        <p:spPr>
          <a:xfrm>
            <a:off x="685800" y="2017712"/>
            <a:ext cx="8269287" cy="4535487"/>
          </a:xfrm>
          <a:prstGeom prst="rect">
            <a:avLst/>
          </a:prstGeom>
          <a:solidFill>
            <a:srgbClr val="EAEAEA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mo"/>
              <a:buNone/>
            </a:pPr>
            <a:r>
              <a:rPr b="0" i="0" lang="en-US" sz="28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Proofs (optional!):               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   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–2</a:t>
            </a: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	 </a:t>
            </a:r>
            <a:r>
              <a:rPr b="0" i="0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remember “FOIL”?!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–  E(2</a:t>
            </a: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x)  +E(</a:t>
            </a: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	 </a:t>
            </a:r>
            <a:r>
              <a:rPr b="0" i="0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Use rules of expected value:E(</a:t>
            </a:r>
            <a:r>
              <a:rPr b="0" i="1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1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 E(</a:t>
            </a:r>
            <a:r>
              <a:rPr b="0" i="1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E(</a:t>
            </a:r>
            <a:r>
              <a:rPr b="0" i="1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–  2</a:t>
            </a: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E(x)  +</a:t>
            </a: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		</a:t>
            </a:r>
            <a:r>
              <a:rPr b="0" i="0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E(c) = c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–  2</a:t>
            </a: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μμ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+</a:t>
            </a: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          </a:t>
            </a:r>
            <a:r>
              <a:rPr b="0" i="0" lang="en-US" sz="1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E(x) = </a:t>
            </a:r>
            <a:r>
              <a:rPr b="0" i="0" lang="en-US" sz="1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–  </a:t>
            </a: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– [E(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)]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             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1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OR, equivalently: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  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3" name="Google Shape;963;p65"/>
          <p:cNvSpPr/>
          <p:nvPr/>
        </p:nvSpPr>
        <p:spPr>
          <a:xfrm>
            <a:off x="1385887" y="3128962"/>
            <a:ext cx="9144000" cy="1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4" name="Google Shape;964;p65"/>
          <p:cNvGraphicFramePr/>
          <p:nvPr/>
        </p:nvGraphicFramePr>
        <p:xfrm>
          <a:off x="838200" y="5791200"/>
          <a:ext cx="7772400" cy="731837"/>
        </p:xfrm>
        <a:graphic>
          <a:graphicData uri="http://schemas.openxmlformats.org/presentationml/2006/ole">
            <mc:AlternateContent>
              <mc:Choice Requires="v">
                <p:oleObj r:id="rId4" imgH="731837" imgW="7772400" spid="_x0000_s1">
                  <p:embed/>
                </p:oleObj>
              </mc:Choice>
              <mc:Fallback>
                <p:oleObj r:id="rId5" imgH="731837" imgW="7772400">
                  <p:embed/>
                  <p:pic>
                    <p:nvPicPr>
                      <p:cNvPr id="964" name="Google Shape;964;p6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38200" y="5791200"/>
                        <a:ext cx="77724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For example, what’s the variance and standard deviation of the roll of a die?</a:t>
            </a: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grpSp>
        <p:nvGrpSpPr>
          <p:cNvPr id="970" name="Google Shape;970;p66"/>
          <p:cNvGrpSpPr/>
          <p:nvPr/>
        </p:nvGrpSpPr>
        <p:grpSpPr>
          <a:xfrm>
            <a:off x="990600" y="1981200"/>
            <a:ext cx="2436812" cy="1598612"/>
            <a:chOff x="624" y="1248"/>
            <a:chExt cx="1535" cy="1007"/>
          </a:xfrm>
        </p:grpSpPr>
        <p:grpSp>
          <p:nvGrpSpPr>
            <p:cNvPr id="971" name="Google Shape;971;p66"/>
            <p:cNvGrpSpPr/>
            <p:nvPr/>
          </p:nvGrpSpPr>
          <p:grpSpPr>
            <a:xfrm>
              <a:off x="624" y="1248"/>
              <a:ext cx="1535" cy="952"/>
              <a:chOff x="624" y="1248"/>
              <a:chExt cx="1535" cy="952"/>
            </a:xfrm>
          </p:grpSpPr>
          <p:grpSp>
            <p:nvGrpSpPr>
              <p:cNvPr id="972" name="Google Shape;972;p66"/>
              <p:cNvGrpSpPr/>
              <p:nvPr/>
            </p:nvGrpSpPr>
            <p:grpSpPr>
              <a:xfrm>
                <a:off x="629" y="1249"/>
                <a:ext cx="1524" cy="951"/>
                <a:chOff x="629" y="1249"/>
                <a:chExt cx="1524" cy="951"/>
              </a:xfrm>
            </p:grpSpPr>
            <p:grpSp>
              <p:nvGrpSpPr>
                <p:cNvPr id="973" name="Google Shape;973;p66"/>
                <p:cNvGrpSpPr/>
                <p:nvPr/>
              </p:nvGrpSpPr>
              <p:grpSpPr>
                <a:xfrm>
                  <a:off x="629" y="1249"/>
                  <a:ext cx="738" cy="106"/>
                  <a:chOff x="629" y="1249"/>
                  <a:chExt cx="738" cy="106"/>
                </a:xfrm>
              </p:grpSpPr>
              <p:sp>
                <p:nvSpPr>
                  <p:cNvPr id="974" name="Google Shape;974;p66"/>
                  <p:cNvSpPr txBox="1"/>
                  <p:nvPr/>
                </p:nvSpPr>
                <p:spPr>
                  <a:xfrm>
                    <a:off x="699" y="1249"/>
                    <a:ext cx="597" cy="10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1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x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1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975" name="Google Shape;975;p66"/>
                  <p:cNvSpPr/>
                  <p:nvPr/>
                </p:nvSpPr>
                <p:spPr>
                  <a:xfrm>
                    <a:off x="629" y="1249"/>
                    <a:ext cx="738" cy="106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976" name="Google Shape;976;p66"/>
                <p:cNvGrpSpPr/>
                <p:nvPr/>
              </p:nvGrpSpPr>
              <p:grpSpPr>
                <a:xfrm>
                  <a:off x="1368" y="1249"/>
                  <a:ext cx="785" cy="106"/>
                  <a:chOff x="1368" y="1249"/>
                  <a:chExt cx="785" cy="106"/>
                </a:xfrm>
              </p:grpSpPr>
              <p:sp>
                <p:nvSpPr>
                  <p:cNvPr id="977" name="Google Shape;977;p66"/>
                  <p:cNvSpPr txBox="1"/>
                  <p:nvPr/>
                </p:nvSpPr>
                <p:spPr>
                  <a:xfrm>
                    <a:off x="1438" y="1249"/>
                    <a:ext cx="645" cy="10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1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p(x)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1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978" name="Google Shape;978;p66"/>
                  <p:cNvSpPr/>
                  <p:nvPr/>
                </p:nvSpPr>
                <p:spPr>
                  <a:xfrm>
                    <a:off x="1368" y="1249"/>
                    <a:ext cx="785" cy="106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979" name="Google Shape;979;p66"/>
                <p:cNvGrpSpPr/>
                <p:nvPr/>
              </p:nvGrpSpPr>
              <p:grpSpPr>
                <a:xfrm>
                  <a:off x="629" y="1356"/>
                  <a:ext cx="738" cy="140"/>
                  <a:chOff x="629" y="1356"/>
                  <a:chExt cx="738" cy="140"/>
                </a:xfrm>
              </p:grpSpPr>
              <p:sp>
                <p:nvSpPr>
                  <p:cNvPr id="980" name="Google Shape;980;p66"/>
                  <p:cNvSpPr txBox="1"/>
                  <p:nvPr/>
                </p:nvSpPr>
                <p:spPr>
                  <a:xfrm>
                    <a:off x="699" y="1356"/>
                    <a:ext cx="597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0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1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981" name="Google Shape;981;p66"/>
                  <p:cNvSpPr/>
                  <p:nvPr/>
                </p:nvSpPr>
                <p:spPr>
                  <a:xfrm>
                    <a:off x="629" y="1356"/>
                    <a:ext cx="738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982" name="Google Shape;982;p66"/>
                <p:cNvGrpSpPr/>
                <p:nvPr/>
              </p:nvGrpSpPr>
              <p:grpSpPr>
                <a:xfrm>
                  <a:off x="1368" y="1356"/>
                  <a:ext cx="785" cy="140"/>
                  <a:chOff x="1368" y="1356"/>
                  <a:chExt cx="785" cy="140"/>
                </a:xfrm>
              </p:grpSpPr>
              <p:sp>
                <p:nvSpPr>
                  <p:cNvPr id="983" name="Google Shape;983;p66"/>
                  <p:cNvSpPr txBox="1"/>
                  <p:nvPr/>
                </p:nvSpPr>
                <p:spPr>
                  <a:xfrm>
                    <a:off x="1438" y="1356"/>
                    <a:ext cx="645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1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p(x=1)</a:t>
                    </a:r>
                    <a:r>
                      <a:rPr b="0" i="0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984" name="Google Shape;984;p66"/>
                  <p:cNvSpPr/>
                  <p:nvPr/>
                </p:nvSpPr>
                <p:spPr>
                  <a:xfrm>
                    <a:off x="1368" y="1356"/>
                    <a:ext cx="785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985" name="Google Shape;985;p66"/>
                <p:cNvGrpSpPr/>
                <p:nvPr/>
              </p:nvGrpSpPr>
              <p:grpSpPr>
                <a:xfrm>
                  <a:off x="629" y="1497"/>
                  <a:ext cx="738" cy="140"/>
                  <a:chOff x="629" y="1497"/>
                  <a:chExt cx="738" cy="140"/>
                </a:xfrm>
              </p:grpSpPr>
              <p:sp>
                <p:nvSpPr>
                  <p:cNvPr id="986" name="Google Shape;986;p66"/>
                  <p:cNvSpPr txBox="1"/>
                  <p:nvPr/>
                </p:nvSpPr>
                <p:spPr>
                  <a:xfrm>
                    <a:off x="699" y="1497"/>
                    <a:ext cx="597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0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2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987" name="Google Shape;987;p66"/>
                  <p:cNvSpPr/>
                  <p:nvPr/>
                </p:nvSpPr>
                <p:spPr>
                  <a:xfrm>
                    <a:off x="629" y="1497"/>
                    <a:ext cx="738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988" name="Google Shape;988;p66"/>
                <p:cNvGrpSpPr/>
                <p:nvPr/>
              </p:nvGrpSpPr>
              <p:grpSpPr>
                <a:xfrm>
                  <a:off x="1368" y="1497"/>
                  <a:ext cx="785" cy="140"/>
                  <a:chOff x="1368" y="1497"/>
                  <a:chExt cx="785" cy="140"/>
                </a:xfrm>
              </p:grpSpPr>
              <p:sp>
                <p:nvSpPr>
                  <p:cNvPr id="989" name="Google Shape;989;p66"/>
                  <p:cNvSpPr txBox="1"/>
                  <p:nvPr/>
                </p:nvSpPr>
                <p:spPr>
                  <a:xfrm>
                    <a:off x="1438" y="1497"/>
                    <a:ext cx="645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1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p(x=2)</a:t>
                    </a:r>
                    <a:r>
                      <a:rPr b="0" i="0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990" name="Google Shape;990;p66"/>
                  <p:cNvSpPr/>
                  <p:nvPr/>
                </p:nvSpPr>
                <p:spPr>
                  <a:xfrm>
                    <a:off x="1368" y="1497"/>
                    <a:ext cx="785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991" name="Google Shape;991;p66"/>
                <p:cNvGrpSpPr/>
                <p:nvPr/>
              </p:nvGrpSpPr>
              <p:grpSpPr>
                <a:xfrm>
                  <a:off x="629" y="1638"/>
                  <a:ext cx="738" cy="140"/>
                  <a:chOff x="629" y="1638"/>
                  <a:chExt cx="738" cy="140"/>
                </a:xfrm>
              </p:grpSpPr>
              <p:sp>
                <p:nvSpPr>
                  <p:cNvPr id="992" name="Google Shape;992;p66"/>
                  <p:cNvSpPr txBox="1"/>
                  <p:nvPr/>
                </p:nvSpPr>
                <p:spPr>
                  <a:xfrm>
                    <a:off x="699" y="1638"/>
                    <a:ext cx="597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0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3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993" name="Google Shape;993;p66"/>
                  <p:cNvSpPr/>
                  <p:nvPr/>
                </p:nvSpPr>
                <p:spPr>
                  <a:xfrm>
                    <a:off x="629" y="1638"/>
                    <a:ext cx="738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994" name="Google Shape;994;p66"/>
                <p:cNvGrpSpPr/>
                <p:nvPr/>
              </p:nvGrpSpPr>
              <p:grpSpPr>
                <a:xfrm>
                  <a:off x="1368" y="1638"/>
                  <a:ext cx="785" cy="140"/>
                  <a:chOff x="1368" y="1638"/>
                  <a:chExt cx="785" cy="140"/>
                </a:xfrm>
              </p:grpSpPr>
              <p:sp>
                <p:nvSpPr>
                  <p:cNvPr id="995" name="Google Shape;995;p66"/>
                  <p:cNvSpPr txBox="1"/>
                  <p:nvPr/>
                </p:nvSpPr>
                <p:spPr>
                  <a:xfrm>
                    <a:off x="1438" y="1638"/>
                    <a:ext cx="645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1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p(x=3)</a:t>
                    </a:r>
                    <a:r>
                      <a:rPr b="0" i="0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996" name="Google Shape;996;p66"/>
                  <p:cNvSpPr/>
                  <p:nvPr/>
                </p:nvSpPr>
                <p:spPr>
                  <a:xfrm>
                    <a:off x="1368" y="1638"/>
                    <a:ext cx="785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997" name="Google Shape;997;p66"/>
                <p:cNvGrpSpPr/>
                <p:nvPr/>
              </p:nvGrpSpPr>
              <p:grpSpPr>
                <a:xfrm>
                  <a:off x="629" y="1778"/>
                  <a:ext cx="738" cy="140"/>
                  <a:chOff x="629" y="1778"/>
                  <a:chExt cx="738" cy="140"/>
                </a:xfrm>
              </p:grpSpPr>
              <p:sp>
                <p:nvSpPr>
                  <p:cNvPr id="998" name="Google Shape;998;p66"/>
                  <p:cNvSpPr txBox="1"/>
                  <p:nvPr/>
                </p:nvSpPr>
                <p:spPr>
                  <a:xfrm>
                    <a:off x="699" y="1778"/>
                    <a:ext cx="597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0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4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999" name="Google Shape;999;p66"/>
                  <p:cNvSpPr/>
                  <p:nvPr/>
                </p:nvSpPr>
                <p:spPr>
                  <a:xfrm>
                    <a:off x="629" y="1778"/>
                    <a:ext cx="738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000" name="Google Shape;1000;p66"/>
                <p:cNvGrpSpPr/>
                <p:nvPr/>
              </p:nvGrpSpPr>
              <p:grpSpPr>
                <a:xfrm>
                  <a:off x="1368" y="1778"/>
                  <a:ext cx="785" cy="140"/>
                  <a:chOff x="1368" y="1778"/>
                  <a:chExt cx="785" cy="140"/>
                </a:xfrm>
              </p:grpSpPr>
              <p:sp>
                <p:nvSpPr>
                  <p:cNvPr id="1001" name="Google Shape;1001;p66"/>
                  <p:cNvSpPr txBox="1"/>
                  <p:nvPr/>
                </p:nvSpPr>
                <p:spPr>
                  <a:xfrm>
                    <a:off x="1438" y="1778"/>
                    <a:ext cx="645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1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p(x=4)</a:t>
                    </a:r>
                    <a:r>
                      <a:rPr b="0" i="0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002" name="Google Shape;1002;p66"/>
                  <p:cNvSpPr/>
                  <p:nvPr/>
                </p:nvSpPr>
                <p:spPr>
                  <a:xfrm>
                    <a:off x="1368" y="1778"/>
                    <a:ext cx="785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003" name="Google Shape;1003;p66"/>
                <p:cNvGrpSpPr/>
                <p:nvPr/>
              </p:nvGrpSpPr>
              <p:grpSpPr>
                <a:xfrm>
                  <a:off x="629" y="1919"/>
                  <a:ext cx="738" cy="140"/>
                  <a:chOff x="629" y="1919"/>
                  <a:chExt cx="738" cy="140"/>
                </a:xfrm>
              </p:grpSpPr>
              <p:sp>
                <p:nvSpPr>
                  <p:cNvPr id="1004" name="Google Shape;1004;p66"/>
                  <p:cNvSpPr txBox="1"/>
                  <p:nvPr/>
                </p:nvSpPr>
                <p:spPr>
                  <a:xfrm>
                    <a:off x="699" y="1919"/>
                    <a:ext cx="597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0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5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005" name="Google Shape;1005;p66"/>
                  <p:cNvSpPr/>
                  <p:nvPr/>
                </p:nvSpPr>
                <p:spPr>
                  <a:xfrm>
                    <a:off x="629" y="1919"/>
                    <a:ext cx="738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006" name="Google Shape;1006;p66"/>
                <p:cNvGrpSpPr/>
                <p:nvPr/>
              </p:nvGrpSpPr>
              <p:grpSpPr>
                <a:xfrm>
                  <a:off x="1368" y="1919"/>
                  <a:ext cx="785" cy="140"/>
                  <a:chOff x="1368" y="1919"/>
                  <a:chExt cx="785" cy="140"/>
                </a:xfrm>
              </p:grpSpPr>
              <p:sp>
                <p:nvSpPr>
                  <p:cNvPr id="1007" name="Google Shape;1007;p66"/>
                  <p:cNvSpPr txBox="1"/>
                  <p:nvPr/>
                </p:nvSpPr>
                <p:spPr>
                  <a:xfrm>
                    <a:off x="1438" y="1919"/>
                    <a:ext cx="645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1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p(x=5)</a:t>
                    </a:r>
                    <a:r>
                      <a:rPr b="0" i="0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008" name="Google Shape;1008;p66"/>
                  <p:cNvSpPr/>
                  <p:nvPr/>
                </p:nvSpPr>
                <p:spPr>
                  <a:xfrm>
                    <a:off x="1368" y="1919"/>
                    <a:ext cx="785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009" name="Google Shape;1009;p66"/>
                <p:cNvGrpSpPr/>
                <p:nvPr/>
              </p:nvGrpSpPr>
              <p:grpSpPr>
                <a:xfrm>
                  <a:off x="629" y="2060"/>
                  <a:ext cx="738" cy="140"/>
                  <a:chOff x="629" y="2060"/>
                  <a:chExt cx="738" cy="140"/>
                </a:xfrm>
              </p:grpSpPr>
              <p:sp>
                <p:nvSpPr>
                  <p:cNvPr id="1010" name="Google Shape;1010;p66"/>
                  <p:cNvSpPr txBox="1"/>
                  <p:nvPr/>
                </p:nvSpPr>
                <p:spPr>
                  <a:xfrm>
                    <a:off x="699" y="2060"/>
                    <a:ext cx="597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0" lang="en-US" sz="1000" u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011" name="Google Shape;1011;p66"/>
                  <p:cNvSpPr/>
                  <p:nvPr/>
                </p:nvSpPr>
                <p:spPr>
                  <a:xfrm>
                    <a:off x="629" y="2060"/>
                    <a:ext cx="738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012" name="Google Shape;1012;p66"/>
                <p:cNvGrpSpPr/>
                <p:nvPr/>
              </p:nvGrpSpPr>
              <p:grpSpPr>
                <a:xfrm>
                  <a:off x="1368" y="2060"/>
                  <a:ext cx="785" cy="140"/>
                  <a:chOff x="1368" y="2060"/>
                  <a:chExt cx="785" cy="140"/>
                </a:xfrm>
              </p:grpSpPr>
              <p:sp>
                <p:nvSpPr>
                  <p:cNvPr id="1013" name="Google Shape;1013;p66"/>
                  <p:cNvSpPr txBox="1"/>
                  <p:nvPr/>
                </p:nvSpPr>
                <p:spPr>
                  <a:xfrm>
                    <a:off x="1438" y="2060"/>
                    <a:ext cx="645" cy="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90000" spcFirstLastPara="1" rIns="90000" wrap="square" tIns="468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mo"/>
                      <a:buNone/>
                    </a:pPr>
                    <a:r>
                      <a:rPr b="0" i="1" lang="en-US" sz="1000" u="sng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p(x=6)</a:t>
                    </a:r>
                    <a:r>
                      <a:rPr b="0" i="0" lang="en-US" sz="1000" u="sng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=1/6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000" u="sng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014" name="Google Shape;1014;p66"/>
                  <p:cNvSpPr/>
                  <p:nvPr/>
                </p:nvSpPr>
                <p:spPr>
                  <a:xfrm>
                    <a:off x="1368" y="2060"/>
                    <a:ext cx="785" cy="140"/>
                  </a:xfrm>
                  <a:prstGeom prst="rect">
                    <a:avLst/>
                  </a:prstGeom>
                  <a:noFill/>
                  <a:ln cap="sq" cmpd="sng" w="9525">
                    <a:solidFill>
                      <a:srgbClr val="A0A0A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4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1015" name="Google Shape;1015;p66"/>
              <p:cNvSpPr/>
              <p:nvPr/>
            </p:nvSpPr>
            <p:spPr>
              <a:xfrm>
                <a:off x="624" y="1248"/>
                <a:ext cx="1535" cy="952"/>
              </a:xfrm>
              <a:prstGeom prst="rect">
                <a:avLst/>
              </a:prstGeom>
              <a:noFill/>
              <a:ln cap="sq" cmpd="sng" w="9525">
                <a:solidFill>
                  <a:srgbClr val="A0A0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016" name="Google Shape;1016;p66"/>
            <p:cNvSpPr txBox="1"/>
            <p:nvPr/>
          </p:nvSpPr>
          <p:spPr>
            <a:xfrm>
              <a:off x="1566" y="2177"/>
              <a:ext cx="342" cy="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680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Times New Roman"/>
                <a:buNone/>
              </a:pPr>
              <a:r>
                <a:rPr b="0" i="0" lang="en-US" sz="1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1.0</a:t>
              </a:r>
              <a:endParaRPr/>
            </a:p>
          </p:txBody>
        </p:sp>
      </p:grpSp>
      <p:sp>
        <p:nvSpPr>
          <p:cNvPr id="1017" name="Google Shape;1017;p66"/>
          <p:cNvSpPr/>
          <p:nvPr/>
        </p:nvSpPr>
        <p:spPr>
          <a:xfrm>
            <a:off x="2424112" y="3224212"/>
            <a:ext cx="9144000" cy="1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18" name="Google Shape;1018;p66"/>
          <p:cNvGraphicFramePr/>
          <p:nvPr/>
        </p:nvGraphicFramePr>
        <p:xfrm>
          <a:off x="762000" y="4876800"/>
          <a:ext cx="7467600" cy="725487"/>
        </p:xfrm>
        <a:graphic>
          <a:graphicData uri="http://schemas.openxmlformats.org/presentationml/2006/ole">
            <mc:AlternateContent>
              <mc:Choice Requires="v">
                <p:oleObj r:id="rId4" imgH="725487" imgW="7467600" spid="_x0000_s1">
                  <p:embed/>
                </p:oleObj>
              </mc:Choice>
              <mc:Fallback>
                <p:oleObj r:id="rId5" imgH="725487" imgW="7467600">
                  <p:embed/>
                  <p:pic>
                    <p:nvPicPr>
                      <p:cNvPr id="1018" name="Google Shape;1018;p6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4876800"/>
                        <a:ext cx="7467600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" name="Google Shape;1019;p66"/>
          <p:cNvGraphicFramePr/>
          <p:nvPr/>
        </p:nvGraphicFramePr>
        <p:xfrm>
          <a:off x="762000" y="3962400"/>
          <a:ext cx="7467600" cy="742950"/>
        </p:xfrm>
        <a:graphic>
          <a:graphicData uri="http://schemas.openxmlformats.org/presentationml/2006/ole">
            <mc:AlternateContent>
              <mc:Choice Requires="v">
                <p:oleObj r:id="rId7" imgH="742950" imgW="7467600" spid="_x0000_s2">
                  <p:embed/>
                </p:oleObj>
              </mc:Choice>
              <mc:Fallback>
                <p:oleObj r:id="rId8" imgH="742950" imgW="7467600">
                  <p:embed/>
                  <p:pic>
                    <p:nvPicPr>
                      <p:cNvPr id="1019" name="Google Shape;1019;p66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3962400"/>
                        <a:ext cx="74676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" name="Google Shape;1020;p66"/>
          <p:cNvGraphicFramePr/>
          <p:nvPr/>
        </p:nvGraphicFramePr>
        <p:xfrm>
          <a:off x="1824037" y="5811837"/>
          <a:ext cx="5189537" cy="838200"/>
        </p:xfrm>
        <a:graphic>
          <a:graphicData uri="http://schemas.openxmlformats.org/presentationml/2006/ole">
            <mc:AlternateContent>
              <mc:Choice Requires="v">
                <p:oleObj r:id="rId10" imgH="838200" imgW="5189537" spid="_x0000_s3">
                  <p:embed/>
                </p:oleObj>
              </mc:Choice>
              <mc:Fallback>
                <p:oleObj r:id="rId11" imgH="838200" imgW="5189537">
                  <p:embed/>
                  <p:pic>
                    <p:nvPicPr>
                      <p:cNvPr id="1020" name="Google Shape;1020;p66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824037" y="5811837"/>
                        <a:ext cx="518953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1" name="Google Shape;1021;p66"/>
          <p:cNvGrpSpPr/>
          <p:nvPr/>
        </p:nvGrpSpPr>
        <p:grpSpPr>
          <a:xfrm>
            <a:off x="3886200" y="2133600"/>
            <a:ext cx="3922712" cy="1668462"/>
            <a:chOff x="2448" y="1344"/>
            <a:chExt cx="2471" cy="1051"/>
          </a:xfrm>
        </p:grpSpPr>
        <p:grpSp>
          <p:nvGrpSpPr>
            <p:cNvPr id="1022" name="Google Shape;1022;p66"/>
            <p:cNvGrpSpPr/>
            <p:nvPr/>
          </p:nvGrpSpPr>
          <p:grpSpPr>
            <a:xfrm>
              <a:off x="2448" y="1344"/>
              <a:ext cx="2159" cy="822"/>
              <a:chOff x="2448" y="1344"/>
              <a:chExt cx="2159" cy="822"/>
            </a:xfrm>
          </p:grpSpPr>
          <p:cxnSp>
            <p:nvCxnSpPr>
              <p:cNvPr id="1023" name="Google Shape;1023;p66"/>
              <p:cNvCxnSpPr/>
              <p:nvPr/>
            </p:nvCxnSpPr>
            <p:spPr>
              <a:xfrm>
                <a:off x="3534" y="1876"/>
                <a:ext cx="0" cy="89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24" name="Google Shape;1024;p66"/>
              <p:cNvCxnSpPr/>
              <p:nvPr/>
            </p:nvCxnSpPr>
            <p:spPr>
              <a:xfrm>
                <a:off x="3671" y="1876"/>
                <a:ext cx="0" cy="89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25" name="Google Shape;1025;p66"/>
              <p:cNvCxnSpPr/>
              <p:nvPr/>
            </p:nvCxnSpPr>
            <p:spPr>
              <a:xfrm>
                <a:off x="3806" y="1876"/>
                <a:ext cx="0" cy="89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26" name="Google Shape;1026;p66"/>
              <p:cNvCxnSpPr/>
              <p:nvPr/>
            </p:nvCxnSpPr>
            <p:spPr>
              <a:xfrm>
                <a:off x="3942" y="1876"/>
                <a:ext cx="0" cy="89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27" name="Google Shape;1027;p66"/>
              <p:cNvCxnSpPr/>
              <p:nvPr/>
            </p:nvCxnSpPr>
            <p:spPr>
              <a:xfrm>
                <a:off x="4078" y="1876"/>
                <a:ext cx="0" cy="89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28" name="Google Shape;1028;p66"/>
              <p:cNvCxnSpPr/>
              <p:nvPr/>
            </p:nvCxnSpPr>
            <p:spPr>
              <a:xfrm>
                <a:off x="4214" y="1876"/>
                <a:ext cx="0" cy="89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grpSp>
            <p:nvGrpSpPr>
              <p:cNvPr id="1029" name="Google Shape;1029;p66"/>
              <p:cNvGrpSpPr/>
              <p:nvPr/>
            </p:nvGrpSpPr>
            <p:grpSpPr>
              <a:xfrm>
                <a:off x="2448" y="1344"/>
                <a:ext cx="2159" cy="822"/>
                <a:chOff x="2448" y="1344"/>
                <a:chExt cx="2159" cy="822"/>
              </a:xfrm>
            </p:grpSpPr>
            <p:cxnSp>
              <p:nvCxnSpPr>
                <p:cNvPr id="1030" name="Google Shape;1030;p66"/>
                <p:cNvCxnSpPr/>
                <p:nvPr/>
              </p:nvCxnSpPr>
              <p:spPr>
                <a:xfrm>
                  <a:off x="3399" y="1344"/>
                  <a:ext cx="0" cy="822"/>
                </a:xfrm>
                <a:prstGeom prst="straightConnector1">
                  <a:avLst/>
                </a:prstGeom>
                <a:noFill/>
                <a:ln cap="sq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1" name="Google Shape;1031;p66"/>
                <p:cNvCxnSpPr/>
                <p:nvPr/>
              </p:nvCxnSpPr>
              <p:spPr>
                <a:xfrm>
                  <a:off x="2448" y="1938"/>
                  <a:ext cx="1955" cy="0"/>
                </a:xfrm>
                <a:prstGeom prst="straightConnector1">
                  <a:avLst/>
                </a:prstGeom>
                <a:noFill/>
                <a:ln cap="sq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sp>
              <p:nvSpPr>
                <p:cNvPr id="1032" name="Google Shape;1032;p66"/>
                <p:cNvSpPr txBox="1"/>
                <p:nvPr/>
              </p:nvSpPr>
              <p:spPr>
                <a:xfrm>
                  <a:off x="4417" y="1938"/>
                  <a:ext cx="190" cy="1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80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Times New Roman"/>
                    <a:buNone/>
                  </a:pPr>
                  <a:r>
                    <a:rPr b="1" i="1" lang="en-US" sz="1200" u="non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x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2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33" name="Google Shape;1033;p66"/>
                <p:cNvSpPr txBox="1"/>
                <p:nvPr/>
              </p:nvSpPr>
              <p:spPr>
                <a:xfrm>
                  <a:off x="3466" y="1344"/>
                  <a:ext cx="321" cy="1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80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mo"/>
                    <a:buNone/>
                  </a:pPr>
                  <a:r>
                    <a:rPr b="1" i="1" lang="en-US" sz="12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2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cxnSp>
              <p:nvCxnSpPr>
                <p:cNvPr id="1034" name="Google Shape;1034;p66"/>
                <p:cNvCxnSpPr/>
                <p:nvPr/>
              </p:nvCxnSpPr>
              <p:spPr>
                <a:xfrm>
                  <a:off x="3331" y="1813"/>
                  <a:ext cx="108" cy="0"/>
                </a:xfrm>
                <a:prstGeom prst="straightConnector1">
                  <a:avLst/>
                </a:prstGeom>
                <a:noFill/>
                <a:ln cap="sq" cmpd="sng" w="9525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sp>
              <p:nvSpPr>
                <p:cNvPr id="1035" name="Google Shape;1035;p66"/>
                <p:cNvSpPr txBox="1"/>
                <p:nvPr/>
              </p:nvSpPr>
              <p:spPr>
                <a:xfrm>
                  <a:off x="3195" y="1751"/>
                  <a:ext cx="141" cy="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mo"/>
                    <a:buNone/>
                  </a:pPr>
                  <a:r>
                    <a:rPr b="1" i="0" lang="en-US" sz="12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1/6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12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  <p:sp>
            <p:nvSpPr>
              <p:cNvPr id="1036" name="Google Shape;1036;p66"/>
              <p:cNvSpPr txBox="1"/>
              <p:nvPr/>
            </p:nvSpPr>
            <p:spPr>
              <a:xfrm>
                <a:off x="3534" y="2001"/>
                <a:ext cx="53" cy="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mo"/>
                  <a:buNone/>
                </a:pPr>
                <a:r>
                  <a:rPr b="1" i="0" lang="en-US" sz="12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37" name="Google Shape;1037;p66"/>
              <p:cNvSpPr txBox="1"/>
              <p:nvPr/>
            </p:nvSpPr>
            <p:spPr>
              <a:xfrm>
                <a:off x="3942" y="2001"/>
                <a:ext cx="48" cy="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mo"/>
                  <a:buNone/>
                </a:pPr>
                <a:r>
                  <a:rPr b="1" i="0" lang="en-US" sz="12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4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38" name="Google Shape;1038;p66"/>
              <p:cNvSpPr txBox="1"/>
              <p:nvPr/>
            </p:nvSpPr>
            <p:spPr>
              <a:xfrm>
                <a:off x="4078" y="2001"/>
                <a:ext cx="53" cy="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mo"/>
                  <a:buNone/>
                </a:pPr>
                <a:r>
                  <a:rPr b="1" i="0" lang="en-US" sz="12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5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39" name="Google Shape;1039;p66"/>
              <p:cNvSpPr txBox="1"/>
              <p:nvPr/>
            </p:nvSpPr>
            <p:spPr>
              <a:xfrm>
                <a:off x="4214" y="2001"/>
                <a:ext cx="70" cy="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mo"/>
                  <a:buNone/>
                </a:pPr>
                <a:r>
                  <a:rPr b="1" i="0" lang="en-US" sz="12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6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40" name="Google Shape;1040;p66"/>
              <p:cNvSpPr txBox="1"/>
              <p:nvPr/>
            </p:nvSpPr>
            <p:spPr>
              <a:xfrm>
                <a:off x="3671" y="2001"/>
                <a:ext cx="59" cy="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mo"/>
                  <a:buNone/>
                </a:pPr>
                <a:r>
                  <a:rPr b="1" i="0" lang="en-US" sz="12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2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41" name="Google Shape;1041;p66"/>
              <p:cNvSpPr txBox="1"/>
              <p:nvPr/>
            </p:nvSpPr>
            <p:spPr>
              <a:xfrm>
                <a:off x="3806" y="2001"/>
                <a:ext cx="59" cy="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mo"/>
                  <a:buNone/>
                </a:pPr>
                <a:r>
                  <a:rPr b="1" i="0" lang="en-US" sz="12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3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1200" u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42" name="Google Shape;1042;p66"/>
              <p:cNvSpPr/>
              <p:nvPr/>
            </p:nvSpPr>
            <p:spPr>
              <a:xfrm>
                <a:off x="3524" y="1786"/>
                <a:ext cx="42" cy="149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3" name="Google Shape;1043;p66"/>
              <p:cNvSpPr/>
              <p:nvPr/>
            </p:nvSpPr>
            <p:spPr>
              <a:xfrm>
                <a:off x="3659" y="1786"/>
                <a:ext cx="48" cy="149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4" name="Google Shape;1044;p66"/>
              <p:cNvSpPr/>
              <p:nvPr/>
            </p:nvSpPr>
            <p:spPr>
              <a:xfrm>
                <a:off x="3795" y="1786"/>
                <a:ext cx="42" cy="149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5" name="Google Shape;1045;p66"/>
              <p:cNvSpPr/>
              <p:nvPr/>
            </p:nvSpPr>
            <p:spPr>
              <a:xfrm>
                <a:off x="3925" y="1786"/>
                <a:ext cx="43" cy="149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6" name="Google Shape;1046;p66"/>
              <p:cNvSpPr/>
              <p:nvPr/>
            </p:nvSpPr>
            <p:spPr>
              <a:xfrm>
                <a:off x="4061" y="1786"/>
                <a:ext cx="42" cy="149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7" name="Google Shape;1047;p66"/>
              <p:cNvSpPr/>
              <p:nvPr/>
            </p:nvSpPr>
            <p:spPr>
              <a:xfrm>
                <a:off x="4197" y="1786"/>
                <a:ext cx="42" cy="149"/>
              </a:xfrm>
              <a:prstGeom prst="rect">
                <a:avLst/>
              </a:prstGeom>
              <a:solidFill>
                <a:srgbClr val="00CCFF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48" name="Google Shape;1048;p66"/>
            <p:cNvGrpSpPr/>
            <p:nvPr/>
          </p:nvGrpSpPr>
          <p:grpSpPr>
            <a:xfrm>
              <a:off x="3647" y="1392"/>
              <a:ext cx="1272" cy="1003"/>
              <a:chOff x="3647" y="1392"/>
              <a:chExt cx="1272" cy="1003"/>
            </a:xfrm>
          </p:grpSpPr>
          <p:sp>
            <p:nvSpPr>
              <p:cNvPr id="1049" name="Google Shape;1049;p66"/>
              <p:cNvSpPr/>
              <p:nvPr/>
            </p:nvSpPr>
            <p:spPr>
              <a:xfrm>
                <a:off x="3828" y="1988"/>
                <a:ext cx="107" cy="227"/>
              </a:xfrm>
              <a:prstGeom prst="flowChartExtract">
                <a:avLst/>
              </a:prstGeom>
              <a:solidFill>
                <a:srgbClr val="000000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0" name="Google Shape;1050;p66"/>
              <p:cNvSpPr txBox="1"/>
              <p:nvPr/>
            </p:nvSpPr>
            <p:spPr>
              <a:xfrm>
                <a:off x="3768" y="2240"/>
                <a:ext cx="287" cy="1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Times New Roman"/>
                  <a:buNone/>
                </a:pPr>
                <a:r>
                  <a:rPr b="0" i="0" lang="en-US" sz="12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mean</a:t>
                </a:r>
                <a:endParaRPr/>
              </a:p>
            </p:txBody>
          </p:sp>
          <p:cxnSp>
            <p:nvCxnSpPr>
              <p:cNvPr id="1051" name="Google Shape;1051;p66"/>
              <p:cNvCxnSpPr/>
              <p:nvPr/>
            </p:nvCxnSpPr>
            <p:spPr>
              <a:xfrm>
                <a:off x="3882" y="1622"/>
                <a:ext cx="245" cy="0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1052" name="Google Shape;1052;p66"/>
              <p:cNvCxnSpPr/>
              <p:nvPr/>
            </p:nvCxnSpPr>
            <p:spPr>
              <a:xfrm rot="10800000">
                <a:off x="3647" y="1621"/>
                <a:ext cx="223" cy="2"/>
              </a:xfrm>
              <a:prstGeom prst="straightConnector1">
                <a:avLst/>
              </a:prstGeom>
              <a:noFill/>
              <a:ln cap="sq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1053" name="Google Shape;1053;p66"/>
              <p:cNvSpPr/>
              <p:nvPr/>
            </p:nvSpPr>
            <p:spPr>
              <a:xfrm>
                <a:off x="3870" y="1604"/>
                <a:ext cx="32" cy="32"/>
              </a:xfrm>
              <a:prstGeom prst="ellipse">
                <a:avLst/>
              </a:prstGeom>
              <a:solidFill>
                <a:srgbClr val="000000"/>
              </a:solidFill>
              <a:ln cap="sq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4" name="Google Shape;1054;p66"/>
              <p:cNvSpPr txBox="1"/>
              <p:nvPr/>
            </p:nvSpPr>
            <p:spPr>
              <a:xfrm>
                <a:off x="3870" y="1392"/>
                <a:ext cx="1049" cy="14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Times New Roman"/>
                  <a:buNone/>
                </a:pPr>
                <a:r>
                  <a:rPr b="0" i="0" lang="en-US" sz="9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average distance from the mean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6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**A few notes about Variance as a mathematical operator:</a:t>
            </a:r>
            <a:endParaRPr/>
          </a:p>
        </p:txBody>
      </p:sp>
      <p:sp>
        <p:nvSpPr>
          <p:cNvPr id="1060" name="Google Shape;1060;p6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c= a constant number (i.e., not a variable) and </a:t>
            </a: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are random variables, then</a:t>
            </a:r>
            <a:r>
              <a:rPr b="0" i="0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▪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Var(c) = 0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▪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 (c+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 Var(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	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▪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Var(c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 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b="0" baseline="3000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(X)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▪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 Var(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Var(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 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ONLY IF X and Y are independent!!!!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▪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{Var(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 Var(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Var(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)+2Cov(X,Y) </a:t>
            </a:r>
            <a:r>
              <a:rPr b="1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IF X and Y are not independent}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6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Var(c) = 0</a:t>
            </a:r>
            <a:endParaRPr/>
          </a:p>
        </p:txBody>
      </p:sp>
      <p:sp>
        <p:nvSpPr>
          <p:cNvPr id="1066" name="Google Shape;1066;p68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mo"/>
              <a:buNone/>
            </a:pPr>
            <a:r>
              <a:rPr b="0" i="0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Var(c) = 0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mo"/>
              <a:buNone/>
            </a:pPr>
            <a:r>
              <a:rPr b="0" i="0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Constants don’t vary!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6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Var (c+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)= Var(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)</a:t>
            </a:r>
            <a:endParaRPr/>
          </a:p>
        </p:txBody>
      </p:sp>
      <p:sp>
        <p:nvSpPr>
          <p:cNvPr id="1072" name="Google Shape;1072;p69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 (c+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 Var(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Adding a constant to every instance of a random variable doesn’t change the variability. It just shifts the whole distribution by c.  If everybody grew 5 inches suddenly, the variability in the population would still be the same.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73" name="Google Shape;107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3962400"/>
            <a:ext cx="2819400" cy="13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4" name="Google Shape;1074;p69"/>
          <p:cNvGrpSpPr/>
          <p:nvPr/>
        </p:nvGrpSpPr>
        <p:grpSpPr>
          <a:xfrm>
            <a:off x="3352800" y="5029200"/>
            <a:ext cx="1131887" cy="265112"/>
            <a:chOff x="2112" y="3168"/>
            <a:chExt cx="713" cy="167"/>
          </a:xfrm>
        </p:grpSpPr>
        <p:cxnSp>
          <p:nvCxnSpPr>
            <p:cNvPr id="1075" name="Google Shape;1075;p69"/>
            <p:cNvCxnSpPr/>
            <p:nvPr/>
          </p:nvCxnSpPr>
          <p:spPr>
            <a:xfrm>
              <a:off x="2112" y="3252"/>
              <a:ext cx="293" cy="0"/>
            </a:xfrm>
            <a:prstGeom prst="straightConnector1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076" name="Google Shape;1076;p69"/>
            <p:cNvSpPr txBox="1"/>
            <p:nvPr/>
          </p:nvSpPr>
          <p:spPr>
            <a:xfrm>
              <a:off x="2442" y="3168"/>
              <a:ext cx="383" cy="1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c</a:t>
              </a:r>
              <a:endParaRPr/>
            </a:p>
          </p:txBody>
        </p:sp>
      </p:grpSp>
      <p:pic>
        <p:nvPicPr>
          <p:cNvPr id="1077" name="Google Shape;107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5105400"/>
            <a:ext cx="28194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7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Var (c+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)= Var(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)</a:t>
            </a:r>
            <a:endParaRPr/>
          </a:p>
        </p:txBody>
      </p:sp>
      <p:sp>
        <p:nvSpPr>
          <p:cNvPr id="1083" name="Google Shape;1083;p70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 (c+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 Var(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Adding a constant to every instance of a random variable doesn’t change the variability. It just shifts the whole distribution by c.  If everybody grew 5 inches suddenly, the variability in the population would still be the same.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84" name="Google Shape;108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3962400"/>
            <a:ext cx="2819400" cy="13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5" name="Google Shape;1085;p70"/>
          <p:cNvGrpSpPr/>
          <p:nvPr/>
        </p:nvGrpSpPr>
        <p:grpSpPr>
          <a:xfrm>
            <a:off x="3352800" y="5029200"/>
            <a:ext cx="1131887" cy="265112"/>
            <a:chOff x="2112" y="3168"/>
            <a:chExt cx="713" cy="167"/>
          </a:xfrm>
        </p:grpSpPr>
        <p:cxnSp>
          <p:nvCxnSpPr>
            <p:cNvPr id="1086" name="Google Shape;1086;p70"/>
            <p:cNvCxnSpPr/>
            <p:nvPr/>
          </p:nvCxnSpPr>
          <p:spPr>
            <a:xfrm>
              <a:off x="2112" y="3252"/>
              <a:ext cx="293" cy="0"/>
            </a:xfrm>
            <a:prstGeom prst="straightConnector1">
              <a:avLst/>
            </a:prstGeom>
            <a:noFill/>
            <a:ln cap="sq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087" name="Google Shape;1087;p70"/>
            <p:cNvSpPr txBox="1"/>
            <p:nvPr/>
          </p:nvSpPr>
          <p:spPr>
            <a:xfrm>
              <a:off x="2442" y="3168"/>
              <a:ext cx="383" cy="1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c</a:t>
              </a:r>
              <a:endParaRPr/>
            </a:p>
          </p:txBody>
        </p:sp>
      </p:grpSp>
      <p:pic>
        <p:nvPicPr>
          <p:cNvPr id="1088" name="Google Shape;108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5105400"/>
            <a:ext cx="28194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7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Var(c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)= 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b="0" baseline="3000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Var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(X)</a:t>
            </a:r>
            <a:endParaRPr/>
          </a:p>
        </p:txBody>
      </p:sp>
      <p:sp>
        <p:nvSpPr>
          <p:cNvPr id="1094" name="Google Shape;1094;p7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Var(cX)= c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Var(X)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Multiplying each instance of the random variable by c makes it c-times as wide of a distribution, which corresponds to c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as much variance (deviation squared).  For example, if everyone suddenly became twice as tall, there’d be twice the deviation and 4 times the variance in heights in the population. </a:t>
            </a:r>
            <a:endParaRPr/>
          </a:p>
        </p:txBody>
      </p:sp>
      <p:pic>
        <p:nvPicPr>
          <p:cNvPr id="1095" name="Google Shape;109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4343400"/>
            <a:ext cx="2819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5562600"/>
            <a:ext cx="6153150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7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Var(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Y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)= Var(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) + Var(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Y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)</a:t>
            </a:r>
            <a:endParaRPr/>
          </a:p>
        </p:txBody>
      </p:sp>
      <p:sp>
        <p:nvSpPr>
          <p:cNvPr id="1102" name="Google Shape;1102;p72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Var(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 Var(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Var(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 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ONLY IF X and Y are independent!!!!!!!!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With two random variables, you have more opportunity for variation, unless they vary together (are dependent, or have covariance):  Var(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)= Var(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Var(</a:t>
            </a:r>
            <a:r>
              <a:rPr b="0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+ 2Cov(X, Y)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7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Example of 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Var(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Y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)= Var(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) + Var(</a:t>
            </a:r>
            <a:r>
              <a:rPr b="0" i="1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Y</a:t>
            </a: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):</a:t>
            </a: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 TPMT</a:t>
            </a:r>
            <a:endParaRPr/>
          </a:p>
        </p:txBody>
      </p:sp>
      <p:sp>
        <p:nvSpPr>
          <p:cNvPr id="1108" name="Google Shape;1108;p73"/>
          <p:cNvSpPr txBox="1"/>
          <p:nvPr>
            <p:ph idx="1" type="body"/>
          </p:nvPr>
        </p:nvSpPr>
        <p:spPr>
          <a:xfrm>
            <a:off x="990600" y="20574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TPMT metabolizes the drugs 6-              mercaptopurine, azathioprine, and 6-thioguanine (chemotherapy drugs)</a:t>
            </a:r>
            <a:endParaRPr/>
          </a:p>
          <a:p>
            <a:pPr indent="-341312" lvl="0" marL="341312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People with TPMT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-/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TPMT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have reduced levels of activity (10% prevalence) </a:t>
            </a:r>
            <a:endParaRPr/>
          </a:p>
          <a:p>
            <a:pPr indent="-341312" lvl="0" marL="341312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People with TPMT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-/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TPMT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have no TPMT activity (prevalence 0.3%).</a:t>
            </a:r>
            <a:endParaRPr/>
          </a:p>
          <a:p>
            <a:pPr indent="-341312" lvl="0" marL="341312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They cannot metabolize 6-              mercaptopurine, azathioprine, and 6-thioguanine, and risk bone marrow toxicity if given these drugs.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7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TPMT activity by genotype</a:t>
            </a:r>
            <a:endParaRPr/>
          </a:p>
        </p:txBody>
      </p:sp>
      <p:pic>
        <p:nvPicPr>
          <p:cNvPr id="1114" name="Google Shape;111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133600"/>
            <a:ext cx="6324600" cy="41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74"/>
          <p:cNvSpPr txBox="1"/>
          <p:nvPr/>
        </p:nvSpPr>
        <p:spPr>
          <a:xfrm>
            <a:off x="0" y="6491287"/>
            <a:ext cx="9144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Weinshilboum R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Drug Metab Dispos. 2001 Apr;29(4 Pt 2):601-5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7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TPMT activity by genotype</a:t>
            </a:r>
            <a:endParaRPr/>
          </a:p>
        </p:txBody>
      </p:sp>
      <p:pic>
        <p:nvPicPr>
          <p:cNvPr id="1121" name="Google Shape;112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133600"/>
            <a:ext cx="6324600" cy="41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75"/>
          <p:cNvSpPr txBox="1"/>
          <p:nvPr/>
        </p:nvSpPr>
        <p:spPr>
          <a:xfrm>
            <a:off x="0" y="6491287"/>
            <a:ext cx="9144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Weinshilboum R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Drug Metab Dispos. 2001 Apr;29(4 Pt 2):601-5</a:t>
            </a:r>
            <a:endParaRPr/>
          </a:p>
        </p:txBody>
      </p:sp>
      <p:sp>
        <p:nvSpPr>
          <p:cNvPr id="1123" name="Google Shape;1123;p75"/>
          <p:cNvSpPr txBox="1"/>
          <p:nvPr/>
        </p:nvSpPr>
        <p:spPr>
          <a:xfrm>
            <a:off x="5257800" y="1981200"/>
            <a:ext cx="3429000" cy="1922462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0" i="0" lang="en-US" sz="24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variability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in TPMT activity is much higher in wild-types than heterozygotes.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7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TPMT activity by genotype</a:t>
            </a:r>
            <a:endParaRPr/>
          </a:p>
        </p:txBody>
      </p:sp>
      <p:pic>
        <p:nvPicPr>
          <p:cNvPr id="1129" name="Google Shape;112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133600"/>
            <a:ext cx="6324600" cy="41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76"/>
          <p:cNvSpPr txBox="1"/>
          <p:nvPr/>
        </p:nvSpPr>
        <p:spPr>
          <a:xfrm>
            <a:off x="0" y="6491287"/>
            <a:ext cx="9144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Weinshilboum R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Drug Metab Dispos. 2001 Apr;29(4 Pt 2):601-5</a:t>
            </a:r>
            <a:endParaRPr/>
          </a:p>
        </p:txBody>
      </p:sp>
      <p:sp>
        <p:nvSpPr>
          <p:cNvPr id="1131" name="Google Shape;1131;p76"/>
          <p:cNvSpPr txBox="1"/>
          <p:nvPr/>
        </p:nvSpPr>
        <p:spPr>
          <a:xfrm>
            <a:off x="5562600" y="1752600"/>
            <a:ext cx="3124200" cy="3019425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There is variability in expression from each wild-type allele. With two copies of the good gene present, there’s “twice as much” variability.</a:t>
            </a:r>
            <a:endParaRPr/>
          </a:p>
        </p:txBody>
      </p:sp>
      <p:sp>
        <p:nvSpPr>
          <p:cNvPr id="1132" name="Google Shape;1132;p76"/>
          <p:cNvSpPr txBox="1"/>
          <p:nvPr/>
        </p:nvSpPr>
        <p:spPr>
          <a:xfrm>
            <a:off x="0" y="2971800"/>
            <a:ext cx="3124200" cy="1557337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 variability in expression here, since there’s no working gene.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7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Arimo"/>
              <a:buNone/>
            </a:pPr>
            <a:r>
              <a:rPr b="0" i="0" lang="en-US" sz="4400" u="none">
                <a:solidFill>
                  <a:srgbClr val="333399"/>
                </a:solidFill>
                <a:latin typeface="Arimo"/>
                <a:ea typeface="Arimo"/>
                <a:cs typeface="Arimo"/>
                <a:sym typeface="Arimo"/>
              </a:rPr>
              <a:t>Practice Problem</a:t>
            </a:r>
            <a:endParaRPr/>
          </a:p>
        </p:txBody>
      </p:sp>
      <p:sp>
        <p:nvSpPr>
          <p:cNvPr id="1138" name="Google Shape;1138;p77"/>
          <p:cNvSpPr txBox="1"/>
          <p:nvPr>
            <p:ph idx="1" type="body"/>
          </p:nvPr>
        </p:nvSpPr>
        <p:spPr>
          <a:xfrm>
            <a:off x="1143000" y="198120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mo"/>
              <a:buNone/>
            </a:pPr>
            <a:r>
              <a:rPr b="0" i="0" lang="en-US" sz="2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Find the variance and standard deviation for the number of ships to arrive at the harbor (recall that the mean is 11.3). </a:t>
            </a:r>
            <a:endParaRPr/>
          </a:p>
          <a:p>
            <a:pPr indent="-341312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39" name="Google Shape;1139;p77"/>
          <p:cNvGrpSpPr/>
          <p:nvPr/>
        </p:nvGrpSpPr>
        <p:grpSpPr>
          <a:xfrm>
            <a:off x="1828800" y="3429000"/>
            <a:ext cx="5789612" cy="836612"/>
            <a:chOff x="1152" y="2160"/>
            <a:chExt cx="3647" cy="527"/>
          </a:xfrm>
        </p:grpSpPr>
        <p:grpSp>
          <p:nvGrpSpPr>
            <p:cNvPr id="1140" name="Google Shape;1140;p77"/>
            <p:cNvGrpSpPr/>
            <p:nvPr/>
          </p:nvGrpSpPr>
          <p:grpSpPr>
            <a:xfrm>
              <a:off x="1157" y="2162"/>
              <a:ext cx="3637" cy="523"/>
              <a:chOff x="1157" y="2162"/>
              <a:chExt cx="3637" cy="523"/>
            </a:xfrm>
          </p:grpSpPr>
          <p:grpSp>
            <p:nvGrpSpPr>
              <p:cNvPr id="1141" name="Google Shape;1141;p77"/>
              <p:cNvGrpSpPr/>
              <p:nvPr/>
            </p:nvGrpSpPr>
            <p:grpSpPr>
              <a:xfrm>
                <a:off x="1157" y="2162"/>
                <a:ext cx="651" cy="261"/>
                <a:chOff x="1157" y="2162"/>
                <a:chExt cx="651" cy="261"/>
              </a:xfrm>
            </p:grpSpPr>
            <p:sp>
              <p:nvSpPr>
                <p:cNvPr id="1142" name="Google Shape;1142;p77"/>
                <p:cNvSpPr txBox="1"/>
                <p:nvPr/>
              </p:nvSpPr>
              <p:spPr>
                <a:xfrm>
                  <a:off x="1227" y="2162"/>
                  <a:ext cx="511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x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43" name="Google Shape;1143;p77"/>
                <p:cNvSpPr/>
                <p:nvPr/>
              </p:nvSpPr>
              <p:spPr>
                <a:xfrm>
                  <a:off x="1157" y="2162"/>
                  <a:ext cx="651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44" name="Google Shape;1144;p77"/>
              <p:cNvGrpSpPr/>
              <p:nvPr/>
            </p:nvGrpSpPr>
            <p:grpSpPr>
              <a:xfrm>
                <a:off x="1809" y="2162"/>
                <a:ext cx="596" cy="261"/>
                <a:chOff x="1809" y="2162"/>
                <a:chExt cx="596" cy="261"/>
              </a:xfrm>
            </p:grpSpPr>
            <p:sp>
              <p:nvSpPr>
                <p:cNvPr id="1145" name="Google Shape;1145;p77"/>
                <p:cNvSpPr txBox="1"/>
                <p:nvPr/>
              </p:nvSpPr>
              <p:spPr>
                <a:xfrm>
                  <a:off x="1879" y="2162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46" name="Google Shape;1146;p77"/>
                <p:cNvSpPr/>
                <p:nvPr/>
              </p:nvSpPr>
              <p:spPr>
                <a:xfrm>
                  <a:off x="1809" y="2162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47" name="Google Shape;1147;p77"/>
              <p:cNvGrpSpPr/>
              <p:nvPr/>
            </p:nvGrpSpPr>
            <p:grpSpPr>
              <a:xfrm>
                <a:off x="2407" y="2162"/>
                <a:ext cx="596" cy="261"/>
                <a:chOff x="2407" y="2162"/>
                <a:chExt cx="596" cy="261"/>
              </a:xfrm>
            </p:grpSpPr>
            <p:sp>
              <p:nvSpPr>
                <p:cNvPr id="1148" name="Google Shape;1148;p77"/>
                <p:cNvSpPr txBox="1"/>
                <p:nvPr/>
              </p:nvSpPr>
              <p:spPr>
                <a:xfrm>
                  <a:off x="2477" y="2162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49" name="Google Shape;1149;p77"/>
                <p:cNvSpPr/>
                <p:nvPr/>
              </p:nvSpPr>
              <p:spPr>
                <a:xfrm>
                  <a:off x="2407" y="2162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50" name="Google Shape;1150;p77"/>
              <p:cNvGrpSpPr/>
              <p:nvPr/>
            </p:nvGrpSpPr>
            <p:grpSpPr>
              <a:xfrm>
                <a:off x="3004" y="2162"/>
                <a:ext cx="596" cy="261"/>
                <a:chOff x="3004" y="2162"/>
                <a:chExt cx="596" cy="261"/>
              </a:xfrm>
            </p:grpSpPr>
            <p:sp>
              <p:nvSpPr>
                <p:cNvPr id="1151" name="Google Shape;1151;p77"/>
                <p:cNvSpPr txBox="1"/>
                <p:nvPr/>
              </p:nvSpPr>
              <p:spPr>
                <a:xfrm>
                  <a:off x="3074" y="2162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52" name="Google Shape;1152;p77"/>
                <p:cNvSpPr/>
                <p:nvPr/>
              </p:nvSpPr>
              <p:spPr>
                <a:xfrm>
                  <a:off x="3004" y="2162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53" name="Google Shape;1153;p77"/>
              <p:cNvGrpSpPr/>
              <p:nvPr/>
            </p:nvGrpSpPr>
            <p:grpSpPr>
              <a:xfrm>
                <a:off x="3600" y="2162"/>
                <a:ext cx="596" cy="261"/>
                <a:chOff x="3600" y="2162"/>
                <a:chExt cx="596" cy="261"/>
              </a:xfrm>
            </p:grpSpPr>
            <p:sp>
              <p:nvSpPr>
                <p:cNvPr id="1154" name="Google Shape;1154;p77"/>
                <p:cNvSpPr txBox="1"/>
                <p:nvPr/>
              </p:nvSpPr>
              <p:spPr>
                <a:xfrm>
                  <a:off x="3671" y="2162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13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55" name="Google Shape;1155;p77"/>
                <p:cNvSpPr/>
                <p:nvPr/>
              </p:nvSpPr>
              <p:spPr>
                <a:xfrm>
                  <a:off x="3600" y="2162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56" name="Google Shape;1156;p77"/>
              <p:cNvGrpSpPr/>
              <p:nvPr/>
            </p:nvGrpSpPr>
            <p:grpSpPr>
              <a:xfrm>
                <a:off x="4198" y="2162"/>
                <a:ext cx="596" cy="261"/>
                <a:chOff x="4198" y="2162"/>
                <a:chExt cx="596" cy="261"/>
              </a:xfrm>
            </p:grpSpPr>
            <p:sp>
              <p:nvSpPr>
                <p:cNvPr id="1157" name="Google Shape;1157;p77"/>
                <p:cNvSpPr txBox="1"/>
                <p:nvPr/>
              </p:nvSpPr>
              <p:spPr>
                <a:xfrm>
                  <a:off x="4268" y="2162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58" name="Google Shape;1158;p77"/>
                <p:cNvSpPr/>
                <p:nvPr/>
              </p:nvSpPr>
              <p:spPr>
                <a:xfrm>
                  <a:off x="4198" y="2162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59" name="Google Shape;1159;p77"/>
              <p:cNvGrpSpPr/>
              <p:nvPr/>
            </p:nvGrpSpPr>
            <p:grpSpPr>
              <a:xfrm>
                <a:off x="1157" y="2424"/>
                <a:ext cx="651" cy="261"/>
                <a:chOff x="1157" y="2424"/>
                <a:chExt cx="651" cy="261"/>
              </a:xfrm>
            </p:grpSpPr>
            <p:sp>
              <p:nvSpPr>
                <p:cNvPr id="1160" name="Google Shape;1160;p77"/>
                <p:cNvSpPr txBox="1"/>
                <p:nvPr/>
              </p:nvSpPr>
              <p:spPr>
                <a:xfrm>
                  <a:off x="1227" y="2424"/>
                  <a:ext cx="511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61" name="Google Shape;1161;p77"/>
                <p:cNvSpPr/>
                <p:nvPr/>
              </p:nvSpPr>
              <p:spPr>
                <a:xfrm>
                  <a:off x="1157" y="2424"/>
                  <a:ext cx="651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62" name="Google Shape;1162;p77"/>
              <p:cNvGrpSpPr/>
              <p:nvPr/>
            </p:nvGrpSpPr>
            <p:grpSpPr>
              <a:xfrm>
                <a:off x="1809" y="2424"/>
                <a:ext cx="596" cy="261"/>
                <a:chOff x="1809" y="2424"/>
                <a:chExt cx="596" cy="261"/>
              </a:xfrm>
            </p:grpSpPr>
            <p:sp>
              <p:nvSpPr>
                <p:cNvPr id="1163" name="Google Shape;1163;p77"/>
                <p:cNvSpPr txBox="1"/>
                <p:nvPr/>
              </p:nvSpPr>
              <p:spPr>
                <a:xfrm>
                  <a:off x="1879" y="2424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64" name="Google Shape;1164;p77"/>
                <p:cNvSpPr/>
                <p:nvPr/>
              </p:nvSpPr>
              <p:spPr>
                <a:xfrm>
                  <a:off x="1809" y="2424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65" name="Google Shape;1165;p77"/>
              <p:cNvGrpSpPr/>
              <p:nvPr/>
            </p:nvGrpSpPr>
            <p:grpSpPr>
              <a:xfrm>
                <a:off x="2407" y="2424"/>
                <a:ext cx="596" cy="261"/>
                <a:chOff x="2407" y="2424"/>
                <a:chExt cx="596" cy="261"/>
              </a:xfrm>
            </p:grpSpPr>
            <p:sp>
              <p:nvSpPr>
                <p:cNvPr id="1166" name="Google Shape;1166;p77"/>
                <p:cNvSpPr txBox="1"/>
                <p:nvPr/>
              </p:nvSpPr>
              <p:spPr>
                <a:xfrm>
                  <a:off x="2477" y="2424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67" name="Google Shape;1167;p77"/>
                <p:cNvSpPr/>
                <p:nvPr/>
              </p:nvSpPr>
              <p:spPr>
                <a:xfrm>
                  <a:off x="2407" y="2424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68" name="Google Shape;1168;p77"/>
              <p:cNvGrpSpPr/>
              <p:nvPr/>
            </p:nvGrpSpPr>
            <p:grpSpPr>
              <a:xfrm>
                <a:off x="3004" y="2424"/>
                <a:ext cx="596" cy="261"/>
                <a:chOff x="3004" y="2424"/>
                <a:chExt cx="596" cy="261"/>
              </a:xfrm>
            </p:grpSpPr>
            <p:sp>
              <p:nvSpPr>
                <p:cNvPr id="1169" name="Google Shape;1169;p77"/>
                <p:cNvSpPr txBox="1"/>
                <p:nvPr/>
              </p:nvSpPr>
              <p:spPr>
                <a:xfrm>
                  <a:off x="3074" y="2424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70" name="Google Shape;1170;p77"/>
                <p:cNvSpPr/>
                <p:nvPr/>
              </p:nvSpPr>
              <p:spPr>
                <a:xfrm>
                  <a:off x="3004" y="2424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71" name="Google Shape;1171;p77"/>
              <p:cNvGrpSpPr/>
              <p:nvPr/>
            </p:nvGrpSpPr>
            <p:grpSpPr>
              <a:xfrm>
                <a:off x="3600" y="2424"/>
                <a:ext cx="596" cy="261"/>
                <a:chOff x="3600" y="2424"/>
                <a:chExt cx="596" cy="261"/>
              </a:xfrm>
            </p:grpSpPr>
            <p:sp>
              <p:nvSpPr>
                <p:cNvPr id="1172" name="Google Shape;1172;p77"/>
                <p:cNvSpPr txBox="1"/>
                <p:nvPr/>
              </p:nvSpPr>
              <p:spPr>
                <a:xfrm>
                  <a:off x="3671" y="2424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73" name="Google Shape;1173;p77"/>
                <p:cNvSpPr/>
                <p:nvPr/>
              </p:nvSpPr>
              <p:spPr>
                <a:xfrm>
                  <a:off x="3600" y="2424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74" name="Google Shape;1174;p77"/>
              <p:cNvGrpSpPr/>
              <p:nvPr/>
            </p:nvGrpSpPr>
            <p:grpSpPr>
              <a:xfrm>
                <a:off x="4198" y="2424"/>
                <a:ext cx="596" cy="261"/>
                <a:chOff x="4198" y="2424"/>
                <a:chExt cx="596" cy="261"/>
              </a:xfrm>
            </p:grpSpPr>
            <p:sp>
              <p:nvSpPr>
                <p:cNvPr id="1175" name="Google Shape;1175;p77"/>
                <p:cNvSpPr txBox="1"/>
                <p:nvPr/>
              </p:nvSpPr>
              <p:spPr>
                <a:xfrm>
                  <a:off x="4268" y="2424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76" name="Google Shape;1176;p77"/>
                <p:cNvSpPr/>
                <p:nvPr/>
              </p:nvSpPr>
              <p:spPr>
                <a:xfrm>
                  <a:off x="4198" y="2424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1177" name="Google Shape;1177;p77"/>
            <p:cNvSpPr/>
            <p:nvPr/>
          </p:nvSpPr>
          <p:spPr>
            <a:xfrm>
              <a:off x="1152" y="2160"/>
              <a:ext cx="3647" cy="527"/>
            </a:xfrm>
            <a:prstGeom prst="rect">
              <a:avLst/>
            </a:prstGeom>
            <a:noFill/>
            <a:ln cap="sq" cmpd="sng" w="9525">
              <a:solidFill>
                <a:srgbClr val="A0A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7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Answer: variance and std dev</a:t>
            </a:r>
            <a:endParaRPr/>
          </a:p>
        </p:txBody>
      </p:sp>
      <p:graphicFrame>
        <p:nvGraphicFramePr>
          <p:cNvPr id="1183" name="Google Shape;1183;p78"/>
          <p:cNvGraphicFramePr/>
          <p:nvPr/>
        </p:nvGraphicFramePr>
        <p:xfrm>
          <a:off x="381000" y="3657600"/>
          <a:ext cx="8610600" cy="1763712"/>
        </p:xfrm>
        <a:graphic>
          <a:graphicData uri="http://schemas.openxmlformats.org/presentationml/2006/ole">
            <mc:AlternateContent>
              <mc:Choice Requires="v">
                <p:oleObj r:id="rId4" imgH="1763712" imgW="8610600" spid="_x0000_s1">
                  <p:embed/>
                </p:oleObj>
              </mc:Choice>
              <mc:Fallback>
                <p:oleObj r:id="rId5" imgH="1763712" imgW="8610600">
                  <p:embed/>
                  <p:pic>
                    <p:nvPicPr>
                      <p:cNvPr id="1183" name="Google Shape;1183;p7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1000" y="3657600"/>
                        <a:ext cx="8610600" cy="176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84" name="Google Shape;1184;p78"/>
          <p:cNvGrpSpPr/>
          <p:nvPr/>
        </p:nvGrpSpPr>
        <p:grpSpPr>
          <a:xfrm>
            <a:off x="1905000" y="2362200"/>
            <a:ext cx="5789612" cy="836612"/>
            <a:chOff x="1200" y="1488"/>
            <a:chExt cx="3647" cy="527"/>
          </a:xfrm>
        </p:grpSpPr>
        <p:grpSp>
          <p:nvGrpSpPr>
            <p:cNvPr id="1185" name="Google Shape;1185;p78"/>
            <p:cNvGrpSpPr/>
            <p:nvPr/>
          </p:nvGrpSpPr>
          <p:grpSpPr>
            <a:xfrm>
              <a:off x="1205" y="1490"/>
              <a:ext cx="3636" cy="523"/>
              <a:chOff x="1205" y="1490"/>
              <a:chExt cx="3636" cy="523"/>
            </a:xfrm>
          </p:grpSpPr>
          <p:grpSp>
            <p:nvGrpSpPr>
              <p:cNvPr id="1186" name="Google Shape;1186;p78"/>
              <p:cNvGrpSpPr/>
              <p:nvPr/>
            </p:nvGrpSpPr>
            <p:grpSpPr>
              <a:xfrm>
                <a:off x="1205" y="1490"/>
                <a:ext cx="651" cy="261"/>
                <a:chOff x="1205" y="1490"/>
                <a:chExt cx="651" cy="261"/>
              </a:xfrm>
            </p:grpSpPr>
            <p:sp>
              <p:nvSpPr>
                <p:cNvPr id="1187" name="Google Shape;1187;p78"/>
                <p:cNvSpPr txBox="1"/>
                <p:nvPr/>
              </p:nvSpPr>
              <p:spPr>
                <a:xfrm>
                  <a:off x="1275" y="1490"/>
                  <a:ext cx="511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x</a:t>
                  </a:r>
                  <a:r>
                    <a:rPr b="1" baseline="30000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baseline="30000" i="1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88" name="Google Shape;1188;p78"/>
                <p:cNvSpPr/>
                <p:nvPr/>
              </p:nvSpPr>
              <p:spPr>
                <a:xfrm>
                  <a:off x="1205" y="1490"/>
                  <a:ext cx="651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89" name="Google Shape;1189;p78"/>
              <p:cNvGrpSpPr/>
              <p:nvPr/>
            </p:nvGrpSpPr>
            <p:grpSpPr>
              <a:xfrm>
                <a:off x="1857" y="1490"/>
                <a:ext cx="596" cy="261"/>
                <a:chOff x="1857" y="1490"/>
                <a:chExt cx="596" cy="261"/>
              </a:xfrm>
            </p:grpSpPr>
            <p:sp>
              <p:nvSpPr>
                <p:cNvPr id="1190" name="Google Shape;1190;p78"/>
                <p:cNvSpPr txBox="1"/>
                <p:nvPr/>
              </p:nvSpPr>
              <p:spPr>
                <a:xfrm>
                  <a:off x="1928" y="1490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100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91" name="Google Shape;1191;p78"/>
                <p:cNvSpPr/>
                <p:nvPr/>
              </p:nvSpPr>
              <p:spPr>
                <a:xfrm>
                  <a:off x="1857" y="1490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92" name="Google Shape;1192;p78"/>
              <p:cNvGrpSpPr/>
              <p:nvPr/>
            </p:nvGrpSpPr>
            <p:grpSpPr>
              <a:xfrm>
                <a:off x="2454" y="1490"/>
                <a:ext cx="596" cy="261"/>
                <a:chOff x="2454" y="1490"/>
                <a:chExt cx="596" cy="261"/>
              </a:xfrm>
            </p:grpSpPr>
            <p:sp>
              <p:nvSpPr>
                <p:cNvPr id="1193" name="Google Shape;1193;p78"/>
                <p:cNvSpPr txBox="1"/>
                <p:nvPr/>
              </p:nvSpPr>
              <p:spPr>
                <a:xfrm>
                  <a:off x="2525" y="1490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121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94" name="Google Shape;1194;p78"/>
                <p:cNvSpPr/>
                <p:nvPr/>
              </p:nvSpPr>
              <p:spPr>
                <a:xfrm>
                  <a:off x="2454" y="1490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95" name="Google Shape;1195;p78"/>
              <p:cNvGrpSpPr/>
              <p:nvPr/>
            </p:nvGrpSpPr>
            <p:grpSpPr>
              <a:xfrm>
                <a:off x="3052" y="1490"/>
                <a:ext cx="595" cy="261"/>
                <a:chOff x="3052" y="1490"/>
                <a:chExt cx="595" cy="261"/>
              </a:xfrm>
            </p:grpSpPr>
            <p:sp>
              <p:nvSpPr>
                <p:cNvPr id="1196" name="Google Shape;1196;p78"/>
                <p:cNvSpPr txBox="1"/>
                <p:nvPr/>
              </p:nvSpPr>
              <p:spPr>
                <a:xfrm>
                  <a:off x="3122" y="1490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144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97" name="Google Shape;1197;p78"/>
                <p:cNvSpPr/>
                <p:nvPr/>
              </p:nvSpPr>
              <p:spPr>
                <a:xfrm>
                  <a:off x="3052" y="1490"/>
                  <a:ext cx="595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198" name="Google Shape;1198;p78"/>
              <p:cNvGrpSpPr/>
              <p:nvPr/>
            </p:nvGrpSpPr>
            <p:grpSpPr>
              <a:xfrm>
                <a:off x="3649" y="1490"/>
                <a:ext cx="596" cy="261"/>
                <a:chOff x="3649" y="1490"/>
                <a:chExt cx="596" cy="261"/>
              </a:xfrm>
            </p:grpSpPr>
            <p:sp>
              <p:nvSpPr>
                <p:cNvPr id="1199" name="Google Shape;1199;p78"/>
                <p:cNvSpPr txBox="1"/>
                <p:nvPr/>
              </p:nvSpPr>
              <p:spPr>
                <a:xfrm>
                  <a:off x="3719" y="1490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169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200" name="Google Shape;1200;p78"/>
                <p:cNvSpPr/>
                <p:nvPr/>
              </p:nvSpPr>
              <p:spPr>
                <a:xfrm>
                  <a:off x="3649" y="1490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201" name="Google Shape;1201;p78"/>
              <p:cNvGrpSpPr/>
              <p:nvPr/>
            </p:nvGrpSpPr>
            <p:grpSpPr>
              <a:xfrm>
                <a:off x="4246" y="1490"/>
                <a:ext cx="595" cy="261"/>
                <a:chOff x="4246" y="1490"/>
                <a:chExt cx="595" cy="261"/>
              </a:xfrm>
            </p:grpSpPr>
            <p:sp>
              <p:nvSpPr>
                <p:cNvPr id="1202" name="Google Shape;1202;p78"/>
                <p:cNvSpPr txBox="1"/>
                <p:nvPr/>
              </p:nvSpPr>
              <p:spPr>
                <a:xfrm>
                  <a:off x="4315" y="1490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196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203" name="Google Shape;1203;p78"/>
                <p:cNvSpPr/>
                <p:nvPr/>
              </p:nvSpPr>
              <p:spPr>
                <a:xfrm>
                  <a:off x="4246" y="1490"/>
                  <a:ext cx="595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204" name="Google Shape;1204;p78"/>
              <p:cNvGrpSpPr/>
              <p:nvPr/>
            </p:nvGrpSpPr>
            <p:grpSpPr>
              <a:xfrm>
                <a:off x="1205" y="1752"/>
                <a:ext cx="651" cy="261"/>
                <a:chOff x="1205" y="1752"/>
                <a:chExt cx="651" cy="261"/>
              </a:xfrm>
            </p:grpSpPr>
            <p:sp>
              <p:nvSpPr>
                <p:cNvPr id="1205" name="Google Shape;1205;p78"/>
                <p:cNvSpPr txBox="1"/>
                <p:nvPr/>
              </p:nvSpPr>
              <p:spPr>
                <a:xfrm>
                  <a:off x="1275" y="1752"/>
                  <a:ext cx="511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1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P(x)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206" name="Google Shape;1206;p78"/>
                <p:cNvSpPr/>
                <p:nvPr/>
              </p:nvSpPr>
              <p:spPr>
                <a:xfrm>
                  <a:off x="1205" y="1752"/>
                  <a:ext cx="651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207" name="Google Shape;1207;p78"/>
              <p:cNvGrpSpPr/>
              <p:nvPr/>
            </p:nvGrpSpPr>
            <p:grpSpPr>
              <a:xfrm>
                <a:off x="1857" y="1752"/>
                <a:ext cx="596" cy="261"/>
                <a:chOff x="1857" y="1752"/>
                <a:chExt cx="596" cy="261"/>
              </a:xfrm>
            </p:grpSpPr>
            <p:sp>
              <p:nvSpPr>
                <p:cNvPr id="1208" name="Google Shape;1208;p78"/>
                <p:cNvSpPr txBox="1"/>
                <p:nvPr/>
              </p:nvSpPr>
              <p:spPr>
                <a:xfrm>
                  <a:off x="1928" y="1752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.4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209" name="Google Shape;1209;p78"/>
                <p:cNvSpPr/>
                <p:nvPr/>
              </p:nvSpPr>
              <p:spPr>
                <a:xfrm>
                  <a:off x="1857" y="1752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210" name="Google Shape;1210;p78"/>
              <p:cNvGrpSpPr/>
              <p:nvPr/>
            </p:nvGrpSpPr>
            <p:grpSpPr>
              <a:xfrm>
                <a:off x="2454" y="1752"/>
                <a:ext cx="596" cy="261"/>
                <a:chOff x="2454" y="1752"/>
                <a:chExt cx="596" cy="261"/>
              </a:xfrm>
            </p:grpSpPr>
            <p:sp>
              <p:nvSpPr>
                <p:cNvPr id="1211" name="Google Shape;1211;p78"/>
                <p:cNvSpPr txBox="1"/>
                <p:nvPr/>
              </p:nvSpPr>
              <p:spPr>
                <a:xfrm>
                  <a:off x="2525" y="1752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212" name="Google Shape;1212;p78"/>
                <p:cNvSpPr/>
                <p:nvPr/>
              </p:nvSpPr>
              <p:spPr>
                <a:xfrm>
                  <a:off x="2454" y="1752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213" name="Google Shape;1213;p78"/>
              <p:cNvGrpSpPr/>
              <p:nvPr/>
            </p:nvGrpSpPr>
            <p:grpSpPr>
              <a:xfrm>
                <a:off x="3052" y="1752"/>
                <a:ext cx="595" cy="261"/>
                <a:chOff x="3052" y="1752"/>
                <a:chExt cx="595" cy="261"/>
              </a:xfrm>
            </p:grpSpPr>
            <p:sp>
              <p:nvSpPr>
                <p:cNvPr id="1214" name="Google Shape;1214;p78"/>
                <p:cNvSpPr txBox="1"/>
                <p:nvPr/>
              </p:nvSpPr>
              <p:spPr>
                <a:xfrm>
                  <a:off x="3122" y="1752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.2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215" name="Google Shape;1215;p78"/>
                <p:cNvSpPr/>
                <p:nvPr/>
              </p:nvSpPr>
              <p:spPr>
                <a:xfrm>
                  <a:off x="3052" y="1752"/>
                  <a:ext cx="595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216" name="Google Shape;1216;p78"/>
              <p:cNvGrpSpPr/>
              <p:nvPr/>
            </p:nvGrpSpPr>
            <p:grpSpPr>
              <a:xfrm>
                <a:off x="3649" y="1752"/>
                <a:ext cx="596" cy="261"/>
                <a:chOff x="3649" y="1752"/>
                <a:chExt cx="596" cy="261"/>
              </a:xfrm>
            </p:grpSpPr>
            <p:sp>
              <p:nvSpPr>
                <p:cNvPr id="1217" name="Google Shape;1217;p78"/>
                <p:cNvSpPr txBox="1"/>
                <p:nvPr/>
              </p:nvSpPr>
              <p:spPr>
                <a:xfrm>
                  <a:off x="3719" y="1752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218" name="Google Shape;1218;p78"/>
                <p:cNvSpPr/>
                <p:nvPr/>
              </p:nvSpPr>
              <p:spPr>
                <a:xfrm>
                  <a:off x="3649" y="1752"/>
                  <a:ext cx="596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219" name="Google Shape;1219;p78"/>
              <p:cNvGrpSpPr/>
              <p:nvPr/>
            </p:nvGrpSpPr>
            <p:grpSpPr>
              <a:xfrm>
                <a:off x="4246" y="1752"/>
                <a:ext cx="595" cy="261"/>
                <a:chOff x="4246" y="1752"/>
                <a:chExt cx="595" cy="261"/>
              </a:xfrm>
            </p:grpSpPr>
            <p:sp>
              <p:nvSpPr>
                <p:cNvPr id="1220" name="Google Shape;1220;p78"/>
                <p:cNvSpPr txBox="1"/>
                <p:nvPr/>
              </p:nvSpPr>
              <p:spPr>
                <a:xfrm>
                  <a:off x="4315" y="1752"/>
                  <a:ext cx="455" cy="2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90000" spcFirstLastPara="1" rIns="90000" wrap="square" tIns="46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mo"/>
                    <a:buNone/>
                  </a:pPr>
                  <a:r>
                    <a:rPr b="1" i="0" lang="en-US" sz="2400" u="none">
                      <a:solidFill>
                        <a:srgbClr val="000000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.1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0" sz="2400" u="non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221" name="Google Shape;1221;p78"/>
                <p:cNvSpPr/>
                <p:nvPr/>
              </p:nvSpPr>
              <p:spPr>
                <a:xfrm>
                  <a:off x="4246" y="1752"/>
                  <a:ext cx="595" cy="261"/>
                </a:xfrm>
                <a:prstGeom prst="rect">
                  <a:avLst/>
                </a:prstGeom>
                <a:noFill/>
                <a:ln cap="sq" cmpd="sng" w="9525">
                  <a:solidFill>
                    <a:srgbClr val="A0A0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1222" name="Google Shape;1222;p78"/>
            <p:cNvSpPr/>
            <p:nvPr/>
          </p:nvSpPr>
          <p:spPr>
            <a:xfrm>
              <a:off x="1200" y="1488"/>
              <a:ext cx="3647" cy="527"/>
            </a:xfrm>
            <a:prstGeom prst="rect">
              <a:avLst/>
            </a:prstGeom>
            <a:noFill/>
            <a:ln cap="sq" cmpd="sng" w="9525">
              <a:solidFill>
                <a:srgbClr val="A0A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23" name="Google Shape;1223;p78"/>
          <p:cNvSpPr txBox="1"/>
          <p:nvPr/>
        </p:nvSpPr>
        <p:spPr>
          <a:xfrm>
            <a:off x="1143000" y="5715000"/>
            <a:ext cx="7391400" cy="1190625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Interpretation: On an average day, we expect 11.3 ships to arrive in the harbor, plus or minus 1.35. This gives you a feel for what would be considered a usual day!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7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Problem</a:t>
            </a:r>
            <a:endParaRPr/>
          </a:p>
        </p:txBody>
      </p:sp>
      <p:sp>
        <p:nvSpPr>
          <p:cNvPr id="1229" name="Google Shape;1229;p79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You toss a coin 100 times.  What’s the expected number of heads?  What’s the variance of the number of heads?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mo"/>
              <a:buNone/>
            </a:pPr>
            <a:r>
              <a:rPr b="0" i="0" lang="en-US" sz="32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8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Answer: expected value</a:t>
            </a:r>
            <a:endParaRPr/>
          </a:p>
        </p:txBody>
      </p:sp>
      <p:sp>
        <p:nvSpPr>
          <p:cNvPr id="1235" name="Google Shape;1235;p80"/>
          <p:cNvSpPr txBox="1"/>
          <p:nvPr>
            <p:ph idx="1" type="body"/>
          </p:nvPr>
        </p:nvSpPr>
        <p:spPr>
          <a:xfrm>
            <a:off x="381000" y="2133600"/>
            <a:ext cx="8534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Intuitively, we’d probably all agree that we expect around 50 heads, right?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Another way to show this</a:t>
            </a:r>
            <a:r>
              <a:rPr b="0" i="0" lang="en-US" sz="1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Think of tossing 1 coin.  E(X=number of heads)  = (1) P(heads)  + (0)P(tails) 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∴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E(X=number of heads) = 1(.5) + 0  = .5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If we do this 100 times, we’re looking for the sum of 100 tosses, where we assign 1 for a heads and 0 for a tails.  (these are 100 “independent, identically distributed (i.i.d)” events)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+X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+X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+X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+X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…..+X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100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E(X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E(X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E(X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)+ E(X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)+ E(X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…..+ E(X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100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100 E(X</a:t>
            </a:r>
            <a:r>
              <a:rPr b="0" baseline="-2500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 =  50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8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Answer: variance</a:t>
            </a:r>
            <a:endParaRPr/>
          </a:p>
        </p:txBody>
      </p:sp>
      <p:sp>
        <p:nvSpPr>
          <p:cNvPr id="1241" name="Google Shape;1241;p81"/>
          <p:cNvSpPr txBox="1"/>
          <p:nvPr>
            <p:ph idx="1" type="body"/>
          </p:nvPr>
        </p:nvSpPr>
        <p:spPr>
          <a:xfrm>
            <a:off x="685800" y="2017712"/>
            <a:ext cx="826928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What’s the variability, though?  More tricky.  But, again, we could do this for 1 coin and then use our rules of variance.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Think of tossing 1 coin.  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E(X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=number of heads squared) = 1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P(heads) + 0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P(tails)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∴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E(X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1(.5) + 0  = .5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Var(X) = .5 - .5</a:t>
            </a:r>
            <a:r>
              <a:rPr b="0" baseline="30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=  .5 - .25  = .25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Then, using our rule: Var(X+Y)= Var(X) + Var(Y)    (coin tosses are independent!)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Var(X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+X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+X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+X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+X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…..+X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100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Var(X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Var(X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+ Var(X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)+ Var(X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)+ Var(X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…..+ Var(X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100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100 Var(X</a:t>
            </a:r>
            <a:r>
              <a:rPr b="0" baseline="-2500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 =  100 (.25) = 25</a:t>
            </a:r>
            <a:endParaRPr/>
          </a:p>
          <a:p>
            <a:pPr indent="-341312" lvl="0" marL="3429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SD(X)=5</a:t>
            </a:r>
            <a:endParaRPr/>
          </a:p>
        </p:txBody>
      </p:sp>
      <p:sp>
        <p:nvSpPr>
          <p:cNvPr id="1242" name="Google Shape;1242;p81"/>
          <p:cNvSpPr txBox="1"/>
          <p:nvPr/>
        </p:nvSpPr>
        <p:spPr>
          <a:xfrm>
            <a:off x="4648200" y="5932487"/>
            <a:ext cx="4267200" cy="917575"/>
          </a:xfrm>
          <a:prstGeom prst="rect">
            <a:avLst/>
          </a:prstGeom>
          <a:noFill/>
          <a:ln cap="sq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Interpretation: When we toss a coin 100 times, we expect to get 50 heads plus or minus 5.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8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Or use computer simulation…</a:t>
            </a:r>
            <a:endParaRPr/>
          </a:p>
        </p:txBody>
      </p:sp>
      <p:sp>
        <p:nvSpPr>
          <p:cNvPr id="1248" name="Google Shape;1248;p82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Flip coins virtually!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Flip a virtual coin 100 times; count the number of heads.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Repeat this over and over again a large number of times (we’ll try 30,000 repeats!)</a:t>
            </a:r>
            <a:endParaRPr/>
          </a:p>
          <a:p>
            <a:pPr indent="-284162" lvl="1" marL="74136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Plot the 30,000 results.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8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Coin tosses…</a:t>
            </a:r>
            <a:endParaRPr/>
          </a:p>
        </p:txBody>
      </p:sp>
      <p:pic>
        <p:nvPicPr>
          <p:cNvPr id="1254" name="Google Shape;125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012" y="1952625"/>
            <a:ext cx="5849937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83"/>
          <p:cNvSpPr txBox="1"/>
          <p:nvPr/>
        </p:nvSpPr>
        <p:spPr>
          <a:xfrm>
            <a:off x="6096000" y="2438400"/>
            <a:ext cx="2809875" cy="2441575"/>
          </a:xfrm>
          <a:prstGeom prst="rect">
            <a:avLst/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Mean = 50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Std. dev = 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1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Follows a normal distribution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1" i="0" lang="en-US" sz="1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∴</a:t>
            </a:r>
            <a:r>
              <a:rPr b="1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95% of the time, we get between 40 and 60 heads…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8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Covariance: joint probability</a:t>
            </a:r>
            <a:endParaRPr/>
          </a:p>
        </p:txBody>
      </p:sp>
      <p:sp>
        <p:nvSpPr>
          <p:cNvPr id="1261" name="Google Shape;1261;p84"/>
          <p:cNvSpPr txBox="1"/>
          <p:nvPr>
            <p:ph idx="1" type="body"/>
          </p:nvPr>
        </p:nvSpPr>
        <p:spPr>
          <a:xfrm>
            <a:off x="838200" y="1752600"/>
            <a:ext cx="8077200" cy="47609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covariance measures the strength of the linear relationship between two variables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covariance: 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262" name="Google Shape;1262;p84"/>
          <p:cNvGraphicFramePr/>
          <p:nvPr/>
        </p:nvGraphicFramePr>
        <p:xfrm>
          <a:off x="1412875" y="4419600"/>
          <a:ext cx="6316662" cy="1252537"/>
        </p:xfrm>
        <a:graphic>
          <a:graphicData uri="http://schemas.openxmlformats.org/presentationml/2006/ole">
            <mc:AlternateContent>
              <mc:Choice Requires="v">
                <p:oleObj r:id="rId4" imgH="1252537" imgW="6316662" spid="_x0000_s1">
                  <p:embed/>
                </p:oleObj>
              </mc:Choice>
              <mc:Fallback>
                <p:oleObj r:id="rId5" imgH="1252537" imgW="6316662">
                  <p:embed/>
                  <p:pic>
                    <p:nvPicPr>
                      <p:cNvPr id="1262" name="Google Shape;1262;p8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412875" y="4419600"/>
                        <a:ext cx="6316662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3" name="Google Shape;1263;p84"/>
          <p:cNvGraphicFramePr/>
          <p:nvPr/>
        </p:nvGraphicFramePr>
        <p:xfrm>
          <a:off x="4343400" y="3276600"/>
          <a:ext cx="3200400" cy="639762"/>
        </p:xfrm>
        <a:graphic>
          <a:graphicData uri="http://schemas.openxmlformats.org/presentationml/2006/ole">
            <mc:AlternateContent>
              <mc:Choice Requires="v">
                <p:oleObj r:id="rId7" imgH="639762" imgW="3200400" spid="_x0000_s2">
                  <p:embed/>
                </p:oleObj>
              </mc:Choice>
              <mc:Fallback>
                <p:oleObj r:id="rId8" imgH="639762" imgW="3200400">
                  <p:embed/>
                  <p:pic>
                    <p:nvPicPr>
                      <p:cNvPr id="1263" name="Google Shape;1263;p84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343400" y="3276600"/>
                        <a:ext cx="3200400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8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The Sample Covariance</a:t>
            </a:r>
            <a:endParaRPr/>
          </a:p>
        </p:txBody>
      </p:sp>
      <p:sp>
        <p:nvSpPr>
          <p:cNvPr id="1269" name="Google Shape;1269;p85"/>
          <p:cNvSpPr txBox="1"/>
          <p:nvPr>
            <p:ph idx="1" type="body"/>
          </p:nvPr>
        </p:nvSpPr>
        <p:spPr>
          <a:xfrm>
            <a:off x="838200" y="1752600"/>
            <a:ext cx="8077200" cy="47609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19087" lvl="0" marL="3190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sample covariance:</a:t>
            </a:r>
            <a:endParaRPr/>
          </a:p>
          <a:p>
            <a:pPr indent="-319087" lvl="0" marL="319087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9087" lvl="0" marL="319087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9087" lvl="0" marL="319087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9087" lvl="0" marL="319087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270" name="Google Shape;1270;p85"/>
          <p:cNvGraphicFramePr/>
          <p:nvPr/>
        </p:nvGraphicFramePr>
        <p:xfrm>
          <a:off x="1949450" y="2971800"/>
          <a:ext cx="4633912" cy="1450975"/>
        </p:xfrm>
        <a:graphic>
          <a:graphicData uri="http://schemas.openxmlformats.org/presentationml/2006/ole">
            <mc:AlternateContent>
              <mc:Choice Requires="v">
                <p:oleObj r:id="rId4" imgH="1450975" imgW="4633912" spid="_x0000_s1">
                  <p:embed/>
                </p:oleObj>
              </mc:Choice>
              <mc:Fallback>
                <p:oleObj r:id="rId5" imgH="1450975" imgW="4633912">
                  <p:embed/>
                  <p:pic>
                    <p:nvPicPr>
                      <p:cNvPr id="1270" name="Google Shape;1270;p8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949450" y="2971800"/>
                        <a:ext cx="4633912" cy="145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86"/>
          <p:cNvSpPr txBox="1"/>
          <p:nvPr>
            <p:ph idx="1" type="body"/>
          </p:nvPr>
        </p:nvSpPr>
        <p:spPr>
          <a:xfrm>
            <a:off x="457200" y="2133600"/>
            <a:ext cx="8458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3413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1" i="0" lang="en-US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Covariance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between two random variables:</a:t>
            </a:r>
            <a:endParaRPr/>
          </a:p>
          <a:p>
            <a:pPr indent="-341312" lvl="0" marL="34131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3399"/>
              </a:buClr>
              <a:buSzPts val="3200"/>
              <a:buFont typeface="Tahoma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1312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cov(X,Y) &gt; 0       X and Y are positively correlated</a:t>
            </a:r>
            <a:endParaRPr/>
          </a:p>
          <a:p>
            <a:pPr indent="-341312" lvl="0" marL="341312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cov(X,Y) &lt; 0       X and Y are inversely correlated</a:t>
            </a:r>
            <a:endParaRPr/>
          </a:p>
          <a:p>
            <a:pPr indent="-341312" lvl="0" marL="341312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cov(X,Y) = 0       X and Y are independent</a:t>
            </a:r>
            <a:endParaRPr/>
          </a:p>
        </p:txBody>
      </p:sp>
      <p:sp>
        <p:nvSpPr>
          <p:cNvPr id="1276" name="Google Shape;1276;p8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Interpreting Covariance</a:t>
            </a:r>
            <a:endParaRPr/>
          </a:p>
        </p:txBody>
      </p:sp>
      <p:cxnSp>
        <p:nvCxnSpPr>
          <p:cNvPr id="1277" name="Google Shape;1277;p86"/>
          <p:cNvCxnSpPr/>
          <p:nvPr/>
        </p:nvCxnSpPr>
        <p:spPr>
          <a:xfrm>
            <a:off x="2362200" y="4038600"/>
            <a:ext cx="381000" cy="1587"/>
          </a:xfrm>
          <a:prstGeom prst="straightConnector1">
            <a:avLst/>
          </a:prstGeom>
          <a:noFill/>
          <a:ln cap="sq" cmpd="sng" w="2555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78" name="Google Shape;1278;p86"/>
          <p:cNvCxnSpPr/>
          <p:nvPr/>
        </p:nvCxnSpPr>
        <p:spPr>
          <a:xfrm>
            <a:off x="2362200" y="4648200"/>
            <a:ext cx="381000" cy="1587"/>
          </a:xfrm>
          <a:prstGeom prst="straightConnector1">
            <a:avLst/>
          </a:prstGeom>
          <a:noFill/>
          <a:ln cap="sq" cmpd="sng" w="2555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279" name="Google Shape;1279;p86"/>
          <p:cNvCxnSpPr/>
          <p:nvPr/>
        </p:nvCxnSpPr>
        <p:spPr>
          <a:xfrm>
            <a:off x="2362200" y="5257800"/>
            <a:ext cx="381000" cy="1587"/>
          </a:xfrm>
          <a:prstGeom prst="straightConnector1">
            <a:avLst/>
          </a:prstGeom>
          <a:noFill/>
          <a:ln cap="sq" cmpd="sng" w="2555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2004-09-29T20:13:20Z</dcterms:created>
  <dc:creator>kristinc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