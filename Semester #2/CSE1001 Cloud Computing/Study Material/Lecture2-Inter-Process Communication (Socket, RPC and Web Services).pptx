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65" r:id="rId2"/>
    <p:sldId id="362" r:id="rId3"/>
    <p:sldId id="520" r:id="rId4"/>
    <p:sldId id="519" r:id="rId5"/>
    <p:sldId id="424" r:id="rId6"/>
    <p:sldId id="513" r:id="rId7"/>
    <p:sldId id="521" r:id="rId8"/>
    <p:sldId id="524" r:id="rId9"/>
    <p:sldId id="522" r:id="rId10"/>
    <p:sldId id="523" r:id="rId11"/>
    <p:sldId id="525" r:id="rId12"/>
    <p:sldId id="526" r:id="rId13"/>
    <p:sldId id="527" r:id="rId14"/>
    <p:sldId id="41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6816" userDrawn="1">
          <p15:clr>
            <a:srgbClr val="A4A3A4"/>
          </p15:clr>
        </p15:guide>
        <p15:guide id="3" pos="816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932" autoAdjust="0"/>
    <p:restoredTop sz="79589" autoAdjust="0"/>
  </p:normalViewPr>
  <p:slideViewPr>
    <p:cSldViewPr>
      <p:cViewPr varScale="1">
        <p:scale>
          <a:sx n="61" d="100"/>
          <a:sy n="61" d="100"/>
        </p:scale>
        <p:origin x="48" y="256"/>
      </p:cViewPr>
      <p:guideLst>
        <p:guide pos="3840"/>
        <p:guide pos="6816"/>
        <p:guide pos="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5" d="100"/>
          <a:sy n="95" d="100"/>
        </p:scale>
        <p:origin x="357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pPr/>
              <a:t>2/11/2026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pPr/>
              <a:t>2/11/2026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We celebrate Christmas to remember the birth of </a:t>
            </a:r>
            <a:r>
              <a:rPr lang="en-IN" smtClean="0"/>
              <a:t>Jesus Christ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612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544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839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772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445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741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0952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067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8919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10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2851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7026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12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8350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13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6450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14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055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un rising over grassy hill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" y="0"/>
            <a:ext cx="12188699" cy="47993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 bwMode="ltGray">
          <a:xfrm>
            <a:off x="-2" y="4754880"/>
            <a:ext cx="12192002" cy="21031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white">
          <a:xfrm>
            <a:off x="-127" y="4724400"/>
            <a:ext cx="12188826" cy="7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800600"/>
            <a:ext cx="9144002" cy="11430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943600"/>
            <a:ext cx="9144002" cy="762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288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6pPr>
              <a:defRPr/>
            </a:lvl6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2/11/2026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0"/>
            <a:ext cx="12188826" cy="4572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-1" y="4114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2/11/2026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5843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ernate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2/11/2026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4328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D43D-6574-4C7B-808D-C6C12215A4D4}" type="datetimeFigureOut">
              <a:rPr lang="en-US"/>
              <a:pPr/>
              <a:t>2/11/2026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E5F2-81AA-4605-B028-6FBA391056A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707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2/11/2026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708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2/11/2026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201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2/11/2026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4212" y="685800"/>
            <a:ext cx="7239001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2/11/2026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94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lternate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892" y="685800"/>
            <a:ext cx="637032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2/11/2026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3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731520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2362200"/>
            <a:ext cx="3200400" cy="1993392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0" y="0"/>
            <a:ext cx="7315200" cy="6858000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4355592"/>
            <a:ext cx="3200400" cy="16446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2/11/2026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2/11/2026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857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2/11/2026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155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1587" y="6583680"/>
            <a:ext cx="12188826" cy="2743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587" y="65836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9E583DDF-CA54-461A-A486-592D2374C532}" type="datetimeFigureOut">
              <a:rPr lang="en-US" smtClean="0"/>
              <a:pPr/>
              <a:t>2/11/2026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1" r:id="rId5"/>
    <p:sldLayoutId id="2147483653" r:id="rId6"/>
    <p:sldLayoutId id="2147483654" r:id="rId7"/>
    <p:sldLayoutId id="2147483655" r:id="rId8"/>
    <p:sldLayoutId id="2147483656" r:id="rId9"/>
    <p:sldLayoutId id="2147483663" r:id="rId10"/>
    <p:sldLayoutId id="2147483657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SzPct val="80000"/>
        <a:buFont typeface="Wingdings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360">
          <p15:clr>
            <a:srgbClr val="F26B43"/>
          </p15:clr>
        </p15:guide>
        <p15:guide id="2" pos="40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941168"/>
            <a:ext cx="9144002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Dr. Sunirmal Khatua</a:t>
            </a:r>
            <a:endParaRPr lang="en-US" sz="28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2413" y="6094286"/>
            <a:ext cx="9144002" cy="762000"/>
          </a:xfrm>
        </p:spPr>
        <p:txBody>
          <a:bodyPr>
            <a:normAutofit/>
          </a:bodyPr>
          <a:lstStyle/>
          <a:p>
            <a:r>
              <a:rPr lang="en-US" sz="1600" i="1" dirty="0" err="1" smtClean="0">
                <a:latin typeface="Times New Roman" pitchFamily="18" charset="0"/>
                <a:cs typeface="Times New Roman" pitchFamily="18" charset="0"/>
              </a:rPr>
              <a:t>Visvesvaraya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 Young Faculty Fellow, Govt. of India</a:t>
            </a:r>
          </a:p>
          <a:p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Assistant Professor, University of Calcutta</a:t>
            </a:r>
            <a:endParaRPr lang="en-US" sz="16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ubtitle 3"/>
          <p:cNvSpPr txBox="1">
            <a:spLocks/>
          </p:cNvSpPr>
          <p:nvPr/>
        </p:nvSpPr>
        <p:spPr>
          <a:xfrm>
            <a:off x="1523968" y="5187280"/>
            <a:ext cx="9144002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b="0" i="1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By</a:t>
            </a: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489446"/>
            <a:ext cx="11914264" cy="160043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Inter Process Communication (IPC):</a:t>
            </a:r>
          </a:p>
          <a:p>
            <a:pPr algn="r"/>
            <a:r>
              <a:rPr lang="en-US" sz="4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Socket, RMI and Web Services</a:t>
            </a:r>
            <a:endParaRPr lang="en-IN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880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/>
              <a:t>Interprocess</a:t>
            </a:r>
            <a:r>
              <a:rPr lang="en-US" dirty="0" smtClean="0"/>
              <a:t> Communication</a:t>
            </a:r>
            <a:endParaRPr lang="en-US" dirty="0"/>
          </a:p>
        </p:txBody>
      </p:sp>
      <p:pic>
        <p:nvPicPr>
          <p:cNvPr id="1026" name="Picture 2" descr="Tackling a New 'Gulliver's Travels' | Animation World Networ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52" y="3366370"/>
            <a:ext cx="5447733" cy="3024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775520" y="6309320"/>
            <a:ext cx="2128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The Gulliver’s Travel</a:t>
            </a:r>
            <a:endParaRPr lang="en-IN" dirty="0"/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152400" y="838200"/>
            <a:ext cx="11658600" cy="3067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en-US" dirty="0" smtClean="0"/>
              <a:t>A Distributed System is a Collection of SMALL </a:t>
            </a:r>
            <a:r>
              <a:rPr lang="en-US" dirty="0" smtClean="0">
                <a:solidFill>
                  <a:srgbClr val="3333FF"/>
                </a:solidFill>
              </a:rPr>
              <a:t>independent</a:t>
            </a:r>
            <a:r>
              <a:rPr lang="en-US" dirty="0" smtClean="0"/>
              <a:t> computers that appears to its users as a single BIG </a:t>
            </a:r>
            <a:r>
              <a:rPr lang="en-US" dirty="0" smtClean="0">
                <a:solidFill>
                  <a:srgbClr val="3333FF"/>
                </a:solidFill>
              </a:rPr>
              <a:t>coherent</a:t>
            </a:r>
            <a:r>
              <a:rPr lang="en-US" dirty="0" smtClean="0"/>
              <a:t> system.</a:t>
            </a:r>
          </a:p>
          <a:p>
            <a:pPr>
              <a:spcBef>
                <a:spcPts val="120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en-US" dirty="0" smtClean="0">
                <a:solidFill>
                  <a:srgbClr val="FF0000"/>
                </a:solidFill>
              </a:rPr>
              <a:t>Properties</a:t>
            </a:r>
            <a:r>
              <a:rPr lang="en-US" dirty="0" smtClean="0"/>
              <a:t> of Distributed Algorithm:</a:t>
            </a:r>
          </a:p>
          <a:p>
            <a:pPr lvl="1"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sz="2000" i="1" dirty="0" smtClean="0">
                <a:latin typeface="Times New Roman" pitchFamily="18" charset="0"/>
              </a:rPr>
              <a:t>Multiple Processes</a:t>
            </a:r>
          </a:p>
          <a:p>
            <a:pPr lvl="1"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sz="2000" b="1" i="1" dirty="0" err="1" smtClean="0">
                <a:solidFill>
                  <a:srgbClr val="FF0000"/>
                </a:solidFill>
                <a:latin typeface="Times New Roman" pitchFamily="18" charset="0"/>
              </a:rPr>
              <a:t>Interprocess</a:t>
            </a:r>
            <a:r>
              <a:rPr lang="en-US" sz="2000" b="1" i="1" dirty="0" smtClean="0">
                <a:solidFill>
                  <a:srgbClr val="FF0000"/>
                </a:solidFill>
                <a:latin typeface="Times New Roman" pitchFamily="18" charset="0"/>
              </a:rPr>
              <a:t> Communication</a:t>
            </a:r>
          </a:p>
          <a:p>
            <a:pPr lvl="1"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sz="2000" i="1" dirty="0" smtClean="0">
                <a:latin typeface="Times New Roman" pitchFamily="18" charset="0"/>
              </a:rPr>
              <a:t>Disjoint Address Spaces</a:t>
            </a:r>
          </a:p>
          <a:p>
            <a:pPr lvl="1"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sz="2000" i="1" dirty="0" smtClean="0">
                <a:latin typeface="Times New Roman" pitchFamily="18" charset="0"/>
              </a:rPr>
              <a:t>Collective Goal</a:t>
            </a:r>
          </a:p>
          <a:p>
            <a:pPr lvl="1">
              <a:buClr>
                <a:schemeClr val="tx1"/>
              </a:buClr>
              <a:buFont typeface="Wingdings" pitchFamily="2" charset="2"/>
              <a:buChar char="Ø"/>
              <a:defRPr/>
            </a:pPr>
            <a:endParaRPr lang="en-US" sz="2000" i="1" dirty="0" smtClean="0">
              <a:latin typeface="Times New Roman" pitchFamily="18" charset="0"/>
            </a:endParaRPr>
          </a:p>
          <a:p>
            <a:pPr lvl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q"/>
              <a:defRPr/>
            </a:pPr>
            <a:endParaRPr lang="en-US" dirty="0"/>
          </a:p>
        </p:txBody>
      </p:sp>
      <p:graphicFrame>
        <p:nvGraphicFramePr>
          <p:cNvPr id="2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0857691"/>
              </p:ext>
            </p:extLst>
          </p:nvPr>
        </p:nvGraphicFramePr>
        <p:xfrm>
          <a:off x="8673132" y="1981200"/>
          <a:ext cx="1276350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Bitmap Image" r:id="rId5" imgW="0" imgH="0" progId="Paint.Picture">
                  <p:embed/>
                </p:oleObj>
              </mc:Choice>
              <mc:Fallback>
                <p:oleObj name="Bitmap Image" r:id="rId5" imgW="0" imgH="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73132" y="1981200"/>
                        <a:ext cx="1276350" cy="1160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1926804"/>
              </p:ext>
            </p:extLst>
          </p:nvPr>
        </p:nvGraphicFramePr>
        <p:xfrm>
          <a:off x="6998320" y="4633913"/>
          <a:ext cx="1276350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" name="Bitmap Image" r:id="rId7" imgW="0" imgH="0" progId="Paint.Picture">
                  <p:embed/>
                </p:oleObj>
              </mc:Choice>
              <mc:Fallback>
                <p:oleObj name="Bitmap Image" r:id="rId7" imgW="0" imgH="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8320" y="4633913"/>
                        <a:ext cx="1276350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105534"/>
              </p:ext>
            </p:extLst>
          </p:nvPr>
        </p:nvGraphicFramePr>
        <p:xfrm>
          <a:off x="10508282" y="4449763"/>
          <a:ext cx="1276350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Bitmap Image" r:id="rId8" imgW="0" imgH="0" progId="Paint.Picture">
                  <p:embed/>
                </p:oleObj>
              </mc:Choice>
              <mc:Fallback>
                <p:oleObj name="Bitmap Image" r:id="rId8" imgW="0" imgH="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8282" y="4449763"/>
                        <a:ext cx="1276350" cy="1160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Group 12"/>
          <p:cNvGrpSpPr>
            <a:grpSpLocks/>
          </p:cNvGrpSpPr>
          <p:nvPr/>
        </p:nvGrpSpPr>
        <p:grpSpPr bwMode="auto">
          <a:xfrm>
            <a:off x="7366620" y="2209800"/>
            <a:ext cx="4005262" cy="3140075"/>
            <a:chOff x="2166938" y="1752600"/>
            <a:chExt cx="4081462" cy="3673475"/>
          </a:xfrm>
        </p:grpSpPr>
        <p:sp>
          <p:nvSpPr>
            <p:cNvPr id="33" name="Oval 32"/>
            <p:cNvSpPr/>
            <p:nvPr/>
          </p:nvSpPr>
          <p:spPr bwMode="auto">
            <a:xfrm>
              <a:off x="3886555" y="1752600"/>
              <a:ext cx="533842" cy="609151"/>
            </a:xfrm>
            <a:prstGeom prst="ellipse">
              <a:avLst/>
            </a:prstGeom>
            <a:solidFill>
              <a:srgbClr val="FF0000">
                <a:alpha val="48000"/>
              </a:srgb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4" name="Oval 33"/>
            <p:cNvSpPr/>
            <p:nvPr/>
          </p:nvSpPr>
          <p:spPr bwMode="auto">
            <a:xfrm>
              <a:off x="2166938" y="4816924"/>
              <a:ext cx="533842" cy="609151"/>
            </a:xfrm>
            <a:prstGeom prst="ellipse">
              <a:avLst/>
            </a:prstGeom>
            <a:solidFill>
              <a:srgbClr val="FF0000">
                <a:alpha val="48000"/>
              </a:srgb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5" name="Oval 34"/>
            <p:cNvSpPr/>
            <p:nvPr/>
          </p:nvSpPr>
          <p:spPr bwMode="auto">
            <a:xfrm>
              <a:off x="5714558" y="4603351"/>
              <a:ext cx="533842" cy="609151"/>
            </a:xfrm>
            <a:prstGeom prst="ellipse">
              <a:avLst/>
            </a:prstGeom>
            <a:solidFill>
              <a:srgbClr val="FF0000">
                <a:alpha val="48000"/>
              </a:srgb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36" name="Straight Connector 35"/>
            <p:cNvCxnSpPr/>
            <p:nvPr/>
          </p:nvCxnSpPr>
          <p:spPr bwMode="auto">
            <a:xfrm rot="5400000">
              <a:off x="1985054" y="2925300"/>
              <a:ext cx="2620461" cy="1341076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 bwMode="auto">
            <a:xfrm rot="16200000" flipH="1">
              <a:off x="4004498" y="2642248"/>
              <a:ext cx="2273172" cy="1619319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 bwMode="auto">
            <a:xfrm rot="10800000" flipV="1">
              <a:off x="2670043" y="4907926"/>
              <a:ext cx="3046134" cy="28786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7426945" y="4897438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sz="2000" b="1"/>
              <a:t>C</a:t>
            </a: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10946432" y="4713288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sz="2000" b="1"/>
              <a:t>S</a:t>
            </a:r>
          </a:p>
        </p:txBody>
      </p:sp>
      <p:grpSp>
        <p:nvGrpSpPr>
          <p:cNvPr id="41" name="Group 40"/>
          <p:cNvGrpSpPr>
            <a:grpSpLocks/>
          </p:cNvGrpSpPr>
          <p:nvPr/>
        </p:nvGrpSpPr>
        <p:grpSpPr bwMode="auto">
          <a:xfrm>
            <a:off x="7931770" y="4516438"/>
            <a:ext cx="2873375" cy="514350"/>
            <a:chOff x="2732442" y="4517154"/>
            <a:chExt cx="2873284" cy="513150"/>
          </a:xfrm>
        </p:grpSpPr>
        <p:sp>
          <p:nvSpPr>
            <p:cNvPr id="42" name="TextBox 21"/>
            <p:cNvSpPr txBox="1">
              <a:spLocks noChangeArrowheads="1"/>
            </p:cNvSpPr>
            <p:nvPr/>
          </p:nvSpPr>
          <p:spPr bwMode="auto">
            <a:xfrm rot="-329582">
              <a:off x="3260879" y="4517154"/>
              <a:ext cx="20574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IN" sz="2000" b="1" dirty="0" smtClean="0"/>
                <a:t>    Socket</a:t>
              </a:r>
              <a:endParaRPr lang="en-IN" sz="2000" b="1" dirty="0"/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 flipV="1">
              <a:off x="2732442" y="4829161"/>
              <a:ext cx="2873284" cy="20114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7814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Socket based IPC in Java</a:t>
            </a:r>
            <a:endParaRPr lang="en-US" dirty="0"/>
          </a:p>
        </p:txBody>
      </p:sp>
      <p:pic>
        <p:nvPicPr>
          <p:cNvPr id="22" name="Picture 4" descr="welcomeSocket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07472" y="836712"/>
            <a:ext cx="5281216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3"/>
          <p:cNvSpPr txBox="1">
            <a:spLocks noRot="1" noChangeArrowheads="1"/>
          </p:cNvSpPr>
          <p:nvPr/>
        </p:nvSpPr>
        <p:spPr>
          <a:xfrm>
            <a:off x="0" y="908720"/>
            <a:ext cx="9144000" cy="30963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b="1" dirty="0" smtClean="0"/>
              <a:t>public</a:t>
            </a:r>
            <a:r>
              <a:rPr lang="en-US" sz="1800" dirty="0" smtClean="0"/>
              <a:t> </a:t>
            </a:r>
            <a:r>
              <a:rPr lang="en-US" sz="1800" b="1" dirty="0" smtClean="0"/>
              <a:t>class</a:t>
            </a:r>
            <a:r>
              <a:rPr lang="en-US" sz="1800" dirty="0" smtClean="0"/>
              <a:t> </a:t>
            </a:r>
            <a:r>
              <a:rPr lang="en-US" sz="1800" dirty="0" err="1" smtClean="0"/>
              <a:t>TCPServer</a:t>
            </a:r>
            <a:r>
              <a:rPr lang="en-US" sz="1800" dirty="0" smtClean="0"/>
              <a:t> {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b="1" dirty="0" smtClean="0"/>
              <a:t>	public</a:t>
            </a:r>
            <a:r>
              <a:rPr lang="en-US" sz="1800" dirty="0" smtClean="0"/>
              <a:t> </a:t>
            </a:r>
            <a:r>
              <a:rPr lang="en-US" sz="1800" b="1" dirty="0" smtClean="0"/>
              <a:t>static</a:t>
            </a:r>
            <a:r>
              <a:rPr lang="en-US" sz="1800" dirty="0" smtClean="0"/>
              <a:t> </a:t>
            </a:r>
            <a:r>
              <a:rPr lang="en-US" sz="1800" b="1" dirty="0" smtClean="0"/>
              <a:t>void</a:t>
            </a:r>
            <a:r>
              <a:rPr lang="en-US" sz="1800" dirty="0" smtClean="0"/>
              <a:t> main(String </a:t>
            </a:r>
            <a:r>
              <a:rPr lang="en-US" sz="1800" dirty="0" err="1" smtClean="0"/>
              <a:t>args</a:t>
            </a:r>
            <a:r>
              <a:rPr lang="en-US" sz="1800" dirty="0" smtClean="0"/>
              <a:t>[]) </a:t>
            </a:r>
            <a:r>
              <a:rPr lang="en-US" sz="1800" b="1" dirty="0" smtClean="0"/>
              <a:t>throws</a:t>
            </a:r>
            <a:r>
              <a:rPr lang="en-US" sz="1800" dirty="0" smtClean="0"/>
              <a:t> Exception{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dirty="0" smtClean="0"/>
              <a:t>	    String </a:t>
            </a:r>
            <a:r>
              <a:rPr lang="en-US" sz="1800" dirty="0" err="1" smtClean="0">
                <a:solidFill>
                  <a:srgbClr val="FF0000"/>
                </a:solidFill>
              </a:rPr>
              <a:t>receivedMsg</a:t>
            </a:r>
            <a:r>
              <a:rPr lang="en-US" sz="1800" dirty="0" smtClean="0"/>
              <a:t>, </a:t>
            </a:r>
            <a:r>
              <a:rPr lang="en-US" sz="1800" dirty="0" err="1" smtClean="0">
                <a:solidFill>
                  <a:srgbClr val="FF0000"/>
                </a:solidFill>
              </a:rPr>
              <a:t>returnMsg</a:t>
            </a:r>
            <a:r>
              <a:rPr lang="en-US" sz="1800" dirty="0" smtClean="0"/>
              <a:t>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dirty="0" smtClean="0"/>
              <a:t>	    </a:t>
            </a:r>
            <a:r>
              <a:rPr lang="en-US" sz="1800" dirty="0" err="1" smtClean="0"/>
              <a:t>ServerSocket</a:t>
            </a:r>
            <a:r>
              <a:rPr lang="en-US" sz="1800" dirty="0" smtClean="0"/>
              <a:t> </a:t>
            </a:r>
            <a:r>
              <a:rPr lang="en-US" sz="1800" dirty="0" err="1" smtClean="0">
                <a:solidFill>
                  <a:srgbClr val="FF0000"/>
                </a:solidFill>
              </a:rPr>
              <a:t>welcomeSocket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en-US" sz="1800" dirty="0" smtClean="0"/>
              <a:t>= </a:t>
            </a:r>
            <a:r>
              <a:rPr lang="en-US" sz="1800" b="1" dirty="0" smtClean="0"/>
              <a:t>new</a:t>
            </a:r>
            <a:r>
              <a:rPr lang="en-US" sz="1800" dirty="0" smtClean="0"/>
              <a:t> </a:t>
            </a:r>
            <a:r>
              <a:rPr lang="en-US" sz="1800" dirty="0" err="1" smtClean="0"/>
              <a:t>ServerSocket</a:t>
            </a:r>
            <a:r>
              <a:rPr lang="en-US" sz="1800" dirty="0" smtClean="0"/>
              <a:t>(4444);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b="1" dirty="0" smtClean="0"/>
              <a:t>	    while</a:t>
            </a:r>
            <a:r>
              <a:rPr lang="en-US" sz="1800" dirty="0" smtClean="0"/>
              <a:t>(</a:t>
            </a:r>
            <a:r>
              <a:rPr lang="en-US" sz="1800" b="1" dirty="0" smtClean="0"/>
              <a:t>true</a:t>
            </a:r>
            <a:r>
              <a:rPr lang="en-US" sz="1800" dirty="0" smtClean="0"/>
              <a:t>){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dirty="0"/>
              <a:t> </a:t>
            </a:r>
            <a:r>
              <a:rPr lang="en-US" sz="1800" dirty="0" smtClean="0"/>
              <a:t>             Socket </a:t>
            </a:r>
            <a:r>
              <a:rPr lang="en-US" sz="1800" dirty="0" err="1" smtClean="0">
                <a:solidFill>
                  <a:srgbClr val="FF0000"/>
                </a:solidFill>
              </a:rPr>
              <a:t>connSocket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en-US" sz="1800" dirty="0" smtClean="0"/>
              <a:t>= </a:t>
            </a:r>
            <a:r>
              <a:rPr lang="en-US" sz="1800" dirty="0" err="1" smtClean="0"/>
              <a:t>welcomeSocket.accept</a:t>
            </a:r>
            <a:r>
              <a:rPr lang="en-US" sz="1800" dirty="0" smtClean="0"/>
              <a:t>();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dirty="0" smtClean="0"/>
              <a:t>              Scanner </a:t>
            </a:r>
            <a:r>
              <a:rPr lang="en-US" sz="1800" dirty="0" err="1" smtClean="0">
                <a:solidFill>
                  <a:srgbClr val="FF0000"/>
                </a:solidFill>
              </a:rPr>
              <a:t>inFromClient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en-US" sz="1800" dirty="0" smtClean="0"/>
              <a:t>= new Scanner(</a:t>
            </a:r>
            <a:r>
              <a:rPr lang="en-US" sz="1800" dirty="0" err="1" smtClean="0"/>
              <a:t>connSocket.getInputStream</a:t>
            </a:r>
            <a:r>
              <a:rPr lang="en-US" sz="1800" dirty="0" smtClean="0"/>
              <a:t>());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dirty="0"/>
              <a:t> </a:t>
            </a:r>
            <a:r>
              <a:rPr lang="en-US" sz="1800" dirty="0" smtClean="0"/>
              <a:t>             </a:t>
            </a:r>
            <a:r>
              <a:rPr lang="en-US" sz="1800" dirty="0" err="1" smtClean="0"/>
              <a:t>OutputStream</a:t>
            </a:r>
            <a:r>
              <a:rPr lang="en-US" sz="1800" dirty="0" smtClean="0"/>
              <a:t> </a:t>
            </a:r>
            <a:r>
              <a:rPr lang="en-US" sz="1800" dirty="0" err="1" smtClean="0">
                <a:solidFill>
                  <a:srgbClr val="FF0000"/>
                </a:solidFill>
              </a:rPr>
              <a:t>outToClient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en-US" sz="1800" dirty="0" smtClean="0"/>
              <a:t>= </a:t>
            </a:r>
            <a:r>
              <a:rPr lang="en-US" sz="1800" dirty="0" err="1" smtClean="0"/>
              <a:t>connSocket.getOutputStream</a:t>
            </a:r>
            <a:r>
              <a:rPr lang="en-US" sz="1800" dirty="0" smtClean="0"/>
              <a:t>();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dirty="0" smtClean="0"/>
              <a:t>              </a:t>
            </a:r>
            <a:r>
              <a:rPr lang="en-US" sz="1800" dirty="0" err="1" smtClean="0">
                <a:solidFill>
                  <a:srgbClr val="FF0000"/>
                </a:solidFill>
              </a:rPr>
              <a:t>receivedMsg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en-US" sz="1800" dirty="0" smtClean="0"/>
              <a:t>= </a:t>
            </a:r>
            <a:r>
              <a:rPr lang="en-US" sz="1800" dirty="0" err="1" smtClean="0"/>
              <a:t>inFromClient.readLine</a:t>
            </a:r>
            <a:r>
              <a:rPr lang="en-US" sz="1800" dirty="0" smtClean="0"/>
              <a:t>();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dirty="0" smtClean="0"/>
              <a:t>              </a:t>
            </a:r>
            <a:r>
              <a:rPr lang="en-US" sz="1800" dirty="0" err="1" smtClean="0">
                <a:solidFill>
                  <a:srgbClr val="FF0000"/>
                </a:solidFill>
              </a:rPr>
              <a:t>returnMsg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en-US" sz="1800" dirty="0" smtClean="0"/>
              <a:t>= </a:t>
            </a:r>
            <a:r>
              <a:rPr lang="en-US" sz="1800" dirty="0" err="1" smtClean="0"/>
              <a:t>receivedMsg.toUpperCase</a:t>
            </a:r>
            <a:r>
              <a:rPr lang="en-US" sz="1800" dirty="0" smtClean="0"/>
              <a:t>();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dirty="0" smtClean="0"/>
              <a:t>              </a:t>
            </a:r>
            <a:r>
              <a:rPr lang="en-US" sz="1800" dirty="0" err="1" smtClean="0"/>
              <a:t>outToClient.write</a:t>
            </a:r>
            <a:r>
              <a:rPr lang="en-US" sz="1800" dirty="0" smtClean="0"/>
              <a:t>((</a:t>
            </a:r>
            <a:r>
              <a:rPr lang="en-US" sz="1800" dirty="0" err="1" smtClean="0"/>
              <a:t>returnMsg</a:t>
            </a:r>
            <a:r>
              <a:rPr lang="en-US" sz="1800" dirty="0" smtClean="0"/>
              <a:t> +”\n”).</a:t>
            </a:r>
            <a:r>
              <a:rPr lang="en-US" sz="1800" dirty="0" err="1" smtClean="0"/>
              <a:t>getBytes</a:t>
            </a:r>
            <a:r>
              <a:rPr lang="en-US" sz="1800" dirty="0" smtClean="0"/>
              <a:t>());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dirty="0" smtClean="0"/>
              <a:t>              </a:t>
            </a:r>
            <a:r>
              <a:rPr lang="en-US" sz="1800" dirty="0" err="1" smtClean="0"/>
              <a:t>connSocket.close</a:t>
            </a:r>
            <a:r>
              <a:rPr lang="en-US" sz="1800" dirty="0" smtClean="0"/>
              <a:t>();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dirty="0" smtClean="0"/>
              <a:t>}}}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dirty="0" smtClean="0"/>
              <a:t>	</a:t>
            </a:r>
          </a:p>
        </p:txBody>
      </p:sp>
      <p:sp>
        <p:nvSpPr>
          <p:cNvPr id="25" name="Rectangle 3"/>
          <p:cNvSpPr txBox="1">
            <a:spLocks noRot="1" noChangeArrowheads="1"/>
          </p:cNvSpPr>
          <p:nvPr/>
        </p:nvSpPr>
        <p:spPr>
          <a:xfrm>
            <a:off x="4512840" y="3573016"/>
            <a:ext cx="9144000" cy="4498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b="1" dirty="0" smtClean="0"/>
              <a:t>public</a:t>
            </a:r>
            <a:r>
              <a:rPr lang="en-US" sz="1800" dirty="0" smtClean="0"/>
              <a:t> </a:t>
            </a:r>
            <a:r>
              <a:rPr lang="en-US" sz="1800" b="1" dirty="0" smtClean="0"/>
              <a:t>class</a:t>
            </a:r>
            <a:r>
              <a:rPr lang="en-US" sz="1800" dirty="0" smtClean="0"/>
              <a:t> </a:t>
            </a:r>
            <a:r>
              <a:rPr lang="en-US" sz="1800" dirty="0" err="1" smtClean="0"/>
              <a:t>TCPClient</a:t>
            </a:r>
            <a:r>
              <a:rPr lang="en-US" sz="1800" dirty="0" smtClean="0"/>
              <a:t> {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b="1" dirty="0" smtClean="0"/>
              <a:t>	public</a:t>
            </a:r>
            <a:r>
              <a:rPr lang="en-US" sz="1800" dirty="0" smtClean="0"/>
              <a:t> </a:t>
            </a:r>
            <a:r>
              <a:rPr lang="en-US" sz="1800" b="1" dirty="0" smtClean="0"/>
              <a:t>static</a:t>
            </a:r>
            <a:r>
              <a:rPr lang="en-US" sz="1800" dirty="0" smtClean="0"/>
              <a:t> </a:t>
            </a:r>
            <a:r>
              <a:rPr lang="en-US" sz="1800" b="1" dirty="0" smtClean="0"/>
              <a:t>void</a:t>
            </a:r>
            <a:r>
              <a:rPr lang="en-US" sz="1800" dirty="0" smtClean="0"/>
              <a:t> main(String </a:t>
            </a:r>
            <a:r>
              <a:rPr lang="en-US" sz="1800" dirty="0" err="1" smtClean="0"/>
              <a:t>args</a:t>
            </a:r>
            <a:r>
              <a:rPr lang="en-US" sz="1800" dirty="0" smtClean="0"/>
              <a:t>[]) </a:t>
            </a:r>
            <a:r>
              <a:rPr lang="en-US" sz="1800" b="1" dirty="0" smtClean="0"/>
              <a:t>throws</a:t>
            </a:r>
            <a:r>
              <a:rPr lang="en-US" sz="1800" dirty="0" smtClean="0"/>
              <a:t> Exception{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dirty="0" smtClean="0"/>
              <a:t>	     String </a:t>
            </a:r>
            <a:r>
              <a:rPr lang="en-US" sz="1800" dirty="0" err="1" smtClean="0">
                <a:solidFill>
                  <a:srgbClr val="FF0000"/>
                </a:solidFill>
              </a:rPr>
              <a:t>sendMsg</a:t>
            </a:r>
            <a:r>
              <a:rPr lang="en-US" sz="1800" dirty="0" smtClean="0"/>
              <a:t>, </a:t>
            </a:r>
            <a:r>
              <a:rPr lang="en-US" sz="1800" dirty="0" err="1">
                <a:solidFill>
                  <a:srgbClr val="FF0000"/>
                </a:solidFill>
              </a:rPr>
              <a:t>receivedMsg</a:t>
            </a:r>
            <a:r>
              <a:rPr lang="en-US" sz="1800" dirty="0" smtClean="0"/>
              <a:t>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dirty="0" smtClean="0"/>
              <a:t>	     Scanner </a:t>
            </a:r>
            <a:r>
              <a:rPr lang="en-US" sz="1800" dirty="0" err="1" smtClean="0"/>
              <a:t>inFromUser</a:t>
            </a:r>
            <a:r>
              <a:rPr lang="en-US" sz="1800" dirty="0" smtClean="0"/>
              <a:t> = </a:t>
            </a:r>
            <a:r>
              <a:rPr lang="en-US" sz="1800" b="1" dirty="0" smtClean="0"/>
              <a:t>new</a:t>
            </a:r>
            <a:r>
              <a:rPr lang="en-US" sz="1800" dirty="0" smtClean="0"/>
              <a:t> Scanner(System.</a:t>
            </a:r>
            <a:r>
              <a:rPr lang="en-US" sz="1800" i="1" dirty="0" smtClean="0"/>
              <a:t>in</a:t>
            </a:r>
            <a:r>
              <a:rPr lang="en-US" sz="1800" dirty="0" smtClean="0"/>
              <a:t>);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dirty="0" smtClean="0"/>
              <a:t>	     </a:t>
            </a:r>
            <a:r>
              <a:rPr lang="en-US" sz="1800" dirty="0" err="1" smtClean="0"/>
              <a:t>sendMsg</a:t>
            </a:r>
            <a:r>
              <a:rPr lang="en-US" sz="1800" dirty="0"/>
              <a:t>= </a:t>
            </a:r>
            <a:r>
              <a:rPr lang="en-US" sz="1800" dirty="0" err="1" smtClean="0"/>
              <a:t>inFromUser.readLine</a:t>
            </a:r>
            <a:r>
              <a:rPr lang="en-US" sz="1800" dirty="0" smtClean="0"/>
              <a:t>();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dirty="0" smtClean="0"/>
              <a:t>	     Socket </a:t>
            </a:r>
            <a:r>
              <a:rPr lang="en-US" sz="1800" dirty="0" err="1" smtClean="0">
                <a:solidFill>
                  <a:srgbClr val="FF0000"/>
                </a:solidFill>
              </a:rPr>
              <a:t>clientSocket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en-US" sz="1800" dirty="0" smtClean="0"/>
              <a:t>= </a:t>
            </a:r>
            <a:r>
              <a:rPr lang="en-US" sz="1800" b="1" dirty="0" smtClean="0"/>
              <a:t>new</a:t>
            </a:r>
            <a:r>
              <a:rPr lang="en-US" sz="1800" dirty="0" smtClean="0"/>
              <a:t> Socket(“localhost",4444);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dirty="0" smtClean="0"/>
              <a:t>	     </a:t>
            </a:r>
            <a:r>
              <a:rPr lang="en-US" sz="1800" dirty="0" err="1" smtClean="0"/>
              <a:t>OutputStream</a:t>
            </a:r>
            <a:r>
              <a:rPr lang="en-US" sz="1800" dirty="0" smtClean="0"/>
              <a:t> </a:t>
            </a:r>
            <a:r>
              <a:rPr lang="en-US" sz="1800" dirty="0" err="1" smtClean="0">
                <a:solidFill>
                  <a:srgbClr val="FF0000"/>
                </a:solidFill>
              </a:rPr>
              <a:t>outToServer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en-US" sz="1800" dirty="0" smtClean="0"/>
              <a:t>= </a:t>
            </a:r>
            <a:r>
              <a:rPr lang="en-US" sz="1800" dirty="0" err="1" smtClean="0"/>
              <a:t>clientSocket.getOutputStream</a:t>
            </a:r>
            <a:r>
              <a:rPr lang="en-US" sz="1800" dirty="0" smtClean="0"/>
              <a:t>();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dirty="0" smtClean="0"/>
              <a:t>           Scanner </a:t>
            </a:r>
            <a:r>
              <a:rPr lang="en-US" sz="1800" dirty="0" err="1" smtClean="0">
                <a:solidFill>
                  <a:srgbClr val="FF0000"/>
                </a:solidFill>
              </a:rPr>
              <a:t>inFromServer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en-US" sz="1800" dirty="0" smtClean="0"/>
              <a:t>= new Scanner(</a:t>
            </a:r>
            <a:r>
              <a:rPr lang="en-US" sz="1800" dirty="0" err="1" smtClean="0"/>
              <a:t>clientSocket.getInputStream</a:t>
            </a:r>
            <a:r>
              <a:rPr lang="en-US" sz="1800" dirty="0" smtClean="0"/>
              <a:t>());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dirty="0" smtClean="0"/>
              <a:t>	     </a:t>
            </a:r>
            <a:r>
              <a:rPr lang="en-US" sz="1800" dirty="0" err="1" smtClean="0"/>
              <a:t>outToServer.write</a:t>
            </a:r>
            <a:r>
              <a:rPr lang="en-US" sz="1800" dirty="0" smtClean="0"/>
              <a:t>((</a:t>
            </a:r>
            <a:r>
              <a:rPr lang="en-US" sz="1800" dirty="0" err="1" smtClean="0"/>
              <a:t>sendMsg</a:t>
            </a:r>
            <a:r>
              <a:rPr lang="en-US" sz="1800" dirty="0" smtClean="0"/>
              <a:t>+"\n“).</a:t>
            </a:r>
            <a:r>
              <a:rPr lang="en-US" sz="1800" dirty="0" err="1" smtClean="0"/>
              <a:t>getBytes</a:t>
            </a:r>
            <a:r>
              <a:rPr lang="en-US" sz="1800" dirty="0" smtClean="0"/>
              <a:t>());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dirty="0" smtClean="0"/>
              <a:t>	     </a:t>
            </a:r>
            <a:r>
              <a:rPr lang="en-US" sz="1800" dirty="0" err="1" smtClean="0">
                <a:solidFill>
                  <a:srgbClr val="FF0000"/>
                </a:solidFill>
              </a:rPr>
              <a:t>receivedMsg</a:t>
            </a:r>
            <a:r>
              <a:rPr lang="en-US" sz="1800" dirty="0" smtClean="0"/>
              <a:t>= </a:t>
            </a:r>
            <a:r>
              <a:rPr lang="en-US" sz="1800" dirty="0" err="1" smtClean="0"/>
              <a:t>inFromServer.readLine</a:t>
            </a:r>
            <a:r>
              <a:rPr lang="en-US" sz="1800" dirty="0" smtClean="0"/>
              <a:t>();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dirty="0" smtClean="0"/>
              <a:t>	     </a:t>
            </a:r>
            <a:r>
              <a:rPr lang="en-US" sz="1800" dirty="0" err="1" smtClean="0"/>
              <a:t>System.</a:t>
            </a:r>
            <a:r>
              <a:rPr lang="en-US" sz="1800" i="1" dirty="0" err="1" smtClean="0"/>
              <a:t>out</a:t>
            </a:r>
            <a:r>
              <a:rPr lang="en-US" sz="1800" dirty="0" err="1" smtClean="0"/>
              <a:t>.println</a:t>
            </a:r>
            <a:r>
              <a:rPr lang="en-US" sz="1800" dirty="0" smtClean="0"/>
              <a:t>("FROM SERVER : "+</a:t>
            </a:r>
            <a:r>
              <a:rPr lang="en-US" sz="1800" dirty="0" err="1" smtClean="0"/>
              <a:t>receivedMsg</a:t>
            </a:r>
            <a:r>
              <a:rPr lang="en-US" sz="1800" dirty="0" smtClean="0"/>
              <a:t>);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dirty="0" smtClean="0"/>
              <a:t>	     </a:t>
            </a:r>
            <a:r>
              <a:rPr lang="en-US" sz="1800" dirty="0" err="1" smtClean="0"/>
              <a:t>clientSocket.close</a:t>
            </a:r>
            <a:r>
              <a:rPr lang="en-US" sz="1800" dirty="0" smtClean="0"/>
              <a:t>();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dirty="0" smtClean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3459635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8" dur="500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8" dur="500"/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3" dur="500"/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8" dur="500"/>
                                        <p:tgtEl>
                                          <p:spTgt spid="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/>
              <a:t>Interprocess</a:t>
            </a:r>
            <a:r>
              <a:rPr lang="en-US" dirty="0" smtClean="0"/>
              <a:t> Communication</a:t>
            </a:r>
            <a:endParaRPr lang="en-US" dirty="0"/>
          </a:p>
        </p:txBody>
      </p:sp>
      <p:pic>
        <p:nvPicPr>
          <p:cNvPr id="1026" name="Picture 2" descr="Tackling a New 'Gulliver's Travels' | Animation World Networ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52" y="3366370"/>
            <a:ext cx="5447733" cy="3024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775520" y="6309320"/>
            <a:ext cx="2128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The Gulliver’s Travel</a:t>
            </a:r>
            <a:endParaRPr lang="en-IN" dirty="0"/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152400" y="838200"/>
            <a:ext cx="11658600" cy="3067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en-US" dirty="0" smtClean="0"/>
              <a:t>A Distributed System is a Collection of SMALL </a:t>
            </a:r>
            <a:r>
              <a:rPr lang="en-US" dirty="0" smtClean="0">
                <a:solidFill>
                  <a:srgbClr val="3333FF"/>
                </a:solidFill>
              </a:rPr>
              <a:t>independent</a:t>
            </a:r>
            <a:r>
              <a:rPr lang="en-US" dirty="0" smtClean="0"/>
              <a:t> computers that appears to its users as a single BIG </a:t>
            </a:r>
            <a:r>
              <a:rPr lang="en-US" dirty="0" smtClean="0">
                <a:solidFill>
                  <a:srgbClr val="3333FF"/>
                </a:solidFill>
              </a:rPr>
              <a:t>coherent</a:t>
            </a:r>
            <a:r>
              <a:rPr lang="en-US" dirty="0" smtClean="0"/>
              <a:t> system.</a:t>
            </a:r>
          </a:p>
          <a:p>
            <a:pPr>
              <a:spcBef>
                <a:spcPts val="120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en-US" dirty="0" smtClean="0">
                <a:solidFill>
                  <a:srgbClr val="FF0000"/>
                </a:solidFill>
              </a:rPr>
              <a:t>Properties</a:t>
            </a:r>
            <a:r>
              <a:rPr lang="en-US" dirty="0" smtClean="0"/>
              <a:t> of Distributed Algorithm:</a:t>
            </a:r>
          </a:p>
          <a:p>
            <a:pPr lvl="1"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sz="2000" i="1" dirty="0" smtClean="0">
                <a:latin typeface="Times New Roman" pitchFamily="18" charset="0"/>
              </a:rPr>
              <a:t>Multiple Processes</a:t>
            </a:r>
          </a:p>
          <a:p>
            <a:pPr lvl="1"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sz="2000" b="1" i="1" dirty="0" err="1" smtClean="0">
                <a:solidFill>
                  <a:srgbClr val="FF0000"/>
                </a:solidFill>
                <a:latin typeface="Times New Roman" pitchFamily="18" charset="0"/>
              </a:rPr>
              <a:t>Interprocess</a:t>
            </a:r>
            <a:r>
              <a:rPr lang="en-US" sz="2000" b="1" i="1" dirty="0" smtClean="0">
                <a:solidFill>
                  <a:srgbClr val="FF0000"/>
                </a:solidFill>
                <a:latin typeface="Times New Roman" pitchFamily="18" charset="0"/>
              </a:rPr>
              <a:t> Communication</a:t>
            </a:r>
          </a:p>
          <a:p>
            <a:pPr lvl="1"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sz="2000" i="1" dirty="0" smtClean="0">
                <a:latin typeface="Times New Roman" pitchFamily="18" charset="0"/>
              </a:rPr>
              <a:t>Disjoint Address Spaces</a:t>
            </a:r>
          </a:p>
          <a:p>
            <a:pPr lvl="1"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sz="2000" i="1" dirty="0" smtClean="0">
                <a:latin typeface="Times New Roman" pitchFamily="18" charset="0"/>
              </a:rPr>
              <a:t>Collective Goal</a:t>
            </a:r>
          </a:p>
          <a:p>
            <a:pPr lvl="1">
              <a:buClr>
                <a:schemeClr val="tx1"/>
              </a:buClr>
              <a:buFont typeface="Wingdings" pitchFamily="2" charset="2"/>
              <a:buChar char="Ø"/>
              <a:defRPr/>
            </a:pPr>
            <a:endParaRPr lang="en-US" sz="2000" i="1" dirty="0" smtClean="0">
              <a:latin typeface="Times New Roman" pitchFamily="18" charset="0"/>
            </a:endParaRPr>
          </a:p>
          <a:p>
            <a:pPr lvl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q"/>
              <a:defRPr/>
            </a:pPr>
            <a:endParaRPr lang="en-US" dirty="0"/>
          </a:p>
        </p:txBody>
      </p:sp>
      <p:graphicFrame>
        <p:nvGraphicFramePr>
          <p:cNvPr id="29" name="Object 6"/>
          <p:cNvGraphicFramePr>
            <a:graphicFrameLocks noChangeAspect="1"/>
          </p:cNvGraphicFramePr>
          <p:nvPr>
            <p:extLst/>
          </p:nvPr>
        </p:nvGraphicFramePr>
        <p:xfrm>
          <a:off x="8673132" y="1981200"/>
          <a:ext cx="1276350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" name="Bitmap Image" r:id="rId5" imgW="0" imgH="0" progId="Paint.Picture">
                  <p:embed/>
                </p:oleObj>
              </mc:Choice>
              <mc:Fallback>
                <p:oleObj name="Bitmap Image" r:id="rId5" imgW="0" imgH="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73132" y="1981200"/>
                        <a:ext cx="1276350" cy="1160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0"/>
          <p:cNvGraphicFramePr>
            <a:graphicFrameLocks noChangeAspect="1"/>
          </p:cNvGraphicFramePr>
          <p:nvPr>
            <p:extLst/>
          </p:nvPr>
        </p:nvGraphicFramePr>
        <p:xfrm>
          <a:off x="6998320" y="4633913"/>
          <a:ext cx="1276350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Bitmap Image" r:id="rId7" imgW="0" imgH="0" progId="Paint.Picture">
                  <p:embed/>
                </p:oleObj>
              </mc:Choice>
              <mc:Fallback>
                <p:oleObj name="Bitmap Image" r:id="rId7" imgW="0" imgH="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8320" y="4633913"/>
                        <a:ext cx="1276350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1"/>
          <p:cNvGraphicFramePr>
            <a:graphicFrameLocks noChangeAspect="1"/>
          </p:cNvGraphicFramePr>
          <p:nvPr>
            <p:extLst/>
          </p:nvPr>
        </p:nvGraphicFramePr>
        <p:xfrm>
          <a:off x="10508282" y="4449763"/>
          <a:ext cx="1276350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6" name="Bitmap Image" r:id="rId8" imgW="0" imgH="0" progId="Paint.Picture">
                  <p:embed/>
                </p:oleObj>
              </mc:Choice>
              <mc:Fallback>
                <p:oleObj name="Bitmap Image" r:id="rId8" imgW="0" imgH="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8282" y="4449763"/>
                        <a:ext cx="1276350" cy="1160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Group 12"/>
          <p:cNvGrpSpPr>
            <a:grpSpLocks/>
          </p:cNvGrpSpPr>
          <p:nvPr/>
        </p:nvGrpSpPr>
        <p:grpSpPr bwMode="auto">
          <a:xfrm>
            <a:off x="7366620" y="2209800"/>
            <a:ext cx="4005262" cy="3140075"/>
            <a:chOff x="2166938" y="1752600"/>
            <a:chExt cx="4081462" cy="3673475"/>
          </a:xfrm>
        </p:grpSpPr>
        <p:sp>
          <p:nvSpPr>
            <p:cNvPr id="33" name="Oval 32"/>
            <p:cNvSpPr/>
            <p:nvPr/>
          </p:nvSpPr>
          <p:spPr bwMode="auto">
            <a:xfrm>
              <a:off x="3886555" y="1752600"/>
              <a:ext cx="533842" cy="609151"/>
            </a:xfrm>
            <a:prstGeom prst="ellipse">
              <a:avLst/>
            </a:prstGeom>
            <a:solidFill>
              <a:srgbClr val="FF0000">
                <a:alpha val="48000"/>
              </a:srgb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4" name="Oval 33"/>
            <p:cNvSpPr/>
            <p:nvPr/>
          </p:nvSpPr>
          <p:spPr bwMode="auto">
            <a:xfrm>
              <a:off x="2166938" y="4816924"/>
              <a:ext cx="533842" cy="609151"/>
            </a:xfrm>
            <a:prstGeom prst="ellipse">
              <a:avLst/>
            </a:prstGeom>
            <a:solidFill>
              <a:srgbClr val="FF0000">
                <a:alpha val="48000"/>
              </a:srgb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5" name="Oval 34"/>
            <p:cNvSpPr/>
            <p:nvPr/>
          </p:nvSpPr>
          <p:spPr bwMode="auto">
            <a:xfrm>
              <a:off x="5714558" y="4603351"/>
              <a:ext cx="533842" cy="609151"/>
            </a:xfrm>
            <a:prstGeom prst="ellipse">
              <a:avLst/>
            </a:prstGeom>
            <a:solidFill>
              <a:srgbClr val="FF0000">
                <a:alpha val="48000"/>
              </a:srgb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36" name="Straight Connector 35"/>
            <p:cNvCxnSpPr/>
            <p:nvPr/>
          </p:nvCxnSpPr>
          <p:spPr bwMode="auto">
            <a:xfrm rot="5400000">
              <a:off x="1985054" y="2925300"/>
              <a:ext cx="2620461" cy="1341076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 bwMode="auto">
            <a:xfrm rot="16200000" flipH="1">
              <a:off x="4004498" y="2642248"/>
              <a:ext cx="2273172" cy="1619319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 bwMode="auto">
            <a:xfrm rot="10800000" flipV="1">
              <a:off x="2670043" y="4907926"/>
              <a:ext cx="3046134" cy="28786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7426945" y="4897438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sz="2000" b="1"/>
              <a:t>C</a:t>
            </a: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10946432" y="4713288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sz="2000" b="1"/>
              <a:t>S</a:t>
            </a:r>
          </a:p>
        </p:txBody>
      </p:sp>
      <p:grpSp>
        <p:nvGrpSpPr>
          <p:cNvPr id="41" name="Group 40"/>
          <p:cNvGrpSpPr>
            <a:grpSpLocks/>
          </p:cNvGrpSpPr>
          <p:nvPr/>
        </p:nvGrpSpPr>
        <p:grpSpPr bwMode="auto">
          <a:xfrm>
            <a:off x="7931770" y="4516438"/>
            <a:ext cx="2873375" cy="514350"/>
            <a:chOff x="2732442" y="4517154"/>
            <a:chExt cx="2873284" cy="513150"/>
          </a:xfrm>
        </p:grpSpPr>
        <p:sp>
          <p:nvSpPr>
            <p:cNvPr id="42" name="TextBox 21"/>
            <p:cNvSpPr txBox="1">
              <a:spLocks noChangeArrowheads="1"/>
            </p:cNvSpPr>
            <p:nvPr/>
          </p:nvSpPr>
          <p:spPr bwMode="auto">
            <a:xfrm rot="-329582">
              <a:off x="3260879" y="4517154"/>
              <a:ext cx="20574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IN" sz="2000" b="1" dirty="0" smtClean="0"/>
                <a:t>    Socket</a:t>
              </a:r>
              <a:endParaRPr lang="en-IN" sz="2000" b="1" dirty="0"/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 flipV="1">
              <a:off x="2732442" y="4829161"/>
              <a:ext cx="2873284" cy="20114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>
            <a:spLocks noChangeArrowheads="1"/>
          </p:cNvSpPr>
          <p:nvPr/>
        </p:nvSpPr>
        <p:spPr bwMode="auto">
          <a:xfrm rot="21270418">
            <a:off x="8317532" y="5029200"/>
            <a:ext cx="31988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sz="1400" b="1"/>
              <a:t>ret = Procedure(param)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687770" y="5349875"/>
            <a:ext cx="3942105" cy="1055136"/>
            <a:chOff x="7687770" y="5349875"/>
            <a:chExt cx="3942105" cy="1055136"/>
          </a:xfrm>
        </p:grpSpPr>
        <p:sp>
          <p:nvSpPr>
            <p:cNvPr id="3" name="Rectangle 2"/>
            <p:cNvSpPr/>
            <p:nvPr/>
          </p:nvSpPr>
          <p:spPr>
            <a:xfrm>
              <a:off x="7687770" y="6035679"/>
              <a:ext cx="394210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i="1" dirty="0" smtClean="0">
                  <a:solidFill>
                    <a:srgbClr val="0070C0"/>
                  </a:solidFill>
                  <a:latin typeface="Times New Roman" pitchFamily="18" charset="0"/>
                </a:rPr>
                <a:t>Java RMI (Remote Method Invocation)</a:t>
              </a:r>
              <a:endParaRPr lang="en-IN" dirty="0">
                <a:solidFill>
                  <a:srgbClr val="0070C0"/>
                </a:solidFill>
              </a:endParaRPr>
            </a:p>
          </p:txBody>
        </p:sp>
        <p:cxnSp>
          <p:nvCxnSpPr>
            <p:cNvPr id="5" name="Straight Arrow Connector 4"/>
            <p:cNvCxnSpPr/>
            <p:nvPr/>
          </p:nvCxnSpPr>
          <p:spPr>
            <a:xfrm flipV="1">
              <a:off x="9311307" y="5349875"/>
              <a:ext cx="0" cy="685804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7676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2352312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Transparency in RMI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324744" y="3854475"/>
            <a:ext cx="1905000" cy="1219200"/>
            <a:chOff x="816" y="2592"/>
            <a:chExt cx="1200" cy="768"/>
          </a:xfrm>
        </p:grpSpPr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816" y="2592"/>
              <a:ext cx="1200" cy="7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IN" sz="1600"/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1056" y="2860"/>
              <a:ext cx="6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 b="1"/>
                <a:t>Client</a:t>
              </a: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5125344" y="3854475"/>
            <a:ext cx="1905000" cy="1219200"/>
            <a:chOff x="3936" y="2592"/>
            <a:chExt cx="1200" cy="768"/>
          </a:xfrm>
        </p:grpSpPr>
        <p:sp>
          <p:nvSpPr>
            <p:cNvPr id="11" name="Oval 5"/>
            <p:cNvSpPr>
              <a:spLocks noChangeArrowheads="1"/>
            </p:cNvSpPr>
            <p:nvPr/>
          </p:nvSpPr>
          <p:spPr bwMode="auto">
            <a:xfrm>
              <a:off x="3936" y="2592"/>
              <a:ext cx="1200" cy="7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IN" sz="1600"/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4176" y="2860"/>
              <a:ext cx="6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 b="1"/>
                <a:t>Server</a:t>
              </a:r>
            </a:p>
          </p:txBody>
        </p:sp>
      </p:grpSp>
      <p:grpSp>
        <p:nvGrpSpPr>
          <p:cNvPr id="13" name="Group 11"/>
          <p:cNvGrpSpPr>
            <a:grpSpLocks/>
          </p:cNvGrpSpPr>
          <p:nvPr/>
        </p:nvGrpSpPr>
        <p:grpSpPr bwMode="auto">
          <a:xfrm>
            <a:off x="2686944" y="1644675"/>
            <a:ext cx="1905000" cy="1219200"/>
            <a:chOff x="2400" y="1200"/>
            <a:chExt cx="1200" cy="768"/>
          </a:xfrm>
        </p:grpSpPr>
        <p:sp>
          <p:nvSpPr>
            <p:cNvPr id="14" name="Oval 4"/>
            <p:cNvSpPr>
              <a:spLocks noChangeArrowheads="1"/>
            </p:cNvSpPr>
            <p:nvPr/>
          </p:nvSpPr>
          <p:spPr bwMode="auto">
            <a:xfrm>
              <a:off x="2400" y="1200"/>
              <a:ext cx="1200" cy="7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IN" sz="1600"/>
            </a:p>
          </p:txBody>
        </p:sp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>
              <a:off x="2448" y="1488"/>
              <a:ext cx="1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 b="1"/>
                <a:t>Naming Service</a:t>
              </a:r>
            </a:p>
          </p:txBody>
        </p:sp>
      </p:grpSp>
      <p:grpSp>
        <p:nvGrpSpPr>
          <p:cNvPr id="16" name="Group 19"/>
          <p:cNvGrpSpPr>
            <a:grpSpLocks/>
          </p:cNvGrpSpPr>
          <p:nvPr/>
        </p:nvGrpSpPr>
        <p:grpSpPr bwMode="auto">
          <a:xfrm>
            <a:off x="5201544" y="1797075"/>
            <a:ext cx="1981200" cy="1001712"/>
            <a:chOff x="3984" y="1296"/>
            <a:chExt cx="1248" cy="651"/>
          </a:xfrm>
        </p:grpSpPr>
        <p:grpSp>
          <p:nvGrpSpPr>
            <p:cNvPr id="17" name="Group 17"/>
            <p:cNvGrpSpPr>
              <a:grpSpLocks/>
            </p:cNvGrpSpPr>
            <p:nvPr/>
          </p:nvGrpSpPr>
          <p:grpSpPr bwMode="auto">
            <a:xfrm>
              <a:off x="3984" y="1296"/>
              <a:ext cx="1248" cy="651"/>
              <a:chOff x="4128" y="1392"/>
              <a:chExt cx="1248" cy="651"/>
            </a:xfrm>
          </p:grpSpPr>
          <p:sp>
            <p:nvSpPr>
              <p:cNvPr id="19" name="Text Box 14"/>
              <p:cNvSpPr txBox="1">
                <a:spLocks noChangeArrowheads="1"/>
              </p:cNvSpPr>
              <p:nvPr/>
            </p:nvSpPr>
            <p:spPr bwMode="auto">
              <a:xfrm>
                <a:off x="4128" y="1392"/>
                <a:ext cx="1248" cy="22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sz="1600"/>
              </a:p>
            </p:txBody>
          </p:sp>
          <p:sp>
            <p:nvSpPr>
              <p:cNvPr id="20" name="Text Box 15"/>
              <p:cNvSpPr txBox="1">
                <a:spLocks noChangeArrowheads="1"/>
              </p:cNvSpPr>
              <p:nvPr/>
            </p:nvSpPr>
            <p:spPr bwMode="auto">
              <a:xfrm>
                <a:off x="4128" y="1605"/>
                <a:ext cx="1248" cy="20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sz="1400"/>
                  <a:t>OtherName</a:t>
                </a:r>
              </a:p>
            </p:txBody>
          </p:sp>
          <p:sp>
            <p:nvSpPr>
              <p:cNvPr id="21" name="Text Box 16"/>
              <p:cNvSpPr txBox="1">
                <a:spLocks noChangeArrowheads="1"/>
              </p:cNvSpPr>
              <p:nvPr/>
            </p:nvSpPr>
            <p:spPr bwMode="auto">
              <a:xfrm>
                <a:off x="4128" y="1818"/>
                <a:ext cx="1248" cy="22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sz="1600"/>
                  <a:t>     ---</a:t>
                </a:r>
              </a:p>
            </p:txBody>
          </p:sp>
        </p:grp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4656" y="1296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5185669" y="1628800"/>
            <a:ext cx="1082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1600"/>
          </a:p>
        </p:txBody>
      </p: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5201544" y="1797075"/>
            <a:ext cx="914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>
                <a:solidFill>
                  <a:srgbClr val="0070C0"/>
                </a:solidFill>
              </a:rPr>
              <a:t>MyName</a:t>
            </a:r>
          </a:p>
        </p:txBody>
      </p:sp>
      <p:sp>
        <p:nvSpPr>
          <p:cNvPr id="24" name="Text Box 27"/>
          <p:cNvSpPr txBox="1">
            <a:spLocks noChangeArrowheads="1"/>
          </p:cNvSpPr>
          <p:nvPr/>
        </p:nvSpPr>
        <p:spPr bwMode="auto">
          <a:xfrm>
            <a:off x="2518669" y="3610000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1600"/>
          </a:p>
        </p:txBody>
      </p:sp>
      <p:grpSp>
        <p:nvGrpSpPr>
          <p:cNvPr id="27" name="Group 36"/>
          <p:cNvGrpSpPr>
            <a:grpSpLocks/>
          </p:cNvGrpSpPr>
          <p:nvPr/>
        </p:nvGrpSpPr>
        <p:grpSpPr bwMode="auto">
          <a:xfrm>
            <a:off x="6496944" y="1949475"/>
            <a:ext cx="914400" cy="3657600"/>
            <a:chOff x="4800" y="1392"/>
            <a:chExt cx="672" cy="2304"/>
          </a:xfrm>
        </p:grpSpPr>
        <p:sp>
          <p:nvSpPr>
            <p:cNvPr id="28" name="Line 29"/>
            <p:cNvSpPr>
              <a:spLocks noChangeShapeType="1"/>
            </p:cNvSpPr>
            <p:nvPr/>
          </p:nvSpPr>
          <p:spPr bwMode="auto">
            <a:xfrm>
              <a:off x="5472" y="1392"/>
              <a:ext cx="0" cy="2304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Line 30"/>
            <p:cNvSpPr>
              <a:spLocks noChangeShapeType="1"/>
            </p:cNvSpPr>
            <p:nvPr/>
          </p:nvSpPr>
          <p:spPr bwMode="auto">
            <a:xfrm>
              <a:off x="4848" y="1392"/>
              <a:ext cx="624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Line 31"/>
            <p:cNvSpPr>
              <a:spLocks noChangeShapeType="1"/>
            </p:cNvSpPr>
            <p:nvPr/>
          </p:nvSpPr>
          <p:spPr bwMode="auto">
            <a:xfrm flipH="1">
              <a:off x="4800" y="3696"/>
              <a:ext cx="672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41"/>
          <p:cNvGrpSpPr>
            <a:grpSpLocks/>
          </p:cNvGrpSpPr>
          <p:nvPr/>
        </p:nvGrpSpPr>
        <p:grpSpPr bwMode="auto">
          <a:xfrm>
            <a:off x="4363344" y="2711475"/>
            <a:ext cx="1676400" cy="1295400"/>
            <a:chOff x="3456" y="1872"/>
            <a:chExt cx="1056" cy="816"/>
          </a:xfrm>
        </p:grpSpPr>
        <p:sp>
          <p:nvSpPr>
            <p:cNvPr id="32" name="Line 20"/>
            <p:cNvSpPr>
              <a:spLocks noChangeShapeType="1"/>
            </p:cNvSpPr>
            <p:nvPr/>
          </p:nvSpPr>
          <p:spPr bwMode="auto">
            <a:xfrm flipH="1" flipV="1">
              <a:off x="3456" y="1872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 Box 33"/>
            <p:cNvSpPr txBox="1">
              <a:spLocks noChangeArrowheads="1"/>
            </p:cNvSpPr>
            <p:nvPr/>
          </p:nvSpPr>
          <p:spPr bwMode="auto">
            <a:xfrm>
              <a:off x="3648" y="2092"/>
              <a:ext cx="8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200"/>
                <a:t>Register with MyName</a:t>
              </a:r>
            </a:p>
          </p:txBody>
        </p:sp>
      </p:grpSp>
      <p:grpSp>
        <p:nvGrpSpPr>
          <p:cNvPr id="34" name="Group 43"/>
          <p:cNvGrpSpPr>
            <a:grpSpLocks/>
          </p:cNvGrpSpPr>
          <p:nvPr/>
        </p:nvGrpSpPr>
        <p:grpSpPr bwMode="auto">
          <a:xfrm>
            <a:off x="1162944" y="2711475"/>
            <a:ext cx="1828800" cy="1295400"/>
            <a:chOff x="1440" y="1872"/>
            <a:chExt cx="1152" cy="816"/>
          </a:xfrm>
        </p:grpSpPr>
        <p:sp>
          <p:nvSpPr>
            <p:cNvPr id="35" name="Line 38"/>
            <p:cNvSpPr>
              <a:spLocks noChangeShapeType="1"/>
            </p:cNvSpPr>
            <p:nvPr/>
          </p:nvSpPr>
          <p:spPr bwMode="auto">
            <a:xfrm flipV="1">
              <a:off x="1920" y="1872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 Box 39"/>
            <p:cNvSpPr txBox="1">
              <a:spLocks noChangeArrowheads="1"/>
            </p:cNvSpPr>
            <p:nvPr/>
          </p:nvSpPr>
          <p:spPr bwMode="auto">
            <a:xfrm>
              <a:off x="1440" y="2112"/>
              <a:ext cx="8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200"/>
                <a:t>Lookup for MyName</a:t>
              </a:r>
            </a:p>
          </p:txBody>
        </p:sp>
      </p:grpSp>
      <p:sp>
        <p:nvSpPr>
          <p:cNvPr id="39" name="Line 40"/>
          <p:cNvSpPr>
            <a:spLocks noChangeShapeType="1"/>
          </p:cNvSpPr>
          <p:nvPr/>
        </p:nvSpPr>
        <p:spPr bwMode="auto">
          <a:xfrm>
            <a:off x="2229744" y="4464075"/>
            <a:ext cx="3581400" cy="1143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40" name="Group 45"/>
          <p:cNvGrpSpPr>
            <a:grpSpLocks/>
          </p:cNvGrpSpPr>
          <p:nvPr/>
        </p:nvGrpSpPr>
        <p:grpSpPr bwMode="auto">
          <a:xfrm>
            <a:off x="5582544" y="5378475"/>
            <a:ext cx="1219200" cy="808037"/>
            <a:chOff x="4224" y="3552"/>
            <a:chExt cx="768" cy="509"/>
          </a:xfrm>
        </p:grpSpPr>
        <p:sp>
          <p:nvSpPr>
            <p:cNvPr id="41" name="AutoShape 34"/>
            <p:cNvSpPr>
              <a:spLocks noChangeArrowheads="1"/>
            </p:cNvSpPr>
            <p:nvPr/>
          </p:nvSpPr>
          <p:spPr bwMode="auto">
            <a:xfrm>
              <a:off x="4368" y="3552"/>
              <a:ext cx="432" cy="288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IN" sz="1600"/>
            </a:p>
          </p:txBody>
        </p:sp>
        <p:sp>
          <p:nvSpPr>
            <p:cNvPr id="42" name="Text Box 44"/>
            <p:cNvSpPr txBox="1">
              <a:spLocks noChangeArrowheads="1"/>
            </p:cNvSpPr>
            <p:nvPr/>
          </p:nvSpPr>
          <p:spPr bwMode="auto">
            <a:xfrm>
              <a:off x="4224" y="3888"/>
              <a:ext cx="76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200"/>
                <a:t>Remote Object</a:t>
              </a:r>
            </a:p>
          </p:txBody>
        </p:sp>
      </p:grpSp>
      <p:grpSp>
        <p:nvGrpSpPr>
          <p:cNvPr id="43" name="Group 46"/>
          <p:cNvGrpSpPr>
            <a:grpSpLocks/>
          </p:cNvGrpSpPr>
          <p:nvPr/>
        </p:nvGrpSpPr>
        <p:grpSpPr bwMode="auto">
          <a:xfrm>
            <a:off x="5506344" y="5073675"/>
            <a:ext cx="914400" cy="381000"/>
            <a:chOff x="4176" y="3360"/>
            <a:chExt cx="576" cy="240"/>
          </a:xfrm>
        </p:grpSpPr>
        <p:sp>
          <p:nvSpPr>
            <p:cNvPr id="44" name="Line 47"/>
            <p:cNvSpPr>
              <a:spLocks noChangeShapeType="1"/>
            </p:cNvSpPr>
            <p:nvPr/>
          </p:nvSpPr>
          <p:spPr bwMode="auto">
            <a:xfrm>
              <a:off x="4560" y="336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 Box 48"/>
            <p:cNvSpPr txBox="1">
              <a:spLocks noChangeArrowheads="1"/>
            </p:cNvSpPr>
            <p:nvPr/>
          </p:nvSpPr>
          <p:spPr bwMode="auto">
            <a:xfrm>
              <a:off x="4176" y="3379"/>
              <a:ext cx="57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200"/>
                <a:t>Create</a:t>
              </a:r>
            </a:p>
          </p:txBody>
        </p:sp>
      </p:grp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47328" y="2387352"/>
            <a:ext cx="2590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 err="1">
                <a:solidFill>
                  <a:srgbClr val="0070C0"/>
                </a:solidFill>
              </a:rPr>
              <a:t>obref</a:t>
            </a:r>
            <a:r>
              <a:rPr lang="en-US" sz="1600" dirty="0">
                <a:solidFill>
                  <a:srgbClr val="0070C0"/>
                </a:solidFill>
              </a:rPr>
              <a:t> = lookup(“</a:t>
            </a:r>
            <a:r>
              <a:rPr lang="en-US" sz="1600" dirty="0" err="1">
                <a:solidFill>
                  <a:srgbClr val="0070C0"/>
                </a:solidFill>
              </a:rPr>
              <a:t>MyName</a:t>
            </a:r>
            <a:r>
              <a:rPr lang="en-US" sz="1600" dirty="0">
                <a:solidFill>
                  <a:srgbClr val="0070C0"/>
                </a:solidFill>
              </a:rPr>
              <a:t>”) </a:t>
            </a:r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47328" y="2658815"/>
            <a:ext cx="29718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>
                <a:solidFill>
                  <a:srgbClr val="0070C0"/>
                </a:solidFill>
              </a:rPr>
              <a:t>ret = obref.method1(“param”) </a:t>
            </a:r>
          </a:p>
        </p:txBody>
      </p: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7487544" y="3954958"/>
            <a:ext cx="451311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 smtClean="0">
                <a:solidFill>
                  <a:srgbClr val="FF0000"/>
                </a:solidFill>
              </a:rPr>
              <a:t>Registry ns = </a:t>
            </a:r>
            <a:r>
              <a:rPr lang="en-US" sz="1600" dirty="0" err="1" smtClean="0">
                <a:solidFill>
                  <a:srgbClr val="FF0000"/>
                </a:solidFill>
              </a:rPr>
              <a:t>LocateRegistry.createRegistry</a:t>
            </a:r>
            <a:r>
              <a:rPr lang="en-US" sz="1600" dirty="0" smtClean="0">
                <a:solidFill>
                  <a:srgbClr val="FF0000"/>
                </a:solidFill>
              </a:rPr>
              <a:t>(80)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 err="1" smtClean="0">
                <a:solidFill>
                  <a:srgbClr val="FF0000"/>
                </a:solidFill>
              </a:rPr>
              <a:t>ns.bind</a:t>
            </a:r>
            <a:r>
              <a:rPr lang="en-US" sz="1600" dirty="0" smtClean="0">
                <a:solidFill>
                  <a:srgbClr val="FF0000"/>
                </a:solidFill>
              </a:rPr>
              <a:t>(“name”, </a:t>
            </a:r>
            <a:r>
              <a:rPr lang="en-US" sz="1600" dirty="0" err="1" smtClean="0">
                <a:solidFill>
                  <a:srgbClr val="FF0000"/>
                </a:solidFill>
              </a:rPr>
              <a:t>obref</a:t>
            </a:r>
            <a:r>
              <a:rPr lang="en-US" sz="1600" dirty="0" smtClean="0">
                <a:solidFill>
                  <a:srgbClr val="FF0000"/>
                </a:solidFill>
              </a:rPr>
              <a:t>)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70720" y="5508521"/>
            <a:ext cx="65024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 smtClean="0">
                <a:solidFill>
                  <a:srgbClr val="FF0000"/>
                </a:solidFill>
              </a:rPr>
              <a:t>Registry ns = </a:t>
            </a:r>
            <a:r>
              <a:rPr lang="en-US" sz="1600" dirty="0" err="1" smtClean="0">
                <a:solidFill>
                  <a:srgbClr val="FF0000"/>
                </a:solidFill>
              </a:rPr>
              <a:t>LocateRegistry.getRegistry</a:t>
            </a:r>
            <a:r>
              <a:rPr lang="en-US" sz="1600" dirty="0" smtClean="0">
                <a:solidFill>
                  <a:srgbClr val="FF0000"/>
                </a:solidFill>
              </a:rPr>
              <a:t>(“127.0.0.1”,80)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 err="1" smtClean="0">
                <a:solidFill>
                  <a:srgbClr val="FF0000"/>
                </a:solidFill>
              </a:rPr>
              <a:t>obref</a:t>
            </a:r>
            <a:r>
              <a:rPr lang="en-US" sz="1600" dirty="0" smtClean="0">
                <a:solidFill>
                  <a:srgbClr val="FF0000"/>
                </a:solidFill>
              </a:rPr>
              <a:t> = </a:t>
            </a:r>
            <a:r>
              <a:rPr lang="en-US" sz="1600" dirty="0" err="1" smtClean="0">
                <a:solidFill>
                  <a:srgbClr val="FF0000"/>
                </a:solidFill>
              </a:rPr>
              <a:t>ns.lookup</a:t>
            </a:r>
            <a:r>
              <a:rPr lang="en-US" sz="1600" dirty="0" smtClean="0">
                <a:solidFill>
                  <a:srgbClr val="FF0000"/>
                </a:solidFill>
              </a:rPr>
              <a:t>(“name”)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818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Steps in RMI</a:t>
            </a:r>
            <a:endParaRPr lang="en-US" dirty="0"/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-24680" y="908720"/>
            <a:ext cx="7887816" cy="2016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q"/>
            </a:pPr>
            <a:r>
              <a:rPr lang="en-US" sz="2400" kern="0" dirty="0">
                <a:solidFill>
                  <a:srgbClr val="000000"/>
                </a:solidFill>
                <a:latin typeface="Arial"/>
              </a:rPr>
              <a:t>Step 1: Define Remote </a:t>
            </a:r>
            <a:r>
              <a:rPr lang="en-US" sz="2400" kern="0" dirty="0" smtClean="0">
                <a:solidFill>
                  <a:srgbClr val="000000"/>
                </a:solidFill>
                <a:latin typeface="Arial"/>
              </a:rPr>
              <a:t>Interface</a:t>
            </a:r>
          </a:p>
          <a:p>
            <a:pPr marL="0" lvl="0" indent="0" fontAlgn="base">
              <a:spcBef>
                <a:spcPct val="20000"/>
              </a:spcBef>
              <a:spcAft>
                <a:spcPct val="0"/>
              </a:spcAft>
              <a:buClrTx/>
              <a:buSzPct val="90000"/>
              <a:buNone/>
            </a:pPr>
            <a:endParaRPr lang="en-US" sz="1200" kern="0" dirty="0">
              <a:solidFill>
                <a:srgbClr val="000000"/>
              </a:solidFill>
              <a:latin typeface="Arial"/>
            </a:endParaRP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SzPct val="90000"/>
              <a:buNone/>
            </a:pPr>
            <a:r>
              <a:rPr lang="en-US" sz="1600" kern="0" dirty="0">
                <a:solidFill>
                  <a:srgbClr val="000000"/>
                </a:solidFill>
                <a:latin typeface="Arial"/>
              </a:rPr>
              <a:t>      public interface </a:t>
            </a:r>
            <a:r>
              <a:rPr lang="en-US" sz="1600" kern="0" dirty="0" err="1">
                <a:solidFill>
                  <a:srgbClr val="000000"/>
                </a:solidFill>
                <a:latin typeface="Arial"/>
              </a:rPr>
              <a:t>AddIntf</a:t>
            </a:r>
            <a:r>
              <a:rPr lang="en-US" sz="1600" kern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600" kern="0" dirty="0">
                <a:solidFill>
                  <a:srgbClr val="FF0000"/>
                </a:solidFill>
                <a:latin typeface="Arial"/>
              </a:rPr>
              <a:t>extends Remote </a:t>
            </a:r>
            <a:r>
              <a:rPr lang="en-US" sz="1600" kern="0" dirty="0">
                <a:solidFill>
                  <a:srgbClr val="000000"/>
                </a:solidFill>
                <a:latin typeface="Arial"/>
              </a:rPr>
              <a:t>{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SzPct val="90000"/>
              <a:buNone/>
            </a:pPr>
            <a:r>
              <a:rPr lang="en-US" sz="1600" kern="0" dirty="0">
                <a:solidFill>
                  <a:srgbClr val="000000"/>
                </a:solidFill>
                <a:latin typeface="Arial"/>
              </a:rPr>
              <a:t>              public </a:t>
            </a:r>
            <a:r>
              <a:rPr lang="en-US" sz="1600" kern="0" dirty="0" err="1">
                <a:solidFill>
                  <a:srgbClr val="000000"/>
                </a:solidFill>
                <a:latin typeface="Arial"/>
              </a:rPr>
              <a:t>int</a:t>
            </a:r>
            <a:r>
              <a:rPr lang="en-US" sz="1600" kern="0" dirty="0">
                <a:solidFill>
                  <a:srgbClr val="000000"/>
                </a:solidFill>
                <a:latin typeface="Arial"/>
              </a:rPr>
              <a:t> add(</a:t>
            </a:r>
            <a:r>
              <a:rPr lang="en-US" sz="1600" kern="0" dirty="0" err="1">
                <a:solidFill>
                  <a:srgbClr val="000000"/>
                </a:solidFill>
                <a:latin typeface="Arial"/>
              </a:rPr>
              <a:t>int</a:t>
            </a:r>
            <a:r>
              <a:rPr lang="en-US" sz="1600" kern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600" kern="0" dirty="0" err="1">
                <a:solidFill>
                  <a:srgbClr val="000000"/>
                </a:solidFill>
                <a:latin typeface="Arial"/>
              </a:rPr>
              <a:t>i</a:t>
            </a:r>
            <a:r>
              <a:rPr lang="en-US" sz="1600" kern="0" dirty="0">
                <a:solidFill>
                  <a:srgbClr val="000000"/>
                </a:solidFill>
                <a:latin typeface="Arial"/>
              </a:rPr>
              <a:t>, </a:t>
            </a:r>
            <a:r>
              <a:rPr lang="en-US" sz="1600" kern="0" dirty="0" err="1">
                <a:solidFill>
                  <a:srgbClr val="000000"/>
                </a:solidFill>
                <a:latin typeface="Arial"/>
              </a:rPr>
              <a:t>int</a:t>
            </a:r>
            <a:r>
              <a:rPr lang="en-US" sz="1600" kern="0" dirty="0">
                <a:solidFill>
                  <a:srgbClr val="000000"/>
                </a:solidFill>
                <a:latin typeface="Arial"/>
              </a:rPr>
              <a:t> j) </a:t>
            </a:r>
            <a:r>
              <a:rPr lang="en-US" sz="1600" kern="0" dirty="0">
                <a:solidFill>
                  <a:srgbClr val="FF0000"/>
                </a:solidFill>
                <a:latin typeface="Arial"/>
              </a:rPr>
              <a:t>throws </a:t>
            </a:r>
            <a:r>
              <a:rPr lang="en-US" sz="1600" kern="0" dirty="0" err="1">
                <a:solidFill>
                  <a:srgbClr val="FF0000"/>
                </a:solidFill>
                <a:latin typeface="Arial"/>
              </a:rPr>
              <a:t>RemoteException</a:t>
            </a:r>
            <a:r>
              <a:rPr lang="en-US" sz="1600" kern="0" dirty="0">
                <a:solidFill>
                  <a:srgbClr val="000000"/>
                </a:solidFill>
                <a:latin typeface="Arial"/>
              </a:rPr>
              <a:t>;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SzPct val="90000"/>
              <a:buNone/>
            </a:pPr>
            <a:r>
              <a:rPr lang="en-US" sz="1600" kern="0" dirty="0">
                <a:solidFill>
                  <a:srgbClr val="000000"/>
                </a:solidFill>
                <a:latin typeface="Arial"/>
              </a:rPr>
              <a:t>	}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SzPct val="90000"/>
              <a:buNone/>
            </a:pPr>
            <a:r>
              <a:rPr lang="en-US" sz="2400" kern="0" dirty="0" smtClean="0">
                <a:solidFill>
                  <a:srgbClr val="000000"/>
                </a:solidFill>
                <a:latin typeface="Arial"/>
              </a:rPr>
              <a:t>  </a:t>
            </a:r>
            <a:endParaRPr lang="en-US" sz="2400" kern="0" dirty="0">
              <a:solidFill>
                <a:srgbClr val="000000"/>
              </a:solidFill>
              <a:latin typeface="Arial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Ø"/>
              <a:defRPr/>
            </a:pPr>
            <a:endParaRPr lang="en-US" sz="2000" i="1" dirty="0" smtClean="0">
              <a:latin typeface="Times New Roman" pitchFamily="18" charset="0"/>
            </a:endParaRPr>
          </a:p>
          <a:p>
            <a:pPr lvl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q"/>
              <a:defRPr/>
            </a:pPr>
            <a:endParaRPr lang="en-US" dirty="0"/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5841032" y="836712"/>
            <a:ext cx="7887816" cy="222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q"/>
            </a:pPr>
            <a:r>
              <a:rPr lang="en-US" sz="2400" kern="0" dirty="0" smtClean="0">
                <a:solidFill>
                  <a:srgbClr val="000000"/>
                </a:solidFill>
                <a:latin typeface="Arial"/>
              </a:rPr>
              <a:t>Step </a:t>
            </a:r>
            <a:r>
              <a:rPr lang="en-US" sz="2400" kern="0" dirty="0">
                <a:solidFill>
                  <a:srgbClr val="000000"/>
                </a:solidFill>
                <a:latin typeface="Arial"/>
              </a:rPr>
              <a:t>2: Implement the Remote </a:t>
            </a:r>
            <a:r>
              <a:rPr lang="en-US" sz="2400" kern="0" dirty="0" smtClean="0">
                <a:solidFill>
                  <a:srgbClr val="000000"/>
                </a:solidFill>
                <a:latin typeface="Arial"/>
              </a:rPr>
              <a:t>Interface</a:t>
            </a:r>
          </a:p>
          <a:p>
            <a:pPr marL="0" lvl="0" indent="0" fontAlgn="base">
              <a:spcBef>
                <a:spcPct val="20000"/>
              </a:spcBef>
              <a:spcAft>
                <a:spcPct val="0"/>
              </a:spcAft>
              <a:buClrTx/>
              <a:buSzPct val="90000"/>
              <a:buNone/>
            </a:pPr>
            <a:endParaRPr lang="en-US" sz="500" kern="0" dirty="0">
              <a:solidFill>
                <a:srgbClr val="000000"/>
              </a:solidFill>
              <a:latin typeface="Arial"/>
            </a:endParaRP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SzPct val="90000"/>
              <a:buNone/>
            </a:pPr>
            <a:r>
              <a:rPr lang="en-US" sz="1600" kern="0" dirty="0">
                <a:solidFill>
                  <a:srgbClr val="000000"/>
                </a:solidFill>
                <a:latin typeface="Arial"/>
              </a:rPr>
              <a:t>    public class </a:t>
            </a:r>
            <a:r>
              <a:rPr lang="en-US" sz="1600" kern="0" dirty="0" err="1">
                <a:solidFill>
                  <a:srgbClr val="000000"/>
                </a:solidFill>
                <a:latin typeface="Arial"/>
              </a:rPr>
              <a:t>AddImpl</a:t>
            </a:r>
            <a:r>
              <a:rPr lang="en-US" sz="1600" kern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600" kern="0" dirty="0">
                <a:solidFill>
                  <a:srgbClr val="FF0000"/>
                </a:solidFill>
                <a:latin typeface="Arial"/>
              </a:rPr>
              <a:t>extends </a:t>
            </a:r>
            <a:r>
              <a:rPr lang="en-US" sz="1600" kern="0" dirty="0" err="1">
                <a:solidFill>
                  <a:srgbClr val="FF0000"/>
                </a:solidFill>
                <a:latin typeface="Arial"/>
              </a:rPr>
              <a:t>UnicastRemoteObject</a:t>
            </a:r>
            <a:r>
              <a:rPr lang="en-US" sz="1600" kern="0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1600" kern="0" dirty="0">
                <a:solidFill>
                  <a:srgbClr val="000000"/>
                </a:solidFill>
                <a:latin typeface="Arial"/>
              </a:rPr>
              <a:t>implements </a:t>
            </a:r>
            <a:r>
              <a:rPr lang="en-US" sz="1600" kern="0" dirty="0" err="1">
                <a:solidFill>
                  <a:srgbClr val="000000"/>
                </a:solidFill>
                <a:latin typeface="Arial"/>
              </a:rPr>
              <a:t>AddIntf</a:t>
            </a:r>
            <a:r>
              <a:rPr lang="en-US" sz="1600" kern="0" dirty="0">
                <a:solidFill>
                  <a:srgbClr val="000000"/>
                </a:solidFill>
                <a:latin typeface="Arial"/>
              </a:rPr>
              <a:t> {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SzPct val="90000"/>
              <a:buNone/>
            </a:pPr>
            <a:r>
              <a:rPr lang="en-US" sz="1600" kern="0" dirty="0">
                <a:solidFill>
                  <a:srgbClr val="000000"/>
                </a:solidFill>
                <a:latin typeface="Arial"/>
              </a:rPr>
              <a:t>             public </a:t>
            </a:r>
            <a:r>
              <a:rPr lang="en-US" sz="1600" kern="0" dirty="0" err="1">
                <a:solidFill>
                  <a:srgbClr val="000000"/>
                </a:solidFill>
                <a:latin typeface="Arial"/>
              </a:rPr>
              <a:t>int</a:t>
            </a:r>
            <a:r>
              <a:rPr lang="en-US" sz="1600" kern="0" dirty="0">
                <a:solidFill>
                  <a:srgbClr val="000000"/>
                </a:solidFill>
                <a:latin typeface="Arial"/>
              </a:rPr>
              <a:t> add(</a:t>
            </a:r>
            <a:r>
              <a:rPr lang="en-US" sz="1600" kern="0" dirty="0" err="1">
                <a:solidFill>
                  <a:srgbClr val="000000"/>
                </a:solidFill>
                <a:latin typeface="Arial"/>
              </a:rPr>
              <a:t>int</a:t>
            </a:r>
            <a:r>
              <a:rPr lang="en-US" sz="1600" kern="0" dirty="0">
                <a:solidFill>
                  <a:srgbClr val="000000"/>
                </a:solidFill>
                <a:latin typeface="Arial"/>
              </a:rPr>
              <a:t> I, </a:t>
            </a:r>
            <a:r>
              <a:rPr lang="en-US" sz="1600" kern="0" dirty="0" err="1">
                <a:solidFill>
                  <a:srgbClr val="000000"/>
                </a:solidFill>
                <a:latin typeface="Arial"/>
              </a:rPr>
              <a:t>int</a:t>
            </a:r>
            <a:r>
              <a:rPr lang="en-US" sz="1600" kern="0" dirty="0">
                <a:solidFill>
                  <a:srgbClr val="000000"/>
                </a:solidFill>
                <a:latin typeface="Arial"/>
              </a:rPr>
              <a:t> j) throws </a:t>
            </a:r>
            <a:r>
              <a:rPr lang="en-US" sz="1600" kern="0" dirty="0" err="1">
                <a:solidFill>
                  <a:srgbClr val="000000"/>
                </a:solidFill>
                <a:latin typeface="Arial"/>
              </a:rPr>
              <a:t>RemoteException</a:t>
            </a:r>
            <a:r>
              <a:rPr lang="en-US" sz="1600" kern="0" dirty="0">
                <a:solidFill>
                  <a:srgbClr val="000000"/>
                </a:solidFill>
                <a:latin typeface="Arial"/>
              </a:rPr>
              <a:t> {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SzPct val="90000"/>
              <a:buNone/>
            </a:pPr>
            <a:r>
              <a:rPr lang="en-US" sz="1600" kern="0" dirty="0">
                <a:solidFill>
                  <a:srgbClr val="000000"/>
                </a:solidFill>
                <a:latin typeface="Arial"/>
              </a:rPr>
              <a:t>		       return </a:t>
            </a:r>
            <a:r>
              <a:rPr lang="en-US" sz="1600" kern="0" dirty="0" err="1">
                <a:solidFill>
                  <a:srgbClr val="000000"/>
                </a:solidFill>
                <a:latin typeface="Arial"/>
              </a:rPr>
              <a:t>i+j</a:t>
            </a:r>
            <a:r>
              <a:rPr lang="en-US" sz="1600" kern="0" dirty="0">
                <a:solidFill>
                  <a:srgbClr val="000000"/>
                </a:solidFill>
                <a:latin typeface="Arial"/>
              </a:rPr>
              <a:t>;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SzPct val="90000"/>
              <a:buNone/>
            </a:pPr>
            <a:r>
              <a:rPr lang="en-US" sz="1600" kern="0" dirty="0">
                <a:solidFill>
                  <a:srgbClr val="000000"/>
                </a:solidFill>
                <a:latin typeface="Arial"/>
              </a:rPr>
              <a:t>              }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SzPct val="90000"/>
              <a:buNone/>
            </a:pPr>
            <a:r>
              <a:rPr lang="en-US" sz="1600" kern="0" dirty="0">
                <a:solidFill>
                  <a:srgbClr val="000000"/>
                </a:solidFill>
                <a:latin typeface="Arial"/>
              </a:rPr>
              <a:t>      } </a:t>
            </a:r>
            <a:r>
              <a:rPr lang="en-US" sz="1600" kern="0" dirty="0" smtClean="0">
                <a:solidFill>
                  <a:srgbClr val="000000"/>
                </a:solidFill>
                <a:latin typeface="Arial"/>
              </a:rPr>
              <a:t>  </a:t>
            </a:r>
            <a:endParaRPr lang="en-US" sz="1600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>
          <a:xfrm>
            <a:off x="0" y="3284984"/>
            <a:ext cx="7887816" cy="2592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Step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 : Define the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Server</a:t>
            </a:r>
          </a:p>
          <a:p>
            <a:pPr marL="45720" indent="0">
              <a:buClrTx/>
              <a:buNone/>
            </a:pPr>
            <a:endParaRPr lang="en-US" sz="100" dirty="0"/>
          </a:p>
          <a:p>
            <a:pPr>
              <a:spcBef>
                <a:spcPts val="0"/>
              </a:spcBef>
              <a:buNone/>
            </a:pPr>
            <a:r>
              <a:rPr lang="en-US" sz="1600" dirty="0"/>
              <a:t>    public class </a:t>
            </a:r>
            <a:r>
              <a:rPr lang="en-US" sz="1600" dirty="0" err="1"/>
              <a:t>AddServer</a:t>
            </a:r>
            <a:r>
              <a:rPr lang="en-US" sz="1600" dirty="0"/>
              <a:t> {</a:t>
            </a:r>
          </a:p>
          <a:p>
            <a:pPr>
              <a:spcBef>
                <a:spcPts val="0"/>
              </a:spcBef>
              <a:buNone/>
            </a:pPr>
            <a:r>
              <a:rPr lang="en-US" sz="1600" dirty="0"/>
              <a:t>           public static void main(String </a:t>
            </a:r>
            <a:r>
              <a:rPr lang="en-US" sz="1600" dirty="0" err="1"/>
              <a:t>args</a:t>
            </a:r>
            <a:r>
              <a:rPr lang="en-US" sz="1600" dirty="0"/>
              <a:t>[]) throws Exception {</a:t>
            </a:r>
          </a:p>
          <a:p>
            <a:pPr>
              <a:spcBef>
                <a:spcPts val="0"/>
              </a:spcBef>
              <a:buNone/>
            </a:pPr>
            <a:r>
              <a:rPr lang="en-US" sz="1600" dirty="0"/>
              <a:t>                  </a:t>
            </a:r>
            <a:r>
              <a:rPr lang="en-US" sz="1600" dirty="0" err="1"/>
              <a:t>AddImpl</a:t>
            </a:r>
            <a:r>
              <a:rPr lang="en-US" sz="1600" dirty="0"/>
              <a:t> </a:t>
            </a:r>
            <a:r>
              <a:rPr lang="en-US" sz="1600" dirty="0" err="1"/>
              <a:t>obj</a:t>
            </a:r>
            <a:r>
              <a:rPr lang="en-US" sz="1600" dirty="0"/>
              <a:t> = new </a:t>
            </a:r>
            <a:r>
              <a:rPr lang="en-US" sz="1600" dirty="0" err="1"/>
              <a:t>AddImpl</a:t>
            </a:r>
            <a:r>
              <a:rPr lang="en-US" sz="1600" dirty="0"/>
              <a:t>();</a:t>
            </a:r>
          </a:p>
          <a:p>
            <a:pPr>
              <a:spcBef>
                <a:spcPts val="0"/>
              </a:spcBef>
              <a:buNone/>
            </a:pPr>
            <a:r>
              <a:rPr lang="en-US" sz="1600" dirty="0"/>
              <a:t>	          </a:t>
            </a:r>
            <a:r>
              <a:rPr lang="en-US" sz="1600" dirty="0" smtClean="0"/>
              <a:t>  </a:t>
            </a:r>
            <a:r>
              <a:rPr lang="en-US" sz="1600" dirty="0" smtClean="0">
                <a:solidFill>
                  <a:srgbClr val="FF0000"/>
                </a:solidFill>
              </a:rPr>
              <a:t>Registry ns </a:t>
            </a:r>
            <a:r>
              <a:rPr lang="en-US" sz="1600" dirty="0">
                <a:solidFill>
                  <a:srgbClr val="FF0000"/>
                </a:solidFill>
              </a:rPr>
              <a:t>= </a:t>
            </a:r>
            <a:r>
              <a:rPr lang="en-US" sz="1600" dirty="0" err="1">
                <a:solidFill>
                  <a:srgbClr val="FF0000"/>
                </a:solidFill>
              </a:rPr>
              <a:t>LocateRegistry.createRegistry</a:t>
            </a:r>
            <a:r>
              <a:rPr lang="en-US" sz="1600" dirty="0">
                <a:solidFill>
                  <a:srgbClr val="FF0000"/>
                </a:solidFill>
              </a:rPr>
              <a:t>(1099);</a:t>
            </a:r>
          </a:p>
          <a:p>
            <a:pPr>
              <a:spcBef>
                <a:spcPts val="0"/>
              </a:spcBef>
              <a:buNone/>
            </a:pPr>
            <a:r>
              <a:rPr lang="en-US" sz="1600" dirty="0">
                <a:solidFill>
                  <a:srgbClr val="FF0000"/>
                </a:solidFill>
              </a:rPr>
              <a:t>                  </a:t>
            </a:r>
            <a:r>
              <a:rPr lang="en-US" sz="1600" dirty="0" err="1" smtClean="0">
                <a:solidFill>
                  <a:srgbClr val="FF0000"/>
                </a:solidFill>
              </a:rPr>
              <a:t>ns.rebind</a:t>
            </a:r>
            <a:r>
              <a:rPr lang="en-US" sz="1600" dirty="0">
                <a:solidFill>
                  <a:srgbClr val="FF0000"/>
                </a:solidFill>
              </a:rPr>
              <a:t>(“add", </a:t>
            </a:r>
            <a:r>
              <a:rPr lang="en-US" sz="1600" dirty="0" err="1">
                <a:solidFill>
                  <a:srgbClr val="FF0000"/>
                </a:solidFill>
              </a:rPr>
              <a:t>obj</a:t>
            </a:r>
            <a:r>
              <a:rPr lang="en-US" sz="1600" dirty="0">
                <a:solidFill>
                  <a:srgbClr val="FF0000"/>
                </a:solidFill>
              </a:rPr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sz="1600" dirty="0"/>
              <a:t>                  </a:t>
            </a:r>
            <a:r>
              <a:rPr lang="en-US" sz="1600" dirty="0" err="1"/>
              <a:t>System.out.println</a:t>
            </a:r>
            <a:r>
              <a:rPr lang="en-US" sz="1600" dirty="0"/>
              <a:t>(“Server Ready…….”);</a:t>
            </a:r>
          </a:p>
          <a:p>
            <a:pPr>
              <a:spcBef>
                <a:spcPts val="0"/>
              </a:spcBef>
              <a:buNone/>
            </a:pPr>
            <a:r>
              <a:rPr lang="en-US" sz="1600" dirty="0"/>
              <a:t>           }</a:t>
            </a:r>
          </a:p>
          <a:p>
            <a:pPr>
              <a:spcBef>
                <a:spcPts val="0"/>
              </a:spcBef>
              <a:buNone/>
            </a:pPr>
            <a:r>
              <a:rPr lang="en-US" sz="1600" dirty="0"/>
              <a:t>      </a:t>
            </a:r>
            <a:r>
              <a:rPr lang="en-US" sz="1600" dirty="0" smtClean="0"/>
              <a:t>}</a:t>
            </a:r>
            <a:r>
              <a:rPr lang="en-US" sz="2400" kern="0" dirty="0" smtClean="0">
                <a:solidFill>
                  <a:srgbClr val="000000"/>
                </a:solidFill>
                <a:latin typeface="Arial"/>
              </a:rPr>
              <a:t>  </a:t>
            </a:r>
            <a:endParaRPr lang="en-US" sz="2400" kern="0" dirty="0">
              <a:solidFill>
                <a:srgbClr val="000000"/>
              </a:solidFill>
              <a:latin typeface="Arial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Ø"/>
              <a:defRPr/>
            </a:pPr>
            <a:endParaRPr lang="en-US" sz="2000" i="1" dirty="0" smtClean="0">
              <a:latin typeface="Times New Roman" pitchFamily="18" charset="0"/>
            </a:endParaRPr>
          </a:p>
          <a:p>
            <a:pPr lvl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q"/>
              <a:defRPr/>
            </a:pPr>
            <a:endParaRPr lang="en-US" dirty="0"/>
          </a:p>
        </p:txBody>
      </p:sp>
      <p:sp>
        <p:nvSpPr>
          <p:cNvPr id="28" name="Rectangle 3"/>
          <p:cNvSpPr txBox="1">
            <a:spLocks noChangeArrowheads="1"/>
          </p:cNvSpPr>
          <p:nvPr/>
        </p:nvSpPr>
        <p:spPr>
          <a:xfrm>
            <a:off x="5841032" y="3140968"/>
            <a:ext cx="6159624" cy="2736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Step 4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Define the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  <a:p>
            <a:pPr marL="45720" indent="0">
              <a:buClrTx/>
              <a:buNone/>
            </a:pPr>
            <a:endParaRPr lang="en-US" sz="100" dirty="0"/>
          </a:p>
          <a:p>
            <a:pPr>
              <a:spcBef>
                <a:spcPts val="0"/>
              </a:spcBef>
              <a:buNone/>
            </a:pPr>
            <a:r>
              <a:rPr lang="en-US" sz="1600" dirty="0"/>
              <a:t>    public class </a:t>
            </a:r>
            <a:r>
              <a:rPr lang="en-US" sz="1600" dirty="0" err="1" smtClean="0"/>
              <a:t>AddClient</a:t>
            </a:r>
            <a:r>
              <a:rPr lang="en-US" sz="1600" dirty="0" smtClean="0"/>
              <a:t> </a:t>
            </a:r>
            <a:r>
              <a:rPr lang="en-US" sz="1600" dirty="0"/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sz="1600" dirty="0"/>
              <a:t>           public static void main(String </a:t>
            </a:r>
            <a:r>
              <a:rPr lang="en-US" sz="1600" dirty="0" err="1"/>
              <a:t>args</a:t>
            </a:r>
            <a:r>
              <a:rPr lang="en-US" sz="1600" dirty="0"/>
              <a:t>[]) throws Exception {</a:t>
            </a:r>
          </a:p>
          <a:p>
            <a:pPr>
              <a:spcBef>
                <a:spcPts val="0"/>
              </a:spcBef>
              <a:buNone/>
            </a:pPr>
            <a:r>
              <a:rPr lang="en-US" sz="1600" dirty="0"/>
              <a:t>	          </a:t>
            </a:r>
            <a:r>
              <a:rPr lang="en-US" sz="1600" dirty="0" smtClean="0"/>
              <a:t>  Registry ns </a:t>
            </a:r>
            <a:r>
              <a:rPr lang="en-US" sz="1600" dirty="0"/>
              <a:t>= </a:t>
            </a:r>
            <a:r>
              <a:rPr lang="en-US" sz="1600" dirty="0" err="1" smtClean="0"/>
              <a:t>LocateRegistry.getRegistry</a:t>
            </a:r>
            <a:r>
              <a:rPr lang="en-US" sz="1600" dirty="0" smtClean="0"/>
              <a:t>(“</a:t>
            </a:r>
            <a:r>
              <a:rPr lang="en-US" sz="1600" dirty="0" err="1" smtClean="0"/>
              <a:t>localhost</a:t>
            </a:r>
            <a:r>
              <a:rPr lang="en-US" sz="1600" dirty="0" smtClean="0"/>
              <a:t>”, 1099</a:t>
            </a:r>
            <a:r>
              <a:rPr lang="en-US" sz="1600" dirty="0"/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sz="1600" dirty="0" smtClean="0"/>
              <a:t>                  </a:t>
            </a:r>
            <a:r>
              <a:rPr lang="en-US" sz="1600" dirty="0" err="1" smtClean="0">
                <a:solidFill>
                  <a:srgbClr val="FF0000"/>
                </a:solidFill>
              </a:rPr>
              <a:t>Addntf</a:t>
            </a:r>
            <a:r>
              <a:rPr lang="en-US" sz="1600" dirty="0" smtClean="0">
                <a:solidFill>
                  <a:srgbClr val="FF0000"/>
                </a:solidFill>
              </a:rPr>
              <a:t> </a:t>
            </a:r>
            <a:r>
              <a:rPr lang="en-US" sz="1600" dirty="0" err="1" smtClean="0">
                <a:solidFill>
                  <a:srgbClr val="FF0000"/>
                </a:solidFill>
              </a:rPr>
              <a:t>obref</a:t>
            </a:r>
            <a:r>
              <a:rPr lang="en-US" sz="1600" dirty="0" smtClean="0">
                <a:solidFill>
                  <a:srgbClr val="FF0000"/>
                </a:solidFill>
              </a:rPr>
              <a:t> = (</a:t>
            </a:r>
            <a:r>
              <a:rPr lang="en-US" sz="1600" dirty="0" err="1" smtClean="0">
                <a:solidFill>
                  <a:srgbClr val="FF0000"/>
                </a:solidFill>
              </a:rPr>
              <a:t>Addntf</a:t>
            </a:r>
            <a:r>
              <a:rPr lang="en-US" sz="1600" dirty="0" smtClean="0">
                <a:solidFill>
                  <a:srgbClr val="FF0000"/>
                </a:solidFill>
              </a:rPr>
              <a:t>)  </a:t>
            </a:r>
            <a:r>
              <a:rPr lang="en-US" sz="1600" dirty="0" err="1" smtClean="0">
                <a:solidFill>
                  <a:srgbClr val="FF0000"/>
                </a:solidFill>
              </a:rPr>
              <a:t>ns.lookup</a:t>
            </a:r>
            <a:r>
              <a:rPr lang="en-US" sz="1600" dirty="0" smtClean="0">
                <a:solidFill>
                  <a:srgbClr val="FF0000"/>
                </a:solidFill>
              </a:rPr>
              <a:t>(“add”);                </a:t>
            </a:r>
          </a:p>
          <a:p>
            <a:pPr>
              <a:spcBef>
                <a:spcPts val="0"/>
              </a:spcBef>
              <a:buNone/>
            </a:pPr>
            <a:r>
              <a:rPr lang="en-US" sz="1600" dirty="0" smtClean="0"/>
              <a:t>                  </a:t>
            </a:r>
            <a:r>
              <a:rPr lang="en-US" sz="1600" dirty="0" err="1" smtClean="0">
                <a:solidFill>
                  <a:srgbClr val="FF0000"/>
                </a:solidFill>
              </a:rPr>
              <a:t>int</a:t>
            </a:r>
            <a:r>
              <a:rPr lang="en-US" sz="1600" dirty="0" smtClean="0">
                <a:solidFill>
                  <a:srgbClr val="FF0000"/>
                </a:solidFill>
              </a:rPr>
              <a:t> k = </a:t>
            </a:r>
            <a:r>
              <a:rPr lang="en-US" sz="1600" dirty="0" err="1" smtClean="0">
                <a:solidFill>
                  <a:srgbClr val="FF0000"/>
                </a:solidFill>
              </a:rPr>
              <a:t>obref.add</a:t>
            </a:r>
            <a:r>
              <a:rPr lang="en-US" sz="1600" dirty="0" smtClean="0">
                <a:solidFill>
                  <a:srgbClr val="FF0000"/>
                </a:solidFill>
              </a:rPr>
              <a:t>(30,50);    </a:t>
            </a:r>
          </a:p>
          <a:p>
            <a:pPr>
              <a:spcBef>
                <a:spcPts val="0"/>
              </a:spcBef>
              <a:buNone/>
            </a:pPr>
            <a:r>
              <a:rPr lang="en-US" sz="1600" dirty="0" smtClean="0"/>
              <a:t>                  </a:t>
            </a:r>
            <a:r>
              <a:rPr lang="en-US" sz="1600" dirty="0" err="1" smtClean="0"/>
              <a:t>System.out.println</a:t>
            </a:r>
            <a:r>
              <a:rPr lang="en-US" sz="1600" dirty="0" smtClean="0"/>
              <a:t>(“30+50=”+k);</a:t>
            </a:r>
            <a:endParaRPr lang="en-US" sz="1600" dirty="0"/>
          </a:p>
          <a:p>
            <a:pPr>
              <a:spcBef>
                <a:spcPts val="0"/>
              </a:spcBef>
              <a:buNone/>
            </a:pPr>
            <a:r>
              <a:rPr lang="en-US" sz="1600" dirty="0"/>
              <a:t>           }</a:t>
            </a:r>
          </a:p>
          <a:p>
            <a:pPr>
              <a:spcBef>
                <a:spcPts val="0"/>
              </a:spcBef>
              <a:buNone/>
            </a:pPr>
            <a:r>
              <a:rPr lang="en-US" sz="1600" dirty="0"/>
              <a:t>      </a:t>
            </a:r>
            <a:r>
              <a:rPr lang="en-US" sz="1600" dirty="0" smtClean="0"/>
              <a:t>}</a:t>
            </a:r>
            <a:endParaRPr lang="en-US" sz="2000" i="1" dirty="0" smtClean="0">
              <a:latin typeface="Times New Roman" pitchFamily="18" charset="0"/>
            </a:endParaRPr>
          </a:p>
          <a:p>
            <a:pPr lvl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q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5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What are Web Services?</a:t>
            </a:r>
            <a:endParaRPr lang="en-US" dirty="0"/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152400" y="838200"/>
            <a:ext cx="11658600" cy="59031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en-US" dirty="0" smtClean="0"/>
              <a:t>Web Service is an efficient way of implementing inter process communication running at a higher level.</a:t>
            </a:r>
          </a:p>
          <a:p>
            <a:pPr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en-US" dirty="0" smtClean="0"/>
              <a:t>Web Service is a set of remote methods accessible via web (HTTP protocols)</a:t>
            </a:r>
          </a:p>
          <a:p>
            <a:pPr>
              <a:spcBef>
                <a:spcPts val="120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en-US" dirty="0" smtClean="0">
                <a:solidFill>
                  <a:schemeClr val="tx1"/>
                </a:solidFill>
              </a:rPr>
              <a:t>It is the convergence of the following 2 technologies</a:t>
            </a:r>
          </a:p>
          <a:p>
            <a:pPr marL="365760" lvl="1" indent="0">
              <a:spcBef>
                <a:spcPts val="600"/>
              </a:spcBef>
              <a:buClr>
                <a:schemeClr val="tx1"/>
              </a:buClr>
              <a:buNone/>
              <a:defRPr/>
            </a:pPr>
            <a:r>
              <a:rPr lang="en-US" sz="2000" i="1" dirty="0" smtClean="0">
                <a:solidFill>
                  <a:schemeClr val="tx1"/>
                </a:solidFill>
                <a:latin typeface="Times New Roman" pitchFamily="18" charset="0"/>
              </a:rPr>
              <a:t>1.  The Web</a:t>
            </a:r>
          </a:p>
          <a:p>
            <a:pPr lvl="2"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i="1" dirty="0" smtClean="0">
                <a:solidFill>
                  <a:schemeClr val="tx1"/>
                </a:solidFill>
                <a:latin typeface="Times New Roman" pitchFamily="18" charset="0"/>
              </a:rPr>
              <a:t>Universal Communication</a:t>
            </a:r>
          </a:p>
          <a:p>
            <a:pPr lvl="2"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i="1" dirty="0" smtClean="0">
                <a:solidFill>
                  <a:schemeClr val="tx1"/>
                </a:solidFill>
                <a:latin typeface="Times New Roman" pitchFamily="18" charset="0"/>
              </a:rPr>
              <a:t>HTTP, XML</a:t>
            </a:r>
          </a:p>
          <a:p>
            <a:pPr marL="365760" lvl="1" indent="0">
              <a:spcBef>
                <a:spcPts val="600"/>
              </a:spcBef>
              <a:buClr>
                <a:schemeClr val="tx1"/>
              </a:buClr>
              <a:buNone/>
              <a:defRPr/>
            </a:pPr>
            <a:r>
              <a:rPr lang="en-US" sz="2000" i="1" dirty="0" smtClean="0">
                <a:latin typeface="Times New Roman" pitchFamily="18" charset="0"/>
              </a:rPr>
              <a:t>2. Service Oriented Computing</a:t>
            </a:r>
          </a:p>
          <a:p>
            <a:pPr lvl="2"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i="1" dirty="0" smtClean="0">
                <a:latin typeface="Times New Roman" pitchFamily="18" charset="0"/>
              </a:rPr>
              <a:t>Expose data and business logic through a programmable interface</a:t>
            </a:r>
          </a:p>
          <a:p>
            <a:pPr lvl="2"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i="1" dirty="0" smtClean="0">
                <a:latin typeface="Times New Roman" pitchFamily="18" charset="0"/>
              </a:rPr>
              <a:t>RPC, RMI, CORBA, DCOM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  <a:defRPr/>
            </a:pPr>
            <a:r>
              <a:rPr lang="en-US" sz="2200" i="1" dirty="0" smtClean="0">
                <a:latin typeface="Times New Roman" pitchFamily="18" charset="0"/>
              </a:rPr>
              <a:t>There are 2 types of Web Services</a:t>
            </a:r>
          </a:p>
          <a:p>
            <a:pPr marL="708660" lvl="1" indent="-342900">
              <a:buClr>
                <a:schemeClr val="tx1"/>
              </a:buClr>
              <a:buAutoNum type="arabicPeriod"/>
              <a:defRPr/>
            </a:pPr>
            <a:r>
              <a:rPr lang="en-US" i="1" dirty="0" smtClean="0">
                <a:latin typeface="Times New Roman" pitchFamily="18" charset="0"/>
              </a:rPr>
              <a:t>REST (Representational State Transfer)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en-US" i="1" dirty="0" smtClean="0">
                <a:latin typeface="Times New Roman" pitchFamily="18" charset="0"/>
              </a:rPr>
              <a:t>Uses Standard HTTP methods (GET, POST, PUT, DELETE)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en-US" i="1" dirty="0" smtClean="0">
                <a:latin typeface="Times New Roman" pitchFamily="18" charset="0"/>
              </a:rPr>
              <a:t>Support both JSON and XML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en-US" i="1" dirty="0" smtClean="0">
                <a:latin typeface="Times New Roman" pitchFamily="18" charset="0"/>
              </a:rPr>
              <a:t>Used in light weight applications</a:t>
            </a:r>
          </a:p>
          <a:p>
            <a:pPr marL="708660" lvl="1" indent="-342900">
              <a:buClr>
                <a:schemeClr val="tx1"/>
              </a:buClr>
              <a:buAutoNum type="arabicPeriod"/>
              <a:defRPr/>
            </a:pPr>
            <a:r>
              <a:rPr lang="en-US" i="1" dirty="0" smtClean="0">
                <a:latin typeface="Times New Roman" pitchFamily="18" charset="0"/>
              </a:rPr>
              <a:t>SOAP (Simple Object Access Protocol) </a:t>
            </a:r>
          </a:p>
          <a:p>
            <a:pPr marL="1028700" lvl="2" indent="-342900">
              <a:buClr>
                <a:schemeClr val="tx1"/>
              </a:buClr>
              <a:buAutoNum type="arabicPeriod"/>
              <a:defRPr/>
            </a:pPr>
            <a:r>
              <a:rPr lang="en-US" i="1" dirty="0" smtClean="0">
                <a:latin typeface="Times New Roman" pitchFamily="18" charset="0"/>
              </a:rPr>
              <a:t>Uses XML based messaging</a:t>
            </a:r>
          </a:p>
          <a:p>
            <a:pPr marL="1028700" lvl="2" indent="-342900">
              <a:buClr>
                <a:schemeClr val="tx1"/>
              </a:buClr>
              <a:buFont typeface="Wingdings" pitchFamily="2" charset="2"/>
              <a:buAutoNum type="arabicPeriod"/>
              <a:defRPr/>
            </a:pPr>
            <a:r>
              <a:rPr lang="en-US" i="1" dirty="0">
                <a:latin typeface="Times New Roman" pitchFamily="18" charset="0"/>
              </a:rPr>
              <a:t>Operates over HTTP, SMTP, </a:t>
            </a:r>
            <a:r>
              <a:rPr lang="en-US" i="1" dirty="0" smtClean="0">
                <a:latin typeface="Times New Roman" pitchFamily="18" charset="0"/>
              </a:rPr>
              <a:t>TCP</a:t>
            </a:r>
          </a:p>
          <a:p>
            <a:pPr marL="1028700" lvl="2" indent="-342900">
              <a:buClr>
                <a:schemeClr val="tx1"/>
              </a:buClr>
              <a:buFont typeface="Wingdings" pitchFamily="2" charset="2"/>
              <a:buAutoNum type="arabicPeriod"/>
              <a:defRPr/>
            </a:pPr>
            <a:r>
              <a:rPr lang="en-US" i="1" dirty="0">
                <a:latin typeface="Times New Roman" pitchFamily="18" charset="0"/>
              </a:rPr>
              <a:t>Used in highly secured applications</a:t>
            </a:r>
          </a:p>
          <a:p>
            <a:pPr marL="1028700" lvl="2" indent="-342900">
              <a:buClr>
                <a:schemeClr val="tx1"/>
              </a:buClr>
              <a:buFont typeface="Wingdings" pitchFamily="2" charset="2"/>
              <a:buAutoNum type="arabicPeriod"/>
              <a:defRPr/>
            </a:pPr>
            <a:endParaRPr lang="en-US" i="1" dirty="0">
              <a:latin typeface="Times New Roman" pitchFamily="18" charset="0"/>
            </a:endParaRPr>
          </a:p>
          <a:p>
            <a:pPr marL="1028700" lvl="2" indent="-342900">
              <a:buClr>
                <a:schemeClr val="tx1"/>
              </a:buClr>
              <a:buAutoNum type="arabicPeriod"/>
              <a:defRPr/>
            </a:pPr>
            <a:endParaRPr lang="en-US" i="1" dirty="0" smtClean="0">
              <a:latin typeface="Times New Roman" pitchFamily="18" charset="0"/>
            </a:endParaRPr>
          </a:p>
          <a:p>
            <a:pPr marL="1028700" lvl="2" indent="-342900">
              <a:buClr>
                <a:schemeClr val="tx1"/>
              </a:buClr>
              <a:buAutoNum type="arabicPeriod"/>
              <a:defRPr/>
            </a:pPr>
            <a:endParaRPr lang="en-US" i="1" dirty="0" smtClean="0">
              <a:latin typeface="Times New Roman" pitchFamily="18" charset="0"/>
            </a:endParaRPr>
          </a:p>
          <a:p>
            <a:pPr lvl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q"/>
              <a:defRPr/>
            </a:pPr>
            <a:endParaRPr lang="en-US" dirty="0"/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7813972" y="5032647"/>
            <a:ext cx="1371600" cy="34607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sz="1600" dirty="0"/>
              <a:t>UDDI</a:t>
            </a:r>
          </a:p>
        </p:txBody>
      </p:sp>
      <p:grpSp>
        <p:nvGrpSpPr>
          <p:cNvPr id="27" name="Group 19"/>
          <p:cNvGrpSpPr>
            <a:grpSpLocks/>
          </p:cNvGrpSpPr>
          <p:nvPr/>
        </p:nvGrpSpPr>
        <p:grpSpPr bwMode="auto">
          <a:xfrm>
            <a:off x="5985172" y="4007122"/>
            <a:ext cx="1371600" cy="2484438"/>
            <a:chOff x="1056" y="1344"/>
            <a:chExt cx="864" cy="1565"/>
          </a:xfrm>
        </p:grpSpPr>
        <p:sp>
          <p:nvSpPr>
            <p:cNvPr id="28" name="Text Box 8"/>
            <p:cNvSpPr txBox="1">
              <a:spLocks noChangeArrowheads="1"/>
            </p:cNvSpPr>
            <p:nvPr/>
          </p:nvSpPr>
          <p:spPr bwMode="auto">
            <a:xfrm>
              <a:off x="1056" y="1344"/>
              <a:ext cx="864" cy="21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/>
                <a:t>Server</a:t>
              </a:r>
            </a:p>
          </p:txBody>
        </p:sp>
        <p:sp>
          <p:nvSpPr>
            <p:cNvPr id="45" name="Text Box 9"/>
            <p:cNvSpPr txBox="1">
              <a:spLocks noChangeArrowheads="1"/>
            </p:cNvSpPr>
            <p:nvPr/>
          </p:nvSpPr>
          <p:spPr bwMode="auto">
            <a:xfrm>
              <a:off x="1056" y="2691"/>
              <a:ext cx="864" cy="21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/>
                <a:t>Client</a:t>
              </a:r>
            </a:p>
          </p:txBody>
        </p:sp>
      </p:grpSp>
      <p:grpSp>
        <p:nvGrpSpPr>
          <p:cNvPr id="46" name="Group 33"/>
          <p:cNvGrpSpPr>
            <a:grpSpLocks/>
          </p:cNvGrpSpPr>
          <p:nvPr/>
        </p:nvGrpSpPr>
        <p:grpSpPr bwMode="auto">
          <a:xfrm>
            <a:off x="7356772" y="4311922"/>
            <a:ext cx="1447800" cy="685800"/>
            <a:chOff x="1920" y="1536"/>
            <a:chExt cx="912" cy="432"/>
          </a:xfrm>
        </p:grpSpPr>
        <p:sp>
          <p:nvSpPr>
            <p:cNvPr id="47" name="Line 12"/>
            <p:cNvSpPr>
              <a:spLocks noChangeShapeType="1"/>
            </p:cNvSpPr>
            <p:nvPr/>
          </p:nvSpPr>
          <p:spPr bwMode="auto">
            <a:xfrm>
              <a:off x="1920" y="1536"/>
              <a:ext cx="48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Text Box 22"/>
            <p:cNvSpPr txBox="1">
              <a:spLocks noChangeArrowheads="1"/>
            </p:cNvSpPr>
            <p:nvPr/>
          </p:nvSpPr>
          <p:spPr bwMode="auto">
            <a:xfrm>
              <a:off x="2112" y="1564"/>
              <a:ext cx="72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/>
                <a:t>WSDL</a:t>
              </a:r>
            </a:p>
          </p:txBody>
        </p:sp>
      </p:grpSp>
      <p:grpSp>
        <p:nvGrpSpPr>
          <p:cNvPr id="49" name="Group 35"/>
          <p:cNvGrpSpPr>
            <a:grpSpLocks/>
          </p:cNvGrpSpPr>
          <p:nvPr/>
        </p:nvGrpSpPr>
        <p:grpSpPr bwMode="auto">
          <a:xfrm>
            <a:off x="7356772" y="5378722"/>
            <a:ext cx="1676400" cy="838200"/>
            <a:chOff x="1920" y="2208"/>
            <a:chExt cx="1056" cy="528"/>
          </a:xfrm>
        </p:grpSpPr>
        <p:sp>
          <p:nvSpPr>
            <p:cNvPr id="50" name="Line 16"/>
            <p:cNvSpPr>
              <a:spLocks noChangeShapeType="1"/>
            </p:cNvSpPr>
            <p:nvPr/>
          </p:nvSpPr>
          <p:spPr bwMode="auto">
            <a:xfrm flipH="1">
              <a:off x="1920" y="2208"/>
              <a:ext cx="62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Text Box 24"/>
            <p:cNvSpPr txBox="1">
              <a:spLocks noChangeArrowheads="1"/>
            </p:cNvSpPr>
            <p:nvPr/>
          </p:nvSpPr>
          <p:spPr bwMode="auto">
            <a:xfrm>
              <a:off x="2256" y="2352"/>
              <a:ext cx="72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/>
                <a:t>WSDL</a:t>
              </a:r>
            </a:p>
          </p:txBody>
        </p:sp>
      </p:grpSp>
      <p:grpSp>
        <p:nvGrpSpPr>
          <p:cNvPr id="52" name="Group 34"/>
          <p:cNvGrpSpPr>
            <a:grpSpLocks/>
          </p:cNvGrpSpPr>
          <p:nvPr/>
        </p:nvGrpSpPr>
        <p:grpSpPr bwMode="auto">
          <a:xfrm>
            <a:off x="6747172" y="5378722"/>
            <a:ext cx="1219200" cy="762000"/>
            <a:chOff x="1536" y="2208"/>
            <a:chExt cx="768" cy="480"/>
          </a:xfrm>
        </p:grpSpPr>
        <p:sp>
          <p:nvSpPr>
            <p:cNvPr id="53" name="Line 15"/>
            <p:cNvSpPr>
              <a:spLocks noChangeShapeType="1"/>
            </p:cNvSpPr>
            <p:nvPr/>
          </p:nvSpPr>
          <p:spPr bwMode="auto">
            <a:xfrm flipV="1">
              <a:off x="1728" y="2208"/>
              <a:ext cx="5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1536" y="2256"/>
              <a:ext cx="72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/>
                <a:t>Request</a:t>
              </a:r>
            </a:p>
          </p:txBody>
        </p:sp>
      </p:grpSp>
      <p:grpSp>
        <p:nvGrpSpPr>
          <p:cNvPr id="55" name="Group 39"/>
          <p:cNvGrpSpPr>
            <a:grpSpLocks/>
          </p:cNvGrpSpPr>
          <p:nvPr/>
        </p:nvGrpSpPr>
        <p:grpSpPr bwMode="auto">
          <a:xfrm>
            <a:off x="7356772" y="6094685"/>
            <a:ext cx="4191000" cy="574675"/>
            <a:chOff x="1920" y="2662"/>
            <a:chExt cx="2640" cy="362"/>
          </a:xfrm>
        </p:grpSpPr>
        <p:sp>
          <p:nvSpPr>
            <p:cNvPr id="56" name="Text Box 7"/>
            <p:cNvSpPr txBox="1">
              <a:spLocks noChangeArrowheads="1"/>
            </p:cNvSpPr>
            <p:nvPr/>
          </p:nvSpPr>
          <p:spPr bwMode="auto">
            <a:xfrm>
              <a:off x="3696" y="2662"/>
              <a:ext cx="864" cy="21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/>
                <a:t>Client Code</a:t>
              </a:r>
            </a:p>
          </p:txBody>
        </p:sp>
        <p:grpSp>
          <p:nvGrpSpPr>
            <p:cNvPr id="57" name="Group 36"/>
            <p:cNvGrpSpPr>
              <a:grpSpLocks/>
            </p:cNvGrpSpPr>
            <p:nvPr/>
          </p:nvGrpSpPr>
          <p:grpSpPr bwMode="auto">
            <a:xfrm>
              <a:off x="1920" y="2803"/>
              <a:ext cx="1776" cy="221"/>
              <a:chOff x="1920" y="2803"/>
              <a:chExt cx="1776" cy="221"/>
            </a:xfrm>
          </p:grpSpPr>
          <p:sp>
            <p:nvSpPr>
              <p:cNvPr id="58" name="Line 17"/>
              <p:cNvSpPr>
                <a:spLocks noChangeShapeType="1"/>
              </p:cNvSpPr>
              <p:nvPr/>
            </p:nvSpPr>
            <p:spPr bwMode="auto">
              <a:xfrm>
                <a:off x="1920" y="2803"/>
                <a:ext cx="17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9" name="Text Box 26"/>
              <p:cNvSpPr txBox="1">
                <a:spLocks noChangeArrowheads="1"/>
              </p:cNvSpPr>
              <p:nvPr/>
            </p:nvSpPr>
            <p:spPr bwMode="auto">
              <a:xfrm>
                <a:off x="2352" y="2812"/>
                <a:ext cx="72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sz="1600"/>
                  <a:t>Generate</a:t>
                </a:r>
              </a:p>
            </p:txBody>
          </p:sp>
        </p:grpSp>
      </p:grpSp>
      <p:grpSp>
        <p:nvGrpSpPr>
          <p:cNvPr id="60" name="Group 38"/>
          <p:cNvGrpSpPr>
            <a:grpSpLocks/>
          </p:cNvGrpSpPr>
          <p:nvPr/>
        </p:nvGrpSpPr>
        <p:grpSpPr bwMode="auto">
          <a:xfrm>
            <a:off x="10785772" y="4388321"/>
            <a:ext cx="1358900" cy="1704975"/>
            <a:chOff x="4080" y="1554"/>
            <a:chExt cx="856" cy="1104"/>
          </a:xfrm>
        </p:grpSpPr>
        <p:sp>
          <p:nvSpPr>
            <p:cNvPr id="61" name="Line 18"/>
            <p:cNvSpPr>
              <a:spLocks noChangeShapeType="1"/>
            </p:cNvSpPr>
            <p:nvPr/>
          </p:nvSpPr>
          <p:spPr bwMode="auto">
            <a:xfrm>
              <a:off x="4128" y="1554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Text Box 27"/>
            <p:cNvSpPr txBox="1">
              <a:spLocks noChangeArrowheads="1"/>
            </p:cNvSpPr>
            <p:nvPr/>
          </p:nvSpPr>
          <p:spPr bwMode="auto">
            <a:xfrm>
              <a:off x="4080" y="1968"/>
              <a:ext cx="856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 dirty="0" smtClean="0"/>
                <a:t>SOAP/REST</a:t>
              </a:r>
              <a:endParaRPr lang="en-US" sz="1600" dirty="0"/>
            </a:p>
          </p:txBody>
        </p:sp>
      </p:grpSp>
      <p:grpSp>
        <p:nvGrpSpPr>
          <p:cNvPr id="63" name="Group 32"/>
          <p:cNvGrpSpPr>
            <a:grpSpLocks/>
          </p:cNvGrpSpPr>
          <p:nvPr/>
        </p:nvGrpSpPr>
        <p:grpSpPr bwMode="auto">
          <a:xfrm>
            <a:off x="7356772" y="3889647"/>
            <a:ext cx="4191000" cy="498475"/>
            <a:chOff x="1920" y="1248"/>
            <a:chExt cx="2640" cy="314"/>
          </a:xfrm>
        </p:grpSpPr>
        <p:grpSp>
          <p:nvGrpSpPr>
            <p:cNvPr id="64" name="Group 28"/>
            <p:cNvGrpSpPr>
              <a:grpSpLocks/>
            </p:cNvGrpSpPr>
            <p:nvPr/>
          </p:nvGrpSpPr>
          <p:grpSpPr bwMode="auto">
            <a:xfrm>
              <a:off x="1920" y="1344"/>
              <a:ext cx="2640" cy="218"/>
              <a:chOff x="1920" y="1344"/>
              <a:chExt cx="2640" cy="218"/>
            </a:xfrm>
          </p:grpSpPr>
          <p:sp>
            <p:nvSpPr>
              <p:cNvPr id="66" name="Text Box 29"/>
              <p:cNvSpPr txBox="1">
                <a:spLocks noChangeArrowheads="1"/>
              </p:cNvSpPr>
              <p:nvPr/>
            </p:nvSpPr>
            <p:spPr bwMode="auto">
              <a:xfrm>
                <a:off x="3696" y="1344"/>
                <a:ext cx="864" cy="218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sz="1600"/>
                  <a:t>Server Code</a:t>
                </a:r>
              </a:p>
            </p:txBody>
          </p:sp>
          <p:sp>
            <p:nvSpPr>
              <p:cNvPr id="67" name="Line 30"/>
              <p:cNvSpPr>
                <a:spLocks noChangeShapeType="1"/>
              </p:cNvSpPr>
              <p:nvPr/>
            </p:nvSpPr>
            <p:spPr bwMode="auto">
              <a:xfrm>
                <a:off x="1920" y="1440"/>
                <a:ext cx="17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5" name="Text Box 31"/>
            <p:cNvSpPr txBox="1">
              <a:spLocks noChangeArrowheads="1"/>
            </p:cNvSpPr>
            <p:nvPr/>
          </p:nvSpPr>
          <p:spPr bwMode="auto">
            <a:xfrm>
              <a:off x="2592" y="1248"/>
              <a:ext cx="72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/>
                <a:t>Code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9245480" y="5021018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chemeClr val="tx1"/>
              </a:buClr>
              <a:defRPr/>
            </a:pPr>
            <a:r>
              <a:rPr lang="en-US" i="1" dirty="0" smtClean="0">
                <a:solidFill>
                  <a:srgbClr val="FF0000"/>
                </a:solidFill>
                <a:latin typeface="Times New Roman" pitchFamily="18" charset="0"/>
              </a:rPr>
              <a:t>Optional</a:t>
            </a:r>
            <a:endParaRPr lang="en-US" i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pic>
        <p:nvPicPr>
          <p:cNvPr id="32" name="Picture 31" descr="Triangle"/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980" y="1196752"/>
            <a:ext cx="3695700" cy="2771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3" name="Group 35"/>
          <p:cNvGrpSpPr>
            <a:grpSpLocks/>
          </p:cNvGrpSpPr>
          <p:nvPr/>
        </p:nvGrpSpPr>
        <p:grpSpPr bwMode="auto">
          <a:xfrm>
            <a:off x="5650607" y="4388747"/>
            <a:ext cx="1143000" cy="1755775"/>
            <a:chOff x="1458" y="1630"/>
            <a:chExt cx="720" cy="1106"/>
          </a:xfrm>
        </p:grpSpPr>
        <p:sp>
          <p:nvSpPr>
            <p:cNvPr id="34" name="Line 16"/>
            <p:cNvSpPr>
              <a:spLocks noChangeShapeType="1"/>
            </p:cNvSpPr>
            <p:nvPr/>
          </p:nvSpPr>
          <p:spPr bwMode="auto">
            <a:xfrm>
              <a:off x="1919" y="1630"/>
              <a:ext cx="1" cy="11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 Box 24"/>
            <p:cNvSpPr txBox="1">
              <a:spLocks noChangeArrowheads="1"/>
            </p:cNvSpPr>
            <p:nvPr/>
          </p:nvSpPr>
          <p:spPr bwMode="auto">
            <a:xfrm>
              <a:off x="1458" y="2046"/>
              <a:ext cx="72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 dirty="0"/>
                <a:t>WSDL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4223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3" dur="500"/>
                                        <p:tgtEl>
                                          <p:spTgt spid="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6" dur="500"/>
                                        <p:tgtEl>
                                          <p:spTgt spid="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2" dur="500"/>
                                        <p:tgtEl>
                                          <p:spTgt spid="2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5" dur="500"/>
                                        <p:tgtEl>
                                          <p:spTgt spid="2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8" dur="500"/>
                                        <p:tgtEl>
                                          <p:spTgt spid="2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1" dur="500"/>
                                        <p:tgtEl>
                                          <p:spTgt spid="2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4" dur="500"/>
                                        <p:tgtEl>
                                          <p:spTgt spid="2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7" dur="500"/>
                                        <p:tgtEl>
                                          <p:spTgt spid="2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Simple Object Access Protocol (SOAP)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19336" y="836712"/>
            <a:ext cx="1202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SOAP is a technology to support the exchange of </a:t>
            </a:r>
            <a:r>
              <a:rPr lang="en-GB" dirty="0">
                <a:solidFill>
                  <a:srgbClr val="FF0000"/>
                </a:solidFill>
              </a:rPr>
              <a:t>XML-coded messages over a transport protocol</a:t>
            </a:r>
            <a:r>
              <a:rPr lang="en-GB" dirty="0"/>
              <a:t>, such as HTTP and SMTP.</a:t>
            </a:r>
            <a:endParaRPr lang="en-IN" dirty="0"/>
          </a:p>
        </p:txBody>
      </p:sp>
      <p:grpSp>
        <p:nvGrpSpPr>
          <p:cNvPr id="7" name="Group 6"/>
          <p:cNvGrpSpPr/>
          <p:nvPr/>
        </p:nvGrpSpPr>
        <p:grpSpPr>
          <a:xfrm>
            <a:off x="263352" y="1340768"/>
            <a:ext cx="2030413" cy="2160240"/>
            <a:chOff x="623392" y="1484784"/>
            <a:chExt cx="2030413" cy="2420937"/>
          </a:xfrm>
        </p:grpSpPr>
        <p:grpSp>
          <p:nvGrpSpPr>
            <p:cNvPr id="33" name="Group 32"/>
            <p:cNvGrpSpPr>
              <a:grpSpLocks/>
            </p:cNvGrpSpPr>
            <p:nvPr/>
          </p:nvGrpSpPr>
          <p:grpSpPr bwMode="auto">
            <a:xfrm>
              <a:off x="623392" y="1484784"/>
              <a:ext cx="2030413" cy="2251076"/>
              <a:chOff x="386" y="2230"/>
              <a:chExt cx="1279" cy="1418"/>
            </a:xfrm>
          </p:grpSpPr>
          <p:sp>
            <p:nvSpPr>
              <p:cNvPr id="42" name="AutoShape 39"/>
              <p:cNvSpPr>
                <a:spLocks noChangeArrowheads="1"/>
              </p:cNvSpPr>
              <p:nvPr/>
            </p:nvSpPr>
            <p:spPr bwMode="auto">
              <a:xfrm>
                <a:off x="386" y="2230"/>
                <a:ext cx="1279" cy="1273"/>
              </a:xfrm>
              <a:prstGeom prst="roundRect">
                <a:avLst>
                  <a:gd name="adj" fmla="val 74"/>
                </a:avLst>
              </a:prstGeom>
              <a:solidFill>
                <a:srgbClr val="00FFFF"/>
              </a:solidFill>
              <a:ln w="9360">
                <a:solidFill>
                  <a:srgbClr val="0000FA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" name="Text Box 40"/>
              <p:cNvSpPr txBox="1">
                <a:spLocks noChangeArrowheads="1"/>
              </p:cNvSpPr>
              <p:nvPr/>
            </p:nvSpPr>
            <p:spPr bwMode="auto">
              <a:xfrm>
                <a:off x="386" y="2230"/>
                <a:ext cx="1279" cy="14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ts val="1475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>
                    <a:latin typeface="Comic Sans MS" panose="030F0702030302020204" pitchFamily="66" charset="0"/>
                  </a:rPr>
                  <a:t>HTTP</a:t>
                </a:r>
              </a:p>
            </p:txBody>
          </p:sp>
        </p:grpSp>
        <p:grpSp>
          <p:nvGrpSpPr>
            <p:cNvPr id="34" name="Group 33"/>
            <p:cNvGrpSpPr>
              <a:grpSpLocks/>
            </p:cNvGrpSpPr>
            <p:nvPr/>
          </p:nvGrpSpPr>
          <p:grpSpPr bwMode="auto">
            <a:xfrm>
              <a:off x="886917" y="1870547"/>
              <a:ext cx="1704976" cy="1717675"/>
              <a:chOff x="552" y="2473"/>
              <a:chExt cx="1074" cy="1082"/>
            </a:xfrm>
          </p:grpSpPr>
          <p:sp>
            <p:nvSpPr>
              <p:cNvPr id="40" name="AutoShape 42"/>
              <p:cNvSpPr>
                <a:spLocks noChangeArrowheads="1"/>
              </p:cNvSpPr>
              <p:nvPr/>
            </p:nvSpPr>
            <p:spPr bwMode="auto">
              <a:xfrm>
                <a:off x="552" y="2473"/>
                <a:ext cx="1074" cy="972"/>
              </a:xfrm>
              <a:prstGeom prst="roundRect">
                <a:avLst>
                  <a:gd name="adj" fmla="val 102"/>
                </a:avLst>
              </a:prstGeom>
              <a:solidFill>
                <a:srgbClr val="FFFF00"/>
              </a:solidFill>
              <a:ln w="9360">
                <a:solidFill>
                  <a:srgbClr val="0000FA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1" name="Text Box 43"/>
              <p:cNvSpPr txBox="1">
                <a:spLocks noChangeArrowheads="1"/>
              </p:cNvSpPr>
              <p:nvPr/>
            </p:nvSpPr>
            <p:spPr bwMode="auto">
              <a:xfrm>
                <a:off x="552" y="2473"/>
                <a:ext cx="1074" cy="10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ts val="1475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>
                    <a:latin typeface="Comic Sans MS" panose="030F0702030302020204" pitchFamily="66" charset="0"/>
                  </a:rPr>
                  <a:t>SOAP</a:t>
                </a:r>
              </a:p>
            </p:txBody>
          </p:sp>
        </p:grpSp>
        <p:grpSp>
          <p:nvGrpSpPr>
            <p:cNvPr id="35" name="Group 34"/>
            <p:cNvGrpSpPr>
              <a:grpSpLocks/>
            </p:cNvGrpSpPr>
            <p:nvPr/>
          </p:nvGrpSpPr>
          <p:grpSpPr bwMode="auto">
            <a:xfrm>
              <a:off x="1261568" y="2238848"/>
              <a:ext cx="1228726" cy="1179513"/>
              <a:chOff x="788" y="2705"/>
              <a:chExt cx="774" cy="743"/>
            </a:xfrm>
          </p:grpSpPr>
          <p:sp>
            <p:nvSpPr>
              <p:cNvPr id="38" name="AutoShape 45"/>
              <p:cNvSpPr>
                <a:spLocks noChangeArrowheads="1"/>
              </p:cNvSpPr>
              <p:nvPr/>
            </p:nvSpPr>
            <p:spPr bwMode="auto">
              <a:xfrm>
                <a:off x="788" y="2705"/>
                <a:ext cx="774" cy="669"/>
              </a:xfrm>
              <a:prstGeom prst="roundRect">
                <a:avLst>
                  <a:gd name="adj" fmla="val 148"/>
                </a:avLst>
              </a:prstGeom>
              <a:solidFill>
                <a:srgbClr val="D69B80"/>
              </a:solidFill>
              <a:ln w="9360">
                <a:solidFill>
                  <a:srgbClr val="0000FA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39" name="Text Box 46"/>
              <p:cNvSpPr txBox="1">
                <a:spLocks noChangeArrowheads="1"/>
              </p:cNvSpPr>
              <p:nvPr/>
            </p:nvSpPr>
            <p:spPr bwMode="auto">
              <a:xfrm>
                <a:off x="788" y="2705"/>
                <a:ext cx="774" cy="7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ts val="1475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>
                    <a:latin typeface="Comic Sans MS" panose="030F0702030302020204" pitchFamily="66" charset="0"/>
                  </a:rPr>
                  <a:t>XML</a:t>
                </a:r>
              </a:p>
            </p:txBody>
          </p:sp>
        </p:grpSp>
        <p:sp>
          <p:nvSpPr>
            <p:cNvPr id="36" name="Text Box 47"/>
            <p:cNvSpPr txBox="1">
              <a:spLocks noChangeArrowheads="1"/>
            </p:cNvSpPr>
            <p:nvPr/>
          </p:nvSpPr>
          <p:spPr bwMode="auto">
            <a:xfrm>
              <a:off x="712292" y="3651721"/>
              <a:ext cx="1866900" cy="25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l"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GB">
                  <a:latin typeface="Arial" panose="020B0604020202020204" pitchFamily="34" charset="0"/>
                </a:rPr>
                <a:t>Protocols Folding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19336" y="3861048"/>
            <a:ext cx="5078412" cy="2642527"/>
            <a:chOff x="3531095" y="3529173"/>
            <a:chExt cx="5078412" cy="3046410"/>
          </a:xfrm>
        </p:grpSpPr>
        <p:grpSp>
          <p:nvGrpSpPr>
            <p:cNvPr id="9" name="Group 8"/>
            <p:cNvGrpSpPr>
              <a:grpSpLocks/>
            </p:cNvGrpSpPr>
            <p:nvPr/>
          </p:nvGrpSpPr>
          <p:grpSpPr bwMode="auto">
            <a:xfrm>
              <a:off x="6960096" y="5527827"/>
              <a:ext cx="1598613" cy="517524"/>
              <a:chOff x="4232" y="3459"/>
              <a:chExt cx="1007" cy="326"/>
            </a:xfrm>
          </p:grpSpPr>
          <p:sp>
            <p:nvSpPr>
              <p:cNvPr id="54" name="AutoShape 5"/>
              <p:cNvSpPr>
                <a:spLocks noChangeArrowheads="1"/>
              </p:cNvSpPr>
              <p:nvPr/>
            </p:nvSpPr>
            <p:spPr bwMode="auto">
              <a:xfrm>
                <a:off x="4232" y="3459"/>
                <a:ext cx="1007" cy="293"/>
              </a:xfrm>
              <a:prstGeom prst="roundRect">
                <a:avLst>
                  <a:gd name="adj" fmla="val 338"/>
                </a:avLst>
              </a:prstGeom>
              <a:solidFill>
                <a:srgbClr val="00FFFF"/>
              </a:solidFill>
              <a:ln w="9360">
                <a:solidFill>
                  <a:srgbClr val="0000FA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55" name="Text Box 6"/>
              <p:cNvSpPr txBox="1">
                <a:spLocks noChangeArrowheads="1"/>
              </p:cNvSpPr>
              <p:nvPr/>
            </p:nvSpPr>
            <p:spPr bwMode="auto">
              <a:xfrm>
                <a:off x="4232" y="3459"/>
                <a:ext cx="1007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ts val="1475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>
                    <a:latin typeface="Comic Sans MS" panose="030F0702030302020204" pitchFamily="66" charset="0"/>
                  </a:rPr>
                  <a:t>HTTP server</a:t>
                </a:r>
              </a:p>
            </p:txBody>
          </p:sp>
        </p:grpSp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6998196" y="4519774"/>
              <a:ext cx="1598613" cy="517526"/>
              <a:chOff x="4256" y="2824"/>
              <a:chExt cx="1007" cy="326"/>
            </a:xfrm>
          </p:grpSpPr>
          <p:sp>
            <p:nvSpPr>
              <p:cNvPr id="52" name="AutoShape 8"/>
              <p:cNvSpPr>
                <a:spLocks noChangeArrowheads="1"/>
              </p:cNvSpPr>
              <p:nvPr/>
            </p:nvSpPr>
            <p:spPr bwMode="auto">
              <a:xfrm>
                <a:off x="4256" y="2824"/>
                <a:ext cx="1007" cy="293"/>
              </a:xfrm>
              <a:prstGeom prst="roundRect">
                <a:avLst>
                  <a:gd name="adj" fmla="val 338"/>
                </a:avLst>
              </a:prstGeom>
              <a:solidFill>
                <a:srgbClr val="FFFF00"/>
              </a:solidFill>
              <a:ln w="9360">
                <a:solidFill>
                  <a:srgbClr val="0000FA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53" name="Text Box 9"/>
              <p:cNvSpPr txBox="1">
                <a:spLocks noChangeArrowheads="1"/>
              </p:cNvSpPr>
              <p:nvPr/>
            </p:nvSpPr>
            <p:spPr bwMode="auto">
              <a:xfrm>
                <a:off x="4256" y="2824"/>
                <a:ext cx="1007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ts val="1475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>
                    <a:latin typeface="Comic Sans MS" panose="030F0702030302020204" pitchFamily="66" charset="0"/>
                  </a:rPr>
                  <a:t>Skeleton</a:t>
                </a:r>
              </a:p>
            </p:txBody>
          </p:sp>
        </p:grpSp>
        <p:grpSp>
          <p:nvGrpSpPr>
            <p:cNvPr id="11" name="Group 10"/>
            <p:cNvGrpSpPr>
              <a:grpSpLocks/>
            </p:cNvGrpSpPr>
            <p:nvPr/>
          </p:nvGrpSpPr>
          <p:grpSpPr bwMode="auto">
            <a:xfrm>
              <a:off x="6998196" y="3529173"/>
              <a:ext cx="1598613" cy="517526"/>
              <a:chOff x="4256" y="2200"/>
              <a:chExt cx="1007" cy="326"/>
            </a:xfrm>
          </p:grpSpPr>
          <p:sp>
            <p:nvSpPr>
              <p:cNvPr id="50" name="AutoShape 11"/>
              <p:cNvSpPr>
                <a:spLocks noChangeArrowheads="1"/>
              </p:cNvSpPr>
              <p:nvPr/>
            </p:nvSpPr>
            <p:spPr bwMode="auto">
              <a:xfrm>
                <a:off x="4256" y="2200"/>
                <a:ext cx="1007" cy="293"/>
              </a:xfrm>
              <a:prstGeom prst="roundRect">
                <a:avLst>
                  <a:gd name="adj" fmla="val 338"/>
                </a:avLst>
              </a:prstGeom>
              <a:solidFill>
                <a:srgbClr val="D69B80"/>
              </a:solidFill>
              <a:ln w="9360">
                <a:solidFill>
                  <a:srgbClr val="0000FA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51" name="Text Box 12"/>
              <p:cNvSpPr txBox="1">
                <a:spLocks noChangeArrowheads="1"/>
              </p:cNvSpPr>
              <p:nvPr/>
            </p:nvSpPr>
            <p:spPr bwMode="auto">
              <a:xfrm>
                <a:off x="4256" y="2200"/>
                <a:ext cx="1007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ts val="1475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>
                    <a:latin typeface="Comic Sans MS" panose="030F0702030302020204" pitchFamily="66" charset="0"/>
                  </a:rPr>
                  <a:t>Server</a:t>
                </a:r>
              </a:p>
            </p:txBody>
          </p:sp>
        </p:grpSp>
        <p:grpSp>
          <p:nvGrpSpPr>
            <p:cNvPr id="12" name="Group 11"/>
            <p:cNvGrpSpPr>
              <a:grpSpLocks/>
            </p:cNvGrpSpPr>
            <p:nvPr/>
          </p:nvGrpSpPr>
          <p:grpSpPr bwMode="auto">
            <a:xfrm>
              <a:off x="3531095" y="5527827"/>
              <a:ext cx="1598613" cy="517524"/>
              <a:chOff x="2072" y="3459"/>
              <a:chExt cx="1007" cy="326"/>
            </a:xfrm>
          </p:grpSpPr>
          <p:sp>
            <p:nvSpPr>
              <p:cNvPr id="48" name="AutoShape 14"/>
              <p:cNvSpPr>
                <a:spLocks noChangeArrowheads="1"/>
              </p:cNvSpPr>
              <p:nvPr/>
            </p:nvSpPr>
            <p:spPr bwMode="auto">
              <a:xfrm>
                <a:off x="2072" y="3459"/>
                <a:ext cx="1007" cy="293"/>
              </a:xfrm>
              <a:prstGeom prst="roundRect">
                <a:avLst>
                  <a:gd name="adj" fmla="val 338"/>
                </a:avLst>
              </a:prstGeom>
              <a:solidFill>
                <a:srgbClr val="00FFFF"/>
              </a:solidFill>
              <a:ln w="9360">
                <a:solidFill>
                  <a:srgbClr val="0000FA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9" name="Text Box 15"/>
              <p:cNvSpPr txBox="1">
                <a:spLocks noChangeArrowheads="1"/>
              </p:cNvSpPr>
              <p:nvPr/>
            </p:nvSpPr>
            <p:spPr bwMode="auto">
              <a:xfrm>
                <a:off x="2072" y="3459"/>
                <a:ext cx="1007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ts val="1475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>
                    <a:latin typeface="Comic Sans MS" panose="030F0702030302020204" pitchFamily="66" charset="0"/>
                  </a:rPr>
                  <a:t>HTTP client</a:t>
                </a:r>
              </a:p>
            </p:txBody>
          </p:sp>
        </p:grpSp>
        <p:grpSp>
          <p:nvGrpSpPr>
            <p:cNvPr id="13" name="Group 12"/>
            <p:cNvGrpSpPr>
              <a:grpSpLocks/>
            </p:cNvGrpSpPr>
            <p:nvPr/>
          </p:nvGrpSpPr>
          <p:grpSpPr bwMode="auto">
            <a:xfrm>
              <a:off x="3543795" y="4556279"/>
              <a:ext cx="1598613" cy="517524"/>
              <a:chOff x="2080" y="2847"/>
              <a:chExt cx="1007" cy="326"/>
            </a:xfrm>
          </p:grpSpPr>
          <p:sp>
            <p:nvSpPr>
              <p:cNvPr id="46" name="AutoShape 17"/>
              <p:cNvSpPr>
                <a:spLocks noChangeArrowheads="1"/>
              </p:cNvSpPr>
              <p:nvPr/>
            </p:nvSpPr>
            <p:spPr bwMode="auto">
              <a:xfrm>
                <a:off x="2080" y="2847"/>
                <a:ext cx="1007" cy="293"/>
              </a:xfrm>
              <a:prstGeom prst="roundRect">
                <a:avLst>
                  <a:gd name="adj" fmla="val 338"/>
                </a:avLst>
              </a:prstGeom>
              <a:solidFill>
                <a:srgbClr val="FFFF00"/>
              </a:solidFill>
              <a:ln w="9360">
                <a:solidFill>
                  <a:srgbClr val="0000FA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7" name="Text Box 18"/>
              <p:cNvSpPr txBox="1">
                <a:spLocks noChangeArrowheads="1"/>
              </p:cNvSpPr>
              <p:nvPr/>
            </p:nvSpPr>
            <p:spPr bwMode="auto">
              <a:xfrm>
                <a:off x="2080" y="2847"/>
                <a:ext cx="1007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ts val="1475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>
                    <a:latin typeface="Comic Sans MS" panose="030F0702030302020204" pitchFamily="66" charset="0"/>
                  </a:rPr>
                  <a:t>Stub</a:t>
                </a:r>
              </a:p>
            </p:txBody>
          </p:sp>
        </p:grpSp>
        <p:grpSp>
          <p:nvGrpSpPr>
            <p:cNvPr id="14" name="Group 13"/>
            <p:cNvGrpSpPr>
              <a:grpSpLocks/>
            </p:cNvGrpSpPr>
            <p:nvPr/>
          </p:nvGrpSpPr>
          <p:grpSpPr bwMode="auto">
            <a:xfrm>
              <a:off x="3543795" y="3565680"/>
              <a:ext cx="1598613" cy="517524"/>
              <a:chOff x="2080" y="2223"/>
              <a:chExt cx="1007" cy="326"/>
            </a:xfrm>
          </p:grpSpPr>
          <p:sp>
            <p:nvSpPr>
              <p:cNvPr id="44" name="AutoShape 20"/>
              <p:cNvSpPr>
                <a:spLocks noChangeArrowheads="1"/>
              </p:cNvSpPr>
              <p:nvPr/>
            </p:nvSpPr>
            <p:spPr bwMode="auto">
              <a:xfrm>
                <a:off x="2080" y="2223"/>
                <a:ext cx="1007" cy="293"/>
              </a:xfrm>
              <a:prstGeom prst="roundRect">
                <a:avLst>
                  <a:gd name="adj" fmla="val 338"/>
                </a:avLst>
              </a:prstGeom>
              <a:solidFill>
                <a:srgbClr val="D69B80"/>
              </a:solidFill>
              <a:ln w="9360">
                <a:solidFill>
                  <a:srgbClr val="0000FA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" name="Text Box 21"/>
              <p:cNvSpPr txBox="1">
                <a:spLocks noChangeArrowheads="1"/>
              </p:cNvSpPr>
              <p:nvPr/>
            </p:nvSpPr>
            <p:spPr bwMode="auto">
              <a:xfrm>
                <a:off x="2080" y="2223"/>
                <a:ext cx="1007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ts val="1475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>
                    <a:latin typeface="Comic Sans MS" panose="030F0702030302020204" pitchFamily="66" charset="0"/>
                  </a:rPr>
                  <a:t>Client</a:t>
                </a:r>
              </a:p>
            </p:txBody>
          </p:sp>
        </p:grpSp>
        <p:sp>
          <p:nvSpPr>
            <p:cNvPr id="15" name="Line 22"/>
            <p:cNvSpPr>
              <a:spLocks noChangeShapeType="1"/>
            </p:cNvSpPr>
            <p:nvPr/>
          </p:nvSpPr>
          <p:spPr bwMode="auto">
            <a:xfrm>
              <a:off x="4153394" y="4022883"/>
              <a:ext cx="1588" cy="5334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en-IN"/>
            </a:p>
          </p:txBody>
        </p:sp>
        <p:sp>
          <p:nvSpPr>
            <p:cNvPr id="17" name="Line 23"/>
            <p:cNvSpPr>
              <a:spLocks noChangeShapeType="1"/>
            </p:cNvSpPr>
            <p:nvPr/>
          </p:nvSpPr>
          <p:spPr bwMode="auto">
            <a:xfrm>
              <a:off x="4305794" y="4022883"/>
              <a:ext cx="1588" cy="5334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en-IN"/>
            </a:p>
          </p:txBody>
        </p:sp>
        <p:sp>
          <p:nvSpPr>
            <p:cNvPr id="18" name="Line 24"/>
            <p:cNvSpPr>
              <a:spLocks noChangeShapeType="1"/>
            </p:cNvSpPr>
            <p:nvPr/>
          </p:nvSpPr>
          <p:spPr bwMode="auto">
            <a:xfrm>
              <a:off x="7988794" y="3986370"/>
              <a:ext cx="1588" cy="5334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en-IN"/>
            </a:p>
          </p:txBody>
        </p:sp>
        <p:sp>
          <p:nvSpPr>
            <p:cNvPr id="20" name="Line 25"/>
            <p:cNvSpPr>
              <a:spLocks noChangeShapeType="1"/>
            </p:cNvSpPr>
            <p:nvPr/>
          </p:nvSpPr>
          <p:spPr bwMode="auto">
            <a:xfrm>
              <a:off x="8141194" y="3986370"/>
              <a:ext cx="1588" cy="5334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en-IN"/>
            </a:p>
          </p:txBody>
        </p:sp>
        <p:sp>
          <p:nvSpPr>
            <p:cNvPr id="21" name="Text Box 26"/>
            <p:cNvSpPr txBox="1">
              <a:spLocks noChangeArrowheads="1"/>
            </p:cNvSpPr>
            <p:nvPr/>
          </p:nvSpPr>
          <p:spPr bwMode="auto">
            <a:xfrm>
              <a:off x="3772394" y="4099083"/>
              <a:ext cx="1544638" cy="447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4000"/>
                </a:lnSpc>
                <a:spcBef>
                  <a:spcPts val="475"/>
                </a:spcBef>
                <a:buClr>
                  <a:srgbClr val="000000"/>
                </a:buClr>
                <a:buSzPct val="111000"/>
                <a:buFont typeface="Arial" panose="020B0604020202020204" pitchFamily="34" charset="0"/>
                <a:buNone/>
              </a:pPr>
              <a:r>
                <a:rPr lang="en-GB" sz="2000">
                  <a:latin typeface="Webdings" panose="05030102010509060703" pitchFamily="18" charset="2"/>
                </a:rPr>
                <a:t></a:t>
              </a:r>
              <a:r>
                <a:rPr lang="en-GB" sz="2000">
                  <a:latin typeface="Comic Sans MS" panose="030F0702030302020204" pitchFamily="66" charset="0"/>
                </a:rPr>
                <a:t>   </a:t>
              </a:r>
              <a:r>
                <a:rPr lang="en-GB" sz="2000">
                  <a:latin typeface="Webdings" panose="05030102010509060703" pitchFamily="18" charset="2"/>
                </a:rPr>
                <a:t></a:t>
              </a:r>
              <a:r>
                <a:rPr lang="en-GB" sz="2000">
                  <a:latin typeface="Comic Sans MS" panose="030F0702030302020204" pitchFamily="66" charset="0"/>
                </a:rPr>
                <a:t> XML</a:t>
              </a:r>
            </a:p>
          </p:txBody>
        </p:sp>
        <p:sp>
          <p:nvSpPr>
            <p:cNvPr id="22" name="Text Box 27"/>
            <p:cNvSpPr txBox="1">
              <a:spLocks noChangeArrowheads="1"/>
            </p:cNvSpPr>
            <p:nvPr/>
          </p:nvSpPr>
          <p:spPr bwMode="auto">
            <a:xfrm>
              <a:off x="6960094" y="4062570"/>
              <a:ext cx="1544638" cy="447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ts val="475"/>
                </a:spcBef>
                <a:buClr>
                  <a:srgbClr val="000000"/>
                </a:buClr>
                <a:buSzPct val="111000"/>
                <a:buFont typeface="Arial" panose="020B0604020202020204" pitchFamily="34" charset="0"/>
                <a:buNone/>
              </a:pPr>
              <a:r>
                <a:rPr lang="en-GB" sz="2000">
                  <a:latin typeface="Comic Sans MS" panose="030F0702030302020204" pitchFamily="66" charset="0"/>
                </a:rPr>
                <a:t>XML </a:t>
              </a:r>
              <a:r>
                <a:rPr lang="en-GB" sz="2000">
                  <a:latin typeface="Webdings" panose="05030102010509060703" pitchFamily="18" charset="2"/>
                </a:rPr>
                <a:t></a:t>
              </a:r>
              <a:r>
                <a:rPr lang="en-GB" sz="2000">
                  <a:latin typeface="Comic Sans MS" panose="030F0702030302020204" pitchFamily="66" charset="0"/>
                </a:rPr>
                <a:t>   </a:t>
              </a:r>
              <a:r>
                <a:rPr lang="en-GB" sz="2000">
                  <a:latin typeface="Webdings" panose="05030102010509060703" pitchFamily="18" charset="2"/>
                </a:rPr>
                <a:t></a:t>
              </a:r>
            </a:p>
          </p:txBody>
        </p:sp>
        <p:sp>
          <p:nvSpPr>
            <p:cNvPr id="23" name="Line 28"/>
            <p:cNvSpPr>
              <a:spLocks noChangeShapeType="1"/>
            </p:cNvSpPr>
            <p:nvPr/>
          </p:nvSpPr>
          <p:spPr bwMode="auto">
            <a:xfrm>
              <a:off x="5131294" y="5604033"/>
              <a:ext cx="1828800" cy="158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en-IN"/>
            </a:p>
          </p:txBody>
        </p:sp>
        <p:sp>
          <p:nvSpPr>
            <p:cNvPr id="24" name="Text Box 29"/>
            <p:cNvSpPr txBox="1">
              <a:spLocks noChangeArrowheads="1"/>
            </p:cNvSpPr>
            <p:nvPr/>
          </p:nvSpPr>
          <p:spPr bwMode="auto">
            <a:xfrm>
              <a:off x="5588494" y="5299233"/>
              <a:ext cx="838200" cy="342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850"/>
                </a:spcBef>
                <a:buClr>
                  <a:srgbClr val="000000"/>
                </a:buClr>
                <a:buSzPct val="77000"/>
                <a:buFont typeface="Arial" panose="020B0604020202020204" pitchFamily="34" charset="0"/>
                <a:buNone/>
              </a:pPr>
              <a:r>
                <a:rPr lang="en-GB" sz="1400">
                  <a:latin typeface="Comic Sans MS" panose="030F0702030302020204" pitchFamily="66" charset="0"/>
                </a:rPr>
                <a:t>POST…</a:t>
              </a:r>
            </a:p>
          </p:txBody>
        </p:sp>
        <p:sp>
          <p:nvSpPr>
            <p:cNvPr id="25" name="Line 30"/>
            <p:cNvSpPr>
              <a:spLocks noChangeShapeType="1"/>
            </p:cNvSpPr>
            <p:nvPr/>
          </p:nvSpPr>
          <p:spPr bwMode="auto">
            <a:xfrm>
              <a:off x="5131294" y="5832633"/>
              <a:ext cx="1828800" cy="158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en-IN"/>
            </a:p>
          </p:txBody>
        </p:sp>
        <p:sp>
          <p:nvSpPr>
            <p:cNvPr id="26" name="Text Box 31"/>
            <p:cNvSpPr txBox="1">
              <a:spLocks noChangeArrowheads="1"/>
            </p:cNvSpPr>
            <p:nvPr/>
          </p:nvSpPr>
          <p:spPr bwMode="auto">
            <a:xfrm>
              <a:off x="5204319" y="5832633"/>
              <a:ext cx="1666875" cy="555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850"/>
                </a:spcBef>
                <a:buClr>
                  <a:srgbClr val="000000"/>
                </a:buClr>
                <a:buSzPct val="77000"/>
                <a:buFont typeface="Arial" panose="020B0604020202020204" pitchFamily="34" charset="0"/>
                <a:buNone/>
              </a:pPr>
              <a:r>
                <a:rPr lang="en-GB" sz="1400">
                  <a:latin typeface="Comic Sans MS" panose="030F0702030302020204" pitchFamily="66" charset="0"/>
                </a:rPr>
                <a:t>HTTP 1.1 200 OK</a:t>
              </a:r>
            </a:p>
          </p:txBody>
        </p:sp>
        <p:sp>
          <p:nvSpPr>
            <p:cNvPr id="27" name="Line 32"/>
            <p:cNvSpPr>
              <a:spLocks noChangeShapeType="1"/>
            </p:cNvSpPr>
            <p:nvPr/>
          </p:nvSpPr>
          <p:spPr bwMode="auto">
            <a:xfrm>
              <a:off x="3991469" y="5019833"/>
              <a:ext cx="1588" cy="5334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en-IN"/>
            </a:p>
          </p:txBody>
        </p:sp>
        <p:sp>
          <p:nvSpPr>
            <p:cNvPr id="28" name="Line 33"/>
            <p:cNvSpPr>
              <a:spLocks noChangeShapeType="1"/>
            </p:cNvSpPr>
            <p:nvPr/>
          </p:nvSpPr>
          <p:spPr bwMode="auto">
            <a:xfrm>
              <a:off x="4143869" y="5019833"/>
              <a:ext cx="1588" cy="5334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en-IN"/>
            </a:p>
          </p:txBody>
        </p:sp>
        <p:sp>
          <p:nvSpPr>
            <p:cNvPr id="29" name="Text Box 34"/>
            <p:cNvSpPr txBox="1">
              <a:spLocks noChangeArrowheads="1"/>
            </p:cNvSpPr>
            <p:nvPr/>
          </p:nvSpPr>
          <p:spPr bwMode="auto">
            <a:xfrm>
              <a:off x="3577132" y="5070633"/>
              <a:ext cx="1684337" cy="447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4000"/>
                </a:lnSpc>
                <a:spcBef>
                  <a:spcPts val="475"/>
                </a:spcBef>
                <a:buClr>
                  <a:srgbClr val="000000"/>
                </a:buClr>
                <a:buSzPct val="111000"/>
                <a:buFont typeface="Arial" panose="020B0604020202020204" pitchFamily="34" charset="0"/>
                <a:buNone/>
              </a:pPr>
              <a:r>
                <a:rPr lang="en-GB" sz="2000">
                  <a:latin typeface="Webdings" panose="05030102010509060703" pitchFamily="18" charset="2"/>
                </a:rPr>
                <a:t></a:t>
              </a:r>
              <a:r>
                <a:rPr lang="en-GB" sz="2000">
                  <a:latin typeface="Comic Sans MS" panose="030F0702030302020204" pitchFamily="66" charset="0"/>
                </a:rPr>
                <a:t>   </a:t>
              </a:r>
              <a:r>
                <a:rPr lang="en-GB" sz="2000">
                  <a:latin typeface="Webdings" panose="05030102010509060703" pitchFamily="18" charset="2"/>
                </a:rPr>
                <a:t></a:t>
              </a:r>
              <a:r>
                <a:rPr lang="en-GB" sz="2000">
                  <a:latin typeface="Comic Sans MS" panose="030F0702030302020204" pitchFamily="66" charset="0"/>
                </a:rPr>
                <a:t> SOAP</a:t>
              </a:r>
            </a:p>
          </p:txBody>
        </p:sp>
        <p:sp>
          <p:nvSpPr>
            <p:cNvPr id="30" name="Line 35"/>
            <p:cNvSpPr>
              <a:spLocks noChangeShapeType="1"/>
            </p:cNvSpPr>
            <p:nvPr/>
          </p:nvSpPr>
          <p:spPr bwMode="auto">
            <a:xfrm>
              <a:off x="8001494" y="4999195"/>
              <a:ext cx="1588" cy="5334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en-IN"/>
            </a:p>
          </p:txBody>
        </p:sp>
        <p:sp>
          <p:nvSpPr>
            <p:cNvPr id="31" name="Line 36"/>
            <p:cNvSpPr>
              <a:spLocks noChangeShapeType="1"/>
            </p:cNvSpPr>
            <p:nvPr/>
          </p:nvSpPr>
          <p:spPr bwMode="auto">
            <a:xfrm>
              <a:off x="8153894" y="4999195"/>
              <a:ext cx="1588" cy="5334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en-IN"/>
            </a:p>
          </p:txBody>
        </p:sp>
        <p:sp>
          <p:nvSpPr>
            <p:cNvPr id="32" name="Text Box 37"/>
            <p:cNvSpPr txBox="1">
              <a:spLocks noChangeArrowheads="1"/>
            </p:cNvSpPr>
            <p:nvPr/>
          </p:nvSpPr>
          <p:spPr bwMode="auto">
            <a:xfrm>
              <a:off x="6848969" y="5013483"/>
              <a:ext cx="1760538" cy="447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ts val="2325"/>
                </a:lnSpc>
                <a:spcBef>
                  <a:spcPts val="475"/>
                </a:spcBef>
                <a:buClr>
                  <a:srgbClr val="000000"/>
                </a:buClr>
                <a:buSzPct val="111000"/>
                <a:buFont typeface="Arial" panose="020B0604020202020204" pitchFamily="34" charset="0"/>
                <a:buNone/>
              </a:pPr>
              <a:r>
                <a:rPr lang="en-GB" sz="2000">
                  <a:latin typeface="Comic Sans MS" panose="030F0702030302020204" pitchFamily="66" charset="0"/>
                </a:rPr>
                <a:t>SOAP </a:t>
              </a:r>
              <a:r>
                <a:rPr lang="en-GB" sz="2000">
                  <a:latin typeface="Webdings" panose="05030102010509060703" pitchFamily="18" charset="2"/>
                </a:rPr>
                <a:t></a:t>
              </a:r>
              <a:r>
                <a:rPr lang="en-GB" sz="2000">
                  <a:latin typeface="Comic Sans MS" panose="030F0702030302020204" pitchFamily="66" charset="0"/>
                </a:rPr>
                <a:t>   </a:t>
              </a:r>
              <a:r>
                <a:rPr lang="en-GB" sz="2000">
                  <a:latin typeface="Webdings" panose="05030102010509060703" pitchFamily="18" charset="2"/>
                </a:rPr>
                <a:t></a:t>
              </a:r>
              <a:r>
                <a:rPr lang="en-GB" sz="2000">
                  <a:latin typeface="Comic Sans MS" panose="030F0702030302020204" pitchFamily="66" charset="0"/>
                </a:rPr>
                <a:t> </a:t>
              </a:r>
            </a:p>
          </p:txBody>
        </p:sp>
        <p:sp>
          <p:nvSpPr>
            <p:cNvPr id="37" name="Text Box 48"/>
            <p:cNvSpPr txBox="1">
              <a:spLocks noChangeArrowheads="1"/>
            </p:cNvSpPr>
            <p:nvPr/>
          </p:nvSpPr>
          <p:spPr bwMode="auto">
            <a:xfrm>
              <a:off x="4878882" y="6321583"/>
              <a:ext cx="2557462" cy="25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l"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GB">
                  <a:latin typeface="Arial" panose="020B0604020202020204" pitchFamily="34" charset="0"/>
                </a:rPr>
                <a:t>SOAP basic mechanism</a:t>
              </a: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5380855" y="4500264"/>
            <a:ext cx="7555905" cy="2025080"/>
            <a:chOff x="5375920" y="4500264"/>
            <a:chExt cx="7555905" cy="2025080"/>
          </a:xfrm>
        </p:grpSpPr>
        <p:sp>
          <p:nvSpPr>
            <p:cNvPr id="83" name="Text Box 4"/>
            <p:cNvSpPr txBox="1">
              <a:spLocks noChangeArrowheads="1"/>
            </p:cNvSpPr>
            <p:nvPr/>
          </p:nvSpPr>
          <p:spPr bwMode="auto">
            <a:xfrm>
              <a:off x="6147866" y="4500264"/>
              <a:ext cx="5170487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l" eaLnBrk="1" hangingPunct="1">
                <a:lnSpc>
                  <a:spcPct val="89000"/>
                </a:lnSpc>
                <a:spcBef>
                  <a:spcPts val="1113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GB">
                  <a:latin typeface="Courier New" panose="02070309020205020404" pitchFamily="49" charset="0"/>
                </a:rPr>
                <a:t>ClockService.getTime(location="USA");</a:t>
              </a:r>
            </a:p>
          </p:txBody>
        </p:sp>
        <p:grpSp>
          <p:nvGrpSpPr>
            <p:cNvPr id="84" name="Group 83"/>
            <p:cNvGrpSpPr>
              <a:grpSpLocks/>
            </p:cNvGrpSpPr>
            <p:nvPr/>
          </p:nvGrpSpPr>
          <p:grpSpPr bwMode="auto">
            <a:xfrm>
              <a:off x="5375920" y="5098180"/>
              <a:ext cx="7555905" cy="1427164"/>
              <a:chOff x="1114" y="3106"/>
              <a:chExt cx="4760" cy="899"/>
            </a:xfrm>
          </p:grpSpPr>
          <p:sp>
            <p:nvSpPr>
              <p:cNvPr id="89" name="AutoShape 6"/>
              <p:cNvSpPr>
                <a:spLocks noChangeArrowheads="1"/>
              </p:cNvSpPr>
              <p:nvPr/>
            </p:nvSpPr>
            <p:spPr bwMode="auto">
              <a:xfrm>
                <a:off x="1114" y="3144"/>
                <a:ext cx="4261" cy="861"/>
              </a:xfrm>
              <a:prstGeom prst="roundRect">
                <a:avLst>
                  <a:gd name="adj" fmla="val 116"/>
                </a:avLst>
              </a:prstGeom>
              <a:solidFill>
                <a:srgbClr val="C0C0C0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90" name="Text Box 7"/>
              <p:cNvSpPr txBox="1">
                <a:spLocks noChangeArrowheads="1"/>
              </p:cNvSpPr>
              <p:nvPr/>
            </p:nvSpPr>
            <p:spPr bwMode="auto">
              <a:xfrm>
                <a:off x="1119" y="3106"/>
                <a:ext cx="4755" cy="7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36000" tIns="36000" rIns="36000" bIns="36000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algn="l" eaLnBrk="1" hangingPunct="1">
                  <a:lnSpc>
                    <a:spcPct val="89000"/>
                  </a:lnSpc>
                  <a:spcBef>
                    <a:spcPts val="1113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sz="1600" dirty="0">
                    <a:latin typeface="Courier New" panose="02070309020205020404" pitchFamily="49" charset="0"/>
                  </a:rPr>
                  <a:t>&lt;</a:t>
                </a:r>
                <a:r>
                  <a:rPr lang="en-GB" sz="1600" dirty="0" err="1">
                    <a:latin typeface="Courier New" panose="02070309020205020404" pitchFamily="49" charset="0"/>
                  </a:rPr>
                  <a:t>soap:Body</a:t>
                </a:r>
                <a:r>
                  <a:rPr lang="en-GB" sz="1600" dirty="0">
                    <a:latin typeface="Courier New" panose="02070309020205020404" pitchFamily="49" charset="0"/>
                  </a:rPr>
                  <a:t>&gt;</a:t>
                </a:r>
                <a:br>
                  <a:rPr lang="en-GB" sz="1600" dirty="0">
                    <a:latin typeface="Courier New" panose="02070309020205020404" pitchFamily="49" charset="0"/>
                  </a:rPr>
                </a:br>
                <a:r>
                  <a:rPr lang="en-GB" sz="1600" dirty="0">
                    <a:latin typeface="Courier New" panose="02070309020205020404" pitchFamily="49" charset="0"/>
                  </a:rPr>
                  <a:t>   &lt;</a:t>
                </a:r>
                <a:r>
                  <a:rPr lang="en-GB" sz="1600" b="1" dirty="0" err="1">
                    <a:latin typeface="Courier New" panose="02070309020205020404" pitchFamily="49" charset="0"/>
                  </a:rPr>
                  <a:t>getTime</a:t>
                </a:r>
                <a:r>
                  <a:rPr lang="en-GB" sz="1600" dirty="0">
                    <a:latin typeface="Courier New" panose="02070309020205020404" pitchFamily="49" charset="0"/>
                  </a:rPr>
                  <a:t>&gt;</a:t>
                </a:r>
                <a:br>
                  <a:rPr lang="en-GB" sz="1600" dirty="0">
                    <a:latin typeface="Courier New" panose="02070309020205020404" pitchFamily="49" charset="0"/>
                  </a:rPr>
                </a:br>
                <a:r>
                  <a:rPr lang="en-GB" sz="1600" dirty="0">
                    <a:latin typeface="Courier New" panose="02070309020205020404" pitchFamily="49" charset="0"/>
                  </a:rPr>
                  <a:t>	 &lt;</a:t>
                </a:r>
                <a:r>
                  <a:rPr lang="en-GB" sz="1600" b="1" dirty="0">
                    <a:latin typeface="Courier New" panose="02070309020205020404" pitchFamily="49" charset="0"/>
                  </a:rPr>
                  <a:t>location</a:t>
                </a:r>
                <a:r>
                  <a:rPr lang="en-GB" sz="1600" dirty="0">
                    <a:latin typeface="Courier New" panose="02070309020205020404" pitchFamily="49" charset="0"/>
                  </a:rPr>
                  <a:t> </a:t>
                </a:r>
                <a:r>
                  <a:rPr lang="en-GB" sz="1600" dirty="0" err="1">
                    <a:latin typeface="Courier New" panose="02070309020205020404" pitchFamily="49" charset="0"/>
                  </a:rPr>
                  <a:t>xsi:type</a:t>
                </a:r>
                <a:r>
                  <a:rPr lang="en-GB" sz="1600" dirty="0">
                    <a:latin typeface="Courier New" panose="02070309020205020404" pitchFamily="49" charset="0"/>
                  </a:rPr>
                  <a:t>="</a:t>
                </a:r>
                <a:r>
                  <a:rPr lang="en-GB" sz="1600" dirty="0" err="1">
                    <a:latin typeface="Courier New" panose="02070309020205020404" pitchFamily="49" charset="0"/>
                  </a:rPr>
                  <a:t>xsd:string</a:t>
                </a:r>
                <a:r>
                  <a:rPr lang="en-GB" sz="1600" dirty="0">
                    <a:latin typeface="Courier New" panose="02070309020205020404" pitchFamily="49" charset="0"/>
                  </a:rPr>
                  <a:t>"&gt;USA</a:t>
                </a:r>
                <a:r>
                  <a:rPr lang="en-GB" sz="1600" dirty="0" smtClean="0">
                    <a:latin typeface="Courier New" panose="02070309020205020404" pitchFamily="49" charset="0"/>
                  </a:rPr>
                  <a:t>&lt;/</a:t>
                </a:r>
                <a:r>
                  <a:rPr lang="en-GB" sz="1600" b="1" dirty="0" smtClean="0">
                    <a:latin typeface="Courier New" panose="02070309020205020404" pitchFamily="49" charset="0"/>
                  </a:rPr>
                  <a:t>location</a:t>
                </a:r>
                <a:r>
                  <a:rPr lang="en-GB" sz="1600" dirty="0" smtClean="0">
                    <a:latin typeface="Courier New" panose="02070309020205020404" pitchFamily="49" charset="0"/>
                  </a:rPr>
                  <a:t>&gt;</a:t>
                </a:r>
                <a:r>
                  <a:rPr lang="en-GB" sz="1600" dirty="0">
                    <a:latin typeface="Courier New" panose="02070309020205020404" pitchFamily="49" charset="0"/>
                  </a:rPr>
                  <a:t/>
                </a:r>
                <a:br>
                  <a:rPr lang="en-GB" sz="1600" dirty="0">
                    <a:latin typeface="Courier New" panose="02070309020205020404" pitchFamily="49" charset="0"/>
                  </a:rPr>
                </a:br>
                <a:r>
                  <a:rPr lang="en-GB" sz="1600" dirty="0">
                    <a:latin typeface="Courier New" panose="02070309020205020404" pitchFamily="49" charset="0"/>
                  </a:rPr>
                  <a:t>   &lt;/</a:t>
                </a:r>
                <a:r>
                  <a:rPr lang="en-GB" sz="1600" b="1" dirty="0" err="1">
                    <a:latin typeface="Courier New" panose="02070309020205020404" pitchFamily="49" charset="0"/>
                  </a:rPr>
                  <a:t>getTime</a:t>
                </a:r>
                <a:r>
                  <a:rPr lang="en-GB" sz="1600" dirty="0">
                    <a:latin typeface="Courier New" panose="02070309020205020404" pitchFamily="49" charset="0"/>
                  </a:rPr>
                  <a:t>&gt;</a:t>
                </a:r>
                <a:br>
                  <a:rPr lang="en-GB" sz="1600" dirty="0">
                    <a:latin typeface="Courier New" panose="02070309020205020404" pitchFamily="49" charset="0"/>
                  </a:rPr>
                </a:br>
                <a:r>
                  <a:rPr lang="en-GB" sz="1600" dirty="0">
                    <a:latin typeface="Courier New" panose="02070309020205020404" pitchFamily="49" charset="0"/>
                  </a:rPr>
                  <a:t>&lt;/</a:t>
                </a:r>
                <a:r>
                  <a:rPr lang="en-GB" sz="1600" dirty="0" err="1">
                    <a:latin typeface="Courier New" panose="02070309020205020404" pitchFamily="49" charset="0"/>
                  </a:rPr>
                  <a:t>soap:Body</a:t>
                </a:r>
                <a:r>
                  <a:rPr lang="en-GB" sz="1600" dirty="0">
                    <a:latin typeface="Courier New" panose="02070309020205020404" pitchFamily="49" charset="0"/>
                  </a:rPr>
                  <a:t>&gt;</a:t>
                </a:r>
              </a:p>
            </p:txBody>
          </p:sp>
        </p:grpSp>
        <p:sp>
          <p:nvSpPr>
            <p:cNvPr id="85" name="Line 8"/>
            <p:cNvSpPr>
              <a:spLocks noChangeShapeType="1"/>
            </p:cNvSpPr>
            <p:nvPr/>
          </p:nvSpPr>
          <p:spPr bwMode="auto">
            <a:xfrm flipV="1">
              <a:off x="7421041" y="4653136"/>
              <a:ext cx="2214562" cy="9556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en-IN"/>
            </a:p>
          </p:txBody>
        </p:sp>
        <p:sp>
          <p:nvSpPr>
            <p:cNvPr id="86" name="Line 9"/>
            <p:cNvSpPr>
              <a:spLocks noChangeShapeType="1"/>
            </p:cNvSpPr>
            <p:nvPr/>
          </p:nvSpPr>
          <p:spPr bwMode="auto">
            <a:xfrm flipV="1">
              <a:off x="10316641" y="4653136"/>
              <a:ext cx="247650" cy="9683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en-IN"/>
            </a:p>
          </p:txBody>
        </p:sp>
        <p:sp>
          <p:nvSpPr>
            <p:cNvPr id="87" name="Line 10"/>
            <p:cNvSpPr>
              <a:spLocks noChangeShapeType="1"/>
            </p:cNvSpPr>
            <p:nvPr/>
          </p:nvSpPr>
          <p:spPr bwMode="auto">
            <a:xfrm flipV="1">
              <a:off x="7162278" y="4719339"/>
              <a:ext cx="1089025" cy="6842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en-IN"/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2923296" y="1447006"/>
            <a:ext cx="9115582" cy="3063876"/>
            <a:chOff x="2923296" y="1447006"/>
            <a:chExt cx="9115582" cy="3063876"/>
          </a:xfrm>
        </p:grpSpPr>
        <p:grpSp>
          <p:nvGrpSpPr>
            <p:cNvPr id="58" name="Group 57"/>
            <p:cNvGrpSpPr>
              <a:grpSpLocks/>
            </p:cNvGrpSpPr>
            <p:nvPr/>
          </p:nvGrpSpPr>
          <p:grpSpPr bwMode="auto">
            <a:xfrm>
              <a:off x="9102004" y="1456532"/>
              <a:ext cx="2936874" cy="2801100"/>
              <a:chOff x="3707" y="1692"/>
              <a:chExt cx="1850" cy="1924"/>
            </a:xfrm>
          </p:grpSpPr>
          <p:sp>
            <p:nvSpPr>
              <p:cNvPr id="76" name="AutoShape 11"/>
              <p:cNvSpPr>
                <a:spLocks noChangeArrowheads="1"/>
              </p:cNvSpPr>
              <p:nvPr/>
            </p:nvSpPr>
            <p:spPr bwMode="auto">
              <a:xfrm>
                <a:off x="3707" y="1692"/>
                <a:ext cx="1850" cy="1924"/>
              </a:xfrm>
              <a:prstGeom prst="roundRect">
                <a:avLst>
                  <a:gd name="adj" fmla="val 51"/>
                </a:avLst>
              </a:prstGeom>
              <a:solidFill>
                <a:srgbClr val="C0C0C0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77" name="Text Box 12"/>
              <p:cNvSpPr txBox="1">
                <a:spLocks noChangeArrowheads="1"/>
              </p:cNvSpPr>
              <p:nvPr/>
            </p:nvSpPr>
            <p:spPr bwMode="auto">
              <a:xfrm>
                <a:off x="3707" y="1692"/>
                <a:ext cx="1850" cy="19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36000" tIns="36000" rIns="36000" bIns="36000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Verdana" panose="020B060403050404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algn="l" eaLnBrk="1" hangingPunct="1">
                  <a:lnSpc>
                    <a:spcPct val="89000"/>
                  </a:lnSpc>
                  <a:spcBef>
                    <a:spcPts val="1225"/>
                  </a:spcBef>
                  <a:buClr>
                    <a:srgbClr val="000000"/>
                  </a:buClr>
                  <a:buSzPct val="88000"/>
                  <a:buFont typeface="Arial" panose="020B0604020202020204" pitchFamily="34" charset="0"/>
                  <a:buNone/>
                </a:pPr>
                <a:r>
                  <a:rPr lang="en-GB" sz="1600">
                    <a:latin typeface="Courier New" panose="02070309020205020404" pitchFamily="49" charset="0"/>
                  </a:rPr>
                  <a:t>&lt;soap:</a:t>
                </a:r>
                <a:r>
                  <a:rPr lang="en-GB" sz="1600" b="1">
                    <a:latin typeface="Courier New" panose="02070309020205020404" pitchFamily="49" charset="0"/>
                  </a:rPr>
                  <a:t>Envelope</a:t>
                </a:r>
                <a:r>
                  <a:rPr lang="en-GB" sz="1600">
                    <a:latin typeface="Courier New" panose="02070309020205020404" pitchFamily="49" charset="0"/>
                  </a:rPr>
                  <a:t>&gt;</a:t>
                </a:r>
                <a:br>
                  <a:rPr lang="en-GB" sz="1600">
                    <a:latin typeface="Courier New" panose="02070309020205020404" pitchFamily="49" charset="0"/>
                  </a:rPr>
                </a:br>
                <a:r>
                  <a:rPr lang="en-GB" sz="1600">
                    <a:latin typeface="Courier New" panose="02070309020205020404" pitchFamily="49" charset="0"/>
                  </a:rPr>
                  <a:t>  &lt;soap:</a:t>
                </a:r>
                <a:r>
                  <a:rPr lang="en-GB" sz="1600" b="1">
                    <a:latin typeface="Courier New" panose="02070309020205020404" pitchFamily="49" charset="0"/>
                  </a:rPr>
                  <a:t>Header</a:t>
                </a:r>
                <a:r>
                  <a:rPr lang="en-GB" sz="1600">
                    <a:latin typeface="Courier New" panose="02070309020205020404" pitchFamily="49" charset="0"/>
                  </a:rPr>
                  <a:t>&gt;</a:t>
                </a:r>
                <a:br>
                  <a:rPr lang="en-GB" sz="1600">
                    <a:latin typeface="Courier New" panose="02070309020205020404" pitchFamily="49" charset="0"/>
                  </a:rPr>
                </a:br>
                <a:r>
                  <a:rPr lang="en-GB" sz="1600">
                    <a:latin typeface="Courier New" panose="02070309020205020404" pitchFamily="49" charset="0"/>
                  </a:rPr>
                  <a:t>    &lt;axis:SessionKey&gt;</a:t>
                </a:r>
                <a:br>
                  <a:rPr lang="en-GB" sz="1600">
                    <a:latin typeface="Courier New" panose="02070309020205020404" pitchFamily="49" charset="0"/>
                  </a:rPr>
                </a:br>
                <a:r>
                  <a:rPr lang="en-GB" sz="1600">
                    <a:latin typeface="Courier New" panose="02070309020205020404" pitchFamily="49" charset="0"/>
                  </a:rPr>
                  <a:t>      SDHH37TYEW7R7</a:t>
                </a:r>
                <a:br>
                  <a:rPr lang="en-GB" sz="1600">
                    <a:latin typeface="Courier New" panose="02070309020205020404" pitchFamily="49" charset="0"/>
                  </a:rPr>
                </a:br>
                <a:r>
                  <a:rPr lang="en-GB" sz="1600">
                    <a:latin typeface="Courier New" panose="02070309020205020404" pitchFamily="49" charset="0"/>
                  </a:rPr>
                  <a:t>    &lt;/axis:SessionKey&gt;</a:t>
                </a:r>
                <a:br>
                  <a:rPr lang="en-GB" sz="1600">
                    <a:latin typeface="Courier New" panose="02070309020205020404" pitchFamily="49" charset="0"/>
                  </a:rPr>
                </a:br>
                <a:r>
                  <a:rPr lang="en-GB" sz="1600">
                    <a:latin typeface="Courier New" panose="02070309020205020404" pitchFamily="49" charset="0"/>
                  </a:rPr>
                  <a:t>  &lt;/soap:</a:t>
                </a:r>
                <a:r>
                  <a:rPr lang="en-GB" sz="1600" b="1">
                    <a:latin typeface="Courier New" panose="02070309020205020404" pitchFamily="49" charset="0"/>
                  </a:rPr>
                  <a:t>Header</a:t>
                </a:r>
                <a:r>
                  <a:rPr lang="en-GB" sz="1600">
                    <a:latin typeface="Courier New" panose="02070309020205020404" pitchFamily="49" charset="0"/>
                  </a:rPr>
                  <a:t>&gt;  </a:t>
                </a:r>
                <a:br>
                  <a:rPr lang="en-GB" sz="1600">
                    <a:latin typeface="Courier New" panose="02070309020205020404" pitchFamily="49" charset="0"/>
                  </a:rPr>
                </a:br>
                <a:r>
                  <a:rPr lang="en-GB" sz="1600">
                    <a:latin typeface="Courier New" panose="02070309020205020404" pitchFamily="49" charset="0"/>
                  </a:rPr>
                  <a:t>  &lt;soap:</a:t>
                </a:r>
                <a:r>
                  <a:rPr lang="en-GB" sz="1600" b="1">
                    <a:latin typeface="Courier New" panose="02070309020205020404" pitchFamily="49" charset="0"/>
                  </a:rPr>
                  <a:t>Body</a:t>
                </a:r>
                <a:r>
                  <a:rPr lang="en-GB" sz="1600">
                    <a:latin typeface="Courier New" panose="02070309020205020404" pitchFamily="49" charset="0"/>
                  </a:rPr>
                  <a:t>&gt;</a:t>
                </a:r>
                <a:br>
                  <a:rPr lang="en-GB" sz="1600">
                    <a:latin typeface="Courier New" panose="02070309020205020404" pitchFamily="49" charset="0"/>
                  </a:rPr>
                </a:br>
                <a:r>
                  <a:rPr lang="en-GB" sz="1600">
                    <a:latin typeface="Courier New" panose="02070309020205020404" pitchFamily="49" charset="0"/>
                  </a:rPr>
                  <a:t>    &lt;GetPrice&gt;</a:t>
                </a:r>
                <a:br>
                  <a:rPr lang="en-GB" sz="1600">
                    <a:latin typeface="Courier New" panose="02070309020205020404" pitchFamily="49" charset="0"/>
                  </a:rPr>
                </a:br>
                <a:r>
                  <a:rPr lang="en-GB" sz="1600">
                    <a:latin typeface="Courier New" panose="02070309020205020404" pitchFamily="49" charset="0"/>
                  </a:rPr>
                  <a:t>    &lt;Item&gt;Apples&lt;/Item&gt;</a:t>
                </a:r>
                <a:br>
                  <a:rPr lang="en-GB" sz="1600">
                    <a:latin typeface="Courier New" panose="02070309020205020404" pitchFamily="49" charset="0"/>
                  </a:rPr>
                </a:br>
                <a:r>
                  <a:rPr lang="en-GB" sz="1600">
                    <a:latin typeface="Courier New" panose="02070309020205020404" pitchFamily="49" charset="0"/>
                  </a:rPr>
                  <a:t>    &lt;/GetPrice&gt;</a:t>
                </a:r>
                <a:br>
                  <a:rPr lang="en-GB" sz="1600">
                    <a:latin typeface="Courier New" panose="02070309020205020404" pitchFamily="49" charset="0"/>
                  </a:rPr>
                </a:br>
                <a:r>
                  <a:rPr lang="en-GB" sz="1600">
                    <a:latin typeface="Courier New" panose="02070309020205020404" pitchFamily="49" charset="0"/>
                  </a:rPr>
                  <a:t>  &lt;/soap:</a:t>
                </a:r>
                <a:r>
                  <a:rPr lang="en-GB" sz="1600" b="1">
                    <a:latin typeface="Courier New" panose="02070309020205020404" pitchFamily="49" charset="0"/>
                  </a:rPr>
                  <a:t>Body</a:t>
                </a:r>
                <a:r>
                  <a:rPr lang="en-GB" sz="1600">
                    <a:latin typeface="Courier New" panose="02070309020205020404" pitchFamily="49" charset="0"/>
                  </a:rPr>
                  <a:t>&gt;</a:t>
                </a:r>
                <a:br>
                  <a:rPr lang="en-GB" sz="1600">
                    <a:latin typeface="Courier New" panose="02070309020205020404" pitchFamily="49" charset="0"/>
                  </a:rPr>
                </a:br>
                <a:r>
                  <a:rPr lang="en-GB" sz="1600">
                    <a:latin typeface="Courier New" panose="02070309020205020404" pitchFamily="49" charset="0"/>
                  </a:rPr>
                  <a:t>&lt;/soap:</a:t>
                </a:r>
                <a:r>
                  <a:rPr lang="en-GB" sz="1600" b="1">
                    <a:latin typeface="Courier New" panose="02070309020205020404" pitchFamily="49" charset="0"/>
                  </a:rPr>
                  <a:t>Envelope</a:t>
                </a:r>
                <a:r>
                  <a:rPr lang="en-GB" sz="1600">
                    <a:latin typeface="Courier New" panose="02070309020205020404" pitchFamily="49" charset="0"/>
                  </a:rPr>
                  <a:t>&gt;</a:t>
                </a:r>
              </a:p>
            </p:txBody>
          </p:sp>
        </p:grpSp>
        <p:grpSp>
          <p:nvGrpSpPr>
            <p:cNvPr id="82" name="Group 81"/>
            <p:cNvGrpSpPr/>
            <p:nvPr/>
          </p:nvGrpSpPr>
          <p:grpSpPr>
            <a:xfrm>
              <a:off x="5587355" y="1447006"/>
              <a:ext cx="2589213" cy="3063876"/>
              <a:chOff x="5587355" y="1447006"/>
              <a:chExt cx="2589213" cy="3513138"/>
            </a:xfrm>
          </p:grpSpPr>
          <p:grpSp>
            <p:nvGrpSpPr>
              <p:cNvPr id="56" name="Group 55"/>
              <p:cNvGrpSpPr>
                <a:grpSpLocks/>
              </p:cNvGrpSpPr>
              <p:nvPr/>
            </p:nvGrpSpPr>
            <p:grpSpPr bwMode="auto">
              <a:xfrm>
                <a:off x="5587355" y="1447006"/>
                <a:ext cx="2589213" cy="3513138"/>
                <a:chOff x="587" y="1686"/>
                <a:chExt cx="1631" cy="2213"/>
              </a:xfrm>
            </p:grpSpPr>
            <p:sp>
              <p:nvSpPr>
                <p:cNvPr id="80" name="AutoShape 5"/>
                <p:cNvSpPr>
                  <a:spLocks noChangeArrowheads="1"/>
                </p:cNvSpPr>
                <p:nvPr/>
              </p:nvSpPr>
              <p:spPr bwMode="auto">
                <a:xfrm>
                  <a:off x="587" y="1686"/>
                  <a:ext cx="1631" cy="1988"/>
                </a:xfrm>
                <a:prstGeom prst="roundRect">
                  <a:avLst>
                    <a:gd name="adj" fmla="val 60"/>
                  </a:avLst>
                </a:prstGeom>
                <a:solidFill>
                  <a:srgbClr val="FFFF00"/>
                </a:solidFill>
                <a:ln w="9360">
                  <a:solidFill>
                    <a:srgbClr val="0000FA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en-US"/>
                  </a:defPPr>
                  <a:lvl1pPr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4572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9144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3716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8288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/>
                </a:p>
              </p:txBody>
            </p:sp>
            <p:sp>
              <p:nvSpPr>
                <p:cNvPr id="81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587" y="1686"/>
                  <a:ext cx="1631" cy="2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defPPr>
                    <a:defRPr lang="en-US"/>
                  </a:defPPr>
                  <a:lvl1pPr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4572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9144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3716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8288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algn="l" eaLnBrk="1" hangingPunct="1">
                    <a:spcBef>
                      <a:spcPts val="1475"/>
                    </a:spcBef>
                    <a:buClr>
                      <a:srgbClr val="000000"/>
                    </a:buClr>
                    <a:buSzPct val="100000"/>
                    <a:buFont typeface="Arial" panose="020B0604020202020204" pitchFamily="34" charset="0"/>
                    <a:buNone/>
                  </a:pPr>
                  <a:r>
                    <a:rPr lang="en-GB">
                      <a:latin typeface="Comic Sans MS" panose="030F0702030302020204" pitchFamily="66" charset="0"/>
                    </a:rPr>
                    <a:t>SOAP Envelope</a:t>
                  </a:r>
                </a:p>
              </p:txBody>
            </p:sp>
          </p:grpSp>
          <p:grpSp>
            <p:nvGrpSpPr>
              <p:cNvPr id="57" name="Group 56"/>
              <p:cNvGrpSpPr>
                <a:grpSpLocks/>
              </p:cNvGrpSpPr>
              <p:nvPr/>
            </p:nvGrpSpPr>
            <p:grpSpPr bwMode="auto">
              <a:xfrm>
                <a:off x="6150917" y="3696497"/>
                <a:ext cx="1738313" cy="762000"/>
                <a:chOff x="942" y="3103"/>
                <a:chExt cx="1095" cy="480"/>
              </a:xfrm>
            </p:grpSpPr>
            <p:sp>
              <p:nvSpPr>
                <p:cNvPr id="78" name="AutoShape 8"/>
                <p:cNvSpPr>
                  <a:spLocks noChangeArrowheads="1"/>
                </p:cNvSpPr>
                <p:nvPr/>
              </p:nvSpPr>
              <p:spPr bwMode="auto">
                <a:xfrm>
                  <a:off x="942" y="3103"/>
                  <a:ext cx="1095" cy="432"/>
                </a:xfrm>
                <a:prstGeom prst="roundRect">
                  <a:avLst>
                    <a:gd name="adj" fmla="val 231"/>
                  </a:avLst>
                </a:prstGeom>
                <a:solidFill>
                  <a:srgbClr val="D69B80"/>
                </a:solidFill>
                <a:ln w="9360">
                  <a:solidFill>
                    <a:srgbClr val="0000FA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en-US"/>
                  </a:defPPr>
                  <a:lvl1pPr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4572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9144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3716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8288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/>
                </a:p>
              </p:txBody>
            </p:sp>
            <p:sp>
              <p:nvSpPr>
                <p:cNvPr id="79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942" y="3103"/>
                  <a:ext cx="1095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defPPr>
                    <a:defRPr lang="en-US"/>
                  </a:defPPr>
                  <a:lvl1pPr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4572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9144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3716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8288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ts val="1475"/>
                    </a:spcBef>
                    <a:buClr>
                      <a:srgbClr val="000000"/>
                    </a:buClr>
                    <a:buSzPct val="100000"/>
                    <a:buFont typeface="Arial" panose="020B0604020202020204" pitchFamily="34" charset="0"/>
                    <a:buNone/>
                  </a:pPr>
                  <a:r>
                    <a:rPr lang="en-GB">
                      <a:latin typeface="Comic Sans MS" panose="030F0702030302020204" pitchFamily="66" charset="0"/>
                    </a:rPr>
                    <a:t>XML Document</a:t>
                  </a:r>
                </a:p>
              </p:txBody>
            </p:sp>
          </p:grpSp>
          <p:grpSp>
            <p:nvGrpSpPr>
              <p:cNvPr id="59" name="Group 58"/>
              <p:cNvGrpSpPr>
                <a:grpSpLocks/>
              </p:cNvGrpSpPr>
              <p:nvPr/>
            </p:nvGrpSpPr>
            <p:grpSpPr bwMode="auto">
              <a:xfrm>
                <a:off x="5766742" y="3207546"/>
                <a:ext cx="2333626" cy="1490663"/>
                <a:chOff x="700" y="2795"/>
                <a:chExt cx="1470" cy="939"/>
              </a:xfrm>
            </p:grpSpPr>
            <p:sp>
              <p:nvSpPr>
                <p:cNvPr id="74" name="AutoShape 14"/>
                <p:cNvSpPr>
                  <a:spLocks noChangeArrowheads="1"/>
                </p:cNvSpPr>
                <p:nvPr/>
              </p:nvSpPr>
              <p:spPr bwMode="auto">
                <a:xfrm>
                  <a:off x="700" y="2795"/>
                  <a:ext cx="1431" cy="797"/>
                </a:xfrm>
                <a:prstGeom prst="roundRect">
                  <a:avLst>
                    <a:gd name="adj" fmla="val 125"/>
                  </a:avLst>
                </a:prstGeom>
                <a:noFill/>
                <a:ln w="9360">
                  <a:solidFill>
                    <a:srgbClr val="0000FA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defPPr>
                    <a:defRPr lang="en-US"/>
                  </a:defPPr>
                  <a:lvl1pPr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4572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9144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3716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8288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/>
                </a:p>
              </p:txBody>
            </p:sp>
            <p:sp>
              <p:nvSpPr>
                <p:cNvPr id="75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700" y="2795"/>
                  <a:ext cx="1470" cy="9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defPPr>
                    <a:defRPr lang="en-US"/>
                  </a:defPPr>
                  <a:lvl1pPr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4572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9144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3716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8288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algn="l" eaLnBrk="1" hangingPunct="1">
                    <a:spcBef>
                      <a:spcPts val="1475"/>
                    </a:spcBef>
                    <a:buClr>
                      <a:srgbClr val="000000"/>
                    </a:buClr>
                    <a:buSzPct val="100000"/>
                    <a:buFont typeface="Arial" panose="020B0604020202020204" pitchFamily="34" charset="0"/>
                    <a:buNone/>
                  </a:pPr>
                  <a:r>
                    <a:rPr lang="en-GB">
                      <a:latin typeface="Comic Sans MS" panose="030F0702030302020204" pitchFamily="66" charset="0"/>
                    </a:rPr>
                    <a:t>SOAP Body</a:t>
                  </a:r>
                </a:p>
              </p:txBody>
            </p:sp>
          </p:grpSp>
          <p:grpSp>
            <p:nvGrpSpPr>
              <p:cNvPr id="60" name="Group 59"/>
              <p:cNvGrpSpPr>
                <a:grpSpLocks/>
              </p:cNvGrpSpPr>
              <p:nvPr/>
            </p:nvGrpSpPr>
            <p:grpSpPr bwMode="auto">
              <a:xfrm>
                <a:off x="5746105" y="1913732"/>
                <a:ext cx="2333624" cy="1330326"/>
                <a:chOff x="687" y="1980"/>
                <a:chExt cx="1470" cy="838"/>
              </a:xfrm>
            </p:grpSpPr>
            <p:sp>
              <p:nvSpPr>
                <p:cNvPr id="72" name="AutoShape 17"/>
                <p:cNvSpPr>
                  <a:spLocks noChangeArrowheads="1"/>
                </p:cNvSpPr>
                <p:nvPr/>
              </p:nvSpPr>
              <p:spPr bwMode="auto">
                <a:xfrm>
                  <a:off x="687" y="1980"/>
                  <a:ext cx="1431" cy="711"/>
                </a:xfrm>
                <a:prstGeom prst="roundRect">
                  <a:avLst>
                    <a:gd name="adj" fmla="val 139"/>
                  </a:avLst>
                </a:prstGeom>
                <a:noFill/>
                <a:ln w="9360">
                  <a:solidFill>
                    <a:srgbClr val="0000FA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defPPr>
                    <a:defRPr lang="en-US"/>
                  </a:defPPr>
                  <a:lvl1pPr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4572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9144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3716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8288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/>
                </a:p>
              </p:txBody>
            </p:sp>
            <p:sp>
              <p:nvSpPr>
                <p:cNvPr id="73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687" y="1980"/>
                  <a:ext cx="1470" cy="8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defPPr>
                    <a:defRPr lang="en-US"/>
                  </a:defPPr>
                  <a:lvl1pPr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4572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9144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3716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8288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algn="l" eaLnBrk="1" hangingPunct="1">
                    <a:spcBef>
                      <a:spcPts val="1475"/>
                    </a:spcBef>
                    <a:buClr>
                      <a:srgbClr val="000000"/>
                    </a:buClr>
                    <a:buSzPct val="100000"/>
                    <a:buFont typeface="Arial" panose="020B0604020202020204" pitchFamily="34" charset="0"/>
                    <a:buNone/>
                  </a:pPr>
                  <a:r>
                    <a:rPr lang="en-GB">
                      <a:latin typeface="Comic Sans MS" panose="030F0702030302020204" pitchFamily="66" charset="0"/>
                    </a:rPr>
                    <a:t>SOAP Header</a:t>
                  </a:r>
                </a:p>
              </p:txBody>
            </p:sp>
          </p:grpSp>
          <p:grpSp>
            <p:nvGrpSpPr>
              <p:cNvPr id="61" name="Group 60"/>
              <p:cNvGrpSpPr>
                <a:grpSpLocks/>
              </p:cNvGrpSpPr>
              <p:nvPr/>
            </p:nvGrpSpPr>
            <p:grpSpPr bwMode="auto">
              <a:xfrm>
                <a:off x="6117580" y="2272504"/>
                <a:ext cx="1738313" cy="685800"/>
                <a:chOff x="921" y="2206"/>
                <a:chExt cx="1095" cy="432"/>
              </a:xfrm>
            </p:grpSpPr>
            <p:sp>
              <p:nvSpPr>
                <p:cNvPr id="70" name="AutoShape 20"/>
                <p:cNvSpPr>
                  <a:spLocks noChangeArrowheads="1"/>
                </p:cNvSpPr>
                <p:nvPr/>
              </p:nvSpPr>
              <p:spPr bwMode="auto">
                <a:xfrm>
                  <a:off x="921" y="2206"/>
                  <a:ext cx="1095" cy="432"/>
                </a:xfrm>
                <a:prstGeom prst="roundRect">
                  <a:avLst>
                    <a:gd name="adj" fmla="val 231"/>
                  </a:avLst>
                </a:prstGeom>
                <a:solidFill>
                  <a:srgbClr val="D69B80"/>
                </a:solidFill>
                <a:ln w="9360">
                  <a:solidFill>
                    <a:srgbClr val="0000FA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en-US"/>
                  </a:defPPr>
                  <a:lvl1pPr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4572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9144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3716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8288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/>
                </a:p>
              </p:txBody>
            </p:sp>
            <p:sp>
              <p:nvSpPr>
                <p:cNvPr id="71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921" y="2206"/>
                  <a:ext cx="1095" cy="4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defPPr>
                    <a:defRPr lang="en-US"/>
                  </a:defPPr>
                  <a:lvl1pPr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4572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9144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3716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8288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Verdana" panose="020B0604030504040204" pitchFamily="34" charset="0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ts val="1475"/>
                    </a:spcBef>
                    <a:buClr>
                      <a:srgbClr val="000000"/>
                    </a:buClr>
                    <a:buSzPct val="100000"/>
                    <a:buFont typeface="Arial" panose="020B0604020202020204" pitchFamily="34" charset="0"/>
                    <a:buNone/>
                  </a:pPr>
                  <a:r>
                    <a:rPr lang="en-GB" sz="1600" dirty="0">
                      <a:latin typeface="Comic Sans MS" panose="030F0702030302020204" pitchFamily="66" charset="0"/>
                    </a:rPr>
                    <a:t>Communication Info</a:t>
                  </a:r>
                </a:p>
              </p:txBody>
            </p:sp>
          </p:grpSp>
        </p:grpSp>
        <p:sp>
          <p:nvSpPr>
            <p:cNvPr id="65" name="Text Box 27"/>
            <p:cNvSpPr txBox="1">
              <a:spLocks noChangeArrowheads="1"/>
            </p:cNvSpPr>
            <p:nvPr/>
          </p:nvSpPr>
          <p:spPr bwMode="auto">
            <a:xfrm>
              <a:off x="2923296" y="2115633"/>
              <a:ext cx="269557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l"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GB" dirty="0">
                  <a:latin typeface="Arial" panose="020B0604020202020204" pitchFamily="34" charset="0"/>
                </a:rPr>
                <a:t>Session, Authentication, Routing, Security</a:t>
              </a:r>
            </a:p>
          </p:txBody>
        </p:sp>
        <p:cxnSp>
          <p:nvCxnSpPr>
            <p:cNvPr id="93" name="Straight Arrow Connector 92"/>
            <p:cNvCxnSpPr>
              <a:stCxn id="71" idx="1"/>
            </p:cNvCxnSpPr>
            <p:nvPr/>
          </p:nvCxnSpPr>
          <p:spPr>
            <a:xfrm flipH="1">
              <a:off x="4871864" y="2460451"/>
              <a:ext cx="1245716" cy="2701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3002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Building a </a:t>
            </a:r>
            <a:r>
              <a:rPr lang="en-US" dirty="0" err="1" smtClean="0"/>
              <a:t>RESTfull</a:t>
            </a:r>
            <a:r>
              <a:rPr lang="en-US" dirty="0" smtClean="0"/>
              <a:t> Web Service in Python using Flask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2" y="1196752"/>
            <a:ext cx="4591691" cy="372479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52" y="5517232"/>
            <a:ext cx="7173326" cy="7144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7968" y="1184945"/>
            <a:ext cx="4363059" cy="7906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6236" y="2276872"/>
            <a:ext cx="5201376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711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2352312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Building a SOAP Web Service in Python using </a:t>
            </a:r>
            <a:r>
              <a:rPr lang="en-US" sz="3600" dirty="0" err="1" smtClean="0"/>
              <a:t>spyne</a:t>
            </a:r>
            <a:r>
              <a:rPr lang="en-US" sz="3600" dirty="0" smtClean="0"/>
              <a:t> and suds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01" y="1124744"/>
            <a:ext cx="6120680" cy="4739132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144" y="1136646"/>
            <a:ext cx="4029637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75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2352312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err="1" smtClean="0"/>
              <a:t>gRPC</a:t>
            </a:r>
            <a:r>
              <a:rPr lang="en-US" sz="3600" dirty="0" smtClean="0"/>
              <a:t> Framework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52400" y="836712"/>
            <a:ext cx="116322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en-US" dirty="0" smtClean="0"/>
              <a:t>  RPC Framework developed by Google for cross platform RPC invocation.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44" y="1386856"/>
            <a:ext cx="4659546" cy="254620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191344" y="3788386"/>
            <a:ext cx="6186514" cy="2808966"/>
            <a:chOff x="191344" y="3788386"/>
            <a:chExt cx="6186514" cy="2808966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1344" y="4059295"/>
              <a:ext cx="6186514" cy="2538057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1559496" y="3788386"/>
              <a:ext cx="120334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dirty="0" smtClean="0">
                  <a:solidFill>
                    <a:srgbClr val="FF0000"/>
                  </a:solidFill>
                </a:rPr>
                <a:t>Client Side</a:t>
              </a:r>
              <a:endParaRPr lang="en-IN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015880" y="1174055"/>
            <a:ext cx="7053078" cy="3479081"/>
            <a:chOff x="5015880" y="1174055"/>
            <a:chExt cx="7053078" cy="3479081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15880" y="1496780"/>
              <a:ext cx="7053078" cy="3156356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7392144" y="1174055"/>
              <a:ext cx="126265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dirty="0" smtClean="0">
                  <a:solidFill>
                    <a:srgbClr val="FF0000"/>
                  </a:solidFill>
                </a:rPr>
                <a:t>Server Side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496821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2352312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Types of </a:t>
            </a:r>
            <a:r>
              <a:rPr lang="en-US" sz="3600" dirty="0" err="1" smtClean="0"/>
              <a:t>gRPC</a:t>
            </a:r>
            <a:r>
              <a:rPr lang="en-US" sz="3600" dirty="0" smtClean="0"/>
              <a:t> API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865265"/>
            <a:ext cx="4477375" cy="19624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901" y="865265"/>
            <a:ext cx="6096851" cy="18004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3758221"/>
            <a:ext cx="5420481" cy="189574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0905" y="3816040"/>
            <a:ext cx="6401693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5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2352312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err="1" smtClean="0"/>
              <a:t>RESTful</a:t>
            </a:r>
            <a:r>
              <a:rPr lang="en-US" sz="3600" dirty="0" smtClean="0"/>
              <a:t> API </a:t>
            </a:r>
            <a:r>
              <a:rPr lang="en-US" sz="3600" dirty="0" err="1" smtClean="0"/>
              <a:t>vs</a:t>
            </a:r>
            <a:r>
              <a:rPr lang="en-US" sz="3600" dirty="0" smtClean="0"/>
              <a:t> </a:t>
            </a:r>
            <a:r>
              <a:rPr lang="en-US" sz="3600" dirty="0" err="1" smtClean="0"/>
              <a:t>gRPC</a:t>
            </a:r>
            <a:r>
              <a:rPr lang="en-US" sz="3600" dirty="0" smtClean="0"/>
              <a:t> API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888" y="4005064"/>
            <a:ext cx="6984776" cy="261347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52" y="851286"/>
            <a:ext cx="11665296" cy="315377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360" y="4437112"/>
            <a:ext cx="4572312" cy="170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95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Questions?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3863752" y="2852936"/>
            <a:ext cx="414049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 smtClean="0">
                <a:solidFill>
                  <a:srgbClr val="FF0000"/>
                </a:solidFill>
              </a:rPr>
              <a:t>Thank  You</a:t>
            </a:r>
            <a:endParaRPr lang="en-IN" sz="6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341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nded Design Blue 16x9">
  <a:themeElements>
    <a:clrScheme name="Banded_Design_Blue">
      <a:dk1>
        <a:srgbClr val="404040"/>
      </a:dk1>
      <a:lt1>
        <a:sysClr val="window" lastClr="FFFFFF"/>
      </a:lt1>
      <a:dk2>
        <a:srgbClr val="263050"/>
      </a:dk2>
      <a:lt2>
        <a:srgbClr val="E5E8E8"/>
      </a:lt2>
      <a:accent1>
        <a:srgbClr val="77B142"/>
      </a:accent1>
      <a:accent2>
        <a:srgbClr val="E3C01E"/>
      </a:accent2>
      <a:accent3>
        <a:srgbClr val="0070C0"/>
      </a:accent3>
      <a:accent4>
        <a:srgbClr val="7556A4"/>
      </a:accent4>
      <a:accent5>
        <a:srgbClr val="F08F1E"/>
      </a:accent5>
      <a:accent6>
        <a:srgbClr val="CB3E3A"/>
      </a:accent6>
      <a:hlink>
        <a:srgbClr val="0070C0"/>
      </a:hlink>
      <a:folHlink>
        <a:srgbClr val="7556A4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lumMod val="0"/>
                <a:lumOff val="100000"/>
              </a:schemeClr>
            </a:gs>
            <a:gs pos="72000">
              <a:schemeClr val="phClr"/>
            </a:gs>
            <a:gs pos="100000">
              <a:schemeClr val="phClr">
                <a:lumMod val="90000"/>
              </a:schemeClr>
            </a:gs>
          </a:gsLst>
          <a:lin ang="5400000" scaled="1"/>
        </a:gradFill>
        <a:gradFill flip="none" rotWithShape="1">
          <a:gsLst>
            <a:gs pos="32000">
              <a:schemeClr val="phClr"/>
            </a:gs>
            <a:gs pos="100000">
              <a:schemeClr val="phClr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3417271.potx" id="{FAD70E18-2F21-4BAE-983F-13051C6D1C17}" vid="{4B4DF9DC-15EC-4671-A52A-56A08B977F11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project plan presentation (widescreen)</Template>
  <TotalTime>25431</TotalTime>
  <Words>625</Words>
  <Application>Microsoft Office PowerPoint</Application>
  <PresentationFormat>Widescreen</PresentationFormat>
  <Paragraphs>196</Paragraphs>
  <Slides>14</Slides>
  <Notes>14</Notes>
  <HiddenSlides>2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Comic Sans MS</vt:lpstr>
      <vt:lpstr>Corbel</vt:lpstr>
      <vt:lpstr>Courier New</vt:lpstr>
      <vt:lpstr>Euphemia</vt:lpstr>
      <vt:lpstr>Times New Roman</vt:lpstr>
      <vt:lpstr>Verdana</vt:lpstr>
      <vt:lpstr>Webdings</vt:lpstr>
      <vt:lpstr>Wingdings</vt:lpstr>
      <vt:lpstr>Banded Design Blue 16x9</vt:lpstr>
      <vt:lpstr>Bitmap Image</vt:lpstr>
      <vt:lpstr>Dr. Sunirmal Khatua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Project Plan</dc:title>
  <dc:creator>Sunirmal Khatua</dc:creator>
  <cp:lastModifiedBy>Microsoft account</cp:lastModifiedBy>
  <cp:revision>344</cp:revision>
  <dcterms:created xsi:type="dcterms:W3CDTF">2018-05-13T16:49:43Z</dcterms:created>
  <dcterms:modified xsi:type="dcterms:W3CDTF">2026-02-12T05:00:28Z</dcterms:modified>
</cp:coreProperties>
</file>