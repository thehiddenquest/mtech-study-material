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2" d="100"/>
          <a:sy n="112" d="100"/>
        </p:scale>
        <p:origin x="-132" y="-6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578B1-4CCB-4809-ABCE-CC827F12FA92}" type="datetimeFigureOut">
              <a:rPr lang="en-IN" smtClean="0"/>
              <a:t>13-02-2021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06813-E150-4140-A51D-551AA65DB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416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35" dirty="0"/>
              <a:t>Fall</a:t>
            </a:r>
            <a:r>
              <a:rPr spc="-65" dirty="0"/>
              <a:t> </a:t>
            </a:r>
            <a:r>
              <a:rPr spc="-10" dirty="0"/>
              <a:t>2018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10"/>
                <a:cs typeface="LM Roman 10"/>
              </a:defRPr>
            </a:lvl1pPr>
          </a:lstStyle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35" dirty="0"/>
              <a:t>Fall</a:t>
            </a:r>
            <a:r>
              <a:rPr spc="-65" dirty="0"/>
              <a:t> </a:t>
            </a:r>
            <a:r>
              <a:rPr spc="-10" dirty="0"/>
              <a:t>2018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10"/>
                <a:cs typeface="LM Roman 10"/>
              </a:defRPr>
            </a:lvl1pPr>
          </a:lstStyle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35" dirty="0"/>
              <a:t>Fall</a:t>
            </a:r>
            <a:r>
              <a:rPr spc="-65" dirty="0"/>
              <a:t> </a:t>
            </a:r>
            <a:r>
              <a:rPr spc="-10" dirty="0"/>
              <a:t>2018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10"/>
                <a:cs typeface="LM Roman 10"/>
              </a:defRPr>
            </a:lvl1pPr>
          </a:lstStyle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35" dirty="0"/>
              <a:t>Fall</a:t>
            </a:r>
            <a:r>
              <a:rPr spc="-65" dirty="0"/>
              <a:t> </a:t>
            </a:r>
            <a:r>
              <a:rPr spc="-10" dirty="0"/>
              <a:t>2018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10"/>
                <a:cs typeface="LM Roman 10"/>
              </a:defRPr>
            </a:lvl1pPr>
          </a:lstStyle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35" dirty="0"/>
              <a:t>Fall</a:t>
            </a:r>
            <a:r>
              <a:rPr spc="-65" dirty="0"/>
              <a:t> </a:t>
            </a:r>
            <a:r>
              <a:rPr spc="-10" dirty="0"/>
              <a:t>2018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LM Roman 10"/>
                <a:cs typeface="LM Roman 10"/>
              </a:defRPr>
            </a:lvl1pPr>
          </a:lstStyle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967241" y="7316103"/>
            <a:ext cx="636270" cy="201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35" dirty="0"/>
              <a:t>Fall</a:t>
            </a:r>
            <a:r>
              <a:rPr spc="-65" dirty="0"/>
              <a:t> </a:t>
            </a:r>
            <a:r>
              <a:rPr spc="-10" dirty="0"/>
              <a:t>2018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1299" y="7316103"/>
            <a:ext cx="1364614" cy="201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LM Roman Caps 10"/>
                <a:cs typeface="LM Roman Caps 10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09832" y="7312686"/>
            <a:ext cx="238760" cy="205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LM Roman 10"/>
                <a:cs typeface="LM Roman 10"/>
              </a:defRPr>
            </a:lvl1pPr>
          </a:lstStyle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294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 dirty="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994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2550" y="615830"/>
            <a:ext cx="3710304" cy="1035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700" spc="15" dirty="0">
                <a:latin typeface="LM Roman 17"/>
                <a:cs typeface="LM Roman 17"/>
              </a:rPr>
              <a:t>Super </a:t>
            </a:r>
            <a:r>
              <a:rPr sz="1700" spc="10" dirty="0">
                <a:latin typeface="LM Roman 17"/>
                <a:cs typeface="LM Roman 17"/>
              </a:rPr>
              <a:t>VIP </a:t>
            </a:r>
            <a:r>
              <a:rPr sz="1700" dirty="0">
                <a:latin typeface="LM Roman 17"/>
                <a:cs typeface="LM Roman 17"/>
              </a:rPr>
              <a:t>Cheatsheet: Machine</a:t>
            </a:r>
            <a:r>
              <a:rPr sz="1700" spc="-335" dirty="0">
                <a:latin typeface="LM Roman 17"/>
                <a:cs typeface="LM Roman 17"/>
              </a:rPr>
              <a:t> </a:t>
            </a:r>
            <a:r>
              <a:rPr sz="1700" spc="5" dirty="0">
                <a:latin typeface="LM Roman 17"/>
                <a:cs typeface="LM Roman 17"/>
              </a:rPr>
              <a:t>Learning</a:t>
            </a:r>
            <a:endParaRPr sz="1700">
              <a:latin typeface="LM Roman 17"/>
              <a:cs typeface="LM Roman 17"/>
            </a:endParaRPr>
          </a:p>
          <a:p>
            <a:pPr algn="ctr">
              <a:lnSpc>
                <a:spcPct val="100000"/>
              </a:lnSpc>
              <a:spcBef>
                <a:spcPts val="1990"/>
              </a:spcBef>
            </a:pPr>
            <a:r>
              <a:rPr sz="1200" spc="-5" dirty="0">
                <a:latin typeface="LM Roman 12"/>
                <a:cs typeface="LM Roman 12"/>
              </a:rPr>
              <a:t>Afshine </a:t>
            </a:r>
            <a:r>
              <a:rPr sz="1200" spc="-10" dirty="0">
                <a:latin typeface="LM Roman Caps 10"/>
                <a:cs typeface="LM Roman Caps 10"/>
              </a:rPr>
              <a:t>Amidi </a:t>
            </a:r>
            <a:r>
              <a:rPr sz="1200" spc="-10" dirty="0">
                <a:latin typeface="LM Roman 12"/>
                <a:cs typeface="LM Roman 12"/>
              </a:rPr>
              <a:t>and </a:t>
            </a:r>
            <a:r>
              <a:rPr sz="1200" spc="-5" dirty="0">
                <a:latin typeface="LM Roman 12"/>
                <a:cs typeface="LM Roman 12"/>
              </a:rPr>
              <a:t>Shervine</a:t>
            </a:r>
            <a:r>
              <a:rPr sz="1200" spc="-55" dirty="0">
                <a:latin typeface="LM Roman 12"/>
                <a:cs typeface="LM Roman 12"/>
              </a:rPr>
              <a:t> </a:t>
            </a:r>
            <a:r>
              <a:rPr sz="1200" spc="-10" dirty="0">
                <a:latin typeface="LM Roman Caps 10"/>
                <a:cs typeface="LM Roman Caps 10"/>
              </a:rPr>
              <a:t>Amidi</a:t>
            </a:r>
            <a:endParaRPr sz="1200">
              <a:latin typeface="LM Roman Caps 10"/>
              <a:cs typeface="LM Roman Caps 10"/>
            </a:endParaRPr>
          </a:p>
          <a:p>
            <a:pPr marL="635" algn="ctr">
              <a:lnSpc>
                <a:spcPct val="100000"/>
              </a:lnSpc>
              <a:spcBef>
                <a:spcPts val="1019"/>
              </a:spcBef>
            </a:pPr>
            <a:r>
              <a:rPr sz="1200" spc="-5" dirty="0">
                <a:latin typeface="LM Roman 12"/>
                <a:cs typeface="LM Roman 12"/>
              </a:rPr>
              <a:t>September </a:t>
            </a:r>
            <a:r>
              <a:rPr sz="1200" spc="-10" dirty="0">
                <a:latin typeface="LM Roman 12"/>
                <a:cs typeface="LM Roman 12"/>
              </a:rPr>
              <a:t>15, 2018</a:t>
            </a:r>
            <a:endParaRPr sz="1200">
              <a:latin typeface="LM Roman 12"/>
              <a:cs typeface="LM Roman 1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294" y="1956160"/>
            <a:ext cx="5943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5" dirty="0">
                <a:latin typeface="LM Roman 10"/>
                <a:cs typeface="LM Roman 10"/>
              </a:rPr>
              <a:t>Contents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294" y="2378819"/>
            <a:ext cx="142303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</a:pPr>
            <a:r>
              <a:rPr sz="1000" b="1" spc="-5" dirty="0">
                <a:latin typeface="LM Roman 10"/>
                <a:cs typeface="LM Roman 10"/>
              </a:rPr>
              <a:t>1 </a:t>
            </a:r>
            <a:r>
              <a:rPr sz="900" b="1" dirty="0">
                <a:latin typeface="LM Roman 9"/>
                <a:cs typeface="LM Roman 9"/>
              </a:rPr>
              <a:t>Supervised</a:t>
            </a:r>
            <a:r>
              <a:rPr sz="900" b="1" spc="100" dirty="0">
                <a:latin typeface="LM Roman 9"/>
                <a:cs typeface="LM Roman 9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Learning</a:t>
            </a:r>
            <a:endParaRPr sz="900">
              <a:latin typeface="LM Roman 9"/>
              <a:cs typeface="LM Roman 9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2486" y="2366167"/>
            <a:ext cx="984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LM Roman 10"/>
                <a:cs typeface="LM Roman 10"/>
              </a:rPr>
              <a:t>2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5083" y="2520688"/>
            <a:ext cx="4098925" cy="641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 lvl="1" indent="-291465">
              <a:lnSpc>
                <a:spcPct val="100000"/>
              </a:lnSpc>
              <a:spcBef>
                <a:spcPts val="95"/>
              </a:spcBef>
              <a:buSzPct val="111111"/>
              <a:buFont typeface="LM Roman 10"/>
              <a:buAutoNum type="arabicPeriod"/>
              <a:tabLst>
                <a:tab pos="303530" algn="l"/>
                <a:tab pos="304165" algn="l"/>
              </a:tabLst>
            </a:pPr>
            <a:r>
              <a:rPr sz="900" spc="-5" dirty="0">
                <a:latin typeface="LM Roman 9"/>
                <a:cs typeface="LM Roman 9"/>
              </a:rPr>
              <a:t>Introduction to Supervised</a:t>
            </a:r>
            <a:r>
              <a:rPr sz="900" dirty="0">
                <a:latin typeface="LM Roman 9"/>
                <a:cs typeface="LM Roman 9"/>
              </a:rPr>
              <a:t> </a:t>
            </a:r>
            <a:r>
              <a:rPr sz="900" spc="-5" dirty="0">
                <a:latin typeface="LM Roman 9"/>
                <a:cs typeface="LM Roman 9"/>
              </a:rPr>
              <a:t>Learning</a:t>
            </a:r>
            <a:r>
              <a:rPr sz="900" spc="5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.2</a:t>
            </a:r>
            <a:endParaRPr sz="1000">
              <a:latin typeface="LM Roman 10"/>
              <a:cs typeface="LM Roman 10"/>
            </a:endParaRPr>
          </a:p>
          <a:p>
            <a:pPr marL="12700" marR="5080" lvl="1" algn="r">
              <a:lnSpc>
                <a:spcPct val="101400"/>
              </a:lnSpc>
              <a:buSzPct val="111111"/>
              <a:buFont typeface="LM Roman 10"/>
              <a:buAutoNum type="arabicPeriod"/>
              <a:tabLst>
                <a:tab pos="303530" algn="l"/>
                <a:tab pos="304165" algn="l"/>
                <a:tab pos="417195" algn="l"/>
              </a:tabLst>
            </a:pPr>
            <a:r>
              <a:rPr sz="900" spc="-10" dirty="0">
                <a:latin typeface="LM Roman 9"/>
                <a:cs typeface="LM Roman 9"/>
              </a:rPr>
              <a:t>Notations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0" dirty="0">
                <a:latin typeface="LM Roman 9"/>
                <a:cs typeface="LM Roman 9"/>
              </a:rPr>
              <a:t>and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0" dirty="0">
                <a:latin typeface="LM Roman 9"/>
                <a:cs typeface="LM Roman 9"/>
              </a:rPr>
              <a:t>general</a:t>
            </a:r>
            <a:r>
              <a:rPr sz="900" dirty="0">
                <a:latin typeface="LM Roman 9"/>
                <a:cs typeface="LM Roman 9"/>
              </a:rPr>
              <a:t> </a:t>
            </a:r>
            <a:r>
              <a:rPr sz="900" spc="-10" dirty="0">
                <a:latin typeface="LM Roman 9"/>
                <a:cs typeface="LM Roman 9"/>
              </a:rPr>
              <a:t>concepts</a:t>
            </a:r>
            <a:r>
              <a:rPr sz="900" spc="27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.2  1.3	</a:t>
            </a:r>
            <a:r>
              <a:rPr sz="900" spc="-5" dirty="0">
                <a:latin typeface="LM Roman 9"/>
                <a:cs typeface="LM Roman 9"/>
              </a:rPr>
              <a:t>Linear </a:t>
            </a:r>
            <a:r>
              <a:rPr sz="900" dirty="0">
                <a:latin typeface="LM Roman 9"/>
                <a:cs typeface="LM Roman 9"/>
              </a:rPr>
              <a:t>models</a:t>
            </a:r>
            <a:r>
              <a:rPr sz="900" spc="24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.2  1.3.1		</a:t>
            </a:r>
            <a:r>
              <a:rPr sz="900" spc="-5" dirty="0">
                <a:latin typeface="LM Roman 9"/>
                <a:cs typeface="LM Roman 9"/>
              </a:rPr>
              <a:t>Linear </a:t>
            </a:r>
            <a:r>
              <a:rPr sz="900" spc="-10" dirty="0">
                <a:latin typeface="LM Roman 9"/>
                <a:cs typeface="LM Roman 9"/>
              </a:rPr>
              <a:t>regression</a:t>
            </a:r>
            <a:r>
              <a:rPr sz="900" spc="7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.2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083" y="3138733"/>
            <a:ext cx="4098925" cy="1413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4495" marR="5080" lvl="2" indent="-404495" algn="r">
              <a:lnSpc>
                <a:spcPct val="100000"/>
              </a:lnSpc>
              <a:spcBef>
                <a:spcPts val="95"/>
              </a:spcBef>
              <a:buSzPct val="111111"/>
              <a:buFont typeface="LM Roman 10"/>
              <a:buAutoNum type="arabicPeriod" startAt="2"/>
              <a:tabLst>
                <a:tab pos="404495" algn="l"/>
                <a:tab pos="405130" algn="l"/>
              </a:tabLst>
            </a:pPr>
            <a:r>
              <a:rPr sz="900" spc="-5" dirty="0">
                <a:latin typeface="LM Roman 9"/>
                <a:cs typeface="LM Roman 9"/>
              </a:rPr>
              <a:t>Classification </a:t>
            </a:r>
            <a:r>
              <a:rPr sz="900" spc="-10" dirty="0">
                <a:latin typeface="LM Roman 9"/>
                <a:cs typeface="LM Roman 9"/>
              </a:rPr>
              <a:t>and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0" dirty="0">
                <a:latin typeface="LM Roman 9"/>
                <a:cs typeface="LM Roman 9"/>
              </a:rPr>
              <a:t>logistic</a:t>
            </a:r>
            <a:r>
              <a:rPr sz="900" dirty="0">
                <a:latin typeface="LM Roman 9"/>
                <a:cs typeface="LM Roman 9"/>
              </a:rPr>
              <a:t> </a:t>
            </a:r>
            <a:r>
              <a:rPr sz="900" spc="-5" dirty="0">
                <a:latin typeface="LM Roman 9"/>
                <a:cs typeface="LM Roman 9"/>
              </a:rPr>
              <a:t>regression</a:t>
            </a:r>
            <a:r>
              <a:rPr sz="900" spc="14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.3</a:t>
            </a:r>
            <a:endParaRPr sz="1000">
              <a:latin typeface="LM Roman 10"/>
              <a:cs typeface="LM Roman 10"/>
            </a:endParaRPr>
          </a:p>
          <a:p>
            <a:pPr marL="12700" marR="5080" lvl="2" indent="290830" algn="just">
              <a:lnSpc>
                <a:spcPct val="101400"/>
              </a:lnSpc>
              <a:buSzPct val="111111"/>
              <a:buFont typeface="LM Roman 10"/>
              <a:buAutoNum type="arabicPeriod" startAt="2"/>
              <a:tabLst>
                <a:tab pos="708660" algn="l"/>
              </a:tabLst>
            </a:pPr>
            <a:r>
              <a:rPr sz="900" spc="-10" dirty="0">
                <a:latin typeface="LM Roman 9"/>
                <a:cs typeface="LM Roman 9"/>
              </a:rPr>
              <a:t>Generalized </a:t>
            </a:r>
            <a:r>
              <a:rPr sz="900" spc="-5" dirty="0">
                <a:latin typeface="LM Roman 9"/>
                <a:cs typeface="LM Roman 9"/>
              </a:rPr>
              <a:t>Linear </a:t>
            </a:r>
            <a:r>
              <a:rPr sz="900" dirty="0">
                <a:latin typeface="LM Roman 9"/>
                <a:cs typeface="LM Roman 9"/>
              </a:rPr>
              <a:t>Models </a:t>
            </a:r>
            <a:r>
              <a:rPr sz="1000" spc="-5" dirty="0">
                <a:latin typeface="LM Roman 10"/>
                <a:cs typeface="LM Roman 10"/>
              </a:rPr>
              <a:t>. . . . . . . . . . . . . . . . . . . .3  1.4</a:t>
            </a:r>
            <a:r>
              <a:rPr sz="1000" spc="320" dirty="0">
                <a:latin typeface="LM Roman 10"/>
                <a:cs typeface="LM Roman 10"/>
              </a:rPr>
              <a:t> </a:t>
            </a:r>
            <a:r>
              <a:rPr sz="900" dirty="0">
                <a:latin typeface="LM Roman 9"/>
                <a:cs typeface="LM Roman 9"/>
              </a:rPr>
              <a:t>Support </a:t>
            </a:r>
            <a:r>
              <a:rPr sz="900" spc="-15" dirty="0">
                <a:latin typeface="LM Roman 9"/>
                <a:cs typeface="LM Roman 9"/>
              </a:rPr>
              <a:t>Vector </a:t>
            </a:r>
            <a:r>
              <a:rPr sz="900" spc="-10" dirty="0">
                <a:latin typeface="LM Roman 9"/>
                <a:cs typeface="LM Roman 9"/>
              </a:rPr>
              <a:t>Machines </a:t>
            </a:r>
            <a:r>
              <a:rPr sz="1000" spc="-5" dirty="0">
                <a:latin typeface="LM Roman 10"/>
                <a:cs typeface="LM Roman 10"/>
              </a:rPr>
              <a:t>. . . . . . . . . . . . . . . . . . . . . . . .3  1.5</a:t>
            </a:r>
            <a:r>
              <a:rPr sz="1000" spc="25" dirty="0">
                <a:latin typeface="LM Roman 10"/>
                <a:cs typeface="LM Roman 10"/>
              </a:rPr>
              <a:t> </a:t>
            </a:r>
            <a:r>
              <a:rPr sz="900" spc="-10" dirty="0">
                <a:latin typeface="LM Roman 9"/>
                <a:cs typeface="LM Roman 9"/>
              </a:rPr>
              <a:t>Generative</a:t>
            </a:r>
            <a:r>
              <a:rPr sz="900" spc="-5" dirty="0">
                <a:latin typeface="LM Roman 9"/>
                <a:cs typeface="LM Roman 9"/>
              </a:rPr>
              <a:t> Learning</a:t>
            </a:r>
            <a:r>
              <a:rPr sz="900" spc="3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.4</a:t>
            </a:r>
            <a:endParaRPr sz="1000">
              <a:latin typeface="LM Roman 10"/>
              <a:cs typeface="LM Roman 10"/>
            </a:endParaRPr>
          </a:p>
          <a:p>
            <a:pPr marL="303530" marR="5080" algn="just">
              <a:lnSpc>
                <a:spcPct val="101400"/>
              </a:lnSpc>
            </a:pPr>
            <a:r>
              <a:rPr sz="1000" spc="-5" dirty="0">
                <a:latin typeface="LM Roman 10"/>
                <a:cs typeface="LM Roman 10"/>
              </a:rPr>
              <a:t>1.5.1</a:t>
            </a:r>
            <a:r>
              <a:rPr sz="1000" spc="320" dirty="0">
                <a:latin typeface="LM Roman 10"/>
                <a:cs typeface="LM Roman 10"/>
              </a:rPr>
              <a:t> </a:t>
            </a:r>
            <a:r>
              <a:rPr sz="900" spc="-10" dirty="0">
                <a:latin typeface="LM Roman 9"/>
                <a:cs typeface="LM Roman 9"/>
              </a:rPr>
              <a:t>Gaussian </a:t>
            </a:r>
            <a:r>
              <a:rPr sz="900" spc="-5" dirty="0">
                <a:latin typeface="LM Roman 9"/>
                <a:cs typeface="LM Roman 9"/>
              </a:rPr>
              <a:t>Discriminant </a:t>
            </a:r>
            <a:r>
              <a:rPr sz="900" spc="-10" dirty="0">
                <a:latin typeface="LM Roman 9"/>
                <a:cs typeface="LM Roman 9"/>
              </a:rPr>
              <a:t>Analysis </a:t>
            </a:r>
            <a:r>
              <a:rPr sz="1000" spc="-5" dirty="0">
                <a:latin typeface="LM Roman 10"/>
                <a:cs typeface="LM Roman 10"/>
              </a:rPr>
              <a:t>. . . . . . . . . . . . . . . . .4  1.5.2  </a:t>
            </a:r>
            <a:r>
              <a:rPr sz="1000" spc="150" dirty="0">
                <a:latin typeface="LM Roman 10"/>
                <a:cs typeface="LM Roman 10"/>
              </a:rPr>
              <a:t> </a:t>
            </a:r>
            <a:r>
              <a:rPr sz="900" spc="-15" dirty="0">
                <a:latin typeface="LM Roman 9"/>
                <a:cs typeface="LM Roman 9"/>
              </a:rPr>
              <a:t>Naive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5" dirty="0">
                <a:latin typeface="LM Roman 9"/>
                <a:cs typeface="LM Roman 9"/>
              </a:rPr>
              <a:t>Bayes </a:t>
            </a:r>
            <a:r>
              <a:rPr sz="900" spc="16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.4</a:t>
            </a:r>
            <a:endParaRPr sz="1000">
              <a:latin typeface="LM Roman 10"/>
              <a:cs typeface="LM Roman 10"/>
            </a:endParaRPr>
          </a:p>
          <a:p>
            <a:pPr marL="290830" marR="5080" lvl="1" indent="-290830" algn="r">
              <a:lnSpc>
                <a:spcPct val="100000"/>
              </a:lnSpc>
              <a:spcBef>
                <a:spcPts val="15"/>
              </a:spcBef>
              <a:buSzPct val="111111"/>
              <a:buFont typeface="LM Roman 10"/>
              <a:buAutoNum type="arabicPeriod" startAt="6"/>
              <a:tabLst>
                <a:tab pos="290830" algn="l"/>
                <a:tab pos="291465" algn="l"/>
              </a:tabLst>
            </a:pPr>
            <a:r>
              <a:rPr sz="900" spc="-10" dirty="0">
                <a:latin typeface="LM Roman 9"/>
                <a:cs typeface="LM Roman 9"/>
              </a:rPr>
              <a:t>Tree-based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0" dirty="0">
                <a:latin typeface="LM Roman 9"/>
                <a:cs typeface="LM Roman 9"/>
              </a:rPr>
              <a:t>and</a:t>
            </a:r>
            <a:r>
              <a:rPr sz="900" spc="-5" dirty="0">
                <a:latin typeface="LM Roman 9"/>
                <a:cs typeface="LM Roman 9"/>
              </a:rPr>
              <a:t> ensemble </a:t>
            </a:r>
            <a:r>
              <a:rPr sz="900" dirty="0">
                <a:latin typeface="LM Roman 9"/>
                <a:cs typeface="LM Roman 9"/>
              </a:rPr>
              <a:t>methods</a:t>
            </a:r>
            <a:r>
              <a:rPr sz="900" spc="204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.4</a:t>
            </a:r>
            <a:endParaRPr sz="1000">
              <a:latin typeface="LM Roman 10"/>
              <a:cs typeface="LM Roman 10"/>
            </a:endParaRPr>
          </a:p>
          <a:p>
            <a:pPr marL="12700" marR="5080" lvl="1">
              <a:lnSpc>
                <a:spcPct val="101400"/>
              </a:lnSpc>
              <a:buSzPct val="111111"/>
              <a:buFont typeface="LM Roman 10"/>
              <a:buAutoNum type="arabicPeriod" startAt="6"/>
              <a:tabLst>
                <a:tab pos="303530" algn="l"/>
                <a:tab pos="304165" algn="l"/>
              </a:tabLst>
            </a:pPr>
            <a:r>
              <a:rPr sz="900" spc="-5" dirty="0">
                <a:latin typeface="LM Roman 9"/>
                <a:cs typeface="LM Roman 9"/>
              </a:rPr>
              <a:t>Other non-parametric </a:t>
            </a:r>
            <a:r>
              <a:rPr sz="900" spc="-10" dirty="0">
                <a:latin typeface="LM Roman 9"/>
                <a:cs typeface="LM Roman 9"/>
              </a:rPr>
              <a:t>approaches </a:t>
            </a:r>
            <a:r>
              <a:rPr sz="1000" spc="-5" dirty="0">
                <a:latin typeface="LM Roman 10"/>
                <a:cs typeface="LM Roman 10"/>
              </a:rPr>
              <a:t>. . . . . . . . . . . . . . . . . . . .4  1.8	</a:t>
            </a:r>
            <a:r>
              <a:rPr sz="900" spc="-5" dirty="0">
                <a:latin typeface="LM Roman 9"/>
                <a:cs typeface="LM Roman 9"/>
              </a:rPr>
              <a:t>Learning Theory</a:t>
            </a:r>
            <a:r>
              <a:rPr sz="900" spc="25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.5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5294" y="4670331"/>
            <a:ext cx="4288790" cy="2456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930" indent="-189865">
              <a:lnSpc>
                <a:spcPts val="1195"/>
              </a:lnSpc>
              <a:buSzPct val="111111"/>
              <a:buFont typeface="LM Roman 10"/>
              <a:buAutoNum type="arabicPlain" startAt="2"/>
              <a:tabLst>
                <a:tab pos="202565" algn="l"/>
              </a:tabLst>
            </a:pPr>
            <a:r>
              <a:rPr sz="900" b="1" spc="-5" dirty="0">
                <a:latin typeface="LM Roman 9"/>
                <a:cs typeface="LM Roman 9"/>
              </a:rPr>
              <a:t>Unsupervised</a:t>
            </a:r>
            <a:r>
              <a:rPr sz="900" b="1" spc="-10" dirty="0">
                <a:latin typeface="LM Roman 9"/>
                <a:cs typeface="LM Roman 9"/>
              </a:rPr>
              <a:t> Learning</a:t>
            </a:r>
            <a:endParaRPr sz="900">
              <a:latin typeface="LM Roman 9"/>
              <a:cs typeface="LM Roman 9"/>
            </a:endParaRPr>
          </a:p>
          <a:p>
            <a:pPr marL="201930" marR="5080" lvl="1" algn="r">
              <a:lnSpc>
                <a:spcPct val="101400"/>
              </a:lnSpc>
              <a:buSzPct val="111111"/>
              <a:buFont typeface="LM Roman 10"/>
              <a:buAutoNum type="arabicPeriod"/>
              <a:tabLst>
                <a:tab pos="493395" algn="l"/>
                <a:tab pos="494030" algn="l"/>
              </a:tabLst>
            </a:pPr>
            <a:r>
              <a:rPr sz="900" spc="-5" dirty="0">
                <a:latin typeface="LM Roman 9"/>
                <a:cs typeface="LM Roman 9"/>
              </a:rPr>
              <a:t>Introduction to Unsupervised</a:t>
            </a:r>
            <a:r>
              <a:rPr sz="900" dirty="0">
                <a:latin typeface="LM Roman 9"/>
                <a:cs typeface="LM Roman 9"/>
              </a:rPr>
              <a:t> </a:t>
            </a:r>
            <a:r>
              <a:rPr sz="900" spc="-5" dirty="0">
                <a:latin typeface="LM Roman 9"/>
                <a:cs typeface="LM Roman 9"/>
              </a:rPr>
              <a:t>Learning</a:t>
            </a:r>
            <a:r>
              <a:rPr sz="900" spc="25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.6  2.2	</a:t>
            </a:r>
            <a:r>
              <a:rPr sz="900" spc="-5" dirty="0">
                <a:latin typeface="LM Roman 9"/>
                <a:cs typeface="LM Roman 9"/>
              </a:rPr>
              <a:t>Clustering </a:t>
            </a:r>
            <a:r>
              <a:rPr sz="900" spc="21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.6</a:t>
            </a:r>
            <a:endParaRPr sz="1000">
              <a:latin typeface="LM Roman 10"/>
              <a:cs typeface="LM Roman 10"/>
            </a:endParaRPr>
          </a:p>
          <a:p>
            <a:pPr marL="493395" marR="5080" algn="r">
              <a:lnSpc>
                <a:spcPct val="101400"/>
              </a:lnSpc>
              <a:tabLst>
                <a:tab pos="897890" algn="l"/>
              </a:tabLst>
            </a:pPr>
            <a:r>
              <a:rPr sz="1000" spc="-5" dirty="0">
                <a:latin typeface="LM Roman 10"/>
                <a:cs typeface="LM Roman 10"/>
              </a:rPr>
              <a:t>2.2.1	</a:t>
            </a:r>
            <a:r>
              <a:rPr sz="900" spc="-5" dirty="0">
                <a:latin typeface="LM Roman 9"/>
                <a:cs typeface="LM Roman 9"/>
              </a:rPr>
              <a:t>Expectation-Maximization</a:t>
            </a:r>
            <a:r>
              <a:rPr sz="900" spc="6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5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.6  2.2.2	</a:t>
            </a:r>
            <a:r>
              <a:rPr sz="900" i="1" spc="-5" dirty="0">
                <a:latin typeface="Avdira"/>
                <a:cs typeface="Avdira"/>
              </a:rPr>
              <a:t>k</a:t>
            </a:r>
            <a:r>
              <a:rPr sz="900" spc="-5" dirty="0">
                <a:latin typeface="LM Roman 9"/>
                <a:cs typeface="LM Roman 9"/>
              </a:rPr>
              <a:t>-means clustering</a:t>
            </a:r>
            <a:r>
              <a:rPr sz="900" spc="15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.6</a:t>
            </a:r>
            <a:endParaRPr sz="1000">
              <a:latin typeface="LM Roman 10"/>
              <a:cs typeface="LM Roman 10"/>
            </a:endParaRPr>
          </a:p>
          <a:p>
            <a:pPr marR="5080" algn="r">
              <a:lnSpc>
                <a:spcPct val="100000"/>
              </a:lnSpc>
              <a:spcBef>
                <a:spcPts val="15"/>
              </a:spcBef>
              <a:tabLst>
                <a:tab pos="404495" algn="l"/>
              </a:tabLst>
            </a:pPr>
            <a:r>
              <a:rPr sz="1000" spc="-5" dirty="0">
                <a:latin typeface="LM Roman 10"/>
                <a:cs typeface="LM Roman 10"/>
              </a:rPr>
              <a:t>2.2.3	</a:t>
            </a:r>
            <a:r>
              <a:rPr sz="900" spc="-10" dirty="0">
                <a:latin typeface="LM Roman 9"/>
                <a:cs typeface="LM Roman 9"/>
              </a:rPr>
              <a:t>Hierarchical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0" dirty="0">
                <a:latin typeface="LM Roman 9"/>
                <a:cs typeface="LM Roman 9"/>
              </a:rPr>
              <a:t>clustering</a:t>
            </a:r>
            <a:r>
              <a:rPr sz="900" spc="21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.6</a:t>
            </a:r>
            <a:endParaRPr sz="1000">
              <a:latin typeface="LM Roman 10"/>
              <a:cs typeface="LM Roman 10"/>
            </a:endParaRPr>
          </a:p>
          <a:p>
            <a:pPr marL="201930" marR="5080" indent="290830" algn="r">
              <a:lnSpc>
                <a:spcPct val="101400"/>
              </a:lnSpc>
              <a:tabLst>
                <a:tab pos="493395" algn="l"/>
                <a:tab pos="897890" algn="l"/>
              </a:tabLst>
            </a:pPr>
            <a:r>
              <a:rPr sz="1000" spc="-5" dirty="0">
                <a:latin typeface="LM Roman 10"/>
                <a:cs typeface="LM Roman 10"/>
              </a:rPr>
              <a:t>2.2.4	</a:t>
            </a:r>
            <a:r>
              <a:rPr sz="900" spc="-5" dirty="0">
                <a:latin typeface="LM Roman 9"/>
                <a:cs typeface="LM Roman 9"/>
              </a:rPr>
              <a:t>Clustering </a:t>
            </a:r>
            <a:r>
              <a:rPr sz="900" spc="-10" dirty="0">
                <a:latin typeface="LM Roman 9"/>
                <a:cs typeface="LM Roman 9"/>
              </a:rPr>
              <a:t>assessment</a:t>
            </a:r>
            <a:r>
              <a:rPr sz="900" spc="-5" dirty="0">
                <a:latin typeface="LM Roman 9"/>
                <a:cs typeface="LM Roman 9"/>
              </a:rPr>
              <a:t> metrics 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.6  2.3	</a:t>
            </a:r>
            <a:r>
              <a:rPr sz="900" spc="-5" dirty="0">
                <a:latin typeface="LM Roman 9"/>
                <a:cs typeface="LM Roman 9"/>
              </a:rPr>
              <a:t>Dimension reduction</a:t>
            </a:r>
            <a:r>
              <a:rPr sz="900" spc="21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.7</a:t>
            </a:r>
            <a:endParaRPr sz="1000">
              <a:latin typeface="LM Roman 10"/>
              <a:cs typeface="LM Roman 10"/>
            </a:endParaRPr>
          </a:p>
          <a:p>
            <a:pPr marL="897890" lvl="2" indent="-405130">
              <a:lnSpc>
                <a:spcPct val="100000"/>
              </a:lnSpc>
              <a:spcBef>
                <a:spcPts val="15"/>
              </a:spcBef>
              <a:buSzPct val="111111"/>
              <a:buFont typeface="LM Roman 10"/>
              <a:buAutoNum type="arabicPeriod"/>
              <a:tabLst>
                <a:tab pos="897890" algn="l"/>
                <a:tab pos="898525" algn="l"/>
              </a:tabLst>
            </a:pPr>
            <a:r>
              <a:rPr sz="900" spc="-5" dirty="0">
                <a:latin typeface="LM Roman 9"/>
                <a:cs typeface="LM Roman 9"/>
              </a:rPr>
              <a:t>Principal </a:t>
            </a:r>
            <a:r>
              <a:rPr sz="900" spc="-10" dirty="0">
                <a:latin typeface="LM Roman 9"/>
                <a:cs typeface="LM Roman 9"/>
              </a:rPr>
              <a:t>component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0" dirty="0">
                <a:latin typeface="LM Roman 9"/>
                <a:cs typeface="LM Roman 9"/>
              </a:rPr>
              <a:t>analysis </a:t>
            </a:r>
            <a:r>
              <a:rPr sz="900" spc="21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.7</a:t>
            </a:r>
            <a:endParaRPr sz="1000">
              <a:latin typeface="LM Roman 10"/>
              <a:cs typeface="LM Roman 10"/>
            </a:endParaRPr>
          </a:p>
          <a:p>
            <a:pPr marL="897890" lvl="2" indent="-405130">
              <a:lnSpc>
                <a:spcPct val="100000"/>
              </a:lnSpc>
              <a:spcBef>
                <a:spcPts val="20"/>
              </a:spcBef>
              <a:buSzPct val="111111"/>
              <a:buFont typeface="LM Roman 10"/>
              <a:buAutoNum type="arabicPeriod"/>
              <a:tabLst>
                <a:tab pos="897890" algn="l"/>
                <a:tab pos="898525" algn="l"/>
              </a:tabLst>
            </a:pPr>
            <a:r>
              <a:rPr sz="900" spc="-5" dirty="0">
                <a:latin typeface="LM Roman 9"/>
                <a:cs typeface="LM Roman 9"/>
              </a:rPr>
              <a:t>Independent </a:t>
            </a:r>
            <a:r>
              <a:rPr sz="900" spc="-10" dirty="0">
                <a:latin typeface="LM Roman 9"/>
                <a:cs typeface="LM Roman 9"/>
              </a:rPr>
              <a:t>component</a:t>
            </a:r>
            <a:r>
              <a:rPr sz="900" dirty="0">
                <a:latin typeface="LM Roman 9"/>
                <a:cs typeface="LM Roman 9"/>
              </a:rPr>
              <a:t> </a:t>
            </a:r>
            <a:r>
              <a:rPr sz="900" spc="-10" dirty="0">
                <a:latin typeface="LM Roman 9"/>
                <a:cs typeface="LM Roman 9"/>
              </a:rPr>
              <a:t>analysis</a:t>
            </a:r>
            <a:r>
              <a:rPr sz="900" spc="-5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.7</a:t>
            </a:r>
            <a:endParaRPr sz="1000">
              <a:latin typeface="LM Roman 10"/>
              <a:cs typeface="LM Roman 10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000" b="1" spc="-5" dirty="0">
                <a:latin typeface="LM Roman 10"/>
                <a:cs typeface="LM Roman 10"/>
              </a:rPr>
              <a:t>3</a:t>
            </a:r>
            <a:r>
              <a:rPr sz="1000" b="1" spc="370" dirty="0">
                <a:latin typeface="LM Roman 10"/>
                <a:cs typeface="LM Roman 10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Deep</a:t>
            </a:r>
            <a:r>
              <a:rPr sz="900" b="1" spc="-220" dirty="0">
                <a:latin typeface="LM Roman 9"/>
                <a:cs typeface="LM Roman 9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Learning</a:t>
            </a:r>
            <a:endParaRPr sz="900">
              <a:latin typeface="LM Roman 9"/>
              <a:cs typeface="LM Roman 9"/>
            </a:endParaRPr>
          </a:p>
          <a:p>
            <a:pPr marL="201930">
              <a:lnSpc>
                <a:spcPct val="100000"/>
              </a:lnSpc>
              <a:spcBef>
                <a:spcPts val="15"/>
              </a:spcBef>
              <a:tabLst>
                <a:tab pos="493395" algn="l"/>
              </a:tabLst>
            </a:pPr>
            <a:r>
              <a:rPr sz="1000" spc="-5" dirty="0">
                <a:latin typeface="LM Roman 10"/>
                <a:cs typeface="LM Roman 10"/>
              </a:rPr>
              <a:t>3.1	</a:t>
            </a:r>
            <a:r>
              <a:rPr sz="900" spc="-10" dirty="0">
                <a:latin typeface="LM Roman 9"/>
                <a:cs typeface="LM Roman 9"/>
              </a:rPr>
              <a:t>Neural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5" dirty="0">
                <a:latin typeface="LM Roman 9"/>
                <a:cs typeface="LM Roman 9"/>
              </a:rPr>
              <a:t>Networks</a:t>
            </a:r>
            <a:r>
              <a:rPr sz="900" spc="26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.8</a:t>
            </a:r>
            <a:endParaRPr sz="1000">
              <a:latin typeface="LM Roman 10"/>
              <a:cs typeface="LM Roman 10"/>
            </a:endParaRPr>
          </a:p>
          <a:p>
            <a:pPr marL="201930">
              <a:lnSpc>
                <a:spcPct val="100000"/>
              </a:lnSpc>
              <a:spcBef>
                <a:spcPts val="20"/>
              </a:spcBef>
              <a:tabLst>
                <a:tab pos="493395" algn="l"/>
              </a:tabLst>
            </a:pPr>
            <a:r>
              <a:rPr sz="1000" spc="-5" dirty="0">
                <a:latin typeface="LM Roman 10"/>
                <a:cs typeface="LM Roman 10"/>
              </a:rPr>
              <a:t>3.2	</a:t>
            </a:r>
            <a:r>
              <a:rPr sz="900" spc="-10" dirty="0">
                <a:latin typeface="LM Roman 9"/>
                <a:cs typeface="LM Roman 9"/>
              </a:rPr>
              <a:t>Convolutional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0" dirty="0">
                <a:latin typeface="LM Roman 9"/>
                <a:cs typeface="LM Roman 9"/>
              </a:rPr>
              <a:t>Neural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5" dirty="0">
                <a:latin typeface="LM Roman 9"/>
                <a:cs typeface="LM Roman 9"/>
              </a:rPr>
              <a:t>Networks </a:t>
            </a:r>
            <a:r>
              <a:rPr sz="900" spc="25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.8</a:t>
            </a:r>
            <a:endParaRPr sz="1000">
              <a:latin typeface="LM Roman 10"/>
              <a:cs typeface="LM Roman 10"/>
            </a:endParaRPr>
          </a:p>
          <a:p>
            <a:pPr marR="5080" algn="r">
              <a:lnSpc>
                <a:spcPct val="100000"/>
              </a:lnSpc>
              <a:spcBef>
                <a:spcPts val="15"/>
              </a:spcBef>
              <a:tabLst>
                <a:tab pos="290830" algn="l"/>
              </a:tabLst>
            </a:pPr>
            <a:r>
              <a:rPr sz="1000" spc="-5" dirty="0">
                <a:latin typeface="LM Roman 10"/>
                <a:cs typeface="LM Roman 10"/>
              </a:rPr>
              <a:t>3.3	</a:t>
            </a:r>
            <a:r>
              <a:rPr sz="900" spc="-5" dirty="0">
                <a:latin typeface="LM Roman 9"/>
                <a:cs typeface="LM Roman 9"/>
              </a:rPr>
              <a:t>Recurrent </a:t>
            </a:r>
            <a:r>
              <a:rPr sz="900" spc="-10" dirty="0">
                <a:latin typeface="LM Roman 9"/>
                <a:cs typeface="LM Roman 9"/>
              </a:rPr>
              <a:t>Neural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5" dirty="0">
                <a:latin typeface="LM Roman 9"/>
                <a:cs typeface="LM Roman 9"/>
              </a:rPr>
              <a:t>Networks  </a:t>
            </a:r>
            <a:r>
              <a:rPr sz="900" spc="3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.8</a:t>
            </a:r>
            <a:endParaRPr sz="1000">
              <a:latin typeface="LM Roman 10"/>
              <a:cs typeface="LM Roman 10"/>
            </a:endParaRPr>
          </a:p>
          <a:p>
            <a:pPr marL="201930">
              <a:lnSpc>
                <a:spcPct val="100000"/>
              </a:lnSpc>
              <a:spcBef>
                <a:spcPts val="15"/>
              </a:spcBef>
              <a:tabLst>
                <a:tab pos="493395" algn="l"/>
              </a:tabLst>
            </a:pPr>
            <a:r>
              <a:rPr sz="1000" spc="-5" dirty="0">
                <a:latin typeface="LM Roman 10"/>
                <a:cs typeface="LM Roman 10"/>
              </a:rPr>
              <a:t>3.4	</a:t>
            </a:r>
            <a:r>
              <a:rPr sz="900" spc="-5" dirty="0">
                <a:latin typeface="LM Roman 9"/>
                <a:cs typeface="LM Roman 9"/>
              </a:rPr>
              <a:t>Reinforcement Learning </a:t>
            </a:r>
            <a:r>
              <a:rPr sz="900" spc="-10" dirty="0">
                <a:latin typeface="LM Roman 9"/>
                <a:cs typeface="LM Roman 9"/>
              </a:rPr>
              <a:t>and</a:t>
            </a:r>
            <a:r>
              <a:rPr sz="900" dirty="0">
                <a:latin typeface="LM Roman 9"/>
                <a:cs typeface="LM Roman 9"/>
              </a:rPr>
              <a:t> </a:t>
            </a:r>
            <a:r>
              <a:rPr sz="900" spc="-10" dirty="0">
                <a:latin typeface="LM Roman 9"/>
                <a:cs typeface="LM Roman 9"/>
              </a:rPr>
              <a:t>Control</a:t>
            </a:r>
            <a:r>
              <a:rPr sz="900" spc="-6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.9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62486" y="4657679"/>
            <a:ext cx="984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LM Roman 10"/>
                <a:cs typeface="LM Roman 10"/>
              </a:rPr>
              <a:t>6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62486" y="6331120"/>
            <a:ext cx="984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LM Roman 10"/>
                <a:cs typeface="LM Roman 10"/>
              </a:rPr>
              <a:t>8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61762" y="683953"/>
            <a:ext cx="2242185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</a:pPr>
            <a:r>
              <a:rPr sz="1000" b="1" spc="-5" dirty="0">
                <a:latin typeface="LM Roman 10"/>
                <a:cs typeface="LM Roman 10"/>
              </a:rPr>
              <a:t>4</a:t>
            </a:r>
            <a:r>
              <a:rPr sz="1000" b="1" spc="370" dirty="0">
                <a:latin typeface="LM Roman 10"/>
                <a:cs typeface="LM Roman 10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Machine Learning </a:t>
            </a:r>
            <a:r>
              <a:rPr sz="900" b="1" spc="-5" dirty="0">
                <a:latin typeface="LM Roman 9"/>
                <a:cs typeface="LM Roman 9"/>
              </a:rPr>
              <a:t>Tips and</a:t>
            </a:r>
            <a:r>
              <a:rPr sz="900" b="1" spc="-229" dirty="0">
                <a:latin typeface="LM Roman 9"/>
                <a:cs typeface="LM Roman 9"/>
              </a:rPr>
              <a:t> </a:t>
            </a:r>
            <a:r>
              <a:rPr sz="900" b="1" spc="-25" dirty="0">
                <a:latin typeface="LM Roman 9"/>
                <a:cs typeface="LM Roman 9"/>
              </a:rPr>
              <a:t>Tricks</a:t>
            </a:r>
            <a:endParaRPr sz="900">
              <a:latin typeface="LM Roman 9"/>
              <a:cs typeface="LM Roman 9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96196" y="671301"/>
            <a:ext cx="171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LM Roman 10"/>
                <a:cs typeface="LM Roman 10"/>
              </a:rPr>
              <a:t>10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61762" y="823130"/>
            <a:ext cx="4352290" cy="1062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1200"/>
              </a:lnSpc>
              <a:spcBef>
                <a:spcPts val="95"/>
              </a:spcBef>
              <a:tabLst>
                <a:tab pos="290830" algn="l"/>
              </a:tabLst>
            </a:pPr>
            <a:r>
              <a:rPr sz="1000" spc="-5" dirty="0">
                <a:latin typeface="LM Roman 10"/>
                <a:cs typeface="LM Roman 10"/>
              </a:rPr>
              <a:t>4.1	</a:t>
            </a:r>
            <a:r>
              <a:rPr sz="900" spc="-5" dirty="0">
                <a:latin typeface="LM Roman 9"/>
                <a:cs typeface="LM Roman 9"/>
              </a:rPr>
              <a:t>Metrics</a:t>
            </a:r>
            <a:r>
              <a:rPr sz="900" spc="12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.10</a:t>
            </a:r>
            <a:endParaRPr sz="1000">
              <a:latin typeface="LM Roman 10"/>
              <a:cs typeface="LM Roman 10"/>
            </a:endParaRPr>
          </a:p>
          <a:p>
            <a:pPr marR="5080" algn="r">
              <a:lnSpc>
                <a:spcPts val="1195"/>
              </a:lnSpc>
              <a:tabLst>
                <a:tab pos="404495" algn="l"/>
              </a:tabLst>
            </a:pPr>
            <a:r>
              <a:rPr sz="1000" spc="-5" dirty="0">
                <a:latin typeface="LM Roman 10"/>
                <a:cs typeface="LM Roman 10"/>
              </a:rPr>
              <a:t>4.1.1	</a:t>
            </a:r>
            <a:r>
              <a:rPr sz="900" spc="-5" dirty="0">
                <a:latin typeface="LM Roman 9"/>
                <a:cs typeface="LM Roman 9"/>
              </a:rPr>
              <a:t>Classification</a:t>
            </a:r>
            <a:r>
              <a:rPr sz="900" spc="2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.10</a:t>
            </a:r>
            <a:endParaRPr sz="1000">
              <a:latin typeface="LM Roman 10"/>
              <a:cs typeface="LM Roman 10"/>
            </a:endParaRPr>
          </a:p>
          <a:p>
            <a:pPr marR="5080" algn="r">
              <a:lnSpc>
                <a:spcPts val="1195"/>
              </a:lnSpc>
              <a:tabLst>
                <a:tab pos="404495" algn="l"/>
              </a:tabLst>
            </a:pPr>
            <a:r>
              <a:rPr sz="1000" spc="-5" dirty="0">
                <a:latin typeface="LM Roman 10"/>
                <a:cs typeface="LM Roman 10"/>
              </a:rPr>
              <a:t>4.1.2	</a:t>
            </a:r>
            <a:r>
              <a:rPr sz="900" spc="-5" dirty="0">
                <a:latin typeface="LM Roman 9"/>
                <a:cs typeface="LM Roman 9"/>
              </a:rPr>
              <a:t>Regression </a:t>
            </a:r>
            <a:r>
              <a:rPr sz="900" spc="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.10</a:t>
            </a:r>
            <a:endParaRPr sz="1000">
              <a:latin typeface="LM Roman 10"/>
              <a:cs typeface="LM Roman 10"/>
            </a:endParaRPr>
          </a:p>
          <a:p>
            <a:pPr marR="5080" algn="r">
              <a:lnSpc>
                <a:spcPts val="1195"/>
              </a:lnSpc>
              <a:tabLst>
                <a:tab pos="290830" algn="l"/>
              </a:tabLst>
            </a:pPr>
            <a:r>
              <a:rPr sz="1000" spc="-5" dirty="0">
                <a:latin typeface="LM Roman 10"/>
                <a:cs typeface="LM Roman 10"/>
              </a:rPr>
              <a:t>4.2	</a:t>
            </a:r>
            <a:r>
              <a:rPr sz="900" dirty="0">
                <a:latin typeface="LM Roman 9"/>
                <a:cs typeface="LM Roman 9"/>
              </a:rPr>
              <a:t>Model</a:t>
            </a:r>
            <a:r>
              <a:rPr sz="900" spc="-5" dirty="0">
                <a:latin typeface="LM Roman 9"/>
                <a:cs typeface="LM Roman 9"/>
              </a:rPr>
              <a:t> selection</a:t>
            </a:r>
            <a:r>
              <a:rPr sz="900" spc="-3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.11</a:t>
            </a:r>
            <a:endParaRPr sz="1000">
              <a:latin typeface="LM Roman 10"/>
              <a:cs typeface="LM Roman 10"/>
            </a:endParaRPr>
          </a:p>
          <a:p>
            <a:pPr marR="5080" algn="r">
              <a:lnSpc>
                <a:spcPts val="1200"/>
              </a:lnSpc>
              <a:tabLst>
                <a:tab pos="290830" algn="l"/>
              </a:tabLst>
            </a:pPr>
            <a:r>
              <a:rPr sz="1000" spc="-5" dirty="0">
                <a:latin typeface="LM Roman 10"/>
                <a:cs typeface="LM Roman 10"/>
              </a:rPr>
              <a:t>4.3	</a:t>
            </a:r>
            <a:r>
              <a:rPr sz="900" spc="-5" dirty="0">
                <a:latin typeface="LM Roman 9"/>
                <a:cs typeface="LM Roman 9"/>
              </a:rPr>
              <a:t>Diagnostics</a:t>
            </a:r>
            <a:r>
              <a:rPr sz="900" spc="7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.11</a:t>
            </a:r>
            <a:endParaRPr sz="1000">
              <a:latin typeface="LM Roman 10"/>
              <a:cs typeface="LM Roman 10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000" b="1" spc="-5" dirty="0">
                <a:latin typeface="LM Roman 10"/>
                <a:cs typeface="LM Roman 10"/>
              </a:rPr>
              <a:t>5</a:t>
            </a:r>
            <a:r>
              <a:rPr sz="1000" b="1" spc="155" dirty="0">
                <a:latin typeface="LM Roman 10"/>
                <a:cs typeface="LM Roman 10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Refreshers</a:t>
            </a:r>
            <a:endParaRPr sz="900">
              <a:latin typeface="LM Roman 9"/>
              <a:cs typeface="LM Roman 9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96196" y="1708815"/>
            <a:ext cx="171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LM Roman 10"/>
                <a:cs typeface="LM Roman 10"/>
              </a:rPr>
              <a:t>12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51551" y="1860643"/>
            <a:ext cx="41624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3530" algn="l"/>
              </a:tabLst>
            </a:pPr>
            <a:r>
              <a:rPr sz="1000" spc="-5" dirty="0">
                <a:latin typeface="LM Roman 10"/>
                <a:cs typeface="LM Roman 10"/>
              </a:rPr>
              <a:t>5.1	</a:t>
            </a:r>
            <a:r>
              <a:rPr sz="900" spc="-5" dirty="0">
                <a:latin typeface="LM Roman 9"/>
                <a:cs typeface="LM Roman 9"/>
              </a:rPr>
              <a:t>Probabilities </a:t>
            </a:r>
            <a:r>
              <a:rPr sz="900" spc="-10" dirty="0">
                <a:latin typeface="LM Roman 9"/>
                <a:cs typeface="LM Roman 9"/>
              </a:rPr>
              <a:t>and</a:t>
            </a:r>
            <a:r>
              <a:rPr sz="900" spc="-5" dirty="0">
                <a:latin typeface="LM Roman 9"/>
                <a:cs typeface="LM Roman 9"/>
              </a:rPr>
              <a:t> Statistics</a:t>
            </a:r>
            <a:r>
              <a:rPr sz="900" spc="-1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.12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51551" y="2012472"/>
            <a:ext cx="4162425" cy="1088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>
              <a:lnSpc>
                <a:spcPts val="1200"/>
              </a:lnSpc>
              <a:spcBef>
                <a:spcPts val="95"/>
              </a:spcBef>
              <a:tabLst>
                <a:tab pos="708025" algn="l"/>
              </a:tabLst>
            </a:pPr>
            <a:r>
              <a:rPr sz="1000" spc="-5" dirty="0">
                <a:latin typeface="LM Roman 10"/>
                <a:cs typeface="LM Roman 10"/>
              </a:rPr>
              <a:t>5.1.1	</a:t>
            </a:r>
            <a:r>
              <a:rPr sz="900" spc="-5" dirty="0">
                <a:latin typeface="LM Roman 9"/>
                <a:cs typeface="LM Roman 9"/>
              </a:rPr>
              <a:t>Introduction to Probability </a:t>
            </a:r>
            <a:r>
              <a:rPr sz="900" spc="-10" dirty="0">
                <a:latin typeface="LM Roman 9"/>
                <a:cs typeface="LM Roman 9"/>
              </a:rPr>
              <a:t>and</a:t>
            </a:r>
            <a:r>
              <a:rPr sz="900" spc="-5" dirty="0">
                <a:latin typeface="LM Roman 9"/>
                <a:cs typeface="LM Roman 9"/>
              </a:rPr>
              <a:t> Combinatorics </a:t>
            </a:r>
            <a:r>
              <a:rPr sz="900" spc="8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.12</a:t>
            </a:r>
            <a:endParaRPr sz="1000">
              <a:latin typeface="LM Roman 10"/>
              <a:cs typeface="LM Roman 10"/>
            </a:endParaRPr>
          </a:p>
          <a:p>
            <a:pPr marL="303530" marR="5080" algn="r">
              <a:lnSpc>
                <a:spcPts val="1200"/>
              </a:lnSpc>
              <a:spcBef>
                <a:spcPts val="40"/>
              </a:spcBef>
              <a:tabLst>
                <a:tab pos="708025" algn="l"/>
              </a:tabLst>
            </a:pPr>
            <a:r>
              <a:rPr sz="1000" spc="-5" dirty="0">
                <a:latin typeface="LM Roman 10"/>
                <a:cs typeface="LM Roman 10"/>
              </a:rPr>
              <a:t>5.1.2	</a:t>
            </a:r>
            <a:r>
              <a:rPr sz="900" spc="-5" dirty="0">
                <a:latin typeface="LM Roman 9"/>
                <a:cs typeface="LM Roman 9"/>
              </a:rPr>
              <a:t>Conditional Probability</a:t>
            </a:r>
            <a:r>
              <a:rPr sz="900" spc="16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.12  5.1.3	</a:t>
            </a:r>
            <a:r>
              <a:rPr sz="900" spc="-5" dirty="0">
                <a:latin typeface="LM Roman 9"/>
                <a:cs typeface="LM Roman 9"/>
              </a:rPr>
              <a:t>Random </a:t>
            </a:r>
            <a:r>
              <a:rPr sz="900" spc="-15" dirty="0">
                <a:latin typeface="LM Roman 9"/>
                <a:cs typeface="LM Roman 9"/>
              </a:rPr>
              <a:t>Variables </a:t>
            </a:r>
            <a:r>
              <a:rPr sz="90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.13</a:t>
            </a:r>
            <a:endParaRPr sz="1000">
              <a:latin typeface="LM Roman 10"/>
              <a:cs typeface="LM Roman 10"/>
            </a:endParaRPr>
          </a:p>
          <a:p>
            <a:pPr marL="303530">
              <a:lnSpc>
                <a:spcPts val="1150"/>
              </a:lnSpc>
              <a:tabLst>
                <a:tab pos="708025" algn="l"/>
              </a:tabLst>
            </a:pPr>
            <a:r>
              <a:rPr sz="1000" spc="-5" dirty="0">
                <a:latin typeface="LM Roman 10"/>
                <a:cs typeface="LM Roman 10"/>
              </a:rPr>
              <a:t>5.1.4	</a:t>
            </a:r>
            <a:r>
              <a:rPr sz="900" spc="-10" dirty="0">
                <a:latin typeface="LM Roman 9"/>
                <a:cs typeface="LM Roman 9"/>
              </a:rPr>
              <a:t>Jointly</a:t>
            </a:r>
            <a:r>
              <a:rPr sz="900" spc="-5" dirty="0">
                <a:latin typeface="LM Roman 9"/>
                <a:cs typeface="LM Roman 9"/>
              </a:rPr>
              <a:t> Distributed</a:t>
            </a:r>
            <a:r>
              <a:rPr sz="900" dirty="0">
                <a:latin typeface="LM Roman 9"/>
                <a:cs typeface="LM Roman 9"/>
              </a:rPr>
              <a:t> </a:t>
            </a:r>
            <a:r>
              <a:rPr sz="900" spc="-5" dirty="0">
                <a:latin typeface="LM Roman 9"/>
                <a:cs typeface="LM Roman 9"/>
              </a:rPr>
              <a:t>Random </a:t>
            </a:r>
            <a:r>
              <a:rPr sz="900" spc="-15" dirty="0">
                <a:latin typeface="LM Roman 9"/>
                <a:cs typeface="LM Roman 9"/>
              </a:rPr>
              <a:t>Variables</a:t>
            </a:r>
            <a:r>
              <a:rPr sz="900" spc="5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.13</a:t>
            </a:r>
            <a:endParaRPr sz="1000">
              <a:latin typeface="LM Roman 10"/>
              <a:cs typeface="LM Roman 10"/>
            </a:endParaRPr>
          </a:p>
          <a:p>
            <a:pPr marR="5080" algn="r">
              <a:lnSpc>
                <a:spcPts val="1195"/>
              </a:lnSpc>
              <a:tabLst>
                <a:tab pos="404495" algn="l"/>
              </a:tabLst>
            </a:pPr>
            <a:r>
              <a:rPr sz="1000" spc="-5" dirty="0">
                <a:latin typeface="LM Roman 10"/>
                <a:cs typeface="LM Roman 10"/>
              </a:rPr>
              <a:t>5.1.5	</a:t>
            </a:r>
            <a:r>
              <a:rPr sz="900" spc="-10" dirty="0">
                <a:latin typeface="LM Roman 9"/>
                <a:cs typeface="LM Roman 9"/>
              </a:rPr>
              <a:t>Parameter</a:t>
            </a:r>
            <a:r>
              <a:rPr sz="900" spc="-5" dirty="0">
                <a:latin typeface="LM Roman 9"/>
                <a:cs typeface="LM Roman 9"/>
              </a:rPr>
              <a:t> estimation </a:t>
            </a:r>
            <a:r>
              <a:rPr sz="900" spc="229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.14</a:t>
            </a:r>
            <a:endParaRPr sz="1000">
              <a:latin typeface="LM Roman 10"/>
              <a:cs typeface="LM Roman 10"/>
            </a:endParaRPr>
          </a:p>
          <a:p>
            <a:pPr marL="303530" marR="5080" indent="-291465" algn="r">
              <a:lnSpc>
                <a:spcPts val="1200"/>
              </a:lnSpc>
              <a:spcBef>
                <a:spcPts val="35"/>
              </a:spcBef>
              <a:tabLst>
                <a:tab pos="303530" algn="l"/>
                <a:tab pos="708025" algn="l"/>
              </a:tabLst>
            </a:pPr>
            <a:r>
              <a:rPr sz="1000" spc="-5" dirty="0">
                <a:latin typeface="LM Roman 10"/>
                <a:cs typeface="LM Roman 10"/>
              </a:rPr>
              <a:t>5.2		</a:t>
            </a:r>
            <a:r>
              <a:rPr sz="900" spc="-5" dirty="0">
                <a:latin typeface="LM Roman 9"/>
                <a:cs typeface="LM Roman 9"/>
              </a:rPr>
              <a:t>Linear </a:t>
            </a:r>
            <a:r>
              <a:rPr sz="900" spc="-10" dirty="0">
                <a:latin typeface="LM Roman 9"/>
                <a:cs typeface="LM Roman 9"/>
              </a:rPr>
              <a:t>Algebra</a:t>
            </a:r>
            <a:r>
              <a:rPr sz="900" spc="-5" dirty="0">
                <a:latin typeface="LM Roman 9"/>
                <a:cs typeface="LM Roman 9"/>
              </a:rPr>
              <a:t> </a:t>
            </a:r>
            <a:r>
              <a:rPr sz="900" spc="-10" dirty="0">
                <a:latin typeface="LM Roman 9"/>
                <a:cs typeface="LM Roman 9"/>
              </a:rPr>
              <a:t>and</a:t>
            </a:r>
            <a:r>
              <a:rPr sz="900" dirty="0">
                <a:latin typeface="LM Roman 9"/>
                <a:cs typeface="LM Roman 9"/>
              </a:rPr>
              <a:t> </a:t>
            </a:r>
            <a:r>
              <a:rPr sz="900" spc="-5" dirty="0">
                <a:latin typeface="LM Roman 9"/>
                <a:cs typeface="LM Roman 9"/>
              </a:rPr>
              <a:t>Calculus</a:t>
            </a:r>
            <a:r>
              <a:rPr sz="900" spc="8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.14  5.2.1	</a:t>
            </a:r>
            <a:r>
              <a:rPr sz="900" spc="-10" dirty="0">
                <a:latin typeface="LM Roman 9"/>
                <a:cs typeface="LM Roman 9"/>
              </a:rPr>
              <a:t>General</a:t>
            </a:r>
            <a:r>
              <a:rPr sz="900" spc="-5" dirty="0">
                <a:latin typeface="LM Roman 9"/>
                <a:cs typeface="LM Roman 9"/>
              </a:rPr>
              <a:t> notations</a:t>
            </a:r>
            <a:r>
              <a:rPr sz="900" spc="204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.14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42559" y="3075284"/>
            <a:ext cx="387159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  <a:tabLst>
                <a:tab pos="417195" algn="l"/>
              </a:tabLst>
            </a:pPr>
            <a:r>
              <a:rPr sz="1000" spc="-5" dirty="0">
                <a:latin typeface="LM Roman 10"/>
                <a:cs typeface="LM Roman 10"/>
              </a:rPr>
              <a:t>5.2.2	</a:t>
            </a:r>
            <a:r>
              <a:rPr sz="900" spc="-5" dirty="0">
                <a:latin typeface="LM Roman 9"/>
                <a:cs typeface="LM Roman 9"/>
              </a:rPr>
              <a:t>Matrix </a:t>
            </a:r>
            <a:r>
              <a:rPr sz="900" dirty="0">
                <a:latin typeface="LM Roman 9"/>
                <a:cs typeface="LM Roman 9"/>
              </a:rPr>
              <a:t>operations </a:t>
            </a:r>
            <a:r>
              <a:rPr sz="900" spc="120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.15</a:t>
            </a:r>
            <a:endParaRPr sz="1000">
              <a:latin typeface="LM Roman 10"/>
              <a:cs typeface="LM Roman 10"/>
            </a:endParaRPr>
          </a:p>
          <a:p>
            <a:pPr marL="12700">
              <a:lnSpc>
                <a:spcPts val="1195"/>
              </a:lnSpc>
              <a:tabLst>
                <a:tab pos="417195" algn="l"/>
              </a:tabLst>
            </a:pPr>
            <a:r>
              <a:rPr sz="1000" spc="-5" dirty="0">
                <a:latin typeface="LM Roman 10"/>
                <a:cs typeface="LM Roman 10"/>
              </a:rPr>
              <a:t>5.2.3	</a:t>
            </a:r>
            <a:r>
              <a:rPr sz="900" spc="-5" dirty="0">
                <a:latin typeface="LM Roman 9"/>
                <a:cs typeface="LM Roman 9"/>
              </a:rPr>
              <a:t>Matrix </a:t>
            </a:r>
            <a:r>
              <a:rPr sz="900" dirty="0">
                <a:latin typeface="LM Roman 9"/>
                <a:cs typeface="LM Roman 9"/>
              </a:rPr>
              <a:t>properties </a:t>
            </a:r>
            <a:r>
              <a:rPr sz="900" spc="27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.15</a:t>
            </a:r>
            <a:endParaRPr sz="1000">
              <a:latin typeface="LM Roman 10"/>
              <a:cs typeface="LM Roman 10"/>
            </a:endParaRPr>
          </a:p>
          <a:p>
            <a:pPr marL="12700">
              <a:lnSpc>
                <a:spcPts val="1200"/>
              </a:lnSpc>
              <a:tabLst>
                <a:tab pos="417195" algn="l"/>
              </a:tabLst>
            </a:pPr>
            <a:r>
              <a:rPr sz="1000" spc="-5" dirty="0">
                <a:latin typeface="LM Roman 10"/>
                <a:cs typeface="LM Roman 10"/>
              </a:rPr>
              <a:t>5.2.4	</a:t>
            </a:r>
            <a:r>
              <a:rPr sz="900" spc="-5" dirty="0">
                <a:latin typeface="LM Roman 9"/>
                <a:cs typeface="LM Roman 9"/>
              </a:rPr>
              <a:t>Matrix </a:t>
            </a:r>
            <a:r>
              <a:rPr sz="900" spc="-10" dirty="0">
                <a:latin typeface="LM Roman 9"/>
                <a:cs typeface="LM Roman 9"/>
              </a:rPr>
              <a:t>calculus  </a:t>
            </a:r>
            <a:r>
              <a:rPr sz="900" spc="65" dirty="0">
                <a:latin typeface="LM Roman 9"/>
                <a:cs typeface="LM Roman 9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5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</a:t>
            </a:r>
            <a:r>
              <a:rPr sz="1000" spc="160" dirty="0">
                <a:latin typeface="LM Roman 10"/>
                <a:cs typeface="LM Roman 10"/>
              </a:rPr>
              <a:t> </a:t>
            </a:r>
            <a:r>
              <a:rPr sz="1000" spc="-5" dirty="0">
                <a:latin typeface="LM Roman 10"/>
                <a:cs typeface="LM Roman 10"/>
              </a:rPr>
              <a:t>.16</a:t>
            </a:r>
            <a:endParaRPr sz="1000">
              <a:latin typeface="LM Roman 10"/>
              <a:cs typeface="LM Roman 1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7994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299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6667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3999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299" y="683953"/>
            <a:ext cx="2517140" cy="441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0504" indent="-218440">
              <a:lnSpc>
                <a:spcPts val="1195"/>
              </a:lnSpc>
              <a:buSzPct val="111111"/>
              <a:buFont typeface="LM Roman 10"/>
              <a:buAutoNum type="arabicPlain"/>
              <a:tabLst>
                <a:tab pos="230504" algn="l"/>
                <a:tab pos="231140" algn="l"/>
              </a:tabLst>
            </a:pPr>
            <a:r>
              <a:rPr sz="900" b="1" dirty="0">
                <a:latin typeface="LM Roman 9"/>
                <a:cs typeface="LM Roman 9"/>
              </a:rPr>
              <a:t>Supervised</a:t>
            </a:r>
            <a:r>
              <a:rPr sz="900" b="1" spc="-10" dirty="0">
                <a:latin typeface="LM Roman 9"/>
                <a:cs typeface="LM Roman 9"/>
              </a:rPr>
              <a:t> Learning</a:t>
            </a:r>
            <a:endParaRPr sz="900">
              <a:latin typeface="LM Roman 9"/>
              <a:cs typeface="LM Roman 9"/>
            </a:endParaRPr>
          </a:p>
          <a:p>
            <a:pPr marL="343535" lvl="1" indent="-331470">
              <a:lnSpc>
                <a:spcPct val="100000"/>
              </a:lnSpc>
              <a:spcBef>
                <a:spcPts val="980"/>
              </a:spcBef>
              <a:buSzPct val="111111"/>
              <a:buFont typeface="LM Roman 10"/>
              <a:buAutoNum type="arabicPeriod"/>
              <a:tabLst>
                <a:tab pos="343535" algn="l"/>
                <a:tab pos="344170" algn="l"/>
              </a:tabLst>
            </a:pPr>
            <a:r>
              <a:rPr sz="900" b="1" spc="-5" dirty="0">
                <a:latin typeface="LM Roman 9"/>
                <a:cs typeface="LM Roman 9"/>
              </a:rPr>
              <a:t>Introduction to </a:t>
            </a:r>
            <a:r>
              <a:rPr sz="900" b="1" dirty="0">
                <a:latin typeface="LM Roman 9"/>
                <a:cs typeface="LM Roman 9"/>
              </a:rPr>
              <a:t>Supervised</a:t>
            </a:r>
            <a:r>
              <a:rPr sz="900" b="1" spc="-35" dirty="0">
                <a:latin typeface="LM Roman 9"/>
                <a:cs typeface="LM Roman 9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Learning</a:t>
            </a:r>
            <a:endParaRPr sz="900">
              <a:latin typeface="LM Roman 9"/>
              <a:cs typeface="LM Roman 9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8759" y="1195837"/>
            <a:ext cx="27940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4175" algn="l"/>
                <a:tab pos="2293620" algn="l"/>
                <a:tab pos="2698115" algn="l"/>
              </a:tabLst>
            </a:pPr>
            <a:r>
              <a:rPr sz="600" spc="-5" dirty="0">
                <a:latin typeface="LM Roman 6"/>
                <a:cs typeface="LM Roman 6"/>
              </a:rPr>
              <a:t>(1)	(  </a:t>
            </a:r>
            <a:r>
              <a:rPr sz="600" spc="-100" dirty="0">
                <a:latin typeface="LM Roman 6"/>
                <a:cs typeface="LM Roman 6"/>
              </a:rPr>
              <a:t> </a:t>
            </a:r>
            <a:r>
              <a:rPr sz="600" spc="-5" dirty="0">
                <a:latin typeface="LM Roman 6"/>
                <a:cs typeface="LM Roman 6"/>
              </a:rPr>
              <a:t>)</a:t>
            </a:r>
            <a:r>
              <a:rPr sz="600" dirty="0">
                <a:latin typeface="LM Roman 6"/>
                <a:cs typeface="LM Roman 6"/>
              </a:rPr>
              <a:t>	</a:t>
            </a:r>
            <a:r>
              <a:rPr sz="600" spc="-5" dirty="0">
                <a:latin typeface="LM Roman 6"/>
                <a:cs typeface="LM Roman 6"/>
              </a:rPr>
              <a:t>(1)</a:t>
            </a:r>
            <a:r>
              <a:rPr sz="600" dirty="0">
                <a:latin typeface="LM Roman 6"/>
                <a:cs typeface="LM Roman 6"/>
              </a:rPr>
              <a:t>	</a:t>
            </a:r>
            <a:r>
              <a:rPr sz="600" i="1" spc="220" dirty="0">
                <a:latin typeface="Times New Roman"/>
                <a:cs typeface="Times New Roman"/>
              </a:rPr>
              <a:t>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3199" y="1206257"/>
            <a:ext cx="45815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874770" algn="l"/>
              </a:tabLst>
            </a:pP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a set of data points </a:t>
            </a:r>
            <a:r>
              <a:rPr sz="800" i="1" spc="15" dirty="0">
                <a:latin typeface="DejaVu Sans"/>
                <a:cs typeface="DejaVu Sans"/>
              </a:rPr>
              <a:t>{</a:t>
            </a:r>
            <a:r>
              <a:rPr sz="800" i="1" spc="15" dirty="0">
                <a:latin typeface="Times New Roman"/>
                <a:cs typeface="Times New Roman"/>
              </a:rPr>
              <a:t>x     </a:t>
            </a:r>
            <a:r>
              <a:rPr sz="800" i="1" spc="35" dirty="0">
                <a:latin typeface="Times New Roman"/>
                <a:cs typeface="Times New Roman"/>
              </a:rPr>
              <a:t>, ..., </a:t>
            </a: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900" i="1" spc="330" baseline="27777" dirty="0">
                <a:latin typeface="Times New Roman"/>
                <a:cs typeface="Times New Roman"/>
              </a:rPr>
              <a:t>m </a:t>
            </a:r>
            <a:r>
              <a:rPr sz="900" i="1" spc="434" baseline="27777" dirty="0">
                <a:latin typeface="Times New Roman"/>
                <a:cs typeface="Times New Roman"/>
              </a:rPr>
              <a:t> </a:t>
            </a:r>
            <a:r>
              <a:rPr sz="800" i="1" spc="-90" dirty="0">
                <a:latin typeface="DejaVu Sans"/>
                <a:cs typeface="DejaVu Sans"/>
              </a:rPr>
              <a:t>}  </a:t>
            </a:r>
            <a:r>
              <a:rPr sz="800" dirty="0">
                <a:latin typeface="LM Roman 8"/>
                <a:cs typeface="LM Roman 8"/>
              </a:rPr>
              <a:t>associated </a:t>
            </a:r>
            <a:r>
              <a:rPr sz="800" spc="-5" dirty="0">
                <a:latin typeface="LM Roman 8"/>
                <a:cs typeface="LM Roman 8"/>
              </a:rPr>
              <a:t>to a set of outcomes</a:t>
            </a:r>
            <a:r>
              <a:rPr sz="800" spc="65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{</a:t>
            </a:r>
            <a:r>
              <a:rPr sz="800" i="1" spc="-15" dirty="0">
                <a:latin typeface="Times New Roman"/>
                <a:cs typeface="Times New Roman"/>
              </a:rPr>
              <a:t>y	</a:t>
            </a:r>
            <a:r>
              <a:rPr sz="800" i="1" spc="35" dirty="0">
                <a:latin typeface="Times New Roman"/>
                <a:cs typeface="Times New Roman"/>
              </a:rPr>
              <a:t>, ..., </a:t>
            </a:r>
            <a:r>
              <a:rPr sz="800" i="1" spc="40" dirty="0">
                <a:latin typeface="Times New Roman"/>
                <a:cs typeface="Times New Roman"/>
              </a:rPr>
              <a:t>y</a:t>
            </a:r>
            <a:r>
              <a:rPr sz="900" spc="60" baseline="27777" dirty="0">
                <a:latin typeface="LM Roman 6"/>
                <a:cs typeface="LM Roman 6"/>
              </a:rPr>
              <a:t>( </a:t>
            </a:r>
            <a:r>
              <a:rPr sz="900" spc="-22" baseline="27777" dirty="0">
                <a:latin typeface="LM Roman 6"/>
                <a:cs typeface="LM Roman 6"/>
              </a:rPr>
              <a:t>)</a:t>
            </a:r>
            <a:r>
              <a:rPr sz="800" i="1" spc="-15" dirty="0">
                <a:latin typeface="DejaVu Sans"/>
                <a:cs typeface="DejaVu Sans"/>
              </a:rPr>
              <a:t>}</a:t>
            </a:r>
            <a:r>
              <a:rPr sz="800" spc="-15" dirty="0">
                <a:latin typeface="LM Roman 8"/>
                <a:cs typeface="LM Roman 8"/>
              </a:rPr>
              <a:t>,</a:t>
            </a:r>
            <a:r>
              <a:rPr sz="800" spc="-114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we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299" y="1313940"/>
            <a:ext cx="29178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5" dirty="0">
                <a:latin typeface="LM Roman 8"/>
                <a:cs typeface="LM Roman 8"/>
              </a:rPr>
              <a:t>want </a:t>
            </a:r>
            <a:r>
              <a:rPr sz="800" spc="-5" dirty="0">
                <a:latin typeface="LM Roman 8"/>
                <a:cs typeface="LM Roman 8"/>
              </a:rPr>
              <a:t>to build a classifier that learns </a:t>
            </a:r>
            <a:r>
              <a:rPr sz="800" spc="-15" dirty="0">
                <a:latin typeface="LM Roman 8"/>
                <a:cs typeface="LM Roman 8"/>
              </a:rPr>
              <a:t>how </a:t>
            </a:r>
            <a:r>
              <a:rPr sz="800" spc="-5" dirty="0">
                <a:latin typeface="LM Roman 8"/>
                <a:cs typeface="LM Roman 8"/>
              </a:rPr>
              <a:t>to predict </a:t>
            </a:r>
            <a:r>
              <a:rPr sz="800" i="1" spc="60" dirty="0">
                <a:latin typeface="Times New Roman"/>
                <a:cs typeface="Times New Roman"/>
              </a:rPr>
              <a:t>y </a:t>
            </a:r>
            <a:r>
              <a:rPr sz="800" spc="-10" dirty="0">
                <a:latin typeface="LM Roman 8"/>
                <a:cs typeface="LM Roman 8"/>
              </a:rPr>
              <a:t>from</a:t>
            </a:r>
            <a:r>
              <a:rPr sz="800" spc="120" dirty="0">
                <a:latin typeface="LM Roman 8"/>
                <a:cs typeface="LM Roman 8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800" spc="60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299" y="1464003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364" indent="-11430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7000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Type of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prediction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different </a:t>
            </a:r>
            <a:r>
              <a:rPr sz="800" spc="-5" dirty="0">
                <a:latin typeface="LM Roman 8"/>
                <a:cs typeface="LM Roman 8"/>
              </a:rPr>
              <a:t>types of predictive </a:t>
            </a:r>
            <a:r>
              <a:rPr sz="800" dirty="0">
                <a:latin typeface="LM Roman 8"/>
                <a:cs typeface="LM Roman 8"/>
              </a:rPr>
              <a:t>models </a:t>
            </a:r>
            <a:r>
              <a:rPr sz="800" spc="-5" dirty="0">
                <a:latin typeface="LM Roman 8"/>
                <a:cs typeface="LM Roman 8"/>
              </a:rPr>
              <a:t>are summed up in the</a:t>
            </a:r>
            <a:r>
              <a:rPr sz="800" spc="2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table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1299" y="1566061"/>
            <a:ext cx="3244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5" dirty="0">
                <a:latin typeface="LM Roman 8"/>
                <a:cs typeface="LM Roman 8"/>
              </a:rPr>
              <a:t>b</a:t>
            </a:r>
            <a:r>
              <a:rPr sz="800" spc="-5" dirty="0">
                <a:latin typeface="LM Roman 8"/>
                <a:cs typeface="LM Roman 8"/>
              </a:rPr>
              <a:t>el</a:t>
            </a:r>
            <a:r>
              <a:rPr sz="800" spc="-30" dirty="0">
                <a:latin typeface="LM Roman 8"/>
                <a:cs typeface="LM Roman 8"/>
              </a:rPr>
              <a:t>o</a:t>
            </a:r>
            <a:r>
              <a:rPr sz="800" spc="-5" dirty="0">
                <a:latin typeface="LM Roman 8"/>
                <a:cs typeface="LM Roman 8"/>
              </a:rPr>
              <a:t>w:</a:t>
            </a:r>
            <a:endParaRPr sz="800">
              <a:latin typeface="LM Roman 8"/>
              <a:cs typeface="LM Roman 8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44346" y="1789112"/>
          <a:ext cx="3594100" cy="5571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2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Regression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Classifier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641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Outcome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Continuous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Class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93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Examples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Linear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regression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Logistic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regression, SVM,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Naive</a:t>
                      </a:r>
                      <a:r>
                        <a:rPr sz="800" spc="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Bayes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91299" y="2464243"/>
            <a:ext cx="36982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Type of </a:t>
            </a:r>
            <a:r>
              <a:rPr sz="800" b="1" dirty="0">
                <a:solidFill>
                  <a:srgbClr val="020E86"/>
                </a:solidFill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different </a:t>
            </a:r>
            <a:r>
              <a:rPr sz="800" dirty="0">
                <a:latin typeface="LM Roman 8"/>
                <a:cs typeface="LM Roman 8"/>
              </a:rPr>
              <a:t>models </a:t>
            </a:r>
            <a:r>
              <a:rPr sz="800" spc="-5" dirty="0">
                <a:latin typeface="LM Roman 8"/>
                <a:cs typeface="LM Roman 8"/>
              </a:rPr>
              <a:t>are summed up in the table below: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76311" y="3326612"/>
            <a:ext cx="1453769" cy="899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14458" y="3326612"/>
            <a:ext cx="1453769" cy="899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11251" y="2706966"/>
          <a:ext cx="4460875" cy="1755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5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Discriminative</a:t>
                      </a:r>
                      <a:r>
                        <a:rPr sz="800" b="1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model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Generative</a:t>
                      </a:r>
                      <a:r>
                        <a:rPr sz="800" b="1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model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Goal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Directly estimate 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8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00" i="1" spc="30" dirty="0">
                          <a:latin typeface="DejaVu Sans"/>
                          <a:cs typeface="DejaVu Sans"/>
                        </a:rPr>
                        <a:t>|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Estimate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8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30" dirty="0">
                          <a:latin typeface="DejaVu Sans"/>
                          <a:cs typeface="DejaVu Sans"/>
                        </a:rPr>
                        <a:t>|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 to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deduce 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8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00" i="1" spc="30" dirty="0">
                          <a:latin typeface="DejaVu Sans"/>
                          <a:cs typeface="DejaVu Sans"/>
                        </a:rPr>
                        <a:t>|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What’s</a:t>
                      </a:r>
                      <a:r>
                        <a:rPr sz="800" b="1" spc="-2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learned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Decision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boundary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Probability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distributions of the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data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86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Illustration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Examples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Regressions,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SVMs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15" dirty="0">
                          <a:latin typeface="LM Roman 8"/>
                          <a:cs typeface="LM Roman 8"/>
                        </a:rPr>
                        <a:t>GDA,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Naive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Bayes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465899" y="4631964"/>
            <a:ext cx="4556760" cy="495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5"/>
              </a:lnSpc>
              <a:tabLst>
                <a:tab pos="368935" algn="l"/>
              </a:tabLst>
            </a:pPr>
            <a:r>
              <a:rPr sz="1000" b="1" spc="-5" dirty="0">
                <a:latin typeface="LM Roman 10"/>
                <a:cs typeface="LM Roman 10"/>
              </a:rPr>
              <a:t>1.2	</a:t>
            </a:r>
            <a:r>
              <a:rPr sz="900" b="1" spc="-5" dirty="0">
                <a:latin typeface="LM Roman 9"/>
                <a:cs typeface="LM Roman 9"/>
              </a:rPr>
              <a:t>Notations and </a:t>
            </a:r>
            <a:r>
              <a:rPr sz="900" b="1" spc="-10" dirty="0">
                <a:latin typeface="LM Roman 9"/>
                <a:cs typeface="LM Roman 9"/>
              </a:rPr>
              <a:t>general concepts</a:t>
            </a:r>
            <a:endParaRPr sz="900">
              <a:latin typeface="LM Roman 9"/>
              <a:cs typeface="LM Roman 9"/>
            </a:endParaRPr>
          </a:p>
          <a:p>
            <a:pPr marL="38100" marR="30480">
              <a:lnSpc>
                <a:spcPct val="102499"/>
              </a:lnSpc>
              <a:spcBef>
                <a:spcPts val="635"/>
              </a:spcBef>
              <a:buFont typeface="DejaVu Sans"/>
              <a:buChar char="❒"/>
              <a:tabLst>
                <a:tab pos="146685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Hypothesis</a:t>
            </a:r>
            <a:r>
              <a:rPr sz="800" b="1" spc="-75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hypothesis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noted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i="1" spc="70" dirty="0">
                <a:latin typeface="Times New Roman"/>
                <a:cs typeface="Times New Roman"/>
              </a:rPr>
              <a:t>h</a:t>
            </a:r>
            <a:r>
              <a:rPr sz="900" i="1" spc="104" baseline="-13888" dirty="0">
                <a:latin typeface="Times New Roman"/>
                <a:cs typeface="Times New Roman"/>
              </a:rPr>
              <a:t>θ</a:t>
            </a:r>
            <a:r>
              <a:rPr sz="900" i="1" spc="247" baseline="-13888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choose.</a:t>
            </a:r>
            <a:r>
              <a:rPr sz="800" spc="85" dirty="0">
                <a:latin typeface="LM Roman 8"/>
                <a:cs typeface="LM Roman 8"/>
              </a:rPr>
              <a:t> </a:t>
            </a:r>
            <a:r>
              <a:rPr sz="800" spc="-30" dirty="0">
                <a:latin typeface="LM Roman 8"/>
                <a:cs typeface="LM Roman 8"/>
              </a:rPr>
              <a:t>For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given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input  data </a:t>
            </a:r>
            <a:r>
              <a:rPr sz="800" i="1" spc="50" dirty="0">
                <a:latin typeface="Times New Roman"/>
                <a:cs typeface="Times New Roman"/>
              </a:rPr>
              <a:t>x</a:t>
            </a:r>
            <a:r>
              <a:rPr sz="900" spc="75" baseline="27777" dirty="0">
                <a:latin typeface="LM Roman 6"/>
                <a:cs typeface="LM Roman 6"/>
              </a:rPr>
              <a:t>(</a:t>
            </a:r>
            <a:r>
              <a:rPr sz="900" i="1" spc="75" baseline="27777" dirty="0">
                <a:latin typeface="Times New Roman"/>
                <a:cs typeface="Times New Roman"/>
              </a:rPr>
              <a:t>i</a:t>
            </a:r>
            <a:r>
              <a:rPr sz="900" spc="75" baseline="27777" dirty="0">
                <a:latin typeface="LM Roman 6"/>
                <a:cs typeface="LM Roman 6"/>
              </a:rPr>
              <a:t>)</a:t>
            </a:r>
            <a:r>
              <a:rPr sz="800" spc="50" dirty="0">
                <a:latin typeface="LM Roman 8"/>
                <a:cs typeface="LM Roman 8"/>
              </a:rPr>
              <a:t>,</a:t>
            </a:r>
            <a:r>
              <a:rPr sz="800" spc="-1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prediction output is </a:t>
            </a:r>
            <a:r>
              <a:rPr sz="800" i="1" spc="70" dirty="0">
                <a:latin typeface="Times New Roman"/>
                <a:cs typeface="Times New Roman"/>
              </a:rPr>
              <a:t>h</a:t>
            </a:r>
            <a:r>
              <a:rPr sz="900" i="1" spc="104" baseline="-13888" dirty="0">
                <a:latin typeface="Times New Roman"/>
                <a:cs typeface="Times New Roman"/>
              </a:rPr>
              <a:t>θ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900" spc="52" baseline="27777" dirty="0">
                <a:latin typeface="LM Roman 6"/>
                <a:cs typeface="LM Roman 6"/>
              </a:rPr>
              <a:t>(</a:t>
            </a:r>
            <a:r>
              <a:rPr sz="900" i="1" spc="52" baseline="27777" dirty="0">
                <a:latin typeface="Times New Roman"/>
                <a:cs typeface="Times New Roman"/>
              </a:rPr>
              <a:t>i</a:t>
            </a:r>
            <a:r>
              <a:rPr sz="900" spc="52" baseline="27777" dirty="0">
                <a:latin typeface="LM Roman 6"/>
                <a:cs typeface="LM Roman 6"/>
              </a:rPr>
              <a:t>)</a:t>
            </a:r>
            <a:r>
              <a:rPr sz="800" spc="35" dirty="0">
                <a:latin typeface="LM Roman 8"/>
                <a:cs typeface="LM Roman 8"/>
              </a:rPr>
              <a:t>).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1299" y="5187923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825" indent="-11176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4460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Loss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– A loss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is a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i="1" spc="130" dirty="0">
                <a:latin typeface="Times New Roman"/>
                <a:cs typeface="Times New Roman"/>
              </a:rPr>
              <a:t>L 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z,y</a:t>
            </a:r>
            <a:r>
              <a:rPr sz="800" spc="45" dirty="0">
                <a:latin typeface="LM Roman 8"/>
                <a:cs typeface="LM Roman 8"/>
              </a:rPr>
              <a:t>)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i="1" spc="-15" dirty="0">
                <a:latin typeface="DejaVu Sans"/>
                <a:cs typeface="DejaVu Sans"/>
              </a:rPr>
              <a:t>× </a:t>
            </a:r>
            <a:r>
              <a:rPr sz="800" i="1" spc="45" dirty="0">
                <a:latin typeface="Times New Roman"/>
                <a:cs typeface="Times New Roman"/>
              </a:rPr>
              <a:t>Y </a:t>
            </a:r>
            <a:r>
              <a:rPr sz="800" i="1" spc="10" dirty="0">
                <a:latin typeface="DejaVu Sans"/>
                <a:cs typeface="DejaVu Sans"/>
              </a:rPr>
              <a:t>−→ </a:t>
            </a:r>
            <a:r>
              <a:rPr sz="800" i="1" spc="60" dirty="0">
                <a:latin typeface="Times New Roman"/>
                <a:cs typeface="Times New Roman"/>
              </a:rPr>
              <a:t>L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z,y</a:t>
            </a:r>
            <a:r>
              <a:rPr sz="800" spc="60" dirty="0">
                <a:latin typeface="LM Roman 8"/>
                <a:cs typeface="LM Roman 8"/>
              </a:rPr>
              <a:t>)</a:t>
            </a:r>
            <a:r>
              <a:rPr sz="800" spc="-210" dirty="0">
                <a:latin typeface="LM Roman 8"/>
                <a:cs typeface="LM Roman 8"/>
              </a:rPr>
              <a:t>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spc="-5" dirty="0">
                <a:latin typeface="LM Roman 8"/>
                <a:cs typeface="LM Roman 8"/>
              </a:rPr>
              <a:t>that </a:t>
            </a:r>
            <a:r>
              <a:rPr sz="800" spc="-10" dirty="0">
                <a:latin typeface="LM Roman 8"/>
                <a:cs typeface="LM Roman 8"/>
              </a:rPr>
              <a:t>takes </a:t>
            </a:r>
            <a:r>
              <a:rPr sz="800" spc="-5" dirty="0">
                <a:latin typeface="LM Roman 8"/>
                <a:cs typeface="LM Roman 8"/>
              </a:rPr>
              <a:t>as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1299" y="5295606"/>
            <a:ext cx="4505960" cy="2489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</a:pPr>
            <a:r>
              <a:rPr sz="800" spc="-5" dirty="0">
                <a:latin typeface="LM Roman 8"/>
                <a:cs typeface="LM Roman 8"/>
              </a:rPr>
              <a:t>inputs the predicted </a:t>
            </a:r>
            <a:r>
              <a:rPr sz="800" spc="-15" dirty="0">
                <a:latin typeface="LM Roman 8"/>
                <a:cs typeface="LM Roman 8"/>
              </a:rPr>
              <a:t>value </a:t>
            </a:r>
            <a:r>
              <a:rPr sz="800" i="1" spc="80" dirty="0">
                <a:latin typeface="Times New Roman"/>
                <a:cs typeface="Times New Roman"/>
              </a:rPr>
              <a:t>z </a:t>
            </a:r>
            <a:r>
              <a:rPr sz="800" spc="-5" dirty="0">
                <a:latin typeface="LM Roman 8"/>
                <a:cs typeface="LM Roman 8"/>
              </a:rPr>
              <a:t>corresponding to the real data </a:t>
            </a:r>
            <a:r>
              <a:rPr sz="800" spc="-15" dirty="0">
                <a:latin typeface="LM Roman 8"/>
                <a:cs typeface="LM Roman 8"/>
              </a:rPr>
              <a:t>value </a:t>
            </a:r>
            <a:r>
              <a:rPr sz="800" i="1" spc="60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and outputs </a:t>
            </a:r>
            <a:r>
              <a:rPr sz="800" spc="-15" dirty="0">
                <a:latin typeface="LM Roman 8"/>
                <a:cs typeface="LM Roman 8"/>
              </a:rPr>
              <a:t>how </a:t>
            </a:r>
            <a:r>
              <a:rPr sz="800" spc="-10" dirty="0">
                <a:latin typeface="LM Roman 8"/>
                <a:cs typeface="LM Roman 8"/>
              </a:rPr>
              <a:t>different  </a:t>
            </a:r>
            <a:r>
              <a:rPr sz="800" spc="-5" dirty="0">
                <a:latin typeface="LM Roman 8"/>
                <a:cs typeface="LM Roman 8"/>
              </a:rPr>
              <a:t>they are. The common loss </a:t>
            </a:r>
            <a:r>
              <a:rPr sz="800" spc="-10" dirty="0">
                <a:latin typeface="LM Roman 8"/>
                <a:cs typeface="LM Roman 8"/>
              </a:rPr>
              <a:t>functions </a:t>
            </a:r>
            <a:r>
              <a:rPr sz="800" spc="-5" dirty="0">
                <a:latin typeface="LM Roman 8"/>
                <a:cs typeface="LM Roman 8"/>
              </a:rPr>
              <a:t>are summed up in the table</a:t>
            </a:r>
            <a:r>
              <a:rPr sz="800" spc="-1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below: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5019" y="5991948"/>
            <a:ext cx="53975" cy="0"/>
          </a:xfrm>
          <a:custGeom>
            <a:avLst/>
            <a:gdLst/>
            <a:ahLst/>
            <a:cxnLst/>
            <a:rect l="l" t="t" r="r" b="b"/>
            <a:pathLst>
              <a:path w="53975">
                <a:moveTo>
                  <a:pt x="0" y="0"/>
                </a:moveTo>
                <a:lnTo>
                  <a:pt x="537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6978" y="6239309"/>
            <a:ext cx="683271" cy="6421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61648" y="6222031"/>
            <a:ext cx="686178" cy="6853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96461" y="6230670"/>
            <a:ext cx="703624" cy="6767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39062" y="6207633"/>
            <a:ext cx="683271" cy="6925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31609" y="5640387"/>
          <a:ext cx="4418328" cy="15062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4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0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293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Least</a:t>
                      </a:r>
                      <a:r>
                        <a:rPr sz="800" b="1" spc="-2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squared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Logistic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Hinge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Cross-entropy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222">
                <a:tc>
                  <a:txBody>
                    <a:bodyPr/>
                    <a:lstStyle/>
                    <a:p>
                      <a:pPr marL="260350">
                        <a:lnSpc>
                          <a:spcPts val="780"/>
                        </a:lnSpc>
                        <a:spcBef>
                          <a:spcPts val="655"/>
                        </a:spcBef>
                      </a:pPr>
                      <a:r>
                        <a:rPr sz="1200" spc="-7" baseline="38194" dirty="0">
                          <a:latin typeface="LM Roman 8"/>
                          <a:cs typeface="LM Roman 8"/>
                        </a:rPr>
                        <a:t>1</a:t>
                      </a:r>
                      <a:r>
                        <a:rPr sz="1200" spc="-254" baseline="38194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00" i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7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900" spc="52" baseline="32407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32407">
                        <a:latin typeface="LM Roman 6"/>
                        <a:cs typeface="LM Roman 6"/>
                      </a:endParaRPr>
                    </a:p>
                    <a:p>
                      <a:pPr marL="260350">
                        <a:lnSpc>
                          <a:spcPts val="780"/>
                        </a:lnSpc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2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log(1 +</a:t>
                      </a:r>
                      <a:r>
                        <a:rPr sz="800" spc="-2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20" dirty="0">
                          <a:latin typeface="LM Roman 8"/>
                          <a:cs typeface="LM Roman 8"/>
                        </a:rPr>
                        <a:t>exp(</a:t>
                      </a:r>
                      <a:r>
                        <a:rPr sz="800" i="1" spc="20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20" dirty="0">
                          <a:latin typeface="Times New Roman"/>
                          <a:cs typeface="Times New Roman"/>
                        </a:rPr>
                        <a:t>yz</a:t>
                      </a:r>
                      <a:r>
                        <a:rPr sz="800" spc="20" dirty="0">
                          <a:latin typeface="LM Roman 8"/>
                          <a:cs typeface="LM Roman 8"/>
                        </a:rPr>
                        <a:t>))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max(0</a:t>
                      </a:r>
                      <a:r>
                        <a:rPr sz="800" i="1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1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19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yz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700" i="1" spc="30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1500" spc="44" baseline="41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700" i="1" spc="3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70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20" dirty="0">
                          <a:latin typeface="LM Roman 7"/>
                          <a:cs typeface="LM Roman 7"/>
                        </a:rPr>
                        <a:t>log(</a:t>
                      </a:r>
                      <a:r>
                        <a:rPr sz="700" i="1" spc="2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700" spc="20" dirty="0">
                          <a:latin typeface="LM Roman 7"/>
                          <a:cs typeface="LM Roman 7"/>
                        </a:rPr>
                        <a:t>)</a:t>
                      </a:r>
                      <a:r>
                        <a:rPr sz="700" spc="-95" dirty="0">
                          <a:latin typeface="LM Roman 7"/>
                          <a:cs typeface="LM Roman 7"/>
                        </a:rPr>
                        <a:t> </a:t>
                      </a:r>
                      <a:r>
                        <a:rPr sz="700" spc="-5" dirty="0">
                          <a:latin typeface="LM Roman 7"/>
                          <a:cs typeface="LM Roman 7"/>
                        </a:rPr>
                        <a:t>+</a:t>
                      </a:r>
                      <a:r>
                        <a:rPr sz="700" spc="-95" dirty="0">
                          <a:latin typeface="LM Roman 7"/>
                          <a:cs typeface="LM Roman 7"/>
                        </a:rPr>
                        <a:t> </a:t>
                      </a:r>
                      <a:r>
                        <a:rPr sz="700" spc="-5" dirty="0">
                          <a:latin typeface="LM Roman 7"/>
                          <a:cs typeface="LM Roman 7"/>
                        </a:rPr>
                        <a:t>(1</a:t>
                      </a:r>
                      <a:r>
                        <a:rPr sz="700" spc="-90" dirty="0">
                          <a:latin typeface="LM Roman 7"/>
                          <a:cs typeface="LM Roman 7"/>
                        </a:rPr>
                        <a:t> </a:t>
                      </a:r>
                      <a:r>
                        <a:rPr sz="700" i="1" spc="210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i="1" spc="5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700" spc="55" dirty="0">
                          <a:latin typeface="LM Roman 7"/>
                          <a:cs typeface="LM Roman 7"/>
                        </a:rPr>
                        <a:t>)</a:t>
                      </a:r>
                      <a:r>
                        <a:rPr sz="700" spc="-140" dirty="0">
                          <a:latin typeface="LM Roman 7"/>
                          <a:cs typeface="LM Roman 7"/>
                        </a:rPr>
                        <a:t> </a:t>
                      </a:r>
                      <a:r>
                        <a:rPr sz="700" spc="-5" dirty="0">
                          <a:latin typeface="LM Roman 7"/>
                          <a:cs typeface="LM Roman 7"/>
                        </a:rPr>
                        <a:t>log(1</a:t>
                      </a:r>
                      <a:r>
                        <a:rPr sz="700" spc="-90" dirty="0">
                          <a:latin typeface="LM Roman 7"/>
                          <a:cs typeface="LM Roman 7"/>
                        </a:rPr>
                        <a:t> </a:t>
                      </a:r>
                      <a:r>
                        <a:rPr sz="700" i="1" spc="210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i="1" spc="-25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700" spc="-25" dirty="0">
                          <a:latin typeface="LM Roman 7"/>
                          <a:cs typeface="LM Roman 7"/>
                        </a:rPr>
                        <a:t>)</a:t>
                      </a:r>
                      <a:r>
                        <a:rPr sz="1500" spc="-37" baseline="41666" dirty="0">
                          <a:latin typeface="Arial"/>
                          <a:cs typeface="Arial"/>
                        </a:rPr>
                        <a:t>Σ</a:t>
                      </a:r>
                      <a:endParaRPr sz="1500" baseline="41666">
                        <a:latin typeface="Arial"/>
                        <a:cs typeface="Arial"/>
                      </a:endParaRPr>
                    </a:p>
                  </a:txBody>
                  <a:tcPr marL="0" marR="0" marT="577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6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099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Linear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regression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Logistic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regression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SVM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Neural 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Network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5097754" y="696606"/>
            <a:ext cx="4505960" cy="2489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20014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Cost</a:t>
            </a:r>
            <a:r>
              <a:rPr sz="800" b="1" spc="-5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function</a:t>
            </a:r>
            <a:r>
              <a:rPr sz="800" b="1" spc="-8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cost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function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i="1" spc="105" dirty="0">
                <a:latin typeface="Times New Roman"/>
                <a:cs typeface="Times New Roman"/>
              </a:rPr>
              <a:t>J</a:t>
            </a:r>
            <a:r>
              <a:rPr sz="800" i="1" spc="12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commonly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used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assess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performance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model,  </a:t>
            </a:r>
            <a:r>
              <a:rPr sz="800" spc="-5" dirty="0">
                <a:latin typeface="LM Roman 8"/>
                <a:cs typeface="LM Roman 8"/>
              </a:rPr>
              <a:t>and is defined with the loss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i="1" spc="130" dirty="0">
                <a:latin typeface="Times New Roman"/>
                <a:cs typeface="Times New Roman"/>
              </a:rPr>
              <a:t>L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87654" y="996281"/>
            <a:ext cx="1085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220" dirty="0">
                <a:latin typeface="Times New Roman"/>
                <a:cs typeface="Times New Roman"/>
              </a:rPr>
              <a:t>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37781" y="983632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53554" y="1299951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89331" y="1122805"/>
            <a:ext cx="6483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1340" algn="l"/>
              </a:tabLst>
            </a:pPr>
            <a:r>
              <a:rPr sz="800" i="1" spc="180" dirty="0">
                <a:latin typeface="Times New Roman"/>
                <a:cs typeface="Times New Roman"/>
              </a:rPr>
              <a:t>J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20" dirty="0">
                <a:latin typeface="Times New Roman"/>
                <a:cs typeface="Times New Roman"/>
              </a:rPr>
              <a:t>θ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dirty="0">
                <a:latin typeface="LM Roman 8"/>
                <a:cs typeface="LM Roman 8"/>
              </a:rPr>
              <a:t>	</a:t>
            </a:r>
            <a:r>
              <a:rPr sz="800" i="1" spc="130" dirty="0">
                <a:latin typeface="Times New Roman"/>
                <a:cs typeface="Times New Roman"/>
              </a:rPr>
              <a:t>L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15403" y="1165966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55" dirty="0">
                <a:latin typeface="Times New Roman"/>
                <a:cs typeface="Times New Roman"/>
              </a:rPr>
              <a:t>θ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71371" y="1106060"/>
            <a:ext cx="3924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780" algn="l"/>
              </a:tabLst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r>
              <a:rPr sz="600" dirty="0">
                <a:latin typeface="LM Roman 6"/>
                <a:cs typeface="LM Roman 6"/>
              </a:rPr>
              <a:t>	</a:t>
            </a: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11605" y="1122805"/>
            <a:ext cx="7004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40" dirty="0">
                <a:latin typeface="LM Roman 8"/>
                <a:cs typeface="LM Roman 8"/>
              </a:rPr>
              <a:t>(</a:t>
            </a:r>
            <a:r>
              <a:rPr sz="800" i="1" spc="40" dirty="0">
                <a:latin typeface="Times New Roman"/>
                <a:cs typeface="Times New Roman"/>
              </a:rPr>
              <a:t>h 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x </a:t>
            </a:r>
            <a:r>
              <a:rPr sz="800" spc="15" dirty="0">
                <a:latin typeface="LM Roman 8"/>
                <a:cs typeface="LM Roman 8"/>
              </a:rPr>
              <a:t>)</a:t>
            </a:r>
            <a:r>
              <a:rPr sz="800" i="1" spc="15" dirty="0">
                <a:latin typeface="Times New Roman"/>
                <a:cs typeface="Times New Roman"/>
              </a:rPr>
              <a:t>, </a:t>
            </a:r>
            <a:r>
              <a:rPr sz="800" i="1" spc="60" dirty="0">
                <a:latin typeface="Times New Roman"/>
                <a:cs typeface="Times New Roman"/>
              </a:rPr>
              <a:t>y</a:t>
            </a:r>
            <a:r>
              <a:rPr sz="800" i="1" spc="9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659003" y="996543"/>
            <a:ext cx="1383030" cy="448309"/>
            <a:chOff x="6659003" y="996543"/>
            <a:chExt cx="1383030" cy="448309"/>
          </a:xfrm>
        </p:grpSpPr>
        <p:sp>
          <p:nvSpPr>
            <p:cNvPr id="34" name="object 34"/>
            <p:cNvSpPr/>
            <p:nvPr/>
          </p:nvSpPr>
          <p:spPr>
            <a:xfrm>
              <a:off x="6659003" y="999070"/>
              <a:ext cx="1383030" cy="0"/>
            </a:xfrm>
            <a:custGeom>
              <a:avLst/>
              <a:gdLst/>
              <a:ahLst/>
              <a:cxnLst/>
              <a:rect l="l" t="t" r="r" b="b"/>
              <a:pathLst>
                <a:path w="1383029">
                  <a:moveTo>
                    <a:pt x="0" y="0"/>
                  </a:moveTo>
                  <a:lnTo>
                    <a:pt x="138283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61543" y="999070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39315" y="999070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59003" y="1441704"/>
              <a:ext cx="1383030" cy="0"/>
            </a:xfrm>
            <a:custGeom>
              <a:avLst/>
              <a:gdLst/>
              <a:ahLst/>
              <a:cxnLst/>
              <a:rect l="l" t="t" r="r" b="b"/>
              <a:pathLst>
                <a:path w="1383029">
                  <a:moveTo>
                    <a:pt x="0" y="0"/>
                  </a:moveTo>
                  <a:lnTo>
                    <a:pt x="138283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097754" y="1607907"/>
            <a:ext cx="45053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2555" indent="-110489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3189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Gradient descent </a:t>
            </a:r>
            <a:r>
              <a:rPr sz="800" spc="-5" dirty="0">
                <a:latin typeface="LM Roman 8"/>
                <a:cs typeface="LM Roman 8"/>
              </a:rPr>
              <a:t>– By noting </a:t>
            </a:r>
            <a:r>
              <a:rPr sz="800" i="1" spc="120" dirty="0">
                <a:latin typeface="Times New Roman"/>
                <a:cs typeface="Times New Roman"/>
              </a:rPr>
              <a:t>α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spc="-5" dirty="0">
                <a:latin typeface="LM Roman 8"/>
                <a:cs typeface="LM Roman 8"/>
              </a:rPr>
              <a:t>the learning rate, the </a:t>
            </a:r>
            <a:r>
              <a:rPr sz="800" dirty="0">
                <a:latin typeface="LM Roman 8"/>
                <a:cs typeface="LM Roman 8"/>
              </a:rPr>
              <a:t>update</a:t>
            </a:r>
            <a:r>
              <a:rPr sz="800" spc="-204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rule for gradient descent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97754" y="1709977"/>
            <a:ext cx="33000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is expressed with the learning rate and the cost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i="1" spc="105" dirty="0">
                <a:latin typeface="Times New Roman"/>
                <a:cs typeface="Times New Roman"/>
              </a:rPr>
              <a:t>J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15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892670" y="1910384"/>
            <a:ext cx="915669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i="1" spc="10" dirty="0">
                <a:latin typeface="DejaVu Sans"/>
                <a:cs typeface="DejaVu Sans"/>
              </a:rPr>
              <a:t>←−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95" dirty="0">
                <a:latin typeface="DejaVu Sans"/>
                <a:cs typeface="DejaVu Sans"/>
              </a:rPr>
              <a:t> </a:t>
            </a:r>
            <a:r>
              <a:rPr sz="800" i="1" spc="80" dirty="0">
                <a:latin typeface="Times New Roman"/>
                <a:cs typeface="Times New Roman"/>
              </a:rPr>
              <a:t>α</a:t>
            </a:r>
            <a:r>
              <a:rPr sz="800" i="1" spc="80" dirty="0">
                <a:latin typeface="DejaVu Sans"/>
                <a:cs typeface="DejaVu Sans"/>
              </a:rPr>
              <a:t>∇</a:t>
            </a:r>
            <a:r>
              <a:rPr sz="800" i="1" spc="80" dirty="0">
                <a:latin typeface="Times New Roman"/>
                <a:cs typeface="Times New Roman"/>
              </a:rPr>
              <a:t>J</a:t>
            </a:r>
            <a:r>
              <a:rPr sz="800" spc="80" dirty="0">
                <a:latin typeface="LM Roman 8"/>
                <a:cs typeface="LM Roman 8"/>
              </a:rPr>
              <a:t>(</a:t>
            </a:r>
            <a:r>
              <a:rPr sz="800" i="1" spc="80" dirty="0">
                <a:latin typeface="Times New Roman"/>
                <a:cs typeface="Times New Roman"/>
              </a:rPr>
              <a:t>θ</a:t>
            </a:r>
            <a:r>
              <a:rPr sz="800" spc="8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095628" y="2283693"/>
            <a:ext cx="2509754" cy="107419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097754" y="3420337"/>
            <a:ext cx="4505960" cy="6908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715">
              <a:lnSpc>
                <a:spcPts val="850"/>
              </a:lnSpc>
              <a:spcBef>
                <a:spcPts val="21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Stochastic gradient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descent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(SGD)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updating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parameter 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based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on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each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training 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example,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and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batch gradient descent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on a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batch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of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training</a:t>
            </a:r>
            <a:r>
              <a:rPr sz="800" i="1" spc="6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examples.</a:t>
            </a:r>
            <a:endParaRPr sz="800">
              <a:latin typeface="LM Roman 8"/>
              <a:cs typeface="LM Roman 8"/>
            </a:endParaRPr>
          </a:p>
          <a:p>
            <a:pPr marL="12700" marR="5080" algn="just">
              <a:lnSpc>
                <a:spcPts val="900"/>
              </a:lnSpc>
              <a:spcBef>
                <a:spcPts val="745"/>
              </a:spcBef>
              <a:buFont typeface="DejaVu Sans"/>
              <a:buChar char="❒"/>
              <a:tabLst>
                <a:tab pos="127000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Likelihood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dirty="0">
                <a:latin typeface="LM Roman 8"/>
                <a:cs typeface="LM Roman 8"/>
              </a:rPr>
              <a:t>likelihood </a:t>
            </a:r>
            <a:r>
              <a:rPr sz="800" spc="-5" dirty="0">
                <a:latin typeface="LM Roman 8"/>
                <a:cs typeface="LM Roman 8"/>
              </a:rPr>
              <a:t>of a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i="1" spc="35" dirty="0">
                <a:latin typeface="Times New Roman"/>
                <a:cs typeface="Times New Roman"/>
              </a:rPr>
              <a:t>L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θ</a:t>
            </a:r>
            <a:r>
              <a:rPr sz="800" spc="35" dirty="0">
                <a:latin typeface="LM Roman 8"/>
                <a:cs typeface="LM Roman 8"/>
              </a:rPr>
              <a:t>)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parameters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spc="-5" dirty="0">
                <a:latin typeface="LM Roman 8"/>
                <a:cs typeface="LM Roman 8"/>
              </a:rPr>
              <a:t>is used to </a:t>
            </a:r>
            <a:r>
              <a:rPr sz="800" spc="-10" dirty="0">
                <a:latin typeface="LM Roman 8"/>
                <a:cs typeface="LM Roman 8"/>
              </a:rPr>
              <a:t>find </a:t>
            </a:r>
            <a:r>
              <a:rPr sz="800" spc="-5" dirty="0">
                <a:latin typeface="LM Roman 8"/>
                <a:cs typeface="LM Roman 8"/>
              </a:rPr>
              <a:t>the optimal  parameters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spc="-5" dirty="0">
                <a:latin typeface="LM Roman 8"/>
                <a:cs typeface="LM Roman 8"/>
              </a:rPr>
              <a:t>through maximizing the </a:t>
            </a:r>
            <a:r>
              <a:rPr sz="800" dirty="0">
                <a:latin typeface="LM Roman 8"/>
                <a:cs typeface="LM Roman 8"/>
              </a:rPr>
              <a:t>likelihood. </a:t>
            </a:r>
            <a:r>
              <a:rPr sz="800" spc="-5" dirty="0">
                <a:latin typeface="LM Roman 8"/>
                <a:cs typeface="LM Roman 8"/>
              </a:rPr>
              <a:t>In practice,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use the log-likelihood </a:t>
            </a:r>
            <a:r>
              <a:rPr sz="800" i="1" spc="-35" dirty="0">
                <a:latin typeface="Times New Roman"/>
                <a:cs typeface="Times New Roman"/>
              </a:rPr>
              <a:t>A</a:t>
            </a:r>
            <a:r>
              <a:rPr sz="800" spc="-35" dirty="0">
                <a:latin typeface="LM Roman 8"/>
                <a:cs typeface="LM Roman 8"/>
              </a:rPr>
              <a:t>(</a:t>
            </a:r>
            <a:r>
              <a:rPr sz="800" i="1" spc="-35" dirty="0">
                <a:latin typeface="Times New Roman"/>
                <a:cs typeface="Times New Roman"/>
              </a:rPr>
              <a:t>θ</a:t>
            </a:r>
            <a:r>
              <a:rPr sz="800" spc="-3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  </a:t>
            </a:r>
            <a:r>
              <a:rPr sz="800" spc="15" dirty="0">
                <a:latin typeface="LM Roman 8"/>
                <a:cs typeface="LM Roman 8"/>
              </a:rPr>
              <a:t>log(</a:t>
            </a:r>
            <a:r>
              <a:rPr sz="800" i="1" spc="15" dirty="0">
                <a:latin typeface="Times New Roman"/>
                <a:cs typeface="Times New Roman"/>
              </a:rPr>
              <a:t>L</a:t>
            </a:r>
            <a:r>
              <a:rPr sz="800" spc="15" dirty="0">
                <a:latin typeface="LM Roman 8"/>
                <a:cs typeface="LM Roman 8"/>
              </a:rPr>
              <a:t>(</a:t>
            </a:r>
            <a:r>
              <a:rPr sz="800" i="1" spc="15" dirty="0">
                <a:latin typeface="Times New Roman"/>
                <a:cs typeface="Times New Roman"/>
              </a:rPr>
              <a:t>θ</a:t>
            </a:r>
            <a:r>
              <a:rPr sz="800" spc="15" dirty="0">
                <a:latin typeface="LM Roman 8"/>
                <a:cs typeface="LM Roman 8"/>
              </a:rPr>
              <a:t>)) </a:t>
            </a:r>
            <a:r>
              <a:rPr sz="800" spc="-10" dirty="0">
                <a:latin typeface="LM Roman 8"/>
                <a:cs typeface="LM Roman 8"/>
              </a:rPr>
              <a:t>which </a:t>
            </a:r>
            <a:r>
              <a:rPr sz="800" spc="-5" dirty="0">
                <a:latin typeface="LM Roman 8"/>
                <a:cs typeface="LM Roman 8"/>
              </a:rPr>
              <a:t>is easier to optimize. </a:t>
            </a:r>
            <a:r>
              <a:rPr sz="800" spc="-40" dirty="0">
                <a:latin typeface="LM Roman 8"/>
                <a:cs typeface="LM Roman 8"/>
              </a:rPr>
              <a:t>We</a:t>
            </a:r>
            <a:r>
              <a:rPr sz="800" spc="7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25742" y="4164177"/>
            <a:ext cx="1049655" cy="27749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26669" rIns="0" bIns="0" rtlCol="0">
            <a:spAutoFit/>
          </a:bodyPr>
          <a:lstStyle/>
          <a:p>
            <a:pPr marL="40005">
              <a:lnSpc>
                <a:spcPts val="955"/>
              </a:lnSpc>
              <a:spcBef>
                <a:spcPts val="209"/>
              </a:spcBef>
            </a:pPr>
            <a:r>
              <a:rPr sz="800" i="1" dirty="0">
                <a:latin typeface="Times New Roman"/>
                <a:cs typeface="Times New Roman"/>
              </a:rPr>
              <a:t>θ</a:t>
            </a:r>
            <a:r>
              <a:rPr sz="900" baseline="32407" dirty="0">
                <a:latin typeface="LM Roman 6"/>
                <a:cs typeface="LM Roman 6"/>
              </a:rPr>
              <a:t>opt </a:t>
            </a:r>
            <a:r>
              <a:rPr sz="800" spc="-5" dirty="0">
                <a:latin typeface="LM Roman 8"/>
                <a:cs typeface="LM Roman 8"/>
              </a:rPr>
              <a:t>= arg max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L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θ</a:t>
            </a:r>
            <a:r>
              <a:rPr sz="800" spc="3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  <a:p>
            <a:pPr marL="124460" algn="ctr">
              <a:lnSpc>
                <a:spcPts val="715"/>
              </a:lnSpc>
            </a:pPr>
            <a:r>
              <a:rPr sz="600" i="1" spc="55" dirty="0">
                <a:latin typeface="Times New Roman"/>
                <a:cs typeface="Times New Roman"/>
              </a:rPr>
              <a:t>θ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72354" y="4607355"/>
            <a:ext cx="4556125" cy="25717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8100" marR="30480" indent="-635">
              <a:lnSpc>
                <a:spcPts val="869"/>
              </a:lnSpc>
              <a:spcBef>
                <a:spcPts val="200"/>
              </a:spcBef>
              <a:buFont typeface="DejaVu Sans"/>
              <a:buChar char="❒"/>
              <a:tabLst>
                <a:tab pos="159385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Newton’s algorithm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Newton’s </a:t>
            </a:r>
            <a:r>
              <a:rPr sz="800" spc="-5" dirty="0">
                <a:latin typeface="LM Roman 8"/>
                <a:cs typeface="LM Roman 8"/>
              </a:rPr>
              <a:t>algorithm is a numerical </a:t>
            </a:r>
            <a:r>
              <a:rPr sz="800" dirty="0">
                <a:latin typeface="LM Roman 8"/>
                <a:cs typeface="LM Roman 8"/>
              </a:rPr>
              <a:t>method </a:t>
            </a:r>
            <a:r>
              <a:rPr sz="800" spc="-5" dirty="0">
                <a:latin typeface="LM Roman 8"/>
                <a:cs typeface="LM Roman 8"/>
              </a:rPr>
              <a:t>that </a:t>
            </a:r>
            <a:r>
              <a:rPr sz="800" spc="-10" dirty="0">
                <a:latin typeface="LM Roman 8"/>
                <a:cs typeface="LM Roman 8"/>
              </a:rPr>
              <a:t>finds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spc="-10" dirty="0">
                <a:latin typeface="LM Roman 8"/>
                <a:cs typeface="LM Roman 8"/>
              </a:rPr>
              <a:t>such  </a:t>
            </a:r>
            <a:r>
              <a:rPr sz="800" spc="-5" dirty="0">
                <a:latin typeface="LM Roman 8"/>
                <a:cs typeface="LM Roman 8"/>
              </a:rPr>
              <a:t>that </a:t>
            </a:r>
            <a:r>
              <a:rPr sz="800" i="1" spc="-10" dirty="0">
                <a:latin typeface="Times New Roman"/>
                <a:cs typeface="Times New Roman"/>
              </a:rPr>
              <a:t>A</a:t>
            </a:r>
            <a:r>
              <a:rPr sz="900" i="1" spc="-15" baseline="27777" dirty="0">
                <a:latin typeface="DejaVu Sans"/>
                <a:cs typeface="DejaVu Sans"/>
              </a:rPr>
              <a:t>j</a:t>
            </a:r>
            <a:r>
              <a:rPr sz="800" spc="-10" dirty="0">
                <a:latin typeface="LM Roman 8"/>
                <a:cs typeface="LM Roman 8"/>
              </a:rPr>
              <a:t>(</a:t>
            </a:r>
            <a:r>
              <a:rPr sz="800" i="1" spc="-10" dirty="0">
                <a:latin typeface="Times New Roman"/>
                <a:cs typeface="Times New Roman"/>
              </a:rPr>
              <a:t>θ</a:t>
            </a:r>
            <a:r>
              <a:rPr sz="800" spc="-10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 0. Its </a:t>
            </a:r>
            <a:r>
              <a:rPr sz="800" dirty="0">
                <a:latin typeface="LM Roman 8"/>
                <a:cs typeface="LM Roman 8"/>
              </a:rPr>
              <a:t>update </a:t>
            </a:r>
            <a:r>
              <a:rPr sz="800" spc="-5" dirty="0">
                <a:latin typeface="LM Roman 8"/>
                <a:cs typeface="LM Roman 8"/>
              </a:rPr>
              <a:t>rule is as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431658" y="5081561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259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970928" y="4917998"/>
            <a:ext cx="759460" cy="33083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40005" marR="47625" indent="433705">
              <a:lnSpc>
                <a:spcPct val="57799"/>
              </a:lnSpc>
              <a:spcBef>
                <a:spcPts val="535"/>
              </a:spcBef>
            </a:pPr>
            <a:r>
              <a:rPr sz="800" i="1" spc="-10" dirty="0">
                <a:latin typeface="Times New Roman"/>
                <a:cs typeface="Times New Roman"/>
              </a:rPr>
              <a:t>A</a:t>
            </a:r>
            <a:r>
              <a:rPr sz="900" i="1" spc="-15" baseline="27777" dirty="0">
                <a:latin typeface="DejaVu Sans"/>
                <a:cs typeface="DejaVu Sans"/>
              </a:rPr>
              <a:t>j</a:t>
            </a:r>
            <a:r>
              <a:rPr sz="800" spc="-10" dirty="0">
                <a:latin typeface="LM Roman 8"/>
                <a:cs typeface="LM Roman 8"/>
              </a:rPr>
              <a:t>(</a:t>
            </a:r>
            <a:r>
              <a:rPr sz="800" i="1" spc="-10" dirty="0">
                <a:latin typeface="Times New Roman"/>
                <a:cs typeface="Times New Roman"/>
              </a:rPr>
              <a:t>θ</a:t>
            </a:r>
            <a:r>
              <a:rPr sz="800" spc="-10" dirty="0">
                <a:latin typeface="LM Roman 8"/>
                <a:cs typeface="LM Roman 8"/>
              </a:rPr>
              <a:t>) 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i="1" spc="175" dirty="0">
                <a:latin typeface="DejaVu Sans"/>
                <a:cs typeface="DejaVu Sans"/>
              </a:rPr>
              <a:t>←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150" dirty="0">
                <a:latin typeface="DejaVu Sans"/>
                <a:cs typeface="DejaVu Sans"/>
              </a:rPr>
              <a:t> </a:t>
            </a:r>
            <a:r>
              <a:rPr sz="1200" i="1" baseline="-41666" dirty="0">
                <a:latin typeface="Times New Roman"/>
                <a:cs typeface="Times New Roman"/>
              </a:rPr>
              <a:t>A</a:t>
            </a:r>
            <a:r>
              <a:rPr sz="900" i="1" baseline="-32407" dirty="0">
                <a:latin typeface="DejaVu Sans"/>
                <a:cs typeface="DejaVu Sans"/>
              </a:rPr>
              <a:t>jj</a:t>
            </a:r>
            <a:r>
              <a:rPr sz="1200" baseline="-41666" dirty="0">
                <a:latin typeface="LM Roman 8"/>
                <a:cs typeface="LM Roman 8"/>
              </a:rPr>
              <a:t>(</a:t>
            </a:r>
            <a:r>
              <a:rPr sz="1200" i="1" baseline="-41666" dirty="0">
                <a:latin typeface="Times New Roman"/>
                <a:cs typeface="Times New Roman"/>
              </a:rPr>
              <a:t>θ</a:t>
            </a:r>
            <a:r>
              <a:rPr sz="1200" baseline="-41666" dirty="0">
                <a:latin typeface="LM Roman 8"/>
                <a:cs typeface="LM Roman 8"/>
              </a:rPr>
              <a:t>)</a:t>
            </a:r>
            <a:endParaRPr sz="1200" baseline="-41666">
              <a:latin typeface="LM Roman 8"/>
              <a:cs typeface="LM Roman 8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097754" y="5319888"/>
            <a:ext cx="4504055" cy="2489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multidimensional generalization, also known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as 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Newton-Raphson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method,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has 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5" dirty="0">
                <a:solidFill>
                  <a:srgbClr val="59439A"/>
                </a:solidFill>
                <a:latin typeface="LM Roman 8"/>
                <a:cs typeface="LM Roman 8"/>
              </a:rPr>
              <a:t>following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update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rule: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234046" y="560802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234046" y="5680994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55" dirty="0">
                <a:latin typeface="Times New Roman"/>
                <a:cs typeface="Times New Roman"/>
              </a:rPr>
              <a:t>θ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86434" y="5503309"/>
            <a:ext cx="4654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4335" algn="l"/>
              </a:tabLst>
            </a:pPr>
            <a:r>
              <a:rPr sz="1000" spc="175" dirty="0">
                <a:latin typeface="Arial"/>
                <a:cs typeface="Arial"/>
              </a:rPr>
              <a:t>.	</a:t>
            </a:r>
            <a:r>
              <a:rPr sz="1000" spc="-165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526375" y="5580131"/>
            <a:ext cx="1454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70" dirty="0">
                <a:latin typeface="DejaVu Sans"/>
                <a:cs typeface="DejaVu Sans"/>
              </a:rPr>
              <a:t>−</a:t>
            </a:r>
            <a:r>
              <a:rPr sz="600" spc="-5" dirty="0">
                <a:latin typeface="LM Roman 6"/>
                <a:cs typeface="LM Roman 6"/>
              </a:rPr>
              <a:t>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59751" y="5667926"/>
            <a:ext cx="704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55" dirty="0">
                <a:latin typeface="Times New Roman"/>
                <a:cs typeface="Times New Roman"/>
              </a:rPr>
              <a:t>θ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81368" y="5624765"/>
            <a:ext cx="12014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01394" algn="l"/>
              </a:tabLst>
            </a:pP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i="1" spc="175" dirty="0">
                <a:latin typeface="DejaVu Sans"/>
                <a:cs typeface="DejaVu Sans"/>
              </a:rPr>
              <a:t>←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i="1" spc="30" dirty="0">
                <a:latin typeface="DejaVu Sans"/>
                <a:cs typeface="DejaVu Sans"/>
              </a:rPr>
              <a:t> </a:t>
            </a:r>
            <a:r>
              <a:rPr sz="800" i="1" spc="170" dirty="0">
                <a:latin typeface="DejaVu Sans"/>
                <a:cs typeface="DejaVu Sans"/>
              </a:rPr>
              <a:t>∇ </a:t>
            </a:r>
            <a:r>
              <a:rPr sz="800" i="1" spc="-35" dirty="0">
                <a:latin typeface="Times New Roman"/>
                <a:cs typeface="Times New Roman"/>
              </a:rPr>
              <a:t>A</a:t>
            </a:r>
            <a:r>
              <a:rPr sz="800" spc="-35" dirty="0">
                <a:latin typeface="LM Roman 8"/>
                <a:cs typeface="LM Roman 8"/>
              </a:rPr>
              <a:t>(</a:t>
            </a:r>
            <a:r>
              <a:rPr sz="800" i="1" spc="-35" dirty="0">
                <a:latin typeface="Times New Roman"/>
                <a:cs typeface="Times New Roman"/>
              </a:rPr>
              <a:t>θ</a:t>
            </a:r>
            <a:r>
              <a:rPr sz="800" spc="-35" dirty="0">
                <a:latin typeface="LM Roman 8"/>
                <a:cs typeface="LM Roman 8"/>
              </a:rPr>
              <a:t>)	</a:t>
            </a:r>
            <a:r>
              <a:rPr sz="800" i="1" spc="170" dirty="0">
                <a:latin typeface="DejaVu Sans"/>
                <a:cs typeface="DejaVu Sans"/>
              </a:rPr>
              <a:t>∇</a:t>
            </a:r>
            <a:r>
              <a:rPr sz="800" i="1" spc="90" dirty="0">
                <a:latin typeface="DejaVu Sans"/>
                <a:cs typeface="DejaVu Sans"/>
              </a:rPr>
              <a:t> </a:t>
            </a:r>
            <a:r>
              <a:rPr sz="800" i="1" spc="-145" dirty="0">
                <a:latin typeface="Times New Roman"/>
                <a:cs typeface="Times New Roman"/>
              </a:rPr>
              <a:t>A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857273" y="5624765"/>
            <a:ext cx="1625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20" dirty="0">
                <a:latin typeface="Times New Roman"/>
                <a:cs typeface="Times New Roman"/>
              </a:rPr>
              <a:t>θ</a:t>
            </a:r>
            <a:r>
              <a:rPr sz="800" spc="-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046954" y="5991143"/>
            <a:ext cx="4569460" cy="904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4335" lvl="1" indent="-331470">
              <a:lnSpc>
                <a:spcPts val="1195"/>
              </a:lnSpc>
              <a:buSzPct val="111111"/>
              <a:buFont typeface="LM Roman 10"/>
              <a:buAutoNum type="arabicPeriod" startAt="3"/>
              <a:tabLst>
                <a:tab pos="394335" algn="l"/>
                <a:tab pos="394970" algn="l"/>
              </a:tabLst>
            </a:pPr>
            <a:r>
              <a:rPr sz="900" b="1" spc="-10" dirty="0">
                <a:latin typeface="LM Roman 9"/>
                <a:cs typeface="LM Roman 9"/>
              </a:rPr>
              <a:t>Linear </a:t>
            </a:r>
            <a:r>
              <a:rPr sz="900" b="1" dirty="0">
                <a:latin typeface="LM Roman 9"/>
                <a:cs typeface="LM Roman 9"/>
              </a:rPr>
              <a:t>models</a:t>
            </a:r>
            <a:endParaRPr sz="900">
              <a:latin typeface="LM Roman 9"/>
              <a:cs typeface="LM Roman 9"/>
            </a:endParaRPr>
          </a:p>
          <a:p>
            <a:pPr marL="508000" lvl="2" indent="-445134">
              <a:lnSpc>
                <a:spcPct val="100000"/>
              </a:lnSpc>
              <a:spcBef>
                <a:spcPts val="725"/>
              </a:spcBef>
              <a:buSzPct val="111111"/>
              <a:buFont typeface="LM Roman 10"/>
              <a:buAutoNum type="arabicPeriod"/>
              <a:tabLst>
                <a:tab pos="508000" algn="l"/>
                <a:tab pos="508634" algn="l"/>
              </a:tabLst>
            </a:pPr>
            <a:r>
              <a:rPr sz="900" b="1" spc="-10" dirty="0">
                <a:latin typeface="LM Roman 9"/>
                <a:cs typeface="LM Roman 9"/>
              </a:rPr>
              <a:t>Linear </a:t>
            </a:r>
            <a:r>
              <a:rPr sz="900" b="1" spc="-5" dirty="0">
                <a:latin typeface="LM Roman 9"/>
                <a:cs typeface="LM Roman 9"/>
              </a:rPr>
              <a:t>regression</a:t>
            </a:r>
            <a:endParaRPr sz="900">
              <a:latin typeface="LM Roman 9"/>
              <a:cs typeface="LM Roman 9"/>
            </a:endParaRPr>
          </a:p>
          <a:p>
            <a:pPr marL="63500">
              <a:lnSpc>
                <a:spcPct val="100000"/>
              </a:lnSpc>
              <a:spcBef>
                <a:spcPts val="860"/>
              </a:spcBef>
            </a:pPr>
            <a:r>
              <a:rPr sz="800" spc="-40" dirty="0">
                <a:latin typeface="LM Roman 8"/>
                <a:cs typeface="LM Roman 8"/>
              </a:rPr>
              <a:t>We</a:t>
            </a:r>
            <a:r>
              <a:rPr sz="800" spc="-5" dirty="0">
                <a:latin typeface="LM Roman 8"/>
                <a:cs typeface="LM Roman 8"/>
              </a:rPr>
              <a:t> assume here that </a:t>
            </a:r>
            <a:r>
              <a:rPr sz="800" i="1" spc="40" dirty="0">
                <a:latin typeface="Times New Roman"/>
                <a:cs typeface="Times New Roman"/>
              </a:rPr>
              <a:t>y</a:t>
            </a:r>
            <a:r>
              <a:rPr sz="800" i="1" spc="40" dirty="0">
                <a:latin typeface="DejaVu Sans"/>
                <a:cs typeface="DejaVu Sans"/>
              </a:rPr>
              <a:t>|</a:t>
            </a:r>
            <a:r>
              <a:rPr sz="800" i="1" spc="40" dirty="0">
                <a:latin typeface="Times New Roman"/>
                <a:cs typeface="Times New Roman"/>
              </a:rPr>
              <a:t>x</a:t>
            </a:r>
            <a:r>
              <a:rPr sz="800" spc="40" dirty="0">
                <a:latin typeface="LM Roman 8"/>
                <a:cs typeface="LM Roman 8"/>
              </a:rPr>
              <a:t>;</a:t>
            </a:r>
            <a:r>
              <a:rPr sz="800" spc="-145" dirty="0">
                <a:latin typeface="LM Roman 8"/>
                <a:cs typeface="LM Roman 8"/>
              </a:rPr>
              <a:t> </a:t>
            </a:r>
            <a:r>
              <a:rPr sz="800" i="1" dirty="0">
                <a:latin typeface="Times New Roman"/>
                <a:cs typeface="Times New Roman"/>
              </a:rPr>
              <a:t>θ</a:t>
            </a:r>
            <a:r>
              <a:rPr sz="800" i="1" spc="55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∼</a:t>
            </a:r>
            <a:r>
              <a:rPr sz="800" i="1" spc="-20" dirty="0">
                <a:latin typeface="DejaVu Sans"/>
                <a:cs typeface="DejaVu Sans"/>
              </a:rPr>
              <a:t> </a:t>
            </a:r>
            <a:r>
              <a:rPr sz="800" i="1" spc="90" dirty="0">
                <a:latin typeface="DejaVu Sans"/>
                <a:cs typeface="DejaVu Sans"/>
              </a:rPr>
              <a:t>N</a:t>
            </a:r>
            <a:r>
              <a:rPr sz="800" i="1" spc="-140" dirty="0">
                <a:latin typeface="DejaVu Sans"/>
                <a:cs typeface="DejaVu Sans"/>
              </a:rPr>
              <a:t>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µ,σ</a:t>
            </a:r>
            <a:r>
              <a:rPr sz="900" spc="52" baseline="27777" dirty="0">
                <a:latin typeface="LM Roman 6"/>
                <a:cs typeface="LM Roman 6"/>
              </a:rPr>
              <a:t>2</a:t>
            </a:r>
            <a:r>
              <a:rPr sz="800" spc="3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  <a:p>
            <a:pPr marL="62865" marR="17780">
              <a:lnSpc>
                <a:spcPts val="800"/>
              </a:lnSpc>
              <a:spcBef>
                <a:spcPts val="475"/>
              </a:spcBef>
              <a:buFont typeface="DejaVu Sans"/>
              <a:buChar char="❒"/>
              <a:tabLst>
                <a:tab pos="174625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Normal </a:t>
            </a: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equations </a:t>
            </a:r>
            <a:r>
              <a:rPr sz="800" spc="-5" dirty="0">
                <a:latin typeface="LM Roman 8"/>
                <a:cs typeface="LM Roman 8"/>
              </a:rPr>
              <a:t>– By noting </a:t>
            </a:r>
            <a:r>
              <a:rPr sz="800" i="1" spc="204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the matrix design, the </a:t>
            </a:r>
            <a:r>
              <a:rPr sz="800" spc="-15" dirty="0">
                <a:latin typeface="LM Roman 8"/>
                <a:cs typeface="LM Roman 8"/>
              </a:rPr>
              <a:t>value </a:t>
            </a:r>
            <a:r>
              <a:rPr sz="800" spc="-5" dirty="0">
                <a:latin typeface="LM Roman 8"/>
                <a:cs typeface="LM Roman 8"/>
              </a:rPr>
              <a:t>of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spc="-5" dirty="0">
                <a:latin typeface="LM Roman 8"/>
                <a:cs typeface="LM Roman 8"/>
              </a:rPr>
              <a:t>that minimizes the cost 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is a closed-form solution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859866" y="6948931"/>
            <a:ext cx="981710" cy="20066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800" i="1" dirty="0">
                <a:latin typeface="Times New Roman"/>
                <a:cs typeface="Times New Roman"/>
              </a:rPr>
              <a:t>θ</a:t>
            </a:r>
            <a:r>
              <a:rPr sz="800" i="1" spc="3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120" dirty="0">
                <a:latin typeface="LM Roman 8"/>
                <a:cs typeface="LM Roman 8"/>
              </a:rPr>
              <a:t>(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900" i="1" spc="179" baseline="32407" dirty="0">
                <a:latin typeface="Times New Roman"/>
                <a:cs typeface="Times New Roman"/>
              </a:rPr>
              <a:t>T</a:t>
            </a:r>
            <a:r>
              <a:rPr sz="900" i="1" spc="-22" baseline="32407" dirty="0">
                <a:latin typeface="Times New Roman"/>
                <a:cs typeface="Times New Roman"/>
              </a:rPr>
              <a:t> </a:t>
            </a:r>
            <a:r>
              <a:rPr sz="800" i="1" spc="125" dirty="0">
                <a:latin typeface="Times New Roman"/>
                <a:cs typeface="Times New Roman"/>
              </a:rPr>
              <a:t>X</a:t>
            </a:r>
            <a:r>
              <a:rPr sz="800" spc="125" dirty="0">
                <a:latin typeface="LM Roman 8"/>
                <a:cs typeface="LM Roman 8"/>
              </a:rPr>
              <a:t>)</a:t>
            </a:r>
            <a:r>
              <a:rPr sz="900" i="1" spc="187" baseline="32407" dirty="0">
                <a:latin typeface="DejaVu Sans"/>
                <a:cs typeface="DejaVu Sans"/>
              </a:rPr>
              <a:t>−</a:t>
            </a:r>
            <a:r>
              <a:rPr sz="900" spc="187" baseline="32407" dirty="0">
                <a:latin typeface="LM Roman 6"/>
                <a:cs typeface="LM Roman 6"/>
              </a:rPr>
              <a:t>1</a:t>
            </a:r>
            <a:r>
              <a:rPr sz="800" i="1" spc="125" dirty="0">
                <a:latin typeface="Times New Roman"/>
                <a:cs typeface="Times New Roman"/>
              </a:rPr>
              <a:t>X</a:t>
            </a:r>
            <a:r>
              <a:rPr sz="900" i="1" spc="187" baseline="32407" dirty="0">
                <a:latin typeface="Times New Roman"/>
                <a:cs typeface="Times New Roman"/>
              </a:rPr>
              <a:t>T</a:t>
            </a:r>
            <a:r>
              <a:rPr sz="900" i="1" spc="-22" baseline="32407" dirty="0">
                <a:latin typeface="Times New Roman"/>
                <a:cs typeface="Times New Roman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y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03999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294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 dirty="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994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5294" y="696606"/>
            <a:ext cx="4505960" cy="36322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algn="just">
              <a:lnSpc>
                <a:spcPct val="88600"/>
              </a:lnSpc>
              <a:spcBef>
                <a:spcPts val="204"/>
              </a:spcBef>
              <a:buFont typeface="DejaVu Sans"/>
              <a:buChar char="❒"/>
              <a:tabLst>
                <a:tab pos="122555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LMS</a:t>
            </a:r>
            <a:r>
              <a:rPr sz="800" b="1" spc="-25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algorithm</a:t>
            </a:r>
            <a:r>
              <a:rPr sz="800" b="1" spc="-60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By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noting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α</a:t>
            </a:r>
            <a:r>
              <a:rPr sz="800" i="1" spc="6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learning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rate,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update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rule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Least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Mean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Squares  (LMS) algorithm for a training set of </a:t>
            </a:r>
            <a:r>
              <a:rPr sz="800" i="1" spc="170" dirty="0">
                <a:latin typeface="Times New Roman"/>
                <a:cs typeface="Times New Roman"/>
              </a:rPr>
              <a:t>m </a:t>
            </a:r>
            <a:r>
              <a:rPr sz="800" spc="-5" dirty="0">
                <a:latin typeface="LM Roman 8"/>
                <a:cs typeface="LM Roman 8"/>
              </a:rPr>
              <a:t>data points, </a:t>
            </a:r>
            <a:r>
              <a:rPr sz="800" spc="-10" dirty="0">
                <a:latin typeface="LM Roman 8"/>
                <a:cs typeface="LM Roman 8"/>
              </a:rPr>
              <a:t>which </a:t>
            </a:r>
            <a:r>
              <a:rPr sz="800" spc="-5" dirty="0">
                <a:latin typeface="LM Roman 8"/>
                <a:cs typeface="LM Roman 8"/>
              </a:rPr>
              <a:t>is also </a:t>
            </a:r>
            <a:r>
              <a:rPr sz="800" spc="-10" dirty="0">
                <a:latin typeface="LM Roman 8"/>
                <a:cs typeface="LM Roman 8"/>
              </a:rPr>
              <a:t>known </a:t>
            </a:r>
            <a:r>
              <a:rPr sz="800" spc="-5" dirty="0">
                <a:latin typeface="LM Roman 8"/>
                <a:cs typeface="LM Roman 8"/>
              </a:rPr>
              <a:t>as the </a:t>
            </a:r>
            <a:r>
              <a:rPr sz="800" spc="-10" dirty="0">
                <a:latin typeface="LM Roman 8"/>
                <a:cs typeface="LM Roman 8"/>
              </a:rPr>
              <a:t>Widrow-Hoff  </a:t>
            </a:r>
            <a:r>
              <a:rPr sz="800" spc="-5" dirty="0">
                <a:latin typeface="LM Roman 8"/>
                <a:cs typeface="LM Roman 8"/>
              </a:rPr>
              <a:t>learning rule, is as</a:t>
            </a:r>
            <a:r>
              <a:rPr sz="800" spc="-10" dirty="0">
                <a:latin typeface="LM Roman 8"/>
                <a:cs typeface="LM Roman 8"/>
              </a:rPr>
              <a:t> 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71813" y="1091468"/>
            <a:ext cx="1085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220" dirty="0">
                <a:latin typeface="Times New Roman"/>
                <a:cs typeface="Times New Roman"/>
              </a:rPr>
              <a:t>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21953" y="1078819"/>
            <a:ext cx="195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2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2150" y="1201247"/>
            <a:ext cx="5949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4980" algn="l"/>
              </a:tabLst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r>
              <a:rPr sz="600" dirty="0">
                <a:latin typeface="LM Roman 6"/>
                <a:cs typeface="LM Roman 6"/>
              </a:rPr>
              <a:t>	</a:t>
            </a: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22638" y="1096522"/>
            <a:ext cx="8058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9775" algn="l"/>
              </a:tabLst>
            </a:pPr>
            <a:r>
              <a:rPr sz="1000" spc="-204" dirty="0">
                <a:latin typeface="Arial"/>
                <a:cs typeface="Arial"/>
              </a:rPr>
              <a:t>Σ	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0811" y="1217992"/>
            <a:ext cx="196151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16965" algn="l"/>
                <a:tab pos="1310640" algn="l"/>
              </a:tabLst>
            </a:pPr>
            <a:r>
              <a:rPr sz="800" i="1" spc="20" dirty="0">
                <a:latin typeface="DejaVu Sans"/>
                <a:cs typeface="DejaVu Sans"/>
              </a:rPr>
              <a:t>∀</a:t>
            </a:r>
            <a:r>
              <a:rPr sz="800" i="1" spc="20" dirty="0">
                <a:latin typeface="Times New Roman"/>
                <a:cs typeface="Times New Roman"/>
              </a:rPr>
              <a:t>j,    </a:t>
            </a:r>
            <a:r>
              <a:rPr sz="800" i="1" spc="65" dirty="0">
                <a:latin typeface="Times New Roman"/>
                <a:cs typeface="Times New Roman"/>
              </a:rPr>
              <a:t>θ</a:t>
            </a:r>
            <a:r>
              <a:rPr sz="900" i="1" spc="97" baseline="-9259" dirty="0">
                <a:latin typeface="Times New Roman"/>
                <a:cs typeface="Times New Roman"/>
              </a:rPr>
              <a:t>j </a:t>
            </a:r>
            <a:r>
              <a:rPr sz="800" i="1" spc="175" dirty="0">
                <a:latin typeface="DejaVu Sans"/>
                <a:cs typeface="DejaVu Sans"/>
              </a:rPr>
              <a:t>← </a:t>
            </a:r>
            <a:r>
              <a:rPr sz="800" i="1" spc="65" dirty="0">
                <a:latin typeface="Times New Roman"/>
                <a:cs typeface="Times New Roman"/>
              </a:rPr>
              <a:t>θ</a:t>
            </a:r>
            <a:r>
              <a:rPr sz="900" i="1" spc="97" baseline="-9259" dirty="0">
                <a:latin typeface="Times New Roman"/>
                <a:cs typeface="Times New Roman"/>
              </a:rPr>
              <a:t>j</a:t>
            </a:r>
            <a:r>
              <a:rPr sz="900" i="1" spc="15" baseline="-9259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α	</a:t>
            </a:r>
            <a:r>
              <a:rPr sz="800" i="1" spc="60" dirty="0">
                <a:latin typeface="Times New Roman"/>
                <a:cs typeface="Times New Roman"/>
              </a:rPr>
              <a:t>y	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i="1" spc="70" dirty="0">
                <a:latin typeface="Times New Roman"/>
                <a:cs typeface="Times New Roman"/>
              </a:rPr>
              <a:t>h</a:t>
            </a:r>
            <a:r>
              <a:rPr sz="900" i="1" spc="104" baseline="-13888" dirty="0">
                <a:latin typeface="Times New Roman"/>
                <a:cs typeface="Times New Roman"/>
              </a:rPr>
              <a:t>θ 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100" dirty="0">
                <a:latin typeface="LM Roman 8"/>
                <a:cs typeface="LM Roman 8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81069" y="1189449"/>
            <a:ext cx="132715" cy="206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  <a:p>
            <a:pPr marL="12700">
              <a:lnSpc>
                <a:spcPts val="710"/>
              </a:lnSpc>
            </a:pPr>
            <a:r>
              <a:rPr sz="600" i="1" spc="135" dirty="0">
                <a:latin typeface="Times New Roman"/>
                <a:cs typeface="Times New Roman"/>
              </a:rPr>
              <a:t>j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65897" y="1091730"/>
            <a:ext cx="2084705" cy="448309"/>
            <a:chOff x="1665897" y="1091730"/>
            <a:chExt cx="2084705" cy="448309"/>
          </a:xfrm>
        </p:grpSpPr>
        <p:sp>
          <p:nvSpPr>
            <p:cNvPr id="13" name="object 13"/>
            <p:cNvSpPr/>
            <p:nvPr/>
          </p:nvSpPr>
          <p:spPr>
            <a:xfrm>
              <a:off x="1665897" y="1094257"/>
              <a:ext cx="2084705" cy="0"/>
            </a:xfrm>
            <a:custGeom>
              <a:avLst/>
              <a:gdLst/>
              <a:ahLst/>
              <a:cxnLst/>
              <a:rect l="l" t="t" r="r" b="b"/>
              <a:pathLst>
                <a:path w="2084704">
                  <a:moveTo>
                    <a:pt x="0" y="0"/>
                  </a:moveTo>
                  <a:lnTo>
                    <a:pt x="208414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68424" y="1094257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47516" y="1094257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65897" y="1536890"/>
              <a:ext cx="2084705" cy="0"/>
            </a:xfrm>
            <a:custGeom>
              <a:avLst/>
              <a:gdLst/>
              <a:ahLst/>
              <a:cxnLst/>
              <a:rect l="l" t="t" r="r" b="b"/>
              <a:pathLst>
                <a:path w="2084704">
                  <a:moveTo>
                    <a:pt x="0" y="0"/>
                  </a:moveTo>
                  <a:lnTo>
                    <a:pt x="208414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042452" y="2289268"/>
            <a:ext cx="132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62556" y="2306013"/>
            <a:ext cx="8655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70" dirty="0">
                <a:latin typeface="Times New Roman"/>
                <a:cs typeface="Times New Roman"/>
              </a:rPr>
              <a:t>w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 exp</a:t>
            </a:r>
            <a:r>
              <a:rPr sz="800" spc="215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17507" y="2235529"/>
            <a:ext cx="4749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2095" algn="l"/>
              </a:tabLst>
            </a:pP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x	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135" dirty="0">
                <a:latin typeface="DejaVu Sans"/>
                <a:cs typeface="DejaVu Sans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800" spc="6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19869" y="2225108"/>
            <a:ext cx="4191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9410" algn="l"/>
              </a:tabLst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r>
              <a:rPr sz="600" dirty="0">
                <a:latin typeface="LM Roman 6"/>
                <a:cs typeface="LM Roman 6"/>
              </a:rPr>
              <a:t>	</a:t>
            </a: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30207" y="2394635"/>
            <a:ext cx="502284" cy="0"/>
          </a:xfrm>
          <a:custGeom>
            <a:avLst/>
            <a:gdLst/>
            <a:ahLst/>
            <a:cxnLst/>
            <a:rect l="l" t="t" r="r" b="b"/>
            <a:pathLst>
              <a:path w="502285">
                <a:moveTo>
                  <a:pt x="0" y="0"/>
                </a:moveTo>
                <a:lnTo>
                  <a:pt x="50215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960230" y="2381845"/>
            <a:ext cx="236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40" dirty="0">
                <a:latin typeface="LM Roman 8"/>
                <a:cs typeface="LM Roman 8"/>
              </a:rPr>
              <a:t>2</a:t>
            </a:r>
            <a:r>
              <a:rPr sz="800" i="1" spc="40" dirty="0">
                <a:latin typeface="Times New Roman"/>
                <a:cs typeface="Times New Roman"/>
              </a:rPr>
              <a:t>τ</a:t>
            </a:r>
            <a:r>
              <a:rPr sz="800" i="1" spc="-135" dirty="0">
                <a:latin typeface="Times New Roman"/>
                <a:cs typeface="Times New Roman"/>
              </a:rPr>
              <a:t> </a:t>
            </a:r>
            <a:r>
              <a:rPr sz="900" spc="-7" baseline="23148" dirty="0">
                <a:latin typeface="LM Roman 6"/>
                <a:cs typeface="LM Roman 6"/>
              </a:rPr>
              <a:t>2</a:t>
            </a:r>
            <a:endParaRPr sz="900" baseline="23148">
              <a:latin typeface="LM Roman 6"/>
              <a:cs typeface="LM Roman 6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1795" y="1395125"/>
            <a:ext cx="4632960" cy="890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56210" algn="ctr">
              <a:lnSpc>
                <a:spcPct val="100000"/>
              </a:lnSpc>
              <a:spcBef>
                <a:spcPts val="95"/>
              </a:spcBef>
            </a:pP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550">
              <a:latin typeface="LM Roman 6"/>
              <a:cs typeface="LM Roman 6"/>
            </a:endParaRPr>
          </a:p>
          <a:p>
            <a:pPr marL="76200">
              <a:lnSpc>
                <a:spcPct val="100000"/>
              </a:lnSpc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update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rule is a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particular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case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of the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gradient</a:t>
            </a:r>
            <a:r>
              <a:rPr sz="800" i="1" spc="-16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ascent.</a:t>
            </a:r>
            <a:endParaRPr sz="800">
              <a:latin typeface="LM Roman 8"/>
              <a:cs typeface="LM Roman 8"/>
            </a:endParaRPr>
          </a:p>
          <a:p>
            <a:pPr marL="76200" marR="68580" algn="just">
              <a:lnSpc>
                <a:spcPct val="95400"/>
              </a:lnSpc>
              <a:spcBef>
                <a:spcPts val="645"/>
              </a:spcBef>
              <a:buFont typeface="DejaVu Sans"/>
              <a:buChar char="❒"/>
              <a:tabLst>
                <a:tab pos="180975" algn="l"/>
              </a:tabLst>
            </a:pPr>
            <a:r>
              <a:rPr sz="800" b="1" spc="-45" dirty="0">
                <a:solidFill>
                  <a:srgbClr val="020E86"/>
                </a:solidFill>
                <a:latin typeface="LM Roman 8"/>
                <a:cs typeface="LM Roman 8"/>
              </a:rPr>
              <a:t>LWR</a:t>
            </a:r>
            <a:r>
              <a:rPr sz="800" b="1" spc="-110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Locally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Weighted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Regression,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also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known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30" dirty="0">
                <a:latin typeface="LM Roman 8"/>
                <a:cs typeface="LM Roman 8"/>
              </a:rPr>
              <a:t>LWR,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variant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linear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regression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  </a:t>
            </a:r>
            <a:r>
              <a:rPr sz="800" spc="-10" dirty="0">
                <a:latin typeface="LM Roman 8"/>
                <a:cs typeface="LM Roman 8"/>
              </a:rPr>
              <a:t>weights each </a:t>
            </a:r>
            <a:r>
              <a:rPr sz="800" spc="-5" dirty="0">
                <a:latin typeface="LM Roman 8"/>
                <a:cs typeface="LM Roman 8"/>
              </a:rPr>
              <a:t>training example in its cost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i="1" spc="40" dirty="0">
                <a:latin typeface="Times New Roman"/>
                <a:cs typeface="Times New Roman"/>
              </a:rPr>
              <a:t>w</a:t>
            </a:r>
            <a:r>
              <a:rPr sz="900" spc="60" baseline="27777" dirty="0">
                <a:latin typeface="LM Roman 6"/>
                <a:cs typeface="LM Roman 6"/>
              </a:rPr>
              <a:t>(</a:t>
            </a:r>
            <a:r>
              <a:rPr sz="900" i="1" spc="60" baseline="27777" dirty="0">
                <a:latin typeface="Times New Roman"/>
                <a:cs typeface="Times New Roman"/>
              </a:rPr>
              <a:t>i</a:t>
            </a:r>
            <a:r>
              <a:rPr sz="900" spc="60" baseline="27777" dirty="0">
                <a:latin typeface="LM Roman 6"/>
                <a:cs typeface="LM Roman 6"/>
              </a:rPr>
              <a:t>)</a:t>
            </a:r>
            <a:r>
              <a:rPr sz="800" spc="40" dirty="0">
                <a:latin typeface="LM Roman 8"/>
                <a:cs typeface="LM Roman 8"/>
              </a:rPr>
              <a:t>(</a:t>
            </a:r>
            <a:r>
              <a:rPr sz="800" i="1" spc="40" dirty="0">
                <a:latin typeface="Times New Roman"/>
                <a:cs typeface="Times New Roman"/>
              </a:rPr>
              <a:t>x</a:t>
            </a:r>
            <a:r>
              <a:rPr sz="800" spc="40" dirty="0">
                <a:latin typeface="LM Roman 8"/>
                <a:cs typeface="LM Roman 8"/>
              </a:rPr>
              <a:t>), </a:t>
            </a:r>
            <a:r>
              <a:rPr sz="800" spc="-10" dirty="0">
                <a:latin typeface="LM Roman 8"/>
                <a:cs typeface="LM Roman 8"/>
              </a:rPr>
              <a:t>which </a:t>
            </a:r>
            <a:r>
              <a:rPr sz="800" spc="-5" dirty="0">
                <a:latin typeface="LM Roman 8"/>
                <a:cs typeface="LM Roman 8"/>
              </a:rPr>
              <a:t>is defined with parameter  </a:t>
            </a:r>
            <a:r>
              <a:rPr sz="800" i="1" spc="85" dirty="0">
                <a:latin typeface="Times New Roman"/>
                <a:cs typeface="Times New Roman"/>
              </a:rPr>
              <a:t>τ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MathJax_AMS"/>
                <a:cs typeface="MathJax_AMS"/>
              </a:rPr>
              <a:t>R</a:t>
            </a:r>
            <a:r>
              <a:rPr sz="800" spc="110" dirty="0">
                <a:latin typeface="MathJax_AMS"/>
                <a:cs typeface="MathJax_AMS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as:</a:t>
            </a:r>
            <a:endParaRPr sz="800">
              <a:latin typeface="LM Roman 8"/>
              <a:cs typeface="LM Roman 8"/>
            </a:endParaRPr>
          </a:p>
          <a:p>
            <a:pPr marL="662305" algn="ctr">
              <a:lnSpc>
                <a:spcPts val="935"/>
              </a:lnSpc>
              <a:tabLst>
                <a:tab pos="1371600" algn="l"/>
              </a:tabLst>
            </a:pPr>
            <a:r>
              <a:rPr sz="1000" spc="455" dirty="0">
                <a:latin typeface="Arial"/>
                <a:cs typeface="Arial"/>
              </a:rPr>
              <a:t>.	</a:t>
            </a:r>
            <a:r>
              <a:rPr sz="1000" spc="114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32241" y="2199779"/>
            <a:ext cx="1551940" cy="389890"/>
            <a:chOff x="1932241" y="2199779"/>
            <a:chExt cx="1551940" cy="389890"/>
          </a:xfrm>
        </p:grpSpPr>
        <p:sp>
          <p:nvSpPr>
            <p:cNvPr id="25" name="object 25"/>
            <p:cNvSpPr/>
            <p:nvPr/>
          </p:nvSpPr>
          <p:spPr>
            <a:xfrm>
              <a:off x="1932241" y="2202306"/>
              <a:ext cx="1551940" cy="0"/>
            </a:xfrm>
            <a:custGeom>
              <a:avLst/>
              <a:gdLst/>
              <a:ahLst/>
              <a:cxnLst/>
              <a:rect l="l" t="t" r="r" b="b"/>
              <a:pathLst>
                <a:path w="1551940">
                  <a:moveTo>
                    <a:pt x="0" y="0"/>
                  </a:moveTo>
                  <a:lnTo>
                    <a:pt x="155145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34768" y="2202306"/>
              <a:ext cx="0" cy="384810"/>
            </a:xfrm>
            <a:custGeom>
              <a:avLst/>
              <a:gdLst/>
              <a:ahLst/>
              <a:cxnLst/>
              <a:rect l="l" t="t" r="r" b="b"/>
              <a:pathLst>
                <a:path h="384810">
                  <a:moveTo>
                    <a:pt x="0" y="38464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81171" y="2202306"/>
              <a:ext cx="0" cy="384810"/>
            </a:xfrm>
            <a:custGeom>
              <a:avLst/>
              <a:gdLst/>
              <a:ahLst/>
              <a:cxnLst/>
              <a:rect l="l" t="t" r="r" b="b"/>
              <a:pathLst>
                <a:path h="384810">
                  <a:moveTo>
                    <a:pt x="0" y="38464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32241" y="2586951"/>
              <a:ext cx="1551940" cy="0"/>
            </a:xfrm>
            <a:custGeom>
              <a:avLst/>
              <a:gdLst/>
              <a:ahLst/>
              <a:cxnLst/>
              <a:rect l="l" t="t" r="r" b="b"/>
              <a:pathLst>
                <a:path w="1551940">
                  <a:moveTo>
                    <a:pt x="0" y="0"/>
                  </a:moveTo>
                  <a:lnTo>
                    <a:pt x="155145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5294" y="2766537"/>
            <a:ext cx="4505325" cy="475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457200" algn="l"/>
              </a:tabLst>
            </a:pPr>
            <a:r>
              <a:rPr sz="1000" b="1" spc="-5" dirty="0">
                <a:latin typeface="LM Roman 10"/>
                <a:cs typeface="LM Roman 10"/>
              </a:rPr>
              <a:t>1.3.2	</a:t>
            </a:r>
            <a:r>
              <a:rPr sz="900" b="1" spc="-10" dirty="0">
                <a:latin typeface="LM Roman 9"/>
                <a:cs typeface="LM Roman 9"/>
              </a:rPr>
              <a:t>Classification </a:t>
            </a:r>
            <a:r>
              <a:rPr sz="900" b="1" spc="-5" dirty="0">
                <a:latin typeface="LM Roman 9"/>
                <a:cs typeface="LM Roman 9"/>
              </a:rPr>
              <a:t>and </a:t>
            </a:r>
            <a:r>
              <a:rPr sz="900" b="1" spc="-10" dirty="0">
                <a:latin typeface="LM Roman 9"/>
                <a:cs typeface="LM Roman 9"/>
              </a:rPr>
              <a:t>logistic</a:t>
            </a:r>
            <a:r>
              <a:rPr sz="900" b="1" spc="-5" dirty="0">
                <a:latin typeface="LM Roman 9"/>
                <a:cs typeface="LM Roman 9"/>
              </a:rPr>
              <a:t> regression</a:t>
            </a:r>
            <a:endParaRPr sz="90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840"/>
              </a:spcBef>
              <a:buFont typeface="DejaVu Sans"/>
              <a:buChar char="❒"/>
              <a:tabLst>
                <a:tab pos="127635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Sigmoid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– The sigmoid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i="1" spc="10" dirty="0">
                <a:latin typeface="Times New Roman"/>
                <a:cs typeface="Times New Roman"/>
              </a:rPr>
              <a:t>g</a:t>
            </a:r>
            <a:r>
              <a:rPr sz="800" spc="10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also </a:t>
            </a:r>
            <a:r>
              <a:rPr sz="800" spc="-10" dirty="0">
                <a:latin typeface="LM Roman 8"/>
                <a:cs typeface="LM Roman 8"/>
              </a:rPr>
              <a:t>known </a:t>
            </a:r>
            <a:r>
              <a:rPr sz="800" spc="-5" dirty="0">
                <a:latin typeface="LM Roman 8"/>
                <a:cs typeface="LM Roman 8"/>
              </a:rPr>
              <a:t>as the logistic </a:t>
            </a:r>
            <a:r>
              <a:rPr sz="800" spc="-10" dirty="0">
                <a:latin typeface="LM Roman 8"/>
                <a:cs typeface="LM Roman 8"/>
              </a:rPr>
              <a:t>function, </a:t>
            </a:r>
            <a:r>
              <a:rPr sz="800" spc="-5" dirty="0">
                <a:latin typeface="LM Roman 8"/>
                <a:cs typeface="LM Roman 8"/>
              </a:rPr>
              <a:t>is defined  as</a:t>
            </a:r>
            <a:r>
              <a:rPr sz="800" spc="-10" dirty="0">
                <a:latin typeface="LM Roman 8"/>
                <a:cs typeface="LM Roman 8"/>
              </a:rPr>
              <a:t> 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27616" y="3268267"/>
            <a:ext cx="66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773121" y="3427374"/>
            <a:ext cx="363220" cy="0"/>
          </a:xfrm>
          <a:custGeom>
            <a:avLst/>
            <a:gdLst/>
            <a:ahLst/>
            <a:cxnLst/>
            <a:rect l="l" t="t" r="r" b="b"/>
            <a:pathLst>
              <a:path w="363219">
                <a:moveTo>
                  <a:pt x="0" y="0"/>
                </a:moveTo>
                <a:lnTo>
                  <a:pt x="36277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884629" y="3338752"/>
            <a:ext cx="16160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36575" algn="l"/>
              </a:tabLst>
            </a:pPr>
            <a:r>
              <a:rPr sz="800" i="1" dirty="0">
                <a:latin typeface="DejaVu Sans"/>
                <a:cs typeface="DejaVu Sans"/>
              </a:rPr>
              <a:t>∀</a:t>
            </a:r>
            <a:r>
              <a:rPr sz="800" i="1" dirty="0">
                <a:latin typeface="Times New Roman"/>
                <a:cs typeface="Times New Roman"/>
              </a:rPr>
              <a:t>z</a:t>
            </a:r>
            <a:r>
              <a:rPr sz="800" i="1" spc="65" dirty="0">
                <a:latin typeface="Times New Roman"/>
                <a:cs typeface="Times New Roman"/>
              </a:rPr>
              <a:t> </a:t>
            </a:r>
            <a:r>
              <a:rPr sz="800" i="1" spc="-135" dirty="0">
                <a:latin typeface="DejaVu Sans"/>
                <a:cs typeface="DejaVu Sans"/>
              </a:rPr>
              <a:t>∈</a:t>
            </a:r>
            <a:r>
              <a:rPr sz="800" i="1" spc="-20" dirty="0">
                <a:latin typeface="DejaVu Sans"/>
                <a:cs typeface="DejaVu Sans"/>
              </a:rPr>
              <a:t> </a:t>
            </a:r>
            <a:r>
              <a:rPr sz="800" spc="15" dirty="0">
                <a:latin typeface="MathJax_AMS"/>
                <a:cs typeface="MathJax_AMS"/>
              </a:rPr>
              <a:t>R</a:t>
            </a:r>
            <a:r>
              <a:rPr sz="800" i="1" spc="15" dirty="0">
                <a:latin typeface="Times New Roman"/>
                <a:cs typeface="Times New Roman"/>
              </a:rPr>
              <a:t>,	</a:t>
            </a:r>
            <a:r>
              <a:rPr sz="800" i="1" spc="30" dirty="0">
                <a:latin typeface="Times New Roman"/>
                <a:cs typeface="Times New Roman"/>
              </a:rPr>
              <a:t>g</a:t>
            </a:r>
            <a:r>
              <a:rPr sz="800" spc="30" dirty="0">
                <a:latin typeface="LM Roman 8"/>
                <a:cs typeface="LM Roman 8"/>
              </a:rPr>
              <a:t>(</a:t>
            </a:r>
            <a:r>
              <a:rPr sz="800" i="1" spc="30" dirty="0">
                <a:latin typeface="Times New Roman"/>
                <a:cs typeface="Times New Roman"/>
              </a:rPr>
              <a:t>z</a:t>
            </a:r>
            <a:r>
              <a:rPr sz="800" spc="30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1200" spc="-7" baseline="-41666" dirty="0">
                <a:latin typeface="LM Roman 8"/>
                <a:cs typeface="LM Roman 8"/>
              </a:rPr>
              <a:t>1 + </a:t>
            </a:r>
            <a:r>
              <a:rPr sz="1200" i="1" spc="112" baseline="-41666" dirty="0">
                <a:latin typeface="Times New Roman"/>
                <a:cs typeface="Times New Roman"/>
              </a:rPr>
              <a:t>e</a:t>
            </a:r>
            <a:r>
              <a:rPr sz="900" i="1" spc="112" baseline="-32407" dirty="0">
                <a:latin typeface="DejaVu Sans"/>
                <a:cs typeface="DejaVu Sans"/>
              </a:rPr>
              <a:t>−</a:t>
            </a:r>
            <a:r>
              <a:rPr sz="900" i="1" spc="112" baseline="-32407" dirty="0">
                <a:latin typeface="Times New Roman"/>
                <a:cs typeface="Times New Roman"/>
              </a:rPr>
              <a:t>z</a:t>
            </a:r>
            <a:r>
              <a:rPr sz="900" i="1" spc="75" baseline="-32407" dirty="0">
                <a:latin typeface="Times New Roman"/>
                <a:cs typeface="Times New Roman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∈</a:t>
            </a:r>
            <a:r>
              <a:rPr sz="800" spc="-20" dirty="0">
                <a:latin typeface="LM Roman 8"/>
                <a:cs typeface="LM Roman 8"/>
              </a:rPr>
              <a:t>]0</a:t>
            </a:r>
            <a:r>
              <a:rPr sz="800" i="1" spc="-20" dirty="0">
                <a:latin typeface="Times New Roman"/>
                <a:cs typeface="Times New Roman"/>
              </a:rPr>
              <a:t>,</a:t>
            </a:r>
            <a:r>
              <a:rPr sz="800" spc="-20" dirty="0">
                <a:latin typeface="LM Roman 8"/>
                <a:cs typeface="LM Roman 8"/>
              </a:rPr>
              <a:t>1[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378760" y="3273945"/>
            <a:ext cx="1115060" cy="308610"/>
            <a:chOff x="2378760" y="3273945"/>
            <a:chExt cx="1115060" cy="308610"/>
          </a:xfrm>
        </p:grpSpPr>
        <p:sp>
          <p:nvSpPr>
            <p:cNvPr id="34" name="object 34"/>
            <p:cNvSpPr/>
            <p:nvPr/>
          </p:nvSpPr>
          <p:spPr>
            <a:xfrm>
              <a:off x="2378760" y="3276472"/>
              <a:ext cx="1115060" cy="0"/>
            </a:xfrm>
            <a:custGeom>
              <a:avLst/>
              <a:gdLst/>
              <a:ahLst/>
              <a:cxnLst/>
              <a:rect l="l" t="t" r="r" b="b"/>
              <a:pathLst>
                <a:path w="1115059">
                  <a:moveTo>
                    <a:pt x="0" y="0"/>
                  </a:moveTo>
                  <a:lnTo>
                    <a:pt x="111445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81288" y="3276472"/>
              <a:ext cx="0" cy="303530"/>
            </a:xfrm>
            <a:custGeom>
              <a:avLst/>
              <a:gdLst/>
              <a:ahLst/>
              <a:cxnLst/>
              <a:rect l="l" t="t" r="r" b="b"/>
              <a:pathLst>
                <a:path h="303529">
                  <a:moveTo>
                    <a:pt x="0" y="30304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90671" y="3276472"/>
              <a:ext cx="0" cy="303530"/>
            </a:xfrm>
            <a:custGeom>
              <a:avLst/>
              <a:gdLst/>
              <a:ahLst/>
              <a:cxnLst/>
              <a:rect l="l" t="t" r="r" b="b"/>
              <a:pathLst>
                <a:path h="303529">
                  <a:moveTo>
                    <a:pt x="0" y="30304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78760" y="3579520"/>
              <a:ext cx="1115060" cy="0"/>
            </a:xfrm>
            <a:custGeom>
              <a:avLst/>
              <a:gdLst/>
              <a:ahLst/>
              <a:cxnLst/>
              <a:rect l="l" t="t" r="r" b="b"/>
              <a:pathLst>
                <a:path w="1115059">
                  <a:moveTo>
                    <a:pt x="0" y="0"/>
                  </a:moveTo>
                  <a:lnTo>
                    <a:pt x="111445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55294" y="3732033"/>
            <a:ext cx="45053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2715" indent="-12065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3335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Logistic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regression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40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assume here that </a:t>
            </a:r>
            <a:r>
              <a:rPr sz="800" i="1" spc="40" dirty="0">
                <a:latin typeface="Times New Roman"/>
                <a:cs typeface="Times New Roman"/>
              </a:rPr>
              <a:t>y</a:t>
            </a:r>
            <a:r>
              <a:rPr sz="800" i="1" spc="40" dirty="0">
                <a:latin typeface="DejaVu Sans"/>
                <a:cs typeface="DejaVu Sans"/>
              </a:rPr>
              <a:t>|</a:t>
            </a:r>
            <a:r>
              <a:rPr sz="800" i="1" spc="40" dirty="0">
                <a:latin typeface="Times New Roman"/>
                <a:cs typeface="Times New Roman"/>
              </a:rPr>
              <a:t>x</a:t>
            </a:r>
            <a:r>
              <a:rPr sz="800" spc="40" dirty="0">
                <a:latin typeface="LM Roman 8"/>
                <a:cs typeface="LM Roman 8"/>
              </a:rPr>
              <a:t>;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i="1" spc="-15" dirty="0">
                <a:latin typeface="DejaVu Sans"/>
                <a:cs typeface="DejaVu Sans"/>
              </a:rPr>
              <a:t>∼ </a:t>
            </a:r>
            <a:r>
              <a:rPr sz="800" dirty="0">
                <a:latin typeface="LM Roman 8"/>
                <a:cs typeface="LM Roman 8"/>
              </a:rPr>
              <a:t>Bernoulli(</a:t>
            </a:r>
            <a:r>
              <a:rPr sz="800" i="1" dirty="0">
                <a:latin typeface="Times New Roman"/>
                <a:cs typeface="Times New Roman"/>
              </a:rPr>
              <a:t>φ</a:t>
            </a:r>
            <a:r>
              <a:rPr sz="800" dirty="0">
                <a:latin typeface="LM Roman 8"/>
                <a:cs typeface="LM Roman 8"/>
              </a:rPr>
              <a:t>). </a:t>
            </a:r>
            <a:r>
              <a:rPr sz="800" spc="-40" dirty="0">
                <a:latin typeface="LM Roman 8"/>
                <a:cs typeface="LM Roman 8"/>
              </a:rPr>
              <a:t>We </a:t>
            </a:r>
            <a:r>
              <a:rPr sz="800" spc="-15" dirty="0">
                <a:latin typeface="LM Roman 8"/>
                <a:cs typeface="LM Roman 8"/>
              </a:rPr>
              <a:t>have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following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5294" y="3839716"/>
            <a:ext cx="2736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LM Roman 8"/>
                <a:cs typeface="LM Roman 8"/>
              </a:rPr>
              <a:t>form: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38693" y="4083722"/>
            <a:ext cx="9169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60" dirty="0">
                <a:latin typeface="Times New Roman"/>
                <a:cs typeface="Times New Roman"/>
              </a:rPr>
              <a:t>φ</a:t>
            </a:r>
            <a:r>
              <a:rPr sz="800" i="1" spc="1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i="1" spc="25" dirty="0">
                <a:latin typeface="Times New Roman"/>
                <a:cs typeface="Times New Roman"/>
              </a:rPr>
              <a:t>p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y</a:t>
            </a:r>
            <a:r>
              <a:rPr sz="800" i="1" spc="4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20" dirty="0">
                <a:latin typeface="LM Roman 8"/>
                <a:cs typeface="LM Roman 8"/>
              </a:rPr>
              <a:t>1</a:t>
            </a:r>
            <a:r>
              <a:rPr sz="800" i="1" spc="20" dirty="0">
                <a:latin typeface="DejaVu Sans"/>
                <a:cs typeface="DejaVu Sans"/>
              </a:rPr>
              <a:t>|</a:t>
            </a:r>
            <a:r>
              <a:rPr sz="800" i="1" spc="20" dirty="0">
                <a:latin typeface="Times New Roman"/>
                <a:cs typeface="Times New Roman"/>
              </a:rPr>
              <a:t>x</a:t>
            </a:r>
            <a:r>
              <a:rPr sz="800" spc="20" dirty="0">
                <a:latin typeface="LM Roman 8"/>
                <a:cs typeface="LM Roman 8"/>
              </a:rPr>
              <a:t>;</a:t>
            </a:r>
            <a:r>
              <a:rPr sz="800" spc="-150" dirty="0">
                <a:latin typeface="LM Roman 8"/>
                <a:cs typeface="LM Roman 8"/>
              </a:rPr>
              <a:t> </a:t>
            </a:r>
            <a:r>
              <a:rPr sz="800" i="1" spc="10" dirty="0">
                <a:latin typeface="Times New Roman"/>
                <a:cs typeface="Times New Roman"/>
              </a:rPr>
              <a:t>θ</a:t>
            </a:r>
            <a:r>
              <a:rPr sz="800" spc="10" dirty="0">
                <a:latin typeface="LM Roman 8"/>
                <a:cs typeface="LM Roman 8"/>
              </a:rPr>
              <a:t>)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587713" y="4013236"/>
            <a:ext cx="717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25120" algn="l"/>
                <a:tab pos="704215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	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15881" y="4156029"/>
            <a:ext cx="685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87713" y="4159541"/>
            <a:ext cx="717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1 + exp(</a:t>
            </a:r>
            <a:r>
              <a:rPr sz="800" i="1" spc="-5" dirty="0">
                <a:latin typeface="DejaVu Sans"/>
                <a:cs typeface="DejaVu Sans"/>
              </a:rPr>
              <a:t>−</a:t>
            </a:r>
            <a:r>
              <a:rPr sz="800" i="1" spc="-5" dirty="0">
                <a:latin typeface="Times New Roman"/>
                <a:cs typeface="Times New Roman"/>
              </a:rPr>
              <a:t>θ</a:t>
            </a:r>
            <a:r>
              <a:rPr sz="800" i="1" spc="150" dirty="0">
                <a:latin typeface="Times New Roman"/>
                <a:cs typeface="Times New Roman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800" spc="6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00754" y="4066976"/>
            <a:ext cx="685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37433" y="4083722"/>
            <a:ext cx="452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5" dirty="0">
                <a:latin typeface="Times New Roman"/>
                <a:cs typeface="Times New Roman"/>
              </a:rPr>
              <a:t>g</a:t>
            </a:r>
            <a:r>
              <a:rPr sz="800" spc="5" dirty="0">
                <a:latin typeface="LM Roman 8"/>
                <a:cs typeface="LM Roman 8"/>
              </a:rPr>
              <a:t>(</a:t>
            </a:r>
            <a:r>
              <a:rPr sz="800" i="1" spc="5" dirty="0">
                <a:latin typeface="Times New Roman"/>
                <a:cs typeface="Times New Roman"/>
              </a:rPr>
              <a:t>θ</a:t>
            </a:r>
            <a:r>
              <a:rPr sz="800" i="1" spc="80" dirty="0">
                <a:latin typeface="Times New Roman"/>
                <a:cs typeface="Times New Roman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800" spc="6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595678" y="4018915"/>
            <a:ext cx="2225040" cy="323215"/>
            <a:chOff x="1595678" y="4018915"/>
            <a:chExt cx="2225040" cy="323215"/>
          </a:xfrm>
        </p:grpSpPr>
        <p:sp>
          <p:nvSpPr>
            <p:cNvPr id="47" name="object 47"/>
            <p:cNvSpPr/>
            <p:nvPr/>
          </p:nvSpPr>
          <p:spPr>
            <a:xfrm>
              <a:off x="1595678" y="4021442"/>
              <a:ext cx="2225040" cy="0"/>
            </a:xfrm>
            <a:custGeom>
              <a:avLst/>
              <a:gdLst/>
              <a:ahLst/>
              <a:cxnLst/>
              <a:rect l="l" t="t" r="r" b="b"/>
              <a:pathLst>
                <a:path w="2225040">
                  <a:moveTo>
                    <a:pt x="0" y="0"/>
                  </a:moveTo>
                  <a:lnTo>
                    <a:pt x="2224582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598206" y="4021442"/>
              <a:ext cx="0" cy="318135"/>
            </a:xfrm>
            <a:custGeom>
              <a:avLst/>
              <a:gdLst/>
              <a:ahLst/>
              <a:cxnLst/>
              <a:rect l="l" t="t" r="r" b="b"/>
              <a:pathLst>
                <a:path h="318135">
                  <a:moveTo>
                    <a:pt x="0" y="3178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17734" y="4021442"/>
              <a:ext cx="0" cy="318135"/>
            </a:xfrm>
            <a:custGeom>
              <a:avLst/>
              <a:gdLst/>
              <a:ahLst/>
              <a:cxnLst/>
              <a:rect l="l" t="t" r="r" b="b"/>
              <a:pathLst>
                <a:path h="318135">
                  <a:moveTo>
                    <a:pt x="0" y="31781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595678" y="4339259"/>
              <a:ext cx="2225040" cy="0"/>
            </a:xfrm>
            <a:custGeom>
              <a:avLst/>
              <a:gdLst/>
              <a:ahLst/>
              <a:cxnLst/>
              <a:rect l="l" t="t" r="r" b="b"/>
              <a:pathLst>
                <a:path w="2225040">
                  <a:moveTo>
                    <a:pt x="0" y="0"/>
                  </a:moveTo>
                  <a:lnTo>
                    <a:pt x="2224582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29894" y="4391963"/>
            <a:ext cx="4556760" cy="549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there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no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closed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form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solution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for the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case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of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logistic</a:t>
            </a:r>
            <a:r>
              <a:rPr sz="800" i="1" spc="-13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regressions.</a:t>
            </a:r>
            <a:endParaRPr sz="800">
              <a:latin typeface="LM Roman 8"/>
              <a:cs typeface="LM Roman 8"/>
            </a:endParaRPr>
          </a:p>
          <a:p>
            <a:pPr marL="38100" marR="30480" algn="just">
              <a:lnSpc>
                <a:spcPct val="83900"/>
              </a:lnSpc>
              <a:spcBef>
                <a:spcPts val="755"/>
              </a:spcBef>
              <a:buFont typeface="DejaVu Sans"/>
              <a:buChar char="❒"/>
              <a:tabLst>
                <a:tab pos="15748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Softmax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regression </a:t>
            </a:r>
            <a:r>
              <a:rPr sz="800" spc="-5" dirty="0">
                <a:latin typeface="LM Roman 8"/>
                <a:cs typeface="LM Roman 8"/>
              </a:rPr>
              <a:t>– A softmax regression, also called a multiclass logistic regression, is  used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generalize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logistic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regression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when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there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more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than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2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outcome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classes.</a:t>
            </a:r>
            <a:r>
              <a:rPr sz="800" spc="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By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convention, 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set </a:t>
            </a:r>
            <a:r>
              <a:rPr sz="800" i="1" spc="105" dirty="0">
                <a:latin typeface="Times New Roman"/>
                <a:cs typeface="Times New Roman"/>
              </a:rPr>
              <a:t>θ</a:t>
            </a:r>
            <a:r>
              <a:rPr sz="900" i="1" spc="157" baseline="-13888" dirty="0">
                <a:latin typeface="Times New Roman"/>
                <a:cs typeface="Times New Roman"/>
              </a:rPr>
              <a:t>K </a:t>
            </a:r>
            <a:r>
              <a:rPr sz="800" spc="-5" dirty="0">
                <a:latin typeface="LM Roman 8"/>
                <a:cs typeface="LM Roman 8"/>
              </a:rPr>
              <a:t>= 0, </a:t>
            </a:r>
            <a:r>
              <a:rPr sz="800" spc="-10" dirty="0">
                <a:latin typeface="LM Roman 8"/>
                <a:cs typeface="LM Roman 8"/>
              </a:rPr>
              <a:t>which makes </a:t>
            </a:r>
            <a:r>
              <a:rPr sz="800" spc="-5" dirty="0">
                <a:latin typeface="LM Roman 8"/>
                <a:cs typeface="LM Roman 8"/>
              </a:rPr>
              <a:t>the Bernoulli parameter </a:t>
            </a:r>
            <a:r>
              <a:rPr sz="800" i="1" spc="75" dirty="0">
                <a:latin typeface="Times New Roman"/>
                <a:cs typeface="Times New Roman"/>
              </a:rPr>
              <a:t>φ</a:t>
            </a:r>
            <a:r>
              <a:rPr sz="900" i="1" spc="112" baseline="-9259" dirty="0">
                <a:latin typeface="Times New Roman"/>
                <a:cs typeface="Times New Roman"/>
              </a:rPr>
              <a:t>i </a:t>
            </a:r>
            <a:r>
              <a:rPr sz="800" spc="-5" dirty="0">
                <a:latin typeface="LM Roman 8"/>
                <a:cs typeface="LM Roman 8"/>
              </a:rPr>
              <a:t>of </a:t>
            </a:r>
            <a:r>
              <a:rPr sz="800" spc="-10" dirty="0">
                <a:latin typeface="LM Roman 8"/>
                <a:cs typeface="LM Roman 8"/>
              </a:rPr>
              <a:t>each </a:t>
            </a:r>
            <a:r>
              <a:rPr sz="800" spc="-5" dirty="0">
                <a:latin typeface="LM Roman 8"/>
                <a:cs typeface="LM Roman 8"/>
              </a:rPr>
              <a:t>class </a:t>
            </a:r>
            <a:r>
              <a:rPr sz="800" i="1" spc="65" dirty="0">
                <a:latin typeface="Times New Roman"/>
                <a:cs typeface="Times New Roman"/>
              </a:rPr>
              <a:t>i </a:t>
            </a:r>
            <a:r>
              <a:rPr sz="800" spc="-5" dirty="0">
                <a:latin typeface="LM Roman 8"/>
                <a:cs typeface="LM Roman 8"/>
              </a:rPr>
              <a:t>equal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212708" y="5025680"/>
            <a:ext cx="9753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57225" algn="l"/>
                <a:tab pos="936625" algn="l"/>
              </a:tabLst>
            </a:pPr>
            <a:r>
              <a:rPr sz="1200" i="1" spc="112" baseline="-24305" dirty="0">
                <a:latin typeface="Times New Roman"/>
                <a:cs typeface="Times New Roman"/>
              </a:rPr>
              <a:t>φ</a:t>
            </a:r>
            <a:r>
              <a:rPr sz="900" i="1" spc="112" baseline="-41666" dirty="0">
                <a:latin typeface="Times New Roman"/>
                <a:cs typeface="Times New Roman"/>
              </a:rPr>
              <a:t>i</a:t>
            </a:r>
            <a:r>
              <a:rPr sz="900" i="1" spc="195" baseline="-41666" dirty="0">
                <a:latin typeface="Times New Roman"/>
                <a:cs typeface="Times New Roman"/>
              </a:rPr>
              <a:t> </a:t>
            </a:r>
            <a:r>
              <a:rPr sz="1200" spc="-7" baseline="-24305" dirty="0">
                <a:latin typeface="LM Roman 8"/>
                <a:cs typeface="LM Roman 8"/>
              </a:rPr>
              <a:t>=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 	</a:t>
            </a:r>
            <a:r>
              <a:rPr sz="600" i="1" u="sng" spc="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	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575712" y="4990857"/>
            <a:ext cx="5124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15" dirty="0">
                <a:latin typeface="LM Roman 8"/>
                <a:cs typeface="LM Roman 8"/>
              </a:rPr>
              <a:t>exp(</a:t>
            </a:r>
            <a:r>
              <a:rPr sz="800" i="1" spc="15" dirty="0">
                <a:latin typeface="Times New Roman"/>
                <a:cs typeface="Times New Roman"/>
              </a:rPr>
              <a:t>θ</a:t>
            </a:r>
            <a:r>
              <a:rPr sz="900" i="1" spc="22" baseline="27777" dirty="0">
                <a:latin typeface="Times New Roman"/>
                <a:cs typeface="Times New Roman"/>
              </a:rPr>
              <a:t>T</a:t>
            </a:r>
            <a:r>
              <a:rPr sz="900" i="1" spc="-44" baseline="27777" dirty="0">
                <a:latin typeface="Times New Roman"/>
                <a:cs typeface="Times New Roman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800" spc="6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550591" y="5150934"/>
            <a:ext cx="1035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210" dirty="0">
                <a:latin typeface="Times New Roman"/>
                <a:cs typeface="Times New Roman"/>
              </a:rPr>
              <a:t>K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500769" y="5138285"/>
            <a:ext cx="195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2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511844" y="5454591"/>
            <a:ext cx="186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5" dirty="0">
                <a:latin typeface="Times New Roman"/>
                <a:cs typeface="Times New Roman"/>
              </a:rPr>
              <a:t>j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957766" y="5331249"/>
            <a:ext cx="6476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Times New Roman"/>
                <a:cs typeface="Times New Roman"/>
              </a:rPr>
              <a:t>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676055" y="5277458"/>
            <a:ext cx="5124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15" dirty="0">
                <a:latin typeface="LM Roman 8"/>
                <a:cs typeface="LM Roman 8"/>
              </a:rPr>
              <a:t>exp(</a:t>
            </a:r>
            <a:r>
              <a:rPr sz="800" i="1" spc="15" dirty="0">
                <a:latin typeface="Times New Roman"/>
                <a:cs typeface="Times New Roman"/>
              </a:rPr>
              <a:t>θ</a:t>
            </a:r>
            <a:r>
              <a:rPr sz="900" i="1" spc="22" baseline="32407" dirty="0">
                <a:latin typeface="Times New Roman"/>
                <a:cs typeface="Times New Roman"/>
              </a:rPr>
              <a:t>T</a:t>
            </a:r>
            <a:r>
              <a:rPr sz="900" i="1" spc="-44" baseline="32407" dirty="0">
                <a:latin typeface="Times New Roman"/>
                <a:cs typeface="Times New Roman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800" spc="6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2207793" y="4974170"/>
            <a:ext cx="1000760" cy="640080"/>
            <a:chOff x="2207793" y="4974170"/>
            <a:chExt cx="1000760" cy="640080"/>
          </a:xfrm>
        </p:grpSpPr>
        <p:sp>
          <p:nvSpPr>
            <p:cNvPr id="60" name="object 60"/>
            <p:cNvSpPr/>
            <p:nvPr/>
          </p:nvSpPr>
          <p:spPr>
            <a:xfrm>
              <a:off x="2207793" y="4976698"/>
              <a:ext cx="1000760" cy="0"/>
            </a:xfrm>
            <a:custGeom>
              <a:avLst/>
              <a:gdLst/>
              <a:ahLst/>
              <a:cxnLst/>
              <a:rect l="l" t="t" r="r" b="b"/>
              <a:pathLst>
                <a:path w="1000759">
                  <a:moveTo>
                    <a:pt x="0" y="0"/>
                  </a:moveTo>
                  <a:lnTo>
                    <a:pt x="100035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210320" y="4976698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634415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205619" y="4976698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634415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207793" y="5611113"/>
              <a:ext cx="1000760" cy="0"/>
            </a:xfrm>
            <a:custGeom>
              <a:avLst/>
              <a:gdLst/>
              <a:ahLst/>
              <a:cxnLst/>
              <a:rect l="l" t="t" r="r" b="b"/>
              <a:pathLst>
                <a:path w="1000759">
                  <a:moveTo>
                    <a:pt x="0" y="0"/>
                  </a:moveTo>
                  <a:lnTo>
                    <a:pt x="100035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455294" y="5790699"/>
            <a:ext cx="4505960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1195"/>
              </a:lnSpc>
            </a:pPr>
            <a:r>
              <a:rPr sz="1000" b="1" spc="-5" dirty="0">
                <a:latin typeface="LM Roman 10"/>
                <a:cs typeface="LM Roman 10"/>
              </a:rPr>
              <a:t>1.3.3</a:t>
            </a:r>
            <a:r>
              <a:rPr sz="1000" b="1" spc="370" dirty="0">
                <a:latin typeface="LM Roman 10"/>
                <a:cs typeface="LM Roman 10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Generalized Linear</a:t>
            </a:r>
            <a:r>
              <a:rPr sz="900" b="1" spc="10" dirty="0">
                <a:latin typeface="LM Roman 9"/>
                <a:cs typeface="LM Roman 9"/>
              </a:rPr>
              <a:t> </a:t>
            </a:r>
            <a:r>
              <a:rPr sz="900" b="1" dirty="0">
                <a:latin typeface="LM Roman 9"/>
                <a:cs typeface="LM Roman 9"/>
              </a:rPr>
              <a:t>Models</a:t>
            </a:r>
            <a:endParaRPr sz="900">
              <a:latin typeface="LM Roman 9"/>
              <a:cs typeface="LM Roman 9"/>
            </a:endParaRPr>
          </a:p>
          <a:p>
            <a:pPr marL="12700" marR="5080" algn="just">
              <a:lnSpc>
                <a:spcPct val="86200"/>
              </a:lnSpc>
              <a:spcBef>
                <a:spcPts val="810"/>
              </a:spcBef>
              <a:buFont typeface="DejaVu Sans"/>
              <a:buChar char="❒"/>
              <a:tabLst>
                <a:tab pos="120650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Exponential</a:t>
            </a:r>
            <a:r>
              <a:rPr sz="800" b="1" spc="-4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family</a:t>
            </a:r>
            <a:r>
              <a:rPr sz="800" b="1" spc="-8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class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distributions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said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5" dirty="0">
                <a:latin typeface="LM Roman 8"/>
                <a:cs typeface="LM Roman 8"/>
              </a:rPr>
              <a:t>be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exponential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family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if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it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can  </a:t>
            </a:r>
            <a:r>
              <a:rPr sz="800" spc="5" dirty="0">
                <a:latin typeface="LM Roman 8"/>
                <a:cs typeface="LM Roman 8"/>
              </a:rPr>
              <a:t>be</a:t>
            </a:r>
            <a:r>
              <a:rPr sz="800" spc="-204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written in terms of a natural parameter, also called the canonical parameter or link </a:t>
            </a:r>
            <a:r>
              <a:rPr sz="800" spc="-10" dirty="0">
                <a:latin typeface="LM Roman 8"/>
                <a:cs typeface="LM Roman 8"/>
              </a:rPr>
              <a:t>function,  </a:t>
            </a:r>
            <a:r>
              <a:rPr sz="800" i="1" spc="25" dirty="0">
                <a:latin typeface="Times New Roman"/>
                <a:cs typeface="Times New Roman"/>
              </a:rPr>
              <a:t>η</a:t>
            </a:r>
            <a:r>
              <a:rPr sz="800" spc="25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spc="-10" dirty="0">
                <a:latin typeface="LM Roman 8"/>
                <a:cs typeface="LM Roman 8"/>
              </a:rPr>
              <a:t>sufficient </a:t>
            </a:r>
            <a:r>
              <a:rPr sz="800" spc="-5" dirty="0">
                <a:latin typeface="LM Roman 8"/>
                <a:cs typeface="LM Roman 8"/>
              </a:rPr>
              <a:t>statistic </a:t>
            </a:r>
            <a:r>
              <a:rPr sz="800" i="1" spc="45" dirty="0">
                <a:latin typeface="Times New Roman"/>
                <a:cs typeface="Times New Roman"/>
              </a:rPr>
              <a:t>T 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y</a:t>
            </a:r>
            <a:r>
              <a:rPr sz="800" spc="2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and a log-partition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i="1" spc="25" dirty="0">
                <a:latin typeface="Times New Roman"/>
                <a:cs typeface="Times New Roman"/>
              </a:rPr>
              <a:t>a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η</a:t>
            </a:r>
            <a:r>
              <a:rPr sz="800" spc="2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-18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916925" y="6408889"/>
            <a:ext cx="1582420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800" i="1" spc="25" dirty="0">
                <a:latin typeface="Times New Roman"/>
                <a:cs typeface="Times New Roman"/>
              </a:rPr>
              <a:t>p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y</a:t>
            </a:r>
            <a:r>
              <a:rPr sz="800" spc="25" dirty="0">
                <a:latin typeface="LM Roman 8"/>
                <a:cs typeface="LM Roman 8"/>
              </a:rPr>
              <a:t>;</a:t>
            </a:r>
            <a:r>
              <a:rPr sz="800" spc="-150" dirty="0">
                <a:latin typeface="LM Roman 8"/>
                <a:cs typeface="LM Roman 8"/>
              </a:rPr>
              <a:t> </a:t>
            </a:r>
            <a:r>
              <a:rPr sz="800" i="1" spc="25" dirty="0">
                <a:latin typeface="Times New Roman"/>
                <a:cs typeface="Times New Roman"/>
              </a:rPr>
              <a:t>η</a:t>
            </a:r>
            <a:r>
              <a:rPr sz="800" spc="25" dirty="0">
                <a:latin typeface="LM Roman 8"/>
                <a:cs typeface="LM Roman 8"/>
              </a:rPr>
              <a:t>)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i="1" spc="10" dirty="0">
                <a:latin typeface="Times New Roman"/>
                <a:cs typeface="Times New Roman"/>
              </a:rPr>
              <a:t>b</a:t>
            </a:r>
            <a:r>
              <a:rPr sz="800" spc="10" dirty="0">
                <a:latin typeface="LM Roman 8"/>
                <a:cs typeface="LM Roman 8"/>
              </a:rPr>
              <a:t>(</a:t>
            </a:r>
            <a:r>
              <a:rPr sz="800" i="1" spc="10" dirty="0">
                <a:latin typeface="Times New Roman"/>
                <a:cs typeface="Times New Roman"/>
              </a:rPr>
              <a:t>y</a:t>
            </a:r>
            <a:r>
              <a:rPr sz="800" spc="10" dirty="0">
                <a:latin typeface="LM Roman 8"/>
                <a:cs typeface="LM Roman 8"/>
              </a:rPr>
              <a:t>)</a:t>
            </a:r>
            <a:r>
              <a:rPr sz="800" spc="-150" dirty="0">
                <a:latin typeface="LM Roman 8"/>
                <a:cs typeface="LM Roman 8"/>
              </a:rPr>
              <a:t> </a:t>
            </a:r>
            <a:r>
              <a:rPr sz="800" spc="15" dirty="0">
                <a:latin typeface="LM Roman 8"/>
                <a:cs typeface="LM Roman 8"/>
              </a:rPr>
              <a:t>exp(</a:t>
            </a:r>
            <a:r>
              <a:rPr sz="800" i="1" spc="15" dirty="0">
                <a:latin typeface="Times New Roman"/>
                <a:cs typeface="Times New Roman"/>
              </a:rPr>
              <a:t>ηT</a:t>
            </a:r>
            <a:r>
              <a:rPr sz="800" i="1" spc="-85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y</a:t>
            </a:r>
            <a:r>
              <a:rPr sz="800" spc="25" dirty="0">
                <a:latin typeface="LM Roman 8"/>
                <a:cs typeface="LM Roman 8"/>
              </a:rPr>
              <a:t>)</a:t>
            </a:r>
            <a:r>
              <a:rPr sz="800" spc="-105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5" dirty="0">
                <a:latin typeface="DejaVu Sans"/>
                <a:cs typeface="DejaVu Sans"/>
              </a:rPr>
              <a:t> </a:t>
            </a:r>
            <a:r>
              <a:rPr sz="800" i="1" spc="15" dirty="0">
                <a:latin typeface="Times New Roman"/>
                <a:cs typeface="Times New Roman"/>
              </a:rPr>
              <a:t>a</a:t>
            </a:r>
            <a:r>
              <a:rPr sz="800" spc="15" dirty="0">
                <a:latin typeface="LM Roman 8"/>
                <a:cs typeface="LM Roman 8"/>
              </a:rPr>
              <a:t>(</a:t>
            </a:r>
            <a:r>
              <a:rPr sz="800" i="1" spc="15" dirty="0">
                <a:latin typeface="Times New Roman"/>
                <a:cs typeface="Times New Roman"/>
              </a:rPr>
              <a:t>η</a:t>
            </a:r>
            <a:r>
              <a:rPr sz="800" spc="15" dirty="0">
                <a:latin typeface="LM Roman 8"/>
                <a:cs typeface="LM Roman 8"/>
              </a:rPr>
              <a:t>))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55294" y="6649972"/>
            <a:ext cx="45053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</a:t>
            </a:r>
            <a:r>
              <a:rPr sz="800" i="1" spc="7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15" dirty="0">
                <a:solidFill>
                  <a:srgbClr val="59439A"/>
                </a:solidFill>
                <a:latin typeface="LM Roman 8"/>
                <a:cs typeface="LM Roman 8"/>
              </a:rPr>
              <a:t>will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often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T</a:t>
            </a:r>
            <a:r>
              <a:rPr sz="800" i="1" spc="-8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2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25" dirty="0">
                <a:solidFill>
                  <a:srgbClr val="59439A"/>
                </a:solidFill>
                <a:latin typeface="Times New Roman"/>
                <a:cs typeface="Times New Roman"/>
              </a:rPr>
              <a:t>y</a:t>
            </a:r>
            <a:r>
              <a:rPr sz="800" spc="2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spc="-4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</a:t>
            </a:r>
            <a:r>
              <a:rPr sz="800" spc="-4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40" dirty="0">
                <a:solidFill>
                  <a:srgbClr val="59439A"/>
                </a:solidFill>
                <a:latin typeface="Times New Roman"/>
                <a:cs typeface="Times New Roman"/>
              </a:rPr>
              <a:t>y</a:t>
            </a:r>
            <a:r>
              <a:rPr sz="800" i="1" spc="40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r>
              <a:rPr sz="800" i="1" spc="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Also,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spc="5" dirty="0">
                <a:solidFill>
                  <a:srgbClr val="59439A"/>
                </a:solidFill>
                <a:latin typeface="LM Roman 8"/>
                <a:cs typeface="LM Roman 8"/>
              </a:rPr>
              <a:t>exp(</a:t>
            </a:r>
            <a:r>
              <a:rPr sz="800" i="1" spc="5" dirty="0">
                <a:solidFill>
                  <a:srgbClr val="59439A"/>
                </a:solidFill>
                <a:latin typeface="DejaVu Sans"/>
                <a:cs typeface="DejaVu Sans"/>
              </a:rPr>
              <a:t>−</a:t>
            </a:r>
            <a:r>
              <a:rPr sz="800" i="1" spc="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spc="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5" dirty="0">
                <a:solidFill>
                  <a:srgbClr val="59439A"/>
                </a:solidFill>
                <a:latin typeface="Times New Roman"/>
                <a:cs typeface="Times New Roman"/>
              </a:rPr>
              <a:t>η</a:t>
            </a:r>
            <a:r>
              <a:rPr sz="800" spc="5" dirty="0">
                <a:solidFill>
                  <a:srgbClr val="59439A"/>
                </a:solidFill>
                <a:latin typeface="LM Roman 8"/>
                <a:cs typeface="LM Roman 8"/>
              </a:rPr>
              <a:t>))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can 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be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seen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as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normalization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 param-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55294" y="6728790"/>
            <a:ext cx="4150995" cy="3263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eter that </a:t>
            </a:r>
            <a:r>
              <a:rPr sz="800" i="1" spc="15" dirty="0">
                <a:solidFill>
                  <a:srgbClr val="59439A"/>
                </a:solidFill>
                <a:latin typeface="LM Roman 8"/>
                <a:cs typeface="LM Roman 8"/>
              </a:rPr>
              <a:t>will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make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sure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that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probabilities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sum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to</a:t>
            </a:r>
            <a:r>
              <a:rPr sz="800" i="1" spc="3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one.</a:t>
            </a:r>
            <a:endParaRPr sz="800">
              <a:latin typeface="LM Roman 8"/>
              <a:cs typeface="LM Roman 8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800" spc="-10" dirty="0">
                <a:latin typeface="LM Roman 8"/>
                <a:cs typeface="LM Roman 8"/>
              </a:rPr>
              <a:t>Here </a:t>
            </a:r>
            <a:r>
              <a:rPr sz="800" spc="-5" dirty="0">
                <a:latin typeface="LM Roman 8"/>
                <a:cs typeface="LM Roman 8"/>
              </a:rPr>
              <a:t>are the most common exponential distributions summed up in the </a:t>
            </a:r>
            <a:r>
              <a:rPr sz="800" spc="-10" dirty="0">
                <a:latin typeface="LM Roman 8"/>
                <a:cs typeface="LM Roman 8"/>
              </a:rPr>
              <a:t>following</a:t>
            </a:r>
            <a:r>
              <a:rPr sz="800" spc="1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table: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626097" y="1011694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>
                <a:moveTo>
                  <a:pt x="0" y="0"/>
                </a:moveTo>
                <a:lnTo>
                  <a:pt x="17583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712888" y="1304023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099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731709" y="1922411"/>
            <a:ext cx="220345" cy="0"/>
          </a:xfrm>
          <a:custGeom>
            <a:avLst/>
            <a:gdLst/>
            <a:ahLst/>
            <a:cxnLst/>
            <a:rect l="l" t="t" r="r" b="b"/>
            <a:pathLst>
              <a:path w="220345">
                <a:moveTo>
                  <a:pt x="0" y="0"/>
                </a:moveTo>
                <a:lnTo>
                  <a:pt x="21986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1" name="object 71"/>
          <p:cNvGraphicFramePr>
            <a:graphicFrameLocks noGrp="1"/>
          </p:cNvGraphicFramePr>
          <p:nvPr/>
        </p:nvGraphicFramePr>
        <p:xfrm>
          <a:off x="5495074" y="683996"/>
          <a:ext cx="3633467" cy="1361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0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9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Distribution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η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800" i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2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00" spc="2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800" spc="2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η</a:t>
                      </a:r>
                      <a:r>
                        <a:rPr sz="800" spc="2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1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800" spc="1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1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00" spc="10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3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Bernoulli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55"/>
                        </a:lnSpc>
                        <a:spcBef>
                          <a:spcPts val="18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log</a:t>
                      </a:r>
                      <a:r>
                        <a:rPr sz="800" spc="-14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500" spc="262" baseline="41666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-247" baseline="41666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7" baseline="-27777" dirty="0">
                          <a:latin typeface="LM Roman 6"/>
                          <a:cs typeface="LM Roman 6"/>
                        </a:rPr>
                        <a:t>1</a:t>
                      </a:r>
                      <a:r>
                        <a:rPr sz="900" spc="-225" baseline="-27777" dirty="0">
                          <a:latin typeface="LM Roman 6"/>
                          <a:cs typeface="LM Roman 6"/>
                        </a:rPr>
                        <a:t> </a:t>
                      </a:r>
                      <a:r>
                        <a:rPr sz="900" i="1" spc="165" baseline="37037" dirty="0">
                          <a:latin typeface="Times New Roman"/>
                          <a:cs typeface="Times New Roman"/>
                        </a:rPr>
                        <a:t>φ</a:t>
                      </a:r>
                      <a:r>
                        <a:rPr sz="900" i="1" spc="225" baseline="37037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247" baseline="41666" dirty="0">
                          <a:latin typeface="Arial"/>
                          <a:cs typeface="Arial"/>
                        </a:rPr>
                        <a:t>Σ</a:t>
                      </a:r>
                      <a:endParaRPr sz="1500" baseline="41666">
                        <a:latin typeface="Arial"/>
                        <a:cs typeface="Arial"/>
                      </a:endParaRPr>
                    </a:p>
                    <a:p>
                      <a:pPr marL="354330">
                        <a:lnSpc>
                          <a:spcPts val="475"/>
                        </a:lnSpc>
                      </a:pPr>
                      <a:r>
                        <a:rPr sz="600" i="1" spc="90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600" i="1" spc="90" dirty="0">
                          <a:latin typeface="Times New Roman"/>
                          <a:cs typeface="Times New Roman"/>
                        </a:rPr>
                        <a:t>φ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log(1 +</a:t>
                      </a:r>
                      <a:r>
                        <a:rPr sz="800" spc="-2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5" dirty="0">
                          <a:latin typeface="LM Roman 8"/>
                          <a:cs typeface="LM Roman 8"/>
                        </a:rPr>
                        <a:t>exp(</a:t>
                      </a:r>
                      <a:r>
                        <a:rPr sz="800" i="1" spc="5" dirty="0">
                          <a:latin typeface="Times New Roman"/>
                          <a:cs typeface="Times New Roman"/>
                        </a:rPr>
                        <a:t>η</a:t>
                      </a:r>
                      <a:r>
                        <a:rPr sz="800" spc="5" dirty="0">
                          <a:latin typeface="LM Roman 8"/>
                          <a:cs typeface="LM Roman 8"/>
                        </a:rPr>
                        <a:t>))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1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Gaussian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µ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00" i="1" spc="75" baseline="-23148" dirty="0">
                          <a:latin typeface="Times New Roman"/>
                          <a:cs typeface="Times New Roman"/>
                        </a:rPr>
                        <a:t>η</a:t>
                      </a:r>
                      <a:r>
                        <a:rPr sz="500" spc="50" dirty="0">
                          <a:latin typeface="LM Roman 5"/>
                          <a:cs typeface="LM Roman 5"/>
                        </a:rPr>
                        <a:t>2</a:t>
                      </a:r>
                      <a:endParaRPr sz="500">
                        <a:latin typeface="LM Roman 5"/>
                        <a:cs typeface="LM Roman 5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dirty="0">
                          <a:latin typeface="LM Roman 6"/>
                          <a:cs typeface="LM Roman 6"/>
                        </a:rPr>
                        <a:t>2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630"/>
                        </a:lnSpc>
                        <a:tabLst>
                          <a:tab pos="488950" algn="l"/>
                        </a:tabLst>
                      </a:pPr>
                      <a:r>
                        <a:rPr sz="750" u="sng" baseline="-500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750" u="sng" spc="37" baseline="-5000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u="sng" spc="-7" baseline="-69444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6"/>
                          <a:cs typeface="LM Roman 6"/>
                        </a:rPr>
                        <a:t>1</a:t>
                      </a:r>
                      <a:r>
                        <a:rPr sz="900" spc="-7" baseline="-69444" dirty="0">
                          <a:latin typeface="LM Roman 6"/>
                          <a:cs typeface="LM Roman 6"/>
                        </a:rPr>
                        <a:t>	</a:t>
                      </a:r>
                      <a:r>
                        <a:rPr sz="1000" spc="315" dirty="0">
                          <a:latin typeface="Arial"/>
                          <a:cs typeface="Arial"/>
                        </a:rPr>
                        <a:t>. </a:t>
                      </a:r>
                      <a:r>
                        <a:rPr sz="900" i="1" u="sng" spc="97" baseline="-64814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750" spc="97" baseline="-50000" dirty="0">
                          <a:latin typeface="LM Roman 5"/>
                          <a:cs typeface="LM Roman 5"/>
                        </a:rPr>
                        <a:t>2</a:t>
                      </a:r>
                      <a:r>
                        <a:rPr sz="750" spc="75" baseline="-50000" dirty="0">
                          <a:latin typeface="LM Roman 5"/>
                          <a:cs typeface="LM Roman 5"/>
                        </a:rPr>
                        <a:t> </a:t>
                      </a:r>
                      <a:r>
                        <a:rPr sz="1000" spc="-25" dirty="0">
                          <a:latin typeface="Arial"/>
                          <a:cs typeface="Arial"/>
                        </a:rPr>
                        <a:t>Σ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i="1" spc="165" baseline="9259" dirty="0">
                          <a:latin typeface="DejaVu Sans"/>
                          <a:cs typeface="DejaVu Sans"/>
                        </a:rPr>
                        <a:t>√</a:t>
                      </a:r>
                      <a:r>
                        <a:rPr sz="900" spc="165" baseline="-37037" dirty="0">
                          <a:latin typeface="LM Roman 6"/>
                          <a:cs typeface="LM Roman 6"/>
                        </a:rPr>
                        <a:t>2</a:t>
                      </a:r>
                      <a:r>
                        <a:rPr sz="900" i="1" spc="165" baseline="-37037" dirty="0">
                          <a:latin typeface="Times New Roman"/>
                          <a:cs typeface="Times New Roman"/>
                        </a:rPr>
                        <a:t>π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exp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4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900" spc="-7" baseline="-27777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-27777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9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Poisson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800" spc="20" dirty="0">
                          <a:latin typeface="LM Roman 8"/>
                          <a:cs typeface="LM Roman 8"/>
                        </a:rPr>
                        <a:t>log(</a:t>
                      </a:r>
                      <a:r>
                        <a:rPr sz="800" i="1" spc="20" dirty="0"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800" spc="20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00" i="1" spc="89" baseline="-20833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600" i="1" spc="60" dirty="0">
                          <a:latin typeface="Times New Roman"/>
                          <a:cs typeface="Times New Roman"/>
                        </a:rPr>
                        <a:t>η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u="sng" spc="-7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1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i="1" spc="4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00" spc="40" dirty="0">
                          <a:latin typeface="LM Roman 8"/>
                          <a:cs typeface="LM Roman 8"/>
                        </a:rPr>
                        <a:t>!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Geometric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log(1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18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φ</a:t>
                      </a:r>
                      <a:r>
                        <a:rPr sz="800" spc="2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955"/>
                        </a:lnSpc>
                        <a:spcBef>
                          <a:spcPts val="18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log </a:t>
                      </a:r>
                      <a:r>
                        <a:rPr sz="1500" spc="262" baseline="41666" dirty="0">
                          <a:latin typeface="Arial"/>
                          <a:cs typeface="Arial"/>
                        </a:rPr>
                        <a:t>. </a:t>
                      </a:r>
                      <a:r>
                        <a:rPr sz="900" i="1" spc="127" baseline="32407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750" i="1" spc="127" baseline="66666" dirty="0">
                          <a:latin typeface="Arial"/>
                          <a:cs typeface="Arial"/>
                        </a:rPr>
                        <a:t>η</a:t>
                      </a:r>
                      <a:r>
                        <a:rPr sz="750" i="1" spc="382" baseline="66666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247" baseline="41666" dirty="0">
                          <a:latin typeface="Arial"/>
                          <a:cs typeface="Arial"/>
                        </a:rPr>
                        <a:t>Σ</a:t>
                      </a:r>
                      <a:endParaRPr sz="1500" baseline="41666">
                        <a:latin typeface="Arial"/>
                        <a:cs typeface="Arial"/>
                      </a:endParaRPr>
                    </a:p>
                    <a:p>
                      <a:pPr marL="403225">
                        <a:lnSpc>
                          <a:spcPts val="475"/>
                        </a:lnSpc>
                      </a:pPr>
                      <a:r>
                        <a:rPr sz="600" spc="60" dirty="0">
                          <a:latin typeface="LM Roman 6"/>
                          <a:cs typeface="LM Roman 6"/>
                        </a:rPr>
                        <a:t>1</a:t>
                      </a:r>
                      <a:r>
                        <a:rPr sz="600" i="1" spc="60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600" i="1" spc="6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750" i="1" spc="89" baseline="16666" dirty="0">
                          <a:latin typeface="Arial"/>
                          <a:cs typeface="Arial"/>
                        </a:rPr>
                        <a:t>η</a:t>
                      </a:r>
                      <a:endParaRPr sz="750" baseline="16666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1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object 72"/>
          <p:cNvSpPr txBox="1"/>
          <p:nvPr/>
        </p:nvSpPr>
        <p:spPr>
          <a:xfrm>
            <a:off x="5036362" y="2251848"/>
            <a:ext cx="4555490" cy="269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56210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Assumptions of GLMs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0" dirty="0">
                <a:latin typeface="LM Roman 8"/>
                <a:cs typeface="LM Roman 8"/>
              </a:rPr>
              <a:t>Generalized Linear </a:t>
            </a:r>
            <a:r>
              <a:rPr sz="800" dirty="0">
                <a:latin typeface="LM Roman 8"/>
                <a:cs typeface="LM Roman 8"/>
              </a:rPr>
              <a:t>Models </a:t>
            </a:r>
            <a:r>
              <a:rPr sz="800" spc="-5" dirty="0">
                <a:latin typeface="LM Roman 8"/>
                <a:cs typeface="LM Roman 8"/>
              </a:rPr>
              <a:t>(GLM) aim at predicting a random  </a:t>
            </a:r>
            <a:r>
              <a:rPr sz="800" spc="-10" dirty="0">
                <a:latin typeface="LM Roman 8"/>
                <a:cs typeface="LM Roman 8"/>
              </a:rPr>
              <a:t>variable </a:t>
            </a:r>
            <a:r>
              <a:rPr sz="800" i="1" spc="60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as a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fo </a:t>
            </a: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35" dirty="0">
                <a:latin typeface="MathJax_AMS"/>
                <a:cs typeface="MathJax_AMS"/>
              </a:rPr>
              <a:t>R</a:t>
            </a:r>
            <a:r>
              <a:rPr sz="900" i="1" spc="52" baseline="27777" dirty="0">
                <a:latin typeface="Times New Roman"/>
                <a:cs typeface="Times New Roman"/>
              </a:rPr>
              <a:t>n</a:t>
            </a:r>
            <a:r>
              <a:rPr sz="900" spc="52" baseline="27777" dirty="0">
                <a:latin typeface="LM Roman 6"/>
                <a:cs typeface="LM Roman 6"/>
              </a:rPr>
              <a:t>+1 </a:t>
            </a:r>
            <a:r>
              <a:rPr sz="800" spc="-5" dirty="0">
                <a:latin typeface="LM Roman 8"/>
                <a:cs typeface="LM Roman 8"/>
              </a:rPr>
              <a:t>and rely on the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3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assumptions: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425173" y="2577705"/>
            <a:ext cx="3738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351155" algn="l"/>
                <a:tab pos="1652905" algn="l"/>
                <a:tab pos="1940560" algn="l"/>
                <a:tab pos="2994660" algn="l"/>
                <a:tab pos="3282950" algn="l"/>
              </a:tabLst>
            </a:pPr>
            <a:r>
              <a:rPr sz="800" spc="-5" dirty="0">
                <a:latin typeface="LM Roman 8"/>
                <a:cs typeface="LM Roman 8"/>
              </a:rPr>
              <a:t>(1)	</a:t>
            </a:r>
            <a:r>
              <a:rPr sz="800" i="1" spc="40" dirty="0">
                <a:latin typeface="Times New Roman"/>
                <a:cs typeface="Times New Roman"/>
              </a:rPr>
              <a:t>y</a:t>
            </a:r>
            <a:r>
              <a:rPr sz="800" i="1" spc="40" dirty="0">
                <a:latin typeface="DejaVu Sans"/>
                <a:cs typeface="DejaVu Sans"/>
              </a:rPr>
              <a:t>|</a:t>
            </a:r>
            <a:r>
              <a:rPr sz="800" i="1" spc="40" dirty="0">
                <a:latin typeface="Times New Roman"/>
                <a:cs typeface="Times New Roman"/>
              </a:rPr>
              <a:t>x</a:t>
            </a:r>
            <a:r>
              <a:rPr sz="800" spc="40" dirty="0">
                <a:latin typeface="LM Roman 8"/>
                <a:cs typeface="LM Roman 8"/>
              </a:rPr>
              <a:t>;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i="1" spc="-15" dirty="0">
                <a:latin typeface="DejaVu Sans"/>
                <a:cs typeface="DejaVu Sans"/>
              </a:rPr>
              <a:t>∼ </a:t>
            </a:r>
            <a:r>
              <a:rPr sz="800" spc="-5" dirty="0">
                <a:latin typeface="LM Roman 8"/>
                <a:cs typeface="LM Roman 8"/>
              </a:rPr>
              <a:t>ExpFamily(</a:t>
            </a:r>
            <a:r>
              <a:rPr sz="800" i="1" spc="-5" dirty="0">
                <a:latin typeface="Times New Roman"/>
                <a:cs typeface="Times New Roman"/>
              </a:rPr>
              <a:t>η</a:t>
            </a:r>
            <a:r>
              <a:rPr sz="800" spc="-5" dirty="0">
                <a:latin typeface="LM Roman 8"/>
                <a:cs typeface="LM Roman 8"/>
              </a:rPr>
              <a:t>)	(2)	</a:t>
            </a:r>
            <a:r>
              <a:rPr sz="800" i="1" spc="70" dirty="0">
                <a:latin typeface="Times New Roman"/>
                <a:cs typeface="Times New Roman"/>
              </a:rPr>
              <a:t>h</a:t>
            </a:r>
            <a:r>
              <a:rPr sz="900" i="1" spc="104" baseline="-13888" dirty="0">
                <a:latin typeface="Times New Roman"/>
                <a:cs typeface="Times New Roman"/>
              </a:rPr>
              <a:t>θ</a:t>
            </a:r>
            <a:r>
              <a:rPr sz="900" i="1" spc="-127" baseline="-13888" dirty="0">
                <a:latin typeface="Times New Roman"/>
                <a:cs typeface="Times New Roman"/>
              </a:rPr>
              <a:t>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i="1" spc="55" dirty="0">
                <a:latin typeface="Times New Roman"/>
                <a:cs typeface="Times New Roman"/>
              </a:rPr>
              <a:t>E</a:t>
            </a:r>
            <a:r>
              <a:rPr sz="800" spc="55" dirty="0">
                <a:latin typeface="LM Roman 8"/>
                <a:cs typeface="LM Roman 8"/>
              </a:rPr>
              <a:t>[</a:t>
            </a:r>
            <a:r>
              <a:rPr sz="800" i="1" spc="55" dirty="0">
                <a:latin typeface="Times New Roman"/>
                <a:cs typeface="Times New Roman"/>
              </a:rPr>
              <a:t>y</a:t>
            </a:r>
            <a:r>
              <a:rPr sz="800" i="1" spc="55" dirty="0">
                <a:latin typeface="DejaVu Sans"/>
                <a:cs typeface="DejaVu Sans"/>
              </a:rPr>
              <a:t>|</a:t>
            </a:r>
            <a:r>
              <a:rPr sz="800" i="1" spc="55" dirty="0">
                <a:latin typeface="Times New Roman"/>
                <a:cs typeface="Times New Roman"/>
              </a:rPr>
              <a:t>x</a:t>
            </a:r>
            <a:r>
              <a:rPr sz="800" spc="55" dirty="0">
                <a:latin typeface="LM Roman 8"/>
                <a:cs typeface="LM Roman 8"/>
              </a:rPr>
              <a:t>;</a:t>
            </a:r>
            <a:r>
              <a:rPr sz="800" spc="-140" dirty="0">
                <a:latin typeface="LM Roman 8"/>
                <a:cs typeface="LM Roman 8"/>
              </a:rPr>
              <a:t> </a:t>
            </a:r>
            <a:r>
              <a:rPr sz="800" i="1" spc="10" dirty="0">
                <a:latin typeface="Times New Roman"/>
                <a:cs typeface="Times New Roman"/>
              </a:rPr>
              <a:t>θ</a:t>
            </a:r>
            <a:r>
              <a:rPr sz="800" spc="10" dirty="0">
                <a:latin typeface="LM Roman 8"/>
                <a:cs typeface="LM Roman 8"/>
              </a:rPr>
              <a:t>]	</a:t>
            </a:r>
            <a:r>
              <a:rPr sz="800" spc="-5" dirty="0">
                <a:latin typeface="LM Roman 8"/>
                <a:cs typeface="LM Roman 8"/>
              </a:rPr>
              <a:t>(3)	</a:t>
            </a:r>
            <a:r>
              <a:rPr sz="800" i="1" spc="25" dirty="0">
                <a:latin typeface="Times New Roman"/>
                <a:cs typeface="Times New Roman"/>
              </a:rPr>
              <a:t>η 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60" dirty="0">
                <a:latin typeface="Times New Roman"/>
                <a:cs typeface="Times New Roman"/>
              </a:rPr>
              <a:t>θ</a:t>
            </a:r>
            <a:r>
              <a:rPr sz="900" i="1" spc="89" baseline="32407" dirty="0">
                <a:latin typeface="Times New Roman"/>
                <a:cs typeface="Times New Roman"/>
              </a:rPr>
              <a:t>T</a:t>
            </a:r>
            <a:r>
              <a:rPr sz="900" i="1" spc="-89" baseline="32407" dirty="0">
                <a:latin typeface="Times New Roman"/>
                <a:cs typeface="Times New Roman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061762" y="2811169"/>
            <a:ext cx="4504690" cy="2489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ordinary least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squares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and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logistic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regression are special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cases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of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generalized linear  models.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061762" y="3238482"/>
            <a:ext cx="4505960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343535" algn="l"/>
              </a:tabLst>
            </a:pPr>
            <a:r>
              <a:rPr sz="1000" b="1" spc="-5" dirty="0">
                <a:latin typeface="LM Roman 10"/>
                <a:cs typeface="LM Roman 10"/>
              </a:rPr>
              <a:t>1.4	</a:t>
            </a:r>
            <a:r>
              <a:rPr sz="900" b="1" dirty="0">
                <a:latin typeface="LM Roman 9"/>
                <a:cs typeface="LM Roman 9"/>
              </a:rPr>
              <a:t>Support </a:t>
            </a:r>
            <a:r>
              <a:rPr sz="900" b="1" spc="-20" dirty="0">
                <a:latin typeface="LM Roman 9"/>
                <a:cs typeface="LM Roman 9"/>
              </a:rPr>
              <a:t>Vector</a:t>
            </a:r>
            <a:r>
              <a:rPr sz="900" b="1" spc="-15" dirty="0">
                <a:latin typeface="LM Roman 9"/>
                <a:cs typeface="LM Roman 9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Machines</a:t>
            </a:r>
            <a:endParaRPr sz="90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835"/>
              </a:spcBef>
            </a:pP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goal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support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vector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machines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find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line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maximizes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minimum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distance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  the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line.</a:t>
            </a:r>
            <a:endParaRPr sz="800">
              <a:latin typeface="LM Roman 8"/>
              <a:cs typeface="LM Roman 8"/>
            </a:endParaRPr>
          </a:p>
          <a:p>
            <a:pPr marL="125095" indent="-113030">
              <a:lnSpc>
                <a:spcPct val="100000"/>
              </a:lnSpc>
              <a:spcBef>
                <a:spcPts val="450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Optimal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margin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classifier </a:t>
            </a:r>
            <a:r>
              <a:rPr sz="800" spc="-5" dirty="0">
                <a:latin typeface="LM Roman 8"/>
                <a:cs typeface="LM Roman 8"/>
              </a:rPr>
              <a:t>– The optimal margin classifier </a:t>
            </a:r>
            <a:r>
              <a:rPr sz="800" i="1" spc="85" dirty="0">
                <a:latin typeface="Times New Roman"/>
                <a:cs typeface="Times New Roman"/>
              </a:rPr>
              <a:t>h </a:t>
            </a:r>
            <a:r>
              <a:rPr sz="800" spc="-5" dirty="0">
                <a:latin typeface="LM Roman 8"/>
                <a:cs typeface="LM Roman 8"/>
              </a:rPr>
              <a:t>is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768413" y="3927678"/>
            <a:ext cx="1092200" cy="20066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800" i="1" spc="50" dirty="0">
                <a:latin typeface="Times New Roman"/>
                <a:cs typeface="Times New Roman"/>
              </a:rPr>
              <a:t>h</a:t>
            </a:r>
            <a:r>
              <a:rPr sz="800" spc="50" dirty="0">
                <a:latin typeface="LM Roman 8"/>
                <a:cs typeface="LM Roman 8"/>
              </a:rPr>
              <a:t>(</a:t>
            </a:r>
            <a:r>
              <a:rPr sz="800" i="1" spc="50" dirty="0">
                <a:latin typeface="Times New Roman"/>
                <a:cs typeface="Times New Roman"/>
              </a:rPr>
              <a:t>x</a:t>
            </a:r>
            <a:r>
              <a:rPr sz="800" spc="50" dirty="0">
                <a:latin typeface="LM Roman 8"/>
                <a:cs typeface="LM Roman 8"/>
              </a:rPr>
              <a:t>)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25" dirty="0">
                <a:latin typeface="LM Roman 8"/>
                <a:cs typeface="LM Roman 8"/>
              </a:rPr>
              <a:t>sign(</a:t>
            </a:r>
            <a:r>
              <a:rPr sz="800" i="1" spc="25" dirty="0">
                <a:latin typeface="Times New Roman"/>
                <a:cs typeface="Times New Roman"/>
              </a:rPr>
              <a:t>w</a:t>
            </a:r>
            <a:r>
              <a:rPr sz="900" i="1" spc="37" baseline="32407" dirty="0">
                <a:latin typeface="Times New Roman"/>
                <a:cs typeface="Times New Roman"/>
              </a:rPr>
              <a:t>T</a:t>
            </a:r>
            <a:r>
              <a:rPr sz="900" i="1" spc="-15" baseline="32407" dirty="0">
                <a:latin typeface="Times New Roman"/>
                <a:cs typeface="Times New Roman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i="1" spc="-25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80" dirty="0">
                <a:latin typeface="DejaVu Sans"/>
                <a:cs typeface="DejaVu Sans"/>
              </a:rPr>
              <a:t> </a:t>
            </a:r>
            <a:r>
              <a:rPr sz="800" i="1" spc="-25" dirty="0">
                <a:latin typeface="Times New Roman"/>
                <a:cs typeface="Times New Roman"/>
              </a:rPr>
              <a:t>b</a:t>
            </a:r>
            <a:r>
              <a:rPr sz="800" spc="-2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251551" y="4187811"/>
            <a:ext cx="5518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where </a:t>
            </a:r>
            <a:r>
              <a:rPr sz="800" spc="40" dirty="0">
                <a:latin typeface="LM Roman 8"/>
                <a:cs typeface="LM Roman 8"/>
              </a:rPr>
              <a:t>(</a:t>
            </a:r>
            <a:r>
              <a:rPr sz="800" i="1" spc="40" dirty="0">
                <a:latin typeface="Times New Roman"/>
                <a:cs typeface="Times New Roman"/>
              </a:rPr>
              <a:t>w,</a:t>
            </a:r>
            <a:r>
              <a:rPr sz="800" i="1" spc="-120" dirty="0">
                <a:latin typeface="Times New Roman"/>
                <a:cs typeface="Times New Roman"/>
              </a:rPr>
              <a:t> </a:t>
            </a:r>
            <a:r>
              <a:rPr sz="800" i="1" spc="-40" dirty="0">
                <a:latin typeface="Times New Roman"/>
                <a:cs typeface="Times New Roman"/>
              </a:rPr>
              <a:t>b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024245" y="4177403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777865" y="4187811"/>
            <a:ext cx="30791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)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i="1" spc="-15" dirty="0">
                <a:latin typeface="DejaVu Sans"/>
                <a:cs typeface="DejaVu Sans"/>
              </a:rPr>
              <a:t>×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spc="-5" dirty="0">
                <a:latin typeface="LM Roman 8"/>
                <a:cs typeface="LM Roman 8"/>
              </a:rPr>
              <a:t>is the solution of the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optimization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problem: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342316" y="4362372"/>
            <a:ext cx="66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342316" y="4508676"/>
            <a:ext cx="66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2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129959" y="4432857"/>
            <a:ext cx="4933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min</a:t>
            </a:r>
            <a:r>
              <a:rPr sz="800" spc="160" dirty="0">
                <a:latin typeface="LM Roman 8"/>
                <a:cs typeface="LM Roman 8"/>
              </a:rPr>
              <a:t> </a:t>
            </a:r>
            <a:r>
              <a:rPr sz="800" i="1" spc="-10" dirty="0">
                <a:latin typeface="DejaVu Sans"/>
                <a:cs typeface="DejaVu Sans"/>
              </a:rPr>
              <a:t>||</a:t>
            </a:r>
            <a:r>
              <a:rPr sz="800" i="1" spc="-10" dirty="0">
                <a:latin typeface="Times New Roman"/>
                <a:cs typeface="Times New Roman"/>
              </a:rPr>
              <a:t>w</a:t>
            </a:r>
            <a:r>
              <a:rPr sz="800" i="1" spc="-10" dirty="0">
                <a:latin typeface="DejaVu Sans"/>
                <a:cs typeface="DejaVu Sans"/>
              </a:rPr>
              <a:t>||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610667" y="4416112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086932" y="4368050"/>
            <a:ext cx="619760" cy="297815"/>
            <a:chOff x="6086932" y="4368050"/>
            <a:chExt cx="619760" cy="297815"/>
          </a:xfrm>
        </p:grpSpPr>
        <p:sp>
          <p:nvSpPr>
            <p:cNvPr id="85" name="object 85"/>
            <p:cNvSpPr/>
            <p:nvPr/>
          </p:nvSpPr>
          <p:spPr>
            <a:xfrm>
              <a:off x="6086932" y="4370578"/>
              <a:ext cx="619760" cy="0"/>
            </a:xfrm>
            <a:custGeom>
              <a:avLst/>
              <a:gdLst/>
              <a:ahLst/>
              <a:cxnLst/>
              <a:rect l="l" t="t" r="r" b="b"/>
              <a:pathLst>
                <a:path w="619759">
                  <a:moveTo>
                    <a:pt x="0" y="0"/>
                  </a:moveTo>
                  <a:lnTo>
                    <a:pt x="61946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89472" y="4370565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5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703872" y="4370565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5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086932" y="4663084"/>
              <a:ext cx="619760" cy="0"/>
            </a:xfrm>
            <a:custGeom>
              <a:avLst/>
              <a:gdLst/>
              <a:ahLst/>
              <a:cxnLst/>
              <a:rect l="l" t="t" r="r" b="b"/>
              <a:pathLst>
                <a:path w="619759">
                  <a:moveTo>
                    <a:pt x="0" y="0"/>
                  </a:moveTo>
                  <a:lnTo>
                    <a:pt x="61946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6883400" y="4432857"/>
            <a:ext cx="16814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64210" algn="l"/>
              </a:tabLst>
            </a:pP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	</a:t>
            </a:r>
            <a:r>
              <a:rPr sz="800" i="1" spc="60" dirty="0">
                <a:latin typeface="Times New Roman"/>
                <a:cs typeface="Times New Roman"/>
              </a:rPr>
              <a:t>y</a:t>
            </a:r>
            <a:r>
              <a:rPr sz="900" spc="89" baseline="32407" dirty="0">
                <a:latin typeface="LM Roman 6"/>
                <a:cs typeface="LM Roman 6"/>
              </a:rPr>
              <a:t>(</a:t>
            </a:r>
            <a:r>
              <a:rPr sz="900" i="1" spc="89" baseline="32407" dirty="0">
                <a:latin typeface="Times New Roman"/>
                <a:cs typeface="Times New Roman"/>
              </a:rPr>
              <a:t>i</a:t>
            </a:r>
            <a:r>
              <a:rPr sz="900" spc="89" baseline="32407" dirty="0">
                <a:latin typeface="LM Roman 6"/>
                <a:cs typeface="LM Roman 6"/>
              </a:rPr>
              <a:t>)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w</a:t>
            </a:r>
            <a:r>
              <a:rPr sz="900" i="1" spc="89" baseline="32407" dirty="0">
                <a:latin typeface="Times New Roman"/>
                <a:cs typeface="Times New Roman"/>
              </a:rPr>
              <a:t>T</a:t>
            </a:r>
            <a:r>
              <a:rPr sz="900" i="1" spc="-15" baseline="32407" dirty="0">
                <a:latin typeface="Times New Roman"/>
                <a:cs typeface="Times New Roman"/>
              </a:rPr>
              <a:t> </a:t>
            </a:r>
            <a:r>
              <a:rPr sz="800" i="1" spc="50" dirty="0">
                <a:latin typeface="Times New Roman"/>
                <a:cs typeface="Times New Roman"/>
              </a:rPr>
              <a:t>x</a:t>
            </a:r>
            <a:r>
              <a:rPr sz="900" spc="75" baseline="32407" dirty="0">
                <a:latin typeface="LM Roman 6"/>
                <a:cs typeface="LM Roman 6"/>
              </a:rPr>
              <a:t>(</a:t>
            </a:r>
            <a:r>
              <a:rPr sz="900" i="1" spc="75" baseline="32407" dirty="0">
                <a:latin typeface="Times New Roman"/>
                <a:cs typeface="Times New Roman"/>
              </a:rPr>
              <a:t>i</a:t>
            </a:r>
            <a:r>
              <a:rPr sz="900" spc="75" baseline="32407" dirty="0">
                <a:latin typeface="LM Roman 6"/>
                <a:cs typeface="LM Roman 6"/>
              </a:rPr>
              <a:t>)</a:t>
            </a:r>
            <a:r>
              <a:rPr sz="900" spc="-37" baseline="32407" dirty="0">
                <a:latin typeface="LM Roman 6"/>
                <a:cs typeface="LM Roman 6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80" dirty="0">
                <a:latin typeface="DejaVu Sans"/>
                <a:cs typeface="DejaVu Sans"/>
              </a:rPr>
              <a:t> </a:t>
            </a:r>
            <a:r>
              <a:rPr sz="800" i="1" spc="-25" dirty="0">
                <a:latin typeface="Times New Roman"/>
                <a:cs typeface="Times New Roman"/>
              </a:rPr>
              <a:t>b</a:t>
            </a:r>
            <a:r>
              <a:rPr sz="800" spc="-25" dirty="0">
                <a:latin typeface="LM Roman 8"/>
                <a:cs typeface="LM Roman 8"/>
              </a:rPr>
              <a:t>)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335" dirty="0">
                <a:latin typeface="RobotoRegular"/>
                <a:cs typeface="RobotoRegular"/>
              </a:rPr>
              <a:t>“</a:t>
            </a:r>
            <a:r>
              <a:rPr sz="800" spc="30" dirty="0">
                <a:latin typeface="RobotoRegular"/>
                <a:cs typeface="RobotoRegular"/>
              </a:rPr>
              <a:t> </a:t>
            </a:r>
            <a:r>
              <a:rPr sz="800" spc="-5" dirty="0"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5337145" y="4785612"/>
            <a:ext cx="3422324" cy="1684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1" name="object 91"/>
          <p:cNvGrpSpPr/>
          <p:nvPr/>
        </p:nvGrpSpPr>
        <p:grpSpPr>
          <a:xfrm>
            <a:off x="6534987" y="6528689"/>
            <a:ext cx="675640" cy="190500"/>
            <a:chOff x="6534987" y="6528689"/>
            <a:chExt cx="675640" cy="190500"/>
          </a:xfrm>
        </p:grpSpPr>
        <p:sp>
          <p:nvSpPr>
            <p:cNvPr id="92" name="object 92"/>
            <p:cNvSpPr/>
            <p:nvPr/>
          </p:nvSpPr>
          <p:spPr>
            <a:xfrm>
              <a:off x="6534987" y="6531216"/>
              <a:ext cx="675640" cy="0"/>
            </a:xfrm>
            <a:custGeom>
              <a:avLst/>
              <a:gdLst/>
              <a:ahLst/>
              <a:cxnLst/>
              <a:rect l="l" t="t" r="r" b="b"/>
              <a:pathLst>
                <a:path w="675640">
                  <a:moveTo>
                    <a:pt x="0" y="0"/>
                  </a:moveTo>
                  <a:lnTo>
                    <a:pt x="675233" y="0"/>
                  </a:lnTo>
                </a:path>
              </a:pathLst>
            </a:custGeom>
            <a:ln w="5054">
              <a:solidFill>
                <a:srgbClr val="5943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537515" y="6531216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4">
                  <a:moveTo>
                    <a:pt x="0" y="185445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5943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207694" y="6531216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4">
                  <a:moveTo>
                    <a:pt x="0" y="185445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5943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534987" y="6716661"/>
              <a:ext cx="675640" cy="0"/>
            </a:xfrm>
            <a:custGeom>
              <a:avLst/>
              <a:gdLst/>
              <a:ahLst/>
              <a:cxnLst/>
              <a:rect l="l" t="t" r="r" b="b"/>
              <a:pathLst>
                <a:path w="675640">
                  <a:moveTo>
                    <a:pt x="0" y="0"/>
                  </a:moveTo>
                  <a:lnTo>
                    <a:pt x="675233" y="0"/>
                  </a:lnTo>
                </a:path>
              </a:pathLst>
            </a:custGeom>
            <a:ln w="5054">
              <a:solidFill>
                <a:srgbClr val="5943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5036362" y="6551712"/>
            <a:ext cx="22453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line is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defined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as </a:t>
            </a:r>
            <a:r>
              <a:rPr sz="800" i="1" spc="95" dirty="0">
                <a:solidFill>
                  <a:srgbClr val="59439A"/>
                </a:solidFill>
                <a:latin typeface="Times New Roman"/>
                <a:cs typeface="Times New Roman"/>
              </a:rPr>
              <a:t>w</a:t>
            </a:r>
            <a:r>
              <a:rPr sz="900" i="1" spc="142" baseline="32407" dirty="0">
                <a:solidFill>
                  <a:srgbClr val="59439A"/>
                </a:solidFill>
                <a:latin typeface="Times New Roman"/>
                <a:cs typeface="Times New Roman"/>
              </a:rPr>
              <a:t>T </a:t>
            </a:r>
            <a:r>
              <a:rPr sz="800" i="1" spc="120" dirty="0">
                <a:solidFill>
                  <a:srgbClr val="59439A"/>
                </a:solidFill>
                <a:latin typeface="Times New Roman"/>
                <a:cs typeface="Times New Roman"/>
              </a:rPr>
              <a:t>x </a:t>
            </a:r>
            <a:r>
              <a:rPr sz="800" i="1" spc="-15" dirty="0">
                <a:solidFill>
                  <a:srgbClr val="59439A"/>
                </a:solidFill>
                <a:latin typeface="DejaVu Sans"/>
                <a:cs typeface="DejaVu Sans"/>
              </a:rPr>
              <a:t>− </a:t>
            </a:r>
            <a:r>
              <a:rPr sz="800" i="1" spc="-40" dirty="0">
                <a:solidFill>
                  <a:srgbClr val="59439A"/>
                </a:solidFill>
                <a:latin typeface="Times New Roman"/>
                <a:cs typeface="Times New Roman"/>
              </a:rPr>
              <a:t>b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 0</a:t>
            </a:r>
            <a:r>
              <a:rPr sz="800" spc="-6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061762" y="6784173"/>
            <a:ext cx="4154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Hinge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loss </a:t>
            </a:r>
            <a:r>
              <a:rPr sz="800" spc="-5" dirty="0">
                <a:latin typeface="LM Roman 8"/>
                <a:cs typeface="LM Roman 8"/>
              </a:rPr>
              <a:t>– The hinge loss is used in the setting of SVMs and is defined as</a:t>
            </a:r>
            <a:r>
              <a:rPr sz="800" spc="7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432359" y="6966940"/>
            <a:ext cx="1764664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800" i="1" spc="60" dirty="0">
                <a:latin typeface="Times New Roman"/>
                <a:cs typeface="Times New Roman"/>
              </a:rPr>
              <a:t>L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z,y</a:t>
            </a:r>
            <a:r>
              <a:rPr sz="800" spc="60" dirty="0">
                <a:latin typeface="LM Roman 8"/>
                <a:cs typeface="LM Roman 8"/>
              </a:rPr>
              <a:t>)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[1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yz</a:t>
            </a:r>
            <a:r>
              <a:rPr sz="800" spc="45" dirty="0">
                <a:latin typeface="LM Roman 8"/>
                <a:cs typeface="LM Roman 8"/>
              </a:rPr>
              <a:t>]</a:t>
            </a:r>
            <a:r>
              <a:rPr sz="900" spc="67" baseline="-9259" dirty="0">
                <a:latin typeface="LM Roman 6"/>
                <a:cs typeface="LM Roman 6"/>
              </a:rPr>
              <a:t>+</a:t>
            </a:r>
            <a:r>
              <a:rPr sz="900" spc="44" baseline="-9259" dirty="0">
                <a:latin typeface="LM Roman 6"/>
                <a:cs typeface="LM Roman 6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max(0</a:t>
            </a:r>
            <a:r>
              <a:rPr sz="800" i="1" dirty="0">
                <a:latin typeface="Times New Roman"/>
                <a:cs typeface="Times New Roman"/>
              </a:rPr>
              <a:t>,</a:t>
            </a:r>
            <a:r>
              <a:rPr sz="800" dirty="0">
                <a:latin typeface="LM Roman 8"/>
                <a:cs typeface="LM Roman 8"/>
              </a:rPr>
              <a:t>1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i="1" spc="65" dirty="0">
                <a:latin typeface="Times New Roman"/>
                <a:cs typeface="Times New Roman"/>
              </a:rPr>
              <a:t>yz</a:t>
            </a:r>
            <a:r>
              <a:rPr sz="800" spc="6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467994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101" name="object 10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299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3999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299" y="696606"/>
            <a:ext cx="38423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Kernel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spc="-10" dirty="0">
                <a:latin typeface="LM Roman 8"/>
                <a:cs typeface="LM Roman 8"/>
              </a:rPr>
              <a:t>feature </a:t>
            </a:r>
            <a:r>
              <a:rPr sz="800" spc="-5" dirty="0">
                <a:latin typeface="LM Roman 8"/>
                <a:cs typeface="LM Roman 8"/>
              </a:rPr>
              <a:t>mapping </a:t>
            </a:r>
            <a:r>
              <a:rPr sz="800" i="1" spc="25" dirty="0">
                <a:latin typeface="Times New Roman"/>
                <a:cs typeface="Times New Roman"/>
              </a:rPr>
              <a:t>φ</a:t>
            </a:r>
            <a:r>
              <a:rPr sz="800" spc="25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10" dirty="0">
                <a:latin typeface="LM Roman 8"/>
                <a:cs typeface="LM Roman 8"/>
              </a:rPr>
              <a:t>define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kernel </a:t>
            </a:r>
            <a:r>
              <a:rPr sz="800" i="1" spc="180" dirty="0">
                <a:latin typeface="Times New Roman"/>
                <a:cs typeface="Times New Roman"/>
              </a:rPr>
              <a:t>K </a:t>
            </a:r>
            <a:r>
              <a:rPr sz="800" spc="-5" dirty="0">
                <a:latin typeface="LM Roman 8"/>
                <a:cs typeface="LM Roman 8"/>
              </a:rPr>
              <a:t>to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defined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6602" y="878700"/>
            <a:ext cx="1035050" cy="20066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800" i="1" spc="80" dirty="0">
                <a:latin typeface="Times New Roman"/>
                <a:cs typeface="Times New Roman"/>
              </a:rPr>
              <a:t>K</a:t>
            </a:r>
            <a:r>
              <a:rPr sz="800" spc="80" dirty="0">
                <a:latin typeface="LM Roman 8"/>
                <a:cs typeface="LM Roman 8"/>
              </a:rPr>
              <a:t>(</a:t>
            </a:r>
            <a:r>
              <a:rPr sz="800" i="1" spc="80" dirty="0">
                <a:latin typeface="Times New Roman"/>
                <a:cs typeface="Times New Roman"/>
              </a:rPr>
              <a:t>x,z</a:t>
            </a:r>
            <a:r>
              <a:rPr sz="800" spc="80" dirty="0">
                <a:latin typeface="LM Roman 8"/>
                <a:cs typeface="LM Roman 8"/>
              </a:rPr>
              <a:t>)</a:t>
            </a:r>
            <a:r>
              <a:rPr sz="800" spc="-2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55" dirty="0">
                <a:latin typeface="Times New Roman"/>
                <a:cs typeface="Times New Roman"/>
              </a:rPr>
              <a:t>φ</a:t>
            </a:r>
            <a:r>
              <a:rPr sz="800" spc="55" dirty="0">
                <a:latin typeface="LM Roman 8"/>
                <a:cs typeface="LM Roman 8"/>
              </a:rPr>
              <a:t>(</a:t>
            </a:r>
            <a:r>
              <a:rPr sz="800" i="1" spc="55" dirty="0">
                <a:latin typeface="Times New Roman"/>
                <a:cs typeface="Times New Roman"/>
              </a:rPr>
              <a:t>x</a:t>
            </a:r>
            <a:r>
              <a:rPr sz="800" spc="55" dirty="0">
                <a:latin typeface="LM Roman 8"/>
                <a:cs typeface="LM Roman 8"/>
              </a:rPr>
              <a:t>)</a:t>
            </a:r>
            <a:r>
              <a:rPr sz="900" i="1" spc="82" baseline="32407" dirty="0">
                <a:latin typeface="Times New Roman"/>
                <a:cs typeface="Times New Roman"/>
              </a:rPr>
              <a:t>T </a:t>
            </a:r>
            <a:r>
              <a:rPr sz="800" i="1" spc="40" dirty="0">
                <a:latin typeface="Times New Roman"/>
                <a:cs typeface="Times New Roman"/>
              </a:rPr>
              <a:t>φ</a:t>
            </a:r>
            <a:r>
              <a:rPr sz="800" spc="40" dirty="0">
                <a:latin typeface="LM Roman 8"/>
                <a:cs typeface="LM Roman 8"/>
              </a:rPr>
              <a:t>(</a:t>
            </a:r>
            <a:r>
              <a:rPr sz="800" i="1" spc="40" dirty="0">
                <a:latin typeface="Times New Roman"/>
                <a:cs typeface="Times New Roman"/>
              </a:rPr>
              <a:t>z</a:t>
            </a:r>
            <a:r>
              <a:rPr sz="800" spc="4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299" y="1201444"/>
            <a:ext cx="26447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In practice, the </a:t>
            </a:r>
            <a:r>
              <a:rPr sz="800" spc="-10" dirty="0">
                <a:latin typeface="LM Roman 8"/>
                <a:cs typeface="LM Roman 8"/>
              </a:rPr>
              <a:t>kernel </a:t>
            </a:r>
            <a:r>
              <a:rPr sz="800" i="1" spc="180" dirty="0">
                <a:latin typeface="Times New Roman"/>
                <a:cs typeface="Times New Roman"/>
              </a:rPr>
              <a:t>K </a:t>
            </a:r>
            <a:r>
              <a:rPr sz="800" spc="-5" dirty="0">
                <a:latin typeface="LM Roman 8"/>
                <a:cs typeface="LM Roman 8"/>
              </a:rPr>
              <a:t>defined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i="1" spc="80" dirty="0">
                <a:latin typeface="Times New Roman"/>
                <a:cs typeface="Times New Roman"/>
              </a:rPr>
              <a:t>K</a:t>
            </a:r>
            <a:r>
              <a:rPr sz="800" spc="80" dirty="0">
                <a:latin typeface="LM Roman 8"/>
                <a:cs typeface="LM Roman 8"/>
              </a:rPr>
              <a:t>(</a:t>
            </a:r>
            <a:r>
              <a:rPr sz="800" i="1" spc="80" dirty="0">
                <a:latin typeface="Times New Roman"/>
                <a:cs typeface="Times New Roman"/>
              </a:rPr>
              <a:t>x,z</a:t>
            </a:r>
            <a:r>
              <a:rPr sz="800" spc="80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exp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5825" y="1174869"/>
            <a:ext cx="3155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60" dirty="0">
                <a:latin typeface="DejaVu Sans"/>
                <a:cs typeface="DejaVu Sans"/>
              </a:rPr>
              <a:t>||</a:t>
            </a:r>
            <a:r>
              <a:rPr sz="600" i="1" spc="60" dirty="0">
                <a:latin typeface="Times New Roman"/>
                <a:cs typeface="Times New Roman"/>
              </a:rPr>
              <a:t>x</a:t>
            </a:r>
            <a:r>
              <a:rPr sz="600" i="1" spc="60" dirty="0">
                <a:latin typeface="DejaVu Sans"/>
                <a:cs typeface="DejaVu Sans"/>
              </a:rPr>
              <a:t>−</a:t>
            </a:r>
            <a:r>
              <a:rPr sz="600" i="1" spc="60" dirty="0">
                <a:latin typeface="Times New Roman"/>
                <a:cs typeface="Times New Roman"/>
              </a:rPr>
              <a:t>z</a:t>
            </a:r>
            <a:r>
              <a:rPr sz="600" i="1" spc="60" dirty="0">
                <a:latin typeface="DejaVu Sans"/>
                <a:cs typeface="DejaVu Sans"/>
              </a:rPr>
              <a:t>||</a:t>
            </a:r>
            <a:endParaRPr sz="600"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15423" y="1155670"/>
            <a:ext cx="68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latin typeface="LM Roman 5"/>
                <a:cs typeface="LM Roman 5"/>
              </a:rPr>
              <a:t>2</a:t>
            </a:r>
            <a:endParaRPr sz="500">
              <a:latin typeface="LM Roman 5"/>
              <a:cs typeface="LM Roman 5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38525" y="1290066"/>
            <a:ext cx="339090" cy="0"/>
          </a:xfrm>
          <a:custGeom>
            <a:avLst/>
            <a:gdLst/>
            <a:ahLst/>
            <a:cxnLst/>
            <a:rect l="l" t="t" r="r" b="b"/>
            <a:pathLst>
              <a:path w="339089">
                <a:moveTo>
                  <a:pt x="0" y="0"/>
                </a:moveTo>
                <a:lnTo>
                  <a:pt x="33898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93478" y="1270665"/>
            <a:ext cx="2228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spc="50" dirty="0">
                <a:latin typeface="LM Roman 6"/>
                <a:cs typeface="LM Roman 6"/>
              </a:rPr>
              <a:t>2</a:t>
            </a:r>
            <a:r>
              <a:rPr sz="600" i="1" spc="50" dirty="0">
                <a:latin typeface="Times New Roman"/>
                <a:cs typeface="Times New Roman"/>
              </a:rPr>
              <a:t>σ</a:t>
            </a:r>
            <a:r>
              <a:rPr sz="750" spc="75" baseline="16666" dirty="0">
                <a:latin typeface="LM Roman 5"/>
                <a:cs typeface="LM Roman 5"/>
              </a:rPr>
              <a:t>2</a:t>
            </a:r>
            <a:endParaRPr sz="750" baseline="16666">
              <a:latin typeface="LM Roman 5"/>
              <a:cs typeface="LM Roman 5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51429" y="1042027"/>
            <a:ext cx="6299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1020" algn="l"/>
              </a:tabLst>
            </a:pPr>
            <a:r>
              <a:rPr sz="1000" spc="315" dirty="0">
                <a:latin typeface="Arial"/>
                <a:cs typeface="Arial"/>
              </a:rPr>
              <a:t>.	</a:t>
            </a:r>
            <a:r>
              <a:rPr sz="1000" spc="-25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99179" y="1201444"/>
            <a:ext cx="13970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is called the </a:t>
            </a:r>
            <a:r>
              <a:rPr sz="800" spc="-10" dirty="0">
                <a:latin typeface="LM Roman 8"/>
                <a:cs typeface="LM Roman 8"/>
              </a:rPr>
              <a:t>Gaussian</a:t>
            </a:r>
            <a:r>
              <a:rPr sz="800" spc="24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kernel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1299" y="1372398"/>
            <a:ext cx="10991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and is commonly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used.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3971" y="1518653"/>
            <a:ext cx="4320032" cy="13500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1299" y="2838664"/>
            <a:ext cx="4505960" cy="35814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just">
              <a:lnSpc>
                <a:spcPct val="86500"/>
              </a:lnSpc>
              <a:spcBef>
                <a:spcPts val="22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say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that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use the "kernel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trick"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to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compute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cost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function using 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kernel  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because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</a:t>
            </a:r>
            <a:r>
              <a:rPr sz="800" i="1" dirty="0">
                <a:solidFill>
                  <a:srgbClr val="59439A"/>
                </a:solidFill>
                <a:latin typeface="LM Roman 8"/>
                <a:cs typeface="LM Roman 8"/>
              </a:rPr>
              <a:t>actually 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don’t need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to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know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explicit mapping </a:t>
            </a:r>
            <a:r>
              <a:rPr sz="800" i="1" spc="25" dirty="0">
                <a:solidFill>
                  <a:srgbClr val="59439A"/>
                </a:solidFill>
                <a:latin typeface="Times New Roman"/>
                <a:cs typeface="Times New Roman"/>
              </a:rPr>
              <a:t>φ</a:t>
            </a:r>
            <a:r>
              <a:rPr sz="800" i="1" spc="25" dirty="0">
                <a:solidFill>
                  <a:srgbClr val="59439A"/>
                </a:solidFill>
                <a:latin typeface="LM Roman 8"/>
                <a:cs typeface="LM Roman 8"/>
              </a:rPr>
              <a:t>,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which is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often very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complicated. 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Instead,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only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values </a:t>
            </a:r>
            <a:r>
              <a:rPr sz="800" i="1" spc="80" dirty="0">
                <a:solidFill>
                  <a:srgbClr val="59439A"/>
                </a:solidFill>
                <a:latin typeface="Times New Roman"/>
                <a:cs typeface="Times New Roman"/>
              </a:rPr>
              <a:t>K</a:t>
            </a:r>
            <a:r>
              <a:rPr sz="800" spc="80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80" dirty="0">
                <a:solidFill>
                  <a:srgbClr val="59439A"/>
                </a:solidFill>
                <a:latin typeface="Times New Roman"/>
                <a:cs typeface="Times New Roman"/>
              </a:rPr>
              <a:t>x,z</a:t>
            </a:r>
            <a:r>
              <a:rPr sz="800" spc="80" dirty="0">
                <a:solidFill>
                  <a:srgbClr val="59439A"/>
                </a:solidFill>
                <a:latin typeface="LM Roman 8"/>
                <a:cs typeface="LM Roman 8"/>
              </a:rPr>
              <a:t>)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are</a:t>
            </a:r>
            <a:r>
              <a:rPr sz="800" i="1" spc="-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needed.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1299" y="3258590"/>
            <a:ext cx="29387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Lagrangian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40" dirty="0">
                <a:latin typeface="LM Roman 8"/>
                <a:cs typeface="LM Roman 8"/>
              </a:rPr>
              <a:t>We </a:t>
            </a:r>
            <a:r>
              <a:rPr sz="800" spc="-10" dirty="0">
                <a:latin typeface="LM Roman 8"/>
                <a:cs typeface="LM Roman 8"/>
              </a:rPr>
              <a:t>define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Lagrangian </a:t>
            </a:r>
            <a:r>
              <a:rPr sz="800" i="1" spc="35" dirty="0">
                <a:latin typeface="DejaVu Sans"/>
                <a:cs typeface="DejaVu Sans"/>
              </a:rPr>
              <a:t>L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w,b</a:t>
            </a:r>
            <a:r>
              <a:rPr sz="800" spc="3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1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40534" y="3584459"/>
            <a:ext cx="297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30" dirty="0">
                <a:latin typeface="DejaVu Sans"/>
                <a:cs typeface="DejaVu Sans"/>
              </a:rPr>
              <a:t>L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90" dirty="0">
                <a:latin typeface="Times New Roman"/>
                <a:cs typeface="Times New Roman"/>
              </a:rPr>
              <a:t>w</a:t>
            </a:r>
            <a:r>
              <a:rPr sz="800" i="1" spc="-5" dirty="0">
                <a:latin typeface="Times New Roman"/>
                <a:cs typeface="Times New Roman"/>
              </a:rPr>
              <a:t>,b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31274" y="3457935"/>
            <a:ext cx="565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70" dirty="0">
                <a:latin typeface="Times New Roman"/>
                <a:cs typeface="Times New Roman"/>
              </a:rPr>
              <a:t>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55137" y="3445286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70911" y="3761592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12098" y="3584459"/>
            <a:ext cx="82994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6285" algn="l"/>
              </a:tabLst>
            </a:pP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180" dirty="0">
                <a:latin typeface="Times New Roman"/>
                <a:cs typeface="Times New Roman"/>
              </a:rPr>
              <a:t>f</a:t>
            </a:r>
            <a:r>
              <a:rPr sz="800" i="1" spc="-114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90" dirty="0">
                <a:latin typeface="Times New Roman"/>
                <a:cs typeface="Times New Roman"/>
              </a:rPr>
              <a:t>w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dirty="0">
                <a:latin typeface="LM Roman 8"/>
                <a:cs typeface="LM Roman 8"/>
              </a:rPr>
              <a:t>	</a:t>
            </a:r>
            <a:r>
              <a:rPr sz="800" i="1" spc="75" dirty="0">
                <a:latin typeface="Times New Roman"/>
                <a:cs typeface="Times New Roman"/>
              </a:rPr>
              <a:t>β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16173" y="3625194"/>
            <a:ext cx="1619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i</a:t>
            </a:r>
            <a:r>
              <a:rPr sz="600" i="1" spc="305" dirty="0">
                <a:latin typeface="Times New Roman"/>
                <a:cs typeface="Times New Roman"/>
              </a:rPr>
              <a:t> </a:t>
            </a:r>
            <a:r>
              <a:rPr sz="600" i="1" spc="95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56318" y="3584459"/>
            <a:ext cx="2914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85" dirty="0">
                <a:latin typeface="Times New Roman"/>
                <a:cs typeface="Times New Roman"/>
              </a:rPr>
              <a:t>h</a:t>
            </a:r>
            <a:r>
              <a:rPr sz="800" i="1" spc="40" dirty="0">
                <a:latin typeface="Times New Roman"/>
                <a:cs typeface="Times New Roman"/>
              </a:rPr>
              <a:t> </a:t>
            </a:r>
            <a:r>
              <a:rPr sz="800" spc="30" dirty="0">
                <a:latin typeface="LM Roman 8"/>
                <a:cs typeface="LM Roman 8"/>
              </a:rPr>
              <a:t>(</a:t>
            </a:r>
            <a:r>
              <a:rPr sz="800" i="1" spc="30" dirty="0">
                <a:latin typeface="Times New Roman"/>
                <a:cs typeface="Times New Roman"/>
              </a:rPr>
              <a:t>w</a:t>
            </a:r>
            <a:r>
              <a:rPr sz="800" spc="3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010206" y="3438156"/>
            <a:ext cx="1468120" cy="467995"/>
            <a:chOff x="2010206" y="3438156"/>
            <a:chExt cx="1468120" cy="467995"/>
          </a:xfrm>
        </p:grpSpPr>
        <p:sp>
          <p:nvSpPr>
            <p:cNvPr id="26" name="object 26"/>
            <p:cNvSpPr/>
            <p:nvPr/>
          </p:nvSpPr>
          <p:spPr>
            <a:xfrm>
              <a:off x="2010206" y="3440684"/>
              <a:ext cx="1468120" cy="0"/>
            </a:xfrm>
            <a:custGeom>
              <a:avLst/>
              <a:gdLst/>
              <a:ahLst/>
              <a:cxnLst/>
              <a:rect l="l" t="t" r="r" b="b"/>
              <a:pathLst>
                <a:path w="1468120">
                  <a:moveTo>
                    <a:pt x="0" y="0"/>
                  </a:moveTo>
                  <a:lnTo>
                    <a:pt x="146751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12746" y="3440696"/>
              <a:ext cx="0" cy="462915"/>
            </a:xfrm>
            <a:custGeom>
              <a:avLst/>
              <a:gdLst/>
              <a:ahLst/>
              <a:cxnLst/>
              <a:rect l="l" t="t" r="r" b="b"/>
              <a:pathLst>
                <a:path h="462914">
                  <a:moveTo>
                    <a:pt x="0" y="46266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75189" y="3440696"/>
              <a:ext cx="0" cy="462915"/>
            </a:xfrm>
            <a:custGeom>
              <a:avLst/>
              <a:gdLst/>
              <a:ahLst/>
              <a:cxnLst/>
              <a:rect l="l" t="t" r="r" b="b"/>
              <a:pathLst>
                <a:path h="462914">
                  <a:moveTo>
                    <a:pt x="0" y="46266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10206" y="3903357"/>
              <a:ext cx="1468120" cy="0"/>
            </a:xfrm>
            <a:custGeom>
              <a:avLst/>
              <a:gdLst/>
              <a:ahLst/>
              <a:cxnLst/>
              <a:rect l="l" t="t" r="r" b="b"/>
              <a:pathLst>
                <a:path w="1468120">
                  <a:moveTo>
                    <a:pt x="0" y="0"/>
                  </a:moveTo>
                  <a:lnTo>
                    <a:pt x="146751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733118" y="3997736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solidFill>
                  <a:srgbClr val="59439A"/>
                </a:solidFill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1299" y="3957001"/>
            <a:ext cx="30124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coefficients </a:t>
            </a:r>
            <a:r>
              <a:rPr sz="800" i="1" spc="75" dirty="0">
                <a:solidFill>
                  <a:srgbClr val="59439A"/>
                </a:solidFill>
                <a:latin typeface="Times New Roman"/>
                <a:cs typeface="Times New Roman"/>
              </a:rPr>
              <a:t>β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are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called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Lagrange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multipliers.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1299" y="4281380"/>
            <a:ext cx="1564640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343535" algn="l"/>
              </a:tabLst>
            </a:pPr>
            <a:r>
              <a:rPr sz="1000" b="1" spc="-5" dirty="0">
                <a:latin typeface="LM Roman 10"/>
                <a:cs typeface="LM Roman 10"/>
              </a:rPr>
              <a:t>1.5	</a:t>
            </a:r>
            <a:r>
              <a:rPr sz="900" b="1" spc="-10" dirty="0">
                <a:latin typeface="LM Roman 9"/>
                <a:cs typeface="LM Roman 9"/>
              </a:rPr>
              <a:t>Generative</a:t>
            </a:r>
            <a:r>
              <a:rPr sz="900" b="1" spc="-50" dirty="0">
                <a:latin typeface="LM Roman 9"/>
                <a:cs typeface="LM Roman 9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Learning</a:t>
            </a:r>
            <a:endParaRPr sz="900">
              <a:latin typeface="LM Roman 9"/>
              <a:cs typeface="LM Roman 9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1299" y="4512727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generative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first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tries</a:t>
            </a:r>
            <a:r>
              <a:rPr sz="800" spc="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learn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how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data</a:t>
            </a:r>
            <a:r>
              <a:rPr sz="800" spc="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generated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by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estimating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85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x</a:t>
            </a:r>
            <a:r>
              <a:rPr sz="800" i="1" spc="25" dirty="0">
                <a:latin typeface="DejaVu Sans"/>
                <a:cs typeface="DejaVu Sans"/>
              </a:rPr>
              <a:t>|</a:t>
            </a:r>
            <a:r>
              <a:rPr sz="800" i="1" spc="25" dirty="0">
                <a:latin typeface="Times New Roman"/>
                <a:cs typeface="Times New Roman"/>
              </a:rPr>
              <a:t>y</a:t>
            </a:r>
            <a:r>
              <a:rPr sz="800" spc="25" dirty="0">
                <a:latin typeface="LM Roman 8"/>
                <a:cs typeface="LM Roman 8"/>
              </a:rPr>
              <a:t>),</a:t>
            </a:r>
            <a:r>
              <a:rPr sz="800" spc="6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which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1299" y="4626595"/>
            <a:ext cx="2700655" cy="4895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can then use to estimate </a:t>
            </a:r>
            <a:r>
              <a:rPr sz="800" i="1" spc="45" dirty="0">
                <a:latin typeface="Times New Roman"/>
                <a:cs typeface="Times New Roman"/>
              </a:rPr>
              <a:t>P </a:t>
            </a:r>
            <a:r>
              <a:rPr sz="800" spc="30" dirty="0">
                <a:latin typeface="LM Roman 8"/>
                <a:cs typeface="LM Roman 8"/>
              </a:rPr>
              <a:t>(</a:t>
            </a:r>
            <a:r>
              <a:rPr sz="800" i="1" spc="30" dirty="0">
                <a:latin typeface="Times New Roman"/>
                <a:cs typeface="Times New Roman"/>
              </a:rPr>
              <a:t>y</a:t>
            </a:r>
            <a:r>
              <a:rPr sz="800" i="1" spc="30" dirty="0">
                <a:latin typeface="DejaVu Sans"/>
                <a:cs typeface="DejaVu Sans"/>
              </a:rPr>
              <a:t>|</a:t>
            </a:r>
            <a:r>
              <a:rPr sz="800" i="1" spc="30" dirty="0">
                <a:latin typeface="Times New Roman"/>
                <a:cs typeface="Times New Roman"/>
              </a:rPr>
              <a:t>x</a:t>
            </a:r>
            <a:r>
              <a:rPr sz="800" spc="30" dirty="0">
                <a:latin typeface="LM Roman 8"/>
                <a:cs typeface="LM Roman 8"/>
              </a:rPr>
              <a:t>)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using </a:t>
            </a:r>
            <a:r>
              <a:rPr sz="800" spc="-10" dirty="0">
                <a:latin typeface="LM Roman 8"/>
                <a:cs typeface="LM Roman 8"/>
              </a:rPr>
              <a:t>Bayes’</a:t>
            </a:r>
            <a:r>
              <a:rPr sz="800" spc="-114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rule.</a:t>
            </a:r>
            <a:endParaRPr sz="800">
              <a:latin typeface="LM Roman 8"/>
              <a:cs typeface="LM Roman 8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LM Roman 8"/>
              <a:cs typeface="LM Roman 8"/>
            </a:endParaRPr>
          </a:p>
          <a:p>
            <a:pPr marL="12700">
              <a:lnSpc>
                <a:spcPct val="100000"/>
              </a:lnSpc>
              <a:tabLst>
                <a:tab pos="457200" algn="l"/>
              </a:tabLst>
            </a:pPr>
            <a:r>
              <a:rPr sz="1000" b="1" spc="-5" dirty="0">
                <a:latin typeface="LM Roman 10"/>
                <a:cs typeface="LM Roman 10"/>
              </a:rPr>
              <a:t>1.5.1	</a:t>
            </a:r>
            <a:r>
              <a:rPr sz="900" b="1" spc="-10" dirty="0">
                <a:latin typeface="LM Roman 9"/>
                <a:cs typeface="LM Roman 9"/>
              </a:rPr>
              <a:t>Gaussian Discriminant</a:t>
            </a:r>
            <a:r>
              <a:rPr sz="900" b="1" spc="-5" dirty="0">
                <a:latin typeface="LM Roman 9"/>
                <a:cs typeface="LM Roman 9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Analysis</a:t>
            </a:r>
            <a:endParaRPr sz="900">
              <a:latin typeface="LM Roman 9"/>
              <a:cs typeface="LM Roman 9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1299" y="5182322"/>
            <a:ext cx="4505960" cy="2546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850"/>
              </a:lnSpc>
              <a:spcBef>
                <a:spcPts val="215"/>
              </a:spcBef>
              <a:buFont typeface="DejaVu Sans"/>
              <a:buChar char="❒"/>
              <a:tabLst>
                <a:tab pos="127635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Setting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Gaussian </a:t>
            </a:r>
            <a:r>
              <a:rPr sz="800" spc="-5" dirty="0">
                <a:latin typeface="LM Roman 8"/>
                <a:cs typeface="LM Roman 8"/>
              </a:rPr>
              <a:t>Discriminant </a:t>
            </a:r>
            <a:r>
              <a:rPr sz="800" spc="-10" dirty="0">
                <a:latin typeface="LM Roman 8"/>
                <a:cs typeface="LM Roman 8"/>
              </a:rPr>
              <a:t>Analysis </a:t>
            </a:r>
            <a:r>
              <a:rPr sz="800" spc="-5" dirty="0">
                <a:latin typeface="LM Roman 8"/>
                <a:cs typeface="LM Roman 8"/>
              </a:rPr>
              <a:t>assumes that </a:t>
            </a:r>
            <a:r>
              <a:rPr sz="800" i="1" spc="60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50" dirty="0">
                <a:latin typeface="Times New Roman"/>
                <a:cs typeface="Times New Roman"/>
              </a:rPr>
              <a:t>x</a:t>
            </a:r>
            <a:r>
              <a:rPr sz="800" i="1" spc="50" dirty="0">
                <a:latin typeface="DejaVu Sans"/>
                <a:cs typeface="DejaVu Sans"/>
              </a:rPr>
              <a:t>|</a:t>
            </a:r>
            <a:r>
              <a:rPr sz="800" i="1" spc="50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= 0 and </a:t>
            </a:r>
            <a:r>
              <a:rPr sz="800" i="1" spc="50" dirty="0">
                <a:latin typeface="Times New Roman"/>
                <a:cs typeface="Times New Roman"/>
              </a:rPr>
              <a:t>x</a:t>
            </a:r>
            <a:r>
              <a:rPr sz="800" i="1" spc="50" dirty="0">
                <a:latin typeface="DejaVu Sans"/>
                <a:cs typeface="DejaVu Sans"/>
              </a:rPr>
              <a:t>|</a:t>
            </a:r>
            <a:r>
              <a:rPr sz="800" i="1" spc="50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= 1 are  </a:t>
            </a:r>
            <a:r>
              <a:rPr sz="800" spc="-10" dirty="0">
                <a:latin typeface="LM Roman 8"/>
                <a:cs typeface="LM Roman 8"/>
              </a:rPr>
              <a:t>such </a:t>
            </a:r>
            <a:r>
              <a:rPr sz="800" spc="-5" dirty="0">
                <a:latin typeface="LM Roman 8"/>
                <a:cs typeface="LM Roman 8"/>
              </a:rPr>
              <a:t>that: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15222" y="5472099"/>
            <a:ext cx="857885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800" i="1" spc="60" dirty="0">
                <a:latin typeface="Times New Roman"/>
                <a:cs typeface="Times New Roman"/>
              </a:rPr>
              <a:t>y </a:t>
            </a:r>
            <a:r>
              <a:rPr sz="800" i="1" spc="-15" dirty="0">
                <a:latin typeface="DejaVu Sans"/>
                <a:cs typeface="DejaVu Sans"/>
              </a:rPr>
              <a:t>∼</a:t>
            </a:r>
            <a:r>
              <a:rPr sz="800" i="1" spc="-55" dirty="0">
                <a:latin typeface="DejaVu Sans"/>
                <a:cs typeface="DejaVu Sans"/>
              </a:rPr>
              <a:t> </a:t>
            </a:r>
            <a:r>
              <a:rPr sz="800" dirty="0">
                <a:latin typeface="LM Roman 8"/>
                <a:cs typeface="LM Roman 8"/>
              </a:rPr>
              <a:t>Bernoulli(</a:t>
            </a:r>
            <a:r>
              <a:rPr sz="800" i="1" dirty="0">
                <a:latin typeface="Times New Roman"/>
                <a:cs typeface="Times New Roman"/>
              </a:rPr>
              <a:t>φ</a:t>
            </a:r>
            <a:r>
              <a:rPr sz="80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66824" y="5757202"/>
            <a:ext cx="1276985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  <a:tabLst>
                <a:tab pos="1090295" algn="l"/>
              </a:tabLst>
            </a:pP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i="1" spc="-35" dirty="0">
                <a:latin typeface="DejaVu Sans"/>
                <a:cs typeface="DejaVu Sans"/>
              </a:rPr>
              <a:t>|</a:t>
            </a:r>
            <a:r>
              <a:rPr sz="800" i="1" spc="60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0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∼</a:t>
            </a:r>
            <a:r>
              <a:rPr sz="800" i="1" spc="-20" dirty="0">
                <a:latin typeface="DejaVu Sans"/>
                <a:cs typeface="DejaVu Sans"/>
              </a:rPr>
              <a:t> </a:t>
            </a:r>
            <a:r>
              <a:rPr sz="800" i="1" spc="90" dirty="0">
                <a:latin typeface="DejaVu Sans"/>
                <a:cs typeface="DejaVu Sans"/>
              </a:rPr>
              <a:t>N</a:t>
            </a:r>
            <a:r>
              <a:rPr sz="800" i="1" spc="-140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µ</a:t>
            </a:r>
            <a:r>
              <a:rPr sz="900" spc="60" baseline="-9259" dirty="0">
                <a:latin typeface="LM Roman 6"/>
                <a:cs typeface="LM Roman 6"/>
              </a:rPr>
              <a:t>0</a:t>
            </a:r>
            <a:r>
              <a:rPr sz="800" i="1" spc="35" dirty="0">
                <a:latin typeface="Times New Roman"/>
                <a:cs typeface="Times New Roman"/>
              </a:rPr>
              <a:t>,</a:t>
            </a:r>
            <a:r>
              <a:rPr sz="800" spc="-5" dirty="0">
                <a:latin typeface="LM Roman 8"/>
                <a:cs typeface="LM Roman 8"/>
              </a:rPr>
              <a:t>Σ)</a:t>
            </a:r>
            <a:r>
              <a:rPr sz="800" dirty="0">
                <a:latin typeface="LM Roman 8"/>
                <a:cs typeface="LM Roman 8"/>
              </a:rPr>
              <a:t>	</a:t>
            </a:r>
            <a:r>
              <a:rPr sz="800" spc="-5" dirty="0">
                <a:latin typeface="LM Roman 8"/>
                <a:cs typeface="LM Roman 8"/>
              </a:rPr>
              <a:t>and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40685" y="5757202"/>
            <a:ext cx="980440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800" i="1" spc="50" dirty="0">
                <a:latin typeface="Times New Roman"/>
                <a:cs typeface="Times New Roman"/>
              </a:rPr>
              <a:t>x</a:t>
            </a:r>
            <a:r>
              <a:rPr sz="800" i="1" spc="50" dirty="0">
                <a:latin typeface="DejaVu Sans"/>
                <a:cs typeface="DejaVu Sans"/>
              </a:rPr>
              <a:t>|</a:t>
            </a:r>
            <a:r>
              <a:rPr sz="800" i="1" spc="50" dirty="0">
                <a:latin typeface="Times New Roman"/>
                <a:cs typeface="Times New Roman"/>
              </a:rPr>
              <a:t>y</a:t>
            </a:r>
            <a:r>
              <a:rPr sz="800" i="1" spc="4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1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∼</a:t>
            </a:r>
            <a:r>
              <a:rPr sz="800" i="1" spc="-35" dirty="0">
                <a:latin typeface="DejaVu Sans"/>
                <a:cs typeface="DejaVu Sans"/>
              </a:rPr>
              <a:t> </a:t>
            </a:r>
            <a:r>
              <a:rPr sz="800" i="1" spc="90" dirty="0">
                <a:latin typeface="DejaVu Sans"/>
                <a:cs typeface="DejaVu Sans"/>
              </a:rPr>
              <a:t>N</a:t>
            </a:r>
            <a:r>
              <a:rPr sz="800" i="1" spc="-145" dirty="0">
                <a:latin typeface="DejaVu Sans"/>
                <a:cs typeface="DejaVu Sans"/>
              </a:rPr>
              <a:t> </a:t>
            </a:r>
            <a:r>
              <a:rPr sz="800" spc="20" dirty="0">
                <a:latin typeface="LM Roman 8"/>
                <a:cs typeface="LM Roman 8"/>
              </a:rPr>
              <a:t>(</a:t>
            </a:r>
            <a:r>
              <a:rPr sz="800" i="1" spc="20" dirty="0">
                <a:latin typeface="Times New Roman"/>
                <a:cs typeface="Times New Roman"/>
              </a:rPr>
              <a:t>µ</a:t>
            </a:r>
            <a:r>
              <a:rPr sz="900" spc="30" baseline="-9259" dirty="0">
                <a:latin typeface="LM Roman 6"/>
                <a:cs typeface="LM Roman 6"/>
              </a:rPr>
              <a:t>1</a:t>
            </a:r>
            <a:r>
              <a:rPr sz="800" i="1" spc="20" dirty="0">
                <a:latin typeface="Times New Roman"/>
                <a:cs typeface="Times New Roman"/>
              </a:rPr>
              <a:t>,</a:t>
            </a:r>
            <a:r>
              <a:rPr sz="800" spc="20" dirty="0">
                <a:latin typeface="LM Roman 8"/>
                <a:cs typeface="LM Roman 8"/>
              </a:rPr>
              <a:t>Σ)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1299" y="6087299"/>
            <a:ext cx="4505325" cy="2489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26364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Estimation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table sums up the estimates that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10" dirty="0">
                <a:latin typeface="LM Roman 8"/>
                <a:cs typeface="LM Roman 8"/>
              </a:rPr>
              <a:t>find </a:t>
            </a:r>
            <a:r>
              <a:rPr sz="800" spc="-5" dirty="0">
                <a:latin typeface="LM Roman 8"/>
                <a:cs typeface="LM Roman 8"/>
              </a:rPr>
              <a:t>when maximizing the  </a:t>
            </a:r>
            <a:r>
              <a:rPr sz="800" dirty="0">
                <a:latin typeface="LM Roman 8"/>
                <a:cs typeface="LM Roman 8"/>
              </a:rPr>
              <a:t>likelihood: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21816" y="6910006"/>
            <a:ext cx="95250" cy="0"/>
          </a:xfrm>
          <a:custGeom>
            <a:avLst/>
            <a:gdLst/>
            <a:ahLst/>
            <a:cxnLst/>
            <a:rect l="l" t="t" r="r" b="b"/>
            <a:pathLst>
              <a:path w="95250">
                <a:moveTo>
                  <a:pt x="0" y="0"/>
                </a:moveTo>
                <a:lnTo>
                  <a:pt x="9513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957525" y="6910006"/>
            <a:ext cx="95250" cy="0"/>
          </a:xfrm>
          <a:custGeom>
            <a:avLst/>
            <a:gdLst/>
            <a:ahLst/>
            <a:cxnLst/>
            <a:rect l="l" t="t" r="r" b="b"/>
            <a:pathLst>
              <a:path w="95250">
                <a:moveTo>
                  <a:pt x="0" y="0"/>
                </a:moveTo>
                <a:lnTo>
                  <a:pt x="9513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825665" y="6450190"/>
          <a:ext cx="3830953" cy="6964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08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i="1" spc="-502" baseline="-6944" dirty="0">
                          <a:latin typeface="Times New Roman"/>
                          <a:cs typeface="Times New Roman"/>
                        </a:rPr>
                        <a:t>φ</a:t>
                      </a:r>
                      <a:r>
                        <a:rPr sz="1000" spc="-335" dirty="0">
                          <a:latin typeface="Arial"/>
                          <a:cs typeface="Arial"/>
                        </a:rPr>
                        <a:t>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380"/>
                        </a:lnSpc>
                        <a:spcBef>
                          <a:spcPts val="43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800" u="sng" spc="9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u="sng" spc="9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µ</a:t>
                      </a:r>
                      <a:r>
                        <a:rPr sz="900" i="1" u="sng" spc="135" baseline="-9259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j </a:t>
                      </a:r>
                      <a:r>
                        <a:rPr sz="800" spc="5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55" dirty="0">
                          <a:latin typeface="Times New Roman"/>
                          <a:cs typeface="Times New Roman"/>
                        </a:rPr>
                        <a:t>j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9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5" dirty="0">
                          <a:latin typeface="LM Roman 8"/>
                          <a:cs typeface="LM Roman 8"/>
                        </a:rPr>
                        <a:t>0</a:t>
                      </a:r>
                      <a:r>
                        <a:rPr sz="800" i="1" spc="5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800" spc="5" dirty="0">
                          <a:latin typeface="LM Roman 8"/>
                          <a:cs typeface="LM Roman 8"/>
                        </a:rPr>
                        <a:t>1)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254000">
                        <a:lnSpc>
                          <a:spcPts val="620"/>
                        </a:lnSpc>
                      </a:pPr>
                      <a:r>
                        <a:rPr sz="1000" u="sng" spc="-2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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0"/>
                        </a:lnSpc>
                        <a:spcBef>
                          <a:spcPts val="430"/>
                        </a:spcBef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Σ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algn="ctr">
                        <a:lnSpc>
                          <a:spcPts val="560"/>
                        </a:lnSpc>
                      </a:pPr>
                      <a:r>
                        <a:rPr sz="1000" dirty="0">
                          <a:latin typeface="Arial"/>
                          <a:cs typeface="Arial"/>
                        </a:rPr>
                        <a:t>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36">
                <a:tc>
                  <a:txBody>
                    <a:bodyPr/>
                    <a:lstStyle/>
                    <a:p>
                      <a:pPr marL="114300">
                        <a:lnSpc>
                          <a:spcPts val="944"/>
                        </a:lnSpc>
                      </a:pPr>
                      <a:r>
                        <a:rPr sz="1200" spc="-7" baseline="-45138" dirty="0">
                          <a:latin typeface="LM Roman 8"/>
                          <a:cs typeface="LM Roman 8"/>
                        </a:rPr>
                        <a:t>1</a:t>
                      </a:r>
                      <a:r>
                        <a:rPr sz="1200" spc="195" baseline="-45138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500" spc="-7" baseline="-16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600" i="1" spc="-5" dirty="0">
                          <a:latin typeface="Times New Roman"/>
                          <a:cs typeface="Times New Roman"/>
                        </a:rPr>
                        <a:t>m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422275">
                        <a:lnSpc>
                          <a:spcPts val="635"/>
                        </a:lnSpc>
                        <a:spcBef>
                          <a:spcPts val="480"/>
                        </a:spcBef>
                      </a:pPr>
                      <a:r>
                        <a:rPr sz="1200" spc="44" baseline="20833" dirty="0">
                          <a:latin typeface="LM Roman 8"/>
                          <a:cs typeface="LM Roman 8"/>
                        </a:rPr>
                        <a:t>1</a:t>
                      </a:r>
                      <a:r>
                        <a:rPr sz="600" i="1" spc="30" dirty="0">
                          <a:latin typeface="DejaVu Sans"/>
                          <a:cs typeface="DejaVu Sans"/>
                        </a:rPr>
                        <a:t>{</a:t>
                      </a: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750" spc="44" baseline="22222" dirty="0">
                          <a:latin typeface="LM Roman 5"/>
                          <a:cs typeface="LM Roman 5"/>
                        </a:rPr>
                        <a:t>(</a:t>
                      </a:r>
                      <a:r>
                        <a:rPr sz="750" i="1" spc="44" baseline="22222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750" spc="44" baseline="22222" dirty="0">
                          <a:latin typeface="LM Roman 5"/>
                          <a:cs typeface="LM Roman 5"/>
                        </a:rPr>
                        <a:t>)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r>
                        <a:rPr sz="600" i="1" spc="30" dirty="0">
                          <a:latin typeface="DejaVu Sans"/>
                          <a:cs typeface="DejaVu Sans"/>
                        </a:rPr>
                        <a:t>}</a:t>
                      </a:r>
                      <a:endParaRPr sz="600">
                        <a:latin typeface="DejaVu Sans"/>
                        <a:cs typeface="DejaVu Sans"/>
                      </a:endParaRPr>
                    </a:p>
                    <a:p>
                      <a:pPr marL="93345">
                        <a:lnSpc>
                          <a:spcPts val="555"/>
                        </a:lnSpc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m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37490">
                        <a:lnSpc>
                          <a:spcPts val="640"/>
                        </a:lnSpc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  <a:spcBef>
                          <a:spcPts val="265"/>
                        </a:spcBef>
                        <a:tabLst>
                          <a:tab pos="739140" algn="l"/>
                        </a:tabLst>
                      </a:pPr>
                      <a:r>
                        <a:rPr sz="1500" spc="480" baseline="44444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900" i="1" spc="480" baseline="50925" dirty="0">
                          <a:latin typeface="Times New Roman"/>
                          <a:cs typeface="Times New Roman"/>
                        </a:rPr>
                        <a:t>m  </a:t>
                      </a:r>
                      <a:r>
                        <a:rPr sz="1200" spc="-7" baseline="6944" dirty="0">
                          <a:latin typeface="LM Roman 8"/>
                          <a:cs typeface="LM Roman 8"/>
                        </a:rPr>
                        <a:t>1 </a:t>
                      </a:r>
                      <a:r>
                        <a:rPr sz="1200" spc="22" baseline="6944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500" spc="-5" dirty="0">
                          <a:latin typeface="LM Roman 5"/>
                          <a:cs typeface="LM Roman 5"/>
                        </a:rPr>
                        <a:t>(</a:t>
                      </a:r>
                      <a:r>
                        <a:rPr sz="500" spc="25" dirty="0">
                          <a:latin typeface="LM Roman 5"/>
                          <a:cs typeface="LM Roman 5"/>
                        </a:rPr>
                        <a:t> </a:t>
                      </a:r>
                      <a:r>
                        <a:rPr sz="500" spc="-5" dirty="0">
                          <a:latin typeface="LM Roman 5"/>
                          <a:cs typeface="LM Roman 5"/>
                        </a:rPr>
                        <a:t>)	</a:t>
                      </a:r>
                      <a:r>
                        <a:rPr sz="1200" i="1" spc="75" baseline="6944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spc="75" baseline="37037" dirty="0">
                          <a:latin typeface="LM Roman 6"/>
                          <a:cs typeface="LM Roman 6"/>
                        </a:rPr>
                        <a:t>(</a:t>
                      </a:r>
                      <a:r>
                        <a:rPr sz="900" i="1" spc="75" baseline="37037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900" spc="75" baseline="37037" dirty="0">
                          <a:latin typeface="LM Roman 6"/>
                          <a:cs typeface="LM Roman 6"/>
                        </a:rPr>
                        <a:t>)</a:t>
                      </a:r>
                      <a:endParaRPr sz="900" baseline="37037">
                        <a:latin typeface="LM Roman 6"/>
                        <a:cs typeface="LM Roman 6"/>
                      </a:endParaRPr>
                    </a:p>
                    <a:p>
                      <a:pPr marR="38735" algn="ctr">
                        <a:lnSpc>
                          <a:spcPts val="445"/>
                        </a:lnSpc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 </a:t>
                      </a:r>
                      <a:r>
                        <a:rPr sz="900" i="1" spc="75" baseline="4629" dirty="0">
                          <a:latin typeface="DejaVu Sans"/>
                          <a:cs typeface="DejaVu Sans"/>
                        </a:rPr>
                        <a:t>{</a:t>
                      </a:r>
                      <a:r>
                        <a:rPr sz="900" i="1" spc="75" baseline="4629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750" i="1" spc="225" baseline="27777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750" i="1" spc="127" baseline="27777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82" baseline="4629" dirty="0">
                          <a:latin typeface="LM Roman 6"/>
                          <a:cs typeface="LM Roman 6"/>
                        </a:rPr>
                        <a:t>=</a:t>
                      </a:r>
                      <a:r>
                        <a:rPr sz="900" i="1" spc="82" baseline="4629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900" i="1" spc="82" baseline="4629" dirty="0">
                          <a:latin typeface="DejaVu Sans"/>
                          <a:cs typeface="DejaVu Sans"/>
                        </a:rPr>
                        <a:t>}</a:t>
                      </a:r>
                      <a:endParaRPr sz="900" baseline="4629">
                        <a:latin typeface="DejaVu Sans"/>
                        <a:cs typeface="DejaVu Sans"/>
                      </a:endParaRPr>
                    </a:p>
                    <a:p>
                      <a:pPr marL="180340">
                        <a:lnSpc>
                          <a:spcPts val="925"/>
                        </a:lnSpc>
                        <a:spcBef>
                          <a:spcPts val="55"/>
                        </a:spcBef>
                      </a:pPr>
                      <a:r>
                        <a:rPr sz="1500" spc="480" baseline="44444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900" i="1" spc="480" baseline="50925" dirty="0"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1200" spc="-7" baseline="6944" dirty="0">
                          <a:latin typeface="LM Roman 8"/>
                          <a:cs typeface="LM Roman 8"/>
                        </a:rPr>
                        <a:t>1 </a:t>
                      </a:r>
                      <a:r>
                        <a:rPr sz="500" spc="-5" dirty="0">
                          <a:latin typeface="LM Roman 5"/>
                          <a:cs typeface="LM Roman 5"/>
                        </a:rPr>
                        <a:t>(</a:t>
                      </a:r>
                      <a:r>
                        <a:rPr sz="500" spc="190" dirty="0">
                          <a:latin typeface="LM Roman 5"/>
                          <a:cs typeface="LM Roman 5"/>
                        </a:rPr>
                        <a:t> </a:t>
                      </a:r>
                      <a:r>
                        <a:rPr sz="500" spc="-5" dirty="0">
                          <a:latin typeface="LM Roman 5"/>
                          <a:cs typeface="LM Roman 5"/>
                        </a:rPr>
                        <a:t>)</a:t>
                      </a:r>
                      <a:endParaRPr sz="500">
                        <a:latin typeface="LM Roman 5"/>
                        <a:cs typeface="LM Roman 5"/>
                      </a:endParaRPr>
                    </a:p>
                    <a:p>
                      <a:pPr marL="313690">
                        <a:lnSpc>
                          <a:spcPts val="445"/>
                        </a:lnSpc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 </a:t>
                      </a:r>
                      <a:r>
                        <a:rPr sz="900" i="1" spc="75" baseline="4629" dirty="0">
                          <a:latin typeface="DejaVu Sans"/>
                          <a:cs typeface="DejaVu Sans"/>
                        </a:rPr>
                        <a:t>{</a:t>
                      </a:r>
                      <a:r>
                        <a:rPr sz="900" i="1" spc="75" baseline="4629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750" i="1" spc="225" baseline="27777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750" i="1" spc="120" baseline="27777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82" baseline="4629" dirty="0">
                          <a:latin typeface="LM Roman 6"/>
                          <a:cs typeface="LM Roman 6"/>
                        </a:rPr>
                        <a:t>=</a:t>
                      </a:r>
                      <a:r>
                        <a:rPr sz="900" i="1" spc="82" baseline="4629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900" i="1" spc="82" baseline="4629" dirty="0">
                          <a:latin typeface="DejaVu Sans"/>
                          <a:cs typeface="DejaVu Sans"/>
                        </a:rPr>
                        <a:t>}</a:t>
                      </a:r>
                      <a:endParaRPr sz="900" baseline="4629">
                        <a:latin typeface="DejaVu Sans"/>
                        <a:cs typeface="DejaVu Sans"/>
                      </a:endParaRPr>
                    </a:p>
                  </a:txBody>
                  <a:tcPr marL="0" marR="0" marT="336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944"/>
                        </a:lnSpc>
                      </a:pPr>
                      <a:r>
                        <a:rPr sz="1200" spc="-7" baseline="-45138" dirty="0">
                          <a:latin typeface="LM Roman 8"/>
                          <a:cs typeface="LM Roman 8"/>
                        </a:rPr>
                        <a:t>1</a:t>
                      </a:r>
                      <a:r>
                        <a:rPr sz="1200" spc="202" baseline="-45138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500" spc="-7" baseline="-16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600" i="1" spc="-5" dirty="0">
                          <a:latin typeface="Times New Roman"/>
                          <a:cs typeface="Times New Roman"/>
                        </a:rPr>
                        <a:t>m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404495">
                        <a:lnSpc>
                          <a:spcPts val="530"/>
                        </a:lnSpc>
                        <a:spcBef>
                          <a:spcPts val="195"/>
                        </a:spcBef>
                        <a:tabLst>
                          <a:tab pos="981710" algn="l"/>
                          <a:tab pos="1600835" algn="l"/>
                        </a:tabLst>
                      </a:pPr>
                      <a:r>
                        <a:rPr sz="800" spc="4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4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spc="60" baseline="32407" dirty="0">
                          <a:latin typeface="LM Roman 6"/>
                          <a:cs typeface="LM Roman 6"/>
                        </a:rPr>
                        <a:t>(</a:t>
                      </a:r>
                      <a:r>
                        <a:rPr sz="900" i="1" spc="60" baseline="32407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900" spc="60" baseline="32407" dirty="0">
                          <a:latin typeface="LM Roman 6"/>
                          <a:cs typeface="LM Roman 6"/>
                        </a:rPr>
                        <a:t>)</a:t>
                      </a:r>
                      <a:r>
                        <a:rPr sz="900" spc="-22" baseline="32407" dirty="0">
                          <a:latin typeface="LM Roman 6"/>
                          <a:cs typeface="LM Roman 6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6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µ	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)(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spc="52" baseline="32407" dirty="0">
                          <a:latin typeface="LM Roman 6"/>
                          <a:cs typeface="LM Roman 6"/>
                        </a:rPr>
                        <a:t>(</a:t>
                      </a:r>
                      <a:r>
                        <a:rPr sz="900" i="1" spc="52" baseline="32407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900" spc="52" baseline="32407" dirty="0">
                          <a:latin typeface="LM Roman 6"/>
                          <a:cs typeface="LM Roman 6"/>
                        </a:rPr>
                        <a:t>)</a:t>
                      </a:r>
                      <a:r>
                        <a:rPr sz="900" spc="-22" baseline="32407" dirty="0">
                          <a:latin typeface="LM Roman 6"/>
                          <a:cs typeface="LM Roman 6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6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µ	</a:t>
                      </a:r>
                      <a:r>
                        <a:rPr sz="800" spc="50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900" i="1" spc="75" baseline="32407" dirty="0">
                          <a:latin typeface="Times New Roman"/>
                          <a:cs typeface="Times New Roman"/>
                        </a:rPr>
                        <a:t>T</a:t>
                      </a:r>
                      <a:endParaRPr sz="900" baseline="32407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ts val="530"/>
                        </a:lnSpc>
                        <a:tabLst>
                          <a:tab pos="815975" algn="l"/>
                          <a:tab pos="1435100" algn="l"/>
                        </a:tabLst>
                      </a:pPr>
                      <a:r>
                        <a:rPr sz="1200" i="1" spc="254" baseline="-34722" dirty="0">
                          <a:latin typeface="Times New Roman"/>
                          <a:cs typeface="Times New Roman"/>
                        </a:rPr>
                        <a:t>m	</a:t>
                      </a:r>
                      <a:r>
                        <a:rPr sz="900" i="1" spc="97" baseline="-18518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500" spc="65" dirty="0">
                          <a:latin typeface="LM Roman 5"/>
                          <a:cs typeface="LM Roman 5"/>
                        </a:rPr>
                        <a:t>(</a:t>
                      </a:r>
                      <a:r>
                        <a:rPr sz="500" i="1" spc="6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500" spc="65" dirty="0">
                          <a:latin typeface="LM Roman 5"/>
                          <a:cs typeface="LM Roman 5"/>
                        </a:rPr>
                        <a:t>)	</a:t>
                      </a:r>
                      <a:r>
                        <a:rPr sz="900" i="1" spc="97" baseline="-18518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500" spc="65" dirty="0">
                          <a:latin typeface="LM Roman 5"/>
                          <a:cs typeface="LM Roman 5"/>
                        </a:rPr>
                        <a:t>(</a:t>
                      </a:r>
                      <a:r>
                        <a:rPr sz="500" i="1" spc="6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500" spc="65" dirty="0">
                          <a:latin typeface="LM Roman 5"/>
                          <a:cs typeface="LM Roman 5"/>
                        </a:rPr>
                        <a:t>)</a:t>
                      </a:r>
                      <a:endParaRPr sz="500">
                        <a:latin typeface="LM Roman 5"/>
                        <a:cs typeface="LM Roman 5"/>
                      </a:endParaRPr>
                    </a:p>
                    <a:p>
                      <a:pPr marL="2374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5097754" y="683953"/>
            <a:ext cx="4505325" cy="513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457200" algn="l"/>
              </a:tabLst>
            </a:pPr>
            <a:r>
              <a:rPr sz="1000" b="1" spc="-5" dirty="0">
                <a:latin typeface="LM Roman 10"/>
                <a:cs typeface="LM Roman 10"/>
              </a:rPr>
              <a:t>1.5.2	</a:t>
            </a:r>
            <a:r>
              <a:rPr sz="900" b="1" spc="-10" dirty="0">
                <a:latin typeface="LM Roman 9"/>
                <a:cs typeface="LM Roman 9"/>
              </a:rPr>
              <a:t>Naive </a:t>
            </a:r>
            <a:r>
              <a:rPr sz="900" b="1" spc="-15" dirty="0">
                <a:latin typeface="LM Roman 9"/>
                <a:cs typeface="LM Roman 9"/>
              </a:rPr>
              <a:t>Bayes</a:t>
            </a:r>
            <a:endParaRPr sz="90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1145"/>
              </a:spcBef>
              <a:buFont typeface="DejaVu Sans"/>
              <a:buChar char="❒"/>
              <a:tabLst>
                <a:tab pos="125095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Assumption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Naive </a:t>
            </a:r>
            <a:r>
              <a:rPr sz="800" spc="-15" dirty="0">
                <a:latin typeface="LM Roman 8"/>
                <a:cs typeface="LM Roman 8"/>
              </a:rPr>
              <a:t>Bayes </a:t>
            </a:r>
            <a:r>
              <a:rPr sz="800" dirty="0">
                <a:latin typeface="LM Roman 8"/>
                <a:cs typeface="LM Roman 8"/>
              </a:rPr>
              <a:t>model supposes </a:t>
            </a:r>
            <a:r>
              <a:rPr sz="800" spc="-5" dirty="0">
                <a:latin typeface="LM Roman 8"/>
                <a:cs typeface="LM Roman 8"/>
              </a:rPr>
              <a:t>that the </a:t>
            </a:r>
            <a:r>
              <a:rPr sz="800" spc="-10" dirty="0">
                <a:latin typeface="LM Roman 8"/>
                <a:cs typeface="LM Roman 8"/>
              </a:rPr>
              <a:t>features </a:t>
            </a:r>
            <a:r>
              <a:rPr sz="800" spc="-5" dirty="0">
                <a:latin typeface="LM Roman 8"/>
                <a:cs typeface="LM Roman 8"/>
              </a:rPr>
              <a:t>of </a:t>
            </a:r>
            <a:r>
              <a:rPr sz="800" spc="-10" dirty="0">
                <a:latin typeface="LM Roman 8"/>
                <a:cs typeface="LM Roman 8"/>
              </a:rPr>
              <a:t>each </a:t>
            </a:r>
            <a:r>
              <a:rPr sz="800" spc="-5" dirty="0">
                <a:latin typeface="LM Roman 8"/>
                <a:cs typeface="LM Roman 8"/>
              </a:rPr>
              <a:t>data point are all  independent: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20735" y="1312359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169109" y="1299710"/>
            <a:ext cx="1746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65" dirty="0"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174342" y="1616029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47219" y="1438896"/>
            <a:ext cx="28067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413635" algn="l"/>
              </a:tabLst>
            </a:pP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80" dirty="0">
                <a:latin typeface="Times New Roman"/>
                <a:cs typeface="Times New Roman"/>
              </a:rPr>
              <a:t> </a:t>
            </a:r>
            <a:r>
              <a:rPr sz="800" spc="30" dirty="0">
                <a:latin typeface="LM Roman 8"/>
                <a:cs typeface="LM Roman 8"/>
              </a:rPr>
              <a:t>(</a:t>
            </a:r>
            <a:r>
              <a:rPr sz="800" i="1" spc="30" dirty="0">
                <a:latin typeface="Times New Roman"/>
                <a:cs typeface="Times New Roman"/>
              </a:rPr>
              <a:t>x</a:t>
            </a:r>
            <a:r>
              <a:rPr sz="800" i="1" spc="30" dirty="0">
                <a:latin typeface="DejaVu Sans"/>
                <a:cs typeface="DejaVu Sans"/>
              </a:rPr>
              <a:t>|</a:t>
            </a:r>
            <a:r>
              <a:rPr sz="800" i="1" spc="30" dirty="0">
                <a:latin typeface="Times New Roman"/>
                <a:cs typeface="Times New Roman"/>
              </a:rPr>
              <a:t>y</a:t>
            </a:r>
            <a:r>
              <a:rPr sz="800" spc="30" dirty="0">
                <a:latin typeface="LM Roman 8"/>
                <a:cs typeface="LM Roman 8"/>
              </a:rPr>
              <a:t>)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80" dirty="0">
                <a:latin typeface="Times New Roman"/>
                <a:cs typeface="Times New Roman"/>
              </a:rPr>
              <a:t> </a:t>
            </a:r>
            <a:r>
              <a:rPr sz="800" spc="40" dirty="0">
                <a:latin typeface="LM Roman 8"/>
                <a:cs typeface="LM Roman 8"/>
              </a:rPr>
              <a:t>(</a:t>
            </a:r>
            <a:r>
              <a:rPr sz="800" i="1" spc="40" dirty="0">
                <a:latin typeface="Times New Roman"/>
                <a:cs typeface="Times New Roman"/>
              </a:rPr>
              <a:t>x</a:t>
            </a:r>
            <a:r>
              <a:rPr sz="900" spc="60" baseline="-9259" dirty="0">
                <a:latin typeface="LM Roman 6"/>
                <a:cs typeface="LM Roman 6"/>
              </a:rPr>
              <a:t>1</a:t>
            </a:r>
            <a:r>
              <a:rPr sz="800" i="1" spc="40" dirty="0">
                <a:latin typeface="Times New Roman"/>
                <a:cs typeface="Times New Roman"/>
              </a:rPr>
              <a:t>,x</a:t>
            </a:r>
            <a:r>
              <a:rPr sz="900" spc="60" baseline="-9259" dirty="0">
                <a:latin typeface="LM Roman 6"/>
                <a:cs typeface="LM Roman 6"/>
              </a:rPr>
              <a:t>2</a:t>
            </a:r>
            <a:r>
              <a:rPr sz="800" i="1" spc="40" dirty="0">
                <a:latin typeface="Times New Roman"/>
                <a:cs typeface="Times New Roman"/>
              </a:rPr>
              <a:t>,...</a:t>
            </a:r>
            <a:r>
              <a:rPr sz="800" i="1" spc="40" dirty="0">
                <a:latin typeface="DejaVu Sans"/>
                <a:cs typeface="DejaVu Sans"/>
              </a:rPr>
              <a:t>|</a:t>
            </a:r>
            <a:r>
              <a:rPr sz="800" i="1" spc="40" dirty="0">
                <a:latin typeface="Times New Roman"/>
                <a:cs typeface="Times New Roman"/>
              </a:rPr>
              <a:t>y</a:t>
            </a:r>
            <a:r>
              <a:rPr sz="800" spc="40" dirty="0">
                <a:latin typeface="LM Roman 8"/>
                <a:cs typeface="LM Roman 8"/>
              </a:rPr>
              <a:t>)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80" dirty="0">
                <a:latin typeface="Times New Roman"/>
                <a:cs typeface="Times New Roman"/>
              </a:rPr>
              <a:t>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900" spc="52" baseline="-9259" dirty="0">
                <a:latin typeface="LM Roman 6"/>
                <a:cs typeface="LM Roman 6"/>
              </a:rPr>
              <a:t>1</a:t>
            </a:r>
            <a:r>
              <a:rPr sz="800" i="1" spc="35" dirty="0">
                <a:latin typeface="DejaVu Sans"/>
                <a:cs typeface="DejaVu Sans"/>
              </a:rPr>
              <a:t>|</a:t>
            </a:r>
            <a:r>
              <a:rPr sz="800" i="1" spc="35" dirty="0">
                <a:latin typeface="Times New Roman"/>
                <a:cs typeface="Times New Roman"/>
              </a:rPr>
              <a:t>y</a:t>
            </a:r>
            <a:r>
              <a:rPr sz="800" spc="35" dirty="0">
                <a:latin typeface="LM Roman 8"/>
                <a:cs typeface="LM Roman 8"/>
              </a:rPr>
              <a:t>)</a:t>
            </a:r>
            <a:r>
              <a:rPr sz="800" i="1" spc="35" dirty="0">
                <a:latin typeface="Times New Roman"/>
                <a:cs typeface="Times New Roman"/>
              </a:rPr>
              <a:t>P</a:t>
            </a:r>
            <a:r>
              <a:rPr sz="800" i="1" spc="-80" dirty="0">
                <a:latin typeface="Times New Roman"/>
                <a:cs typeface="Times New Roman"/>
              </a:rPr>
              <a:t>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900" spc="52" baseline="-9259" dirty="0">
                <a:latin typeface="LM Roman 6"/>
                <a:cs typeface="LM Roman 6"/>
              </a:rPr>
              <a:t>2</a:t>
            </a:r>
            <a:r>
              <a:rPr sz="800" i="1" spc="35" dirty="0">
                <a:latin typeface="DejaVu Sans"/>
                <a:cs typeface="DejaVu Sans"/>
              </a:rPr>
              <a:t>|</a:t>
            </a:r>
            <a:r>
              <a:rPr sz="800" i="1" spc="35" dirty="0">
                <a:latin typeface="Times New Roman"/>
                <a:cs typeface="Times New Roman"/>
              </a:rPr>
              <a:t>y</a:t>
            </a:r>
            <a:r>
              <a:rPr sz="800" spc="35" dirty="0">
                <a:latin typeface="LM Roman 8"/>
                <a:cs typeface="LM Roman 8"/>
              </a:rPr>
              <a:t>)</a:t>
            </a:r>
            <a:r>
              <a:rPr sz="800" i="1" spc="35" dirty="0">
                <a:latin typeface="Times New Roman"/>
                <a:cs typeface="Times New Roman"/>
              </a:rPr>
              <a:t>...</a:t>
            </a:r>
            <a:r>
              <a:rPr sz="800" i="1" spc="5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	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105" dirty="0">
                <a:latin typeface="Times New Roman"/>
                <a:cs typeface="Times New Roman"/>
              </a:rPr>
              <a:t> </a:t>
            </a:r>
            <a:r>
              <a:rPr sz="800" spc="50" dirty="0">
                <a:latin typeface="LM Roman 8"/>
                <a:cs typeface="LM Roman 8"/>
              </a:rPr>
              <a:t>(</a:t>
            </a:r>
            <a:r>
              <a:rPr sz="800" i="1" spc="50" dirty="0">
                <a:latin typeface="Times New Roman"/>
                <a:cs typeface="Times New Roman"/>
              </a:rPr>
              <a:t>x</a:t>
            </a:r>
            <a:r>
              <a:rPr sz="900" i="1" spc="75" baseline="-9259" dirty="0">
                <a:latin typeface="Times New Roman"/>
                <a:cs typeface="Times New Roman"/>
              </a:rPr>
              <a:t>i</a:t>
            </a:r>
            <a:r>
              <a:rPr sz="800" i="1" spc="50" dirty="0">
                <a:latin typeface="DejaVu Sans"/>
                <a:cs typeface="DejaVu Sans"/>
              </a:rPr>
              <a:t>|</a:t>
            </a:r>
            <a:r>
              <a:rPr sz="800" i="1" spc="50" dirty="0">
                <a:latin typeface="Times New Roman"/>
                <a:cs typeface="Times New Roman"/>
              </a:rPr>
              <a:t>y</a:t>
            </a:r>
            <a:r>
              <a:rPr sz="800" spc="5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942291" y="1312621"/>
            <a:ext cx="2816860" cy="448309"/>
            <a:chOff x="5942291" y="1312621"/>
            <a:chExt cx="2816860" cy="448309"/>
          </a:xfrm>
        </p:grpSpPr>
        <p:sp>
          <p:nvSpPr>
            <p:cNvPr id="49" name="object 49"/>
            <p:cNvSpPr/>
            <p:nvPr/>
          </p:nvSpPr>
          <p:spPr>
            <a:xfrm>
              <a:off x="5942291" y="1315148"/>
              <a:ext cx="2816860" cy="0"/>
            </a:xfrm>
            <a:custGeom>
              <a:avLst/>
              <a:gdLst/>
              <a:ahLst/>
              <a:cxnLst/>
              <a:rect l="l" t="t" r="r" b="b"/>
              <a:pathLst>
                <a:path w="2816859">
                  <a:moveTo>
                    <a:pt x="0" y="0"/>
                  </a:moveTo>
                  <a:lnTo>
                    <a:pt x="281626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944831" y="1315148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756027" y="1315148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42291" y="1757781"/>
              <a:ext cx="2816860" cy="0"/>
            </a:xfrm>
            <a:custGeom>
              <a:avLst/>
              <a:gdLst/>
              <a:ahLst/>
              <a:cxnLst/>
              <a:rect l="l" t="t" r="r" b="b"/>
              <a:pathLst>
                <a:path w="2816859">
                  <a:moveTo>
                    <a:pt x="0" y="0"/>
                  </a:moveTo>
                  <a:lnTo>
                    <a:pt x="281626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097767" y="1993060"/>
            <a:ext cx="4505325" cy="2609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175"/>
              </a:spcBef>
              <a:buFont typeface="DejaVu Sans"/>
              <a:buChar char="❒"/>
              <a:tabLst>
                <a:tab pos="140970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Solutions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0" dirty="0">
                <a:latin typeface="LM Roman 8"/>
                <a:cs typeface="LM Roman 8"/>
              </a:rPr>
              <a:t>Maximizing </a:t>
            </a:r>
            <a:r>
              <a:rPr sz="800" spc="-5" dirty="0">
                <a:latin typeface="LM Roman 8"/>
                <a:cs typeface="LM Roman 8"/>
              </a:rPr>
              <a:t>the log-likelihood </a:t>
            </a:r>
            <a:r>
              <a:rPr sz="800" spc="-10" dirty="0">
                <a:latin typeface="LM Roman 8"/>
                <a:cs typeface="LM Roman 8"/>
              </a:rPr>
              <a:t>gives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solutions, with </a:t>
            </a:r>
            <a:r>
              <a:rPr sz="800" i="1" spc="85" dirty="0">
                <a:latin typeface="Times New Roman"/>
                <a:cs typeface="Times New Roman"/>
              </a:rPr>
              <a:t>k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i="1" spc="-20" dirty="0">
                <a:latin typeface="DejaVu Sans"/>
                <a:cs typeface="DejaVu Sans"/>
              </a:rPr>
              <a:t>{</a:t>
            </a:r>
            <a:r>
              <a:rPr sz="800" spc="-20" dirty="0">
                <a:latin typeface="LM Roman 8"/>
                <a:cs typeface="LM Roman 8"/>
              </a:rPr>
              <a:t>0</a:t>
            </a:r>
            <a:r>
              <a:rPr sz="800" i="1" spc="-20" dirty="0">
                <a:latin typeface="Times New Roman"/>
                <a:cs typeface="Times New Roman"/>
              </a:rPr>
              <a:t>,</a:t>
            </a:r>
            <a:r>
              <a:rPr sz="800" spc="-20" dirty="0">
                <a:latin typeface="LM Roman 8"/>
                <a:cs typeface="LM Roman 8"/>
              </a:rPr>
              <a:t>1</a:t>
            </a:r>
            <a:r>
              <a:rPr sz="800" i="1" spc="-20" dirty="0">
                <a:latin typeface="DejaVu Sans"/>
                <a:cs typeface="DejaVu Sans"/>
              </a:rPr>
              <a:t>}</a:t>
            </a:r>
            <a:r>
              <a:rPr sz="800" i="1" spc="-20" dirty="0">
                <a:latin typeface="Times New Roman"/>
                <a:cs typeface="Times New Roman"/>
              </a:rPr>
              <a:t>,  </a:t>
            </a:r>
            <a:r>
              <a:rPr sz="800" i="1" spc="30" dirty="0">
                <a:latin typeface="Times New Roman"/>
                <a:cs typeface="Times New Roman"/>
              </a:rPr>
              <a:t>l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LM Roman 8"/>
                <a:cs typeface="LM Roman 8"/>
              </a:rPr>
              <a:t>[</a:t>
            </a:r>
            <a:r>
              <a:rPr sz="800" spc="-185" dirty="0">
                <a:latin typeface="LM Roman 8"/>
                <a:cs typeface="LM Roman 8"/>
              </a:rPr>
              <a:t> </a:t>
            </a:r>
            <a:r>
              <a:rPr sz="800" spc="35" dirty="0">
                <a:latin typeface="LM Roman 8"/>
                <a:cs typeface="LM Roman 8"/>
              </a:rPr>
              <a:t>1</a:t>
            </a:r>
            <a:r>
              <a:rPr sz="800" i="1" spc="35" dirty="0">
                <a:latin typeface="Times New Roman"/>
                <a:cs typeface="Times New Roman"/>
              </a:rPr>
              <a:t>,L</a:t>
            </a:r>
            <a:r>
              <a:rPr sz="800" spc="35" dirty="0">
                <a:latin typeface="LM Roman 8"/>
                <a:cs typeface="LM Roman 8"/>
              </a:rPr>
              <a:t>]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34913" y="2521355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34913" y="2667672"/>
            <a:ext cx="1079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170" dirty="0">
                <a:latin typeface="Times New Roman"/>
                <a:cs typeface="Times New Roman"/>
              </a:rPr>
              <a:t>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225275" y="2591840"/>
            <a:ext cx="15474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743585" algn="l"/>
              </a:tabLst>
            </a:pPr>
            <a:r>
              <a:rPr sz="800" i="1" spc="45" dirty="0">
                <a:latin typeface="Times New Roman"/>
                <a:cs typeface="Times New Roman"/>
              </a:rPr>
              <a:t>P </a:t>
            </a:r>
            <a:r>
              <a:rPr sz="800" spc="30" dirty="0">
                <a:latin typeface="LM Roman 8"/>
                <a:cs typeface="LM Roman 8"/>
              </a:rPr>
              <a:t>(</a:t>
            </a:r>
            <a:r>
              <a:rPr sz="800" i="1" spc="30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45" dirty="0">
                <a:latin typeface="LM Roman 8"/>
                <a:cs typeface="LM Roman 8"/>
              </a:rPr>
              <a:t> </a:t>
            </a:r>
            <a:r>
              <a:rPr sz="800" i="1" spc="50" dirty="0">
                <a:latin typeface="Times New Roman"/>
                <a:cs typeface="Times New Roman"/>
              </a:rPr>
              <a:t>k</a:t>
            </a:r>
            <a:r>
              <a:rPr sz="800" spc="50" dirty="0">
                <a:latin typeface="LM Roman 8"/>
                <a:cs typeface="LM Roman 8"/>
              </a:rPr>
              <a:t>)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	</a:t>
            </a:r>
            <a:r>
              <a:rPr sz="800" i="1" spc="-15" dirty="0">
                <a:latin typeface="DejaVu Sans"/>
                <a:cs typeface="DejaVu Sans"/>
              </a:rPr>
              <a:t>× </a:t>
            </a:r>
            <a:r>
              <a:rPr sz="800" spc="35" dirty="0">
                <a:latin typeface="LM Roman 8"/>
                <a:cs typeface="LM Roman 8"/>
              </a:rPr>
              <a:t>#</a:t>
            </a:r>
            <a:r>
              <a:rPr sz="800" i="1" spc="35" dirty="0">
                <a:latin typeface="DejaVu Sans"/>
                <a:cs typeface="DejaVu Sans"/>
              </a:rPr>
              <a:t>{</a:t>
            </a:r>
            <a:r>
              <a:rPr sz="800" i="1" spc="35" dirty="0">
                <a:latin typeface="Times New Roman"/>
                <a:cs typeface="Times New Roman"/>
              </a:rPr>
              <a:t>j</a:t>
            </a:r>
            <a:r>
              <a:rPr sz="800" i="1" spc="35" dirty="0">
                <a:latin typeface="DejaVu Sans"/>
                <a:cs typeface="DejaVu Sans"/>
              </a:rPr>
              <a:t>|</a:t>
            </a:r>
            <a:r>
              <a:rPr sz="800" i="1" spc="35" dirty="0">
                <a:latin typeface="Times New Roman"/>
                <a:cs typeface="Times New Roman"/>
              </a:rPr>
              <a:t>y</a:t>
            </a:r>
            <a:r>
              <a:rPr sz="900" spc="52" baseline="32407" dirty="0">
                <a:latin typeface="LM Roman 6"/>
                <a:cs typeface="LM Roman 6"/>
              </a:rPr>
              <a:t>(</a:t>
            </a:r>
            <a:r>
              <a:rPr sz="900" i="1" spc="52" baseline="32407" dirty="0">
                <a:latin typeface="Times New Roman"/>
                <a:cs typeface="Times New Roman"/>
              </a:rPr>
              <a:t>j</a:t>
            </a:r>
            <a:r>
              <a:rPr sz="900" spc="52" baseline="32407" dirty="0">
                <a:latin typeface="LM Roman 6"/>
                <a:cs typeface="LM Roman 6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50" dirty="0">
                <a:latin typeface="LM Roman 8"/>
                <a:cs typeface="LM Roman 8"/>
              </a:rPr>
              <a:t> </a:t>
            </a:r>
            <a:r>
              <a:rPr sz="800" i="1" spc="5" dirty="0">
                <a:latin typeface="Times New Roman"/>
                <a:cs typeface="Times New Roman"/>
              </a:rPr>
              <a:t>k</a:t>
            </a:r>
            <a:r>
              <a:rPr sz="800" i="1" spc="5" dirty="0">
                <a:latin typeface="DejaVu Sans"/>
                <a:cs typeface="DejaVu Sans"/>
              </a:rPr>
              <a:t>}</a:t>
            </a:r>
            <a:endParaRPr sz="800">
              <a:latin typeface="DejaVu Sans"/>
              <a:cs typeface="DejaVu Sans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207660" y="2527033"/>
            <a:ext cx="1570355" cy="297815"/>
            <a:chOff x="5207660" y="2527033"/>
            <a:chExt cx="1570355" cy="297815"/>
          </a:xfrm>
        </p:grpSpPr>
        <p:sp>
          <p:nvSpPr>
            <p:cNvPr id="58" name="object 58"/>
            <p:cNvSpPr/>
            <p:nvPr/>
          </p:nvSpPr>
          <p:spPr>
            <a:xfrm>
              <a:off x="5207660" y="2529560"/>
              <a:ext cx="1570355" cy="0"/>
            </a:xfrm>
            <a:custGeom>
              <a:avLst/>
              <a:gdLst/>
              <a:ahLst/>
              <a:cxnLst/>
              <a:rect l="l" t="t" r="r" b="b"/>
              <a:pathLst>
                <a:path w="1570355">
                  <a:moveTo>
                    <a:pt x="0" y="0"/>
                  </a:moveTo>
                  <a:lnTo>
                    <a:pt x="156994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210187" y="2529560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5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775081" y="2529560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5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07660" y="2822079"/>
              <a:ext cx="1570355" cy="0"/>
            </a:xfrm>
            <a:custGeom>
              <a:avLst/>
              <a:gdLst/>
              <a:ahLst/>
              <a:cxnLst/>
              <a:rect l="l" t="t" r="r" b="b"/>
              <a:pathLst>
                <a:path w="1570355">
                  <a:moveTo>
                    <a:pt x="0" y="0"/>
                  </a:moveTo>
                  <a:lnTo>
                    <a:pt x="156994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882904" y="2591840"/>
            <a:ext cx="12954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97510" algn="l"/>
              </a:tabLst>
            </a:pPr>
            <a:r>
              <a:rPr sz="800" spc="-5" dirty="0">
                <a:latin typeface="LM Roman 8"/>
                <a:cs typeface="LM Roman 8"/>
              </a:rPr>
              <a:t>and	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0" dirty="0">
                <a:latin typeface="Times New Roman"/>
                <a:cs typeface="Times New Roman"/>
              </a:rPr>
              <a:t> </a:t>
            </a:r>
            <a:r>
              <a:rPr sz="800" spc="70" dirty="0">
                <a:latin typeface="LM Roman 8"/>
                <a:cs typeface="LM Roman 8"/>
              </a:rPr>
              <a:t>(</a:t>
            </a:r>
            <a:r>
              <a:rPr sz="800" i="1" spc="70" dirty="0">
                <a:latin typeface="Times New Roman"/>
                <a:cs typeface="Times New Roman"/>
              </a:rPr>
              <a:t>x</a:t>
            </a:r>
            <a:r>
              <a:rPr sz="900" i="1" spc="104" baseline="-9259" dirty="0">
                <a:latin typeface="Times New Roman"/>
                <a:cs typeface="Times New Roman"/>
              </a:rPr>
              <a:t>i</a:t>
            </a:r>
            <a:r>
              <a:rPr sz="900" i="1" spc="172" baseline="-9259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i="1" spc="20" dirty="0">
                <a:latin typeface="Times New Roman"/>
                <a:cs typeface="Times New Roman"/>
              </a:rPr>
              <a:t>l</a:t>
            </a:r>
            <a:r>
              <a:rPr sz="800" i="1" spc="20" dirty="0">
                <a:latin typeface="DejaVu Sans"/>
                <a:cs typeface="DejaVu Sans"/>
              </a:rPr>
              <a:t>|</a:t>
            </a:r>
            <a:r>
              <a:rPr sz="800" i="1" spc="20" dirty="0">
                <a:latin typeface="Times New Roman"/>
                <a:cs typeface="Times New Roman"/>
              </a:rPr>
              <a:t>y</a:t>
            </a:r>
            <a:r>
              <a:rPr sz="800" i="1" spc="5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i="1" spc="50" dirty="0">
                <a:latin typeface="Times New Roman"/>
                <a:cs typeface="Times New Roman"/>
              </a:rPr>
              <a:t>k</a:t>
            </a:r>
            <a:r>
              <a:rPr sz="800" spc="50" dirty="0">
                <a:latin typeface="LM Roman 8"/>
                <a:cs typeface="LM Roman 8"/>
              </a:rPr>
              <a:t>)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451583" y="2502730"/>
            <a:ext cx="12953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165" dirty="0">
                <a:latin typeface="Times New Roman"/>
                <a:cs typeface="Times New Roman"/>
              </a:rPr>
              <a:t>j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081858" y="2484607"/>
            <a:ext cx="12953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165" dirty="0">
                <a:latin typeface="Times New Roman"/>
                <a:cs typeface="Times New Roman"/>
              </a:rPr>
              <a:t>j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081858" y="2574130"/>
            <a:ext cx="4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172195" y="2513150"/>
            <a:ext cx="12757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1800" algn="l"/>
                <a:tab pos="1061720" algn="l"/>
              </a:tabLst>
            </a:pPr>
            <a:r>
              <a:rPr sz="800" spc="20" dirty="0">
                <a:latin typeface="LM Roman 8"/>
                <a:cs typeface="LM Roman 8"/>
              </a:rPr>
              <a:t>#</a:t>
            </a:r>
            <a:r>
              <a:rPr sz="800" i="1" spc="20" dirty="0">
                <a:latin typeface="DejaVu Sans"/>
                <a:cs typeface="DejaVu Sans"/>
              </a:rPr>
              <a:t>{</a:t>
            </a:r>
            <a:r>
              <a:rPr sz="800" i="1" spc="20" dirty="0">
                <a:latin typeface="Times New Roman"/>
                <a:cs typeface="Times New Roman"/>
              </a:rPr>
              <a:t>j</a:t>
            </a:r>
            <a:r>
              <a:rPr sz="800" i="1" spc="20" dirty="0">
                <a:latin typeface="DejaVu Sans"/>
                <a:cs typeface="DejaVu Sans"/>
              </a:rPr>
              <a:t>|</a:t>
            </a:r>
            <a:r>
              <a:rPr sz="800" i="1" spc="20" dirty="0">
                <a:latin typeface="Times New Roman"/>
                <a:cs typeface="Times New Roman"/>
              </a:rPr>
              <a:t>y	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85" dirty="0">
                <a:latin typeface="Times New Roman"/>
                <a:cs typeface="Times New Roman"/>
              </a:rPr>
              <a:t>k</a:t>
            </a:r>
            <a:r>
              <a:rPr sz="800" i="1" spc="6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20" dirty="0">
                <a:latin typeface="Times New Roman"/>
                <a:cs typeface="Times New Roman"/>
              </a:rPr>
              <a:t>x	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10" dirty="0">
                <a:latin typeface="LM Roman 8"/>
                <a:cs typeface="LM Roman 8"/>
              </a:rPr>
              <a:t> </a:t>
            </a:r>
            <a:r>
              <a:rPr sz="800" i="1" spc="-30" dirty="0">
                <a:latin typeface="Times New Roman"/>
                <a:cs typeface="Times New Roman"/>
              </a:rPr>
              <a:t>l</a:t>
            </a:r>
            <a:r>
              <a:rPr sz="800" i="1" spc="-30" dirty="0">
                <a:latin typeface="DejaVu Sans"/>
                <a:cs typeface="DejaVu Sans"/>
              </a:rPr>
              <a:t>}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8172195" y="2680461"/>
            <a:ext cx="1263015" cy="0"/>
          </a:xfrm>
          <a:custGeom>
            <a:avLst/>
            <a:gdLst/>
            <a:ahLst/>
            <a:cxnLst/>
            <a:rect l="l" t="t" r="r" b="b"/>
            <a:pathLst>
              <a:path w="1263015">
                <a:moveTo>
                  <a:pt x="0" y="0"/>
                </a:moveTo>
                <a:lnTo>
                  <a:pt x="126279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8449233" y="2671062"/>
            <a:ext cx="7219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spc="35" dirty="0">
                <a:latin typeface="LM Roman 8"/>
                <a:cs typeface="LM Roman 8"/>
              </a:rPr>
              <a:t>#</a:t>
            </a:r>
            <a:r>
              <a:rPr sz="800" i="1" spc="35" dirty="0">
                <a:latin typeface="DejaVu Sans"/>
                <a:cs typeface="DejaVu Sans"/>
              </a:rPr>
              <a:t>{</a:t>
            </a:r>
            <a:r>
              <a:rPr sz="800" i="1" spc="35" dirty="0">
                <a:latin typeface="Times New Roman"/>
                <a:cs typeface="Times New Roman"/>
              </a:rPr>
              <a:t>j</a:t>
            </a:r>
            <a:r>
              <a:rPr sz="800" i="1" spc="35" dirty="0">
                <a:latin typeface="DejaVu Sans"/>
                <a:cs typeface="DejaVu Sans"/>
              </a:rPr>
              <a:t>|</a:t>
            </a:r>
            <a:r>
              <a:rPr sz="800" i="1" spc="35" dirty="0">
                <a:latin typeface="Times New Roman"/>
                <a:cs typeface="Times New Roman"/>
              </a:rPr>
              <a:t>y</a:t>
            </a:r>
            <a:r>
              <a:rPr sz="900" spc="52" baseline="23148" dirty="0">
                <a:latin typeface="LM Roman 6"/>
                <a:cs typeface="LM Roman 6"/>
              </a:rPr>
              <a:t>(</a:t>
            </a:r>
            <a:r>
              <a:rPr sz="900" i="1" spc="52" baseline="23148" dirty="0">
                <a:latin typeface="Times New Roman"/>
                <a:cs typeface="Times New Roman"/>
              </a:rPr>
              <a:t>j</a:t>
            </a:r>
            <a:r>
              <a:rPr sz="900" spc="52" baseline="23148" dirty="0">
                <a:latin typeface="LM Roman 6"/>
                <a:cs typeface="LM Roman 6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5" dirty="0">
                <a:latin typeface="Times New Roman"/>
                <a:cs typeface="Times New Roman"/>
              </a:rPr>
              <a:t>k</a:t>
            </a:r>
            <a:r>
              <a:rPr sz="800" i="1" spc="5" dirty="0">
                <a:latin typeface="DejaVu Sans"/>
                <a:cs typeface="DejaVu Sans"/>
              </a:rPr>
              <a:t>}</a:t>
            </a:r>
            <a:endParaRPr sz="800">
              <a:latin typeface="DejaVu Sans"/>
              <a:cs typeface="DejaVu Sans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7237679" y="2473274"/>
            <a:ext cx="2255520" cy="380365"/>
            <a:chOff x="7237679" y="2473274"/>
            <a:chExt cx="2255520" cy="380365"/>
          </a:xfrm>
        </p:grpSpPr>
        <p:sp>
          <p:nvSpPr>
            <p:cNvPr id="70" name="object 70"/>
            <p:cNvSpPr/>
            <p:nvPr/>
          </p:nvSpPr>
          <p:spPr>
            <a:xfrm>
              <a:off x="7237679" y="2475801"/>
              <a:ext cx="2255520" cy="0"/>
            </a:xfrm>
            <a:custGeom>
              <a:avLst/>
              <a:gdLst/>
              <a:ahLst/>
              <a:cxnLst/>
              <a:rect l="l" t="t" r="r" b="b"/>
              <a:pathLst>
                <a:path w="2255520">
                  <a:moveTo>
                    <a:pt x="0" y="0"/>
                  </a:moveTo>
                  <a:lnTo>
                    <a:pt x="225552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240206" y="2475814"/>
              <a:ext cx="0" cy="375285"/>
            </a:xfrm>
            <a:custGeom>
              <a:avLst/>
              <a:gdLst/>
              <a:ahLst/>
              <a:cxnLst/>
              <a:rect l="l" t="t" r="r" b="b"/>
              <a:pathLst>
                <a:path h="375285">
                  <a:moveTo>
                    <a:pt x="0" y="3749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9490671" y="2475814"/>
              <a:ext cx="0" cy="375285"/>
            </a:xfrm>
            <a:custGeom>
              <a:avLst/>
              <a:gdLst/>
              <a:ahLst/>
              <a:cxnLst/>
              <a:rect l="l" t="t" r="r" b="b"/>
              <a:pathLst>
                <a:path h="375285">
                  <a:moveTo>
                    <a:pt x="0" y="3749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237679" y="2850781"/>
              <a:ext cx="2255520" cy="0"/>
            </a:xfrm>
            <a:custGeom>
              <a:avLst/>
              <a:gdLst/>
              <a:ahLst/>
              <a:cxnLst/>
              <a:rect l="l" t="t" r="r" b="b"/>
              <a:pathLst>
                <a:path w="2255520">
                  <a:moveTo>
                    <a:pt x="0" y="0"/>
                  </a:moveTo>
                  <a:lnTo>
                    <a:pt x="225552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097767" y="3014712"/>
            <a:ext cx="375792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Naive Bayes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widely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used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for text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classification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and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spam</a:t>
            </a:r>
            <a:r>
              <a:rPr sz="800" i="1" spc="-9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detection.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097754" y="3448337"/>
            <a:ext cx="4505960" cy="161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1195"/>
              </a:lnSpc>
            </a:pPr>
            <a:r>
              <a:rPr sz="1000" b="1" spc="-5" dirty="0">
                <a:latin typeface="LM Roman 10"/>
                <a:cs typeface="LM Roman 10"/>
              </a:rPr>
              <a:t>1.6</a:t>
            </a:r>
            <a:r>
              <a:rPr sz="1000" b="1" spc="370" dirty="0">
                <a:latin typeface="LM Roman 10"/>
                <a:cs typeface="LM Roman 10"/>
              </a:rPr>
              <a:t> </a:t>
            </a:r>
            <a:r>
              <a:rPr sz="900" b="1" spc="-15" dirty="0">
                <a:latin typeface="LM Roman 9"/>
                <a:cs typeface="LM Roman 9"/>
              </a:rPr>
              <a:t>Tree-based </a:t>
            </a:r>
            <a:r>
              <a:rPr sz="900" b="1" spc="-5" dirty="0">
                <a:latin typeface="LM Roman 9"/>
                <a:cs typeface="LM Roman 9"/>
              </a:rPr>
              <a:t>and </a:t>
            </a:r>
            <a:r>
              <a:rPr sz="900" b="1" spc="-10" dirty="0">
                <a:latin typeface="LM Roman 9"/>
                <a:cs typeface="LM Roman 9"/>
              </a:rPr>
              <a:t>ensemble</a:t>
            </a:r>
            <a:r>
              <a:rPr sz="900" b="1" spc="15" dirty="0">
                <a:latin typeface="LM Roman 9"/>
                <a:cs typeface="LM Roman 9"/>
              </a:rPr>
              <a:t> </a:t>
            </a:r>
            <a:r>
              <a:rPr sz="900" b="1" dirty="0">
                <a:latin typeface="LM Roman 9"/>
                <a:cs typeface="LM Roman 9"/>
              </a:rPr>
              <a:t>methods</a:t>
            </a:r>
            <a:endParaRPr sz="900">
              <a:latin typeface="LM Roman 9"/>
              <a:cs typeface="LM Roman 9"/>
            </a:endParaRPr>
          </a:p>
          <a:p>
            <a:pPr marL="12700" algn="just">
              <a:lnSpc>
                <a:spcPct val="100000"/>
              </a:lnSpc>
              <a:spcBef>
                <a:spcPts val="975"/>
              </a:spcBef>
            </a:pPr>
            <a:r>
              <a:rPr sz="800" spc="-5" dirty="0">
                <a:latin typeface="LM Roman 8"/>
                <a:cs typeface="LM Roman 8"/>
              </a:rPr>
              <a:t>These </a:t>
            </a:r>
            <a:r>
              <a:rPr sz="800" dirty="0">
                <a:latin typeface="LM Roman 8"/>
                <a:cs typeface="LM Roman 8"/>
              </a:rPr>
              <a:t>methods </a:t>
            </a:r>
            <a:r>
              <a:rPr sz="800" spc="-5" dirty="0">
                <a:latin typeface="LM Roman 8"/>
                <a:cs typeface="LM Roman 8"/>
              </a:rPr>
              <a:t>can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used for </a:t>
            </a:r>
            <a:r>
              <a:rPr sz="800" dirty="0">
                <a:latin typeface="LM Roman 8"/>
                <a:cs typeface="LM Roman 8"/>
              </a:rPr>
              <a:t>both </a:t>
            </a:r>
            <a:r>
              <a:rPr sz="800" spc="-5" dirty="0">
                <a:latin typeface="LM Roman 8"/>
                <a:cs typeface="LM Roman 8"/>
              </a:rPr>
              <a:t>regression and classification problems.</a:t>
            </a:r>
            <a:endParaRPr sz="800">
              <a:latin typeface="LM Roman 8"/>
              <a:cs typeface="LM Roman 8"/>
            </a:endParaRPr>
          </a:p>
          <a:p>
            <a:pPr marL="12700" marR="5080" algn="just">
              <a:lnSpc>
                <a:spcPts val="850"/>
              </a:lnSpc>
              <a:spcBef>
                <a:spcPts val="555"/>
              </a:spcBef>
              <a:buFont typeface="DejaVu Sans"/>
              <a:buChar char="❒"/>
              <a:tabLst>
                <a:tab pos="133985" algn="l"/>
              </a:tabLst>
            </a:pPr>
            <a:r>
              <a:rPr sz="800" b="1" spc="-30" dirty="0">
                <a:solidFill>
                  <a:srgbClr val="020E86"/>
                </a:solidFill>
                <a:latin typeface="LM Roman 8"/>
                <a:cs typeface="LM Roman 8"/>
              </a:rPr>
              <a:t>CART </a:t>
            </a:r>
            <a:r>
              <a:rPr sz="800" spc="-5" dirty="0">
                <a:latin typeface="LM Roman 8"/>
                <a:cs typeface="LM Roman 8"/>
              </a:rPr>
              <a:t>– Classification and </a:t>
            </a:r>
            <a:r>
              <a:rPr sz="800" spc="-10" dirty="0">
                <a:latin typeface="LM Roman 8"/>
                <a:cs typeface="LM Roman 8"/>
              </a:rPr>
              <a:t>Regression </a:t>
            </a:r>
            <a:r>
              <a:rPr sz="800" spc="-20" dirty="0">
                <a:latin typeface="LM Roman 8"/>
                <a:cs typeface="LM Roman 8"/>
              </a:rPr>
              <a:t>Trees </a:t>
            </a:r>
            <a:r>
              <a:rPr sz="800" spc="-15" dirty="0">
                <a:latin typeface="LM Roman 8"/>
                <a:cs typeface="LM Roman 8"/>
              </a:rPr>
              <a:t>(CART), </a:t>
            </a:r>
            <a:r>
              <a:rPr sz="800" spc="-5" dirty="0">
                <a:latin typeface="LM Roman 8"/>
                <a:cs typeface="LM Roman 8"/>
              </a:rPr>
              <a:t>commonly </a:t>
            </a:r>
            <a:r>
              <a:rPr sz="800" spc="-10" dirty="0">
                <a:latin typeface="LM Roman 8"/>
                <a:cs typeface="LM Roman 8"/>
              </a:rPr>
              <a:t>known </a:t>
            </a:r>
            <a:r>
              <a:rPr sz="800" spc="-5" dirty="0">
                <a:latin typeface="LM Roman 8"/>
                <a:cs typeface="LM Roman 8"/>
              </a:rPr>
              <a:t>as decision trees,  can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represented as binary trees. They </a:t>
            </a:r>
            <a:r>
              <a:rPr sz="800" spc="-15" dirty="0">
                <a:latin typeface="LM Roman 8"/>
                <a:cs typeface="LM Roman 8"/>
              </a:rPr>
              <a:t>have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advantage </a:t>
            </a:r>
            <a:r>
              <a:rPr sz="800" spc="-5" dirty="0">
                <a:latin typeface="LM Roman 8"/>
                <a:cs typeface="LM Roman 8"/>
              </a:rPr>
              <a:t>to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10" dirty="0">
                <a:latin typeface="LM Roman 8"/>
                <a:cs typeface="LM Roman 8"/>
              </a:rPr>
              <a:t>very</a:t>
            </a:r>
            <a:r>
              <a:rPr sz="800" spc="-1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interpretable.</a:t>
            </a:r>
            <a:endParaRPr sz="800">
              <a:latin typeface="LM Roman 8"/>
              <a:cs typeface="LM Roman 8"/>
            </a:endParaRPr>
          </a:p>
          <a:p>
            <a:pPr marL="12700" marR="5080" algn="just">
              <a:lnSpc>
                <a:spcPts val="800"/>
              </a:lnSpc>
              <a:spcBef>
                <a:spcPts val="910"/>
              </a:spcBef>
              <a:buFont typeface="DejaVu Sans"/>
              <a:buChar char="❒"/>
              <a:tabLst>
                <a:tab pos="137795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Random forest </a:t>
            </a:r>
            <a:r>
              <a:rPr sz="800" spc="-5" dirty="0">
                <a:latin typeface="LM Roman 8"/>
                <a:cs typeface="LM Roman 8"/>
              </a:rPr>
              <a:t>– It is a tree-based technique that uses a high </a:t>
            </a:r>
            <a:r>
              <a:rPr sz="800" spc="-10" dirty="0">
                <a:latin typeface="LM Roman 8"/>
                <a:cs typeface="LM Roman 8"/>
              </a:rPr>
              <a:t>number </a:t>
            </a:r>
            <a:r>
              <a:rPr sz="800" spc="-5" dirty="0">
                <a:latin typeface="LM Roman 8"/>
                <a:cs typeface="LM Roman 8"/>
              </a:rPr>
              <a:t>of decision trees  built out of randomly selected sets of </a:t>
            </a:r>
            <a:r>
              <a:rPr sz="800" spc="-10" dirty="0">
                <a:latin typeface="LM Roman 8"/>
                <a:cs typeface="LM Roman 8"/>
              </a:rPr>
              <a:t>features. </a:t>
            </a:r>
            <a:r>
              <a:rPr sz="800" spc="-5" dirty="0">
                <a:latin typeface="LM Roman 8"/>
                <a:cs typeface="LM Roman 8"/>
              </a:rPr>
              <a:t>Contrary to the simple decision tree, it is highly  uninterpretable but its generally </a:t>
            </a:r>
            <a:r>
              <a:rPr sz="800" spc="5" dirty="0">
                <a:latin typeface="LM Roman 8"/>
                <a:cs typeface="LM Roman 8"/>
              </a:rPr>
              <a:t>good </a:t>
            </a:r>
            <a:r>
              <a:rPr sz="800" dirty="0">
                <a:latin typeface="LM Roman 8"/>
                <a:cs typeface="LM Roman 8"/>
              </a:rPr>
              <a:t>performance </a:t>
            </a:r>
            <a:r>
              <a:rPr sz="800" spc="-10" dirty="0">
                <a:latin typeface="LM Roman 8"/>
                <a:cs typeface="LM Roman 8"/>
              </a:rPr>
              <a:t>makes </a:t>
            </a:r>
            <a:r>
              <a:rPr sz="800" spc="-5" dirty="0">
                <a:latin typeface="LM Roman 8"/>
                <a:cs typeface="LM Roman 8"/>
              </a:rPr>
              <a:t>it a </a:t>
            </a:r>
            <a:r>
              <a:rPr sz="800" dirty="0">
                <a:latin typeface="LM Roman 8"/>
                <a:cs typeface="LM Roman 8"/>
              </a:rPr>
              <a:t>popular</a:t>
            </a:r>
            <a:r>
              <a:rPr sz="800" spc="1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algorithm.</a:t>
            </a:r>
            <a:endParaRPr sz="800">
              <a:latin typeface="LM Roman 8"/>
              <a:cs typeface="LM Roman 8"/>
            </a:endParaRPr>
          </a:p>
          <a:p>
            <a:pPr marL="12700" algn="just">
              <a:lnSpc>
                <a:spcPct val="100000"/>
              </a:lnSpc>
              <a:spcBef>
                <a:spcPts val="3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random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forests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are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type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of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ensemble</a:t>
            </a:r>
            <a:r>
              <a:rPr sz="800" i="1" spc="-1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methods.</a:t>
            </a:r>
            <a:endParaRPr sz="800">
              <a:latin typeface="LM Roman 8"/>
              <a:cs typeface="LM Roman 8"/>
            </a:endParaRPr>
          </a:p>
          <a:p>
            <a:pPr marL="12700" marR="5080" algn="just">
              <a:lnSpc>
                <a:spcPts val="800"/>
              </a:lnSpc>
              <a:spcBef>
                <a:spcPts val="925"/>
              </a:spcBef>
              <a:buFont typeface="DejaVu Sans"/>
              <a:buChar char="❒"/>
              <a:tabLst>
                <a:tab pos="138430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Boosting </a:t>
            </a:r>
            <a:r>
              <a:rPr sz="800" spc="-5" dirty="0">
                <a:latin typeface="LM Roman 8"/>
                <a:cs typeface="LM Roman 8"/>
              </a:rPr>
              <a:t>– The idea of </a:t>
            </a:r>
            <a:r>
              <a:rPr sz="800" dirty="0">
                <a:latin typeface="LM Roman 8"/>
                <a:cs typeface="LM Roman 8"/>
              </a:rPr>
              <a:t>boosting methods </a:t>
            </a:r>
            <a:r>
              <a:rPr sz="800" spc="-5" dirty="0">
                <a:latin typeface="LM Roman 8"/>
                <a:cs typeface="LM Roman 8"/>
              </a:rPr>
              <a:t>is to </a:t>
            </a:r>
            <a:r>
              <a:rPr sz="800" spc="-10" dirty="0">
                <a:latin typeface="LM Roman 8"/>
                <a:cs typeface="LM Roman 8"/>
              </a:rPr>
              <a:t>combine </a:t>
            </a:r>
            <a:r>
              <a:rPr sz="800" spc="-5" dirty="0">
                <a:latin typeface="LM Roman 8"/>
                <a:cs typeface="LM Roman 8"/>
              </a:rPr>
              <a:t>several </a:t>
            </a:r>
            <a:r>
              <a:rPr sz="800" spc="-10" dirty="0">
                <a:latin typeface="LM Roman 8"/>
                <a:cs typeface="LM Roman 8"/>
              </a:rPr>
              <a:t>weak </a:t>
            </a:r>
            <a:r>
              <a:rPr sz="800" spc="-5" dirty="0">
                <a:latin typeface="LM Roman 8"/>
                <a:cs typeface="LM Roman 8"/>
              </a:rPr>
              <a:t>learners to </a:t>
            </a:r>
            <a:r>
              <a:rPr sz="800" spc="-10" dirty="0">
                <a:latin typeface="LM Roman 8"/>
                <a:cs typeface="LM Roman 8"/>
              </a:rPr>
              <a:t>form </a:t>
            </a:r>
            <a:r>
              <a:rPr sz="800" spc="-5" dirty="0">
                <a:latin typeface="LM Roman 8"/>
                <a:cs typeface="LM Roman 8"/>
              </a:rPr>
              <a:t>a  stronger one. The main ones are summed up in the table</a:t>
            </a:r>
            <a:r>
              <a:rPr sz="800" spc="-1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below:</a:t>
            </a:r>
            <a:endParaRPr sz="800">
              <a:latin typeface="LM Roman 8"/>
              <a:cs typeface="LM Roman 8"/>
            </a:endParaRPr>
          </a:p>
        </p:txBody>
      </p:sp>
      <p:graphicFrame>
        <p:nvGraphicFramePr>
          <p:cNvPr id="76" name="object 76"/>
          <p:cNvGraphicFramePr>
            <a:graphicFrameLocks noGrp="1"/>
          </p:cNvGraphicFramePr>
          <p:nvPr/>
        </p:nvGraphicFramePr>
        <p:xfrm>
          <a:off x="5818657" y="5295430"/>
          <a:ext cx="3058160" cy="6441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280">
                <a:tc>
                  <a:txBody>
                    <a:bodyPr/>
                    <a:lstStyle/>
                    <a:p>
                      <a:pPr marL="4019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5" dirty="0">
                          <a:latin typeface="LM Roman 8"/>
                          <a:cs typeface="LM Roman 8"/>
                        </a:rPr>
                        <a:t>Adaptive </a:t>
                      </a:r>
                      <a:r>
                        <a:rPr sz="800" b="1" dirty="0">
                          <a:latin typeface="LM Roman 8"/>
                          <a:cs typeface="LM Roman 8"/>
                        </a:rPr>
                        <a:t>boosting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Gradient</a:t>
                      </a:r>
                      <a:r>
                        <a:rPr sz="800" b="1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dirty="0">
                          <a:latin typeface="LM Roman 8"/>
                          <a:cs typeface="LM Roman 8"/>
                        </a:rPr>
                        <a:t>boosting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913">
                <a:tc>
                  <a:txBody>
                    <a:bodyPr/>
                    <a:lstStyle/>
                    <a:p>
                      <a:pPr marL="78105" marR="73025">
                        <a:lnSpc>
                          <a:spcPct val="111700"/>
                        </a:lnSpc>
                        <a:spcBef>
                          <a:spcPts val="2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High weights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are put on errors to 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improve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at the next 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boosting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step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10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Known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as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Adaboost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70485">
                        <a:lnSpc>
                          <a:spcPct val="111700"/>
                        </a:lnSpc>
                        <a:spcBef>
                          <a:spcPts val="2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- </a:t>
                      </a:r>
                      <a:r>
                        <a:rPr sz="800" spc="-25" dirty="0">
                          <a:latin typeface="LM Roman 8"/>
                          <a:cs typeface="LM Roman 8"/>
                        </a:rPr>
                        <a:t>Weak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learners trained  on remaining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errors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7" name="object 77"/>
          <p:cNvSpPr txBox="1"/>
          <p:nvPr/>
        </p:nvSpPr>
        <p:spPr>
          <a:xfrm>
            <a:off x="5097754" y="6231491"/>
            <a:ext cx="4505960" cy="890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1195"/>
              </a:lnSpc>
            </a:pPr>
            <a:r>
              <a:rPr sz="1000" b="1" spc="-5" dirty="0">
                <a:latin typeface="LM Roman 10"/>
                <a:cs typeface="LM Roman 10"/>
              </a:rPr>
              <a:t>1.7</a:t>
            </a:r>
            <a:r>
              <a:rPr sz="1000" b="1" spc="370" dirty="0">
                <a:latin typeface="LM Roman 10"/>
                <a:cs typeface="LM Roman 10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Other </a:t>
            </a:r>
            <a:r>
              <a:rPr sz="900" b="1" spc="-5" dirty="0">
                <a:latin typeface="LM Roman 9"/>
                <a:cs typeface="LM Roman 9"/>
              </a:rPr>
              <a:t>non-parametric</a:t>
            </a:r>
            <a:r>
              <a:rPr sz="900" b="1" spc="10" dirty="0">
                <a:latin typeface="LM Roman 9"/>
                <a:cs typeface="LM Roman 9"/>
              </a:rPr>
              <a:t> </a:t>
            </a:r>
            <a:r>
              <a:rPr sz="900" b="1" spc="-5" dirty="0">
                <a:latin typeface="LM Roman 9"/>
                <a:cs typeface="LM Roman 9"/>
              </a:rPr>
              <a:t>approaches</a:t>
            </a:r>
            <a:endParaRPr sz="900">
              <a:latin typeface="LM Roman 9"/>
              <a:cs typeface="LM Roman 9"/>
            </a:endParaRPr>
          </a:p>
          <a:p>
            <a:pPr marL="12700" marR="5080" algn="just">
              <a:lnSpc>
                <a:spcPct val="83900"/>
              </a:lnSpc>
              <a:spcBef>
                <a:spcPts val="1135"/>
              </a:spcBef>
              <a:buFont typeface="DejaVu Sans"/>
              <a:buChar char="❒"/>
              <a:tabLst>
                <a:tab pos="127635" algn="l"/>
              </a:tabLst>
            </a:pPr>
            <a:r>
              <a:rPr sz="800" i="1" spc="10" dirty="0">
                <a:solidFill>
                  <a:srgbClr val="020E86"/>
                </a:solidFill>
                <a:latin typeface="Times New Roman"/>
                <a:cs typeface="Times New Roman"/>
              </a:rPr>
              <a:t>k</a:t>
            </a:r>
            <a:r>
              <a:rPr sz="800" b="1" spc="10" dirty="0">
                <a:solidFill>
                  <a:srgbClr val="020E86"/>
                </a:solidFill>
                <a:latin typeface="LM Roman 8"/>
                <a:cs typeface="LM Roman 8"/>
              </a:rPr>
              <a:t>-nearest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neighbors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i="1" spc="10" dirty="0">
                <a:latin typeface="Times New Roman"/>
                <a:cs typeface="Times New Roman"/>
              </a:rPr>
              <a:t>k</a:t>
            </a:r>
            <a:r>
              <a:rPr sz="800" spc="10" dirty="0">
                <a:latin typeface="LM Roman 8"/>
                <a:cs typeface="LM Roman 8"/>
              </a:rPr>
              <a:t>-nearest </a:t>
            </a:r>
            <a:r>
              <a:rPr sz="800" spc="-5" dirty="0">
                <a:latin typeface="LM Roman 8"/>
                <a:cs typeface="LM Roman 8"/>
              </a:rPr>
              <a:t>neighbors algorithm, commonly </a:t>
            </a:r>
            <a:r>
              <a:rPr sz="800" spc="-10" dirty="0">
                <a:latin typeface="LM Roman 8"/>
                <a:cs typeface="LM Roman 8"/>
              </a:rPr>
              <a:t>known </a:t>
            </a:r>
            <a:r>
              <a:rPr sz="800" spc="-5" dirty="0">
                <a:latin typeface="LM Roman 8"/>
                <a:cs typeface="LM Roman 8"/>
              </a:rPr>
              <a:t>as </a:t>
            </a:r>
            <a:r>
              <a:rPr sz="800" i="1" spc="15" dirty="0">
                <a:latin typeface="Times New Roman"/>
                <a:cs typeface="Times New Roman"/>
              </a:rPr>
              <a:t>k</a:t>
            </a:r>
            <a:r>
              <a:rPr sz="800" spc="15" dirty="0">
                <a:latin typeface="LM Roman 8"/>
                <a:cs typeface="LM Roman 8"/>
              </a:rPr>
              <a:t>-NN, </a:t>
            </a:r>
            <a:r>
              <a:rPr sz="800" spc="-5" dirty="0">
                <a:latin typeface="LM Roman 8"/>
                <a:cs typeface="LM Roman 8"/>
              </a:rPr>
              <a:t>is a  non-parametric approach where the </a:t>
            </a:r>
            <a:r>
              <a:rPr sz="800" dirty="0">
                <a:latin typeface="LM Roman 8"/>
                <a:cs typeface="LM Roman 8"/>
              </a:rPr>
              <a:t>response </a:t>
            </a:r>
            <a:r>
              <a:rPr sz="800" spc="-5" dirty="0">
                <a:latin typeface="LM Roman 8"/>
                <a:cs typeface="LM Roman 8"/>
              </a:rPr>
              <a:t>of a data point is determined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the nature of its  </a:t>
            </a:r>
            <a:r>
              <a:rPr sz="800" i="1" spc="85" dirty="0">
                <a:latin typeface="Times New Roman"/>
                <a:cs typeface="Times New Roman"/>
              </a:rPr>
              <a:t>k </a:t>
            </a:r>
            <a:r>
              <a:rPr sz="800" spc="-5" dirty="0">
                <a:latin typeface="LM Roman 8"/>
                <a:cs typeface="LM Roman 8"/>
              </a:rPr>
              <a:t>neighbors </a:t>
            </a:r>
            <a:r>
              <a:rPr sz="800" spc="-10" dirty="0">
                <a:latin typeface="LM Roman 8"/>
                <a:cs typeface="LM Roman 8"/>
              </a:rPr>
              <a:t>from </a:t>
            </a:r>
            <a:r>
              <a:rPr sz="800" spc="-5" dirty="0">
                <a:latin typeface="LM Roman 8"/>
                <a:cs typeface="LM Roman 8"/>
              </a:rPr>
              <a:t>the training set. It can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used in </a:t>
            </a:r>
            <a:r>
              <a:rPr sz="800" dirty="0">
                <a:latin typeface="LM Roman 8"/>
                <a:cs typeface="LM Roman 8"/>
              </a:rPr>
              <a:t>both </a:t>
            </a:r>
            <a:r>
              <a:rPr sz="800" spc="-5" dirty="0">
                <a:latin typeface="LM Roman 8"/>
                <a:cs typeface="LM Roman 8"/>
              </a:rPr>
              <a:t>classification and regression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settings.</a:t>
            </a:r>
            <a:endParaRPr sz="800">
              <a:latin typeface="LM Roman 8"/>
              <a:cs typeface="LM Roman 8"/>
            </a:endParaRPr>
          </a:p>
          <a:p>
            <a:pPr marL="12700" marR="5080">
              <a:lnSpc>
                <a:spcPts val="800"/>
              </a:lnSpc>
              <a:spcBef>
                <a:spcPts val="55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higher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parameter </a:t>
            </a:r>
            <a:r>
              <a:rPr sz="800" i="1" spc="50" dirty="0">
                <a:solidFill>
                  <a:srgbClr val="59439A"/>
                </a:solidFill>
                <a:latin typeface="Times New Roman"/>
                <a:cs typeface="Times New Roman"/>
              </a:rPr>
              <a:t>k</a:t>
            </a:r>
            <a:r>
              <a:rPr sz="800" i="1" spc="50" dirty="0">
                <a:solidFill>
                  <a:srgbClr val="59439A"/>
                </a:solidFill>
                <a:latin typeface="LM Roman 8"/>
                <a:cs typeface="LM Roman 8"/>
              </a:rPr>
              <a:t>,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higher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bias,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and the lower the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parameter </a:t>
            </a:r>
            <a:r>
              <a:rPr sz="800" i="1" spc="50" dirty="0">
                <a:solidFill>
                  <a:srgbClr val="59439A"/>
                </a:solidFill>
                <a:latin typeface="Times New Roman"/>
                <a:cs typeface="Times New Roman"/>
              </a:rPr>
              <a:t>k</a:t>
            </a:r>
            <a:r>
              <a:rPr sz="800" i="1" spc="50" dirty="0">
                <a:solidFill>
                  <a:srgbClr val="59439A"/>
                </a:solidFill>
                <a:latin typeface="LM Roman 8"/>
                <a:cs typeface="LM Roman 8"/>
              </a:rPr>
              <a:t>,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the  higher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variance.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503999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294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0676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994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7966" y="683996"/>
            <a:ext cx="4320032" cy="1555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9894" y="2521249"/>
            <a:ext cx="27482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5"/>
              </a:lnSpc>
              <a:tabLst>
                <a:tab pos="368935" algn="l"/>
              </a:tabLst>
            </a:pPr>
            <a:r>
              <a:rPr sz="1000" b="1" spc="-5" dirty="0">
                <a:latin typeface="LM Roman 10"/>
                <a:cs typeface="LM Roman 10"/>
              </a:rPr>
              <a:t>1.8	</a:t>
            </a:r>
            <a:r>
              <a:rPr sz="900" b="1" spc="-10" dirty="0">
                <a:latin typeface="LM Roman 9"/>
                <a:cs typeface="LM Roman 9"/>
              </a:rPr>
              <a:t>Learning </a:t>
            </a:r>
            <a:r>
              <a:rPr sz="900" b="1" spc="-5" dirty="0">
                <a:latin typeface="LM Roman 9"/>
                <a:cs typeface="LM Roman 9"/>
              </a:rPr>
              <a:t>Theory</a:t>
            </a:r>
            <a:endParaRPr sz="900">
              <a:latin typeface="LM Roman 9"/>
              <a:cs typeface="LM Roman 9"/>
            </a:endParaRPr>
          </a:p>
          <a:p>
            <a:pPr marL="150495" indent="-113030">
              <a:lnSpc>
                <a:spcPct val="100000"/>
              </a:lnSpc>
              <a:spcBef>
                <a:spcPts val="700"/>
              </a:spcBef>
              <a:buFont typeface="DejaVu Sans"/>
              <a:buChar char="❒"/>
              <a:tabLst>
                <a:tab pos="151130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Union </a:t>
            </a:r>
            <a:r>
              <a:rPr sz="800" b="1" dirty="0">
                <a:solidFill>
                  <a:srgbClr val="9A0404"/>
                </a:solidFill>
                <a:latin typeface="LM Roman 8"/>
                <a:cs typeface="LM Roman 8"/>
              </a:rPr>
              <a:t>bound </a:t>
            </a:r>
            <a:r>
              <a:rPr sz="800" spc="-5" dirty="0">
                <a:latin typeface="LM Roman 8"/>
                <a:cs typeface="LM Roman 8"/>
              </a:rPr>
              <a:t>– Let </a:t>
            </a:r>
            <a:r>
              <a:rPr sz="800" i="1" spc="70" dirty="0">
                <a:latin typeface="Times New Roman"/>
                <a:cs typeface="Times New Roman"/>
              </a:rPr>
              <a:t>A</a:t>
            </a:r>
            <a:r>
              <a:rPr sz="900" spc="104" baseline="-9259" dirty="0">
                <a:latin typeface="LM Roman 6"/>
                <a:cs typeface="LM Roman 6"/>
              </a:rPr>
              <a:t>1</a:t>
            </a:r>
            <a:r>
              <a:rPr sz="800" i="1" spc="70" dirty="0">
                <a:latin typeface="Times New Roman"/>
                <a:cs typeface="Times New Roman"/>
              </a:rPr>
              <a:t>, </a:t>
            </a:r>
            <a:r>
              <a:rPr sz="800" i="1" spc="35" dirty="0">
                <a:latin typeface="Times New Roman"/>
                <a:cs typeface="Times New Roman"/>
              </a:rPr>
              <a:t>..., </a:t>
            </a:r>
            <a:r>
              <a:rPr sz="800" i="1" spc="135" dirty="0">
                <a:latin typeface="Times New Roman"/>
                <a:cs typeface="Times New Roman"/>
              </a:rPr>
              <a:t>A</a:t>
            </a:r>
            <a:r>
              <a:rPr sz="900" i="1" spc="202" baseline="-13888" dirty="0">
                <a:latin typeface="Times New Roman"/>
                <a:cs typeface="Times New Roman"/>
              </a:rPr>
              <a:t>k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i="1" spc="85" dirty="0">
                <a:latin typeface="Times New Roman"/>
                <a:cs typeface="Times New Roman"/>
              </a:rPr>
              <a:t>k </a:t>
            </a:r>
            <a:r>
              <a:rPr sz="800" spc="-10" dirty="0">
                <a:latin typeface="LM Roman 8"/>
                <a:cs typeface="LM Roman 8"/>
              </a:rPr>
              <a:t>events. </a:t>
            </a:r>
            <a:r>
              <a:rPr sz="800" spc="-40" dirty="0">
                <a:latin typeface="LM Roman 8"/>
                <a:cs typeface="LM Roman 8"/>
              </a:rPr>
              <a:t>We</a:t>
            </a:r>
            <a:r>
              <a:rPr sz="800" spc="-13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5607" y="2983979"/>
            <a:ext cx="1945005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0" dirty="0">
                <a:latin typeface="Times New Roman"/>
                <a:cs typeface="Times New Roman"/>
              </a:rPr>
              <a:t> 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900" spc="67" baseline="-9259" dirty="0">
                <a:latin typeface="LM Roman 6"/>
                <a:cs typeface="LM Roman 6"/>
              </a:rPr>
              <a:t>1</a:t>
            </a:r>
            <a:r>
              <a:rPr sz="900" spc="-22" baseline="-9259" dirty="0">
                <a:latin typeface="LM Roman 6"/>
                <a:cs typeface="LM Roman 6"/>
              </a:rPr>
              <a:t> </a:t>
            </a:r>
            <a:r>
              <a:rPr sz="800" i="1" spc="-25" dirty="0">
                <a:latin typeface="DejaVu Sans"/>
                <a:cs typeface="DejaVu Sans"/>
              </a:rPr>
              <a:t>∪</a:t>
            </a:r>
            <a:r>
              <a:rPr sz="800" i="1" spc="-75" dirty="0">
                <a:latin typeface="DejaVu Sans"/>
                <a:cs typeface="DejaVu Sans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...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i="1" spc="-25" dirty="0">
                <a:latin typeface="DejaVu Sans"/>
                <a:cs typeface="DejaVu Sans"/>
              </a:rPr>
              <a:t>∪</a:t>
            </a:r>
            <a:r>
              <a:rPr sz="800" i="1" spc="-75" dirty="0">
                <a:latin typeface="DejaVu Sans"/>
                <a:cs typeface="DejaVu Sans"/>
              </a:rPr>
              <a:t> </a:t>
            </a:r>
            <a:r>
              <a:rPr sz="800" i="1" spc="130" dirty="0">
                <a:latin typeface="Times New Roman"/>
                <a:cs typeface="Times New Roman"/>
              </a:rPr>
              <a:t>A</a:t>
            </a:r>
            <a:r>
              <a:rPr sz="900" i="1" spc="195" baseline="-13888" dirty="0">
                <a:latin typeface="Times New Roman"/>
                <a:cs typeface="Times New Roman"/>
              </a:rPr>
              <a:t>k</a:t>
            </a:r>
            <a:r>
              <a:rPr sz="900" i="1" spc="-135" baseline="-13888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114" dirty="0">
                <a:latin typeface="RobotoRegular"/>
                <a:cs typeface="RobotoRegular"/>
              </a:rPr>
              <a:t>™</a:t>
            </a:r>
            <a:r>
              <a:rPr sz="800" spc="35" dirty="0">
                <a:latin typeface="RobotoRegular"/>
                <a:cs typeface="RobotoRegular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85" dirty="0">
                <a:latin typeface="Times New Roman"/>
                <a:cs typeface="Times New Roman"/>
              </a:rPr>
              <a:t> 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900" spc="67" baseline="-9259" dirty="0">
                <a:latin typeface="LM Roman 6"/>
                <a:cs typeface="LM Roman 6"/>
              </a:rPr>
              <a:t>1</a:t>
            </a:r>
            <a:r>
              <a:rPr sz="800" spc="45" dirty="0">
                <a:latin typeface="LM Roman 8"/>
                <a:cs typeface="LM Roman 8"/>
              </a:rPr>
              <a:t>)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...</a:t>
            </a:r>
            <a:r>
              <a:rPr sz="800" i="1" spc="-2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0" dirty="0">
                <a:latin typeface="Times New Roman"/>
                <a:cs typeface="Times New Roman"/>
              </a:rPr>
              <a:t> </a:t>
            </a:r>
            <a:r>
              <a:rPr sz="800" spc="85" dirty="0">
                <a:latin typeface="LM Roman 8"/>
                <a:cs typeface="LM Roman 8"/>
              </a:rPr>
              <a:t>(</a:t>
            </a:r>
            <a:r>
              <a:rPr sz="800" i="1" spc="85" dirty="0">
                <a:latin typeface="Times New Roman"/>
                <a:cs typeface="Times New Roman"/>
              </a:rPr>
              <a:t>A</a:t>
            </a:r>
            <a:r>
              <a:rPr sz="900" i="1" spc="127" baseline="-13888" dirty="0">
                <a:latin typeface="Times New Roman"/>
                <a:cs typeface="Times New Roman"/>
              </a:rPr>
              <a:t>k</a:t>
            </a:r>
            <a:r>
              <a:rPr sz="900" i="1" spc="-135" baseline="-13888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7567" y="3273846"/>
            <a:ext cx="3790828" cy="7344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9894" y="4117542"/>
            <a:ext cx="4556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4145" indent="-10668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44780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Hoeffding</a:t>
            </a:r>
            <a:r>
              <a:rPr sz="800" b="1" spc="-6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inequality</a:t>
            </a:r>
            <a:r>
              <a:rPr sz="800" b="1" spc="-10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Let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65" dirty="0">
                <a:latin typeface="Times New Roman"/>
                <a:cs typeface="Times New Roman"/>
              </a:rPr>
              <a:t>Z</a:t>
            </a:r>
            <a:r>
              <a:rPr sz="900" spc="97" baseline="-9259" dirty="0">
                <a:latin typeface="LM Roman 6"/>
                <a:cs typeface="LM Roman 6"/>
              </a:rPr>
              <a:t>1</a:t>
            </a:r>
            <a:r>
              <a:rPr sz="800" i="1" spc="65" dirty="0">
                <a:latin typeface="Times New Roman"/>
                <a:cs typeface="Times New Roman"/>
              </a:rPr>
              <a:t>,</a:t>
            </a:r>
            <a:r>
              <a:rPr sz="800" i="1" spc="-55" dirty="0">
                <a:latin typeface="Times New Roman"/>
                <a:cs typeface="Times New Roman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..,</a:t>
            </a:r>
            <a:r>
              <a:rPr sz="800" i="1" spc="-60" dirty="0">
                <a:latin typeface="Times New Roman"/>
                <a:cs typeface="Times New Roman"/>
              </a:rPr>
              <a:t> </a:t>
            </a:r>
            <a:r>
              <a:rPr sz="800" i="1" spc="170" dirty="0">
                <a:latin typeface="Times New Roman"/>
                <a:cs typeface="Times New Roman"/>
              </a:rPr>
              <a:t>Z</a:t>
            </a:r>
            <a:r>
              <a:rPr sz="900" i="1" spc="254" baseline="-9259" dirty="0">
                <a:latin typeface="Times New Roman"/>
                <a:cs typeface="Times New Roman"/>
              </a:rPr>
              <a:t>m</a:t>
            </a:r>
            <a:r>
              <a:rPr sz="900" i="1" spc="209" baseline="-9259" dirty="0">
                <a:latin typeface="Times New Roman"/>
                <a:cs typeface="Times New Roman"/>
              </a:rPr>
              <a:t> </a:t>
            </a:r>
            <a:r>
              <a:rPr sz="800" spc="5" dirty="0">
                <a:latin typeface="LM Roman 8"/>
                <a:cs typeface="LM Roman 8"/>
              </a:rPr>
              <a:t>be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170" dirty="0">
                <a:latin typeface="Times New Roman"/>
                <a:cs typeface="Times New Roman"/>
              </a:rPr>
              <a:t>m</a:t>
            </a:r>
            <a:r>
              <a:rPr sz="800" i="1" spc="4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iid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variables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drawn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from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Bernoulli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distribution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1836" y="4215960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65" dirty="0">
                <a:latin typeface="Arial"/>
                <a:cs typeface="Arial"/>
              </a:rPr>
              <a:t>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5294" y="4257076"/>
            <a:ext cx="33782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of parameter </a:t>
            </a:r>
            <a:r>
              <a:rPr sz="800" i="1" spc="25" dirty="0">
                <a:latin typeface="Times New Roman"/>
                <a:cs typeface="Times New Roman"/>
              </a:rPr>
              <a:t>φ</a:t>
            </a:r>
            <a:r>
              <a:rPr sz="800" spc="25" dirty="0">
                <a:latin typeface="LM Roman 8"/>
                <a:cs typeface="LM Roman 8"/>
              </a:rPr>
              <a:t>. </a:t>
            </a:r>
            <a:r>
              <a:rPr sz="800" spc="-5" dirty="0">
                <a:latin typeface="LM Roman 8"/>
                <a:cs typeface="LM Roman 8"/>
              </a:rPr>
              <a:t>Let </a:t>
            </a:r>
            <a:r>
              <a:rPr sz="800" i="1" spc="60" dirty="0">
                <a:latin typeface="Times New Roman"/>
                <a:cs typeface="Times New Roman"/>
              </a:rPr>
              <a:t>φ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their sample mean and </a:t>
            </a:r>
            <a:r>
              <a:rPr sz="800" i="1" spc="120" dirty="0">
                <a:latin typeface="Times New Roman"/>
                <a:cs typeface="Times New Roman"/>
              </a:rPr>
              <a:t>γ </a:t>
            </a:r>
            <a:r>
              <a:rPr sz="800" i="1" spc="114" dirty="0">
                <a:latin typeface="Times New Roman"/>
                <a:cs typeface="Times New Roman"/>
              </a:rPr>
              <a:t>&gt; </a:t>
            </a:r>
            <a:r>
              <a:rPr sz="800" spc="-5" dirty="0">
                <a:latin typeface="LM Roman 8"/>
                <a:cs typeface="LM Roman 8"/>
              </a:rPr>
              <a:t>0 </a:t>
            </a:r>
            <a:r>
              <a:rPr sz="800" spc="-10" dirty="0">
                <a:latin typeface="LM Roman 8"/>
                <a:cs typeface="LM Roman 8"/>
              </a:rPr>
              <a:t>fixed. </a:t>
            </a:r>
            <a:r>
              <a:rPr sz="800" spc="-40" dirty="0">
                <a:latin typeface="LM Roman 8"/>
                <a:cs typeface="LM Roman 8"/>
              </a:rPr>
              <a:t>We</a:t>
            </a:r>
            <a:r>
              <a:rPr sz="800" spc="-15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3564" y="4483740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65" dirty="0">
                <a:latin typeface="Arial"/>
                <a:cs typeface="Arial"/>
              </a:rPr>
              <a:t>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53282" y="4508124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47583" y="4524856"/>
            <a:ext cx="15208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0" dirty="0">
                <a:latin typeface="Times New Roman"/>
                <a:cs typeface="Times New Roman"/>
              </a:rPr>
              <a:t> </a:t>
            </a:r>
            <a:r>
              <a:rPr sz="800" spc="5" dirty="0">
                <a:latin typeface="LM Roman 8"/>
                <a:cs typeface="LM Roman 8"/>
              </a:rPr>
              <a:t>(</a:t>
            </a:r>
            <a:r>
              <a:rPr sz="800" i="1" spc="5" dirty="0">
                <a:latin typeface="DejaVu Sans"/>
                <a:cs typeface="DejaVu Sans"/>
              </a:rPr>
              <a:t>|</a:t>
            </a:r>
            <a:r>
              <a:rPr sz="800" i="1" spc="5" dirty="0">
                <a:latin typeface="Times New Roman"/>
                <a:cs typeface="Times New Roman"/>
              </a:rPr>
              <a:t>φ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5" dirty="0">
                <a:latin typeface="DejaVu Sans"/>
                <a:cs typeface="DejaVu Sans"/>
              </a:rPr>
              <a:t> </a:t>
            </a:r>
            <a:r>
              <a:rPr sz="800" i="1" spc="10" dirty="0">
                <a:latin typeface="Times New Roman"/>
                <a:cs typeface="Times New Roman"/>
              </a:rPr>
              <a:t>φ</a:t>
            </a:r>
            <a:r>
              <a:rPr sz="800" i="1" spc="10" dirty="0">
                <a:latin typeface="DejaVu Sans"/>
                <a:cs typeface="DejaVu Sans"/>
              </a:rPr>
              <a:t>|</a:t>
            </a:r>
            <a:r>
              <a:rPr sz="800" i="1" spc="-20" dirty="0">
                <a:latin typeface="DejaVu Sans"/>
                <a:cs typeface="DejaVu Sans"/>
              </a:rPr>
              <a:t> </a:t>
            </a:r>
            <a:r>
              <a:rPr sz="800" i="1" spc="114" dirty="0">
                <a:latin typeface="Times New Roman"/>
                <a:cs typeface="Times New Roman"/>
              </a:rPr>
              <a:t>&gt;</a:t>
            </a:r>
            <a:r>
              <a:rPr sz="800" i="1" spc="30" dirty="0">
                <a:latin typeface="Times New Roman"/>
                <a:cs typeface="Times New Roman"/>
              </a:rPr>
              <a:t> </a:t>
            </a:r>
            <a:r>
              <a:rPr sz="800" i="1" spc="80" dirty="0">
                <a:latin typeface="Times New Roman"/>
                <a:cs typeface="Times New Roman"/>
              </a:rPr>
              <a:t>γ</a:t>
            </a:r>
            <a:r>
              <a:rPr sz="800" spc="80" dirty="0">
                <a:latin typeface="LM Roman 8"/>
                <a:cs typeface="LM Roman 8"/>
              </a:rPr>
              <a:t>)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114" dirty="0">
                <a:latin typeface="RobotoRegular"/>
                <a:cs typeface="RobotoRegular"/>
              </a:rPr>
              <a:t>™</a:t>
            </a:r>
            <a:r>
              <a:rPr sz="800" spc="35" dirty="0">
                <a:latin typeface="RobotoRegular"/>
                <a:cs typeface="RobotoRegular"/>
              </a:rPr>
              <a:t> </a:t>
            </a:r>
            <a:r>
              <a:rPr sz="800" spc="-5" dirty="0">
                <a:latin typeface="LM Roman 8"/>
                <a:cs typeface="LM Roman 8"/>
              </a:rPr>
              <a:t>2</a:t>
            </a:r>
            <a:r>
              <a:rPr sz="800" spc="-150" dirty="0">
                <a:latin typeface="LM Roman 8"/>
                <a:cs typeface="LM Roman 8"/>
              </a:rPr>
              <a:t> </a:t>
            </a:r>
            <a:r>
              <a:rPr sz="800" spc="10" dirty="0">
                <a:latin typeface="LM Roman 8"/>
                <a:cs typeface="LM Roman 8"/>
              </a:rPr>
              <a:t>exp(</a:t>
            </a:r>
            <a:r>
              <a:rPr sz="800" i="1" spc="10" dirty="0">
                <a:latin typeface="DejaVu Sans"/>
                <a:cs typeface="DejaVu Sans"/>
              </a:rPr>
              <a:t>−</a:t>
            </a:r>
            <a:r>
              <a:rPr sz="800" spc="10" dirty="0">
                <a:latin typeface="LM Roman 8"/>
                <a:cs typeface="LM Roman 8"/>
              </a:rPr>
              <a:t>2</a:t>
            </a:r>
            <a:r>
              <a:rPr sz="800" i="1" spc="10" dirty="0">
                <a:latin typeface="Times New Roman"/>
                <a:cs typeface="Times New Roman"/>
              </a:rPr>
              <a:t>γ</a:t>
            </a:r>
            <a:r>
              <a:rPr sz="800" i="1" spc="45" dirty="0">
                <a:latin typeface="Times New Roman"/>
                <a:cs typeface="Times New Roman"/>
              </a:rPr>
              <a:t> </a:t>
            </a:r>
            <a:r>
              <a:rPr sz="800" i="1" spc="80" dirty="0">
                <a:latin typeface="Times New Roman"/>
                <a:cs typeface="Times New Roman"/>
              </a:rPr>
              <a:t>m</a:t>
            </a:r>
            <a:r>
              <a:rPr sz="800" spc="8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17268" y="4488573"/>
            <a:ext cx="1581785" cy="219075"/>
            <a:chOff x="1917268" y="4488573"/>
            <a:chExt cx="1581785" cy="219075"/>
          </a:xfrm>
        </p:grpSpPr>
        <p:sp>
          <p:nvSpPr>
            <p:cNvPr id="16" name="object 16"/>
            <p:cNvSpPr/>
            <p:nvPr/>
          </p:nvSpPr>
          <p:spPr>
            <a:xfrm>
              <a:off x="1917268" y="4491100"/>
              <a:ext cx="1581785" cy="0"/>
            </a:xfrm>
            <a:custGeom>
              <a:avLst/>
              <a:gdLst/>
              <a:ahLst/>
              <a:cxnLst/>
              <a:rect l="l" t="t" r="r" b="b"/>
              <a:pathLst>
                <a:path w="1581784">
                  <a:moveTo>
                    <a:pt x="0" y="0"/>
                  </a:moveTo>
                  <a:lnTo>
                    <a:pt x="158140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9795" y="4491100"/>
              <a:ext cx="0" cy="213995"/>
            </a:xfrm>
            <a:custGeom>
              <a:avLst/>
              <a:gdLst/>
              <a:ahLst/>
              <a:cxnLst/>
              <a:rect l="l" t="t" r="r" b="b"/>
              <a:pathLst>
                <a:path h="213995">
                  <a:moveTo>
                    <a:pt x="0" y="21347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96144" y="4491100"/>
              <a:ext cx="0" cy="213995"/>
            </a:xfrm>
            <a:custGeom>
              <a:avLst/>
              <a:gdLst/>
              <a:ahLst/>
              <a:cxnLst/>
              <a:rect l="l" t="t" r="r" b="b"/>
              <a:pathLst>
                <a:path h="213995">
                  <a:moveTo>
                    <a:pt x="0" y="21347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17268" y="4704575"/>
              <a:ext cx="1581785" cy="0"/>
            </a:xfrm>
            <a:custGeom>
              <a:avLst/>
              <a:gdLst/>
              <a:ahLst/>
              <a:cxnLst/>
              <a:rect l="l" t="t" r="r" b="b"/>
              <a:pathLst>
                <a:path w="1581784">
                  <a:moveTo>
                    <a:pt x="0" y="0"/>
                  </a:moveTo>
                  <a:lnTo>
                    <a:pt x="158140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42594" y="4762778"/>
            <a:ext cx="4530725" cy="4800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this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inequality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also known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as the Chernoff</a:t>
            </a:r>
            <a:r>
              <a:rPr sz="800" i="1" spc="-1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bound.</a:t>
            </a:r>
            <a:endParaRPr sz="800">
              <a:latin typeface="LM Roman 8"/>
              <a:cs typeface="LM Roman 8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LM Roman 8"/>
              <a:cs typeface="LM Roman 8"/>
            </a:endParaRPr>
          </a:p>
          <a:p>
            <a:pPr marL="25400" marR="17780" indent="-635">
              <a:lnSpc>
                <a:spcPct val="73100"/>
              </a:lnSpc>
              <a:buFont typeface="DejaVu Sans"/>
              <a:buChar char="❒"/>
              <a:tabLst>
                <a:tab pos="134620" algn="l"/>
                <a:tab pos="3419475" algn="l"/>
              </a:tabLst>
            </a:pPr>
            <a:r>
              <a:rPr sz="800" b="1" spc="-15" dirty="0">
                <a:solidFill>
                  <a:srgbClr val="0C6C04"/>
                </a:solidFill>
                <a:latin typeface="LM Roman 8"/>
                <a:cs typeface="LM Roman 8"/>
              </a:rPr>
              <a:t>Training</a:t>
            </a:r>
            <a:r>
              <a:rPr sz="800" b="1" spc="-35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error</a:t>
            </a:r>
            <a:r>
              <a:rPr sz="800" b="1" spc="-70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30" dirty="0">
                <a:latin typeface="LM Roman 8"/>
                <a:cs typeface="LM Roman 8"/>
              </a:rPr>
              <a:t> For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given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classifier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i="1" spc="40" dirty="0">
                <a:latin typeface="Times New Roman"/>
                <a:cs typeface="Times New Roman"/>
              </a:rPr>
              <a:t>h</a:t>
            </a:r>
            <a:r>
              <a:rPr sz="800" spc="40" dirty="0">
                <a:latin typeface="LM Roman 8"/>
                <a:cs typeface="LM Roman 8"/>
              </a:rPr>
              <a:t>,</a:t>
            </a:r>
            <a:r>
              <a:rPr sz="800" spc="-15" dirty="0">
                <a:latin typeface="LM Roman 8"/>
                <a:cs typeface="LM Roman 8"/>
              </a:rPr>
              <a:t> we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define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training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error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i="1" spc="20" dirty="0">
                <a:latin typeface="Times New Roman"/>
                <a:cs typeface="Times New Roman"/>
              </a:rPr>
              <a:t>s</a:t>
            </a:r>
            <a:r>
              <a:rPr sz="800" spc="20" dirty="0">
                <a:latin typeface="LM Roman 8"/>
                <a:cs typeface="LM Roman 8"/>
              </a:rPr>
              <a:t>(</a:t>
            </a:r>
            <a:r>
              <a:rPr sz="800" i="1" spc="20" dirty="0">
                <a:latin typeface="Times New Roman"/>
                <a:cs typeface="Times New Roman"/>
              </a:rPr>
              <a:t>h</a:t>
            </a:r>
            <a:r>
              <a:rPr sz="800" spc="20" dirty="0">
                <a:latin typeface="LM Roman 8"/>
                <a:cs typeface="LM Roman 8"/>
              </a:rPr>
              <a:t>),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also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known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  empirical risk or empirical error, to </a:t>
            </a:r>
            <a:r>
              <a:rPr sz="800" spc="5" dirty="0">
                <a:latin typeface="LM Roman 8"/>
                <a:cs typeface="LM Roman 8"/>
              </a:rPr>
              <a:t>be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1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	</a:t>
            </a:r>
            <a:r>
              <a:rPr sz="1500" spc="-397" baseline="47222" dirty="0">
                <a:latin typeface="Arial"/>
                <a:cs typeface="Arial"/>
              </a:rPr>
              <a:t></a:t>
            </a:r>
            <a:endParaRPr sz="1500" baseline="47222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65997" y="5377902"/>
            <a:ext cx="100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85492" y="5423082"/>
            <a:ext cx="527050" cy="1778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88900">
              <a:lnSpc>
                <a:spcPts val="380"/>
              </a:lnSpc>
              <a:spcBef>
                <a:spcPts val="295"/>
              </a:spcBef>
            </a:pP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h</a:t>
            </a:r>
            <a:r>
              <a:rPr sz="800" spc="25" dirty="0">
                <a:latin typeface="LM Roman 8"/>
                <a:cs typeface="LM Roman 8"/>
              </a:rPr>
              <a:t>)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  <a:p>
            <a:pPr marL="38100">
              <a:lnSpc>
                <a:spcPts val="620"/>
              </a:lnSpc>
              <a:tabLst>
                <a:tab pos="393065" algn="l"/>
              </a:tabLst>
            </a:pPr>
            <a:r>
              <a:rPr sz="1000" spc="-365" dirty="0">
                <a:latin typeface="Arial"/>
                <a:cs typeface="Arial"/>
              </a:rPr>
              <a:t></a:t>
            </a:r>
            <a:r>
              <a:rPr sz="800" i="1" spc="-365" dirty="0">
                <a:latin typeface="Times New Roman"/>
                <a:cs typeface="Times New Roman"/>
              </a:rPr>
              <a:t>s	</a:t>
            </a:r>
            <a:r>
              <a:rPr sz="1200" i="1" spc="254" baseline="-41666" dirty="0">
                <a:latin typeface="Times New Roman"/>
                <a:cs typeface="Times New Roman"/>
              </a:rPr>
              <a:t>m</a:t>
            </a:r>
            <a:endParaRPr sz="1200" baseline="-41666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4102" y="5321851"/>
            <a:ext cx="1085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220" dirty="0">
                <a:latin typeface="Times New Roman"/>
                <a:cs typeface="Times New Roman"/>
              </a:rPr>
              <a:t>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94241" y="5309201"/>
            <a:ext cx="195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2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56827" y="5484950"/>
            <a:ext cx="7727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67" baseline="20833" dirty="0">
                <a:latin typeface="LM Roman 8"/>
                <a:cs typeface="LM Roman 8"/>
              </a:rPr>
              <a:t>1</a:t>
            </a:r>
            <a:r>
              <a:rPr sz="600" i="1" spc="45" dirty="0">
                <a:latin typeface="DejaVu Sans"/>
                <a:cs typeface="DejaVu Sans"/>
              </a:rPr>
              <a:t>{</a:t>
            </a:r>
            <a:r>
              <a:rPr sz="600" i="1" spc="45" dirty="0">
                <a:latin typeface="Times New Roman"/>
                <a:cs typeface="Times New Roman"/>
              </a:rPr>
              <a:t>h</a:t>
            </a:r>
            <a:r>
              <a:rPr sz="600" spc="45" dirty="0">
                <a:latin typeface="LM Roman 6"/>
                <a:cs typeface="LM Roman 6"/>
              </a:rPr>
              <a:t>(</a:t>
            </a:r>
            <a:r>
              <a:rPr sz="600" i="1" spc="45" dirty="0">
                <a:latin typeface="Times New Roman"/>
                <a:cs typeface="Times New Roman"/>
              </a:rPr>
              <a:t>x</a:t>
            </a:r>
            <a:r>
              <a:rPr sz="750" spc="67" baseline="22222" dirty="0">
                <a:latin typeface="LM Roman 5"/>
                <a:cs typeface="LM Roman 5"/>
              </a:rPr>
              <a:t>(</a:t>
            </a:r>
            <a:r>
              <a:rPr sz="750" i="1" spc="67" baseline="22222" dirty="0">
                <a:latin typeface="Arial"/>
                <a:cs typeface="Arial"/>
              </a:rPr>
              <a:t>i</a:t>
            </a:r>
            <a:r>
              <a:rPr sz="750" spc="67" baseline="22222" dirty="0">
                <a:latin typeface="LM Roman 5"/>
                <a:cs typeface="LM Roman 5"/>
              </a:rPr>
              <a:t>)</a:t>
            </a:r>
            <a:r>
              <a:rPr sz="600" spc="45" dirty="0">
                <a:latin typeface="LM Roman 6"/>
                <a:cs typeface="LM Roman 6"/>
              </a:rPr>
              <a:t>)</a:t>
            </a:r>
            <a:r>
              <a:rPr sz="600" i="1" spc="45" dirty="0">
                <a:latin typeface="DejaVu Sans"/>
                <a:cs typeface="DejaVu Sans"/>
              </a:rPr>
              <a:t>ƒ</a:t>
            </a:r>
            <a:r>
              <a:rPr sz="600" spc="45" dirty="0">
                <a:latin typeface="LM Roman 6"/>
                <a:cs typeface="LM Roman 6"/>
              </a:rPr>
              <a:t>=</a:t>
            </a:r>
            <a:r>
              <a:rPr sz="600" i="1" spc="45" dirty="0">
                <a:latin typeface="Times New Roman"/>
                <a:cs typeface="Times New Roman"/>
              </a:rPr>
              <a:t>y</a:t>
            </a:r>
            <a:r>
              <a:rPr sz="750" spc="67" baseline="22222" dirty="0">
                <a:latin typeface="LM Roman 5"/>
                <a:cs typeface="LM Roman 5"/>
              </a:rPr>
              <a:t>(</a:t>
            </a:r>
            <a:r>
              <a:rPr sz="750" i="1" spc="67" baseline="22222" dirty="0">
                <a:latin typeface="Arial"/>
                <a:cs typeface="Arial"/>
              </a:rPr>
              <a:t>i</a:t>
            </a:r>
            <a:r>
              <a:rPr sz="750" spc="67" baseline="22222" dirty="0">
                <a:latin typeface="LM Roman 5"/>
                <a:cs typeface="LM Roman 5"/>
              </a:rPr>
              <a:t>)</a:t>
            </a:r>
            <a:r>
              <a:rPr sz="750" spc="-300" baseline="22222" dirty="0">
                <a:latin typeface="LM Roman 5"/>
                <a:cs typeface="LM Roman 5"/>
              </a:rPr>
              <a:t> </a:t>
            </a:r>
            <a:r>
              <a:rPr sz="600" i="1" dirty="0">
                <a:latin typeface="DejaVu Sans"/>
                <a:cs typeface="DejaVu Sans"/>
              </a:rPr>
              <a:t>}</a:t>
            </a:r>
            <a:endParaRPr sz="600">
              <a:latin typeface="DejaVu Sans"/>
              <a:cs typeface="DejaVu San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988007" y="5322125"/>
            <a:ext cx="1440180" cy="447675"/>
            <a:chOff x="1988007" y="5322125"/>
            <a:chExt cx="1440180" cy="447675"/>
          </a:xfrm>
        </p:grpSpPr>
        <p:sp>
          <p:nvSpPr>
            <p:cNvPr id="27" name="object 27"/>
            <p:cNvSpPr/>
            <p:nvPr/>
          </p:nvSpPr>
          <p:spPr>
            <a:xfrm>
              <a:off x="1988007" y="5324652"/>
              <a:ext cx="1440180" cy="0"/>
            </a:xfrm>
            <a:custGeom>
              <a:avLst/>
              <a:gdLst/>
              <a:ahLst/>
              <a:cxnLst/>
              <a:rect l="l" t="t" r="r" b="b"/>
              <a:pathLst>
                <a:path w="1440179">
                  <a:moveTo>
                    <a:pt x="0" y="0"/>
                  </a:moveTo>
                  <a:lnTo>
                    <a:pt x="143992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90534" y="5324640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25405" y="5324640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88007" y="5767273"/>
              <a:ext cx="1440180" cy="0"/>
            </a:xfrm>
            <a:custGeom>
              <a:avLst/>
              <a:gdLst/>
              <a:ahLst/>
              <a:cxnLst/>
              <a:rect l="l" t="t" r="r" b="b"/>
              <a:pathLst>
                <a:path w="1440179">
                  <a:moveTo>
                    <a:pt x="0" y="0"/>
                  </a:moveTo>
                  <a:lnTo>
                    <a:pt x="143992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04495" y="5625520"/>
            <a:ext cx="4606925" cy="1496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1454" algn="ctr">
              <a:lnSpc>
                <a:spcPct val="100000"/>
              </a:lnSpc>
              <a:spcBef>
                <a:spcPts val="95"/>
              </a:spcBef>
            </a:pP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  <a:p>
            <a:pPr>
              <a:lnSpc>
                <a:spcPct val="100000"/>
              </a:lnSpc>
            </a:pPr>
            <a:endParaRPr sz="800">
              <a:latin typeface="LM Roman 6"/>
              <a:cs typeface="LM Roman 6"/>
            </a:endParaRPr>
          </a:p>
          <a:p>
            <a:pPr marL="63500" marR="55880">
              <a:lnSpc>
                <a:spcPts val="850"/>
              </a:lnSpc>
              <a:spcBef>
                <a:spcPts val="620"/>
              </a:spcBef>
              <a:buFont typeface="DejaVu Sans"/>
              <a:buChar char="❒"/>
              <a:tabLst>
                <a:tab pos="176530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Probably </a:t>
            </a: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Approximately Correct </a:t>
            </a:r>
            <a:r>
              <a:rPr sz="800" b="1" spc="-30" dirty="0">
                <a:solidFill>
                  <a:srgbClr val="0C6C04"/>
                </a:solidFill>
                <a:latin typeface="LM Roman 8"/>
                <a:cs typeface="LM Roman 8"/>
              </a:rPr>
              <a:t>(PAC)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40" dirty="0">
                <a:latin typeface="LM Roman 8"/>
                <a:cs typeface="LM Roman 8"/>
              </a:rPr>
              <a:t>PAC </a:t>
            </a:r>
            <a:r>
              <a:rPr sz="800" spc="-5" dirty="0">
                <a:latin typeface="LM Roman 8"/>
                <a:cs typeface="LM Roman 8"/>
              </a:rPr>
              <a:t>is a </a:t>
            </a:r>
            <a:r>
              <a:rPr sz="800" spc="-10" dirty="0">
                <a:latin typeface="LM Roman 8"/>
                <a:cs typeface="LM Roman 8"/>
              </a:rPr>
              <a:t>framework </a:t>
            </a:r>
            <a:r>
              <a:rPr sz="800" spc="-5" dirty="0">
                <a:latin typeface="LM Roman 8"/>
                <a:cs typeface="LM Roman 8"/>
              </a:rPr>
              <a:t>under </a:t>
            </a:r>
            <a:r>
              <a:rPr sz="800" spc="-10" dirty="0">
                <a:latin typeface="LM Roman 8"/>
                <a:cs typeface="LM Roman 8"/>
              </a:rPr>
              <a:t>which </a:t>
            </a:r>
            <a:r>
              <a:rPr sz="800" spc="-5" dirty="0">
                <a:latin typeface="LM Roman 8"/>
                <a:cs typeface="LM Roman 8"/>
              </a:rPr>
              <a:t>numerous  results on learning theory </a:t>
            </a:r>
            <a:r>
              <a:rPr sz="800" spc="-10" dirty="0">
                <a:latin typeface="LM Roman 8"/>
                <a:cs typeface="LM Roman 8"/>
              </a:rPr>
              <a:t>were proved, </a:t>
            </a:r>
            <a:r>
              <a:rPr sz="800" spc="-5" dirty="0">
                <a:latin typeface="LM Roman 8"/>
                <a:cs typeface="LM Roman 8"/>
              </a:rPr>
              <a:t>and has the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set of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assumptions:</a:t>
            </a:r>
            <a:endParaRPr sz="800">
              <a:latin typeface="LM Roman 8"/>
              <a:cs typeface="LM Roman 8"/>
            </a:endParaRPr>
          </a:p>
          <a:p>
            <a:pPr marL="379730" lvl="1" indent="-147955">
              <a:lnSpc>
                <a:spcPct val="100000"/>
              </a:lnSpc>
              <a:spcBef>
                <a:spcPts val="919"/>
              </a:spcBef>
              <a:buChar char="•"/>
              <a:tabLst>
                <a:tab pos="380365" algn="l"/>
              </a:tabLst>
            </a:pPr>
            <a:r>
              <a:rPr sz="800" spc="-5" dirty="0">
                <a:latin typeface="LM Roman 8"/>
                <a:cs typeface="LM Roman 8"/>
              </a:rPr>
              <a:t>the training and testing sets </a:t>
            </a:r>
            <a:r>
              <a:rPr sz="800" spc="-10" dirty="0">
                <a:latin typeface="LM Roman 8"/>
                <a:cs typeface="LM Roman 8"/>
              </a:rPr>
              <a:t>follow </a:t>
            </a:r>
            <a:r>
              <a:rPr sz="800" spc="-5" dirty="0">
                <a:latin typeface="LM Roman 8"/>
                <a:cs typeface="LM Roman 8"/>
              </a:rPr>
              <a:t>the same</a:t>
            </a:r>
            <a:r>
              <a:rPr sz="800" spc="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distribution</a:t>
            </a:r>
            <a:endParaRPr sz="800">
              <a:latin typeface="LM Roman 8"/>
              <a:cs typeface="LM Roman 8"/>
            </a:endParaRPr>
          </a:p>
          <a:p>
            <a:pPr marL="379730" lvl="1" indent="-147955">
              <a:lnSpc>
                <a:spcPct val="100000"/>
              </a:lnSpc>
              <a:spcBef>
                <a:spcPts val="730"/>
              </a:spcBef>
              <a:buChar char="•"/>
              <a:tabLst>
                <a:tab pos="380365" algn="l"/>
              </a:tabLst>
            </a:pPr>
            <a:r>
              <a:rPr sz="800" spc="-5" dirty="0">
                <a:latin typeface="LM Roman 8"/>
                <a:cs typeface="LM Roman 8"/>
              </a:rPr>
              <a:t>the training examples are </a:t>
            </a:r>
            <a:r>
              <a:rPr sz="800" spc="-10" dirty="0">
                <a:latin typeface="LM Roman 8"/>
                <a:cs typeface="LM Roman 8"/>
              </a:rPr>
              <a:t>drawn</a:t>
            </a:r>
            <a:r>
              <a:rPr sz="800" spc="-5" dirty="0">
                <a:latin typeface="LM Roman 8"/>
                <a:cs typeface="LM Roman 8"/>
              </a:rPr>
              <a:t> independently</a:t>
            </a:r>
            <a:endParaRPr sz="800">
              <a:latin typeface="LM Roman 8"/>
              <a:cs typeface="LM Roman 8"/>
            </a:endParaRPr>
          </a:p>
          <a:p>
            <a:pPr lvl="1">
              <a:lnSpc>
                <a:spcPct val="100000"/>
              </a:lnSpc>
              <a:buFont typeface="LM Roman 8"/>
              <a:buChar char="•"/>
            </a:pPr>
            <a:endParaRPr sz="1300">
              <a:latin typeface="LM Roman 8"/>
              <a:cs typeface="LM Roman 8"/>
            </a:endParaRPr>
          </a:p>
          <a:p>
            <a:pPr marL="169545" indent="-106680">
              <a:lnSpc>
                <a:spcPct val="100000"/>
              </a:lnSpc>
              <a:spcBef>
                <a:spcPts val="5"/>
              </a:spcBef>
              <a:buFont typeface="DejaVu Sans"/>
              <a:buChar char="❒"/>
              <a:tabLst>
                <a:tab pos="170180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Shattering</a:t>
            </a:r>
            <a:r>
              <a:rPr sz="800" b="1" spc="-95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Given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set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S</a:t>
            </a:r>
            <a:r>
              <a:rPr sz="800" i="1" spc="8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i="1" spc="25" dirty="0">
                <a:latin typeface="DejaVu Sans"/>
                <a:cs typeface="DejaVu Sans"/>
              </a:rPr>
              <a:t>{</a:t>
            </a:r>
            <a:r>
              <a:rPr sz="800" i="1" spc="25" dirty="0">
                <a:latin typeface="Times New Roman"/>
                <a:cs typeface="Times New Roman"/>
              </a:rPr>
              <a:t>x</a:t>
            </a:r>
            <a:r>
              <a:rPr sz="900" spc="37" baseline="27777" dirty="0">
                <a:latin typeface="LM Roman 6"/>
                <a:cs typeface="LM Roman 6"/>
              </a:rPr>
              <a:t>(1)</a:t>
            </a:r>
            <a:r>
              <a:rPr sz="800" i="1" spc="25" dirty="0">
                <a:latin typeface="Times New Roman"/>
                <a:cs typeface="Times New Roman"/>
              </a:rPr>
              <a:t>,...,x</a:t>
            </a:r>
            <a:r>
              <a:rPr sz="900" spc="37" baseline="27777" dirty="0">
                <a:latin typeface="LM Roman 6"/>
                <a:cs typeface="LM Roman 6"/>
              </a:rPr>
              <a:t>(</a:t>
            </a:r>
            <a:r>
              <a:rPr sz="900" i="1" spc="37" baseline="27777" dirty="0">
                <a:latin typeface="Times New Roman"/>
                <a:cs typeface="Times New Roman"/>
              </a:rPr>
              <a:t>d</a:t>
            </a:r>
            <a:r>
              <a:rPr sz="900" spc="37" baseline="27777" dirty="0">
                <a:latin typeface="LM Roman 6"/>
                <a:cs typeface="LM Roman 6"/>
              </a:rPr>
              <a:t>)</a:t>
            </a:r>
            <a:r>
              <a:rPr sz="800" i="1" spc="25" dirty="0">
                <a:latin typeface="DejaVu Sans"/>
                <a:cs typeface="DejaVu Sans"/>
              </a:rPr>
              <a:t>}</a:t>
            </a:r>
            <a:r>
              <a:rPr sz="800" spc="25" dirty="0">
                <a:latin typeface="LM Roman 8"/>
                <a:cs typeface="LM Roman 8"/>
              </a:rPr>
              <a:t>,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set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classifiers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55" dirty="0">
                <a:latin typeface="DejaVu Sans"/>
                <a:cs typeface="DejaVu Sans"/>
              </a:rPr>
              <a:t>H</a:t>
            </a:r>
            <a:r>
              <a:rPr sz="800" spc="55" dirty="0">
                <a:latin typeface="LM Roman 8"/>
                <a:cs typeface="LM Roman 8"/>
              </a:rPr>
              <a:t>,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say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i="1" spc="114" dirty="0">
                <a:latin typeface="DejaVu Sans"/>
                <a:cs typeface="DejaVu Sans"/>
              </a:rPr>
              <a:t>H</a:t>
            </a:r>
            <a:r>
              <a:rPr sz="800" i="1" spc="-20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LM Roman 8"/>
                <a:cs typeface="LM Roman 8"/>
              </a:rPr>
              <a:t>shatters</a:t>
            </a:r>
            <a:endParaRPr sz="800">
              <a:latin typeface="LM Roman 8"/>
              <a:cs typeface="LM Roman 8"/>
            </a:endParaRPr>
          </a:p>
          <a:p>
            <a:pPr marL="63500">
              <a:lnSpc>
                <a:spcPct val="100000"/>
              </a:lnSpc>
              <a:spcBef>
                <a:spcPts val="65"/>
              </a:spcBef>
            </a:pPr>
            <a:r>
              <a:rPr sz="800" i="1" spc="110" dirty="0">
                <a:latin typeface="Times New Roman"/>
                <a:cs typeface="Times New Roman"/>
              </a:rPr>
              <a:t>S </a:t>
            </a:r>
            <a:r>
              <a:rPr sz="800" spc="-5" dirty="0">
                <a:latin typeface="LM Roman 8"/>
                <a:cs typeface="LM Roman 8"/>
              </a:rPr>
              <a:t>if for </a:t>
            </a:r>
            <a:r>
              <a:rPr sz="800" spc="-10" dirty="0">
                <a:latin typeface="LM Roman 8"/>
                <a:cs typeface="LM Roman 8"/>
              </a:rPr>
              <a:t>any </a:t>
            </a:r>
            <a:r>
              <a:rPr sz="800" spc="-5" dirty="0">
                <a:latin typeface="LM Roman 8"/>
                <a:cs typeface="LM Roman 8"/>
              </a:rPr>
              <a:t>set of </a:t>
            </a:r>
            <a:r>
              <a:rPr sz="800" dirty="0">
                <a:latin typeface="LM Roman 8"/>
                <a:cs typeface="LM Roman 8"/>
              </a:rPr>
              <a:t>labels </a:t>
            </a:r>
            <a:r>
              <a:rPr sz="800" i="1" spc="10" dirty="0">
                <a:latin typeface="DejaVu Sans"/>
                <a:cs typeface="DejaVu Sans"/>
              </a:rPr>
              <a:t>{</a:t>
            </a:r>
            <a:r>
              <a:rPr sz="800" i="1" spc="10" dirty="0">
                <a:latin typeface="Times New Roman"/>
                <a:cs typeface="Times New Roman"/>
              </a:rPr>
              <a:t>y</a:t>
            </a:r>
            <a:r>
              <a:rPr sz="900" spc="15" baseline="27777" dirty="0">
                <a:latin typeface="LM Roman 6"/>
                <a:cs typeface="LM Roman 6"/>
              </a:rPr>
              <a:t>(1)</a:t>
            </a:r>
            <a:r>
              <a:rPr sz="800" i="1" spc="10" dirty="0">
                <a:latin typeface="Times New Roman"/>
                <a:cs typeface="Times New Roman"/>
              </a:rPr>
              <a:t>, </a:t>
            </a:r>
            <a:r>
              <a:rPr sz="800" i="1" spc="35" dirty="0">
                <a:latin typeface="Times New Roman"/>
                <a:cs typeface="Times New Roman"/>
              </a:rPr>
              <a:t>..., </a:t>
            </a:r>
            <a:r>
              <a:rPr sz="800" i="1" spc="20" dirty="0">
                <a:latin typeface="Times New Roman"/>
                <a:cs typeface="Times New Roman"/>
              </a:rPr>
              <a:t>y</a:t>
            </a:r>
            <a:r>
              <a:rPr sz="900" spc="30" baseline="27777" dirty="0">
                <a:latin typeface="LM Roman 6"/>
                <a:cs typeface="LM Roman 6"/>
              </a:rPr>
              <a:t>(</a:t>
            </a:r>
            <a:r>
              <a:rPr sz="900" i="1" spc="30" baseline="27777" dirty="0">
                <a:latin typeface="Times New Roman"/>
                <a:cs typeface="Times New Roman"/>
              </a:rPr>
              <a:t>d</a:t>
            </a:r>
            <a:r>
              <a:rPr sz="900" spc="30" baseline="27777" dirty="0">
                <a:latin typeface="LM Roman 6"/>
                <a:cs typeface="LM Roman 6"/>
              </a:rPr>
              <a:t>)</a:t>
            </a:r>
            <a:r>
              <a:rPr sz="800" i="1" spc="20" dirty="0">
                <a:latin typeface="DejaVu Sans"/>
                <a:cs typeface="DejaVu Sans"/>
              </a:rPr>
              <a:t>}</a:t>
            </a:r>
            <a:r>
              <a:rPr sz="800" spc="20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18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53606" y="851254"/>
            <a:ext cx="9944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25" dirty="0">
                <a:latin typeface="DejaVu Sans"/>
                <a:cs typeface="DejaVu Sans"/>
              </a:rPr>
              <a:t>∃</a:t>
            </a:r>
            <a:r>
              <a:rPr sz="800" i="1" spc="25" dirty="0">
                <a:latin typeface="Times New Roman"/>
                <a:cs typeface="Times New Roman"/>
              </a:rPr>
              <a:t>h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i="1" spc="75" dirty="0">
                <a:latin typeface="DejaVu Sans"/>
                <a:cs typeface="DejaVu Sans"/>
              </a:rPr>
              <a:t>H</a:t>
            </a:r>
            <a:r>
              <a:rPr sz="800" i="1" spc="75" dirty="0">
                <a:latin typeface="Times New Roman"/>
                <a:cs typeface="Times New Roman"/>
              </a:rPr>
              <a:t>, </a:t>
            </a:r>
            <a:r>
              <a:rPr sz="800" i="1" spc="-10" dirty="0">
                <a:latin typeface="DejaVu Sans"/>
                <a:cs typeface="DejaVu Sans"/>
              </a:rPr>
              <a:t>∀</a:t>
            </a:r>
            <a:r>
              <a:rPr sz="800" i="1" spc="-10" dirty="0">
                <a:latin typeface="Times New Roman"/>
                <a:cs typeface="Times New Roman"/>
              </a:rPr>
              <a:t>i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LM Roman 8"/>
                <a:cs typeface="LM Roman 8"/>
              </a:rPr>
              <a:t>[ </a:t>
            </a:r>
            <a:r>
              <a:rPr sz="800" spc="15" dirty="0">
                <a:latin typeface="LM Roman 8"/>
                <a:cs typeface="LM Roman 8"/>
              </a:rPr>
              <a:t>1</a:t>
            </a:r>
            <a:r>
              <a:rPr sz="800" i="1" spc="15" dirty="0">
                <a:latin typeface="Times New Roman"/>
                <a:cs typeface="Times New Roman"/>
              </a:rPr>
              <a:t>,d</a:t>
            </a:r>
            <a:r>
              <a:rPr sz="800" spc="15" dirty="0">
                <a:latin typeface="LM Roman 8"/>
                <a:cs typeface="LM Roman 8"/>
              </a:rPr>
              <a:t>]</a:t>
            </a:r>
            <a:r>
              <a:rPr sz="800" spc="-235" dirty="0">
                <a:latin typeface="LM Roman 8"/>
                <a:cs typeface="LM Roman 8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,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17031" y="809204"/>
            <a:ext cx="690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i="1" spc="67" baseline="-24305" dirty="0">
                <a:latin typeface="Times New Roman"/>
                <a:cs typeface="Times New Roman"/>
              </a:rPr>
              <a:t>h</a:t>
            </a:r>
            <a:r>
              <a:rPr sz="1200" spc="67" baseline="-24305" dirty="0">
                <a:latin typeface="LM Roman 8"/>
                <a:cs typeface="LM Roman 8"/>
              </a:rPr>
              <a:t>(</a:t>
            </a:r>
            <a:r>
              <a:rPr sz="1200" i="1" spc="67" baseline="-24305" dirty="0">
                <a:latin typeface="Times New Roman"/>
                <a:cs typeface="Times New Roman"/>
              </a:rPr>
              <a:t>x</a:t>
            </a:r>
            <a:r>
              <a:rPr sz="600" spc="45" dirty="0">
                <a:latin typeface="LM Roman 6"/>
                <a:cs typeface="LM Roman 6"/>
              </a:rPr>
              <a:t>(</a:t>
            </a:r>
            <a:r>
              <a:rPr sz="600" i="1" spc="45" dirty="0">
                <a:latin typeface="Times New Roman"/>
                <a:cs typeface="Times New Roman"/>
              </a:rPr>
              <a:t>i</a:t>
            </a:r>
            <a:r>
              <a:rPr sz="600" spc="45" dirty="0">
                <a:latin typeface="LM Roman 6"/>
                <a:cs typeface="LM Roman 6"/>
              </a:rPr>
              <a:t>)</a:t>
            </a:r>
            <a:r>
              <a:rPr sz="1200" spc="67" baseline="-24305" dirty="0">
                <a:latin typeface="LM Roman 8"/>
                <a:cs typeface="LM Roman 8"/>
              </a:rPr>
              <a:t>) </a:t>
            </a:r>
            <a:r>
              <a:rPr sz="1200" spc="-7" baseline="-24305" dirty="0">
                <a:latin typeface="LM Roman 8"/>
                <a:cs typeface="LM Roman 8"/>
              </a:rPr>
              <a:t>=</a:t>
            </a:r>
            <a:r>
              <a:rPr sz="1200" spc="-277" baseline="-24305" dirty="0">
                <a:latin typeface="LM Roman 8"/>
                <a:cs typeface="LM Roman 8"/>
              </a:rPr>
              <a:t> </a:t>
            </a:r>
            <a:r>
              <a:rPr sz="1200" i="1" spc="67" baseline="-24305" dirty="0">
                <a:latin typeface="Times New Roman"/>
                <a:cs typeface="Times New Roman"/>
              </a:rPr>
              <a:t>y</a:t>
            </a:r>
            <a:r>
              <a:rPr sz="600" spc="45" dirty="0">
                <a:latin typeface="LM Roman 6"/>
                <a:cs typeface="LM Roman 6"/>
              </a:rPr>
              <a:t>(</a:t>
            </a:r>
            <a:r>
              <a:rPr sz="600" i="1" spc="45" dirty="0">
                <a:latin typeface="Times New Roman"/>
                <a:cs typeface="Times New Roman"/>
              </a:rPr>
              <a:t>i</a:t>
            </a:r>
            <a:r>
              <a:rPr sz="600" spc="4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410591" y="823175"/>
            <a:ext cx="1807845" cy="210820"/>
            <a:chOff x="6410591" y="823175"/>
            <a:chExt cx="1807845" cy="210820"/>
          </a:xfrm>
        </p:grpSpPr>
        <p:sp>
          <p:nvSpPr>
            <p:cNvPr id="35" name="object 35"/>
            <p:cNvSpPr/>
            <p:nvPr/>
          </p:nvSpPr>
          <p:spPr>
            <a:xfrm>
              <a:off x="6410591" y="825703"/>
              <a:ext cx="1807845" cy="0"/>
            </a:xfrm>
            <a:custGeom>
              <a:avLst/>
              <a:gdLst/>
              <a:ahLst/>
              <a:cxnLst/>
              <a:rect l="l" t="t" r="r" b="b"/>
              <a:pathLst>
                <a:path w="1807845">
                  <a:moveTo>
                    <a:pt x="0" y="0"/>
                  </a:moveTo>
                  <a:lnTo>
                    <a:pt x="180767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13118" y="825703"/>
              <a:ext cx="0" cy="205740"/>
            </a:xfrm>
            <a:custGeom>
              <a:avLst/>
              <a:gdLst/>
              <a:ahLst/>
              <a:cxnLst/>
              <a:rect l="l" t="t" r="r" b="b"/>
              <a:pathLst>
                <a:path h="205740">
                  <a:moveTo>
                    <a:pt x="0" y="20527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15744" y="825703"/>
              <a:ext cx="0" cy="205740"/>
            </a:xfrm>
            <a:custGeom>
              <a:avLst/>
              <a:gdLst/>
              <a:ahLst/>
              <a:cxnLst/>
              <a:rect l="l" t="t" r="r" b="b"/>
              <a:pathLst>
                <a:path h="205740">
                  <a:moveTo>
                    <a:pt x="0" y="20527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10591" y="1030973"/>
              <a:ext cx="1807845" cy="0"/>
            </a:xfrm>
            <a:custGeom>
              <a:avLst/>
              <a:gdLst/>
              <a:ahLst/>
              <a:cxnLst/>
              <a:rect l="l" t="t" r="r" b="b"/>
              <a:pathLst>
                <a:path w="1807845">
                  <a:moveTo>
                    <a:pt x="0" y="0"/>
                  </a:moveTo>
                  <a:lnTo>
                    <a:pt x="180767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061762" y="1177695"/>
            <a:ext cx="4505960" cy="2552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850"/>
              </a:lnSpc>
              <a:spcBef>
                <a:spcPts val="215"/>
              </a:spcBef>
              <a:buFont typeface="DejaVu Sans"/>
              <a:buChar char="❒"/>
              <a:tabLst>
                <a:tab pos="121285" algn="l"/>
              </a:tabLst>
            </a:pPr>
            <a:r>
              <a:rPr sz="800" b="1" dirty="0">
                <a:solidFill>
                  <a:srgbClr val="9A0404"/>
                </a:solidFill>
                <a:latin typeface="LM Roman 8"/>
                <a:cs typeface="LM Roman 8"/>
              </a:rPr>
              <a:t>Upper</a:t>
            </a:r>
            <a:r>
              <a:rPr sz="800" b="1" spc="-4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dirty="0">
                <a:solidFill>
                  <a:srgbClr val="9A0404"/>
                </a:solidFill>
                <a:latin typeface="LM Roman 8"/>
                <a:cs typeface="LM Roman 8"/>
              </a:rPr>
              <a:t>bound</a:t>
            </a:r>
            <a:r>
              <a:rPr sz="800" b="1" spc="-3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theorem</a:t>
            </a:r>
            <a:r>
              <a:rPr sz="800" b="1" spc="-7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Let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i="1" spc="114" dirty="0">
                <a:latin typeface="DejaVu Sans"/>
                <a:cs typeface="DejaVu Sans"/>
              </a:rPr>
              <a:t>H</a:t>
            </a:r>
            <a:r>
              <a:rPr sz="800" i="1" spc="-5" dirty="0">
                <a:latin typeface="DejaVu Sans"/>
                <a:cs typeface="DejaVu Sans"/>
              </a:rPr>
              <a:t> </a:t>
            </a:r>
            <a:r>
              <a:rPr sz="800" spc="5" dirty="0">
                <a:latin typeface="LM Roman 8"/>
                <a:cs typeface="LM Roman 8"/>
              </a:rPr>
              <a:t>be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finite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hypothesis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class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i="1" spc="15" dirty="0">
                <a:latin typeface="DejaVu Sans"/>
                <a:cs typeface="DejaVu Sans"/>
              </a:rPr>
              <a:t>|H|</a:t>
            </a:r>
            <a:r>
              <a:rPr sz="800" i="1" spc="-15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85" dirty="0">
                <a:latin typeface="Times New Roman"/>
                <a:cs typeface="Times New Roman"/>
              </a:rPr>
              <a:t>k</a:t>
            </a:r>
            <a:r>
              <a:rPr sz="800" i="1" spc="7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let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i="1" dirty="0">
                <a:latin typeface="Times New Roman"/>
                <a:cs typeface="Times New Roman"/>
              </a:rPr>
              <a:t>δ</a:t>
            </a:r>
            <a:r>
              <a:rPr sz="800" i="1" spc="8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  the sample size </a:t>
            </a:r>
            <a:r>
              <a:rPr sz="800" i="1" spc="170" dirty="0">
                <a:latin typeface="Times New Roman"/>
                <a:cs typeface="Times New Roman"/>
              </a:rPr>
              <a:t>m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10" dirty="0">
                <a:latin typeface="LM Roman 8"/>
                <a:cs typeface="LM Roman 8"/>
              </a:rPr>
              <a:t>fixed. </a:t>
            </a:r>
            <a:r>
              <a:rPr sz="800" spc="-5" dirty="0">
                <a:latin typeface="LM Roman 8"/>
                <a:cs typeface="LM Roman 8"/>
              </a:rPr>
              <a:t>Then, with probability of at least 1 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i="1" spc="15" dirty="0">
                <a:latin typeface="Times New Roman"/>
                <a:cs typeface="Times New Roman"/>
              </a:rPr>
              <a:t>δ</a:t>
            </a:r>
            <a:r>
              <a:rPr sz="800" spc="15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13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57924" y="1587631"/>
            <a:ext cx="83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765" dirty="0">
                <a:latin typeface="Arial"/>
                <a:cs typeface="Arial"/>
              </a:rPr>
              <a:t>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79768" y="1628748"/>
            <a:ext cx="6178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5" dirty="0">
                <a:latin typeface="Times New Roman"/>
                <a:cs typeface="Times New Roman"/>
              </a:rPr>
              <a:t>s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h</a:t>
            </a:r>
            <a:r>
              <a:rPr sz="800" spc="25" dirty="0">
                <a:latin typeface="LM Roman 8"/>
                <a:cs typeface="LM Roman 8"/>
              </a:rPr>
              <a:t>) </a:t>
            </a:r>
            <a:r>
              <a:rPr sz="800" spc="114" dirty="0">
                <a:latin typeface="RobotoRegular"/>
                <a:cs typeface="RobotoRegular"/>
              </a:rPr>
              <a:t>™</a:t>
            </a:r>
            <a:r>
              <a:rPr sz="800" spc="250" dirty="0">
                <a:latin typeface="RobotoRegular"/>
                <a:cs typeface="RobotoRegular"/>
              </a:rPr>
              <a:t> </a:t>
            </a:r>
            <a:r>
              <a:rPr sz="800" spc="-5" dirty="0">
                <a:latin typeface="LM Roman 8"/>
                <a:cs typeface="LM Roman 8"/>
              </a:rPr>
              <a:t>min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782917" y="1729973"/>
            <a:ext cx="224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25" dirty="0">
                <a:latin typeface="Times New Roman"/>
                <a:cs typeface="Times New Roman"/>
              </a:rPr>
              <a:t>h</a:t>
            </a:r>
            <a:r>
              <a:rPr sz="600" i="1" spc="75" dirty="0">
                <a:latin typeface="DejaVu Sans"/>
                <a:cs typeface="DejaVu Sans"/>
              </a:rPr>
              <a:t>∈H</a:t>
            </a:r>
            <a:endParaRPr sz="600">
              <a:latin typeface="DejaVu Sans"/>
              <a:cs typeface="DejaVu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07352" y="1469331"/>
            <a:ext cx="5829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3395" algn="l"/>
              </a:tabLst>
            </a:pPr>
            <a:r>
              <a:rPr sz="1000" spc="315" dirty="0">
                <a:latin typeface="Arial"/>
                <a:cs typeface="Arial"/>
              </a:rPr>
              <a:t>.	</a:t>
            </a:r>
            <a:r>
              <a:rPr sz="1000" spc="-25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99617" y="1628748"/>
            <a:ext cx="475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5" dirty="0">
                <a:latin typeface="Times New Roman"/>
                <a:cs typeface="Times New Roman"/>
              </a:rPr>
              <a:t>s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h</a:t>
            </a:r>
            <a:r>
              <a:rPr sz="800" spc="2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2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49502" y="1420055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71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588719" y="1556753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>
                <a:moveTo>
                  <a:pt x="0" y="0"/>
                </a:moveTo>
                <a:lnTo>
                  <a:pt x="64767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773213" y="1628748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log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91208" y="1558263"/>
            <a:ext cx="5645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1325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</a:t>
            </a:r>
            <a:r>
              <a:rPr sz="800" u="sng" spc="90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	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2</a:t>
            </a:r>
            <a:r>
              <a:rPr sz="800" i="1" u="sng" spc="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591208" y="1704580"/>
            <a:ext cx="5334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2440" algn="l"/>
              </a:tabLst>
            </a:pPr>
            <a:r>
              <a:rPr sz="800" spc="-5" dirty="0">
                <a:latin typeface="LM Roman 8"/>
                <a:cs typeface="LM Roman 8"/>
              </a:rPr>
              <a:t>2</a:t>
            </a:r>
            <a:r>
              <a:rPr sz="800" i="1" spc="170" dirty="0">
                <a:latin typeface="Times New Roman"/>
                <a:cs typeface="Times New Roman"/>
              </a:rPr>
              <a:t>m	</a:t>
            </a:r>
            <a:r>
              <a:rPr sz="800" i="1" dirty="0">
                <a:latin typeface="Times New Roman"/>
                <a:cs typeface="Times New Roman"/>
              </a:rPr>
              <a:t>δ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929727" y="1469331"/>
            <a:ext cx="3194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0504" algn="l"/>
              </a:tabLst>
            </a:pPr>
            <a:r>
              <a:rPr sz="1000" spc="315" dirty="0">
                <a:latin typeface="Arial"/>
                <a:cs typeface="Arial"/>
              </a:rPr>
              <a:t>.	</a:t>
            </a:r>
            <a:r>
              <a:rPr sz="1000" spc="-25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349453" y="1506143"/>
            <a:ext cx="1930400" cy="394970"/>
            <a:chOff x="6349453" y="1506143"/>
            <a:chExt cx="1930400" cy="394970"/>
          </a:xfrm>
        </p:grpSpPr>
        <p:sp>
          <p:nvSpPr>
            <p:cNvPr id="52" name="object 52"/>
            <p:cNvSpPr/>
            <p:nvPr/>
          </p:nvSpPr>
          <p:spPr>
            <a:xfrm>
              <a:off x="6349453" y="1508671"/>
              <a:ext cx="1930400" cy="0"/>
            </a:xfrm>
            <a:custGeom>
              <a:avLst/>
              <a:gdLst/>
              <a:ahLst/>
              <a:cxnLst/>
              <a:rect l="l" t="t" r="r" b="b"/>
              <a:pathLst>
                <a:path w="1930400">
                  <a:moveTo>
                    <a:pt x="0" y="0"/>
                  </a:moveTo>
                  <a:lnTo>
                    <a:pt x="192995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51981" y="1508683"/>
              <a:ext cx="0" cy="389890"/>
            </a:xfrm>
            <a:custGeom>
              <a:avLst/>
              <a:gdLst/>
              <a:ahLst/>
              <a:cxnLst/>
              <a:rect l="l" t="t" r="r" b="b"/>
              <a:pathLst>
                <a:path h="389889">
                  <a:moveTo>
                    <a:pt x="0" y="38969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276882" y="1508683"/>
              <a:ext cx="0" cy="389890"/>
            </a:xfrm>
            <a:custGeom>
              <a:avLst/>
              <a:gdLst/>
              <a:ahLst/>
              <a:cxnLst/>
              <a:rect l="l" t="t" r="r" b="b"/>
              <a:pathLst>
                <a:path h="389889">
                  <a:moveTo>
                    <a:pt x="0" y="38969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349453" y="1898383"/>
              <a:ext cx="1930400" cy="0"/>
            </a:xfrm>
            <a:custGeom>
              <a:avLst/>
              <a:gdLst/>
              <a:ahLst/>
              <a:cxnLst/>
              <a:rect l="l" t="t" r="r" b="b"/>
              <a:pathLst>
                <a:path w="1930400">
                  <a:moveTo>
                    <a:pt x="0" y="0"/>
                  </a:moveTo>
                  <a:lnTo>
                    <a:pt x="192995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5061762" y="2045105"/>
            <a:ext cx="4505960" cy="4267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175"/>
              </a:spcBef>
              <a:buFont typeface="DejaVu Sans"/>
              <a:buChar char="❒"/>
              <a:tabLst>
                <a:tab pos="132715" algn="l"/>
              </a:tabLst>
            </a:pPr>
            <a:r>
              <a:rPr sz="800" b="1" spc="-20" dirty="0">
                <a:solidFill>
                  <a:srgbClr val="0C6C04"/>
                </a:solidFill>
                <a:latin typeface="LM Roman 8"/>
                <a:cs typeface="LM Roman 8"/>
              </a:rPr>
              <a:t>VC </a:t>
            </a: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dimension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Vapnik-Chervonenkis (VC) </a:t>
            </a:r>
            <a:r>
              <a:rPr sz="800" spc="-5" dirty="0">
                <a:latin typeface="LM Roman 8"/>
                <a:cs typeface="LM Roman 8"/>
              </a:rPr>
              <a:t>dimension of a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infinite hypothesis  class </a:t>
            </a:r>
            <a:r>
              <a:rPr sz="800" i="1" spc="55" dirty="0">
                <a:latin typeface="DejaVu Sans"/>
                <a:cs typeface="DejaVu Sans"/>
              </a:rPr>
              <a:t>H</a:t>
            </a:r>
            <a:r>
              <a:rPr sz="800" spc="55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noted </a:t>
            </a:r>
            <a:r>
              <a:rPr sz="800" spc="15" dirty="0">
                <a:latin typeface="LM Roman 8"/>
                <a:cs typeface="LM Roman 8"/>
              </a:rPr>
              <a:t>VC(</a:t>
            </a:r>
            <a:r>
              <a:rPr sz="800" i="1" spc="15" dirty="0">
                <a:latin typeface="DejaVu Sans"/>
                <a:cs typeface="DejaVu Sans"/>
              </a:rPr>
              <a:t>H</a:t>
            </a:r>
            <a:r>
              <a:rPr sz="800" spc="1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is the size of the largest set that is shattered </a:t>
            </a:r>
            <a:r>
              <a:rPr sz="800" spc="-15" dirty="0">
                <a:latin typeface="LM Roman 8"/>
                <a:cs typeface="LM Roman 8"/>
              </a:rPr>
              <a:t>by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55" dirty="0">
                <a:latin typeface="DejaVu Sans"/>
                <a:cs typeface="DejaVu Sans"/>
              </a:rPr>
              <a:t>H</a:t>
            </a:r>
            <a:r>
              <a:rPr sz="800" spc="5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VC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dimension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of </a:t>
            </a:r>
            <a:r>
              <a:rPr sz="800" i="1" spc="114" dirty="0">
                <a:solidFill>
                  <a:srgbClr val="59439A"/>
                </a:solidFill>
                <a:latin typeface="DejaVu Sans"/>
                <a:cs typeface="DejaVu Sans"/>
              </a:rPr>
              <a:t>H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 </a:t>
            </a:r>
            <a:r>
              <a:rPr sz="800" i="1" spc="-25" dirty="0">
                <a:solidFill>
                  <a:srgbClr val="59439A"/>
                </a:solidFill>
                <a:latin typeface="DejaVu Sans"/>
                <a:cs typeface="DejaVu Sans"/>
              </a:rPr>
              <a:t>{</a:t>
            </a:r>
            <a:r>
              <a:rPr sz="900" i="1" spc="-25" dirty="0">
                <a:solidFill>
                  <a:srgbClr val="59439A"/>
                </a:solidFill>
                <a:latin typeface="LM Roman 9"/>
                <a:cs typeface="LM Roman 9"/>
              </a:rPr>
              <a:t>set </a:t>
            </a:r>
            <a:r>
              <a:rPr sz="900" i="1" spc="-5" dirty="0">
                <a:solidFill>
                  <a:srgbClr val="59439A"/>
                </a:solidFill>
                <a:latin typeface="LM Roman 9"/>
                <a:cs typeface="LM Roman 9"/>
              </a:rPr>
              <a:t>of </a:t>
            </a:r>
            <a:r>
              <a:rPr sz="900" i="1" spc="-15" dirty="0">
                <a:solidFill>
                  <a:srgbClr val="59439A"/>
                </a:solidFill>
                <a:latin typeface="LM Roman 9"/>
                <a:cs typeface="LM Roman 9"/>
              </a:rPr>
              <a:t>linear </a:t>
            </a:r>
            <a:r>
              <a:rPr sz="900" i="1" spc="-10" dirty="0">
                <a:solidFill>
                  <a:srgbClr val="59439A"/>
                </a:solidFill>
                <a:latin typeface="LM Roman 9"/>
                <a:cs typeface="LM Roman 9"/>
              </a:rPr>
              <a:t>classifiers </a:t>
            </a:r>
            <a:r>
              <a:rPr sz="900" i="1" spc="-5" dirty="0">
                <a:solidFill>
                  <a:srgbClr val="59439A"/>
                </a:solidFill>
                <a:latin typeface="LM Roman 9"/>
                <a:cs typeface="LM Roman 9"/>
              </a:rPr>
              <a:t>in 2 </a:t>
            </a:r>
            <a:r>
              <a:rPr sz="900" i="1" spc="-15" dirty="0">
                <a:solidFill>
                  <a:srgbClr val="59439A"/>
                </a:solidFill>
                <a:latin typeface="LM Roman 9"/>
                <a:cs typeface="LM Roman 9"/>
              </a:rPr>
              <a:t>dimensions</a:t>
            </a:r>
            <a:r>
              <a:rPr sz="800" i="1" spc="-15" dirty="0">
                <a:solidFill>
                  <a:srgbClr val="59439A"/>
                </a:solidFill>
                <a:latin typeface="DejaVu Sans"/>
                <a:cs typeface="DejaVu Sans"/>
              </a:rPr>
              <a:t>}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</a:t>
            </a:r>
            <a:r>
              <a:rPr sz="800" i="1" spc="6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3.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154434" y="2520881"/>
            <a:ext cx="4319908" cy="475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5061762" y="3064940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795" indent="-1257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38430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Theorem</a:t>
            </a:r>
            <a:r>
              <a:rPr sz="800" b="1" spc="12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20" dirty="0">
                <a:solidFill>
                  <a:srgbClr val="9A0404"/>
                </a:solidFill>
                <a:latin typeface="LM Roman 8"/>
                <a:cs typeface="LM Roman 8"/>
              </a:rPr>
              <a:t>(Vapnik)</a:t>
            </a:r>
            <a:r>
              <a:rPr sz="800" b="1" spc="6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Let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i="1" spc="114" dirty="0">
                <a:latin typeface="DejaVu Sans"/>
                <a:cs typeface="DejaVu Sans"/>
              </a:rPr>
              <a:t>H</a:t>
            </a:r>
            <a:r>
              <a:rPr sz="800" i="1" spc="135" dirty="0">
                <a:latin typeface="DejaVu Sans"/>
                <a:cs typeface="DejaVu Sans"/>
              </a:rPr>
              <a:t> </a:t>
            </a:r>
            <a:r>
              <a:rPr sz="800" spc="5" dirty="0">
                <a:latin typeface="LM Roman 8"/>
                <a:cs typeface="LM Roman 8"/>
              </a:rPr>
              <a:t>be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given,</a:t>
            </a:r>
            <a:r>
              <a:rPr sz="800" spc="1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with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15" dirty="0">
                <a:latin typeface="LM Roman 8"/>
                <a:cs typeface="LM Roman 8"/>
              </a:rPr>
              <a:t>VC(</a:t>
            </a:r>
            <a:r>
              <a:rPr sz="800" i="1" spc="15" dirty="0">
                <a:latin typeface="DejaVu Sans"/>
                <a:cs typeface="DejaVu Sans"/>
              </a:rPr>
              <a:t>H</a:t>
            </a:r>
            <a:r>
              <a:rPr sz="800" spc="15" dirty="0">
                <a:latin typeface="LM Roman 8"/>
                <a:cs typeface="LM Roman 8"/>
              </a:rPr>
              <a:t>)</a:t>
            </a:r>
            <a:r>
              <a:rPr sz="800" spc="1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130" dirty="0">
                <a:latin typeface="LM Roman 8"/>
                <a:cs typeface="LM Roman 8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d</a:t>
            </a:r>
            <a:r>
              <a:rPr sz="800" i="1" spc="18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i="1" spc="170" dirty="0">
                <a:latin typeface="Times New Roman"/>
                <a:cs typeface="Times New Roman"/>
              </a:rPr>
              <a:t>m</a:t>
            </a:r>
            <a:r>
              <a:rPr sz="800" i="1" spc="18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number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training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061762" y="3173195"/>
            <a:ext cx="24441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examples. With probability at least 1 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i="1" spc="15" dirty="0">
                <a:latin typeface="Times New Roman"/>
                <a:cs typeface="Times New Roman"/>
              </a:rPr>
              <a:t>δ</a:t>
            </a:r>
            <a:r>
              <a:rPr sz="800" spc="15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042659" y="3474877"/>
            <a:ext cx="83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765" dirty="0">
                <a:latin typeface="Arial"/>
                <a:cs typeface="Arial"/>
              </a:rPr>
              <a:t></a:t>
            </a:r>
            <a:endParaRPr sz="10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964504" y="3515993"/>
            <a:ext cx="6178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5" dirty="0">
                <a:latin typeface="Times New Roman"/>
                <a:cs typeface="Times New Roman"/>
              </a:rPr>
              <a:t>s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h</a:t>
            </a:r>
            <a:r>
              <a:rPr sz="800" spc="25" dirty="0">
                <a:latin typeface="LM Roman 8"/>
                <a:cs typeface="LM Roman 8"/>
              </a:rPr>
              <a:t>) </a:t>
            </a:r>
            <a:r>
              <a:rPr sz="800" spc="114" dirty="0">
                <a:latin typeface="RobotoRegular"/>
                <a:cs typeface="RobotoRegular"/>
              </a:rPr>
              <a:t>™</a:t>
            </a:r>
            <a:r>
              <a:rPr sz="800" spc="250" dirty="0">
                <a:latin typeface="RobotoRegular"/>
                <a:cs typeface="RobotoRegular"/>
              </a:rPr>
              <a:t> </a:t>
            </a:r>
            <a:r>
              <a:rPr sz="800" spc="-5" dirty="0">
                <a:latin typeface="LM Roman 8"/>
                <a:cs typeface="LM Roman 8"/>
              </a:rPr>
              <a:t>min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367640" y="3617219"/>
            <a:ext cx="224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25" dirty="0">
                <a:latin typeface="Times New Roman"/>
                <a:cs typeface="Times New Roman"/>
              </a:rPr>
              <a:t>h</a:t>
            </a:r>
            <a:r>
              <a:rPr sz="600" i="1" spc="75" dirty="0">
                <a:latin typeface="DejaVu Sans"/>
                <a:cs typeface="DejaVu Sans"/>
              </a:rPr>
              <a:t>∈H</a:t>
            </a:r>
            <a:endParaRPr sz="600">
              <a:latin typeface="DejaVu Sans"/>
              <a:cs typeface="DejaVu San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292075" y="3356577"/>
            <a:ext cx="5829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3395" algn="l"/>
              </a:tabLst>
            </a:pPr>
            <a:r>
              <a:rPr sz="1000" spc="315" dirty="0">
                <a:latin typeface="Arial"/>
                <a:cs typeface="Arial"/>
              </a:rPr>
              <a:t>.	</a:t>
            </a:r>
            <a:r>
              <a:rPr sz="1000" spc="-25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584340" y="3515993"/>
            <a:ext cx="5035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5" dirty="0">
                <a:latin typeface="Times New Roman"/>
                <a:cs typeface="Times New Roman"/>
              </a:rPr>
              <a:t>s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h</a:t>
            </a:r>
            <a:r>
              <a:rPr sz="800" spc="2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+ </a:t>
            </a:r>
            <a:r>
              <a:rPr sz="800" i="1" spc="60" dirty="0">
                <a:latin typeface="Times New Roman"/>
                <a:cs typeface="Times New Roman"/>
              </a:rPr>
              <a:t>O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315327" y="3443998"/>
            <a:ext cx="1243330" cy="0"/>
          </a:xfrm>
          <a:custGeom>
            <a:avLst/>
            <a:gdLst/>
            <a:ahLst/>
            <a:cxnLst/>
            <a:rect l="l" t="t" r="r" b="b"/>
            <a:pathLst>
              <a:path w="1243329">
                <a:moveTo>
                  <a:pt x="0" y="0"/>
                </a:moveTo>
                <a:lnTo>
                  <a:pt x="124320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446047" y="3515993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log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337704" y="3445508"/>
            <a:ext cx="4762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7665" algn="l"/>
              </a:tabLst>
            </a:pPr>
            <a:r>
              <a:rPr sz="800" i="1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800" i="1" spc="35" dirty="0">
                <a:latin typeface="Times New Roman"/>
                <a:cs typeface="Times New Roman"/>
              </a:rPr>
              <a:t>	</a:t>
            </a:r>
            <a:r>
              <a:rPr sz="800" i="1" u="sng" spc="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317803" y="3591825"/>
            <a:ext cx="4762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7670" algn="l"/>
              </a:tabLst>
            </a:pPr>
            <a:r>
              <a:rPr sz="800" i="1" spc="170" dirty="0">
                <a:latin typeface="Times New Roman"/>
                <a:cs typeface="Times New Roman"/>
              </a:rPr>
              <a:t>m	</a:t>
            </a:r>
            <a:r>
              <a:rPr sz="800" i="1" spc="35" dirty="0">
                <a:latin typeface="Times New Roman"/>
                <a:cs typeface="Times New Roman"/>
              </a:rPr>
              <a:t>d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602563" y="3356577"/>
            <a:ext cx="302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315" dirty="0">
                <a:latin typeface="Arial"/>
                <a:cs typeface="Arial"/>
              </a:rPr>
              <a:t>.</a:t>
            </a:r>
            <a:r>
              <a:rPr sz="1000" spc="6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903082" y="3515993"/>
            <a:ext cx="4140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3525" algn="l"/>
              </a:tabLst>
            </a:pPr>
            <a:r>
              <a:rPr sz="800" spc="-5" dirty="0">
                <a:latin typeface="LM Roman 8"/>
                <a:cs typeface="LM Roman 8"/>
              </a:rPr>
              <a:t>+	log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025815" y="3445508"/>
            <a:ext cx="45465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7985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</a:t>
            </a:r>
            <a:r>
              <a:rPr sz="800" spc="-5" dirty="0">
                <a:latin typeface="LM Roman 8"/>
                <a:cs typeface="LM Roman 8"/>
              </a:rPr>
              <a:t>	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025815" y="3591825"/>
            <a:ext cx="4502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255" algn="l"/>
              </a:tabLst>
            </a:pPr>
            <a:r>
              <a:rPr sz="800" i="1" spc="170" dirty="0">
                <a:latin typeface="Times New Roman"/>
                <a:cs typeface="Times New Roman"/>
              </a:rPr>
              <a:t>m	</a:t>
            </a:r>
            <a:r>
              <a:rPr sz="800" i="1" dirty="0">
                <a:latin typeface="Times New Roman"/>
                <a:cs typeface="Times New Roman"/>
              </a:rPr>
              <a:t>δ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310562" y="3356577"/>
            <a:ext cx="2609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315" dirty="0">
                <a:latin typeface="Arial"/>
                <a:cs typeface="Arial"/>
              </a:rPr>
              <a:t>.</a:t>
            </a:r>
            <a:r>
              <a:rPr sz="1000" spc="29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082967" y="3318616"/>
            <a:ext cx="1581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75105" algn="l"/>
              </a:tabLst>
            </a:pPr>
            <a:r>
              <a:rPr sz="1000" spc="455" dirty="0">
                <a:latin typeface="Arial"/>
                <a:cs typeface="Arial"/>
              </a:rPr>
              <a:t>.</a:t>
            </a:r>
            <a:r>
              <a:rPr sz="1500" spc="1072" baseline="5555" dirty="0">
                <a:latin typeface="Arial"/>
                <a:cs typeface="Arial"/>
              </a:rPr>
              <a:t>.	</a:t>
            </a:r>
            <a:r>
              <a:rPr sz="1000" spc="114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5934176" y="3393401"/>
            <a:ext cx="2760980" cy="406400"/>
            <a:chOff x="5934176" y="3393401"/>
            <a:chExt cx="2760980" cy="406400"/>
          </a:xfrm>
        </p:grpSpPr>
        <p:sp>
          <p:nvSpPr>
            <p:cNvPr id="76" name="object 76"/>
            <p:cNvSpPr/>
            <p:nvPr/>
          </p:nvSpPr>
          <p:spPr>
            <a:xfrm>
              <a:off x="5934176" y="3395929"/>
              <a:ext cx="2760980" cy="0"/>
            </a:xfrm>
            <a:custGeom>
              <a:avLst/>
              <a:gdLst/>
              <a:ahLst/>
              <a:cxnLst/>
              <a:rect l="l" t="t" r="r" b="b"/>
              <a:pathLst>
                <a:path w="2760979">
                  <a:moveTo>
                    <a:pt x="0" y="0"/>
                  </a:moveTo>
                  <a:lnTo>
                    <a:pt x="276051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936716" y="3395929"/>
              <a:ext cx="0" cy="401320"/>
            </a:xfrm>
            <a:custGeom>
              <a:avLst/>
              <a:gdLst/>
              <a:ahLst/>
              <a:cxnLst/>
              <a:rect l="l" t="t" r="r" b="b"/>
              <a:pathLst>
                <a:path h="401320">
                  <a:moveTo>
                    <a:pt x="0" y="4010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692159" y="3395929"/>
              <a:ext cx="0" cy="401320"/>
            </a:xfrm>
            <a:custGeom>
              <a:avLst/>
              <a:gdLst/>
              <a:ahLst/>
              <a:cxnLst/>
              <a:rect l="l" t="t" r="r" b="b"/>
              <a:pathLst>
                <a:path h="401320">
                  <a:moveTo>
                    <a:pt x="0" y="4010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34176" y="3796931"/>
              <a:ext cx="2760980" cy="0"/>
            </a:xfrm>
            <a:custGeom>
              <a:avLst/>
              <a:gdLst/>
              <a:ahLst/>
              <a:cxnLst/>
              <a:rect l="l" t="t" r="r" b="b"/>
              <a:pathLst>
                <a:path w="2760979">
                  <a:moveTo>
                    <a:pt x="0" y="0"/>
                  </a:moveTo>
                  <a:lnTo>
                    <a:pt x="276051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/>
          <p:nvPr/>
        </p:nvSpPr>
        <p:spPr>
          <a:xfrm>
            <a:off x="467994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299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6667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3999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5899" y="683953"/>
            <a:ext cx="4556760" cy="1076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 indent="-218440">
              <a:lnSpc>
                <a:spcPts val="1195"/>
              </a:lnSpc>
              <a:buSzPct val="111111"/>
              <a:buFont typeface="LM Roman 10"/>
              <a:buAutoNum type="arabicPlain" startAt="2"/>
              <a:tabLst>
                <a:tab pos="255904" algn="l"/>
                <a:tab pos="256540" algn="l"/>
              </a:tabLst>
            </a:pPr>
            <a:r>
              <a:rPr sz="900" b="1" spc="-5" dirty="0">
                <a:latin typeface="LM Roman 9"/>
                <a:cs typeface="LM Roman 9"/>
              </a:rPr>
              <a:t>Unsupervised</a:t>
            </a:r>
            <a:r>
              <a:rPr sz="900" b="1" spc="-10" dirty="0">
                <a:latin typeface="LM Roman 9"/>
                <a:cs typeface="LM Roman 9"/>
              </a:rPr>
              <a:t> Learning</a:t>
            </a:r>
            <a:endParaRPr sz="900">
              <a:latin typeface="LM Roman 9"/>
              <a:cs typeface="LM Roman 9"/>
            </a:endParaRPr>
          </a:p>
          <a:p>
            <a:pPr marL="368935" lvl="1" indent="-331470">
              <a:lnSpc>
                <a:spcPct val="100000"/>
              </a:lnSpc>
              <a:spcBef>
                <a:spcPts val="980"/>
              </a:spcBef>
              <a:buSzPct val="111111"/>
              <a:buFont typeface="LM Roman 10"/>
              <a:buAutoNum type="arabicPeriod"/>
              <a:tabLst>
                <a:tab pos="368935" algn="l"/>
                <a:tab pos="369570" algn="l"/>
              </a:tabLst>
            </a:pPr>
            <a:r>
              <a:rPr sz="900" b="1" spc="-5" dirty="0">
                <a:latin typeface="LM Roman 9"/>
                <a:cs typeface="LM Roman 9"/>
              </a:rPr>
              <a:t>Introduction to Unsupervised </a:t>
            </a:r>
            <a:r>
              <a:rPr sz="900" b="1" spc="-10" dirty="0">
                <a:latin typeface="LM Roman 9"/>
                <a:cs typeface="LM Roman 9"/>
              </a:rPr>
              <a:t>Learning</a:t>
            </a:r>
            <a:endParaRPr sz="900">
              <a:latin typeface="LM Roman 9"/>
              <a:cs typeface="LM Roman 9"/>
            </a:endParaRPr>
          </a:p>
          <a:p>
            <a:pPr marL="147955" indent="-110489">
              <a:lnSpc>
                <a:spcPct val="100000"/>
              </a:lnSpc>
              <a:spcBef>
                <a:spcPts val="660"/>
              </a:spcBef>
              <a:buFont typeface="DejaVu Sans"/>
              <a:buChar char="❒"/>
              <a:tabLst>
                <a:tab pos="14859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Motivation </a:t>
            </a:r>
            <a:r>
              <a:rPr sz="800" spc="-5" dirty="0">
                <a:latin typeface="LM Roman 8"/>
                <a:cs typeface="LM Roman 8"/>
              </a:rPr>
              <a:t>– The goal of </a:t>
            </a:r>
            <a:r>
              <a:rPr sz="800" dirty="0">
                <a:latin typeface="LM Roman 8"/>
                <a:cs typeface="LM Roman 8"/>
              </a:rPr>
              <a:t>unsupervised </a:t>
            </a:r>
            <a:r>
              <a:rPr sz="800" spc="-5" dirty="0">
                <a:latin typeface="LM Roman 8"/>
                <a:cs typeface="LM Roman 8"/>
              </a:rPr>
              <a:t>learning is to </a:t>
            </a:r>
            <a:r>
              <a:rPr sz="800" spc="-10" dirty="0">
                <a:latin typeface="LM Roman 8"/>
                <a:cs typeface="LM Roman 8"/>
              </a:rPr>
              <a:t>find </a:t>
            </a:r>
            <a:r>
              <a:rPr sz="800" spc="-5" dirty="0">
                <a:latin typeface="LM Roman 8"/>
                <a:cs typeface="LM Roman 8"/>
              </a:rPr>
              <a:t>hidden patterns in </a:t>
            </a:r>
            <a:r>
              <a:rPr sz="800" dirty="0">
                <a:latin typeface="LM Roman 8"/>
                <a:cs typeface="LM Roman 8"/>
              </a:rPr>
              <a:t>unlabeled</a:t>
            </a:r>
            <a:r>
              <a:rPr sz="800" spc="-1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data</a:t>
            </a:r>
            <a:endParaRPr sz="800">
              <a:latin typeface="LM Roman 8"/>
              <a:cs typeface="LM Roman 8"/>
            </a:endParaRPr>
          </a:p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z="800" i="1" spc="30" dirty="0">
                <a:latin typeface="DejaVu Sans"/>
                <a:cs typeface="DejaVu Sans"/>
              </a:rPr>
              <a:t>{</a:t>
            </a:r>
            <a:r>
              <a:rPr sz="800" i="1" spc="30" dirty="0">
                <a:latin typeface="Times New Roman"/>
                <a:cs typeface="Times New Roman"/>
              </a:rPr>
              <a:t>x</a:t>
            </a:r>
            <a:r>
              <a:rPr sz="900" spc="44" baseline="27777" dirty="0">
                <a:latin typeface="LM Roman 6"/>
                <a:cs typeface="LM Roman 6"/>
              </a:rPr>
              <a:t>(1)</a:t>
            </a:r>
            <a:r>
              <a:rPr sz="800" i="1" spc="30" dirty="0">
                <a:latin typeface="Times New Roman"/>
                <a:cs typeface="Times New Roman"/>
              </a:rPr>
              <a:t>,...,x</a:t>
            </a:r>
            <a:r>
              <a:rPr sz="900" spc="44" baseline="27777" dirty="0">
                <a:latin typeface="LM Roman 6"/>
                <a:cs typeface="LM Roman 6"/>
              </a:rPr>
              <a:t>(</a:t>
            </a:r>
            <a:r>
              <a:rPr sz="900" i="1" spc="44" baseline="27777" dirty="0">
                <a:latin typeface="Times New Roman"/>
                <a:cs typeface="Times New Roman"/>
              </a:rPr>
              <a:t>m</a:t>
            </a:r>
            <a:r>
              <a:rPr sz="900" spc="44" baseline="27777" dirty="0">
                <a:latin typeface="LM Roman 6"/>
                <a:cs typeface="LM Roman 6"/>
              </a:rPr>
              <a:t>)</a:t>
            </a:r>
            <a:r>
              <a:rPr sz="800" i="1" spc="30" dirty="0">
                <a:latin typeface="DejaVu Sans"/>
                <a:cs typeface="DejaVu Sans"/>
              </a:rPr>
              <a:t>}</a:t>
            </a:r>
            <a:r>
              <a:rPr sz="800" spc="30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38100" marR="30480">
              <a:lnSpc>
                <a:spcPts val="800"/>
              </a:lnSpc>
              <a:spcBef>
                <a:spcPts val="795"/>
              </a:spcBef>
              <a:buFont typeface="DejaVu Sans"/>
              <a:buChar char="❒"/>
              <a:tabLst>
                <a:tab pos="154305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Jensen’s inequality </a:t>
            </a:r>
            <a:r>
              <a:rPr sz="800" spc="-5" dirty="0">
                <a:latin typeface="LM Roman 8"/>
                <a:cs typeface="LM Roman 8"/>
              </a:rPr>
              <a:t>– Let </a:t>
            </a:r>
            <a:r>
              <a:rPr sz="800" i="1" spc="180" dirty="0">
                <a:latin typeface="Times New Roman"/>
                <a:cs typeface="Times New Roman"/>
              </a:rPr>
              <a:t>f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spc="-10" dirty="0">
                <a:latin typeface="LM Roman 8"/>
                <a:cs typeface="LM Roman 8"/>
              </a:rPr>
              <a:t>convex function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204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a random </a:t>
            </a:r>
            <a:r>
              <a:rPr sz="800" spc="-10" dirty="0">
                <a:latin typeface="LM Roman 8"/>
                <a:cs typeface="LM Roman 8"/>
              </a:rPr>
              <a:t>variable. </a:t>
            </a:r>
            <a:r>
              <a:rPr sz="800" spc="-40" dirty="0">
                <a:latin typeface="LM Roman 8"/>
                <a:cs typeface="LM Roman 8"/>
              </a:rPr>
              <a:t>We </a:t>
            </a:r>
            <a:r>
              <a:rPr sz="800" spc="-15" dirty="0">
                <a:latin typeface="LM Roman 8"/>
                <a:cs typeface="LM Roman 8"/>
              </a:rPr>
              <a:t>have </a:t>
            </a:r>
            <a:r>
              <a:rPr sz="800" spc="-5" dirty="0">
                <a:latin typeface="LM Roman 8"/>
                <a:cs typeface="LM Roman 8"/>
              </a:rPr>
              <a:t>the  </a:t>
            </a:r>
            <a:r>
              <a:rPr sz="800" spc="-10" dirty="0">
                <a:latin typeface="LM Roman 8"/>
                <a:cs typeface="LM Roman 8"/>
              </a:rPr>
              <a:t>following</a:t>
            </a:r>
            <a:r>
              <a:rPr sz="800" spc="-5" dirty="0">
                <a:latin typeface="LM Roman 8"/>
                <a:cs typeface="LM Roman 8"/>
              </a:rPr>
              <a:t> inequality: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6807" y="1789976"/>
            <a:ext cx="994410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800" i="1" spc="114" dirty="0">
                <a:latin typeface="Times New Roman"/>
                <a:cs typeface="Times New Roman"/>
              </a:rPr>
              <a:t>E</a:t>
            </a:r>
            <a:r>
              <a:rPr sz="800" spc="114" dirty="0">
                <a:latin typeface="LM Roman 8"/>
                <a:cs typeface="LM Roman 8"/>
              </a:rPr>
              <a:t>[</a:t>
            </a:r>
            <a:r>
              <a:rPr sz="800" i="1" spc="114" dirty="0">
                <a:latin typeface="Times New Roman"/>
                <a:cs typeface="Times New Roman"/>
              </a:rPr>
              <a:t>f</a:t>
            </a:r>
            <a:r>
              <a:rPr sz="800" i="1" spc="-125" dirty="0">
                <a:latin typeface="Times New Roman"/>
                <a:cs typeface="Times New Roman"/>
              </a:rPr>
              <a:t> </a:t>
            </a:r>
            <a:r>
              <a:rPr sz="800" spc="65" dirty="0">
                <a:latin typeface="LM Roman 8"/>
                <a:cs typeface="LM Roman 8"/>
              </a:rPr>
              <a:t>(</a:t>
            </a:r>
            <a:r>
              <a:rPr sz="800" i="1" spc="65" dirty="0">
                <a:latin typeface="Times New Roman"/>
                <a:cs typeface="Times New Roman"/>
              </a:rPr>
              <a:t>X</a:t>
            </a:r>
            <a:r>
              <a:rPr sz="800" spc="65" dirty="0">
                <a:latin typeface="LM Roman 8"/>
                <a:cs typeface="LM Roman 8"/>
              </a:rPr>
              <a:t>)]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335" dirty="0">
                <a:latin typeface="RobotoRegular"/>
                <a:cs typeface="RobotoRegular"/>
              </a:rPr>
              <a:t>“</a:t>
            </a:r>
            <a:r>
              <a:rPr sz="800" spc="20" dirty="0">
                <a:latin typeface="RobotoRegular"/>
                <a:cs typeface="RobotoRegular"/>
              </a:rPr>
              <a:t> </a:t>
            </a:r>
            <a:r>
              <a:rPr sz="800" i="1" spc="180" dirty="0">
                <a:latin typeface="Times New Roman"/>
                <a:cs typeface="Times New Roman"/>
              </a:rPr>
              <a:t>f</a:t>
            </a:r>
            <a:r>
              <a:rPr sz="800" i="1" spc="-120" dirty="0">
                <a:latin typeface="Times New Roman"/>
                <a:cs typeface="Times New Roman"/>
              </a:rPr>
              <a:t> </a:t>
            </a:r>
            <a:r>
              <a:rPr sz="800" spc="70" dirty="0">
                <a:latin typeface="LM Roman 8"/>
                <a:cs typeface="LM Roman 8"/>
              </a:rPr>
              <a:t>(</a:t>
            </a:r>
            <a:r>
              <a:rPr sz="800" i="1" spc="70" dirty="0">
                <a:latin typeface="Times New Roman"/>
                <a:cs typeface="Times New Roman"/>
              </a:rPr>
              <a:t>E</a:t>
            </a:r>
            <a:r>
              <a:rPr sz="800" spc="70" dirty="0">
                <a:latin typeface="LM Roman 8"/>
                <a:cs typeface="LM Roman 8"/>
              </a:rPr>
              <a:t>[</a:t>
            </a:r>
            <a:r>
              <a:rPr sz="800" i="1" spc="70" dirty="0">
                <a:latin typeface="Times New Roman"/>
                <a:cs typeface="Times New Roman"/>
              </a:rPr>
              <a:t>X</a:t>
            </a:r>
            <a:r>
              <a:rPr sz="800" spc="70" dirty="0">
                <a:latin typeface="LM Roman 8"/>
                <a:cs typeface="LM Roman 8"/>
              </a:rPr>
              <a:t>])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299" y="2061421"/>
            <a:ext cx="4505325" cy="8947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43535" lvl="1" indent="-331470">
              <a:lnSpc>
                <a:spcPct val="100000"/>
              </a:lnSpc>
              <a:spcBef>
                <a:spcPts val="590"/>
              </a:spcBef>
              <a:buSzPct val="111111"/>
              <a:buFont typeface="LM Roman 10"/>
              <a:buAutoNum type="arabicPeriod" startAt="2"/>
              <a:tabLst>
                <a:tab pos="343535" algn="l"/>
                <a:tab pos="344170" algn="l"/>
              </a:tabLst>
            </a:pPr>
            <a:r>
              <a:rPr sz="900" b="1" spc="-10" dirty="0">
                <a:latin typeface="LM Roman 9"/>
                <a:cs typeface="LM Roman 9"/>
              </a:rPr>
              <a:t>Clustering</a:t>
            </a:r>
            <a:endParaRPr sz="900">
              <a:latin typeface="LM Roman 9"/>
              <a:cs typeface="LM Roman 9"/>
            </a:endParaRPr>
          </a:p>
          <a:p>
            <a:pPr marL="457200" lvl="2" indent="-445134">
              <a:lnSpc>
                <a:spcPct val="100000"/>
              </a:lnSpc>
              <a:spcBef>
                <a:spcPts val="640"/>
              </a:spcBef>
              <a:buSzPct val="111111"/>
              <a:buFont typeface="LM Roman 10"/>
              <a:buAutoNum type="arabicPeriod"/>
              <a:tabLst>
                <a:tab pos="457200" algn="l"/>
                <a:tab pos="457834" algn="l"/>
              </a:tabLst>
            </a:pPr>
            <a:r>
              <a:rPr sz="900" b="1" spc="-5" dirty="0">
                <a:latin typeface="LM Roman 9"/>
                <a:cs typeface="LM Roman 9"/>
              </a:rPr>
              <a:t>Expectation-Maximization</a:t>
            </a:r>
            <a:endParaRPr sz="900">
              <a:latin typeface="LM Roman 9"/>
              <a:cs typeface="LM Roman 9"/>
            </a:endParaRPr>
          </a:p>
          <a:p>
            <a:pPr marL="12700" marR="5080" algn="just">
              <a:lnSpc>
                <a:spcPct val="86000"/>
              </a:lnSpc>
              <a:spcBef>
                <a:spcPts val="835"/>
              </a:spcBef>
              <a:buFont typeface="DejaVu Sans"/>
              <a:buChar char="❒"/>
              <a:tabLst>
                <a:tab pos="127635" algn="l"/>
              </a:tabLst>
            </a:pPr>
            <a:r>
              <a:rPr sz="800" b="1" spc="-15" dirty="0">
                <a:solidFill>
                  <a:srgbClr val="9A0404"/>
                </a:solidFill>
                <a:latin typeface="LM Roman 8"/>
                <a:cs typeface="LM Roman 8"/>
              </a:rPr>
              <a:t>Latent variables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0" dirty="0">
                <a:latin typeface="LM Roman 8"/>
                <a:cs typeface="LM Roman 8"/>
              </a:rPr>
              <a:t>Latent variables </a:t>
            </a:r>
            <a:r>
              <a:rPr sz="800" spc="-5" dirty="0">
                <a:latin typeface="LM Roman 8"/>
                <a:cs typeface="LM Roman 8"/>
              </a:rPr>
              <a:t>are hidden/unobserved </a:t>
            </a:r>
            <a:r>
              <a:rPr sz="800" spc="-10" dirty="0">
                <a:latin typeface="LM Roman 8"/>
                <a:cs typeface="LM Roman 8"/>
              </a:rPr>
              <a:t>variables </a:t>
            </a:r>
            <a:r>
              <a:rPr sz="800" spc="-5" dirty="0">
                <a:latin typeface="LM Roman 8"/>
                <a:cs typeface="LM Roman 8"/>
              </a:rPr>
              <a:t>that </a:t>
            </a:r>
            <a:r>
              <a:rPr sz="800" spc="-10" dirty="0">
                <a:latin typeface="LM Roman 8"/>
                <a:cs typeface="LM Roman 8"/>
              </a:rPr>
              <a:t>make </a:t>
            </a:r>
            <a:r>
              <a:rPr sz="800" spc="-5" dirty="0">
                <a:latin typeface="LM Roman 8"/>
                <a:cs typeface="LM Roman 8"/>
              </a:rPr>
              <a:t>estimation  problems </a:t>
            </a:r>
            <a:r>
              <a:rPr sz="800" spc="-10" dirty="0">
                <a:latin typeface="LM Roman 8"/>
                <a:cs typeface="LM Roman 8"/>
              </a:rPr>
              <a:t>difficult, </a:t>
            </a:r>
            <a:r>
              <a:rPr sz="800" spc="-5" dirty="0">
                <a:latin typeface="LM Roman 8"/>
                <a:cs typeface="LM Roman 8"/>
              </a:rPr>
              <a:t>and are often denoted </a:t>
            </a:r>
            <a:r>
              <a:rPr sz="800" i="1" spc="55" dirty="0">
                <a:latin typeface="Times New Roman"/>
                <a:cs typeface="Times New Roman"/>
              </a:rPr>
              <a:t>z</a:t>
            </a:r>
            <a:r>
              <a:rPr sz="800" spc="55" dirty="0">
                <a:latin typeface="LM Roman 8"/>
                <a:cs typeface="LM Roman 8"/>
              </a:rPr>
              <a:t>. </a:t>
            </a:r>
            <a:r>
              <a:rPr sz="800" spc="-10" dirty="0">
                <a:latin typeface="LM Roman 8"/>
                <a:cs typeface="LM Roman 8"/>
              </a:rPr>
              <a:t>Here </a:t>
            </a:r>
            <a:r>
              <a:rPr sz="800" spc="-5" dirty="0">
                <a:latin typeface="LM Roman 8"/>
                <a:cs typeface="LM Roman 8"/>
              </a:rPr>
              <a:t>are the most common settings where there</a:t>
            </a:r>
            <a:r>
              <a:rPr sz="800" spc="-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  </a:t>
            </a:r>
            <a:r>
              <a:rPr sz="800" spc="-10" dirty="0">
                <a:latin typeface="LM Roman 8"/>
                <a:cs typeface="LM Roman 8"/>
              </a:rPr>
              <a:t>latent variables:</a:t>
            </a:r>
            <a:endParaRPr sz="800">
              <a:latin typeface="LM Roman 8"/>
              <a:cs typeface="LM Roman 8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34390" y="3022333"/>
          <a:ext cx="4013200" cy="6220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99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Setting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b="1" spc="-15" dirty="0">
                          <a:latin typeface="LM Roman 8"/>
                          <a:cs typeface="LM Roman 8"/>
                        </a:rPr>
                        <a:t>Latent variable </a:t>
                      </a:r>
                      <a:r>
                        <a:rPr sz="800" i="1" spc="80" dirty="0">
                          <a:latin typeface="Times New Roman"/>
                          <a:cs typeface="Times New Roman"/>
                        </a:rPr>
                        <a:t>z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5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55" dirty="0">
                          <a:latin typeface="DejaVu Sans"/>
                          <a:cs typeface="DejaVu Sans"/>
                        </a:rPr>
                        <a:t>|</a:t>
                      </a:r>
                      <a:r>
                        <a:rPr sz="800" i="1" spc="55" dirty="0">
                          <a:latin typeface="Times New Roman"/>
                          <a:cs typeface="Times New Roman"/>
                        </a:rPr>
                        <a:t>z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Comments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3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Mixture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of </a:t>
                      </a:r>
                      <a:r>
                        <a:rPr sz="800" i="1" spc="85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800" i="1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Gaussians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61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Multinomial(</a:t>
                      </a:r>
                      <a:r>
                        <a:rPr sz="800" i="1" spc="-5" dirty="0">
                          <a:latin typeface="Times New Roman"/>
                          <a:cs typeface="Times New Roman"/>
                        </a:rPr>
                        <a:t>φ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61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800" i="1" spc="90" dirty="0">
                          <a:latin typeface="DejaVu Sans"/>
                          <a:cs typeface="DejaVu Sans"/>
                        </a:rPr>
                        <a:t>N</a:t>
                      </a:r>
                      <a:r>
                        <a:rPr sz="800" i="1" spc="-15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7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70" dirty="0">
                          <a:latin typeface="Times New Roman"/>
                          <a:cs typeface="Times New Roman"/>
                        </a:rPr>
                        <a:t>µ</a:t>
                      </a:r>
                      <a:r>
                        <a:rPr sz="900" i="1" spc="104" baseline="-9259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800" i="1" spc="7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800" spc="70" dirty="0">
                          <a:latin typeface="LM Roman 8"/>
                          <a:cs typeface="LM Roman 8"/>
                        </a:rPr>
                        <a:t>Σ</a:t>
                      </a:r>
                      <a:r>
                        <a:rPr sz="900" i="1" spc="104" baseline="-9259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900" i="1" spc="-104" baseline="-92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61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800" i="1" spc="90" dirty="0">
                          <a:latin typeface="Times New Roman"/>
                          <a:cs typeface="Times New Roman"/>
                        </a:rPr>
                        <a:t>µ</a:t>
                      </a:r>
                      <a:r>
                        <a:rPr sz="900" i="1" spc="135" baseline="-9259" dirty="0">
                          <a:latin typeface="Times New Roman"/>
                          <a:cs typeface="Times New Roman"/>
                        </a:rPr>
                        <a:t>j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 </a:t>
                      </a:r>
                      <a:r>
                        <a:rPr sz="800" spc="75" dirty="0">
                          <a:latin typeface="MathJax_AMS"/>
                          <a:cs typeface="MathJax_AMS"/>
                        </a:rPr>
                        <a:t>R</a:t>
                      </a:r>
                      <a:r>
                        <a:rPr sz="900" i="1" spc="112" baseline="27777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800" i="1" spc="75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800" i="1" spc="60" dirty="0">
                          <a:latin typeface="Times New Roman"/>
                          <a:cs typeface="Times New Roman"/>
                        </a:rPr>
                        <a:t>φ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</a:t>
                      </a:r>
                      <a:r>
                        <a:rPr sz="800" i="1" spc="-15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60" dirty="0">
                          <a:latin typeface="MathJax_AMS"/>
                          <a:cs typeface="MathJax_AMS"/>
                        </a:rPr>
                        <a:t>R</a:t>
                      </a:r>
                      <a:r>
                        <a:rPr sz="900" i="1" spc="89" baseline="27777" dirty="0">
                          <a:latin typeface="Times New Roman"/>
                          <a:cs typeface="Times New Roman"/>
                        </a:rPr>
                        <a:t>k</a:t>
                      </a:r>
                      <a:endParaRPr sz="900" baseline="27777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15" dirty="0">
                          <a:latin typeface="LM Roman 8"/>
                          <a:cs typeface="LM Roman 8"/>
                        </a:rPr>
                        <a:t>Factor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analysis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90" dirty="0">
                          <a:latin typeface="DejaVu Sans"/>
                          <a:cs typeface="DejaVu Sans"/>
                        </a:rPr>
                        <a:t>N</a:t>
                      </a:r>
                      <a:r>
                        <a:rPr sz="800" i="1" spc="-14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(0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,I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90" dirty="0">
                          <a:latin typeface="DejaVu Sans"/>
                          <a:cs typeface="DejaVu Sans"/>
                        </a:rPr>
                        <a:t>N</a:t>
                      </a:r>
                      <a:r>
                        <a:rPr sz="800" i="1" spc="-15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2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20" dirty="0">
                          <a:latin typeface="Times New Roman"/>
                          <a:cs typeface="Times New Roman"/>
                        </a:rPr>
                        <a:t>µ</a:t>
                      </a:r>
                      <a:r>
                        <a:rPr sz="800" i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45" dirty="0">
                          <a:latin typeface="LM Roman 8"/>
                          <a:cs typeface="LM Roman 8"/>
                        </a:rPr>
                        <a:t>Λ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z,ψ</a:t>
                      </a:r>
                      <a:r>
                        <a:rPr sz="800" spc="4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90" dirty="0">
                          <a:latin typeface="Times New Roman"/>
                          <a:cs typeface="Times New Roman"/>
                        </a:rPr>
                        <a:t>µ</a:t>
                      </a:r>
                      <a:r>
                        <a:rPr sz="900" i="1" spc="135" baseline="-9259" dirty="0">
                          <a:latin typeface="Times New Roman"/>
                          <a:cs typeface="Times New Roman"/>
                        </a:rPr>
                        <a:t>j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</a:t>
                      </a:r>
                      <a:r>
                        <a:rPr sz="800" i="1" spc="-8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75" dirty="0">
                          <a:latin typeface="MathJax_AMS"/>
                          <a:cs typeface="MathJax_AMS"/>
                        </a:rPr>
                        <a:t>R</a:t>
                      </a:r>
                      <a:r>
                        <a:rPr sz="900" i="1" spc="112" baseline="27777" dirty="0">
                          <a:latin typeface="Times New Roman"/>
                          <a:cs typeface="Times New Roman"/>
                        </a:rPr>
                        <a:t>n</a:t>
                      </a:r>
                      <a:endParaRPr sz="900" baseline="27777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35304" y="4238407"/>
            <a:ext cx="2468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85420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E-step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spc="-10" dirty="0">
                <a:latin typeface="LM Roman 8"/>
                <a:cs typeface="LM Roman 8"/>
              </a:rPr>
              <a:t>Evaluate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dirty="0">
                <a:latin typeface="LM Roman 8"/>
                <a:cs typeface="LM Roman 8"/>
              </a:rPr>
              <a:t>posterior </a:t>
            </a:r>
            <a:r>
              <a:rPr sz="800" spc="-5" dirty="0">
                <a:latin typeface="LM Roman 8"/>
                <a:cs typeface="LM Roman 8"/>
              </a:rPr>
              <a:t>probability </a:t>
            </a:r>
            <a:r>
              <a:rPr sz="800" i="1" spc="90" dirty="0">
                <a:latin typeface="Times New Roman"/>
                <a:cs typeface="Times New Roman"/>
              </a:rPr>
              <a:t>Q</a:t>
            </a:r>
            <a:r>
              <a:rPr sz="900" i="1" spc="135" baseline="-9259" dirty="0">
                <a:latin typeface="Times New Roman"/>
                <a:cs typeface="Times New Roman"/>
              </a:rPr>
              <a:t>i</a:t>
            </a:r>
            <a:r>
              <a:rPr sz="900" i="1" spc="202" baseline="-9259" dirty="0">
                <a:latin typeface="Times New Roman"/>
                <a:cs typeface="Times New Roman"/>
              </a:rPr>
              <a:t> </a:t>
            </a:r>
            <a:r>
              <a:rPr sz="800" i="1" spc="80" dirty="0">
                <a:latin typeface="Times New Roman"/>
                <a:cs typeface="Times New Roman"/>
              </a:rPr>
              <a:t>z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899" y="3804499"/>
            <a:ext cx="4556760" cy="5810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 marR="30480" algn="just">
              <a:lnSpc>
                <a:spcPts val="850"/>
              </a:lnSpc>
              <a:spcBef>
                <a:spcPts val="215"/>
              </a:spcBef>
              <a:buFont typeface="DejaVu Sans"/>
              <a:buChar char="❒"/>
              <a:tabLst>
                <a:tab pos="160020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Algorithm </a:t>
            </a:r>
            <a:r>
              <a:rPr sz="800" spc="-5" dirty="0">
                <a:latin typeface="LM Roman 8"/>
                <a:cs typeface="LM Roman 8"/>
              </a:rPr>
              <a:t>– The Expectation-Maximization (EM) algorithm </a:t>
            </a:r>
            <a:r>
              <a:rPr sz="800" spc="-10" dirty="0">
                <a:latin typeface="LM Roman 8"/>
                <a:cs typeface="LM Roman 8"/>
              </a:rPr>
              <a:t>gives </a:t>
            </a:r>
            <a:r>
              <a:rPr sz="800" spc="-5" dirty="0">
                <a:latin typeface="LM Roman 8"/>
                <a:cs typeface="LM Roman 8"/>
              </a:rPr>
              <a:t>an </a:t>
            </a:r>
            <a:r>
              <a:rPr sz="800" spc="-10" dirty="0">
                <a:latin typeface="LM Roman 8"/>
                <a:cs typeface="LM Roman 8"/>
              </a:rPr>
              <a:t>efficient </a:t>
            </a:r>
            <a:r>
              <a:rPr sz="800" dirty="0">
                <a:latin typeface="LM Roman 8"/>
                <a:cs typeface="LM Roman 8"/>
              </a:rPr>
              <a:t>method </a:t>
            </a:r>
            <a:r>
              <a:rPr sz="800" spc="-5" dirty="0">
                <a:latin typeface="LM Roman 8"/>
                <a:cs typeface="LM Roman 8"/>
              </a:rPr>
              <a:t>at  estimating the parameter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spc="-5" dirty="0">
                <a:latin typeface="LM Roman 8"/>
                <a:cs typeface="LM Roman 8"/>
              </a:rPr>
              <a:t>through </a:t>
            </a:r>
            <a:r>
              <a:rPr sz="800" spc="-10" dirty="0">
                <a:latin typeface="LM Roman 8"/>
                <a:cs typeface="LM Roman 8"/>
              </a:rPr>
              <a:t>maximum </a:t>
            </a:r>
            <a:r>
              <a:rPr sz="800" dirty="0">
                <a:latin typeface="LM Roman 8"/>
                <a:cs typeface="LM Roman 8"/>
              </a:rPr>
              <a:t>likelihood </a:t>
            </a:r>
            <a:r>
              <a:rPr sz="800" spc="-5" dirty="0">
                <a:latin typeface="LM Roman 8"/>
                <a:cs typeface="LM Roman 8"/>
              </a:rPr>
              <a:t>estimation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dirty="0">
                <a:latin typeface="LM Roman 8"/>
                <a:cs typeface="LM Roman 8"/>
              </a:rPr>
              <a:t>repeatedly </a:t>
            </a:r>
            <a:r>
              <a:rPr sz="800" spc="-5" dirty="0">
                <a:latin typeface="LM Roman 8"/>
                <a:cs typeface="LM Roman 8"/>
              </a:rPr>
              <a:t>constructing  a lower-bound on the </a:t>
            </a:r>
            <a:r>
              <a:rPr sz="800" dirty="0">
                <a:latin typeface="LM Roman 8"/>
                <a:cs typeface="LM Roman 8"/>
              </a:rPr>
              <a:t>likelihood </a:t>
            </a:r>
            <a:r>
              <a:rPr sz="800" spc="-5" dirty="0">
                <a:latin typeface="LM Roman 8"/>
                <a:cs typeface="LM Roman 8"/>
              </a:rPr>
              <a:t>(E-step) and optimizing that </a:t>
            </a:r>
            <a:r>
              <a:rPr sz="800" spc="-15" dirty="0">
                <a:latin typeface="LM Roman 8"/>
                <a:cs typeface="LM Roman 8"/>
              </a:rPr>
              <a:t>lower </a:t>
            </a:r>
            <a:r>
              <a:rPr sz="800" dirty="0">
                <a:latin typeface="LM Roman 8"/>
                <a:cs typeface="LM Roman 8"/>
              </a:rPr>
              <a:t>bound </a:t>
            </a:r>
            <a:r>
              <a:rPr sz="800" spc="-5" dirty="0">
                <a:latin typeface="LM Roman 8"/>
                <a:cs typeface="LM Roman 8"/>
              </a:rPr>
              <a:t>(M-step) as</a:t>
            </a:r>
            <a:r>
              <a:rPr sz="800" spc="8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  <a:p>
            <a:pPr marL="2507615">
              <a:lnSpc>
                <a:spcPct val="100000"/>
              </a:lnSpc>
              <a:spcBef>
                <a:spcPts val="745"/>
              </a:spcBef>
            </a:pPr>
            <a:r>
              <a:rPr sz="800" spc="-5" dirty="0">
                <a:latin typeface="LM Roman 8"/>
                <a:cs typeface="LM Roman 8"/>
              </a:rPr>
              <a:t>( </a:t>
            </a:r>
            <a:r>
              <a:rPr sz="900" spc="52" baseline="27777" dirty="0">
                <a:latin typeface="LM Roman 6"/>
                <a:cs typeface="LM Roman 6"/>
              </a:rPr>
              <a:t>(</a:t>
            </a:r>
            <a:r>
              <a:rPr sz="900" i="1" spc="52" baseline="27777" dirty="0">
                <a:latin typeface="Times New Roman"/>
                <a:cs typeface="Times New Roman"/>
              </a:rPr>
              <a:t>i</a:t>
            </a:r>
            <a:r>
              <a:rPr sz="900" spc="52" baseline="27777" dirty="0">
                <a:latin typeface="LM Roman 6"/>
                <a:cs typeface="LM Roman 6"/>
              </a:rPr>
              <a:t>)</a:t>
            </a:r>
            <a:r>
              <a:rPr sz="800" spc="3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that </a:t>
            </a:r>
            <a:r>
              <a:rPr sz="800" spc="-10" dirty="0">
                <a:latin typeface="LM Roman 8"/>
                <a:cs typeface="LM Roman 8"/>
              </a:rPr>
              <a:t>each </a:t>
            </a:r>
            <a:r>
              <a:rPr sz="800" spc="-5" dirty="0">
                <a:latin typeface="LM Roman 8"/>
                <a:cs typeface="LM Roman 8"/>
              </a:rPr>
              <a:t>data point </a:t>
            </a:r>
            <a:r>
              <a:rPr sz="800" i="1" spc="50" dirty="0">
                <a:latin typeface="Times New Roman"/>
                <a:cs typeface="Times New Roman"/>
              </a:rPr>
              <a:t>x</a:t>
            </a:r>
            <a:r>
              <a:rPr sz="900" spc="75" baseline="27777" dirty="0">
                <a:latin typeface="LM Roman 6"/>
                <a:cs typeface="LM Roman 6"/>
              </a:rPr>
              <a:t>(</a:t>
            </a:r>
            <a:r>
              <a:rPr sz="900" i="1" spc="75" baseline="27777" dirty="0">
                <a:latin typeface="Times New Roman"/>
                <a:cs typeface="Times New Roman"/>
              </a:rPr>
              <a:t>i</a:t>
            </a:r>
            <a:r>
              <a:rPr sz="900" spc="75" baseline="27777" dirty="0">
                <a:latin typeface="LM Roman 6"/>
                <a:cs typeface="LM Roman 6"/>
              </a:rPr>
              <a:t>) </a:t>
            </a:r>
            <a:r>
              <a:rPr sz="800" spc="-5" dirty="0">
                <a:latin typeface="LM Roman 8"/>
                <a:cs typeface="LM Roman 8"/>
              </a:rPr>
              <a:t>came</a:t>
            </a:r>
            <a:r>
              <a:rPr sz="800" spc="2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from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2205" y="4388699"/>
            <a:ext cx="16922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a particular cluster </a:t>
            </a:r>
            <a:r>
              <a:rPr sz="800" i="1" spc="50" dirty="0">
                <a:latin typeface="Times New Roman"/>
                <a:cs typeface="Times New Roman"/>
              </a:rPr>
              <a:t>z</a:t>
            </a:r>
            <a:r>
              <a:rPr sz="900" spc="75" baseline="27777" dirty="0">
                <a:latin typeface="LM Roman 6"/>
                <a:cs typeface="LM Roman 6"/>
              </a:rPr>
              <a:t>(</a:t>
            </a:r>
            <a:r>
              <a:rPr sz="900" i="1" spc="75" baseline="27777" dirty="0">
                <a:latin typeface="Times New Roman"/>
                <a:cs typeface="Times New Roman"/>
              </a:rPr>
              <a:t>i</a:t>
            </a:r>
            <a:r>
              <a:rPr sz="900" spc="75" baseline="27777" dirty="0">
                <a:latin typeface="LM Roman 6"/>
                <a:cs typeface="LM Roman 6"/>
              </a:rPr>
              <a:t>)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2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2482" y="4607280"/>
            <a:ext cx="1239520" cy="20574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95"/>
              </a:spcBef>
            </a:pPr>
            <a:r>
              <a:rPr sz="800" i="1" spc="60" dirty="0">
                <a:latin typeface="Times New Roman"/>
                <a:cs typeface="Times New Roman"/>
              </a:rPr>
              <a:t>Q</a:t>
            </a:r>
            <a:r>
              <a:rPr sz="900" i="1" spc="89" baseline="-9259" dirty="0">
                <a:latin typeface="Times New Roman"/>
                <a:cs typeface="Times New Roman"/>
              </a:rPr>
              <a:t>i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z</a:t>
            </a:r>
            <a:r>
              <a:rPr sz="900" spc="89" baseline="32407" dirty="0">
                <a:latin typeface="LM Roman 6"/>
                <a:cs typeface="LM Roman 6"/>
              </a:rPr>
              <a:t>(</a:t>
            </a:r>
            <a:r>
              <a:rPr sz="900" i="1" spc="89" baseline="32407" dirty="0">
                <a:latin typeface="Times New Roman"/>
                <a:cs typeface="Times New Roman"/>
              </a:rPr>
              <a:t>i</a:t>
            </a:r>
            <a:r>
              <a:rPr sz="900" spc="89" baseline="32407" dirty="0">
                <a:latin typeface="LM Roman 6"/>
                <a:cs typeface="LM Roman 6"/>
              </a:rPr>
              <a:t>)</a:t>
            </a:r>
            <a:r>
              <a:rPr sz="800" spc="60" dirty="0">
                <a:latin typeface="LM Roman 8"/>
                <a:cs typeface="LM Roman 8"/>
              </a:rPr>
              <a:t>)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0" dirty="0">
                <a:latin typeface="Times New Roman"/>
                <a:cs typeface="Times New Roman"/>
              </a:rPr>
              <a:t> </a:t>
            </a:r>
            <a:r>
              <a:rPr sz="800" spc="40" dirty="0">
                <a:latin typeface="LM Roman 8"/>
                <a:cs typeface="LM Roman 8"/>
              </a:rPr>
              <a:t>(</a:t>
            </a:r>
            <a:r>
              <a:rPr sz="800" i="1" spc="40" dirty="0">
                <a:latin typeface="Times New Roman"/>
                <a:cs typeface="Times New Roman"/>
              </a:rPr>
              <a:t>z</a:t>
            </a:r>
            <a:r>
              <a:rPr sz="900" spc="60" baseline="32407" dirty="0">
                <a:latin typeface="LM Roman 6"/>
                <a:cs typeface="LM Roman 6"/>
              </a:rPr>
              <a:t>(</a:t>
            </a:r>
            <a:r>
              <a:rPr sz="900" i="1" spc="60" baseline="32407" dirty="0">
                <a:latin typeface="Times New Roman"/>
                <a:cs typeface="Times New Roman"/>
              </a:rPr>
              <a:t>i</a:t>
            </a:r>
            <a:r>
              <a:rPr sz="900" spc="60" baseline="32407" dirty="0">
                <a:latin typeface="LM Roman 6"/>
                <a:cs typeface="LM Roman 6"/>
              </a:rPr>
              <a:t>)</a:t>
            </a:r>
            <a:r>
              <a:rPr sz="800" i="1" spc="40" dirty="0">
                <a:latin typeface="DejaVu Sans"/>
                <a:cs typeface="DejaVu Sans"/>
              </a:rPr>
              <a:t>|</a:t>
            </a:r>
            <a:r>
              <a:rPr sz="800" i="1" spc="40" dirty="0">
                <a:latin typeface="Times New Roman"/>
                <a:cs typeface="Times New Roman"/>
              </a:rPr>
              <a:t>x</a:t>
            </a:r>
            <a:r>
              <a:rPr sz="900" spc="60" baseline="32407" dirty="0">
                <a:latin typeface="LM Roman 6"/>
                <a:cs typeface="LM Roman 6"/>
              </a:rPr>
              <a:t>(</a:t>
            </a:r>
            <a:r>
              <a:rPr sz="900" i="1" spc="60" baseline="32407" dirty="0">
                <a:latin typeface="Times New Roman"/>
                <a:cs typeface="Times New Roman"/>
              </a:rPr>
              <a:t>i</a:t>
            </a:r>
            <a:r>
              <a:rPr sz="900" spc="60" baseline="32407" dirty="0">
                <a:latin typeface="LM Roman 6"/>
                <a:cs typeface="LM Roman 6"/>
              </a:rPr>
              <a:t>)</a:t>
            </a:r>
            <a:r>
              <a:rPr sz="800" spc="40" dirty="0">
                <a:latin typeface="LM Roman 8"/>
                <a:cs typeface="LM Roman 8"/>
              </a:rPr>
              <a:t>;</a:t>
            </a:r>
            <a:r>
              <a:rPr sz="800" spc="-150" dirty="0">
                <a:latin typeface="LM Roman 8"/>
                <a:cs typeface="LM Roman 8"/>
              </a:rPr>
              <a:t> </a:t>
            </a:r>
            <a:r>
              <a:rPr sz="800" i="1" spc="10" dirty="0">
                <a:latin typeface="Times New Roman"/>
                <a:cs typeface="Times New Roman"/>
              </a:rPr>
              <a:t>θ</a:t>
            </a:r>
            <a:r>
              <a:rPr sz="800" spc="1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44152" y="4941943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5304" y="4901208"/>
            <a:ext cx="43872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85420" algn="l"/>
              </a:tabLst>
            </a:pPr>
            <a:r>
              <a:rPr sz="800" u="sng" spc="-10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M-step</a:t>
            </a:r>
            <a:r>
              <a:rPr sz="800" spc="-10" dirty="0">
                <a:latin typeface="LM Roman 8"/>
                <a:cs typeface="LM Roman 8"/>
              </a:rPr>
              <a:t>: </a:t>
            </a:r>
            <a:r>
              <a:rPr sz="800" spc="-5" dirty="0">
                <a:latin typeface="LM Roman 8"/>
                <a:cs typeface="LM Roman 8"/>
              </a:rPr>
              <a:t>Use the </a:t>
            </a:r>
            <a:r>
              <a:rPr sz="800" dirty="0">
                <a:latin typeface="LM Roman 8"/>
                <a:cs typeface="LM Roman 8"/>
              </a:rPr>
              <a:t>posterior </a:t>
            </a:r>
            <a:r>
              <a:rPr sz="800" spc="-5" dirty="0">
                <a:latin typeface="LM Roman 8"/>
                <a:cs typeface="LM Roman 8"/>
              </a:rPr>
              <a:t>probabilities </a:t>
            </a:r>
            <a:r>
              <a:rPr sz="800" i="1" spc="85" dirty="0">
                <a:latin typeface="Times New Roman"/>
                <a:cs typeface="Times New Roman"/>
              </a:rPr>
              <a:t>Q </a:t>
            </a:r>
            <a:r>
              <a:rPr sz="800" spc="40" dirty="0">
                <a:latin typeface="LM Roman 8"/>
                <a:cs typeface="LM Roman 8"/>
              </a:rPr>
              <a:t>(</a:t>
            </a:r>
            <a:r>
              <a:rPr sz="800" i="1" spc="40" dirty="0">
                <a:latin typeface="Times New Roman"/>
                <a:cs typeface="Times New Roman"/>
              </a:rPr>
              <a:t>z</a:t>
            </a:r>
            <a:r>
              <a:rPr sz="900" spc="60" baseline="27777" dirty="0">
                <a:latin typeface="LM Roman 6"/>
                <a:cs typeface="LM Roman 6"/>
              </a:rPr>
              <a:t>(</a:t>
            </a:r>
            <a:r>
              <a:rPr sz="900" i="1" spc="60" baseline="27777" dirty="0">
                <a:latin typeface="Times New Roman"/>
                <a:cs typeface="Times New Roman"/>
              </a:rPr>
              <a:t>i</a:t>
            </a:r>
            <a:r>
              <a:rPr sz="900" spc="60" baseline="27777" dirty="0">
                <a:latin typeface="LM Roman 6"/>
                <a:cs typeface="LM Roman 6"/>
              </a:rPr>
              <a:t>)</a:t>
            </a:r>
            <a:r>
              <a:rPr sz="800" spc="40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as cluster specific </a:t>
            </a:r>
            <a:r>
              <a:rPr sz="800" spc="-10" dirty="0">
                <a:latin typeface="LM Roman 8"/>
                <a:cs typeface="LM Roman 8"/>
              </a:rPr>
              <a:t>weights </a:t>
            </a:r>
            <a:r>
              <a:rPr sz="800" spc="-5" dirty="0">
                <a:latin typeface="LM Roman 8"/>
                <a:cs typeface="LM Roman 8"/>
              </a:rPr>
              <a:t>on data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points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8146" y="5041079"/>
            <a:ext cx="62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2205" y="5051499"/>
            <a:ext cx="2873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900" i="1" spc="67" baseline="27777" dirty="0">
                <a:latin typeface="Times New Roman"/>
                <a:cs typeface="Times New Roman"/>
              </a:rPr>
              <a:t>i</a:t>
            </a:r>
            <a:r>
              <a:rPr sz="900" spc="67" baseline="27777" dirty="0">
                <a:latin typeface="LM Roman 6"/>
                <a:cs typeface="LM Roman 6"/>
              </a:rPr>
              <a:t>) </a:t>
            </a:r>
            <a:r>
              <a:rPr sz="800" spc="-5" dirty="0">
                <a:latin typeface="LM Roman 8"/>
                <a:cs typeface="LM Roman 8"/>
              </a:rPr>
              <a:t>to separately re-estimate </a:t>
            </a:r>
            <a:r>
              <a:rPr sz="800" spc="-10" dirty="0">
                <a:latin typeface="LM Roman 8"/>
                <a:cs typeface="LM Roman 8"/>
              </a:rPr>
              <a:t>each </a:t>
            </a:r>
            <a:r>
              <a:rPr sz="800" spc="-5" dirty="0">
                <a:latin typeface="LM Roman 8"/>
                <a:cs typeface="LM Roman 8"/>
              </a:rPr>
              <a:t>cluster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44891" y="5417920"/>
            <a:ext cx="659765" cy="237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955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θ</a:t>
            </a:r>
            <a:r>
              <a:rPr sz="900" i="1" spc="67" baseline="-9259" dirty="0">
                <a:latin typeface="Times New Roman"/>
                <a:cs typeface="Times New Roman"/>
              </a:rPr>
              <a:t>i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argmax</a:t>
            </a:r>
            <a:endParaRPr sz="800">
              <a:latin typeface="LM Roman 8"/>
              <a:cs typeface="LM Roman 8"/>
            </a:endParaRPr>
          </a:p>
          <a:p>
            <a:pPr marR="165735" algn="r">
              <a:lnSpc>
                <a:spcPts val="715"/>
              </a:lnSpc>
            </a:pPr>
            <a:r>
              <a:rPr sz="600" i="1" spc="55" dirty="0">
                <a:latin typeface="Times New Roman"/>
                <a:cs typeface="Times New Roman"/>
              </a:rPr>
              <a:t>θ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07400" y="5278734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81860" y="5595053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08085" y="528015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75" dirty="0">
                <a:latin typeface="Arial"/>
                <a:cs typeface="Arial"/>
              </a:rPr>
              <a:t>ˆ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38921" y="5512719"/>
            <a:ext cx="22732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spc="104" baseline="-18518" dirty="0">
                <a:latin typeface="Times New Roman"/>
                <a:cs typeface="Times New Roman"/>
              </a:rPr>
              <a:t>z</a:t>
            </a:r>
            <a:r>
              <a:rPr sz="500" spc="70" dirty="0">
                <a:latin typeface="LM Roman 5"/>
                <a:cs typeface="LM Roman 5"/>
              </a:rPr>
              <a:t>(</a:t>
            </a:r>
            <a:r>
              <a:rPr sz="500" i="1" spc="70" dirty="0">
                <a:latin typeface="Arial"/>
                <a:cs typeface="Arial"/>
              </a:rPr>
              <a:t>i</a:t>
            </a:r>
            <a:r>
              <a:rPr sz="500" spc="70" dirty="0">
                <a:latin typeface="LM Roman 5"/>
                <a:cs typeface="LM Roman 5"/>
              </a:rPr>
              <a:t>)</a:t>
            </a:r>
            <a:endParaRPr sz="500">
              <a:latin typeface="LM Roman 5"/>
              <a:cs typeface="LM Roman 5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94623" y="5417920"/>
            <a:ext cx="6457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800" i="1" spc="60" dirty="0">
                <a:latin typeface="Times New Roman"/>
                <a:cs typeface="Times New Roman"/>
              </a:rPr>
              <a:t>Q</a:t>
            </a:r>
            <a:r>
              <a:rPr sz="900" i="1" spc="89" baseline="-9259" dirty="0">
                <a:latin typeface="Times New Roman"/>
                <a:cs typeface="Times New Roman"/>
              </a:rPr>
              <a:t>i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z</a:t>
            </a:r>
            <a:r>
              <a:rPr sz="900" spc="89" baseline="32407" dirty="0">
                <a:latin typeface="LM Roman 6"/>
                <a:cs typeface="LM Roman 6"/>
              </a:rPr>
              <a:t>(</a:t>
            </a:r>
            <a:r>
              <a:rPr sz="900" i="1" spc="89" baseline="32407" dirty="0">
                <a:latin typeface="Times New Roman"/>
                <a:cs typeface="Times New Roman"/>
              </a:rPr>
              <a:t>i</a:t>
            </a:r>
            <a:r>
              <a:rPr sz="900" spc="89" baseline="32407" dirty="0">
                <a:latin typeface="LM Roman 6"/>
                <a:cs typeface="LM Roman 6"/>
              </a:rPr>
              <a:t>)</a:t>
            </a:r>
            <a:r>
              <a:rPr sz="800" spc="60" dirty="0">
                <a:latin typeface="LM Roman 8"/>
                <a:cs typeface="LM Roman 8"/>
              </a:rPr>
              <a:t>)</a:t>
            </a:r>
            <a:r>
              <a:rPr sz="800" spc="-17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log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89617" y="5337014"/>
            <a:ext cx="3302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30" dirty="0">
                <a:latin typeface="LM Roman 6"/>
                <a:cs typeface="LM Roman 6"/>
              </a:rPr>
              <a:t>(</a:t>
            </a: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)</a:t>
            </a:r>
            <a:r>
              <a:rPr sz="600" spc="95" dirty="0">
                <a:latin typeface="LM Roman 6"/>
                <a:cs typeface="LM Roman 6"/>
              </a:rPr>
              <a:t> </a:t>
            </a:r>
            <a:r>
              <a:rPr sz="600" spc="30" dirty="0">
                <a:latin typeface="LM Roman 6"/>
                <a:cs typeface="LM Roman 6"/>
              </a:rPr>
              <a:t>(</a:t>
            </a: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4133" y="5347435"/>
            <a:ext cx="6648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P 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x </a:t>
            </a:r>
            <a:r>
              <a:rPr sz="800" i="1" spc="55" dirty="0">
                <a:latin typeface="Times New Roman"/>
                <a:cs typeface="Times New Roman"/>
              </a:rPr>
              <a:t>,z </a:t>
            </a:r>
            <a:r>
              <a:rPr sz="800" spc="-5" dirty="0">
                <a:latin typeface="LM Roman 8"/>
                <a:cs typeface="LM Roman 8"/>
              </a:rPr>
              <a:t>;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i="1" spc="10" dirty="0">
                <a:latin typeface="Times New Roman"/>
                <a:cs typeface="Times New Roman"/>
              </a:rPr>
              <a:t>θ</a:t>
            </a:r>
            <a:r>
              <a:rPr sz="800" spc="1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116833" y="5506529"/>
            <a:ext cx="639445" cy="0"/>
          </a:xfrm>
          <a:custGeom>
            <a:avLst/>
            <a:gdLst/>
            <a:ahLst/>
            <a:cxnLst/>
            <a:rect l="l" t="t" r="r" b="b"/>
            <a:pathLst>
              <a:path w="639445">
                <a:moveTo>
                  <a:pt x="0" y="0"/>
                </a:moveTo>
                <a:lnTo>
                  <a:pt x="63896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56508" y="5492564"/>
            <a:ext cx="62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10242" y="5497130"/>
            <a:ext cx="452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75" dirty="0">
                <a:latin typeface="Times New Roman"/>
                <a:cs typeface="Times New Roman"/>
              </a:rPr>
              <a:t>Q</a:t>
            </a:r>
            <a:r>
              <a:rPr sz="900" i="1" spc="112" baseline="-9259" dirty="0">
                <a:latin typeface="Times New Roman"/>
                <a:cs typeface="Times New Roman"/>
              </a:rPr>
              <a:t>i</a:t>
            </a:r>
            <a:r>
              <a:rPr sz="800" spc="75" dirty="0">
                <a:latin typeface="LM Roman 8"/>
                <a:cs typeface="LM Roman 8"/>
              </a:rPr>
              <a:t>(</a:t>
            </a:r>
            <a:r>
              <a:rPr sz="800" i="1" spc="75" dirty="0">
                <a:latin typeface="Times New Roman"/>
                <a:cs typeface="Times New Roman"/>
              </a:rPr>
              <a:t>z </a:t>
            </a:r>
            <a:r>
              <a:rPr sz="900" i="1" spc="67" baseline="23148" dirty="0">
                <a:latin typeface="Times New Roman"/>
                <a:cs typeface="Times New Roman"/>
              </a:rPr>
              <a:t>i</a:t>
            </a:r>
            <a:r>
              <a:rPr sz="900" spc="67" baseline="23148" dirty="0">
                <a:latin typeface="LM Roman 6"/>
                <a:cs typeface="LM Roman 6"/>
              </a:rPr>
              <a:t>)</a:t>
            </a:r>
            <a:r>
              <a:rPr sz="800" spc="4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95815" y="5220543"/>
            <a:ext cx="881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4700" algn="l"/>
              </a:tabLst>
            </a:pPr>
            <a:r>
              <a:rPr sz="1000" spc="455" dirty="0">
                <a:latin typeface="Arial"/>
                <a:cs typeface="Arial"/>
              </a:rPr>
              <a:t>.	</a:t>
            </a:r>
            <a:r>
              <a:rPr sz="1000" spc="114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43947" y="5417920"/>
            <a:ext cx="2565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55" dirty="0">
                <a:latin typeface="Times New Roman"/>
                <a:cs typeface="Times New Roman"/>
              </a:rPr>
              <a:t>dz</a:t>
            </a:r>
            <a:r>
              <a:rPr sz="800" i="1" spc="70" dirty="0">
                <a:latin typeface="Times New Roman"/>
                <a:cs typeface="Times New Roman"/>
              </a:rPr>
              <a:t> </a:t>
            </a:r>
            <a:r>
              <a:rPr sz="900" i="1" spc="142" baseline="32407" dirty="0">
                <a:latin typeface="Times New Roman"/>
                <a:cs typeface="Times New Roman"/>
              </a:rPr>
              <a:t>i</a:t>
            </a:r>
            <a:endParaRPr sz="900" baseline="32407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78986" y="5401175"/>
            <a:ext cx="132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spc="-55" dirty="0">
                <a:latin typeface="LM Roman 6"/>
                <a:cs typeface="LM Roman 6"/>
              </a:rPr>
              <a:t> 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339964" y="5311686"/>
            <a:ext cx="2808605" cy="427990"/>
            <a:chOff x="1339964" y="5311686"/>
            <a:chExt cx="2808605" cy="427990"/>
          </a:xfrm>
        </p:grpSpPr>
        <p:sp>
          <p:nvSpPr>
            <p:cNvPr id="32" name="object 32"/>
            <p:cNvSpPr/>
            <p:nvPr/>
          </p:nvSpPr>
          <p:spPr>
            <a:xfrm>
              <a:off x="1339964" y="5314213"/>
              <a:ext cx="2808605" cy="0"/>
            </a:xfrm>
            <a:custGeom>
              <a:avLst/>
              <a:gdLst/>
              <a:ahLst/>
              <a:cxnLst/>
              <a:rect l="l" t="t" r="r" b="b"/>
              <a:pathLst>
                <a:path w="2808604">
                  <a:moveTo>
                    <a:pt x="0" y="0"/>
                  </a:moveTo>
                  <a:lnTo>
                    <a:pt x="280799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42504" y="5314213"/>
              <a:ext cx="0" cy="422909"/>
            </a:xfrm>
            <a:custGeom>
              <a:avLst/>
              <a:gdLst/>
              <a:ahLst/>
              <a:cxnLst/>
              <a:rect l="l" t="t" r="r" b="b"/>
              <a:pathLst>
                <a:path h="422910">
                  <a:moveTo>
                    <a:pt x="0" y="42259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45432" y="5314213"/>
              <a:ext cx="0" cy="422909"/>
            </a:xfrm>
            <a:custGeom>
              <a:avLst/>
              <a:gdLst/>
              <a:ahLst/>
              <a:cxnLst/>
              <a:rect l="l" t="t" r="r" b="b"/>
              <a:pathLst>
                <a:path h="422910">
                  <a:moveTo>
                    <a:pt x="0" y="42259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39964" y="5736806"/>
              <a:ext cx="2808605" cy="0"/>
            </a:xfrm>
            <a:custGeom>
              <a:avLst/>
              <a:gdLst/>
              <a:ahLst/>
              <a:cxnLst/>
              <a:rect l="l" t="t" r="r" b="b"/>
              <a:pathLst>
                <a:path w="2808604">
                  <a:moveTo>
                    <a:pt x="0" y="0"/>
                  </a:moveTo>
                  <a:lnTo>
                    <a:pt x="280799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798619" y="5855802"/>
            <a:ext cx="3799283" cy="12276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072354" y="683953"/>
            <a:ext cx="3362960" cy="392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5"/>
              </a:lnSpc>
              <a:tabLst>
                <a:tab pos="482600" algn="l"/>
              </a:tabLst>
            </a:pPr>
            <a:r>
              <a:rPr sz="1000" b="1" spc="-5" dirty="0">
                <a:latin typeface="LM Roman 10"/>
                <a:cs typeface="LM Roman 10"/>
              </a:rPr>
              <a:t>2.2.2	</a:t>
            </a:r>
            <a:r>
              <a:rPr sz="900" i="1" dirty="0">
                <a:latin typeface="Avdira"/>
                <a:cs typeface="Avdira"/>
              </a:rPr>
              <a:t>k</a:t>
            </a:r>
            <a:r>
              <a:rPr sz="900" b="1" dirty="0">
                <a:latin typeface="LM Roman 9"/>
                <a:cs typeface="LM Roman 9"/>
              </a:rPr>
              <a:t>-means</a:t>
            </a:r>
            <a:r>
              <a:rPr sz="900" b="1" spc="-10" dirty="0">
                <a:latin typeface="LM Roman 9"/>
                <a:cs typeface="LM Roman 9"/>
              </a:rPr>
              <a:t> clustering</a:t>
            </a:r>
            <a:endParaRPr sz="900">
              <a:latin typeface="LM Roman 9"/>
              <a:cs typeface="LM Roman 9"/>
            </a:endParaRPr>
          </a:p>
          <a:p>
            <a:pPr marL="38100">
              <a:lnSpc>
                <a:spcPct val="100000"/>
              </a:lnSpc>
              <a:spcBef>
                <a:spcPts val="830"/>
              </a:spcBef>
            </a:pPr>
            <a:r>
              <a:rPr sz="800" spc="-40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note </a:t>
            </a:r>
            <a:r>
              <a:rPr sz="800" i="1" spc="25" dirty="0">
                <a:latin typeface="Times New Roman"/>
                <a:cs typeface="Times New Roman"/>
              </a:rPr>
              <a:t>c</a:t>
            </a:r>
            <a:r>
              <a:rPr sz="900" spc="37" baseline="27777" dirty="0">
                <a:latin typeface="LM Roman 6"/>
                <a:cs typeface="LM Roman 6"/>
              </a:rPr>
              <a:t>(</a:t>
            </a:r>
            <a:r>
              <a:rPr sz="900" i="1" spc="37" baseline="27777" dirty="0">
                <a:latin typeface="Times New Roman"/>
                <a:cs typeface="Times New Roman"/>
              </a:rPr>
              <a:t>i</a:t>
            </a:r>
            <a:r>
              <a:rPr sz="900" spc="37" baseline="27777" dirty="0">
                <a:latin typeface="LM Roman 6"/>
                <a:cs typeface="LM Roman 6"/>
              </a:rPr>
              <a:t>) </a:t>
            </a:r>
            <a:r>
              <a:rPr sz="800" spc="-5" dirty="0">
                <a:latin typeface="LM Roman 8"/>
                <a:cs typeface="LM Roman 8"/>
              </a:rPr>
              <a:t>the cluster of data point </a:t>
            </a:r>
            <a:r>
              <a:rPr sz="800" i="1" spc="65" dirty="0">
                <a:latin typeface="Times New Roman"/>
                <a:cs typeface="Times New Roman"/>
              </a:rPr>
              <a:t>i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90" dirty="0">
                <a:latin typeface="Times New Roman"/>
                <a:cs typeface="Times New Roman"/>
              </a:rPr>
              <a:t>µ</a:t>
            </a:r>
            <a:r>
              <a:rPr sz="900" i="1" spc="135" baseline="-9259" dirty="0">
                <a:latin typeface="Times New Roman"/>
                <a:cs typeface="Times New Roman"/>
              </a:rPr>
              <a:t>j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center </a:t>
            </a:r>
            <a:r>
              <a:rPr sz="800" spc="-5" dirty="0">
                <a:latin typeface="LM Roman 8"/>
                <a:cs typeface="LM Roman 8"/>
              </a:rPr>
              <a:t>of cluster</a:t>
            </a:r>
            <a:r>
              <a:rPr sz="800" spc="65" dirty="0">
                <a:latin typeface="LM Roman 8"/>
                <a:cs typeface="LM Roman 8"/>
              </a:rPr>
              <a:t> </a:t>
            </a:r>
            <a:r>
              <a:rPr sz="800" i="1" spc="80" dirty="0">
                <a:latin typeface="Times New Roman"/>
                <a:cs typeface="Times New Roman"/>
              </a:rPr>
              <a:t>j</a:t>
            </a:r>
            <a:r>
              <a:rPr sz="800" spc="80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72354" y="1089734"/>
            <a:ext cx="35979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50" indent="-108585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46685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Algorithm</a:t>
            </a:r>
            <a:r>
              <a:rPr sz="800" b="1" spc="-225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0" dirty="0">
                <a:latin typeface="LM Roman 8"/>
                <a:cs typeface="LM Roman 8"/>
              </a:rPr>
              <a:t>After </a:t>
            </a:r>
            <a:r>
              <a:rPr sz="800" spc="-5" dirty="0">
                <a:latin typeface="LM Roman 8"/>
                <a:cs typeface="LM Roman 8"/>
              </a:rPr>
              <a:t>randomly initializing the cluster centroids </a:t>
            </a:r>
            <a:r>
              <a:rPr sz="800" i="1" spc="40" dirty="0">
                <a:latin typeface="Times New Roman"/>
                <a:cs typeface="Times New Roman"/>
              </a:rPr>
              <a:t>µ</a:t>
            </a:r>
            <a:r>
              <a:rPr sz="900" spc="60" baseline="-9259" dirty="0">
                <a:latin typeface="LM Roman 6"/>
                <a:cs typeface="LM Roman 6"/>
              </a:rPr>
              <a:t>1</a:t>
            </a:r>
            <a:r>
              <a:rPr sz="800" i="1" spc="40" dirty="0">
                <a:latin typeface="Times New Roman"/>
                <a:cs typeface="Times New Roman"/>
              </a:rPr>
              <a:t>,µ</a:t>
            </a:r>
            <a:r>
              <a:rPr sz="900" spc="60" baseline="-9259" dirty="0">
                <a:latin typeface="LM Roman 6"/>
                <a:cs typeface="LM Roman 6"/>
              </a:rPr>
              <a:t>2</a:t>
            </a:r>
            <a:r>
              <a:rPr sz="800" i="1" spc="40" dirty="0">
                <a:latin typeface="Times New Roman"/>
                <a:cs typeface="Times New Roman"/>
              </a:rPr>
              <a:t>,...,µ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18956" y="1132883"/>
            <a:ext cx="762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25" dirty="0">
                <a:latin typeface="Times New Roman"/>
                <a:cs typeface="Times New Roman"/>
              </a:rPr>
              <a:t>k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881579" y="1079314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706904" y="1089734"/>
            <a:ext cx="89661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spc="-5" dirty="0">
                <a:latin typeface="LM Roman 8"/>
                <a:cs typeface="LM Roman 8"/>
              </a:rPr>
              <a:t>, the</a:t>
            </a:r>
            <a:r>
              <a:rPr sz="800" spc="-190" dirty="0">
                <a:latin typeface="LM Roman 8"/>
                <a:cs typeface="LM Roman 8"/>
              </a:rPr>
              <a:t> </a:t>
            </a:r>
            <a:r>
              <a:rPr sz="800" i="1" spc="10" dirty="0">
                <a:latin typeface="Times New Roman"/>
                <a:cs typeface="Times New Roman"/>
              </a:rPr>
              <a:t>k</a:t>
            </a:r>
            <a:r>
              <a:rPr sz="800" spc="10" dirty="0">
                <a:latin typeface="LM Roman 8"/>
                <a:cs typeface="LM Roman 8"/>
              </a:rPr>
              <a:t>-means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97754" y="1191792"/>
            <a:ext cx="25990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algorithm </a:t>
            </a:r>
            <a:r>
              <a:rPr sz="800" dirty="0">
                <a:latin typeface="LM Roman 8"/>
                <a:cs typeface="LM Roman 8"/>
              </a:rPr>
              <a:t>repeats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step </a:t>
            </a:r>
            <a:r>
              <a:rPr sz="800" spc="-10" dirty="0">
                <a:latin typeface="LM Roman 8"/>
                <a:cs typeface="LM Roman 8"/>
              </a:rPr>
              <a:t>until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convergence: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87592" y="1682208"/>
            <a:ext cx="12001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41009" y="1698954"/>
            <a:ext cx="6807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89230" algn="l"/>
              </a:tabLst>
            </a:pPr>
            <a:r>
              <a:rPr sz="800" i="1" spc="10" dirty="0">
                <a:latin typeface="Times New Roman"/>
                <a:cs typeface="Times New Roman"/>
              </a:rPr>
              <a:t>c	</a:t>
            </a:r>
            <a:r>
              <a:rPr sz="800" spc="-5" dirty="0">
                <a:latin typeface="LM Roman 8"/>
                <a:cs typeface="LM Roman 8"/>
              </a:rPr>
              <a:t>= arg</a:t>
            </a:r>
            <a:r>
              <a:rPr sz="800" spc="-114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min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404914" y="1819851"/>
            <a:ext cx="5206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Times New Roman"/>
                <a:cs typeface="Times New Roman"/>
              </a:rPr>
              <a:t>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29094" y="1682208"/>
            <a:ext cx="12001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38505" y="1739689"/>
            <a:ext cx="5206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Times New Roman"/>
                <a:cs typeface="Times New Roman"/>
              </a:rPr>
              <a:t>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08800" y="1698954"/>
            <a:ext cx="5518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57175" algn="l"/>
              </a:tabLst>
            </a:pPr>
            <a:r>
              <a:rPr sz="800" i="1" spc="15" dirty="0">
                <a:latin typeface="DejaVu Sans"/>
                <a:cs typeface="DejaVu Sans"/>
              </a:rPr>
              <a:t>||</a:t>
            </a:r>
            <a:r>
              <a:rPr sz="800" i="1" spc="15" dirty="0">
                <a:latin typeface="Times New Roman"/>
                <a:cs typeface="Times New Roman"/>
              </a:rPr>
              <a:t>x	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i="1" spc="45" dirty="0">
                <a:latin typeface="Times New Roman"/>
                <a:cs typeface="Times New Roman"/>
              </a:rPr>
              <a:t>µ</a:t>
            </a:r>
            <a:r>
              <a:rPr sz="800" i="1" spc="55" dirty="0">
                <a:latin typeface="Times New Roman"/>
                <a:cs typeface="Times New Roman"/>
              </a:rPr>
              <a:t> </a:t>
            </a:r>
            <a:r>
              <a:rPr sz="800" i="1" spc="-35" dirty="0">
                <a:latin typeface="DejaVu Sans"/>
                <a:cs typeface="DejaVu Sans"/>
              </a:rPr>
              <a:t>||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47814" y="1682208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897994" y="1670862"/>
            <a:ext cx="1345565" cy="308610"/>
            <a:chOff x="5897994" y="1670862"/>
            <a:chExt cx="1345565" cy="308610"/>
          </a:xfrm>
        </p:grpSpPr>
        <p:sp>
          <p:nvSpPr>
            <p:cNvPr id="51" name="object 51"/>
            <p:cNvSpPr/>
            <p:nvPr/>
          </p:nvSpPr>
          <p:spPr>
            <a:xfrm>
              <a:off x="5897994" y="1673390"/>
              <a:ext cx="1345565" cy="0"/>
            </a:xfrm>
            <a:custGeom>
              <a:avLst/>
              <a:gdLst/>
              <a:ahLst/>
              <a:cxnLst/>
              <a:rect l="l" t="t" r="r" b="b"/>
              <a:pathLst>
                <a:path w="1345565">
                  <a:moveTo>
                    <a:pt x="0" y="0"/>
                  </a:moveTo>
                  <a:lnTo>
                    <a:pt x="134556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00521" y="1673402"/>
              <a:ext cx="0" cy="303530"/>
            </a:xfrm>
            <a:custGeom>
              <a:avLst/>
              <a:gdLst/>
              <a:ahLst/>
              <a:cxnLst/>
              <a:rect l="l" t="t" r="r" b="b"/>
              <a:pathLst>
                <a:path h="303530">
                  <a:moveTo>
                    <a:pt x="0" y="30297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241019" y="1673402"/>
              <a:ext cx="0" cy="303530"/>
            </a:xfrm>
            <a:custGeom>
              <a:avLst/>
              <a:gdLst/>
              <a:ahLst/>
              <a:cxnLst/>
              <a:rect l="l" t="t" r="r" b="b"/>
              <a:pathLst>
                <a:path h="303530">
                  <a:moveTo>
                    <a:pt x="0" y="30297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897994" y="1976373"/>
              <a:ext cx="1345565" cy="0"/>
            </a:xfrm>
            <a:custGeom>
              <a:avLst/>
              <a:gdLst/>
              <a:ahLst/>
              <a:cxnLst/>
              <a:rect l="l" t="t" r="r" b="b"/>
              <a:pathLst>
                <a:path w="1345565">
                  <a:moveTo>
                    <a:pt x="0" y="0"/>
                  </a:moveTo>
                  <a:lnTo>
                    <a:pt x="134556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313003" y="1698954"/>
            <a:ext cx="6407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61315" algn="l"/>
              </a:tabLst>
            </a:pPr>
            <a:r>
              <a:rPr sz="800" spc="-5" dirty="0">
                <a:latin typeface="LM Roman 8"/>
                <a:cs typeface="LM Roman 8"/>
              </a:rPr>
              <a:t>and	</a:t>
            </a:r>
            <a:r>
              <a:rPr sz="800" i="1" spc="90" dirty="0">
                <a:latin typeface="Times New Roman"/>
                <a:cs typeface="Times New Roman"/>
              </a:rPr>
              <a:t>µ</a:t>
            </a:r>
            <a:r>
              <a:rPr sz="900" i="1" spc="135" baseline="-9259" dirty="0">
                <a:latin typeface="Times New Roman"/>
                <a:cs typeface="Times New Roman"/>
              </a:rPr>
              <a:t>j</a:t>
            </a:r>
            <a:r>
              <a:rPr sz="900" i="1" spc="187" baseline="-9259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984947" y="1364924"/>
            <a:ext cx="1085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220" dirty="0">
                <a:latin typeface="Times New Roman"/>
                <a:cs typeface="Times New Roman"/>
              </a:rPr>
              <a:t>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935086" y="1352263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950848" y="1668581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135759" y="149144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80489" y="1541992"/>
            <a:ext cx="128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LM Roman 5"/>
                <a:cs typeface="LM Roman 5"/>
              </a:rPr>
              <a:t>(</a:t>
            </a:r>
            <a:r>
              <a:rPr sz="500" i="1" spc="145" dirty="0">
                <a:latin typeface="Arial"/>
                <a:cs typeface="Arial"/>
              </a:rPr>
              <a:t>i</a:t>
            </a:r>
            <a:r>
              <a:rPr sz="500" spc="-5" dirty="0">
                <a:latin typeface="LM Roman 5"/>
                <a:cs typeface="LM Roman 5"/>
              </a:rPr>
              <a:t>)</a:t>
            </a:r>
            <a:endParaRPr sz="500">
              <a:latin typeface="LM Roman 5"/>
              <a:cs typeface="LM Roman 5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189544" y="1553316"/>
            <a:ext cx="3879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30" dirty="0">
                <a:latin typeface="DejaVu Sans"/>
                <a:cs typeface="DejaVu Sans"/>
              </a:rPr>
              <a:t>{</a:t>
            </a:r>
            <a:r>
              <a:rPr sz="600" i="1" spc="30" dirty="0">
                <a:latin typeface="Times New Roman"/>
                <a:cs typeface="Times New Roman"/>
              </a:rPr>
              <a:t>c</a:t>
            </a:r>
            <a:r>
              <a:rPr sz="600" i="1" spc="80" dirty="0">
                <a:latin typeface="Times New Roman"/>
                <a:cs typeface="Times New Roman"/>
              </a:rPr>
              <a:t> </a:t>
            </a:r>
            <a:r>
              <a:rPr sz="600" spc="55" dirty="0">
                <a:latin typeface="LM Roman 6"/>
                <a:cs typeface="LM Roman 6"/>
              </a:rPr>
              <a:t>=</a:t>
            </a:r>
            <a:r>
              <a:rPr sz="600" i="1" spc="55" dirty="0">
                <a:latin typeface="Times New Roman"/>
                <a:cs typeface="Times New Roman"/>
              </a:rPr>
              <a:t>j</a:t>
            </a:r>
            <a:r>
              <a:rPr sz="600" i="1" spc="55" dirty="0">
                <a:latin typeface="DejaVu Sans"/>
                <a:cs typeface="DejaVu Sans"/>
              </a:rPr>
              <a:t>}</a:t>
            </a:r>
            <a:endParaRPr sz="600">
              <a:latin typeface="DejaVu Sans"/>
              <a:cs typeface="DejaVu San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558161" y="1491448"/>
            <a:ext cx="863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20" dirty="0">
                <a:latin typeface="Times New Roman"/>
                <a:cs typeface="Times New Roman"/>
              </a:rPr>
              <a:t>x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618702" y="1474703"/>
            <a:ext cx="132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7947786" y="1787563"/>
            <a:ext cx="796925" cy="0"/>
          </a:xfrm>
          <a:custGeom>
            <a:avLst/>
            <a:gdLst/>
            <a:ahLst/>
            <a:cxnLst/>
            <a:rect l="l" t="t" r="r" b="b"/>
            <a:pathLst>
              <a:path w="796925">
                <a:moveTo>
                  <a:pt x="0" y="0"/>
                </a:moveTo>
                <a:lnTo>
                  <a:pt x="79688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8071840" y="1762002"/>
            <a:ext cx="1085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220" dirty="0">
                <a:latin typeface="Times New Roman"/>
                <a:cs typeface="Times New Roman"/>
              </a:rPr>
              <a:t>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021980" y="1749341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037753" y="2065659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222665" y="188852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251037" y="1950394"/>
            <a:ext cx="4387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i="1" spc="50" dirty="0">
                <a:latin typeface="DejaVu Sans"/>
                <a:cs typeface="DejaVu Sans"/>
              </a:rPr>
              <a:t>{</a:t>
            </a:r>
            <a:r>
              <a:rPr sz="600" i="1" spc="50" dirty="0">
                <a:latin typeface="Times New Roman"/>
                <a:cs typeface="Times New Roman"/>
              </a:rPr>
              <a:t>c</a:t>
            </a:r>
            <a:r>
              <a:rPr sz="750" spc="75" baseline="22222" dirty="0">
                <a:latin typeface="LM Roman 5"/>
                <a:cs typeface="LM Roman 5"/>
              </a:rPr>
              <a:t>(</a:t>
            </a:r>
            <a:r>
              <a:rPr sz="750" i="1" spc="75" baseline="22222" dirty="0">
                <a:latin typeface="Arial"/>
                <a:cs typeface="Arial"/>
              </a:rPr>
              <a:t>i</a:t>
            </a:r>
            <a:r>
              <a:rPr sz="750" spc="75" baseline="22222" dirty="0">
                <a:latin typeface="LM Roman 5"/>
                <a:cs typeface="LM Roman 5"/>
              </a:rPr>
              <a:t>)</a:t>
            </a:r>
            <a:r>
              <a:rPr sz="600" spc="50" dirty="0">
                <a:latin typeface="LM Roman 6"/>
                <a:cs typeface="LM Roman 6"/>
              </a:rPr>
              <a:t>=</a:t>
            </a:r>
            <a:r>
              <a:rPr sz="600" i="1" spc="50" dirty="0">
                <a:latin typeface="Times New Roman"/>
                <a:cs typeface="Times New Roman"/>
              </a:rPr>
              <a:t>j</a:t>
            </a:r>
            <a:r>
              <a:rPr sz="600" i="1" spc="50" dirty="0">
                <a:latin typeface="DejaVu Sans"/>
                <a:cs typeface="DejaVu Sans"/>
              </a:rPr>
              <a:t>}</a:t>
            </a:r>
            <a:endParaRPr sz="600">
              <a:latin typeface="DejaVu Sans"/>
              <a:cs typeface="DejaVu Sans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7631925" y="1365186"/>
            <a:ext cx="1170940" cy="845185"/>
            <a:chOff x="7631925" y="1365186"/>
            <a:chExt cx="1170940" cy="845185"/>
          </a:xfrm>
        </p:grpSpPr>
        <p:sp>
          <p:nvSpPr>
            <p:cNvPr id="71" name="object 71"/>
            <p:cNvSpPr/>
            <p:nvPr/>
          </p:nvSpPr>
          <p:spPr>
            <a:xfrm>
              <a:off x="7631925" y="1367713"/>
              <a:ext cx="1170940" cy="0"/>
            </a:xfrm>
            <a:custGeom>
              <a:avLst/>
              <a:gdLst/>
              <a:ahLst/>
              <a:cxnLst/>
              <a:rect l="l" t="t" r="r" b="b"/>
              <a:pathLst>
                <a:path w="1170940">
                  <a:moveTo>
                    <a:pt x="0" y="0"/>
                  </a:moveTo>
                  <a:lnTo>
                    <a:pt x="117094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634452" y="1367701"/>
              <a:ext cx="0" cy="840105"/>
            </a:xfrm>
            <a:custGeom>
              <a:avLst/>
              <a:gdLst/>
              <a:ahLst/>
              <a:cxnLst/>
              <a:rect l="l" t="t" r="r" b="b"/>
              <a:pathLst>
                <a:path h="840105">
                  <a:moveTo>
                    <a:pt x="0" y="83971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800338" y="1367701"/>
              <a:ext cx="0" cy="840105"/>
            </a:xfrm>
            <a:custGeom>
              <a:avLst/>
              <a:gdLst/>
              <a:ahLst/>
              <a:cxnLst/>
              <a:rect l="l" t="t" r="r" b="b"/>
              <a:pathLst>
                <a:path h="840105">
                  <a:moveTo>
                    <a:pt x="0" y="83971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631925" y="2207412"/>
              <a:ext cx="1170940" cy="0"/>
            </a:xfrm>
            <a:custGeom>
              <a:avLst/>
              <a:gdLst/>
              <a:ahLst/>
              <a:cxnLst/>
              <a:rect l="l" t="t" r="r" b="b"/>
              <a:pathLst>
                <a:path w="1170940">
                  <a:moveTo>
                    <a:pt x="0" y="0"/>
                  </a:moveTo>
                  <a:lnTo>
                    <a:pt x="117094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/>
          <p:nvPr/>
        </p:nvSpPr>
        <p:spPr>
          <a:xfrm>
            <a:off x="5471915" y="2291470"/>
            <a:ext cx="3732455" cy="12276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5097767" y="3587342"/>
            <a:ext cx="4505960" cy="2489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27635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Distortion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– In order to see if the algorithm </a:t>
            </a:r>
            <a:r>
              <a:rPr sz="800" spc="-10" dirty="0">
                <a:latin typeface="LM Roman 8"/>
                <a:cs typeface="LM Roman 8"/>
              </a:rPr>
              <a:t>converges,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dirty="0">
                <a:latin typeface="LM Roman 8"/>
                <a:cs typeface="LM Roman 8"/>
              </a:rPr>
              <a:t>look </a:t>
            </a:r>
            <a:r>
              <a:rPr sz="800" spc="-5" dirty="0">
                <a:latin typeface="LM Roman 8"/>
                <a:cs typeface="LM Roman 8"/>
              </a:rPr>
              <a:t>at the distortion 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defined as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155700" y="3862532"/>
            <a:ext cx="1085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220" dirty="0">
                <a:latin typeface="Times New Roman"/>
                <a:cs typeface="Times New Roman"/>
              </a:rPr>
              <a:t>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105840" y="3849883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121614" y="4166189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426807" y="3972311"/>
            <a:ext cx="132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669379" y="3989056"/>
            <a:ext cx="10928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9605" algn="l"/>
                <a:tab pos="906780" algn="l"/>
              </a:tabLst>
            </a:pPr>
            <a:r>
              <a:rPr sz="800" i="1" spc="45" dirty="0">
                <a:latin typeface="Times New Roman"/>
                <a:cs typeface="Times New Roman"/>
              </a:rPr>
              <a:t>J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c,µ</a:t>
            </a:r>
            <a:r>
              <a:rPr sz="800" spc="45" dirty="0">
                <a:latin typeface="LM Roman 8"/>
                <a:cs typeface="LM Roman 8"/>
              </a:rPr>
              <a:t>)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	</a:t>
            </a:r>
            <a:r>
              <a:rPr sz="800" i="1" spc="15" dirty="0">
                <a:latin typeface="DejaVu Sans"/>
                <a:cs typeface="DejaVu Sans"/>
              </a:rPr>
              <a:t>||</a:t>
            </a:r>
            <a:r>
              <a:rPr sz="800" i="1" spc="15" dirty="0">
                <a:latin typeface="Times New Roman"/>
                <a:cs typeface="Times New Roman"/>
              </a:rPr>
              <a:t>x	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130" dirty="0">
                <a:latin typeface="DejaVu Sans"/>
                <a:cs typeface="DejaVu Sans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µ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698117" y="4026946"/>
            <a:ext cx="23367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900" i="1" spc="75" baseline="-18518" dirty="0">
                <a:latin typeface="Times New Roman"/>
                <a:cs typeface="Times New Roman"/>
              </a:rPr>
              <a:t>c</a:t>
            </a:r>
            <a:r>
              <a:rPr sz="500" spc="50" dirty="0">
                <a:latin typeface="LM Roman 5"/>
                <a:cs typeface="LM Roman 5"/>
              </a:rPr>
              <a:t>(</a:t>
            </a:r>
            <a:r>
              <a:rPr sz="500" i="1" spc="50" dirty="0">
                <a:latin typeface="Arial"/>
                <a:cs typeface="Arial"/>
              </a:rPr>
              <a:t>i</a:t>
            </a:r>
            <a:r>
              <a:rPr sz="500" spc="50" dirty="0">
                <a:latin typeface="LM Roman 5"/>
                <a:cs typeface="LM Roman 5"/>
              </a:rPr>
              <a:t>)</a:t>
            </a:r>
            <a:endParaRPr sz="500">
              <a:latin typeface="LM Roman 5"/>
              <a:cs typeface="LM Roman 5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893608" y="3989056"/>
            <a:ext cx="857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35" dirty="0">
                <a:latin typeface="DejaVu Sans"/>
                <a:cs typeface="DejaVu Sans"/>
              </a:rPr>
              <a:t>||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953362" y="3972311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6639064" y="3862794"/>
            <a:ext cx="1423035" cy="448309"/>
            <a:chOff x="6639064" y="3862794"/>
            <a:chExt cx="1423035" cy="448309"/>
          </a:xfrm>
        </p:grpSpPr>
        <p:sp>
          <p:nvSpPr>
            <p:cNvPr id="86" name="object 86"/>
            <p:cNvSpPr/>
            <p:nvPr/>
          </p:nvSpPr>
          <p:spPr>
            <a:xfrm>
              <a:off x="6639064" y="3865321"/>
              <a:ext cx="1423035" cy="0"/>
            </a:xfrm>
            <a:custGeom>
              <a:avLst/>
              <a:gdLst/>
              <a:ahLst/>
              <a:cxnLst/>
              <a:rect l="l" t="t" r="r" b="b"/>
              <a:pathLst>
                <a:path w="1423034">
                  <a:moveTo>
                    <a:pt x="0" y="0"/>
                  </a:moveTo>
                  <a:lnTo>
                    <a:pt x="142273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641591" y="3865321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059267" y="3865321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639064" y="4307954"/>
              <a:ext cx="1423035" cy="0"/>
            </a:xfrm>
            <a:custGeom>
              <a:avLst/>
              <a:gdLst/>
              <a:ahLst/>
              <a:cxnLst/>
              <a:rect l="l" t="t" r="r" b="b"/>
              <a:pathLst>
                <a:path w="1423034">
                  <a:moveTo>
                    <a:pt x="0" y="0"/>
                  </a:moveTo>
                  <a:lnTo>
                    <a:pt x="142273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5097754" y="4476414"/>
            <a:ext cx="4505960" cy="75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457200" algn="l"/>
              </a:tabLst>
            </a:pPr>
            <a:r>
              <a:rPr sz="1000" b="1" spc="-5" dirty="0">
                <a:latin typeface="LM Roman 10"/>
                <a:cs typeface="LM Roman 10"/>
              </a:rPr>
              <a:t>2.2.3	</a:t>
            </a:r>
            <a:r>
              <a:rPr sz="900" b="1" spc="-5" dirty="0">
                <a:latin typeface="LM Roman 9"/>
                <a:cs typeface="LM Roman 9"/>
              </a:rPr>
              <a:t>Hierarchical</a:t>
            </a:r>
            <a:r>
              <a:rPr sz="900" b="1" spc="-10" dirty="0">
                <a:latin typeface="LM Roman 9"/>
                <a:cs typeface="LM Roman 9"/>
              </a:rPr>
              <a:t> clustering</a:t>
            </a:r>
            <a:endParaRPr sz="90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820"/>
              </a:spcBef>
              <a:buFont typeface="DejaVu Sans"/>
              <a:buChar char="❒"/>
              <a:tabLst>
                <a:tab pos="130810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Algorithm </a:t>
            </a:r>
            <a:r>
              <a:rPr sz="800" spc="-5" dirty="0">
                <a:latin typeface="LM Roman 8"/>
                <a:cs typeface="LM Roman 8"/>
              </a:rPr>
              <a:t>– It is a clustering algorithm with an agglomerative hierarchical approach that  build nested clusters in a successive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manner.</a:t>
            </a:r>
            <a:endParaRPr sz="800">
              <a:latin typeface="LM Roman 8"/>
              <a:cs typeface="LM Roman 8"/>
            </a:endParaRPr>
          </a:p>
          <a:p>
            <a:pPr marL="12700" marR="5080">
              <a:lnSpc>
                <a:spcPts val="800"/>
              </a:lnSpc>
              <a:spcBef>
                <a:spcPts val="595"/>
              </a:spcBef>
              <a:buFont typeface="DejaVu Sans"/>
              <a:buChar char="❒"/>
              <a:tabLst>
                <a:tab pos="119380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Types</a:t>
            </a:r>
            <a:r>
              <a:rPr sz="800" b="1" spc="-90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There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different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sorts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hierarchical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clustering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algorithms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aims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at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optimizing  </a:t>
            </a:r>
            <a:r>
              <a:rPr sz="800" spc="-10" dirty="0">
                <a:latin typeface="LM Roman 8"/>
                <a:cs typeface="LM Roman 8"/>
              </a:rPr>
              <a:t>different </a:t>
            </a:r>
            <a:r>
              <a:rPr sz="800" spc="-5" dirty="0">
                <a:latin typeface="LM Roman 8"/>
                <a:cs typeface="LM Roman 8"/>
              </a:rPr>
              <a:t>objective </a:t>
            </a:r>
            <a:r>
              <a:rPr sz="800" spc="-10" dirty="0">
                <a:latin typeface="LM Roman 8"/>
                <a:cs typeface="LM Roman 8"/>
              </a:rPr>
              <a:t>functions, which </a:t>
            </a:r>
            <a:r>
              <a:rPr sz="800" spc="-5" dirty="0">
                <a:latin typeface="LM Roman 8"/>
                <a:cs typeface="LM Roman 8"/>
              </a:rPr>
              <a:t>is summed up in the table</a:t>
            </a:r>
            <a:r>
              <a:rPr sz="800" spc="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below:</a:t>
            </a:r>
            <a:endParaRPr sz="800">
              <a:latin typeface="LM Roman 8"/>
              <a:cs typeface="LM Roman 8"/>
            </a:endParaRPr>
          </a:p>
        </p:txBody>
      </p:sp>
      <p:graphicFrame>
        <p:nvGraphicFramePr>
          <p:cNvPr id="91" name="object 91"/>
          <p:cNvGraphicFramePr>
            <a:graphicFrameLocks noGrp="1"/>
          </p:cNvGraphicFramePr>
          <p:nvPr/>
        </p:nvGraphicFramePr>
        <p:xfrm>
          <a:off x="5259501" y="5334025"/>
          <a:ext cx="4177028" cy="4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1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93"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30" dirty="0">
                          <a:latin typeface="LM Roman 8"/>
                          <a:cs typeface="LM Roman 8"/>
                        </a:rPr>
                        <a:t>Ward</a:t>
                      </a:r>
                      <a:r>
                        <a:rPr sz="800" b="1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linkage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25" dirty="0">
                          <a:latin typeface="LM Roman 8"/>
                          <a:cs typeface="LM Roman 8"/>
                        </a:rPr>
                        <a:t>Average</a:t>
                      </a:r>
                      <a:r>
                        <a:rPr sz="800" b="1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linkage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Complete</a:t>
                      </a:r>
                      <a:r>
                        <a:rPr sz="800" b="1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linkage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507">
                <a:tc>
                  <a:txBody>
                    <a:bodyPr/>
                    <a:lstStyle/>
                    <a:p>
                      <a:pPr marL="443865" marR="70485" indent="-366395">
                        <a:lnSpc>
                          <a:spcPct val="73300"/>
                        </a:lnSpc>
                        <a:spcBef>
                          <a:spcPts val="390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Minimize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within cluster  distance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 marR="70485" indent="-123825">
                        <a:lnSpc>
                          <a:spcPct val="73300"/>
                        </a:lnSpc>
                        <a:spcBef>
                          <a:spcPts val="390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Minimize average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distance 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between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cluster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pairs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755" marR="70485" indent="-120650">
                        <a:lnSpc>
                          <a:spcPct val="73300"/>
                        </a:lnSpc>
                        <a:spcBef>
                          <a:spcPts val="390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Minimize maximum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distance  of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between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cluster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pairs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495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" name="object 92"/>
          <p:cNvSpPr txBox="1"/>
          <p:nvPr/>
        </p:nvSpPr>
        <p:spPr>
          <a:xfrm>
            <a:off x="5072354" y="5971814"/>
            <a:ext cx="4556760" cy="1144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just">
              <a:lnSpc>
                <a:spcPts val="1195"/>
              </a:lnSpc>
            </a:pPr>
            <a:r>
              <a:rPr sz="1000" b="1" spc="-5" dirty="0">
                <a:latin typeface="LM Roman 10"/>
                <a:cs typeface="LM Roman 10"/>
              </a:rPr>
              <a:t>2.2.4</a:t>
            </a:r>
            <a:r>
              <a:rPr sz="1000" b="1" spc="370" dirty="0">
                <a:latin typeface="LM Roman 10"/>
                <a:cs typeface="LM Roman 10"/>
              </a:rPr>
              <a:t> </a:t>
            </a:r>
            <a:r>
              <a:rPr sz="900" b="1" spc="-10" dirty="0">
                <a:latin typeface="LM Roman 9"/>
                <a:cs typeface="LM Roman 9"/>
              </a:rPr>
              <a:t>Clustering </a:t>
            </a:r>
            <a:r>
              <a:rPr sz="900" b="1" spc="-5" dirty="0">
                <a:latin typeface="LM Roman 9"/>
                <a:cs typeface="LM Roman 9"/>
              </a:rPr>
              <a:t>assessment</a:t>
            </a:r>
            <a:r>
              <a:rPr sz="900" b="1" spc="10" dirty="0">
                <a:latin typeface="LM Roman 9"/>
                <a:cs typeface="LM Roman 9"/>
              </a:rPr>
              <a:t> </a:t>
            </a:r>
            <a:r>
              <a:rPr sz="900" b="1" spc="-5" dirty="0">
                <a:latin typeface="LM Roman 9"/>
                <a:cs typeface="LM Roman 9"/>
              </a:rPr>
              <a:t>metrics</a:t>
            </a:r>
            <a:endParaRPr sz="900">
              <a:latin typeface="LM Roman 9"/>
              <a:cs typeface="LM Roman 9"/>
            </a:endParaRPr>
          </a:p>
          <a:p>
            <a:pPr marL="38100" marR="30480" algn="just">
              <a:lnSpc>
                <a:spcPts val="800"/>
              </a:lnSpc>
              <a:spcBef>
                <a:spcPts val="810"/>
              </a:spcBef>
            </a:pPr>
            <a:r>
              <a:rPr sz="800" spc="-5" dirty="0">
                <a:latin typeface="LM Roman 8"/>
                <a:cs typeface="LM Roman 8"/>
              </a:rPr>
              <a:t>In an </a:t>
            </a:r>
            <a:r>
              <a:rPr sz="800" dirty="0">
                <a:latin typeface="LM Roman 8"/>
                <a:cs typeface="LM Roman 8"/>
              </a:rPr>
              <a:t>unsupervised </a:t>
            </a:r>
            <a:r>
              <a:rPr sz="800" spc="-5" dirty="0">
                <a:latin typeface="LM Roman 8"/>
                <a:cs typeface="LM Roman 8"/>
              </a:rPr>
              <a:t>learning setting, it is often hard to assess the </a:t>
            </a:r>
            <a:r>
              <a:rPr sz="800" dirty="0">
                <a:latin typeface="LM Roman 8"/>
                <a:cs typeface="LM Roman 8"/>
              </a:rPr>
              <a:t>performance </a:t>
            </a:r>
            <a:r>
              <a:rPr sz="800" spc="-5" dirty="0">
                <a:latin typeface="LM Roman 8"/>
                <a:cs typeface="LM Roman 8"/>
              </a:rPr>
              <a:t>of a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since 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don’t </a:t>
            </a:r>
            <a:r>
              <a:rPr sz="800" spc="-15" dirty="0">
                <a:latin typeface="LM Roman 8"/>
                <a:cs typeface="LM Roman 8"/>
              </a:rPr>
              <a:t>have </a:t>
            </a:r>
            <a:r>
              <a:rPr sz="800" spc="-5" dirty="0">
                <a:latin typeface="LM Roman 8"/>
                <a:cs typeface="LM Roman 8"/>
              </a:rPr>
              <a:t>the ground truth </a:t>
            </a:r>
            <a:r>
              <a:rPr sz="800" dirty="0">
                <a:latin typeface="LM Roman 8"/>
                <a:cs typeface="LM Roman 8"/>
              </a:rPr>
              <a:t>labels </a:t>
            </a:r>
            <a:r>
              <a:rPr sz="800" spc="-5" dirty="0">
                <a:latin typeface="LM Roman 8"/>
                <a:cs typeface="LM Roman 8"/>
              </a:rPr>
              <a:t>as </a:t>
            </a:r>
            <a:r>
              <a:rPr sz="800" spc="-10" dirty="0">
                <a:latin typeface="LM Roman 8"/>
                <a:cs typeface="LM Roman 8"/>
              </a:rPr>
              <a:t>was </a:t>
            </a:r>
            <a:r>
              <a:rPr sz="800" spc="-5" dirty="0">
                <a:latin typeface="LM Roman 8"/>
                <a:cs typeface="LM Roman 8"/>
              </a:rPr>
              <a:t>the case in the </a:t>
            </a:r>
            <a:r>
              <a:rPr sz="800" dirty="0">
                <a:latin typeface="LM Roman 8"/>
                <a:cs typeface="LM Roman 8"/>
              </a:rPr>
              <a:t>supervised </a:t>
            </a:r>
            <a:r>
              <a:rPr sz="800" spc="-5" dirty="0">
                <a:latin typeface="LM Roman 8"/>
                <a:cs typeface="LM Roman 8"/>
              </a:rPr>
              <a:t>learning</a:t>
            </a:r>
            <a:r>
              <a:rPr sz="800" spc="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setting.</a:t>
            </a:r>
            <a:endParaRPr sz="800">
              <a:latin typeface="LM Roman 8"/>
              <a:cs typeface="LM Roman 8"/>
            </a:endParaRPr>
          </a:p>
          <a:p>
            <a:pPr marL="38100" marR="30480" algn="just">
              <a:lnSpc>
                <a:spcPts val="800"/>
              </a:lnSpc>
              <a:spcBef>
                <a:spcPts val="385"/>
              </a:spcBef>
              <a:buFont typeface="DejaVu Sans"/>
              <a:buChar char="❒"/>
              <a:tabLst>
                <a:tab pos="16002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Silhouette coefficient </a:t>
            </a:r>
            <a:r>
              <a:rPr sz="800" spc="-5" dirty="0">
                <a:latin typeface="LM Roman 8"/>
                <a:cs typeface="LM Roman 8"/>
              </a:rPr>
              <a:t>– By noting </a:t>
            </a:r>
            <a:r>
              <a:rPr sz="800" i="1" spc="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-40" dirty="0">
                <a:latin typeface="Times New Roman"/>
                <a:cs typeface="Times New Roman"/>
              </a:rPr>
              <a:t>b </a:t>
            </a:r>
            <a:r>
              <a:rPr sz="800" spc="-5" dirty="0">
                <a:latin typeface="LM Roman 8"/>
                <a:cs typeface="LM Roman 8"/>
              </a:rPr>
              <a:t>the mean distance </a:t>
            </a:r>
            <a:r>
              <a:rPr sz="800" spc="-10" dirty="0">
                <a:latin typeface="LM Roman 8"/>
                <a:cs typeface="LM Roman 8"/>
              </a:rPr>
              <a:t>between </a:t>
            </a:r>
            <a:r>
              <a:rPr sz="800" spc="-5" dirty="0">
                <a:latin typeface="LM Roman 8"/>
                <a:cs typeface="LM Roman 8"/>
              </a:rPr>
              <a:t>a sample and all  other points in the same class, and </a:t>
            </a:r>
            <a:r>
              <a:rPr sz="800" spc="-10" dirty="0">
                <a:latin typeface="LM Roman 8"/>
                <a:cs typeface="LM Roman 8"/>
              </a:rPr>
              <a:t>between </a:t>
            </a:r>
            <a:r>
              <a:rPr sz="800" spc="-5" dirty="0">
                <a:latin typeface="LM Roman 8"/>
                <a:cs typeface="LM Roman 8"/>
              </a:rPr>
              <a:t>a sample and all other points in the next nearest  cluster, the silhouette </a:t>
            </a:r>
            <a:r>
              <a:rPr sz="800" spc="-10" dirty="0">
                <a:latin typeface="LM Roman 8"/>
                <a:cs typeface="LM Roman 8"/>
              </a:rPr>
              <a:t>coefficient </a:t>
            </a:r>
            <a:r>
              <a:rPr sz="800" i="1" spc="80" dirty="0">
                <a:latin typeface="Times New Roman"/>
                <a:cs typeface="Times New Roman"/>
              </a:rPr>
              <a:t>s </a:t>
            </a:r>
            <a:r>
              <a:rPr sz="800" spc="-5" dirty="0">
                <a:latin typeface="LM Roman 8"/>
                <a:cs typeface="LM Roman 8"/>
              </a:rPr>
              <a:t>for a single sample is defined as</a:t>
            </a:r>
            <a:r>
              <a:rPr sz="800" spc="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  <a:p>
            <a:pPr marR="7620" algn="ctr">
              <a:lnSpc>
                <a:spcPct val="100000"/>
              </a:lnSpc>
              <a:spcBef>
                <a:spcPts val="405"/>
              </a:spcBef>
            </a:pPr>
            <a:r>
              <a:rPr sz="1200" i="1" spc="120" baseline="-38194" dirty="0">
                <a:latin typeface="Times New Roman"/>
                <a:cs typeface="Times New Roman"/>
              </a:rPr>
              <a:t>s </a:t>
            </a:r>
            <a:r>
              <a:rPr sz="1200" spc="-7" baseline="-38194" dirty="0">
                <a:latin typeface="LM Roman 8"/>
                <a:cs typeface="LM Roman 8"/>
              </a:rPr>
              <a:t>=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    </a:t>
            </a:r>
            <a:r>
              <a:rPr sz="800" i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 </a:t>
            </a:r>
            <a:r>
              <a:rPr sz="800" i="1" u="sng" spc="-15" dirty="0">
                <a:uFill>
                  <a:solidFill>
                    <a:srgbClr val="000000"/>
                  </a:solidFill>
                </a:uFill>
                <a:latin typeface="DejaVu Sans"/>
                <a:cs typeface="DejaVu Sans"/>
              </a:rPr>
              <a:t>−</a:t>
            </a:r>
            <a:r>
              <a:rPr sz="800" i="1" u="sng" spc="-140" dirty="0">
                <a:uFill>
                  <a:solidFill>
                    <a:srgbClr val="000000"/>
                  </a:solidFill>
                </a:uFill>
                <a:latin typeface="DejaVu Sans"/>
                <a:cs typeface="DejaVu Sans"/>
              </a:rPr>
              <a:t> </a:t>
            </a:r>
            <a:r>
              <a:rPr sz="800" i="1" u="sng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800" i="1" u="sng" spc="-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800">
              <a:latin typeface="Times New Roman"/>
              <a:cs typeface="Times New Roman"/>
            </a:endParaRPr>
          </a:p>
          <a:p>
            <a:pPr marL="192405" algn="ctr">
              <a:lnSpc>
                <a:spcPct val="100000"/>
              </a:lnSpc>
              <a:spcBef>
                <a:spcPts val="195"/>
              </a:spcBef>
            </a:pPr>
            <a:r>
              <a:rPr sz="800" dirty="0">
                <a:latin typeface="LM Roman 8"/>
                <a:cs typeface="LM Roman 8"/>
              </a:rPr>
              <a:t>max(</a:t>
            </a:r>
            <a:r>
              <a:rPr sz="800" i="1" dirty="0">
                <a:latin typeface="Times New Roman"/>
                <a:cs typeface="Times New Roman"/>
              </a:rPr>
              <a:t>a,b</a:t>
            </a:r>
            <a:r>
              <a:rPr sz="80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6986701" y="6823723"/>
            <a:ext cx="727710" cy="328295"/>
            <a:chOff x="6986701" y="6823723"/>
            <a:chExt cx="727710" cy="328295"/>
          </a:xfrm>
        </p:grpSpPr>
        <p:sp>
          <p:nvSpPr>
            <p:cNvPr id="94" name="object 94"/>
            <p:cNvSpPr/>
            <p:nvPr/>
          </p:nvSpPr>
          <p:spPr>
            <a:xfrm>
              <a:off x="6986701" y="6826250"/>
              <a:ext cx="727710" cy="0"/>
            </a:xfrm>
            <a:custGeom>
              <a:avLst/>
              <a:gdLst/>
              <a:ahLst/>
              <a:cxnLst/>
              <a:rect l="l" t="t" r="r" b="b"/>
              <a:pathLst>
                <a:path w="727709">
                  <a:moveTo>
                    <a:pt x="0" y="0"/>
                  </a:moveTo>
                  <a:lnTo>
                    <a:pt x="72745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989228" y="6826250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5">
                  <a:moveTo>
                    <a:pt x="0" y="32288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711630" y="6826250"/>
              <a:ext cx="0" cy="323215"/>
            </a:xfrm>
            <a:custGeom>
              <a:avLst/>
              <a:gdLst/>
              <a:ahLst/>
              <a:cxnLst/>
              <a:rect l="l" t="t" r="r" b="b"/>
              <a:pathLst>
                <a:path h="323215">
                  <a:moveTo>
                    <a:pt x="0" y="32288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986701" y="7149135"/>
              <a:ext cx="727710" cy="0"/>
            </a:xfrm>
            <a:custGeom>
              <a:avLst/>
              <a:gdLst/>
              <a:ahLst/>
              <a:cxnLst/>
              <a:rect l="l" t="t" r="r" b="b"/>
              <a:pathLst>
                <a:path w="727709">
                  <a:moveTo>
                    <a:pt x="0" y="0"/>
                  </a:moveTo>
                  <a:lnTo>
                    <a:pt x="72745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/>
          <p:nvPr/>
        </p:nvSpPr>
        <p:spPr>
          <a:xfrm>
            <a:off x="503999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100" name="object 10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294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0676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994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7194" y="696606"/>
            <a:ext cx="4581525" cy="2489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50165" marR="43180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7145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Calinski-Harabaz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index </a:t>
            </a:r>
            <a:r>
              <a:rPr sz="800" spc="-5" dirty="0">
                <a:latin typeface="LM Roman 8"/>
                <a:cs typeface="LM Roman 8"/>
              </a:rPr>
              <a:t>– By noting </a:t>
            </a:r>
            <a:r>
              <a:rPr sz="800" i="1" spc="85" dirty="0">
                <a:latin typeface="Times New Roman"/>
                <a:cs typeface="Times New Roman"/>
              </a:rPr>
              <a:t>k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number </a:t>
            </a:r>
            <a:r>
              <a:rPr sz="800" spc="-5" dirty="0">
                <a:latin typeface="LM Roman 8"/>
                <a:cs typeface="LM Roman 8"/>
              </a:rPr>
              <a:t>of clusters, </a:t>
            </a:r>
            <a:r>
              <a:rPr sz="800" i="1" spc="135" dirty="0">
                <a:latin typeface="Times New Roman"/>
                <a:cs typeface="Times New Roman"/>
              </a:rPr>
              <a:t>B</a:t>
            </a:r>
            <a:r>
              <a:rPr sz="900" i="1" spc="202" baseline="-13888" dirty="0">
                <a:latin typeface="Times New Roman"/>
                <a:cs typeface="Times New Roman"/>
              </a:rPr>
              <a:t>k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30" dirty="0">
                <a:latin typeface="Times New Roman"/>
                <a:cs typeface="Times New Roman"/>
              </a:rPr>
              <a:t>W</a:t>
            </a:r>
            <a:r>
              <a:rPr sz="900" i="1" spc="195" baseline="-13888" dirty="0">
                <a:latin typeface="Times New Roman"/>
                <a:cs typeface="Times New Roman"/>
              </a:rPr>
              <a:t>k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between  </a:t>
            </a:r>
            <a:r>
              <a:rPr sz="800" spc="-5" dirty="0">
                <a:latin typeface="LM Roman 8"/>
                <a:cs typeface="LM Roman 8"/>
              </a:rPr>
              <a:t>and within-clustering </a:t>
            </a:r>
            <a:r>
              <a:rPr sz="800" dirty="0">
                <a:latin typeface="LM Roman 8"/>
                <a:cs typeface="LM Roman 8"/>
              </a:rPr>
              <a:t>dispersion </a:t>
            </a:r>
            <a:r>
              <a:rPr sz="800" spc="-5" dirty="0">
                <a:latin typeface="LM Roman 8"/>
                <a:cs typeface="LM Roman 8"/>
              </a:rPr>
              <a:t>matrices respectively defined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78" y="1204568"/>
            <a:ext cx="3289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135" dirty="0">
                <a:latin typeface="Times New Roman"/>
                <a:cs typeface="Times New Roman"/>
              </a:rPr>
              <a:t>B</a:t>
            </a:r>
            <a:r>
              <a:rPr sz="900" i="1" spc="202" baseline="-13888" dirty="0">
                <a:latin typeface="Times New Roman"/>
                <a:cs typeface="Times New Roman"/>
              </a:rPr>
              <a:t>k</a:t>
            </a:r>
            <a:r>
              <a:rPr sz="900" i="1" spc="150" baseline="-13888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8503" y="1266436"/>
            <a:ext cx="332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6225" algn="l"/>
              </a:tabLst>
            </a:pPr>
            <a:r>
              <a:rPr sz="600" i="1" spc="65" dirty="0">
                <a:latin typeface="Times New Roman"/>
                <a:cs typeface="Times New Roman"/>
              </a:rPr>
              <a:t>c	c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0947" y="1255099"/>
            <a:ext cx="39179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6225" algn="l"/>
              </a:tabLst>
            </a:pPr>
            <a:r>
              <a:rPr sz="500" spc="-10" dirty="0">
                <a:latin typeface="LM Roman 5"/>
                <a:cs typeface="LM Roman 5"/>
              </a:rPr>
              <a:t>(</a:t>
            </a:r>
            <a:r>
              <a:rPr sz="500" i="1" spc="145" dirty="0">
                <a:latin typeface="Arial"/>
                <a:cs typeface="Arial"/>
              </a:rPr>
              <a:t>i</a:t>
            </a:r>
            <a:r>
              <a:rPr sz="500" spc="-5" dirty="0">
                <a:latin typeface="LM Roman 5"/>
                <a:cs typeface="LM Roman 5"/>
              </a:rPr>
              <a:t>)</a:t>
            </a:r>
            <a:r>
              <a:rPr sz="500" dirty="0">
                <a:latin typeface="LM Roman 5"/>
                <a:cs typeface="LM Roman 5"/>
              </a:rPr>
              <a:t>	</a:t>
            </a:r>
            <a:r>
              <a:rPr sz="500" spc="-10" dirty="0">
                <a:latin typeface="LM Roman 5"/>
                <a:cs typeface="LM Roman 5"/>
              </a:rPr>
              <a:t>(</a:t>
            </a:r>
            <a:r>
              <a:rPr sz="500" i="1" spc="145" dirty="0">
                <a:latin typeface="Arial"/>
                <a:cs typeface="Arial"/>
              </a:rPr>
              <a:t>i</a:t>
            </a:r>
            <a:r>
              <a:rPr sz="500" spc="-5" dirty="0">
                <a:latin typeface="LM Roman 5"/>
                <a:cs typeface="LM Roman 5"/>
              </a:rPr>
              <a:t>)</a:t>
            </a:r>
            <a:endParaRPr sz="500">
              <a:latin typeface="LM Roman 5"/>
              <a:cs typeface="LM Roman 5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4301" y="1266436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65" dirty="0">
                <a:latin typeface="Times New Roman"/>
                <a:cs typeface="Times New Roman"/>
              </a:rPr>
              <a:t>c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6744" y="1255099"/>
            <a:ext cx="128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LM Roman 5"/>
                <a:cs typeface="LM Roman 5"/>
              </a:rPr>
              <a:t>(</a:t>
            </a:r>
            <a:r>
              <a:rPr sz="500" i="1" spc="145" dirty="0">
                <a:latin typeface="Arial"/>
                <a:cs typeface="Arial"/>
              </a:rPr>
              <a:t>i</a:t>
            </a:r>
            <a:r>
              <a:rPr sz="500" spc="-5" dirty="0">
                <a:latin typeface="LM Roman 5"/>
                <a:cs typeface="LM Roman 5"/>
              </a:rPr>
              <a:t>)</a:t>
            </a:r>
            <a:endParaRPr sz="500">
              <a:latin typeface="LM Roman 5"/>
              <a:cs typeface="LM Roman 5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99664" y="1187823"/>
            <a:ext cx="81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3251" y="1204568"/>
            <a:ext cx="13563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4950" algn="l"/>
                <a:tab pos="522605" algn="l"/>
                <a:tab pos="1024890" algn="l"/>
              </a:tabLst>
            </a:pPr>
            <a:r>
              <a:rPr sz="800" i="1" spc="110" dirty="0">
                <a:latin typeface="Times New Roman"/>
                <a:cs typeface="Times New Roman"/>
              </a:rPr>
              <a:t>n	</a:t>
            </a:r>
            <a:r>
              <a:rPr sz="800" spc="20" dirty="0">
                <a:latin typeface="LM Roman 8"/>
                <a:cs typeface="LM Roman 8"/>
              </a:rPr>
              <a:t>(</a:t>
            </a:r>
            <a:r>
              <a:rPr sz="800" i="1" spc="20" dirty="0">
                <a:latin typeface="Times New Roman"/>
                <a:cs typeface="Times New Roman"/>
              </a:rPr>
              <a:t>µ	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i="1" spc="20" dirty="0">
                <a:latin typeface="Times New Roman"/>
                <a:cs typeface="Times New Roman"/>
              </a:rPr>
              <a:t>µ</a:t>
            </a:r>
            <a:r>
              <a:rPr sz="800" spc="20" dirty="0">
                <a:latin typeface="LM Roman 8"/>
                <a:cs typeface="LM Roman 8"/>
              </a:rPr>
              <a:t>)(</a:t>
            </a:r>
            <a:r>
              <a:rPr sz="800" i="1" spc="20" dirty="0">
                <a:latin typeface="Times New Roman"/>
                <a:cs typeface="Times New Roman"/>
              </a:rPr>
              <a:t>µ	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i="1" spc="20" dirty="0">
                <a:latin typeface="Times New Roman"/>
                <a:cs typeface="Times New Roman"/>
              </a:rPr>
              <a:t>µ</a:t>
            </a:r>
            <a:r>
              <a:rPr sz="800" spc="20" dirty="0">
                <a:latin typeface="LM Roman 8"/>
                <a:cs typeface="LM Roman 8"/>
              </a:rPr>
              <a:t>)</a:t>
            </a:r>
            <a:r>
              <a:rPr sz="800" spc="165" dirty="0">
                <a:latin typeface="LM Roman 8"/>
                <a:cs typeface="LM Roman 8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,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8072" y="1078031"/>
            <a:ext cx="21424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45970" algn="l"/>
              </a:tabLst>
            </a:pPr>
            <a:r>
              <a:rPr sz="600" i="1" spc="125" dirty="0">
                <a:latin typeface="Times New Roman"/>
                <a:cs typeface="Times New Roman"/>
              </a:rPr>
              <a:t>k	</a:t>
            </a:r>
            <a:r>
              <a:rPr sz="600" i="1" spc="220" dirty="0">
                <a:latin typeface="Times New Roman"/>
                <a:cs typeface="Times New Roman"/>
              </a:rPr>
              <a:t>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2565" y="1065382"/>
            <a:ext cx="22447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61210" algn="l"/>
              </a:tabLst>
            </a:pPr>
            <a:r>
              <a:rPr sz="1000" spc="819" dirty="0">
                <a:latin typeface="Arial"/>
                <a:cs typeface="Arial"/>
              </a:rPr>
              <a:t>Σ	</a:t>
            </a:r>
            <a:r>
              <a:rPr sz="1000" spc="-22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06825" y="1187823"/>
            <a:ext cx="132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16235" y="1266436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65" dirty="0">
                <a:latin typeface="Times New Roman"/>
                <a:cs typeface="Times New Roman"/>
              </a:rPr>
              <a:t>c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58679" y="1255099"/>
            <a:ext cx="128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LM Roman 5"/>
                <a:cs typeface="LM Roman 5"/>
              </a:rPr>
              <a:t>(</a:t>
            </a:r>
            <a:r>
              <a:rPr sz="500" i="1" spc="145" dirty="0">
                <a:latin typeface="Arial"/>
                <a:cs typeface="Arial"/>
              </a:rPr>
              <a:t>i</a:t>
            </a:r>
            <a:r>
              <a:rPr sz="500" spc="-5" dirty="0">
                <a:latin typeface="LM Roman 5"/>
                <a:cs typeface="LM Roman 5"/>
              </a:rPr>
              <a:t>)</a:t>
            </a:r>
            <a:endParaRPr sz="500">
              <a:latin typeface="LM Roman 5"/>
              <a:cs typeface="LM Roman 5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93357" y="1204568"/>
            <a:ext cx="1214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23240" algn="l"/>
                <a:tab pos="763270" algn="l"/>
                <a:tab pos="1092835" algn="l"/>
              </a:tabLst>
            </a:pPr>
            <a:r>
              <a:rPr sz="800" i="1" spc="130" dirty="0">
                <a:latin typeface="Times New Roman"/>
                <a:cs typeface="Times New Roman"/>
              </a:rPr>
              <a:t>W</a:t>
            </a:r>
            <a:r>
              <a:rPr sz="900" i="1" spc="195" baseline="-13888" dirty="0">
                <a:latin typeface="Times New Roman"/>
                <a:cs typeface="Times New Roman"/>
              </a:rPr>
              <a:t>k</a:t>
            </a:r>
            <a:r>
              <a:rPr sz="900" i="1" spc="217" baseline="-13888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	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x	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µ	</a:t>
            </a:r>
            <a:r>
              <a:rPr sz="800" spc="-5" dirty="0">
                <a:latin typeface="LM Roman 8"/>
                <a:cs typeface="LM Roman 8"/>
              </a:rPr>
              <a:t>)(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17810" y="1187823"/>
            <a:ext cx="132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27220" y="1266436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65" dirty="0">
                <a:latin typeface="Times New Roman"/>
                <a:cs typeface="Times New Roman"/>
              </a:rPr>
              <a:t>c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69663" y="1255099"/>
            <a:ext cx="1282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LM Roman 5"/>
                <a:cs typeface="LM Roman 5"/>
              </a:rPr>
              <a:t>(</a:t>
            </a:r>
            <a:r>
              <a:rPr sz="500" i="1" spc="145" dirty="0">
                <a:latin typeface="Arial"/>
                <a:cs typeface="Arial"/>
              </a:rPr>
              <a:t>i</a:t>
            </a:r>
            <a:r>
              <a:rPr sz="500" spc="-5" dirty="0">
                <a:latin typeface="LM Roman 5"/>
                <a:cs typeface="LM Roman 5"/>
              </a:rPr>
              <a:t>)</a:t>
            </a:r>
            <a:endParaRPr sz="500">
              <a:latin typeface="LM Roman 5"/>
              <a:cs typeface="LM Roman 5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57269" y="1204568"/>
            <a:ext cx="5949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0185" algn="l"/>
                <a:tab pos="539750" algn="l"/>
              </a:tabLst>
            </a:pPr>
            <a:r>
              <a:rPr sz="800" i="1" spc="120" dirty="0">
                <a:latin typeface="Times New Roman"/>
                <a:cs typeface="Times New Roman"/>
              </a:rPr>
              <a:t>x	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µ</a:t>
            </a:r>
            <a:r>
              <a:rPr sz="800" i="1" dirty="0">
                <a:latin typeface="Times New Roman"/>
                <a:cs typeface="Times New Roman"/>
              </a:rPr>
              <a:t>	</a:t>
            </a:r>
            <a:r>
              <a:rPr sz="800" spc="-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26432" y="1187823"/>
            <a:ext cx="81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5294" y="1381701"/>
            <a:ext cx="4505960" cy="576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0715">
              <a:lnSpc>
                <a:spcPct val="100000"/>
              </a:lnSpc>
              <a:spcBef>
                <a:spcPts val="95"/>
              </a:spcBef>
              <a:tabLst>
                <a:tab pos="2694305" algn="l"/>
              </a:tabLst>
            </a:pPr>
            <a:r>
              <a:rPr sz="600" i="1" spc="55" dirty="0">
                <a:latin typeface="Times New Roman"/>
                <a:cs typeface="Times New Roman"/>
              </a:rPr>
              <a:t>j</a:t>
            </a:r>
            <a:r>
              <a:rPr sz="600" spc="55" dirty="0">
                <a:latin typeface="LM Roman 6"/>
                <a:cs typeface="LM Roman 6"/>
              </a:rPr>
              <a:t>=1	</a:t>
            </a: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LM Roman 6"/>
              <a:cs typeface="LM Roman 6"/>
            </a:endParaRPr>
          </a:p>
          <a:p>
            <a:pPr marL="12700" marR="5080" algn="just">
              <a:lnSpc>
                <a:spcPct val="86000"/>
              </a:lnSpc>
              <a:spcBef>
                <a:spcPts val="5"/>
              </a:spcBef>
            </a:pPr>
            <a:r>
              <a:rPr sz="800" spc="-5" dirty="0">
                <a:latin typeface="LM Roman 8"/>
                <a:cs typeface="LM Roman 8"/>
              </a:rPr>
              <a:t>the Calinski-Harabaz index </a:t>
            </a:r>
            <a:r>
              <a:rPr sz="800" i="1" spc="45" dirty="0">
                <a:latin typeface="Times New Roman"/>
                <a:cs typeface="Times New Roman"/>
              </a:rPr>
              <a:t>s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k</a:t>
            </a:r>
            <a:r>
              <a:rPr sz="800" spc="4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indicates </a:t>
            </a:r>
            <a:r>
              <a:rPr sz="800" spc="-15" dirty="0">
                <a:latin typeface="LM Roman 8"/>
                <a:cs typeface="LM Roman 8"/>
              </a:rPr>
              <a:t>how </a:t>
            </a:r>
            <a:r>
              <a:rPr sz="800" spc="-10" dirty="0">
                <a:latin typeface="LM Roman 8"/>
                <a:cs typeface="LM Roman 8"/>
              </a:rPr>
              <a:t>well </a:t>
            </a:r>
            <a:r>
              <a:rPr sz="800" spc="-5" dirty="0">
                <a:latin typeface="LM Roman 8"/>
                <a:cs typeface="LM Roman 8"/>
              </a:rPr>
              <a:t>a clustering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defines its clusters, </a:t>
            </a:r>
            <a:r>
              <a:rPr sz="800" spc="-10" dirty="0">
                <a:latin typeface="LM Roman 8"/>
                <a:cs typeface="LM Roman 8"/>
              </a:rPr>
              <a:t>such  </a:t>
            </a:r>
            <a:r>
              <a:rPr sz="800" spc="-5" dirty="0">
                <a:latin typeface="LM Roman 8"/>
                <a:cs typeface="LM Roman 8"/>
              </a:rPr>
              <a:t>that the higher the score, the more dense and </a:t>
            </a:r>
            <a:r>
              <a:rPr sz="800" spc="-10" dirty="0">
                <a:latin typeface="LM Roman 8"/>
                <a:cs typeface="LM Roman 8"/>
              </a:rPr>
              <a:t>well </a:t>
            </a:r>
            <a:r>
              <a:rPr sz="800" spc="-5" dirty="0">
                <a:latin typeface="LM Roman 8"/>
                <a:cs typeface="LM Roman 8"/>
              </a:rPr>
              <a:t>separated the clusters are. It is defined as 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24087" y="2063837"/>
            <a:ext cx="3187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s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k</a:t>
            </a:r>
            <a:r>
              <a:rPr sz="800" spc="45" dirty="0">
                <a:latin typeface="LM Roman 8"/>
                <a:cs typeface="LM Roman 8"/>
              </a:rPr>
              <a:t>)</a:t>
            </a:r>
            <a:r>
              <a:rPr sz="800" spc="-114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18485" y="2036513"/>
            <a:ext cx="635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u="sng" spc="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67647" y="2063837"/>
            <a:ext cx="965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latin typeface="DejaVu Sans"/>
                <a:cs typeface="DejaVu Sans"/>
              </a:rPr>
              <a:t>×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84920" y="1993352"/>
            <a:ext cx="8020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04825" algn="l"/>
              </a:tabLst>
            </a:pPr>
            <a:r>
              <a:rPr sz="800" u="sng" spc="1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Tr(</a:t>
            </a:r>
            <a:r>
              <a:rPr sz="800" i="1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800" i="1" spc="15" dirty="0">
                <a:latin typeface="Times New Roman"/>
                <a:cs typeface="Times New Roman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 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)</a:t>
            </a:r>
            <a:r>
              <a:rPr sz="800" spc="-5" dirty="0">
                <a:latin typeface="LM Roman 8"/>
                <a:cs typeface="LM Roman 8"/>
              </a:rPr>
              <a:t>	</a:t>
            </a:r>
            <a:r>
              <a:rPr sz="800" i="1" u="sng" spc="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800" i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i="1" u="sng" spc="-15" dirty="0">
                <a:uFill>
                  <a:solidFill>
                    <a:srgbClr val="000000"/>
                  </a:solidFill>
                </a:uFill>
                <a:latin typeface="DejaVu Sans"/>
                <a:cs typeface="DejaVu Sans"/>
              </a:rPr>
              <a:t>−</a:t>
            </a:r>
            <a:r>
              <a:rPr sz="800" i="1" spc="-15" dirty="0">
                <a:latin typeface="DejaVu Sans"/>
                <a:cs typeface="DejaVu Sans"/>
              </a:rPr>
              <a:t> </a:t>
            </a:r>
            <a:r>
              <a:rPr sz="800" i="1" u="sng" spc="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49347" y="2139656"/>
            <a:ext cx="844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561975" algn="l"/>
              </a:tabLst>
            </a:pPr>
            <a:r>
              <a:rPr sz="800" spc="35" dirty="0">
                <a:latin typeface="LM Roman 8"/>
                <a:cs typeface="LM Roman 8"/>
              </a:rPr>
              <a:t>Tr(</a:t>
            </a:r>
            <a:r>
              <a:rPr sz="800" i="1" spc="35" dirty="0">
                <a:latin typeface="Times New Roman"/>
                <a:cs typeface="Times New Roman"/>
              </a:rPr>
              <a:t>W</a:t>
            </a:r>
            <a:r>
              <a:rPr sz="900" i="1" spc="52" baseline="-13888" dirty="0">
                <a:latin typeface="Times New Roman"/>
                <a:cs typeface="Times New Roman"/>
              </a:rPr>
              <a:t>k</a:t>
            </a:r>
            <a:r>
              <a:rPr sz="900" i="1" spc="-135" baseline="-13888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)	</a:t>
            </a:r>
            <a:r>
              <a:rPr sz="800" i="1" spc="85" dirty="0">
                <a:latin typeface="Times New Roman"/>
                <a:cs typeface="Times New Roman"/>
              </a:rPr>
              <a:t>k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204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081072" y="1988337"/>
            <a:ext cx="1254125" cy="334010"/>
            <a:chOff x="2081072" y="1988337"/>
            <a:chExt cx="1254125" cy="334010"/>
          </a:xfrm>
        </p:grpSpPr>
        <p:sp>
          <p:nvSpPr>
            <p:cNvPr id="31" name="object 31"/>
            <p:cNvSpPr/>
            <p:nvPr/>
          </p:nvSpPr>
          <p:spPr>
            <a:xfrm>
              <a:off x="2081072" y="1990864"/>
              <a:ext cx="1254125" cy="0"/>
            </a:xfrm>
            <a:custGeom>
              <a:avLst/>
              <a:gdLst/>
              <a:ahLst/>
              <a:cxnLst/>
              <a:rect l="l" t="t" r="r" b="b"/>
              <a:pathLst>
                <a:path w="1254124">
                  <a:moveTo>
                    <a:pt x="0" y="0"/>
                  </a:moveTo>
                  <a:lnTo>
                    <a:pt x="125379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83600" y="1990864"/>
              <a:ext cx="0" cy="328930"/>
            </a:xfrm>
            <a:custGeom>
              <a:avLst/>
              <a:gdLst/>
              <a:ahLst/>
              <a:cxnLst/>
              <a:rect l="l" t="t" r="r" b="b"/>
              <a:pathLst>
                <a:path h="328930">
                  <a:moveTo>
                    <a:pt x="0" y="32851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32340" y="1990864"/>
              <a:ext cx="0" cy="328930"/>
            </a:xfrm>
            <a:custGeom>
              <a:avLst/>
              <a:gdLst/>
              <a:ahLst/>
              <a:cxnLst/>
              <a:rect l="l" t="t" r="r" b="b"/>
              <a:pathLst>
                <a:path h="328930">
                  <a:moveTo>
                    <a:pt x="0" y="32851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81072" y="2319375"/>
              <a:ext cx="1254125" cy="0"/>
            </a:xfrm>
            <a:custGeom>
              <a:avLst/>
              <a:gdLst/>
              <a:ahLst/>
              <a:cxnLst/>
              <a:rect l="l" t="t" r="r" b="b"/>
              <a:pathLst>
                <a:path w="1254124">
                  <a:moveTo>
                    <a:pt x="0" y="0"/>
                  </a:moveTo>
                  <a:lnTo>
                    <a:pt x="125379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55294" y="2418726"/>
            <a:ext cx="4505960" cy="7854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43535" lvl="1" indent="-331470">
              <a:lnSpc>
                <a:spcPct val="100000"/>
              </a:lnSpc>
              <a:spcBef>
                <a:spcPts val="605"/>
              </a:spcBef>
              <a:buSzPct val="111111"/>
              <a:buFont typeface="LM Roman 10"/>
              <a:buAutoNum type="arabicPeriod" startAt="3"/>
              <a:tabLst>
                <a:tab pos="343535" algn="l"/>
                <a:tab pos="344170" algn="l"/>
              </a:tabLst>
            </a:pPr>
            <a:r>
              <a:rPr sz="900" b="1" spc="-10" dirty="0">
                <a:latin typeface="LM Roman 9"/>
                <a:cs typeface="LM Roman 9"/>
              </a:rPr>
              <a:t>Dimension </a:t>
            </a:r>
            <a:r>
              <a:rPr sz="900" b="1" spc="-5" dirty="0">
                <a:latin typeface="LM Roman 9"/>
                <a:cs typeface="LM Roman 9"/>
              </a:rPr>
              <a:t>reduction</a:t>
            </a:r>
            <a:endParaRPr sz="900">
              <a:latin typeface="LM Roman 9"/>
              <a:cs typeface="LM Roman 9"/>
            </a:endParaRPr>
          </a:p>
          <a:p>
            <a:pPr marL="457200" lvl="2" indent="-445134">
              <a:lnSpc>
                <a:spcPct val="100000"/>
              </a:lnSpc>
              <a:spcBef>
                <a:spcPts val="650"/>
              </a:spcBef>
              <a:buSzPct val="111111"/>
              <a:buFont typeface="LM Roman 10"/>
              <a:buAutoNum type="arabicPeriod"/>
              <a:tabLst>
                <a:tab pos="457200" algn="l"/>
                <a:tab pos="457834" algn="l"/>
              </a:tabLst>
            </a:pPr>
            <a:r>
              <a:rPr sz="900" b="1" spc="-5" dirty="0">
                <a:latin typeface="LM Roman 9"/>
                <a:cs typeface="LM Roman 9"/>
              </a:rPr>
              <a:t>Principal component</a:t>
            </a:r>
            <a:r>
              <a:rPr sz="900" b="1" spc="-10" dirty="0">
                <a:latin typeface="LM Roman 9"/>
                <a:cs typeface="LM Roman 9"/>
              </a:rPr>
              <a:t> </a:t>
            </a:r>
            <a:r>
              <a:rPr sz="900" b="1" spc="-5" dirty="0">
                <a:latin typeface="LM Roman 9"/>
                <a:cs typeface="LM Roman 9"/>
              </a:rPr>
              <a:t>analysis</a:t>
            </a:r>
            <a:endParaRPr sz="90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825"/>
              </a:spcBef>
            </a:pPr>
            <a:r>
              <a:rPr sz="800" spc="-5" dirty="0">
                <a:latin typeface="LM Roman 8"/>
                <a:cs typeface="LM Roman 8"/>
              </a:rPr>
              <a:t>It is a dimension reduction technique that </a:t>
            </a:r>
            <a:r>
              <a:rPr sz="800" spc="-10" dirty="0">
                <a:latin typeface="LM Roman 8"/>
                <a:cs typeface="LM Roman 8"/>
              </a:rPr>
              <a:t>finds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variance </a:t>
            </a:r>
            <a:r>
              <a:rPr sz="800" spc="-5" dirty="0">
                <a:latin typeface="LM Roman 8"/>
                <a:cs typeface="LM Roman 8"/>
              </a:rPr>
              <a:t>maximizing directions </a:t>
            </a:r>
            <a:r>
              <a:rPr sz="800" spc="-10" dirty="0">
                <a:latin typeface="LM Roman 8"/>
                <a:cs typeface="LM Roman 8"/>
              </a:rPr>
              <a:t>onto which  </a:t>
            </a:r>
            <a:r>
              <a:rPr sz="800" spc="-5" dirty="0">
                <a:latin typeface="LM Roman 8"/>
                <a:cs typeface="LM Roman 8"/>
              </a:rPr>
              <a:t>to project the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data.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9894" y="3221531"/>
            <a:ext cx="45567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130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51130" algn="l"/>
              </a:tabLst>
            </a:pPr>
            <a:r>
              <a:rPr sz="800" b="1" spc="-15" dirty="0">
                <a:solidFill>
                  <a:srgbClr val="020E86"/>
                </a:solidFill>
                <a:latin typeface="LM Roman 8"/>
                <a:cs typeface="LM Roman 8"/>
              </a:rPr>
              <a:t>Eigenvalue,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eigenvector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a matrix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85" dirty="0">
                <a:latin typeface="MathJax_AMS"/>
                <a:cs typeface="MathJax_AMS"/>
              </a:rPr>
              <a:t>R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900" i="1" spc="127" baseline="27777" dirty="0">
                <a:latin typeface="DejaVu Sans"/>
                <a:cs typeface="DejaVu Sans"/>
              </a:rPr>
              <a:t>×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800" spc="85" dirty="0">
                <a:latin typeface="LM Roman 8"/>
                <a:cs typeface="LM Roman 8"/>
              </a:rPr>
              <a:t>, </a:t>
            </a:r>
            <a:r>
              <a:rPr sz="800" i="1" spc="145" dirty="0">
                <a:latin typeface="Times New Roman"/>
                <a:cs typeface="Times New Roman"/>
              </a:rPr>
              <a:t>λ </a:t>
            </a:r>
            <a:r>
              <a:rPr sz="800" spc="-5" dirty="0">
                <a:latin typeface="LM Roman 8"/>
                <a:cs typeface="LM Roman 8"/>
              </a:rPr>
              <a:t>is said to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an </a:t>
            </a:r>
            <a:r>
              <a:rPr sz="800" spc="-10" dirty="0">
                <a:latin typeface="LM Roman 8"/>
                <a:cs typeface="LM Roman 8"/>
              </a:rPr>
              <a:t>eigenvalue </a:t>
            </a:r>
            <a:r>
              <a:rPr sz="800" spc="-5" dirty="0">
                <a:latin typeface="LM Roman 8"/>
                <a:cs typeface="LM Roman 8"/>
              </a:rPr>
              <a:t>of </a:t>
            </a: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-7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if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9894" y="3329786"/>
            <a:ext cx="343407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there exists a </a:t>
            </a:r>
            <a:r>
              <a:rPr sz="800" spc="-10" dirty="0">
                <a:latin typeface="LM Roman 8"/>
                <a:cs typeface="LM Roman 8"/>
              </a:rPr>
              <a:t>vector </a:t>
            </a:r>
            <a:r>
              <a:rPr sz="800" i="1" spc="80" dirty="0">
                <a:latin typeface="Times New Roman"/>
                <a:cs typeface="Times New Roman"/>
              </a:rPr>
              <a:t>z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25" dirty="0">
                <a:latin typeface="MathJax_AMS"/>
                <a:cs typeface="MathJax_AMS"/>
              </a:rPr>
              <a:t>R</a:t>
            </a:r>
            <a:r>
              <a:rPr sz="900" i="1" spc="37" baseline="27777" dirty="0">
                <a:latin typeface="Times New Roman"/>
                <a:cs typeface="Times New Roman"/>
              </a:rPr>
              <a:t>n</a:t>
            </a:r>
            <a:r>
              <a:rPr sz="800" i="1" spc="25" dirty="0">
                <a:latin typeface="DejaVu Sans"/>
                <a:cs typeface="DejaVu Sans"/>
              </a:rPr>
              <a:t>\{</a:t>
            </a:r>
            <a:r>
              <a:rPr sz="800" spc="25" dirty="0">
                <a:latin typeface="LM Roman 8"/>
                <a:cs typeface="LM Roman 8"/>
              </a:rPr>
              <a:t>0</a:t>
            </a:r>
            <a:r>
              <a:rPr sz="800" i="1" spc="25" dirty="0">
                <a:latin typeface="DejaVu Sans"/>
                <a:cs typeface="DejaVu Sans"/>
              </a:rPr>
              <a:t>}</a:t>
            </a:r>
            <a:r>
              <a:rPr sz="800" spc="25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called </a:t>
            </a:r>
            <a:r>
              <a:rPr sz="800" spc="-10" dirty="0">
                <a:latin typeface="LM Roman 8"/>
                <a:cs typeface="LM Roman 8"/>
              </a:rPr>
              <a:t>eigenvector, such </a:t>
            </a:r>
            <a:r>
              <a:rPr sz="800" spc="-5" dirty="0">
                <a:latin typeface="LM Roman 8"/>
                <a:cs typeface="LM Roman 8"/>
              </a:rPr>
              <a:t>that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69832" y="3509302"/>
            <a:ext cx="476884" cy="15176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70"/>
              </a:spcBef>
            </a:pPr>
            <a:r>
              <a:rPr sz="800" i="1" spc="110" dirty="0">
                <a:latin typeface="Times New Roman"/>
                <a:cs typeface="Times New Roman"/>
              </a:rPr>
              <a:t>Az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50" dirty="0">
                <a:latin typeface="LM Roman 8"/>
                <a:cs typeface="LM Roman 8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λz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9894" y="3819206"/>
            <a:ext cx="45567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305" indent="-116839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54940" algn="l"/>
              </a:tabLst>
            </a:pPr>
            <a:r>
              <a:rPr sz="800" b="1" dirty="0">
                <a:solidFill>
                  <a:srgbClr val="9A0404"/>
                </a:solidFill>
                <a:latin typeface="LM Roman 8"/>
                <a:cs typeface="LM Roman 8"/>
              </a:rPr>
              <a:t>Spectral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theorem </a:t>
            </a:r>
            <a:r>
              <a:rPr sz="800" spc="-5" dirty="0">
                <a:latin typeface="LM Roman 8"/>
                <a:cs typeface="LM Roman 8"/>
              </a:rPr>
              <a:t>– Let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85" dirty="0">
                <a:latin typeface="MathJax_AMS"/>
                <a:cs typeface="MathJax_AMS"/>
              </a:rPr>
              <a:t>R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900" i="1" spc="127" baseline="27777" dirty="0">
                <a:latin typeface="DejaVu Sans"/>
                <a:cs typeface="DejaVu Sans"/>
              </a:rPr>
              <a:t>×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800" spc="85" dirty="0">
                <a:latin typeface="LM Roman 8"/>
                <a:cs typeface="LM Roman 8"/>
              </a:rPr>
              <a:t>. </a:t>
            </a:r>
            <a:r>
              <a:rPr sz="800" spc="-5" dirty="0">
                <a:latin typeface="LM Roman 8"/>
                <a:cs typeface="LM Roman 8"/>
              </a:rPr>
              <a:t>If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is symmetric, then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is diagonalizable </a:t>
            </a:r>
            <a:r>
              <a:rPr sz="800" spc="-15" dirty="0">
                <a:latin typeface="LM Roman 8"/>
                <a:cs typeface="LM Roman 8"/>
              </a:rPr>
              <a:t>by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 real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9907" y="3935754"/>
            <a:ext cx="338645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orthogonal matrix </a:t>
            </a:r>
            <a:r>
              <a:rPr sz="800" i="1" spc="-5" dirty="0">
                <a:latin typeface="Times New Roman"/>
                <a:cs typeface="Times New Roman"/>
              </a:rPr>
              <a:t>U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85" dirty="0">
                <a:latin typeface="MathJax_AMS"/>
                <a:cs typeface="MathJax_AMS"/>
              </a:rPr>
              <a:t>R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900" i="1" spc="127" baseline="27777" dirty="0">
                <a:latin typeface="DejaVu Sans"/>
                <a:cs typeface="DejaVu Sans"/>
              </a:rPr>
              <a:t>×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800" spc="85" dirty="0">
                <a:latin typeface="LM Roman 8"/>
                <a:cs typeface="LM Roman 8"/>
              </a:rPr>
              <a:t>. </a:t>
            </a:r>
            <a:r>
              <a:rPr sz="800" spc="-5" dirty="0">
                <a:latin typeface="LM Roman 8"/>
                <a:cs typeface="LM Roman 8"/>
              </a:rPr>
              <a:t>By noting Λ = </a:t>
            </a:r>
            <a:r>
              <a:rPr sz="800" spc="40" dirty="0">
                <a:latin typeface="LM Roman 8"/>
                <a:cs typeface="LM Roman 8"/>
              </a:rPr>
              <a:t>diag(</a:t>
            </a:r>
            <a:r>
              <a:rPr sz="800" i="1" spc="40" dirty="0">
                <a:latin typeface="Times New Roman"/>
                <a:cs typeface="Times New Roman"/>
              </a:rPr>
              <a:t>λ</a:t>
            </a:r>
            <a:r>
              <a:rPr sz="900" spc="60" baseline="-9259" dirty="0">
                <a:latin typeface="LM Roman 6"/>
                <a:cs typeface="LM Roman 6"/>
              </a:rPr>
              <a:t>1</a:t>
            </a:r>
            <a:r>
              <a:rPr sz="800" i="1" spc="40" dirty="0">
                <a:latin typeface="Times New Roman"/>
                <a:cs typeface="Times New Roman"/>
              </a:rPr>
              <a:t>,...,λ</a:t>
            </a:r>
            <a:r>
              <a:rPr sz="900" i="1" spc="60" baseline="-9259" dirty="0">
                <a:latin typeface="Times New Roman"/>
                <a:cs typeface="Times New Roman"/>
              </a:rPr>
              <a:t>n</a:t>
            </a:r>
            <a:r>
              <a:rPr sz="800" spc="40" dirty="0">
                <a:latin typeface="LM Roman 8"/>
                <a:cs typeface="LM Roman 8"/>
              </a:rPr>
              <a:t>),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15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46643" y="4115282"/>
            <a:ext cx="1322705" cy="1949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800" i="1" spc="-20" dirty="0">
                <a:latin typeface="DejaVu Sans"/>
                <a:cs typeface="DejaVu Sans"/>
              </a:rPr>
              <a:t>∃</a:t>
            </a:r>
            <a:r>
              <a:rPr sz="800" spc="-20" dirty="0">
                <a:latin typeface="LM Roman 8"/>
                <a:cs typeface="LM Roman 8"/>
              </a:rPr>
              <a:t>Λ </a:t>
            </a:r>
            <a:r>
              <a:rPr sz="800" dirty="0">
                <a:latin typeface="LM Roman 8"/>
                <a:cs typeface="LM Roman 8"/>
              </a:rPr>
              <a:t>diagonal</a:t>
            </a:r>
            <a:r>
              <a:rPr sz="800" i="1" dirty="0">
                <a:latin typeface="Times New Roman"/>
                <a:cs typeface="Times New Roman"/>
              </a:rPr>
              <a:t>, </a:t>
            </a: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-12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-5" dirty="0">
                <a:latin typeface="Times New Roman"/>
                <a:cs typeface="Times New Roman"/>
              </a:rPr>
              <a:t>U </a:t>
            </a:r>
            <a:r>
              <a:rPr sz="800" spc="55" dirty="0">
                <a:latin typeface="LM Roman 8"/>
                <a:cs typeface="LM Roman 8"/>
              </a:rPr>
              <a:t>Λ</a:t>
            </a:r>
            <a:r>
              <a:rPr sz="800" i="1" spc="55" dirty="0">
                <a:latin typeface="Times New Roman"/>
                <a:cs typeface="Times New Roman"/>
              </a:rPr>
              <a:t>U</a:t>
            </a:r>
            <a:r>
              <a:rPr sz="900" i="1" spc="82" baseline="32407" dirty="0">
                <a:latin typeface="Times New Roman"/>
                <a:cs typeface="Times New Roman"/>
              </a:rPr>
              <a:t>T</a:t>
            </a:r>
            <a:endParaRPr sz="900" baseline="32407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5294" y="4360366"/>
            <a:ext cx="4505960" cy="85471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715">
              <a:lnSpc>
                <a:spcPts val="800"/>
              </a:lnSpc>
              <a:spcBef>
                <a:spcPts val="254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eigenvector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associated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with 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largest eigenvalue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called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principal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eigenvector of  matrix </a:t>
            </a:r>
            <a:r>
              <a:rPr sz="800" i="1" spc="6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i="1" spc="65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12700" marR="5080" algn="just">
              <a:lnSpc>
                <a:spcPct val="86200"/>
              </a:lnSpc>
              <a:spcBef>
                <a:spcPts val="615"/>
              </a:spcBef>
              <a:buFont typeface="DejaVu Sans"/>
              <a:buChar char="❒"/>
              <a:tabLst>
                <a:tab pos="125095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Algorithm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Principal </a:t>
            </a:r>
            <a:r>
              <a:rPr sz="800" spc="-5" dirty="0">
                <a:latin typeface="LM Roman 8"/>
                <a:cs typeface="LM Roman 8"/>
              </a:rPr>
              <a:t>Component </a:t>
            </a:r>
            <a:r>
              <a:rPr sz="800" spc="-10" dirty="0">
                <a:latin typeface="LM Roman 8"/>
                <a:cs typeface="LM Roman 8"/>
              </a:rPr>
              <a:t>Analysis </a:t>
            </a:r>
            <a:r>
              <a:rPr sz="800" spc="-5" dirty="0">
                <a:latin typeface="LM Roman 8"/>
                <a:cs typeface="LM Roman 8"/>
              </a:rPr>
              <a:t>(PCA) </a:t>
            </a:r>
            <a:r>
              <a:rPr sz="800" dirty="0">
                <a:latin typeface="LM Roman 8"/>
                <a:cs typeface="LM Roman 8"/>
              </a:rPr>
              <a:t>procedure </a:t>
            </a:r>
            <a:r>
              <a:rPr sz="800" spc="-5" dirty="0">
                <a:latin typeface="LM Roman 8"/>
                <a:cs typeface="LM Roman 8"/>
              </a:rPr>
              <a:t>is a dimension reduction  technique that </a:t>
            </a:r>
            <a:r>
              <a:rPr sz="800" dirty="0">
                <a:latin typeface="LM Roman 8"/>
                <a:cs typeface="LM Roman 8"/>
              </a:rPr>
              <a:t>projects </a:t>
            </a:r>
            <a:r>
              <a:rPr sz="800" spc="-5" dirty="0">
                <a:latin typeface="LM Roman 8"/>
                <a:cs typeface="LM Roman 8"/>
              </a:rPr>
              <a:t>the data on </a:t>
            </a:r>
            <a:r>
              <a:rPr sz="800" i="1" spc="85" dirty="0">
                <a:latin typeface="Times New Roman"/>
                <a:cs typeface="Times New Roman"/>
              </a:rPr>
              <a:t>k </a:t>
            </a:r>
            <a:r>
              <a:rPr sz="800" spc="-5" dirty="0">
                <a:latin typeface="LM Roman 8"/>
                <a:cs typeface="LM Roman 8"/>
              </a:rPr>
              <a:t>dimensions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maximizing the </a:t>
            </a:r>
            <a:r>
              <a:rPr sz="800" spc="-10" dirty="0">
                <a:latin typeface="LM Roman 8"/>
                <a:cs typeface="LM Roman 8"/>
              </a:rPr>
              <a:t>variance </a:t>
            </a:r>
            <a:r>
              <a:rPr sz="800" spc="-5" dirty="0">
                <a:latin typeface="LM Roman 8"/>
                <a:cs typeface="LM Roman 8"/>
              </a:rPr>
              <a:t>of the data as 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  <a:p>
            <a:pPr marL="328930" lvl="1" indent="-147955">
              <a:lnSpc>
                <a:spcPct val="100000"/>
              </a:lnSpc>
              <a:spcBef>
                <a:spcPts val="710"/>
              </a:spcBef>
              <a:buChar char="•"/>
              <a:tabLst>
                <a:tab pos="329565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Step 1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spc="-10" dirty="0">
                <a:latin typeface="LM Roman 8"/>
                <a:cs typeface="LM Roman 8"/>
              </a:rPr>
              <a:t>Normalize </a:t>
            </a:r>
            <a:r>
              <a:rPr sz="800" spc="-5" dirty="0">
                <a:latin typeface="LM Roman 8"/>
                <a:cs typeface="LM Roman 8"/>
              </a:rPr>
              <a:t>the data to </a:t>
            </a:r>
            <a:r>
              <a:rPr sz="800" spc="-15" dirty="0">
                <a:latin typeface="LM Roman 8"/>
                <a:cs typeface="LM Roman 8"/>
              </a:rPr>
              <a:t>have </a:t>
            </a:r>
            <a:r>
              <a:rPr sz="800" spc="-5" dirty="0">
                <a:latin typeface="LM Roman 8"/>
                <a:cs typeface="LM Roman 8"/>
              </a:rPr>
              <a:t>a mean of 0 and standard deviation of</a:t>
            </a:r>
            <a:r>
              <a:rPr sz="800" spc="-1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1.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46530" y="5616224"/>
            <a:ext cx="5206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Times New Roman"/>
                <a:cs typeface="Times New Roman"/>
              </a:rPr>
              <a:t>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85989" y="5555245"/>
            <a:ext cx="3244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03200" algn="l"/>
              </a:tabLst>
            </a:pPr>
            <a:r>
              <a:rPr sz="800" i="1" spc="120" dirty="0">
                <a:latin typeface="Times New Roman"/>
                <a:cs typeface="Times New Roman"/>
              </a:rPr>
              <a:t>x	</a:t>
            </a:r>
            <a:r>
              <a:rPr sz="800" i="1" spc="175" dirty="0">
                <a:latin typeface="DejaVu Sans"/>
                <a:cs typeface="DejaVu Sans"/>
              </a:rPr>
              <a:t>←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02803" y="5433243"/>
            <a:ext cx="12001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46530" y="5526702"/>
            <a:ext cx="4083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55600" algn="l"/>
              </a:tabLst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r>
              <a:rPr sz="600" dirty="0">
                <a:latin typeface="LM Roman 6"/>
                <a:cs typeface="LM Roman 6"/>
              </a:rPr>
              <a:t>	</a:t>
            </a:r>
            <a:r>
              <a:rPr sz="900" i="1" spc="202" baseline="4629" dirty="0">
                <a:latin typeface="Times New Roman"/>
                <a:cs typeface="Times New Roman"/>
              </a:rPr>
              <a:t>j</a:t>
            </a:r>
            <a:endParaRPr sz="900" baseline="4629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16875" y="5461785"/>
            <a:ext cx="4724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222885" algn="l"/>
              </a:tabLst>
            </a:pPr>
            <a:r>
              <a:rPr sz="800" i="1" spc="120" dirty="0">
                <a:latin typeface="Times New Roman"/>
                <a:cs typeface="Times New Roman"/>
              </a:rPr>
              <a:t>x	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105" dirty="0">
                <a:latin typeface="DejaVu Sans"/>
                <a:cs typeface="DejaVu Sans"/>
              </a:rPr>
              <a:t> </a:t>
            </a:r>
            <a:r>
              <a:rPr sz="800" i="1" spc="90" dirty="0">
                <a:latin typeface="Times New Roman"/>
                <a:cs typeface="Times New Roman"/>
              </a:rPr>
              <a:t>µ</a:t>
            </a:r>
            <a:r>
              <a:rPr sz="900" i="1" spc="135" baseline="-9259" dirty="0">
                <a:latin typeface="Times New Roman"/>
                <a:cs typeface="Times New Roman"/>
              </a:rPr>
              <a:t>j</a:t>
            </a:r>
            <a:endParaRPr sz="900" baseline="-9259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42263" y="5643854"/>
            <a:ext cx="419734" cy="0"/>
          </a:xfrm>
          <a:custGeom>
            <a:avLst/>
            <a:gdLst/>
            <a:ahLst/>
            <a:cxnLst/>
            <a:rect l="l" t="t" r="r" b="b"/>
            <a:pathLst>
              <a:path w="419735">
                <a:moveTo>
                  <a:pt x="0" y="0"/>
                </a:moveTo>
                <a:lnTo>
                  <a:pt x="4195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471117" y="5631064"/>
            <a:ext cx="1638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i="1" spc="110" dirty="0">
                <a:latin typeface="Times New Roman"/>
                <a:cs typeface="Times New Roman"/>
              </a:rPr>
              <a:t>σ</a:t>
            </a:r>
            <a:r>
              <a:rPr sz="900" i="1" spc="165" baseline="-9259" dirty="0">
                <a:latin typeface="Times New Roman"/>
                <a:cs typeface="Times New Roman"/>
              </a:rPr>
              <a:t>j</a:t>
            </a:r>
            <a:endParaRPr sz="900" baseline="-9259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42975" y="5421909"/>
            <a:ext cx="877569" cy="396875"/>
            <a:chOff x="942975" y="5421909"/>
            <a:chExt cx="877569" cy="396875"/>
          </a:xfrm>
        </p:grpSpPr>
        <p:sp>
          <p:nvSpPr>
            <p:cNvPr id="51" name="object 51"/>
            <p:cNvSpPr/>
            <p:nvPr/>
          </p:nvSpPr>
          <p:spPr>
            <a:xfrm>
              <a:off x="942975" y="5424436"/>
              <a:ext cx="877569" cy="0"/>
            </a:xfrm>
            <a:custGeom>
              <a:avLst/>
              <a:gdLst/>
              <a:ahLst/>
              <a:cxnLst/>
              <a:rect l="l" t="t" r="r" b="b"/>
              <a:pathLst>
                <a:path w="877569">
                  <a:moveTo>
                    <a:pt x="0" y="0"/>
                  </a:moveTo>
                  <a:lnTo>
                    <a:pt x="87701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45502" y="5424449"/>
              <a:ext cx="0" cy="391795"/>
            </a:xfrm>
            <a:custGeom>
              <a:avLst/>
              <a:gdLst/>
              <a:ahLst/>
              <a:cxnLst/>
              <a:rect l="l" t="t" r="r" b="b"/>
              <a:pathLst>
                <a:path h="391795">
                  <a:moveTo>
                    <a:pt x="0" y="39122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817446" y="5424449"/>
              <a:ext cx="0" cy="391795"/>
            </a:xfrm>
            <a:custGeom>
              <a:avLst/>
              <a:gdLst/>
              <a:ahLst/>
              <a:cxnLst/>
              <a:rect l="l" t="t" r="r" b="b"/>
              <a:pathLst>
                <a:path h="391795">
                  <a:moveTo>
                    <a:pt x="0" y="39122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42975" y="5815672"/>
              <a:ext cx="877569" cy="0"/>
            </a:xfrm>
            <a:custGeom>
              <a:avLst/>
              <a:gdLst/>
              <a:ahLst/>
              <a:cxnLst/>
              <a:rect l="l" t="t" r="r" b="b"/>
              <a:pathLst>
                <a:path w="877569">
                  <a:moveTo>
                    <a:pt x="0" y="0"/>
                  </a:moveTo>
                  <a:lnTo>
                    <a:pt x="87701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405037" y="5595980"/>
            <a:ext cx="6476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Times New Roman"/>
                <a:cs typeface="Times New Roman"/>
              </a:rPr>
              <a:t>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914829" y="5555245"/>
            <a:ext cx="6788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7515" algn="l"/>
              </a:tabLst>
            </a:pPr>
            <a:r>
              <a:rPr sz="800" spc="-5" dirty="0">
                <a:latin typeface="LM Roman 8"/>
                <a:cs typeface="LM Roman 8"/>
              </a:rPr>
              <a:t>where	</a:t>
            </a:r>
            <a:r>
              <a:rPr sz="800" i="1" spc="45" dirty="0">
                <a:latin typeface="Times New Roman"/>
                <a:cs typeface="Times New Roman"/>
              </a:rPr>
              <a:t>µ</a:t>
            </a:r>
            <a:r>
              <a:rPr sz="800" i="1" spc="9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13177" y="5459920"/>
            <a:ext cx="120650" cy="3181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8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i="1" spc="170" dirty="0">
                <a:latin typeface="Times New Roman"/>
                <a:cs typeface="Times New Roman"/>
              </a:rPr>
              <a:t>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757182" y="5732378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942094" y="5555245"/>
            <a:ext cx="863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20" dirty="0">
                <a:latin typeface="Times New Roman"/>
                <a:cs typeface="Times New Roman"/>
              </a:rPr>
              <a:t>x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002635" y="5526702"/>
            <a:ext cx="132715" cy="206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1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  <a:p>
            <a:pPr marL="12700">
              <a:lnSpc>
                <a:spcPts val="710"/>
              </a:lnSpc>
            </a:pPr>
            <a:r>
              <a:rPr sz="600" i="1" spc="135" dirty="0">
                <a:latin typeface="Times New Roman"/>
                <a:cs typeface="Times New Roman"/>
              </a:rPr>
              <a:t>j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2310015" y="5428970"/>
            <a:ext cx="861694" cy="448309"/>
            <a:chOff x="2310015" y="5428970"/>
            <a:chExt cx="861694" cy="448309"/>
          </a:xfrm>
        </p:grpSpPr>
        <p:sp>
          <p:nvSpPr>
            <p:cNvPr id="62" name="object 62"/>
            <p:cNvSpPr/>
            <p:nvPr/>
          </p:nvSpPr>
          <p:spPr>
            <a:xfrm>
              <a:off x="2310015" y="5431497"/>
              <a:ext cx="861694" cy="0"/>
            </a:xfrm>
            <a:custGeom>
              <a:avLst/>
              <a:gdLst/>
              <a:ahLst/>
              <a:cxnLst/>
              <a:rect l="l" t="t" r="r" b="b"/>
              <a:pathLst>
                <a:path w="861694">
                  <a:moveTo>
                    <a:pt x="0" y="0"/>
                  </a:moveTo>
                  <a:lnTo>
                    <a:pt x="86160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312543" y="5431497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69081" y="5431497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310015" y="5874130"/>
              <a:ext cx="861694" cy="0"/>
            </a:xfrm>
            <a:custGeom>
              <a:avLst/>
              <a:gdLst/>
              <a:ahLst/>
              <a:cxnLst/>
              <a:rect l="l" t="t" r="r" b="b"/>
              <a:pathLst>
                <a:path w="861694">
                  <a:moveTo>
                    <a:pt x="0" y="0"/>
                  </a:moveTo>
                  <a:lnTo>
                    <a:pt x="86160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3655390" y="553850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651758" y="5609036"/>
            <a:ext cx="6476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Times New Roman"/>
                <a:cs typeface="Times New Roman"/>
              </a:rPr>
              <a:t>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266465" y="5555245"/>
            <a:ext cx="5810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5915" algn="l"/>
              </a:tabLst>
            </a:pPr>
            <a:r>
              <a:rPr sz="800" spc="-5" dirty="0">
                <a:latin typeface="LM Roman 8"/>
                <a:cs typeface="LM Roman 8"/>
              </a:rPr>
              <a:t>and	</a:t>
            </a:r>
            <a:r>
              <a:rPr sz="800" i="1" spc="85" dirty="0">
                <a:latin typeface="Times New Roman"/>
                <a:cs typeface="Times New Roman"/>
              </a:rPr>
              <a:t>σ</a:t>
            </a:r>
            <a:r>
              <a:rPr sz="800" i="1" spc="11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866692" y="5484760"/>
            <a:ext cx="100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866692" y="5631064"/>
            <a:ext cx="1206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70" dirty="0">
                <a:latin typeface="Times New Roman"/>
                <a:cs typeface="Times New Roman"/>
              </a:rPr>
              <a:t>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791269" y="5428708"/>
            <a:ext cx="13620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65555" algn="l"/>
              </a:tabLst>
            </a:pPr>
            <a:r>
              <a:rPr sz="600" i="1" spc="220" dirty="0">
                <a:latin typeface="Times New Roman"/>
                <a:cs typeface="Times New Roman"/>
              </a:rPr>
              <a:t>m	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741409" y="5416059"/>
            <a:ext cx="14617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65555" algn="l"/>
              </a:tabLst>
            </a:pPr>
            <a:r>
              <a:rPr sz="1000" spc="819" dirty="0">
                <a:latin typeface="Arial"/>
                <a:cs typeface="Arial"/>
              </a:rPr>
              <a:t>Σ	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010698" y="5732378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280052" y="5526702"/>
            <a:ext cx="132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280052" y="5616224"/>
            <a:ext cx="6476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Times New Roman"/>
                <a:cs typeface="Times New Roman"/>
              </a:rPr>
              <a:t>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177690" y="5555245"/>
            <a:ext cx="348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2095" algn="l"/>
              </a:tabLst>
            </a:pP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120" dirty="0">
                <a:latin typeface="Times New Roman"/>
                <a:cs typeface="Times New Roman"/>
              </a:rPr>
              <a:t>x	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89462" y="5595980"/>
            <a:ext cx="6476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Times New Roman"/>
                <a:cs typeface="Times New Roman"/>
              </a:rPr>
              <a:t>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524755" y="5555245"/>
            <a:ext cx="1816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µ</a:t>
            </a:r>
            <a:r>
              <a:rPr sz="800" i="1" spc="114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680851" y="553850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3559974" y="5428970"/>
            <a:ext cx="1229360" cy="448309"/>
            <a:chOff x="3559974" y="5428970"/>
            <a:chExt cx="1229360" cy="448309"/>
          </a:xfrm>
        </p:grpSpPr>
        <p:sp>
          <p:nvSpPr>
            <p:cNvPr id="81" name="object 81"/>
            <p:cNvSpPr/>
            <p:nvPr/>
          </p:nvSpPr>
          <p:spPr>
            <a:xfrm>
              <a:off x="3559974" y="5431497"/>
              <a:ext cx="1229360" cy="0"/>
            </a:xfrm>
            <a:custGeom>
              <a:avLst/>
              <a:gdLst/>
              <a:ahLst/>
              <a:cxnLst/>
              <a:rect l="l" t="t" r="r" b="b"/>
              <a:pathLst>
                <a:path w="1229360">
                  <a:moveTo>
                    <a:pt x="0" y="0"/>
                  </a:moveTo>
                  <a:lnTo>
                    <a:pt x="122930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562514" y="5431497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786756" y="5431497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559974" y="5874130"/>
              <a:ext cx="1229360" cy="0"/>
            </a:xfrm>
            <a:custGeom>
              <a:avLst/>
              <a:gdLst/>
              <a:ahLst/>
              <a:cxnLst/>
              <a:rect l="l" t="t" r="r" b="b"/>
              <a:pathLst>
                <a:path w="1229360">
                  <a:moveTo>
                    <a:pt x="0" y="0"/>
                  </a:moveTo>
                  <a:lnTo>
                    <a:pt x="122930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624700" y="6153301"/>
            <a:ext cx="11906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85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sz="800" spc="-5" dirty="0">
                <a:latin typeface="LM Roman 8"/>
                <a:cs typeface="LM Roman 8"/>
              </a:rPr>
              <a:t>Step 2: Compute Σ</a:t>
            </a:r>
            <a:r>
              <a:rPr sz="800" spc="-1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784313" y="6304610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4">
                <a:moveTo>
                  <a:pt x="0" y="0"/>
                </a:moveTo>
                <a:lnTo>
                  <a:pt x="29874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847392" y="6241922"/>
            <a:ext cx="95250" cy="0"/>
          </a:xfrm>
          <a:custGeom>
            <a:avLst/>
            <a:gdLst/>
            <a:ahLst/>
            <a:cxnLst/>
            <a:rect l="l" t="t" r="r" b="b"/>
            <a:pathLst>
              <a:path w="95250">
                <a:moveTo>
                  <a:pt x="0" y="0"/>
                </a:moveTo>
                <a:lnTo>
                  <a:pt x="9513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1834692" y="6057963"/>
            <a:ext cx="120650" cy="3181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290"/>
              </a:spcBef>
            </a:pPr>
            <a:r>
              <a:rPr sz="800" spc="-5" dirty="0"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i="1" spc="170" dirty="0">
                <a:latin typeface="Times New Roman"/>
                <a:cs typeface="Times New Roman"/>
              </a:rPr>
              <a:t>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012784" y="6026777"/>
            <a:ext cx="1085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220" dirty="0">
                <a:latin typeface="Times New Roman"/>
                <a:cs typeface="Times New Roman"/>
              </a:rPr>
              <a:t>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962924" y="6014128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48512" y="6330434"/>
            <a:ext cx="4488815" cy="791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95"/>
              </a:spcBef>
            </a:pP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  <a:p>
            <a:pPr marL="235585" marR="81280" indent="-147320">
              <a:lnSpc>
                <a:spcPct val="104900"/>
              </a:lnSpc>
              <a:spcBef>
                <a:spcPts val="610"/>
              </a:spcBef>
              <a:buChar char="•"/>
              <a:tabLst>
                <a:tab pos="236220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Step 3</a:t>
            </a:r>
            <a:r>
              <a:rPr sz="800" spc="-5" dirty="0">
                <a:latin typeface="LM Roman 8"/>
                <a:cs typeface="LM Roman 8"/>
              </a:rPr>
              <a:t>: Compute </a:t>
            </a:r>
            <a:r>
              <a:rPr sz="800" i="1" spc="55" dirty="0">
                <a:latin typeface="Times New Roman"/>
                <a:cs typeface="Times New Roman"/>
              </a:rPr>
              <a:t>u</a:t>
            </a:r>
            <a:r>
              <a:rPr sz="900" spc="82" baseline="-9259" dirty="0">
                <a:latin typeface="LM Roman 6"/>
                <a:cs typeface="LM Roman 6"/>
              </a:rPr>
              <a:t>1</a:t>
            </a:r>
            <a:r>
              <a:rPr sz="800" i="1" spc="55" dirty="0">
                <a:latin typeface="Times New Roman"/>
                <a:cs typeface="Times New Roman"/>
              </a:rPr>
              <a:t>, </a:t>
            </a:r>
            <a:r>
              <a:rPr sz="800" i="1" spc="35" dirty="0">
                <a:latin typeface="Times New Roman"/>
                <a:cs typeface="Times New Roman"/>
              </a:rPr>
              <a:t>..., </a:t>
            </a:r>
            <a:r>
              <a:rPr sz="800" i="1" spc="105" dirty="0">
                <a:latin typeface="Times New Roman"/>
                <a:cs typeface="Times New Roman"/>
              </a:rPr>
              <a:t>u</a:t>
            </a:r>
            <a:r>
              <a:rPr sz="900" i="1" spc="157" baseline="-13888" dirty="0">
                <a:latin typeface="Times New Roman"/>
                <a:cs typeface="Times New Roman"/>
              </a:rPr>
              <a:t>k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75" dirty="0">
                <a:latin typeface="MathJax_AMS"/>
                <a:cs typeface="MathJax_AMS"/>
              </a:rPr>
              <a:t>R</a:t>
            </a:r>
            <a:r>
              <a:rPr sz="900" i="1" spc="112" baseline="27777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i="1" spc="85" dirty="0">
                <a:latin typeface="Times New Roman"/>
                <a:cs typeface="Times New Roman"/>
              </a:rPr>
              <a:t>k </a:t>
            </a:r>
            <a:r>
              <a:rPr sz="800" spc="-5" dirty="0">
                <a:latin typeface="LM Roman 8"/>
                <a:cs typeface="LM Roman 8"/>
              </a:rPr>
              <a:t>orthogonal principal </a:t>
            </a:r>
            <a:r>
              <a:rPr sz="800" spc="-10" dirty="0">
                <a:latin typeface="LM Roman 8"/>
                <a:cs typeface="LM Roman 8"/>
              </a:rPr>
              <a:t>eigenvectors </a:t>
            </a:r>
            <a:r>
              <a:rPr sz="800" spc="-5" dirty="0">
                <a:latin typeface="LM Roman 8"/>
                <a:cs typeface="LM Roman 8"/>
              </a:rPr>
              <a:t>of Σ, i.e. the  orthogonal </a:t>
            </a:r>
            <a:r>
              <a:rPr sz="800" spc="-10" dirty="0">
                <a:latin typeface="LM Roman 8"/>
                <a:cs typeface="LM Roman 8"/>
              </a:rPr>
              <a:t>eigenvectors </a:t>
            </a:r>
            <a:r>
              <a:rPr sz="800" spc="-5" dirty="0">
                <a:latin typeface="LM Roman 8"/>
                <a:cs typeface="LM Roman 8"/>
              </a:rPr>
              <a:t>of the </a:t>
            </a:r>
            <a:r>
              <a:rPr sz="800" i="1" spc="85" dirty="0">
                <a:latin typeface="Times New Roman"/>
                <a:cs typeface="Times New Roman"/>
              </a:rPr>
              <a:t>k </a:t>
            </a:r>
            <a:r>
              <a:rPr sz="800" spc="-5" dirty="0">
                <a:latin typeface="LM Roman 8"/>
                <a:cs typeface="LM Roman 8"/>
              </a:rPr>
              <a:t>largest</a:t>
            </a:r>
            <a:r>
              <a:rPr sz="800" spc="2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eigenvalues.</a:t>
            </a:r>
            <a:endParaRPr sz="800">
              <a:latin typeface="LM Roman 8"/>
              <a:cs typeface="LM Roman 8"/>
            </a:endParaRPr>
          </a:p>
          <a:p>
            <a:pPr marL="235585" marR="80645" indent="-147320">
              <a:lnSpc>
                <a:spcPct val="104900"/>
              </a:lnSpc>
              <a:spcBef>
                <a:spcPts val="675"/>
              </a:spcBef>
              <a:buChar char="•"/>
              <a:tabLst>
                <a:tab pos="236220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Step 4</a:t>
            </a:r>
            <a:r>
              <a:rPr sz="800" spc="-5" dirty="0">
                <a:latin typeface="LM Roman 8"/>
                <a:cs typeface="LM Roman 8"/>
              </a:rPr>
              <a:t>: Project the data on </a:t>
            </a:r>
            <a:r>
              <a:rPr sz="800" spc="35" dirty="0">
                <a:latin typeface="LM Roman 8"/>
                <a:cs typeface="LM Roman 8"/>
              </a:rPr>
              <a:t>span</a:t>
            </a:r>
            <a:r>
              <a:rPr sz="900" spc="52" baseline="-18518" dirty="0">
                <a:latin typeface="Arial"/>
                <a:cs typeface="Arial"/>
              </a:rPr>
              <a:t>R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u</a:t>
            </a:r>
            <a:r>
              <a:rPr sz="900" spc="52" baseline="-9259" dirty="0">
                <a:latin typeface="LM Roman 6"/>
                <a:cs typeface="LM Roman 6"/>
              </a:rPr>
              <a:t>1</a:t>
            </a:r>
            <a:r>
              <a:rPr sz="800" i="1" spc="35" dirty="0">
                <a:latin typeface="Times New Roman"/>
                <a:cs typeface="Times New Roman"/>
              </a:rPr>
              <a:t>,...,u</a:t>
            </a:r>
            <a:r>
              <a:rPr sz="900" i="1" spc="52" baseline="-13888" dirty="0">
                <a:latin typeface="Times New Roman"/>
                <a:cs typeface="Times New Roman"/>
              </a:rPr>
              <a:t>k </a:t>
            </a:r>
            <a:r>
              <a:rPr sz="800" spc="-5" dirty="0">
                <a:latin typeface="LM Roman 8"/>
                <a:cs typeface="LM Roman 8"/>
              </a:rPr>
              <a:t>). This </a:t>
            </a:r>
            <a:r>
              <a:rPr sz="800" dirty="0">
                <a:latin typeface="LM Roman 8"/>
                <a:cs typeface="LM Roman 8"/>
              </a:rPr>
              <a:t>procedure </a:t>
            </a:r>
            <a:r>
              <a:rPr sz="800" spc="-5" dirty="0">
                <a:latin typeface="LM Roman 8"/>
                <a:cs typeface="LM Roman 8"/>
              </a:rPr>
              <a:t>maximizes the </a:t>
            </a:r>
            <a:r>
              <a:rPr sz="800" spc="-10" dirty="0">
                <a:latin typeface="LM Roman 8"/>
                <a:cs typeface="LM Roman 8"/>
              </a:rPr>
              <a:t>variance  </a:t>
            </a:r>
            <a:r>
              <a:rPr sz="800" spc="-5" dirty="0">
                <a:latin typeface="LM Roman 8"/>
                <a:cs typeface="LM Roman 8"/>
              </a:rPr>
              <a:t>among all </a:t>
            </a:r>
            <a:r>
              <a:rPr sz="800" i="1" spc="5" dirty="0">
                <a:latin typeface="Times New Roman"/>
                <a:cs typeface="Times New Roman"/>
              </a:rPr>
              <a:t>k</a:t>
            </a:r>
            <a:r>
              <a:rPr sz="800" spc="5" dirty="0">
                <a:latin typeface="LM Roman 8"/>
                <a:cs typeface="LM Roman 8"/>
              </a:rPr>
              <a:t>-dimensional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spaces.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138210" y="6153301"/>
            <a:ext cx="28479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70" dirty="0">
                <a:latin typeface="Times New Roman"/>
                <a:cs typeface="Times New Roman"/>
              </a:rPr>
              <a:t>x</a:t>
            </a:r>
            <a:r>
              <a:rPr sz="900" spc="104" baseline="32407" dirty="0">
                <a:latin typeface="LM Roman 6"/>
                <a:cs typeface="LM Roman 6"/>
              </a:rPr>
              <a:t>(</a:t>
            </a:r>
            <a:r>
              <a:rPr sz="900" i="1" spc="104" baseline="32407" dirty="0">
                <a:latin typeface="Times New Roman"/>
                <a:cs typeface="Times New Roman"/>
              </a:rPr>
              <a:t>i</a:t>
            </a:r>
            <a:r>
              <a:rPr sz="900" spc="104" baseline="32407" dirty="0">
                <a:latin typeface="LM Roman 6"/>
                <a:cs typeface="LM Roman 6"/>
              </a:rPr>
              <a:t>)</a:t>
            </a:r>
            <a:r>
              <a:rPr sz="800" i="1" spc="70" dirty="0">
                <a:latin typeface="Times New Roman"/>
                <a:cs typeface="Times New Roman"/>
              </a:rPr>
              <a:t>x</a:t>
            </a:r>
            <a:r>
              <a:rPr sz="900" spc="104" baseline="32407" dirty="0">
                <a:latin typeface="LM Roman 6"/>
                <a:cs typeface="LM Roman 6"/>
              </a:rPr>
              <a:t>(</a:t>
            </a:r>
            <a:r>
              <a:rPr sz="900" i="1" spc="104" baseline="32407" dirty="0">
                <a:latin typeface="Times New Roman"/>
                <a:cs typeface="Times New Roman"/>
              </a:rPr>
              <a:t>i</a:t>
            </a:r>
            <a:r>
              <a:rPr sz="900" spc="104" baseline="32407" dirty="0">
                <a:latin typeface="LM Roman 6"/>
                <a:cs typeface="LM Roman 6"/>
              </a:rPr>
              <a:t>)</a:t>
            </a:r>
            <a:r>
              <a:rPr sz="900" i="1" spc="104" baseline="50925" dirty="0">
                <a:latin typeface="Times New Roman"/>
                <a:cs typeface="Times New Roman"/>
              </a:rPr>
              <a:t>T</a:t>
            </a:r>
            <a:r>
              <a:rPr sz="900" i="1" spc="345" baseline="50925" dirty="0">
                <a:latin typeface="Times New Roman"/>
                <a:cs typeface="Times New Roman"/>
              </a:rPr>
              <a:t> </a:t>
            </a:r>
            <a:r>
              <a:rPr sz="800" i="1" spc="-135" dirty="0">
                <a:latin typeface="DejaVu Sans"/>
                <a:cs typeface="DejaVu Sans"/>
              </a:rPr>
              <a:t>∈  </a:t>
            </a:r>
            <a:r>
              <a:rPr sz="800" spc="85" dirty="0">
                <a:latin typeface="MathJax_AMS"/>
                <a:cs typeface="MathJax_AMS"/>
              </a:rPr>
              <a:t>R</a:t>
            </a:r>
            <a:r>
              <a:rPr sz="900" i="1" spc="127" baseline="32407" dirty="0">
                <a:latin typeface="Times New Roman"/>
                <a:cs typeface="Times New Roman"/>
              </a:rPr>
              <a:t>n</a:t>
            </a:r>
            <a:r>
              <a:rPr sz="900" i="1" spc="127" baseline="32407" dirty="0">
                <a:latin typeface="DejaVu Sans"/>
                <a:cs typeface="DejaVu Sans"/>
              </a:rPr>
              <a:t>×</a:t>
            </a:r>
            <a:r>
              <a:rPr sz="900" i="1" spc="127" baseline="32407" dirty="0">
                <a:latin typeface="Times New Roman"/>
                <a:cs typeface="Times New Roman"/>
              </a:rPr>
              <a:t>n</a:t>
            </a:r>
            <a:r>
              <a:rPr sz="800" spc="85" dirty="0">
                <a:latin typeface="LM Roman 8"/>
                <a:cs typeface="LM Roman 8"/>
              </a:rPr>
              <a:t>,</a:t>
            </a:r>
            <a:r>
              <a:rPr sz="800" spc="-7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which</a:t>
            </a:r>
            <a:r>
              <a:rPr sz="800" spc="-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symmetric</a:t>
            </a:r>
            <a:r>
              <a:rPr sz="800" spc="-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with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real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eigenvalues.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5485413" y="721085"/>
            <a:ext cx="3764631" cy="11558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5036362" y="2123777"/>
            <a:ext cx="4556125" cy="735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just">
              <a:lnSpc>
                <a:spcPts val="1195"/>
              </a:lnSpc>
            </a:pPr>
            <a:r>
              <a:rPr sz="1000" b="1" spc="-5" dirty="0">
                <a:latin typeface="LM Roman 10"/>
                <a:cs typeface="LM Roman 10"/>
              </a:rPr>
              <a:t>2.3.2</a:t>
            </a:r>
            <a:r>
              <a:rPr sz="1000" b="1" spc="370" dirty="0">
                <a:latin typeface="LM Roman 10"/>
                <a:cs typeface="LM Roman 10"/>
              </a:rPr>
              <a:t> </a:t>
            </a:r>
            <a:r>
              <a:rPr sz="900" b="1" spc="-5" dirty="0">
                <a:latin typeface="LM Roman 9"/>
                <a:cs typeface="LM Roman 9"/>
              </a:rPr>
              <a:t>Independent </a:t>
            </a:r>
            <a:r>
              <a:rPr sz="900" b="1" spc="-10" dirty="0">
                <a:latin typeface="LM Roman 9"/>
                <a:cs typeface="LM Roman 9"/>
              </a:rPr>
              <a:t>component</a:t>
            </a:r>
            <a:r>
              <a:rPr sz="900" b="1" spc="5" dirty="0">
                <a:latin typeface="LM Roman 9"/>
                <a:cs typeface="LM Roman 9"/>
              </a:rPr>
              <a:t> </a:t>
            </a:r>
            <a:r>
              <a:rPr sz="900" b="1" spc="-5" dirty="0">
                <a:latin typeface="LM Roman 9"/>
                <a:cs typeface="LM Roman 9"/>
              </a:rPr>
              <a:t>analysis</a:t>
            </a:r>
            <a:endParaRPr sz="900">
              <a:latin typeface="LM Roman 9"/>
              <a:cs typeface="LM Roman 9"/>
            </a:endParaRPr>
          </a:p>
          <a:p>
            <a:pPr marL="38100" algn="just">
              <a:lnSpc>
                <a:spcPct val="100000"/>
              </a:lnSpc>
              <a:spcBef>
                <a:spcPts val="650"/>
              </a:spcBef>
            </a:pPr>
            <a:r>
              <a:rPr sz="800" spc="-5" dirty="0">
                <a:latin typeface="LM Roman 8"/>
                <a:cs typeface="LM Roman 8"/>
              </a:rPr>
              <a:t>It is a technique </a:t>
            </a:r>
            <a:r>
              <a:rPr sz="800" spc="-10" dirty="0">
                <a:latin typeface="LM Roman 8"/>
                <a:cs typeface="LM Roman 8"/>
              </a:rPr>
              <a:t>meant </a:t>
            </a:r>
            <a:r>
              <a:rPr sz="800" spc="-5" dirty="0">
                <a:latin typeface="LM Roman 8"/>
                <a:cs typeface="LM Roman 8"/>
              </a:rPr>
              <a:t>to </a:t>
            </a:r>
            <a:r>
              <a:rPr sz="800" spc="-10" dirty="0">
                <a:latin typeface="LM Roman 8"/>
                <a:cs typeface="LM Roman 8"/>
              </a:rPr>
              <a:t>find </a:t>
            </a:r>
            <a:r>
              <a:rPr sz="800" spc="-5" dirty="0">
                <a:latin typeface="LM Roman 8"/>
                <a:cs typeface="LM Roman 8"/>
              </a:rPr>
              <a:t>the underlying generating</a:t>
            </a:r>
            <a:r>
              <a:rPr sz="800" spc="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sources.</a:t>
            </a:r>
            <a:endParaRPr sz="800">
              <a:latin typeface="LM Roman 8"/>
              <a:cs typeface="LM Roman 8"/>
            </a:endParaRPr>
          </a:p>
          <a:p>
            <a:pPr marL="38100" marR="30480" algn="just">
              <a:lnSpc>
                <a:spcPct val="88600"/>
              </a:lnSpc>
              <a:spcBef>
                <a:spcPts val="330"/>
              </a:spcBef>
              <a:buFont typeface="DejaVu Sans"/>
              <a:buChar char="❒"/>
              <a:tabLst>
                <a:tab pos="149225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Assumptions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40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assume that our data </a:t>
            </a: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has </a:t>
            </a:r>
            <a:r>
              <a:rPr sz="800" dirty="0">
                <a:latin typeface="LM Roman 8"/>
                <a:cs typeface="LM Roman 8"/>
              </a:rPr>
              <a:t>been </a:t>
            </a:r>
            <a:r>
              <a:rPr sz="800" spc="-5" dirty="0">
                <a:latin typeface="LM Roman 8"/>
                <a:cs typeface="LM Roman 8"/>
              </a:rPr>
              <a:t>generated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i="1" spc="5" dirty="0">
                <a:latin typeface="Times New Roman"/>
                <a:cs typeface="Times New Roman"/>
              </a:rPr>
              <a:t>n</a:t>
            </a:r>
            <a:r>
              <a:rPr sz="800" spc="5" dirty="0">
                <a:latin typeface="LM Roman 8"/>
                <a:cs typeface="LM Roman 8"/>
              </a:rPr>
              <a:t>-dimensional</a:t>
            </a:r>
            <a:r>
              <a:rPr sz="800" spc="-1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source  </a:t>
            </a:r>
            <a:r>
              <a:rPr sz="800" spc="-10" dirty="0">
                <a:latin typeface="LM Roman 8"/>
                <a:cs typeface="LM Roman 8"/>
              </a:rPr>
              <a:t>vector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i="1" spc="80" dirty="0">
                <a:latin typeface="Times New Roman"/>
                <a:cs typeface="Times New Roman"/>
              </a:rPr>
              <a:t>s</a:t>
            </a:r>
            <a:r>
              <a:rPr sz="800" i="1" spc="4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s</a:t>
            </a:r>
            <a:r>
              <a:rPr sz="900" spc="67" baseline="-9259" dirty="0">
                <a:latin typeface="LM Roman 6"/>
                <a:cs typeface="LM Roman 6"/>
              </a:rPr>
              <a:t>1</a:t>
            </a:r>
            <a:r>
              <a:rPr sz="800" i="1" spc="45" dirty="0">
                <a:latin typeface="Times New Roman"/>
                <a:cs typeface="Times New Roman"/>
              </a:rPr>
              <a:t>,...,s</a:t>
            </a:r>
            <a:r>
              <a:rPr sz="900" i="1" spc="67" baseline="-9259" dirty="0">
                <a:latin typeface="Times New Roman"/>
                <a:cs typeface="Times New Roman"/>
              </a:rPr>
              <a:t>n</a:t>
            </a:r>
            <a:r>
              <a:rPr sz="800" spc="45" dirty="0">
                <a:latin typeface="LM Roman 8"/>
                <a:cs typeface="LM Roman 8"/>
              </a:rPr>
              <a:t>),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where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i="1" spc="90" dirty="0">
                <a:latin typeface="Times New Roman"/>
                <a:cs typeface="Times New Roman"/>
              </a:rPr>
              <a:t>s</a:t>
            </a:r>
            <a:r>
              <a:rPr sz="900" i="1" spc="135" baseline="-9259" dirty="0">
                <a:latin typeface="Times New Roman"/>
                <a:cs typeface="Times New Roman"/>
              </a:rPr>
              <a:t>i</a:t>
            </a:r>
            <a:r>
              <a:rPr sz="900" i="1" spc="225" baseline="-9259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independent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random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variables,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via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mixing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non-singular  matrix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106831" y="2887967"/>
            <a:ext cx="415290" cy="15049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60"/>
              </a:spcBef>
            </a:pP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90" dirty="0">
                <a:latin typeface="LM Roman 8"/>
                <a:cs typeface="LM Roman 8"/>
              </a:rPr>
              <a:t> </a:t>
            </a:r>
            <a:r>
              <a:rPr sz="800" i="1" spc="105" dirty="0">
                <a:latin typeface="Times New Roman"/>
                <a:cs typeface="Times New Roman"/>
              </a:rPr>
              <a:t>As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036362" y="3099941"/>
            <a:ext cx="4556760" cy="664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The goal is to </a:t>
            </a:r>
            <a:r>
              <a:rPr sz="800" spc="-10" dirty="0">
                <a:latin typeface="LM Roman 8"/>
                <a:cs typeface="LM Roman 8"/>
              </a:rPr>
              <a:t>find </a:t>
            </a:r>
            <a:r>
              <a:rPr sz="800" spc="-5" dirty="0">
                <a:latin typeface="LM Roman 8"/>
                <a:cs typeface="LM Roman 8"/>
              </a:rPr>
              <a:t>the unmixing matrix </a:t>
            </a:r>
            <a:r>
              <a:rPr sz="800" i="1" spc="130" dirty="0">
                <a:latin typeface="Times New Roman"/>
                <a:cs typeface="Times New Roman"/>
              </a:rPr>
              <a:t>W 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70" dirty="0">
                <a:latin typeface="Times New Roman"/>
                <a:cs typeface="Times New Roman"/>
              </a:rPr>
              <a:t>A</a:t>
            </a:r>
            <a:r>
              <a:rPr sz="900" i="1" spc="104" baseline="27777" dirty="0">
                <a:latin typeface="DejaVu Sans"/>
                <a:cs typeface="DejaVu Sans"/>
              </a:rPr>
              <a:t>−</a:t>
            </a:r>
            <a:r>
              <a:rPr sz="900" spc="104" baseline="27777" dirty="0">
                <a:latin typeface="LM Roman 6"/>
                <a:cs typeface="LM Roman 6"/>
              </a:rPr>
              <a:t>1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an </a:t>
            </a:r>
            <a:r>
              <a:rPr sz="800" dirty="0">
                <a:latin typeface="LM Roman 8"/>
                <a:cs typeface="LM Roman 8"/>
              </a:rPr>
              <a:t>update</a:t>
            </a:r>
            <a:r>
              <a:rPr sz="800" spc="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rule.</a:t>
            </a:r>
            <a:endParaRPr sz="800">
              <a:latin typeface="LM Roman 8"/>
              <a:cs typeface="LM Roman 8"/>
            </a:endParaRPr>
          </a:p>
          <a:p>
            <a:pPr marL="38100" marR="30480">
              <a:lnSpc>
                <a:spcPts val="800"/>
              </a:lnSpc>
              <a:spcBef>
                <a:spcPts val="750"/>
              </a:spcBef>
              <a:buFont typeface="DejaVu Sans"/>
              <a:buChar char="❒"/>
              <a:tabLst>
                <a:tab pos="158750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Bell </a:t>
            </a: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and Sejnowski </a:t>
            </a: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ICA algorithm </a:t>
            </a:r>
            <a:r>
              <a:rPr sz="800" spc="-5" dirty="0">
                <a:latin typeface="LM Roman 8"/>
                <a:cs typeface="LM Roman 8"/>
              </a:rPr>
              <a:t>– This algorithm </a:t>
            </a:r>
            <a:r>
              <a:rPr sz="800" spc="-10" dirty="0">
                <a:latin typeface="LM Roman 8"/>
                <a:cs typeface="LM Roman 8"/>
              </a:rPr>
              <a:t>finds </a:t>
            </a:r>
            <a:r>
              <a:rPr sz="800" spc="-5" dirty="0">
                <a:latin typeface="LM Roman 8"/>
                <a:cs typeface="LM Roman 8"/>
              </a:rPr>
              <a:t>the unmixing matrix </a:t>
            </a:r>
            <a:r>
              <a:rPr sz="800" i="1" spc="130" dirty="0">
                <a:latin typeface="Times New Roman"/>
                <a:cs typeface="Times New Roman"/>
              </a:rPr>
              <a:t>W </a:t>
            </a:r>
            <a:r>
              <a:rPr sz="800" spc="-15" dirty="0">
                <a:latin typeface="LM Roman 8"/>
                <a:cs typeface="LM Roman 8"/>
              </a:rPr>
              <a:t>by 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the steps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below:</a:t>
            </a:r>
            <a:endParaRPr sz="800">
              <a:latin typeface="LM Roman 8"/>
              <a:cs typeface="LM Roman 8"/>
            </a:endParaRPr>
          </a:p>
          <a:p>
            <a:pPr marL="354330" lvl="1" indent="-147955">
              <a:lnSpc>
                <a:spcPct val="100000"/>
              </a:lnSpc>
              <a:spcBef>
                <a:spcPts val="760"/>
              </a:spcBef>
              <a:buChar char="•"/>
              <a:tabLst>
                <a:tab pos="354965" algn="l"/>
              </a:tabLst>
            </a:pPr>
            <a:r>
              <a:rPr sz="800" spc="-20" dirty="0">
                <a:latin typeface="LM Roman 8"/>
                <a:cs typeface="LM Roman 8"/>
              </a:rPr>
              <a:t>Write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 probability of 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i="1" spc="3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As</a:t>
            </a:r>
            <a:r>
              <a:rPr sz="800" i="1" spc="3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W</a:t>
            </a:r>
            <a:r>
              <a:rPr sz="900" i="1" spc="165" baseline="27777" dirty="0">
                <a:latin typeface="DejaVu Sans"/>
                <a:cs typeface="DejaVu Sans"/>
              </a:rPr>
              <a:t>−</a:t>
            </a:r>
            <a:r>
              <a:rPr sz="900" spc="165" baseline="27777" dirty="0">
                <a:latin typeface="LM Roman 6"/>
                <a:cs typeface="LM Roman 6"/>
              </a:rPr>
              <a:t>1</a:t>
            </a:r>
            <a:r>
              <a:rPr sz="800" i="1" spc="110" dirty="0">
                <a:latin typeface="Times New Roman"/>
                <a:cs typeface="Times New Roman"/>
              </a:rPr>
              <a:t>s</a:t>
            </a:r>
            <a:r>
              <a:rPr sz="800" i="1" spc="8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43216" y="3846581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191603" y="3833919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605" dirty="0"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196823" y="4150238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425334" y="4011058"/>
            <a:ext cx="698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14" dirty="0">
                <a:latin typeface="Times New Roman"/>
                <a:cs typeface="Times New Roman"/>
              </a:rPr>
              <a:t>s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597762" y="3956360"/>
            <a:ext cx="81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595031" y="4026895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849871" y="3973104"/>
            <a:ext cx="12458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3400" algn="l"/>
              </a:tabLst>
            </a:pPr>
            <a:r>
              <a:rPr sz="800" i="1" spc="35" dirty="0">
                <a:latin typeface="Times New Roman"/>
                <a:cs typeface="Times New Roman"/>
              </a:rPr>
              <a:t>p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	</a:t>
            </a:r>
            <a:r>
              <a:rPr sz="800" i="1" spc="25" dirty="0">
                <a:latin typeface="Times New Roman"/>
                <a:cs typeface="Times New Roman"/>
              </a:rPr>
              <a:t>p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w </a:t>
            </a: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800" spc="60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·</a:t>
            </a:r>
            <a:r>
              <a:rPr sz="800" spc="-120" dirty="0">
                <a:latin typeface="LM Roman 8"/>
                <a:cs typeface="LM Roman 8"/>
              </a:rPr>
              <a:t> </a:t>
            </a:r>
            <a:r>
              <a:rPr sz="800" i="1" spc="55" dirty="0">
                <a:latin typeface="DejaVu Sans"/>
                <a:cs typeface="DejaVu Sans"/>
              </a:rPr>
              <a:t>|</a:t>
            </a:r>
            <a:r>
              <a:rPr sz="800" i="1" spc="55" dirty="0">
                <a:latin typeface="Times New Roman"/>
                <a:cs typeface="Times New Roman"/>
              </a:rPr>
              <a:t>W</a:t>
            </a:r>
            <a:r>
              <a:rPr sz="800" i="1" spc="55" dirty="0">
                <a:latin typeface="DejaVu Sans"/>
                <a:cs typeface="DejaVu Sans"/>
              </a:rPr>
              <a:t>|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205768" y="4420030"/>
            <a:ext cx="43872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85420" algn="l"/>
              </a:tabLst>
            </a:pPr>
            <a:r>
              <a:rPr sz="800" spc="-20" dirty="0">
                <a:latin typeface="LM Roman 8"/>
                <a:cs typeface="LM Roman 8"/>
              </a:rPr>
              <a:t>Write </a:t>
            </a:r>
            <a:r>
              <a:rPr sz="800" spc="-5" dirty="0">
                <a:latin typeface="LM Roman 8"/>
                <a:cs typeface="LM Roman 8"/>
              </a:rPr>
              <a:t>the log </a:t>
            </a:r>
            <a:r>
              <a:rPr sz="800" dirty="0">
                <a:latin typeface="LM Roman 8"/>
                <a:cs typeface="LM Roman 8"/>
              </a:rPr>
              <a:t>likelihood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our training data </a:t>
            </a:r>
            <a:r>
              <a:rPr sz="800" i="1" spc="35" dirty="0">
                <a:latin typeface="DejaVu Sans"/>
                <a:cs typeface="DejaVu Sans"/>
              </a:rPr>
              <a:t>{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900" spc="52" baseline="27777" dirty="0">
                <a:latin typeface="LM Roman 6"/>
                <a:cs typeface="LM Roman 6"/>
              </a:rPr>
              <a:t>(</a:t>
            </a:r>
            <a:r>
              <a:rPr sz="900" i="1" spc="52" baseline="27777" dirty="0">
                <a:latin typeface="Times New Roman"/>
                <a:cs typeface="Times New Roman"/>
              </a:rPr>
              <a:t>i</a:t>
            </a:r>
            <a:r>
              <a:rPr sz="900" spc="52" baseline="27777" dirty="0">
                <a:latin typeface="LM Roman 6"/>
                <a:cs typeface="LM Roman 6"/>
              </a:rPr>
              <a:t>)</a:t>
            </a:r>
            <a:r>
              <a:rPr sz="800" i="1" spc="35" dirty="0">
                <a:latin typeface="Times New Roman"/>
                <a:cs typeface="Times New Roman"/>
              </a:rPr>
              <a:t>, </a:t>
            </a:r>
            <a:r>
              <a:rPr sz="800" i="1" spc="65" dirty="0">
                <a:latin typeface="Times New Roman"/>
                <a:cs typeface="Times New Roman"/>
              </a:rPr>
              <a:t>i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LM Roman 8"/>
                <a:cs typeface="LM Roman 8"/>
              </a:rPr>
              <a:t>[ </a:t>
            </a:r>
            <a:r>
              <a:rPr sz="800" spc="45" dirty="0">
                <a:latin typeface="LM Roman 8"/>
                <a:cs typeface="LM Roman 8"/>
              </a:rPr>
              <a:t>1</a:t>
            </a:r>
            <a:r>
              <a:rPr sz="800" i="1" spc="45" dirty="0">
                <a:latin typeface="Times New Roman"/>
                <a:cs typeface="Times New Roman"/>
              </a:rPr>
              <a:t>,m</a:t>
            </a:r>
            <a:r>
              <a:rPr sz="800" spc="45" dirty="0">
                <a:latin typeface="LM Roman 8"/>
                <a:cs typeface="LM Roman 8"/>
              </a:rPr>
              <a:t>] </a:t>
            </a:r>
            <a:r>
              <a:rPr sz="800" i="1" spc="-90" dirty="0">
                <a:latin typeface="DejaVu Sans"/>
                <a:cs typeface="DejaVu Sans"/>
              </a:rPr>
              <a:t>}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noting </a:t>
            </a:r>
            <a:r>
              <a:rPr sz="800" i="1" dirty="0">
                <a:latin typeface="Times New Roman"/>
                <a:cs typeface="Times New Roman"/>
              </a:rPr>
              <a:t>g</a:t>
            </a:r>
            <a:r>
              <a:rPr sz="800" i="1" spc="-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378081" y="4527713"/>
            <a:ext cx="9677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sigmoid </a:t>
            </a:r>
            <a:r>
              <a:rPr sz="800" spc="-10" dirty="0">
                <a:latin typeface="LM Roman 8"/>
                <a:cs typeface="LM Roman 8"/>
              </a:rPr>
              <a:t>function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334594" y="4901677"/>
            <a:ext cx="3727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5" dirty="0">
                <a:latin typeface="Times New Roman"/>
                <a:cs typeface="Times New Roman"/>
              </a:rPr>
              <a:t>l</a:t>
            </a:r>
            <a:r>
              <a:rPr sz="800" spc="55" dirty="0">
                <a:latin typeface="LM Roman 8"/>
                <a:cs typeface="LM Roman 8"/>
              </a:rPr>
              <a:t>(</a:t>
            </a:r>
            <a:r>
              <a:rPr sz="800" i="1" spc="55" dirty="0">
                <a:latin typeface="Times New Roman"/>
                <a:cs typeface="Times New Roman"/>
              </a:rPr>
              <a:t>W</a:t>
            </a:r>
            <a:r>
              <a:rPr sz="800" i="1" spc="-11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761213" y="4775141"/>
            <a:ext cx="397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5755" algn="l"/>
              </a:tabLst>
            </a:pPr>
            <a:r>
              <a:rPr sz="600" i="1" spc="220" dirty="0">
                <a:latin typeface="Times New Roman"/>
                <a:cs typeface="Times New Roman"/>
              </a:rPr>
              <a:t>m	</a:t>
            </a: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711353" y="4762492"/>
            <a:ext cx="4965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r>
              <a:rPr sz="1000" spc="600" dirty="0">
                <a:latin typeface="Arial"/>
                <a:cs typeface="Arial"/>
              </a:rPr>
              <a:t> </a:t>
            </a:r>
            <a:r>
              <a:rPr sz="1000" spc="-13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727113" y="5078811"/>
            <a:ext cx="4826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8610" algn="l"/>
              </a:tabLst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r>
              <a:rPr sz="600" dirty="0">
                <a:latin typeface="LM Roman 6"/>
                <a:cs typeface="LM Roman 6"/>
              </a:rPr>
              <a:t>	</a:t>
            </a:r>
            <a:r>
              <a:rPr sz="600" i="1" spc="165" dirty="0">
                <a:latin typeface="Times New Roman"/>
                <a:cs typeface="Times New Roman"/>
              </a:rPr>
              <a:t>j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652867" y="4955468"/>
            <a:ext cx="6476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Times New Roman"/>
                <a:cs typeface="Times New Roman"/>
              </a:rPr>
              <a:t>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461669" y="4859628"/>
            <a:ext cx="48640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600" i="1" spc="45" dirty="0">
                <a:latin typeface="DejaVu Sans"/>
                <a:cs typeface="DejaVu Sans"/>
              </a:rPr>
              <a:t>j</a:t>
            </a:r>
            <a:r>
              <a:rPr sz="1200" spc="67" baseline="-24305" dirty="0">
                <a:latin typeface="LM Roman 8"/>
                <a:cs typeface="LM Roman 8"/>
              </a:rPr>
              <a:t>( </a:t>
            </a:r>
            <a:r>
              <a:rPr sz="600" i="1" spc="100" dirty="0">
                <a:latin typeface="Times New Roman"/>
                <a:cs typeface="Times New Roman"/>
              </a:rPr>
              <a:t>T</a:t>
            </a:r>
            <a:r>
              <a:rPr sz="600" i="1" spc="114" dirty="0">
                <a:latin typeface="Times New Roman"/>
                <a:cs typeface="Times New Roman"/>
              </a:rPr>
              <a:t> </a:t>
            </a:r>
            <a:r>
              <a:rPr sz="600" spc="30" dirty="0">
                <a:latin typeface="LM Roman 6"/>
                <a:cs typeface="LM Roman 6"/>
              </a:rPr>
              <a:t>(</a:t>
            </a: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7369391" y="4742248"/>
            <a:ext cx="6769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8010" algn="l"/>
              </a:tabLst>
            </a:pPr>
            <a:r>
              <a:rPr sz="1000" spc="315" dirty="0">
                <a:latin typeface="Arial"/>
                <a:cs typeface="Arial"/>
              </a:rPr>
              <a:t>.	</a:t>
            </a:r>
            <a:r>
              <a:rPr sz="1000" spc="-25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212876" y="4901677"/>
            <a:ext cx="12979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log </a:t>
            </a:r>
            <a:r>
              <a:rPr sz="800" i="1" dirty="0">
                <a:latin typeface="Times New Roman"/>
                <a:cs typeface="Times New Roman"/>
              </a:rPr>
              <a:t>g </a:t>
            </a:r>
            <a:r>
              <a:rPr sz="800" i="1" spc="70" dirty="0">
                <a:latin typeface="Times New Roman"/>
                <a:cs typeface="Times New Roman"/>
              </a:rPr>
              <a:t>w </a:t>
            </a: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) + log</a:t>
            </a:r>
            <a:r>
              <a:rPr sz="800" spc="-125" dirty="0">
                <a:latin typeface="LM Roman 8"/>
                <a:cs typeface="LM Roman 8"/>
              </a:rPr>
              <a:t> </a:t>
            </a:r>
            <a:r>
              <a:rPr sz="800" i="1" spc="55" dirty="0">
                <a:latin typeface="DejaVu Sans"/>
                <a:cs typeface="DejaVu Sans"/>
              </a:rPr>
              <a:t>|</a:t>
            </a:r>
            <a:r>
              <a:rPr sz="800" i="1" spc="55" dirty="0">
                <a:latin typeface="Times New Roman"/>
                <a:cs typeface="Times New Roman"/>
              </a:rPr>
              <a:t>W</a:t>
            </a:r>
            <a:r>
              <a:rPr sz="800" i="1" spc="55" dirty="0">
                <a:latin typeface="DejaVu Sans"/>
                <a:cs typeface="DejaVu Sans"/>
              </a:rPr>
              <a:t>|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6912026" y="4666340"/>
            <a:ext cx="16986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85595" algn="l"/>
              </a:tabLst>
            </a:pPr>
            <a:r>
              <a:rPr sz="1000" spc="509" dirty="0">
                <a:latin typeface="Arial"/>
                <a:cs typeface="Arial"/>
              </a:rPr>
              <a:t>.	</a:t>
            </a:r>
            <a:r>
              <a:rPr sz="1000" spc="17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061762" y="5340437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Therefore,</a:t>
            </a:r>
            <a:r>
              <a:rPr sz="800" spc="1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stochastic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gradient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ascent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learning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rule</a:t>
            </a:r>
            <a:r>
              <a:rPr sz="800" spc="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for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each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training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example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5122303" y="5455010"/>
            <a:ext cx="132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5061762" y="5465431"/>
            <a:ext cx="14166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dirty="0">
                <a:latin typeface="LM Roman 8"/>
                <a:cs typeface="LM Roman 8"/>
              </a:rPr>
              <a:t>update </a:t>
            </a:r>
            <a:r>
              <a:rPr sz="800" i="1" spc="130" dirty="0">
                <a:latin typeface="Times New Roman"/>
                <a:cs typeface="Times New Roman"/>
              </a:rPr>
              <a:t>W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5986881" y="5978917"/>
            <a:ext cx="6921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30" dirty="0">
                <a:latin typeface="Times New Roman"/>
                <a:cs typeface="Times New Roman"/>
              </a:rPr>
              <a:t>W </a:t>
            </a:r>
            <a:r>
              <a:rPr sz="800" i="1" spc="10" dirty="0">
                <a:latin typeface="DejaVu Sans"/>
                <a:cs typeface="DejaVu Sans"/>
              </a:rPr>
              <a:t>←− </a:t>
            </a:r>
            <a:r>
              <a:rPr sz="800" i="1" spc="130" dirty="0">
                <a:latin typeface="Times New Roman"/>
                <a:cs typeface="Times New Roman"/>
              </a:rPr>
              <a:t>W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215" dirty="0">
                <a:latin typeface="LM Roman 8"/>
                <a:cs typeface="LM Roman 8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α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671157" y="5890341"/>
            <a:ext cx="2470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60" dirty="0">
                <a:latin typeface="Arial"/>
                <a:cs typeface="Arial"/>
              </a:rPr>
              <a:t>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6671157" y="5971316"/>
            <a:ext cx="2470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60" dirty="0">
                <a:latin typeface="Arial"/>
                <a:cs typeface="Arial"/>
              </a:rPr>
              <a:t>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7305382" y="5818713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7308100" y="5749549"/>
            <a:ext cx="2673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r>
              <a:rPr sz="600" i="1" spc="140" dirty="0">
                <a:latin typeface="Times New Roman"/>
                <a:cs typeface="Times New Roman"/>
              </a:rPr>
              <a:t> </a:t>
            </a:r>
            <a:r>
              <a:rPr sz="600" spc="30" dirty="0">
                <a:latin typeface="LM Roman 6"/>
                <a:cs typeface="LM Roman 6"/>
              </a:rPr>
              <a:t>(</a:t>
            </a: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6892569" y="5759969"/>
            <a:ext cx="7308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1 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spc="20" dirty="0">
                <a:latin typeface="LM Roman 8"/>
                <a:cs typeface="LM Roman 8"/>
              </a:rPr>
              <a:t>2</a:t>
            </a:r>
            <a:r>
              <a:rPr sz="800" i="1" spc="20" dirty="0">
                <a:latin typeface="Times New Roman"/>
                <a:cs typeface="Times New Roman"/>
              </a:rPr>
              <a:t>g</a:t>
            </a:r>
            <a:r>
              <a:rPr sz="800" spc="20" dirty="0">
                <a:latin typeface="LM Roman 8"/>
                <a:cs typeface="LM Roman 8"/>
              </a:rPr>
              <a:t>(</a:t>
            </a:r>
            <a:r>
              <a:rPr sz="800" i="1" spc="20" dirty="0">
                <a:latin typeface="Times New Roman"/>
                <a:cs typeface="Times New Roman"/>
              </a:rPr>
              <a:t>w 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i="1" spc="42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7308100" y="5875647"/>
            <a:ext cx="2673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r>
              <a:rPr sz="600" i="1" spc="140" dirty="0">
                <a:latin typeface="Times New Roman"/>
                <a:cs typeface="Times New Roman"/>
              </a:rPr>
              <a:t> </a:t>
            </a:r>
            <a:r>
              <a:rPr sz="600" spc="30" dirty="0">
                <a:latin typeface="LM Roman 6"/>
                <a:cs typeface="LM Roman 6"/>
              </a:rPr>
              <a:t>(</a:t>
            </a: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892569" y="5886067"/>
            <a:ext cx="7308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1 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spc="20" dirty="0">
                <a:latin typeface="LM Roman 8"/>
                <a:cs typeface="LM Roman 8"/>
              </a:rPr>
              <a:t>2</a:t>
            </a:r>
            <a:r>
              <a:rPr sz="800" i="1" spc="20" dirty="0">
                <a:latin typeface="Times New Roman"/>
                <a:cs typeface="Times New Roman"/>
              </a:rPr>
              <a:t>g</a:t>
            </a:r>
            <a:r>
              <a:rPr sz="800" spc="20" dirty="0">
                <a:latin typeface="LM Roman 8"/>
                <a:cs typeface="LM Roman 8"/>
              </a:rPr>
              <a:t>(</a:t>
            </a:r>
            <a:r>
              <a:rPr sz="800" i="1" spc="20" dirty="0">
                <a:latin typeface="Times New Roman"/>
                <a:cs typeface="Times New Roman"/>
              </a:rPr>
              <a:t>w 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i="1" spc="42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30274" y="6057289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6892569" y="6107898"/>
            <a:ext cx="438784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165" algn="r">
              <a:lnSpc>
                <a:spcPts val="9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12700">
              <a:lnSpc>
                <a:spcPts val="900"/>
              </a:lnSpc>
            </a:pPr>
            <a:r>
              <a:rPr sz="800" spc="-5" dirty="0">
                <a:latin typeface="LM Roman 8"/>
                <a:cs typeface="LM Roman 8"/>
              </a:rPr>
              <a:t>1</a:t>
            </a:r>
            <a:r>
              <a:rPr sz="800" spc="-210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spc="20" dirty="0">
                <a:latin typeface="LM Roman 8"/>
                <a:cs typeface="LM Roman 8"/>
              </a:rPr>
              <a:t>2</a:t>
            </a:r>
            <a:r>
              <a:rPr sz="800" i="1" spc="20" dirty="0">
                <a:latin typeface="Times New Roman"/>
                <a:cs typeface="Times New Roman"/>
              </a:rPr>
              <a:t>g</a:t>
            </a:r>
            <a:r>
              <a:rPr sz="800" spc="20" dirty="0">
                <a:latin typeface="LM Roman 8"/>
                <a:cs typeface="LM Roman 8"/>
              </a:rPr>
              <a:t>(</a:t>
            </a:r>
            <a:r>
              <a:rPr sz="800" i="1" spc="20" dirty="0">
                <a:latin typeface="Times New Roman"/>
                <a:cs typeface="Times New Roman"/>
              </a:rPr>
              <a:t>w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305382" y="6265207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7308100" y="6204183"/>
            <a:ext cx="2305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r>
              <a:rPr sz="600" i="1" spc="140" dirty="0">
                <a:latin typeface="Times New Roman"/>
                <a:cs typeface="Times New Roman"/>
              </a:rPr>
              <a:t> </a:t>
            </a:r>
            <a:r>
              <a:rPr sz="600" spc="45" dirty="0">
                <a:latin typeface="LM Roman 6"/>
                <a:cs typeface="LM Roman 6"/>
              </a:rPr>
              <a:t>(</a:t>
            </a:r>
            <a:r>
              <a:rPr sz="600" i="1" spc="45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7513154" y="6204183"/>
            <a:ext cx="62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382230" y="6214604"/>
            <a:ext cx="241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i="1" spc="28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7305382" y="5894202"/>
            <a:ext cx="4286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sz="600" spc="-5" dirty="0">
                <a:latin typeface="LM Roman 6"/>
                <a:cs typeface="LM Roman 6"/>
              </a:rPr>
              <a:t>2	</a:t>
            </a:r>
            <a:r>
              <a:rPr sz="1500" spc="-120" baseline="2777" dirty="0">
                <a:latin typeface="Arial"/>
                <a:cs typeface="Arial"/>
              </a:rPr>
              <a:t></a:t>
            </a:r>
            <a:endParaRPr sz="1500" baseline="2777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7597864" y="5971316"/>
            <a:ext cx="13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60" dirty="0">
                <a:latin typeface="Arial"/>
                <a:cs typeface="Arial"/>
              </a:rPr>
              <a:t>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7787030" y="5962172"/>
            <a:ext cx="1327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(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7900289" y="5936505"/>
            <a:ext cx="81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7726489" y="5978917"/>
            <a:ext cx="5486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3845" algn="l"/>
              </a:tabLst>
            </a:pPr>
            <a:r>
              <a:rPr sz="800" i="1" spc="120" dirty="0">
                <a:latin typeface="Times New Roman"/>
                <a:cs typeface="Times New Roman"/>
              </a:rPr>
              <a:t>x	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160" dirty="0">
                <a:latin typeface="LM Roman 8"/>
                <a:cs typeface="LM Roman 8"/>
              </a:rPr>
              <a:t> </a:t>
            </a:r>
            <a:r>
              <a:rPr sz="800" spc="65" dirty="0">
                <a:latin typeface="LM Roman 8"/>
                <a:cs typeface="LM Roman 8"/>
              </a:rPr>
              <a:t>(</a:t>
            </a:r>
            <a:r>
              <a:rPr sz="800" i="1" spc="65" dirty="0">
                <a:latin typeface="Times New Roman"/>
                <a:cs typeface="Times New Roman"/>
              </a:rPr>
              <a:t>W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8226005" y="5936867"/>
            <a:ext cx="3244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r>
              <a:rPr sz="600" i="1" spc="-35" dirty="0">
                <a:latin typeface="Times New Roman"/>
                <a:cs typeface="Times New Roman"/>
              </a:rPr>
              <a:t> </a:t>
            </a:r>
            <a:r>
              <a:rPr sz="1200" spc="30" baseline="-24305" dirty="0">
                <a:latin typeface="LM Roman 8"/>
                <a:cs typeface="LM Roman 8"/>
              </a:rPr>
              <a:t>)</a:t>
            </a:r>
            <a:r>
              <a:rPr sz="600" i="1" spc="20" dirty="0">
                <a:latin typeface="DejaVu Sans"/>
                <a:cs typeface="DejaVu Sans"/>
              </a:rPr>
              <a:t>−</a:t>
            </a:r>
            <a:r>
              <a:rPr sz="600" spc="20" dirty="0">
                <a:latin typeface="LM Roman 6"/>
                <a:cs typeface="LM Roman 6"/>
              </a:rPr>
              <a:t>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6671157" y="5667659"/>
            <a:ext cx="197103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9165" algn="l"/>
                <a:tab pos="1847214" algn="l"/>
              </a:tabLst>
            </a:pPr>
            <a:r>
              <a:rPr sz="1000" spc="160" dirty="0">
                <a:latin typeface="Arial"/>
                <a:cs typeface="Arial"/>
              </a:rPr>
              <a:t>		</a:t>
            </a:r>
            <a:r>
              <a:rPr sz="1000" spc="-80" dirty="0">
                <a:latin typeface="Arial"/>
                <a:cs typeface="Arial"/>
              </a:rPr>
              <a:t>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8505876" y="5890341"/>
            <a:ext cx="13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60" dirty="0">
                <a:latin typeface="Arial"/>
                <a:cs typeface="Arial"/>
              </a:rPr>
              <a:t>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8505876" y="5971316"/>
            <a:ext cx="13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60" dirty="0">
                <a:latin typeface="Arial"/>
                <a:cs typeface="Arial"/>
              </a:rPr>
              <a:t>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5956553" y="5738215"/>
            <a:ext cx="2715895" cy="659130"/>
            <a:chOff x="5956553" y="5738215"/>
            <a:chExt cx="2715895" cy="659130"/>
          </a:xfrm>
        </p:grpSpPr>
        <p:sp>
          <p:nvSpPr>
            <p:cNvPr id="142" name="object 142"/>
            <p:cNvSpPr/>
            <p:nvPr/>
          </p:nvSpPr>
          <p:spPr>
            <a:xfrm>
              <a:off x="5956553" y="5740742"/>
              <a:ext cx="2715895" cy="0"/>
            </a:xfrm>
            <a:custGeom>
              <a:avLst/>
              <a:gdLst/>
              <a:ahLst/>
              <a:cxnLst/>
              <a:rect l="l" t="t" r="r" b="b"/>
              <a:pathLst>
                <a:path w="2715895">
                  <a:moveTo>
                    <a:pt x="0" y="0"/>
                  </a:moveTo>
                  <a:lnTo>
                    <a:pt x="271575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959093" y="5740742"/>
              <a:ext cx="0" cy="654050"/>
            </a:xfrm>
            <a:custGeom>
              <a:avLst/>
              <a:gdLst/>
              <a:ahLst/>
              <a:cxnLst/>
              <a:rect l="l" t="t" r="r" b="b"/>
              <a:pathLst>
                <a:path h="654050">
                  <a:moveTo>
                    <a:pt x="0" y="6535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8669781" y="5740742"/>
              <a:ext cx="0" cy="654050"/>
            </a:xfrm>
            <a:custGeom>
              <a:avLst/>
              <a:gdLst/>
              <a:ahLst/>
              <a:cxnLst/>
              <a:rect l="l" t="t" r="r" b="b"/>
              <a:pathLst>
                <a:path h="654050">
                  <a:moveTo>
                    <a:pt x="0" y="6535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956553" y="6394310"/>
              <a:ext cx="2715895" cy="0"/>
            </a:xfrm>
            <a:custGeom>
              <a:avLst/>
              <a:gdLst/>
              <a:ahLst/>
              <a:cxnLst/>
              <a:rect l="l" t="t" r="r" b="b"/>
              <a:pathLst>
                <a:path w="2715895">
                  <a:moveTo>
                    <a:pt x="0" y="0"/>
                  </a:moveTo>
                  <a:lnTo>
                    <a:pt x="271575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/>
          <p:nvPr/>
        </p:nvSpPr>
        <p:spPr>
          <a:xfrm>
            <a:off x="467994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148" name="object 1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299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6667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3999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1299" y="683953"/>
            <a:ext cx="4505960" cy="104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0504" indent="-218440">
              <a:lnSpc>
                <a:spcPts val="1195"/>
              </a:lnSpc>
              <a:buSzPct val="111111"/>
              <a:buFont typeface="LM Roman 10"/>
              <a:buAutoNum type="arabicPlain" startAt="3"/>
              <a:tabLst>
                <a:tab pos="230504" algn="l"/>
                <a:tab pos="231140" algn="l"/>
              </a:tabLst>
            </a:pPr>
            <a:r>
              <a:rPr sz="900" b="1" spc="-10" dirty="0">
                <a:latin typeface="LM Roman 9"/>
                <a:cs typeface="LM Roman 9"/>
              </a:rPr>
              <a:t>Deep Learning</a:t>
            </a:r>
            <a:endParaRPr sz="900">
              <a:latin typeface="LM Roman 9"/>
              <a:cs typeface="LM Roman 9"/>
            </a:endParaRPr>
          </a:p>
          <a:p>
            <a:pPr marL="343535" lvl="1" indent="-331470">
              <a:lnSpc>
                <a:spcPct val="100000"/>
              </a:lnSpc>
              <a:spcBef>
                <a:spcPts val="1025"/>
              </a:spcBef>
              <a:buSzPct val="111111"/>
              <a:buFont typeface="LM Roman 10"/>
              <a:buAutoNum type="arabicPeriod"/>
              <a:tabLst>
                <a:tab pos="343535" algn="l"/>
                <a:tab pos="344170" algn="l"/>
              </a:tabLst>
            </a:pPr>
            <a:r>
              <a:rPr sz="900" b="1" spc="-5" dirty="0">
                <a:latin typeface="LM Roman 9"/>
                <a:cs typeface="LM Roman 9"/>
              </a:rPr>
              <a:t>Neural</a:t>
            </a:r>
            <a:r>
              <a:rPr sz="900" b="1" spc="-10" dirty="0">
                <a:latin typeface="LM Roman 9"/>
                <a:cs typeface="LM Roman 9"/>
              </a:rPr>
              <a:t> </a:t>
            </a:r>
            <a:r>
              <a:rPr sz="900" b="1" spc="-15" dirty="0">
                <a:latin typeface="LM Roman 9"/>
                <a:cs typeface="LM Roman 9"/>
              </a:rPr>
              <a:t>Networks</a:t>
            </a:r>
            <a:endParaRPr sz="90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855"/>
              </a:spcBef>
            </a:pPr>
            <a:r>
              <a:rPr sz="800" spc="-10" dirty="0">
                <a:latin typeface="LM Roman 8"/>
                <a:cs typeface="LM Roman 8"/>
              </a:rPr>
              <a:t>Neural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networks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class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built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with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layers.</a:t>
            </a:r>
            <a:r>
              <a:rPr sz="800" spc="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Commonly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used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types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neural  </a:t>
            </a:r>
            <a:r>
              <a:rPr sz="800" spc="-10" dirty="0">
                <a:latin typeface="LM Roman 8"/>
                <a:cs typeface="LM Roman 8"/>
              </a:rPr>
              <a:t>networks </a:t>
            </a:r>
            <a:r>
              <a:rPr sz="800" spc="-5" dirty="0">
                <a:latin typeface="LM Roman 8"/>
                <a:cs typeface="LM Roman 8"/>
              </a:rPr>
              <a:t>include </a:t>
            </a:r>
            <a:r>
              <a:rPr sz="800" spc="-10" dirty="0">
                <a:latin typeface="LM Roman 8"/>
                <a:cs typeface="LM Roman 8"/>
              </a:rPr>
              <a:t>convolutional </a:t>
            </a:r>
            <a:r>
              <a:rPr sz="800" spc="-5" dirty="0">
                <a:latin typeface="LM Roman 8"/>
                <a:cs typeface="LM Roman 8"/>
              </a:rPr>
              <a:t>and recurrent neural</a:t>
            </a:r>
            <a:r>
              <a:rPr sz="800" spc="2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networks.</a:t>
            </a:r>
            <a:endParaRPr sz="800">
              <a:latin typeface="LM Roman 8"/>
              <a:cs typeface="LM Roman 8"/>
            </a:endParaRPr>
          </a:p>
          <a:p>
            <a:pPr marL="12700" marR="5080">
              <a:lnSpc>
                <a:spcPts val="800"/>
              </a:lnSpc>
              <a:spcBef>
                <a:spcPts val="620"/>
              </a:spcBef>
              <a:buFont typeface="DejaVu Sans"/>
              <a:buChar char="❒"/>
              <a:tabLst>
                <a:tab pos="137795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Architecture </a:t>
            </a:r>
            <a:r>
              <a:rPr sz="800" spc="-5" dirty="0">
                <a:latin typeface="LM Roman 8"/>
                <a:cs typeface="LM Roman 8"/>
              </a:rPr>
              <a:t>– The vocabulary around neural </a:t>
            </a:r>
            <a:r>
              <a:rPr sz="800" spc="-10" dirty="0">
                <a:latin typeface="LM Roman 8"/>
                <a:cs typeface="LM Roman 8"/>
              </a:rPr>
              <a:t>networks </a:t>
            </a:r>
            <a:r>
              <a:rPr sz="800" spc="-5" dirty="0">
                <a:latin typeface="LM Roman 8"/>
                <a:cs typeface="LM Roman 8"/>
              </a:rPr>
              <a:t>architectures is </a:t>
            </a:r>
            <a:r>
              <a:rPr sz="800" dirty="0">
                <a:latin typeface="LM Roman 8"/>
                <a:cs typeface="LM Roman 8"/>
              </a:rPr>
              <a:t>described </a:t>
            </a:r>
            <a:r>
              <a:rPr sz="800" spc="-5" dirty="0">
                <a:latin typeface="LM Roman 8"/>
                <a:cs typeface="LM Roman 8"/>
              </a:rPr>
              <a:t>in the  </a:t>
            </a:r>
            <a:r>
              <a:rPr sz="800" spc="-10" dirty="0">
                <a:latin typeface="LM Roman 8"/>
                <a:cs typeface="LM Roman 8"/>
              </a:rPr>
              <a:t>figure </a:t>
            </a:r>
            <a:r>
              <a:rPr sz="800" spc="-5" dirty="0">
                <a:latin typeface="LM Roman 8"/>
                <a:cs typeface="LM Roman 8"/>
              </a:rPr>
              <a:t>below: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12958" y="1819018"/>
            <a:ext cx="3348814" cy="782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5899" y="2705175"/>
            <a:ext cx="42246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By noting </a:t>
            </a:r>
            <a:r>
              <a:rPr sz="800" i="1" spc="65" dirty="0">
                <a:latin typeface="Times New Roman"/>
                <a:cs typeface="Times New Roman"/>
              </a:rPr>
              <a:t>i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i="1" spc="100" dirty="0">
                <a:latin typeface="Times New Roman"/>
                <a:cs typeface="Times New Roman"/>
              </a:rPr>
              <a:t>i</a:t>
            </a:r>
            <a:r>
              <a:rPr sz="900" i="1" spc="150" baseline="27777" dirty="0">
                <a:latin typeface="Times New Roman"/>
                <a:cs typeface="Times New Roman"/>
              </a:rPr>
              <a:t>th </a:t>
            </a:r>
            <a:r>
              <a:rPr sz="800" spc="-15" dirty="0">
                <a:latin typeface="LM Roman 8"/>
                <a:cs typeface="LM Roman 8"/>
              </a:rPr>
              <a:t>layer </a:t>
            </a:r>
            <a:r>
              <a:rPr sz="800" spc="-5" dirty="0">
                <a:latin typeface="LM Roman 8"/>
                <a:cs typeface="LM Roman 8"/>
              </a:rPr>
              <a:t>of the </a:t>
            </a:r>
            <a:r>
              <a:rPr sz="800" spc="-10" dirty="0">
                <a:latin typeface="LM Roman 8"/>
                <a:cs typeface="LM Roman 8"/>
              </a:rPr>
              <a:t>network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20" dirty="0">
                <a:latin typeface="Times New Roman"/>
                <a:cs typeface="Times New Roman"/>
              </a:rPr>
              <a:t>j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i="1" spc="135" dirty="0">
                <a:latin typeface="Times New Roman"/>
                <a:cs typeface="Times New Roman"/>
              </a:rPr>
              <a:t>j</a:t>
            </a:r>
            <a:r>
              <a:rPr sz="900" i="1" spc="202" baseline="27777" dirty="0">
                <a:latin typeface="Times New Roman"/>
                <a:cs typeface="Times New Roman"/>
              </a:rPr>
              <a:t>th </a:t>
            </a:r>
            <a:r>
              <a:rPr sz="800" spc="-5" dirty="0">
                <a:latin typeface="LM Roman 8"/>
                <a:cs typeface="LM Roman 8"/>
              </a:rPr>
              <a:t>hidden unit of the </a:t>
            </a:r>
            <a:r>
              <a:rPr sz="800" spc="-10" dirty="0">
                <a:latin typeface="LM Roman 8"/>
                <a:cs typeface="LM Roman 8"/>
              </a:rPr>
              <a:t>layer,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24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58770" y="3011962"/>
            <a:ext cx="3702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18135" algn="l"/>
              </a:tabLst>
            </a:pPr>
            <a:r>
              <a:rPr sz="600" i="1" spc="135" dirty="0">
                <a:latin typeface="Times New Roman"/>
                <a:cs typeface="Times New Roman"/>
              </a:rPr>
              <a:t>j	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73489" y="2896786"/>
            <a:ext cx="685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3050" y="2922440"/>
            <a:ext cx="8229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16230" algn="l"/>
                <a:tab pos="721995" algn="l"/>
              </a:tabLst>
            </a:pPr>
            <a:r>
              <a:rPr sz="600" spc="-10" dirty="0">
                <a:latin typeface="LM Roman 6"/>
                <a:cs typeface="LM Roman 6"/>
              </a:rPr>
              <a:t>[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]</a:t>
            </a:r>
            <a:r>
              <a:rPr sz="600" dirty="0">
                <a:latin typeface="LM Roman 6"/>
                <a:cs typeface="LM Roman 6"/>
              </a:rPr>
              <a:t>	</a:t>
            </a:r>
            <a:r>
              <a:rPr sz="600" spc="-10" dirty="0">
                <a:latin typeface="LM Roman 6"/>
                <a:cs typeface="LM Roman 6"/>
              </a:rPr>
              <a:t>[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]</a:t>
            </a:r>
            <a:r>
              <a:rPr sz="600" dirty="0">
                <a:latin typeface="LM Roman 6"/>
                <a:cs typeface="LM Roman 6"/>
              </a:rPr>
              <a:t>	</a:t>
            </a:r>
            <a:r>
              <a:rPr sz="600" spc="-10" dirty="0">
                <a:latin typeface="LM Roman 6"/>
                <a:cs typeface="LM Roman 6"/>
              </a:rPr>
              <a:t>[</a:t>
            </a: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]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83345" y="2950983"/>
            <a:ext cx="8794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202565" algn="l"/>
                <a:tab pos="563880" algn="l"/>
              </a:tabLst>
            </a:pPr>
            <a:r>
              <a:rPr sz="800" i="1" spc="80" dirty="0">
                <a:latin typeface="Times New Roman"/>
                <a:cs typeface="Times New Roman"/>
              </a:rPr>
              <a:t>z	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70" dirty="0">
                <a:latin typeface="Times New Roman"/>
                <a:cs typeface="Times New Roman"/>
              </a:rPr>
              <a:t>w	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i="1" spc="-4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12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b</a:t>
            </a:r>
            <a:r>
              <a:rPr sz="900" i="1" spc="67" baseline="-27777" dirty="0">
                <a:latin typeface="Times New Roman"/>
                <a:cs typeface="Times New Roman"/>
              </a:rPr>
              <a:t>j</a:t>
            </a:r>
            <a:endParaRPr sz="900" baseline="-27777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65730" y="2890507"/>
            <a:ext cx="956944" cy="267970"/>
            <a:chOff x="2265730" y="2890507"/>
            <a:chExt cx="956944" cy="267970"/>
          </a:xfrm>
        </p:grpSpPr>
        <p:sp>
          <p:nvSpPr>
            <p:cNvPr id="13" name="object 13"/>
            <p:cNvSpPr/>
            <p:nvPr/>
          </p:nvSpPr>
          <p:spPr>
            <a:xfrm>
              <a:off x="2265730" y="2893034"/>
              <a:ext cx="956944" cy="0"/>
            </a:xfrm>
            <a:custGeom>
              <a:avLst/>
              <a:gdLst/>
              <a:ahLst/>
              <a:cxnLst/>
              <a:rect l="l" t="t" r="r" b="b"/>
              <a:pathLst>
                <a:path w="956944">
                  <a:moveTo>
                    <a:pt x="0" y="0"/>
                  </a:moveTo>
                  <a:lnTo>
                    <a:pt x="95647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68258" y="2893034"/>
              <a:ext cx="0" cy="262890"/>
            </a:xfrm>
            <a:custGeom>
              <a:avLst/>
              <a:gdLst/>
              <a:ahLst/>
              <a:cxnLst/>
              <a:rect l="l" t="t" r="r" b="b"/>
              <a:pathLst>
                <a:path h="262889">
                  <a:moveTo>
                    <a:pt x="0" y="26278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19678" y="2893034"/>
              <a:ext cx="0" cy="262890"/>
            </a:xfrm>
            <a:custGeom>
              <a:avLst/>
              <a:gdLst/>
              <a:ahLst/>
              <a:cxnLst/>
              <a:rect l="l" t="t" r="r" b="b"/>
              <a:pathLst>
                <a:path h="262889">
                  <a:moveTo>
                    <a:pt x="0" y="26278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65730" y="3155822"/>
              <a:ext cx="956944" cy="0"/>
            </a:xfrm>
            <a:custGeom>
              <a:avLst/>
              <a:gdLst/>
              <a:ahLst/>
              <a:cxnLst/>
              <a:rect l="l" t="t" r="r" b="b"/>
              <a:pathLst>
                <a:path w="956944">
                  <a:moveTo>
                    <a:pt x="0" y="0"/>
                  </a:moveTo>
                  <a:lnTo>
                    <a:pt x="95647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91299" y="3215232"/>
            <a:ext cx="29914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where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note </a:t>
            </a:r>
            <a:r>
              <a:rPr sz="800" i="1" spc="45" dirty="0">
                <a:latin typeface="Times New Roman"/>
                <a:cs typeface="Times New Roman"/>
              </a:rPr>
              <a:t>w</a:t>
            </a:r>
            <a:r>
              <a:rPr sz="800" spc="45" dirty="0">
                <a:latin typeface="LM Roman 8"/>
                <a:cs typeface="LM Roman 8"/>
              </a:rPr>
              <a:t>, </a:t>
            </a:r>
            <a:r>
              <a:rPr sz="800" i="1" spc="-25" dirty="0">
                <a:latin typeface="Times New Roman"/>
                <a:cs typeface="Times New Roman"/>
              </a:rPr>
              <a:t>b</a:t>
            </a:r>
            <a:r>
              <a:rPr sz="800" spc="-25" dirty="0">
                <a:latin typeface="LM Roman 8"/>
                <a:cs typeface="LM Roman 8"/>
              </a:rPr>
              <a:t>, </a:t>
            </a:r>
            <a:r>
              <a:rPr sz="800" i="1" spc="80" dirty="0">
                <a:latin typeface="Times New Roman"/>
                <a:cs typeface="Times New Roman"/>
              </a:rPr>
              <a:t>z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weight, </a:t>
            </a:r>
            <a:r>
              <a:rPr sz="800" spc="-5" dirty="0">
                <a:latin typeface="LM Roman 8"/>
                <a:cs typeface="LM Roman 8"/>
              </a:rPr>
              <a:t>bias and output</a:t>
            </a:r>
            <a:r>
              <a:rPr sz="800" spc="6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respectively.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1299" y="3415105"/>
            <a:ext cx="45053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 indent="-10668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19380" algn="l"/>
              </a:tabLst>
            </a:pPr>
            <a:r>
              <a:rPr sz="800" b="1" spc="-15" dirty="0">
                <a:solidFill>
                  <a:srgbClr val="020E86"/>
                </a:solidFill>
                <a:latin typeface="LM Roman 8"/>
                <a:cs typeface="LM Roman 8"/>
              </a:rPr>
              <a:t>Activation</a:t>
            </a:r>
            <a:r>
              <a:rPr sz="800" b="1" spc="-55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function</a:t>
            </a:r>
            <a:r>
              <a:rPr sz="800" b="1" spc="-85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Activation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functions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used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at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end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hidden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unit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introduce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1299" y="3497477"/>
            <a:ext cx="337057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non-linear complexities to the </a:t>
            </a:r>
            <a:r>
              <a:rPr sz="800" dirty="0">
                <a:latin typeface="LM Roman 8"/>
                <a:cs typeface="LM Roman 8"/>
              </a:rPr>
              <a:t>model. </a:t>
            </a:r>
            <a:r>
              <a:rPr sz="800" spc="-10" dirty="0">
                <a:latin typeface="LM Roman 8"/>
                <a:cs typeface="LM Roman 8"/>
              </a:rPr>
              <a:t>Here </a:t>
            </a:r>
            <a:r>
              <a:rPr sz="800" spc="-5" dirty="0">
                <a:latin typeface="LM Roman 8"/>
                <a:cs typeface="LM Roman 8"/>
              </a:rPr>
              <a:t>are the most common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ones: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72525" y="4155744"/>
            <a:ext cx="414020" cy="0"/>
          </a:xfrm>
          <a:custGeom>
            <a:avLst/>
            <a:gdLst/>
            <a:ahLst/>
            <a:cxnLst/>
            <a:rect l="l" t="t" r="r" b="b"/>
            <a:pathLst>
              <a:path w="414019">
                <a:moveTo>
                  <a:pt x="0" y="0"/>
                </a:moveTo>
                <a:lnTo>
                  <a:pt x="41346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8496" y="4458888"/>
            <a:ext cx="879607" cy="856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84089" y="4458888"/>
            <a:ext cx="879607" cy="8567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75113" y="4458888"/>
            <a:ext cx="854163" cy="856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37072" y="4458888"/>
            <a:ext cx="857798" cy="8567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10260" y="3785196"/>
          <a:ext cx="4262120" cy="1611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280"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Sigmoid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30" dirty="0">
                          <a:latin typeface="LM Roman 8"/>
                          <a:cs typeface="LM Roman 8"/>
                        </a:rPr>
                        <a:t>Tanh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ReLU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Leaky</a:t>
                      </a:r>
                      <a:r>
                        <a:rPr sz="800" b="1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ReLU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519">
                <a:tc>
                  <a:txBody>
                    <a:bodyPr/>
                    <a:lstStyle/>
                    <a:p>
                      <a:pPr marL="519430">
                        <a:lnSpc>
                          <a:spcPts val="760"/>
                        </a:lnSpc>
                        <a:spcBef>
                          <a:spcPts val="250"/>
                        </a:spcBef>
                        <a:tabLst>
                          <a:tab pos="673735" algn="l"/>
                          <a:tab pos="88201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1	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67640">
                        <a:lnSpc>
                          <a:spcPts val="760"/>
                        </a:lnSpc>
                      </a:pP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7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4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200" spc="-7" baseline="-41666" dirty="0">
                          <a:latin typeface="LM Roman 8"/>
                          <a:cs typeface="LM Roman 8"/>
                        </a:rPr>
                        <a:t>1</a:t>
                      </a:r>
                      <a:r>
                        <a:rPr sz="1200" spc="-165" baseline="-41666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200" spc="-7" baseline="-41666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1200" spc="-157" baseline="-41666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200" i="1" spc="112" baseline="-41666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900" i="1" spc="112" baseline="-32407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900" i="1" spc="112" baseline="-32407" dirty="0">
                          <a:latin typeface="Times New Roman"/>
                          <a:cs typeface="Times New Roman"/>
                        </a:rPr>
                        <a:t>z</a:t>
                      </a:r>
                      <a:endParaRPr sz="900" baseline="-32407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4030">
                        <a:lnSpc>
                          <a:spcPts val="869"/>
                        </a:lnSpc>
                      </a:pPr>
                      <a:r>
                        <a:rPr sz="1200" i="1" spc="112" baseline="-20833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600" i="1" spc="75" dirty="0">
                          <a:latin typeface="Times New Roman"/>
                          <a:cs typeface="Times New Roman"/>
                        </a:rPr>
                        <a:t>z </a:t>
                      </a:r>
                      <a:r>
                        <a:rPr sz="1200" i="1" spc="-22" baseline="-20833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1200" i="1" spc="-89" baseline="-20833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200" i="1" spc="112" baseline="-20833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600" i="1" spc="7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600" i="1" spc="75" dirty="0">
                          <a:latin typeface="Times New Roman"/>
                          <a:cs typeface="Times New Roman"/>
                        </a:rPr>
                        <a:t>z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ts val="605"/>
                        </a:lnSpc>
                      </a:pP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494030">
                        <a:lnSpc>
                          <a:spcPts val="665"/>
                        </a:lnSpc>
                      </a:pPr>
                      <a:r>
                        <a:rPr sz="1200" i="1" spc="112" baseline="-1736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600" i="1" spc="75" dirty="0">
                          <a:latin typeface="Times New Roman"/>
                          <a:cs typeface="Times New Roman"/>
                        </a:rPr>
                        <a:t>z </a:t>
                      </a:r>
                      <a:r>
                        <a:rPr sz="1200" spc="-7" baseline="-17361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1200" spc="-127" baseline="-17361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200" i="1" spc="112" baseline="-1736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600" i="1" spc="7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600" i="1" spc="75" dirty="0">
                          <a:latin typeface="Times New Roman"/>
                          <a:cs typeface="Times New Roman"/>
                        </a:rPr>
                        <a:t>z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)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15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15" dirty="0">
                          <a:latin typeface="LM Roman 8"/>
                          <a:cs typeface="LM Roman 8"/>
                        </a:rPr>
                        <a:t>max(0</a:t>
                      </a: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,z</a:t>
                      </a:r>
                      <a:r>
                        <a:rPr sz="800" spc="1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022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7495" marR="123825" indent="-146685">
                        <a:lnSpc>
                          <a:spcPct val="128000"/>
                        </a:lnSpc>
                        <a:spcBef>
                          <a:spcPts val="535"/>
                        </a:spcBef>
                      </a:pP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)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2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max(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sz,z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) 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with 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800" i="1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1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679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6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491299" y="5716116"/>
            <a:ext cx="195516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commonly used and is defined as</a:t>
            </a:r>
            <a:r>
              <a:rPr sz="800" spc="-10" dirty="0">
                <a:latin typeface="LM Roman 8"/>
                <a:cs typeface="LM Roman 8"/>
              </a:rPr>
              <a:t> 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1299" y="5321984"/>
            <a:ext cx="9112250" cy="4337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618990" marR="5080">
              <a:lnSpc>
                <a:spcPts val="850"/>
              </a:lnSpc>
              <a:spcBef>
                <a:spcPts val="215"/>
              </a:spcBef>
            </a:pPr>
            <a:r>
              <a:rPr sz="800" spc="-5" dirty="0">
                <a:latin typeface="LM Roman 8"/>
                <a:cs typeface="LM Roman 8"/>
              </a:rPr>
              <a:t>It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usually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done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after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fully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connected/convolutional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layer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before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non-linearity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layer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  aims at allowing higher learning rates and reducing the strong </a:t>
            </a:r>
            <a:r>
              <a:rPr sz="800" dirty="0">
                <a:latin typeface="LM Roman 8"/>
                <a:cs typeface="LM Roman 8"/>
              </a:rPr>
              <a:t>dependence </a:t>
            </a:r>
            <a:r>
              <a:rPr sz="800" spc="-5" dirty="0">
                <a:latin typeface="LM Roman 8"/>
                <a:cs typeface="LM Roman 8"/>
              </a:rPr>
              <a:t>on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initialization.</a:t>
            </a:r>
            <a:endParaRPr sz="800">
              <a:latin typeface="LM Roman 8"/>
              <a:cs typeface="LM Roman 8"/>
            </a:endParaRPr>
          </a:p>
          <a:p>
            <a:pPr marL="136525" indent="-124460">
              <a:lnSpc>
                <a:spcPct val="100000"/>
              </a:lnSpc>
              <a:spcBef>
                <a:spcPts val="434"/>
              </a:spcBef>
              <a:buFont typeface="DejaVu Sans"/>
              <a:buChar char="❒"/>
              <a:tabLst>
                <a:tab pos="13716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Cross-entropy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loss </a:t>
            </a:r>
            <a:r>
              <a:rPr sz="800" spc="-5" dirty="0">
                <a:latin typeface="LM Roman 8"/>
                <a:cs typeface="LM Roman 8"/>
              </a:rPr>
              <a:t>– In the context of neural </a:t>
            </a:r>
            <a:r>
              <a:rPr sz="800" spc="-10" dirty="0">
                <a:latin typeface="LM Roman 8"/>
                <a:cs typeface="LM Roman 8"/>
              </a:rPr>
              <a:t>networks,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cross-entropy </a:t>
            </a:r>
            <a:r>
              <a:rPr sz="800" spc="-5" dirty="0">
                <a:latin typeface="LM Roman 8"/>
                <a:cs typeface="LM Roman 8"/>
              </a:rPr>
              <a:t>loss </a:t>
            </a:r>
            <a:r>
              <a:rPr sz="800" i="1" spc="60" dirty="0">
                <a:latin typeface="Times New Roman"/>
                <a:cs typeface="Times New Roman"/>
              </a:rPr>
              <a:t>L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z,y</a:t>
            </a:r>
            <a:r>
              <a:rPr sz="800" spc="60" dirty="0">
                <a:latin typeface="LM Roman 8"/>
                <a:cs typeface="LM Roman 8"/>
              </a:rPr>
              <a:t>)</a:t>
            </a:r>
            <a:r>
              <a:rPr sz="800" spc="3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39696" y="5944430"/>
            <a:ext cx="20085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60" dirty="0">
                <a:latin typeface="Times New Roman"/>
                <a:cs typeface="Times New Roman"/>
              </a:rPr>
              <a:t>L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z,y</a:t>
            </a:r>
            <a:r>
              <a:rPr sz="800" spc="60" dirty="0">
                <a:latin typeface="LM Roman 8"/>
                <a:cs typeface="LM Roman 8"/>
              </a:rPr>
              <a:t>)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-35" dirty="0">
                <a:latin typeface="DejaVu Sans"/>
                <a:cs typeface="DejaVu Sans"/>
              </a:rPr>
              <a:t>−</a:t>
            </a:r>
            <a:r>
              <a:rPr sz="1500" spc="-52" baseline="58333" dirty="0">
                <a:latin typeface="Arial"/>
                <a:cs typeface="Arial"/>
              </a:rPr>
              <a:t>Σ</a:t>
            </a:r>
            <a:r>
              <a:rPr sz="800" i="1" spc="-35" dirty="0">
                <a:latin typeface="Times New Roman"/>
                <a:cs typeface="Times New Roman"/>
              </a:rPr>
              <a:t>y </a:t>
            </a:r>
            <a:r>
              <a:rPr sz="800" spc="15" dirty="0">
                <a:latin typeface="LM Roman 8"/>
                <a:cs typeface="LM Roman 8"/>
              </a:rPr>
              <a:t>log(</a:t>
            </a:r>
            <a:r>
              <a:rPr sz="800" i="1" spc="15" dirty="0">
                <a:latin typeface="Times New Roman"/>
                <a:cs typeface="Times New Roman"/>
              </a:rPr>
              <a:t>z</a:t>
            </a:r>
            <a:r>
              <a:rPr sz="800" spc="15" dirty="0">
                <a:latin typeface="LM Roman 8"/>
                <a:cs typeface="LM Roman 8"/>
              </a:rPr>
              <a:t>)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(1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i="1" spc="40" dirty="0">
                <a:latin typeface="Times New Roman"/>
                <a:cs typeface="Times New Roman"/>
              </a:rPr>
              <a:t>y</a:t>
            </a:r>
            <a:r>
              <a:rPr sz="800" spc="40" dirty="0">
                <a:latin typeface="LM Roman 8"/>
                <a:cs typeface="LM Roman 8"/>
              </a:rPr>
              <a:t>)</a:t>
            </a:r>
            <a:r>
              <a:rPr sz="800" spc="-1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log(1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i="1" spc="-15" dirty="0">
                <a:latin typeface="Times New Roman"/>
                <a:cs typeface="Times New Roman"/>
              </a:rPr>
              <a:t>z</a:t>
            </a:r>
            <a:r>
              <a:rPr sz="800" spc="-15" dirty="0">
                <a:latin typeface="LM Roman 8"/>
                <a:cs typeface="LM Roman 8"/>
              </a:rPr>
              <a:t>)</a:t>
            </a:r>
            <a:r>
              <a:rPr sz="1500" spc="-22" baseline="58333" dirty="0">
                <a:latin typeface="Arial"/>
                <a:cs typeface="Arial"/>
              </a:rPr>
              <a:t>Σ</a:t>
            </a:r>
            <a:endParaRPr sz="1500" baseline="58333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734781" y="5901461"/>
            <a:ext cx="2018664" cy="314325"/>
            <a:chOff x="1734781" y="5901461"/>
            <a:chExt cx="2018664" cy="314325"/>
          </a:xfrm>
        </p:grpSpPr>
        <p:sp>
          <p:nvSpPr>
            <p:cNvPr id="30" name="object 30"/>
            <p:cNvSpPr/>
            <p:nvPr/>
          </p:nvSpPr>
          <p:spPr>
            <a:xfrm>
              <a:off x="1734781" y="5903988"/>
              <a:ext cx="2018664" cy="0"/>
            </a:xfrm>
            <a:custGeom>
              <a:avLst/>
              <a:gdLst/>
              <a:ahLst/>
              <a:cxnLst/>
              <a:rect l="l" t="t" r="r" b="b"/>
              <a:pathLst>
                <a:path w="2018665">
                  <a:moveTo>
                    <a:pt x="0" y="0"/>
                  </a:moveTo>
                  <a:lnTo>
                    <a:pt x="201838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37309" y="5903988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h="309245">
                  <a:moveTo>
                    <a:pt x="0" y="30872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50627" y="5903988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h="309245">
                  <a:moveTo>
                    <a:pt x="0" y="30872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34781" y="6212713"/>
              <a:ext cx="2018664" cy="0"/>
            </a:xfrm>
            <a:custGeom>
              <a:avLst/>
              <a:gdLst/>
              <a:ahLst/>
              <a:cxnLst/>
              <a:rect l="l" t="t" r="r" b="b"/>
              <a:pathLst>
                <a:path w="2018665">
                  <a:moveTo>
                    <a:pt x="0" y="0"/>
                  </a:moveTo>
                  <a:lnTo>
                    <a:pt x="201838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91299" y="6366369"/>
            <a:ext cx="4505960" cy="75501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algn="just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3081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Learning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rate </a:t>
            </a:r>
            <a:r>
              <a:rPr sz="800" spc="-5" dirty="0">
                <a:latin typeface="LM Roman 8"/>
                <a:cs typeface="LM Roman 8"/>
              </a:rPr>
              <a:t>– The learning rate, often noted </a:t>
            </a:r>
            <a:r>
              <a:rPr sz="800" i="1" spc="25" dirty="0">
                <a:latin typeface="Times New Roman"/>
                <a:cs typeface="Times New Roman"/>
              </a:rPr>
              <a:t>η</a:t>
            </a:r>
            <a:r>
              <a:rPr sz="800" spc="25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indicates at </a:t>
            </a:r>
            <a:r>
              <a:rPr sz="800" spc="-10" dirty="0">
                <a:latin typeface="LM Roman 8"/>
                <a:cs typeface="LM Roman 8"/>
              </a:rPr>
              <a:t>which </a:t>
            </a:r>
            <a:r>
              <a:rPr sz="800" spc="-5" dirty="0">
                <a:latin typeface="LM Roman 8"/>
                <a:cs typeface="LM Roman 8"/>
              </a:rPr>
              <a:t>pace the </a:t>
            </a:r>
            <a:r>
              <a:rPr sz="800" spc="-10" dirty="0">
                <a:latin typeface="LM Roman 8"/>
                <a:cs typeface="LM Roman 8"/>
              </a:rPr>
              <a:t>weights </a:t>
            </a:r>
            <a:r>
              <a:rPr sz="800" spc="-5" dirty="0">
                <a:latin typeface="LM Roman 8"/>
                <a:cs typeface="LM Roman 8"/>
              </a:rPr>
              <a:t>get  </a:t>
            </a:r>
            <a:r>
              <a:rPr sz="800" dirty="0">
                <a:latin typeface="LM Roman 8"/>
                <a:cs typeface="LM Roman 8"/>
              </a:rPr>
              <a:t>updated. </a:t>
            </a:r>
            <a:r>
              <a:rPr sz="800" spc="-5" dirty="0">
                <a:latin typeface="LM Roman 8"/>
                <a:cs typeface="LM Roman 8"/>
              </a:rPr>
              <a:t>This can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10" dirty="0">
                <a:latin typeface="LM Roman 8"/>
                <a:cs typeface="LM Roman 8"/>
              </a:rPr>
              <a:t>fixed </a:t>
            </a:r>
            <a:r>
              <a:rPr sz="800" spc="-5" dirty="0">
                <a:latin typeface="LM Roman 8"/>
                <a:cs typeface="LM Roman 8"/>
              </a:rPr>
              <a:t>or adaptively changed. The current most </a:t>
            </a:r>
            <a:r>
              <a:rPr sz="800" dirty="0">
                <a:latin typeface="LM Roman 8"/>
                <a:cs typeface="LM Roman 8"/>
              </a:rPr>
              <a:t>popular method </a:t>
            </a:r>
            <a:r>
              <a:rPr sz="800" spc="-5" dirty="0">
                <a:latin typeface="LM Roman 8"/>
                <a:cs typeface="LM Roman 8"/>
              </a:rPr>
              <a:t>is called  </a:t>
            </a:r>
            <a:r>
              <a:rPr sz="800" spc="-10" dirty="0">
                <a:latin typeface="LM Roman 8"/>
                <a:cs typeface="LM Roman 8"/>
              </a:rPr>
              <a:t>Adam, which </a:t>
            </a:r>
            <a:r>
              <a:rPr sz="800" spc="-5" dirty="0">
                <a:latin typeface="LM Roman 8"/>
                <a:cs typeface="LM Roman 8"/>
              </a:rPr>
              <a:t>is a </a:t>
            </a:r>
            <a:r>
              <a:rPr sz="800" dirty="0">
                <a:latin typeface="LM Roman 8"/>
                <a:cs typeface="LM Roman 8"/>
              </a:rPr>
              <a:t>method </a:t>
            </a:r>
            <a:r>
              <a:rPr sz="800" spc="-5" dirty="0">
                <a:latin typeface="LM Roman 8"/>
                <a:cs typeface="LM Roman 8"/>
              </a:rPr>
              <a:t>that adapts the learning</a:t>
            </a:r>
            <a:r>
              <a:rPr sz="800" spc="1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rate.</a:t>
            </a:r>
            <a:endParaRPr sz="800">
              <a:latin typeface="LM Roman 8"/>
              <a:cs typeface="LM Roman 8"/>
            </a:endParaRPr>
          </a:p>
          <a:p>
            <a:pPr marL="12700" marR="5080" algn="just">
              <a:lnSpc>
                <a:spcPts val="800"/>
              </a:lnSpc>
              <a:spcBef>
                <a:spcPts val="780"/>
              </a:spcBef>
              <a:buFont typeface="DejaVu Sans"/>
              <a:buChar char="❒"/>
              <a:tabLst>
                <a:tab pos="114300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Backpropagation</a:t>
            </a:r>
            <a:r>
              <a:rPr sz="800" b="1" spc="-13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Backpropagation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method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update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weights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neural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network 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taking </a:t>
            </a:r>
            <a:r>
              <a:rPr sz="800" spc="-10" dirty="0">
                <a:latin typeface="LM Roman 8"/>
                <a:cs typeface="LM Roman 8"/>
              </a:rPr>
              <a:t>into account </a:t>
            </a:r>
            <a:r>
              <a:rPr sz="800" spc="-5" dirty="0">
                <a:latin typeface="LM Roman 8"/>
                <a:cs typeface="LM Roman 8"/>
              </a:rPr>
              <a:t>the actual output and the desired output. The </a:t>
            </a:r>
            <a:r>
              <a:rPr sz="800" spc="-10" dirty="0">
                <a:latin typeface="LM Roman 8"/>
                <a:cs typeface="LM Roman 8"/>
              </a:rPr>
              <a:t>derivative </a:t>
            </a:r>
            <a:r>
              <a:rPr sz="800" spc="-5" dirty="0">
                <a:latin typeface="LM Roman 8"/>
                <a:cs typeface="LM Roman 8"/>
              </a:rPr>
              <a:t>with </a:t>
            </a:r>
            <a:r>
              <a:rPr sz="800" dirty="0">
                <a:latin typeface="LM Roman 8"/>
                <a:cs typeface="LM Roman 8"/>
              </a:rPr>
              <a:t>respect </a:t>
            </a:r>
            <a:r>
              <a:rPr sz="800" spc="2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 </a:t>
            </a:r>
            <a:r>
              <a:rPr sz="800" spc="-10" dirty="0">
                <a:latin typeface="LM Roman 8"/>
                <a:cs typeface="LM Roman 8"/>
              </a:rPr>
              <a:t>weight </a:t>
            </a:r>
            <a:r>
              <a:rPr sz="800" i="1" spc="70" dirty="0">
                <a:latin typeface="Times New Roman"/>
                <a:cs typeface="Times New Roman"/>
              </a:rPr>
              <a:t>w </a:t>
            </a:r>
            <a:r>
              <a:rPr sz="800" spc="-5" dirty="0">
                <a:latin typeface="LM Roman 8"/>
                <a:cs typeface="LM Roman 8"/>
              </a:rPr>
              <a:t>is computed using </a:t>
            </a:r>
            <a:r>
              <a:rPr sz="800" spc="-10" dirty="0">
                <a:latin typeface="LM Roman 8"/>
                <a:cs typeface="LM Roman 8"/>
              </a:rPr>
              <a:t>chain </a:t>
            </a:r>
            <a:r>
              <a:rPr sz="800" spc="-5" dirty="0">
                <a:latin typeface="LM Roman 8"/>
                <a:cs typeface="LM Roman 8"/>
              </a:rPr>
              <a:t>rule and is of the </a:t>
            </a:r>
            <a:r>
              <a:rPr sz="800" spc="-10" dirty="0">
                <a:latin typeface="LM Roman 8"/>
                <a:cs typeface="LM Roman 8"/>
              </a:rPr>
              <a:t>following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form: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19137" y="974495"/>
            <a:ext cx="1530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95" dirty="0">
                <a:latin typeface="Times New Roman"/>
                <a:cs typeface="Times New Roman"/>
              </a:rPr>
              <a:t>∂</a:t>
            </a:r>
            <a:r>
              <a:rPr sz="800" i="1" spc="70" dirty="0">
                <a:latin typeface="Times New Roman"/>
                <a:cs typeface="Times New Roman"/>
              </a:rPr>
              <a:t>w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15645" y="898676"/>
            <a:ext cx="965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64666" y="974495"/>
            <a:ext cx="5289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03225" algn="l"/>
              </a:tabLst>
            </a:pPr>
            <a:r>
              <a:rPr sz="800" i="1" spc="95" dirty="0">
                <a:latin typeface="Times New Roman"/>
                <a:cs typeface="Times New Roman"/>
              </a:rPr>
              <a:t>∂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800" i="1" dirty="0">
                <a:latin typeface="Times New Roman"/>
                <a:cs typeface="Times New Roman"/>
              </a:rPr>
              <a:t>	</a:t>
            </a:r>
            <a:r>
              <a:rPr sz="800" i="1" spc="95" dirty="0">
                <a:latin typeface="Times New Roman"/>
                <a:cs typeface="Times New Roman"/>
              </a:rPr>
              <a:t>∂</a:t>
            </a:r>
            <a:r>
              <a:rPr sz="800" i="1" spc="80" dirty="0">
                <a:latin typeface="Times New Roman"/>
                <a:cs typeface="Times New Roman"/>
              </a:rPr>
              <a:t>z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43825" y="898676"/>
            <a:ext cx="3784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81305" algn="l"/>
              </a:tabLst>
            </a:pPr>
            <a:r>
              <a:rPr sz="800" i="1" spc="-15" dirty="0">
                <a:latin typeface="DejaVu Sans"/>
                <a:cs typeface="DejaVu Sans"/>
              </a:rPr>
              <a:t>×	×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10210" y="803351"/>
            <a:ext cx="1490980" cy="3181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0"/>
              </a:spcBef>
              <a:tabLst>
                <a:tab pos="534035" algn="l"/>
                <a:tab pos="1056005" algn="l"/>
                <a:tab pos="1350645" algn="l"/>
              </a:tabLst>
            </a:pPr>
            <a:r>
              <a:rPr sz="800" i="1" u="sng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∂L</a:t>
            </a:r>
            <a:r>
              <a:rPr sz="800" u="sng" spc="6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(</a:t>
            </a:r>
            <a:r>
              <a:rPr sz="800" i="1" u="sng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z,y</a:t>
            </a:r>
            <a:r>
              <a:rPr sz="800" u="sng" spc="6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)</a:t>
            </a:r>
            <a:r>
              <a:rPr sz="800" spc="65" dirty="0">
                <a:latin typeface="LM Roman 8"/>
                <a:cs typeface="LM Roman 8"/>
              </a:rPr>
              <a:t>	</a:t>
            </a:r>
            <a:r>
              <a:rPr sz="800" i="1" u="sng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∂L</a:t>
            </a:r>
            <a:r>
              <a:rPr sz="800" u="sng" spc="6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(</a:t>
            </a:r>
            <a:r>
              <a:rPr sz="800" i="1" u="sng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z,y</a:t>
            </a:r>
            <a:r>
              <a:rPr sz="800" u="sng" spc="6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)</a:t>
            </a:r>
            <a:r>
              <a:rPr sz="800" spc="65" dirty="0">
                <a:latin typeface="LM Roman 8"/>
                <a:cs typeface="LM Roman 8"/>
              </a:rPr>
              <a:t>	</a:t>
            </a:r>
            <a:r>
              <a:rPr sz="800" i="1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∂a</a:t>
            </a:r>
            <a:r>
              <a:rPr sz="800" i="1" spc="70" dirty="0">
                <a:latin typeface="Times New Roman"/>
                <a:cs typeface="Times New Roman"/>
              </a:rPr>
              <a:t>	</a:t>
            </a:r>
            <a:r>
              <a:rPr sz="800" i="1" u="sng" spc="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∂z</a:t>
            </a:r>
            <a:endParaRPr sz="8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95"/>
              </a:spcBef>
            </a:pPr>
            <a:r>
              <a:rPr sz="800" i="1" spc="95" dirty="0">
                <a:latin typeface="Times New Roman"/>
                <a:cs typeface="Times New Roman"/>
              </a:rPr>
              <a:t>∂</a:t>
            </a:r>
            <a:r>
              <a:rPr sz="800" i="1" spc="70" dirty="0">
                <a:latin typeface="Times New Roman"/>
                <a:cs typeface="Times New Roman"/>
              </a:rPr>
              <a:t>w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552006" y="823175"/>
            <a:ext cx="1597025" cy="308610"/>
            <a:chOff x="6552006" y="823175"/>
            <a:chExt cx="1597025" cy="308610"/>
          </a:xfrm>
        </p:grpSpPr>
        <p:sp>
          <p:nvSpPr>
            <p:cNvPr id="41" name="object 41"/>
            <p:cNvSpPr/>
            <p:nvPr/>
          </p:nvSpPr>
          <p:spPr>
            <a:xfrm>
              <a:off x="6552006" y="825703"/>
              <a:ext cx="1597025" cy="0"/>
            </a:xfrm>
            <a:custGeom>
              <a:avLst/>
              <a:gdLst/>
              <a:ahLst/>
              <a:cxnLst/>
              <a:rect l="l" t="t" r="r" b="b"/>
              <a:pathLst>
                <a:path w="1597025">
                  <a:moveTo>
                    <a:pt x="0" y="0"/>
                  </a:moveTo>
                  <a:lnTo>
                    <a:pt x="159684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54533" y="825703"/>
              <a:ext cx="0" cy="303530"/>
            </a:xfrm>
            <a:custGeom>
              <a:avLst/>
              <a:gdLst/>
              <a:ahLst/>
              <a:cxnLst/>
              <a:rect l="l" t="t" r="r" b="b"/>
              <a:pathLst>
                <a:path h="303530">
                  <a:moveTo>
                    <a:pt x="0" y="30319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46326" y="825703"/>
              <a:ext cx="0" cy="303530"/>
            </a:xfrm>
            <a:custGeom>
              <a:avLst/>
              <a:gdLst/>
              <a:ahLst/>
              <a:cxnLst/>
              <a:rect l="l" t="t" r="r" b="b"/>
              <a:pathLst>
                <a:path h="303530">
                  <a:moveTo>
                    <a:pt x="0" y="30319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52006" y="1128903"/>
              <a:ext cx="1597025" cy="0"/>
            </a:xfrm>
            <a:custGeom>
              <a:avLst/>
              <a:gdLst/>
              <a:ahLst/>
              <a:cxnLst/>
              <a:rect l="l" t="t" r="r" b="b"/>
              <a:pathLst>
                <a:path w="1597025">
                  <a:moveTo>
                    <a:pt x="0" y="0"/>
                  </a:moveTo>
                  <a:lnTo>
                    <a:pt x="159684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097767" y="1166163"/>
            <a:ext cx="21374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As a result, the </a:t>
            </a:r>
            <a:r>
              <a:rPr sz="800" spc="-10" dirty="0">
                <a:latin typeface="LM Roman 8"/>
                <a:cs typeface="LM Roman 8"/>
              </a:rPr>
              <a:t>weight </a:t>
            </a:r>
            <a:r>
              <a:rPr sz="800" spc="-5" dirty="0">
                <a:latin typeface="LM Roman 8"/>
                <a:cs typeface="LM Roman 8"/>
              </a:rPr>
              <a:t>is </a:t>
            </a:r>
            <a:r>
              <a:rPr sz="800" dirty="0">
                <a:latin typeface="LM Roman 8"/>
                <a:cs typeface="LM Roman 8"/>
              </a:rPr>
              <a:t>updated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461174" y="1503667"/>
            <a:ext cx="360680" cy="0"/>
          </a:xfrm>
          <a:custGeom>
            <a:avLst/>
            <a:gdLst/>
            <a:ahLst/>
            <a:cxnLst/>
            <a:rect l="l" t="t" r="r" b="b"/>
            <a:pathLst>
              <a:path w="360679">
                <a:moveTo>
                  <a:pt x="0" y="0"/>
                </a:moveTo>
                <a:lnTo>
                  <a:pt x="36038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823633" y="1342085"/>
            <a:ext cx="1054100" cy="30353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40005" marR="47625" indent="596900">
              <a:lnSpc>
                <a:spcPct val="57799"/>
              </a:lnSpc>
              <a:spcBef>
                <a:spcPts val="520"/>
              </a:spcBef>
              <a:tabLst>
                <a:tab pos="746125" algn="l"/>
              </a:tabLst>
            </a:pPr>
            <a:r>
              <a:rPr sz="800" i="1" spc="95" dirty="0">
                <a:latin typeface="Times New Roman"/>
                <a:cs typeface="Times New Roman"/>
              </a:rPr>
              <a:t>∂</a:t>
            </a:r>
            <a:r>
              <a:rPr sz="800" i="1" spc="125" dirty="0">
                <a:latin typeface="Times New Roman"/>
                <a:cs typeface="Times New Roman"/>
              </a:rPr>
              <a:t>L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110" dirty="0">
                <a:latin typeface="Times New Roman"/>
                <a:cs typeface="Times New Roman"/>
              </a:rPr>
              <a:t>z</a:t>
            </a:r>
            <a:r>
              <a:rPr sz="800" i="1" spc="35" dirty="0">
                <a:latin typeface="Times New Roman"/>
                <a:cs typeface="Times New Roman"/>
              </a:rPr>
              <a:t>,</a:t>
            </a:r>
            <a:r>
              <a:rPr sz="800" i="1" spc="85" dirty="0">
                <a:latin typeface="Times New Roman"/>
                <a:cs typeface="Times New Roman"/>
              </a:rPr>
              <a:t>y</a:t>
            </a:r>
            <a:r>
              <a:rPr sz="800" spc="-5" dirty="0">
                <a:latin typeface="LM Roman 8"/>
                <a:cs typeface="LM Roman 8"/>
              </a:rPr>
              <a:t>)  </a:t>
            </a:r>
            <a:r>
              <a:rPr sz="800" i="1" spc="70" dirty="0">
                <a:latin typeface="Times New Roman"/>
                <a:cs typeface="Times New Roman"/>
              </a:rPr>
              <a:t>w </a:t>
            </a:r>
            <a:r>
              <a:rPr sz="800" i="1" spc="10" dirty="0">
                <a:latin typeface="DejaVu Sans"/>
                <a:cs typeface="DejaVu Sans"/>
              </a:rPr>
              <a:t>←− </a:t>
            </a:r>
            <a:r>
              <a:rPr sz="800" i="1" spc="70" dirty="0">
                <a:latin typeface="Times New Roman"/>
                <a:cs typeface="Times New Roman"/>
              </a:rPr>
              <a:t>w</a:t>
            </a:r>
            <a:r>
              <a:rPr sz="800" i="1" spc="-30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i="1" spc="25" dirty="0">
                <a:latin typeface="Times New Roman"/>
                <a:cs typeface="Times New Roman"/>
              </a:rPr>
              <a:t>η	</a:t>
            </a:r>
            <a:r>
              <a:rPr sz="1200" i="1" spc="120" baseline="-41666" dirty="0">
                <a:latin typeface="Times New Roman"/>
                <a:cs typeface="Times New Roman"/>
              </a:rPr>
              <a:t>∂w</a:t>
            </a:r>
            <a:endParaRPr sz="1200" baseline="-41666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097767" y="1708391"/>
            <a:ext cx="3671570" cy="8509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640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Updating </a:t>
            </a:r>
            <a:r>
              <a:rPr sz="800" b="1" spc="-15" dirty="0">
                <a:solidFill>
                  <a:srgbClr val="0C6C04"/>
                </a:solidFill>
                <a:latin typeface="LM Roman 8"/>
                <a:cs typeface="LM Roman 8"/>
              </a:rPr>
              <a:t>weights </a:t>
            </a:r>
            <a:r>
              <a:rPr sz="800" spc="-5" dirty="0">
                <a:latin typeface="LM Roman 8"/>
                <a:cs typeface="LM Roman 8"/>
              </a:rPr>
              <a:t>– In a neural </a:t>
            </a:r>
            <a:r>
              <a:rPr sz="800" spc="-10" dirty="0">
                <a:latin typeface="LM Roman 8"/>
                <a:cs typeface="LM Roman 8"/>
              </a:rPr>
              <a:t>network, weights </a:t>
            </a:r>
            <a:r>
              <a:rPr sz="800" spc="-5" dirty="0">
                <a:latin typeface="LM Roman 8"/>
                <a:cs typeface="LM Roman 8"/>
              </a:rPr>
              <a:t>are </a:t>
            </a:r>
            <a:r>
              <a:rPr sz="800" dirty="0">
                <a:latin typeface="LM Roman 8"/>
                <a:cs typeface="LM Roman 8"/>
              </a:rPr>
              <a:t>updated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  <a:p>
            <a:pPr marL="328930" lvl="1" indent="-147955">
              <a:lnSpc>
                <a:spcPct val="100000"/>
              </a:lnSpc>
              <a:spcBef>
                <a:spcPts val="540"/>
              </a:spcBef>
              <a:buChar char="•"/>
              <a:tabLst>
                <a:tab pos="329565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Step 1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spc="-30" dirty="0">
                <a:latin typeface="LM Roman 8"/>
                <a:cs typeface="LM Roman 8"/>
              </a:rPr>
              <a:t>Take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spc="-10" dirty="0">
                <a:latin typeface="LM Roman 8"/>
                <a:cs typeface="LM Roman 8"/>
              </a:rPr>
              <a:t>batch </a:t>
            </a:r>
            <a:r>
              <a:rPr sz="800" spc="-5" dirty="0">
                <a:latin typeface="LM Roman 8"/>
                <a:cs typeface="LM Roman 8"/>
              </a:rPr>
              <a:t>of training</a:t>
            </a:r>
            <a:r>
              <a:rPr sz="800" spc="1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data.</a:t>
            </a:r>
            <a:endParaRPr sz="800">
              <a:latin typeface="LM Roman 8"/>
              <a:cs typeface="LM Roman 8"/>
            </a:endParaRPr>
          </a:p>
          <a:p>
            <a:pPr marL="328930" lvl="1" indent="-147955">
              <a:lnSpc>
                <a:spcPct val="100000"/>
              </a:lnSpc>
              <a:spcBef>
                <a:spcPts val="785"/>
              </a:spcBef>
              <a:buChar char="•"/>
              <a:tabLst>
                <a:tab pos="329565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Step 2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spc="-10" dirty="0">
                <a:latin typeface="LM Roman 8"/>
                <a:cs typeface="LM Roman 8"/>
              </a:rPr>
              <a:t>Perform forward </a:t>
            </a:r>
            <a:r>
              <a:rPr sz="800" spc="-5" dirty="0">
                <a:latin typeface="LM Roman 8"/>
                <a:cs typeface="LM Roman 8"/>
              </a:rPr>
              <a:t>propagation to obtain the corresponding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loss.</a:t>
            </a:r>
            <a:endParaRPr sz="800">
              <a:latin typeface="LM Roman 8"/>
              <a:cs typeface="LM Roman 8"/>
            </a:endParaRPr>
          </a:p>
          <a:p>
            <a:pPr marL="328930" lvl="1" indent="-147955">
              <a:lnSpc>
                <a:spcPct val="100000"/>
              </a:lnSpc>
              <a:spcBef>
                <a:spcPts val="790"/>
              </a:spcBef>
              <a:buChar char="•"/>
              <a:tabLst>
                <a:tab pos="329565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Step 3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spc="-10" dirty="0">
                <a:latin typeface="LM Roman 8"/>
                <a:cs typeface="LM Roman 8"/>
              </a:rPr>
              <a:t>Backpropagate </a:t>
            </a:r>
            <a:r>
              <a:rPr sz="800" spc="-5" dirty="0">
                <a:latin typeface="LM Roman 8"/>
                <a:cs typeface="LM Roman 8"/>
              </a:rPr>
              <a:t>the loss to get the</a:t>
            </a:r>
            <a:r>
              <a:rPr sz="800" spc="-17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gradients.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267172" y="2634233"/>
            <a:ext cx="31769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85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Step 4</a:t>
            </a:r>
            <a:r>
              <a:rPr sz="800" spc="-5" dirty="0">
                <a:latin typeface="LM Roman 8"/>
                <a:cs typeface="LM Roman 8"/>
              </a:rPr>
              <a:t>: Use the gradients to </a:t>
            </a:r>
            <a:r>
              <a:rPr sz="800" dirty="0">
                <a:latin typeface="LM Roman 8"/>
                <a:cs typeface="LM Roman 8"/>
              </a:rPr>
              <a:t>update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weights </a:t>
            </a:r>
            <a:r>
              <a:rPr sz="800" spc="-5" dirty="0">
                <a:latin typeface="LM Roman 8"/>
                <a:cs typeface="LM Roman 8"/>
              </a:rPr>
              <a:t>of the</a:t>
            </a:r>
            <a:r>
              <a:rPr sz="800" spc="-18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network.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97754" y="2944760"/>
            <a:ext cx="4505960" cy="109220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algn="just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40970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Dropout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dirty="0">
                <a:latin typeface="LM Roman 8"/>
                <a:cs typeface="LM Roman 8"/>
              </a:rPr>
              <a:t>Dropout </a:t>
            </a:r>
            <a:r>
              <a:rPr sz="800" spc="-5" dirty="0">
                <a:latin typeface="LM Roman 8"/>
                <a:cs typeface="LM Roman 8"/>
              </a:rPr>
              <a:t>is a technique </a:t>
            </a:r>
            <a:r>
              <a:rPr sz="800" spc="-10" dirty="0">
                <a:latin typeface="LM Roman 8"/>
                <a:cs typeface="LM Roman 8"/>
              </a:rPr>
              <a:t>meant </a:t>
            </a:r>
            <a:r>
              <a:rPr sz="800" spc="-5" dirty="0">
                <a:latin typeface="LM Roman 8"/>
                <a:cs typeface="LM Roman 8"/>
              </a:rPr>
              <a:t>at </a:t>
            </a:r>
            <a:r>
              <a:rPr sz="800" spc="-10" dirty="0">
                <a:latin typeface="LM Roman 8"/>
                <a:cs typeface="LM Roman 8"/>
              </a:rPr>
              <a:t>preventing overfitting </a:t>
            </a:r>
            <a:r>
              <a:rPr sz="800" spc="-5" dirty="0">
                <a:latin typeface="LM Roman 8"/>
                <a:cs typeface="LM Roman 8"/>
              </a:rPr>
              <a:t>the training data </a:t>
            </a:r>
            <a:r>
              <a:rPr sz="800" spc="-15" dirty="0">
                <a:latin typeface="LM Roman 8"/>
                <a:cs typeface="LM Roman 8"/>
              </a:rPr>
              <a:t>by  </a:t>
            </a:r>
            <a:r>
              <a:rPr sz="800" spc="-5" dirty="0">
                <a:latin typeface="LM Roman 8"/>
                <a:cs typeface="LM Roman 8"/>
              </a:rPr>
              <a:t>dropping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out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units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neural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network.</a:t>
            </a:r>
            <a:r>
              <a:rPr sz="800" spc="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practice,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neurons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either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dropped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with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probability  </a:t>
            </a:r>
            <a:r>
              <a:rPr sz="800" i="1" spc="25" dirty="0">
                <a:latin typeface="Times New Roman"/>
                <a:cs typeface="Times New Roman"/>
              </a:rPr>
              <a:t>p </a:t>
            </a:r>
            <a:r>
              <a:rPr sz="800" spc="-5" dirty="0">
                <a:latin typeface="LM Roman 8"/>
                <a:cs typeface="LM Roman 8"/>
              </a:rPr>
              <a:t>or </a:t>
            </a:r>
            <a:r>
              <a:rPr sz="800" spc="-10" dirty="0">
                <a:latin typeface="LM Roman 8"/>
                <a:cs typeface="LM Roman 8"/>
              </a:rPr>
              <a:t>kept </a:t>
            </a:r>
            <a:r>
              <a:rPr sz="800" spc="-5" dirty="0">
                <a:latin typeface="LM Roman 8"/>
                <a:cs typeface="LM Roman 8"/>
              </a:rPr>
              <a:t>with probability 1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105" dirty="0">
                <a:latin typeface="DejaVu Sans"/>
                <a:cs typeface="DejaVu Sans"/>
              </a:rPr>
              <a:t> </a:t>
            </a:r>
            <a:r>
              <a:rPr sz="800" i="1" spc="10" dirty="0">
                <a:latin typeface="Times New Roman"/>
                <a:cs typeface="Times New Roman"/>
              </a:rPr>
              <a:t>p</a:t>
            </a:r>
            <a:r>
              <a:rPr sz="800" spc="10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12700" algn="just">
              <a:lnSpc>
                <a:spcPct val="100000"/>
              </a:lnSpc>
              <a:spcBef>
                <a:spcPts val="1415"/>
              </a:spcBef>
            </a:pPr>
            <a:r>
              <a:rPr sz="1000" b="1" spc="-5" dirty="0">
                <a:latin typeface="LM Roman 10"/>
                <a:cs typeface="LM Roman 10"/>
              </a:rPr>
              <a:t>3.2</a:t>
            </a:r>
            <a:r>
              <a:rPr sz="1000" b="1" spc="370" dirty="0">
                <a:latin typeface="LM Roman 10"/>
                <a:cs typeface="LM Roman 10"/>
              </a:rPr>
              <a:t> </a:t>
            </a:r>
            <a:r>
              <a:rPr sz="900" b="1" spc="-15" dirty="0">
                <a:latin typeface="LM Roman 9"/>
                <a:cs typeface="LM Roman 9"/>
              </a:rPr>
              <a:t>Convolutional </a:t>
            </a:r>
            <a:r>
              <a:rPr sz="900" b="1" spc="-5" dirty="0">
                <a:latin typeface="LM Roman 9"/>
                <a:cs typeface="LM Roman 9"/>
              </a:rPr>
              <a:t>Neural</a:t>
            </a:r>
            <a:r>
              <a:rPr sz="900" b="1" spc="15" dirty="0">
                <a:latin typeface="LM Roman 9"/>
                <a:cs typeface="LM Roman 9"/>
              </a:rPr>
              <a:t> </a:t>
            </a:r>
            <a:r>
              <a:rPr sz="900" b="1" spc="-15" dirty="0">
                <a:latin typeface="LM Roman 9"/>
                <a:cs typeface="LM Roman 9"/>
              </a:rPr>
              <a:t>Networks</a:t>
            </a:r>
            <a:endParaRPr sz="900">
              <a:latin typeface="LM Roman 9"/>
              <a:cs typeface="LM Roman 9"/>
            </a:endParaRPr>
          </a:p>
          <a:p>
            <a:pPr marL="12700" marR="5080" algn="just">
              <a:lnSpc>
                <a:spcPts val="800"/>
              </a:lnSpc>
              <a:spcBef>
                <a:spcPts val="819"/>
              </a:spcBef>
              <a:buFont typeface="DejaVu Sans"/>
              <a:buChar char="❒"/>
              <a:tabLst>
                <a:tab pos="124460" algn="l"/>
              </a:tabLst>
            </a:pPr>
            <a:r>
              <a:rPr sz="800" b="1" spc="-15" dirty="0">
                <a:solidFill>
                  <a:srgbClr val="9A0404"/>
                </a:solidFill>
                <a:latin typeface="LM Roman 8"/>
                <a:cs typeface="LM Roman 8"/>
              </a:rPr>
              <a:t>Convolutional layer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requirement </a:t>
            </a:r>
            <a:r>
              <a:rPr sz="800" spc="-5" dirty="0">
                <a:latin typeface="LM Roman 8"/>
                <a:cs typeface="LM Roman 8"/>
              </a:rPr>
              <a:t>– By noting </a:t>
            </a:r>
            <a:r>
              <a:rPr sz="800" i="1" spc="130" dirty="0">
                <a:latin typeface="Times New Roman"/>
                <a:cs typeface="Times New Roman"/>
              </a:rPr>
              <a:t>W </a:t>
            </a:r>
            <a:r>
              <a:rPr sz="800" spc="-5" dirty="0">
                <a:latin typeface="LM Roman 8"/>
                <a:cs typeface="LM Roman 8"/>
              </a:rPr>
              <a:t>the input </a:t>
            </a:r>
            <a:r>
              <a:rPr sz="800" spc="-10" dirty="0">
                <a:latin typeface="LM Roman 8"/>
                <a:cs typeface="LM Roman 8"/>
              </a:rPr>
              <a:t>volume </a:t>
            </a:r>
            <a:r>
              <a:rPr sz="800" spc="-5" dirty="0">
                <a:latin typeface="LM Roman 8"/>
                <a:cs typeface="LM Roman 8"/>
              </a:rPr>
              <a:t>size, </a:t>
            </a:r>
            <a:r>
              <a:rPr sz="800" i="1" spc="45" dirty="0">
                <a:latin typeface="Times New Roman"/>
                <a:cs typeface="Times New Roman"/>
              </a:rPr>
              <a:t>F </a:t>
            </a:r>
            <a:r>
              <a:rPr sz="800" spc="-5" dirty="0">
                <a:latin typeface="LM Roman 8"/>
                <a:cs typeface="LM Roman 8"/>
              </a:rPr>
              <a:t>the size of the  </a:t>
            </a:r>
            <a:r>
              <a:rPr sz="800" spc="-10" dirty="0">
                <a:latin typeface="LM Roman 8"/>
                <a:cs typeface="LM Roman 8"/>
              </a:rPr>
              <a:t>convolutional </a:t>
            </a:r>
            <a:r>
              <a:rPr sz="800" spc="-15" dirty="0">
                <a:latin typeface="LM Roman 8"/>
                <a:cs typeface="LM Roman 8"/>
              </a:rPr>
              <a:t>layer </a:t>
            </a:r>
            <a:r>
              <a:rPr sz="800" spc="-5" dirty="0">
                <a:latin typeface="LM Roman 8"/>
                <a:cs typeface="LM Roman 8"/>
              </a:rPr>
              <a:t>neurons, </a:t>
            </a:r>
            <a:r>
              <a:rPr sz="800" i="1" spc="45" dirty="0">
                <a:latin typeface="Times New Roman"/>
                <a:cs typeface="Times New Roman"/>
              </a:rPr>
              <a:t>P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amount </a:t>
            </a:r>
            <a:r>
              <a:rPr sz="800" spc="-5" dirty="0">
                <a:latin typeface="LM Roman 8"/>
                <a:cs typeface="LM Roman 8"/>
              </a:rPr>
              <a:t>of zero padding, then the </a:t>
            </a:r>
            <a:r>
              <a:rPr sz="800" spc="-10" dirty="0">
                <a:latin typeface="LM Roman 8"/>
                <a:cs typeface="LM Roman 8"/>
              </a:rPr>
              <a:t>number </a:t>
            </a:r>
            <a:r>
              <a:rPr sz="800" spc="-5" dirty="0">
                <a:latin typeface="LM Roman 8"/>
                <a:cs typeface="LM Roman 8"/>
              </a:rPr>
              <a:t>of neurons </a:t>
            </a:r>
            <a:r>
              <a:rPr sz="800" i="1" spc="135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that  </a:t>
            </a:r>
            <a:r>
              <a:rPr sz="800" spc="-10" dirty="0">
                <a:latin typeface="LM Roman 8"/>
                <a:cs typeface="LM Roman 8"/>
              </a:rPr>
              <a:t>fit </a:t>
            </a:r>
            <a:r>
              <a:rPr sz="800" spc="-5" dirty="0">
                <a:latin typeface="LM Roman 8"/>
                <a:cs typeface="LM Roman 8"/>
              </a:rPr>
              <a:t>in a </a:t>
            </a:r>
            <a:r>
              <a:rPr sz="800" spc="-10" dirty="0">
                <a:latin typeface="LM Roman 8"/>
                <a:cs typeface="LM Roman 8"/>
              </a:rPr>
              <a:t>given volume </a:t>
            </a:r>
            <a:r>
              <a:rPr sz="800" spc="-5" dirty="0">
                <a:latin typeface="LM Roman 8"/>
                <a:cs typeface="LM Roman 8"/>
              </a:rPr>
              <a:t>is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077989" y="4220641"/>
            <a:ext cx="599440" cy="0"/>
          </a:xfrm>
          <a:custGeom>
            <a:avLst/>
            <a:gdLst/>
            <a:ahLst/>
            <a:cxnLst/>
            <a:rect l="l" t="t" r="r" b="b"/>
            <a:pathLst>
              <a:path w="599440">
                <a:moveTo>
                  <a:pt x="0" y="0"/>
                </a:moveTo>
                <a:lnTo>
                  <a:pt x="59918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6782790" y="4065803"/>
            <a:ext cx="1135380" cy="2965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200" i="1" spc="202" baseline="-38194" dirty="0">
                <a:latin typeface="Times New Roman"/>
                <a:cs typeface="Times New Roman"/>
              </a:rPr>
              <a:t>N </a:t>
            </a:r>
            <a:r>
              <a:rPr sz="1200" spc="-7" baseline="-38194" dirty="0">
                <a:latin typeface="LM Roman 8"/>
                <a:cs typeface="LM Roman 8"/>
              </a:rPr>
              <a:t>= </a:t>
            </a:r>
            <a:r>
              <a:rPr sz="800" i="1" spc="130" dirty="0">
                <a:latin typeface="Times New Roman"/>
                <a:cs typeface="Times New Roman"/>
              </a:rPr>
              <a:t>W 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i="1" spc="45" dirty="0">
                <a:latin typeface="Times New Roman"/>
                <a:cs typeface="Times New Roman"/>
              </a:rPr>
              <a:t>F </a:t>
            </a:r>
            <a:r>
              <a:rPr sz="800" spc="-5" dirty="0">
                <a:latin typeface="LM Roman 8"/>
                <a:cs typeface="LM Roman 8"/>
              </a:rPr>
              <a:t>+ </a:t>
            </a:r>
            <a:r>
              <a:rPr sz="800" spc="20" dirty="0">
                <a:latin typeface="LM Roman 8"/>
                <a:cs typeface="LM Roman 8"/>
              </a:rPr>
              <a:t>2</a:t>
            </a:r>
            <a:r>
              <a:rPr sz="800" i="1" spc="20" dirty="0">
                <a:latin typeface="Times New Roman"/>
                <a:cs typeface="Times New Roman"/>
              </a:rPr>
              <a:t>P </a:t>
            </a:r>
            <a:r>
              <a:rPr sz="1200" spc="-7" baseline="-38194" dirty="0">
                <a:latin typeface="LM Roman 8"/>
                <a:cs typeface="LM Roman 8"/>
              </a:rPr>
              <a:t>+</a:t>
            </a:r>
            <a:r>
              <a:rPr sz="1200" spc="-337" baseline="-38194" dirty="0">
                <a:latin typeface="LM Roman 8"/>
                <a:cs typeface="LM Roman 8"/>
              </a:rPr>
              <a:t> </a:t>
            </a:r>
            <a:r>
              <a:rPr sz="1200" spc="-7" baseline="-38194" dirty="0">
                <a:latin typeface="LM Roman 8"/>
                <a:cs typeface="LM Roman 8"/>
              </a:rPr>
              <a:t>1</a:t>
            </a:r>
            <a:endParaRPr sz="1200" baseline="-38194">
              <a:latin typeface="LM Roman 8"/>
              <a:cs typeface="LM Roman 8"/>
            </a:endParaRPr>
          </a:p>
          <a:p>
            <a:pPr marL="48260" algn="ctr">
              <a:lnSpc>
                <a:spcPct val="100000"/>
              </a:lnSpc>
              <a:spcBef>
                <a:spcPts val="195"/>
              </a:spcBef>
            </a:pPr>
            <a:r>
              <a:rPr sz="800" i="1" spc="110" dirty="0">
                <a:latin typeface="Times New Roman"/>
                <a:cs typeface="Times New Roman"/>
              </a:rPr>
              <a:t>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72367" y="4499329"/>
            <a:ext cx="4556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495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51130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Batch normalization </a:t>
            </a:r>
            <a:r>
              <a:rPr sz="800" spc="-5" dirty="0">
                <a:latin typeface="LM Roman 8"/>
                <a:cs typeface="LM Roman 8"/>
              </a:rPr>
              <a:t>– It is a step of hyperparameter </a:t>
            </a:r>
            <a:r>
              <a:rPr sz="800" i="1" spc="100" dirty="0">
                <a:latin typeface="Times New Roman"/>
                <a:cs typeface="Times New Roman"/>
              </a:rPr>
              <a:t>γ, </a:t>
            </a:r>
            <a:r>
              <a:rPr sz="800" i="1" spc="75" dirty="0">
                <a:latin typeface="Times New Roman"/>
                <a:cs typeface="Times New Roman"/>
              </a:rPr>
              <a:t>β </a:t>
            </a:r>
            <a:r>
              <a:rPr sz="800" spc="-5" dirty="0">
                <a:latin typeface="LM Roman 8"/>
                <a:cs typeface="LM Roman 8"/>
              </a:rPr>
              <a:t>that normalizes the </a:t>
            </a:r>
            <a:r>
              <a:rPr sz="800" spc="-10" dirty="0">
                <a:latin typeface="LM Roman 8"/>
                <a:cs typeface="LM Roman 8"/>
              </a:rPr>
              <a:t>batch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i="1" spc="15" dirty="0">
                <a:latin typeface="DejaVu Sans"/>
                <a:cs typeface="DejaVu Sans"/>
              </a:rPr>
              <a:t>{</a:t>
            </a:r>
            <a:r>
              <a:rPr sz="800" i="1" spc="15" dirty="0">
                <a:latin typeface="Times New Roman"/>
                <a:cs typeface="Times New Roman"/>
              </a:rPr>
              <a:t>x</a:t>
            </a:r>
            <a:r>
              <a:rPr sz="900" i="1" spc="22" baseline="-9259" dirty="0">
                <a:latin typeface="Times New Roman"/>
                <a:cs typeface="Times New Roman"/>
              </a:rPr>
              <a:t>i</a:t>
            </a:r>
            <a:r>
              <a:rPr sz="800" i="1" spc="15" dirty="0">
                <a:latin typeface="DejaVu Sans"/>
                <a:cs typeface="DejaVu Sans"/>
              </a:rPr>
              <a:t>}</a:t>
            </a:r>
            <a:r>
              <a:rPr sz="800" spc="1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58027" y="4683638"/>
            <a:ext cx="958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85" dirty="0">
                <a:latin typeface="Times New Roman"/>
                <a:cs typeface="Times New Roman"/>
              </a:rPr>
              <a:t>B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072367" y="4621934"/>
            <a:ext cx="45567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By noting </a:t>
            </a:r>
            <a:r>
              <a:rPr sz="800" i="1" spc="114" dirty="0">
                <a:latin typeface="Times New Roman"/>
                <a:cs typeface="Times New Roman"/>
              </a:rPr>
              <a:t>µ</a:t>
            </a:r>
            <a:r>
              <a:rPr sz="900" i="1" spc="172" baseline="-13888" dirty="0">
                <a:latin typeface="Times New Roman"/>
                <a:cs typeface="Times New Roman"/>
              </a:rPr>
              <a:t>B</a:t>
            </a:r>
            <a:r>
              <a:rPr sz="800" i="1" spc="114" dirty="0">
                <a:latin typeface="Times New Roman"/>
                <a:cs typeface="Times New Roman"/>
              </a:rPr>
              <a:t>, </a:t>
            </a:r>
            <a:r>
              <a:rPr sz="800" i="1" spc="55" dirty="0">
                <a:latin typeface="Times New Roman"/>
                <a:cs typeface="Times New Roman"/>
              </a:rPr>
              <a:t>σ</a:t>
            </a:r>
            <a:r>
              <a:rPr sz="900" spc="82" baseline="27777" dirty="0">
                <a:latin typeface="LM Roman 6"/>
                <a:cs typeface="LM Roman 6"/>
              </a:rPr>
              <a:t>2 </a:t>
            </a:r>
            <a:r>
              <a:rPr sz="800" spc="-5" dirty="0">
                <a:latin typeface="LM Roman 8"/>
                <a:cs typeface="LM Roman 8"/>
              </a:rPr>
              <a:t>the mean and </a:t>
            </a:r>
            <a:r>
              <a:rPr sz="800" spc="-10" dirty="0">
                <a:latin typeface="LM Roman 8"/>
                <a:cs typeface="LM Roman 8"/>
              </a:rPr>
              <a:t>variance </a:t>
            </a:r>
            <a:r>
              <a:rPr sz="800" spc="-5" dirty="0">
                <a:latin typeface="LM Roman 8"/>
                <a:cs typeface="LM Roman 8"/>
              </a:rPr>
              <a:t>of that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20" dirty="0">
                <a:latin typeface="LM Roman 8"/>
                <a:cs typeface="LM Roman 8"/>
              </a:rPr>
              <a:t>want </a:t>
            </a:r>
            <a:r>
              <a:rPr sz="800" spc="-5" dirty="0">
                <a:latin typeface="LM Roman 8"/>
                <a:cs typeface="LM Roman 8"/>
              </a:rPr>
              <a:t>to correct to the </a:t>
            </a:r>
            <a:r>
              <a:rPr sz="800" spc="-10" dirty="0">
                <a:latin typeface="LM Roman 8"/>
                <a:cs typeface="LM Roman 8"/>
              </a:rPr>
              <a:t>batch, </a:t>
            </a:r>
            <a:r>
              <a:rPr sz="800" spc="-5" dirty="0">
                <a:latin typeface="LM Roman 8"/>
                <a:cs typeface="LM Roman 8"/>
              </a:rPr>
              <a:t>it is done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097767" y="4740718"/>
            <a:ext cx="3727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65442" y="5015577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248207" y="4904357"/>
            <a:ext cx="3225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u="sng" spc="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800" i="1" spc="120" dirty="0">
                <a:latin typeface="Times New Roman"/>
                <a:cs typeface="Times New Roman"/>
              </a:rPr>
              <a:t> </a:t>
            </a:r>
            <a:r>
              <a:rPr sz="800" i="1" u="dbl" spc="-15" dirty="0">
                <a:uFill>
                  <a:solidFill>
                    <a:srgbClr val="000000"/>
                  </a:solidFill>
                </a:uFill>
                <a:latin typeface="DejaVu Sans"/>
                <a:cs typeface="DejaVu Sans"/>
              </a:rPr>
              <a:t>−</a:t>
            </a:r>
            <a:r>
              <a:rPr sz="800" i="1" u="dbl" spc="30" dirty="0">
                <a:uFill>
                  <a:solidFill>
                    <a:srgbClr val="000000"/>
                  </a:solidFill>
                </a:uFill>
                <a:latin typeface="DejaVu Sans"/>
                <a:cs typeface="DejaVu Sans"/>
              </a:rPr>
              <a:t> </a:t>
            </a:r>
            <a:r>
              <a:rPr sz="800" i="1" u="dbl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µ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308748" y="4946667"/>
            <a:ext cx="332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920" algn="l"/>
              </a:tabLst>
            </a:pPr>
            <a:r>
              <a:rPr sz="600" i="1" u="sng" spc="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 </a:t>
            </a:r>
            <a:r>
              <a:rPr sz="600" i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600" i="1" dirty="0">
                <a:latin typeface="Times New Roman"/>
                <a:cs typeface="Times New Roman"/>
              </a:rPr>
              <a:t>	</a:t>
            </a:r>
            <a:r>
              <a:rPr sz="600" i="1" u="dbl" spc="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804900" y="4952065"/>
            <a:ext cx="562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i="1" spc="10" dirty="0">
                <a:latin typeface="DejaVu Sans"/>
                <a:cs typeface="DejaVu Sans"/>
              </a:rPr>
              <a:t>←− </a:t>
            </a:r>
            <a:r>
              <a:rPr sz="800" i="1" spc="120" dirty="0">
                <a:latin typeface="Times New Roman"/>
                <a:cs typeface="Times New Roman"/>
              </a:rPr>
              <a:t>γ</a:t>
            </a:r>
            <a:r>
              <a:rPr sz="800" i="1" spc="75" dirty="0">
                <a:latin typeface="Times New Roman"/>
                <a:cs typeface="Times New Roman"/>
              </a:rPr>
              <a:t> </a:t>
            </a:r>
            <a:r>
              <a:rPr sz="1000" spc="445" dirty="0">
                <a:latin typeface="Arial"/>
                <a:cs typeface="Arial"/>
              </a:rPr>
              <a:t>√</a:t>
            </a:r>
            <a:endParaRPr sz="10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06792" y="506762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403160" y="5139745"/>
            <a:ext cx="958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85" dirty="0">
                <a:latin typeface="Times New Roman"/>
                <a:cs typeface="Times New Roman"/>
              </a:rPr>
              <a:t>B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341692" y="5077179"/>
            <a:ext cx="3422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85" dirty="0">
                <a:latin typeface="Times New Roman"/>
                <a:cs typeface="Times New Roman"/>
              </a:rPr>
              <a:t>σ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215" dirty="0">
                <a:latin typeface="LM Roman 8"/>
                <a:cs typeface="LM Roman 8"/>
              </a:rPr>
              <a:t> </a:t>
            </a:r>
            <a:r>
              <a:rPr sz="800" i="1" spc="30" dirty="0">
                <a:latin typeface="Times New Roman"/>
                <a:cs typeface="Times New Roman"/>
              </a:rPr>
              <a:t>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697457" y="4974842"/>
            <a:ext cx="193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160" dirty="0">
                <a:latin typeface="LM Roman 8"/>
                <a:cs typeface="LM Roman 8"/>
              </a:rPr>
              <a:t> </a:t>
            </a:r>
            <a:r>
              <a:rPr sz="800" i="1" spc="75" dirty="0">
                <a:latin typeface="Times New Roman"/>
                <a:cs typeface="Times New Roman"/>
              </a:rPr>
              <a:t>β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774586" y="4914100"/>
            <a:ext cx="1151890" cy="367030"/>
            <a:chOff x="6774586" y="4914100"/>
            <a:chExt cx="1151890" cy="367030"/>
          </a:xfrm>
        </p:grpSpPr>
        <p:sp>
          <p:nvSpPr>
            <p:cNvPr id="66" name="object 66"/>
            <p:cNvSpPr/>
            <p:nvPr/>
          </p:nvSpPr>
          <p:spPr>
            <a:xfrm>
              <a:off x="6774586" y="4916627"/>
              <a:ext cx="1151890" cy="0"/>
            </a:xfrm>
            <a:custGeom>
              <a:avLst/>
              <a:gdLst/>
              <a:ahLst/>
              <a:cxnLst/>
              <a:rect l="l" t="t" r="r" b="b"/>
              <a:pathLst>
                <a:path w="1151890">
                  <a:moveTo>
                    <a:pt x="0" y="0"/>
                  </a:moveTo>
                  <a:lnTo>
                    <a:pt x="115168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777113" y="4916627"/>
              <a:ext cx="0" cy="361950"/>
            </a:xfrm>
            <a:custGeom>
              <a:avLst/>
              <a:gdLst/>
              <a:ahLst/>
              <a:cxnLst/>
              <a:rect l="l" t="t" r="r" b="b"/>
              <a:pathLst>
                <a:path h="361950">
                  <a:moveTo>
                    <a:pt x="0" y="36191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923745" y="4916627"/>
              <a:ext cx="0" cy="361950"/>
            </a:xfrm>
            <a:custGeom>
              <a:avLst/>
              <a:gdLst/>
              <a:ahLst/>
              <a:cxnLst/>
              <a:rect l="l" t="t" r="r" b="b"/>
              <a:pathLst>
                <a:path h="361950">
                  <a:moveTo>
                    <a:pt x="0" y="36191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774586" y="5278539"/>
              <a:ext cx="1151890" cy="0"/>
            </a:xfrm>
            <a:custGeom>
              <a:avLst/>
              <a:gdLst/>
              <a:ahLst/>
              <a:cxnLst/>
              <a:rect l="l" t="t" r="r" b="b"/>
              <a:pathLst>
                <a:path w="1151890">
                  <a:moveTo>
                    <a:pt x="0" y="0"/>
                  </a:moveTo>
                  <a:lnTo>
                    <a:pt x="115168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5097767" y="5743087"/>
            <a:ext cx="4505325" cy="472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343535" algn="l"/>
              </a:tabLst>
            </a:pPr>
            <a:r>
              <a:rPr sz="1000" b="1" spc="-5" dirty="0">
                <a:latin typeface="LM Roman 10"/>
                <a:cs typeface="LM Roman 10"/>
              </a:rPr>
              <a:t>3.3	</a:t>
            </a:r>
            <a:r>
              <a:rPr sz="900" b="1" spc="-10" dirty="0">
                <a:latin typeface="LM Roman 9"/>
                <a:cs typeface="LM Roman 9"/>
              </a:rPr>
              <a:t>Recurrent </a:t>
            </a:r>
            <a:r>
              <a:rPr sz="900" b="1" spc="-5" dirty="0">
                <a:latin typeface="LM Roman 9"/>
                <a:cs typeface="LM Roman 9"/>
              </a:rPr>
              <a:t>Neural </a:t>
            </a:r>
            <a:r>
              <a:rPr sz="900" b="1" spc="-15" dirty="0">
                <a:latin typeface="LM Roman 9"/>
                <a:cs typeface="LM Roman 9"/>
              </a:rPr>
              <a:t>Networks</a:t>
            </a:r>
            <a:endParaRPr sz="90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820"/>
              </a:spcBef>
              <a:buFont typeface="DejaVu Sans"/>
              <a:buChar char="❒"/>
              <a:tabLst>
                <a:tab pos="117475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Types</a:t>
            </a:r>
            <a:r>
              <a:rPr sz="800" b="1" spc="-7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of</a:t>
            </a:r>
            <a:r>
              <a:rPr sz="800" b="1" spc="-7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gates</a:t>
            </a:r>
            <a:r>
              <a:rPr sz="800" b="1" spc="-10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Here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different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types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gates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encounter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typical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recurrent  neural</a:t>
            </a:r>
            <a:r>
              <a:rPr sz="800" spc="-10" dirty="0">
                <a:latin typeface="LM Roman 8"/>
                <a:cs typeface="LM Roman 8"/>
              </a:rPr>
              <a:t> network:</a:t>
            </a:r>
            <a:endParaRPr sz="800">
              <a:latin typeface="LM Roman 8"/>
              <a:cs typeface="LM Roman 8"/>
            </a:endParaRPr>
          </a:p>
        </p:txBody>
      </p:sp>
      <p:graphicFrame>
        <p:nvGraphicFramePr>
          <p:cNvPr id="71" name="object 71"/>
          <p:cNvGraphicFramePr>
            <a:graphicFrameLocks noGrp="1"/>
          </p:cNvGraphicFramePr>
          <p:nvPr/>
        </p:nvGraphicFramePr>
        <p:xfrm>
          <a:off x="5156085" y="6305638"/>
          <a:ext cx="4382770" cy="377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Input</a:t>
                      </a:r>
                      <a:r>
                        <a:rPr sz="800" b="1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10" dirty="0">
                          <a:latin typeface="LM Roman 8"/>
                          <a:cs typeface="LM Roman 8"/>
                        </a:rPr>
                        <a:t>gate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20" dirty="0">
                          <a:latin typeface="LM Roman 8"/>
                          <a:cs typeface="LM Roman 8"/>
                        </a:rPr>
                        <a:t>Forget </a:t>
                      </a:r>
                      <a:r>
                        <a:rPr sz="800" b="1" spc="-10" dirty="0">
                          <a:latin typeface="LM Roman 8"/>
                          <a:cs typeface="LM Roman 8"/>
                        </a:rPr>
                        <a:t>gate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Output</a:t>
                      </a:r>
                      <a:r>
                        <a:rPr sz="800" b="1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10" dirty="0">
                          <a:latin typeface="LM Roman 8"/>
                          <a:cs typeface="LM Roman 8"/>
                        </a:rPr>
                        <a:t>gate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Gate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0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0" dirty="0">
                          <a:latin typeface="LM Roman 8"/>
                          <a:cs typeface="LM Roman 8"/>
                        </a:rPr>
                        <a:t>Write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to cell or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not?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Erase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 cell or</a:t>
                      </a:r>
                      <a:r>
                        <a:rPr sz="800" spc="-2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not?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Reveal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 cell or</a:t>
                      </a:r>
                      <a:r>
                        <a:rPr sz="800" spc="-3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not?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15" dirty="0">
                          <a:latin typeface="LM Roman 8"/>
                          <a:cs typeface="LM Roman 8"/>
                        </a:rPr>
                        <a:t>How much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writing?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2" name="object 72"/>
          <p:cNvSpPr txBox="1"/>
          <p:nvPr/>
        </p:nvSpPr>
        <p:spPr>
          <a:xfrm>
            <a:off x="5097767" y="6866799"/>
            <a:ext cx="4505960" cy="2546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850"/>
              </a:lnSpc>
              <a:spcBef>
                <a:spcPts val="215"/>
              </a:spcBef>
              <a:buFont typeface="DejaVu Sans"/>
              <a:buChar char="❒"/>
              <a:tabLst>
                <a:tab pos="13081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LSTM </a:t>
            </a:r>
            <a:r>
              <a:rPr sz="800" spc="-5" dirty="0">
                <a:latin typeface="LM Roman 8"/>
                <a:cs typeface="LM Roman 8"/>
              </a:rPr>
              <a:t>– A long short-term memory (LSTM) </a:t>
            </a:r>
            <a:r>
              <a:rPr sz="800" spc="-10" dirty="0">
                <a:latin typeface="LM Roman 8"/>
                <a:cs typeface="LM Roman 8"/>
              </a:rPr>
              <a:t>network </a:t>
            </a:r>
            <a:r>
              <a:rPr sz="800" spc="-5" dirty="0">
                <a:latin typeface="LM Roman 8"/>
                <a:cs typeface="LM Roman 8"/>
              </a:rPr>
              <a:t>is a type of </a:t>
            </a:r>
            <a:r>
              <a:rPr sz="800" spc="-10" dirty="0">
                <a:latin typeface="LM Roman 8"/>
                <a:cs typeface="LM Roman 8"/>
              </a:rPr>
              <a:t>RNN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that </a:t>
            </a:r>
            <a:r>
              <a:rPr sz="800" spc="-10" dirty="0">
                <a:latin typeface="LM Roman 8"/>
                <a:cs typeface="LM Roman 8"/>
              </a:rPr>
              <a:t>avoids 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vanishing </a:t>
            </a:r>
            <a:r>
              <a:rPr sz="800" spc="-5" dirty="0">
                <a:latin typeface="LM Roman 8"/>
                <a:cs typeface="LM Roman 8"/>
              </a:rPr>
              <a:t>gradient problem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adding ’forget’</a:t>
            </a:r>
            <a:r>
              <a:rPr sz="800" spc="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gates.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03999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294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0676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994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5294" y="683953"/>
            <a:ext cx="4361180" cy="38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343535" algn="l"/>
              </a:tabLst>
            </a:pPr>
            <a:r>
              <a:rPr sz="1000" b="1" spc="-5" dirty="0">
                <a:latin typeface="LM Roman 10"/>
                <a:cs typeface="LM Roman 10"/>
              </a:rPr>
              <a:t>3.4	</a:t>
            </a:r>
            <a:r>
              <a:rPr sz="900" b="1" spc="-10" dirty="0">
                <a:latin typeface="LM Roman 9"/>
                <a:cs typeface="LM Roman 9"/>
              </a:rPr>
              <a:t>Reinforcement </a:t>
            </a:r>
            <a:r>
              <a:rPr sz="900" b="1" spc="-5" dirty="0">
                <a:latin typeface="LM Roman 9"/>
                <a:cs typeface="LM Roman 9"/>
              </a:rPr>
              <a:t>Learning and </a:t>
            </a:r>
            <a:r>
              <a:rPr sz="900" b="1" spc="-10" dirty="0">
                <a:latin typeface="LM Roman 9"/>
                <a:cs typeface="LM Roman 9"/>
              </a:rPr>
              <a:t>Control</a:t>
            </a:r>
            <a:endParaRPr sz="900">
              <a:latin typeface="LM Roman 9"/>
              <a:cs typeface="LM Roman 9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800" spc="-5" dirty="0">
                <a:latin typeface="LM Roman 8"/>
                <a:cs typeface="LM Roman 8"/>
              </a:rPr>
              <a:t>The goal of reinforcement learning is for an </a:t>
            </a:r>
            <a:r>
              <a:rPr sz="800" spc="-10" dirty="0">
                <a:latin typeface="LM Roman 8"/>
                <a:cs typeface="LM Roman 8"/>
              </a:rPr>
              <a:t>agent </a:t>
            </a:r>
            <a:r>
              <a:rPr sz="800" spc="-5" dirty="0">
                <a:latin typeface="LM Roman 8"/>
                <a:cs typeface="LM Roman 8"/>
              </a:rPr>
              <a:t>to learn </a:t>
            </a:r>
            <a:r>
              <a:rPr sz="800" spc="-15" dirty="0">
                <a:latin typeface="LM Roman 8"/>
                <a:cs typeface="LM Roman 8"/>
              </a:rPr>
              <a:t>how </a:t>
            </a:r>
            <a:r>
              <a:rPr sz="800" spc="-5" dirty="0">
                <a:latin typeface="LM Roman 8"/>
                <a:cs typeface="LM Roman 8"/>
              </a:rPr>
              <a:t>to </a:t>
            </a:r>
            <a:r>
              <a:rPr sz="800" spc="-10" dirty="0">
                <a:latin typeface="LM Roman 8"/>
                <a:cs typeface="LM Roman 8"/>
              </a:rPr>
              <a:t>evolve </a:t>
            </a:r>
            <a:r>
              <a:rPr sz="800" spc="-5" dirty="0">
                <a:latin typeface="LM Roman 8"/>
                <a:cs typeface="LM Roman 8"/>
              </a:rPr>
              <a:t>in an</a:t>
            </a:r>
            <a:r>
              <a:rPr sz="800" spc="9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environment.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894" y="1141843"/>
            <a:ext cx="45777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430" indent="-100965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39065" algn="l"/>
              </a:tabLst>
            </a:pPr>
            <a:r>
              <a:rPr sz="1200" b="1" spc="-22" baseline="6944" dirty="0">
                <a:solidFill>
                  <a:srgbClr val="020E86"/>
                </a:solidFill>
                <a:latin typeface="LM Roman 8"/>
                <a:cs typeface="LM Roman 8"/>
              </a:rPr>
              <a:t>Markov</a:t>
            </a:r>
            <a:r>
              <a:rPr sz="1200" b="1" spc="-157" baseline="6944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1200" b="1" spc="-15" baseline="6944" dirty="0">
                <a:solidFill>
                  <a:srgbClr val="020E86"/>
                </a:solidFill>
                <a:latin typeface="LM Roman 8"/>
                <a:cs typeface="LM Roman 8"/>
              </a:rPr>
              <a:t>decision</a:t>
            </a:r>
            <a:r>
              <a:rPr sz="1200" b="1" spc="-157" baseline="6944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1200" b="1" baseline="6944" dirty="0">
                <a:solidFill>
                  <a:srgbClr val="020E86"/>
                </a:solidFill>
                <a:latin typeface="LM Roman 8"/>
                <a:cs typeface="LM Roman 8"/>
              </a:rPr>
              <a:t>processes</a:t>
            </a:r>
            <a:r>
              <a:rPr sz="1200" b="1" spc="-202" baseline="6944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1200" spc="-7" baseline="6944" dirty="0">
                <a:latin typeface="LM Roman 8"/>
                <a:cs typeface="LM Roman 8"/>
              </a:rPr>
              <a:t>–</a:t>
            </a:r>
            <a:r>
              <a:rPr sz="1200" spc="-135" baseline="6944" dirty="0">
                <a:latin typeface="LM Roman 8"/>
                <a:cs typeface="LM Roman 8"/>
              </a:rPr>
              <a:t> </a:t>
            </a:r>
            <a:r>
              <a:rPr sz="1200" spc="-7" baseline="6944" dirty="0">
                <a:latin typeface="LM Roman 8"/>
                <a:cs typeface="LM Roman 8"/>
              </a:rPr>
              <a:t>A</a:t>
            </a:r>
            <a:r>
              <a:rPr sz="1200" spc="-142" baseline="6944" dirty="0">
                <a:latin typeface="LM Roman 8"/>
                <a:cs typeface="LM Roman 8"/>
              </a:rPr>
              <a:t> </a:t>
            </a:r>
            <a:r>
              <a:rPr sz="1200" spc="-22" baseline="6944" dirty="0">
                <a:latin typeface="LM Roman 8"/>
                <a:cs typeface="LM Roman 8"/>
              </a:rPr>
              <a:t>Markov</a:t>
            </a:r>
            <a:r>
              <a:rPr sz="1200" spc="-142" baseline="6944" dirty="0">
                <a:latin typeface="LM Roman 8"/>
                <a:cs typeface="LM Roman 8"/>
              </a:rPr>
              <a:t> </a:t>
            </a:r>
            <a:r>
              <a:rPr sz="1200" spc="-7" baseline="6944" dirty="0">
                <a:latin typeface="LM Roman 8"/>
                <a:cs typeface="LM Roman 8"/>
              </a:rPr>
              <a:t>decision</a:t>
            </a:r>
            <a:r>
              <a:rPr sz="1200" spc="-127" baseline="6944" dirty="0">
                <a:latin typeface="LM Roman 8"/>
                <a:cs typeface="LM Roman 8"/>
              </a:rPr>
              <a:t> </a:t>
            </a:r>
            <a:r>
              <a:rPr sz="1200" baseline="6944" dirty="0">
                <a:latin typeface="LM Roman 8"/>
                <a:cs typeface="LM Roman 8"/>
              </a:rPr>
              <a:t>process</a:t>
            </a:r>
            <a:r>
              <a:rPr sz="1200" spc="-135" baseline="6944" dirty="0">
                <a:latin typeface="LM Roman 8"/>
                <a:cs typeface="LM Roman 8"/>
              </a:rPr>
              <a:t> </a:t>
            </a:r>
            <a:r>
              <a:rPr sz="1200" spc="-7" baseline="6944" dirty="0">
                <a:latin typeface="LM Roman 8"/>
                <a:cs typeface="LM Roman 8"/>
              </a:rPr>
              <a:t>(MDP)</a:t>
            </a:r>
            <a:r>
              <a:rPr sz="1200" spc="-135" baseline="6944" dirty="0">
                <a:latin typeface="LM Roman 8"/>
                <a:cs typeface="LM Roman 8"/>
              </a:rPr>
              <a:t> </a:t>
            </a:r>
            <a:r>
              <a:rPr sz="1200" spc="-7" baseline="6944" dirty="0">
                <a:latin typeface="LM Roman 8"/>
                <a:cs typeface="LM Roman 8"/>
              </a:rPr>
              <a:t>is</a:t>
            </a:r>
            <a:r>
              <a:rPr sz="1200" spc="-135" baseline="6944" dirty="0">
                <a:latin typeface="LM Roman 8"/>
                <a:cs typeface="LM Roman 8"/>
              </a:rPr>
              <a:t> </a:t>
            </a:r>
            <a:r>
              <a:rPr sz="1200" spc="-7" baseline="6944" dirty="0">
                <a:latin typeface="LM Roman 8"/>
                <a:cs typeface="LM Roman 8"/>
              </a:rPr>
              <a:t>a</a:t>
            </a:r>
            <a:r>
              <a:rPr sz="1200" spc="-135" baseline="6944" dirty="0">
                <a:latin typeface="LM Roman 8"/>
                <a:cs typeface="LM Roman 8"/>
              </a:rPr>
              <a:t> </a:t>
            </a:r>
            <a:r>
              <a:rPr sz="1200" spc="-7" baseline="6944" dirty="0">
                <a:latin typeface="LM Roman 8"/>
                <a:cs typeface="LM Roman 8"/>
              </a:rPr>
              <a:t>5-tuple</a:t>
            </a:r>
            <a:r>
              <a:rPr sz="1200" spc="-142" baseline="6944" dirty="0">
                <a:latin typeface="LM Roman 8"/>
                <a:cs typeface="LM Roman 8"/>
              </a:rPr>
              <a:t> </a:t>
            </a:r>
            <a:r>
              <a:rPr sz="1200" spc="82" baseline="6944" dirty="0">
                <a:latin typeface="LM Roman 8"/>
                <a:cs typeface="LM Roman 8"/>
              </a:rPr>
              <a:t>(</a:t>
            </a:r>
            <a:r>
              <a:rPr sz="1200" i="1" spc="82" baseline="6944" dirty="0">
                <a:latin typeface="Times New Roman"/>
                <a:cs typeface="Times New Roman"/>
              </a:rPr>
              <a:t>S,A,</a:t>
            </a:r>
            <a:r>
              <a:rPr sz="1200" i="1" spc="82" baseline="6944" dirty="0">
                <a:latin typeface="DejaVu Sans"/>
                <a:cs typeface="DejaVu Sans"/>
              </a:rPr>
              <a:t>{</a:t>
            </a:r>
            <a:r>
              <a:rPr sz="1200" i="1" spc="82" baseline="6944" dirty="0">
                <a:latin typeface="Times New Roman"/>
                <a:cs typeface="Times New Roman"/>
              </a:rPr>
              <a:t>P</a:t>
            </a:r>
            <a:r>
              <a:rPr sz="600" i="1" spc="55" dirty="0">
                <a:latin typeface="Times New Roman"/>
                <a:cs typeface="Times New Roman"/>
              </a:rPr>
              <a:t>sa</a:t>
            </a:r>
            <a:r>
              <a:rPr sz="1200" i="1" spc="82" baseline="6944" dirty="0">
                <a:latin typeface="DejaVu Sans"/>
                <a:cs typeface="DejaVu Sans"/>
              </a:rPr>
              <a:t>}</a:t>
            </a:r>
            <a:r>
              <a:rPr sz="1200" i="1" spc="82" baseline="6944" dirty="0">
                <a:latin typeface="Times New Roman"/>
                <a:cs typeface="Times New Roman"/>
              </a:rPr>
              <a:t>,γ,R</a:t>
            </a:r>
            <a:r>
              <a:rPr sz="1200" spc="82" baseline="6944" dirty="0">
                <a:latin typeface="LM Roman 8"/>
                <a:cs typeface="LM Roman 8"/>
              </a:rPr>
              <a:t>)</a:t>
            </a:r>
            <a:endParaRPr sz="1200" baseline="6944">
              <a:latin typeface="LM Roman 8"/>
              <a:cs typeface="LM Roman 8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307" y="1236864"/>
            <a:ext cx="1376680" cy="598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where:</a:t>
            </a:r>
            <a:endParaRPr sz="800">
              <a:latin typeface="LM Roman 8"/>
              <a:cs typeface="LM Roman 8"/>
            </a:endParaRPr>
          </a:p>
          <a:p>
            <a:pPr marL="328930" indent="-147955">
              <a:lnSpc>
                <a:spcPct val="100000"/>
              </a:lnSpc>
              <a:spcBef>
                <a:spcPts val="920"/>
              </a:spcBef>
              <a:buFont typeface="LM Roman 8"/>
              <a:buChar char="•"/>
              <a:tabLst>
                <a:tab pos="329565" algn="l"/>
              </a:tabLst>
            </a:pPr>
            <a:r>
              <a:rPr sz="800" i="1" dirty="0">
                <a:latin typeface="DejaVu Sans"/>
                <a:cs typeface="DejaVu Sans"/>
              </a:rPr>
              <a:t>S </a:t>
            </a:r>
            <a:r>
              <a:rPr sz="800" spc="-5" dirty="0">
                <a:latin typeface="LM Roman 8"/>
                <a:cs typeface="LM Roman 8"/>
              </a:rPr>
              <a:t>is the set of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states</a:t>
            </a:r>
            <a:endParaRPr sz="800">
              <a:latin typeface="LM Roman 8"/>
              <a:cs typeface="LM Roman 8"/>
            </a:endParaRPr>
          </a:p>
          <a:p>
            <a:pPr marL="328930" indent="-147955">
              <a:lnSpc>
                <a:spcPct val="100000"/>
              </a:lnSpc>
              <a:spcBef>
                <a:spcPts val="715"/>
              </a:spcBef>
              <a:buFont typeface="LM Roman 8"/>
              <a:buChar char="•"/>
              <a:tabLst>
                <a:tab pos="329565" algn="l"/>
              </a:tabLst>
            </a:pPr>
            <a:r>
              <a:rPr sz="800" i="1" spc="125" dirty="0">
                <a:latin typeface="DejaVu Sans"/>
                <a:cs typeface="DejaVu Sans"/>
              </a:rPr>
              <a:t>A </a:t>
            </a:r>
            <a:r>
              <a:rPr sz="800" spc="-5" dirty="0">
                <a:latin typeface="LM Roman 8"/>
                <a:cs typeface="LM Roman 8"/>
              </a:rPr>
              <a:t>is the set of</a:t>
            </a:r>
            <a:r>
              <a:rPr sz="800" spc="-1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actions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3572" y="1945543"/>
            <a:ext cx="1212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5" dirty="0">
                <a:latin typeface="Times New Roman"/>
                <a:cs typeface="Times New Roman"/>
              </a:rPr>
              <a:t>sa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4712" y="1907576"/>
            <a:ext cx="31584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85" indent="-147320">
              <a:lnSpc>
                <a:spcPct val="100000"/>
              </a:lnSpc>
              <a:spcBef>
                <a:spcPts val="95"/>
              </a:spcBef>
              <a:buFont typeface="LM Roman 8"/>
              <a:buChar char="•"/>
              <a:tabLst>
                <a:tab pos="160020" algn="l"/>
              </a:tabLst>
            </a:pPr>
            <a:r>
              <a:rPr sz="800" i="1" spc="-20" dirty="0">
                <a:latin typeface="DejaVu Sans"/>
                <a:cs typeface="DejaVu Sans"/>
              </a:rPr>
              <a:t>{</a:t>
            </a:r>
            <a:r>
              <a:rPr sz="800" i="1" spc="-20" dirty="0">
                <a:latin typeface="Times New Roman"/>
                <a:cs typeface="Times New Roman"/>
              </a:rPr>
              <a:t>P </a:t>
            </a:r>
            <a:r>
              <a:rPr sz="800" i="1" spc="-90" dirty="0">
                <a:latin typeface="DejaVu Sans"/>
                <a:cs typeface="DejaVu Sans"/>
              </a:rPr>
              <a:t>} </a:t>
            </a:r>
            <a:r>
              <a:rPr sz="800" spc="-5" dirty="0">
                <a:latin typeface="LM Roman 8"/>
                <a:cs typeface="LM Roman 8"/>
              </a:rPr>
              <a:t>are the state transition probabilities for </a:t>
            </a:r>
            <a:r>
              <a:rPr sz="800" i="1" spc="80" dirty="0">
                <a:latin typeface="Times New Roman"/>
                <a:cs typeface="Times New Roman"/>
              </a:rPr>
              <a:t>s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i="1" dirty="0">
                <a:latin typeface="DejaVu Sans"/>
                <a:cs typeface="DejaVu Sans"/>
              </a:rPr>
              <a:t>S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45" dirty="0">
                <a:latin typeface="Times New Roman"/>
                <a:cs typeface="Times New Roman"/>
              </a:rPr>
              <a:t>a </a:t>
            </a:r>
            <a:r>
              <a:rPr sz="800" i="1" spc="-135" dirty="0">
                <a:latin typeface="DejaVu Sans"/>
                <a:cs typeface="DejaVu Sans"/>
              </a:rPr>
              <a:t>∈</a:t>
            </a:r>
            <a:r>
              <a:rPr sz="800" i="1" spc="-90" dirty="0">
                <a:latin typeface="DejaVu Sans"/>
                <a:cs typeface="DejaVu Sans"/>
              </a:rPr>
              <a:t> </a:t>
            </a:r>
            <a:r>
              <a:rPr sz="800" i="1" spc="125" dirty="0">
                <a:latin typeface="DejaVu Sans"/>
                <a:cs typeface="DejaVu Sans"/>
              </a:rPr>
              <a:t>A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795" y="2152140"/>
            <a:ext cx="4623435" cy="1567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2430" indent="-147955">
              <a:lnSpc>
                <a:spcPct val="100000"/>
              </a:lnSpc>
              <a:spcBef>
                <a:spcPts val="95"/>
              </a:spcBef>
              <a:buFont typeface="LM Roman 8"/>
              <a:buChar char="•"/>
              <a:tabLst>
                <a:tab pos="393065" algn="l"/>
              </a:tabLst>
            </a:pPr>
            <a:r>
              <a:rPr sz="800" i="1" spc="120" dirty="0">
                <a:latin typeface="Times New Roman"/>
                <a:cs typeface="Times New Roman"/>
              </a:rPr>
              <a:t>γ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5" dirty="0">
                <a:latin typeface="LM Roman 8"/>
                <a:cs typeface="LM Roman 8"/>
              </a:rPr>
              <a:t>[0</a:t>
            </a:r>
            <a:r>
              <a:rPr sz="800" i="1" spc="5" dirty="0">
                <a:latin typeface="Times New Roman"/>
                <a:cs typeface="Times New Roman"/>
              </a:rPr>
              <a:t>,</a:t>
            </a:r>
            <a:r>
              <a:rPr sz="800" spc="5" dirty="0">
                <a:latin typeface="LM Roman 8"/>
                <a:cs typeface="LM Roman 8"/>
              </a:rPr>
              <a:t>1[ </a:t>
            </a:r>
            <a:r>
              <a:rPr sz="800" spc="-5" dirty="0">
                <a:latin typeface="LM Roman 8"/>
                <a:cs typeface="LM Roman 8"/>
              </a:rPr>
              <a:t>is the discount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factor</a:t>
            </a:r>
            <a:endParaRPr sz="800">
              <a:latin typeface="LM Roman 8"/>
              <a:cs typeface="LM Roman 8"/>
            </a:endParaRPr>
          </a:p>
          <a:p>
            <a:pPr marL="392430" marR="59690" indent="-147320">
              <a:lnSpc>
                <a:spcPts val="770"/>
              </a:lnSpc>
              <a:spcBef>
                <a:spcPts val="1100"/>
              </a:spcBef>
              <a:buFont typeface="LM Roman 8"/>
              <a:buChar char="•"/>
              <a:tabLst>
                <a:tab pos="393065" algn="l"/>
              </a:tabLst>
            </a:pPr>
            <a:r>
              <a:rPr sz="800" i="1" spc="145" dirty="0">
                <a:latin typeface="Times New Roman"/>
                <a:cs typeface="Times New Roman"/>
              </a:rPr>
              <a:t>R 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i="1" dirty="0">
                <a:latin typeface="DejaVu Sans"/>
                <a:cs typeface="DejaVu Sans"/>
              </a:rPr>
              <a:t>S </a:t>
            </a:r>
            <a:r>
              <a:rPr sz="800" i="1" spc="-15" dirty="0">
                <a:latin typeface="DejaVu Sans"/>
                <a:cs typeface="DejaVu Sans"/>
              </a:rPr>
              <a:t>× </a:t>
            </a:r>
            <a:r>
              <a:rPr sz="800" i="1" spc="125" dirty="0">
                <a:latin typeface="DejaVu Sans"/>
                <a:cs typeface="DejaVu Sans"/>
              </a:rPr>
              <a:t>A </a:t>
            </a:r>
            <a:r>
              <a:rPr sz="800" i="1" spc="10" dirty="0">
                <a:latin typeface="DejaVu Sans"/>
                <a:cs typeface="DejaVu Sans"/>
              </a:rPr>
              <a:t>−→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spc="-5" dirty="0">
                <a:latin typeface="LM Roman 8"/>
                <a:cs typeface="LM Roman 8"/>
              </a:rPr>
              <a:t>or </a:t>
            </a:r>
            <a:r>
              <a:rPr sz="800" i="1" spc="145" dirty="0">
                <a:latin typeface="Times New Roman"/>
                <a:cs typeface="Times New Roman"/>
              </a:rPr>
              <a:t>R 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i="1" dirty="0">
                <a:latin typeface="DejaVu Sans"/>
                <a:cs typeface="DejaVu Sans"/>
              </a:rPr>
              <a:t>S </a:t>
            </a:r>
            <a:r>
              <a:rPr sz="800" i="1" spc="10" dirty="0">
                <a:latin typeface="DejaVu Sans"/>
                <a:cs typeface="DejaVu Sans"/>
              </a:rPr>
              <a:t>−→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spc="-5" dirty="0">
                <a:latin typeface="LM Roman 8"/>
                <a:cs typeface="LM Roman 8"/>
              </a:rPr>
              <a:t>is the </a:t>
            </a:r>
            <a:r>
              <a:rPr sz="800" spc="-10" dirty="0">
                <a:latin typeface="LM Roman 8"/>
                <a:cs typeface="LM Roman 8"/>
              </a:rPr>
              <a:t>reward function </a:t>
            </a:r>
            <a:r>
              <a:rPr sz="800" spc="-5" dirty="0">
                <a:latin typeface="LM Roman 8"/>
                <a:cs typeface="LM Roman 8"/>
              </a:rPr>
              <a:t>that the algorithm </a:t>
            </a:r>
            <a:r>
              <a:rPr sz="800" spc="-15" dirty="0">
                <a:latin typeface="LM Roman 8"/>
                <a:cs typeface="LM Roman 8"/>
              </a:rPr>
              <a:t>wants </a:t>
            </a:r>
            <a:r>
              <a:rPr sz="800" spc="-5" dirty="0">
                <a:latin typeface="LM Roman 8"/>
                <a:cs typeface="LM Roman 8"/>
              </a:rPr>
              <a:t>to  maximize</a:t>
            </a:r>
            <a:endParaRPr sz="800">
              <a:latin typeface="LM Roman 8"/>
              <a:cs typeface="LM Roman 8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LM Roman 8"/>
              <a:cs typeface="LM Roman 8"/>
            </a:endParaRPr>
          </a:p>
          <a:p>
            <a:pPr marL="188595" indent="-113664">
              <a:lnSpc>
                <a:spcPct val="100000"/>
              </a:lnSpc>
              <a:buFont typeface="DejaVu Sans"/>
              <a:buChar char="❒"/>
              <a:tabLst>
                <a:tab pos="18923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Policy </a:t>
            </a:r>
            <a:r>
              <a:rPr sz="800" spc="-5" dirty="0">
                <a:latin typeface="LM Roman 8"/>
                <a:cs typeface="LM Roman 8"/>
              </a:rPr>
              <a:t>– A </a:t>
            </a:r>
            <a:r>
              <a:rPr sz="800" dirty="0">
                <a:latin typeface="LM Roman 8"/>
                <a:cs typeface="LM Roman 8"/>
              </a:rPr>
              <a:t>policy </a:t>
            </a:r>
            <a:r>
              <a:rPr sz="800" i="1" spc="85" dirty="0">
                <a:latin typeface="Times New Roman"/>
                <a:cs typeface="Times New Roman"/>
              </a:rPr>
              <a:t>π </a:t>
            </a:r>
            <a:r>
              <a:rPr sz="800" spc="-5" dirty="0">
                <a:latin typeface="LM Roman 8"/>
                <a:cs typeface="LM Roman 8"/>
              </a:rPr>
              <a:t>is a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i="1" spc="85" dirty="0">
                <a:latin typeface="Times New Roman"/>
                <a:cs typeface="Times New Roman"/>
              </a:rPr>
              <a:t>π 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i="1" dirty="0">
                <a:latin typeface="DejaVu Sans"/>
                <a:cs typeface="DejaVu Sans"/>
              </a:rPr>
              <a:t>S </a:t>
            </a:r>
            <a:r>
              <a:rPr sz="800" i="1" spc="10" dirty="0">
                <a:latin typeface="DejaVu Sans"/>
                <a:cs typeface="DejaVu Sans"/>
              </a:rPr>
              <a:t>−→ </a:t>
            </a:r>
            <a:r>
              <a:rPr sz="800" i="1" spc="125" dirty="0">
                <a:latin typeface="DejaVu Sans"/>
                <a:cs typeface="DejaVu Sans"/>
              </a:rPr>
              <a:t>A </a:t>
            </a:r>
            <a:r>
              <a:rPr sz="800" spc="-5" dirty="0">
                <a:latin typeface="LM Roman 8"/>
                <a:cs typeface="LM Roman 8"/>
              </a:rPr>
              <a:t>that maps states to</a:t>
            </a:r>
            <a:r>
              <a:rPr sz="800" spc="-1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actions.</a:t>
            </a:r>
            <a:endParaRPr sz="800">
              <a:latin typeface="LM Roman 8"/>
              <a:cs typeface="LM Roman 8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say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that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execute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given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policy </a:t>
            </a:r>
            <a:r>
              <a:rPr sz="800" i="1" spc="85" dirty="0">
                <a:solidFill>
                  <a:srgbClr val="59439A"/>
                </a:solidFill>
                <a:latin typeface="Times New Roman"/>
                <a:cs typeface="Times New Roman"/>
              </a:rPr>
              <a:t>π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if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given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state </a:t>
            </a:r>
            <a:r>
              <a:rPr sz="800" i="1" spc="80" dirty="0">
                <a:solidFill>
                  <a:srgbClr val="59439A"/>
                </a:solidFill>
                <a:latin typeface="Times New Roman"/>
                <a:cs typeface="Times New Roman"/>
              </a:rPr>
              <a:t>s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take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action 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a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</a:t>
            </a:r>
            <a:r>
              <a:rPr sz="800" spc="1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35" dirty="0">
                <a:solidFill>
                  <a:srgbClr val="59439A"/>
                </a:solidFill>
                <a:latin typeface="Times New Roman"/>
                <a:cs typeface="Times New Roman"/>
              </a:rPr>
              <a:t>π</a:t>
            </a:r>
            <a:r>
              <a:rPr sz="800" spc="3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35" dirty="0">
                <a:solidFill>
                  <a:srgbClr val="59439A"/>
                </a:solidFill>
                <a:latin typeface="Times New Roman"/>
                <a:cs typeface="Times New Roman"/>
              </a:rPr>
              <a:t>s</a:t>
            </a:r>
            <a:r>
              <a:rPr sz="800" spc="3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i="1" spc="35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189230" indent="-113664">
              <a:lnSpc>
                <a:spcPts val="880"/>
              </a:lnSpc>
              <a:spcBef>
                <a:spcPts val="690"/>
              </a:spcBef>
              <a:buFont typeface="DejaVu Sans"/>
              <a:buChar char="❒"/>
              <a:tabLst>
                <a:tab pos="189865" algn="l"/>
              </a:tabLst>
            </a:pPr>
            <a:r>
              <a:rPr sz="800" b="1" spc="-25" dirty="0">
                <a:solidFill>
                  <a:srgbClr val="0C6C04"/>
                </a:solidFill>
                <a:latin typeface="LM Roman 8"/>
                <a:cs typeface="LM Roman 8"/>
              </a:rPr>
              <a:t>Value </a:t>
            </a: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30" dirty="0">
                <a:latin typeface="LM Roman 8"/>
                <a:cs typeface="LM Roman 8"/>
              </a:rPr>
              <a:t>For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dirty="0">
                <a:latin typeface="LM Roman 8"/>
                <a:cs typeface="LM Roman 8"/>
              </a:rPr>
              <a:t>policy </a:t>
            </a:r>
            <a:r>
              <a:rPr sz="800" i="1" spc="85" dirty="0">
                <a:latin typeface="Times New Roman"/>
                <a:cs typeface="Times New Roman"/>
              </a:rPr>
              <a:t>π </a:t>
            </a:r>
            <a:r>
              <a:rPr sz="800" spc="-5" dirty="0">
                <a:latin typeface="LM Roman 8"/>
                <a:cs typeface="LM Roman 8"/>
              </a:rPr>
              <a:t>and a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state </a:t>
            </a:r>
            <a:r>
              <a:rPr sz="800" i="1" spc="35" dirty="0">
                <a:latin typeface="Times New Roman"/>
                <a:cs typeface="Times New Roman"/>
              </a:rPr>
              <a:t>s</a:t>
            </a:r>
            <a:r>
              <a:rPr sz="800" spc="35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10" dirty="0">
                <a:latin typeface="LM Roman 8"/>
                <a:cs typeface="LM Roman 8"/>
              </a:rPr>
              <a:t>define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5" dirty="0">
                <a:latin typeface="LM Roman 8"/>
                <a:cs typeface="LM Roman 8"/>
              </a:rPr>
              <a:t>value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i="1" dirty="0">
                <a:latin typeface="Times New Roman"/>
                <a:cs typeface="Times New Roman"/>
              </a:rPr>
              <a:t>V</a:t>
            </a:r>
            <a:r>
              <a:rPr sz="800" i="1" spc="35" dirty="0">
                <a:latin typeface="Times New Roman"/>
                <a:cs typeface="Times New Roman"/>
              </a:rPr>
              <a:t> </a:t>
            </a:r>
            <a:r>
              <a:rPr sz="900" i="1" spc="195" baseline="27777" dirty="0">
                <a:latin typeface="Times New Roman"/>
                <a:cs typeface="Times New Roman"/>
              </a:rPr>
              <a:t>π</a:t>
            </a:r>
            <a:endParaRPr sz="900" baseline="27777">
              <a:latin typeface="Times New Roman"/>
              <a:cs typeface="Times New Roman"/>
            </a:endParaRPr>
          </a:p>
          <a:p>
            <a:pPr marL="76200">
              <a:lnSpc>
                <a:spcPts val="880"/>
              </a:lnSpc>
            </a:pP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-10" dirty="0">
                <a:latin typeface="LM Roman 8"/>
                <a:cs typeface="LM Roman 8"/>
              </a:rPr>
              <a:t> follows:</a:t>
            </a:r>
            <a:endParaRPr sz="800">
              <a:latin typeface="LM Roman 8"/>
              <a:cs typeface="LM Roman 8"/>
            </a:endParaRPr>
          </a:p>
          <a:p>
            <a:pPr marL="1058545">
              <a:lnSpc>
                <a:spcPct val="100000"/>
              </a:lnSpc>
              <a:spcBef>
                <a:spcPts val="975"/>
              </a:spcBef>
            </a:pPr>
            <a:r>
              <a:rPr sz="800" i="1" dirty="0">
                <a:latin typeface="Times New Roman"/>
                <a:cs typeface="Times New Roman"/>
              </a:rPr>
              <a:t>V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900" i="1" spc="195" baseline="32407" dirty="0">
                <a:latin typeface="Times New Roman"/>
                <a:cs typeface="Times New Roman"/>
              </a:rPr>
              <a:t>π</a:t>
            </a:r>
            <a:r>
              <a:rPr sz="900" i="1" spc="-120" baseline="32407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s</a:t>
            </a:r>
            <a:r>
              <a:rPr sz="800" spc="25" dirty="0">
                <a:latin typeface="LM Roman 8"/>
                <a:cs typeface="LM Roman 8"/>
              </a:rPr>
              <a:t>)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40" dirty="0">
                <a:latin typeface="Times New Roman"/>
                <a:cs typeface="Times New Roman"/>
              </a:rPr>
              <a:t>E</a:t>
            </a:r>
            <a:r>
              <a:rPr sz="1500" spc="60" baseline="58333" dirty="0">
                <a:latin typeface="Arial"/>
                <a:cs typeface="Arial"/>
              </a:rPr>
              <a:t>Σ</a:t>
            </a:r>
            <a:r>
              <a:rPr sz="800" i="1" spc="40" dirty="0">
                <a:latin typeface="Times New Roman"/>
                <a:cs typeface="Times New Roman"/>
              </a:rPr>
              <a:t>R</a:t>
            </a:r>
            <a:r>
              <a:rPr sz="800" spc="40" dirty="0">
                <a:latin typeface="LM Roman 8"/>
                <a:cs typeface="LM Roman 8"/>
              </a:rPr>
              <a:t>(</a:t>
            </a:r>
            <a:r>
              <a:rPr sz="800" i="1" spc="40" dirty="0">
                <a:latin typeface="Times New Roman"/>
                <a:cs typeface="Times New Roman"/>
              </a:rPr>
              <a:t>s</a:t>
            </a:r>
            <a:r>
              <a:rPr sz="900" spc="60" baseline="-9259" dirty="0">
                <a:latin typeface="LM Roman 6"/>
                <a:cs typeface="LM Roman 6"/>
              </a:rPr>
              <a:t>0</a:t>
            </a:r>
            <a:r>
              <a:rPr sz="800" spc="40" dirty="0">
                <a:latin typeface="LM Roman 8"/>
                <a:cs typeface="LM Roman 8"/>
              </a:rPr>
              <a:t>)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70" dirty="0">
                <a:latin typeface="Times New Roman"/>
                <a:cs typeface="Times New Roman"/>
              </a:rPr>
              <a:t>γR</a:t>
            </a:r>
            <a:r>
              <a:rPr sz="800" spc="70" dirty="0">
                <a:latin typeface="LM Roman 8"/>
                <a:cs typeface="LM Roman 8"/>
              </a:rPr>
              <a:t>(</a:t>
            </a:r>
            <a:r>
              <a:rPr sz="800" i="1" spc="70" dirty="0">
                <a:latin typeface="Times New Roman"/>
                <a:cs typeface="Times New Roman"/>
              </a:rPr>
              <a:t>s</a:t>
            </a:r>
            <a:r>
              <a:rPr sz="900" spc="104" baseline="-9259" dirty="0">
                <a:latin typeface="LM Roman 6"/>
                <a:cs typeface="LM Roman 6"/>
              </a:rPr>
              <a:t>1</a:t>
            </a:r>
            <a:r>
              <a:rPr sz="800" spc="70" dirty="0">
                <a:latin typeface="LM Roman 8"/>
                <a:cs typeface="LM Roman 8"/>
              </a:rPr>
              <a:t>)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65" dirty="0">
                <a:latin typeface="Times New Roman"/>
                <a:cs typeface="Times New Roman"/>
              </a:rPr>
              <a:t>γ</a:t>
            </a:r>
            <a:r>
              <a:rPr sz="900" spc="97" baseline="32407" dirty="0">
                <a:latin typeface="LM Roman 6"/>
                <a:cs typeface="LM Roman 6"/>
              </a:rPr>
              <a:t>2</a:t>
            </a:r>
            <a:r>
              <a:rPr sz="800" i="1" spc="65" dirty="0">
                <a:latin typeface="Times New Roman"/>
                <a:cs typeface="Times New Roman"/>
              </a:rPr>
              <a:t>R</a:t>
            </a:r>
            <a:r>
              <a:rPr sz="800" spc="65" dirty="0">
                <a:latin typeface="LM Roman 8"/>
                <a:cs typeface="LM Roman 8"/>
              </a:rPr>
              <a:t>(</a:t>
            </a:r>
            <a:r>
              <a:rPr sz="800" i="1" spc="65" dirty="0">
                <a:latin typeface="Times New Roman"/>
                <a:cs typeface="Times New Roman"/>
              </a:rPr>
              <a:t>s</a:t>
            </a:r>
            <a:r>
              <a:rPr sz="900" spc="97" baseline="-9259" dirty="0">
                <a:latin typeface="LM Roman 6"/>
                <a:cs typeface="LM Roman 6"/>
              </a:rPr>
              <a:t>2</a:t>
            </a:r>
            <a:r>
              <a:rPr sz="800" spc="65" dirty="0">
                <a:latin typeface="LM Roman 8"/>
                <a:cs typeface="LM Roman 8"/>
              </a:rPr>
              <a:t>)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20" dirty="0">
                <a:latin typeface="Times New Roman"/>
                <a:cs typeface="Times New Roman"/>
              </a:rPr>
              <a:t>...</a:t>
            </a:r>
            <a:r>
              <a:rPr sz="800" i="1" spc="20" dirty="0">
                <a:latin typeface="DejaVu Sans"/>
                <a:cs typeface="DejaVu Sans"/>
              </a:rPr>
              <a:t>|</a:t>
            </a:r>
            <a:r>
              <a:rPr sz="800" i="1" spc="20" dirty="0">
                <a:latin typeface="Times New Roman"/>
                <a:cs typeface="Times New Roman"/>
              </a:rPr>
              <a:t>s</a:t>
            </a:r>
            <a:r>
              <a:rPr sz="900" spc="30" baseline="-9259" dirty="0">
                <a:latin typeface="LM Roman 6"/>
                <a:cs typeface="LM Roman 6"/>
              </a:rPr>
              <a:t>0</a:t>
            </a:r>
            <a:r>
              <a:rPr sz="900" spc="52" baseline="-9259" dirty="0">
                <a:latin typeface="LM Roman 6"/>
                <a:cs typeface="LM Roman 6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i="1" spc="15" dirty="0">
                <a:latin typeface="Times New Roman"/>
                <a:cs typeface="Times New Roman"/>
              </a:rPr>
              <a:t>s,π</a:t>
            </a:r>
            <a:r>
              <a:rPr sz="1500" spc="22" baseline="58333" dirty="0">
                <a:latin typeface="Arial"/>
                <a:cs typeface="Arial"/>
              </a:rPr>
              <a:t>Σ</a:t>
            </a:r>
            <a:endParaRPr sz="1500" baseline="58333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07528" y="3498494"/>
            <a:ext cx="2600960" cy="314325"/>
            <a:chOff x="1407528" y="3498494"/>
            <a:chExt cx="2600960" cy="314325"/>
          </a:xfrm>
        </p:grpSpPr>
        <p:sp>
          <p:nvSpPr>
            <p:cNvPr id="12" name="object 12"/>
            <p:cNvSpPr/>
            <p:nvPr/>
          </p:nvSpPr>
          <p:spPr>
            <a:xfrm>
              <a:off x="1407528" y="3501021"/>
              <a:ext cx="2600960" cy="0"/>
            </a:xfrm>
            <a:custGeom>
              <a:avLst/>
              <a:gdLst/>
              <a:ahLst/>
              <a:cxnLst/>
              <a:rect l="l" t="t" r="r" b="b"/>
              <a:pathLst>
                <a:path w="2600960">
                  <a:moveTo>
                    <a:pt x="0" y="0"/>
                  </a:moveTo>
                  <a:lnTo>
                    <a:pt x="260087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10068" y="3501021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h="309245">
                  <a:moveTo>
                    <a:pt x="0" y="30872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05872" y="3501021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h="309245">
                  <a:moveTo>
                    <a:pt x="0" y="30872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07528" y="3809745"/>
              <a:ext cx="2600960" cy="0"/>
            </a:xfrm>
            <a:custGeom>
              <a:avLst/>
              <a:gdLst/>
              <a:ahLst/>
              <a:cxnLst/>
              <a:rect l="l" t="t" r="r" b="b"/>
              <a:pathLst>
                <a:path w="2600960">
                  <a:moveTo>
                    <a:pt x="0" y="0"/>
                  </a:moveTo>
                  <a:lnTo>
                    <a:pt x="260087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7194" y="4007039"/>
            <a:ext cx="4569460" cy="250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005" indent="-116839">
              <a:lnSpc>
                <a:spcPts val="885"/>
              </a:lnSpc>
              <a:spcBef>
                <a:spcPts val="95"/>
              </a:spcBef>
              <a:buFont typeface="DejaVu Sans"/>
              <a:buChar char="❒"/>
              <a:tabLst>
                <a:tab pos="167640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Bellman equation</a:t>
            </a:r>
            <a:r>
              <a:rPr sz="800" b="1" spc="7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 The optimal Bellman equations characterizes the </a:t>
            </a:r>
            <a:r>
              <a:rPr sz="800" spc="-15" dirty="0">
                <a:latin typeface="LM Roman 8"/>
                <a:cs typeface="LM Roman 8"/>
              </a:rPr>
              <a:t>value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i="1" dirty="0">
                <a:latin typeface="Times New Roman"/>
                <a:cs typeface="Times New Roman"/>
              </a:rPr>
              <a:t>V </a:t>
            </a:r>
            <a:r>
              <a:rPr sz="900" i="1" spc="75" baseline="27777" dirty="0">
                <a:latin typeface="Times New Roman"/>
                <a:cs typeface="Times New Roman"/>
              </a:rPr>
              <a:t>π</a:t>
            </a:r>
            <a:r>
              <a:rPr sz="750" i="1" spc="75" baseline="61111" dirty="0">
                <a:latin typeface="DejaVu Sans"/>
                <a:cs typeface="DejaVu Sans"/>
              </a:rPr>
              <a:t>∗</a:t>
            </a:r>
            <a:endParaRPr sz="750" baseline="61111">
              <a:latin typeface="DejaVu Sans"/>
              <a:cs typeface="DejaVu Sans"/>
            </a:endParaRPr>
          </a:p>
          <a:p>
            <a:pPr marL="50800">
              <a:lnSpc>
                <a:spcPts val="885"/>
              </a:lnSpc>
            </a:pPr>
            <a:r>
              <a:rPr sz="800" spc="-5" dirty="0">
                <a:latin typeface="LM Roman 8"/>
                <a:cs typeface="LM Roman 8"/>
              </a:rPr>
              <a:t>of the optimal </a:t>
            </a:r>
            <a:r>
              <a:rPr sz="800" dirty="0">
                <a:latin typeface="LM Roman 8"/>
                <a:cs typeface="LM Roman 8"/>
              </a:rPr>
              <a:t>policy</a:t>
            </a:r>
            <a:r>
              <a:rPr sz="800" spc="-5" dirty="0">
                <a:latin typeface="LM Roman 8"/>
                <a:cs typeface="LM Roman 8"/>
              </a:rPr>
              <a:t> </a:t>
            </a:r>
            <a:r>
              <a:rPr sz="800" i="1" spc="10" dirty="0">
                <a:latin typeface="Times New Roman"/>
                <a:cs typeface="Times New Roman"/>
              </a:rPr>
              <a:t>π</a:t>
            </a:r>
            <a:r>
              <a:rPr sz="900" i="1" spc="15" baseline="27777" dirty="0">
                <a:latin typeface="DejaVu Sans"/>
                <a:cs typeface="DejaVu Sans"/>
              </a:rPr>
              <a:t>∗</a:t>
            </a:r>
            <a:r>
              <a:rPr sz="800" spc="10" dirty="0">
                <a:latin typeface="LM Roman 8"/>
                <a:cs typeface="LM Roman 8"/>
              </a:rPr>
              <a:t>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54136" y="4352155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30" dirty="0">
                <a:latin typeface="Times New Roman"/>
                <a:cs typeface="Times New Roman"/>
              </a:rPr>
              <a:t>π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12035" y="4332956"/>
            <a:ext cx="723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5" dirty="0">
                <a:latin typeface="DejaVu Sans"/>
                <a:cs typeface="DejaVu Sans"/>
              </a:rPr>
              <a:t>∗</a:t>
            </a:r>
            <a:endParaRPr sz="500"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00299" y="4470125"/>
            <a:ext cx="2152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a</a:t>
            </a:r>
            <a:r>
              <a:rPr sz="600" i="1" spc="75" dirty="0">
                <a:latin typeface="DejaVu Sans"/>
                <a:cs typeface="DejaVu Sans"/>
              </a:rPr>
              <a:t>∈A</a:t>
            </a:r>
            <a:endParaRPr sz="600">
              <a:latin typeface="DejaVu Sans"/>
              <a:cs typeface="DejaVu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03258" y="4229727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37345" y="4539014"/>
            <a:ext cx="533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10" dirty="0">
                <a:latin typeface="DejaVu Sans"/>
                <a:cs typeface="DejaVu Sans"/>
              </a:rPr>
              <a:t>r</a:t>
            </a:r>
            <a:endParaRPr sz="500">
              <a:latin typeface="DejaVu Sans"/>
              <a:cs typeface="DejaVu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92971" y="4548154"/>
            <a:ext cx="224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14" dirty="0">
                <a:latin typeface="Times New Roman"/>
                <a:cs typeface="Times New Roman"/>
              </a:rPr>
              <a:t>s</a:t>
            </a:r>
            <a:r>
              <a:rPr sz="600" i="1" spc="45" dirty="0">
                <a:latin typeface="Times New Roman"/>
                <a:cs typeface="Times New Roman"/>
              </a:rPr>
              <a:t> </a:t>
            </a:r>
            <a:r>
              <a:rPr sz="600" i="1" spc="60" dirty="0">
                <a:latin typeface="DejaVu Sans"/>
                <a:cs typeface="DejaVu Sans"/>
              </a:rPr>
              <a:t>∈</a:t>
            </a:r>
            <a:r>
              <a:rPr sz="600" i="1" spc="60" dirty="0">
                <a:latin typeface="Times New Roman"/>
                <a:cs typeface="Times New Roman"/>
              </a:rPr>
              <a:t>S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67611" y="4368900"/>
            <a:ext cx="14408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5900" algn="l"/>
                <a:tab pos="1358900" algn="l"/>
              </a:tabLst>
            </a:pPr>
            <a:r>
              <a:rPr sz="800" i="1" dirty="0">
                <a:latin typeface="Times New Roman"/>
                <a:cs typeface="Times New Roman"/>
              </a:rPr>
              <a:t>V	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80" dirty="0">
                <a:latin typeface="Times New Roman"/>
                <a:cs typeface="Times New Roman"/>
              </a:rPr>
              <a:t>s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150" dirty="0">
                <a:latin typeface="Times New Roman"/>
                <a:cs typeface="Times New Roman"/>
              </a:rPr>
              <a:t>R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80" dirty="0">
                <a:latin typeface="Times New Roman"/>
                <a:cs typeface="Times New Roman"/>
              </a:rPr>
              <a:t>s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max</a:t>
            </a:r>
            <a:r>
              <a:rPr sz="800" spc="-135" dirty="0">
                <a:latin typeface="LM Roman 8"/>
                <a:cs typeface="LM Roman 8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γ</a:t>
            </a:r>
            <a:r>
              <a:rPr sz="800" i="1" dirty="0">
                <a:latin typeface="Times New Roman"/>
                <a:cs typeface="Times New Roman"/>
              </a:rPr>
              <a:t>	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82404" y="4406867"/>
            <a:ext cx="1212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5" dirty="0">
                <a:latin typeface="Times New Roman"/>
                <a:cs typeface="Times New Roman"/>
              </a:rPr>
              <a:t>sa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96233" y="4332956"/>
            <a:ext cx="723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5" dirty="0">
                <a:latin typeface="DejaVu Sans"/>
                <a:cs typeface="DejaVu Sans"/>
              </a:rPr>
              <a:t>∗</a:t>
            </a:r>
            <a:endParaRPr sz="500">
              <a:latin typeface="DejaVu Sans"/>
              <a:cs typeface="DejaVu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84347" y="4368900"/>
            <a:ext cx="4883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3540" algn="l"/>
              </a:tabLst>
            </a:pP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80" dirty="0">
                <a:latin typeface="Times New Roman"/>
                <a:cs typeface="Times New Roman"/>
              </a:rPr>
              <a:t>s  </a:t>
            </a:r>
            <a:r>
              <a:rPr sz="800" i="1" spc="-5" dirty="0">
                <a:latin typeface="Times New Roman"/>
                <a:cs typeface="Times New Roman"/>
              </a:rPr>
              <a:t> </a:t>
            </a:r>
            <a:r>
              <a:rPr sz="800" i="1" dirty="0">
                <a:latin typeface="Times New Roman"/>
                <a:cs typeface="Times New Roman"/>
              </a:rPr>
              <a:t>V	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80" dirty="0">
                <a:latin typeface="Times New Roman"/>
                <a:cs typeface="Times New Roman"/>
              </a:rPr>
              <a:t>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50501" y="4326850"/>
            <a:ext cx="5232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08940" algn="l"/>
              </a:tabLst>
            </a:pPr>
            <a:r>
              <a:rPr sz="600" i="1" spc="45" dirty="0">
                <a:latin typeface="DejaVu Sans"/>
                <a:cs typeface="DejaVu Sans"/>
              </a:rPr>
              <a:t>j</a:t>
            </a:r>
            <a:r>
              <a:rPr sz="1200" spc="67" baseline="-24305" dirty="0">
                <a:latin typeface="LM Roman 8"/>
                <a:cs typeface="LM Roman 8"/>
              </a:rPr>
              <a:t>) </a:t>
            </a:r>
            <a:r>
              <a:rPr sz="1200" spc="104" baseline="-24305" dirty="0">
                <a:latin typeface="LM Roman 8"/>
                <a:cs typeface="LM Roman 8"/>
              </a:rPr>
              <a:t> </a:t>
            </a:r>
            <a:r>
              <a:rPr sz="600" i="1" spc="130" dirty="0">
                <a:latin typeface="Times New Roman"/>
                <a:cs typeface="Times New Roman"/>
              </a:rPr>
              <a:t>π	</a:t>
            </a:r>
            <a:r>
              <a:rPr sz="600" i="1" spc="45" dirty="0">
                <a:latin typeface="DejaVu Sans"/>
                <a:cs typeface="DejaVu Sans"/>
              </a:rPr>
              <a:t>j</a:t>
            </a:r>
            <a:r>
              <a:rPr sz="1200" spc="67" baseline="-24305" dirty="0">
                <a:latin typeface="LM Roman 8"/>
                <a:cs typeface="LM Roman 8"/>
              </a:rPr>
              <a:t>)</a:t>
            </a:r>
            <a:endParaRPr sz="1200" baseline="-24305">
              <a:latin typeface="LM Roman 8"/>
              <a:cs typeface="LM Roman 8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37283" y="4313288"/>
            <a:ext cx="2141855" cy="386080"/>
            <a:chOff x="1637283" y="4313288"/>
            <a:chExt cx="2141855" cy="386080"/>
          </a:xfrm>
        </p:grpSpPr>
        <p:sp>
          <p:nvSpPr>
            <p:cNvPr id="29" name="object 29"/>
            <p:cNvSpPr/>
            <p:nvPr/>
          </p:nvSpPr>
          <p:spPr>
            <a:xfrm>
              <a:off x="1637283" y="4315815"/>
              <a:ext cx="2141855" cy="0"/>
            </a:xfrm>
            <a:custGeom>
              <a:avLst/>
              <a:gdLst/>
              <a:ahLst/>
              <a:cxnLst/>
              <a:rect l="l" t="t" r="r" b="b"/>
              <a:pathLst>
                <a:path w="2141854">
                  <a:moveTo>
                    <a:pt x="0" y="0"/>
                  </a:moveTo>
                  <a:lnTo>
                    <a:pt x="214135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39823" y="4315815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77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76116" y="4315815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77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37283" y="4696586"/>
              <a:ext cx="2141855" cy="0"/>
            </a:xfrm>
            <a:custGeom>
              <a:avLst/>
              <a:gdLst/>
              <a:ahLst/>
              <a:cxnLst/>
              <a:rect l="l" t="t" r="r" b="b"/>
              <a:pathLst>
                <a:path w="2141854">
                  <a:moveTo>
                    <a:pt x="0" y="0"/>
                  </a:moveTo>
                  <a:lnTo>
                    <a:pt x="214135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29894" y="4774284"/>
            <a:ext cx="36683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note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that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optimal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policy </a:t>
            </a:r>
            <a:r>
              <a:rPr sz="800" i="1" spc="-10" dirty="0">
                <a:solidFill>
                  <a:srgbClr val="59439A"/>
                </a:solidFill>
                <a:latin typeface="Times New Roman"/>
                <a:cs typeface="Times New Roman"/>
              </a:rPr>
              <a:t>π</a:t>
            </a:r>
            <a:r>
              <a:rPr sz="900" i="1" spc="-15" baseline="27777" dirty="0">
                <a:solidFill>
                  <a:srgbClr val="59439A"/>
                </a:solidFill>
                <a:latin typeface="DejaVu Sans"/>
                <a:cs typeface="DejaVu Sans"/>
              </a:rPr>
              <a:t>∗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for a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given state </a:t>
            </a:r>
            <a:r>
              <a:rPr sz="800" i="1" spc="80" dirty="0">
                <a:solidFill>
                  <a:srgbClr val="59439A"/>
                </a:solidFill>
                <a:latin typeface="Times New Roman"/>
                <a:cs typeface="Times New Roman"/>
              </a:rPr>
              <a:t>s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such</a:t>
            </a:r>
            <a:r>
              <a:rPr sz="800" i="1" spc="-4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that: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8296" y="5037530"/>
            <a:ext cx="1733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i="1" spc="-40" dirty="0">
                <a:latin typeface="DejaVu Sans"/>
                <a:cs typeface="DejaVu Sans"/>
              </a:rPr>
              <a:t>∗</a:t>
            </a:r>
            <a:r>
              <a:rPr sz="1200" spc="-60" baseline="-24305" dirty="0">
                <a:latin typeface="LM Roman 8"/>
                <a:cs typeface="LM Roman 8"/>
              </a:rPr>
              <a:t>(</a:t>
            </a:r>
            <a:endParaRPr sz="1200" baseline="-24305">
              <a:latin typeface="LM Roman 8"/>
              <a:cs typeface="LM Roman 8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55278" y="5200477"/>
            <a:ext cx="2152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a</a:t>
            </a:r>
            <a:r>
              <a:rPr sz="600" i="1" spc="75" dirty="0">
                <a:latin typeface="DejaVu Sans"/>
                <a:cs typeface="DejaVu Sans"/>
              </a:rPr>
              <a:t>∈A</a:t>
            </a:r>
            <a:endParaRPr sz="600">
              <a:latin typeface="DejaVu Sans"/>
              <a:cs typeface="DejaVu San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53982" y="4940394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17431" y="5258821"/>
            <a:ext cx="2762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i="1" spc="55" dirty="0">
                <a:latin typeface="Times New Roman"/>
                <a:cs typeface="Times New Roman"/>
              </a:rPr>
              <a:t>s</a:t>
            </a:r>
            <a:r>
              <a:rPr sz="750" i="1" spc="82" baseline="16666" dirty="0">
                <a:latin typeface="DejaVu Sans"/>
                <a:cs typeface="DejaVu Sans"/>
              </a:rPr>
              <a:t>r</a:t>
            </a:r>
            <a:r>
              <a:rPr sz="600" i="1" spc="55" dirty="0">
                <a:latin typeface="DejaVu Sans"/>
                <a:cs typeface="DejaVu Sans"/>
              </a:rPr>
              <a:t>∈S</a:t>
            </a:r>
            <a:endParaRPr sz="600">
              <a:latin typeface="DejaVu Sans"/>
              <a:cs typeface="DejaVu San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78304" y="5079579"/>
            <a:ext cx="10814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00125" algn="l"/>
              </a:tabLst>
            </a:pPr>
            <a:r>
              <a:rPr sz="800" i="1" spc="85" dirty="0">
                <a:latin typeface="Times New Roman"/>
                <a:cs typeface="Times New Roman"/>
              </a:rPr>
              <a:t>π   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i="1" spc="80" dirty="0">
                <a:latin typeface="Times New Roman"/>
                <a:cs typeface="Times New Roman"/>
              </a:rPr>
              <a:t>s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argmax</a:t>
            </a:r>
            <a:r>
              <a:rPr sz="800" dirty="0">
                <a:latin typeface="LM Roman 8"/>
                <a:cs typeface="LM Roman 8"/>
              </a:rPr>
              <a:t>	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34004" y="5117533"/>
            <a:ext cx="1212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5" dirty="0">
                <a:latin typeface="Times New Roman"/>
                <a:cs typeface="Times New Roman"/>
              </a:rPr>
              <a:t>sa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35935" y="5079579"/>
            <a:ext cx="42608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s </a:t>
            </a:r>
            <a:r>
              <a:rPr sz="800" i="1" dirty="0">
                <a:latin typeface="Times New Roman"/>
                <a:cs typeface="Times New Roman"/>
              </a:rPr>
              <a:t>V</a:t>
            </a:r>
            <a:r>
              <a:rPr sz="800" i="1" spc="150" dirty="0">
                <a:latin typeface="Times New Roman"/>
                <a:cs typeface="Times New Roman"/>
              </a:rPr>
              <a:t> </a:t>
            </a:r>
            <a:r>
              <a:rPr sz="800" i="1" spc="80" dirty="0">
                <a:latin typeface="Times New Roman"/>
                <a:cs typeface="Times New Roman"/>
              </a:rPr>
              <a:t>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02089" y="5037530"/>
            <a:ext cx="46100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i="1" spc="45" dirty="0">
                <a:latin typeface="DejaVu Sans"/>
                <a:cs typeface="DejaVu Sans"/>
              </a:rPr>
              <a:t>j</a:t>
            </a:r>
            <a:r>
              <a:rPr sz="1200" spc="67" baseline="-24305" dirty="0">
                <a:latin typeface="LM Roman 8"/>
                <a:cs typeface="LM Roman 8"/>
              </a:rPr>
              <a:t>) </a:t>
            </a:r>
            <a:r>
              <a:rPr sz="600" i="1" spc="-40" dirty="0">
                <a:latin typeface="DejaVu Sans"/>
                <a:cs typeface="DejaVu Sans"/>
              </a:rPr>
              <a:t>∗</a:t>
            </a:r>
            <a:r>
              <a:rPr sz="1200" spc="-60" baseline="-24305" dirty="0">
                <a:latin typeface="LM Roman 8"/>
                <a:cs typeface="LM Roman 8"/>
              </a:rPr>
              <a:t>(</a:t>
            </a:r>
            <a:r>
              <a:rPr sz="1200" spc="89" baseline="-24305" dirty="0">
                <a:latin typeface="LM Roman 8"/>
                <a:cs typeface="LM Roman 8"/>
              </a:rPr>
              <a:t> </a:t>
            </a:r>
            <a:r>
              <a:rPr sz="600" i="1" spc="45" dirty="0">
                <a:latin typeface="DejaVu Sans"/>
                <a:cs typeface="DejaVu Sans"/>
              </a:rPr>
              <a:t>j</a:t>
            </a:r>
            <a:r>
              <a:rPr sz="1200" spc="67" baseline="-24305" dirty="0">
                <a:latin typeface="LM Roman 8"/>
                <a:cs typeface="LM Roman 8"/>
              </a:rPr>
              <a:t>)</a:t>
            </a:r>
            <a:endParaRPr sz="1200" baseline="-24305">
              <a:latin typeface="LM Roman 8"/>
              <a:cs typeface="LM Roman 8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847989" y="5023954"/>
            <a:ext cx="1720214" cy="386080"/>
            <a:chOff x="1847989" y="5023954"/>
            <a:chExt cx="1720214" cy="386080"/>
          </a:xfrm>
        </p:grpSpPr>
        <p:sp>
          <p:nvSpPr>
            <p:cNvPr id="43" name="object 43"/>
            <p:cNvSpPr/>
            <p:nvPr/>
          </p:nvSpPr>
          <p:spPr>
            <a:xfrm>
              <a:off x="1847989" y="5026482"/>
              <a:ext cx="1720214" cy="0"/>
            </a:xfrm>
            <a:custGeom>
              <a:avLst/>
              <a:gdLst/>
              <a:ahLst/>
              <a:cxnLst/>
              <a:rect l="l" t="t" r="r" b="b"/>
              <a:pathLst>
                <a:path w="1720214">
                  <a:moveTo>
                    <a:pt x="0" y="0"/>
                  </a:moveTo>
                  <a:lnTo>
                    <a:pt x="171997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850517" y="502648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77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65423" y="5026482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77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847989" y="5407253"/>
              <a:ext cx="1720214" cy="0"/>
            </a:xfrm>
            <a:custGeom>
              <a:avLst/>
              <a:gdLst/>
              <a:ahLst/>
              <a:cxnLst/>
              <a:rect l="l" t="t" r="r" b="b"/>
              <a:pathLst>
                <a:path w="1720214">
                  <a:moveTo>
                    <a:pt x="0" y="0"/>
                  </a:moveTo>
                  <a:lnTo>
                    <a:pt x="171997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55294" y="5578448"/>
            <a:ext cx="3765550" cy="405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25" dirty="0">
                <a:solidFill>
                  <a:srgbClr val="0C6C04"/>
                </a:solidFill>
                <a:latin typeface="LM Roman 8"/>
                <a:cs typeface="LM Roman 8"/>
              </a:rPr>
              <a:t>Value </a:t>
            </a: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iteration </a:t>
            </a: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algorithm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5" dirty="0">
                <a:latin typeface="LM Roman 8"/>
                <a:cs typeface="LM Roman 8"/>
              </a:rPr>
              <a:t>value </a:t>
            </a:r>
            <a:r>
              <a:rPr sz="800" spc="-5" dirty="0">
                <a:latin typeface="LM Roman 8"/>
                <a:cs typeface="LM Roman 8"/>
              </a:rPr>
              <a:t>iteration algorithm is in </a:t>
            </a:r>
            <a:r>
              <a:rPr sz="800" spc="-20" dirty="0">
                <a:latin typeface="LM Roman 8"/>
                <a:cs typeface="LM Roman 8"/>
              </a:rPr>
              <a:t>two</a:t>
            </a:r>
            <a:r>
              <a:rPr sz="800" spc="1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steps:</a:t>
            </a:r>
            <a:endParaRPr sz="800">
              <a:latin typeface="LM Roman 8"/>
              <a:cs typeface="LM Roman 8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C6C04"/>
              </a:buClr>
              <a:buFont typeface="DejaVu Sans"/>
              <a:buChar char="❒"/>
            </a:pPr>
            <a:endParaRPr sz="750">
              <a:latin typeface="LM Roman 8"/>
              <a:cs typeface="LM Roman 8"/>
            </a:endParaRPr>
          </a:p>
          <a:p>
            <a:pPr marL="328930" lvl="1" indent="-147955">
              <a:lnSpc>
                <a:spcPct val="100000"/>
              </a:lnSpc>
              <a:buChar char="•"/>
              <a:tabLst>
                <a:tab pos="329565" algn="l"/>
              </a:tabLst>
            </a:pPr>
            <a:r>
              <a:rPr sz="800" spc="-40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initialize the</a:t>
            </a:r>
            <a:r>
              <a:rPr sz="800" spc="2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value: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602687" y="6099873"/>
            <a:ext cx="527050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800" i="1" spc="20" dirty="0">
                <a:latin typeface="Times New Roman"/>
                <a:cs typeface="Times New Roman"/>
              </a:rPr>
              <a:t>V</a:t>
            </a:r>
            <a:r>
              <a:rPr sz="900" spc="30" baseline="-9259" dirty="0">
                <a:latin typeface="LM Roman 6"/>
                <a:cs typeface="LM Roman 6"/>
              </a:rPr>
              <a:t>0</a:t>
            </a:r>
            <a:r>
              <a:rPr sz="800" spc="20" dirty="0">
                <a:latin typeface="LM Roman 8"/>
                <a:cs typeface="LM Roman 8"/>
              </a:rPr>
              <a:t>(</a:t>
            </a:r>
            <a:r>
              <a:rPr sz="800" i="1" spc="20" dirty="0">
                <a:latin typeface="Times New Roman"/>
                <a:cs typeface="Times New Roman"/>
              </a:rPr>
              <a:t>s</a:t>
            </a:r>
            <a:r>
              <a:rPr sz="800" spc="20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0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24700" y="6416419"/>
            <a:ext cx="24326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85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sz="800" spc="-40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iterate the </a:t>
            </a:r>
            <a:r>
              <a:rPr sz="800" spc="-15" dirty="0">
                <a:latin typeface="LM Roman 8"/>
                <a:cs typeface="LM Roman 8"/>
              </a:rPr>
              <a:t>value </a:t>
            </a:r>
            <a:r>
              <a:rPr sz="800" spc="-5" dirty="0">
                <a:latin typeface="LM Roman 8"/>
                <a:cs typeface="LM Roman 8"/>
              </a:rPr>
              <a:t>based on the </a:t>
            </a:r>
            <a:r>
              <a:rPr sz="800" spc="-10" dirty="0">
                <a:latin typeface="LM Roman 8"/>
                <a:cs typeface="LM Roman 8"/>
              </a:rPr>
              <a:t>values</a:t>
            </a:r>
            <a:r>
              <a:rPr sz="800" spc="4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before: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51442" y="6922673"/>
            <a:ext cx="2152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a</a:t>
            </a:r>
            <a:r>
              <a:rPr sz="600" i="1" spc="75" dirty="0">
                <a:latin typeface="DejaVu Sans"/>
                <a:cs typeface="DejaVu Sans"/>
              </a:rPr>
              <a:t>∈A</a:t>
            </a:r>
            <a:endParaRPr sz="600">
              <a:latin typeface="DejaVu Sans"/>
              <a:cs typeface="DejaVu San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864827" y="6586111"/>
            <a:ext cx="996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949778" y="6682275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83001" y="6991562"/>
            <a:ext cx="533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10" dirty="0">
                <a:latin typeface="DejaVu Sans"/>
                <a:cs typeface="DejaVu Sans"/>
              </a:rPr>
              <a:t>r</a:t>
            </a:r>
            <a:endParaRPr sz="500">
              <a:latin typeface="DejaVu Sans"/>
              <a:cs typeface="DejaVu San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938627" y="7000702"/>
            <a:ext cx="2254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14" dirty="0">
                <a:latin typeface="Times New Roman"/>
                <a:cs typeface="Times New Roman"/>
              </a:rPr>
              <a:t>s</a:t>
            </a:r>
            <a:r>
              <a:rPr sz="600" i="1" spc="40" dirty="0">
                <a:latin typeface="Times New Roman"/>
                <a:cs typeface="Times New Roman"/>
              </a:rPr>
              <a:t> </a:t>
            </a:r>
            <a:r>
              <a:rPr sz="600" i="1" spc="25" dirty="0">
                <a:latin typeface="DejaVu Sans"/>
                <a:cs typeface="DejaVu Sans"/>
              </a:rPr>
              <a:t>∈S</a:t>
            </a:r>
            <a:endParaRPr sz="600">
              <a:latin typeface="DejaVu Sans"/>
              <a:cs typeface="DejaVu San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864855" y="6862195"/>
            <a:ext cx="18180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38910" algn="l"/>
                <a:tab pos="1770380" algn="l"/>
              </a:tabLst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+1</a:t>
            </a:r>
            <a:r>
              <a:rPr sz="600" dirty="0">
                <a:latin typeface="LM Roman 6"/>
                <a:cs typeface="LM Roman 6"/>
              </a:rPr>
              <a:t>	</a:t>
            </a:r>
            <a:r>
              <a:rPr sz="600" i="1" spc="105" dirty="0">
                <a:latin typeface="Times New Roman"/>
                <a:cs typeface="Times New Roman"/>
              </a:rPr>
              <a:t>sa</a:t>
            </a:r>
            <a:r>
              <a:rPr sz="600" i="1" dirty="0">
                <a:latin typeface="Times New Roman"/>
                <a:cs typeface="Times New Roman"/>
              </a:rPr>
              <a:t>	</a:t>
            </a:r>
            <a:r>
              <a:rPr sz="600" i="1" spc="95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802218" y="6821447"/>
            <a:ext cx="1978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2410" algn="l"/>
                <a:tab pos="1371600" algn="l"/>
              </a:tabLst>
            </a:pPr>
            <a:r>
              <a:rPr sz="800" i="1" dirty="0">
                <a:latin typeface="Times New Roman"/>
                <a:cs typeface="Times New Roman"/>
              </a:rPr>
              <a:t>V	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s</a:t>
            </a:r>
            <a:r>
              <a:rPr sz="800" spc="2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55" dirty="0">
                <a:latin typeface="Times New Roman"/>
                <a:cs typeface="Times New Roman"/>
              </a:rPr>
              <a:t>R</a:t>
            </a:r>
            <a:r>
              <a:rPr sz="800" spc="55" dirty="0">
                <a:latin typeface="LM Roman 8"/>
                <a:cs typeface="LM Roman 8"/>
              </a:rPr>
              <a:t>(</a:t>
            </a:r>
            <a:r>
              <a:rPr sz="800" i="1" spc="55" dirty="0">
                <a:latin typeface="Times New Roman"/>
                <a:cs typeface="Times New Roman"/>
              </a:rPr>
              <a:t>s</a:t>
            </a:r>
            <a:r>
              <a:rPr sz="800" spc="55" dirty="0">
                <a:latin typeface="LM Roman 8"/>
                <a:cs typeface="LM Roman 8"/>
              </a:rPr>
              <a:t>)</a:t>
            </a:r>
            <a:r>
              <a:rPr sz="800" spc="-204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max	</a:t>
            </a:r>
            <a:r>
              <a:rPr sz="800" i="1" spc="105" dirty="0">
                <a:latin typeface="Times New Roman"/>
                <a:cs typeface="Times New Roman"/>
              </a:rPr>
              <a:t>γP 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s </a:t>
            </a:r>
            <a:r>
              <a:rPr sz="800" i="1" dirty="0">
                <a:latin typeface="Times New Roman"/>
                <a:cs typeface="Times New Roman"/>
              </a:rPr>
              <a:t>V</a:t>
            </a:r>
            <a:r>
              <a:rPr sz="800" i="1" spc="55" dirty="0">
                <a:latin typeface="Times New Roman"/>
                <a:cs typeface="Times New Roman"/>
              </a:rPr>
              <a:t>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59251" y="6779410"/>
            <a:ext cx="42290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7975" algn="l"/>
              </a:tabLst>
            </a:pPr>
            <a:r>
              <a:rPr sz="600" i="1" spc="45" dirty="0">
                <a:latin typeface="DejaVu Sans"/>
                <a:cs typeface="DejaVu Sans"/>
              </a:rPr>
              <a:t>j</a:t>
            </a:r>
            <a:r>
              <a:rPr sz="1200" spc="67" baseline="-24305" dirty="0">
                <a:latin typeface="LM Roman 8"/>
                <a:cs typeface="LM Roman 8"/>
              </a:rPr>
              <a:t>)	</a:t>
            </a:r>
            <a:r>
              <a:rPr sz="600" i="1" spc="45" dirty="0">
                <a:latin typeface="DejaVu Sans"/>
                <a:cs typeface="DejaVu Sans"/>
              </a:rPr>
              <a:t>j</a:t>
            </a:r>
            <a:r>
              <a:rPr sz="1200" spc="67" baseline="-24305" dirty="0">
                <a:latin typeface="LM Roman 8"/>
                <a:cs typeface="LM Roman 8"/>
              </a:rPr>
              <a:t>)</a:t>
            </a:r>
            <a:endParaRPr sz="1200" baseline="-24305">
              <a:latin typeface="LM Roman 8"/>
              <a:cs typeface="LM Roman 8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830828" y="6586111"/>
            <a:ext cx="996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771904" y="6677266"/>
            <a:ext cx="2188845" cy="474980"/>
            <a:chOff x="1771904" y="6677266"/>
            <a:chExt cx="2188845" cy="474980"/>
          </a:xfrm>
        </p:grpSpPr>
        <p:sp>
          <p:nvSpPr>
            <p:cNvPr id="60" name="object 60"/>
            <p:cNvSpPr/>
            <p:nvPr/>
          </p:nvSpPr>
          <p:spPr>
            <a:xfrm>
              <a:off x="1771904" y="6679793"/>
              <a:ext cx="2188845" cy="0"/>
            </a:xfrm>
            <a:custGeom>
              <a:avLst/>
              <a:gdLst/>
              <a:ahLst/>
              <a:cxnLst/>
              <a:rect l="l" t="t" r="r" b="b"/>
              <a:pathLst>
                <a:path w="2188845">
                  <a:moveTo>
                    <a:pt x="0" y="0"/>
                  </a:moveTo>
                  <a:lnTo>
                    <a:pt x="218843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774431" y="6679793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46934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957815" y="6679793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46934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771904" y="7149134"/>
              <a:ext cx="2188845" cy="0"/>
            </a:xfrm>
            <a:custGeom>
              <a:avLst/>
              <a:gdLst/>
              <a:ahLst/>
              <a:cxnLst/>
              <a:rect l="l" t="t" r="r" b="b"/>
              <a:pathLst>
                <a:path w="2188845">
                  <a:moveTo>
                    <a:pt x="0" y="0"/>
                  </a:moveTo>
                  <a:lnTo>
                    <a:pt x="218843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5061762" y="696606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935" indent="-10287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15570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Maximum</a:t>
            </a:r>
            <a:r>
              <a:rPr sz="800" b="1" spc="-9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dirty="0">
                <a:solidFill>
                  <a:srgbClr val="9A0404"/>
                </a:solidFill>
                <a:latin typeface="LM Roman 8"/>
                <a:cs typeface="LM Roman 8"/>
              </a:rPr>
              <a:t>likelihood</a:t>
            </a:r>
            <a:r>
              <a:rPr sz="800" b="1" spc="-8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estimate</a:t>
            </a:r>
            <a:r>
              <a:rPr sz="800" b="1" spc="-12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maximum</a:t>
            </a:r>
            <a:r>
              <a:rPr sz="800" spc="-8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likelihood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estimates</a:t>
            </a:r>
            <a:r>
              <a:rPr sz="800" spc="-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for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state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transition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61762" y="778978"/>
            <a:ext cx="13004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probabilities are as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972467" y="1089315"/>
            <a:ext cx="2279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i="1" spc="127" baseline="6944" dirty="0">
                <a:latin typeface="Times New Roman"/>
                <a:cs typeface="Times New Roman"/>
              </a:rPr>
              <a:t>P</a:t>
            </a:r>
            <a:r>
              <a:rPr sz="600" i="1" spc="85" dirty="0">
                <a:latin typeface="Times New Roman"/>
                <a:cs typeface="Times New Roman"/>
              </a:rPr>
              <a:t>sa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142583" y="1006181"/>
            <a:ext cx="25050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spc="60" baseline="-38194" dirty="0">
                <a:latin typeface="LM Roman 8"/>
                <a:cs typeface="LM Roman 8"/>
              </a:rPr>
              <a:t>(</a:t>
            </a:r>
            <a:r>
              <a:rPr sz="1200" i="1" spc="60" baseline="-38194" dirty="0">
                <a:latin typeface="Times New Roman"/>
                <a:cs typeface="Times New Roman"/>
              </a:rPr>
              <a:t>s</a:t>
            </a:r>
            <a:r>
              <a:rPr sz="900" i="1" spc="60" baseline="-18518" dirty="0">
                <a:latin typeface="DejaVu Sans"/>
                <a:cs typeface="DejaVu Sans"/>
              </a:rPr>
              <a:t>j</a:t>
            </a:r>
            <a:r>
              <a:rPr sz="1200" spc="60" baseline="-38194" dirty="0">
                <a:latin typeface="LM Roman 8"/>
                <a:cs typeface="LM Roman 8"/>
              </a:rPr>
              <a:t>) </a:t>
            </a:r>
            <a:r>
              <a:rPr sz="1200" spc="-7" baseline="-38194" dirty="0">
                <a:latin typeface="LM Roman 8"/>
                <a:cs typeface="LM Roman 8"/>
              </a:rPr>
              <a:t>= </a:t>
            </a:r>
            <a:r>
              <a:rPr sz="800" spc="-5" dirty="0">
                <a:latin typeface="LM Roman 8"/>
                <a:cs typeface="LM Roman 8"/>
              </a:rPr>
              <a:t>#times </a:t>
            </a:r>
            <a:r>
              <a:rPr sz="800" dirty="0">
                <a:latin typeface="LM Roman 8"/>
                <a:cs typeface="LM Roman 8"/>
              </a:rPr>
              <a:t>took </a:t>
            </a:r>
            <a:r>
              <a:rPr sz="800" spc="-5" dirty="0">
                <a:latin typeface="LM Roman 8"/>
                <a:cs typeface="LM Roman 8"/>
              </a:rPr>
              <a:t>action </a:t>
            </a:r>
            <a:r>
              <a:rPr sz="800" i="1" spc="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in state </a:t>
            </a:r>
            <a:r>
              <a:rPr sz="800" i="1" spc="80" dirty="0">
                <a:latin typeface="Times New Roman"/>
                <a:cs typeface="Times New Roman"/>
              </a:rPr>
              <a:t>s </a:t>
            </a:r>
            <a:r>
              <a:rPr sz="800" spc="-5" dirty="0">
                <a:latin typeface="LM Roman 8"/>
                <a:cs typeface="LM Roman 8"/>
              </a:rPr>
              <a:t>and got to</a:t>
            </a:r>
            <a:r>
              <a:rPr sz="800" spc="35" dirty="0">
                <a:latin typeface="LM Roman 8"/>
                <a:cs typeface="LM Roman 8"/>
              </a:rPr>
              <a:t> </a:t>
            </a:r>
            <a:r>
              <a:rPr sz="800" i="1" spc="65" dirty="0">
                <a:latin typeface="Times New Roman"/>
                <a:cs typeface="Times New Roman"/>
              </a:rPr>
              <a:t>s</a:t>
            </a:r>
            <a:r>
              <a:rPr sz="900" i="1" spc="97" baseline="27777" dirty="0">
                <a:latin typeface="DejaVu Sans"/>
                <a:cs typeface="DejaVu Sans"/>
              </a:rPr>
              <a:t>j</a:t>
            </a:r>
            <a:endParaRPr sz="900" baseline="27777">
              <a:latin typeface="DejaVu Sans"/>
              <a:cs typeface="DejaVu Sans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494030" y="1165275"/>
            <a:ext cx="2122170" cy="0"/>
          </a:xfrm>
          <a:custGeom>
            <a:avLst/>
            <a:gdLst/>
            <a:ahLst/>
            <a:cxnLst/>
            <a:rect l="l" t="t" r="r" b="b"/>
            <a:pathLst>
              <a:path w="2122170">
                <a:moveTo>
                  <a:pt x="0" y="0"/>
                </a:moveTo>
                <a:lnTo>
                  <a:pt x="212177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6816762" y="1152485"/>
            <a:ext cx="14890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#times </a:t>
            </a:r>
            <a:r>
              <a:rPr sz="800" dirty="0">
                <a:latin typeface="LM Roman 8"/>
                <a:cs typeface="LM Roman 8"/>
              </a:rPr>
              <a:t>took </a:t>
            </a:r>
            <a:r>
              <a:rPr sz="800" spc="-5" dirty="0">
                <a:latin typeface="LM Roman 8"/>
                <a:cs typeface="LM Roman 8"/>
              </a:rPr>
              <a:t>action </a:t>
            </a:r>
            <a:r>
              <a:rPr sz="800" i="1" spc="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in state</a:t>
            </a:r>
            <a:r>
              <a:rPr sz="800" spc="10" dirty="0">
                <a:latin typeface="LM Roman 8"/>
                <a:cs typeface="LM Roman 8"/>
              </a:rPr>
              <a:t> </a:t>
            </a:r>
            <a:r>
              <a:rPr sz="800" i="1" spc="80" dirty="0">
                <a:latin typeface="Times New Roman"/>
                <a:cs typeface="Times New Roman"/>
              </a:rPr>
              <a:t>s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5954852" y="999185"/>
            <a:ext cx="2719705" cy="330200"/>
            <a:chOff x="5954852" y="999185"/>
            <a:chExt cx="2719705" cy="330200"/>
          </a:xfrm>
        </p:grpSpPr>
        <p:sp>
          <p:nvSpPr>
            <p:cNvPr id="71" name="object 71"/>
            <p:cNvSpPr/>
            <p:nvPr/>
          </p:nvSpPr>
          <p:spPr>
            <a:xfrm>
              <a:off x="5954852" y="1001712"/>
              <a:ext cx="2719705" cy="0"/>
            </a:xfrm>
            <a:custGeom>
              <a:avLst/>
              <a:gdLst/>
              <a:ahLst/>
              <a:cxnLst/>
              <a:rect l="l" t="t" r="r" b="b"/>
              <a:pathLst>
                <a:path w="2719705">
                  <a:moveTo>
                    <a:pt x="0" y="0"/>
                  </a:moveTo>
                  <a:lnTo>
                    <a:pt x="271917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957379" y="1001712"/>
              <a:ext cx="0" cy="325120"/>
            </a:xfrm>
            <a:custGeom>
              <a:avLst/>
              <a:gdLst/>
              <a:ahLst/>
              <a:cxnLst/>
              <a:rect l="l" t="t" r="r" b="b"/>
              <a:pathLst>
                <a:path h="325119">
                  <a:moveTo>
                    <a:pt x="0" y="324865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671483" y="1001712"/>
              <a:ext cx="0" cy="325120"/>
            </a:xfrm>
            <a:custGeom>
              <a:avLst/>
              <a:gdLst/>
              <a:ahLst/>
              <a:cxnLst/>
              <a:rect l="l" t="t" r="r" b="b"/>
              <a:pathLst>
                <a:path h="325119">
                  <a:moveTo>
                    <a:pt x="0" y="324865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954852" y="1326578"/>
              <a:ext cx="2719705" cy="0"/>
            </a:xfrm>
            <a:custGeom>
              <a:avLst/>
              <a:gdLst/>
              <a:ahLst/>
              <a:cxnLst/>
              <a:rect l="l" t="t" r="r" b="b"/>
              <a:pathLst>
                <a:path w="2719705">
                  <a:moveTo>
                    <a:pt x="0" y="0"/>
                  </a:moveTo>
                  <a:lnTo>
                    <a:pt x="271917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5061762" y="1468296"/>
            <a:ext cx="40430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Q-learning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i="1" spc="5" dirty="0">
                <a:latin typeface="Times New Roman"/>
                <a:cs typeface="Times New Roman"/>
              </a:rPr>
              <a:t>Q</a:t>
            </a:r>
            <a:r>
              <a:rPr sz="800" spc="5" dirty="0">
                <a:latin typeface="LM Roman 8"/>
                <a:cs typeface="LM Roman 8"/>
              </a:rPr>
              <a:t>-learning </a:t>
            </a:r>
            <a:r>
              <a:rPr sz="800" spc="-5" dirty="0">
                <a:latin typeface="LM Roman 8"/>
                <a:cs typeface="LM Roman 8"/>
              </a:rPr>
              <a:t>is a </a:t>
            </a:r>
            <a:r>
              <a:rPr sz="800" dirty="0">
                <a:latin typeface="LM Roman 8"/>
                <a:cs typeface="LM Roman 8"/>
              </a:rPr>
              <a:t>model-free </a:t>
            </a:r>
            <a:r>
              <a:rPr sz="800" spc="-5" dirty="0">
                <a:latin typeface="LM Roman 8"/>
                <a:cs typeface="LM Roman 8"/>
              </a:rPr>
              <a:t>estimation of </a:t>
            </a:r>
            <a:r>
              <a:rPr sz="800" i="1" spc="40" dirty="0">
                <a:latin typeface="Times New Roman"/>
                <a:cs typeface="Times New Roman"/>
              </a:rPr>
              <a:t>Q</a:t>
            </a:r>
            <a:r>
              <a:rPr sz="800" spc="40" dirty="0">
                <a:latin typeface="LM Roman 8"/>
                <a:cs typeface="LM Roman 8"/>
              </a:rPr>
              <a:t>, </a:t>
            </a:r>
            <a:r>
              <a:rPr sz="800" spc="-10" dirty="0">
                <a:latin typeface="LM Roman 8"/>
                <a:cs typeface="LM Roman 8"/>
              </a:rPr>
              <a:t>which </a:t>
            </a:r>
            <a:r>
              <a:rPr sz="800" spc="-5" dirty="0">
                <a:latin typeface="LM Roman 8"/>
                <a:cs typeface="LM Roman 8"/>
              </a:rPr>
              <a:t>is done as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621955" y="1838317"/>
            <a:ext cx="155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spc="82" baseline="-13888" dirty="0">
                <a:latin typeface="Times New Roman"/>
                <a:cs typeface="Times New Roman"/>
              </a:rPr>
              <a:t>a</a:t>
            </a:r>
            <a:r>
              <a:rPr sz="500" i="1" spc="55" dirty="0">
                <a:latin typeface="DejaVu Sans"/>
                <a:cs typeface="DejaVu Sans"/>
              </a:rPr>
              <a:t>r</a:t>
            </a:r>
            <a:endParaRPr sz="500">
              <a:latin typeface="DejaVu Sans"/>
              <a:cs typeface="DejaVu San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959394" y="1714727"/>
            <a:ext cx="2863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i="1" spc="50" dirty="0">
                <a:latin typeface="DejaVu Sans"/>
                <a:cs typeface="DejaVu Sans"/>
              </a:rPr>
              <a:t>j</a:t>
            </a:r>
            <a:r>
              <a:rPr sz="600" i="1" spc="240" dirty="0">
                <a:latin typeface="DejaVu Sans"/>
                <a:cs typeface="DejaVu Sans"/>
              </a:rPr>
              <a:t> </a:t>
            </a:r>
            <a:r>
              <a:rPr sz="600" i="1" spc="45" dirty="0">
                <a:latin typeface="DejaVu Sans"/>
                <a:cs typeface="DejaVu Sans"/>
              </a:rPr>
              <a:t>j</a:t>
            </a:r>
            <a:r>
              <a:rPr sz="1200" spc="67" baseline="-24305" dirty="0">
                <a:latin typeface="LM Roman 8"/>
                <a:cs typeface="LM Roman 8"/>
              </a:rPr>
              <a:t>)</a:t>
            </a:r>
            <a:endParaRPr sz="1200" baseline="-24305">
              <a:latin typeface="LM Roman 8"/>
              <a:cs typeface="LM Roman 8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887402" y="1756777"/>
            <a:ext cx="24530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800" i="1" spc="40" dirty="0">
                <a:latin typeface="Times New Roman"/>
                <a:cs typeface="Times New Roman"/>
              </a:rPr>
              <a:t>Q</a:t>
            </a:r>
            <a:r>
              <a:rPr sz="800" spc="40" dirty="0">
                <a:latin typeface="LM Roman 8"/>
                <a:cs typeface="LM Roman 8"/>
              </a:rPr>
              <a:t>(</a:t>
            </a:r>
            <a:r>
              <a:rPr sz="800" i="1" spc="40" dirty="0">
                <a:latin typeface="Times New Roman"/>
                <a:cs typeface="Times New Roman"/>
              </a:rPr>
              <a:t>s,a</a:t>
            </a:r>
            <a:r>
              <a:rPr sz="800" spc="40" dirty="0">
                <a:latin typeface="LM Roman 8"/>
                <a:cs typeface="LM Roman 8"/>
              </a:rPr>
              <a:t>)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i="1" spc="175" dirty="0">
                <a:latin typeface="DejaVu Sans"/>
                <a:cs typeface="DejaVu Sans"/>
              </a:rPr>
              <a:t>←</a:t>
            </a:r>
            <a:r>
              <a:rPr sz="800" i="1" spc="-20" dirty="0">
                <a:latin typeface="DejaVu Sans"/>
                <a:cs typeface="DejaVu Sans"/>
              </a:rPr>
              <a:t> </a:t>
            </a:r>
            <a:r>
              <a:rPr sz="800" i="1" spc="40" dirty="0">
                <a:latin typeface="Times New Roman"/>
                <a:cs typeface="Times New Roman"/>
              </a:rPr>
              <a:t>Q</a:t>
            </a:r>
            <a:r>
              <a:rPr sz="800" spc="40" dirty="0">
                <a:latin typeface="LM Roman 8"/>
                <a:cs typeface="LM Roman 8"/>
              </a:rPr>
              <a:t>(</a:t>
            </a:r>
            <a:r>
              <a:rPr sz="800" i="1" spc="40" dirty="0">
                <a:latin typeface="Times New Roman"/>
                <a:cs typeface="Times New Roman"/>
              </a:rPr>
              <a:t>s,a</a:t>
            </a:r>
            <a:r>
              <a:rPr sz="800" spc="40" dirty="0">
                <a:latin typeface="LM Roman 8"/>
                <a:cs typeface="LM Roman 8"/>
              </a:rPr>
              <a:t>)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α</a:t>
            </a:r>
            <a:r>
              <a:rPr sz="800" i="1" spc="265" dirty="0">
                <a:latin typeface="Times New Roman"/>
                <a:cs typeface="Times New Roman"/>
              </a:rPr>
              <a:t> </a:t>
            </a:r>
            <a:r>
              <a:rPr sz="800" i="1" spc="55" dirty="0">
                <a:latin typeface="Times New Roman"/>
                <a:cs typeface="Times New Roman"/>
              </a:rPr>
              <a:t>R</a:t>
            </a:r>
            <a:r>
              <a:rPr sz="800" spc="55" dirty="0">
                <a:latin typeface="LM Roman 8"/>
                <a:cs typeface="LM Roman 8"/>
              </a:rPr>
              <a:t>(</a:t>
            </a:r>
            <a:r>
              <a:rPr sz="800" i="1" spc="55" dirty="0">
                <a:latin typeface="Times New Roman"/>
                <a:cs typeface="Times New Roman"/>
              </a:rPr>
              <a:t>s,a,s</a:t>
            </a:r>
            <a:r>
              <a:rPr sz="900" i="1" spc="82" baseline="32407" dirty="0">
                <a:latin typeface="DejaVu Sans"/>
                <a:cs typeface="DejaVu Sans"/>
              </a:rPr>
              <a:t>j</a:t>
            </a:r>
            <a:r>
              <a:rPr sz="800" spc="55" dirty="0">
                <a:latin typeface="LM Roman 8"/>
                <a:cs typeface="LM Roman 8"/>
              </a:rPr>
              <a:t>)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γ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max</a:t>
            </a:r>
            <a:r>
              <a:rPr sz="800" spc="-135" dirty="0">
                <a:latin typeface="LM Roman 8"/>
                <a:cs typeface="LM Roman 8"/>
              </a:rPr>
              <a:t> </a:t>
            </a:r>
            <a:r>
              <a:rPr sz="800" i="1" spc="50" dirty="0">
                <a:latin typeface="Times New Roman"/>
                <a:cs typeface="Times New Roman"/>
              </a:rPr>
              <a:t>Q</a:t>
            </a:r>
            <a:r>
              <a:rPr sz="800" spc="50" dirty="0">
                <a:latin typeface="LM Roman 8"/>
                <a:cs typeface="LM Roman 8"/>
              </a:rPr>
              <a:t>(</a:t>
            </a:r>
            <a:r>
              <a:rPr sz="800" i="1" spc="50" dirty="0">
                <a:latin typeface="Times New Roman"/>
                <a:cs typeface="Times New Roman"/>
              </a:rPr>
              <a:t>s</a:t>
            </a:r>
            <a:r>
              <a:rPr sz="800" i="1" spc="65" dirty="0">
                <a:latin typeface="Times New Roman"/>
                <a:cs typeface="Times New Roman"/>
              </a:rPr>
              <a:t> </a:t>
            </a:r>
            <a:r>
              <a:rPr sz="800" i="1" spc="40" dirty="0">
                <a:latin typeface="Times New Roman"/>
                <a:cs typeface="Times New Roman"/>
              </a:rPr>
              <a:t>,a</a:t>
            </a:r>
            <a:r>
              <a:rPr sz="800" i="1" spc="100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313242" y="1756777"/>
            <a:ext cx="3308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80" dirty="0">
                <a:latin typeface="Times New Roman"/>
                <a:cs typeface="Times New Roman"/>
              </a:rPr>
              <a:t>Q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50" dirty="0">
                <a:latin typeface="Times New Roman"/>
                <a:cs typeface="Times New Roman"/>
              </a:rPr>
              <a:t>s,a</a:t>
            </a:r>
            <a:r>
              <a:rPr sz="800" spc="-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903263" y="1597347"/>
            <a:ext cx="18002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27200" algn="l"/>
              </a:tabLst>
            </a:pPr>
            <a:r>
              <a:rPr sz="1000" spc="-150" dirty="0">
                <a:latin typeface="Arial"/>
                <a:cs typeface="Arial"/>
              </a:rPr>
              <a:t>Σ	Σ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5895175" y="1688503"/>
            <a:ext cx="2839085" cy="316230"/>
            <a:chOff x="5895175" y="1688503"/>
            <a:chExt cx="2839085" cy="316230"/>
          </a:xfrm>
        </p:grpSpPr>
        <p:sp>
          <p:nvSpPr>
            <p:cNvPr id="82" name="object 82"/>
            <p:cNvSpPr/>
            <p:nvPr/>
          </p:nvSpPr>
          <p:spPr>
            <a:xfrm>
              <a:off x="5895175" y="1691030"/>
              <a:ext cx="2839085" cy="0"/>
            </a:xfrm>
            <a:custGeom>
              <a:avLst/>
              <a:gdLst/>
              <a:ahLst/>
              <a:cxnLst/>
              <a:rect l="l" t="t" r="r" b="b"/>
              <a:pathLst>
                <a:path w="2839084">
                  <a:moveTo>
                    <a:pt x="0" y="0"/>
                  </a:moveTo>
                  <a:lnTo>
                    <a:pt x="283851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897715" y="1691030"/>
              <a:ext cx="0" cy="311150"/>
            </a:xfrm>
            <a:custGeom>
              <a:avLst/>
              <a:gdLst/>
              <a:ahLst/>
              <a:cxnLst/>
              <a:rect l="l" t="t" r="r" b="b"/>
              <a:pathLst>
                <a:path h="311150">
                  <a:moveTo>
                    <a:pt x="0" y="31083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731161" y="1691030"/>
              <a:ext cx="0" cy="311150"/>
            </a:xfrm>
            <a:custGeom>
              <a:avLst/>
              <a:gdLst/>
              <a:ahLst/>
              <a:cxnLst/>
              <a:rect l="l" t="t" r="r" b="b"/>
              <a:pathLst>
                <a:path h="311150">
                  <a:moveTo>
                    <a:pt x="0" y="31083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895175" y="2001862"/>
              <a:ext cx="2839085" cy="0"/>
            </a:xfrm>
            <a:custGeom>
              <a:avLst/>
              <a:gdLst/>
              <a:ahLst/>
              <a:cxnLst/>
              <a:rect l="l" t="t" r="r" b="b"/>
              <a:pathLst>
                <a:path w="2839084">
                  <a:moveTo>
                    <a:pt x="0" y="0"/>
                  </a:moveTo>
                  <a:lnTo>
                    <a:pt x="283851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/>
          <p:nvPr/>
        </p:nvSpPr>
        <p:spPr>
          <a:xfrm>
            <a:off x="467994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88" name="object 8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299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6667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3999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8307" y="669332"/>
            <a:ext cx="458152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 indent="-218440">
              <a:lnSpc>
                <a:spcPts val="1195"/>
              </a:lnSpc>
              <a:buSzPct val="111111"/>
              <a:buFont typeface="LM Roman 10"/>
              <a:buAutoNum type="arabicPlain" startAt="4"/>
              <a:tabLst>
                <a:tab pos="268605" algn="l"/>
                <a:tab pos="269240" algn="l"/>
              </a:tabLst>
            </a:pPr>
            <a:r>
              <a:rPr sz="900" b="1" spc="-10" dirty="0">
                <a:latin typeface="LM Roman 9"/>
                <a:cs typeface="LM Roman 9"/>
              </a:rPr>
              <a:t>Machine Learning </a:t>
            </a:r>
            <a:r>
              <a:rPr sz="900" b="1" spc="-5" dirty="0">
                <a:latin typeface="LM Roman 9"/>
                <a:cs typeface="LM Roman 9"/>
              </a:rPr>
              <a:t>Tips and</a:t>
            </a:r>
            <a:r>
              <a:rPr sz="900" b="1" dirty="0">
                <a:latin typeface="LM Roman 9"/>
                <a:cs typeface="LM Roman 9"/>
              </a:rPr>
              <a:t> </a:t>
            </a:r>
            <a:r>
              <a:rPr sz="900" b="1" spc="-25" dirty="0">
                <a:latin typeface="LM Roman 9"/>
                <a:cs typeface="LM Roman 9"/>
              </a:rPr>
              <a:t>Tricks</a:t>
            </a:r>
            <a:endParaRPr sz="900" dirty="0">
              <a:latin typeface="LM Roman 9"/>
              <a:cs typeface="LM Roman 9"/>
            </a:endParaRPr>
          </a:p>
          <a:p>
            <a:pPr marL="381635" lvl="1" indent="-331470">
              <a:lnSpc>
                <a:spcPct val="100000"/>
              </a:lnSpc>
              <a:spcBef>
                <a:spcPts val="1245"/>
              </a:spcBef>
              <a:buSzPct val="111111"/>
              <a:buFont typeface="LM Roman 10"/>
              <a:buAutoNum type="arabicPeriod"/>
              <a:tabLst>
                <a:tab pos="381635" algn="l"/>
                <a:tab pos="382270" algn="l"/>
              </a:tabLst>
            </a:pPr>
            <a:r>
              <a:rPr sz="900" b="1" spc="-10" dirty="0">
                <a:latin typeface="LM Roman 9"/>
                <a:cs typeface="LM Roman 9"/>
              </a:rPr>
              <a:t>Metrics</a:t>
            </a:r>
            <a:endParaRPr sz="900" dirty="0">
              <a:latin typeface="LM Roman 9"/>
              <a:cs typeface="LM Roman 9"/>
            </a:endParaRPr>
          </a:p>
          <a:p>
            <a:pPr marL="50800">
              <a:lnSpc>
                <a:spcPct val="100000"/>
              </a:lnSpc>
              <a:spcBef>
                <a:spcPts val="1100"/>
              </a:spcBef>
            </a:pPr>
            <a:r>
              <a:rPr lang="en-US" sz="800" spc="-10" dirty="0" smtClean="0">
                <a:latin typeface="LM Roman 8"/>
                <a:cs typeface="LM Roman 8"/>
              </a:rPr>
              <a:t>    </a:t>
            </a:r>
            <a:r>
              <a:rPr sz="800" spc="-10" dirty="0" smtClean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set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 data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points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i="1" spc="15" dirty="0">
                <a:latin typeface="DejaVu Sans"/>
                <a:cs typeface="DejaVu Sans"/>
              </a:rPr>
              <a:t>{</a:t>
            </a:r>
            <a:r>
              <a:rPr sz="800" i="1" spc="15" dirty="0">
                <a:latin typeface="Times New Roman"/>
                <a:cs typeface="Times New Roman"/>
              </a:rPr>
              <a:t>x</a:t>
            </a:r>
            <a:r>
              <a:rPr sz="900" spc="22" baseline="27777" dirty="0">
                <a:latin typeface="LM Roman 6"/>
                <a:cs typeface="LM Roman 6"/>
              </a:rPr>
              <a:t>(1)</a:t>
            </a:r>
            <a:r>
              <a:rPr sz="800" i="1" spc="15" dirty="0">
                <a:latin typeface="Times New Roman"/>
                <a:cs typeface="Times New Roman"/>
              </a:rPr>
              <a:t>,</a:t>
            </a:r>
            <a:r>
              <a:rPr sz="800" i="1" spc="-55" dirty="0">
                <a:latin typeface="Times New Roman"/>
                <a:cs typeface="Times New Roman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...,</a:t>
            </a:r>
            <a:r>
              <a:rPr sz="800" i="1" spc="-55" dirty="0">
                <a:latin typeface="Times New Roman"/>
                <a:cs typeface="Times New Roman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x</a:t>
            </a:r>
            <a:r>
              <a:rPr sz="900" spc="67" baseline="27777" dirty="0">
                <a:latin typeface="LM Roman 6"/>
                <a:cs typeface="LM Roman 6"/>
              </a:rPr>
              <a:t>(</a:t>
            </a:r>
            <a:r>
              <a:rPr sz="900" i="1" spc="67" baseline="27777" dirty="0">
                <a:latin typeface="Times New Roman"/>
                <a:cs typeface="Times New Roman"/>
              </a:rPr>
              <a:t>m</a:t>
            </a:r>
            <a:r>
              <a:rPr sz="900" spc="67" baseline="27777" dirty="0">
                <a:latin typeface="LM Roman 6"/>
                <a:cs typeface="LM Roman 6"/>
              </a:rPr>
              <a:t>)</a:t>
            </a:r>
            <a:r>
              <a:rPr sz="800" i="1" spc="45" dirty="0">
                <a:latin typeface="DejaVu Sans"/>
                <a:cs typeface="DejaVu Sans"/>
              </a:rPr>
              <a:t>}</a:t>
            </a:r>
            <a:r>
              <a:rPr sz="800" spc="45" dirty="0">
                <a:latin typeface="LM Roman 8"/>
                <a:cs typeface="LM Roman 8"/>
              </a:rPr>
              <a:t>,</a:t>
            </a:r>
            <a:r>
              <a:rPr sz="800" spc="-5" dirty="0">
                <a:latin typeface="LM Roman 8"/>
                <a:cs typeface="LM Roman 8"/>
              </a:rPr>
              <a:t> where</a:t>
            </a:r>
            <a:r>
              <a:rPr sz="800" spc="-10" dirty="0">
                <a:latin typeface="LM Roman 8"/>
                <a:cs typeface="LM Roman 8"/>
              </a:rPr>
              <a:t> each</a:t>
            </a:r>
            <a:r>
              <a:rPr sz="800" spc="-5" dirty="0">
                <a:latin typeface="LM Roman 8"/>
                <a:cs typeface="LM Roman 8"/>
              </a:rPr>
              <a:t> </a:t>
            </a:r>
            <a:r>
              <a:rPr sz="800" i="1" spc="50" dirty="0">
                <a:latin typeface="Times New Roman"/>
                <a:cs typeface="Times New Roman"/>
              </a:rPr>
              <a:t>x</a:t>
            </a:r>
            <a:r>
              <a:rPr sz="900" spc="75" baseline="27777" dirty="0">
                <a:latin typeface="LM Roman 6"/>
                <a:cs typeface="LM Roman 6"/>
              </a:rPr>
              <a:t>(</a:t>
            </a:r>
            <a:r>
              <a:rPr sz="900" i="1" spc="75" baseline="27777" dirty="0">
                <a:latin typeface="Times New Roman"/>
                <a:cs typeface="Times New Roman"/>
              </a:rPr>
              <a:t>i</a:t>
            </a:r>
            <a:r>
              <a:rPr sz="900" spc="75" baseline="27777" dirty="0">
                <a:latin typeface="LM Roman 6"/>
                <a:cs typeface="LM Roman 6"/>
              </a:rPr>
              <a:t>)</a:t>
            </a:r>
            <a:r>
              <a:rPr sz="900" spc="112" baseline="27777" dirty="0">
                <a:latin typeface="LM Roman 6"/>
                <a:cs typeface="LM Roman 6"/>
              </a:rPr>
              <a:t> </a:t>
            </a:r>
            <a:r>
              <a:rPr sz="800" spc="-5" dirty="0">
                <a:latin typeface="LM Roman 8"/>
                <a:cs typeface="LM Roman 8"/>
              </a:rPr>
              <a:t>has </a:t>
            </a:r>
            <a:r>
              <a:rPr sz="800" i="1" spc="110" dirty="0">
                <a:latin typeface="Times New Roman"/>
                <a:cs typeface="Times New Roman"/>
              </a:rPr>
              <a:t>n</a:t>
            </a:r>
            <a:r>
              <a:rPr sz="800" i="1" spc="7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features, </a:t>
            </a:r>
            <a:r>
              <a:rPr sz="800" dirty="0">
                <a:latin typeface="LM Roman 8"/>
                <a:cs typeface="LM Roman 8"/>
              </a:rPr>
              <a:t>associated</a:t>
            </a:r>
            <a:r>
              <a:rPr sz="800" spc="-5" dirty="0">
                <a:latin typeface="LM Roman 8"/>
                <a:cs typeface="LM Roman 8"/>
              </a:rPr>
              <a:t> to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set of</a:t>
            </a:r>
            <a:endParaRPr sz="800" dirty="0">
              <a:latin typeface="LM Roman 8"/>
              <a:cs typeface="LM Roman 8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5131" y="1394261"/>
            <a:ext cx="5499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0365" algn="l"/>
              </a:tabLst>
            </a:pPr>
            <a:r>
              <a:rPr sz="600" spc="-5" dirty="0">
                <a:latin typeface="LM Roman 6"/>
                <a:cs typeface="LM Roman 6"/>
              </a:rPr>
              <a:t>(1)	(</a:t>
            </a:r>
            <a:r>
              <a:rPr sz="600" i="1" spc="215" dirty="0">
                <a:latin typeface="Times New Roman"/>
                <a:cs typeface="Times New Roman"/>
              </a:rPr>
              <a:t>m</a:t>
            </a:r>
            <a:r>
              <a:rPr sz="600" spc="-5" dirty="0">
                <a:latin typeface="LM Roman 6"/>
                <a:cs typeface="LM Roman 6"/>
              </a:rPr>
              <a:t>)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299" y="1404669"/>
            <a:ext cx="45053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1995" algn="l"/>
                <a:tab pos="1126490" algn="l"/>
              </a:tabLst>
            </a:pPr>
            <a:r>
              <a:rPr sz="800" spc="-5" dirty="0">
                <a:latin typeface="LM Roman 8"/>
                <a:cs typeface="LM Roman 8"/>
              </a:rPr>
              <a:t>outcomes</a:t>
            </a:r>
            <a:r>
              <a:rPr sz="800" spc="10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{</a:t>
            </a:r>
            <a:r>
              <a:rPr sz="800" i="1" spc="-15" dirty="0">
                <a:latin typeface="Times New Roman"/>
                <a:cs typeface="Times New Roman"/>
              </a:rPr>
              <a:t>y	</a:t>
            </a:r>
            <a:r>
              <a:rPr sz="800" i="1" spc="35" dirty="0">
                <a:latin typeface="Times New Roman"/>
                <a:cs typeface="Times New Roman"/>
              </a:rPr>
              <a:t>,</a:t>
            </a:r>
            <a:r>
              <a:rPr sz="800" i="1" spc="-60" dirty="0">
                <a:latin typeface="Times New Roman"/>
                <a:cs typeface="Times New Roman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...,</a:t>
            </a:r>
            <a:r>
              <a:rPr sz="800" i="1" spc="-60" dirty="0">
                <a:latin typeface="Times New Roman"/>
                <a:cs typeface="Times New Roman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y	</a:t>
            </a:r>
            <a:r>
              <a:rPr sz="800" i="1" spc="-45" dirty="0">
                <a:latin typeface="DejaVu Sans"/>
                <a:cs typeface="DejaVu Sans"/>
              </a:rPr>
              <a:t>}</a:t>
            </a:r>
            <a:r>
              <a:rPr sz="800" spc="-45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 want </a:t>
            </a:r>
            <a:r>
              <a:rPr sz="800" spc="-5" dirty="0">
                <a:latin typeface="LM Roman 8"/>
                <a:cs typeface="LM Roman 8"/>
              </a:rPr>
              <a:t>to assess a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classifier that learns </a:t>
            </a:r>
            <a:r>
              <a:rPr sz="800" spc="-15" dirty="0">
                <a:latin typeface="LM Roman 8"/>
                <a:cs typeface="LM Roman 8"/>
              </a:rPr>
              <a:t>how </a:t>
            </a:r>
            <a:r>
              <a:rPr sz="800" spc="-5" dirty="0">
                <a:latin typeface="LM Roman 8"/>
                <a:cs typeface="LM Roman 8"/>
              </a:rPr>
              <a:t>to predict </a:t>
            </a:r>
            <a:r>
              <a:rPr sz="800" i="1" spc="60" dirty="0">
                <a:latin typeface="Times New Roman"/>
                <a:cs typeface="Times New Roman"/>
              </a:rPr>
              <a:t>y</a:t>
            </a:r>
            <a:r>
              <a:rPr sz="800" i="1" spc="7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from</a:t>
            </a:r>
            <a:endParaRPr sz="800" dirty="0">
              <a:latin typeface="LM Roman 8"/>
              <a:cs typeface="LM Roman 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299" y="1486216"/>
            <a:ext cx="1162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29801" y="2964294"/>
            <a:ext cx="10160" cy="76200"/>
            <a:chOff x="2529801" y="2964294"/>
            <a:chExt cx="10160" cy="76200"/>
          </a:xfrm>
        </p:grpSpPr>
        <p:sp>
          <p:nvSpPr>
            <p:cNvPr id="10" name="object 10"/>
            <p:cNvSpPr/>
            <p:nvPr/>
          </p:nvSpPr>
          <p:spPr>
            <a:xfrm>
              <a:off x="2532329" y="2964294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609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37396" y="2964294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7609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91299" y="1899025"/>
            <a:ext cx="4505960" cy="1160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457200" algn="l"/>
              </a:tabLst>
            </a:pPr>
            <a:r>
              <a:rPr sz="1000" b="1" spc="-5" dirty="0">
                <a:latin typeface="LM Roman 10"/>
                <a:cs typeface="LM Roman 10"/>
              </a:rPr>
              <a:t>4.1.1	</a:t>
            </a:r>
            <a:r>
              <a:rPr sz="900" b="1" spc="-10" dirty="0">
                <a:latin typeface="LM Roman 9"/>
                <a:cs typeface="LM Roman 9"/>
              </a:rPr>
              <a:t>Classification</a:t>
            </a:r>
            <a:endParaRPr sz="900" dirty="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1075"/>
              </a:spcBef>
            </a:pPr>
            <a:r>
              <a:rPr sz="800" spc="-5" dirty="0">
                <a:latin typeface="LM Roman 8"/>
                <a:cs typeface="LM Roman 8"/>
              </a:rPr>
              <a:t>In a context of a binary classification, here are the main metrics that are important to </a:t>
            </a:r>
            <a:r>
              <a:rPr sz="800" spc="-10" dirty="0">
                <a:latin typeface="LM Roman 8"/>
                <a:cs typeface="LM Roman 8"/>
              </a:rPr>
              <a:t>track </a:t>
            </a:r>
            <a:r>
              <a:rPr sz="800" spc="-5" dirty="0">
                <a:latin typeface="LM Roman 8"/>
                <a:cs typeface="LM Roman 8"/>
              </a:rPr>
              <a:t>to  assess the </a:t>
            </a:r>
            <a:r>
              <a:rPr sz="800" dirty="0">
                <a:latin typeface="LM Roman 8"/>
                <a:cs typeface="LM Roman 8"/>
              </a:rPr>
              <a:t>performance </a:t>
            </a:r>
            <a:r>
              <a:rPr sz="800" spc="-5" dirty="0">
                <a:latin typeface="LM Roman 8"/>
                <a:cs typeface="LM Roman 8"/>
              </a:rPr>
              <a:t>of the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model.</a:t>
            </a:r>
          </a:p>
          <a:p>
            <a:pPr marL="12700" marR="5080">
              <a:lnSpc>
                <a:spcPts val="800"/>
              </a:lnSpc>
              <a:spcBef>
                <a:spcPts val="530"/>
              </a:spcBef>
              <a:buFont typeface="DejaVu Sans"/>
              <a:buChar char="❒"/>
              <a:tabLst>
                <a:tab pos="13208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Confusion matrix </a:t>
            </a:r>
            <a:r>
              <a:rPr sz="800" spc="-5" dirty="0">
                <a:latin typeface="LM Roman 8"/>
                <a:cs typeface="LM Roman 8"/>
              </a:rPr>
              <a:t>– The confusion matrix is used to </a:t>
            </a:r>
            <a:r>
              <a:rPr sz="800" spc="-15" dirty="0">
                <a:latin typeface="LM Roman 8"/>
                <a:cs typeface="LM Roman 8"/>
              </a:rPr>
              <a:t>have </a:t>
            </a:r>
            <a:r>
              <a:rPr sz="800" spc="-5" dirty="0">
                <a:latin typeface="LM Roman 8"/>
                <a:cs typeface="LM Roman 8"/>
              </a:rPr>
              <a:t>a more complete picture when  assessing the </a:t>
            </a:r>
            <a:r>
              <a:rPr sz="800" dirty="0">
                <a:latin typeface="LM Roman 8"/>
                <a:cs typeface="LM Roman 8"/>
              </a:rPr>
              <a:t>performance </a:t>
            </a:r>
            <a:r>
              <a:rPr sz="800" spc="-5" dirty="0">
                <a:latin typeface="LM Roman 8"/>
                <a:cs typeface="LM Roman 8"/>
              </a:rPr>
              <a:t>of a </a:t>
            </a:r>
            <a:r>
              <a:rPr sz="800" dirty="0">
                <a:latin typeface="LM Roman 8"/>
                <a:cs typeface="LM Roman 8"/>
              </a:rPr>
              <a:t>model. </a:t>
            </a:r>
            <a:r>
              <a:rPr sz="800" spc="-5" dirty="0">
                <a:latin typeface="LM Roman 8"/>
                <a:cs typeface="LM Roman 8"/>
              </a:rPr>
              <a:t>It is defined as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 dirty="0">
              <a:latin typeface="LM Roman 8"/>
              <a:cs typeface="LM Roman 8"/>
            </a:endParaRPr>
          </a:p>
          <a:p>
            <a:pPr marR="370840" algn="ctr">
              <a:lnSpc>
                <a:spcPct val="100000"/>
              </a:lnSpc>
              <a:spcBef>
                <a:spcPts val="735"/>
              </a:spcBef>
            </a:pPr>
            <a:r>
              <a:rPr sz="800" b="1" spc="-5" dirty="0">
                <a:latin typeface="LM Roman 8"/>
                <a:cs typeface="LM Roman 8"/>
              </a:rPr>
              <a:t>Predicted</a:t>
            </a:r>
            <a:r>
              <a:rPr sz="800" b="1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class</a:t>
            </a:r>
            <a:endParaRPr sz="800" dirty="0">
              <a:latin typeface="LM Roman 8"/>
              <a:cs typeface="LM Roman 8"/>
            </a:endParaRPr>
          </a:p>
          <a:p>
            <a:pPr marR="405765" algn="ctr">
              <a:lnSpc>
                <a:spcPct val="100000"/>
              </a:lnSpc>
              <a:spcBef>
                <a:spcPts val="380"/>
              </a:spcBef>
              <a:tabLst>
                <a:tab pos="884555" algn="l"/>
              </a:tabLst>
            </a:pPr>
            <a:r>
              <a:rPr sz="800" spc="-5" dirty="0">
                <a:latin typeface="LM Roman 8"/>
                <a:cs typeface="LM Roman 8"/>
              </a:rPr>
              <a:t>+	–</a:t>
            </a:r>
            <a:endParaRPr sz="800" dirty="0">
              <a:latin typeface="LM Roman 8"/>
              <a:cs typeface="LM Roman 8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449539" y="3087204"/>
          <a:ext cx="1968498" cy="1079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8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+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571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TP</a:t>
                      </a:r>
                      <a:endParaRPr sz="800" dirty="0">
                        <a:latin typeface="LM Roman 8"/>
                        <a:cs typeface="LM Roman 8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800" spc="-25" dirty="0">
                          <a:latin typeface="LM Roman 8"/>
                          <a:cs typeface="LM Roman 8"/>
                        </a:rPr>
                        <a:t>True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Positives</a:t>
                      </a:r>
                      <a:endParaRPr sz="800" dirty="0">
                        <a:latin typeface="LM Roman 8"/>
                        <a:cs typeface="LM Roman 8"/>
                      </a:endParaRPr>
                    </a:p>
                  </a:txBody>
                  <a:tcPr marL="0" marR="0" marT="654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2FFB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FN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0" dirty="0">
                          <a:latin typeface="LM Roman 8"/>
                          <a:cs typeface="LM Roman 8"/>
                        </a:rPr>
                        <a:t>False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Negatives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Type </a:t>
                      </a:r>
                      <a:r>
                        <a:rPr sz="800" spc="5" dirty="0">
                          <a:latin typeface="LM Roman 8"/>
                          <a:cs typeface="LM Roman 8"/>
                        </a:rPr>
                        <a:t>II</a:t>
                      </a:r>
                      <a:r>
                        <a:rPr sz="800" spc="-3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error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8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–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57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FP</a:t>
                      </a:r>
                      <a:endParaRPr sz="800" dirty="0">
                        <a:latin typeface="LM Roman 8"/>
                        <a:cs typeface="LM Roman 8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spc="-20" dirty="0">
                          <a:latin typeface="LM Roman 8"/>
                          <a:cs typeface="LM Roman 8"/>
                        </a:rPr>
                        <a:t>False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Positives</a:t>
                      </a:r>
                      <a:endParaRPr sz="800" dirty="0">
                        <a:latin typeface="LM Roman 8"/>
                        <a:cs typeface="LM Roman 8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Type I</a:t>
                      </a:r>
                      <a:r>
                        <a:rPr sz="800" spc="-3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error</a:t>
                      </a:r>
                      <a:endParaRPr sz="800" dirty="0">
                        <a:latin typeface="LM Roman 8"/>
                        <a:cs typeface="LM Roman 8"/>
                      </a:endParaRPr>
                    </a:p>
                  </a:txBody>
                  <a:tcPr marL="0" marR="0" marT="654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B2B2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TN</a:t>
                      </a:r>
                      <a:endParaRPr sz="800" dirty="0">
                        <a:latin typeface="LM Roman 8"/>
                        <a:cs typeface="LM Roman 8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800" spc="-25" dirty="0">
                          <a:latin typeface="LM Roman 8"/>
                          <a:cs typeface="LM Roman 8"/>
                        </a:rPr>
                        <a:t>True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Negatives</a:t>
                      </a:r>
                      <a:endParaRPr sz="800" dirty="0">
                        <a:latin typeface="LM Roman 8"/>
                        <a:cs typeface="LM Roman 8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756996" y="3545140"/>
            <a:ext cx="6350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latin typeface="LM Roman 8"/>
                <a:cs typeface="LM Roman 8"/>
              </a:rPr>
              <a:t>Actual</a:t>
            </a:r>
            <a:r>
              <a:rPr sz="800" b="1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class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1299" y="4253483"/>
            <a:ext cx="4505960" cy="24955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39700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Main </a:t>
            </a: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metrics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metrics are commonly used to assess the </a:t>
            </a:r>
            <a:r>
              <a:rPr sz="800" dirty="0">
                <a:latin typeface="LM Roman 8"/>
                <a:cs typeface="LM Roman 8"/>
              </a:rPr>
              <a:t>performance </a:t>
            </a:r>
            <a:r>
              <a:rPr sz="800" spc="-5" dirty="0">
                <a:latin typeface="LM Roman 8"/>
                <a:cs typeface="LM Roman 8"/>
              </a:rPr>
              <a:t>of  classification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52739" y="6120968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0" y="0"/>
                </a:moveTo>
                <a:lnTo>
                  <a:pt x="43296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23963" y="4699736"/>
          <a:ext cx="4034154" cy="19049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Metric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93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25" dirty="0">
                          <a:latin typeface="LM Roman 8"/>
                          <a:cs typeface="LM Roman 8"/>
                        </a:rPr>
                        <a:t>Formula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Interpretation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2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Accuracy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85725">
                        <a:lnSpc>
                          <a:spcPts val="1150"/>
                        </a:lnSpc>
                        <a:spcBef>
                          <a:spcPts val="15"/>
                        </a:spcBef>
                        <a:tabLst>
                          <a:tab pos="371475" algn="l"/>
                          <a:tab pos="109093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TP</a:t>
                      </a:r>
                      <a:r>
                        <a:rPr sz="800" u="sng" spc="-14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u="sng" spc="-140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TN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	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     </a:t>
                      </a:r>
                      <a:r>
                        <a:rPr sz="800" spc="2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TP</a:t>
                      </a:r>
                      <a:r>
                        <a:rPr sz="800" spc="-114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0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TN</a:t>
                      </a:r>
                      <a:r>
                        <a:rPr sz="800" spc="-1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0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FP</a:t>
                      </a:r>
                      <a:r>
                        <a:rPr sz="800" spc="-1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FN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Overall 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performance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of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model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2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Precision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095" marR="371475">
                        <a:lnSpc>
                          <a:spcPts val="1150"/>
                        </a:lnSpc>
                        <a:spcBef>
                          <a:spcPts val="15"/>
                        </a:spcBef>
                        <a:tabLst>
                          <a:tab pos="80454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800" u="sng" spc="8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TP 	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TP</a:t>
                      </a:r>
                      <a:r>
                        <a:rPr sz="800" spc="-14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4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FP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spc="-15" dirty="0">
                          <a:latin typeface="LM Roman 8"/>
                          <a:cs typeface="LM Roman 8"/>
                        </a:rPr>
                        <a:t>How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accurate the positive predictions</a:t>
                      </a:r>
                      <a:r>
                        <a:rPr sz="800" spc="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are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67">
                <a:tc>
                  <a:txBody>
                    <a:bodyPr/>
                    <a:lstStyle/>
                    <a:p>
                      <a:pPr marL="78105" marR="70485" indent="102235">
                        <a:lnSpc>
                          <a:spcPct val="128000"/>
                        </a:lnSpc>
                        <a:spcBef>
                          <a:spcPts val="420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Recall  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Sensitivi</a:t>
                      </a:r>
                      <a:r>
                        <a:rPr sz="800" spc="-25" dirty="0">
                          <a:latin typeface="LM Roman 8"/>
                          <a:cs typeface="LM Roman 8"/>
                        </a:rPr>
                        <a:t>t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y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5285" marR="367665">
                        <a:lnSpc>
                          <a:spcPts val="1150"/>
                        </a:lnSpc>
                        <a:spcBef>
                          <a:spcPts val="15"/>
                        </a:spcBef>
                        <a:tabLst>
                          <a:tab pos="80835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800" u="sng" spc="-9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TP 	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TP</a:t>
                      </a:r>
                      <a:r>
                        <a:rPr sz="800" spc="-14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4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FN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Coverage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of actual positive sample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2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Specificity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5285" marR="367665" indent="137160">
                        <a:lnSpc>
                          <a:spcPts val="1150"/>
                        </a:lnSpc>
                        <a:spcBef>
                          <a:spcPts val="1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TN  TN</a:t>
                      </a:r>
                      <a:r>
                        <a:rPr sz="800" spc="-14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3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FP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Coverage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of actual negative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sample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2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F1</a:t>
                      </a:r>
                      <a:r>
                        <a:rPr sz="800" spc="-2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score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1454" marR="203835">
                        <a:lnSpc>
                          <a:spcPts val="1150"/>
                        </a:lnSpc>
                        <a:spcBef>
                          <a:spcPts val="15"/>
                        </a:spcBef>
                        <a:tabLst>
                          <a:tab pos="489584" algn="l"/>
                          <a:tab pos="972819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2TP 	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2TP</a:t>
                      </a:r>
                      <a:r>
                        <a:rPr sz="800" spc="-1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14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FP</a:t>
                      </a:r>
                      <a:r>
                        <a:rPr sz="800" spc="-1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FN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Hybrid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metric useful for unbalanced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classes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91299" y="6872413"/>
            <a:ext cx="4505960" cy="24955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33985" algn="l"/>
              </a:tabLst>
            </a:pPr>
            <a:r>
              <a:rPr sz="800" b="1" spc="-15" dirty="0">
                <a:solidFill>
                  <a:srgbClr val="9A0404"/>
                </a:solidFill>
                <a:latin typeface="LM Roman 8"/>
                <a:cs typeface="LM Roman 8"/>
              </a:rPr>
              <a:t>ROC </a:t>
            </a:r>
            <a:r>
              <a:rPr sz="800" spc="-5" dirty="0">
                <a:latin typeface="LM Roman 8"/>
                <a:cs typeface="LM Roman 8"/>
              </a:rPr>
              <a:t>– The receiver </a:t>
            </a:r>
            <a:r>
              <a:rPr sz="800" dirty="0">
                <a:latin typeface="LM Roman 8"/>
                <a:cs typeface="LM Roman 8"/>
              </a:rPr>
              <a:t>operating </a:t>
            </a:r>
            <a:r>
              <a:rPr sz="800" spc="-10" dirty="0">
                <a:latin typeface="LM Roman 8"/>
                <a:cs typeface="LM Roman 8"/>
              </a:rPr>
              <a:t>curve, </a:t>
            </a:r>
            <a:r>
              <a:rPr sz="800" spc="-5" dirty="0">
                <a:latin typeface="LM Roman 8"/>
                <a:cs typeface="LM Roman 8"/>
              </a:rPr>
              <a:t>also noted </a:t>
            </a:r>
            <a:r>
              <a:rPr sz="800" spc="-10" dirty="0">
                <a:latin typeface="LM Roman 8"/>
                <a:cs typeface="LM Roman 8"/>
              </a:rPr>
              <a:t>ROC, </a:t>
            </a:r>
            <a:r>
              <a:rPr sz="800" spc="-5" dirty="0">
                <a:latin typeface="LM Roman 8"/>
                <a:cs typeface="LM Roman 8"/>
              </a:rPr>
              <a:t>is the plot of TPR </a:t>
            </a:r>
            <a:r>
              <a:rPr sz="800" spc="-10" dirty="0">
                <a:latin typeface="LM Roman 8"/>
                <a:cs typeface="LM Roman 8"/>
              </a:rPr>
              <a:t>versus </a:t>
            </a:r>
            <a:r>
              <a:rPr sz="800" spc="-5" dirty="0">
                <a:latin typeface="LM Roman 8"/>
                <a:cs typeface="LM Roman 8"/>
              </a:rPr>
              <a:t>FPR </a:t>
            </a:r>
            <a:r>
              <a:rPr sz="800" spc="-15" dirty="0">
                <a:latin typeface="LM Roman 8"/>
                <a:cs typeface="LM Roman 8"/>
              </a:rPr>
              <a:t>by  </a:t>
            </a:r>
            <a:r>
              <a:rPr sz="800" spc="-10" dirty="0">
                <a:latin typeface="LM Roman 8"/>
                <a:cs typeface="LM Roman 8"/>
              </a:rPr>
              <a:t>varying </a:t>
            </a:r>
            <a:r>
              <a:rPr sz="800" spc="-5" dirty="0">
                <a:latin typeface="LM Roman 8"/>
                <a:cs typeface="LM Roman 8"/>
              </a:rPr>
              <a:t>the threshold. These metrics are are summed up in the table</a:t>
            </a:r>
            <a:r>
              <a:rPr sz="800" spc="-1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below:</a:t>
            </a:r>
            <a:endParaRPr sz="800">
              <a:latin typeface="LM Roman 8"/>
              <a:cs typeface="LM Roman 8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6016421" y="683996"/>
          <a:ext cx="2661918" cy="10073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5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80">
                <a:tc>
                  <a:txBody>
                    <a:bodyPr/>
                    <a:lstStyle/>
                    <a:p>
                      <a:pPr marL="3460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Metric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25" dirty="0">
                          <a:latin typeface="LM Roman 8"/>
                          <a:cs typeface="LM Roman 8"/>
                        </a:rPr>
                        <a:t>Formula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5" dirty="0">
                          <a:latin typeface="LM Roman 8"/>
                          <a:cs typeface="LM Roman 8"/>
                        </a:rPr>
                        <a:t>Equivalent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028">
                <a:tc>
                  <a:txBody>
                    <a:bodyPr/>
                    <a:lstStyle/>
                    <a:p>
                      <a:pPr marL="412750" marR="78740" indent="-326390">
                        <a:lnSpc>
                          <a:spcPct val="128000"/>
                        </a:lnSpc>
                        <a:spcBef>
                          <a:spcPts val="420"/>
                        </a:spcBef>
                      </a:pPr>
                      <a:r>
                        <a:rPr sz="800" spc="-25" dirty="0">
                          <a:latin typeface="LM Roman 8"/>
                          <a:cs typeface="LM Roman 8"/>
                        </a:rPr>
                        <a:t>True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Positive Rate 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TPR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85725">
                        <a:lnSpc>
                          <a:spcPts val="1150"/>
                        </a:lnSpc>
                        <a:spcBef>
                          <a:spcPts val="15"/>
                        </a:spcBef>
                        <a:tabLst>
                          <a:tab pos="52641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800" u="sng" spc="-9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TP 	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TP</a:t>
                      </a:r>
                      <a:r>
                        <a:rPr sz="800" spc="-14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4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FN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Recall,</a:t>
                      </a:r>
                      <a:r>
                        <a:rPr sz="800" spc="-2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sensitivity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028">
                <a:tc>
                  <a:txBody>
                    <a:bodyPr/>
                    <a:lstStyle/>
                    <a:p>
                      <a:pPr marL="416559" marR="70485" indent="-338455">
                        <a:lnSpc>
                          <a:spcPct val="128000"/>
                        </a:lnSpc>
                        <a:spcBef>
                          <a:spcPts val="420"/>
                        </a:spcBef>
                      </a:pPr>
                      <a:r>
                        <a:rPr sz="800" spc="-20" dirty="0">
                          <a:latin typeface="LM Roman 8"/>
                          <a:cs typeface="LM Roman 8"/>
                        </a:rPr>
                        <a:t>False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Positive Rate 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FPR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85725">
                        <a:lnSpc>
                          <a:spcPts val="1150"/>
                        </a:lnSpc>
                        <a:spcBef>
                          <a:spcPts val="15"/>
                        </a:spcBef>
                        <a:tabLst>
                          <a:tab pos="52641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800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FP 	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TN</a:t>
                      </a:r>
                      <a:r>
                        <a:rPr sz="800" spc="-14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4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FP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1-specificity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76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5097767" y="1875979"/>
            <a:ext cx="4505960" cy="2489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33985" algn="l"/>
              </a:tabLst>
            </a:pPr>
            <a:r>
              <a:rPr sz="800" b="1" spc="-15" dirty="0">
                <a:solidFill>
                  <a:srgbClr val="9A0404"/>
                </a:solidFill>
                <a:latin typeface="LM Roman 8"/>
                <a:cs typeface="LM Roman 8"/>
              </a:rPr>
              <a:t>AUC </a:t>
            </a:r>
            <a:r>
              <a:rPr sz="800" spc="-5" dirty="0">
                <a:latin typeface="LM Roman 8"/>
                <a:cs typeface="LM Roman 8"/>
              </a:rPr>
              <a:t>– The area under the receiving </a:t>
            </a:r>
            <a:r>
              <a:rPr sz="800" dirty="0">
                <a:latin typeface="LM Roman 8"/>
                <a:cs typeface="LM Roman 8"/>
              </a:rPr>
              <a:t>operating </a:t>
            </a:r>
            <a:r>
              <a:rPr sz="800" spc="-10" dirty="0">
                <a:latin typeface="LM Roman 8"/>
                <a:cs typeface="LM Roman 8"/>
              </a:rPr>
              <a:t>curve, </a:t>
            </a:r>
            <a:r>
              <a:rPr sz="800" spc="-5" dirty="0">
                <a:latin typeface="LM Roman 8"/>
                <a:cs typeface="LM Roman 8"/>
              </a:rPr>
              <a:t>also noted </a:t>
            </a:r>
            <a:r>
              <a:rPr sz="800" spc="-15" dirty="0">
                <a:latin typeface="LM Roman 8"/>
                <a:cs typeface="LM Roman 8"/>
              </a:rPr>
              <a:t>AUC </a:t>
            </a:r>
            <a:r>
              <a:rPr sz="800" spc="-5" dirty="0">
                <a:latin typeface="LM Roman 8"/>
                <a:cs typeface="LM Roman 8"/>
              </a:rPr>
              <a:t>or </a:t>
            </a:r>
            <a:r>
              <a:rPr sz="800" spc="-15" dirty="0">
                <a:latin typeface="LM Roman 8"/>
                <a:cs typeface="LM Roman 8"/>
              </a:rPr>
              <a:t>AUROC, </a:t>
            </a:r>
            <a:r>
              <a:rPr sz="800" spc="-5" dirty="0">
                <a:latin typeface="LM Roman 8"/>
                <a:cs typeface="LM Roman 8"/>
              </a:rPr>
              <a:t>is the  area below the </a:t>
            </a:r>
            <a:r>
              <a:rPr sz="800" spc="-15" dirty="0">
                <a:latin typeface="LM Roman 8"/>
                <a:cs typeface="LM Roman 8"/>
              </a:rPr>
              <a:t>ROC </a:t>
            </a:r>
            <a:r>
              <a:rPr sz="800" spc="-5" dirty="0">
                <a:latin typeface="LM Roman 8"/>
                <a:cs typeface="LM Roman 8"/>
              </a:rPr>
              <a:t>as </a:t>
            </a:r>
            <a:r>
              <a:rPr sz="800" spc="-10" dirty="0">
                <a:latin typeface="LM Roman 8"/>
                <a:cs typeface="LM Roman 8"/>
              </a:rPr>
              <a:t>shown </a:t>
            </a:r>
            <a:r>
              <a:rPr sz="800" spc="-5" dirty="0">
                <a:latin typeface="LM Roman 8"/>
                <a:cs typeface="LM Roman 8"/>
              </a:rPr>
              <a:t>in the </a:t>
            </a:r>
            <a:r>
              <a:rPr sz="800" spc="-10" dirty="0">
                <a:latin typeface="LM Roman 8"/>
                <a:cs typeface="LM Roman 8"/>
              </a:rPr>
              <a:t>following</a:t>
            </a:r>
            <a:r>
              <a:rPr sz="800" spc="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figure: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94191" y="2210894"/>
            <a:ext cx="3613650" cy="11038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097754" y="3562319"/>
            <a:ext cx="4505325" cy="472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457200" algn="l"/>
              </a:tabLst>
            </a:pPr>
            <a:r>
              <a:rPr sz="1000" b="1" spc="-5" dirty="0">
                <a:latin typeface="LM Roman 10"/>
                <a:cs typeface="LM Roman 10"/>
              </a:rPr>
              <a:t>4.1.2	</a:t>
            </a:r>
            <a:r>
              <a:rPr sz="900" b="1" spc="-10" dirty="0">
                <a:latin typeface="LM Roman 9"/>
                <a:cs typeface="LM Roman 9"/>
              </a:rPr>
              <a:t>Regression</a:t>
            </a:r>
            <a:endParaRPr sz="90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820"/>
              </a:spcBef>
              <a:buFont typeface="DejaVu Sans"/>
              <a:buChar char="❒"/>
              <a:tabLst>
                <a:tab pos="133350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Basic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metrics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a regression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i="1" spc="180" dirty="0">
                <a:latin typeface="Times New Roman"/>
                <a:cs typeface="Times New Roman"/>
              </a:rPr>
              <a:t>f </a:t>
            </a:r>
            <a:r>
              <a:rPr sz="800" spc="-5" dirty="0">
                <a:latin typeface="LM Roman 8"/>
                <a:cs typeface="LM Roman 8"/>
              </a:rPr>
              <a:t>, the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metrics are commonly used to  assess the </a:t>
            </a:r>
            <a:r>
              <a:rPr sz="800" dirty="0">
                <a:latin typeface="LM Roman 8"/>
                <a:cs typeface="LM Roman 8"/>
              </a:rPr>
              <a:t>performance </a:t>
            </a:r>
            <a:r>
              <a:rPr sz="800" spc="-5" dirty="0">
                <a:latin typeface="LM Roman 8"/>
                <a:cs typeface="LM Roman 8"/>
              </a:rPr>
              <a:t>of the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89116" y="4527448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>
                <a:moveTo>
                  <a:pt x="0" y="0"/>
                </a:moveTo>
                <a:lnTo>
                  <a:pt x="5679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80973" y="4527448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>
                <a:moveTo>
                  <a:pt x="0" y="0"/>
                </a:moveTo>
                <a:lnTo>
                  <a:pt x="5679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5201615" y="4150410"/>
          <a:ext cx="4292600" cy="649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3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93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25" dirty="0">
                          <a:latin typeface="LM Roman 8"/>
                          <a:cs typeface="LM Roman 8"/>
                        </a:rPr>
                        <a:t>Total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sum of</a:t>
                      </a:r>
                      <a:r>
                        <a:rPr sz="800" b="1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squares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Explained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sum of</a:t>
                      </a:r>
                      <a:r>
                        <a:rPr sz="800" b="1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squares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Residual sum of</a:t>
                      </a:r>
                      <a:r>
                        <a:rPr sz="800" b="1" spc="-3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squares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36">
                <a:tc>
                  <a:txBody>
                    <a:bodyPr/>
                    <a:lstStyle/>
                    <a:p>
                      <a:pPr marR="71120" algn="ctr">
                        <a:lnSpc>
                          <a:spcPts val="944"/>
                        </a:lnSpc>
                      </a:pPr>
                      <a:r>
                        <a:rPr sz="1500" spc="-7" baseline="-16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600" i="1" spc="-5" dirty="0">
                          <a:latin typeface="Times New Roman"/>
                          <a:cs typeface="Times New Roman"/>
                        </a:rPr>
                        <a:t>m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570865" algn="l"/>
                        </a:tabLst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SS</a:t>
                      </a:r>
                      <a:r>
                        <a:rPr sz="900" spc="-7" baseline="-9259" dirty="0">
                          <a:latin typeface="LM Roman 6"/>
                          <a:cs typeface="LM Roman 6"/>
                        </a:rPr>
                        <a:t>tot</a:t>
                      </a:r>
                      <a:r>
                        <a:rPr sz="900" spc="52" baseline="-9259" dirty="0">
                          <a:latin typeface="LM Roman 6"/>
                          <a:cs typeface="LM Roman 6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	</a:t>
                      </a:r>
                      <a:r>
                        <a:rPr sz="800" spc="5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5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900" i="1" spc="75" baseline="-9259" dirty="0">
                          <a:latin typeface="Times New Roman"/>
                          <a:cs typeface="Times New Roman"/>
                        </a:rPr>
                        <a:t>i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5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00" spc="2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900" spc="37" baseline="32407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32407">
                        <a:latin typeface="LM Roman 6"/>
                        <a:cs typeface="LM Roman 6"/>
                      </a:endParaRPr>
                    </a:p>
                    <a:p>
                      <a:pPr marR="2095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0345" algn="ctr">
                        <a:lnSpc>
                          <a:spcPts val="944"/>
                        </a:lnSpc>
                      </a:pPr>
                      <a:r>
                        <a:rPr sz="1500" spc="-7" baseline="-16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600" i="1" spc="-5" dirty="0">
                          <a:latin typeface="Times New Roman"/>
                          <a:cs typeface="Times New Roman"/>
                        </a:rPr>
                        <a:t>m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96215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772795" algn="l"/>
                        </a:tabLst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SS</a:t>
                      </a:r>
                      <a:r>
                        <a:rPr sz="900" spc="-7" baseline="-9259" dirty="0">
                          <a:latin typeface="LM Roman 6"/>
                          <a:cs typeface="LM Roman 6"/>
                        </a:rPr>
                        <a:t>reg</a:t>
                      </a:r>
                      <a:r>
                        <a:rPr sz="900" spc="52" baseline="-9259" dirty="0">
                          <a:latin typeface="LM Roman 6"/>
                          <a:cs typeface="LM Roman 6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	</a:t>
                      </a:r>
                      <a:r>
                        <a:rPr sz="800" spc="9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9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97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1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8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00" spc="2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900" spc="37" baseline="32407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32407">
                        <a:latin typeface="LM Roman 6"/>
                        <a:cs typeface="LM Roman 6"/>
                      </a:endParaRPr>
                    </a:p>
                    <a:p>
                      <a:pPr marR="17018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065" algn="ctr">
                        <a:lnSpc>
                          <a:spcPts val="944"/>
                        </a:lnSpc>
                      </a:pPr>
                      <a:r>
                        <a:rPr sz="1500" spc="-7" baseline="-16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600" i="1" spc="-5" dirty="0">
                          <a:latin typeface="Times New Roman"/>
                          <a:cs typeface="Times New Roman"/>
                        </a:rPr>
                        <a:t>m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713105" algn="l"/>
                        </a:tabLst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SS</a:t>
                      </a:r>
                      <a:r>
                        <a:rPr sz="900" spc="-7" baseline="-9259" dirty="0">
                          <a:latin typeface="LM Roman 6"/>
                          <a:cs typeface="LM Roman 6"/>
                        </a:rPr>
                        <a:t>res</a:t>
                      </a:r>
                      <a:r>
                        <a:rPr sz="900" spc="52" baseline="-9259" dirty="0">
                          <a:latin typeface="LM Roman 6"/>
                          <a:cs typeface="LM Roman 6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	</a:t>
                      </a:r>
                      <a:r>
                        <a:rPr sz="800" spc="5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5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900" i="1" spc="75" baseline="-9259" dirty="0">
                          <a:latin typeface="Times New Roman"/>
                          <a:cs typeface="Times New Roman"/>
                        </a:rPr>
                        <a:t>i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 </a:t>
                      </a: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4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4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60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spc="40" dirty="0">
                          <a:latin typeface="LM Roman 8"/>
                          <a:cs typeface="LM Roman 8"/>
                        </a:rPr>
                        <a:t>))</a:t>
                      </a:r>
                      <a:r>
                        <a:rPr sz="900" spc="60" baseline="32407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32407">
                        <a:latin typeface="LM Roman 6"/>
                        <a:cs typeface="LM Roman 6"/>
                      </a:endParaRPr>
                    </a:p>
                    <a:p>
                      <a:pPr marR="21590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5072354" y="4998426"/>
            <a:ext cx="4556760" cy="35115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38100" marR="30480" algn="just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61925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Coefficient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of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determination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coefficient </a:t>
            </a:r>
            <a:r>
              <a:rPr sz="800" spc="-5" dirty="0">
                <a:latin typeface="LM Roman 8"/>
                <a:cs typeface="LM Roman 8"/>
              </a:rPr>
              <a:t>of determination, often noted </a:t>
            </a:r>
            <a:r>
              <a:rPr sz="800" i="1" spc="75" dirty="0">
                <a:latin typeface="Times New Roman"/>
                <a:cs typeface="Times New Roman"/>
              </a:rPr>
              <a:t>R</a:t>
            </a:r>
            <a:r>
              <a:rPr sz="900" spc="112" baseline="27777" dirty="0">
                <a:latin typeface="LM Roman 6"/>
                <a:cs typeface="LM Roman 6"/>
              </a:rPr>
              <a:t>2 </a:t>
            </a:r>
            <a:r>
              <a:rPr sz="800" spc="-5" dirty="0">
                <a:latin typeface="LM Roman 8"/>
                <a:cs typeface="LM Roman 8"/>
              </a:rPr>
              <a:t>or </a:t>
            </a:r>
            <a:r>
              <a:rPr sz="800" i="1" spc="40" dirty="0">
                <a:latin typeface="Times New Roman"/>
                <a:cs typeface="Times New Roman"/>
              </a:rPr>
              <a:t>r</a:t>
            </a:r>
            <a:r>
              <a:rPr sz="900" spc="60" baseline="27777" dirty="0">
                <a:latin typeface="LM Roman 6"/>
                <a:cs typeface="LM Roman 6"/>
              </a:rPr>
              <a:t>2</a:t>
            </a:r>
            <a:r>
              <a:rPr sz="800" spc="40" dirty="0">
                <a:latin typeface="LM Roman 8"/>
                <a:cs typeface="LM Roman 8"/>
              </a:rPr>
              <a:t>,  </a:t>
            </a:r>
            <a:r>
              <a:rPr sz="800" spc="-10" dirty="0">
                <a:latin typeface="LM Roman 8"/>
                <a:cs typeface="LM Roman 8"/>
              </a:rPr>
              <a:t>provides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measure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how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well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observed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outcomes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replicated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by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defined  as</a:t>
            </a:r>
            <a:r>
              <a:rPr sz="800" spc="-10" dirty="0">
                <a:latin typeface="LM Roman 8"/>
                <a:cs typeface="LM Roman 8"/>
              </a:rPr>
              <a:t> 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62723" y="5428505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81101" y="5445238"/>
            <a:ext cx="4521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145" dirty="0">
                <a:latin typeface="Times New Roman"/>
                <a:cs typeface="Times New Roman"/>
              </a:rPr>
              <a:t>R </a:t>
            </a:r>
            <a:r>
              <a:rPr sz="800" spc="-5" dirty="0">
                <a:latin typeface="LM Roman 8"/>
                <a:cs typeface="LM Roman 8"/>
              </a:rPr>
              <a:t>= 1</a:t>
            </a:r>
            <a:r>
              <a:rPr sz="800" spc="90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36066" y="5387414"/>
            <a:ext cx="2984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u="sng" spc="-7" baseline="6944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SS</a:t>
            </a:r>
            <a:r>
              <a:rPr sz="600" u="sng" spc="-5" dirty="0">
                <a:uFill>
                  <a:solidFill>
                    <a:srgbClr val="000000"/>
                  </a:solidFill>
                </a:uFill>
                <a:latin typeface="LM Roman 6"/>
                <a:cs typeface="LM Roman 6"/>
              </a:rPr>
              <a:t>res</a:t>
            </a:r>
            <a:endParaRPr sz="600">
              <a:latin typeface="LM Roman 6"/>
              <a:cs typeface="LM Roman 6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938086" y="5375935"/>
            <a:ext cx="824865" cy="314960"/>
            <a:chOff x="6938086" y="5375935"/>
            <a:chExt cx="824865" cy="314960"/>
          </a:xfrm>
        </p:grpSpPr>
        <p:sp>
          <p:nvSpPr>
            <p:cNvPr id="31" name="object 31"/>
            <p:cNvSpPr/>
            <p:nvPr/>
          </p:nvSpPr>
          <p:spPr>
            <a:xfrm>
              <a:off x="6938086" y="5378462"/>
              <a:ext cx="824865" cy="0"/>
            </a:xfrm>
            <a:custGeom>
              <a:avLst/>
              <a:gdLst/>
              <a:ahLst/>
              <a:cxnLst/>
              <a:rect l="l" t="t" r="r" b="b"/>
              <a:pathLst>
                <a:path w="824865">
                  <a:moveTo>
                    <a:pt x="0" y="0"/>
                  </a:moveTo>
                  <a:lnTo>
                    <a:pt x="82468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40613" y="5378462"/>
              <a:ext cx="0" cy="309880"/>
            </a:xfrm>
            <a:custGeom>
              <a:avLst/>
              <a:gdLst/>
              <a:ahLst/>
              <a:cxnLst/>
              <a:rect l="l" t="t" r="r" b="b"/>
              <a:pathLst>
                <a:path h="309879">
                  <a:moveTo>
                    <a:pt x="0" y="30966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60246" y="5378462"/>
              <a:ext cx="0" cy="309880"/>
            </a:xfrm>
            <a:custGeom>
              <a:avLst/>
              <a:gdLst/>
              <a:ahLst/>
              <a:cxnLst/>
              <a:rect l="l" t="t" r="r" b="b"/>
              <a:pathLst>
                <a:path h="309879">
                  <a:moveTo>
                    <a:pt x="0" y="30966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38086" y="5688126"/>
              <a:ext cx="824865" cy="0"/>
            </a:xfrm>
            <a:custGeom>
              <a:avLst/>
              <a:gdLst/>
              <a:ahLst/>
              <a:cxnLst/>
              <a:rect l="l" t="t" r="r" b="b"/>
              <a:pathLst>
                <a:path w="824865">
                  <a:moveTo>
                    <a:pt x="0" y="0"/>
                  </a:moveTo>
                  <a:lnTo>
                    <a:pt x="82468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059667" y="5533718"/>
            <a:ext cx="4582160" cy="636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5930" algn="ctr">
              <a:lnSpc>
                <a:spcPct val="100000"/>
              </a:lnSpc>
              <a:spcBef>
                <a:spcPts val="95"/>
              </a:spcBef>
            </a:pPr>
            <a:r>
              <a:rPr sz="1200" spc="-7" baseline="6944" dirty="0">
                <a:latin typeface="LM Roman 8"/>
                <a:cs typeface="LM Roman 8"/>
              </a:rPr>
              <a:t>SS</a:t>
            </a:r>
            <a:r>
              <a:rPr sz="600" spc="-5" dirty="0">
                <a:latin typeface="LM Roman 6"/>
                <a:cs typeface="LM Roman 6"/>
              </a:rPr>
              <a:t>tot</a:t>
            </a:r>
            <a:endParaRPr sz="600">
              <a:latin typeface="LM Roman 6"/>
              <a:cs typeface="LM Roman 6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LM Roman 6"/>
              <a:cs typeface="LM Roman 6"/>
            </a:endParaRPr>
          </a:p>
          <a:p>
            <a:pPr marL="50165" marR="43180" algn="just">
              <a:lnSpc>
                <a:spcPct val="81900"/>
              </a:lnSpc>
              <a:buFont typeface="DejaVu Sans"/>
              <a:buChar char="❒"/>
              <a:tabLst>
                <a:tab pos="177800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Main </a:t>
            </a: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metrics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metrics are commonly used to assess the </a:t>
            </a:r>
            <a:r>
              <a:rPr sz="800" dirty="0">
                <a:latin typeface="LM Roman 8"/>
                <a:cs typeface="LM Roman 8"/>
              </a:rPr>
              <a:t>performance </a:t>
            </a:r>
            <a:r>
              <a:rPr sz="800" spc="-5" dirty="0">
                <a:latin typeface="LM Roman 8"/>
                <a:cs typeface="LM Roman 8"/>
              </a:rPr>
              <a:t>of  regression </a:t>
            </a:r>
            <a:r>
              <a:rPr sz="800" dirty="0">
                <a:latin typeface="LM Roman 8"/>
                <a:cs typeface="LM Roman 8"/>
              </a:rPr>
              <a:t>models,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taking </a:t>
            </a:r>
            <a:r>
              <a:rPr sz="800" spc="-10" dirty="0">
                <a:latin typeface="LM Roman 8"/>
                <a:cs typeface="LM Roman 8"/>
              </a:rPr>
              <a:t>into account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number </a:t>
            </a:r>
            <a:r>
              <a:rPr sz="800" spc="-5" dirty="0">
                <a:latin typeface="LM Roman 8"/>
                <a:cs typeface="LM Roman 8"/>
              </a:rPr>
              <a:t>of </a:t>
            </a:r>
            <a:r>
              <a:rPr sz="800" spc="-10" dirty="0">
                <a:latin typeface="LM Roman 8"/>
                <a:cs typeface="LM Roman 8"/>
              </a:rPr>
              <a:t>variables </a:t>
            </a:r>
            <a:r>
              <a:rPr sz="800" i="1" spc="110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that they </a:t>
            </a:r>
            <a:r>
              <a:rPr sz="800" spc="-10" dirty="0">
                <a:latin typeface="LM Roman 8"/>
                <a:cs typeface="LM Roman 8"/>
              </a:rPr>
              <a:t>take into </a:t>
            </a:r>
            <a:r>
              <a:rPr sz="800" spc="-5" dirty="0">
                <a:latin typeface="LM Roman 8"/>
                <a:cs typeface="LM Roman 8"/>
              </a:rPr>
              <a:t>consid-  eration:</a:t>
            </a:r>
            <a:endParaRPr sz="800">
              <a:latin typeface="LM Roman 8"/>
              <a:cs typeface="LM Roman 8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5110467" y="6313055"/>
          <a:ext cx="4481829" cy="54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0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022"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Mallow’s</a:t>
                      </a:r>
                      <a:r>
                        <a:rPr sz="800" b="1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10" dirty="0">
                          <a:latin typeface="LM Roman 8"/>
                          <a:cs typeface="LM Roman 8"/>
                        </a:rPr>
                        <a:t>Cp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AIC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BIC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Adjusted</a:t>
                      </a:r>
                      <a:r>
                        <a:rPr sz="800" b="1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7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900" spc="112" baseline="27777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27777">
                        <a:latin typeface="LM Roman 6"/>
                        <a:cs typeface="LM Roman 6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913">
                <a:tc>
                  <a:txBody>
                    <a:bodyPr/>
                    <a:lstStyle/>
                    <a:p>
                      <a:pPr marL="93345">
                        <a:lnSpc>
                          <a:spcPts val="330"/>
                        </a:lnSpc>
                        <a:spcBef>
                          <a:spcPts val="405"/>
                        </a:spcBef>
                      </a:pPr>
                      <a:r>
                        <a:rPr sz="1200" u="sng" spc="-7" baseline="6944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SS</a:t>
                      </a:r>
                      <a:r>
                        <a:rPr sz="6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6"/>
                          <a:cs typeface="LM Roman 6"/>
                        </a:rPr>
                        <a:t>res</a:t>
                      </a:r>
                      <a:r>
                        <a:rPr sz="6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6"/>
                          <a:cs typeface="LM Roman 6"/>
                        </a:rPr>
                        <a:t> </a:t>
                      </a:r>
                      <a:r>
                        <a:rPr sz="1200" u="sng" spc="-7" baseline="6944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+</a:t>
                      </a:r>
                      <a:r>
                        <a:rPr sz="1200" u="sng" spc="-157" baseline="6944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200" u="sng" spc="52" baseline="6944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2(</a:t>
                      </a:r>
                      <a:r>
                        <a:rPr sz="1200" i="1" u="sng" spc="52" baseline="6944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i="1" u="sng" spc="-30" baseline="6944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u="sng" spc="-7" baseline="6944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+</a:t>
                      </a:r>
                      <a:r>
                        <a:rPr sz="1200" u="sng" spc="-157" baseline="6944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200" u="sng" spc="37" baseline="6944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1)</a:t>
                      </a:r>
                      <a:r>
                        <a:rPr sz="1200" i="1" u="sng" spc="37" baseline="6944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σ</a:t>
                      </a:r>
                      <a:r>
                        <a:rPr sz="900" spc="37" baseline="37037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37037">
                        <a:latin typeface="LM Roman 6"/>
                        <a:cs typeface="LM Roman 6"/>
                      </a:endParaRPr>
                    </a:p>
                    <a:p>
                      <a:pPr marL="484505">
                        <a:lnSpc>
                          <a:spcPts val="570"/>
                        </a:lnSpc>
                        <a:tabLst>
                          <a:tab pos="850900" algn="l"/>
                        </a:tabLst>
                      </a:pPr>
                      <a:r>
                        <a:rPr sz="1200" i="1" spc="254" baseline="-79861" dirty="0">
                          <a:latin typeface="Times New Roman"/>
                          <a:cs typeface="Times New Roman"/>
                        </a:rPr>
                        <a:t>m	</a:t>
                      </a:r>
                      <a:r>
                        <a:rPr sz="1000" u="sng" spc="-80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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51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700" spc="-20" dirty="0">
                          <a:latin typeface="LM Roman 7"/>
                          <a:cs typeface="LM Roman 7"/>
                        </a:rPr>
                        <a:t>2</a:t>
                      </a:r>
                      <a:r>
                        <a:rPr sz="1500" spc="-30" baseline="41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700" spc="-20" dirty="0">
                          <a:latin typeface="LM Roman 7"/>
                          <a:cs typeface="LM Roman 7"/>
                        </a:rPr>
                        <a:t>(</a:t>
                      </a:r>
                      <a:r>
                        <a:rPr sz="700" i="1" spc="-2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700" i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5" dirty="0">
                          <a:latin typeface="LM Roman 7"/>
                          <a:cs typeface="LM Roman 7"/>
                        </a:rPr>
                        <a:t>+</a:t>
                      </a:r>
                      <a:r>
                        <a:rPr sz="700" spc="-100" dirty="0">
                          <a:latin typeface="LM Roman 7"/>
                          <a:cs typeface="LM Roman 7"/>
                        </a:rPr>
                        <a:t> </a:t>
                      </a:r>
                      <a:r>
                        <a:rPr sz="700" spc="-5" dirty="0">
                          <a:latin typeface="LM Roman 7"/>
                          <a:cs typeface="LM Roman 7"/>
                        </a:rPr>
                        <a:t>2)</a:t>
                      </a:r>
                      <a:r>
                        <a:rPr sz="700" spc="-95" dirty="0">
                          <a:latin typeface="LM Roman 7"/>
                          <a:cs typeface="LM Roman 7"/>
                        </a:rPr>
                        <a:t> </a:t>
                      </a:r>
                      <a:r>
                        <a:rPr sz="700" i="1" spc="210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LM Roman 7"/>
                          <a:cs typeface="LM Roman 7"/>
                        </a:rPr>
                        <a:t>log(</a:t>
                      </a:r>
                      <a:r>
                        <a:rPr sz="700" i="1" spc="-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700" spc="-10" dirty="0">
                          <a:latin typeface="LM Roman 7"/>
                          <a:cs typeface="LM Roman 7"/>
                        </a:rPr>
                        <a:t>)</a:t>
                      </a:r>
                      <a:r>
                        <a:rPr sz="1500" spc="-15" baseline="41666" dirty="0">
                          <a:latin typeface="Arial"/>
                          <a:cs typeface="Arial"/>
                        </a:rPr>
                        <a:t>Σ</a:t>
                      </a:r>
                      <a:endParaRPr sz="1500" baseline="41666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700" spc="40" dirty="0">
                          <a:latin typeface="LM Roman 7"/>
                          <a:cs typeface="LM Roman 7"/>
                        </a:rPr>
                        <a:t>log(</a:t>
                      </a:r>
                      <a:r>
                        <a:rPr sz="700" i="1" spc="4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700" spc="40" dirty="0">
                          <a:latin typeface="LM Roman 7"/>
                          <a:cs typeface="LM Roman 7"/>
                        </a:rPr>
                        <a:t>)(</a:t>
                      </a:r>
                      <a:r>
                        <a:rPr sz="700" i="1" spc="4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700" i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5" dirty="0">
                          <a:latin typeface="LM Roman 7"/>
                          <a:cs typeface="LM Roman 7"/>
                        </a:rPr>
                        <a:t>+</a:t>
                      </a:r>
                      <a:r>
                        <a:rPr sz="700" spc="-95" dirty="0">
                          <a:latin typeface="LM Roman 7"/>
                          <a:cs typeface="LM Roman 7"/>
                        </a:rPr>
                        <a:t> </a:t>
                      </a:r>
                      <a:r>
                        <a:rPr sz="700" spc="-5" dirty="0">
                          <a:latin typeface="LM Roman 7"/>
                          <a:cs typeface="LM Roman 7"/>
                        </a:rPr>
                        <a:t>2)</a:t>
                      </a:r>
                      <a:r>
                        <a:rPr sz="700" spc="-95" dirty="0">
                          <a:latin typeface="LM Roman 7"/>
                          <a:cs typeface="LM Roman 7"/>
                        </a:rPr>
                        <a:t> </a:t>
                      </a:r>
                      <a:r>
                        <a:rPr sz="700" i="1" spc="210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7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5" dirty="0">
                          <a:latin typeface="LM Roman 7"/>
                          <a:cs typeface="LM Roman 7"/>
                        </a:rPr>
                        <a:t>2</a:t>
                      </a:r>
                      <a:r>
                        <a:rPr sz="700" spc="-140" dirty="0">
                          <a:latin typeface="LM Roman 7"/>
                          <a:cs typeface="LM Roman 7"/>
                        </a:rPr>
                        <a:t> </a:t>
                      </a:r>
                      <a:r>
                        <a:rPr sz="700" spc="20" dirty="0">
                          <a:latin typeface="LM Roman 7"/>
                          <a:cs typeface="LM Roman 7"/>
                        </a:rPr>
                        <a:t>log(</a:t>
                      </a:r>
                      <a:r>
                        <a:rPr sz="700" i="1" spc="2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700" spc="20" dirty="0">
                          <a:latin typeface="LM Roman 7"/>
                          <a:cs typeface="LM Roman 7"/>
                        </a:rPr>
                        <a:t>)</a:t>
                      </a:r>
                      <a:endParaRPr sz="700">
                        <a:latin typeface="LM Roman 7"/>
                        <a:cs typeface="LM Roman 7"/>
                      </a:endParaRPr>
                    </a:p>
                  </a:txBody>
                  <a:tcPr marL="0" marR="0" marT="1219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 algn="ctr">
                        <a:lnSpc>
                          <a:spcPts val="400"/>
                        </a:lnSpc>
                        <a:spcBef>
                          <a:spcPts val="225"/>
                        </a:spcBef>
                      </a:pPr>
                      <a:r>
                        <a:rPr sz="600" dirty="0">
                          <a:latin typeface="LM Roman 6"/>
                          <a:cs typeface="LM Roman 6"/>
                        </a:rPr>
                        <a:t>2</a:t>
                      </a:r>
                      <a:endParaRPr sz="600">
                        <a:latin typeface="LM Roman 6"/>
                        <a:cs typeface="LM Roman 6"/>
                      </a:endParaRPr>
                    </a:p>
                    <a:p>
                      <a:pPr marL="78105">
                        <a:lnSpc>
                          <a:spcPts val="640"/>
                        </a:lnSpc>
                      </a:pPr>
                      <a:r>
                        <a:rPr sz="1200" spc="-7" baseline="-38194" dirty="0">
                          <a:latin typeface="LM Roman 8"/>
                          <a:cs typeface="LM Roman 8"/>
                        </a:rPr>
                        <a:t>1</a:t>
                      </a:r>
                      <a:r>
                        <a:rPr sz="1200" spc="-157" baseline="-38194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200" i="1" spc="-22" baseline="-38194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1200" i="1" spc="67" baseline="-38194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(1</a:t>
                      </a:r>
                      <a:r>
                        <a:rPr sz="800" u="sng" spc="-100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u="sng" spc="-75" dirty="0">
                          <a:uFill>
                            <a:solidFill>
                              <a:srgbClr val="000000"/>
                            </a:solidFill>
                          </a:u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u="sng" spc="14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800" i="1" u="sng" spc="2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5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)(</a:t>
                      </a:r>
                      <a:r>
                        <a:rPr sz="800" i="1" u="sng" spc="5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800" i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u="sng" spc="-75" dirty="0">
                          <a:uFill>
                            <a:solidFill>
                              <a:srgbClr val="000000"/>
                            </a:solidFill>
                          </a:uFill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1)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4235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17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800" i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7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1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80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7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1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5097767" y="6974482"/>
            <a:ext cx="14992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where </a:t>
            </a:r>
            <a:r>
              <a:rPr sz="800" i="1" spc="130" dirty="0">
                <a:latin typeface="Times New Roman"/>
                <a:cs typeface="Times New Roman"/>
              </a:rPr>
              <a:t>L </a:t>
            </a:r>
            <a:r>
              <a:rPr sz="800" spc="-5" dirty="0">
                <a:latin typeface="LM Roman 8"/>
                <a:cs typeface="LM Roman 8"/>
              </a:rPr>
              <a:t>is the </a:t>
            </a:r>
            <a:r>
              <a:rPr sz="800" dirty="0">
                <a:latin typeface="LM Roman 8"/>
                <a:cs typeface="LM Roman 8"/>
              </a:rPr>
              <a:t>likelihood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105" dirty="0">
                <a:latin typeface="LM Roman 8"/>
                <a:cs typeface="LM Roman 8"/>
              </a:rPr>
              <a:t> </a:t>
            </a:r>
            <a:r>
              <a:rPr sz="800" i="1" spc="85" dirty="0">
                <a:latin typeface="Times New Roman"/>
                <a:cs typeface="Times New Roman"/>
              </a:rPr>
              <a:t>σ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75069" y="696406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07378" y="6949178"/>
            <a:ext cx="3027045" cy="1778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68910">
              <a:lnSpc>
                <a:spcPts val="380"/>
              </a:lnSpc>
              <a:spcBef>
                <a:spcPts val="295"/>
              </a:spcBef>
            </a:pPr>
            <a:r>
              <a:rPr sz="800" spc="-5" dirty="0">
                <a:latin typeface="LM Roman 8"/>
                <a:cs typeface="LM Roman 8"/>
              </a:rPr>
              <a:t>is an estimate of the </a:t>
            </a:r>
            <a:r>
              <a:rPr sz="800" spc="-10" dirty="0">
                <a:latin typeface="LM Roman 8"/>
                <a:cs typeface="LM Roman 8"/>
              </a:rPr>
              <a:t>variance </a:t>
            </a:r>
            <a:r>
              <a:rPr sz="800" dirty="0">
                <a:latin typeface="LM Roman 8"/>
                <a:cs typeface="LM Roman 8"/>
              </a:rPr>
              <a:t>associated </a:t>
            </a:r>
            <a:r>
              <a:rPr sz="800" spc="-5" dirty="0">
                <a:latin typeface="LM Roman 8"/>
                <a:cs typeface="LM Roman 8"/>
              </a:rPr>
              <a:t>with </a:t>
            </a:r>
            <a:r>
              <a:rPr sz="800" spc="-10" dirty="0">
                <a:latin typeface="LM Roman 8"/>
                <a:cs typeface="LM Roman 8"/>
              </a:rPr>
              <a:t>each</a:t>
            </a:r>
            <a:r>
              <a:rPr sz="800" spc="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response.</a:t>
            </a:r>
            <a:endParaRPr sz="800">
              <a:latin typeface="LM Roman 8"/>
              <a:cs typeface="LM Roman 8"/>
            </a:endParaRPr>
          </a:p>
          <a:p>
            <a:pPr marL="12700">
              <a:lnSpc>
                <a:spcPts val="620"/>
              </a:lnSpc>
            </a:pPr>
            <a:r>
              <a:rPr sz="1000" spc="-265" dirty="0">
                <a:latin typeface="Arial"/>
                <a:cs typeface="Arial"/>
              </a:rPr>
              <a:t></a:t>
            </a:r>
            <a:endParaRPr sz="10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03999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44" name="Date Placeholder 4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lang="en-US"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294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0676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994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5294" y="683953"/>
            <a:ext cx="4505960" cy="51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343535" algn="l"/>
              </a:tabLst>
            </a:pPr>
            <a:r>
              <a:rPr sz="1000" b="1" spc="-5" dirty="0">
                <a:latin typeface="LM Roman 10"/>
                <a:cs typeface="LM Roman 10"/>
              </a:rPr>
              <a:t>4.2	</a:t>
            </a:r>
            <a:r>
              <a:rPr sz="900" b="1" dirty="0">
                <a:latin typeface="LM Roman 9"/>
                <a:cs typeface="LM Roman 9"/>
              </a:rPr>
              <a:t>Model</a:t>
            </a:r>
            <a:r>
              <a:rPr sz="900" b="1" spc="-10" dirty="0">
                <a:latin typeface="LM Roman 9"/>
                <a:cs typeface="LM Roman 9"/>
              </a:rPr>
              <a:t> selection</a:t>
            </a:r>
            <a:endParaRPr sz="90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1185"/>
              </a:spcBef>
              <a:buFont typeface="DejaVu Sans"/>
              <a:buChar char="❒"/>
              <a:tabLst>
                <a:tab pos="12827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Vocabulary </a:t>
            </a:r>
            <a:r>
              <a:rPr sz="800" spc="-5" dirty="0">
                <a:latin typeface="LM Roman 8"/>
                <a:cs typeface="LM Roman 8"/>
              </a:rPr>
              <a:t>– When selecting a </a:t>
            </a:r>
            <a:r>
              <a:rPr sz="800" dirty="0">
                <a:latin typeface="LM Roman 8"/>
                <a:cs typeface="LM Roman 8"/>
              </a:rPr>
              <a:t>model,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distinguish 3 </a:t>
            </a:r>
            <a:r>
              <a:rPr sz="800" spc="-10" dirty="0">
                <a:latin typeface="LM Roman 8"/>
                <a:cs typeface="LM Roman 8"/>
              </a:rPr>
              <a:t>different </a:t>
            </a:r>
            <a:r>
              <a:rPr sz="800" spc="-5" dirty="0">
                <a:latin typeface="LM Roman 8"/>
                <a:cs typeface="LM Roman 8"/>
              </a:rPr>
              <a:t>parts of the data that </a:t>
            </a:r>
            <a:r>
              <a:rPr sz="800" spc="-15" dirty="0">
                <a:latin typeface="LM Roman 8"/>
                <a:cs typeface="LM Roman 8"/>
              </a:rPr>
              <a:t>we  have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8518" y="1433563"/>
          <a:ext cx="4333240" cy="786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9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80"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5" dirty="0">
                          <a:latin typeface="LM Roman 8"/>
                          <a:cs typeface="LM Roman 8"/>
                        </a:rPr>
                        <a:t>Training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set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5" dirty="0">
                          <a:latin typeface="LM Roman 8"/>
                          <a:cs typeface="LM Roman 8"/>
                        </a:rPr>
                        <a:t>Validation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set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21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5" dirty="0">
                          <a:latin typeface="LM Roman 8"/>
                          <a:cs typeface="LM Roman 8"/>
                        </a:rPr>
                        <a:t>Testing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set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319">
                <a:tc>
                  <a:txBody>
                    <a:bodyPr/>
                    <a:lstStyle/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Model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is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trained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60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Usually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80% of the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dataset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Model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is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assessed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60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Usually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20% of the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dataset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78105" marR="399415">
                        <a:lnSpc>
                          <a:spcPct val="107100"/>
                        </a:lnSpc>
                        <a:spcBef>
                          <a:spcPts val="4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Also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called hold-out  or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development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set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Model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gives</a:t>
                      </a:r>
                      <a:r>
                        <a:rPr sz="800" spc="-3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predictions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60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Unseen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data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55294" y="2419894"/>
            <a:ext cx="4505960" cy="2489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</a:pPr>
            <a:r>
              <a:rPr sz="800" spc="-5" dirty="0">
                <a:latin typeface="LM Roman 8"/>
                <a:cs typeface="LM Roman 8"/>
              </a:rPr>
              <a:t>Once the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has </a:t>
            </a:r>
            <a:r>
              <a:rPr sz="800" dirty="0">
                <a:latin typeface="LM Roman 8"/>
                <a:cs typeface="LM Roman 8"/>
              </a:rPr>
              <a:t>been </a:t>
            </a:r>
            <a:r>
              <a:rPr sz="800" spc="-5" dirty="0">
                <a:latin typeface="LM Roman 8"/>
                <a:cs typeface="LM Roman 8"/>
              </a:rPr>
              <a:t>chosen, it is trained on the </a:t>
            </a:r>
            <a:r>
              <a:rPr sz="800" spc="-10" dirty="0">
                <a:latin typeface="LM Roman 8"/>
                <a:cs typeface="LM Roman 8"/>
              </a:rPr>
              <a:t>entire </a:t>
            </a:r>
            <a:r>
              <a:rPr sz="800" spc="-5" dirty="0">
                <a:latin typeface="LM Roman 8"/>
                <a:cs typeface="LM Roman 8"/>
              </a:rPr>
              <a:t>dataset and tested on the unseen  test set. These are represented in the </a:t>
            </a:r>
            <a:r>
              <a:rPr sz="800" spc="-10" dirty="0">
                <a:latin typeface="LM Roman 8"/>
                <a:cs typeface="LM Roman 8"/>
              </a:rPr>
              <a:t>figure</a:t>
            </a:r>
            <a:r>
              <a:rPr sz="800" spc="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below: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10813" y="2768766"/>
            <a:ext cx="3006158" cy="492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5294" y="3400271"/>
            <a:ext cx="4505960" cy="35115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algn="just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35890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Cross-validation </a:t>
            </a:r>
            <a:r>
              <a:rPr sz="800" spc="-5" dirty="0">
                <a:latin typeface="LM Roman 8"/>
                <a:cs typeface="LM Roman 8"/>
              </a:rPr>
              <a:t>– Cross-validation, also noted CV, is a </a:t>
            </a:r>
            <a:r>
              <a:rPr sz="800" dirty="0">
                <a:latin typeface="LM Roman 8"/>
                <a:cs typeface="LM Roman 8"/>
              </a:rPr>
              <a:t>method </a:t>
            </a:r>
            <a:r>
              <a:rPr sz="800" spc="-5" dirty="0">
                <a:latin typeface="LM Roman 8"/>
                <a:cs typeface="LM Roman 8"/>
              </a:rPr>
              <a:t>that is used to select a 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that </a:t>
            </a:r>
            <a:r>
              <a:rPr sz="800" dirty="0">
                <a:latin typeface="LM Roman 8"/>
                <a:cs typeface="LM Roman 8"/>
              </a:rPr>
              <a:t>does </a:t>
            </a:r>
            <a:r>
              <a:rPr sz="800" spc="-5" dirty="0">
                <a:latin typeface="LM Roman 8"/>
                <a:cs typeface="LM Roman 8"/>
              </a:rPr>
              <a:t>not rely </a:t>
            </a:r>
            <a:r>
              <a:rPr sz="800" spc="5" dirty="0">
                <a:latin typeface="LM Roman 8"/>
                <a:cs typeface="LM Roman 8"/>
              </a:rPr>
              <a:t>too </a:t>
            </a:r>
            <a:r>
              <a:rPr sz="800" spc="-15" dirty="0">
                <a:latin typeface="LM Roman 8"/>
                <a:cs typeface="LM Roman 8"/>
              </a:rPr>
              <a:t>much </a:t>
            </a:r>
            <a:r>
              <a:rPr sz="800" spc="-5" dirty="0">
                <a:latin typeface="LM Roman 8"/>
                <a:cs typeface="LM Roman 8"/>
              </a:rPr>
              <a:t>on the initial training set. The </a:t>
            </a:r>
            <a:r>
              <a:rPr sz="800" spc="-10" dirty="0">
                <a:latin typeface="LM Roman 8"/>
                <a:cs typeface="LM Roman 8"/>
              </a:rPr>
              <a:t>different </a:t>
            </a:r>
            <a:r>
              <a:rPr sz="800" spc="-5" dirty="0">
                <a:latin typeface="LM Roman 8"/>
                <a:cs typeface="LM Roman 8"/>
              </a:rPr>
              <a:t>types are summed  up in the table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below:</a:t>
            </a:r>
            <a:endParaRPr sz="800">
              <a:latin typeface="LM Roman 8"/>
              <a:cs typeface="LM Roman 8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14019" y="4001782"/>
          <a:ext cx="3582669" cy="6509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7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2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800" b="1" spc="15" dirty="0">
                          <a:latin typeface="LM Roman 8"/>
                          <a:cs typeface="LM Roman 8"/>
                        </a:rPr>
                        <a:t>-fold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Leave-</a:t>
                      </a:r>
                      <a:r>
                        <a:rPr sz="800" i="1" spc="-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800" b="1" spc="-10" dirty="0">
                          <a:latin typeface="LM Roman 8"/>
                          <a:cs typeface="LM Roman 8"/>
                        </a:rPr>
                        <a:t>-out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70">
                <a:tc>
                  <a:txBody>
                    <a:bodyPr/>
                    <a:lstStyle/>
                    <a:p>
                      <a:pPr marL="78105" marR="70485">
                        <a:lnSpc>
                          <a:spcPct val="111700"/>
                        </a:lnSpc>
                        <a:spcBef>
                          <a:spcPts val="30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5" dirty="0">
                          <a:latin typeface="LM Roman 8"/>
                          <a:cs typeface="LM Roman 8"/>
                        </a:rPr>
                        <a:t>Training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on </a:t>
                      </a:r>
                      <a:r>
                        <a:rPr sz="800" i="1" spc="85" dirty="0">
                          <a:latin typeface="Times New Roman"/>
                          <a:cs typeface="Times New Roman"/>
                        </a:rPr>
                        <a:t>k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1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folds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and  assessment on the remaining</a:t>
                      </a:r>
                      <a:r>
                        <a:rPr sz="800" spc="-4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one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14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Generally </a:t>
                      </a:r>
                      <a:r>
                        <a:rPr sz="800" i="1" spc="85" dirty="0">
                          <a:latin typeface="Times New Roman"/>
                          <a:cs typeface="Times New Roman"/>
                        </a:rPr>
                        <a:t>k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 5 or</a:t>
                      </a:r>
                      <a:r>
                        <a:rPr sz="800" spc="-8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10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0485">
                        <a:lnSpc>
                          <a:spcPct val="111700"/>
                        </a:lnSpc>
                        <a:spcBef>
                          <a:spcPts val="30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5" dirty="0">
                          <a:latin typeface="LM Roman 8"/>
                          <a:cs typeface="LM Roman 8"/>
                        </a:rPr>
                        <a:t>Training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on </a:t>
                      </a:r>
                      <a:r>
                        <a:rPr sz="800" i="1" spc="110" dirty="0"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 </a:t>
                      </a: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p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observations</a:t>
                      </a:r>
                      <a:r>
                        <a:rPr sz="800" spc="-10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and  assessment on the </a:t>
                      </a: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p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remaining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ones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14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Case </a:t>
                      </a: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p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 1 is called</a:t>
                      </a:r>
                      <a:r>
                        <a:rPr sz="800" spc="-3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leave-one-out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55294" y="4853037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most</a:t>
            </a:r>
            <a:r>
              <a:rPr sz="800" spc="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commonly</a:t>
            </a:r>
            <a:r>
              <a:rPr sz="800" spc="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used</a:t>
            </a:r>
            <a:r>
              <a:rPr sz="800" spc="4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method</a:t>
            </a:r>
            <a:r>
              <a:rPr sz="800" spc="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called</a:t>
            </a:r>
            <a:r>
              <a:rPr sz="800" spc="40" dirty="0">
                <a:latin typeface="LM Roman 8"/>
                <a:cs typeface="LM Roman 8"/>
              </a:rPr>
              <a:t> </a:t>
            </a:r>
            <a:r>
              <a:rPr sz="800" i="1" spc="15" dirty="0">
                <a:latin typeface="Times New Roman"/>
                <a:cs typeface="Times New Roman"/>
              </a:rPr>
              <a:t>k</a:t>
            </a:r>
            <a:r>
              <a:rPr sz="800" spc="15" dirty="0">
                <a:latin typeface="LM Roman 8"/>
                <a:cs typeface="LM Roman 8"/>
              </a:rPr>
              <a:t>-fold</a:t>
            </a:r>
            <a:r>
              <a:rPr sz="800" spc="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cross-validation</a:t>
            </a:r>
            <a:r>
              <a:rPr sz="800" spc="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splits</a:t>
            </a:r>
            <a:r>
              <a:rPr sz="800" spc="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training</a:t>
            </a:r>
            <a:r>
              <a:rPr sz="800" spc="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data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5294" y="4955665"/>
            <a:ext cx="45053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LM Roman 8"/>
                <a:cs typeface="LM Roman 8"/>
              </a:rPr>
              <a:t>into </a:t>
            </a:r>
            <a:r>
              <a:rPr sz="800" i="1" spc="85" dirty="0">
                <a:latin typeface="Times New Roman"/>
                <a:cs typeface="Times New Roman"/>
              </a:rPr>
              <a:t>k </a:t>
            </a:r>
            <a:r>
              <a:rPr sz="800" spc="-10" dirty="0">
                <a:latin typeface="LM Roman 8"/>
                <a:cs typeface="LM Roman 8"/>
              </a:rPr>
              <a:t>folds </a:t>
            </a:r>
            <a:r>
              <a:rPr sz="800" spc="-5" dirty="0">
                <a:latin typeface="LM Roman 8"/>
                <a:cs typeface="LM Roman 8"/>
              </a:rPr>
              <a:t>to </a:t>
            </a:r>
            <a:r>
              <a:rPr sz="800" spc="-10" dirty="0">
                <a:latin typeface="LM Roman 8"/>
                <a:cs typeface="LM Roman 8"/>
              </a:rPr>
              <a:t>validate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on one </a:t>
            </a:r>
            <a:r>
              <a:rPr sz="800" spc="-10" dirty="0">
                <a:latin typeface="LM Roman 8"/>
                <a:cs typeface="LM Roman 8"/>
              </a:rPr>
              <a:t>fold </a:t>
            </a:r>
            <a:r>
              <a:rPr sz="800" spc="-5" dirty="0">
                <a:latin typeface="LM Roman 8"/>
                <a:cs typeface="LM Roman 8"/>
              </a:rPr>
              <a:t>while training the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on the </a:t>
            </a:r>
            <a:r>
              <a:rPr sz="800" i="1" spc="85" dirty="0">
                <a:latin typeface="Times New Roman"/>
                <a:cs typeface="Times New Roman"/>
              </a:rPr>
              <a:t>k 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spc="-5" dirty="0">
                <a:latin typeface="LM Roman 8"/>
                <a:cs typeface="LM Roman 8"/>
              </a:rPr>
              <a:t>1 other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folds,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5294" y="5058294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all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this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i="1" spc="85" dirty="0">
                <a:latin typeface="Times New Roman"/>
                <a:cs typeface="Times New Roman"/>
              </a:rPr>
              <a:t>k</a:t>
            </a:r>
            <a:r>
              <a:rPr sz="800" i="1" spc="16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times.</a:t>
            </a:r>
            <a:r>
              <a:rPr sz="800" spc="2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error</a:t>
            </a:r>
            <a:r>
              <a:rPr sz="800" spc="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then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averaged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over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i="1" spc="85" dirty="0">
                <a:latin typeface="Times New Roman"/>
                <a:cs typeface="Times New Roman"/>
              </a:rPr>
              <a:t>k</a:t>
            </a:r>
            <a:r>
              <a:rPr sz="800" i="1" spc="16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folds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named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cross-validation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5294" y="5134214"/>
            <a:ext cx="2832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error.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3523" y="5376031"/>
            <a:ext cx="4468853" cy="1247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5294" y="6770355"/>
            <a:ext cx="4505960" cy="35115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algn="just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35255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Regularization </a:t>
            </a:r>
            <a:r>
              <a:rPr sz="800" spc="-5" dirty="0">
                <a:latin typeface="LM Roman 8"/>
                <a:cs typeface="LM Roman 8"/>
              </a:rPr>
              <a:t>– The regularization </a:t>
            </a:r>
            <a:r>
              <a:rPr sz="800" dirty="0">
                <a:latin typeface="LM Roman 8"/>
                <a:cs typeface="LM Roman 8"/>
              </a:rPr>
              <a:t>procedure </a:t>
            </a:r>
            <a:r>
              <a:rPr sz="800" spc="-5" dirty="0">
                <a:latin typeface="LM Roman 8"/>
                <a:cs typeface="LM Roman 8"/>
              </a:rPr>
              <a:t>aims at </a:t>
            </a:r>
            <a:r>
              <a:rPr sz="800" spc="-10" dirty="0">
                <a:latin typeface="LM Roman 8"/>
                <a:cs typeface="LM Roman 8"/>
              </a:rPr>
              <a:t>avoiding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to </a:t>
            </a:r>
            <a:r>
              <a:rPr sz="800" spc="-15" dirty="0">
                <a:latin typeface="LM Roman 8"/>
                <a:cs typeface="LM Roman 8"/>
              </a:rPr>
              <a:t>overfit </a:t>
            </a:r>
            <a:r>
              <a:rPr sz="800" spc="-5" dirty="0">
                <a:latin typeface="LM Roman 8"/>
                <a:cs typeface="LM Roman 8"/>
              </a:rPr>
              <a:t>the  data and </a:t>
            </a:r>
            <a:r>
              <a:rPr sz="800" spc="-10" dirty="0">
                <a:latin typeface="LM Roman 8"/>
                <a:cs typeface="LM Roman 8"/>
              </a:rPr>
              <a:t>thus </a:t>
            </a:r>
            <a:r>
              <a:rPr sz="800" spc="-5" dirty="0">
                <a:latin typeface="LM Roman 8"/>
                <a:cs typeface="LM Roman 8"/>
              </a:rPr>
              <a:t>deals with high </a:t>
            </a:r>
            <a:r>
              <a:rPr sz="800" spc="-10" dirty="0">
                <a:latin typeface="LM Roman 8"/>
                <a:cs typeface="LM Roman 8"/>
              </a:rPr>
              <a:t>variance </a:t>
            </a:r>
            <a:r>
              <a:rPr sz="800" spc="-5" dirty="0">
                <a:latin typeface="LM Roman 8"/>
                <a:cs typeface="LM Roman 8"/>
              </a:rPr>
              <a:t>issues. The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table sums up the </a:t>
            </a:r>
            <a:r>
              <a:rPr sz="800" spc="-10" dirty="0">
                <a:latin typeface="LM Roman 8"/>
                <a:cs typeface="LM Roman 8"/>
              </a:rPr>
              <a:t>different </a:t>
            </a:r>
            <a:r>
              <a:rPr sz="800" spc="-5" dirty="0">
                <a:latin typeface="LM Roman 8"/>
                <a:cs typeface="LM Roman 8"/>
              </a:rPr>
              <a:t>types  of commonly used regularization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techniques: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99603" y="1354096"/>
            <a:ext cx="1194508" cy="10281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690393" y="1354096"/>
            <a:ext cx="1159228" cy="10281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058995" y="1354096"/>
            <a:ext cx="1227269" cy="10281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085867" y="683996"/>
          <a:ext cx="4453253" cy="2288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0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9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3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LASSO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Ridge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Elastic Net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054">
                <a:tc>
                  <a:txBody>
                    <a:bodyPr/>
                    <a:lstStyle/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Shrinks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coefficients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to 0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70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5" dirty="0">
                          <a:latin typeface="LM Roman 8"/>
                          <a:cs typeface="LM Roman 8"/>
                        </a:rPr>
                        <a:t>Good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for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variable</a:t>
                      </a:r>
                      <a:r>
                        <a:rPr sz="800" spc="-4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selection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Makes coefficients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smaller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0485">
                        <a:lnSpc>
                          <a:spcPct val="107100"/>
                        </a:lnSpc>
                        <a:spcBef>
                          <a:spcPts val="70"/>
                        </a:spcBef>
                      </a:pPr>
                      <a:r>
                        <a:rPr sz="800" spc="-15" dirty="0">
                          <a:latin typeface="LM Roman 8"/>
                          <a:cs typeface="LM Roman 8"/>
                        </a:rPr>
                        <a:t>Tradeoff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between variable 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selection and small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coefficients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86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659">
                <a:tc>
                  <a:txBody>
                    <a:bodyPr/>
                    <a:lstStyle/>
                    <a:p>
                      <a:pPr marL="78105" marR="901700">
                        <a:lnSpc>
                          <a:spcPct val="134900"/>
                        </a:lnSpc>
                        <a:spcBef>
                          <a:spcPts val="350"/>
                        </a:spcBef>
                      </a:pP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...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2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dirty="0"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800" i="1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800" i="1" dirty="0">
                          <a:latin typeface="Times New Roman"/>
                          <a:cs typeface="Times New Roman"/>
                        </a:rPr>
                        <a:t>θ</a:t>
                      </a:r>
                      <a:r>
                        <a:rPr sz="800" i="1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900" baseline="-9259" dirty="0">
                          <a:latin typeface="LM Roman 6"/>
                          <a:cs typeface="LM Roman 6"/>
                        </a:rPr>
                        <a:t>1  </a:t>
                      </a:r>
                      <a:r>
                        <a:rPr sz="800" i="1" spc="145" dirty="0">
                          <a:latin typeface="Times New Roman"/>
                          <a:cs typeface="Times New Roman"/>
                        </a:rPr>
                        <a:t>λ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</a:t>
                      </a:r>
                      <a:r>
                        <a:rPr sz="800" i="1" spc="-15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-5" dirty="0">
                          <a:latin typeface="MathJax_AMS"/>
                          <a:cs typeface="MathJax_AMS"/>
                        </a:rPr>
                        <a:t>R</a:t>
                      </a:r>
                      <a:endParaRPr sz="800">
                        <a:latin typeface="MathJax_AMS"/>
                        <a:cs typeface="MathJax_AMS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10"/>
                        </a:lnSpc>
                        <a:spcBef>
                          <a:spcPts val="685"/>
                        </a:spcBef>
                      </a:pP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...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5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dirty="0"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800" i="1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800" i="1" dirty="0">
                          <a:latin typeface="Times New Roman"/>
                          <a:cs typeface="Times New Roman"/>
                        </a:rPr>
                        <a:t>θ</a:t>
                      </a:r>
                      <a:r>
                        <a:rPr sz="800" i="1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900" baseline="27777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27777">
                        <a:latin typeface="LM Roman 6"/>
                        <a:cs typeface="LM Roman 6"/>
                      </a:endParaRPr>
                    </a:p>
                    <a:p>
                      <a:pPr marR="244475" algn="ctr">
                        <a:lnSpc>
                          <a:spcPts val="470"/>
                        </a:lnSpc>
                      </a:pPr>
                      <a:r>
                        <a:rPr sz="600" dirty="0">
                          <a:latin typeface="LM Roman 6"/>
                          <a:cs typeface="LM Roman 6"/>
                        </a:rPr>
                        <a:t>2</a:t>
                      </a:r>
                      <a:endParaRPr sz="600">
                        <a:latin typeface="LM Roman 6"/>
                        <a:cs typeface="LM Roman 6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i="1" spc="145" dirty="0">
                          <a:latin typeface="Times New Roman"/>
                          <a:cs typeface="Times New Roman"/>
                        </a:rPr>
                        <a:t>λ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</a:t>
                      </a:r>
                      <a:r>
                        <a:rPr sz="800" i="1" spc="-14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-5" dirty="0">
                          <a:latin typeface="MathJax_AMS"/>
                          <a:cs typeface="MathJax_AMS"/>
                        </a:rPr>
                        <a:t>R</a:t>
                      </a:r>
                      <a:endParaRPr sz="800">
                        <a:latin typeface="MathJax_AMS"/>
                        <a:cs typeface="MathJax_AMS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930"/>
                        </a:lnSpc>
                        <a:spcBef>
                          <a:spcPts val="484"/>
                        </a:spcBef>
                      </a:pP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...</a:t>
                      </a:r>
                      <a:r>
                        <a:rPr sz="80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-5" dirty="0"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1500" spc="-7" baseline="58333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(1</a:t>
                      </a:r>
                      <a:r>
                        <a:rPr sz="800" spc="-1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7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dirty="0">
                          <a:latin typeface="Times New Roman"/>
                          <a:cs typeface="Times New Roman"/>
                        </a:rPr>
                        <a:t>α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i="1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800" i="1" dirty="0">
                          <a:latin typeface="Times New Roman"/>
                          <a:cs typeface="Times New Roman"/>
                        </a:rPr>
                        <a:t>θ</a:t>
                      </a:r>
                      <a:r>
                        <a:rPr sz="800" i="1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900" baseline="-9259" dirty="0">
                          <a:latin typeface="LM Roman 6"/>
                          <a:cs typeface="LM Roman 6"/>
                        </a:rPr>
                        <a:t>1</a:t>
                      </a:r>
                      <a:r>
                        <a:rPr sz="900" spc="-30" baseline="-9259" dirty="0">
                          <a:latin typeface="LM Roman 6"/>
                          <a:cs typeface="LM Roman 6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1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-15" dirty="0">
                          <a:latin typeface="Times New Roman"/>
                          <a:cs typeface="Times New Roman"/>
                        </a:rPr>
                        <a:t>α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800" i="1" spc="-15" dirty="0">
                          <a:latin typeface="Times New Roman"/>
                          <a:cs typeface="Times New Roman"/>
                        </a:rPr>
                        <a:t>θ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900" spc="-22" baseline="27777" dirty="0">
                          <a:latin typeface="LM Roman 6"/>
                          <a:cs typeface="LM Roman 6"/>
                        </a:rPr>
                        <a:t>2</a:t>
                      </a:r>
                      <a:r>
                        <a:rPr sz="1500" spc="-22" baseline="58333" dirty="0">
                          <a:latin typeface="Arial"/>
                          <a:cs typeface="Arial"/>
                        </a:rPr>
                        <a:t>Σ</a:t>
                      </a:r>
                      <a:endParaRPr sz="1500" baseline="58333">
                        <a:latin typeface="Arial"/>
                        <a:cs typeface="Arial"/>
                      </a:endParaRPr>
                    </a:p>
                    <a:p>
                      <a:pPr marR="179705" algn="r">
                        <a:lnSpc>
                          <a:spcPts val="450"/>
                        </a:lnSpc>
                      </a:pPr>
                      <a:r>
                        <a:rPr sz="600" dirty="0">
                          <a:latin typeface="LM Roman 6"/>
                          <a:cs typeface="LM Roman 6"/>
                        </a:rPr>
                        <a:t>2</a:t>
                      </a:r>
                      <a:endParaRPr sz="600">
                        <a:latin typeface="LM Roman 6"/>
                        <a:cs typeface="LM Roman 6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i="1" spc="145" dirty="0">
                          <a:latin typeface="Times New Roman"/>
                          <a:cs typeface="Times New Roman"/>
                        </a:rPr>
                        <a:t>λ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 </a:t>
                      </a:r>
                      <a:r>
                        <a:rPr sz="800" spc="15" dirty="0">
                          <a:latin typeface="MathJax_AMS"/>
                          <a:cs typeface="MathJax_AMS"/>
                        </a:rPr>
                        <a:t>R</a:t>
                      </a: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α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</a:t>
                      </a:r>
                      <a:r>
                        <a:rPr sz="800" i="1" spc="-4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5" dirty="0">
                          <a:latin typeface="LM Roman 8"/>
                          <a:cs typeface="LM Roman 8"/>
                        </a:rPr>
                        <a:t>[0</a:t>
                      </a:r>
                      <a:r>
                        <a:rPr sz="800" i="1" spc="5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800" spc="5" dirty="0">
                          <a:latin typeface="LM Roman 8"/>
                          <a:cs typeface="LM Roman 8"/>
                        </a:rPr>
                        <a:t>1]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5061762" y="3261016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dirty="0">
                <a:solidFill>
                  <a:srgbClr val="0C6C04"/>
                </a:solidFill>
                <a:latin typeface="LM Roman 8"/>
                <a:cs typeface="LM Roman 8"/>
              </a:rPr>
              <a:t>Model </a:t>
            </a: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selection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20" dirty="0">
                <a:latin typeface="LM Roman 8"/>
                <a:cs typeface="LM Roman 8"/>
              </a:rPr>
              <a:t>Train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on training set, then </a:t>
            </a:r>
            <a:r>
              <a:rPr sz="800" spc="-10" dirty="0">
                <a:latin typeface="LM Roman 8"/>
                <a:cs typeface="LM Roman 8"/>
              </a:rPr>
              <a:t>evaluate </a:t>
            </a:r>
            <a:r>
              <a:rPr sz="800" spc="-5" dirty="0">
                <a:latin typeface="LM Roman 8"/>
                <a:cs typeface="LM Roman 8"/>
              </a:rPr>
              <a:t>on the </a:t>
            </a:r>
            <a:r>
              <a:rPr sz="800" spc="-10" dirty="0">
                <a:latin typeface="LM Roman 8"/>
                <a:cs typeface="LM Roman 8"/>
              </a:rPr>
              <a:t>development </a:t>
            </a:r>
            <a:r>
              <a:rPr sz="800" spc="-5" dirty="0">
                <a:latin typeface="LM Roman 8"/>
                <a:cs typeface="LM Roman 8"/>
              </a:rPr>
              <a:t>set,</a:t>
            </a:r>
            <a:r>
              <a:rPr sz="800" spc="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then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61762" y="3363085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LM Roman 8"/>
                <a:cs typeface="LM Roman 8"/>
              </a:rPr>
              <a:t>pick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best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performance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on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development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set,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retrain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all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on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whole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61762" y="3460647"/>
            <a:ext cx="5937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training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set.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61762" y="3900812"/>
            <a:ext cx="4505960" cy="736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343535" algn="l"/>
              </a:tabLst>
            </a:pPr>
            <a:r>
              <a:rPr sz="1000" b="1" spc="-5" dirty="0">
                <a:latin typeface="LM Roman 10"/>
                <a:cs typeface="LM Roman 10"/>
              </a:rPr>
              <a:t>4.3	</a:t>
            </a:r>
            <a:r>
              <a:rPr sz="900" b="1" spc="-10" dirty="0">
                <a:latin typeface="LM Roman 9"/>
                <a:cs typeface="LM Roman 9"/>
              </a:rPr>
              <a:t>Diagnostics</a:t>
            </a:r>
            <a:endParaRPr sz="90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1160"/>
              </a:spcBef>
              <a:buFont typeface="DejaVu Sans"/>
              <a:buChar char="❒"/>
              <a:tabLst>
                <a:tab pos="125095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Bias </a:t>
            </a:r>
            <a:r>
              <a:rPr sz="800" spc="-5" dirty="0">
                <a:latin typeface="LM Roman 8"/>
                <a:cs typeface="LM Roman 8"/>
              </a:rPr>
              <a:t>– The bias of a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is the </a:t>
            </a:r>
            <a:r>
              <a:rPr sz="800" spc="-10" dirty="0">
                <a:latin typeface="LM Roman 8"/>
                <a:cs typeface="LM Roman 8"/>
              </a:rPr>
              <a:t>difference between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dirty="0">
                <a:latin typeface="LM Roman 8"/>
                <a:cs typeface="LM Roman 8"/>
              </a:rPr>
              <a:t>expected </a:t>
            </a:r>
            <a:r>
              <a:rPr sz="800" spc="-5" dirty="0">
                <a:latin typeface="LM Roman 8"/>
                <a:cs typeface="LM Roman 8"/>
              </a:rPr>
              <a:t>prediction and the correct 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that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try to predict for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data</a:t>
            </a:r>
            <a:r>
              <a:rPr sz="800" spc="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points.</a:t>
            </a:r>
            <a:endParaRPr sz="800">
              <a:latin typeface="LM Roman 8"/>
              <a:cs typeface="LM Roman 8"/>
            </a:endParaRPr>
          </a:p>
          <a:p>
            <a:pPr marL="125095" indent="-113030">
              <a:lnSpc>
                <a:spcPct val="100000"/>
              </a:lnSpc>
              <a:spcBef>
                <a:spcPts val="780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20" dirty="0">
                <a:solidFill>
                  <a:srgbClr val="020E86"/>
                </a:solidFill>
                <a:latin typeface="LM Roman 8"/>
                <a:cs typeface="LM Roman 8"/>
              </a:rPr>
              <a:t>Variance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variance </a:t>
            </a:r>
            <a:r>
              <a:rPr sz="800" spc="-5" dirty="0">
                <a:latin typeface="LM Roman 8"/>
                <a:cs typeface="LM Roman 8"/>
              </a:rPr>
              <a:t>of a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is the </a:t>
            </a:r>
            <a:r>
              <a:rPr sz="800" spc="-10" dirty="0">
                <a:latin typeface="LM Roman 8"/>
                <a:cs typeface="LM Roman 8"/>
              </a:rPr>
              <a:t>variability </a:t>
            </a:r>
            <a:r>
              <a:rPr sz="800" spc="-5" dirty="0">
                <a:latin typeface="LM Roman 8"/>
                <a:cs typeface="LM Roman 8"/>
              </a:rPr>
              <a:t>of the </a:t>
            </a:r>
            <a:r>
              <a:rPr sz="800" dirty="0">
                <a:latin typeface="LM Roman 8"/>
                <a:cs typeface="LM Roman 8"/>
              </a:rPr>
              <a:t>model </a:t>
            </a:r>
            <a:r>
              <a:rPr sz="800" spc="-5" dirty="0">
                <a:latin typeface="LM Roman 8"/>
                <a:cs typeface="LM Roman 8"/>
              </a:rPr>
              <a:t>prediction for </a:t>
            </a:r>
            <a:r>
              <a:rPr sz="800" spc="-10" dirty="0">
                <a:latin typeface="LM Roman 8"/>
                <a:cs typeface="LM Roman 8"/>
              </a:rPr>
              <a:t>given</a:t>
            </a:r>
            <a:r>
              <a:rPr sz="800" spc="1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data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61762" y="4587632"/>
            <a:ext cx="4505960" cy="4800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points.</a:t>
            </a:r>
            <a:endParaRPr sz="800">
              <a:latin typeface="LM Roman 8"/>
              <a:cs typeface="LM Roman 8"/>
            </a:endParaRPr>
          </a:p>
          <a:p>
            <a:pPr marL="12700" marR="5080">
              <a:lnSpc>
                <a:spcPts val="850"/>
              </a:lnSpc>
              <a:spcBef>
                <a:spcPts val="935"/>
              </a:spcBef>
              <a:buFont typeface="DejaVu Sans"/>
              <a:buChar char="❒"/>
              <a:tabLst>
                <a:tab pos="119380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Bias/variance</a:t>
            </a:r>
            <a:r>
              <a:rPr sz="800" b="1" spc="-5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tradeoff</a:t>
            </a:r>
            <a:r>
              <a:rPr sz="800" b="1" spc="-9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simpler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model,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higher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bias,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more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complex  the </a:t>
            </a:r>
            <a:r>
              <a:rPr sz="800" dirty="0">
                <a:latin typeface="LM Roman 8"/>
                <a:cs typeface="LM Roman 8"/>
              </a:rPr>
              <a:t>model, </a:t>
            </a:r>
            <a:r>
              <a:rPr sz="800" spc="-5" dirty="0">
                <a:latin typeface="LM Roman 8"/>
                <a:cs typeface="LM Roman 8"/>
              </a:rPr>
              <a:t>the higher the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variance.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115794" y="6219248"/>
            <a:ext cx="971711" cy="8467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90350" y="6193040"/>
            <a:ext cx="951551" cy="8729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422556" y="6144656"/>
            <a:ext cx="995903" cy="9213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5137924" y="5310213"/>
          <a:ext cx="4347845" cy="1836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2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Underfitting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Just</a:t>
                      </a:r>
                      <a:r>
                        <a:rPr sz="800" b="1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10" dirty="0">
                          <a:latin typeface="LM Roman 8"/>
                          <a:cs typeface="LM Roman 8"/>
                        </a:rPr>
                        <a:t>right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Overfitting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33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Symptoms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High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training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error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78105" marR="80010">
                        <a:lnSpc>
                          <a:spcPct val="111700"/>
                        </a:lnSpc>
                        <a:spcBef>
                          <a:spcPts val="10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5" dirty="0">
                          <a:latin typeface="LM Roman 8"/>
                          <a:cs typeface="LM Roman 8"/>
                        </a:rPr>
                        <a:t>Training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error close  to test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error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70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High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bias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196850">
                        <a:lnSpc>
                          <a:spcPct val="112200"/>
                        </a:lnSpc>
                        <a:spcBef>
                          <a:spcPts val="20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- 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Training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error  slightly 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lower</a:t>
                      </a:r>
                      <a:r>
                        <a:rPr sz="800" spc="-7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than  test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error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5" dirty="0">
                          <a:latin typeface="LM Roman 8"/>
                          <a:cs typeface="LM Roman 8"/>
                        </a:rPr>
                        <a:t>Low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training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error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78105" marR="70485">
                        <a:lnSpc>
                          <a:spcPct val="111700"/>
                        </a:lnSpc>
                        <a:spcBef>
                          <a:spcPts val="10"/>
                        </a:spcBef>
                        <a:buChar char="-"/>
                        <a:tabLst>
                          <a:tab pos="144145" algn="l"/>
                        </a:tabLst>
                      </a:pPr>
                      <a:r>
                        <a:rPr sz="800" spc="-15" dirty="0">
                          <a:latin typeface="LM Roman 8"/>
                          <a:cs typeface="LM Roman 8"/>
                        </a:rPr>
                        <a:t>Training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error</a:t>
                      </a:r>
                      <a:r>
                        <a:rPr sz="800" spc="-14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much  lower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than test</a:t>
                      </a:r>
                      <a:r>
                        <a:rPr sz="800" spc="-3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error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70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High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variance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98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Regression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468007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299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6667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3999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44612" y="735850"/>
            <a:ext cx="1007998" cy="100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01023" y="735850"/>
            <a:ext cx="1007998" cy="1007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57421" y="735850"/>
            <a:ext cx="1007999" cy="10079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44612" y="1852596"/>
            <a:ext cx="1005983" cy="9979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01023" y="1852596"/>
            <a:ext cx="1005983" cy="9979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57421" y="1852596"/>
            <a:ext cx="1005983" cy="9979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50030" y="683996"/>
          <a:ext cx="4382770" cy="26694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66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Classification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Deep</a:t>
                      </a:r>
                      <a:r>
                        <a:rPr sz="800" b="1" spc="-2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learning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Remedies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Complexify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model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2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5" dirty="0">
                          <a:latin typeface="LM Roman 8"/>
                          <a:cs typeface="LM Roman 8"/>
                        </a:rPr>
                        <a:t>Add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more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features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6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20" dirty="0">
                          <a:latin typeface="LM Roman 8"/>
                          <a:cs typeface="LM Roman 8"/>
                        </a:rPr>
                        <a:t>Train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longer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Regularize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49860" indent="-72390">
                        <a:lnSpc>
                          <a:spcPct val="100000"/>
                        </a:lnSpc>
                        <a:spcBef>
                          <a:spcPts val="125"/>
                        </a:spcBef>
                        <a:buChar char="-"/>
                        <a:tabLst>
                          <a:tab pos="150495" algn="l"/>
                        </a:tabLst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Get more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data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91299" y="3548290"/>
            <a:ext cx="4505960" cy="5480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Error analysis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0" dirty="0">
                <a:latin typeface="LM Roman 8"/>
                <a:cs typeface="LM Roman 8"/>
              </a:rPr>
              <a:t>Error </a:t>
            </a:r>
            <a:r>
              <a:rPr sz="800" spc="-5" dirty="0">
                <a:latin typeface="LM Roman 8"/>
                <a:cs typeface="LM Roman 8"/>
              </a:rPr>
              <a:t>analysis is analyzing the </a:t>
            </a:r>
            <a:r>
              <a:rPr sz="800" dirty="0">
                <a:latin typeface="LM Roman 8"/>
                <a:cs typeface="LM Roman 8"/>
              </a:rPr>
              <a:t>root </a:t>
            </a:r>
            <a:r>
              <a:rPr sz="800" spc="-5" dirty="0">
                <a:latin typeface="LM Roman 8"/>
                <a:cs typeface="LM Roman 8"/>
              </a:rPr>
              <a:t>cause of the difference in </a:t>
            </a:r>
            <a:r>
              <a:rPr sz="800" dirty="0">
                <a:latin typeface="LM Roman 8"/>
                <a:cs typeface="LM Roman 8"/>
              </a:rPr>
              <a:t>performance  </a:t>
            </a:r>
            <a:r>
              <a:rPr sz="800" spc="-10" dirty="0">
                <a:latin typeface="LM Roman 8"/>
                <a:cs typeface="LM Roman 8"/>
              </a:rPr>
              <a:t>between </a:t>
            </a:r>
            <a:r>
              <a:rPr sz="800" spc="-5" dirty="0">
                <a:latin typeface="LM Roman 8"/>
                <a:cs typeface="LM Roman 8"/>
              </a:rPr>
              <a:t>the current and the </a:t>
            </a:r>
            <a:r>
              <a:rPr sz="800" dirty="0">
                <a:latin typeface="LM Roman 8"/>
                <a:cs typeface="LM Roman 8"/>
              </a:rPr>
              <a:t>perfect</a:t>
            </a:r>
            <a:r>
              <a:rPr sz="800" spc="-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models.</a:t>
            </a:r>
            <a:endParaRPr sz="800">
              <a:latin typeface="LM Roman 8"/>
              <a:cs typeface="LM Roman 8"/>
            </a:endParaRPr>
          </a:p>
          <a:p>
            <a:pPr marL="12700" marR="5080">
              <a:lnSpc>
                <a:spcPts val="800"/>
              </a:lnSpc>
              <a:spcBef>
                <a:spcPts val="755"/>
              </a:spcBef>
              <a:buFont typeface="DejaVu Sans"/>
              <a:buChar char="❒"/>
              <a:tabLst>
                <a:tab pos="123189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Ablative analysis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0" dirty="0">
                <a:latin typeface="LM Roman 8"/>
                <a:cs typeface="LM Roman 8"/>
              </a:rPr>
              <a:t>Ablative </a:t>
            </a:r>
            <a:r>
              <a:rPr sz="800" spc="-5" dirty="0">
                <a:latin typeface="LM Roman 8"/>
                <a:cs typeface="LM Roman 8"/>
              </a:rPr>
              <a:t>analysis is analyzing the </a:t>
            </a:r>
            <a:r>
              <a:rPr sz="800" dirty="0">
                <a:latin typeface="LM Roman 8"/>
                <a:cs typeface="LM Roman 8"/>
              </a:rPr>
              <a:t>root </a:t>
            </a:r>
            <a:r>
              <a:rPr sz="800" spc="-5" dirty="0">
                <a:latin typeface="LM Roman 8"/>
                <a:cs typeface="LM Roman 8"/>
              </a:rPr>
              <a:t>cause of the difference in</a:t>
            </a:r>
            <a:r>
              <a:rPr sz="800" spc="-20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perfor-  </a:t>
            </a:r>
            <a:r>
              <a:rPr sz="800" spc="-5" dirty="0">
                <a:latin typeface="LM Roman 8"/>
                <a:cs typeface="LM Roman 8"/>
              </a:rPr>
              <a:t>mance </a:t>
            </a:r>
            <a:r>
              <a:rPr sz="800" spc="-10" dirty="0">
                <a:latin typeface="LM Roman 8"/>
                <a:cs typeface="LM Roman 8"/>
              </a:rPr>
              <a:t>between </a:t>
            </a:r>
            <a:r>
              <a:rPr sz="800" spc="-5" dirty="0">
                <a:latin typeface="LM Roman 8"/>
                <a:cs typeface="LM Roman 8"/>
              </a:rPr>
              <a:t>the current and the baseline</a:t>
            </a:r>
            <a:r>
              <a:rPr sz="800" spc="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models.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59667" y="683953"/>
            <a:ext cx="4556760" cy="172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 indent="-218440">
              <a:lnSpc>
                <a:spcPts val="1195"/>
              </a:lnSpc>
              <a:buSzPct val="111111"/>
              <a:buFont typeface="LM Roman 10"/>
              <a:buAutoNum type="arabicPlain" startAt="5"/>
              <a:tabLst>
                <a:tab pos="268605" algn="l"/>
                <a:tab pos="269240" algn="l"/>
              </a:tabLst>
            </a:pPr>
            <a:r>
              <a:rPr sz="900" b="1" spc="-10" dirty="0">
                <a:latin typeface="LM Roman 9"/>
                <a:cs typeface="LM Roman 9"/>
              </a:rPr>
              <a:t>Refreshers</a:t>
            </a:r>
            <a:endParaRPr sz="900">
              <a:latin typeface="LM Roman 9"/>
              <a:cs typeface="LM Roman 9"/>
            </a:endParaRPr>
          </a:p>
          <a:p>
            <a:pPr marL="381635" lvl="1" indent="-331470">
              <a:lnSpc>
                <a:spcPct val="100000"/>
              </a:lnSpc>
              <a:spcBef>
                <a:spcPts val="1045"/>
              </a:spcBef>
              <a:buSzPct val="111111"/>
              <a:buFont typeface="LM Roman 10"/>
              <a:buAutoNum type="arabicPeriod"/>
              <a:tabLst>
                <a:tab pos="381635" algn="l"/>
                <a:tab pos="382270" algn="l"/>
              </a:tabLst>
            </a:pPr>
            <a:r>
              <a:rPr sz="900" b="1" spc="-5" dirty="0">
                <a:latin typeface="LM Roman 9"/>
                <a:cs typeface="LM Roman 9"/>
              </a:rPr>
              <a:t>Probabilities and</a:t>
            </a:r>
            <a:r>
              <a:rPr sz="900" b="1" spc="-10" dirty="0">
                <a:latin typeface="LM Roman 9"/>
                <a:cs typeface="LM Roman 9"/>
              </a:rPr>
              <a:t> </a:t>
            </a:r>
            <a:r>
              <a:rPr sz="900" b="1" spc="-5" dirty="0">
                <a:latin typeface="LM Roman 9"/>
                <a:cs typeface="LM Roman 9"/>
              </a:rPr>
              <a:t>Statistics</a:t>
            </a:r>
            <a:endParaRPr sz="900">
              <a:latin typeface="LM Roman 9"/>
              <a:cs typeface="LM Roman 9"/>
            </a:endParaRPr>
          </a:p>
          <a:p>
            <a:pPr marL="495300" lvl="2" indent="-445134">
              <a:lnSpc>
                <a:spcPct val="100000"/>
              </a:lnSpc>
              <a:spcBef>
                <a:spcPts val="705"/>
              </a:spcBef>
              <a:buSzPct val="111111"/>
              <a:buFont typeface="LM Roman 10"/>
              <a:buAutoNum type="arabicPeriod"/>
              <a:tabLst>
                <a:tab pos="495300" algn="l"/>
                <a:tab pos="495934" algn="l"/>
              </a:tabLst>
            </a:pPr>
            <a:r>
              <a:rPr sz="900" b="1" spc="-5" dirty="0">
                <a:latin typeface="LM Roman 9"/>
                <a:cs typeface="LM Roman 9"/>
              </a:rPr>
              <a:t>Introduction to Probability and</a:t>
            </a:r>
            <a:r>
              <a:rPr sz="900" b="1" spc="-15" dirty="0">
                <a:latin typeface="LM Roman 9"/>
                <a:cs typeface="LM Roman 9"/>
              </a:rPr>
              <a:t> </a:t>
            </a:r>
            <a:r>
              <a:rPr sz="900" b="1" spc="-5" dirty="0">
                <a:latin typeface="LM Roman 9"/>
                <a:cs typeface="LM Roman 9"/>
              </a:rPr>
              <a:t>Combinatorics</a:t>
            </a:r>
            <a:endParaRPr sz="900">
              <a:latin typeface="LM Roman 9"/>
              <a:cs typeface="LM Roman 9"/>
            </a:endParaRPr>
          </a:p>
          <a:p>
            <a:pPr marL="50800" marR="17780" algn="just">
              <a:lnSpc>
                <a:spcPts val="800"/>
              </a:lnSpc>
              <a:spcBef>
                <a:spcPts val="880"/>
              </a:spcBef>
              <a:buFont typeface="DejaVu Sans"/>
              <a:buChar char="❒"/>
              <a:tabLst>
                <a:tab pos="167005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Sample </a:t>
            </a: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space </a:t>
            </a:r>
            <a:r>
              <a:rPr sz="800" spc="-5" dirty="0">
                <a:latin typeface="LM Roman 8"/>
                <a:cs typeface="LM Roman 8"/>
              </a:rPr>
              <a:t>– The set of all </a:t>
            </a:r>
            <a:r>
              <a:rPr sz="800" dirty="0">
                <a:latin typeface="LM Roman 8"/>
                <a:cs typeface="LM Roman 8"/>
              </a:rPr>
              <a:t>possible </a:t>
            </a:r>
            <a:r>
              <a:rPr sz="800" spc="-5" dirty="0">
                <a:latin typeface="LM Roman 8"/>
                <a:cs typeface="LM Roman 8"/>
              </a:rPr>
              <a:t>outcomes of an experiment is </a:t>
            </a:r>
            <a:r>
              <a:rPr sz="800" spc="-10" dirty="0">
                <a:latin typeface="LM Roman 8"/>
                <a:cs typeface="LM Roman 8"/>
              </a:rPr>
              <a:t>known </a:t>
            </a:r>
            <a:r>
              <a:rPr sz="800" spc="-5" dirty="0">
                <a:latin typeface="LM Roman 8"/>
                <a:cs typeface="LM Roman 8"/>
              </a:rPr>
              <a:t>as the sample  space of the experiment and is denoted </a:t>
            </a:r>
            <a:r>
              <a:rPr sz="800" spc="-15" dirty="0">
                <a:latin typeface="LM Roman 8"/>
                <a:cs typeface="LM Roman 8"/>
              </a:rPr>
              <a:t>by</a:t>
            </a:r>
            <a:r>
              <a:rPr sz="800" spc="-5" dirty="0">
                <a:latin typeface="LM Roman 8"/>
                <a:cs typeface="LM Roman 8"/>
              </a:rPr>
              <a:t> </a:t>
            </a:r>
            <a:r>
              <a:rPr sz="800" i="1" spc="75" dirty="0">
                <a:latin typeface="Times New Roman"/>
                <a:cs typeface="Times New Roman"/>
              </a:rPr>
              <a:t>S</a:t>
            </a:r>
            <a:r>
              <a:rPr sz="800" spc="7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50165" marR="17780" algn="just">
              <a:lnSpc>
                <a:spcPts val="800"/>
              </a:lnSpc>
              <a:spcBef>
                <a:spcPts val="790"/>
              </a:spcBef>
              <a:buFont typeface="DejaVu Sans"/>
              <a:buChar char="❒"/>
              <a:tabLst>
                <a:tab pos="167005" algn="l"/>
              </a:tabLst>
            </a:pPr>
            <a:r>
              <a:rPr sz="800" b="1" spc="-15" dirty="0">
                <a:solidFill>
                  <a:srgbClr val="0C6C04"/>
                </a:solidFill>
                <a:latin typeface="LM Roman 8"/>
                <a:cs typeface="LM Roman 8"/>
              </a:rPr>
              <a:t>Event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5" dirty="0">
                <a:latin typeface="LM Roman 8"/>
                <a:cs typeface="LM Roman 8"/>
              </a:rPr>
              <a:t>Any </a:t>
            </a:r>
            <a:r>
              <a:rPr sz="800" spc="-5" dirty="0">
                <a:latin typeface="LM Roman 8"/>
                <a:cs typeface="LM Roman 8"/>
              </a:rPr>
              <a:t>subset </a:t>
            </a:r>
            <a:r>
              <a:rPr sz="800" i="1" spc="130" dirty="0">
                <a:latin typeface="Times New Roman"/>
                <a:cs typeface="Times New Roman"/>
              </a:rPr>
              <a:t>E </a:t>
            </a:r>
            <a:r>
              <a:rPr sz="800" spc="-5" dirty="0">
                <a:latin typeface="LM Roman 8"/>
                <a:cs typeface="LM Roman 8"/>
              </a:rPr>
              <a:t>of the sample space is </a:t>
            </a:r>
            <a:r>
              <a:rPr sz="800" spc="-10" dirty="0">
                <a:latin typeface="LM Roman 8"/>
                <a:cs typeface="LM Roman 8"/>
              </a:rPr>
              <a:t>known </a:t>
            </a:r>
            <a:r>
              <a:rPr sz="800" spc="-5" dirty="0">
                <a:latin typeface="LM Roman 8"/>
                <a:cs typeface="LM Roman 8"/>
              </a:rPr>
              <a:t>as an </a:t>
            </a:r>
            <a:r>
              <a:rPr sz="800" spc="-10" dirty="0">
                <a:latin typeface="LM Roman 8"/>
                <a:cs typeface="LM Roman 8"/>
              </a:rPr>
              <a:t>event. </a:t>
            </a:r>
            <a:r>
              <a:rPr sz="800" spc="-5" dirty="0">
                <a:latin typeface="LM Roman 8"/>
                <a:cs typeface="LM Roman 8"/>
              </a:rPr>
              <a:t>That is, an </a:t>
            </a:r>
            <a:r>
              <a:rPr sz="800" spc="-15" dirty="0">
                <a:latin typeface="LM Roman 8"/>
                <a:cs typeface="LM Roman 8"/>
              </a:rPr>
              <a:t>event </a:t>
            </a:r>
            <a:r>
              <a:rPr sz="800" spc="-5" dirty="0">
                <a:latin typeface="LM Roman 8"/>
                <a:cs typeface="LM Roman 8"/>
              </a:rPr>
              <a:t>is a set  consisting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possible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outcomes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experiment.</a:t>
            </a:r>
            <a:r>
              <a:rPr sz="800" spc="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If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outcome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experiment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contained  in </a:t>
            </a:r>
            <a:r>
              <a:rPr sz="800" i="1" spc="85" dirty="0">
                <a:latin typeface="Times New Roman"/>
                <a:cs typeface="Times New Roman"/>
              </a:rPr>
              <a:t>E</a:t>
            </a:r>
            <a:r>
              <a:rPr sz="800" spc="85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then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10" dirty="0">
                <a:latin typeface="LM Roman 8"/>
                <a:cs typeface="LM Roman 8"/>
              </a:rPr>
              <a:t>say </a:t>
            </a:r>
            <a:r>
              <a:rPr sz="800" spc="-5" dirty="0">
                <a:latin typeface="LM Roman 8"/>
                <a:cs typeface="LM Roman 8"/>
              </a:rPr>
              <a:t>that </a:t>
            </a:r>
            <a:r>
              <a:rPr sz="800" i="1" spc="130" dirty="0">
                <a:latin typeface="Times New Roman"/>
                <a:cs typeface="Times New Roman"/>
              </a:rPr>
              <a:t>E </a:t>
            </a:r>
            <a:r>
              <a:rPr sz="800" spc="-5" dirty="0">
                <a:latin typeface="LM Roman 8"/>
                <a:cs typeface="LM Roman 8"/>
              </a:rPr>
              <a:t>has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occurred.</a:t>
            </a:r>
            <a:endParaRPr sz="800">
              <a:latin typeface="LM Roman 8"/>
              <a:cs typeface="LM Roman 8"/>
            </a:endParaRPr>
          </a:p>
          <a:p>
            <a:pPr marL="165100" indent="-114935" algn="just">
              <a:lnSpc>
                <a:spcPts val="905"/>
              </a:lnSpc>
              <a:spcBef>
                <a:spcPts val="670"/>
              </a:spcBef>
              <a:buFont typeface="DejaVu Sans"/>
              <a:buChar char="❒"/>
              <a:tabLst>
                <a:tab pos="165735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Axioms of </a:t>
            </a: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probability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30" dirty="0">
                <a:latin typeface="LM Roman 8"/>
                <a:cs typeface="LM Roman 8"/>
              </a:rPr>
              <a:t>For </a:t>
            </a:r>
            <a:r>
              <a:rPr sz="800" spc="-10" dirty="0">
                <a:latin typeface="LM Roman 8"/>
                <a:cs typeface="LM Roman 8"/>
              </a:rPr>
              <a:t>each </a:t>
            </a:r>
            <a:r>
              <a:rPr sz="800" spc="-15" dirty="0">
                <a:latin typeface="LM Roman 8"/>
                <a:cs typeface="LM Roman 8"/>
              </a:rPr>
              <a:t>event </a:t>
            </a:r>
            <a:r>
              <a:rPr sz="800" i="1" spc="85" dirty="0">
                <a:latin typeface="Times New Roman"/>
                <a:cs typeface="Times New Roman"/>
              </a:rPr>
              <a:t>E</a:t>
            </a:r>
            <a:r>
              <a:rPr sz="800" spc="85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denote </a:t>
            </a:r>
            <a:r>
              <a:rPr sz="800" i="1" spc="45" dirty="0">
                <a:latin typeface="Times New Roman"/>
                <a:cs typeface="Times New Roman"/>
              </a:rPr>
              <a:t>P </a:t>
            </a:r>
            <a:r>
              <a:rPr sz="800" spc="55" dirty="0">
                <a:latin typeface="LM Roman 8"/>
                <a:cs typeface="LM Roman 8"/>
              </a:rPr>
              <a:t>(</a:t>
            </a:r>
            <a:r>
              <a:rPr sz="800" i="1" spc="55" dirty="0">
                <a:latin typeface="Times New Roman"/>
                <a:cs typeface="Times New Roman"/>
              </a:rPr>
              <a:t>E</a:t>
            </a:r>
            <a:r>
              <a:rPr sz="800" spc="5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as the probability of </a:t>
            </a:r>
            <a:r>
              <a:rPr sz="800" spc="-15" dirty="0">
                <a:latin typeface="LM Roman 8"/>
                <a:cs typeface="LM Roman 8"/>
              </a:rPr>
              <a:t>event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i="1" spc="130" dirty="0">
                <a:latin typeface="Times New Roman"/>
                <a:cs typeface="Times New Roman"/>
              </a:rPr>
              <a:t>E</a:t>
            </a:r>
            <a:endParaRPr sz="800">
              <a:latin typeface="Times New Roman"/>
              <a:cs typeface="Times New Roman"/>
            </a:endParaRPr>
          </a:p>
          <a:p>
            <a:pPr marL="50800">
              <a:lnSpc>
                <a:spcPts val="905"/>
              </a:lnSpc>
            </a:pPr>
            <a:r>
              <a:rPr sz="800" spc="-5" dirty="0">
                <a:latin typeface="LM Roman 8"/>
                <a:cs typeface="LM Roman 8"/>
              </a:rPr>
              <a:t>occuring. By noting </a:t>
            </a:r>
            <a:r>
              <a:rPr sz="800" i="1" spc="70" dirty="0">
                <a:latin typeface="Times New Roman"/>
                <a:cs typeface="Times New Roman"/>
              </a:rPr>
              <a:t>E</a:t>
            </a:r>
            <a:r>
              <a:rPr sz="900" spc="104" baseline="-9259" dirty="0">
                <a:latin typeface="LM Roman 6"/>
                <a:cs typeface="LM Roman 6"/>
              </a:rPr>
              <a:t>1</a:t>
            </a:r>
            <a:r>
              <a:rPr sz="800" i="1" spc="70" dirty="0">
                <a:latin typeface="Times New Roman"/>
                <a:cs typeface="Times New Roman"/>
              </a:rPr>
              <a:t>,...,E</a:t>
            </a:r>
            <a:r>
              <a:rPr sz="900" i="1" spc="104" baseline="-9259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mutually exclusive </a:t>
            </a:r>
            <a:r>
              <a:rPr sz="800" spc="-10" dirty="0">
                <a:latin typeface="LM Roman 8"/>
                <a:cs typeface="LM Roman 8"/>
              </a:rPr>
              <a:t>events, </a:t>
            </a:r>
            <a:r>
              <a:rPr sz="800" spc="-15" dirty="0">
                <a:latin typeface="LM Roman 8"/>
                <a:cs typeface="LM Roman 8"/>
              </a:rPr>
              <a:t>we have </a:t>
            </a:r>
            <a:r>
              <a:rPr sz="800" spc="-5" dirty="0">
                <a:latin typeface="LM Roman 8"/>
                <a:cs typeface="LM Roman 8"/>
              </a:rPr>
              <a:t>the 3 </a:t>
            </a:r>
            <a:r>
              <a:rPr sz="800" spc="-10" dirty="0">
                <a:latin typeface="LM Roman 8"/>
                <a:cs typeface="LM Roman 8"/>
              </a:rPr>
              <a:t>following</a:t>
            </a:r>
            <a:r>
              <a:rPr sz="800" spc="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axioms: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88634" y="2599053"/>
            <a:ext cx="18510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0355" algn="l"/>
                <a:tab pos="1086485" algn="l"/>
                <a:tab pos="1374775" algn="l"/>
              </a:tabLst>
            </a:pPr>
            <a:r>
              <a:rPr sz="800" spc="-5" dirty="0">
                <a:latin typeface="LM Roman 8"/>
                <a:cs typeface="LM Roman 8"/>
              </a:rPr>
              <a:t>(1)	0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114" dirty="0">
                <a:latin typeface="RobotoRegular"/>
                <a:cs typeface="RobotoRegular"/>
              </a:rPr>
              <a:t>™</a:t>
            </a:r>
            <a:r>
              <a:rPr sz="800" spc="40" dirty="0">
                <a:latin typeface="RobotoRegular"/>
                <a:cs typeface="RobotoRegular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85" dirty="0">
                <a:latin typeface="Times New Roman"/>
                <a:cs typeface="Times New Roman"/>
              </a:rPr>
              <a:t> </a:t>
            </a:r>
            <a:r>
              <a:rPr sz="800" spc="55" dirty="0">
                <a:latin typeface="LM Roman 8"/>
                <a:cs typeface="LM Roman 8"/>
              </a:rPr>
              <a:t>(</a:t>
            </a:r>
            <a:r>
              <a:rPr sz="800" i="1" spc="55" dirty="0">
                <a:latin typeface="Times New Roman"/>
                <a:cs typeface="Times New Roman"/>
              </a:rPr>
              <a:t>E</a:t>
            </a:r>
            <a:r>
              <a:rPr sz="800" spc="55" dirty="0">
                <a:latin typeface="LM Roman 8"/>
                <a:cs typeface="LM Roman 8"/>
              </a:rPr>
              <a:t>)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114" dirty="0">
                <a:latin typeface="RobotoRegular"/>
                <a:cs typeface="RobotoRegular"/>
              </a:rPr>
              <a:t>™</a:t>
            </a:r>
            <a:r>
              <a:rPr sz="800" spc="35" dirty="0">
                <a:latin typeface="RobotoRegular"/>
                <a:cs typeface="RobotoRegular"/>
              </a:rPr>
              <a:t> </a:t>
            </a:r>
            <a:r>
              <a:rPr sz="800" spc="-5" dirty="0">
                <a:latin typeface="LM Roman 8"/>
                <a:cs typeface="LM Roman 8"/>
              </a:rPr>
              <a:t>1	(2)	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5" dirty="0">
                <a:latin typeface="Times New Roman"/>
                <a:cs typeface="Times New Roman"/>
              </a:rPr>
              <a:t> </a:t>
            </a:r>
            <a:r>
              <a:rPr sz="800" spc="50" dirty="0">
                <a:latin typeface="LM Roman 8"/>
                <a:cs typeface="LM Roman 8"/>
              </a:rPr>
              <a:t>(</a:t>
            </a:r>
            <a:r>
              <a:rPr sz="800" i="1" spc="50" dirty="0">
                <a:latin typeface="Times New Roman"/>
                <a:cs typeface="Times New Roman"/>
              </a:rPr>
              <a:t>S</a:t>
            </a:r>
            <a:r>
              <a:rPr sz="800" spc="50" dirty="0">
                <a:latin typeface="LM Roman 8"/>
                <a:cs typeface="LM Roman 8"/>
              </a:rPr>
              <a:t>)</a:t>
            </a:r>
            <a:r>
              <a:rPr sz="800" spc="-7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25549" y="2363716"/>
            <a:ext cx="5143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0685" algn="l"/>
              </a:tabLst>
            </a:pPr>
            <a:r>
              <a:rPr sz="1000" spc="509" dirty="0">
                <a:latin typeface="Arial"/>
                <a:cs typeface="Arial"/>
              </a:rPr>
              <a:t>.	</a:t>
            </a:r>
            <a:r>
              <a:rPr sz="1000" spc="17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72107" y="2472530"/>
            <a:ext cx="6318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0070" algn="l"/>
              </a:tabLst>
            </a:pPr>
            <a:r>
              <a:rPr sz="600" i="1" spc="160" dirty="0">
                <a:latin typeface="Times New Roman"/>
                <a:cs typeface="Times New Roman"/>
              </a:rPr>
              <a:t>n	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31022" y="2459880"/>
            <a:ext cx="721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8480" algn="l"/>
              </a:tabLst>
            </a:pPr>
            <a:r>
              <a:rPr sz="1000" spc="825" dirty="0">
                <a:latin typeface="Arial"/>
                <a:cs typeface="Arial"/>
              </a:rPr>
              <a:t>[	</a:t>
            </a:r>
            <a:r>
              <a:rPr sz="1000" spc="-13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11110" y="2599053"/>
            <a:ext cx="15963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25755" algn="l"/>
                <a:tab pos="695960" algn="l"/>
                <a:tab pos="944880" algn="l"/>
                <a:tab pos="1259205" algn="l"/>
              </a:tabLst>
            </a:pPr>
            <a:r>
              <a:rPr sz="800" spc="-5" dirty="0">
                <a:latin typeface="LM Roman 8"/>
                <a:cs typeface="LM Roman 8"/>
              </a:rPr>
              <a:t>(3)	</a:t>
            </a:r>
            <a:r>
              <a:rPr sz="800" i="1" spc="45" dirty="0">
                <a:latin typeface="Times New Roman"/>
                <a:cs typeface="Times New Roman"/>
              </a:rPr>
              <a:t>P	</a:t>
            </a:r>
            <a:r>
              <a:rPr sz="800" i="1" spc="110" dirty="0">
                <a:latin typeface="Times New Roman"/>
                <a:cs typeface="Times New Roman"/>
              </a:rPr>
              <a:t>E</a:t>
            </a:r>
            <a:r>
              <a:rPr sz="900" i="1" spc="165" baseline="-9259" dirty="0">
                <a:latin typeface="Times New Roman"/>
                <a:cs typeface="Times New Roman"/>
              </a:rPr>
              <a:t>i	</a:t>
            </a:r>
            <a:r>
              <a:rPr sz="800" spc="-5" dirty="0">
                <a:latin typeface="LM Roman 8"/>
                <a:cs typeface="LM Roman 8"/>
              </a:rPr>
              <a:t>=	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105" dirty="0">
                <a:latin typeface="Times New Roman"/>
                <a:cs typeface="Times New Roman"/>
              </a:rPr>
              <a:t> </a:t>
            </a:r>
            <a:r>
              <a:rPr sz="800" spc="65" dirty="0">
                <a:latin typeface="LM Roman 8"/>
                <a:cs typeface="LM Roman 8"/>
              </a:rPr>
              <a:t>(</a:t>
            </a:r>
            <a:r>
              <a:rPr sz="800" i="1" spc="65" dirty="0">
                <a:latin typeface="Times New Roman"/>
                <a:cs typeface="Times New Roman"/>
              </a:rPr>
              <a:t>E</a:t>
            </a:r>
            <a:r>
              <a:rPr sz="900" i="1" spc="97" baseline="-9259" dirty="0">
                <a:latin typeface="Times New Roman"/>
                <a:cs typeface="Times New Roman"/>
              </a:rPr>
              <a:t>i</a:t>
            </a:r>
            <a:r>
              <a:rPr sz="800" spc="6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794180" y="2454859"/>
            <a:ext cx="1305560" cy="466090"/>
            <a:chOff x="7794180" y="2454859"/>
            <a:chExt cx="1305560" cy="466090"/>
          </a:xfrm>
        </p:grpSpPr>
        <p:sp>
          <p:nvSpPr>
            <p:cNvPr id="20" name="object 20"/>
            <p:cNvSpPr/>
            <p:nvPr/>
          </p:nvSpPr>
          <p:spPr>
            <a:xfrm>
              <a:off x="7794180" y="2457386"/>
              <a:ext cx="1305560" cy="0"/>
            </a:xfrm>
            <a:custGeom>
              <a:avLst/>
              <a:gdLst/>
              <a:ahLst/>
              <a:cxnLst/>
              <a:rect l="l" t="t" r="r" b="b"/>
              <a:pathLst>
                <a:path w="1305559">
                  <a:moveTo>
                    <a:pt x="0" y="0"/>
                  </a:moveTo>
                  <a:lnTo>
                    <a:pt x="130534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96708" y="2457399"/>
              <a:ext cx="0" cy="461009"/>
            </a:xfrm>
            <a:custGeom>
              <a:avLst/>
              <a:gdLst/>
              <a:ahLst/>
              <a:cxnLst/>
              <a:rect l="l" t="t" r="r" b="b"/>
              <a:pathLst>
                <a:path h="461010">
                  <a:moveTo>
                    <a:pt x="0" y="46055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96997" y="2457399"/>
              <a:ext cx="0" cy="461009"/>
            </a:xfrm>
            <a:custGeom>
              <a:avLst/>
              <a:gdLst/>
              <a:ahLst/>
              <a:cxnLst/>
              <a:rect l="l" t="t" r="r" b="b"/>
              <a:pathLst>
                <a:path h="461010">
                  <a:moveTo>
                    <a:pt x="0" y="46055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94180" y="2917952"/>
              <a:ext cx="1305560" cy="0"/>
            </a:xfrm>
            <a:custGeom>
              <a:avLst/>
              <a:gdLst/>
              <a:ahLst/>
              <a:cxnLst/>
              <a:rect l="l" t="t" r="r" b="b"/>
              <a:pathLst>
                <a:path w="1305559">
                  <a:moveTo>
                    <a:pt x="0" y="0"/>
                  </a:moveTo>
                  <a:lnTo>
                    <a:pt x="130534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097767" y="2776187"/>
            <a:ext cx="4505325" cy="556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0">
              <a:lnSpc>
                <a:spcPct val="100000"/>
              </a:lnSpc>
              <a:spcBef>
                <a:spcPts val="95"/>
              </a:spcBef>
              <a:tabLst>
                <a:tab pos="3487420" algn="l"/>
              </a:tabLst>
            </a:pP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=1	</a:t>
            </a: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  <a:p>
            <a:pPr>
              <a:lnSpc>
                <a:spcPct val="100000"/>
              </a:lnSpc>
            </a:pPr>
            <a:endParaRPr sz="800">
              <a:latin typeface="LM Roman 6"/>
              <a:cs typeface="LM Roman 6"/>
            </a:endParaRPr>
          </a:p>
          <a:p>
            <a:pPr marL="12700" marR="5080">
              <a:lnSpc>
                <a:spcPts val="850"/>
              </a:lnSpc>
              <a:spcBef>
                <a:spcPts val="630"/>
              </a:spcBef>
              <a:buFont typeface="DejaVu Sans"/>
              <a:buChar char="❒"/>
              <a:tabLst>
                <a:tab pos="125095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Permutation </a:t>
            </a:r>
            <a:r>
              <a:rPr sz="800" spc="-5" dirty="0">
                <a:latin typeface="LM Roman 8"/>
                <a:cs typeface="LM Roman 8"/>
              </a:rPr>
              <a:t>– A permutation is an arrangement of </a:t>
            </a:r>
            <a:r>
              <a:rPr sz="800" i="1" spc="70" dirty="0">
                <a:latin typeface="Times New Roman"/>
                <a:cs typeface="Times New Roman"/>
              </a:rPr>
              <a:t>r </a:t>
            </a:r>
            <a:r>
              <a:rPr sz="800" spc="-5" dirty="0">
                <a:latin typeface="LM Roman 8"/>
                <a:cs typeface="LM Roman 8"/>
              </a:rPr>
              <a:t>objects </a:t>
            </a:r>
            <a:r>
              <a:rPr sz="800" spc="-10" dirty="0">
                <a:latin typeface="LM Roman 8"/>
                <a:cs typeface="LM Roman 8"/>
              </a:rPr>
              <a:t>from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spc="5" dirty="0">
                <a:latin typeface="LM Roman 8"/>
                <a:cs typeface="LM Roman 8"/>
              </a:rPr>
              <a:t>pool </a:t>
            </a:r>
            <a:r>
              <a:rPr sz="800" spc="-5" dirty="0">
                <a:latin typeface="LM Roman 8"/>
                <a:cs typeface="LM Roman 8"/>
              </a:rPr>
              <a:t>of </a:t>
            </a:r>
            <a:r>
              <a:rPr sz="800" i="1" spc="110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objects, in a 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order. The </a:t>
            </a:r>
            <a:r>
              <a:rPr sz="800" spc="-10" dirty="0">
                <a:latin typeface="LM Roman 8"/>
                <a:cs typeface="LM Roman 8"/>
              </a:rPr>
              <a:t>number </a:t>
            </a:r>
            <a:r>
              <a:rPr sz="800" spc="-5" dirty="0">
                <a:latin typeface="LM Roman 8"/>
                <a:cs typeface="LM Roman 8"/>
              </a:rPr>
              <a:t>of </a:t>
            </a:r>
            <a:r>
              <a:rPr sz="800" spc="-10" dirty="0">
                <a:latin typeface="LM Roman 8"/>
                <a:cs typeface="LM Roman 8"/>
              </a:rPr>
              <a:t>such </a:t>
            </a:r>
            <a:r>
              <a:rPr sz="800" spc="-5" dirty="0">
                <a:latin typeface="LM Roman 8"/>
                <a:cs typeface="LM Roman 8"/>
              </a:rPr>
              <a:t>arrangements is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i="1" spc="45" dirty="0">
                <a:latin typeface="Times New Roman"/>
                <a:cs typeface="Times New Roman"/>
              </a:rPr>
              <a:t>P 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n, </a:t>
            </a:r>
            <a:r>
              <a:rPr sz="800" i="1" spc="25" dirty="0">
                <a:latin typeface="Times New Roman"/>
                <a:cs typeface="Times New Roman"/>
              </a:rPr>
              <a:t>r</a:t>
            </a:r>
            <a:r>
              <a:rPr sz="800" spc="25" dirty="0">
                <a:latin typeface="LM Roman 8"/>
                <a:cs typeface="LM Roman 8"/>
              </a:rPr>
              <a:t>), </a:t>
            </a:r>
            <a:r>
              <a:rPr sz="800" spc="-5" dirty="0">
                <a:latin typeface="LM Roman 8"/>
                <a:cs typeface="LM Roman 8"/>
              </a:rPr>
              <a:t>defined</a:t>
            </a:r>
            <a:r>
              <a:rPr sz="800" spc="-114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40231" y="3375226"/>
            <a:ext cx="1079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105" dirty="0">
                <a:latin typeface="Times New Roman"/>
                <a:cs typeface="Times New Roman"/>
              </a:rPr>
              <a:t>n</a:t>
            </a:r>
            <a:r>
              <a:rPr sz="800" spc="-5" dirty="0">
                <a:latin typeface="LM Roman 8"/>
                <a:cs typeface="LM Roman 8"/>
              </a:rPr>
              <a:t>!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406932" y="3534321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74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891604" y="3445712"/>
            <a:ext cx="91566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0" dirty="0">
                <a:latin typeface="Times New Roman"/>
                <a:cs typeface="Times New Roman"/>
              </a:rPr>
              <a:t> 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n,</a:t>
            </a:r>
            <a:r>
              <a:rPr sz="800" i="1" spc="-65" dirty="0">
                <a:latin typeface="Times New Roman"/>
                <a:cs typeface="Times New Roman"/>
              </a:rPr>
              <a:t> </a:t>
            </a:r>
            <a:r>
              <a:rPr sz="800" i="1" spc="40" dirty="0">
                <a:latin typeface="Times New Roman"/>
                <a:cs typeface="Times New Roman"/>
              </a:rPr>
              <a:t>r</a:t>
            </a:r>
            <a:r>
              <a:rPr sz="800" spc="40" dirty="0">
                <a:latin typeface="LM Roman 8"/>
                <a:cs typeface="LM Roman 8"/>
              </a:rPr>
              <a:t>)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1200" spc="82" baseline="-41666" dirty="0">
                <a:latin typeface="LM Roman 8"/>
                <a:cs typeface="LM Roman 8"/>
              </a:rPr>
              <a:t>(</a:t>
            </a:r>
            <a:r>
              <a:rPr sz="1200" i="1" spc="82" baseline="-41666" dirty="0">
                <a:latin typeface="Times New Roman"/>
                <a:cs typeface="Times New Roman"/>
              </a:rPr>
              <a:t>n</a:t>
            </a:r>
            <a:r>
              <a:rPr sz="1200" i="1" spc="-30" baseline="-41666" dirty="0">
                <a:latin typeface="Times New Roman"/>
                <a:cs typeface="Times New Roman"/>
              </a:rPr>
              <a:t> </a:t>
            </a:r>
            <a:r>
              <a:rPr sz="1200" i="1" spc="-22" baseline="-41666" dirty="0">
                <a:latin typeface="DejaVu Sans"/>
                <a:cs typeface="DejaVu Sans"/>
              </a:rPr>
              <a:t>−</a:t>
            </a:r>
            <a:r>
              <a:rPr sz="1200" i="1" spc="-120" baseline="-41666" dirty="0">
                <a:latin typeface="DejaVu Sans"/>
                <a:cs typeface="DejaVu Sans"/>
              </a:rPr>
              <a:t> </a:t>
            </a:r>
            <a:r>
              <a:rPr sz="1200" i="1" spc="37" baseline="-41666" dirty="0">
                <a:latin typeface="Times New Roman"/>
                <a:cs typeface="Times New Roman"/>
              </a:rPr>
              <a:t>r</a:t>
            </a:r>
            <a:r>
              <a:rPr sz="1200" spc="37" baseline="-41666" dirty="0">
                <a:latin typeface="LM Roman 8"/>
                <a:cs typeface="LM Roman 8"/>
              </a:rPr>
              <a:t>)!</a:t>
            </a:r>
            <a:endParaRPr sz="1200" baseline="-41666">
              <a:latin typeface="LM Roman 8"/>
              <a:cs typeface="LM Roman 8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873988" y="3376409"/>
            <a:ext cx="953135" cy="327660"/>
            <a:chOff x="6873988" y="3376409"/>
            <a:chExt cx="953135" cy="327660"/>
          </a:xfrm>
        </p:grpSpPr>
        <p:sp>
          <p:nvSpPr>
            <p:cNvPr id="29" name="object 29"/>
            <p:cNvSpPr/>
            <p:nvPr/>
          </p:nvSpPr>
          <p:spPr>
            <a:xfrm>
              <a:off x="6873988" y="3378936"/>
              <a:ext cx="953135" cy="0"/>
            </a:xfrm>
            <a:custGeom>
              <a:avLst/>
              <a:gdLst/>
              <a:ahLst/>
              <a:cxnLst/>
              <a:rect l="l" t="t" r="r" b="b"/>
              <a:pathLst>
                <a:path w="953134">
                  <a:moveTo>
                    <a:pt x="0" y="0"/>
                  </a:moveTo>
                  <a:lnTo>
                    <a:pt x="95289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76516" y="3378936"/>
              <a:ext cx="0" cy="322580"/>
            </a:xfrm>
            <a:custGeom>
              <a:avLst/>
              <a:gdLst/>
              <a:ahLst/>
              <a:cxnLst/>
              <a:rect l="l" t="t" r="r" b="b"/>
              <a:pathLst>
                <a:path h="322579">
                  <a:moveTo>
                    <a:pt x="0" y="32231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24342" y="3378936"/>
              <a:ext cx="0" cy="322580"/>
            </a:xfrm>
            <a:custGeom>
              <a:avLst/>
              <a:gdLst/>
              <a:ahLst/>
              <a:cxnLst/>
              <a:rect l="l" t="t" r="r" b="b"/>
              <a:pathLst>
                <a:path h="322579">
                  <a:moveTo>
                    <a:pt x="0" y="32231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73988" y="3701250"/>
              <a:ext cx="953135" cy="0"/>
            </a:xfrm>
            <a:custGeom>
              <a:avLst/>
              <a:gdLst/>
              <a:ahLst/>
              <a:cxnLst/>
              <a:rect l="l" t="t" r="r" b="b"/>
              <a:pathLst>
                <a:path w="953134">
                  <a:moveTo>
                    <a:pt x="0" y="0"/>
                  </a:moveTo>
                  <a:lnTo>
                    <a:pt x="95289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97767" y="3860519"/>
            <a:ext cx="4505325" cy="2552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850"/>
              </a:lnSpc>
              <a:spcBef>
                <a:spcPts val="215"/>
              </a:spcBef>
              <a:buFont typeface="DejaVu Sans"/>
              <a:buChar char="❒"/>
              <a:tabLst>
                <a:tab pos="118745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Combination</a:t>
            </a:r>
            <a:r>
              <a:rPr sz="800" b="1" spc="-95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combination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arrangement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i="1" spc="70" dirty="0">
                <a:latin typeface="Times New Roman"/>
                <a:cs typeface="Times New Roman"/>
              </a:rPr>
              <a:t>r</a:t>
            </a:r>
            <a:r>
              <a:rPr sz="800" i="1" spc="5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objects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from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5" dirty="0">
                <a:latin typeface="LM Roman 8"/>
                <a:cs typeface="LM Roman 8"/>
              </a:rPr>
              <a:t>pool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n</a:t>
            </a:r>
            <a:r>
              <a:rPr sz="800" i="1" spc="3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objects,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where  the order </a:t>
            </a:r>
            <a:r>
              <a:rPr sz="800" dirty="0">
                <a:latin typeface="LM Roman 8"/>
                <a:cs typeface="LM Roman 8"/>
              </a:rPr>
              <a:t>does </a:t>
            </a:r>
            <a:r>
              <a:rPr sz="800" spc="-5" dirty="0">
                <a:latin typeface="LM Roman 8"/>
                <a:cs typeface="LM Roman 8"/>
              </a:rPr>
              <a:t>not matter. The </a:t>
            </a:r>
            <a:r>
              <a:rPr sz="800" spc="-10" dirty="0">
                <a:latin typeface="LM Roman 8"/>
                <a:cs typeface="LM Roman 8"/>
              </a:rPr>
              <a:t>number </a:t>
            </a:r>
            <a:r>
              <a:rPr sz="800" spc="-5" dirty="0">
                <a:latin typeface="LM Roman 8"/>
                <a:cs typeface="LM Roman 8"/>
              </a:rPr>
              <a:t>of </a:t>
            </a:r>
            <a:r>
              <a:rPr sz="800" spc="-10" dirty="0">
                <a:latin typeface="LM Roman 8"/>
                <a:cs typeface="LM Roman 8"/>
              </a:rPr>
              <a:t>such </a:t>
            </a:r>
            <a:r>
              <a:rPr sz="800" spc="-5" dirty="0">
                <a:latin typeface="LM Roman 8"/>
                <a:cs typeface="LM Roman 8"/>
              </a:rPr>
              <a:t>arrangements is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i="1" spc="65" dirty="0">
                <a:latin typeface="Times New Roman"/>
                <a:cs typeface="Times New Roman"/>
              </a:rPr>
              <a:t>C</a:t>
            </a:r>
            <a:r>
              <a:rPr sz="800" spc="65" dirty="0">
                <a:latin typeface="LM Roman 8"/>
                <a:cs typeface="LM Roman 8"/>
              </a:rPr>
              <a:t>(</a:t>
            </a:r>
            <a:r>
              <a:rPr sz="800" i="1" spc="65" dirty="0">
                <a:latin typeface="Times New Roman"/>
                <a:cs typeface="Times New Roman"/>
              </a:rPr>
              <a:t>n, </a:t>
            </a:r>
            <a:r>
              <a:rPr sz="800" i="1" spc="25" dirty="0">
                <a:latin typeface="Times New Roman"/>
                <a:cs typeface="Times New Roman"/>
              </a:rPr>
              <a:t>r</a:t>
            </a:r>
            <a:r>
              <a:rPr sz="800" spc="25" dirty="0">
                <a:latin typeface="LM Roman 8"/>
                <a:cs typeface="LM Roman 8"/>
              </a:rPr>
              <a:t>), </a:t>
            </a:r>
            <a:r>
              <a:rPr sz="800" spc="-5" dirty="0">
                <a:latin typeface="LM Roman 8"/>
                <a:cs typeface="LM Roman 8"/>
              </a:rPr>
              <a:t>defined</a:t>
            </a:r>
            <a:r>
              <a:rPr sz="800" spc="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23418" y="4235194"/>
            <a:ext cx="4584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65" dirty="0">
                <a:latin typeface="Times New Roman"/>
                <a:cs typeface="Times New Roman"/>
              </a:rPr>
              <a:t>C</a:t>
            </a:r>
            <a:r>
              <a:rPr sz="800" spc="65" dirty="0">
                <a:latin typeface="LM Roman 8"/>
                <a:cs typeface="LM Roman 8"/>
              </a:rPr>
              <a:t>(</a:t>
            </a:r>
            <a:r>
              <a:rPr sz="800" i="1" spc="65" dirty="0">
                <a:latin typeface="Times New Roman"/>
                <a:cs typeface="Times New Roman"/>
              </a:rPr>
              <a:t>n,</a:t>
            </a:r>
            <a:r>
              <a:rPr sz="800" i="1" spc="-85" dirty="0">
                <a:latin typeface="Times New Roman"/>
                <a:cs typeface="Times New Roman"/>
              </a:rPr>
              <a:t> </a:t>
            </a:r>
            <a:r>
              <a:rPr sz="800" i="1" spc="40" dirty="0">
                <a:latin typeface="Times New Roman"/>
                <a:cs typeface="Times New Roman"/>
              </a:rPr>
              <a:t>r</a:t>
            </a:r>
            <a:r>
              <a:rPr sz="800" spc="40" dirty="0">
                <a:latin typeface="LM Roman 8"/>
                <a:cs typeface="LM Roman 8"/>
              </a:rPr>
              <a:t>)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114019" y="4323816"/>
            <a:ext cx="331470" cy="0"/>
          </a:xfrm>
          <a:custGeom>
            <a:avLst/>
            <a:gdLst/>
            <a:ahLst/>
            <a:cxnLst/>
            <a:rect l="l" t="t" r="r" b="b"/>
            <a:pathLst>
              <a:path w="331470">
                <a:moveTo>
                  <a:pt x="0" y="0"/>
                </a:moveTo>
                <a:lnTo>
                  <a:pt x="33134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490421" y="4235194"/>
            <a:ext cx="965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14019" y="4164722"/>
            <a:ext cx="7874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78815" algn="l"/>
              </a:tabLst>
            </a:pP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8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90" dirty="0">
                <a:latin typeface="Times New Roman"/>
                <a:cs typeface="Times New Roman"/>
              </a:rPr>
              <a:t>n</a:t>
            </a:r>
            <a:r>
              <a:rPr sz="800" i="1" spc="45" dirty="0">
                <a:latin typeface="Times New Roman"/>
                <a:cs typeface="Times New Roman"/>
              </a:rPr>
              <a:t>,</a:t>
            </a:r>
            <a:r>
              <a:rPr sz="800" i="1" spc="-60" dirty="0">
                <a:latin typeface="Times New Roman"/>
                <a:cs typeface="Times New Roman"/>
              </a:rPr>
              <a:t> </a:t>
            </a:r>
            <a:r>
              <a:rPr sz="800" i="1" spc="90" dirty="0">
                <a:latin typeface="Times New Roman"/>
                <a:cs typeface="Times New Roman"/>
              </a:rPr>
              <a:t>r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dirty="0">
                <a:latin typeface="LM Roman 8"/>
                <a:cs typeface="LM Roman 8"/>
              </a:rPr>
              <a:t>	</a:t>
            </a:r>
            <a:r>
              <a:rPr sz="800" i="1" spc="105" dirty="0">
                <a:latin typeface="Times New Roman"/>
                <a:cs typeface="Times New Roman"/>
              </a:rPr>
              <a:t>n</a:t>
            </a:r>
            <a:r>
              <a:rPr sz="800" spc="-5" dirty="0">
                <a:latin typeface="LM Roman 8"/>
                <a:cs typeface="LM Roman 8"/>
              </a:rPr>
              <a:t>!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619124" y="4323816"/>
            <a:ext cx="443230" cy="0"/>
          </a:xfrm>
          <a:custGeom>
            <a:avLst/>
            <a:gdLst/>
            <a:ahLst/>
            <a:cxnLst/>
            <a:rect l="l" t="t" r="r" b="b"/>
            <a:pathLst>
              <a:path w="443229">
                <a:moveTo>
                  <a:pt x="0" y="0"/>
                </a:moveTo>
                <a:lnTo>
                  <a:pt x="44314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239000" y="4311026"/>
            <a:ext cx="83629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79730" algn="l"/>
              </a:tabLst>
            </a:pPr>
            <a:r>
              <a:rPr sz="800" i="1" spc="40" dirty="0">
                <a:latin typeface="Times New Roman"/>
                <a:cs typeface="Times New Roman"/>
              </a:rPr>
              <a:t>r</a:t>
            </a:r>
            <a:r>
              <a:rPr sz="800" spc="40" dirty="0">
                <a:latin typeface="LM Roman 8"/>
                <a:cs typeface="LM Roman 8"/>
              </a:rPr>
              <a:t>!	</a:t>
            </a:r>
            <a:r>
              <a:rPr sz="800" i="1" spc="50" dirty="0">
                <a:latin typeface="Times New Roman"/>
                <a:cs typeface="Times New Roman"/>
              </a:rPr>
              <a:t>r</a:t>
            </a:r>
            <a:r>
              <a:rPr sz="800" spc="50" dirty="0">
                <a:latin typeface="LM Roman 8"/>
                <a:cs typeface="LM Roman 8"/>
              </a:rPr>
              <a:t>!(</a:t>
            </a:r>
            <a:r>
              <a:rPr sz="800" i="1" spc="50" dirty="0">
                <a:latin typeface="Times New Roman"/>
                <a:cs typeface="Times New Roman"/>
              </a:rPr>
              <a:t>n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200" dirty="0">
                <a:latin typeface="DejaVu Sans"/>
                <a:cs typeface="DejaVu Sans"/>
              </a:rPr>
              <a:t> </a:t>
            </a:r>
            <a:r>
              <a:rPr sz="800" i="1" spc="25" dirty="0">
                <a:latin typeface="Times New Roman"/>
                <a:cs typeface="Times New Roman"/>
              </a:rPr>
              <a:t>r</a:t>
            </a:r>
            <a:r>
              <a:rPr sz="800" spc="25" dirty="0">
                <a:latin typeface="LM Roman 8"/>
                <a:cs typeface="LM Roman 8"/>
              </a:rPr>
              <a:t>)!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580390" y="4159707"/>
            <a:ext cx="1540510" cy="334010"/>
            <a:chOff x="6580390" y="4159707"/>
            <a:chExt cx="1540510" cy="334010"/>
          </a:xfrm>
        </p:grpSpPr>
        <p:sp>
          <p:nvSpPr>
            <p:cNvPr id="41" name="object 41"/>
            <p:cNvSpPr/>
            <p:nvPr/>
          </p:nvSpPr>
          <p:spPr>
            <a:xfrm>
              <a:off x="6580390" y="4162234"/>
              <a:ext cx="1540510" cy="0"/>
            </a:xfrm>
            <a:custGeom>
              <a:avLst/>
              <a:gdLst/>
              <a:ahLst/>
              <a:cxnLst/>
              <a:rect l="l" t="t" r="r" b="b"/>
              <a:pathLst>
                <a:path w="1540509">
                  <a:moveTo>
                    <a:pt x="0" y="0"/>
                  </a:moveTo>
                  <a:lnTo>
                    <a:pt x="154006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82930" y="4162221"/>
              <a:ext cx="0" cy="328930"/>
            </a:xfrm>
            <a:custGeom>
              <a:avLst/>
              <a:gdLst/>
              <a:ahLst/>
              <a:cxnLst/>
              <a:rect l="l" t="t" r="r" b="b"/>
              <a:pathLst>
                <a:path h="328929">
                  <a:moveTo>
                    <a:pt x="0" y="32851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17928" y="4162221"/>
              <a:ext cx="0" cy="328930"/>
            </a:xfrm>
            <a:custGeom>
              <a:avLst/>
              <a:gdLst/>
              <a:ahLst/>
              <a:cxnLst/>
              <a:rect l="l" t="t" r="r" b="b"/>
              <a:pathLst>
                <a:path h="328929">
                  <a:moveTo>
                    <a:pt x="0" y="32851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80390" y="4490732"/>
              <a:ext cx="1540510" cy="0"/>
            </a:xfrm>
            <a:custGeom>
              <a:avLst/>
              <a:gdLst/>
              <a:ahLst/>
              <a:cxnLst/>
              <a:rect l="l" t="t" r="r" b="b"/>
              <a:pathLst>
                <a:path w="1540509">
                  <a:moveTo>
                    <a:pt x="0" y="0"/>
                  </a:moveTo>
                  <a:lnTo>
                    <a:pt x="154006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097767" y="4561381"/>
            <a:ext cx="3221990" cy="723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</a:t>
            </a:r>
            <a:r>
              <a:rPr sz="800" i="1" spc="8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note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that</a:t>
            </a:r>
            <a:r>
              <a:rPr sz="800" i="1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for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0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spc="114" dirty="0">
                <a:solidFill>
                  <a:srgbClr val="59439A"/>
                </a:solidFill>
                <a:latin typeface="RobotoRegular"/>
                <a:cs typeface="RobotoRegular"/>
              </a:rPr>
              <a:t>™</a:t>
            </a:r>
            <a:r>
              <a:rPr sz="800" spc="35" dirty="0">
                <a:solidFill>
                  <a:srgbClr val="59439A"/>
                </a:solidFill>
                <a:latin typeface="RobotoRegular"/>
                <a:cs typeface="RobotoRegular"/>
              </a:rPr>
              <a:t> </a:t>
            </a:r>
            <a:r>
              <a:rPr sz="800" i="1" spc="70" dirty="0">
                <a:solidFill>
                  <a:srgbClr val="59439A"/>
                </a:solidFill>
                <a:latin typeface="Times New Roman"/>
                <a:cs typeface="Times New Roman"/>
              </a:rPr>
              <a:t>r</a:t>
            </a:r>
            <a:r>
              <a:rPr sz="800" i="1" spc="60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114" dirty="0">
                <a:solidFill>
                  <a:srgbClr val="59439A"/>
                </a:solidFill>
                <a:latin typeface="RobotoRegular"/>
                <a:cs typeface="RobotoRegular"/>
              </a:rPr>
              <a:t>™</a:t>
            </a:r>
            <a:r>
              <a:rPr sz="800" spc="35" dirty="0">
                <a:solidFill>
                  <a:srgbClr val="59439A"/>
                </a:solidFill>
                <a:latin typeface="RobotoRegular"/>
                <a:cs typeface="RobotoRegular"/>
              </a:rPr>
              <a:t> </a:t>
            </a:r>
            <a:r>
              <a:rPr sz="800" i="1" spc="50" dirty="0">
                <a:solidFill>
                  <a:srgbClr val="59439A"/>
                </a:solidFill>
                <a:latin typeface="Times New Roman"/>
                <a:cs typeface="Times New Roman"/>
              </a:rPr>
              <a:t>n</a:t>
            </a:r>
            <a:r>
              <a:rPr sz="800" i="1" spc="50" dirty="0">
                <a:solidFill>
                  <a:srgbClr val="59439A"/>
                </a:solidFill>
                <a:latin typeface="LM Roman 8"/>
                <a:cs typeface="LM Roman 8"/>
              </a:rPr>
              <a:t>,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 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</a:t>
            </a:r>
            <a:r>
              <a:rPr sz="800" i="1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P</a:t>
            </a:r>
            <a:r>
              <a:rPr sz="800" i="1" spc="-8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4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n,r</a:t>
            </a:r>
            <a:r>
              <a:rPr sz="800" spc="4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spc="335" dirty="0">
                <a:solidFill>
                  <a:srgbClr val="59439A"/>
                </a:solidFill>
                <a:latin typeface="RobotoRegular"/>
                <a:cs typeface="RobotoRegular"/>
              </a:rPr>
              <a:t>“</a:t>
            </a:r>
            <a:r>
              <a:rPr sz="800" spc="35" dirty="0">
                <a:solidFill>
                  <a:srgbClr val="59439A"/>
                </a:solidFill>
                <a:latin typeface="RobotoRegular"/>
                <a:cs typeface="RobotoRegular"/>
              </a:rPr>
              <a:t> </a:t>
            </a:r>
            <a:r>
              <a:rPr sz="800" i="1" spc="50" dirty="0">
                <a:solidFill>
                  <a:srgbClr val="59439A"/>
                </a:solidFill>
                <a:latin typeface="Times New Roman"/>
                <a:cs typeface="Times New Roman"/>
              </a:rPr>
              <a:t>C</a:t>
            </a:r>
            <a:r>
              <a:rPr sz="800" spc="50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50" dirty="0">
                <a:solidFill>
                  <a:srgbClr val="59439A"/>
                </a:solidFill>
                <a:latin typeface="Times New Roman"/>
                <a:cs typeface="Times New Roman"/>
              </a:rPr>
              <a:t>n,r</a:t>
            </a:r>
            <a:r>
              <a:rPr sz="800" spc="50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i="1" spc="50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LM Roman 8"/>
              <a:cs typeface="LM Roman 8"/>
            </a:endParaRPr>
          </a:p>
          <a:p>
            <a:pPr marL="12700">
              <a:lnSpc>
                <a:spcPct val="100000"/>
              </a:lnSpc>
              <a:tabLst>
                <a:tab pos="457200" algn="l"/>
              </a:tabLst>
            </a:pPr>
            <a:r>
              <a:rPr sz="1000" b="1" spc="-5" dirty="0">
                <a:latin typeface="LM Roman 10"/>
                <a:cs typeface="LM Roman 10"/>
              </a:rPr>
              <a:t>5.1.2	</a:t>
            </a:r>
            <a:r>
              <a:rPr sz="900" b="1" spc="-10" dirty="0">
                <a:latin typeface="LM Roman 9"/>
                <a:cs typeface="LM Roman 9"/>
              </a:rPr>
              <a:t>Conditional </a:t>
            </a:r>
            <a:r>
              <a:rPr sz="900" b="1" spc="-5" dirty="0">
                <a:latin typeface="LM Roman 9"/>
                <a:cs typeface="LM Roman 9"/>
              </a:rPr>
              <a:t>Probability</a:t>
            </a:r>
            <a:endParaRPr sz="900">
              <a:latin typeface="LM Roman 9"/>
              <a:cs typeface="LM Roman 9"/>
            </a:endParaRPr>
          </a:p>
          <a:p>
            <a:pPr marL="125095" indent="-113030">
              <a:lnSpc>
                <a:spcPct val="100000"/>
              </a:lnSpc>
              <a:spcBef>
                <a:spcPts val="765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15" dirty="0">
                <a:solidFill>
                  <a:srgbClr val="9A0404"/>
                </a:solidFill>
                <a:latin typeface="LM Roman 8"/>
                <a:cs typeface="LM Roman 8"/>
              </a:rPr>
              <a:t>Bayes’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 rule</a:t>
            </a:r>
            <a:r>
              <a:rPr sz="800" b="1" spc="-4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30" dirty="0">
                <a:latin typeface="LM Roman 8"/>
                <a:cs typeface="LM Roman 8"/>
              </a:rPr>
              <a:t>For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events</a:t>
            </a:r>
            <a:r>
              <a:rPr sz="800" spc="-5" dirty="0">
                <a:latin typeface="LM Roman 8"/>
                <a:cs typeface="LM Roman 8"/>
              </a:rPr>
              <a:t> </a:t>
            </a: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8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i="1" spc="145" dirty="0">
                <a:latin typeface="Times New Roman"/>
                <a:cs typeface="Times New Roman"/>
              </a:rPr>
              <a:t>B</a:t>
            </a:r>
            <a:r>
              <a:rPr sz="800" i="1" spc="12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-5" dirty="0">
                <a:latin typeface="LM Roman 8"/>
                <a:cs typeface="LM Roman 8"/>
              </a:rPr>
              <a:t> that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85" dirty="0">
                <a:latin typeface="Times New Roman"/>
                <a:cs typeface="Times New Roman"/>
              </a:rPr>
              <a:t> 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B</a:t>
            </a:r>
            <a:r>
              <a:rPr sz="800" spc="60" dirty="0">
                <a:latin typeface="LM Roman 8"/>
                <a:cs typeface="LM Roman 8"/>
              </a:rPr>
              <a:t>)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114" dirty="0">
                <a:latin typeface="Times New Roman"/>
                <a:cs typeface="Times New Roman"/>
              </a:rPr>
              <a:t>&gt;</a:t>
            </a:r>
            <a:r>
              <a:rPr sz="800" i="1" spc="3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0,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76580" y="5403899"/>
            <a:ext cx="48958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105" dirty="0">
                <a:latin typeface="Times New Roman"/>
                <a:cs typeface="Times New Roman"/>
              </a:rPr>
              <a:t> </a:t>
            </a:r>
            <a:r>
              <a:rPr sz="800" spc="55" dirty="0">
                <a:latin typeface="LM Roman 8"/>
                <a:cs typeface="LM Roman 8"/>
              </a:rPr>
              <a:t>(</a:t>
            </a:r>
            <a:r>
              <a:rPr sz="800" i="1" spc="55" dirty="0">
                <a:latin typeface="Times New Roman"/>
                <a:cs typeface="Times New Roman"/>
              </a:rPr>
              <a:t>A</a:t>
            </a:r>
            <a:r>
              <a:rPr sz="800" i="1" spc="55" dirty="0">
                <a:latin typeface="DejaVu Sans"/>
                <a:cs typeface="DejaVu Sans"/>
              </a:rPr>
              <a:t>|</a:t>
            </a:r>
            <a:r>
              <a:rPr sz="800" i="1" spc="55" dirty="0">
                <a:latin typeface="Times New Roman"/>
                <a:cs typeface="Times New Roman"/>
              </a:rPr>
              <a:t>B</a:t>
            </a:r>
            <a:r>
              <a:rPr sz="800" spc="55" dirty="0">
                <a:latin typeface="LM Roman 8"/>
                <a:cs typeface="LM Roman 8"/>
              </a:rPr>
              <a:t>)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298461" y="5333414"/>
            <a:ext cx="623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u="sng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800" i="1" u="sng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5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(</a:t>
            </a:r>
            <a:r>
              <a:rPr sz="800" i="1" u="sng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800" i="1" u="sng" spc="55" dirty="0">
                <a:uFill>
                  <a:solidFill>
                    <a:srgbClr val="000000"/>
                  </a:solidFill>
                </a:uFill>
                <a:latin typeface="DejaVu Sans"/>
                <a:cs typeface="DejaVu Sans"/>
              </a:rPr>
              <a:t>|</a:t>
            </a:r>
            <a:r>
              <a:rPr sz="800" i="1" u="sng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800" u="sng" spc="5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)</a:t>
            </a:r>
            <a:r>
              <a:rPr sz="800" i="1" u="sng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800" i="1" u="sng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4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(</a:t>
            </a:r>
            <a:r>
              <a:rPr sz="800" i="1" u="sng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800" u="sng" spc="4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477341" y="5479718"/>
            <a:ext cx="2660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135" dirty="0">
                <a:latin typeface="Times New Roman"/>
                <a:cs typeface="Times New Roman"/>
              </a:rPr>
              <a:t> 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B</a:t>
            </a:r>
            <a:r>
              <a:rPr sz="800" spc="6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733552" y="5328399"/>
            <a:ext cx="1233805" cy="334010"/>
            <a:chOff x="6733552" y="5328399"/>
            <a:chExt cx="1233805" cy="334010"/>
          </a:xfrm>
        </p:grpSpPr>
        <p:sp>
          <p:nvSpPr>
            <p:cNvPr id="50" name="object 50"/>
            <p:cNvSpPr/>
            <p:nvPr/>
          </p:nvSpPr>
          <p:spPr>
            <a:xfrm>
              <a:off x="6733552" y="5330926"/>
              <a:ext cx="1233805" cy="0"/>
            </a:xfrm>
            <a:custGeom>
              <a:avLst/>
              <a:gdLst/>
              <a:ahLst/>
              <a:cxnLst/>
              <a:rect l="l" t="t" r="r" b="b"/>
              <a:pathLst>
                <a:path w="1233804">
                  <a:moveTo>
                    <a:pt x="0" y="0"/>
                  </a:moveTo>
                  <a:lnTo>
                    <a:pt x="123374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736092" y="5330926"/>
              <a:ext cx="0" cy="328930"/>
            </a:xfrm>
            <a:custGeom>
              <a:avLst/>
              <a:gdLst/>
              <a:ahLst/>
              <a:cxnLst/>
              <a:rect l="l" t="t" r="r" b="b"/>
              <a:pathLst>
                <a:path h="328929">
                  <a:moveTo>
                    <a:pt x="0" y="32851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964766" y="5330926"/>
              <a:ext cx="0" cy="328930"/>
            </a:xfrm>
            <a:custGeom>
              <a:avLst/>
              <a:gdLst/>
              <a:ahLst/>
              <a:cxnLst/>
              <a:rect l="l" t="t" r="r" b="b"/>
              <a:pathLst>
                <a:path h="328929">
                  <a:moveTo>
                    <a:pt x="0" y="32851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733552" y="5659437"/>
              <a:ext cx="1233805" cy="0"/>
            </a:xfrm>
            <a:custGeom>
              <a:avLst/>
              <a:gdLst/>
              <a:ahLst/>
              <a:cxnLst/>
              <a:rect l="l" t="t" r="r" b="b"/>
              <a:pathLst>
                <a:path w="1233804">
                  <a:moveTo>
                    <a:pt x="0" y="0"/>
                  </a:moveTo>
                  <a:lnTo>
                    <a:pt x="123374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046967" y="5730073"/>
            <a:ext cx="460756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</a:t>
            </a:r>
            <a:r>
              <a:rPr sz="800" i="1" spc="8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P</a:t>
            </a:r>
            <a:r>
              <a:rPr sz="800" i="1" spc="-8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70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70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i="1" spc="-1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i="1" spc="-25" dirty="0">
                <a:solidFill>
                  <a:srgbClr val="59439A"/>
                </a:solidFill>
                <a:latin typeface="DejaVu Sans"/>
                <a:cs typeface="DejaVu Sans"/>
              </a:rPr>
              <a:t>∩</a:t>
            </a:r>
            <a:r>
              <a:rPr sz="800" i="1" spc="-70" dirty="0">
                <a:solidFill>
                  <a:srgbClr val="59439A"/>
                </a:solidFill>
                <a:latin typeface="DejaVu Sans"/>
                <a:cs typeface="DejaVu Sans"/>
              </a:rPr>
              <a:t> </a:t>
            </a:r>
            <a:r>
              <a:rPr sz="800" i="1" spc="90" dirty="0">
                <a:solidFill>
                  <a:srgbClr val="59439A"/>
                </a:solidFill>
                <a:latin typeface="Times New Roman"/>
                <a:cs typeface="Times New Roman"/>
              </a:rPr>
              <a:t>B</a:t>
            </a:r>
            <a:r>
              <a:rPr sz="800" spc="90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P</a:t>
            </a:r>
            <a:r>
              <a:rPr sz="800" i="1" spc="-8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4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spc="4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P</a:t>
            </a:r>
            <a:r>
              <a:rPr sz="800" i="1" spc="-8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5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55" dirty="0">
                <a:solidFill>
                  <a:srgbClr val="59439A"/>
                </a:solidFill>
                <a:latin typeface="Times New Roman"/>
                <a:cs typeface="Times New Roman"/>
              </a:rPr>
              <a:t>B</a:t>
            </a:r>
            <a:r>
              <a:rPr sz="800" i="1" spc="55" dirty="0">
                <a:solidFill>
                  <a:srgbClr val="59439A"/>
                </a:solidFill>
                <a:latin typeface="DejaVu Sans"/>
                <a:cs typeface="DejaVu Sans"/>
              </a:rPr>
              <a:t>|</a:t>
            </a:r>
            <a:r>
              <a:rPr sz="800" i="1" spc="5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spc="5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P</a:t>
            </a:r>
            <a:r>
              <a:rPr sz="800" i="1" spc="-8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5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5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i="1" spc="55" dirty="0">
                <a:solidFill>
                  <a:srgbClr val="59439A"/>
                </a:solidFill>
                <a:latin typeface="DejaVu Sans"/>
                <a:cs typeface="DejaVu Sans"/>
              </a:rPr>
              <a:t>|</a:t>
            </a:r>
            <a:r>
              <a:rPr sz="800" i="1" spc="55" dirty="0">
                <a:solidFill>
                  <a:srgbClr val="59439A"/>
                </a:solidFill>
                <a:latin typeface="Times New Roman"/>
                <a:cs typeface="Times New Roman"/>
              </a:rPr>
              <a:t>B</a:t>
            </a:r>
            <a:r>
              <a:rPr sz="800" spc="5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i="1" spc="55" dirty="0">
                <a:solidFill>
                  <a:srgbClr val="59439A"/>
                </a:solidFill>
                <a:latin typeface="Times New Roman"/>
                <a:cs typeface="Times New Roman"/>
              </a:rPr>
              <a:t>P</a:t>
            </a:r>
            <a:r>
              <a:rPr sz="800" i="1" spc="-8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4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B</a:t>
            </a:r>
            <a:r>
              <a:rPr sz="800" spc="4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i="1" spc="45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63500" marR="55880">
              <a:lnSpc>
                <a:spcPts val="850"/>
              </a:lnSpc>
              <a:spcBef>
                <a:spcPts val="830"/>
              </a:spcBef>
              <a:buFont typeface="DejaVu Sans"/>
              <a:buChar char="❒"/>
              <a:tabLst>
                <a:tab pos="171450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Partition</a:t>
            </a:r>
            <a:r>
              <a:rPr sz="800" b="1" spc="-85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Let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i="1" spc="55" dirty="0">
                <a:latin typeface="DejaVu Sans"/>
                <a:cs typeface="DejaVu Sans"/>
              </a:rPr>
              <a:t>{</a:t>
            </a:r>
            <a:r>
              <a:rPr sz="800" i="1" spc="55" dirty="0">
                <a:latin typeface="Times New Roman"/>
                <a:cs typeface="Times New Roman"/>
              </a:rPr>
              <a:t>A</a:t>
            </a:r>
            <a:r>
              <a:rPr sz="900" i="1" spc="82" baseline="-9259" dirty="0">
                <a:latin typeface="Times New Roman"/>
                <a:cs typeface="Times New Roman"/>
              </a:rPr>
              <a:t>i</a:t>
            </a:r>
            <a:r>
              <a:rPr sz="800" i="1" spc="55" dirty="0">
                <a:latin typeface="Times New Roman"/>
                <a:cs typeface="Times New Roman"/>
              </a:rPr>
              <a:t>,</a:t>
            </a:r>
            <a:r>
              <a:rPr sz="800" i="1" spc="-55" dirty="0">
                <a:latin typeface="Times New Roman"/>
                <a:cs typeface="Times New Roman"/>
              </a:rPr>
              <a:t> </a:t>
            </a:r>
            <a:r>
              <a:rPr sz="800" i="1" spc="65" dirty="0">
                <a:latin typeface="Times New Roman"/>
                <a:cs typeface="Times New Roman"/>
              </a:rPr>
              <a:t>i</a:t>
            </a:r>
            <a:r>
              <a:rPr sz="800" i="1" spc="35" dirty="0">
                <a:latin typeface="Times New Roman"/>
                <a:cs typeface="Times New Roman"/>
              </a:rPr>
              <a:t> </a:t>
            </a:r>
            <a:r>
              <a:rPr sz="800" i="1" spc="-135" dirty="0">
                <a:latin typeface="DejaVu Sans"/>
                <a:cs typeface="DejaVu Sans"/>
              </a:rPr>
              <a:t>∈  </a:t>
            </a:r>
            <a:r>
              <a:rPr sz="800" spc="-5" dirty="0">
                <a:latin typeface="LM Roman 8"/>
                <a:cs typeface="LM Roman 8"/>
              </a:rPr>
              <a:t>[</a:t>
            </a:r>
            <a:r>
              <a:rPr sz="800" spc="-180" dirty="0">
                <a:latin typeface="LM Roman 8"/>
                <a:cs typeface="LM Roman 8"/>
              </a:rPr>
              <a:t> </a:t>
            </a:r>
            <a:r>
              <a:rPr sz="800" spc="35" dirty="0">
                <a:latin typeface="LM Roman 8"/>
                <a:cs typeface="LM Roman 8"/>
              </a:rPr>
              <a:t>1</a:t>
            </a:r>
            <a:r>
              <a:rPr sz="800" i="1" spc="35" dirty="0">
                <a:latin typeface="Times New Roman"/>
                <a:cs typeface="Times New Roman"/>
              </a:rPr>
              <a:t>,n</a:t>
            </a:r>
            <a:r>
              <a:rPr sz="800" spc="35" dirty="0">
                <a:latin typeface="LM Roman 8"/>
                <a:cs typeface="LM Roman 8"/>
              </a:rPr>
              <a:t>]</a:t>
            </a:r>
            <a:r>
              <a:rPr sz="800" spc="-190" dirty="0">
                <a:latin typeface="LM Roman 8"/>
                <a:cs typeface="LM Roman 8"/>
              </a:rPr>
              <a:t> </a:t>
            </a:r>
            <a:r>
              <a:rPr sz="800" i="1" spc="-90" dirty="0">
                <a:latin typeface="DejaVu Sans"/>
                <a:cs typeface="DejaVu Sans"/>
              </a:rPr>
              <a:t>}</a:t>
            </a:r>
            <a:r>
              <a:rPr sz="800" i="1" spc="-10" dirty="0">
                <a:latin typeface="DejaVu Sans"/>
                <a:cs typeface="DejaVu Sans"/>
              </a:rPr>
              <a:t> </a:t>
            </a:r>
            <a:r>
              <a:rPr sz="800" spc="5" dirty="0">
                <a:latin typeface="LM Roman 8"/>
                <a:cs typeface="LM Roman 8"/>
              </a:rPr>
              <a:t>be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for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all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i="1" spc="30" dirty="0">
                <a:latin typeface="Times New Roman"/>
                <a:cs typeface="Times New Roman"/>
              </a:rPr>
              <a:t>i</a:t>
            </a:r>
            <a:r>
              <a:rPr sz="800" spc="30" dirty="0">
                <a:latin typeface="LM Roman 8"/>
                <a:cs typeface="LM Roman 8"/>
              </a:rPr>
              <a:t>,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A</a:t>
            </a:r>
            <a:r>
              <a:rPr sz="900" i="1" spc="179" baseline="-9259" dirty="0">
                <a:latin typeface="Times New Roman"/>
                <a:cs typeface="Times New Roman"/>
              </a:rPr>
              <a:t>i</a:t>
            </a:r>
            <a:r>
              <a:rPr sz="900" i="1" spc="202" baseline="-9259" dirty="0">
                <a:latin typeface="Times New Roman"/>
                <a:cs typeface="Times New Roman"/>
              </a:rPr>
              <a:t> </a:t>
            </a:r>
            <a:r>
              <a:rPr sz="800" i="1" spc="-5" dirty="0">
                <a:latin typeface="DejaVu Sans"/>
                <a:cs typeface="DejaVu Sans"/>
              </a:rPr>
              <a:t>ƒ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MathJax_AMS"/>
                <a:cs typeface="MathJax_AMS"/>
              </a:rPr>
              <a:t>∅</a:t>
            </a:r>
            <a:r>
              <a:rPr sz="800" spc="-5" dirty="0">
                <a:latin typeface="LM Roman 8"/>
                <a:cs typeface="LM Roman 8"/>
              </a:rPr>
              <a:t>.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spc="-40" dirty="0">
                <a:latin typeface="LM Roman 8"/>
                <a:cs typeface="LM Roman 8"/>
              </a:rPr>
              <a:t>We </a:t>
            </a:r>
            <a:r>
              <a:rPr sz="800" spc="-10" dirty="0">
                <a:latin typeface="LM Roman 8"/>
                <a:cs typeface="LM Roman 8"/>
              </a:rPr>
              <a:t>say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i="1" spc="25" dirty="0">
                <a:latin typeface="DejaVu Sans"/>
                <a:cs typeface="DejaVu Sans"/>
              </a:rPr>
              <a:t>{</a:t>
            </a:r>
            <a:r>
              <a:rPr sz="800" i="1" spc="25" dirty="0">
                <a:latin typeface="Times New Roman"/>
                <a:cs typeface="Times New Roman"/>
              </a:rPr>
              <a:t>A</a:t>
            </a:r>
            <a:r>
              <a:rPr sz="900" i="1" spc="37" baseline="-9259" dirty="0">
                <a:latin typeface="Times New Roman"/>
                <a:cs typeface="Times New Roman"/>
              </a:rPr>
              <a:t>i</a:t>
            </a:r>
            <a:r>
              <a:rPr sz="800" i="1" spc="25" dirty="0">
                <a:latin typeface="DejaVu Sans"/>
                <a:cs typeface="DejaVu Sans"/>
              </a:rPr>
              <a:t>}</a:t>
            </a:r>
            <a:r>
              <a:rPr sz="800" i="1" spc="-10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25" dirty="0">
                <a:latin typeface="LM Roman 8"/>
                <a:cs typeface="LM Roman 8"/>
              </a:rPr>
              <a:t>partition  </a:t>
            </a:r>
            <a:r>
              <a:rPr sz="800" spc="-5" dirty="0">
                <a:latin typeface="LM Roman 8"/>
                <a:cs typeface="LM Roman 8"/>
              </a:rPr>
              <a:t>if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371971" y="6366864"/>
            <a:ext cx="12915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79500" algn="l"/>
              </a:tabLst>
            </a:pPr>
            <a:r>
              <a:rPr sz="800" i="1" spc="-10" dirty="0">
                <a:latin typeface="DejaVu Sans"/>
                <a:cs typeface="DejaVu Sans"/>
              </a:rPr>
              <a:t>∀</a:t>
            </a:r>
            <a:r>
              <a:rPr sz="800" i="1" spc="-10" dirty="0">
                <a:latin typeface="Times New Roman"/>
                <a:cs typeface="Times New Roman"/>
              </a:rPr>
              <a:t>i </a:t>
            </a:r>
            <a:r>
              <a:rPr sz="800" i="1" spc="-5" dirty="0">
                <a:latin typeface="DejaVu Sans"/>
                <a:cs typeface="DejaVu Sans"/>
              </a:rPr>
              <a:t>ƒ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75" dirty="0">
                <a:latin typeface="Times New Roman"/>
                <a:cs typeface="Times New Roman"/>
              </a:rPr>
              <a:t>j, </a:t>
            </a:r>
            <a:r>
              <a:rPr sz="800" i="1" spc="120" dirty="0">
                <a:latin typeface="Times New Roman"/>
                <a:cs typeface="Times New Roman"/>
              </a:rPr>
              <a:t>A</a:t>
            </a:r>
            <a:r>
              <a:rPr sz="900" i="1" spc="179" baseline="-9259" dirty="0">
                <a:latin typeface="Times New Roman"/>
                <a:cs typeface="Times New Roman"/>
              </a:rPr>
              <a:t>i </a:t>
            </a:r>
            <a:r>
              <a:rPr sz="800" i="1" spc="-25" dirty="0">
                <a:latin typeface="DejaVu Sans"/>
                <a:cs typeface="DejaVu Sans"/>
              </a:rPr>
              <a:t>∩ </a:t>
            </a:r>
            <a:r>
              <a:rPr sz="800" i="1" spc="140" dirty="0">
                <a:latin typeface="Times New Roman"/>
                <a:cs typeface="Times New Roman"/>
              </a:rPr>
              <a:t>A</a:t>
            </a:r>
            <a:r>
              <a:rPr sz="900" i="1" spc="209" baseline="-9259" dirty="0">
                <a:latin typeface="Times New Roman"/>
                <a:cs typeface="Times New Roman"/>
              </a:rPr>
              <a:t>j</a:t>
            </a:r>
            <a:r>
              <a:rPr sz="900" i="1" spc="-52" baseline="-9259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-275" dirty="0">
                <a:latin typeface="DejaVu Sans"/>
                <a:cs typeface="DejaVu Sans"/>
              </a:rPr>
              <a:t>∅	</a:t>
            </a:r>
            <a:r>
              <a:rPr sz="800" spc="-5" dirty="0">
                <a:latin typeface="LM Roman 8"/>
                <a:cs typeface="LM Roman 8"/>
              </a:rPr>
              <a:t>and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20164" y="6240328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779092" y="6227678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latin typeface="Arial"/>
                <a:cs typeface="Arial"/>
              </a:rPr>
              <a:t>[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773771" y="6543997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917510" y="6366864"/>
            <a:ext cx="4057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120" dirty="0">
                <a:latin typeface="Times New Roman"/>
                <a:cs typeface="Times New Roman"/>
              </a:rPr>
              <a:t>A</a:t>
            </a:r>
            <a:r>
              <a:rPr sz="900" i="1" spc="179" baseline="-9259" dirty="0">
                <a:latin typeface="Times New Roman"/>
                <a:cs typeface="Times New Roman"/>
              </a:rPr>
              <a:t>i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S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367055" y="6240589"/>
            <a:ext cx="1967230" cy="448309"/>
            <a:chOff x="6367055" y="6240589"/>
            <a:chExt cx="1967230" cy="448309"/>
          </a:xfrm>
        </p:grpSpPr>
        <p:sp>
          <p:nvSpPr>
            <p:cNvPr id="61" name="object 61"/>
            <p:cNvSpPr/>
            <p:nvPr/>
          </p:nvSpPr>
          <p:spPr>
            <a:xfrm>
              <a:off x="6367055" y="6243116"/>
              <a:ext cx="1967230" cy="0"/>
            </a:xfrm>
            <a:custGeom>
              <a:avLst/>
              <a:gdLst/>
              <a:ahLst/>
              <a:cxnLst/>
              <a:rect l="l" t="t" r="r" b="b"/>
              <a:pathLst>
                <a:path w="1967230">
                  <a:moveTo>
                    <a:pt x="0" y="0"/>
                  </a:moveTo>
                  <a:lnTo>
                    <a:pt x="196674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369583" y="6243116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331275" y="6243116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367055" y="6685750"/>
              <a:ext cx="1967230" cy="0"/>
            </a:xfrm>
            <a:custGeom>
              <a:avLst/>
              <a:gdLst/>
              <a:ahLst/>
              <a:cxnLst/>
              <a:rect l="l" t="t" r="r" b="b"/>
              <a:pathLst>
                <a:path w="1967230">
                  <a:moveTo>
                    <a:pt x="0" y="0"/>
                  </a:moveTo>
                  <a:lnTo>
                    <a:pt x="196674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8198180" y="6746740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solidFill>
                  <a:srgbClr val="59439A"/>
                </a:solidFill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136026" y="6734078"/>
            <a:ext cx="195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30" dirty="0">
                <a:solidFill>
                  <a:srgbClr val="59439A"/>
                </a:solidFill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059667" y="6873264"/>
            <a:ext cx="4061460" cy="294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289300" algn="l"/>
              </a:tabLst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for any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event </a:t>
            </a:r>
            <a:r>
              <a:rPr sz="800" i="1" spc="145" dirty="0">
                <a:solidFill>
                  <a:srgbClr val="59439A"/>
                </a:solidFill>
                <a:latin typeface="Times New Roman"/>
                <a:cs typeface="Times New Roman"/>
              </a:rPr>
              <a:t>B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in 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sample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space,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 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P</a:t>
            </a:r>
            <a:r>
              <a:rPr sz="800" i="1" spc="-13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60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60" dirty="0">
                <a:solidFill>
                  <a:srgbClr val="59439A"/>
                </a:solidFill>
                <a:latin typeface="Times New Roman"/>
                <a:cs typeface="Times New Roman"/>
              </a:rPr>
              <a:t>B</a:t>
            </a:r>
            <a:r>
              <a:rPr sz="800" spc="60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spc="-4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	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P</a:t>
            </a:r>
            <a:r>
              <a:rPr sz="800" i="1" spc="-9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6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65" dirty="0">
                <a:solidFill>
                  <a:srgbClr val="59439A"/>
                </a:solidFill>
                <a:latin typeface="Times New Roman"/>
                <a:cs typeface="Times New Roman"/>
              </a:rPr>
              <a:t>B</a:t>
            </a:r>
            <a:r>
              <a:rPr sz="800" i="1" spc="65" dirty="0">
                <a:solidFill>
                  <a:srgbClr val="59439A"/>
                </a:solidFill>
                <a:latin typeface="DejaVu Sans"/>
                <a:cs typeface="DejaVu Sans"/>
              </a:rPr>
              <a:t>|</a:t>
            </a:r>
            <a:r>
              <a:rPr sz="800" i="1" spc="6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900" i="1" spc="97" baseline="-9259" dirty="0">
                <a:solidFill>
                  <a:srgbClr val="59439A"/>
                </a:solidFill>
                <a:latin typeface="Times New Roman"/>
                <a:cs typeface="Times New Roman"/>
              </a:rPr>
              <a:t>i</a:t>
            </a:r>
            <a:r>
              <a:rPr sz="800" spc="6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i="1" spc="65" dirty="0">
                <a:solidFill>
                  <a:srgbClr val="59439A"/>
                </a:solidFill>
                <a:latin typeface="Times New Roman"/>
                <a:cs typeface="Times New Roman"/>
              </a:rPr>
              <a:t>P</a:t>
            </a:r>
            <a:r>
              <a:rPr sz="800" i="1" spc="-9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5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5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900" i="1" spc="82" baseline="-9259" dirty="0">
                <a:solidFill>
                  <a:srgbClr val="59439A"/>
                </a:solidFill>
                <a:latin typeface="Times New Roman"/>
                <a:cs typeface="Times New Roman"/>
              </a:rPr>
              <a:t>i</a:t>
            </a:r>
            <a:r>
              <a:rPr sz="800" spc="55" dirty="0">
                <a:solidFill>
                  <a:srgbClr val="59439A"/>
                </a:solidFill>
                <a:latin typeface="LM Roman 8"/>
                <a:cs typeface="LM Roman 8"/>
              </a:rPr>
              <a:t>).</a:t>
            </a:r>
            <a:endParaRPr sz="800">
              <a:latin typeface="LM Roman 8"/>
              <a:cs typeface="LM Roman 8"/>
            </a:endParaRPr>
          </a:p>
          <a:p>
            <a:pPr marR="797560" algn="r">
              <a:lnSpc>
                <a:spcPct val="100000"/>
              </a:lnSpc>
              <a:spcBef>
                <a:spcPts val="434"/>
              </a:spcBef>
            </a:pPr>
            <a:r>
              <a:rPr sz="600" i="1" spc="90" dirty="0">
                <a:solidFill>
                  <a:srgbClr val="59439A"/>
                </a:solidFill>
                <a:latin typeface="Times New Roman"/>
                <a:cs typeface="Times New Roman"/>
              </a:rPr>
              <a:t>i</a:t>
            </a:r>
            <a:r>
              <a:rPr sz="600" spc="-5" dirty="0">
                <a:solidFill>
                  <a:srgbClr val="59439A"/>
                </a:solidFill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03999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70" name="object 7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294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0676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994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9894" y="696606"/>
            <a:ext cx="45567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210" indent="-118745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56845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Extended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form of </a:t>
            </a:r>
            <a:r>
              <a:rPr sz="800" b="1" spc="-15" dirty="0">
                <a:solidFill>
                  <a:srgbClr val="9A0404"/>
                </a:solidFill>
                <a:latin typeface="LM Roman 8"/>
                <a:cs typeface="LM Roman 8"/>
              </a:rPr>
              <a:t>Bayes’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rule </a:t>
            </a:r>
            <a:r>
              <a:rPr sz="800" spc="-5" dirty="0">
                <a:latin typeface="LM Roman 8"/>
                <a:cs typeface="LM Roman 8"/>
              </a:rPr>
              <a:t>– Let </a:t>
            </a:r>
            <a:r>
              <a:rPr sz="800" i="1" spc="55" dirty="0">
                <a:latin typeface="DejaVu Sans"/>
                <a:cs typeface="DejaVu Sans"/>
              </a:rPr>
              <a:t>{</a:t>
            </a:r>
            <a:r>
              <a:rPr sz="800" i="1" spc="55" dirty="0">
                <a:latin typeface="Times New Roman"/>
                <a:cs typeface="Times New Roman"/>
              </a:rPr>
              <a:t>A</a:t>
            </a:r>
            <a:r>
              <a:rPr sz="900" i="1" spc="82" baseline="-9259" dirty="0">
                <a:latin typeface="Times New Roman"/>
                <a:cs typeface="Times New Roman"/>
              </a:rPr>
              <a:t>i</a:t>
            </a:r>
            <a:r>
              <a:rPr sz="800" i="1" spc="55" dirty="0">
                <a:latin typeface="Times New Roman"/>
                <a:cs typeface="Times New Roman"/>
              </a:rPr>
              <a:t>, </a:t>
            </a:r>
            <a:r>
              <a:rPr sz="800" i="1" spc="65" dirty="0">
                <a:latin typeface="Times New Roman"/>
                <a:cs typeface="Times New Roman"/>
              </a:rPr>
              <a:t>i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LM Roman 8"/>
                <a:cs typeface="LM Roman 8"/>
              </a:rPr>
              <a:t>[ </a:t>
            </a:r>
            <a:r>
              <a:rPr sz="800" spc="35" dirty="0">
                <a:latin typeface="LM Roman 8"/>
                <a:cs typeface="LM Roman 8"/>
              </a:rPr>
              <a:t>1</a:t>
            </a:r>
            <a:r>
              <a:rPr sz="800" i="1" spc="35" dirty="0">
                <a:latin typeface="Times New Roman"/>
                <a:cs typeface="Times New Roman"/>
              </a:rPr>
              <a:t>,n</a:t>
            </a:r>
            <a:r>
              <a:rPr sz="800" spc="35" dirty="0">
                <a:latin typeface="LM Roman 8"/>
                <a:cs typeface="LM Roman 8"/>
              </a:rPr>
              <a:t>] </a:t>
            </a:r>
            <a:r>
              <a:rPr sz="800" i="1" spc="-90" dirty="0">
                <a:latin typeface="DejaVu Sans"/>
                <a:cs typeface="DejaVu Sans"/>
              </a:rPr>
              <a:t>}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a partition of the sample</a:t>
            </a:r>
            <a:r>
              <a:rPr sz="800" spc="1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space.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307" y="804289"/>
            <a:ext cx="452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40" dirty="0">
                <a:latin typeface="LM Roman 8"/>
                <a:cs typeface="LM Roman 8"/>
              </a:rPr>
              <a:t>We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7387" y="1122443"/>
            <a:ext cx="762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25" dirty="0">
                <a:latin typeface="Times New Roman"/>
                <a:cs typeface="Times New Roman"/>
              </a:rPr>
              <a:t>k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1875" y="1079282"/>
            <a:ext cx="5607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P </a:t>
            </a:r>
            <a:r>
              <a:rPr sz="800" spc="70" dirty="0">
                <a:latin typeface="LM Roman 8"/>
                <a:cs typeface="LM Roman 8"/>
              </a:rPr>
              <a:t>(</a:t>
            </a:r>
            <a:r>
              <a:rPr sz="800" i="1" spc="70" dirty="0">
                <a:latin typeface="Times New Roman"/>
                <a:cs typeface="Times New Roman"/>
              </a:rPr>
              <a:t>A </a:t>
            </a:r>
            <a:r>
              <a:rPr sz="800" i="1" spc="45" dirty="0">
                <a:latin typeface="DejaVu Sans"/>
                <a:cs typeface="DejaVu Sans"/>
              </a:rPr>
              <a:t>|</a:t>
            </a:r>
            <a:r>
              <a:rPr sz="800" i="1" spc="45" dirty="0">
                <a:latin typeface="Times New Roman"/>
                <a:cs typeface="Times New Roman"/>
              </a:rPr>
              <a:t>B</a:t>
            </a:r>
            <a:r>
              <a:rPr sz="800" spc="45" dirty="0">
                <a:latin typeface="LM Roman 8"/>
                <a:cs typeface="LM Roman 8"/>
              </a:rPr>
              <a:t>)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5757" y="1051959"/>
            <a:ext cx="3810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7500" algn="l"/>
              </a:tabLst>
            </a:pPr>
            <a:r>
              <a:rPr sz="600" i="1" u="sng" spc="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</a:t>
            </a:r>
            <a:r>
              <a:rPr sz="600" i="1" spc="125" dirty="0">
                <a:latin typeface="Times New Roman"/>
                <a:cs typeface="Times New Roman"/>
              </a:rPr>
              <a:t>	</a:t>
            </a:r>
            <a:r>
              <a:rPr sz="600" i="1" u="sng" spc="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1846" y="1008810"/>
            <a:ext cx="9175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800" u="sng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i="1" u="sng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 </a:t>
            </a:r>
            <a:r>
              <a:rPr sz="800" u="sng" spc="70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(</a:t>
            </a:r>
            <a:r>
              <a:rPr sz="800" i="1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800" i="1" u="sng" spc="70" dirty="0">
                <a:uFill>
                  <a:solidFill>
                    <a:srgbClr val="000000"/>
                  </a:solidFill>
                </a:uFill>
                <a:latin typeface="DejaVu Sans"/>
                <a:cs typeface="DejaVu Sans"/>
              </a:rPr>
              <a:t>|</a:t>
            </a:r>
            <a:r>
              <a:rPr sz="800" i="1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800" i="1" spc="70" dirty="0">
                <a:latin typeface="Times New Roman"/>
                <a:cs typeface="Times New Roman"/>
              </a:rPr>
              <a:t> </a:t>
            </a:r>
            <a:r>
              <a:rPr sz="800" u="sng" spc="20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)</a:t>
            </a:r>
            <a:r>
              <a:rPr sz="800" i="1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 </a:t>
            </a:r>
            <a:r>
              <a:rPr sz="800" u="sng" spc="70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(</a:t>
            </a:r>
            <a:r>
              <a:rPr sz="800" i="1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800" i="1" spc="165" dirty="0">
                <a:latin typeface="Times New Roman"/>
                <a:cs typeface="Times New Roman"/>
              </a:rPr>
              <a:t> 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)</a:t>
            </a:r>
            <a:r>
              <a:rPr sz="800" u="sng" spc="80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 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4013" y="1142331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1846" y="1129682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819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54019" y="1309603"/>
            <a:ext cx="3473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720" algn="l"/>
              </a:tabLst>
            </a:pPr>
            <a:r>
              <a:rPr sz="600" i="1" spc="95" dirty="0">
                <a:latin typeface="Times New Roman"/>
                <a:cs typeface="Times New Roman"/>
              </a:rPr>
              <a:t>i	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2532" y="1268868"/>
            <a:ext cx="716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160" dirty="0">
                <a:latin typeface="Times New Roman"/>
                <a:cs typeface="Times New Roman"/>
              </a:rPr>
              <a:t> </a:t>
            </a:r>
            <a:r>
              <a:rPr sz="800" spc="70" dirty="0">
                <a:latin typeface="LM Roman 8"/>
                <a:cs typeface="LM Roman 8"/>
              </a:rPr>
              <a:t>(</a:t>
            </a:r>
            <a:r>
              <a:rPr sz="800" i="1" spc="70" dirty="0">
                <a:latin typeface="Times New Roman"/>
                <a:cs typeface="Times New Roman"/>
              </a:rPr>
              <a:t>B</a:t>
            </a:r>
            <a:r>
              <a:rPr sz="800" i="1" spc="70" dirty="0">
                <a:latin typeface="DejaVu Sans"/>
                <a:cs typeface="DejaVu Sans"/>
              </a:rPr>
              <a:t>|</a:t>
            </a:r>
            <a:r>
              <a:rPr sz="800" i="1" spc="70" dirty="0">
                <a:latin typeface="Times New Roman"/>
                <a:cs typeface="Times New Roman"/>
              </a:rPr>
              <a:t>A </a:t>
            </a:r>
            <a:r>
              <a:rPr sz="800" spc="20" dirty="0">
                <a:latin typeface="LM Roman 8"/>
                <a:cs typeface="LM Roman 8"/>
              </a:rPr>
              <a:t>)</a:t>
            </a:r>
            <a:r>
              <a:rPr sz="800" i="1" spc="20" dirty="0">
                <a:latin typeface="Times New Roman"/>
                <a:cs typeface="Times New Roman"/>
              </a:rPr>
              <a:t>P </a:t>
            </a:r>
            <a:r>
              <a:rPr sz="800" spc="70" dirty="0">
                <a:latin typeface="LM Roman 8"/>
                <a:cs typeface="LM Roman 8"/>
              </a:rPr>
              <a:t>(</a:t>
            </a:r>
            <a:r>
              <a:rPr sz="800" i="1" spc="70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21560" y="1003795"/>
            <a:ext cx="1572895" cy="586740"/>
            <a:chOff x="1921560" y="1003795"/>
            <a:chExt cx="1572895" cy="586740"/>
          </a:xfrm>
        </p:grpSpPr>
        <p:sp>
          <p:nvSpPr>
            <p:cNvPr id="16" name="object 16"/>
            <p:cNvSpPr/>
            <p:nvPr/>
          </p:nvSpPr>
          <p:spPr>
            <a:xfrm>
              <a:off x="1921560" y="1006322"/>
              <a:ext cx="1572895" cy="0"/>
            </a:xfrm>
            <a:custGeom>
              <a:avLst/>
              <a:gdLst/>
              <a:ahLst/>
              <a:cxnLst/>
              <a:rect l="l" t="t" r="r" b="b"/>
              <a:pathLst>
                <a:path w="1572895">
                  <a:moveTo>
                    <a:pt x="0" y="0"/>
                  </a:moveTo>
                  <a:lnTo>
                    <a:pt x="157281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24088" y="1006322"/>
              <a:ext cx="0" cy="581660"/>
            </a:xfrm>
            <a:custGeom>
              <a:avLst/>
              <a:gdLst/>
              <a:ahLst/>
              <a:cxnLst/>
              <a:rect l="l" t="t" r="r" b="b"/>
              <a:pathLst>
                <a:path h="581660">
                  <a:moveTo>
                    <a:pt x="0" y="58143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91852" y="1006322"/>
              <a:ext cx="0" cy="581660"/>
            </a:xfrm>
            <a:custGeom>
              <a:avLst/>
              <a:gdLst/>
              <a:ahLst/>
              <a:cxnLst/>
              <a:rect l="l" t="t" r="r" b="b"/>
              <a:pathLst>
                <a:path h="581660">
                  <a:moveTo>
                    <a:pt x="0" y="58143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1560" y="1587754"/>
              <a:ext cx="1572895" cy="0"/>
            </a:xfrm>
            <a:custGeom>
              <a:avLst/>
              <a:gdLst/>
              <a:ahLst/>
              <a:cxnLst/>
              <a:rect l="l" t="t" r="r" b="b"/>
              <a:pathLst>
                <a:path w="1572895">
                  <a:moveTo>
                    <a:pt x="0" y="0"/>
                  </a:moveTo>
                  <a:lnTo>
                    <a:pt x="157281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294" y="1446001"/>
            <a:ext cx="3847465" cy="456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3715" algn="ctr">
              <a:lnSpc>
                <a:spcPct val="100000"/>
              </a:lnSpc>
              <a:spcBef>
                <a:spcPts val="95"/>
              </a:spcBef>
            </a:pP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  <a:p>
            <a:pPr>
              <a:lnSpc>
                <a:spcPct val="100000"/>
              </a:lnSpc>
            </a:pPr>
            <a:endParaRPr sz="800">
              <a:latin typeface="LM Roman 6"/>
              <a:cs typeface="LM Roman 6"/>
            </a:endParaRPr>
          </a:p>
          <a:p>
            <a:pPr marL="125095" indent="-113030">
              <a:lnSpc>
                <a:spcPct val="100000"/>
              </a:lnSpc>
              <a:spcBef>
                <a:spcPts val="580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dirty="0">
                <a:solidFill>
                  <a:srgbClr val="0C6C04"/>
                </a:solidFill>
                <a:latin typeface="LM Roman 8"/>
                <a:cs typeface="LM Roman 8"/>
              </a:rPr>
              <a:t>Independence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35" dirty="0">
                <a:latin typeface="LM Roman 8"/>
                <a:cs typeface="LM Roman 8"/>
              </a:rPr>
              <a:t>Two </a:t>
            </a:r>
            <a:r>
              <a:rPr sz="800" spc="-10" dirty="0">
                <a:latin typeface="LM Roman 8"/>
                <a:cs typeface="LM Roman 8"/>
              </a:rPr>
              <a:t>events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45" dirty="0">
                <a:latin typeface="Times New Roman"/>
                <a:cs typeface="Times New Roman"/>
              </a:rPr>
              <a:t>B </a:t>
            </a:r>
            <a:r>
              <a:rPr sz="800" spc="-5" dirty="0">
                <a:latin typeface="LM Roman 8"/>
                <a:cs typeface="LM Roman 8"/>
              </a:rPr>
              <a:t>are independent if and only if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19210" y="1957616"/>
            <a:ext cx="1177925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5" dirty="0">
                <a:latin typeface="Times New Roman"/>
                <a:cs typeface="Times New Roman"/>
              </a:rPr>
              <a:t> </a:t>
            </a:r>
            <a:r>
              <a:rPr sz="800" spc="70" dirty="0">
                <a:latin typeface="LM Roman 8"/>
                <a:cs typeface="LM Roman 8"/>
              </a:rPr>
              <a:t>(</a:t>
            </a:r>
            <a:r>
              <a:rPr sz="800" i="1" spc="70" dirty="0">
                <a:latin typeface="Times New Roman"/>
                <a:cs typeface="Times New Roman"/>
              </a:rPr>
              <a:t>A</a:t>
            </a:r>
            <a:r>
              <a:rPr sz="800" i="1" spc="-20" dirty="0">
                <a:latin typeface="Times New Roman"/>
                <a:cs typeface="Times New Roman"/>
              </a:rPr>
              <a:t> </a:t>
            </a:r>
            <a:r>
              <a:rPr sz="800" i="1" spc="-25" dirty="0">
                <a:latin typeface="DejaVu Sans"/>
                <a:cs typeface="DejaVu Sans"/>
              </a:rPr>
              <a:t>∩</a:t>
            </a:r>
            <a:r>
              <a:rPr sz="800" i="1" spc="-80" dirty="0">
                <a:latin typeface="DejaVu Sans"/>
                <a:cs typeface="DejaVu Sans"/>
              </a:rPr>
              <a:t> </a:t>
            </a:r>
            <a:r>
              <a:rPr sz="800" i="1" spc="90" dirty="0">
                <a:latin typeface="Times New Roman"/>
                <a:cs typeface="Times New Roman"/>
              </a:rPr>
              <a:t>B</a:t>
            </a:r>
            <a:r>
              <a:rPr sz="800" spc="90" dirty="0">
                <a:latin typeface="LM Roman 8"/>
                <a:cs typeface="LM Roman 8"/>
              </a:rPr>
              <a:t>)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0" dirty="0">
                <a:latin typeface="Times New Roman"/>
                <a:cs typeface="Times New Roman"/>
              </a:rPr>
              <a:t> 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800" spc="45" dirty="0">
                <a:latin typeface="LM Roman 8"/>
                <a:cs typeface="LM Roman 8"/>
              </a:rPr>
              <a:t>)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0" dirty="0">
                <a:latin typeface="Times New Roman"/>
                <a:cs typeface="Times New Roman"/>
              </a:rPr>
              <a:t> 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B</a:t>
            </a:r>
            <a:r>
              <a:rPr sz="800" spc="6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84258" y="3107517"/>
            <a:ext cx="131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1869" algn="l"/>
              </a:tabLst>
            </a:pPr>
            <a:r>
              <a:rPr sz="600" i="1" spc="145" dirty="0">
                <a:latin typeface="Times New Roman"/>
                <a:cs typeface="Times New Roman"/>
              </a:rPr>
              <a:t>x</a:t>
            </a:r>
            <a:r>
              <a:rPr sz="600" i="1" spc="175" dirty="0">
                <a:latin typeface="DejaVu Sans"/>
                <a:cs typeface="DejaVu Sans"/>
              </a:rPr>
              <a:t>→−∞</a:t>
            </a:r>
            <a:r>
              <a:rPr sz="600" i="1" dirty="0">
                <a:latin typeface="DejaVu Sans"/>
                <a:cs typeface="DejaVu Sans"/>
              </a:rPr>
              <a:t>	</a:t>
            </a:r>
            <a:r>
              <a:rPr sz="600" i="1" spc="150" dirty="0">
                <a:latin typeface="Times New Roman"/>
                <a:cs typeface="Times New Roman"/>
              </a:rPr>
              <a:t>x</a:t>
            </a:r>
            <a:r>
              <a:rPr sz="600" i="1" spc="225" dirty="0">
                <a:latin typeface="DejaVu Sans"/>
                <a:cs typeface="DejaVu Sans"/>
              </a:rPr>
              <a:t>→</a:t>
            </a:r>
            <a:r>
              <a:rPr sz="600" spc="-5" dirty="0">
                <a:latin typeface="LM Roman 6"/>
                <a:cs typeface="LM Roman 6"/>
              </a:rPr>
              <a:t>+</a:t>
            </a:r>
            <a:r>
              <a:rPr sz="600" i="1" spc="229" dirty="0">
                <a:latin typeface="DejaVu Sans"/>
                <a:cs typeface="DejaVu Sans"/>
              </a:rPr>
              <a:t>∞</a:t>
            </a:r>
            <a:endParaRPr sz="600">
              <a:latin typeface="DejaVu Sans"/>
              <a:cs typeface="DejaVu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5294" y="2346345"/>
            <a:ext cx="4505960" cy="807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457200" algn="l"/>
              </a:tabLst>
            </a:pPr>
            <a:r>
              <a:rPr sz="1000" b="1" spc="-5" dirty="0">
                <a:latin typeface="LM Roman 10"/>
                <a:cs typeface="LM Roman 10"/>
              </a:rPr>
              <a:t>5.1.3	</a:t>
            </a:r>
            <a:r>
              <a:rPr sz="900" b="1" spc="-10" dirty="0">
                <a:latin typeface="LM Roman 9"/>
                <a:cs typeface="LM Roman 9"/>
              </a:rPr>
              <a:t>Random </a:t>
            </a:r>
            <a:r>
              <a:rPr sz="900" b="1" spc="-15" dirty="0">
                <a:latin typeface="LM Roman 9"/>
                <a:cs typeface="LM Roman 9"/>
              </a:rPr>
              <a:t>Variables</a:t>
            </a:r>
            <a:endParaRPr sz="900">
              <a:latin typeface="LM Roman 9"/>
              <a:cs typeface="LM Roman 9"/>
            </a:endParaRPr>
          </a:p>
          <a:p>
            <a:pPr marL="12700" marR="5080">
              <a:lnSpc>
                <a:spcPts val="800"/>
              </a:lnSpc>
              <a:spcBef>
                <a:spcPts val="915"/>
              </a:spcBef>
              <a:buFont typeface="DejaVu Sans"/>
              <a:buChar char="❒"/>
              <a:tabLst>
                <a:tab pos="116839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Random</a:t>
            </a:r>
            <a:r>
              <a:rPr sz="800" b="1" spc="-70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b="1" spc="-15" dirty="0">
                <a:solidFill>
                  <a:srgbClr val="0C6C04"/>
                </a:solidFill>
                <a:latin typeface="LM Roman 8"/>
                <a:cs typeface="LM Roman 8"/>
              </a:rPr>
              <a:t>variable</a:t>
            </a:r>
            <a:r>
              <a:rPr sz="800" b="1" spc="-110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random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variable,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often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noted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i="1" spc="130" dirty="0">
                <a:latin typeface="Times New Roman"/>
                <a:cs typeface="Times New Roman"/>
              </a:rPr>
              <a:t>X</a:t>
            </a:r>
            <a:r>
              <a:rPr sz="800" spc="130" dirty="0">
                <a:latin typeface="LM Roman 8"/>
                <a:cs typeface="LM Roman 8"/>
              </a:rPr>
              <a:t>,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function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maps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every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element  </a:t>
            </a:r>
            <a:r>
              <a:rPr sz="800" spc="-5" dirty="0">
                <a:latin typeface="LM Roman 8"/>
                <a:cs typeface="LM Roman 8"/>
              </a:rPr>
              <a:t>in a sample space to a real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line.</a:t>
            </a:r>
            <a:endParaRPr sz="800">
              <a:latin typeface="LM Roman 8"/>
              <a:cs typeface="LM Roman 8"/>
            </a:endParaRPr>
          </a:p>
          <a:p>
            <a:pPr marL="12700" marR="5080">
              <a:lnSpc>
                <a:spcPts val="900"/>
              </a:lnSpc>
              <a:spcBef>
                <a:spcPts val="765"/>
              </a:spcBef>
              <a:buFont typeface="DejaVu Sans"/>
              <a:buChar char="❒"/>
              <a:tabLst>
                <a:tab pos="141605" algn="l"/>
              </a:tabLst>
            </a:pPr>
            <a:r>
              <a:rPr sz="800" b="1" spc="-15" dirty="0">
                <a:solidFill>
                  <a:srgbClr val="0C6C04"/>
                </a:solidFill>
                <a:latin typeface="LM Roman 8"/>
                <a:cs typeface="LM Roman 8"/>
              </a:rPr>
              <a:t>Cumulative </a:t>
            </a: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distribution function (CDF)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cumulative </a:t>
            </a:r>
            <a:r>
              <a:rPr sz="800" spc="-5" dirty="0">
                <a:latin typeface="LM Roman 8"/>
                <a:cs typeface="LM Roman 8"/>
              </a:rPr>
              <a:t>distribution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i="1" spc="45" dirty="0">
                <a:latin typeface="Times New Roman"/>
                <a:cs typeface="Times New Roman"/>
              </a:rPr>
              <a:t>F </a:t>
            </a:r>
            <a:r>
              <a:rPr sz="800" spc="-5" dirty="0">
                <a:latin typeface="LM Roman 8"/>
                <a:cs typeface="LM Roman 8"/>
              </a:rPr>
              <a:t>,  </a:t>
            </a:r>
            <a:r>
              <a:rPr sz="800" spc="-10" dirty="0">
                <a:latin typeface="LM Roman 8"/>
                <a:cs typeface="LM Roman 8"/>
              </a:rPr>
              <a:t>which </a:t>
            </a:r>
            <a:r>
              <a:rPr sz="800" spc="-5" dirty="0">
                <a:latin typeface="LM Roman 8"/>
                <a:cs typeface="LM Roman 8"/>
              </a:rPr>
              <a:t>is monotonically non-decreasing and is </a:t>
            </a:r>
            <a:r>
              <a:rPr sz="800" spc="-10" dirty="0">
                <a:latin typeface="LM Roman 8"/>
                <a:cs typeface="LM Roman 8"/>
              </a:rPr>
              <a:t>such </a:t>
            </a:r>
            <a:r>
              <a:rPr sz="800" spc="-5" dirty="0">
                <a:latin typeface="LM Roman 8"/>
                <a:cs typeface="LM Roman 8"/>
              </a:rPr>
              <a:t>that lim </a:t>
            </a:r>
            <a:r>
              <a:rPr sz="800" i="1" spc="45" dirty="0">
                <a:latin typeface="Times New Roman"/>
                <a:cs typeface="Times New Roman"/>
              </a:rPr>
              <a:t>F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 0 and lim </a:t>
            </a:r>
            <a:r>
              <a:rPr sz="800" i="1" spc="45" dirty="0">
                <a:latin typeface="Times New Roman"/>
                <a:cs typeface="Times New Roman"/>
              </a:rPr>
              <a:t>F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 1,</a:t>
            </a:r>
            <a:r>
              <a:rPr sz="800" spc="-114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5294" y="3187800"/>
            <a:ext cx="5219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defined</a:t>
            </a:r>
            <a:r>
              <a:rPr sz="800" spc="-7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51125" y="3389833"/>
            <a:ext cx="913765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800" i="1" spc="45" dirty="0">
                <a:latin typeface="Times New Roman"/>
                <a:cs typeface="Times New Roman"/>
              </a:rPr>
              <a:t>F</a:t>
            </a:r>
            <a:r>
              <a:rPr sz="800" i="1" spc="-90" dirty="0">
                <a:latin typeface="Times New Roman"/>
                <a:cs typeface="Times New Roman"/>
              </a:rPr>
              <a:t>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0" dirty="0">
                <a:latin typeface="Times New Roman"/>
                <a:cs typeface="Times New Roman"/>
              </a:rPr>
              <a:t> </a:t>
            </a:r>
            <a:r>
              <a:rPr sz="800" spc="100" dirty="0">
                <a:latin typeface="LM Roman 8"/>
                <a:cs typeface="LM Roman 8"/>
              </a:rPr>
              <a:t>(</a:t>
            </a:r>
            <a:r>
              <a:rPr sz="800" i="1" spc="100" dirty="0">
                <a:latin typeface="Times New Roman"/>
                <a:cs typeface="Times New Roman"/>
              </a:rPr>
              <a:t>X</a:t>
            </a:r>
            <a:r>
              <a:rPr sz="800" i="1" spc="80" dirty="0">
                <a:latin typeface="Times New Roman"/>
                <a:cs typeface="Times New Roman"/>
              </a:rPr>
              <a:t> </a:t>
            </a:r>
            <a:r>
              <a:rPr sz="800" spc="114" dirty="0">
                <a:latin typeface="RobotoRegular"/>
                <a:cs typeface="RobotoRegular"/>
              </a:rPr>
              <a:t>™</a:t>
            </a:r>
            <a:r>
              <a:rPr sz="800" spc="25" dirty="0">
                <a:latin typeface="RobotoRegular"/>
                <a:cs typeface="RobotoRegular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800" spc="6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5294" y="3651236"/>
            <a:ext cx="4505960" cy="780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</a:t>
            </a:r>
            <a:r>
              <a:rPr sz="800" i="1" spc="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P</a:t>
            </a:r>
            <a:r>
              <a:rPr sz="800" i="1" spc="-8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20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20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i="1" spc="3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i="1" spc="114" dirty="0">
                <a:solidFill>
                  <a:srgbClr val="59439A"/>
                </a:solidFill>
                <a:latin typeface="Times New Roman"/>
                <a:cs typeface="Times New Roman"/>
              </a:rPr>
              <a:t>&lt;</a:t>
            </a:r>
            <a:r>
              <a:rPr sz="800" i="1" spc="3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i="1" spc="204" dirty="0">
                <a:solidFill>
                  <a:srgbClr val="59439A"/>
                </a:solidFill>
                <a:latin typeface="Times New Roman"/>
                <a:cs typeface="Times New Roman"/>
              </a:rPr>
              <a:t>X</a:t>
            </a:r>
            <a:r>
              <a:rPr sz="800" i="1" spc="9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114" dirty="0">
                <a:solidFill>
                  <a:srgbClr val="59439A"/>
                </a:solidFill>
                <a:latin typeface="RobotoRegular"/>
                <a:cs typeface="RobotoRegular"/>
              </a:rPr>
              <a:t>™</a:t>
            </a:r>
            <a:r>
              <a:rPr sz="800" spc="35" dirty="0">
                <a:solidFill>
                  <a:srgbClr val="59439A"/>
                </a:solidFill>
                <a:latin typeface="RobotoRegular"/>
                <a:cs typeface="RobotoRegular"/>
              </a:rPr>
              <a:t> </a:t>
            </a:r>
            <a:r>
              <a:rPr sz="800" i="1" spc="90" dirty="0">
                <a:solidFill>
                  <a:srgbClr val="59439A"/>
                </a:solidFill>
                <a:latin typeface="Times New Roman"/>
                <a:cs typeface="Times New Roman"/>
              </a:rPr>
              <a:t>B</a:t>
            </a:r>
            <a:r>
              <a:rPr sz="800" spc="90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F</a:t>
            </a:r>
            <a:r>
              <a:rPr sz="800" i="1" spc="-8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-1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-15" dirty="0">
                <a:solidFill>
                  <a:srgbClr val="59439A"/>
                </a:solidFill>
                <a:latin typeface="Times New Roman"/>
                <a:cs typeface="Times New Roman"/>
              </a:rPr>
              <a:t>b</a:t>
            </a:r>
            <a:r>
              <a:rPr sz="800" spc="-1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spc="-9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DejaVu Sans"/>
                <a:cs typeface="DejaVu Sans"/>
              </a:rPr>
              <a:t>−</a:t>
            </a:r>
            <a:r>
              <a:rPr sz="800" i="1" spc="-70" dirty="0">
                <a:solidFill>
                  <a:srgbClr val="59439A"/>
                </a:solidFill>
                <a:latin typeface="DejaVu Sans"/>
                <a:cs typeface="DejaVu Sans"/>
              </a:rPr>
              <a:t> 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F</a:t>
            </a:r>
            <a:r>
              <a:rPr sz="800" i="1" spc="-8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10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10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spc="10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i="1" spc="10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12700" marR="5080" indent="-635">
              <a:lnSpc>
                <a:spcPts val="850"/>
              </a:lnSpc>
              <a:spcBef>
                <a:spcPts val="844"/>
              </a:spcBef>
              <a:buFont typeface="DejaVu Sans"/>
              <a:buChar char="❒"/>
              <a:tabLst>
                <a:tab pos="114935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Probability</a:t>
            </a:r>
            <a:r>
              <a:rPr sz="800" b="1" spc="-105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density</a:t>
            </a:r>
            <a:r>
              <a:rPr sz="800" b="1" spc="-100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function</a:t>
            </a:r>
            <a:r>
              <a:rPr sz="800" b="1" spc="-100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(PDF)</a:t>
            </a:r>
            <a:r>
              <a:rPr sz="800" b="1" spc="-130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probability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density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function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i="1" spc="180" dirty="0">
                <a:latin typeface="Times New Roman"/>
                <a:cs typeface="Times New Roman"/>
              </a:rPr>
              <a:t>f</a:t>
            </a:r>
            <a:r>
              <a:rPr sz="800" i="1" spc="8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probability  that </a:t>
            </a:r>
            <a:r>
              <a:rPr sz="800" i="1" spc="204" dirty="0">
                <a:latin typeface="Times New Roman"/>
                <a:cs typeface="Times New Roman"/>
              </a:rPr>
              <a:t>X </a:t>
            </a:r>
            <a:r>
              <a:rPr sz="800" spc="-10" dirty="0">
                <a:latin typeface="LM Roman 8"/>
                <a:cs typeface="LM Roman 8"/>
              </a:rPr>
              <a:t>takes </a:t>
            </a:r>
            <a:r>
              <a:rPr sz="800" spc="-5" dirty="0">
                <a:latin typeface="LM Roman 8"/>
                <a:cs typeface="LM Roman 8"/>
              </a:rPr>
              <a:t>on </a:t>
            </a:r>
            <a:r>
              <a:rPr sz="800" spc="-10" dirty="0">
                <a:latin typeface="LM Roman 8"/>
                <a:cs typeface="LM Roman 8"/>
              </a:rPr>
              <a:t>values between </a:t>
            </a:r>
            <a:r>
              <a:rPr sz="800" spc="-20" dirty="0">
                <a:latin typeface="LM Roman 8"/>
                <a:cs typeface="LM Roman 8"/>
              </a:rPr>
              <a:t>two </a:t>
            </a:r>
            <a:r>
              <a:rPr sz="800" spc="-5" dirty="0">
                <a:latin typeface="LM Roman 8"/>
                <a:cs typeface="LM Roman 8"/>
              </a:rPr>
              <a:t>adjacent realizations of the random </a:t>
            </a:r>
            <a:r>
              <a:rPr sz="800" spc="-10" dirty="0">
                <a:latin typeface="LM Roman 8"/>
                <a:cs typeface="LM Roman 8"/>
              </a:rPr>
              <a:t>variable.</a:t>
            </a:r>
            <a:endParaRPr sz="800">
              <a:latin typeface="LM Roman 8"/>
              <a:cs typeface="LM Roman 8"/>
            </a:endParaRPr>
          </a:p>
          <a:p>
            <a:pPr marL="12700" marR="5080">
              <a:lnSpc>
                <a:spcPts val="850"/>
              </a:lnSpc>
              <a:spcBef>
                <a:spcPts val="750"/>
              </a:spcBef>
              <a:buFont typeface="DejaVu Sans"/>
              <a:buChar char="❒"/>
              <a:tabLst>
                <a:tab pos="120014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Relationships</a:t>
            </a:r>
            <a:r>
              <a:rPr sz="800" b="1" spc="-50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b="1" spc="-15" dirty="0">
                <a:solidFill>
                  <a:srgbClr val="020E86"/>
                </a:solidFill>
                <a:latin typeface="LM Roman 8"/>
                <a:cs typeface="LM Roman 8"/>
              </a:rPr>
              <a:t>involving</a:t>
            </a:r>
            <a:r>
              <a:rPr sz="800" b="1" spc="-45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the</a:t>
            </a:r>
            <a:r>
              <a:rPr sz="800" b="1" spc="-45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PDF</a:t>
            </a:r>
            <a:r>
              <a:rPr sz="800" b="1" spc="-45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and</a:t>
            </a:r>
            <a:r>
              <a:rPr sz="800" b="1" spc="-45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CDF</a:t>
            </a:r>
            <a:r>
              <a:rPr sz="800" b="1" spc="-85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Here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important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properties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know  </a:t>
            </a:r>
            <a:r>
              <a:rPr sz="800" spc="-5" dirty="0">
                <a:latin typeface="LM Roman 8"/>
                <a:cs typeface="LM Roman 8"/>
              </a:rPr>
              <a:t>in the discrete (D) and the </a:t>
            </a:r>
            <a:r>
              <a:rPr sz="800" spc="-10" dirty="0">
                <a:latin typeface="LM Roman 8"/>
                <a:cs typeface="LM Roman 8"/>
              </a:rPr>
              <a:t>continuous </a:t>
            </a:r>
            <a:r>
              <a:rPr sz="800" spc="-5" dirty="0">
                <a:latin typeface="LM Roman 8"/>
                <a:cs typeface="LM Roman 8"/>
              </a:rPr>
              <a:t>(C)</a:t>
            </a:r>
            <a:r>
              <a:rPr sz="800" spc="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cases.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95790" y="5419445"/>
            <a:ext cx="138430" cy="0"/>
          </a:xfrm>
          <a:custGeom>
            <a:avLst/>
            <a:gdLst/>
            <a:ahLst/>
            <a:cxnLst/>
            <a:rect l="l" t="t" r="r" b="b"/>
            <a:pathLst>
              <a:path w="138430">
                <a:moveTo>
                  <a:pt x="0" y="0"/>
                </a:moveTo>
                <a:lnTo>
                  <a:pt x="13834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471614" y="4642472"/>
          <a:ext cx="4475480" cy="958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5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Case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CDF</a:t>
                      </a:r>
                      <a:r>
                        <a:rPr sz="800" b="1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F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PDF</a:t>
                      </a:r>
                      <a:r>
                        <a:rPr sz="800" b="1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dirty="0">
                          <a:latin typeface="LM Roman 8"/>
                          <a:cs typeface="LM Roman 8"/>
                        </a:rPr>
                        <a:t>Properties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of</a:t>
                      </a:r>
                      <a:r>
                        <a:rPr sz="800" b="1" spc="-3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PDF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(D)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742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6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500" spc="1230" baseline="50000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1500" spc="-30" baseline="500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8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10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1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8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127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spc="8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R="14668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600" i="1" spc="10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750" i="1" spc="157" baseline="-16666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600" spc="105" dirty="0">
                          <a:latin typeface="Arial"/>
                          <a:cs typeface="Arial"/>
                        </a:rPr>
                        <a:t>™</a:t>
                      </a:r>
                      <a:r>
                        <a:rPr sz="600" i="1" spc="105" dirty="0">
                          <a:latin typeface="Times New Roman"/>
                          <a:cs typeface="Times New Roman"/>
                        </a:rPr>
                        <a:t>x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8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8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127" baseline="-9259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900" i="1" spc="-112" baseline="-92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6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8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10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1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13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195" baseline="-9259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900" i="1" spc="-112" baseline="-92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742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0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114" dirty="0">
                          <a:latin typeface="RobotoRegular"/>
                          <a:cs typeface="RobotoRegular"/>
                        </a:rPr>
                        <a:t>™</a:t>
                      </a:r>
                      <a:r>
                        <a:rPr sz="800" spc="30" dirty="0">
                          <a:latin typeface="RobotoRegular"/>
                          <a:cs typeface="RobotoRegular"/>
                        </a:rPr>
                        <a:t> </a:t>
                      </a: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8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8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127" baseline="-9259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900" i="1" spc="-104" baseline="-92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114" dirty="0">
                          <a:latin typeface="RobotoRegular"/>
                          <a:cs typeface="RobotoRegular"/>
                        </a:rPr>
                        <a:t>™</a:t>
                      </a:r>
                      <a:r>
                        <a:rPr sz="800" spc="35" dirty="0">
                          <a:latin typeface="RobotoRegular"/>
                          <a:cs typeface="RobotoRegular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1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and</a:t>
                      </a:r>
                      <a:r>
                        <a:rPr sz="800" spc="13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500" spc="1230" baseline="50000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1500" spc="-217" baseline="500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8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8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127" baseline="-9259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900" i="1" spc="-104" baseline="-92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5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1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42735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600" i="1" dirty="0">
                          <a:latin typeface="Times New Roman"/>
                          <a:cs typeface="Times New Roman"/>
                        </a:rPr>
                        <a:t>j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(C)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685"/>
                        </a:lnSpc>
                      </a:pPr>
                      <a:r>
                        <a:rPr sz="800" spc="175" dirty="0">
                          <a:latin typeface="Arial"/>
                          <a:cs typeface="Arial"/>
                        </a:rPr>
                        <a:t>ˆ</a:t>
                      </a:r>
                      <a:r>
                        <a:rPr sz="80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225" baseline="-23148" dirty="0">
                          <a:latin typeface="Times New Roman"/>
                          <a:cs typeface="Times New Roman"/>
                        </a:rPr>
                        <a:t>x</a:t>
                      </a:r>
                      <a:endParaRPr sz="900" baseline="-23148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950"/>
                        </a:lnSpc>
                        <a:spcBef>
                          <a:spcPts val="125"/>
                        </a:spcBef>
                        <a:tabLst>
                          <a:tab pos="616585" algn="l"/>
                        </a:tabLst>
                      </a:pP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4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	</a:t>
                      </a: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dy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6995" algn="ctr">
                        <a:lnSpc>
                          <a:spcPts val="710"/>
                        </a:lnSpc>
                      </a:pPr>
                      <a:r>
                        <a:rPr sz="600" i="1" spc="150" dirty="0">
                          <a:latin typeface="DejaVu Sans"/>
                          <a:cs typeface="DejaVu Sans"/>
                        </a:rPr>
                        <a:t>−∞</a:t>
                      </a:r>
                      <a:endParaRPr sz="600">
                        <a:latin typeface="DejaVu Sans"/>
                        <a:cs typeface="DejaVu San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2620">
                        <a:lnSpc>
                          <a:spcPts val="755"/>
                        </a:lnSpc>
                        <a:spcBef>
                          <a:spcPts val="254"/>
                        </a:spcBef>
                      </a:pP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dF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76860">
                        <a:lnSpc>
                          <a:spcPts val="575"/>
                        </a:lnSpc>
                      </a:pP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653415">
                        <a:lnSpc>
                          <a:spcPts val="780"/>
                        </a:lnSpc>
                      </a:pPr>
                      <a:r>
                        <a:rPr sz="800" i="1" spc="70" dirty="0">
                          <a:latin typeface="Times New Roman"/>
                          <a:cs typeface="Times New Roman"/>
                        </a:rPr>
                        <a:t>dx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ts val="875"/>
                        </a:lnSpc>
                      </a:pPr>
                      <a:r>
                        <a:rPr sz="1200" spc="262" baseline="17361" dirty="0">
                          <a:latin typeface="Arial"/>
                          <a:cs typeface="Arial"/>
                        </a:rPr>
                        <a:t>ˆ</a:t>
                      </a:r>
                      <a:r>
                        <a:rPr sz="1200" spc="179" baseline="1736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spc="110" dirty="0">
                          <a:latin typeface="LM Roman 6"/>
                          <a:cs typeface="LM Roman 6"/>
                        </a:rPr>
                        <a:t>+</a:t>
                      </a:r>
                      <a:r>
                        <a:rPr sz="600" i="1" spc="110" dirty="0">
                          <a:latin typeface="DejaVu Sans"/>
                          <a:cs typeface="DejaVu Sans"/>
                        </a:rPr>
                        <a:t>∞</a:t>
                      </a:r>
                      <a:endParaRPr sz="600">
                        <a:latin typeface="DejaVu Sans"/>
                        <a:cs typeface="DejaVu Sans"/>
                      </a:endParaRPr>
                    </a:p>
                    <a:p>
                      <a:pPr marL="121285">
                        <a:lnSpc>
                          <a:spcPts val="885"/>
                        </a:lnSpc>
                        <a:tabLst>
                          <a:tab pos="1073150" algn="l"/>
                        </a:tabLst>
                      </a:pP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4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335" dirty="0">
                          <a:latin typeface="RobotoRegular"/>
                          <a:cs typeface="RobotoRegular"/>
                        </a:rPr>
                        <a:t>“</a:t>
                      </a:r>
                      <a:r>
                        <a:rPr sz="800" spc="40" dirty="0">
                          <a:latin typeface="RobotoRegular"/>
                          <a:cs typeface="RobotoRegular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0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and	</a:t>
                      </a: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5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5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50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i="1" spc="50" dirty="0">
                          <a:latin typeface="Times New Roman"/>
                          <a:cs typeface="Times New Roman"/>
                        </a:rPr>
                        <a:t>dx</a:t>
                      </a: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6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1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30810" algn="ctr">
                        <a:lnSpc>
                          <a:spcPts val="710"/>
                        </a:lnSpc>
                      </a:pPr>
                      <a:r>
                        <a:rPr sz="600" i="1" spc="150" dirty="0">
                          <a:latin typeface="DejaVu Sans"/>
                          <a:cs typeface="DejaVu Sans"/>
                        </a:rPr>
                        <a:t>−∞</a:t>
                      </a:r>
                      <a:endParaRPr sz="600">
                        <a:latin typeface="DejaVu Sans"/>
                        <a:cs typeface="DejaVu San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1616163" y="6140018"/>
            <a:ext cx="2183765" cy="19748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35"/>
              </a:spcBef>
            </a:pPr>
            <a:r>
              <a:rPr sz="800" spc="30" dirty="0">
                <a:latin typeface="LM Roman 8"/>
                <a:cs typeface="LM Roman 8"/>
              </a:rPr>
              <a:t>Var(</a:t>
            </a:r>
            <a:r>
              <a:rPr sz="800" i="1" spc="30" dirty="0">
                <a:latin typeface="Times New Roman"/>
                <a:cs typeface="Times New Roman"/>
              </a:rPr>
              <a:t>X</a:t>
            </a:r>
            <a:r>
              <a:rPr sz="800" spc="30" dirty="0">
                <a:latin typeface="LM Roman 8"/>
                <a:cs typeface="LM Roman 8"/>
              </a:rPr>
              <a:t>)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i="1" spc="90" dirty="0">
                <a:latin typeface="Times New Roman"/>
                <a:cs typeface="Times New Roman"/>
              </a:rPr>
              <a:t>E</a:t>
            </a:r>
            <a:r>
              <a:rPr sz="800" spc="90" dirty="0">
                <a:latin typeface="LM Roman 8"/>
                <a:cs typeface="LM Roman 8"/>
              </a:rPr>
              <a:t>[(</a:t>
            </a:r>
            <a:r>
              <a:rPr sz="800" i="1" spc="90" dirty="0">
                <a:latin typeface="Times New Roman"/>
                <a:cs typeface="Times New Roman"/>
              </a:rPr>
              <a:t>X</a:t>
            </a:r>
            <a:r>
              <a:rPr sz="800" i="1" spc="50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5" dirty="0">
                <a:latin typeface="DejaVu Sans"/>
                <a:cs typeface="DejaVu Sans"/>
              </a:rPr>
              <a:t> </a:t>
            </a:r>
            <a:r>
              <a:rPr sz="800" i="1" spc="65" dirty="0">
                <a:latin typeface="Times New Roman"/>
                <a:cs typeface="Times New Roman"/>
              </a:rPr>
              <a:t>E</a:t>
            </a:r>
            <a:r>
              <a:rPr sz="800" spc="65" dirty="0">
                <a:latin typeface="LM Roman 8"/>
                <a:cs typeface="LM Roman 8"/>
              </a:rPr>
              <a:t>[</a:t>
            </a:r>
            <a:r>
              <a:rPr sz="800" i="1" spc="65" dirty="0">
                <a:latin typeface="Times New Roman"/>
                <a:cs typeface="Times New Roman"/>
              </a:rPr>
              <a:t>X</a:t>
            </a:r>
            <a:r>
              <a:rPr sz="800" spc="65" dirty="0">
                <a:latin typeface="LM Roman 8"/>
                <a:cs typeface="LM Roman 8"/>
              </a:rPr>
              <a:t>])</a:t>
            </a:r>
            <a:r>
              <a:rPr sz="900" spc="97" baseline="32407" dirty="0">
                <a:latin typeface="LM Roman 6"/>
                <a:cs typeface="LM Roman 6"/>
              </a:rPr>
              <a:t>2</a:t>
            </a:r>
            <a:r>
              <a:rPr sz="800" spc="65" dirty="0">
                <a:latin typeface="LM Roman 8"/>
                <a:cs typeface="LM Roman 8"/>
              </a:rPr>
              <a:t>]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i="1" spc="95" dirty="0">
                <a:latin typeface="Times New Roman"/>
                <a:cs typeface="Times New Roman"/>
              </a:rPr>
              <a:t>E</a:t>
            </a:r>
            <a:r>
              <a:rPr sz="800" spc="95" dirty="0">
                <a:latin typeface="LM Roman 8"/>
                <a:cs typeface="LM Roman 8"/>
              </a:rPr>
              <a:t>[</a:t>
            </a:r>
            <a:r>
              <a:rPr sz="800" i="1" spc="95" dirty="0">
                <a:latin typeface="Times New Roman"/>
                <a:cs typeface="Times New Roman"/>
              </a:rPr>
              <a:t>X</a:t>
            </a:r>
            <a:r>
              <a:rPr sz="900" spc="142" baseline="32407" dirty="0">
                <a:latin typeface="LM Roman 6"/>
                <a:cs typeface="LM Roman 6"/>
              </a:rPr>
              <a:t>2</a:t>
            </a:r>
            <a:r>
              <a:rPr sz="800" spc="95" dirty="0">
                <a:latin typeface="LM Roman 8"/>
                <a:cs typeface="LM Roman 8"/>
              </a:rPr>
              <a:t>]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5" dirty="0">
                <a:latin typeface="DejaVu Sans"/>
                <a:cs typeface="DejaVu Sans"/>
              </a:rPr>
              <a:t> </a:t>
            </a:r>
            <a:r>
              <a:rPr sz="800" i="1" spc="85" dirty="0">
                <a:latin typeface="Times New Roman"/>
                <a:cs typeface="Times New Roman"/>
              </a:rPr>
              <a:t>E</a:t>
            </a:r>
            <a:r>
              <a:rPr sz="800" spc="85" dirty="0">
                <a:latin typeface="LM Roman 8"/>
                <a:cs typeface="LM Roman 8"/>
              </a:rPr>
              <a:t>[</a:t>
            </a:r>
            <a:r>
              <a:rPr sz="800" i="1" spc="85" dirty="0">
                <a:latin typeface="Times New Roman"/>
                <a:cs typeface="Times New Roman"/>
              </a:rPr>
              <a:t>X</a:t>
            </a:r>
            <a:r>
              <a:rPr sz="800" spc="85" dirty="0">
                <a:latin typeface="LM Roman 8"/>
                <a:cs typeface="LM Roman 8"/>
              </a:rPr>
              <a:t>]</a:t>
            </a:r>
            <a:r>
              <a:rPr sz="900" spc="127" baseline="32407" dirty="0">
                <a:latin typeface="LM Roman 6"/>
                <a:cs typeface="LM Roman 6"/>
              </a:rPr>
              <a:t>2</a:t>
            </a:r>
            <a:endParaRPr sz="900" baseline="32407">
              <a:latin typeface="LM Roman 6"/>
              <a:cs typeface="LM Roman 6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4495" y="5712455"/>
            <a:ext cx="920115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69790">
              <a:lnSpc>
                <a:spcPts val="1110"/>
              </a:lnSpc>
              <a:tabLst>
                <a:tab pos="5114290" algn="l"/>
              </a:tabLst>
            </a:pPr>
            <a:r>
              <a:rPr sz="1000" b="1" spc="-5" dirty="0">
                <a:latin typeface="LM Roman 10"/>
                <a:cs typeface="LM Roman 10"/>
              </a:rPr>
              <a:t>5.1.4	</a:t>
            </a:r>
            <a:r>
              <a:rPr sz="900" b="1" spc="-10" dirty="0">
                <a:latin typeface="LM Roman 9"/>
                <a:cs typeface="LM Roman 9"/>
              </a:rPr>
              <a:t>Jointly Distributed Random</a:t>
            </a:r>
            <a:r>
              <a:rPr sz="900" b="1" spc="5" dirty="0">
                <a:latin typeface="LM Roman 9"/>
                <a:cs typeface="LM Roman 9"/>
              </a:rPr>
              <a:t> </a:t>
            </a:r>
            <a:r>
              <a:rPr sz="900" b="1" spc="-15" dirty="0">
                <a:latin typeface="LM Roman 9"/>
                <a:cs typeface="LM Roman 9"/>
              </a:rPr>
              <a:t>Variables</a:t>
            </a:r>
            <a:endParaRPr sz="900">
              <a:latin typeface="LM Roman 9"/>
              <a:cs typeface="LM Roman 9"/>
            </a:endParaRPr>
          </a:p>
          <a:p>
            <a:pPr marL="63500" marR="4649470">
              <a:lnSpc>
                <a:spcPts val="850"/>
              </a:lnSpc>
              <a:spcBef>
                <a:spcPts val="35"/>
              </a:spcBef>
              <a:buFont typeface="DejaVu Sans"/>
              <a:buChar char="❒"/>
              <a:tabLst>
                <a:tab pos="172720" algn="l"/>
              </a:tabLst>
            </a:pPr>
            <a:r>
              <a:rPr sz="800" b="1" spc="-20" dirty="0">
                <a:solidFill>
                  <a:srgbClr val="0C6C04"/>
                </a:solidFill>
                <a:latin typeface="LM Roman 8"/>
                <a:cs typeface="LM Roman 8"/>
              </a:rPr>
              <a:t>Variance</a:t>
            </a:r>
            <a:r>
              <a:rPr sz="800" b="1" spc="-70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variance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random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variable,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often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noted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30" dirty="0">
                <a:latin typeface="LM Roman 8"/>
                <a:cs typeface="LM Roman 8"/>
              </a:rPr>
              <a:t>Var(</a:t>
            </a:r>
            <a:r>
              <a:rPr sz="800" i="1" spc="30" dirty="0">
                <a:latin typeface="Times New Roman"/>
                <a:cs typeface="Times New Roman"/>
              </a:rPr>
              <a:t>X</a:t>
            </a:r>
            <a:r>
              <a:rPr sz="800" spc="30" dirty="0">
                <a:latin typeface="LM Roman 8"/>
                <a:cs typeface="LM Roman 8"/>
              </a:rPr>
              <a:t>)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or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i="1" spc="50" dirty="0">
                <a:latin typeface="Times New Roman"/>
                <a:cs typeface="Times New Roman"/>
              </a:rPr>
              <a:t>σ</a:t>
            </a:r>
            <a:r>
              <a:rPr sz="900" spc="75" baseline="27777" dirty="0">
                <a:latin typeface="LM Roman 6"/>
                <a:cs typeface="LM Roman 6"/>
              </a:rPr>
              <a:t>2</a:t>
            </a:r>
            <a:r>
              <a:rPr sz="800" spc="50" dirty="0">
                <a:latin typeface="LM Roman 8"/>
                <a:cs typeface="LM Roman 8"/>
              </a:rPr>
              <a:t>,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measure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  spread of its distribution </a:t>
            </a:r>
            <a:r>
              <a:rPr sz="800" spc="-10" dirty="0">
                <a:latin typeface="LM Roman 8"/>
                <a:cs typeface="LM Roman 8"/>
              </a:rPr>
              <a:t>function. </a:t>
            </a:r>
            <a:r>
              <a:rPr sz="800" spc="-5" dirty="0">
                <a:latin typeface="LM Roman 8"/>
                <a:cs typeface="LM Roman 8"/>
              </a:rPr>
              <a:t>It is determined as</a:t>
            </a:r>
            <a:r>
              <a:rPr sz="800" spc="-16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  <a:p>
            <a:pPr marL="4784725" lvl="1" indent="-115570">
              <a:lnSpc>
                <a:spcPts val="710"/>
              </a:lnSpc>
              <a:buFont typeface="DejaVu Sans"/>
              <a:buChar char="❒"/>
              <a:tabLst>
                <a:tab pos="4785360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Conditional density </a:t>
            </a:r>
            <a:r>
              <a:rPr sz="800" spc="-5" dirty="0">
                <a:latin typeface="LM Roman 8"/>
                <a:cs typeface="LM Roman 8"/>
              </a:rPr>
              <a:t>– The conditional density of </a:t>
            </a:r>
            <a:r>
              <a:rPr sz="800" i="1" spc="204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with </a:t>
            </a:r>
            <a:r>
              <a:rPr sz="800" dirty="0">
                <a:latin typeface="LM Roman 8"/>
                <a:cs typeface="LM Roman 8"/>
              </a:rPr>
              <a:t>respect </a:t>
            </a:r>
            <a:r>
              <a:rPr sz="800" spc="-5" dirty="0">
                <a:latin typeface="LM Roman 8"/>
                <a:cs typeface="LM Roman 8"/>
              </a:rPr>
              <a:t>to </a:t>
            </a:r>
            <a:r>
              <a:rPr sz="800" i="1" spc="45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, often noted </a:t>
            </a:r>
            <a:r>
              <a:rPr sz="800" i="1" spc="145" dirty="0">
                <a:latin typeface="Times New Roman"/>
                <a:cs typeface="Times New Roman"/>
              </a:rPr>
              <a:t>f</a:t>
            </a:r>
            <a:r>
              <a:rPr sz="900" i="1" spc="217" baseline="-13888" dirty="0">
                <a:latin typeface="Times New Roman"/>
                <a:cs typeface="Times New Roman"/>
              </a:rPr>
              <a:t>X</a:t>
            </a:r>
            <a:r>
              <a:rPr sz="900" i="1" spc="217" baseline="-13888" dirty="0">
                <a:latin typeface="DejaVu Sans"/>
                <a:cs typeface="DejaVu Sans"/>
              </a:rPr>
              <a:t>|</a:t>
            </a:r>
            <a:r>
              <a:rPr sz="900" i="1" spc="217" baseline="-13888" dirty="0">
                <a:latin typeface="Times New Roman"/>
                <a:cs typeface="Times New Roman"/>
              </a:rPr>
              <a:t>Y</a:t>
            </a:r>
            <a:r>
              <a:rPr sz="900" i="1" spc="390" baseline="-13888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,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701836" y="6959345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4">
                <a:moveTo>
                  <a:pt x="0" y="0"/>
                </a:moveTo>
                <a:lnTo>
                  <a:pt x="34728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29894" y="6505103"/>
            <a:ext cx="4556760" cy="60198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38100" marR="30480" algn="just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61290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Standard deviation </a:t>
            </a:r>
            <a:r>
              <a:rPr sz="800" spc="-5" dirty="0">
                <a:latin typeface="LM Roman 8"/>
                <a:cs typeface="LM Roman 8"/>
              </a:rPr>
              <a:t>– The standard deviation of a random </a:t>
            </a:r>
            <a:r>
              <a:rPr sz="800" spc="-10" dirty="0">
                <a:latin typeface="LM Roman 8"/>
                <a:cs typeface="LM Roman 8"/>
              </a:rPr>
              <a:t>variable, </a:t>
            </a:r>
            <a:r>
              <a:rPr sz="800" spc="-5" dirty="0">
                <a:latin typeface="LM Roman 8"/>
                <a:cs typeface="LM Roman 8"/>
              </a:rPr>
              <a:t>often noted </a:t>
            </a:r>
            <a:r>
              <a:rPr sz="800" i="1" spc="55" dirty="0">
                <a:latin typeface="Times New Roman"/>
                <a:cs typeface="Times New Roman"/>
              </a:rPr>
              <a:t>σ</a:t>
            </a:r>
            <a:r>
              <a:rPr sz="800" spc="55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is a  measure of the spread of its distribution </a:t>
            </a:r>
            <a:r>
              <a:rPr sz="800" spc="-10" dirty="0">
                <a:latin typeface="LM Roman 8"/>
                <a:cs typeface="LM Roman 8"/>
              </a:rPr>
              <a:t>function which </a:t>
            </a:r>
            <a:r>
              <a:rPr sz="800" spc="-5" dirty="0">
                <a:latin typeface="LM Roman 8"/>
                <a:cs typeface="LM Roman 8"/>
              </a:rPr>
              <a:t>is compatible with the units of the  actual random </a:t>
            </a:r>
            <a:r>
              <a:rPr sz="800" spc="-10" dirty="0">
                <a:latin typeface="LM Roman 8"/>
                <a:cs typeface="LM Roman 8"/>
              </a:rPr>
              <a:t>variable. </a:t>
            </a:r>
            <a:r>
              <a:rPr sz="800" spc="-5" dirty="0">
                <a:latin typeface="LM Roman 8"/>
                <a:cs typeface="LM Roman 8"/>
              </a:rPr>
              <a:t>It is determined as</a:t>
            </a:r>
            <a:r>
              <a:rPr sz="800" spc="-17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sz="800" i="1" spc="85" dirty="0">
                <a:latin typeface="Times New Roman"/>
                <a:cs typeface="Times New Roman"/>
              </a:rPr>
              <a:t>σ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80" dirty="0">
                <a:latin typeface="LM Roman 8"/>
                <a:cs typeface="LM Roman 8"/>
              </a:rPr>
              <a:t> </a:t>
            </a:r>
            <a:r>
              <a:rPr sz="1500" spc="135" baseline="47222" dirty="0">
                <a:latin typeface="Arial"/>
                <a:cs typeface="Arial"/>
              </a:rPr>
              <a:t>√</a:t>
            </a:r>
            <a:r>
              <a:rPr sz="800" spc="90" dirty="0">
                <a:latin typeface="LM Roman 8"/>
                <a:cs typeface="LM Roman 8"/>
              </a:rPr>
              <a:t>Var(</a:t>
            </a:r>
            <a:r>
              <a:rPr sz="800" i="1" spc="90" dirty="0">
                <a:latin typeface="Times New Roman"/>
                <a:cs typeface="Times New Roman"/>
              </a:rPr>
              <a:t>X</a:t>
            </a:r>
            <a:r>
              <a:rPr sz="800" spc="9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323807" y="6908736"/>
            <a:ext cx="768350" cy="243204"/>
            <a:chOff x="2323807" y="6908736"/>
            <a:chExt cx="768350" cy="243204"/>
          </a:xfrm>
        </p:grpSpPr>
        <p:sp>
          <p:nvSpPr>
            <p:cNvPr id="34" name="object 34"/>
            <p:cNvSpPr/>
            <p:nvPr/>
          </p:nvSpPr>
          <p:spPr>
            <a:xfrm>
              <a:off x="2323807" y="6911263"/>
              <a:ext cx="768350" cy="0"/>
            </a:xfrm>
            <a:custGeom>
              <a:avLst/>
              <a:gdLst/>
              <a:ahLst/>
              <a:cxnLst/>
              <a:rect l="l" t="t" r="r" b="b"/>
              <a:pathLst>
                <a:path w="768350">
                  <a:moveTo>
                    <a:pt x="0" y="0"/>
                  </a:moveTo>
                  <a:lnTo>
                    <a:pt x="76833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26335" y="6911263"/>
              <a:ext cx="0" cy="238125"/>
            </a:xfrm>
            <a:custGeom>
              <a:avLst/>
              <a:gdLst/>
              <a:ahLst/>
              <a:cxnLst/>
              <a:rect l="l" t="t" r="r" b="b"/>
              <a:pathLst>
                <a:path h="238125">
                  <a:moveTo>
                    <a:pt x="0" y="23787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89605" y="6911263"/>
              <a:ext cx="0" cy="238125"/>
            </a:xfrm>
            <a:custGeom>
              <a:avLst/>
              <a:gdLst/>
              <a:ahLst/>
              <a:cxnLst/>
              <a:rect l="l" t="t" r="r" b="b"/>
              <a:pathLst>
                <a:path h="238125">
                  <a:moveTo>
                    <a:pt x="0" y="23787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23807" y="7149134"/>
              <a:ext cx="768350" cy="0"/>
            </a:xfrm>
            <a:custGeom>
              <a:avLst/>
              <a:gdLst/>
              <a:ahLst/>
              <a:cxnLst/>
              <a:rect l="l" t="t" r="r" b="b"/>
              <a:pathLst>
                <a:path w="768350">
                  <a:moveTo>
                    <a:pt x="0" y="0"/>
                  </a:moveTo>
                  <a:lnTo>
                    <a:pt x="76833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036362" y="696606"/>
            <a:ext cx="4556760" cy="381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 marR="30480" algn="just">
              <a:lnSpc>
                <a:spcPct val="96200"/>
              </a:lnSpc>
              <a:spcBef>
                <a:spcPts val="130"/>
              </a:spcBef>
              <a:buFont typeface="DejaVu Sans"/>
              <a:buChar char="❒"/>
              <a:tabLst>
                <a:tab pos="140335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Expectation</a:t>
            </a:r>
            <a:r>
              <a:rPr sz="800" b="1" spc="-90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and</a:t>
            </a:r>
            <a:r>
              <a:rPr sz="800" b="1" spc="-90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Moments</a:t>
            </a:r>
            <a:r>
              <a:rPr sz="800" b="1" spc="-85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of</a:t>
            </a:r>
            <a:r>
              <a:rPr sz="800" b="1" spc="-90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the</a:t>
            </a:r>
            <a:r>
              <a:rPr sz="800" b="1" spc="-80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Distribution</a:t>
            </a:r>
            <a:r>
              <a:rPr sz="800" b="1" spc="-114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Here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are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7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expressions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expected  </a:t>
            </a:r>
            <a:r>
              <a:rPr sz="800" spc="-15" dirty="0">
                <a:latin typeface="LM Roman 8"/>
                <a:cs typeface="LM Roman 8"/>
              </a:rPr>
              <a:t>value </a:t>
            </a:r>
            <a:r>
              <a:rPr sz="800" i="1" spc="85" dirty="0">
                <a:latin typeface="Times New Roman"/>
                <a:cs typeface="Times New Roman"/>
              </a:rPr>
              <a:t>E</a:t>
            </a:r>
            <a:r>
              <a:rPr sz="800" spc="85" dirty="0">
                <a:latin typeface="LM Roman 8"/>
                <a:cs typeface="LM Roman 8"/>
              </a:rPr>
              <a:t>[</a:t>
            </a:r>
            <a:r>
              <a:rPr sz="800" i="1" spc="85" dirty="0">
                <a:latin typeface="Times New Roman"/>
                <a:cs typeface="Times New Roman"/>
              </a:rPr>
              <a:t>X</a:t>
            </a:r>
            <a:r>
              <a:rPr sz="800" spc="85" dirty="0">
                <a:latin typeface="LM Roman 8"/>
                <a:cs typeface="LM Roman 8"/>
              </a:rPr>
              <a:t>],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generalized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expected</a:t>
            </a:r>
            <a:r>
              <a:rPr sz="800" spc="-15" dirty="0">
                <a:latin typeface="LM Roman 8"/>
                <a:cs typeface="LM Roman 8"/>
              </a:rPr>
              <a:t> value </a:t>
            </a:r>
            <a:r>
              <a:rPr sz="800" i="1" spc="55" dirty="0">
                <a:latin typeface="Times New Roman"/>
                <a:cs typeface="Times New Roman"/>
              </a:rPr>
              <a:t>E</a:t>
            </a:r>
            <a:r>
              <a:rPr sz="800" spc="55" dirty="0">
                <a:latin typeface="LM Roman 8"/>
                <a:cs typeface="LM Roman 8"/>
              </a:rPr>
              <a:t>[</a:t>
            </a:r>
            <a:r>
              <a:rPr sz="800" i="1" spc="55" dirty="0">
                <a:latin typeface="Times New Roman"/>
                <a:cs typeface="Times New Roman"/>
              </a:rPr>
              <a:t>g</a:t>
            </a:r>
            <a:r>
              <a:rPr sz="800" spc="55" dirty="0">
                <a:latin typeface="LM Roman 8"/>
                <a:cs typeface="LM Roman 8"/>
              </a:rPr>
              <a:t>(</a:t>
            </a:r>
            <a:r>
              <a:rPr sz="800" i="1" spc="55" dirty="0">
                <a:latin typeface="Times New Roman"/>
                <a:cs typeface="Times New Roman"/>
              </a:rPr>
              <a:t>X</a:t>
            </a:r>
            <a:r>
              <a:rPr sz="800" spc="55" dirty="0">
                <a:latin typeface="LM Roman 8"/>
                <a:cs typeface="LM Roman 8"/>
              </a:rPr>
              <a:t>)],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i="1" spc="114" dirty="0">
                <a:latin typeface="Times New Roman"/>
                <a:cs typeface="Times New Roman"/>
              </a:rPr>
              <a:t>k</a:t>
            </a:r>
            <a:r>
              <a:rPr sz="900" i="1" spc="172" baseline="27777" dirty="0">
                <a:latin typeface="Times New Roman"/>
                <a:cs typeface="Times New Roman"/>
              </a:rPr>
              <a:t>th</a:t>
            </a:r>
            <a:r>
              <a:rPr sz="900" i="1" spc="262" baseline="27777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LM Roman 8"/>
                <a:cs typeface="LM Roman 8"/>
              </a:rPr>
              <a:t>moment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i="1" spc="140" dirty="0">
                <a:latin typeface="Times New Roman"/>
                <a:cs typeface="Times New Roman"/>
              </a:rPr>
              <a:t>E</a:t>
            </a:r>
            <a:r>
              <a:rPr sz="800" spc="140" dirty="0">
                <a:latin typeface="LM Roman 8"/>
                <a:cs typeface="LM Roman 8"/>
              </a:rPr>
              <a:t>[</a:t>
            </a:r>
            <a:r>
              <a:rPr sz="800" i="1" spc="140" dirty="0">
                <a:latin typeface="Times New Roman"/>
                <a:cs typeface="Times New Roman"/>
              </a:rPr>
              <a:t>X</a:t>
            </a:r>
            <a:r>
              <a:rPr sz="900" i="1" spc="209" baseline="27777" dirty="0">
                <a:latin typeface="Times New Roman"/>
                <a:cs typeface="Times New Roman"/>
              </a:rPr>
              <a:t>k</a:t>
            </a:r>
            <a:r>
              <a:rPr sz="900" i="1" spc="-135" baseline="27777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]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characteristic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function  </a:t>
            </a:r>
            <a:r>
              <a:rPr sz="800" i="1" spc="15" dirty="0">
                <a:latin typeface="Times New Roman"/>
                <a:cs typeface="Times New Roman"/>
              </a:rPr>
              <a:t>ψ</a:t>
            </a:r>
            <a:r>
              <a:rPr sz="800" spc="15" dirty="0">
                <a:latin typeface="LM Roman 8"/>
                <a:cs typeface="LM Roman 8"/>
              </a:rPr>
              <a:t>(</a:t>
            </a:r>
            <a:r>
              <a:rPr sz="800" i="1" spc="15" dirty="0">
                <a:latin typeface="Times New Roman"/>
                <a:cs typeface="Times New Roman"/>
              </a:rPr>
              <a:t>ω</a:t>
            </a:r>
            <a:r>
              <a:rPr sz="800" spc="1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for the discrete and </a:t>
            </a:r>
            <a:r>
              <a:rPr sz="800" spc="-10" dirty="0">
                <a:latin typeface="LM Roman 8"/>
                <a:cs typeface="LM Roman 8"/>
              </a:rPr>
              <a:t>continuous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cases:</a:t>
            </a:r>
            <a:endParaRPr sz="800">
              <a:latin typeface="LM Roman 8"/>
              <a:cs typeface="LM Roman 8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5276075" y="1242974"/>
          <a:ext cx="4079875" cy="1036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2445"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Case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61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800" i="1" spc="10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800" spc="105" dirty="0">
                          <a:latin typeface="LM Roman 8"/>
                          <a:cs typeface="LM Roman 8"/>
                        </a:rPr>
                        <a:t>[</a:t>
                      </a:r>
                      <a:r>
                        <a:rPr sz="800" i="1" spc="10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105" dirty="0">
                          <a:latin typeface="LM Roman 8"/>
                          <a:cs typeface="LM Roman 8"/>
                        </a:rPr>
                        <a:t>]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61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[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)]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61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800" i="1" spc="14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800" spc="140" dirty="0">
                          <a:latin typeface="LM Roman 8"/>
                          <a:cs typeface="LM Roman 8"/>
                        </a:rPr>
                        <a:t>[</a:t>
                      </a:r>
                      <a:r>
                        <a:rPr sz="800" i="1" spc="14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209" baseline="27777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900" i="1" spc="-142" baseline="27777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]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61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ψ</a:t>
                      </a:r>
                      <a:r>
                        <a:rPr sz="800" spc="1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ω</a:t>
                      </a:r>
                      <a:r>
                        <a:rPr sz="800" spc="1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61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R="115570" algn="r">
                        <a:lnSpc>
                          <a:spcPct val="100000"/>
                        </a:lnSpc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(D)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944"/>
                        </a:lnSpc>
                      </a:pPr>
                      <a:r>
                        <a:rPr sz="1500" spc="22" baseline="-16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600" i="1" spc="15" dirty="0">
                          <a:latin typeface="Times New Roman"/>
                          <a:cs typeface="Times New Roman"/>
                        </a:rPr>
                        <a:t>n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409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i="1" spc="15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225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i="1" spc="15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97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944"/>
                        </a:lnSpc>
                      </a:pPr>
                      <a:r>
                        <a:rPr sz="1500" spc="22" baseline="-16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600" i="1" spc="15" dirty="0">
                          <a:latin typeface="Times New Roman"/>
                          <a:cs typeface="Times New Roman"/>
                        </a:rPr>
                        <a:t>n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409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i="1" spc="7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800" spc="7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7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112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spc="7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i="1" spc="7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97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944"/>
                        </a:lnSpc>
                      </a:pPr>
                      <a:r>
                        <a:rPr sz="1500" spc="22" baseline="-16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600" i="1" spc="15" dirty="0">
                          <a:latin typeface="Times New Roman"/>
                          <a:cs typeface="Times New Roman"/>
                        </a:rPr>
                        <a:t>n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60680">
                        <a:lnSpc>
                          <a:spcPts val="690"/>
                        </a:lnSpc>
                        <a:spcBef>
                          <a:spcPts val="195"/>
                        </a:spcBef>
                      </a:pPr>
                      <a:r>
                        <a:rPr sz="800" i="1" spc="16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240" baseline="32407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800" i="1" spc="16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97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421640">
                        <a:lnSpc>
                          <a:spcPts val="450"/>
                        </a:lnSpc>
                      </a:pPr>
                      <a:r>
                        <a:rPr sz="600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944"/>
                        </a:lnSpc>
                      </a:pPr>
                      <a:r>
                        <a:rPr sz="1500" spc="22" baseline="-16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600" i="1" spc="15" dirty="0">
                          <a:latin typeface="Times New Roman"/>
                          <a:cs typeface="Times New Roman"/>
                        </a:rPr>
                        <a:t>n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409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8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8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120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spc="80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i="1" spc="8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900" i="1" spc="120" baseline="32407" dirty="0">
                          <a:latin typeface="Times New Roman"/>
                          <a:cs typeface="Times New Roman"/>
                        </a:rPr>
                        <a:t>iωx</a:t>
                      </a:r>
                      <a:r>
                        <a:rPr sz="750" i="1" spc="120" baseline="22222" dirty="0">
                          <a:latin typeface="Arial"/>
                          <a:cs typeface="Arial"/>
                        </a:rPr>
                        <a:t>i</a:t>
                      </a:r>
                      <a:endParaRPr sz="750" baseline="22222">
                        <a:latin typeface="Arial"/>
                        <a:cs typeface="Arial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 marR="11747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(C)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875"/>
                        </a:lnSpc>
                        <a:tabLst>
                          <a:tab pos="490855" algn="l"/>
                        </a:tabLst>
                      </a:pPr>
                      <a:r>
                        <a:rPr sz="1200" spc="262" baseline="17361" dirty="0">
                          <a:latin typeface="Arial"/>
                          <a:cs typeface="Arial"/>
                        </a:rPr>
                        <a:t>ˆ</a:t>
                      </a:r>
                      <a:r>
                        <a:rPr sz="1200" spc="187" baseline="1736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spc="110" dirty="0">
                          <a:latin typeface="LM Roman 6"/>
                          <a:cs typeface="LM Roman 6"/>
                        </a:rPr>
                        <a:t>+</a:t>
                      </a:r>
                      <a:r>
                        <a:rPr sz="600" i="1" spc="110" dirty="0">
                          <a:latin typeface="DejaVu Sans"/>
                          <a:cs typeface="DejaVu Sans"/>
                        </a:rPr>
                        <a:t>∞	</a:t>
                      </a:r>
                      <a:r>
                        <a:rPr sz="1200" spc="-7" baseline="-59027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1200" spc="262" baseline="-59027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200" spc="-7" baseline="-59027" dirty="0">
                          <a:latin typeface="LM Roman 8"/>
                          <a:cs typeface="LM Roman 8"/>
                        </a:rPr>
                        <a:t>)</a:t>
                      </a:r>
                      <a:endParaRPr sz="1200" baseline="-59027">
                        <a:latin typeface="LM Roman 8"/>
                        <a:cs typeface="LM Roman 8"/>
                      </a:endParaRPr>
                    </a:p>
                    <a:p>
                      <a:pPr marL="367665">
                        <a:lnSpc>
                          <a:spcPts val="885"/>
                        </a:lnSpc>
                      </a:pPr>
                      <a:r>
                        <a:rPr sz="800" i="1" spc="150" dirty="0">
                          <a:latin typeface="Times New Roman"/>
                          <a:cs typeface="Times New Roman"/>
                        </a:rPr>
                        <a:t>xf </a:t>
                      </a: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70" dirty="0">
                          <a:latin typeface="Times New Roman"/>
                          <a:cs typeface="Times New Roman"/>
                        </a:rPr>
                        <a:t>dx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34620">
                        <a:lnSpc>
                          <a:spcPts val="710"/>
                        </a:lnSpc>
                      </a:pPr>
                      <a:r>
                        <a:rPr sz="600" i="1" spc="150" dirty="0">
                          <a:latin typeface="DejaVu Sans"/>
                          <a:cs typeface="DejaVu Sans"/>
                        </a:rPr>
                        <a:t>−∞</a:t>
                      </a:r>
                      <a:endParaRPr sz="600">
                        <a:latin typeface="DejaVu Sans"/>
                        <a:cs typeface="DejaVu San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480"/>
                        </a:lnSpc>
                        <a:spcBef>
                          <a:spcPts val="810"/>
                        </a:spcBef>
                      </a:pPr>
                      <a:r>
                        <a:rPr sz="1200" spc="262" baseline="76388" dirty="0">
                          <a:latin typeface="Arial"/>
                          <a:cs typeface="Arial"/>
                        </a:rPr>
                        <a:t>ˆ </a:t>
                      </a:r>
                      <a:r>
                        <a:rPr sz="900" spc="165" baseline="78703" dirty="0">
                          <a:latin typeface="LM Roman 6"/>
                          <a:cs typeface="LM Roman 6"/>
                        </a:rPr>
                        <a:t>+</a:t>
                      </a:r>
                      <a:r>
                        <a:rPr sz="900" i="1" spc="165" baseline="78703" dirty="0">
                          <a:latin typeface="DejaVu Sans"/>
                          <a:cs typeface="DejaVu Sans"/>
                        </a:rPr>
                        <a:t>∞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( ) (</a:t>
                      </a:r>
                      <a:r>
                        <a:rPr sz="800" spc="-2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367665">
                        <a:lnSpc>
                          <a:spcPts val="470"/>
                        </a:lnSpc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g </a:t>
                      </a: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70" dirty="0">
                          <a:latin typeface="Times New Roman"/>
                          <a:cs typeface="Times New Roman"/>
                        </a:rPr>
                        <a:t>dx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34620">
                        <a:lnSpc>
                          <a:spcPts val="710"/>
                        </a:lnSpc>
                      </a:pPr>
                      <a:r>
                        <a:rPr sz="600" i="1" spc="150" dirty="0">
                          <a:latin typeface="DejaVu Sans"/>
                          <a:cs typeface="DejaVu Sans"/>
                        </a:rPr>
                        <a:t>−∞</a:t>
                      </a:r>
                      <a:endParaRPr sz="600">
                        <a:latin typeface="DejaVu Sans"/>
                        <a:cs typeface="DejaVu Sans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875"/>
                        </a:lnSpc>
                        <a:tabLst>
                          <a:tab pos="548640" algn="l"/>
                        </a:tabLst>
                      </a:pPr>
                      <a:r>
                        <a:rPr sz="1200" spc="262" baseline="17361" dirty="0">
                          <a:latin typeface="Arial"/>
                          <a:cs typeface="Arial"/>
                        </a:rPr>
                        <a:t>ˆ</a:t>
                      </a:r>
                      <a:r>
                        <a:rPr sz="1200" spc="187" baseline="1736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spc="110" dirty="0">
                          <a:latin typeface="LM Roman 6"/>
                          <a:cs typeface="LM Roman 6"/>
                        </a:rPr>
                        <a:t>+</a:t>
                      </a:r>
                      <a:r>
                        <a:rPr sz="600" i="1" spc="110" dirty="0">
                          <a:latin typeface="DejaVu Sans"/>
                          <a:cs typeface="DejaVu Sans"/>
                        </a:rPr>
                        <a:t>∞	</a:t>
                      </a:r>
                      <a:r>
                        <a:rPr sz="1200" spc="-7" baseline="-59027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1200" spc="262" baseline="-59027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200" spc="-7" baseline="-59027" dirty="0">
                          <a:latin typeface="LM Roman 8"/>
                          <a:cs typeface="LM Roman 8"/>
                        </a:rPr>
                        <a:t>)</a:t>
                      </a:r>
                      <a:endParaRPr sz="1200" baseline="-59027">
                        <a:latin typeface="LM Roman 8"/>
                        <a:cs typeface="LM Roman 8"/>
                      </a:endParaRPr>
                    </a:p>
                    <a:p>
                      <a:pPr marL="367665">
                        <a:lnSpc>
                          <a:spcPts val="885"/>
                        </a:lnSpc>
                      </a:pPr>
                      <a:r>
                        <a:rPr sz="800" i="1" spc="16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240" baseline="32407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800" i="1" spc="160" dirty="0"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70" dirty="0">
                          <a:latin typeface="Times New Roman"/>
                          <a:cs typeface="Times New Roman"/>
                        </a:rPr>
                        <a:t>dx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34620">
                        <a:lnSpc>
                          <a:spcPts val="710"/>
                        </a:lnSpc>
                      </a:pPr>
                      <a:r>
                        <a:rPr sz="600" i="1" spc="150" dirty="0">
                          <a:latin typeface="DejaVu Sans"/>
                          <a:cs typeface="DejaVu Sans"/>
                        </a:rPr>
                        <a:t>−∞</a:t>
                      </a:r>
                      <a:endParaRPr sz="600">
                        <a:latin typeface="DejaVu Sans"/>
                        <a:cs typeface="DejaVu San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875"/>
                        </a:lnSpc>
                      </a:pPr>
                      <a:r>
                        <a:rPr sz="1200" spc="262" baseline="17361" dirty="0">
                          <a:latin typeface="Arial"/>
                          <a:cs typeface="Arial"/>
                        </a:rPr>
                        <a:t>ˆ </a:t>
                      </a:r>
                      <a:r>
                        <a:rPr sz="600" spc="110" dirty="0">
                          <a:latin typeface="LM Roman 6"/>
                          <a:cs typeface="LM Roman 6"/>
                        </a:rPr>
                        <a:t>+</a:t>
                      </a:r>
                      <a:r>
                        <a:rPr sz="600" i="1" spc="110" dirty="0">
                          <a:latin typeface="DejaVu Sans"/>
                          <a:cs typeface="DejaVu Sans"/>
                        </a:rPr>
                        <a:t>∞ </a:t>
                      </a:r>
                      <a:r>
                        <a:rPr sz="1200" spc="-7" baseline="-59027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1200" spc="300" baseline="-59027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200" spc="-7" baseline="-59027" dirty="0">
                          <a:latin typeface="LM Roman 8"/>
                          <a:cs typeface="LM Roman 8"/>
                        </a:rPr>
                        <a:t>)</a:t>
                      </a:r>
                      <a:endParaRPr sz="1200" baseline="-59027">
                        <a:latin typeface="LM Roman 8"/>
                        <a:cs typeface="LM Roman 8"/>
                      </a:endParaRPr>
                    </a:p>
                    <a:p>
                      <a:pPr marL="367665">
                        <a:lnSpc>
                          <a:spcPts val="885"/>
                        </a:lnSpc>
                      </a:pP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800" i="1" spc="8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900" i="1" spc="127" baseline="32407" dirty="0">
                          <a:latin typeface="Times New Roman"/>
                          <a:cs typeface="Times New Roman"/>
                        </a:rPr>
                        <a:t>iωx</a:t>
                      </a:r>
                      <a:r>
                        <a:rPr sz="800" i="1" spc="85" dirty="0">
                          <a:latin typeface="Times New Roman"/>
                          <a:cs typeface="Times New Roman"/>
                        </a:rPr>
                        <a:t>dx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34620">
                        <a:lnSpc>
                          <a:spcPts val="710"/>
                        </a:lnSpc>
                      </a:pPr>
                      <a:r>
                        <a:rPr sz="600" i="1" spc="150" dirty="0">
                          <a:latin typeface="DejaVu Sans"/>
                          <a:cs typeface="DejaVu Sans"/>
                        </a:rPr>
                        <a:t>−∞</a:t>
                      </a:r>
                      <a:endParaRPr sz="600">
                        <a:latin typeface="DejaVu Sans"/>
                        <a:cs typeface="DejaVu San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5036362" y="2423552"/>
            <a:ext cx="4556760" cy="367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 </a:t>
            </a:r>
            <a:r>
              <a:rPr sz="800" i="1" spc="85" dirty="0">
                <a:solidFill>
                  <a:srgbClr val="59439A"/>
                </a:solidFill>
                <a:latin typeface="Times New Roman"/>
                <a:cs typeface="Times New Roman"/>
              </a:rPr>
              <a:t>e</a:t>
            </a:r>
            <a:r>
              <a:rPr sz="900" i="1" spc="127" baseline="27777" dirty="0">
                <a:solidFill>
                  <a:srgbClr val="59439A"/>
                </a:solidFill>
                <a:latin typeface="Times New Roman"/>
                <a:cs typeface="Times New Roman"/>
              </a:rPr>
              <a:t>iωx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 </a:t>
            </a:r>
            <a:r>
              <a:rPr sz="800" spc="10" dirty="0">
                <a:solidFill>
                  <a:srgbClr val="59439A"/>
                </a:solidFill>
                <a:latin typeface="LM Roman 8"/>
                <a:cs typeface="LM Roman 8"/>
              </a:rPr>
              <a:t>cos(</a:t>
            </a:r>
            <a:r>
              <a:rPr sz="800" i="1" spc="10" dirty="0">
                <a:solidFill>
                  <a:srgbClr val="59439A"/>
                </a:solidFill>
                <a:latin typeface="Times New Roman"/>
                <a:cs typeface="Times New Roman"/>
              </a:rPr>
              <a:t>ωx</a:t>
            </a:r>
            <a:r>
              <a:rPr sz="800" spc="10" dirty="0">
                <a:solidFill>
                  <a:srgbClr val="59439A"/>
                </a:solidFill>
                <a:latin typeface="LM Roman 8"/>
                <a:cs typeface="LM Roman 8"/>
              </a:rPr>
              <a:t>)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+ </a:t>
            </a:r>
            <a:r>
              <a:rPr sz="800" i="1" spc="65" dirty="0">
                <a:solidFill>
                  <a:srgbClr val="59439A"/>
                </a:solidFill>
                <a:latin typeface="Times New Roman"/>
                <a:cs typeface="Times New Roman"/>
              </a:rPr>
              <a:t>i</a:t>
            </a:r>
            <a:r>
              <a:rPr sz="800" i="1" spc="-150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10" dirty="0">
                <a:solidFill>
                  <a:srgbClr val="59439A"/>
                </a:solidFill>
                <a:latin typeface="LM Roman 8"/>
                <a:cs typeface="LM Roman 8"/>
              </a:rPr>
              <a:t>sin(</a:t>
            </a:r>
            <a:r>
              <a:rPr sz="800" i="1" spc="10" dirty="0">
                <a:solidFill>
                  <a:srgbClr val="59439A"/>
                </a:solidFill>
                <a:latin typeface="Times New Roman"/>
                <a:cs typeface="Times New Roman"/>
              </a:rPr>
              <a:t>ωx</a:t>
            </a:r>
            <a:r>
              <a:rPr sz="800" spc="10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i="1" spc="10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141605" indent="-104139">
              <a:lnSpc>
                <a:spcPct val="100000"/>
              </a:lnSpc>
              <a:spcBef>
                <a:spcPts val="775"/>
              </a:spcBef>
              <a:buFont typeface="DejaVu Sans"/>
              <a:buChar char="❒"/>
              <a:tabLst>
                <a:tab pos="142240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Revisiting</a:t>
            </a:r>
            <a:r>
              <a:rPr sz="800" b="1" spc="-8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the</a:t>
            </a:r>
            <a:r>
              <a:rPr sz="800" b="1" spc="-7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i="1" spc="114" dirty="0">
                <a:solidFill>
                  <a:srgbClr val="9A0404"/>
                </a:solidFill>
                <a:latin typeface="Times New Roman"/>
                <a:cs typeface="Times New Roman"/>
              </a:rPr>
              <a:t>k</a:t>
            </a:r>
            <a:r>
              <a:rPr sz="900" i="1" spc="172" baseline="27777" dirty="0">
                <a:solidFill>
                  <a:srgbClr val="9A0404"/>
                </a:solidFill>
                <a:latin typeface="Times New Roman"/>
                <a:cs typeface="Times New Roman"/>
              </a:rPr>
              <a:t>th</a:t>
            </a:r>
            <a:r>
              <a:rPr sz="900" i="1" spc="225" baseline="27777" dirty="0">
                <a:solidFill>
                  <a:srgbClr val="9A0404"/>
                </a:solidFill>
                <a:latin typeface="Times New Roman"/>
                <a:cs typeface="Times New Roman"/>
              </a:rPr>
              <a:t> </a:t>
            </a:r>
            <a:r>
              <a:rPr sz="800" b="1" spc="-15" dirty="0">
                <a:solidFill>
                  <a:srgbClr val="9A0404"/>
                </a:solidFill>
                <a:latin typeface="LM Roman 8"/>
                <a:cs typeface="LM Roman 8"/>
              </a:rPr>
              <a:t>moment</a:t>
            </a:r>
            <a:r>
              <a:rPr sz="800" b="1" spc="-10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7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i="1" spc="114" dirty="0">
                <a:latin typeface="Times New Roman"/>
                <a:cs typeface="Times New Roman"/>
              </a:rPr>
              <a:t>k</a:t>
            </a:r>
            <a:r>
              <a:rPr sz="900" i="1" spc="172" baseline="27777" dirty="0">
                <a:latin typeface="Times New Roman"/>
                <a:cs typeface="Times New Roman"/>
              </a:rPr>
              <a:t>th</a:t>
            </a:r>
            <a:r>
              <a:rPr sz="900" i="1" spc="179" baseline="27777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LM Roman 8"/>
                <a:cs typeface="LM Roman 8"/>
              </a:rPr>
              <a:t>moment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can</a:t>
            </a:r>
            <a:r>
              <a:rPr sz="800" spc="-7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also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5" dirty="0">
                <a:latin typeface="LM Roman 8"/>
                <a:cs typeface="LM Roman 8"/>
              </a:rPr>
              <a:t>be</a:t>
            </a:r>
            <a:r>
              <a:rPr sz="800" spc="-7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computed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with</a:t>
            </a:r>
            <a:r>
              <a:rPr sz="800" spc="-7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characteristic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61762" y="2745649"/>
            <a:ext cx="9258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as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711530" y="3025265"/>
            <a:ext cx="4889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140" dirty="0">
                <a:latin typeface="Times New Roman"/>
                <a:cs typeface="Times New Roman"/>
              </a:rPr>
              <a:t>E</a:t>
            </a:r>
            <a:r>
              <a:rPr sz="800" spc="140" dirty="0">
                <a:latin typeface="LM Roman 8"/>
                <a:cs typeface="LM Roman 8"/>
              </a:rPr>
              <a:t>[</a:t>
            </a:r>
            <a:r>
              <a:rPr sz="800" i="1" spc="140" dirty="0">
                <a:latin typeface="Times New Roman"/>
                <a:cs typeface="Times New Roman"/>
              </a:rPr>
              <a:t>X</a:t>
            </a:r>
            <a:r>
              <a:rPr sz="900" i="1" spc="209" baseline="32407" dirty="0">
                <a:latin typeface="Times New Roman"/>
                <a:cs typeface="Times New Roman"/>
              </a:rPr>
              <a:t>k</a:t>
            </a:r>
            <a:r>
              <a:rPr sz="900" i="1" spc="-150" baseline="32407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]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169150" y="3072268"/>
            <a:ext cx="16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142" baseline="-17361" dirty="0">
                <a:latin typeface="Times New Roman"/>
                <a:cs typeface="Times New Roman"/>
              </a:rPr>
              <a:t>i</a:t>
            </a:r>
            <a:r>
              <a:rPr sz="600" i="1" spc="95" dirty="0">
                <a:latin typeface="Times New Roman"/>
                <a:cs typeface="Times New Roman"/>
              </a:rPr>
              <a:t>k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66939" y="2944372"/>
            <a:ext cx="762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25" dirty="0">
                <a:latin typeface="Times New Roman"/>
                <a:cs typeface="Times New Roman"/>
              </a:rPr>
              <a:t>k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94550" y="2954780"/>
            <a:ext cx="4267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2250" algn="l"/>
              </a:tabLst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</a:t>
            </a:r>
            <a:r>
              <a:rPr sz="800" spc="-5" dirty="0">
                <a:latin typeface="LM Roman 8"/>
                <a:cs typeface="LM Roman 8"/>
              </a:rPr>
              <a:t>	</a:t>
            </a:r>
            <a:r>
              <a:rPr sz="800" i="1" spc="50" dirty="0">
                <a:latin typeface="Times New Roman"/>
                <a:cs typeface="Times New Roman"/>
              </a:rPr>
              <a:t>∂</a:t>
            </a:r>
            <a:r>
              <a:rPr sz="800" i="1" spc="220" dirty="0">
                <a:latin typeface="Times New Roman"/>
                <a:cs typeface="Times New Roman"/>
              </a:rPr>
              <a:t> </a:t>
            </a:r>
            <a:r>
              <a:rPr sz="800" i="1" spc="55" dirty="0">
                <a:latin typeface="Times New Roman"/>
                <a:cs typeface="Times New Roman"/>
              </a:rPr>
              <a:t>ψ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417003" y="3113887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0" y="0"/>
                </a:moveTo>
                <a:lnTo>
                  <a:pt x="19462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380617" y="3101097"/>
            <a:ext cx="2597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70" dirty="0">
                <a:latin typeface="Times New Roman"/>
                <a:cs typeface="Times New Roman"/>
              </a:rPr>
              <a:t>∂ω</a:t>
            </a:r>
            <a:r>
              <a:rPr sz="900" i="1" spc="104" baseline="23148" dirty="0">
                <a:latin typeface="Times New Roman"/>
                <a:cs typeface="Times New Roman"/>
              </a:rPr>
              <a:t>k</a:t>
            </a:r>
            <a:endParaRPr sz="900" baseline="23148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322349" y="2827888"/>
            <a:ext cx="3841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165" algn="l"/>
              </a:tabLst>
            </a:pPr>
            <a:r>
              <a:rPr sz="1000" spc="-95" dirty="0">
                <a:latin typeface="Arial"/>
                <a:cs typeface="Arial"/>
              </a:rPr>
              <a:t>Σ	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680896" y="3183425"/>
            <a:ext cx="2051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60" dirty="0">
                <a:latin typeface="Times New Roman"/>
                <a:cs typeface="Times New Roman"/>
              </a:rPr>
              <a:t>ω</a:t>
            </a:r>
            <a:r>
              <a:rPr sz="600" spc="-5" dirty="0">
                <a:latin typeface="LM Roman 6"/>
                <a:cs typeface="LM Roman 6"/>
              </a:rPr>
              <a:t>=0</a:t>
            </a:r>
            <a:endParaRPr sz="600">
              <a:latin typeface="LM Roman 6"/>
              <a:cs typeface="LM Roman 6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706603" y="2919031"/>
            <a:ext cx="1216025" cy="396240"/>
            <a:chOff x="6706603" y="2919031"/>
            <a:chExt cx="1216025" cy="396240"/>
          </a:xfrm>
        </p:grpSpPr>
        <p:sp>
          <p:nvSpPr>
            <p:cNvPr id="51" name="object 51"/>
            <p:cNvSpPr/>
            <p:nvPr/>
          </p:nvSpPr>
          <p:spPr>
            <a:xfrm>
              <a:off x="6706603" y="2921558"/>
              <a:ext cx="1216025" cy="0"/>
            </a:xfrm>
            <a:custGeom>
              <a:avLst/>
              <a:gdLst/>
              <a:ahLst/>
              <a:cxnLst/>
              <a:rect l="l" t="t" r="r" b="b"/>
              <a:pathLst>
                <a:path w="1216025">
                  <a:moveTo>
                    <a:pt x="0" y="0"/>
                  </a:moveTo>
                  <a:lnTo>
                    <a:pt x="121565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709143" y="2921558"/>
              <a:ext cx="0" cy="391160"/>
            </a:xfrm>
            <a:custGeom>
              <a:avLst/>
              <a:gdLst/>
              <a:ahLst/>
              <a:cxnLst/>
              <a:rect l="l" t="t" r="r" b="b"/>
              <a:pathLst>
                <a:path h="391160">
                  <a:moveTo>
                    <a:pt x="0" y="3909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919732" y="2921558"/>
              <a:ext cx="0" cy="391160"/>
            </a:xfrm>
            <a:custGeom>
              <a:avLst/>
              <a:gdLst/>
              <a:ahLst/>
              <a:cxnLst/>
              <a:rect l="l" t="t" r="r" b="b"/>
              <a:pathLst>
                <a:path h="391160">
                  <a:moveTo>
                    <a:pt x="0" y="39096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706603" y="3312528"/>
              <a:ext cx="1216025" cy="0"/>
            </a:xfrm>
            <a:custGeom>
              <a:avLst/>
              <a:gdLst/>
              <a:ahLst/>
              <a:cxnLst/>
              <a:rect l="l" t="t" r="r" b="b"/>
              <a:pathLst>
                <a:path w="1216025">
                  <a:moveTo>
                    <a:pt x="0" y="0"/>
                  </a:moveTo>
                  <a:lnTo>
                    <a:pt x="121565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036362" y="3446156"/>
            <a:ext cx="4556125" cy="24955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8100" marR="30480">
              <a:lnSpc>
                <a:spcPts val="810"/>
              </a:lnSpc>
              <a:spcBef>
                <a:spcPts val="250"/>
              </a:spcBef>
              <a:buFont typeface="DejaVu Sans"/>
              <a:buChar char="❒"/>
              <a:tabLst>
                <a:tab pos="161925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Transformation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of random </a:t>
            </a:r>
            <a:r>
              <a:rPr sz="800" b="1" spc="-15" dirty="0">
                <a:solidFill>
                  <a:srgbClr val="9A0404"/>
                </a:solidFill>
                <a:latin typeface="LM Roman 8"/>
                <a:cs typeface="LM Roman 8"/>
              </a:rPr>
              <a:t>variables </a:t>
            </a:r>
            <a:r>
              <a:rPr sz="800" spc="-5" dirty="0">
                <a:latin typeface="LM Roman 8"/>
                <a:cs typeface="LM Roman 8"/>
              </a:rPr>
              <a:t>– Let the </a:t>
            </a:r>
            <a:r>
              <a:rPr sz="800" spc="-10" dirty="0">
                <a:latin typeface="LM Roman 8"/>
                <a:cs typeface="LM Roman 8"/>
              </a:rPr>
              <a:t>variables </a:t>
            </a:r>
            <a:r>
              <a:rPr sz="800" i="1" spc="204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45" dirty="0">
                <a:latin typeface="Times New Roman"/>
                <a:cs typeface="Times New Roman"/>
              </a:rPr>
              <a:t>Y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10" dirty="0">
                <a:latin typeface="LM Roman 8"/>
                <a:cs typeface="LM Roman 8"/>
              </a:rPr>
              <a:t>linked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some  </a:t>
            </a:r>
            <a:r>
              <a:rPr sz="800" spc="-10" dirty="0">
                <a:latin typeface="LM Roman 8"/>
                <a:cs typeface="LM Roman 8"/>
              </a:rPr>
              <a:t>function. </a:t>
            </a:r>
            <a:r>
              <a:rPr sz="800" spc="-5" dirty="0">
                <a:latin typeface="LM Roman 8"/>
                <a:cs typeface="LM Roman 8"/>
              </a:rPr>
              <a:t>By noting </a:t>
            </a:r>
            <a:r>
              <a:rPr sz="800" i="1" spc="204" dirty="0">
                <a:latin typeface="Times New Roman"/>
                <a:cs typeface="Times New Roman"/>
              </a:rPr>
              <a:t>f</a:t>
            </a:r>
            <a:r>
              <a:rPr sz="900" i="1" spc="307" baseline="-13888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40" dirty="0">
                <a:latin typeface="Times New Roman"/>
                <a:cs typeface="Times New Roman"/>
              </a:rPr>
              <a:t>f</a:t>
            </a:r>
            <a:r>
              <a:rPr sz="900" i="1" spc="209" baseline="-13888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the distribution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of </a:t>
            </a:r>
            <a:r>
              <a:rPr sz="800" i="1" spc="204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45" dirty="0">
                <a:latin typeface="Times New Roman"/>
                <a:cs typeface="Times New Roman"/>
              </a:rPr>
              <a:t>Y </a:t>
            </a:r>
            <a:r>
              <a:rPr sz="800" spc="-10" dirty="0">
                <a:latin typeface="LM Roman 8"/>
                <a:cs typeface="LM Roman 8"/>
              </a:rPr>
              <a:t>respectively,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6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878777" y="3834350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27113" y="3792041"/>
            <a:ext cx="7264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80" dirty="0">
                <a:latin typeface="Times New Roman"/>
                <a:cs typeface="Times New Roman"/>
              </a:rPr>
              <a:t>f 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y</a:t>
            </a:r>
            <a:r>
              <a:rPr sz="800" spc="2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180" dirty="0">
                <a:latin typeface="Times New Roman"/>
                <a:cs typeface="Times New Roman"/>
              </a:rPr>
              <a:t>f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604988" y="3867860"/>
            <a:ext cx="1339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0" dirty="0">
                <a:latin typeface="Times New Roman"/>
                <a:cs typeface="Times New Roman"/>
              </a:rPr>
              <a:t>dy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545755" y="3703477"/>
            <a:ext cx="2565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50" dirty="0">
                <a:latin typeface="Arial"/>
                <a:cs typeface="Arial"/>
              </a:rPr>
              <a:t>.</a:t>
            </a:r>
            <a:r>
              <a:rPr sz="1000" spc="-195" dirty="0">
                <a:latin typeface="Arial"/>
                <a:cs typeface="Arial"/>
              </a:rPr>
              <a:t> </a:t>
            </a:r>
            <a:r>
              <a:rPr sz="1200" i="1" u="sng" spc="112" baseline="347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dx</a:t>
            </a:r>
            <a:r>
              <a:rPr sz="1200" i="1" spc="-165" baseline="3472" dirty="0">
                <a:latin typeface="Times New Roman"/>
                <a:cs typeface="Times New Roman"/>
              </a:rPr>
              <a:t> </a:t>
            </a:r>
            <a:r>
              <a:rPr sz="1000" spc="5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295426" y="3783741"/>
            <a:ext cx="5067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2890" algn="l"/>
                <a:tab pos="450850" algn="l"/>
              </a:tabLst>
            </a:pPr>
            <a:r>
              <a:rPr sz="600" i="1" spc="229" dirty="0">
                <a:latin typeface="Times New Roman"/>
                <a:cs typeface="Times New Roman"/>
              </a:rPr>
              <a:t>X	</a:t>
            </a:r>
            <a:r>
              <a:rPr sz="1500" spc="75" baseline="2777" dirty="0">
                <a:latin typeface="Arial"/>
                <a:cs typeface="Arial"/>
              </a:rPr>
              <a:t>.	.</a:t>
            </a:r>
            <a:endParaRPr sz="1500" baseline="2777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796799" y="3722166"/>
            <a:ext cx="1035685" cy="322580"/>
            <a:chOff x="6796799" y="3722166"/>
            <a:chExt cx="1035685" cy="322580"/>
          </a:xfrm>
        </p:grpSpPr>
        <p:sp>
          <p:nvSpPr>
            <p:cNvPr id="62" name="object 62"/>
            <p:cNvSpPr/>
            <p:nvPr/>
          </p:nvSpPr>
          <p:spPr>
            <a:xfrm>
              <a:off x="6796799" y="3724694"/>
              <a:ext cx="1035685" cy="0"/>
            </a:xfrm>
            <a:custGeom>
              <a:avLst/>
              <a:gdLst/>
              <a:ahLst/>
              <a:cxnLst/>
              <a:rect l="l" t="t" r="r" b="b"/>
              <a:pathLst>
                <a:path w="1035684">
                  <a:moveTo>
                    <a:pt x="0" y="0"/>
                  </a:moveTo>
                  <a:lnTo>
                    <a:pt x="103527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799326" y="3724694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31725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829537" y="3724694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h="317500">
                  <a:moveTo>
                    <a:pt x="0" y="31725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796799" y="4041952"/>
              <a:ext cx="1035685" cy="0"/>
            </a:xfrm>
            <a:custGeom>
              <a:avLst/>
              <a:gdLst/>
              <a:ahLst/>
              <a:cxnLst/>
              <a:rect l="l" t="t" r="r" b="b"/>
              <a:pathLst>
                <a:path w="1035684">
                  <a:moveTo>
                    <a:pt x="0" y="0"/>
                  </a:moveTo>
                  <a:lnTo>
                    <a:pt x="103527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5061762" y="4175581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825" indent="-11176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446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Leibniz integral </a:t>
            </a: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rule </a:t>
            </a:r>
            <a:r>
              <a:rPr sz="800" spc="-5" dirty="0">
                <a:latin typeface="LM Roman 8"/>
                <a:cs typeface="LM Roman 8"/>
              </a:rPr>
              <a:t>– Let </a:t>
            </a:r>
            <a:r>
              <a:rPr sz="800" i="1" dirty="0">
                <a:latin typeface="Times New Roman"/>
                <a:cs typeface="Times New Roman"/>
              </a:rPr>
              <a:t>g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of </a:t>
            </a: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and potentially </a:t>
            </a:r>
            <a:r>
              <a:rPr sz="800" i="1" spc="5" dirty="0">
                <a:latin typeface="Times New Roman"/>
                <a:cs typeface="Times New Roman"/>
              </a:rPr>
              <a:t>c</a:t>
            </a:r>
            <a:r>
              <a:rPr sz="800" spc="5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40" dirty="0">
                <a:latin typeface="Times New Roman"/>
                <a:cs typeface="Times New Roman"/>
              </a:rPr>
              <a:t>a, </a:t>
            </a:r>
            <a:r>
              <a:rPr sz="800" i="1" spc="-40" dirty="0">
                <a:latin typeface="Times New Roman"/>
                <a:cs typeface="Times New Roman"/>
              </a:rPr>
              <a:t>b </a:t>
            </a:r>
            <a:r>
              <a:rPr sz="800" dirty="0">
                <a:latin typeface="LM Roman 8"/>
                <a:cs typeface="LM Roman 8"/>
              </a:rPr>
              <a:t>boundaries</a:t>
            </a:r>
            <a:r>
              <a:rPr sz="800" spc="-1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061762" y="4277638"/>
            <a:ext cx="13328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5" dirty="0">
                <a:latin typeface="LM Roman 8"/>
                <a:cs typeface="LM Roman 8"/>
              </a:rPr>
              <a:t>may </a:t>
            </a:r>
            <a:r>
              <a:rPr sz="800" dirty="0">
                <a:latin typeface="LM Roman 8"/>
                <a:cs typeface="LM Roman 8"/>
              </a:rPr>
              <a:t>depend </a:t>
            </a:r>
            <a:r>
              <a:rPr sz="800" spc="-5" dirty="0">
                <a:latin typeface="LM Roman 8"/>
                <a:cs typeface="LM Roman 8"/>
              </a:rPr>
              <a:t>on </a:t>
            </a:r>
            <a:r>
              <a:rPr sz="800" i="1" spc="5" dirty="0">
                <a:latin typeface="Times New Roman"/>
                <a:cs typeface="Times New Roman"/>
              </a:rPr>
              <a:t>c</a:t>
            </a:r>
            <a:r>
              <a:rPr sz="800" spc="5" dirty="0">
                <a:latin typeface="LM Roman 8"/>
                <a:cs typeface="LM Roman 8"/>
              </a:rPr>
              <a:t>. </a:t>
            </a:r>
            <a:r>
              <a:rPr sz="800" spc="-40" dirty="0">
                <a:latin typeface="LM Roman 8"/>
                <a:cs typeface="LM Roman 8"/>
              </a:rPr>
              <a:t>We</a:t>
            </a:r>
            <a:r>
              <a:rPr sz="800" spc="3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959081" y="4461941"/>
            <a:ext cx="134620" cy="3181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290"/>
              </a:spcBef>
            </a:pPr>
            <a:r>
              <a:rPr sz="800" i="1" u="sng" spc="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∂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i="1" spc="95" dirty="0">
                <a:latin typeface="Times New Roman"/>
                <a:cs typeface="Times New Roman"/>
              </a:rPr>
              <a:t>∂</a:t>
            </a:r>
            <a:r>
              <a:rPr sz="800" i="1" spc="10" dirty="0">
                <a:latin typeface="Times New Roman"/>
                <a:cs typeface="Times New Roman"/>
              </a:rPr>
              <a:t>c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194539" y="441948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75" dirty="0">
                <a:latin typeface="Arial"/>
                <a:cs typeface="Arial"/>
              </a:rPr>
              <a:t>ˆ</a:t>
            </a:r>
            <a:endParaRPr sz="8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295758" y="447606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25" dirty="0">
                <a:latin typeface="Times New Roman"/>
                <a:cs typeface="Times New Roman"/>
              </a:rPr>
              <a:t>b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250775" y="4676056"/>
            <a:ext cx="768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101410" y="4359877"/>
            <a:ext cx="6940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7375" algn="l"/>
              </a:tabLst>
            </a:pPr>
            <a:r>
              <a:rPr sz="1000" spc="455" dirty="0">
                <a:latin typeface="Arial"/>
                <a:cs typeface="Arial"/>
              </a:rPr>
              <a:t>.	</a:t>
            </a:r>
            <a:r>
              <a:rPr sz="1000" spc="114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140877" y="4676056"/>
            <a:ext cx="768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903072" y="4486781"/>
            <a:ext cx="15411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12140" algn="l"/>
                <a:tab pos="1193800" algn="l"/>
              </a:tabLst>
            </a:pPr>
            <a:r>
              <a:rPr sz="800" i="1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∂b</a:t>
            </a:r>
            <a:r>
              <a:rPr sz="800" i="1" spc="25" dirty="0">
                <a:latin typeface="Times New Roman"/>
                <a:cs typeface="Times New Roman"/>
              </a:rPr>
              <a:t>	</a:t>
            </a:r>
            <a:r>
              <a:rPr sz="800" i="1" u="sng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∂a</a:t>
            </a:r>
            <a:r>
              <a:rPr sz="800" i="1" spc="70" dirty="0">
                <a:latin typeface="Times New Roman"/>
                <a:cs typeface="Times New Roman"/>
              </a:rPr>
              <a:t>	</a:t>
            </a:r>
            <a:r>
              <a:rPr sz="1200" spc="262" baseline="38194" dirty="0">
                <a:latin typeface="Arial"/>
                <a:cs typeface="Arial"/>
              </a:rPr>
              <a:t>ˆ </a:t>
            </a:r>
            <a:r>
              <a:rPr sz="900" i="1" spc="37" baseline="27777" dirty="0">
                <a:latin typeface="Times New Roman"/>
                <a:cs typeface="Times New Roman"/>
              </a:rPr>
              <a:t>b</a:t>
            </a:r>
            <a:r>
              <a:rPr sz="900" i="1" spc="82" baseline="27777" dirty="0">
                <a:latin typeface="Times New Roman"/>
                <a:cs typeface="Times New Roman"/>
              </a:rPr>
              <a:t> </a:t>
            </a:r>
            <a:r>
              <a:rPr sz="800" i="1" u="sng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∂g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361595" y="4557266"/>
            <a:ext cx="232346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  <a:tabLst>
                <a:tab pos="721360" algn="l"/>
                <a:tab pos="1306830" algn="l"/>
                <a:tab pos="2050414" algn="l"/>
              </a:tabLst>
            </a:pPr>
            <a:r>
              <a:rPr sz="800" i="1" spc="25" dirty="0">
                <a:latin typeface="Times New Roman"/>
                <a:cs typeface="Times New Roman"/>
              </a:rPr>
              <a:t>g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i="1" spc="75" dirty="0">
                <a:latin typeface="Times New Roman"/>
                <a:cs typeface="Times New Roman"/>
              </a:rPr>
              <a:t>d</a:t>
            </a:r>
            <a:r>
              <a:rPr sz="800" i="1" spc="70" dirty="0">
                <a:latin typeface="Times New Roman"/>
                <a:cs typeface="Times New Roman"/>
              </a:rPr>
              <a:t>x</a:t>
            </a:r>
            <a:r>
              <a:rPr sz="800" i="1" dirty="0">
                <a:latin typeface="Times New Roman"/>
                <a:cs typeface="Times New Roman"/>
              </a:rPr>
              <a:t>    </a:t>
            </a:r>
            <a:r>
              <a:rPr sz="800" i="1" spc="-3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dirty="0">
                <a:latin typeface="LM Roman 8"/>
                <a:cs typeface="LM Roman 8"/>
              </a:rPr>
              <a:t>	</a:t>
            </a:r>
            <a:r>
              <a:rPr sz="800" spc="-5" dirty="0">
                <a:latin typeface="LM Roman 8"/>
                <a:cs typeface="LM Roman 8"/>
              </a:rPr>
              <a:t>·</a:t>
            </a:r>
            <a:r>
              <a:rPr sz="800" spc="-145" dirty="0">
                <a:latin typeface="LM Roman 8"/>
                <a:cs typeface="LM Roman 8"/>
              </a:rPr>
              <a:t> </a:t>
            </a:r>
            <a:r>
              <a:rPr sz="800" i="1" spc="25" dirty="0">
                <a:latin typeface="Times New Roman"/>
                <a:cs typeface="Times New Roman"/>
              </a:rPr>
              <a:t>g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-45" dirty="0">
                <a:latin typeface="Times New Roman"/>
                <a:cs typeface="Times New Roman"/>
              </a:rPr>
              <a:t>b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dirty="0">
                <a:latin typeface="DejaVu Sans"/>
                <a:cs typeface="DejaVu Sans"/>
              </a:rPr>
              <a:t>	</a:t>
            </a:r>
            <a:r>
              <a:rPr sz="800" spc="-5" dirty="0">
                <a:latin typeface="LM Roman 8"/>
                <a:cs typeface="LM Roman 8"/>
              </a:rPr>
              <a:t>·</a:t>
            </a:r>
            <a:r>
              <a:rPr sz="800" spc="-145" dirty="0">
                <a:latin typeface="LM Roman 8"/>
                <a:cs typeface="LM Roman 8"/>
              </a:rPr>
              <a:t> </a:t>
            </a:r>
            <a:r>
              <a:rPr sz="800" i="1" spc="25" dirty="0">
                <a:latin typeface="Times New Roman"/>
                <a:cs typeface="Times New Roman"/>
              </a:rPr>
              <a:t>g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dirty="0">
                <a:latin typeface="LM Roman 8"/>
                <a:cs typeface="LM Roman 8"/>
              </a:rPr>
              <a:t>	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i="1" spc="70" dirty="0">
                <a:latin typeface="Times New Roman"/>
                <a:cs typeface="Times New Roman"/>
              </a:rPr>
              <a:t>dx</a:t>
            </a:r>
            <a:endParaRPr sz="800">
              <a:latin typeface="Times New Roman"/>
              <a:cs typeface="Times New Roman"/>
            </a:endParaRPr>
          </a:p>
          <a:p>
            <a:pPr marL="579120">
              <a:lnSpc>
                <a:spcPts val="780"/>
              </a:lnSpc>
              <a:tabLst>
                <a:tab pos="1158875" algn="l"/>
                <a:tab pos="1921510" algn="l"/>
              </a:tabLst>
            </a:pPr>
            <a:r>
              <a:rPr sz="800" i="1" spc="50" dirty="0">
                <a:latin typeface="Times New Roman"/>
                <a:cs typeface="Times New Roman"/>
              </a:rPr>
              <a:t>∂c	∂c	∂c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5913589" y="4451032"/>
            <a:ext cx="2802255" cy="389890"/>
            <a:chOff x="5913589" y="4451032"/>
            <a:chExt cx="2802255" cy="389890"/>
          </a:xfrm>
        </p:grpSpPr>
        <p:sp>
          <p:nvSpPr>
            <p:cNvPr id="77" name="object 77"/>
            <p:cNvSpPr/>
            <p:nvPr/>
          </p:nvSpPr>
          <p:spPr>
            <a:xfrm>
              <a:off x="5913589" y="4453559"/>
              <a:ext cx="2802255" cy="0"/>
            </a:xfrm>
            <a:custGeom>
              <a:avLst/>
              <a:gdLst/>
              <a:ahLst/>
              <a:cxnLst/>
              <a:rect l="l" t="t" r="r" b="b"/>
              <a:pathLst>
                <a:path w="2802254">
                  <a:moveTo>
                    <a:pt x="0" y="0"/>
                  </a:moveTo>
                  <a:lnTo>
                    <a:pt x="280169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916117" y="4453559"/>
              <a:ext cx="0" cy="384810"/>
            </a:xfrm>
            <a:custGeom>
              <a:avLst/>
              <a:gdLst/>
              <a:ahLst/>
              <a:cxnLst/>
              <a:rect l="l" t="t" r="r" b="b"/>
              <a:pathLst>
                <a:path h="384810">
                  <a:moveTo>
                    <a:pt x="0" y="38464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712746" y="4453559"/>
              <a:ext cx="0" cy="384810"/>
            </a:xfrm>
            <a:custGeom>
              <a:avLst/>
              <a:gdLst/>
              <a:ahLst/>
              <a:cxnLst/>
              <a:rect l="l" t="t" r="r" b="b"/>
              <a:pathLst>
                <a:path h="384810">
                  <a:moveTo>
                    <a:pt x="0" y="38464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913589" y="4838204"/>
              <a:ext cx="2802255" cy="0"/>
            </a:xfrm>
            <a:custGeom>
              <a:avLst/>
              <a:gdLst/>
              <a:ahLst/>
              <a:cxnLst/>
              <a:rect l="l" t="t" r="r" b="b"/>
              <a:pathLst>
                <a:path w="2802254">
                  <a:moveTo>
                    <a:pt x="0" y="0"/>
                  </a:moveTo>
                  <a:lnTo>
                    <a:pt x="280169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5061762" y="4971820"/>
            <a:ext cx="4505325" cy="24955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810"/>
              </a:lnSpc>
              <a:spcBef>
                <a:spcPts val="250"/>
              </a:spcBef>
              <a:buFont typeface="DejaVu Sans"/>
              <a:buChar char="❒"/>
              <a:tabLst>
                <a:tab pos="121920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Chebyshev’s</a:t>
            </a:r>
            <a:r>
              <a:rPr sz="800" b="1" spc="-3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inequality</a:t>
            </a:r>
            <a:r>
              <a:rPr sz="800" b="1" spc="-7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Let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i="1" spc="204" dirty="0">
                <a:latin typeface="Times New Roman"/>
                <a:cs typeface="Times New Roman"/>
              </a:rPr>
              <a:t>X</a:t>
            </a:r>
            <a:r>
              <a:rPr sz="800" i="1" spc="120" dirty="0">
                <a:latin typeface="Times New Roman"/>
                <a:cs typeface="Times New Roman"/>
              </a:rPr>
              <a:t> </a:t>
            </a:r>
            <a:r>
              <a:rPr sz="800" spc="5" dirty="0">
                <a:latin typeface="LM Roman 8"/>
                <a:cs typeface="LM Roman 8"/>
              </a:rPr>
              <a:t>be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random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variable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with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expected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value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µ</a:t>
            </a:r>
            <a:r>
              <a:rPr sz="800" i="1" spc="5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standard  deviation </a:t>
            </a:r>
            <a:r>
              <a:rPr sz="800" i="1" spc="55" dirty="0">
                <a:latin typeface="Times New Roman"/>
                <a:cs typeface="Times New Roman"/>
              </a:rPr>
              <a:t>σ</a:t>
            </a:r>
            <a:r>
              <a:rPr sz="800" spc="55" dirty="0">
                <a:latin typeface="LM Roman 8"/>
                <a:cs typeface="LM Roman 8"/>
              </a:rPr>
              <a:t>. </a:t>
            </a:r>
            <a:r>
              <a:rPr sz="800" spc="-30" dirty="0">
                <a:latin typeface="LM Roman 8"/>
                <a:cs typeface="LM Roman 8"/>
              </a:rPr>
              <a:t>For </a:t>
            </a:r>
            <a:r>
              <a:rPr sz="800" i="1" spc="70" dirty="0">
                <a:latin typeface="Times New Roman"/>
                <a:cs typeface="Times New Roman"/>
              </a:rPr>
              <a:t>k, </a:t>
            </a:r>
            <a:r>
              <a:rPr sz="800" i="1" spc="85" dirty="0">
                <a:latin typeface="Times New Roman"/>
                <a:cs typeface="Times New Roman"/>
              </a:rPr>
              <a:t>σ </a:t>
            </a:r>
            <a:r>
              <a:rPr sz="800" i="1" spc="114" dirty="0">
                <a:latin typeface="Times New Roman"/>
                <a:cs typeface="Times New Roman"/>
              </a:rPr>
              <a:t>&gt; </a:t>
            </a:r>
            <a:r>
              <a:rPr sz="800" spc="-5" dirty="0">
                <a:latin typeface="LM Roman 8"/>
                <a:cs typeface="LM Roman 8"/>
              </a:rPr>
              <a:t>0, </a:t>
            </a:r>
            <a:r>
              <a:rPr sz="800" spc="-15" dirty="0">
                <a:latin typeface="LM Roman 8"/>
                <a:cs typeface="LM Roman 8"/>
              </a:rPr>
              <a:t>we have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following</a:t>
            </a:r>
            <a:r>
              <a:rPr sz="800" spc="-1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inequality: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47431" y="5242164"/>
            <a:ext cx="66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718602" y="5401259"/>
            <a:ext cx="111760" cy="0"/>
          </a:xfrm>
          <a:custGeom>
            <a:avLst/>
            <a:gdLst/>
            <a:ahLst/>
            <a:cxnLst/>
            <a:rect l="l" t="t" r="r" b="b"/>
            <a:pathLst>
              <a:path w="111759">
                <a:moveTo>
                  <a:pt x="0" y="0"/>
                </a:moveTo>
                <a:lnTo>
                  <a:pt x="11141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6758266" y="5312650"/>
            <a:ext cx="1103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P</a:t>
            </a:r>
            <a:r>
              <a:rPr sz="800" i="1" spc="-90" dirty="0">
                <a:latin typeface="Times New Roman"/>
                <a:cs typeface="Times New Roman"/>
              </a:rPr>
              <a:t> </a:t>
            </a:r>
            <a:r>
              <a:rPr sz="800" spc="55" dirty="0">
                <a:latin typeface="LM Roman 8"/>
                <a:cs typeface="LM Roman 8"/>
              </a:rPr>
              <a:t>(</a:t>
            </a:r>
            <a:r>
              <a:rPr sz="800" i="1" spc="55" dirty="0">
                <a:latin typeface="DejaVu Sans"/>
                <a:cs typeface="DejaVu Sans"/>
              </a:rPr>
              <a:t>|</a:t>
            </a:r>
            <a:r>
              <a:rPr sz="800" i="1" spc="55" dirty="0">
                <a:latin typeface="Times New Roman"/>
                <a:cs typeface="Times New Roman"/>
              </a:rPr>
              <a:t>X</a:t>
            </a:r>
            <a:r>
              <a:rPr sz="800" i="1" spc="40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5" dirty="0">
                <a:latin typeface="DejaVu Sans"/>
                <a:cs typeface="DejaVu Sans"/>
              </a:rPr>
              <a:t> </a:t>
            </a:r>
            <a:r>
              <a:rPr sz="800" i="1" spc="5" dirty="0">
                <a:latin typeface="Times New Roman"/>
                <a:cs typeface="Times New Roman"/>
              </a:rPr>
              <a:t>µ</a:t>
            </a:r>
            <a:r>
              <a:rPr sz="800" i="1" spc="5" dirty="0">
                <a:latin typeface="DejaVu Sans"/>
                <a:cs typeface="DejaVu Sans"/>
              </a:rPr>
              <a:t>|</a:t>
            </a:r>
            <a:r>
              <a:rPr sz="800" i="1" spc="-30" dirty="0">
                <a:latin typeface="DejaVu Sans"/>
                <a:cs typeface="DejaVu Sans"/>
              </a:rPr>
              <a:t> </a:t>
            </a:r>
            <a:r>
              <a:rPr sz="800" spc="335" dirty="0">
                <a:latin typeface="RobotoRegular"/>
                <a:cs typeface="RobotoRegular"/>
              </a:rPr>
              <a:t>“</a:t>
            </a:r>
            <a:r>
              <a:rPr sz="800" spc="30" dirty="0">
                <a:latin typeface="RobotoRegular"/>
                <a:cs typeface="RobotoRegular"/>
              </a:rPr>
              <a:t> </a:t>
            </a:r>
            <a:r>
              <a:rPr sz="800" i="1" spc="70" dirty="0">
                <a:latin typeface="Times New Roman"/>
                <a:cs typeface="Times New Roman"/>
              </a:rPr>
              <a:t>kσ</a:t>
            </a:r>
            <a:r>
              <a:rPr sz="800" spc="70" dirty="0">
                <a:latin typeface="LM Roman 8"/>
                <a:cs typeface="LM Roman 8"/>
              </a:rPr>
              <a:t>)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114" dirty="0">
                <a:latin typeface="RobotoRegular"/>
                <a:cs typeface="RobotoRegular"/>
              </a:rPr>
              <a:t>™</a:t>
            </a:r>
            <a:r>
              <a:rPr sz="800" spc="140" dirty="0">
                <a:latin typeface="RobotoRegular"/>
                <a:cs typeface="RobotoRegular"/>
              </a:rPr>
              <a:t> </a:t>
            </a:r>
            <a:r>
              <a:rPr sz="1200" i="1" spc="75" baseline="-41666" dirty="0">
                <a:latin typeface="Times New Roman"/>
                <a:cs typeface="Times New Roman"/>
              </a:rPr>
              <a:t>k</a:t>
            </a:r>
            <a:r>
              <a:rPr sz="900" spc="75" baseline="-32407" dirty="0">
                <a:latin typeface="LM Roman 6"/>
                <a:cs typeface="LM Roman 6"/>
              </a:rPr>
              <a:t>2</a:t>
            </a:r>
            <a:endParaRPr sz="900" baseline="-32407">
              <a:latin typeface="LM Roman 6"/>
              <a:cs typeface="LM Roman 6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6740638" y="5247843"/>
            <a:ext cx="1148080" cy="297815"/>
            <a:chOff x="6740638" y="5247843"/>
            <a:chExt cx="1148080" cy="297815"/>
          </a:xfrm>
        </p:grpSpPr>
        <p:sp>
          <p:nvSpPr>
            <p:cNvPr id="86" name="object 86"/>
            <p:cNvSpPr/>
            <p:nvPr/>
          </p:nvSpPr>
          <p:spPr>
            <a:xfrm>
              <a:off x="6740638" y="5250370"/>
              <a:ext cx="1148080" cy="0"/>
            </a:xfrm>
            <a:custGeom>
              <a:avLst/>
              <a:gdLst/>
              <a:ahLst/>
              <a:cxnLst/>
              <a:rect l="l" t="t" r="r" b="b"/>
              <a:pathLst>
                <a:path w="1148079">
                  <a:moveTo>
                    <a:pt x="0" y="0"/>
                  </a:moveTo>
                  <a:lnTo>
                    <a:pt x="1147572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743178" y="5250357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5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885696" y="5250357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519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740638" y="5542876"/>
              <a:ext cx="1148080" cy="0"/>
            </a:xfrm>
            <a:custGeom>
              <a:avLst/>
              <a:gdLst/>
              <a:ahLst/>
              <a:cxnLst/>
              <a:rect l="l" t="t" r="r" b="b"/>
              <a:pathLst>
                <a:path w="1148079">
                  <a:moveTo>
                    <a:pt x="0" y="0"/>
                  </a:moveTo>
                  <a:lnTo>
                    <a:pt x="1147572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5061762" y="6152970"/>
            <a:ext cx="983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is defined as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785508" y="6401853"/>
            <a:ext cx="5651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i="1" spc="145" dirty="0">
                <a:latin typeface="Times New Roman"/>
                <a:cs typeface="Times New Roman"/>
              </a:rPr>
              <a:t>f</a:t>
            </a:r>
            <a:r>
              <a:rPr sz="900" i="1" spc="217" baseline="-13888" dirty="0">
                <a:latin typeface="Times New Roman"/>
                <a:cs typeface="Times New Roman"/>
              </a:rPr>
              <a:t>X</a:t>
            </a:r>
            <a:r>
              <a:rPr sz="900" i="1" spc="217" baseline="-13888" dirty="0">
                <a:latin typeface="DejaVu Sans"/>
                <a:cs typeface="DejaVu Sans"/>
              </a:rPr>
              <a:t>|</a:t>
            </a:r>
            <a:r>
              <a:rPr sz="900" i="1" spc="217" baseline="-13888" dirty="0">
                <a:latin typeface="Times New Roman"/>
                <a:cs typeface="Times New Roman"/>
              </a:rPr>
              <a:t>Y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</a:t>
            </a:r>
            <a:r>
              <a:rPr sz="800" spc="-1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331811" y="6331380"/>
            <a:ext cx="5092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i="1" u="sng" spc="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900" i="1" u="sng" spc="277" baseline="-1388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XY</a:t>
            </a:r>
            <a:r>
              <a:rPr sz="900" i="1" u="sng" spc="30" baseline="-1388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4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(</a:t>
            </a:r>
            <a:r>
              <a:rPr sz="800" i="1" u="sng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x,y</a:t>
            </a:r>
            <a:r>
              <a:rPr sz="800" u="sng" spc="4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495019" y="6519994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443355" y="6477684"/>
            <a:ext cx="2863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180" dirty="0">
                <a:latin typeface="Times New Roman"/>
                <a:cs typeface="Times New Roman"/>
              </a:rPr>
              <a:t>f</a:t>
            </a:r>
            <a:r>
              <a:rPr sz="800" i="1" spc="360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y</a:t>
            </a:r>
            <a:r>
              <a:rPr sz="800" spc="2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6767893" y="6326365"/>
            <a:ext cx="1093470" cy="334010"/>
            <a:chOff x="6767893" y="6326365"/>
            <a:chExt cx="1093470" cy="334010"/>
          </a:xfrm>
        </p:grpSpPr>
        <p:sp>
          <p:nvSpPr>
            <p:cNvPr id="96" name="object 96"/>
            <p:cNvSpPr/>
            <p:nvPr/>
          </p:nvSpPr>
          <p:spPr>
            <a:xfrm>
              <a:off x="6767893" y="6328892"/>
              <a:ext cx="1093470" cy="0"/>
            </a:xfrm>
            <a:custGeom>
              <a:avLst/>
              <a:gdLst/>
              <a:ahLst/>
              <a:cxnLst/>
              <a:rect l="l" t="t" r="r" b="b"/>
              <a:pathLst>
                <a:path w="1093470">
                  <a:moveTo>
                    <a:pt x="0" y="0"/>
                  </a:moveTo>
                  <a:lnTo>
                    <a:pt x="109307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770421" y="6328879"/>
              <a:ext cx="0" cy="328930"/>
            </a:xfrm>
            <a:custGeom>
              <a:avLst/>
              <a:gdLst/>
              <a:ahLst/>
              <a:cxnLst/>
              <a:rect l="l" t="t" r="r" b="b"/>
              <a:pathLst>
                <a:path h="328929">
                  <a:moveTo>
                    <a:pt x="0" y="32851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858442" y="6328879"/>
              <a:ext cx="0" cy="328930"/>
            </a:xfrm>
            <a:custGeom>
              <a:avLst/>
              <a:gdLst/>
              <a:ahLst/>
              <a:cxnLst/>
              <a:rect l="l" t="t" r="r" b="b"/>
              <a:pathLst>
                <a:path h="328929">
                  <a:moveTo>
                    <a:pt x="0" y="32851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767893" y="6657390"/>
              <a:ext cx="1093470" cy="0"/>
            </a:xfrm>
            <a:custGeom>
              <a:avLst/>
              <a:gdLst/>
              <a:ahLst/>
              <a:cxnLst/>
              <a:rect l="l" t="t" r="r" b="b"/>
              <a:pathLst>
                <a:path w="1093470">
                  <a:moveTo>
                    <a:pt x="0" y="0"/>
                  </a:moveTo>
                  <a:lnTo>
                    <a:pt x="1093076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5061762" y="6791018"/>
            <a:ext cx="43332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dirty="0">
                <a:solidFill>
                  <a:srgbClr val="0C6C04"/>
                </a:solidFill>
                <a:latin typeface="LM Roman 8"/>
                <a:cs typeface="LM Roman 8"/>
              </a:rPr>
              <a:t>Independence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35" dirty="0">
                <a:latin typeface="LM Roman 8"/>
                <a:cs typeface="LM Roman 8"/>
              </a:rPr>
              <a:t>Two </a:t>
            </a:r>
            <a:r>
              <a:rPr sz="800" spc="-5" dirty="0">
                <a:latin typeface="LM Roman 8"/>
                <a:cs typeface="LM Roman 8"/>
              </a:rPr>
              <a:t>random </a:t>
            </a:r>
            <a:r>
              <a:rPr sz="800" spc="-10" dirty="0">
                <a:latin typeface="LM Roman 8"/>
                <a:cs typeface="LM Roman 8"/>
              </a:rPr>
              <a:t>variables </a:t>
            </a:r>
            <a:r>
              <a:rPr sz="800" i="1" spc="204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45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are said to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independent if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700799" y="6966940"/>
            <a:ext cx="1227455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800" i="1" spc="185" dirty="0">
                <a:latin typeface="Times New Roman"/>
                <a:cs typeface="Times New Roman"/>
              </a:rPr>
              <a:t>f</a:t>
            </a:r>
            <a:r>
              <a:rPr sz="900" i="1" spc="277" baseline="-13888" dirty="0">
                <a:latin typeface="Times New Roman"/>
                <a:cs typeface="Times New Roman"/>
              </a:rPr>
              <a:t>XY</a:t>
            </a:r>
            <a:r>
              <a:rPr sz="900" i="1" spc="67" baseline="-13888" dirty="0">
                <a:latin typeface="Times New Roman"/>
                <a:cs typeface="Times New Roman"/>
              </a:rPr>
              <a:t> 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x,y</a:t>
            </a:r>
            <a:r>
              <a:rPr sz="800" spc="45" dirty="0">
                <a:latin typeface="LM Roman 8"/>
                <a:cs typeface="LM Roman 8"/>
              </a:rPr>
              <a:t>)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i="1" spc="204" dirty="0">
                <a:latin typeface="Times New Roman"/>
                <a:cs typeface="Times New Roman"/>
              </a:rPr>
              <a:t>f</a:t>
            </a:r>
            <a:r>
              <a:rPr sz="900" i="1" spc="307" baseline="-13888" dirty="0">
                <a:latin typeface="Times New Roman"/>
                <a:cs typeface="Times New Roman"/>
              </a:rPr>
              <a:t>X</a:t>
            </a:r>
            <a:r>
              <a:rPr sz="900" i="1" spc="-89" baseline="-13888" dirty="0">
                <a:latin typeface="Times New Roman"/>
                <a:cs typeface="Times New Roman"/>
              </a:rPr>
              <a:t> </a:t>
            </a:r>
            <a:r>
              <a:rPr sz="800" spc="80" dirty="0">
                <a:latin typeface="LM Roman 8"/>
                <a:cs typeface="LM Roman 8"/>
              </a:rPr>
              <a:t>(</a:t>
            </a:r>
            <a:r>
              <a:rPr sz="800" i="1" spc="80" dirty="0">
                <a:latin typeface="Times New Roman"/>
                <a:cs typeface="Times New Roman"/>
              </a:rPr>
              <a:t>x</a:t>
            </a:r>
            <a:r>
              <a:rPr sz="800" spc="80" dirty="0">
                <a:latin typeface="LM Roman 8"/>
                <a:cs typeface="LM Roman 8"/>
              </a:rPr>
              <a:t>)</a:t>
            </a:r>
            <a:r>
              <a:rPr sz="800" i="1" spc="80" dirty="0">
                <a:latin typeface="Times New Roman"/>
                <a:cs typeface="Times New Roman"/>
              </a:rPr>
              <a:t>f</a:t>
            </a:r>
            <a:r>
              <a:rPr sz="900" i="1" spc="120" baseline="-13888" dirty="0">
                <a:latin typeface="Times New Roman"/>
                <a:cs typeface="Times New Roman"/>
              </a:rPr>
              <a:t>Y</a:t>
            </a:r>
            <a:r>
              <a:rPr sz="900" i="1" spc="75" baseline="-13888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y</a:t>
            </a:r>
            <a:r>
              <a:rPr sz="800" spc="2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467994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104" name="object 10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299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6667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3999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5899" y="696606"/>
            <a:ext cx="4556760" cy="24955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8100" marR="30480">
              <a:lnSpc>
                <a:spcPts val="810"/>
              </a:lnSpc>
              <a:spcBef>
                <a:spcPts val="250"/>
              </a:spcBef>
              <a:buFont typeface="DejaVu Sans"/>
              <a:buChar char="❒"/>
              <a:tabLst>
                <a:tab pos="165735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Marginal </a:t>
            </a: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density and </a:t>
            </a:r>
            <a:r>
              <a:rPr sz="800" b="1" spc="-15" dirty="0">
                <a:solidFill>
                  <a:srgbClr val="0C6C04"/>
                </a:solidFill>
                <a:latin typeface="LM Roman 8"/>
                <a:cs typeface="LM Roman 8"/>
              </a:rPr>
              <a:t>cumulative </a:t>
            </a: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distribution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25" dirty="0">
                <a:latin typeface="LM Roman 8"/>
                <a:cs typeface="LM Roman 8"/>
              </a:rPr>
              <a:t>From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joint </a:t>
            </a:r>
            <a:r>
              <a:rPr sz="800" spc="-5" dirty="0">
                <a:latin typeface="LM Roman 8"/>
                <a:cs typeface="LM Roman 8"/>
              </a:rPr>
              <a:t>density probability 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i="1" spc="185" dirty="0">
                <a:latin typeface="Times New Roman"/>
                <a:cs typeface="Times New Roman"/>
              </a:rPr>
              <a:t>f</a:t>
            </a:r>
            <a:r>
              <a:rPr sz="900" i="1" spc="277" baseline="-13888" dirty="0">
                <a:latin typeface="Times New Roman"/>
                <a:cs typeface="Times New Roman"/>
              </a:rPr>
              <a:t>XY </a:t>
            </a:r>
            <a:r>
              <a:rPr sz="800" spc="-5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13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87120" y="1056005"/>
          <a:ext cx="3916679" cy="970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5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Case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Marginal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density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11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Cumulative function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(D)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742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i="1" spc="204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900" i="1" spc="307" baseline="-13888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-89" baseline="-1388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97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6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500" spc="1230" baseline="50000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1500" spc="-209" baseline="500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8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900" i="1" spc="277" baseline="-13888" dirty="0">
                          <a:latin typeface="Times New Roman"/>
                          <a:cs typeface="Times New Roman"/>
                        </a:rPr>
                        <a:t>XY</a:t>
                      </a:r>
                      <a:r>
                        <a:rPr sz="900" i="1" spc="67" baseline="-1388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8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8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120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i="1" spc="80" dirty="0">
                          <a:latin typeface="Times New Roman"/>
                          <a:cs typeface="Times New Roman"/>
                        </a:rPr>
                        <a:t>,y</a:t>
                      </a:r>
                      <a:r>
                        <a:rPr sz="900" i="1" spc="120" baseline="-9259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900" i="1" spc="-104" baseline="-92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R="7810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600" i="1" dirty="0">
                          <a:latin typeface="Times New Roman"/>
                          <a:cs typeface="Times New Roman"/>
                        </a:rPr>
                        <a:t>j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800" i="1" spc="14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900" i="1" spc="209" baseline="-13888" dirty="0">
                          <a:latin typeface="Times New Roman"/>
                          <a:cs typeface="Times New Roman"/>
                        </a:rPr>
                        <a:t>XY</a:t>
                      </a:r>
                      <a:r>
                        <a:rPr sz="900" i="1" spc="75" baseline="-1388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4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x,y</a:t>
                      </a:r>
                      <a:r>
                        <a:rPr sz="800" spc="4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7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500" spc="1230" baseline="50000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1500" spc="150" baseline="500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1230" baseline="50000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1500" spc="-30" baseline="500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8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900" i="1" spc="277" baseline="-13888" dirty="0">
                          <a:latin typeface="Times New Roman"/>
                          <a:cs typeface="Times New Roman"/>
                        </a:rPr>
                        <a:t>XY</a:t>
                      </a:r>
                      <a:r>
                        <a:rPr sz="900" i="1" spc="82" baseline="-1388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8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8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120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i="1" spc="80" dirty="0">
                          <a:latin typeface="Times New Roman"/>
                          <a:cs typeface="Times New Roman"/>
                        </a:rPr>
                        <a:t>,y</a:t>
                      </a:r>
                      <a:r>
                        <a:rPr sz="900" i="1" spc="120" baseline="-9259" dirty="0">
                          <a:latin typeface="Times New Roman"/>
                          <a:cs typeface="Times New Roman"/>
                        </a:rPr>
                        <a:t>j</a:t>
                      </a:r>
                      <a:r>
                        <a:rPr sz="900" i="1" spc="-112" baseline="-92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5270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600" i="1" spc="10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750" i="1" spc="157" baseline="-16666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600" spc="105" dirty="0">
                          <a:latin typeface="Arial"/>
                          <a:cs typeface="Arial"/>
                        </a:rPr>
                        <a:t>™</a:t>
                      </a:r>
                      <a:r>
                        <a:rPr sz="600" i="1" spc="10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600" i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i="1" spc="14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750" i="1" spc="217" baseline="-16666" dirty="0">
                          <a:latin typeface="Arial"/>
                          <a:cs typeface="Arial"/>
                        </a:rPr>
                        <a:t>j</a:t>
                      </a:r>
                      <a:r>
                        <a:rPr sz="750" i="1" spc="-89" baseline="-16666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spc="20" dirty="0">
                          <a:latin typeface="Arial"/>
                          <a:cs typeface="Arial"/>
                        </a:rPr>
                        <a:t>™</a:t>
                      </a:r>
                      <a:r>
                        <a:rPr sz="600" i="1" spc="20" dirty="0">
                          <a:latin typeface="Times New Roman"/>
                          <a:cs typeface="Times New Roman"/>
                        </a:rPr>
                        <a:t>y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488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(C)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ts val="875"/>
                        </a:lnSpc>
                      </a:pPr>
                      <a:r>
                        <a:rPr sz="1200" spc="262" baseline="17361" dirty="0">
                          <a:latin typeface="Arial"/>
                          <a:cs typeface="Arial"/>
                        </a:rPr>
                        <a:t>ˆ</a:t>
                      </a:r>
                      <a:r>
                        <a:rPr sz="1200" spc="179" baseline="1736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spc="110" dirty="0">
                          <a:latin typeface="LM Roman 6"/>
                          <a:cs typeface="LM Roman 6"/>
                        </a:rPr>
                        <a:t>+</a:t>
                      </a:r>
                      <a:r>
                        <a:rPr sz="600" i="1" spc="110" dirty="0">
                          <a:latin typeface="DejaVu Sans"/>
                          <a:cs typeface="DejaVu Sans"/>
                        </a:rPr>
                        <a:t>∞</a:t>
                      </a:r>
                      <a:endParaRPr sz="600">
                        <a:latin typeface="DejaVu Sans"/>
                        <a:cs typeface="DejaVu Sans"/>
                      </a:endParaRPr>
                    </a:p>
                    <a:p>
                      <a:pPr marL="78105">
                        <a:lnSpc>
                          <a:spcPts val="885"/>
                        </a:lnSpc>
                        <a:tabLst>
                          <a:tab pos="795020" algn="l"/>
                        </a:tabLst>
                      </a:pPr>
                      <a:r>
                        <a:rPr sz="800" i="1" spc="204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900" i="1" spc="307" baseline="-13888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-82" baseline="-1388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4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	</a:t>
                      </a:r>
                      <a:r>
                        <a:rPr sz="800" i="1" spc="18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900" i="1" spc="277" baseline="-13888" dirty="0">
                          <a:latin typeface="Times New Roman"/>
                          <a:cs typeface="Times New Roman"/>
                        </a:rPr>
                        <a:t>XY</a:t>
                      </a:r>
                      <a:r>
                        <a:rPr sz="900" i="1" spc="52" baseline="-1388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4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x,y</a:t>
                      </a:r>
                      <a:r>
                        <a:rPr sz="800" spc="4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dy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33350" algn="ctr">
                        <a:lnSpc>
                          <a:spcPts val="710"/>
                        </a:lnSpc>
                      </a:pPr>
                      <a:r>
                        <a:rPr sz="600" i="1" spc="150" dirty="0">
                          <a:latin typeface="DejaVu Sans"/>
                          <a:cs typeface="DejaVu Sans"/>
                        </a:rPr>
                        <a:t>−∞</a:t>
                      </a:r>
                      <a:endParaRPr sz="600">
                        <a:latin typeface="DejaVu Sans"/>
                        <a:cs typeface="DejaVu San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3260">
                        <a:lnSpc>
                          <a:spcPts val="685"/>
                        </a:lnSpc>
                      </a:pPr>
                      <a:r>
                        <a:rPr sz="800" spc="175" dirty="0">
                          <a:latin typeface="Arial"/>
                          <a:cs typeface="Arial"/>
                        </a:rPr>
                        <a:t>ˆ </a:t>
                      </a:r>
                      <a:r>
                        <a:rPr sz="900" i="1" spc="225" baseline="-23148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800" spc="175" dirty="0">
                          <a:latin typeface="Arial"/>
                          <a:cs typeface="Arial"/>
                        </a:rPr>
                        <a:t>ˆ</a:t>
                      </a:r>
                      <a:r>
                        <a:rPr sz="8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165" baseline="-23148" dirty="0">
                          <a:latin typeface="Times New Roman"/>
                          <a:cs typeface="Times New Roman"/>
                        </a:rPr>
                        <a:t>y</a:t>
                      </a:r>
                      <a:endParaRPr sz="900" baseline="-23148">
                        <a:latin typeface="Times New Roman"/>
                        <a:cs typeface="Times New Roman"/>
                      </a:endParaRPr>
                    </a:p>
                    <a:p>
                      <a:pPr marL="78105">
                        <a:lnSpc>
                          <a:spcPts val="950"/>
                        </a:lnSpc>
                        <a:spcBef>
                          <a:spcPts val="125"/>
                        </a:spcBef>
                        <a:tabLst>
                          <a:tab pos="1176020" algn="l"/>
                        </a:tabLst>
                      </a:pPr>
                      <a:r>
                        <a:rPr sz="800" i="1" spc="14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900" i="1" spc="209" baseline="-13888" dirty="0">
                          <a:latin typeface="Times New Roman"/>
                          <a:cs typeface="Times New Roman"/>
                        </a:rPr>
                        <a:t>XY</a:t>
                      </a:r>
                      <a:r>
                        <a:rPr sz="900" i="1" spc="82" baseline="-1388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4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x,y</a:t>
                      </a:r>
                      <a:r>
                        <a:rPr sz="800" spc="4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4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	</a:t>
                      </a:r>
                      <a:r>
                        <a:rPr sz="800" i="1" spc="18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900" i="1" spc="277" baseline="-13888" dirty="0">
                          <a:latin typeface="Times New Roman"/>
                          <a:cs typeface="Times New Roman"/>
                        </a:rPr>
                        <a:t>XY</a:t>
                      </a:r>
                      <a:r>
                        <a:rPr sz="900" i="1" spc="52" baseline="-1388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97" baseline="32407" dirty="0">
                          <a:latin typeface="DejaVu Sans"/>
                          <a:cs typeface="DejaVu Sans"/>
                        </a:rPr>
                        <a:t>j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,y</a:t>
                      </a:r>
                      <a:r>
                        <a:rPr sz="900" i="1" spc="97" baseline="32407" dirty="0">
                          <a:latin typeface="DejaVu Sans"/>
                          <a:cs typeface="DejaVu Sans"/>
                        </a:rPr>
                        <a:t>j</a:t>
                      </a:r>
                      <a:r>
                        <a:rPr sz="800" spc="6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dx</a:t>
                      </a:r>
                      <a:r>
                        <a:rPr sz="900" i="1" spc="97" baseline="32407" dirty="0">
                          <a:latin typeface="DejaVu Sans"/>
                          <a:cs typeface="DejaVu Sans"/>
                        </a:rPr>
                        <a:t>j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dy</a:t>
                      </a:r>
                      <a:r>
                        <a:rPr sz="900" i="1" spc="97" baseline="32407" dirty="0">
                          <a:latin typeface="DejaVu Sans"/>
                          <a:cs typeface="DejaVu Sans"/>
                        </a:rPr>
                        <a:t>j</a:t>
                      </a:r>
                      <a:endParaRPr sz="900" baseline="32407">
                        <a:latin typeface="DejaVu Sans"/>
                        <a:cs typeface="DejaVu Sans"/>
                      </a:endParaRPr>
                    </a:p>
                    <a:p>
                      <a:pPr marL="739775">
                        <a:lnSpc>
                          <a:spcPts val="710"/>
                        </a:lnSpc>
                      </a:pPr>
                      <a:r>
                        <a:rPr sz="600" i="1" spc="150" dirty="0">
                          <a:latin typeface="DejaVu Sans"/>
                          <a:cs typeface="DejaVu Sans"/>
                        </a:rPr>
                        <a:t>−∞</a:t>
                      </a:r>
                      <a:r>
                        <a:rPr sz="600" i="1" spc="43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600" i="1" spc="150" dirty="0">
                          <a:latin typeface="DejaVu Sans"/>
                          <a:cs typeface="DejaVu Sans"/>
                        </a:rPr>
                        <a:t>−∞</a:t>
                      </a:r>
                      <a:endParaRPr sz="600">
                        <a:latin typeface="DejaVu Sans"/>
                        <a:cs typeface="DejaVu San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65899" y="2153461"/>
            <a:ext cx="45567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7320" indent="-109855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47955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Distribution</a:t>
            </a:r>
            <a:r>
              <a:rPr sz="800" b="1" spc="-3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of</a:t>
            </a:r>
            <a:r>
              <a:rPr sz="800" b="1" spc="-2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a</a:t>
            </a:r>
            <a:r>
              <a:rPr sz="800" b="1" spc="-2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sum</a:t>
            </a:r>
            <a:r>
              <a:rPr sz="800" b="1" spc="-2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of</a:t>
            </a:r>
            <a:r>
              <a:rPr sz="800" b="1" spc="-2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independent</a:t>
            </a:r>
            <a:r>
              <a:rPr sz="800" b="1" spc="-2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random</a:t>
            </a:r>
            <a:r>
              <a:rPr sz="800" b="1" spc="-2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15" dirty="0">
                <a:solidFill>
                  <a:srgbClr val="9A0404"/>
                </a:solidFill>
                <a:latin typeface="LM Roman 8"/>
                <a:cs typeface="LM Roman 8"/>
              </a:rPr>
              <a:t>variables</a:t>
            </a:r>
            <a:r>
              <a:rPr sz="800" b="1" spc="-6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Let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Y</a:t>
            </a:r>
            <a:r>
              <a:rPr sz="800" i="1" spc="22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i="1" spc="100" dirty="0">
                <a:latin typeface="Times New Roman"/>
                <a:cs typeface="Times New Roman"/>
              </a:rPr>
              <a:t>X</a:t>
            </a:r>
            <a:r>
              <a:rPr sz="900" spc="150" baseline="-9259" dirty="0">
                <a:latin typeface="LM Roman 6"/>
                <a:cs typeface="LM Roman 6"/>
              </a:rPr>
              <a:t>1</a:t>
            </a:r>
            <a:r>
              <a:rPr sz="900" spc="-82" baseline="-9259" dirty="0">
                <a:latin typeface="LM Roman 6"/>
                <a:cs typeface="LM Roman 6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145" dirty="0">
                <a:latin typeface="LM Roman 8"/>
                <a:cs typeface="LM Roman 8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...</a:t>
            </a:r>
            <a:r>
              <a:rPr sz="800" i="1" spc="-5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145" dirty="0">
                <a:latin typeface="LM Roman 8"/>
                <a:cs typeface="LM Roman 8"/>
              </a:rPr>
              <a:t> </a:t>
            </a:r>
            <a:r>
              <a:rPr sz="800" i="1" spc="180" dirty="0">
                <a:latin typeface="Times New Roman"/>
                <a:cs typeface="Times New Roman"/>
              </a:rPr>
              <a:t>X</a:t>
            </a:r>
            <a:r>
              <a:rPr sz="900" i="1" spc="270" baseline="-9259" dirty="0">
                <a:latin typeface="Times New Roman"/>
                <a:cs typeface="Times New Roman"/>
              </a:rPr>
              <a:t>n</a:t>
            </a:r>
            <a:r>
              <a:rPr sz="900" i="1" spc="240" baseline="-9259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with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899" y="2255531"/>
            <a:ext cx="16700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90" dirty="0">
                <a:latin typeface="Times New Roman"/>
                <a:cs typeface="Times New Roman"/>
              </a:rPr>
              <a:t>X</a:t>
            </a:r>
            <a:r>
              <a:rPr sz="900" spc="135" baseline="-9259" dirty="0">
                <a:latin typeface="LM Roman 6"/>
                <a:cs typeface="LM Roman 6"/>
              </a:rPr>
              <a:t>1</a:t>
            </a:r>
            <a:r>
              <a:rPr sz="800" i="1" spc="90" dirty="0">
                <a:latin typeface="Times New Roman"/>
                <a:cs typeface="Times New Roman"/>
              </a:rPr>
              <a:t>, </a:t>
            </a:r>
            <a:r>
              <a:rPr sz="800" i="1" spc="35" dirty="0">
                <a:latin typeface="Times New Roman"/>
                <a:cs typeface="Times New Roman"/>
              </a:rPr>
              <a:t>..., </a:t>
            </a:r>
            <a:r>
              <a:rPr sz="800" i="1" spc="180" dirty="0">
                <a:latin typeface="Times New Roman"/>
                <a:cs typeface="Times New Roman"/>
              </a:rPr>
              <a:t>X</a:t>
            </a:r>
            <a:r>
              <a:rPr sz="900" i="1" spc="270" baseline="-9259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independent. </a:t>
            </a:r>
            <a:r>
              <a:rPr sz="800" spc="-40" dirty="0">
                <a:latin typeface="LM Roman 8"/>
                <a:cs typeface="LM Roman 8"/>
              </a:rPr>
              <a:t>We</a:t>
            </a:r>
            <a:r>
              <a:rPr sz="800" spc="-17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02484" y="2597498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36532" y="2428651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4907" y="2416002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605" dirty="0"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81173" y="2732321"/>
            <a:ext cx="194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Times New Roman"/>
                <a:cs typeface="Times New Roman"/>
              </a:rPr>
              <a:t>k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13138" y="2597498"/>
            <a:ext cx="2006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i="1" spc="175" dirty="0">
                <a:latin typeface="Times New Roman"/>
                <a:cs typeface="Times New Roman"/>
              </a:rPr>
              <a:t>X</a:t>
            </a:r>
            <a:r>
              <a:rPr sz="750" i="1" spc="262" baseline="-16666" dirty="0">
                <a:latin typeface="Arial"/>
                <a:cs typeface="Arial"/>
              </a:rPr>
              <a:t>k</a:t>
            </a:r>
            <a:endParaRPr sz="750" baseline="-16666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32190" y="2555187"/>
            <a:ext cx="102361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8335" algn="l"/>
                <a:tab pos="856615" algn="l"/>
              </a:tabLst>
            </a:pPr>
            <a:r>
              <a:rPr sz="800" i="1" spc="55" dirty="0">
                <a:latin typeface="Times New Roman"/>
                <a:cs typeface="Times New Roman"/>
              </a:rPr>
              <a:t>ψ  </a:t>
            </a:r>
            <a:r>
              <a:rPr sz="800" i="1" spc="3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-15" dirty="0">
                <a:latin typeface="Times New Roman"/>
                <a:cs typeface="Times New Roman"/>
              </a:rPr>
              <a:t>ω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dirty="0">
                <a:latin typeface="LM Roman 8"/>
                <a:cs typeface="LM Roman 8"/>
              </a:rPr>
              <a:t>	</a:t>
            </a:r>
            <a:r>
              <a:rPr sz="800" i="1" spc="55" dirty="0">
                <a:latin typeface="Times New Roman"/>
                <a:cs typeface="Times New Roman"/>
              </a:rPr>
              <a:t>ψ</a:t>
            </a:r>
            <a:r>
              <a:rPr sz="800" i="1" dirty="0">
                <a:latin typeface="Times New Roman"/>
                <a:cs typeface="Times New Roman"/>
              </a:rPr>
              <a:t>	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-15" dirty="0">
                <a:latin typeface="Times New Roman"/>
                <a:cs typeface="Times New Roman"/>
              </a:rPr>
              <a:t>ω</a:t>
            </a:r>
            <a:r>
              <a:rPr sz="800" spc="-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01862" y="2428913"/>
            <a:ext cx="1084580" cy="448309"/>
            <a:chOff x="2201862" y="2428913"/>
            <a:chExt cx="1084580" cy="448309"/>
          </a:xfrm>
        </p:grpSpPr>
        <p:sp>
          <p:nvSpPr>
            <p:cNvPr id="16" name="object 16"/>
            <p:cNvSpPr/>
            <p:nvPr/>
          </p:nvSpPr>
          <p:spPr>
            <a:xfrm>
              <a:off x="2201862" y="2431440"/>
              <a:ext cx="1084580" cy="0"/>
            </a:xfrm>
            <a:custGeom>
              <a:avLst/>
              <a:gdLst/>
              <a:ahLst/>
              <a:cxnLst/>
              <a:rect l="l" t="t" r="r" b="b"/>
              <a:pathLst>
                <a:path w="1084579">
                  <a:moveTo>
                    <a:pt x="0" y="0"/>
                  </a:moveTo>
                  <a:lnTo>
                    <a:pt x="108419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04402" y="2431440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83534" y="2431440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01862" y="2874073"/>
              <a:ext cx="1084580" cy="0"/>
            </a:xfrm>
            <a:custGeom>
              <a:avLst/>
              <a:gdLst/>
              <a:ahLst/>
              <a:cxnLst/>
              <a:rect l="l" t="t" r="r" b="b"/>
              <a:pathLst>
                <a:path w="1084579">
                  <a:moveTo>
                    <a:pt x="0" y="0"/>
                  </a:moveTo>
                  <a:lnTo>
                    <a:pt x="108419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5899" y="2991826"/>
            <a:ext cx="44437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685" indent="-10922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47320" algn="l"/>
              </a:tabLst>
            </a:pPr>
            <a:r>
              <a:rPr sz="800" b="1" spc="-15" dirty="0">
                <a:solidFill>
                  <a:srgbClr val="0C6C04"/>
                </a:solidFill>
                <a:latin typeface="LM Roman 8"/>
                <a:cs typeface="LM Roman 8"/>
              </a:rPr>
              <a:t>Covariance</a:t>
            </a:r>
            <a:r>
              <a:rPr sz="800" b="1" spc="-75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40" dirty="0">
                <a:latin typeface="LM Roman 8"/>
                <a:cs typeface="LM Roman 8"/>
              </a:rPr>
              <a:t>We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define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covariance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20" dirty="0">
                <a:latin typeface="LM Roman 8"/>
                <a:cs typeface="LM Roman 8"/>
              </a:rPr>
              <a:t>two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random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variables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i="1" spc="204" dirty="0">
                <a:latin typeface="Times New Roman"/>
                <a:cs typeface="Times New Roman"/>
              </a:rPr>
              <a:t>X</a:t>
            </a:r>
            <a:r>
              <a:rPr sz="800" i="1" spc="114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Y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,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note</a:t>
            </a:r>
            <a:r>
              <a:rPr sz="800" spc="-30" dirty="0">
                <a:latin typeface="LM Roman 8"/>
                <a:cs typeface="LM Roman 8"/>
              </a:rPr>
              <a:t> </a:t>
            </a:r>
            <a:r>
              <a:rPr sz="800" i="1" spc="55" dirty="0">
                <a:latin typeface="Times New Roman"/>
                <a:cs typeface="Times New Roman"/>
              </a:rPr>
              <a:t>σ</a:t>
            </a:r>
            <a:r>
              <a:rPr sz="900" spc="82" baseline="27777" dirty="0">
                <a:latin typeface="LM Roman 6"/>
                <a:cs typeface="LM Roman 6"/>
              </a:rPr>
              <a:t>2</a:t>
            </a:r>
            <a:endParaRPr sz="900" baseline="27777">
              <a:latin typeface="LM Roman 6"/>
              <a:cs typeface="LM Roman 6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08194" y="3053529"/>
            <a:ext cx="1625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275" dirty="0">
                <a:latin typeface="Times New Roman"/>
                <a:cs typeface="Times New Roman"/>
              </a:rPr>
              <a:t>X</a:t>
            </a:r>
            <a:r>
              <a:rPr sz="600" i="1" spc="100" dirty="0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1299" y="3116794"/>
            <a:ext cx="19634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or more commonly </a:t>
            </a:r>
            <a:r>
              <a:rPr sz="800" spc="35" dirty="0">
                <a:latin typeface="LM Roman 8"/>
                <a:cs typeface="LM Roman 8"/>
              </a:rPr>
              <a:t>Cov(</a:t>
            </a:r>
            <a:r>
              <a:rPr sz="800" i="1" spc="35" dirty="0">
                <a:latin typeface="Times New Roman"/>
                <a:cs typeface="Times New Roman"/>
              </a:rPr>
              <a:t>X,Y </a:t>
            </a:r>
            <a:r>
              <a:rPr sz="800" spc="-5" dirty="0">
                <a:latin typeface="LM Roman 8"/>
                <a:cs typeface="LM Roman 8"/>
              </a:rPr>
              <a:t>), as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9919" y="3367435"/>
            <a:ext cx="1498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275" dirty="0">
                <a:latin typeface="Times New Roman"/>
                <a:cs typeface="Times New Roman"/>
              </a:rPr>
              <a:t>X</a:t>
            </a:r>
            <a:r>
              <a:rPr sz="600" i="1" spc="100" dirty="0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9222" y="3312069"/>
            <a:ext cx="2976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893444" algn="l"/>
              </a:tabLst>
            </a:pPr>
            <a:r>
              <a:rPr sz="800" spc="35" dirty="0">
                <a:latin typeface="LM Roman 8"/>
                <a:cs typeface="LM Roman 8"/>
              </a:rPr>
              <a:t>Cov(</a:t>
            </a:r>
            <a:r>
              <a:rPr sz="800" i="1" spc="35" dirty="0">
                <a:latin typeface="Times New Roman"/>
                <a:cs typeface="Times New Roman"/>
              </a:rPr>
              <a:t>X,Y 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RobotoRegular"/>
                <a:cs typeface="RobotoRegular"/>
              </a:rPr>
              <a:t>¾</a:t>
            </a:r>
            <a:r>
              <a:rPr sz="800" spc="40" dirty="0">
                <a:latin typeface="RobotoRegular"/>
                <a:cs typeface="RobotoRegular"/>
              </a:rPr>
              <a:t> </a:t>
            </a:r>
            <a:r>
              <a:rPr sz="800" i="1" spc="55" dirty="0">
                <a:latin typeface="Times New Roman"/>
                <a:cs typeface="Times New Roman"/>
              </a:rPr>
              <a:t>σ</a:t>
            </a:r>
            <a:r>
              <a:rPr sz="900" spc="82" baseline="32407" dirty="0">
                <a:latin typeface="LM Roman 6"/>
                <a:cs typeface="LM Roman 6"/>
              </a:rPr>
              <a:t>2	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90" dirty="0">
                <a:latin typeface="Times New Roman"/>
                <a:cs typeface="Times New Roman"/>
              </a:rPr>
              <a:t>E</a:t>
            </a:r>
            <a:r>
              <a:rPr sz="800" spc="90" dirty="0">
                <a:latin typeface="LM Roman 8"/>
                <a:cs typeface="LM Roman 8"/>
              </a:rPr>
              <a:t>[(</a:t>
            </a:r>
            <a:r>
              <a:rPr sz="800" i="1" spc="90" dirty="0">
                <a:latin typeface="Times New Roman"/>
                <a:cs typeface="Times New Roman"/>
              </a:rPr>
              <a:t>X</a:t>
            </a:r>
            <a:r>
              <a:rPr sz="800" i="1" spc="45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i="1" spc="140" dirty="0">
                <a:latin typeface="Times New Roman"/>
                <a:cs typeface="Times New Roman"/>
              </a:rPr>
              <a:t>µ</a:t>
            </a:r>
            <a:r>
              <a:rPr sz="900" i="1" spc="209" baseline="-13888" dirty="0">
                <a:latin typeface="Times New Roman"/>
                <a:cs typeface="Times New Roman"/>
              </a:rPr>
              <a:t>X</a:t>
            </a:r>
            <a:r>
              <a:rPr sz="900" i="1" spc="-82" baseline="-13888" dirty="0">
                <a:latin typeface="Times New Roman"/>
                <a:cs typeface="Times New Roman"/>
              </a:rPr>
              <a:t> </a:t>
            </a:r>
            <a:r>
              <a:rPr sz="800" spc="10" dirty="0">
                <a:latin typeface="LM Roman 8"/>
                <a:cs typeface="LM Roman 8"/>
              </a:rPr>
              <a:t>)(</a:t>
            </a:r>
            <a:r>
              <a:rPr sz="800" i="1" spc="10" dirty="0">
                <a:latin typeface="Times New Roman"/>
                <a:cs typeface="Times New Roman"/>
              </a:rPr>
              <a:t>Y</a:t>
            </a:r>
            <a:r>
              <a:rPr sz="800" i="1" spc="170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5" dirty="0">
                <a:latin typeface="DejaVu Sans"/>
                <a:cs typeface="DejaVu Sans"/>
              </a:rPr>
              <a:t> </a:t>
            </a:r>
            <a:r>
              <a:rPr sz="800" i="1" spc="70" dirty="0">
                <a:latin typeface="Times New Roman"/>
                <a:cs typeface="Times New Roman"/>
              </a:rPr>
              <a:t>µ</a:t>
            </a:r>
            <a:r>
              <a:rPr sz="900" i="1" spc="104" baseline="-13888" dirty="0">
                <a:latin typeface="Times New Roman"/>
                <a:cs typeface="Times New Roman"/>
              </a:rPr>
              <a:t>Y</a:t>
            </a:r>
            <a:r>
              <a:rPr sz="900" i="1" spc="82" baseline="-13888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)]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E</a:t>
            </a:r>
            <a:r>
              <a:rPr sz="800" spc="120" dirty="0">
                <a:latin typeface="LM Roman 8"/>
                <a:cs typeface="LM Roman 8"/>
              </a:rPr>
              <a:t>[</a:t>
            </a:r>
            <a:r>
              <a:rPr sz="800" i="1" spc="120" dirty="0">
                <a:latin typeface="Times New Roman"/>
                <a:cs typeface="Times New Roman"/>
              </a:rPr>
              <a:t>XY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]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i="1" spc="130" dirty="0">
                <a:latin typeface="Times New Roman"/>
                <a:cs typeface="Times New Roman"/>
              </a:rPr>
              <a:t>µ</a:t>
            </a:r>
            <a:r>
              <a:rPr sz="900" i="1" spc="195" baseline="-13888" dirty="0">
                <a:latin typeface="Times New Roman"/>
                <a:cs typeface="Times New Roman"/>
              </a:rPr>
              <a:t>X</a:t>
            </a:r>
            <a:r>
              <a:rPr sz="800" i="1" spc="130" dirty="0">
                <a:latin typeface="Times New Roman"/>
                <a:cs typeface="Times New Roman"/>
              </a:rPr>
              <a:t>µ</a:t>
            </a:r>
            <a:r>
              <a:rPr sz="900" i="1" spc="195" baseline="-13888" dirty="0">
                <a:latin typeface="Times New Roman"/>
                <a:cs typeface="Times New Roman"/>
              </a:rPr>
              <a:t>Y</a:t>
            </a:r>
            <a:endParaRPr sz="900" baseline="-13888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31607" y="3290189"/>
            <a:ext cx="3025140" cy="208915"/>
            <a:chOff x="1231607" y="3290189"/>
            <a:chExt cx="3025140" cy="208915"/>
          </a:xfrm>
        </p:grpSpPr>
        <p:sp>
          <p:nvSpPr>
            <p:cNvPr id="26" name="object 26"/>
            <p:cNvSpPr/>
            <p:nvPr/>
          </p:nvSpPr>
          <p:spPr>
            <a:xfrm>
              <a:off x="1231607" y="3292716"/>
              <a:ext cx="3025140" cy="0"/>
            </a:xfrm>
            <a:custGeom>
              <a:avLst/>
              <a:gdLst/>
              <a:ahLst/>
              <a:cxnLst/>
              <a:rect l="l" t="t" r="r" b="b"/>
              <a:pathLst>
                <a:path w="3025140">
                  <a:moveTo>
                    <a:pt x="0" y="0"/>
                  </a:moveTo>
                  <a:lnTo>
                    <a:pt x="302472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34135" y="3292703"/>
              <a:ext cx="0" cy="203835"/>
            </a:xfrm>
            <a:custGeom>
              <a:avLst/>
              <a:gdLst/>
              <a:ahLst/>
              <a:cxnLst/>
              <a:rect l="l" t="t" r="r" b="b"/>
              <a:pathLst>
                <a:path h="203835">
                  <a:moveTo>
                    <a:pt x="0" y="203835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53801" y="3292703"/>
              <a:ext cx="0" cy="203835"/>
            </a:xfrm>
            <a:custGeom>
              <a:avLst/>
              <a:gdLst/>
              <a:ahLst/>
              <a:cxnLst/>
              <a:rect l="l" t="t" r="r" b="b"/>
              <a:pathLst>
                <a:path h="203835">
                  <a:moveTo>
                    <a:pt x="0" y="203835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31607" y="3496538"/>
              <a:ext cx="3025140" cy="0"/>
            </a:xfrm>
            <a:custGeom>
              <a:avLst/>
              <a:gdLst/>
              <a:ahLst/>
              <a:cxnLst/>
              <a:rect l="l" t="t" r="r" b="b"/>
              <a:pathLst>
                <a:path w="3025140">
                  <a:moveTo>
                    <a:pt x="0" y="0"/>
                  </a:moveTo>
                  <a:lnTo>
                    <a:pt x="302472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91299" y="3600563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0" indent="-102235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14935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Correlation</a:t>
            </a:r>
            <a:r>
              <a:rPr sz="800" b="1" spc="-125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By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noting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i="1" spc="85" dirty="0">
                <a:latin typeface="Times New Roman"/>
                <a:cs typeface="Times New Roman"/>
              </a:rPr>
              <a:t>σ</a:t>
            </a:r>
            <a:r>
              <a:rPr sz="800" i="1" spc="229" dirty="0">
                <a:latin typeface="Times New Roman"/>
                <a:cs typeface="Times New Roman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,</a:t>
            </a:r>
            <a:r>
              <a:rPr sz="800" i="1" spc="-55" dirty="0">
                <a:latin typeface="Times New Roman"/>
                <a:cs typeface="Times New Roman"/>
              </a:rPr>
              <a:t> </a:t>
            </a:r>
            <a:r>
              <a:rPr sz="800" i="1" spc="85" dirty="0">
                <a:latin typeface="Times New Roman"/>
                <a:cs typeface="Times New Roman"/>
              </a:rPr>
              <a:t>σ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standard</a:t>
            </a:r>
            <a:r>
              <a:rPr sz="800" spc="-8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deviations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i="1" spc="204" dirty="0">
                <a:latin typeface="Times New Roman"/>
                <a:cs typeface="Times New Roman"/>
              </a:rPr>
              <a:t>X</a:t>
            </a:r>
            <a:r>
              <a:rPr sz="800" i="1" spc="6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Y</a:t>
            </a:r>
            <a:r>
              <a:rPr sz="800" i="1" spc="-1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,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define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correlation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1299" y="3642885"/>
            <a:ext cx="1468755" cy="207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595"/>
              </a:lnSpc>
              <a:spcBef>
                <a:spcPts val="95"/>
              </a:spcBef>
            </a:pPr>
            <a:r>
              <a:rPr sz="600" i="1" spc="229" dirty="0">
                <a:latin typeface="Times New Roman"/>
                <a:cs typeface="Times New Roman"/>
              </a:rPr>
              <a:t>X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ts val="835"/>
              </a:lnSpc>
            </a:pPr>
            <a:r>
              <a:rPr sz="800" spc="-10" dirty="0">
                <a:latin typeface="LM Roman 8"/>
                <a:cs typeface="LM Roman 8"/>
              </a:rPr>
              <a:t>between </a:t>
            </a:r>
            <a:r>
              <a:rPr sz="800" spc="-5" dirty="0">
                <a:latin typeface="LM Roman 8"/>
                <a:cs typeface="LM Roman 8"/>
              </a:rPr>
              <a:t>the random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45" dirty="0">
                <a:latin typeface="LM Roman 8"/>
                <a:cs typeface="LM Roman 8"/>
              </a:rPr>
              <a:t>variables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79141" y="3744943"/>
            <a:ext cx="1625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275" dirty="0">
                <a:latin typeface="Times New Roman"/>
                <a:cs typeface="Times New Roman"/>
              </a:rPr>
              <a:t>X</a:t>
            </a:r>
            <a:r>
              <a:rPr sz="600" i="1" spc="100" dirty="0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32038" y="3642885"/>
            <a:ext cx="1580515" cy="207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90">
              <a:lnSpc>
                <a:spcPts val="595"/>
              </a:lnSpc>
              <a:spcBef>
                <a:spcPts val="95"/>
              </a:spcBef>
            </a:pPr>
            <a:r>
              <a:rPr sz="600" i="1" spc="-270" dirty="0">
                <a:latin typeface="Times New Roman"/>
                <a:cs typeface="Times New Roman"/>
              </a:rPr>
              <a:t>Y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ts val="835"/>
              </a:lnSpc>
              <a:tabLst>
                <a:tab pos="1022350" algn="l"/>
              </a:tabLst>
            </a:pPr>
            <a:r>
              <a:rPr sz="800" i="1" spc="204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45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,</a:t>
            </a:r>
            <a:r>
              <a:rPr sz="800" spc="-1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noted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ρ	</a:t>
            </a:r>
            <a:r>
              <a:rPr sz="800" spc="-5" dirty="0">
                <a:latin typeface="LM Roman 8"/>
                <a:cs typeface="LM Roman 8"/>
              </a:rPr>
              <a:t>, as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76487" y="3969167"/>
            <a:ext cx="3956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i="1" spc="140" dirty="0">
                <a:latin typeface="Times New Roman"/>
                <a:cs typeface="Times New Roman"/>
              </a:rPr>
              <a:t>ρ</a:t>
            </a:r>
            <a:r>
              <a:rPr sz="900" i="1" spc="209" baseline="-13888" dirty="0">
                <a:latin typeface="Times New Roman"/>
                <a:cs typeface="Times New Roman"/>
              </a:rPr>
              <a:t>XY</a:t>
            </a:r>
            <a:r>
              <a:rPr sz="900" i="1" spc="352" baseline="-13888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12478" y="3889754"/>
            <a:ext cx="742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i="1" spc="85" dirty="0">
                <a:latin typeface="Times New Roman"/>
                <a:cs typeface="Times New Roman"/>
              </a:rPr>
              <a:t>σ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77566" y="3879346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53182" y="3951457"/>
            <a:ext cx="330200" cy="240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6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6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600" dirty="0">
                <a:latin typeface="Times New Roman"/>
                <a:cs typeface="Times New Roman"/>
              </a:rPr>
              <a:t>  </a:t>
            </a:r>
            <a:r>
              <a:rPr sz="600" spc="30" dirty="0">
                <a:latin typeface="Times New Roman"/>
                <a:cs typeface="Times New Roman"/>
              </a:rPr>
              <a:t> </a:t>
            </a:r>
            <a:r>
              <a:rPr sz="600" i="1" u="sng" spc="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XY</a:t>
            </a:r>
            <a:endParaRPr sz="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5"/>
              </a:spcBef>
            </a:pPr>
            <a:r>
              <a:rPr sz="800" i="1" spc="150" dirty="0">
                <a:latin typeface="Times New Roman"/>
                <a:cs typeface="Times New Roman"/>
              </a:rPr>
              <a:t>σ</a:t>
            </a:r>
            <a:r>
              <a:rPr sz="900" i="1" spc="225" baseline="-13888" dirty="0">
                <a:latin typeface="Times New Roman"/>
                <a:cs typeface="Times New Roman"/>
              </a:rPr>
              <a:t>X</a:t>
            </a:r>
            <a:r>
              <a:rPr sz="800" i="1" spc="150" dirty="0">
                <a:latin typeface="Times New Roman"/>
                <a:cs typeface="Times New Roman"/>
              </a:rPr>
              <a:t>σ</a:t>
            </a:r>
            <a:r>
              <a:rPr sz="900" i="1" spc="225" baseline="-13888" dirty="0">
                <a:latin typeface="Times New Roman"/>
                <a:cs typeface="Times New Roman"/>
              </a:rPr>
              <a:t>Y</a:t>
            </a:r>
            <a:endParaRPr sz="900" baseline="-13888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358872" y="3876014"/>
            <a:ext cx="770255" cy="343535"/>
            <a:chOff x="2358872" y="3876014"/>
            <a:chExt cx="770255" cy="343535"/>
          </a:xfrm>
        </p:grpSpPr>
        <p:sp>
          <p:nvSpPr>
            <p:cNvPr id="39" name="object 39"/>
            <p:cNvSpPr/>
            <p:nvPr/>
          </p:nvSpPr>
          <p:spPr>
            <a:xfrm>
              <a:off x="2358872" y="3878541"/>
              <a:ext cx="770255" cy="0"/>
            </a:xfrm>
            <a:custGeom>
              <a:avLst/>
              <a:gdLst/>
              <a:ahLst/>
              <a:cxnLst/>
              <a:rect l="l" t="t" r="r" b="b"/>
              <a:pathLst>
                <a:path w="770255">
                  <a:moveTo>
                    <a:pt x="0" y="0"/>
                  </a:moveTo>
                  <a:lnTo>
                    <a:pt x="77020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61399" y="3878541"/>
              <a:ext cx="0" cy="338455"/>
            </a:xfrm>
            <a:custGeom>
              <a:avLst/>
              <a:gdLst/>
              <a:ahLst/>
              <a:cxnLst/>
              <a:rect l="l" t="t" r="r" b="b"/>
              <a:pathLst>
                <a:path h="338454">
                  <a:moveTo>
                    <a:pt x="0" y="33787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126536" y="3878541"/>
              <a:ext cx="0" cy="338455"/>
            </a:xfrm>
            <a:custGeom>
              <a:avLst/>
              <a:gdLst/>
              <a:ahLst/>
              <a:cxnLst/>
              <a:rect l="l" t="t" r="r" b="b"/>
              <a:pathLst>
                <a:path h="338454">
                  <a:moveTo>
                    <a:pt x="0" y="33787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58872" y="4216412"/>
              <a:ext cx="770255" cy="0"/>
            </a:xfrm>
            <a:custGeom>
              <a:avLst/>
              <a:gdLst/>
              <a:ahLst/>
              <a:cxnLst/>
              <a:rect l="l" t="t" r="r" b="b"/>
              <a:pathLst>
                <a:path w="770255">
                  <a:moveTo>
                    <a:pt x="0" y="0"/>
                  </a:moveTo>
                  <a:lnTo>
                    <a:pt x="77020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65899" y="4231816"/>
            <a:ext cx="4474845" cy="349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Remarks: </a:t>
            </a:r>
            <a:r>
              <a:rPr sz="800" i="1" spc="-30" dirty="0">
                <a:solidFill>
                  <a:srgbClr val="59439A"/>
                </a:solidFill>
                <a:latin typeface="LM Roman 8"/>
                <a:cs typeface="LM Roman 8"/>
              </a:rPr>
              <a:t>For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any </a:t>
            </a:r>
            <a:r>
              <a:rPr sz="800" i="1" spc="125" dirty="0">
                <a:solidFill>
                  <a:srgbClr val="59439A"/>
                </a:solidFill>
                <a:latin typeface="Times New Roman"/>
                <a:cs typeface="Times New Roman"/>
              </a:rPr>
              <a:t>X, 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Y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, 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 </a:t>
            </a:r>
            <a:r>
              <a:rPr sz="800" i="1" spc="140" dirty="0">
                <a:solidFill>
                  <a:srgbClr val="59439A"/>
                </a:solidFill>
                <a:latin typeface="Times New Roman"/>
                <a:cs typeface="Times New Roman"/>
              </a:rPr>
              <a:t>ρ</a:t>
            </a:r>
            <a:r>
              <a:rPr sz="900" i="1" spc="209" baseline="-13888" dirty="0">
                <a:solidFill>
                  <a:srgbClr val="59439A"/>
                </a:solidFill>
                <a:latin typeface="Times New Roman"/>
                <a:cs typeface="Times New Roman"/>
              </a:rPr>
              <a:t>XY </a:t>
            </a:r>
            <a:r>
              <a:rPr sz="800" i="1" spc="-135" dirty="0">
                <a:solidFill>
                  <a:srgbClr val="59439A"/>
                </a:solidFill>
                <a:latin typeface="DejaVu Sans"/>
                <a:cs typeface="DejaVu Sans"/>
              </a:rPr>
              <a:t>∈ </a:t>
            </a:r>
            <a:r>
              <a:rPr sz="800" dirty="0">
                <a:solidFill>
                  <a:srgbClr val="59439A"/>
                </a:solidFill>
                <a:latin typeface="LM Roman 8"/>
                <a:cs typeface="LM Roman 8"/>
              </a:rPr>
              <a:t>[</a:t>
            </a:r>
            <a:r>
              <a:rPr sz="800" i="1" dirty="0">
                <a:solidFill>
                  <a:srgbClr val="59439A"/>
                </a:solidFill>
                <a:latin typeface="DejaVu Sans"/>
                <a:cs typeface="DejaVu Sans"/>
              </a:rPr>
              <a:t>−</a:t>
            </a:r>
            <a:r>
              <a:rPr sz="800" dirty="0">
                <a:solidFill>
                  <a:srgbClr val="59439A"/>
                </a:solidFill>
                <a:latin typeface="LM Roman 8"/>
                <a:cs typeface="LM Roman 8"/>
              </a:rPr>
              <a:t>1</a:t>
            </a:r>
            <a:r>
              <a:rPr sz="800" i="1" dirty="0">
                <a:solidFill>
                  <a:srgbClr val="59439A"/>
                </a:solidFill>
                <a:latin typeface="Times New Roman"/>
                <a:cs typeface="Times New Roman"/>
              </a:rPr>
              <a:t>,</a:t>
            </a:r>
            <a:r>
              <a:rPr sz="800" dirty="0">
                <a:solidFill>
                  <a:srgbClr val="59439A"/>
                </a:solidFill>
                <a:latin typeface="LM Roman 8"/>
                <a:cs typeface="LM Roman 8"/>
              </a:rPr>
              <a:t>1]</a:t>
            </a:r>
            <a:r>
              <a:rPr sz="800" i="1" dirty="0">
                <a:solidFill>
                  <a:srgbClr val="59439A"/>
                </a:solidFill>
                <a:latin typeface="LM Roman 8"/>
                <a:cs typeface="LM Roman 8"/>
              </a:rPr>
              <a:t>.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If X and Y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are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independent, then </a:t>
            </a:r>
            <a:r>
              <a:rPr sz="800" i="1" spc="140" dirty="0">
                <a:solidFill>
                  <a:srgbClr val="59439A"/>
                </a:solidFill>
                <a:latin typeface="Times New Roman"/>
                <a:cs typeface="Times New Roman"/>
              </a:rPr>
              <a:t>ρ</a:t>
            </a:r>
            <a:r>
              <a:rPr sz="900" i="1" spc="209" baseline="-13888" dirty="0">
                <a:solidFill>
                  <a:srgbClr val="59439A"/>
                </a:solidFill>
                <a:latin typeface="Times New Roman"/>
                <a:cs typeface="Times New Roman"/>
              </a:rPr>
              <a:t>XY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</a:t>
            </a:r>
            <a:r>
              <a:rPr sz="800" spc="5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0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150495" indent="-113030">
              <a:lnSpc>
                <a:spcPct val="100000"/>
              </a:lnSpc>
              <a:spcBef>
                <a:spcPts val="635"/>
              </a:spcBef>
              <a:buFont typeface="DejaVu Sans"/>
              <a:buChar char="❒"/>
              <a:tabLst>
                <a:tab pos="151130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Main </a:t>
            </a: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distributions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0" dirty="0">
                <a:latin typeface="LM Roman 8"/>
                <a:cs typeface="LM Roman 8"/>
              </a:rPr>
              <a:t>Here </a:t>
            </a:r>
            <a:r>
              <a:rPr sz="800" spc="-5" dirty="0">
                <a:latin typeface="LM Roman 8"/>
                <a:cs typeface="LM Roman 8"/>
              </a:rPr>
              <a:t>are the main distributions to </a:t>
            </a:r>
            <a:r>
              <a:rPr sz="800" spc="-15" dirty="0">
                <a:latin typeface="LM Roman 8"/>
                <a:cs typeface="LM Roman 8"/>
              </a:rPr>
              <a:t>have </a:t>
            </a:r>
            <a:r>
              <a:rPr sz="800" spc="-5" dirty="0">
                <a:latin typeface="LM Roman 8"/>
                <a:cs typeface="LM Roman 8"/>
              </a:rPr>
              <a:t>in</a:t>
            </a:r>
            <a:r>
              <a:rPr sz="800" spc="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mind: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529077" y="5560593"/>
            <a:ext cx="124460" cy="0"/>
          </a:xfrm>
          <a:custGeom>
            <a:avLst/>
            <a:gdLst/>
            <a:ahLst/>
            <a:cxnLst/>
            <a:rect l="l" t="t" r="r" b="b"/>
            <a:pathLst>
              <a:path w="124460">
                <a:moveTo>
                  <a:pt x="0" y="0"/>
                </a:moveTo>
                <a:lnTo>
                  <a:pt x="12400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308362" y="5977801"/>
            <a:ext cx="528320" cy="0"/>
          </a:xfrm>
          <a:custGeom>
            <a:avLst/>
            <a:gdLst/>
            <a:ahLst/>
            <a:cxnLst/>
            <a:rect l="l" t="t" r="r" b="b"/>
            <a:pathLst>
              <a:path w="528320">
                <a:moveTo>
                  <a:pt x="0" y="0"/>
                </a:moveTo>
                <a:lnTo>
                  <a:pt x="5282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453001" y="5977801"/>
            <a:ext cx="371475" cy="0"/>
          </a:xfrm>
          <a:custGeom>
            <a:avLst/>
            <a:gdLst/>
            <a:ahLst/>
            <a:cxnLst/>
            <a:rect l="l" t="t" r="r" b="b"/>
            <a:pathLst>
              <a:path w="371475">
                <a:moveTo>
                  <a:pt x="0" y="0"/>
                </a:moveTo>
                <a:lnTo>
                  <a:pt x="37095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358656" y="6469608"/>
            <a:ext cx="119380" cy="0"/>
          </a:xfrm>
          <a:custGeom>
            <a:avLst/>
            <a:gdLst/>
            <a:ahLst/>
            <a:cxnLst/>
            <a:rect l="l" t="t" r="r" b="b"/>
            <a:pathLst>
              <a:path w="119380">
                <a:moveTo>
                  <a:pt x="0" y="0"/>
                </a:moveTo>
                <a:lnTo>
                  <a:pt x="119164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96273" y="6383553"/>
            <a:ext cx="43180" cy="0"/>
          </a:xfrm>
          <a:custGeom>
            <a:avLst/>
            <a:gdLst/>
            <a:ahLst/>
            <a:cxnLst/>
            <a:rect l="l" t="t" r="r" b="b"/>
            <a:pathLst>
              <a:path w="43180">
                <a:moveTo>
                  <a:pt x="0" y="0"/>
                </a:moveTo>
                <a:lnTo>
                  <a:pt x="4305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576701" y="6407899"/>
            <a:ext cx="43180" cy="0"/>
          </a:xfrm>
          <a:custGeom>
            <a:avLst/>
            <a:gdLst/>
            <a:ahLst/>
            <a:cxnLst/>
            <a:rect l="l" t="t" r="r" b="b"/>
            <a:pathLst>
              <a:path w="43179">
                <a:moveTo>
                  <a:pt x="0" y="0"/>
                </a:moveTo>
                <a:lnTo>
                  <a:pt x="4305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617201" y="6940448"/>
            <a:ext cx="95885" cy="0"/>
          </a:xfrm>
          <a:custGeom>
            <a:avLst/>
            <a:gdLst/>
            <a:ahLst/>
            <a:cxnLst/>
            <a:rect l="l" t="t" r="r" b="b"/>
            <a:pathLst>
              <a:path w="95885">
                <a:moveTo>
                  <a:pt x="0" y="0"/>
                </a:moveTo>
                <a:lnTo>
                  <a:pt x="9575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117085" y="6856361"/>
            <a:ext cx="62865" cy="0"/>
          </a:xfrm>
          <a:custGeom>
            <a:avLst/>
            <a:gdLst/>
            <a:ahLst/>
            <a:cxnLst/>
            <a:rect l="l" t="t" r="r" b="b"/>
            <a:pathLst>
              <a:path w="62864">
                <a:moveTo>
                  <a:pt x="0" y="0"/>
                </a:moveTo>
                <a:lnTo>
                  <a:pt x="627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580737" y="6856361"/>
            <a:ext cx="115570" cy="0"/>
          </a:xfrm>
          <a:custGeom>
            <a:avLst/>
            <a:gdLst/>
            <a:ahLst/>
            <a:cxnLst/>
            <a:rect l="l" t="t" r="r" b="b"/>
            <a:pathLst>
              <a:path w="115570">
                <a:moveTo>
                  <a:pt x="0" y="0"/>
                </a:moveTo>
                <a:lnTo>
                  <a:pt x="11545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67829" y="4718215"/>
          <a:ext cx="4354830" cy="2433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1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1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91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Type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Distribution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b="1" spc="-5" dirty="0">
                          <a:latin typeface="LM Roman 8"/>
                          <a:cs typeface="LM Roman 8"/>
                        </a:rPr>
                        <a:t>PDF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ψ</a:t>
                      </a:r>
                      <a:r>
                        <a:rPr sz="800" spc="1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ω</a:t>
                      </a:r>
                      <a:r>
                        <a:rPr sz="800" spc="15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10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800" spc="105" dirty="0">
                          <a:latin typeface="LM Roman 8"/>
                          <a:cs typeface="LM Roman 8"/>
                        </a:rPr>
                        <a:t>[</a:t>
                      </a:r>
                      <a:r>
                        <a:rPr sz="800" i="1" spc="10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105" dirty="0">
                          <a:latin typeface="LM Roman 8"/>
                          <a:cs typeface="LM Roman 8"/>
                        </a:rPr>
                        <a:t>]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30" dirty="0">
                          <a:latin typeface="LM Roman 8"/>
                          <a:cs typeface="LM Roman 8"/>
                        </a:rPr>
                        <a:t>Var(</a:t>
                      </a: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30" dirty="0">
                          <a:latin typeface="LM Roman 8"/>
                          <a:cs typeface="LM Roman 8"/>
                        </a:rPr>
                        <a:t>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6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(D)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755" marR="123189" indent="-70485">
                        <a:lnSpc>
                          <a:spcPct val="134900"/>
                        </a:lnSpc>
                        <a:spcBef>
                          <a:spcPts val="350"/>
                        </a:spcBef>
                      </a:pPr>
                      <a:r>
                        <a:rPr sz="800" i="1" spc="204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∼ </a:t>
                      </a:r>
                      <a:r>
                        <a:rPr sz="800" i="1" spc="40" dirty="0">
                          <a:latin typeface="DejaVu Sans"/>
                          <a:cs typeface="DejaVu Sans"/>
                        </a:rPr>
                        <a:t>B</a:t>
                      </a:r>
                      <a:r>
                        <a:rPr sz="800" spc="4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40" dirty="0">
                          <a:latin typeface="Times New Roman"/>
                          <a:cs typeface="Times New Roman"/>
                        </a:rPr>
                        <a:t>n, </a:t>
                      </a:r>
                      <a:r>
                        <a:rPr sz="800" i="1" spc="1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800" spc="10" dirty="0">
                          <a:latin typeface="LM Roman 8"/>
                          <a:cs typeface="LM Roman 8"/>
                        </a:rPr>
                        <a:t>) 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Binomial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55"/>
                        </a:lnSpc>
                        <a:spcBef>
                          <a:spcPts val="484"/>
                        </a:spcBef>
                      </a:pP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8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10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1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6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60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1500" spc="195" baseline="58333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200" i="1" spc="195" baseline="4861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500" spc="195" baseline="58333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1500" spc="-209" baseline="5833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9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900" i="1" spc="142" baseline="32407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9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900" i="1" spc="142" baseline="32407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900" i="1" spc="142" baseline="32407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900" i="1" spc="142" baseline="32407" dirty="0">
                          <a:latin typeface="Times New Roman"/>
                          <a:cs typeface="Times New Roman"/>
                        </a:rPr>
                        <a:t>x</a:t>
                      </a:r>
                      <a:endParaRPr sz="900" baseline="32407">
                        <a:latin typeface="Times New Roman"/>
                        <a:cs typeface="Times New Roman"/>
                      </a:endParaRPr>
                    </a:p>
                    <a:p>
                      <a:pPr marL="208915" algn="ctr">
                        <a:lnSpc>
                          <a:spcPts val="630"/>
                        </a:lnSpc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ts val="869"/>
                        </a:lnSpc>
                      </a:pP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[</a:t>
                      </a:r>
                      <a:r>
                        <a:rPr sz="800" spc="-16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0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,n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]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6159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800" spc="3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pe</a:t>
                      </a:r>
                      <a:r>
                        <a:rPr sz="900" i="1" spc="52" baseline="27777" dirty="0">
                          <a:latin typeface="Times New Roman"/>
                          <a:cs typeface="Times New Roman"/>
                        </a:rPr>
                        <a:t>iω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spc="-5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50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800" spc="50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900" i="1" spc="75" baseline="27777" dirty="0">
                          <a:latin typeface="Times New Roman"/>
                          <a:cs typeface="Times New Roman"/>
                        </a:rPr>
                        <a:t>n</a:t>
                      </a:r>
                      <a:endParaRPr sz="900" baseline="27777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np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800" i="1" spc="30" dirty="0">
                          <a:latin typeface="Times New Roman"/>
                          <a:cs typeface="Times New Roman"/>
                        </a:rPr>
                        <a:t>npq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1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3679" marR="148590" indent="-80010">
                        <a:lnSpc>
                          <a:spcPct val="119400"/>
                        </a:lnSpc>
                        <a:spcBef>
                          <a:spcPts val="455"/>
                        </a:spcBef>
                      </a:pPr>
                      <a:r>
                        <a:rPr sz="800" i="1" spc="204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∼ 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Po(</a:t>
                      </a:r>
                      <a:r>
                        <a:rPr sz="800" i="1" dirty="0">
                          <a:latin typeface="Times New Roman"/>
                          <a:cs typeface="Times New Roman"/>
                        </a:rPr>
                        <a:t>µ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) 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Poisson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577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 algn="ctr">
                        <a:lnSpc>
                          <a:spcPts val="705"/>
                        </a:lnSpc>
                      </a:pPr>
                      <a:r>
                        <a:rPr sz="1200" i="1" spc="142" baseline="-20833" dirty="0">
                          <a:latin typeface="Times New Roman"/>
                          <a:cs typeface="Times New Roman"/>
                        </a:rPr>
                        <a:t>µ</a:t>
                      </a:r>
                      <a:r>
                        <a:rPr sz="600" i="1" spc="95" dirty="0">
                          <a:latin typeface="Times New Roman"/>
                          <a:cs typeface="Times New Roman"/>
                        </a:rPr>
                        <a:t>x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ts val="900"/>
                        </a:lnSpc>
                        <a:tabLst>
                          <a:tab pos="840105" algn="l"/>
                        </a:tabLst>
                      </a:pP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P </a:t>
                      </a:r>
                      <a:r>
                        <a:rPr sz="800" spc="10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100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18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6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60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	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900" i="1" spc="97" baseline="32407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900" i="1" spc="97" baseline="32407" dirty="0">
                          <a:latin typeface="Times New Roman"/>
                          <a:cs typeface="Times New Roman"/>
                        </a:rPr>
                        <a:t>µ</a:t>
                      </a:r>
                      <a:endParaRPr sz="900" baseline="32407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185"/>
                        </a:spcBef>
                        <a:tabLst>
                          <a:tab pos="718185" algn="l"/>
                        </a:tabLst>
                      </a:pP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</a:t>
                      </a:r>
                      <a:r>
                        <a:rPr sz="800" i="1" spc="-2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-5" dirty="0">
                          <a:latin typeface="MathJax_AMS"/>
                          <a:cs typeface="MathJax_AMS"/>
                        </a:rPr>
                        <a:t>N	</a:t>
                      </a:r>
                      <a:r>
                        <a:rPr sz="1200" i="1" spc="89" baseline="38194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200" spc="89" baseline="38194" dirty="0">
                          <a:latin typeface="LM Roman 8"/>
                          <a:cs typeface="LM Roman 8"/>
                        </a:rPr>
                        <a:t>!</a:t>
                      </a:r>
                      <a:endParaRPr sz="1200" baseline="38194">
                        <a:latin typeface="LM Roman 8"/>
                        <a:cs typeface="LM Roman 8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00" i="1" spc="104" baseline="-20833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600" i="1" spc="70" dirty="0">
                          <a:latin typeface="Times New Roman"/>
                          <a:cs typeface="Times New Roman"/>
                        </a:rPr>
                        <a:t>µ</a:t>
                      </a:r>
                      <a:r>
                        <a:rPr sz="600" spc="70" dirty="0">
                          <a:latin typeface="LM Roman 6"/>
                          <a:cs typeface="LM Roman 6"/>
                        </a:rPr>
                        <a:t>(</a:t>
                      </a:r>
                      <a:r>
                        <a:rPr sz="600" i="1" spc="7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750" i="1" spc="104" baseline="27777" dirty="0">
                          <a:latin typeface="Arial"/>
                          <a:cs typeface="Arial"/>
                        </a:rPr>
                        <a:t>iω</a:t>
                      </a:r>
                      <a:r>
                        <a:rPr sz="750" i="1" spc="-120" baseline="27777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600" i="1" spc="20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600" spc="20" dirty="0">
                          <a:latin typeface="LM Roman 6"/>
                          <a:cs typeface="LM Roman 6"/>
                        </a:rPr>
                        <a:t>1)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µ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µ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968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589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(C)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 marR="128905" indent="-81915">
                        <a:lnSpc>
                          <a:spcPct val="145200"/>
                        </a:lnSpc>
                        <a:spcBef>
                          <a:spcPts val="405"/>
                        </a:spcBef>
                      </a:pPr>
                      <a:r>
                        <a:rPr sz="800" i="1" spc="204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∼</a:t>
                      </a:r>
                      <a:r>
                        <a:rPr sz="800" i="1" spc="-4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-60" dirty="0">
                          <a:latin typeface="DejaVu Sans"/>
                          <a:cs typeface="DejaVu Sans"/>
                        </a:rPr>
                        <a:t>U</a:t>
                      </a:r>
                      <a:r>
                        <a:rPr sz="800" i="1" spc="-18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2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a,</a:t>
                      </a:r>
                      <a:r>
                        <a:rPr sz="800" i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-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800" spc="-25" dirty="0">
                          <a:latin typeface="LM Roman 8"/>
                          <a:cs typeface="LM Roman 8"/>
                        </a:rPr>
                        <a:t>) 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Uniform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51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ts val="755"/>
                        </a:lnSpc>
                        <a:spcBef>
                          <a:spcPts val="28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800" u="sng" spc="-9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1</a:t>
                      </a:r>
                      <a:r>
                        <a:rPr sz="800" u="sng" spc="-140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 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75565">
                        <a:lnSpc>
                          <a:spcPts val="755"/>
                        </a:lnSpc>
                      </a:pP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5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L="75565">
                        <a:lnSpc>
                          <a:spcPts val="480"/>
                        </a:lnSpc>
                        <a:spcBef>
                          <a:spcPts val="434"/>
                        </a:spcBef>
                      </a:pP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 </a:t>
                      </a:r>
                      <a:r>
                        <a:rPr sz="800" spc="15" dirty="0">
                          <a:latin typeface="LM Roman 8"/>
                          <a:cs typeface="LM Roman 8"/>
                        </a:rPr>
                        <a:t>[</a:t>
                      </a: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a,b</a:t>
                      </a:r>
                      <a:r>
                        <a:rPr sz="1200" i="1" spc="22" baseline="55555" dirty="0">
                          <a:latin typeface="Times New Roman"/>
                          <a:cs typeface="Times New Roman"/>
                        </a:rPr>
                        <a:t>b </a:t>
                      </a:r>
                      <a:r>
                        <a:rPr sz="1200" i="1" spc="-22" baseline="5555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1200" i="1" spc="-300" baseline="5555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200" i="1" spc="67" baseline="55555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 baseline="55555">
                        <a:latin typeface="Times New Roman"/>
                        <a:cs typeface="Times New Roman"/>
                      </a:endParaRPr>
                    </a:p>
                    <a:p>
                      <a:pPr marL="430530">
                        <a:lnSpc>
                          <a:spcPts val="480"/>
                        </a:lnSpc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]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1200" i="1" spc="75" baseline="-20833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600" i="1" spc="50" dirty="0">
                          <a:latin typeface="Times New Roman"/>
                          <a:cs typeface="Times New Roman"/>
                        </a:rPr>
                        <a:t>iωb </a:t>
                      </a:r>
                      <a:r>
                        <a:rPr sz="1200" i="1" spc="-22" baseline="-20833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1200" i="1" spc="-82" baseline="-20833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1200" i="1" spc="104" baseline="-20833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600" i="1" spc="70" dirty="0">
                          <a:latin typeface="Times New Roman"/>
                          <a:cs typeface="Times New Roman"/>
                        </a:rPr>
                        <a:t>iωa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800" spc="-2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-20" dirty="0">
                          <a:latin typeface="Times New Roman"/>
                          <a:cs typeface="Times New Roman"/>
                        </a:rPr>
                        <a:t>b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9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800" spc="1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iω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 marR="85725" indent="-90805">
                        <a:lnSpc>
                          <a:spcPct val="120000"/>
                        </a:lnSpc>
                        <a:spcBef>
                          <a:spcPts val="90"/>
                        </a:spcBef>
                      </a:pPr>
                      <a:r>
                        <a:rPr sz="800" i="1" u="sng" spc="4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800" i="1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+</a:t>
                      </a:r>
                      <a:r>
                        <a:rPr sz="800" u="sng" spc="-140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u="sng" spc="-4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b </a:t>
                      </a:r>
                      <a:r>
                        <a:rPr sz="800" i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2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spc="-20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-20" dirty="0">
                          <a:latin typeface="Times New Roman"/>
                          <a:cs typeface="Times New Roman"/>
                        </a:rPr>
                        <a:t>b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800" i="1" spc="-10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800" spc="1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900" spc="22" baseline="27777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27777">
                        <a:latin typeface="LM Roman 6"/>
                        <a:cs typeface="LM Roman 6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12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8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0" marR="102870" indent="-89535">
                        <a:lnSpc>
                          <a:spcPct val="137700"/>
                        </a:lnSpc>
                        <a:spcBef>
                          <a:spcPts val="535"/>
                        </a:spcBef>
                      </a:pPr>
                      <a:r>
                        <a:rPr sz="800" i="1" spc="204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∼</a:t>
                      </a:r>
                      <a:r>
                        <a:rPr sz="800" i="1" spc="-4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i="1" spc="90" dirty="0">
                          <a:latin typeface="DejaVu Sans"/>
                          <a:cs typeface="DejaVu Sans"/>
                        </a:rPr>
                        <a:t>N</a:t>
                      </a:r>
                      <a:r>
                        <a:rPr sz="800" i="1" spc="-15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2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25" dirty="0">
                          <a:latin typeface="Times New Roman"/>
                          <a:cs typeface="Times New Roman"/>
                        </a:rPr>
                        <a:t>µ,</a:t>
                      </a:r>
                      <a:r>
                        <a:rPr sz="800" i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55" dirty="0">
                          <a:latin typeface="Times New Roman"/>
                          <a:cs typeface="Times New Roman"/>
                        </a:rPr>
                        <a:t>σ</a:t>
                      </a:r>
                      <a:r>
                        <a:rPr sz="800" spc="55" dirty="0">
                          <a:latin typeface="LM Roman 8"/>
                          <a:cs typeface="LM Roman 8"/>
                        </a:rPr>
                        <a:t>) 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Gaussian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679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025"/>
                        </a:lnSpc>
                      </a:pPr>
                      <a:r>
                        <a:rPr sz="1200" spc="-7" baseline="-52083" dirty="0">
                          <a:latin typeface="LM Roman 8"/>
                          <a:cs typeface="LM Roman 8"/>
                        </a:rPr>
                        <a:t>( ) =</a:t>
                      </a:r>
                      <a:r>
                        <a:rPr sz="1200" u="sng" spc="-7" baseline="-13888" dirty="0">
                          <a:uFill>
                            <a:solidFill>
                              <a:srgbClr val="000000"/>
                            </a:solidFill>
                          </a:uFill>
                          <a:latin typeface="LM Roman 8"/>
                          <a:cs typeface="LM Roman 8"/>
                        </a:rPr>
                        <a:t> 1</a:t>
                      </a:r>
                      <a:r>
                        <a:rPr sz="1200" spc="-7" baseline="-13888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900" i="1" spc="104" baseline="-23148" dirty="0">
                          <a:latin typeface="DejaVu Sans"/>
                          <a:cs typeface="DejaVu Sans"/>
                        </a:rPr>
                        <a:t>− </a:t>
                      </a:r>
                      <a:r>
                        <a:rPr sz="500" spc="-5" dirty="0">
                          <a:latin typeface="LM Roman 5"/>
                          <a:cs typeface="LM Roman 5"/>
                        </a:rPr>
                        <a:t>1 </a:t>
                      </a:r>
                      <a:r>
                        <a:rPr sz="1500" spc="262" baseline="250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-157" baseline="250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i="1" u="sng" spc="195" baseline="555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x</a:t>
                      </a:r>
                      <a:r>
                        <a:rPr sz="750" i="1" u="sng" spc="195" baseline="5555" dirty="0">
                          <a:uFill>
                            <a:solidFill>
                              <a:srgbClr val="000000"/>
                            </a:solidFill>
                          </a:uFill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750" i="1" u="sng" spc="195" baseline="555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µ</a:t>
                      </a:r>
                      <a:r>
                        <a:rPr sz="750" i="1" spc="195" baseline="5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127" baseline="25000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750" spc="-127" baseline="27777" dirty="0">
                          <a:latin typeface="LM Roman 5"/>
                          <a:cs typeface="LM Roman 5"/>
                        </a:rPr>
                        <a:t>2</a:t>
                      </a:r>
                      <a:endParaRPr sz="750" baseline="27777">
                        <a:latin typeface="LM Roman 5"/>
                        <a:cs typeface="LM Roman 5"/>
                      </a:endParaRPr>
                    </a:p>
                    <a:p>
                      <a:pPr marL="868680">
                        <a:lnSpc>
                          <a:spcPts val="190"/>
                        </a:lnSpc>
                        <a:tabLst>
                          <a:tab pos="1059180" algn="l"/>
                        </a:tabLst>
                      </a:pPr>
                      <a:r>
                        <a:rPr sz="500" spc="-5" dirty="0">
                          <a:latin typeface="LM Roman 5"/>
                          <a:cs typeface="LM Roman 5"/>
                        </a:rPr>
                        <a:t>2	</a:t>
                      </a:r>
                      <a:r>
                        <a:rPr sz="500" i="1" spc="100" dirty="0">
                          <a:latin typeface="Arial"/>
                          <a:cs typeface="Arial"/>
                        </a:rPr>
                        <a:t>σ</a:t>
                      </a:r>
                      <a:endParaRPr sz="50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ts val="655"/>
                        </a:lnSpc>
                        <a:tabLst>
                          <a:tab pos="441325" algn="l"/>
                        </a:tabLst>
                      </a:pP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x	</a:t>
                      </a:r>
                      <a:r>
                        <a:rPr sz="800" i="1" spc="95" dirty="0">
                          <a:latin typeface="DejaVu Sans"/>
                          <a:cs typeface="DejaVu Sans"/>
                        </a:rPr>
                        <a:t>√</a:t>
                      </a:r>
                      <a:r>
                        <a:rPr sz="1200" spc="142" baseline="-45138" dirty="0">
                          <a:latin typeface="LM Roman 8"/>
                          <a:cs typeface="LM Roman 8"/>
                        </a:rPr>
                        <a:t>2</a:t>
                      </a:r>
                      <a:r>
                        <a:rPr sz="1200" i="1" spc="142" baseline="-45138" dirty="0">
                          <a:latin typeface="Times New Roman"/>
                          <a:cs typeface="Times New Roman"/>
                        </a:rPr>
                        <a:t>πσ</a:t>
                      </a:r>
                      <a:r>
                        <a:rPr sz="1200" i="1" spc="-89" baseline="-45138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</a:t>
                      </a:r>
                      <a:r>
                        <a:rPr sz="800" i="1" spc="-114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-5" dirty="0">
                          <a:latin typeface="MathJax_AMS"/>
                          <a:cs typeface="MathJax_AMS"/>
                        </a:rPr>
                        <a:t>R</a:t>
                      </a:r>
                      <a:endParaRPr sz="800">
                        <a:latin typeface="MathJax_AMS"/>
                        <a:cs typeface="MathJax_AMS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935">
                        <a:lnSpc>
                          <a:spcPts val="265"/>
                        </a:lnSpc>
                        <a:spcBef>
                          <a:spcPts val="620"/>
                        </a:spcBef>
                      </a:pPr>
                      <a:r>
                        <a:rPr sz="500" spc="-5" dirty="0">
                          <a:latin typeface="LM Roman 5"/>
                          <a:cs typeface="LM Roman 5"/>
                        </a:rPr>
                        <a:t>1 2</a:t>
                      </a:r>
                      <a:r>
                        <a:rPr sz="500" spc="114" dirty="0">
                          <a:latin typeface="LM Roman 5"/>
                          <a:cs typeface="LM Roman 5"/>
                        </a:rPr>
                        <a:t> </a:t>
                      </a:r>
                      <a:r>
                        <a:rPr sz="500" spc="-5" dirty="0">
                          <a:latin typeface="LM Roman 5"/>
                          <a:cs typeface="LM Roman 5"/>
                        </a:rPr>
                        <a:t>2</a:t>
                      </a:r>
                      <a:endParaRPr sz="500">
                        <a:latin typeface="LM Roman 5"/>
                        <a:cs typeface="LM Roman 5"/>
                      </a:endParaRPr>
                    </a:p>
                    <a:p>
                      <a:pPr marL="78105">
                        <a:lnSpc>
                          <a:spcPts val="625"/>
                        </a:lnSpc>
                      </a:pPr>
                      <a:r>
                        <a:rPr sz="1200" i="1" spc="104" baseline="-2430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600" i="1" spc="70" dirty="0">
                          <a:latin typeface="Times New Roman"/>
                          <a:cs typeface="Times New Roman"/>
                        </a:rPr>
                        <a:t>iωµ</a:t>
                      </a:r>
                      <a:r>
                        <a:rPr sz="600" i="1" spc="70" dirty="0">
                          <a:latin typeface="DejaVu Sans"/>
                          <a:cs typeface="DejaVu Sans"/>
                        </a:rPr>
                        <a:t>− </a:t>
                      </a:r>
                      <a:r>
                        <a:rPr sz="750" spc="-7" baseline="-27777" dirty="0">
                          <a:latin typeface="LM Roman 5"/>
                          <a:cs typeface="LM Roman 5"/>
                        </a:rPr>
                        <a:t>2 </a:t>
                      </a:r>
                      <a:r>
                        <a:rPr sz="600" i="1" spc="40" dirty="0">
                          <a:latin typeface="Times New Roman"/>
                          <a:cs typeface="Times New Roman"/>
                        </a:rPr>
                        <a:t>ω</a:t>
                      </a:r>
                      <a:r>
                        <a:rPr sz="600" i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600" i="1" spc="130" dirty="0">
                          <a:latin typeface="Times New Roman"/>
                          <a:cs typeface="Times New Roman"/>
                        </a:rPr>
                        <a:t>σ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208915">
                        <a:lnSpc>
                          <a:spcPct val="100000"/>
                        </a:lnSpc>
                        <a:spcBef>
                          <a:spcPts val="705"/>
                        </a:spcBef>
                        <a:tabLst>
                          <a:tab pos="54229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µ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200" i="1" spc="82" baseline="-20833" dirty="0">
                          <a:latin typeface="Times New Roman"/>
                          <a:cs typeface="Times New Roman"/>
                        </a:rPr>
                        <a:t>σ</a:t>
                      </a:r>
                      <a:r>
                        <a:rPr sz="600" spc="55" dirty="0">
                          <a:latin typeface="LM Roman 6"/>
                          <a:cs typeface="LM Roman 6"/>
                        </a:rPr>
                        <a:t>2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781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4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 marR="116839" indent="-5080">
                        <a:lnSpc>
                          <a:spcPct val="158700"/>
                        </a:lnSpc>
                        <a:spcBef>
                          <a:spcPts val="50"/>
                        </a:spcBef>
                      </a:pPr>
                      <a:r>
                        <a:rPr sz="800" i="1" spc="204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i="1" spc="-15" dirty="0">
                          <a:latin typeface="DejaVu Sans"/>
                          <a:cs typeface="DejaVu Sans"/>
                        </a:rPr>
                        <a:t>∼ </a:t>
                      </a:r>
                      <a:r>
                        <a:rPr sz="800" spc="20" dirty="0">
                          <a:latin typeface="LM Roman 8"/>
                          <a:cs typeface="LM Roman 8"/>
                        </a:rPr>
                        <a:t>Exp(</a:t>
                      </a:r>
                      <a:r>
                        <a:rPr sz="800" i="1" spc="20" dirty="0"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800" spc="20" dirty="0">
                          <a:latin typeface="LM Roman 8"/>
                          <a:cs typeface="LM Roman 8"/>
                        </a:rPr>
                        <a:t>) 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Ex</a:t>
                      </a:r>
                      <a:r>
                        <a:rPr sz="800" spc="20" dirty="0">
                          <a:latin typeface="LM Roman 8"/>
                          <a:cs typeface="LM Roman 8"/>
                        </a:rPr>
                        <a:t>p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one</a:t>
                      </a:r>
                      <a:r>
                        <a:rPr sz="800" spc="-25" dirty="0">
                          <a:latin typeface="LM Roman 8"/>
                          <a:cs typeface="LM Roman 8"/>
                        </a:rPr>
                        <a:t>n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tial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650875">
                        <a:lnSpc>
                          <a:spcPct val="158700"/>
                        </a:lnSpc>
                        <a:spcBef>
                          <a:spcPts val="50"/>
                        </a:spcBef>
                      </a:pPr>
                      <a:r>
                        <a:rPr sz="800" i="1" spc="18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800" i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(</a:t>
                      </a:r>
                      <a:r>
                        <a:rPr sz="800" i="1" spc="3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spc="35" dirty="0">
                          <a:latin typeface="LM Roman 8"/>
                          <a:cs typeface="LM Roman 8"/>
                        </a:rPr>
                        <a:t>)</a:t>
                      </a:r>
                      <a:r>
                        <a:rPr sz="800" spc="-8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=</a:t>
                      </a:r>
                      <a:r>
                        <a:rPr sz="800" spc="-8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114" dirty="0">
                          <a:latin typeface="Times New Roman"/>
                          <a:cs typeface="Times New Roman"/>
                        </a:rPr>
                        <a:t>λe</a:t>
                      </a:r>
                      <a:r>
                        <a:rPr sz="900" i="1" spc="172" baseline="32407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900" i="1" spc="172" baseline="32407" dirty="0">
                          <a:latin typeface="Times New Roman"/>
                          <a:cs typeface="Times New Roman"/>
                        </a:rPr>
                        <a:t>λx  </a:t>
                      </a:r>
                      <a:r>
                        <a:rPr sz="800" i="1" spc="120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800" i="1" spc="-135" dirty="0">
                          <a:latin typeface="DejaVu Sans"/>
                          <a:cs typeface="DejaVu Sans"/>
                        </a:rPr>
                        <a:t>∈</a:t>
                      </a:r>
                      <a:r>
                        <a:rPr sz="800" i="1" spc="-120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800" spc="-5" dirty="0">
                          <a:latin typeface="MathJax_AMS"/>
                          <a:cs typeface="MathJax_AMS"/>
                        </a:rPr>
                        <a:t>R</a:t>
                      </a:r>
                      <a:r>
                        <a:rPr sz="900" spc="-7" baseline="-9259" dirty="0">
                          <a:latin typeface="LM Roman 6"/>
                          <a:cs typeface="LM Roman 6"/>
                        </a:rPr>
                        <a:t>+</a:t>
                      </a:r>
                      <a:endParaRPr sz="900" baseline="-9259">
                        <a:latin typeface="LM Roman 6"/>
                        <a:cs typeface="LM Roman 6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  <a:spcBef>
                          <a:spcPts val="60"/>
                        </a:spcBef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1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marR="10160" algn="ctr">
                        <a:lnSpc>
                          <a:spcPts val="865"/>
                        </a:lnSpc>
                      </a:pPr>
                      <a:r>
                        <a:rPr sz="1200" spc="-7" baseline="-24305" dirty="0">
                          <a:latin typeface="LM Roman 8"/>
                          <a:cs typeface="LM Roman 8"/>
                        </a:rPr>
                        <a:t>1 </a:t>
                      </a:r>
                      <a:r>
                        <a:rPr sz="1200" i="1" spc="-22" baseline="-24305" dirty="0">
                          <a:latin typeface="DejaVu Sans"/>
                          <a:cs typeface="DejaVu Sans"/>
                        </a:rPr>
                        <a:t>−</a:t>
                      </a:r>
                      <a:r>
                        <a:rPr sz="1200" i="1" spc="-97" baseline="-24305" dirty="0">
                          <a:latin typeface="DejaVu Sans"/>
                          <a:cs typeface="DejaVu Sans"/>
                        </a:rPr>
                        <a:t> </a:t>
                      </a:r>
                      <a:r>
                        <a:rPr sz="600" i="1" spc="65" dirty="0">
                          <a:latin typeface="Times New Roman"/>
                          <a:cs typeface="Times New Roman"/>
                        </a:rPr>
                        <a:t>iω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84785" algn="ctr">
                        <a:lnSpc>
                          <a:spcPts val="660"/>
                        </a:lnSpc>
                      </a:pPr>
                      <a:r>
                        <a:rPr sz="600" i="1" dirty="0">
                          <a:latin typeface="Times New Roman"/>
                          <a:cs typeface="Times New Roman"/>
                        </a:rPr>
                        <a:t>λ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1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λ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4"/>
                        </a:lnSpc>
                        <a:spcBef>
                          <a:spcPts val="60"/>
                        </a:spcBef>
                      </a:pPr>
                      <a:r>
                        <a:rPr sz="800" dirty="0">
                          <a:latin typeface="LM Roman 8"/>
                          <a:cs typeface="LM Roman 8"/>
                        </a:rPr>
                        <a:t>1</a:t>
                      </a:r>
                      <a:endParaRPr sz="800">
                        <a:latin typeface="LM Roman 8"/>
                        <a:cs typeface="LM Roman 8"/>
                      </a:endParaRPr>
                    </a:p>
                    <a:p>
                      <a:pPr algn="ctr">
                        <a:lnSpc>
                          <a:spcPts val="944"/>
                        </a:lnSpc>
                      </a:pPr>
                      <a:r>
                        <a:rPr sz="1200" i="1" spc="104" baseline="-17361" dirty="0"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600" spc="70" dirty="0">
                          <a:latin typeface="LM Roman 6"/>
                          <a:cs typeface="LM Roman 6"/>
                        </a:rPr>
                        <a:t>2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" name="object 54"/>
          <p:cNvSpPr txBox="1"/>
          <p:nvPr/>
        </p:nvSpPr>
        <p:spPr>
          <a:xfrm>
            <a:off x="5097767" y="683953"/>
            <a:ext cx="1748789" cy="162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5"/>
              </a:lnSpc>
              <a:tabLst>
                <a:tab pos="457200" algn="l"/>
              </a:tabLst>
            </a:pPr>
            <a:r>
              <a:rPr sz="1000" b="1" spc="-5" dirty="0">
                <a:latin typeface="LM Roman 10"/>
                <a:cs typeface="LM Roman 10"/>
              </a:rPr>
              <a:t>5.1.5	</a:t>
            </a:r>
            <a:r>
              <a:rPr sz="900" b="1" spc="-10" dirty="0">
                <a:latin typeface="LM Roman 9"/>
                <a:cs typeface="LM Roman 9"/>
              </a:rPr>
              <a:t>Parameter</a:t>
            </a:r>
            <a:r>
              <a:rPr sz="900" b="1" spc="-30" dirty="0">
                <a:latin typeface="LM Roman 9"/>
                <a:cs typeface="LM Roman 9"/>
              </a:rPr>
              <a:t> </a:t>
            </a:r>
            <a:r>
              <a:rPr sz="900" b="1" spc="-5" dirty="0">
                <a:latin typeface="LM Roman 9"/>
                <a:cs typeface="LM Roman 9"/>
              </a:rPr>
              <a:t>estimation</a:t>
            </a:r>
            <a:endParaRPr sz="900">
              <a:latin typeface="LM Roman 9"/>
              <a:cs typeface="LM Roman 9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059654" y="913217"/>
            <a:ext cx="4581525" cy="2489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50800" marR="43180">
              <a:lnSpc>
                <a:spcPts val="800"/>
              </a:lnSpc>
              <a:spcBef>
                <a:spcPts val="254"/>
              </a:spcBef>
              <a:buFont typeface="DejaVu Sans"/>
              <a:buChar char="❒"/>
              <a:tabLst>
                <a:tab pos="167005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Random sample </a:t>
            </a:r>
            <a:r>
              <a:rPr sz="800" spc="-5" dirty="0">
                <a:latin typeface="LM Roman 8"/>
                <a:cs typeface="LM Roman 8"/>
              </a:rPr>
              <a:t>– A random sample is a collection of </a:t>
            </a:r>
            <a:r>
              <a:rPr sz="800" i="1" spc="110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random </a:t>
            </a:r>
            <a:r>
              <a:rPr sz="800" spc="-10" dirty="0">
                <a:latin typeface="LM Roman 8"/>
                <a:cs typeface="LM Roman 8"/>
              </a:rPr>
              <a:t>variables </a:t>
            </a:r>
            <a:r>
              <a:rPr sz="800" i="1" spc="90" dirty="0">
                <a:latin typeface="Times New Roman"/>
                <a:cs typeface="Times New Roman"/>
              </a:rPr>
              <a:t>X</a:t>
            </a:r>
            <a:r>
              <a:rPr sz="900" spc="135" baseline="-9259" dirty="0">
                <a:latin typeface="LM Roman 6"/>
                <a:cs typeface="LM Roman 6"/>
              </a:rPr>
              <a:t>1</a:t>
            </a:r>
            <a:r>
              <a:rPr sz="800" i="1" spc="90" dirty="0">
                <a:latin typeface="Times New Roman"/>
                <a:cs typeface="Times New Roman"/>
              </a:rPr>
              <a:t>, </a:t>
            </a:r>
            <a:r>
              <a:rPr sz="800" i="1" spc="35" dirty="0">
                <a:latin typeface="Times New Roman"/>
                <a:cs typeface="Times New Roman"/>
              </a:rPr>
              <a:t>..., </a:t>
            </a:r>
            <a:r>
              <a:rPr sz="800" i="1" spc="180" dirty="0">
                <a:latin typeface="Times New Roman"/>
                <a:cs typeface="Times New Roman"/>
              </a:rPr>
              <a:t>X</a:t>
            </a:r>
            <a:r>
              <a:rPr sz="900" i="1" spc="270" baseline="-9259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that  are independent and identically distributed with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i="1" spc="130" dirty="0">
                <a:latin typeface="Times New Roman"/>
                <a:cs typeface="Times New Roman"/>
              </a:rPr>
              <a:t>X</a:t>
            </a:r>
            <a:r>
              <a:rPr sz="800" spc="130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072354" y="1193976"/>
            <a:ext cx="4556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845" indent="-11938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57480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Estimator</a:t>
            </a:r>
            <a:r>
              <a:rPr sz="800" b="1" spc="10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estimator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i="1" spc="-165" dirty="0">
                <a:latin typeface="Times New Roman"/>
                <a:cs typeface="Times New Roman"/>
              </a:rPr>
              <a:t>θ</a:t>
            </a:r>
            <a:r>
              <a:rPr sz="1200" spc="-247" baseline="13888" dirty="0">
                <a:latin typeface="LM Roman 8"/>
                <a:cs typeface="LM Roman 8"/>
              </a:rPr>
              <a:t>ˆ</a:t>
            </a:r>
            <a:r>
              <a:rPr sz="1200" spc="-217" baseline="13888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function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data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used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infer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value</a:t>
            </a:r>
            <a:r>
              <a:rPr sz="800" spc="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072354" y="1219670"/>
            <a:ext cx="4556760" cy="511809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45"/>
              </a:spcBef>
            </a:pPr>
            <a:r>
              <a:rPr sz="800" spc="-10" dirty="0">
                <a:latin typeface="LM Roman 8"/>
                <a:cs typeface="LM Roman 8"/>
              </a:rPr>
              <a:t>unknown </a:t>
            </a:r>
            <a:r>
              <a:rPr sz="800" spc="-5" dirty="0">
                <a:latin typeface="LM Roman 8"/>
                <a:cs typeface="LM Roman 8"/>
              </a:rPr>
              <a:t>parameter </a:t>
            </a:r>
            <a:r>
              <a:rPr sz="800" i="1" dirty="0">
                <a:latin typeface="Times New Roman"/>
                <a:cs typeface="Times New Roman"/>
              </a:rPr>
              <a:t>θ </a:t>
            </a:r>
            <a:r>
              <a:rPr sz="800" spc="-5" dirty="0">
                <a:latin typeface="LM Roman 8"/>
                <a:cs typeface="LM Roman 8"/>
              </a:rPr>
              <a:t>in a statistical</a:t>
            </a:r>
            <a:r>
              <a:rPr sz="800" spc="-9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model.</a:t>
            </a:r>
            <a:endParaRPr sz="800">
              <a:latin typeface="LM Roman 8"/>
              <a:cs typeface="LM Roman 8"/>
            </a:endParaRPr>
          </a:p>
          <a:p>
            <a:pPr marL="38100" marR="30480">
              <a:lnSpc>
                <a:spcPct val="105600"/>
              </a:lnSpc>
              <a:spcBef>
                <a:spcPts val="395"/>
              </a:spcBef>
              <a:buFont typeface="DejaVu Sans"/>
              <a:buChar char="❒"/>
              <a:tabLst>
                <a:tab pos="160020" algn="l"/>
              </a:tabLst>
            </a:pP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Bias </a:t>
            </a:r>
            <a:r>
              <a:rPr sz="800" spc="-5" dirty="0">
                <a:latin typeface="LM Roman 8"/>
                <a:cs typeface="LM Roman 8"/>
              </a:rPr>
              <a:t>– The bias of an estimator </a:t>
            </a:r>
            <a:r>
              <a:rPr sz="800" i="1" spc="-165" dirty="0">
                <a:latin typeface="Times New Roman"/>
                <a:cs typeface="Times New Roman"/>
              </a:rPr>
              <a:t>θ</a:t>
            </a:r>
            <a:r>
              <a:rPr sz="1200" spc="-247" baseline="13888" dirty="0">
                <a:latin typeface="LM Roman 8"/>
                <a:cs typeface="LM Roman 8"/>
              </a:rPr>
              <a:t>ˆ </a:t>
            </a:r>
            <a:r>
              <a:rPr sz="800" spc="-5" dirty="0">
                <a:latin typeface="LM Roman 8"/>
                <a:cs typeface="LM Roman 8"/>
              </a:rPr>
              <a:t>is defined as </a:t>
            </a:r>
            <a:r>
              <a:rPr sz="800" dirty="0">
                <a:latin typeface="LM Roman 8"/>
                <a:cs typeface="LM Roman 8"/>
              </a:rPr>
              <a:t>being </a:t>
            </a:r>
            <a:r>
              <a:rPr sz="800" spc="-5" dirty="0">
                <a:latin typeface="LM Roman 8"/>
                <a:cs typeface="LM Roman 8"/>
              </a:rPr>
              <a:t>the difference </a:t>
            </a:r>
            <a:r>
              <a:rPr sz="800" spc="-10" dirty="0">
                <a:latin typeface="LM Roman 8"/>
                <a:cs typeface="LM Roman 8"/>
              </a:rPr>
              <a:t>between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dirty="0">
                <a:latin typeface="LM Roman 8"/>
                <a:cs typeface="LM Roman 8"/>
              </a:rPr>
              <a:t>expected  </a:t>
            </a:r>
            <a:r>
              <a:rPr sz="800" spc="-15" dirty="0">
                <a:latin typeface="LM Roman 8"/>
                <a:cs typeface="LM Roman 8"/>
              </a:rPr>
              <a:t>value </a:t>
            </a:r>
            <a:r>
              <a:rPr sz="800" spc="-5" dirty="0">
                <a:latin typeface="LM Roman 8"/>
                <a:cs typeface="LM Roman 8"/>
              </a:rPr>
              <a:t>of the distribution of </a:t>
            </a:r>
            <a:r>
              <a:rPr sz="800" i="1" spc="-165" dirty="0">
                <a:latin typeface="Times New Roman"/>
                <a:cs typeface="Times New Roman"/>
              </a:rPr>
              <a:t>θ</a:t>
            </a:r>
            <a:r>
              <a:rPr sz="1200" spc="-247" baseline="13888" dirty="0">
                <a:latin typeface="LM Roman 8"/>
                <a:cs typeface="LM Roman 8"/>
              </a:rPr>
              <a:t>ˆ </a:t>
            </a:r>
            <a:r>
              <a:rPr sz="800" spc="-5" dirty="0">
                <a:latin typeface="LM Roman 8"/>
                <a:cs typeface="LM Roman 8"/>
              </a:rPr>
              <a:t>and the true </a:t>
            </a:r>
            <a:r>
              <a:rPr sz="800" spc="-15" dirty="0">
                <a:latin typeface="LM Roman 8"/>
                <a:cs typeface="LM Roman 8"/>
              </a:rPr>
              <a:t>value, </a:t>
            </a:r>
            <a:r>
              <a:rPr sz="800" spc="-5" dirty="0">
                <a:latin typeface="LM Roman 8"/>
                <a:cs typeface="LM Roman 8"/>
              </a:rPr>
              <a:t>i.e.: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877545" y="1772792"/>
            <a:ext cx="946150" cy="20320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75"/>
              </a:spcBef>
            </a:pPr>
            <a:r>
              <a:rPr sz="800" spc="-55" dirty="0">
                <a:latin typeface="LM Roman 8"/>
                <a:cs typeface="LM Roman 8"/>
              </a:rPr>
              <a:t>Bias(</a:t>
            </a:r>
            <a:r>
              <a:rPr sz="800" i="1" spc="-55" dirty="0">
                <a:latin typeface="Times New Roman"/>
                <a:cs typeface="Times New Roman"/>
              </a:rPr>
              <a:t>θ</a:t>
            </a:r>
            <a:r>
              <a:rPr sz="1200" spc="-82" baseline="13888" dirty="0">
                <a:latin typeface="LM Roman 8"/>
                <a:cs typeface="LM Roman 8"/>
              </a:rPr>
              <a:t>ˆ</a:t>
            </a:r>
            <a:r>
              <a:rPr sz="800" spc="-5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-50" dirty="0">
                <a:latin typeface="Times New Roman"/>
                <a:cs typeface="Times New Roman"/>
              </a:rPr>
              <a:t>E</a:t>
            </a:r>
            <a:r>
              <a:rPr sz="800" spc="-50" dirty="0">
                <a:latin typeface="LM Roman 8"/>
                <a:cs typeface="LM Roman 8"/>
              </a:rPr>
              <a:t>[</a:t>
            </a:r>
            <a:r>
              <a:rPr sz="800" i="1" spc="-50" dirty="0">
                <a:latin typeface="Times New Roman"/>
                <a:cs typeface="Times New Roman"/>
              </a:rPr>
              <a:t>θ</a:t>
            </a:r>
            <a:r>
              <a:rPr sz="1200" spc="-75" baseline="13888" dirty="0">
                <a:latin typeface="LM Roman 8"/>
                <a:cs typeface="LM Roman 8"/>
              </a:rPr>
              <a:t>ˆ</a:t>
            </a:r>
            <a:r>
              <a:rPr sz="800" spc="-50" dirty="0">
                <a:latin typeface="LM Roman 8"/>
                <a:cs typeface="LM Roman 8"/>
              </a:rPr>
              <a:t>]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-190" dirty="0">
                <a:latin typeface="DejaVu Sans"/>
                <a:cs typeface="DejaVu Sans"/>
              </a:rPr>
              <a:t> </a:t>
            </a:r>
            <a:r>
              <a:rPr sz="800" i="1" dirty="0">
                <a:latin typeface="Times New Roman"/>
                <a:cs typeface="Times New Roman"/>
              </a:rPr>
              <a:t>θ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409209" y="2491219"/>
            <a:ext cx="96520" cy="0"/>
          </a:xfrm>
          <a:custGeom>
            <a:avLst/>
            <a:gdLst/>
            <a:ahLst/>
            <a:cxnLst/>
            <a:rect l="l" t="t" r="r" b="b"/>
            <a:pathLst>
              <a:path w="96520">
                <a:moveTo>
                  <a:pt x="0" y="0"/>
                </a:moveTo>
                <a:lnTo>
                  <a:pt x="9635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5787567" y="2453759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072367" y="2024265"/>
            <a:ext cx="4556760" cy="5873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390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an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estimator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said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to 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be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unbiased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when 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 </a:t>
            </a:r>
            <a:r>
              <a:rPr sz="800" i="1" spc="-50" dirty="0">
                <a:solidFill>
                  <a:srgbClr val="59439A"/>
                </a:solidFill>
                <a:latin typeface="Times New Roman"/>
                <a:cs typeface="Times New Roman"/>
              </a:rPr>
              <a:t>E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[</a:t>
            </a:r>
            <a:r>
              <a:rPr sz="800" i="1" spc="-50" dirty="0">
                <a:solidFill>
                  <a:srgbClr val="59439A"/>
                </a:solidFill>
                <a:latin typeface="Times New Roman"/>
                <a:cs typeface="Times New Roman"/>
              </a:rPr>
              <a:t>θ</a:t>
            </a:r>
            <a:r>
              <a:rPr sz="1200" spc="-75" baseline="13888" dirty="0">
                <a:solidFill>
                  <a:srgbClr val="59439A"/>
                </a:solidFill>
                <a:latin typeface="LM Roman 8"/>
                <a:cs typeface="LM Roman 8"/>
              </a:rPr>
              <a:t>ˆ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]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</a:t>
            </a:r>
            <a:r>
              <a:rPr sz="800" spc="-18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10" dirty="0">
                <a:solidFill>
                  <a:srgbClr val="59439A"/>
                </a:solidFill>
                <a:latin typeface="Times New Roman"/>
                <a:cs typeface="Times New Roman"/>
              </a:rPr>
              <a:t>θ</a:t>
            </a:r>
            <a:r>
              <a:rPr sz="800" i="1" spc="10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38100" marR="30480" algn="just">
              <a:lnSpc>
                <a:spcPct val="100000"/>
              </a:lnSpc>
              <a:spcBef>
                <a:spcPts val="290"/>
              </a:spcBef>
              <a:buFont typeface="DejaVu Sans"/>
              <a:buChar char="❒"/>
              <a:tabLst>
                <a:tab pos="16256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Sample mean and </a:t>
            </a:r>
            <a:r>
              <a:rPr sz="800" b="1" spc="-15" dirty="0">
                <a:solidFill>
                  <a:srgbClr val="020E86"/>
                </a:solidFill>
                <a:latin typeface="LM Roman 8"/>
                <a:cs typeface="LM Roman 8"/>
              </a:rPr>
              <a:t>variance </a:t>
            </a:r>
            <a:r>
              <a:rPr sz="800" spc="-5" dirty="0">
                <a:latin typeface="LM Roman 8"/>
                <a:cs typeface="LM Roman 8"/>
              </a:rPr>
              <a:t>– The sample mean and the sample </a:t>
            </a:r>
            <a:r>
              <a:rPr sz="800" spc="-10" dirty="0">
                <a:latin typeface="LM Roman 8"/>
                <a:cs typeface="LM Roman 8"/>
              </a:rPr>
              <a:t>variance </a:t>
            </a:r>
            <a:r>
              <a:rPr sz="800" spc="-5" dirty="0">
                <a:latin typeface="LM Roman 8"/>
                <a:cs typeface="LM Roman 8"/>
              </a:rPr>
              <a:t>of a random  sample are used to estimate the true mean </a:t>
            </a:r>
            <a:r>
              <a:rPr sz="800" i="1" spc="45" dirty="0">
                <a:latin typeface="Times New Roman"/>
                <a:cs typeface="Times New Roman"/>
              </a:rPr>
              <a:t>µ </a:t>
            </a:r>
            <a:r>
              <a:rPr sz="800" spc="-5" dirty="0">
                <a:latin typeface="LM Roman 8"/>
                <a:cs typeface="LM Roman 8"/>
              </a:rPr>
              <a:t>and the true </a:t>
            </a:r>
            <a:r>
              <a:rPr sz="800" spc="-10" dirty="0">
                <a:latin typeface="LM Roman 8"/>
                <a:cs typeface="LM Roman 8"/>
              </a:rPr>
              <a:t>variance </a:t>
            </a:r>
            <a:r>
              <a:rPr sz="800" i="1" spc="55" dirty="0">
                <a:latin typeface="Times New Roman"/>
                <a:cs typeface="Times New Roman"/>
              </a:rPr>
              <a:t>σ</a:t>
            </a:r>
            <a:r>
              <a:rPr sz="900" spc="82" baseline="27777" dirty="0">
                <a:latin typeface="LM Roman 6"/>
                <a:cs typeface="LM Roman 6"/>
              </a:rPr>
              <a:t>2 </a:t>
            </a:r>
            <a:r>
              <a:rPr sz="800" spc="-5" dirty="0">
                <a:latin typeface="LM Roman 8"/>
                <a:cs typeface="LM Roman 8"/>
              </a:rPr>
              <a:t>of a distribution, are  noted </a:t>
            </a:r>
            <a:r>
              <a:rPr sz="800" i="1" spc="204" dirty="0">
                <a:latin typeface="Times New Roman"/>
                <a:cs typeface="Times New Roman"/>
              </a:rPr>
              <a:t>X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80" dirty="0">
                <a:latin typeface="Times New Roman"/>
                <a:cs typeface="Times New Roman"/>
              </a:rPr>
              <a:t>s </a:t>
            </a:r>
            <a:r>
              <a:rPr sz="800" spc="-10" dirty="0">
                <a:latin typeface="LM Roman 8"/>
                <a:cs typeface="LM Roman 8"/>
              </a:rPr>
              <a:t>respectively, </a:t>
            </a:r>
            <a:r>
              <a:rPr sz="800" spc="-5" dirty="0">
                <a:latin typeface="LM Roman 8"/>
                <a:cs typeface="LM Roman 8"/>
              </a:rPr>
              <a:t>and are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7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031255" y="2803347"/>
            <a:ext cx="96520" cy="0"/>
          </a:xfrm>
          <a:custGeom>
            <a:avLst/>
            <a:gdLst/>
            <a:ahLst/>
            <a:cxnLst/>
            <a:rect l="l" t="t" r="r" b="b"/>
            <a:pathLst>
              <a:path w="96520">
                <a:moveTo>
                  <a:pt x="0" y="0"/>
                </a:moveTo>
                <a:lnTo>
                  <a:pt x="9635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6018555" y="2776307"/>
            <a:ext cx="2355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04" dirty="0">
                <a:latin typeface="Times New Roman"/>
                <a:cs typeface="Times New Roman"/>
              </a:rPr>
              <a:t>X</a:t>
            </a:r>
            <a:r>
              <a:rPr sz="800" i="1" spc="2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273482" y="2680983"/>
            <a:ext cx="90805" cy="31813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290"/>
              </a:spcBef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i="1" spc="110" dirty="0">
                <a:latin typeface="Times New Roman"/>
                <a:cs typeface="Times New Roman"/>
              </a:rPr>
              <a:t>n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387617" y="2953441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660984" y="2817042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988240" y="2650045"/>
            <a:ext cx="768985" cy="448309"/>
            <a:chOff x="5988240" y="2650045"/>
            <a:chExt cx="768985" cy="448309"/>
          </a:xfrm>
        </p:grpSpPr>
        <p:sp>
          <p:nvSpPr>
            <p:cNvPr id="68" name="object 68"/>
            <p:cNvSpPr/>
            <p:nvPr/>
          </p:nvSpPr>
          <p:spPr>
            <a:xfrm>
              <a:off x="5988240" y="2652572"/>
              <a:ext cx="768985" cy="0"/>
            </a:xfrm>
            <a:custGeom>
              <a:avLst/>
              <a:gdLst/>
              <a:ahLst/>
              <a:cxnLst/>
              <a:rect l="l" t="t" r="r" b="b"/>
              <a:pathLst>
                <a:path w="768984">
                  <a:moveTo>
                    <a:pt x="0" y="0"/>
                  </a:moveTo>
                  <a:lnTo>
                    <a:pt x="76862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990767" y="2652572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754330" y="2652572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988240" y="3095205"/>
              <a:ext cx="768985" cy="0"/>
            </a:xfrm>
            <a:custGeom>
              <a:avLst/>
              <a:gdLst/>
              <a:ahLst/>
              <a:cxnLst/>
              <a:rect l="l" t="t" r="r" b="b"/>
              <a:pathLst>
                <a:path w="768984">
                  <a:moveTo>
                    <a:pt x="0" y="0"/>
                  </a:moveTo>
                  <a:lnTo>
                    <a:pt x="76862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7225283" y="275956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572529" y="2776307"/>
            <a:ext cx="9232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1465" algn="l"/>
                <a:tab pos="615315" algn="l"/>
              </a:tabLst>
            </a:pPr>
            <a:r>
              <a:rPr sz="800" i="1" spc="204" dirty="0">
                <a:latin typeface="Times New Roman"/>
                <a:cs typeface="Times New Roman"/>
              </a:rPr>
              <a:t>X	</a:t>
            </a:r>
            <a:r>
              <a:rPr sz="800" spc="-5" dirty="0">
                <a:latin typeface="LM Roman 8"/>
                <a:cs typeface="LM Roman 8"/>
              </a:rPr>
              <a:t>and	</a:t>
            </a:r>
            <a:r>
              <a:rPr sz="800" i="1" spc="80" dirty="0">
                <a:latin typeface="Times New Roman"/>
                <a:cs typeface="Times New Roman"/>
              </a:rPr>
              <a:t>s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i="1" spc="-355" dirty="0">
                <a:latin typeface="Times New Roman"/>
                <a:cs typeface="Times New Roman"/>
              </a:rPr>
              <a:t>σ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486484" y="275956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27048" y="2776307"/>
            <a:ext cx="2514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ˆ</a:t>
            </a:r>
            <a:r>
              <a:rPr sz="800" spc="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697775" y="2705822"/>
            <a:ext cx="276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8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1</a:t>
            </a:r>
            <a:r>
              <a:rPr sz="800" u="sng" spc="-7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 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697775" y="2852126"/>
            <a:ext cx="276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10" dirty="0">
                <a:latin typeface="Times New Roman"/>
                <a:cs typeface="Times New Roman"/>
              </a:rPr>
              <a:t>n</a:t>
            </a:r>
            <a:r>
              <a:rPr sz="800" i="1" spc="-140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spc="-5" dirty="0"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434010" y="2649783"/>
            <a:ext cx="1693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1790" algn="l"/>
              </a:tabLst>
            </a:pPr>
            <a:r>
              <a:rPr sz="600" i="1" spc="160" dirty="0">
                <a:latin typeface="Times New Roman"/>
                <a:cs typeface="Times New Roman"/>
              </a:rPr>
              <a:t>n	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371844" y="2637134"/>
            <a:ext cx="1818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1790" algn="l"/>
              </a:tabLst>
            </a:pPr>
            <a:r>
              <a:rPr sz="1000" spc="819" dirty="0">
                <a:latin typeface="Arial"/>
                <a:cs typeface="Arial"/>
              </a:rPr>
              <a:t>Σ	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997138" y="2953441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294408" y="2817042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8478710" y="2803347"/>
            <a:ext cx="96520" cy="0"/>
          </a:xfrm>
          <a:custGeom>
            <a:avLst/>
            <a:gdLst/>
            <a:ahLst/>
            <a:cxnLst/>
            <a:rect l="l" t="t" r="r" b="b"/>
            <a:pathLst>
              <a:path w="96520">
                <a:moveTo>
                  <a:pt x="0" y="0"/>
                </a:moveTo>
                <a:lnTo>
                  <a:pt x="9635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8164131" y="2776307"/>
            <a:ext cx="465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00" dirty="0">
                <a:latin typeface="LM Roman 8"/>
                <a:cs typeface="LM Roman 8"/>
              </a:rPr>
              <a:t>(</a:t>
            </a:r>
            <a:r>
              <a:rPr sz="800" i="1" spc="100" dirty="0">
                <a:latin typeface="Times New Roman"/>
                <a:cs typeface="Times New Roman"/>
              </a:rPr>
              <a:t>X </a:t>
            </a:r>
            <a:r>
              <a:rPr sz="800" i="1" spc="-15" dirty="0">
                <a:latin typeface="DejaVu Sans"/>
                <a:cs typeface="DejaVu Sans"/>
              </a:rPr>
              <a:t>−</a:t>
            </a:r>
            <a:r>
              <a:rPr sz="800" i="1" spc="55" dirty="0">
                <a:latin typeface="DejaVu Sans"/>
                <a:cs typeface="DejaVu Sans"/>
              </a:rPr>
              <a:t> </a:t>
            </a:r>
            <a:r>
              <a:rPr sz="800" i="1" spc="130" dirty="0">
                <a:latin typeface="Times New Roman"/>
                <a:cs typeface="Times New Roman"/>
              </a:rPr>
              <a:t>X</a:t>
            </a:r>
            <a:r>
              <a:rPr sz="800" spc="130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604186" y="275956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7145223" y="2650045"/>
            <a:ext cx="1567815" cy="448309"/>
            <a:chOff x="7145223" y="2650045"/>
            <a:chExt cx="1567815" cy="448309"/>
          </a:xfrm>
        </p:grpSpPr>
        <p:sp>
          <p:nvSpPr>
            <p:cNvPr id="86" name="object 86"/>
            <p:cNvSpPr/>
            <p:nvPr/>
          </p:nvSpPr>
          <p:spPr>
            <a:xfrm>
              <a:off x="7145223" y="2652572"/>
              <a:ext cx="1567815" cy="0"/>
            </a:xfrm>
            <a:custGeom>
              <a:avLst/>
              <a:gdLst/>
              <a:ahLst/>
              <a:cxnLst/>
              <a:rect l="l" t="t" r="r" b="b"/>
              <a:pathLst>
                <a:path w="1567815">
                  <a:moveTo>
                    <a:pt x="0" y="0"/>
                  </a:moveTo>
                  <a:lnTo>
                    <a:pt x="156739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147763" y="2652572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710092" y="2652572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145223" y="3095205"/>
              <a:ext cx="1567815" cy="0"/>
            </a:xfrm>
            <a:custGeom>
              <a:avLst/>
              <a:gdLst/>
              <a:ahLst/>
              <a:cxnLst/>
              <a:rect l="l" t="t" r="r" b="b"/>
              <a:pathLst>
                <a:path w="1567815">
                  <a:moveTo>
                    <a:pt x="0" y="0"/>
                  </a:moveTo>
                  <a:lnTo>
                    <a:pt x="156739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5072367" y="3202570"/>
            <a:ext cx="45561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640" indent="-130175">
              <a:lnSpc>
                <a:spcPts val="900"/>
              </a:lnSpc>
              <a:spcBef>
                <a:spcPts val="95"/>
              </a:spcBef>
              <a:buFont typeface="DejaVu Sans"/>
              <a:buChar char="❒"/>
              <a:tabLst>
                <a:tab pos="168275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Central</a:t>
            </a:r>
            <a:r>
              <a:rPr sz="800" b="1" spc="16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Limit</a:t>
            </a:r>
            <a:r>
              <a:rPr sz="800" b="1" spc="16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Theorem</a:t>
            </a:r>
            <a:r>
              <a:rPr sz="800" b="1" spc="100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1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Let</a:t>
            </a:r>
            <a:r>
              <a:rPr sz="800" spc="1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us</a:t>
            </a:r>
            <a:r>
              <a:rPr sz="800" spc="14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</a:t>
            </a:r>
            <a:r>
              <a:rPr sz="800" spc="1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1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random</a:t>
            </a:r>
            <a:r>
              <a:rPr sz="800" spc="1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sample</a:t>
            </a:r>
            <a:r>
              <a:rPr sz="800" spc="140" dirty="0">
                <a:latin typeface="LM Roman 8"/>
                <a:cs typeface="LM Roman 8"/>
              </a:rPr>
              <a:t> </a:t>
            </a:r>
            <a:r>
              <a:rPr sz="800" i="1" spc="90" dirty="0">
                <a:latin typeface="Times New Roman"/>
                <a:cs typeface="Times New Roman"/>
              </a:rPr>
              <a:t>X</a:t>
            </a:r>
            <a:r>
              <a:rPr sz="900" spc="135" baseline="-9259" dirty="0">
                <a:latin typeface="LM Roman 6"/>
                <a:cs typeface="LM Roman 6"/>
              </a:rPr>
              <a:t>1</a:t>
            </a:r>
            <a:r>
              <a:rPr sz="800" i="1" spc="90" dirty="0">
                <a:latin typeface="Times New Roman"/>
                <a:cs typeface="Times New Roman"/>
              </a:rPr>
              <a:t>,</a:t>
            </a:r>
            <a:r>
              <a:rPr sz="800" i="1" spc="-60" dirty="0">
                <a:latin typeface="Times New Roman"/>
                <a:cs typeface="Times New Roman"/>
              </a:rPr>
              <a:t> </a:t>
            </a:r>
            <a:r>
              <a:rPr sz="800" i="1" spc="35" dirty="0">
                <a:latin typeface="Times New Roman"/>
                <a:cs typeface="Times New Roman"/>
              </a:rPr>
              <a:t>...,</a:t>
            </a:r>
            <a:r>
              <a:rPr sz="800" i="1" spc="-55" dirty="0">
                <a:latin typeface="Times New Roman"/>
                <a:cs typeface="Times New Roman"/>
              </a:rPr>
              <a:t> </a:t>
            </a:r>
            <a:r>
              <a:rPr sz="800" i="1" spc="180" dirty="0">
                <a:latin typeface="Times New Roman"/>
                <a:cs typeface="Times New Roman"/>
              </a:rPr>
              <a:t>X</a:t>
            </a:r>
            <a:r>
              <a:rPr sz="900" i="1" spc="270" baseline="-9259" dirty="0">
                <a:latin typeface="Times New Roman"/>
                <a:cs typeface="Times New Roman"/>
              </a:rPr>
              <a:t>n</a:t>
            </a:r>
            <a:r>
              <a:rPr sz="900" i="1" spc="480" baseline="-9259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following</a:t>
            </a:r>
            <a:r>
              <a:rPr sz="800" spc="1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14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given</a:t>
            </a:r>
            <a:endParaRPr sz="800">
              <a:latin typeface="LM Roman 8"/>
              <a:cs typeface="LM Roman 8"/>
            </a:endParaRPr>
          </a:p>
          <a:p>
            <a:pPr marR="597535" algn="ctr">
              <a:lnSpc>
                <a:spcPts val="660"/>
              </a:lnSpc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097767" y="3319550"/>
            <a:ext cx="27031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distribution with mean </a:t>
            </a:r>
            <a:r>
              <a:rPr sz="800" i="1" spc="45" dirty="0">
                <a:latin typeface="Times New Roman"/>
                <a:cs typeface="Times New Roman"/>
              </a:rPr>
              <a:t>µ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spc="-10" dirty="0">
                <a:latin typeface="LM Roman 8"/>
                <a:cs typeface="LM Roman 8"/>
              </a:rPr>
              <a:t>variance </a:t>
            </a:r>
            <a:r>
              <a:rPr sz="800" i="1" spc="85" dirty="0">
                <a:latin typeface="Times New Roman"/>
                <a:cs typeface="Times New Roman"/>
              </a:rPr>
              <a:t>σ </a:t>
            </a:r>
            <a:r>
              <a:rPr sz="800" spc="-5" dirty="0">
                <a:latin typeface="LM Roman 8"/>
                <a:cs typeface="LM Roman 8"/>
              </a:rPr>
              <a:t>, then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6829958" y="3600729"/>
            <a:ext cx="96520" cy="0"/>
          </a:xfrm>
          <a:custGeom>
            <a:avLst/>
            <a:gdLst/>
            <a:ahLst/>
            <a:cxnLst/>
            <a:rect l="l" t="t" r="r" b="b"/>
            <a:pathLst>
              <a:path w="96520">
                <a:moveTo>
                  <a:pt x="0" y="0"/>
                </a:moveTo>
                <a:lnTo>
                  <a:pt x="9635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6943483" y="3674915"/>
            <a:ext cx="3409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5" dirty="0">
                <a:latin typeface="Times New Roman"/>
                <a:cs typeface="Times New Roman"/>
              </a:rPr>
              <a:t>n</a:t>
            </a:r>
            <a:r>
              <a:rPr sz="600" i="1" spc="225" dirty="0">
                <a:latin typeface="DejaVu Sans"/>
                <a:cs typeface="DejaVu Sans"/>
              </a:rPr>
              <a:t>→</a:t>
            </a:r>
            <a:r>
              <a:rPr sz="600" spc="-5" dirty="0">
                <a:latin typeface="LM Roman 6"/>
                <a:cs typeface="LM Roman 6"/>
              </a:rPr>
              <a:t>+</a:t>
            </a:r>
            <a:r>
              <a:rPr sz="600" i="1" spc="229" dirty="0">
                <a:latin typeface="DejaVu Sans"/>
                <a:cs typeface="DejaVu Sans"/>
              </a:rPr>
              <a:t>∞</a:t>
            </a:r>
            <a:endParaRPr sz="600">
              <a:latin typeface="DejaVu Sans"/>
              <a:cs typeface="DejaVu San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612583" y="3503204"/>
            <a:ext cx="1320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i="1" u="sng" spc="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σ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7714907" y="3687876"/>
            <a:ext cx="65405" cy="0"/>
          </a:xfrm>
          <a:custGeom>
            <a:avLst/>
            <a:gdLst/>
            <a:ahLst/>
            <a:cxnLst/>
            <a:rect l="l" t="t" r="r" b="b"/>
            <a:pathLst>
              <a:path w="65404">
                <a:moveTo>
                  <a:pt x="0" y="0"/>
                </a:moveTo>
                <a:lnTo>
                  <a:pt x="65252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6791858" y="3576229"/>
            <a:ext cx="103949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79400" algn="l"/>
                <a:tab pos="508634" algn="l"/>
              </a:tabLst>
            </a:pPr>
            <a:r>
              <a:rPr sz="800" i="1" spc="204" dirty="0">
                <a:latin typeface="Times New Roman"/>
                <a:cs typeface="Times New Roman"/>
              </a:rPr>
              <a:t>X	</a:t>
            </a:r>
            <a:r>
              <a:rPr sz="800" i="1" spc="-15" dirty="0">
                <a:latin typeface="DejaVu Sans"/>
                <a:cs typeface="DejaVu Sans"/>
              </a:rPr>
              <a:t>∼	</a:t>
            </a:r>
            <a:r>
              <a:rPr sz="800" i="1" spc="90" dirty="0">
                <a:latin typeface="DejaVu Sans"/>
                <a:cs typeface="DejaVu Sans"/>
              </a:rPr>
              <a:t>N </a:t>
            </a:r>
            <a:r>
              <a:rPr sz="800" i="1" spc="40" dirty="0">
                <a:latin typeface="Times New Roman"/>
                <a:cs typeface="Times New Roman"/>
              </a:rPr>
              <a:t>µ,</a:t>
            </a:r>
            <a:r>
              <a:rPr sz="800" i="1" spc="160" dirty="0">
                <a:latin typeface="Times New Roman"/>
                <a:cs typeface="Times New Roman"/>
              </a:rPr>
              <a:t> </a:t>
            </a:r>
            <a:r>
              <a:rPr sz="800" i="1" spc="150" dirty="0">
                <a:latin typeface="DejaVu Sans"/>
                <a:cs typeface="DejaVu Sans"/>
              </a:rPr>
              <a:t>√</a:t>
            </a:r>
            <a:r>
              <a:rPr sz="1200" i="1" spc="225" baseline="-41666" dirty="0">
                <a:latin typeface="Times New Roman"/>
                <a:cs typeface="Times New Roman"/>
              </a:rPr>
              <a:t>n</a:t>
            </a:r>
            <a:endParaRPr sz="1200" baseline="-41666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409332" y="3414273"/>
            <a:ext cx="4743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445" algn="l"/>
              </a:tabLst>
            </a:pPr>
            <a:r>
              <a:rPr sz="1000" spc="315" dirty="0">
                <a:latin typeface="Arial"/>
                <a:cs typeface="Arial"/>
              </a:rPr>
              <a:t>.	</a:t>
            </a:r>
            <a:r>
              <a:rPr sz="1000" spc="-25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6786930" y="3505415"/>
            <a:ext cx="1127125" cy="324485"/>
            <a:chOff x="6786930" y="3505415"/>
            <a:chExt cx="1127125" cy="324485"/>
          </a:xfrm>
        </p:grpSpPr>
        <p:sp>
          <p:nvSpPr>
            <p:cNvPr id="99" name="object 99"/>
            <p:cNvSpPr/>
            <p:nvPr/>
          </p:nvSpPr>
          <p:spPr>
            <a:xfrm>
              <a:off x="6786930" y="3507943"/>
              <a:ext cx="1127125" cy="0"/>
            </a:xfrm>
            <a:custGeom>
              <a:avLst/>
              <a:gdLst/>
              <a:ahLst/>
              <a:cxnLst/>
              <a:rect l="l" t="t" r="r" b="b"/>
              <a:pathLst>
                <a:path w="1127125">
                  <a:moveTo>
                    <a:pt x="0" y="0"/>
                  </a:moveTo>
                  <a:lnTo>
                    <a:pt x="112698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789470" y="3507943"/>
              <a:ext cx="0" cy="319405"/>
            </a:xfrm>
            <a:custGeom>
              <a:avLst/>
              <a:gdLst/>
              <a:ahLst/>
              <a:cxnLst/>
              <a:rect l="l" t="t" r="r" b="b"/>
              <a:pathLst>
                <a:path h="319404">
                  <a:moveTo>
                    <a:pt x="0" y="31935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911388" y="3507943"/>
              <a:ext cx="0" cy="319405"/>
            </a:xfrm>
            <a:custGeom>
              <a:avLst/>
              <a:gdLst/>
              <a:ahLst/>
              <a:cxnLst/>
              <a:rect l="l" t="t" r="r" b="b"/>
              <a:pathLst>
                <a:path h="319404">
                  <a:moveTo>
                    <a:pt x="0" y="31935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786930" y="3827297"/>
              <a:ext cx="1127125" cy="0"/>
            </a:xfrm>
            <a:custGeom>
              <a:avLst/>
              <a:gdLst/>
              <a:ahLst/>
              <a:cxnLst/>
              <a:rect l="l" t="t" r="r" b="b"/>
              <a:pathLst>
                <a:path w="1127125">
                  <a:moveTo>
                    <a:pt x="0" y="0"/>
                  </a:moveTo>
                  <a:lnTo>
                    <a:pt x="112698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5097767" y="4015734"/>
            <a:ext cx="2047239" cy="40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3535" lvl="1" indent="-331470">
              <a:lnSpc>
                <a:spcPts val="1195"/>
              </a:lnSpc>
              <a:buSzPct val="111111"/>
              <a:buFont typeface="LM Roman 10"/>
              <a:buAutoNum type="arabicPeriod" startAt="2"/>
              <a:tabLst>
                <a:tab pos="343535" algn="l"/>
                <a:tab pos="344170" algn="l"/>
              </a:tabLst>
            </a:pPr>
            <a:r>
              <a:rPr sz="900" b="1" spc="-10" dirty="0">
                <a:latin typeface="LM Roman 9"/>
                <a:cs typeface="LM Roman 9"/>
              </a:rPr>
              <a:t>Linear Algebra </a:t>
            </a:r>
            <a:r>
              <a:rPr sz="900" b="1" spc="-5" dirty="0">
                <a:latin typeface="LM Roman 9"/>
                <a:cs typeface="LM Roman 9"/>
              </a:rPr>
              <a:t>and</a:t>
            </a:r>
            <a:r>
              <a:rPr sz="900" b="1" spc="-10" dirty="0">
                <a:latin typeface="LM Roman 9"/>
                <a:cs typeface="LM Roman 9"/>
              </a:rPr>
              <a:t> Calculus</a:t>
            </a:r>
            <a:endParaRPr sz="900">
              <a:latin typeface="LM Roman 9"/>
              <a:cs typeface="LM Roman 9"/>
            </a:endParaRPr>
          </a:p>
          <a:p>
            <a:pPr marL="457200" lvl="2" indent="-445134">
              <a:lnSpc>
                <a:spcPct val="100000"/>
              </a:lnSpc>
              <a:spcBef>
                <a:spcPts val="685"/>
              </a:spcBef>
              <a:buSzPct val="111111"/>
              <a:buFont typeface="LM Roman 10"/>
              <a:buAutoNum type="arabicPeriod"/>
              <a:tabLst>
                <a:tab pos="457200" algn="l"/>
                <a:tab pos="457834" algn="l"/>
              </a:tabLst>
            </a:pPr>
            <a:r>
              <a:rPr sz="900" b="1" spc="-10" dirty="0">
                <a:latin typeface="LM Roman 9"/>
                <a:cs typeface="LM Roman 9"/>
              </a:rPr>
              <a:t>General </a:t>
            </a:r>
            <a:r>
              <a:rPr sz="900" b="1" spc="-5" dirty="0">
                <a:latin typeface="LM Roman 9"/>
                <a:cs typeface="LM Roman 9"/>
              </a:rPr>
              <a:t>notations</a:t>
            </a:r>
            <a:endParaRPr sz="900">
              <a:latin typeface="LM Roman 9"/>
              <a:cs typeface="LM Roman 9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381496" y="4491436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097754" y="4501856"/>
            <a:ext cx="29140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095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20" dirty="0">
                <a:solidFill>
                  <a:srgbClr val="020E86"/>
                </a:solidFill>
                <a:latin typeface="LM Roman 8"/>
                <a:cs typeface="LM Roman 8"/>
              </a:rPr>
              <a:t>Vector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40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note </a:t>
            </a: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spc="-10" dirty="0">
                <a:latin typeface="LM Roman 8"/>
                <a:cs typeface="LM Roman 8"/>
              </a:rPr>
              <a:t>vector </a:t>
            </a:r>
            <a:r>
              <a:rPr sz="800" spc="-5" dirty="0">
                <a:latin typeface="LM Roman 8"/>
                <a:cs typeface="LM Roman 8"/>
              </a:rPr>
              <a:t>with </a:t>
            </a:r>
            <a:r>
              <a:rPr sz="800" i="1" spc="110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entries, where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985988" y="4542592"/>
            <a:ext cx="596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8596541" y="4491436"/>
            <a:ext cx="11683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20" dirty="0">
                <a:latin typeface="Times New Roman"/>
                <a:cs typeface="Times New Roman"/>
              </a:rPr>
              <a:t>th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8056016" y="4501856"/>
            <a:ext cx="9747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6435" algn="l"/>
              </a:tabLst>
            </a:pPr>
            <a:r>
              <a:rPr sz="800" i="1" spc="-135" dirty="0">
                <a:latin typeface="DejaVu Sans"/>
                <a:cs typeface="DejaVu Sans"/>
              </a:rPr>
              <a:t>∈</a:t>
            </a:r>
            <a:r>
              <a:rPr sz="800" i="1" spc="-20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MathJax_AMS"/>
                <a:cs typeface="MathJax_AMS"/>
              </a:rPr>
              <a:t>R</a:t>
            </a:r>
            <a:r>
              <a:rPr sz="800" spc="80" dirty="0">
                <a:latin typeface="MathJax_AMS"/>
                <a:cs typeface="MathJax_AMS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 the </a:t>
            </a:r>
            <a:r>
              <a:rPr sz="800" i="1" spc="65" dirty="0">
                <a:latin typeface="Times New Roman"/>
                <a:cs typeface="Times New Roman"/>
              </a:rPr>
              <a:t>i</a:t>
            </a:r>
            <a:r>
              <a:rPr sz="800" i="1" dirty="0">
                <a:latin typeface="Times New Roman"/>
                <a:cs typeface="Times New Roman"/>
              </a:rPr>
              <a:t>	</a:t>
            </a:r>
            <a:r>
              <a:rPr sz="800" spc="-5" dirty="0">
                <a:latin typeface="LM Roman 8"/>
                <a:cs typeface="LM Roman 8"/>
              </a:rPr>
              <a:t>e</a:t>
            </a:r>
            <a:r>
              <a:rPr sz="800" spc="-30" dirty="0">
                <a:latin typeface="LM Roman 8"/>
                <a:cs typeface="LM Roman 8"/>
              </a:rPr>
              <a:t>n</a:t>
            </a:r>
            <a:r>
              <a:rPr sz="800" spc="-5" dirty="0">
                <a:latin typeface="LM Roman 8"/>
                <a:cs typeface="LM Roman 8"/>
              </a:rPr>
              <a:t>t</a:t>
            </a:r>
            <a:r>
              <a:rPr sz="800" spc="-10" dirty="0">
                <a:latin typeface="LM Roman 8"/>
                <a:cs typeface="LM Roman 8"/>
              </a:rPr>
              <a:t>r</a:t>
            </a:r>
            <a:r>
              <a:rPr sz="800" spc="-5" dirty="0">
                <a:latin typeface="LM Roman 8"/>
                <a:cs typeface="LM Roman 8"/>
              </a:rPr>
              <a:t>y: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223011" y="4619496"/>
            <a:ext cx="1835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900" spc="89" baseline="-9259" dirty="0">
                <a:latin typeface="LM Roman 6"/>
                <a:cs typeface="LM Roman 6"/>
              </a:rPr>
              <a:t>1</a:t>
            </a:r>
            <a:endParaRPr sz="900" baseline="-9259">
              <a:latin typeface="LM Roman 6"/>
              <a:cs typeface="LM Roman 6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223011" y="4677142"/>
            <a:ext cx="1835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900" spc="89" baseline="-9259" dirty="0">
                <a:latin typeface="LM Roman 6"/>
                <a:cs typeface="LM Roman 6"/>
              </a:rPr>
              <a:t>2</a:t>
            </a:r>
            <a:endParaRPr sz="900" baseline="-9259">
              <a:latin typeface="LM Roman 6"/>
              <a:cs typeface="LM Roman 6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290104" y="4828970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7290104" y="4879580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216991" y="4949861"/>
            <a:ext cx="1955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209" baseline="6944" dirty="0">
                <a:latin typeface="Times New Roman"/>
                <a:cs typeface="Times New Roman"/>
              </a:rPr>
              <a:t>x</a:t>
            </a:r>
            <a:r>
              <a:rPr sz="600" i="1" spc="14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078967" y="4553551"/>
            <a:ext cx="478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4490" algn="l"/>
              </a:tabLst>
            </a:pPr>
            <a:r>
              <a:rPr sz="1000" spc="509" dirty="0">
                <a:latin typeface="Arial"/>
                <a:cs typeface="Arial"/>
              </a:rPr>
              <a:t>.	</a:t>
            </a:r>
            <a:r>
              <a:rPr sz="1000" spc="17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6875030" y="4788889"/>
            <a:ext cx="8864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8500" algn="l"/>
              </a:tabLst>
            </a:pP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i="1" spc="3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	</a:t>
            </a:r>
            <a:r>
              <a:rPr sz="800" i="1" spc="-135" dirty="0">
                <a:latin typeface="DejaVu Sans"/>
                <a:cs typeface="DejaVu Sans"/>
              </a:rPr>
              <a:t>∈</a:t>
            </a:r>
            <a:r>
              <a:rPr sz="800" i="1" spc="-85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MathJax_AMS"/>
                <a:cs typeface="MathJax_AMS"/>
              </a:rPr>
              <a:t>R</a:t>
            </a:r>
            <a:endParaRPr sz="800">
              <a:latin typeface="MathJax_AMS"/>
              <a:cs typeface="MathJax_AM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735671" y="4772144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8950921" y="5273007"/>
            <a:ext cx="1270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i,j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5072354" y="5232258"/>
            <a:ext cx="4556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670" indent="-116205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54305" algn="l"/>
                <a:tab pos="4037965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Matrix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40" dirty="0">
                <a:latin typeface="LM Roman 8"/>
                <a:cs typeface="LM Roman 8"/>
              </a:rPr>
              <a:t>We </a:t>
            </a:r>
            <a:r>
              <a:rPr sz="800" spc="-5" dirty="0">
                <a:latin typeface="LM Roman 8"/>
                <a:cs typeface="LM Roman 8"/>
              </a:rPr>
              <a:t>note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i="1" spc="-135" dirty="0">
                <a:latin typeface="DejaVu Sans"/>
                <a:cs typeface="DejaVu Sans"/>
              </a:rPr>
              <a:t>∈   </a:t>
            </a:r>
            <a:r>
              <a:rPr sz="800" spc="110" dirty="0">
                <a:latin typeface="MathJax_AMS"/>
                <a:cs typeface="MathJax_AMS"/>
              </a:rPr>
              <a:t>R</a:t>
            </a:r>
            <a:r>
              <a:rPr sz="900" i="1" spc="165" baseline="27777" dirty="0">
                <a:latin typeface="Times New Roman"/>
                <a:cs typeface="Times New Roman"/>
              </a:rPr>
              <a:t>m</a:t>
            </a:r>
            <a:r>
              <a:rPr sz="900" i="1" spc="165" baseline="27777" dirty="0">
                <a:latin typeface="DejaVu Sans"/>
                <a:cs typeface="DejaVu Sans"/>
              </a:rPr>
              <a:t>×</a:t>
            </a:r>
            <a:r>
              <a:rPr sz="900" i="1" spc="165" baseline="27777" dirty="0">
                <a:latin typeface="Times New Roman"/>
                <a:cs typeface="Times New Roman"/>
              </a:rPr>
              <a:t>n  </a:t>
            </a:r>
            <a:r>
              <a:rPr sz="800" spc="-5" dirty="0">
                <a:latin typeface="LM Roman 8"/>
                <a:cs typeface="LM Roman 8"/>
              </a:rPr>
              <a:t>a matrix with </a:t>
            </a:r>
            <a:r>
              <a:rPr sz="800" i="1" spc="170" dirty="0">
                <a:latin typeface="Times New Roman"/>
                <a:cs typeface="Times New Roman"/>
              </a:rPr>
              <a:t>m </a:t>
            </a:r>
            <a:r>
              <a:rPr sz="800" spc="-10" dirty="0">
                <a:latin typeface="LM Roman 8"/>
                <a:cs typeface="LM Roman 8"/>
              </a:rPr>
              <a:t>rows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10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columns,</a:t>
            </a:r>
            <a:r>
              <a:rPr sz="800" spc="1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where</a:t>
            </a:r>
            <a:r>
              <a:rPr sz="800" spc="30" dirty="0">
                <a:latin typeface="LM Roman 8"/>
                <a:cs typeface="LM Roman 8"/>
              </a:rPr>
              <a:t> </a:t>
            </a:r>
            <a:r>
              <a:rPr sz="800" i="1" spc="145" dirty="0">
                <a:latin typeface="Times New Roman"/>
                <a:cs typeface="Times New Roman"/>
              </a:rPr>
              <a:t>A	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072354" y="5363551"/>
            <a:ext cx="21799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LM Roman 8"/>
                <a:cs typeface="LM Roman 8"/>
              </a:rPr>
              <a:t>entry </a:t>
            </a:r>
            <a:r>
              <a:rPr sz="800" dirty="0">
                <a:latin typeface="LM Roman 8"/>
                <a:cs typeface="LM Roman 8"/>
              </a:rPr>
              <a:t>located </a:t>
            </a:r>
            <a:r>
              <a:rPr sz="800" spc="-5" dirty="0">
                <a:latin typeface="LM Roman 8"/>
                <a:cs typeface="LM Roman 8"/>
              </a:rPr>
              <a:t>in the </a:t>
            </a:r>
            <a:r>
              <a:rPr sz="800" i="1" spc="100" dirty="0">
                <a:latin typeface="Times New Roman"/>
                <a:cs typeface="Times New Roman"/>
              </a:rPr>
              <a:t>i</a:t>
            </a:r>
            <a:r>
              <a:rPr sz="900" i="1" spc="150" baseline="27777" dirty="0">
                <a:latin typeface="Times New Roman"/>
                <a:cs typeface="Times New Roman"/>
              </a:rPr>
              <a:t>th </a:t>
            </a:r>
            <a:r>
              <a:rPr sz="800" spc="-10" dirty="0">
                <a:latin typeface="LM Roman 8"/>
                <a:cs typeface="LM Roman 8"/>
              </a:rPr>
              <a:t>row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35" dirty="0">
                <a:latin typeface="Times New Roman"/>
                <a:cs typeface="Times New Roman"/>
              </a:rPr>
              <a:t>j</a:t>
            </a:r>
            <a:r>
              <a:rPr sz="900" i="1" spc="202" baseline="27777" dirty="0">
                <a:latin typeface="Times New Roman"/>
                <a:cs typeface="Times New Roman"/>
              </a:rPr>
              <a:t>th</a:t>
            </a:r>
            <a:r>
              <a:rPr sz="900" i="1" spc="397" baseline="27777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column: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6383794" y="5671247"/>
            <a:ext cx="6013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32765" algn="l"/>
              </a:tabLst>
            </a:pPr>
            <a:r>
              <a:rPr sz="1200" i="1" spc="217" baseline="6944" dirty="0">
                <a:latin typeface="Times New Roman"/>
                <a:cs typeface="Times New Roman"/>
              </a:rPr>
              <a:t>A</a:t>
            </a:r>
            <a:r>
              <a:rPr sz="1200" i="1" spc="52" baseline="6944" dirty="0">
                <a:latin typeface="Times New Roman"/>
                <a:cs typeface="Times New Roman"/>
              </a:rPr>
              <a:t> </a:t>
            </a:r>
            <a:r>
              <a:rPr sz="1200" spc="-7" baseline="6944" dirty="0">
                <a:latin typeface="LM Roman 8"/>
                <a:cs typeface="LM Roman 8"/>
              </a:rPr>
              <a:t>=	</a:t>
            </a: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6789496" y="5504661"/>
            <a:ext cx="2032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65" dirty="0">
                <a:latin typeface="Times New Roman"/>
                <a:cs typeface="Times New Roman"/>
              </a:rPr>
              <a:t>A</a:t>
            </a:r>
            <a:r>
              <a:rPr sz="900" spc="97" baseline="-9259" dirty="0">
                <a:latin typeface="LM Roman 6"/>
                <a:cs typeface="LM Roman 6"/>
              </a:rPr>
              <a:t>1</a:t>
            </a:r>
            <a:endParaRPr sz="900" baseline="-9259">
              <a:latin typeface="LM Roman 6"/>
              <a:cs typeface="LM Roman 6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7142822" y="5504661"/>
            <a:ext cx="48640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07975" algn="l"/>
              </a:tabLst>
            </a:pP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14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14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	</a:t>
            </a:r>
            <a:r>
              <a:rPr sz="800" i="1" spc="65" dirty="0">
                <a:latin typeface="Times New Roman"/>
                <a:cs typeface="Times New Roman"/>
              </a:rPr>
              <a:t>A</a:t>
            </a:r>
            <a:r>
              <a:rPr sz="900" spc="97" baseline="-9259" dirty="0">
                <a:latin typeface="LM Roman 6"/>
                <a:cs typeface="LM Roman 6"/>
              </a:rPr>
              <a:t>1</a:t>
            </a:r>
            <a:endParaRPr sz="900" baseline="-9259">
              <a:latin typeface="LM Roman 6"/>
              <a:cs typeface="LM Roman 6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6941845" y="5544025"/>
            <a:ext cx="7366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6270" algn="l"/>
              </a:tabLst>
            </a:pPr>
            <a:r>
              <a:rPr sz="600" i="1" spc="70" dirty="0">
                <a:latin typeface="Times New Roman"/>
                <a:cs typeface="Times New Roman"/>
              </a:rPr>
              <a:t>,</a:t>
            </a:r>
            <a:r>
              <a:rPr sz="600" spc="-5" dirty="0">
                <a:latin typeface="LM Roman 6"/>
                <a:cs typeface="LM Roman 6"/>
              </a:rPr>
              <a:t>1</a:t>
            </a:r>
            <a:r>
              <a:rPr sz="600" dirty="0">
                <a:latin typeface="LM Roman 6"/>
                <a:cs typeface="LM Roman 6"/>
              </a:rPr>
              <a:t>	</a:t>
            </a:r>
            <a:r>
              <a:rPr sz="600" i="1" spc="110" dirty="0">
                <a:latin typeface="Times New Roman"/>
                <a:cs typeface="Times New Roman"/>
              </a:rPr>
              <a:t>,n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6633146" y="5424657"/>
            <a:ext cx="1233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20140" algn="l"/>
              </a:tabLst>
            </a:pPr>
            <a:r>
              <a:rPr sz="1000" spc="509" dirty="0">
                <a:latin typeface="Arial"/>
                <a:cs typeface="Arial"/>
              </a:rPr>
              <a:t>.	</a:t>
            </a:r>
            <a:r>
              <a:rPr sz="1000" spc="17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771170" y="5721856"/>
            <a:ext cx="315595" cy="244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15" algn="ctr">
              <a:lnSpc>
                <a:spcPts val="865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algn="ctr">
              <a:lnSpc>
                <a:spcPts val="865"/>
              </a:lnSpc>
            </a:pPr>
            <a:r>
              <a:rPr sz="1200" i="1" spc="157" baseline="6944" dirty="0">
                <a:latin typeface="Times New Roman"/>
                <a:cs typeface="Times New Roman"/>
              </a:rPr>
              <a:t>A</a:t>
            </a:r>
            <a:r>
              <a:rPr sz="600" i="1" spc="105" dirty="0">
                <a:latin typeface="Times New Roman"/>
                <a:cs typeface="Times New Roman"/>
              </a:rPr>
              <a:t>m,</a:t>
            </a:r>
            <a:r>
              <a:rPr sz="600" spc="105" dirty="0">
                <a:latin typeface="LM Roman 6"/>
                <a:cs typeface="LM Roman 6"/>
              </a:rPr>
              <a:t>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533868" y="5671247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394829" y="5721856"/>
            <a:ext cx="327660" cy="243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15" algn="ctr">
              <a:lnSpc>
                <a:spcPts val="855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algn="ctr">
              <a:lnSpc>
                <a:spcPts val="855"/>
              </a:lnSpc>
            </a:pPr>
            <a:r>
              <a:rPr sz="1200" i="1" spc="217" baseline="6944" dirty="0">
                <a:latin typeface="Times New Roman"/>
                <a:cs typeface="Times New Roman"/>
              </a:rPr>
              <a:t>A</a:t>
            </a:r>
            <a:r>
              <a:rPr sz="600" i="1" spc="145" dirty="0">
                <a:latin typeface="Times New Roman"/>
                <a:cs typeface="Times New Roman"/>
              </a:rPr>
              <a:t>m,n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168222" y="5805066"/>
            <a:ext cx="1511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55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50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7845297" y="5617945"/>
            <a:ext cx="4660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202" baseline="-24305" dirty="0">
                <a:latin typeface="DejaVu Sans"/>
                <a:cs typeface="DejaVu Sans"/>
              </a:rPr>
              <a:t>∈</a:t>
            </a:r>
            <a:r>
              <a:rPr sz="1200" i="1" spc="-89" baseline="-24305" dirty="0">
                <a:latin typeface="DejaVu Sans"/>
                <a:cs typeface="DejaVu Sans"/>
              </a:rPr>
              <a:t> </a:t>
            </a:r>
            <a:r>
              <a:rPr sz="1200" spc="165" baseline="-24305" dirty="0">
                <a:latin typeface="MathJax_AMS"/>
                <a:cs typeface="MathJax_AMS"/>
              </a:rPr>
              <a:t>R</a:t>
            </a:r>
            <a:r>
              <a:rPr sz="600" i="1" spc="110" dirty="0">
                <a:latin typeface="Times New Roman"/>
                <a:cs typeface="Times New Roman"/>
              </a:rPr>
              <a:t>m</a:t>
            </a:r>
            <a:r>
              <a:rPr sz="600" i="1" spc="110" dirty="0">
                <a:latin typeface="DejaVu Sans"/>
                <a:cs typeface="DejaVu Sans"/>
              </a:rPr>
              <a:t>×</a:t>
            </a:r>
            <a:r>
              <a:rPr sz="600" i="1" spc="11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5097754" y="6004660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</a:t>
            </a:r>
            <a:r>
              <a:rPr sz="800" i="1" spc="16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</a:t>
            </a:r>
            <a:r>
              <a:rPr sz="800" i="1" spc="4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vector</a:t>
            </a:r>
            <a:r>
              <a:rPr sz="800" i="1" spc="3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120" dirty="0">
                <a:solidFill>
                  <a:srgbClr val="59439A"/>
                </a:solidFill>
                <a:latin typeface="Times New Roman"/>
                <a:cs typeface="Times New Roman"/>
              </a:rPr>
              <a:t>x</a:t>
            </a:r>
            <a:r>
              <a:rPr sz="800" i="1" spc="14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defined</a:t>
            </a:r>
            <a:r>
              <a:rPr sz="800" i="1" spc="3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above</a:t>
            </a:r>
            <a:r>
              <a:rPr sz="800" i="1" spc="3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can</a:t>
            </a:r>
            <a:r>
              <a:rPr sz="800" i="1" spc="3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be</a:t>
            </a:r>
            <a:r>
              <a:rPr sz="800" i="1" spc="3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viewed</a:t>
            </a:r>
            <a:r>
              <a:rPr sz="800" i="1" spc="3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as</a:t>
            </a:r>
            <a:r>
              <a:rPr sz="800" i="1" spc="4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</a:t>
            </a:r>
            <a:r>
              <a:rPr sz="800" i="1" spc="4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110" dirty="0">
                <a:solidFill>
                  <a:srgbClr val="59439A"/>
                </a:solidFill>
                <a:latin typeface="Times New Roman"/>
                <a:cs typeface="Times New Roman"/>
              </a:rPr>
              <a:t>n</a:t>
            </a:r>
            <a:r>
              <a:rPr sz="800" i="1" spc="10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DejaVu Sans"/>
                <a:cs typeface="DejaVu Sans"/>
              </a:rPr>
              <a:t>×</a:t>
            </a:r>
            <a:r>
              <a:rPr sz="800" i="1" spc="-40" dirty="0">
                <a:solidFill>
                  <a:srgbClr val="59439A"/>
                </a:solidFill>
                <a:latin typeface="DejaVu Sans"/>
                <a:cs typeface="DejaVu Sans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1</a:t>
            </a:r>
            <a:r>
              <a:rPr sz="800" spc="6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matrix</a:t>
            </a:r>
            <a:r>
              <a:rPr sz="800" i="1" spc="3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and</a:t>
            </a:r>
            <a:r>
              <a:rPr sz="800" i="1" spc="3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</a:t>
            </a:r>
            <a:r>
              <a:rPr sz="800" i="1" spc="4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more</a:t>
            </a:r>
            <a:r>
              <a:rPr sz="800" i="1" spc="3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particularly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356932" y="6289921"/>
            <a:ext cx="215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5" dirty="0">
                <a:latin typeface="Times New Roman"/>
                <a:cs typeface="Times New Roman"/>
              </a:rPr>
              <a:t>n</a:t>
            </a:r>
            <a:r>
              <a:rPr sz="600" i="1" spc="70" dirty="0">
                <a:latin typeface="DejaVu Sans"/>
                <a:cs typeface="DejaVu Sans"/>
              </a:rPr>
              <a:t>×</a:t>
            </a: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097754" y="6106717"/>
            <a:ext cx="4505960" cy="340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called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column-vector.</a:t>
            </a:r>
            <a:endParaRPr sz="800">
              <a:latin typeface="LM Roman 8"/>
              <a:cs typeface="LM Roman 8"/>
            </a:endParaRPr>
          </a:p>
          <a:p>
            <a:pPr marL="119380" indent="-107314">
              <a:lnSpc>
                <a:spcPct val="100000"/>
              </a:lnSpc>
              <a:spcBef>
                <a:spcPts val="565"/>
              </a:spcBef>
              <a:buFont typeface="DejaVu Sans"/>
              <a:buChar char="❒"/>
              <a:tabLst>
                <a:tab pos="120014" algn="l"/>
                <a:tab pos="249809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Identity matrix</a:t>
            </a:r>
            <a:r>
              <a:rPr sz="800" b="1" spc="-250" dirty="0">
                <a:solidFill>
                  <a:srgbClr val="020E86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identity </a:t>
            </a:r>
            <a:r>
              <a:rPr sz="800" spc="-5" dirty="0">
                <a:latin typeface="LM Roman 8"/>
                <a:cs typeface="LM Roman 8"/>
              </a:rPr>
              <a:t>matrix </a:t>
            </a:r>
            <a:r>
              <a:rPr sz="800" i="1" spc="100" dirty="0">
                <a:latin typeface="Times New Roman"/>
                <a:cs typeface="Times New Roman"/>
              </a:rPr>
              <a:t>I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i="1" spc="-130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MathJax_AMS"/>
                <a:cs typeface="MathJax_AMS"/>
              </a:rPr>
              <a:t>R	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square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matrix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with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ones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its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diagonal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5097754" y="6402399"/>
            <a:ext cx="12185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and zero everywhere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else: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6695757" y="6781354"/>
            <a:ext cx="193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0" dirty="0">
                <a:latin typeface="Times New Roman"/>
                <a:cs typeface="Times New Roman"/>
              </a:rPr>
              <a:t>I</a:t>
            </a:r>
            <a:r>
              <a:rPr sz="800" i="1" spc="2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6893686" y="6692778"/>
            <a:ext cx="123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715" dirty="0">
                <a:latin typeface="Arial"/>
                <a:cs typeface="Arial"/>
              </a:rPr>
              <a:t>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6893686" y="6773753"/>
            <a:ext cx="13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60" dirty="0">
                <a:latin typeface="Arial"/>
                <a:cs typeface="Arial"/>
              </a:rPr>
              <a:t>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7067651" y="6539571"/>
            <a:ext cx="7639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8600" algn="l"/>
                <a:tab pos="444500" algn="l"/>
              </a:tabLst>
            </a:pPr>
            <a:r>
              <a:rPr sz="800" spc="-5" dirty="0">
                <a:latin typeface="LM Roman 8"/>
                <a:cs typeface="LM Roman 8"/>
              </a:rPr>
              <a:t>1	0	</a:t>
            </a:r>
            <a:r>
              <a:rPr sz="800" i="1" spc="-20" dirty="0">
                <a:latin typeface="DejaVu Sans"/>
                <a:cs typeface="DejaVu Sans"/>
              </a:rPr>
              <a:t>· · ·</a:t>
            </a:r>
            <a:r>
              <a:rPr sz="800" i="1" spc="-10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LM Roman 8"/>
                <a:cs typeface="LM Roman 8"/>
              </a:rPr>
              <a:t>0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7067651" y="6741997"/>
            <a:ext cx="79375" cy="349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0</a:t>
            </a:r>
            <a:endParaRPr sz="800">
              <a:latin typeface="LM Roman 8"/>
              <a:cs typeface="LM Roman 8"/>
            </a:endParaRPr>
          </a:p>
          <a:p>
            <a:pPr marL="24130">
              <a:lnSpc>
                <a:spcPts val="795"/>
              </a:lnSpc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24130">
              <a:lnSpc>
                <a:spcPts val="880"/>
              </a:lnSpc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7228535" y="6653427"/>
            <a:ext cx="44195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89560" algn="l"/>
              </a:tabLst>
            </a:pPr>
            <a:r>
              <a:rPr sz="800" spc="-5" dirty="0">
                <a:latin typeface="LM Roman 8"/>
                <a:cs typeface="LM Roman 8"/>
              </a:rPr>
              <a:t>.</a:t>
            </a:r>
            <a:r>
              <a:rPr sz="800" spc="-190" dirty="0">
                <a:latin typeface="LM Roman 8"/>
                <a:cs typeface="LM Roman 8"/>
              </a:rPr>
              <a:t> </a:t>
            </a:r>
            <a:r>
              <a:rPr sz="1200" spc="-7" baseline="-20833" dirty="0">
                <a:latin typeface="LM Roman 8"/>
                <a:cs typeface="LM Roman 8"/>
              </a:rPr>
              <a:t>.</a:t>
            </a:r>
            <a:r>
              <a:rPr sz="1200" spc="-284" baseline="-20833" dirty="0">
                <a:latin typeface="LM Roman 8"/>
                <a:cs typeface="LM Roman 8"/>
              </a:rPr>
              <a:t> </a:t>
            </a:r>
            <a:r>
              <a:rPr sz="1200" spc="-7" baseline="-41666" dirty="0">
                <a:latin typeface="LM Roman 8"/>
                <a:cs typeface="LM Roman 8"/>
              </a:rPr>
              <a:t>.	</a:t>
            </a:r>
            <a:r>
              <a:rPr sz="800" spc="-5" dirty="0">
                <a:latin typeface="LM Roman 8"/>
                <a:cs typeface="LM Roman 8"/>
              </a:rPr>
              <a:t>.</a:t>
            </a:r>
            <a:r>
              <a:rPr sz="800" spc="-204" dirty="0">
                <a:latin typeface="LM Roman 8"/>
                <a:cs typeface="LM Roman 8"/>
              </a:rPr>
              <a:t> </a:t>
            </a:r>
            <a:r>
              <a:rPr sz="1200" spc="-7" baseline="-20833" dirty="0">
                <a:latin typeface="LM Roman 8"/>
                <a:cs typeface="LM Roman 8"/>
              </a:rPr>
              <a:t>.</a:t>
            </a:r>
            <a:r>
              <a:rPr sz="1200" spc="-315" baseline="-20833" dirty="0">
                <a:latin typeface="LM Roman 8"/>
                <a:cs typeface="LM Roman 8"/>
              </a:rPr>
              <a:t> </a:t>
            </a:r>
            <a:r>
              <a:rPr sz="1200" spc="-7" baseline="-41666" dirty="0">
                <a:latin typeface="LM Roman 8"/>
                <a:cs typeface="LM Roman 8"/>
              </a:rPr>
              <a:t>.</a:t>
            </a:r>
            <a:endParaRPr sz="1200" baseline="-41666">
              <a:latin typeface="LM Roman 8"/>
              <a:cs typeface="LM Roman 8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6893686" y="6470096"/>
            <a:ext cx="1111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7425" algn="l"/>
              </a:tabLst>
            </a:pPr>
            <a:r>
              <a:rPr sz="1000" spc="160" dirty="0">
                <a:latin typeface="Arial"/>
                <a:cs typeface="Arial"/>
              </a:rPr>
              <a:t>	</a:t>
            </a:r>
            <a:r>
              <a:rPr sz="1000" spc="-80" dirty="0">
                <a:latin typeface="Arial"/>
                <a:cs typeface="Arial"/>
              </a:rPr>
              <a:t>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7763903" y="6691387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7751953" y="6741997"/>
            <a:ext cx="79375" cy="349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800" spc="-5" dirty="0">
                <a:latin typeface="LM Roman 8"/>
                <a:cs typeface="LM Roman 8"/>
              </a:rPr>
              <a:t>0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228535" y="6855852"/>
            <a:ext cx="3581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89560" algn="l"/>
              </a:tabLst>
            </a:pPr>
            <a:r>
              <a:rPr sz="800" spc="-5" dirty="0">
                <a:latin typeface="LM Roman 8"/>
                <a:cs typeface="LM Roman 8"/>
              </a:rPr>
              <a:t>.</a:t>
            </a:r>
            <a:r>
              <a:rPr sz="800" spc="140" dirty="0">
                <a:latin typeface="LM Roman 8"/>
                <a:cs typeface="LM Roman 8"/>
              </a:rPr>
              <a:t> </a:t>
            </a:r>
            <a:r>
              <a:rPr sz="1200" spc="-7" baseline="-41666" dirty="0">
                <a:latin typeface="LM Roman 8"/>
                <a:cs typeface="LM Roman 8"/>
              </a:rPr>
              <a:t>.	</a:t>
            </a: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7270356" y="6893812"/>
            <a:ext cx="4000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89560" algn="l"/>
              </a:tabLst>
            </a:pPr>
            <a:r>
              <a:rPr sz="800" spc="-5" dirty="0">
                <a:latin typeface="LM Roman 8"/>
                <a:cs typeface="LM Roman 8"/>
              </a:rPr>
              <a:t>.	.</a:t>
            </a:r>
            <a:r>
              <a:rPr sz="800" spc="-215" dirty="0">
                <a:latin typeface="LM Roman 8"/>
                <a:cs typeface="LM Roman 8"/>
              </a:rPr>
              <a:t> </a:t>
            </a:r>
            <a:r>
              <a:rPr sz="1200" spc="-7" baseline="-20833" dirty="0">
                <a:latin typeface="LM Roman 8"/>
                <a:cs typeface="LM Roman 8"/>
              </a:rPr>
              <a:t>.</a:t>
            </a:r>
            <a:endParaRPr sz="1200" baseline="-20833">
              <a:latin typeface="LM Roman 8"/>
              <a:cs typeface="LM Roman 8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7868983" y="6692778"/>
            <a:ext cx="123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715" dirty="0">
                <a:latin typeface="Arial"/>
                <a:cs typeface="Arial"/>
              </a:rPr>
              <a:t>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7868983" y="6773753"/>
            <a:ext cx="136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60" dirty="0">
                <a:latin typeface="Arial"/>
                <a:cs typeface="Arial"/>
              </a:rPr>
              <a:t>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503999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 txBox="1"/>
          <p:nvPr/>
        </p:nvSpPr>
        <p:spPr>
          <a:xfrm>
            <a:off x="7067651" y="7011043"/>
            <a:ext cx="79375" cy="16891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spc="-5" dirty="0">
                <a:latin typeface="LM Roman 8"/>
                <a:cs typeface="LM Roman 8"/>
              </a:rPr>
              <a:t>0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7535798" y="7011043"/>
            <a:ext cx="79375" cy="16891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spc="-5" dirty="0">
                <a:latin typeface="LM Roman 8"/>
                <a:cs typeface="LM Roman 8"/>
              </a:rPr>
              <a:t>0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7751934" y="7011043"/>
            <a:ext cx="79375" cy="16891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spc="-5" dirty="0">
                <a:latin typeface="LM Roman 8"/>
                <a:cs typeface="LM Roman 8"/>
              </a:rPr>
              <a:t>1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7247953" y="7046065"/>
            <a:ext cx="15113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55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50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152" name="object 15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spc="-10" dirty="0"/>
          </a:p>
        </p:txBody>
      </p:sp>
      <p:sp>
        <p:nvSpPr>
          <p:cNvPr id="153" name="object 153"/>
          <p:cNvSpPr txBox="1"/>
          <p:nvPr/>
        </p:nvSpPr>
        <p:spPr>
          <a:xfrm>
            <a:off x="4945837" y="7312686"/>
            <a:ext cx="203200" cy="20510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z="1000" spc="-5" dirty="0">
                <a:latin typeface="LM Roman 10"/>
                <a:cs typeface="LM Roman 10"/>
              </a:rPr>
              <a:t>14</a:t>
            </a:fld>
            <a:endParaRPr sz="1000">
              <a:latin typeface="LM Roman 10"/>
              <a:cs typeface="LM Roman 10"/>
            </a:endParaRPr>
          </a:p>
        </p:txBody>
      </p:sp>
      <p:sp>
        <p:nvSpPr>
          <p:cNvPr id="155" name="Slide Number Placeholder 15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lang="en-IN" spc="-5" smtClean="0"/>
              <a:t>14</a:t>
            </a:fld>
            <a:endParaRPr lang="en-IN"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294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0676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994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9894" y="696606"/>
            <a:ext cx="3190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</a:t>
            </a:r>
            <a:r>
              <a:rPr sz="800" i="1" spc="8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for</a:t>
            </a:r>
            <a:r>
              <a:rPr sz="800" i="1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15" dirty="0">
                <a:solidFill>
                  <a:srgbClr val="59439A"/>
                </a:solidFill>
                <a:latin typeface="LM Roman 8"/>
                <a:cs typeface="LM Roman 8"/>
              </a:rPr>
              <a:t>all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matrices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14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i="1" spc="40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i="1" spc="-135" dirty="0">
                <a:solidFill>
                  <a:srgbClr val="59439A"/>
                </a:solidFill>
                <a:latin typeface="DejaVu Sans"/>
                <a:cs typeface="DejaVu Sans"/>
              </a:rPr>
              <a:t>∈</a:t>
            </a:r>
            <a:r>
              <a:rPr sz="800" i="1" spc="-20" dirty="0">
                <a:solidFill>
                  <a:srgbClr val="59439A"/>
                </a:solidFill>
                <a:latin typeface="DejaVu Sans"/>
                <a:cs typeface="DejaVu Sans"/>
              </a:rPr>
              <a:t> </a:t>
            </a:r>
            <a:r>
              <a:rPr sz="800" spc="85" dirty="0">
                <a:solidFill>
                  <a:srgbClr val="59439A"/>
                </a:solidFill>
                <a:latin typeface="MathJax_AMS"/>
                <a:cs typeface="MathJax_AMS"/>
              </a:rPr>
              <a:t>R</a:t>
            </a:r>
            <a:r>
              <a:rPr sz="900" i="1" spc="127" baseline="27777" dirty="0">
                <a:solidFill>
                  <a:srgbClr val="59439A"/>
                </a:solidFill>
                <a:latin typeface="Times New Roman"/>
                <a:cs typeface="Times New Roman"/>
              </a:rPr>
              <a:t>n</a:t>
            </a:r>
            <a:r>
              <a:rPr sz="900" i="1" spc="127" baseline="27777" dirty="0">
                <a:solidFill>
                  <a:srgbClr val="59439A"/>
                </a:solidFill>
                <a:latin typeface="DejaVu Sans"/>
                <a:cs typeface="DejaVu Sans"/>
              </a:rPr>
              <a:t>×</a:t>
            </a:r>
            <a:r>
              <a:rPr sz="900" i="1" spc="127" baseline="27777" dirty="0">
                <a:solidFill>
                  <a:srgbClr val="59439A"/>
                </a:solidFill>
                <a:latin typeface="Times New Roman"/>
                <a:cs typeface="Times New Roman"/>
              </a:rPr>
              <a:t>n</a:t>
            </a:r>
            <a:r>
              <a:rPr sz="800" i="1" spc="85" dirty="0">
                <a:solidFill>
                  <a:srgbClr val="59439A"/>
                </a:solidFill>
                <a:latin typeface="LM Roman 8"/>
                <a:cs typeface="LM Roman 8"/>
              </a:rPr>
              <a:t>,</a:t>
            </a:r>
            <a:r>
              <a:rPr sz="800" i="1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</a:t>
            </a:r>
            <a:r>
              <a:rPr sz="800" i="1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14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i="1" spc="-1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DejaVu Sans"/>
                <a:cs typeface="DejaVu Sans"/>
              </a:rPr>
              <a:t>×</a:t>
            </a:r>
            <a:r>
              <a:rPr sz="800" i="1" spc="-70" dirty="0">
                <a:solidFill>
                  <a:srgbClr val="59439A"/>
                </a:solidFill>
                <a:latin typeface="DejaVu Sans"/>
                <a:cs typeface="DejaVu Sans"/>
              </a:rPr>
              <a:t> </a:t>
            </a:r>
            <a:r>
              <a:rPr sz="800" i="1" spc="100" dirty="0">
                <a:solidFill>
                  <a:srgbClr val="59439A"/>
                </a:solidFill>
                <a:latin typeface="Times New Roman"/>
                <a:cs typeface="Times New Roman"/>
              </a:rPr>
              <a:t>I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100" dirty="0">
                <a:solidFill>
                  <a:srgbClr val="59439A"/>
                </a:solidFill>
                <a:latin typeface="Times New Roman"/>
                <a:cs typeface="Times New Roman"/>
              </a:rPr>
              <a:t>I</a:t>
            </a:r>
            <a:r>
              <a:rPr sz="800" i="1" spc="50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DejaVu Sans"/>
                <a:cs typeface="DejaVu Sans"/>
              </a:rPr>
              <a:t>×</a:t>
            </a:r>
            <a:r>
              <a:rPr sz="800" i="1" spc="-65" dirty="0">
                <a:solidFill>
                  <a:srgbClr val="59439A"/>
                </a:solidFill>
                <a:latin typeface="DejaVu Sans"/>
                <a:cs typeface="DejaVu Sans"/>
              </a:rPr>
              <a:t> </a:t>
            </a:r>
            <a:r>
              <a:rPr sz="800" i="1" spc="14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i="1" spc="3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</a:t>
            </a:r>
            <a:r>
              <a:rPr sz="800" spc="-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6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i="1" spc="65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64688" y="896840"/>
            <a:ext cx="215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5" dirty="0">
                <a:latin typeface="Times New Roman"/>
                <a:cs typeface="Times New Roman"/>
              </a:rPr>
              <a:t>n</a:t>
            </a:r>
            <a:r>
              <a:rPr sz="600" i="1" spc="70" dirty="0">
                <a:latin typeface="DejaVu Sans"/>
                <a:cs typeface="DejaVu Sans"/>
              </a:rPr>
              <a:t>×</a:t>
            </a: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294" y="907248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460" indent="-112395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5095" algn="l"/>
                <a:tab pos="2553335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Diagonal matrix </a:t>
            </a:r>
            <a:r>
              <a:rPr sz="800" spc="-5" dirty="0">
                <a:latin typeface="LM Roman 8"/>
                <a:cs typeface="LM Roman 8"/>
              </a:rPr>
              <a:t>– A diagonal matrix </a:t>
            </a:r>
            <a:r>
              <a:rPr sz="800" i="1" spc="114" dirty="0">
                <a:latin typeface="Times New Roman"/>
                <a:cs typeface="Times New Roman"/>
              </a:rPr>
              <a:t>D</a:t>
            </a:r>
            <a:r>
              <a:rPr sz="800" i="1" spc="120" dirty="0">
                <a:latin typeface="Times New Roman"/>
                <a:cs typeface="Times New Roman"/>
              </a:rPr>
              <a:t>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i="1" spc="-125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MathJax_AMS"/>
                <a:cs typeface="MathJax_AMS"/>
              </a:rPr>
              <a:t>R	</a:t>
            </a:r>
            <a:r>
              <a:rPr sz="800" spc="-5" dirty="0">
                <a:latin typeface="LM Roman 8"/>
                <a:cs typeface="LM Roman 8"/>
              </a:rPr>
              <a:t>is a square matrix with nonzero </a:t>
            </a:r>
            <a:r>
              <a:rPr sz="800" spc="-15" dirty="0">
                <a:latin typeface="LM Roman 8"/>
                <a:cs typeface="LM Roman 8"/>
              </a:rPr>
              <a:t>values</a:t>
            </a:r>
            <a:r>
              <a:rPr sz="800" spc="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5294" y="1009318"/>
            <a:ext cx="17989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its diagonal and zero everywhere</a:t>
            </a:r>
            <a:r>
              <a:rPr sz="800" spc="-1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else: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49246" y="1357406"/>
            <a:ext cx="4216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114" dirty="0">
                <a:latin typeface="Times New Roman"/>
                <a:cs typeface="Times New Roman"/>
              </a:rPr>
              <a:t>D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85" dirty="0">
                <a:latin typeface="LM Roman 8"/>
                <a:cs typeface="LM Roman 8"/>
              </a:rPr>
              <a:t> </a:t>
            </a:r>
            <a:r>
              <a:rPr sz="1500" spc="-667" baseline="27777" dirty="0">
                <a:latin typeface="Arial"/>
                <a:cs typeface="Arial"/>
              </a:rPr>
              <a:t></a:t>
            </a:r>
            <a:r>
              <a:rPr sz="1500" spc="-667" baseline="-8333" dirty="0">
                <a:latin typeface="Arial"/>
                <a:cs typeface="Arial"/>
              </a:rPr>
              <a:t></a:t>
            </a:r>
            <a:endParaRPr sz="1500" baseline="-8333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0400" y="1254809"/>
            <a:ext cx="1898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r>
              <a:rPr sz="800" spc="-210" dirty="0">
                <a:latin typeface="LM Roman 8"/>
                <a:cs typeface="LM Roman 8"/>
              </a:rPr>
              <a:t> </a:t>
            </a:r>
            <a:r>
              <a:rPr sz="1200" spc="-7" baseline="-20833" dirty="0">
                <a:latin typeface="LM Roman 8"/>
                <a:cs typeface="LM Roman 8"/>
              </a:rPr>
              <a:t>.</a:t>
            </a:r>
            <a:r>
              <a:rPr sz="1200" spc="-307" baseline="-20833" dirty="0">
                <a:latin typeface="LM Roman 8"/>
                <a:cs typeface="LM Roman 8"/>
              </a:rPr>
              <a:t> </a:t>
            </a:r>
            <a:r>
              <a:rPr sz="1200" spc="-7" baseline="-41666" dirty="0">
                <a:latin typeface="LM Roman 8"/>
                <a:cs typeface="LM Roman 8"/>
              </a:rPr>
              <a:t>.</a:t>
            </a:r>
            <a:endParaRPr sz="1200" baseline="-41666">
              <a:latin typeface="LM Roman 8"/>
              <a:cs typeface="LM Roman 8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66922" y="1292757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2334" y="1495182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2334" y="1545791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07043" y="1140928"/>
            <a:ext cx="1003300" cy="636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  <a:tabLst>
                <a:tab pos="358775" algn="l"/>
                <a:tab pos="575310" algn="l"/>
                <a:tab pos="860425" algn="l"/>
              </a:tabLst>
            </a:pPr>
            <a:r>
              <a:rPr sz="800" i="1" spc="10" dirty="0">
                <a:latin typeface="Times New Roman"/>
                <a:cs typeface="Times New Roman"/>
              </a:rPr>
              <a:t>d</a:t>
            </a:r>
            <a:r>
              <a:rPr sz="900" spc="15" baseline="-9259" dirty="0">
                <a:latin typeface="LM Roman 6"/>
                <a:cs typeface="LM Roman 6"/>
              </a:rPr>
              <a:t>1	</a:t>
            </a:r>
            <a:r>
              <a:rPr sz="800" spc="-5" dirty="0">
                <a:latin typeface="LM Roman 8"/>
                <a:cs typeface="LM Roman 8"/>
              </a:rPr>
              <a:t>0	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14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14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	</a:t>
            </a:r>
            <a:r>
              <a:rPr sz="800" spc="-5" dirty="0">
                <a:latin typeface="LM Roman 8"/>
                <a:cs typeface="LM Roman 8"/>
              </a:rPr>
              <a:t>0</a:t>
            </a:r>
            <a:endParaRPr sz="800">
              <a:latin typeface="LM Roman 8"/>
              <a:cs typeface="LM Roman 8"/>
            </a:endParaRPr>
          </a:p>
          <a:p>
            <a:pPr marL="115570">
              <a:lnSpc>
                <a:spcPts val="930"/>
              </a:lnSpc>
              <a:spcBef>
                <a:spcPts val="635"/>
              </a:spcBef>
              <a:tabLst>
                <a:tab pos="328930" algn="l"/>
              </a:tabLst>
            </a:pPr>
            <a:r>
              <a:rPr sz="800" spc="-5" dirty="0">
                <a:latin typeface="LM Roman 8"/>
                <a:cs typeface="LM Roman 8"/>
              </a:rPr>
              <a:t>0	</a:t>
            </a:r>
            <a:r>
              <a:rPr sz="1200" spc="-7" baseline="48611" dirty="0">
                <a:latin typeface="LM Roman 8"/>
                <a:cs typeface="LM Roman 8"/>
              </a:rPr>
              <a:t>.</a:t>
            </a:r>
            <a:r>
              <a:rPr sz="1200" spc="-292" baseline="48611" dirty="0">
                <a:latin typeface="LM Roman 8"/>
                <a:cs typeface="LM Roman 8"/>
              </a:rPr>
              <a:t> </a:t>
            </a:r>
            <a:r>
              <a:rPr sz="1200" spc="-7" baseline="27777" dirty="0">
                <a:latin typeface="LM Roman 8"/>
                <a:cs typeface="LM Roman 8"/>
              </a:rPr>
              <a:t>.</a:t>
            </a:r>
            <a:r>
              <a:rPr sz="1200" spc="-284" baseline="27777" dirty="0">
                <a:latin typeface="LM Roman 8"/>
                <a:cs typeface="LM Roman 8"/>
              </a:rPr>
              <a:t> </a:t>
            </a:r>
            <a:r>
              <a:rPr sz="1200" spc="-7" baseline="6944" dirty="0">
                <a:latin typeface="LM Roman 8"/>
                <a:cs typeface="LM Roman 8"/>
              </a:rPr>
              <a:t>.</a:t>
            </a:r>
            <a:endParaRPr sz="1200" baseline="6944">
              <a:latin typeface="LM Roman 8"/>
              <a:cs typeface="LM Roman 8"/>
            </a:endParaRPr>
          </a:p>
          <a:p>
            <a:pPr marL="328930">
              <a:lnSpc>
                <a:spcPts val="930"/>
              </a:lnSpc>
              <a:tabLst>
                <a:tab pos="581025" algn="l"/>
              </a:tabLst>
            </a:pPr>
            <a:r>
              <a:rPr sz="800" spc="-5" dirty="0">
                <a:latin typeface="LM Roman 8"/>
                <a:cs typeface="LM Roman 8"/>
              </a:rPr>
              <a:t>.</a:t>
            </a:r>
            <a:r>
              <a:rPr sz="800" spc="-190" dirty="0">
                <a:latin typeface="LM Roman 8"/>
                <a:cs typeface="LM Roman 8"/>
              </a:rPr>
              <a:t> </a:t>
            </a:r>
            <a:r>
              <a:rPr sz="1200" spc="-7" baseline="-20833" dirty="0">
                <a:latin typeface="LM Roman 8"/>
                <a:cs typeface="LM Roman 8"/>
              </a:rPr>
              <a:t>.</a:t>
            </a:r>
            <a:r>
              <a:rPr sz="1200" spc="-284" baseline="-20833" dirty="0">
                <a:latin typeface="LM Roman 8"/>
                <a:cs typeface="LM Roman 8"/>
              </a:rPr>
              <a:t> </a:t>
            </a:r>
            <a:r>
              <a:rPr sz="1200" spc="-7" baseline="-41666" dirty="0">
                <a:latin typeface="LM Roman 8"/>
                <a:cs typeface="LM Roman 8"/>
              </a:rPr>
              <a:t>.	</a:t>
            </a:r>
            <a:r>
              <a:rPr sz="800" spc="-5" dirty="0">
                <a:latin typeface="LM Roman 8"/>
                <a:cs typeface="LM Roman 8"/>
              </a:rPr>
              <a:t>.</a:t>
            </a:r>
            <a:r>
              <a:rPr sz="800" spc="-195" dirty="0">
                <a:latin typeface="LM Roman 8"/>
                <a:cs typeface="LM Roman 8"/>
              </a:rPr>
              <a:t> </a:t>
            </a:r>
            <a:r>
              <a:rPr sz="1200" spc="-7" baseline="-20833" dirty="0">
                <a:latin typeface="LM Roman 8"/>
                <a:cs typeface="LM Roman 8"/>
              </a:rPr>
              <a:t>.</a:t>
            </a:r>
            <a:r>
              <a:rPr sz="1200" spc="-284" baseline="-20833" dirty="0">
                <a:latin typeface="LM Roman 8"/>
                <a:cs typeface="LM Roman 8"/>
              </a:rPr>
              <a:t> </a:t>
            </a:r>
            <a:r>
              <a:rPr sz="1200" spc="-7" baseline="-41666" dirty="0">
                <a:latin typeface="LM Roman 8"/>
                <a:cs typeface="LM Roman 8"/>
              </a:rPr>
              <a:t>.</a:t>
            </a:r>
            <a:endParaRPr sz="1200" baseline="-41666">
              <a:latin typeface="LM Roman 8"/>
              <a:cs typeface="LM Roman 8"/>
            </a:endParaRPr>
          </a:p>
          <a:p>
            <a:pPr marL="115570">
              <a:lnSpc>
                <a:spcPct val="100000"/>
              </a:lnSpc>
              <a:spcBef>
                <a:spcPts val="400"/>
              </a:spcBef>
              <a:tabLst>
                <a:tab pos="323215" algn="l"/>
                <a:tab pos="610870" algn="l"/>
              </a:tabLst>
            </a:pPr>
            <a:r>
              <a:rPr sz="800" spc="-5" dirty="0">
                <a:latin typeface="LM Roman 8"/>
                <a:cs typeface="LM Roman 8"/>
              </a:rPr>
              <a:t>0	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14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14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	</a:t>
            </a:r>
            <a:r>
              <a:rPr sz="800" spc="-5" dirty="0">
                <a:latin typeface="LM Roman 8"/>
                <a:cs typeface="LM Roman 8"/>
              </a:rPr>
              <a:t>0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96425" y="1343366"/>
            <a:ext cx="190500" cy="446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5715" algn="ctr">
              <a:lnSpc>
                <a:spcPts val="860"/>
              </a:lnSpc>
              <a:spcBef>
                <a:spcPts val="635"/>
              </a:spcBef>
            </a:pPr>
            <a:r>
              <a:rPr sz="800" spc="-5" dirty="0">
                <a:latin typeface="LM Roman 8"/>
                <a:cs typeface="LM Roman 8"/>
              </a:rPr>
              <a:t>0</a:t>
            </a:r>
            <a:endParaRPr sz="800">
              <a:latin typeface="LM Roman 8"/>
              <a:cs typeface="LM Roman 8"/>
            </a:endParaRPr>
          </a:p>
          <a:p>
            <a:pPr algn="ctr">
              <a:lnSpc>
                <a:spcPts val="860"/>
              </a:lnSpc>
            </a:pPr>
            <a:r>
              <a:rPr sz="1200" i="1" spc="142" baseline="6944" dirty="0">
                <a:latin typeface="Times New Roman"/>
                <a:cs typeface="Times New Roman"/>
              </a:rPr>
              <a:t>d</a:t>
            </a:r>
            <a:r>
              <a:rPr sz="600" i="1" spc="95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09266" y="1071466"/>
            <a:ext cx="1232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8075" algn="l"/>
              </a:tabLst>
            </a:pPr>
            <a:r>
              <a:rPr sz="1000" spc="160" dirty="0">
                <a:latin typeface="Arial"/>
                <a:cs typeface="Arial"/>
              </a:rPr>
              <a:t>	</a:t>
            </a:r>
            <a:r>
              <a:rPr sz="1000" spc="-80" dirty="0">
                <a:latin typeface="Arial"/>
                <a:cs typeface="Arial"/>
              </a:rPr>
              <a:t>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79775" y="1294147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715" dirty="0">
                <a:latin typeface="Arial"/>
                <a:cs typeface="Arial"/>
              </a:rPr>
              <a:t></a:t>
            </a:r>
            <a:r>
              <a:rPr sz="1500" spc="240" baseline="-36111" dirty="0">
                <a:latin typeface="Arial"/>
                <a:cs typeface="Arial"/>
              </a:rPr>
              <a:t></a:t>
            </a:r>
            <a:endParaRPr sz="1500" baseline="-36111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9894" y="1810523"/>
            <a:ext cx="21062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also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note </a:t>
            </a:r>
            <a:r>
              <a:rPr sz="800" i="1" spc="114" dirty="0">
                <a:solidFill>
                  <a:srgbClr val="59439A"/>
                </a:solidFill>
                <a:latin typeface="Times New Roman"/>
                <a:cs typeface="Times New Roman"/>
              </a:rPr>
              <a:t>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as</a:t>
            </a:r>
            <a:r>
              <a:rPr sz="800" i="1" spc="-16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25" dirty="0">
                <a:solidFill>
                  <a:srgbClr val="59439A"/>
                </a:solidFill>
                <a:latin typeface="LM Roman 8"/>
                <a:cs typeface="LM Roman 8"/>
              </a:rPr>
              <a:t>diag</a:t>
            </a:r>
            <a:r>
              <a:rPr sz="800" spc="2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25" dirty="0">
                <a:solidFill>
                  <a:srgbClr val="59439A"/>
                </a:solidFill>
                <a:latin typeface="Times New Roman"/>
                <a:cs typeface="Times New Roman"/>
              </a:rPr>
              <a:t>d</a:t>
            </a:r>
            <a:r>
              <a:rPr sz="900" spc="37" baseline="-9259" dirty="0">
                <a:solidFill>
                  <a:srgbClr val="59439A"/>
                </a:solidFill>
                <a:latin typeface="LM Roman 6"/>
                <a:cs typeface="LM Roman 6"/>
              </a:rPr>
              <a:t>1</a:t>
            </a:r>
            <a:r>
              <a:rPr sz="800" i="1" spc="25" dirty="0">
                <a:solidFill>
                  <a:srgbClr val="59439A"/>
                </a:solidFill>
                <a:latin typeface="Times New Roman"/>
                <a:cs typeface="Times New Roman"/>
              </a:rPr>
              <a:t>,...,d</a:t>
            </a:r>
            <a:r>
              <a:rPr sz="900" i="1" spc="37" baseline="-9259" dirty="0">
                <a:solidFill>
                  <a:srgbClr val="59439A"/>
                </a:solidFill>
                <a:latin typeface="Times New Roman"/>
                <a:cs typeface="Times New Roman"/>
              </a:rPr>
              <a:t>n</a:t>
            </a:r>
            <a:r>
              <a:rPr sz="800" spc="2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i="1" spc="25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9894" y="2129162"/>
            <a:ext cx="4027170" cy="60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5"/>
              </a:lnSpc>
              <a:tabLst>
                <a:tab pos="482600" algn="l"/>
              </a:tabLst>
            </a:pPr>
            <a:r>
              <a:rPr sz="1000" b="1" spc="-5" dirty="0">
                <a:latin typeface="LM Roman 10"/>
                <a:cs typeface="LM Roman 10"/>
              </a:rPr>
              <a:t>5.2.2	</a:t>
            </a:r>
            <a:r>
              <a:rPr sz="900" b="1" spc="-10" dirty="0">
                <a:latin typeface="LM Roman 9"/>
                <a:cs typeface="LM Roman 9"/>
              </a:rPr>
              <a:t>Matrix </a:t>
            </a:r>
            <a:r>
              <a:rPr sz="900" b="1" dirty="0">
                <a:latin typeface="LM Roman 9"/>
                <a:cs typeface="LM Roman 9"/>
              </a:rPr>
              <a:t>operations</a:t>
            </a:r>
            <a:endParaRPr sz="900">
              <a:latin typeface="LM Roman 9"/>
              <a:cs typeface="LM Roman 9"/>
            </a:endParaRPr>
          </a:p>
          <a:p>
            <a:pPr marL="150495" indent="-113030">
              <a:lnSpc>
                <a:spcPct val="100000"/>
              </a:lnSpc>
              <a:spcBef>
                <a:spcPts val="665"/>
              </a:spcBef>
              <a:buFont typeface="DejaVu Sans"/>
              <a:buChar char="❒"/>
              <a:tabLst>
                <a:tab pos="151130" algn="l"/>
              </a:tabLst>
            </a:pPr>
            <a:r>
              <a:rPr sz="800" b="1" spc="-15" dirty="0">
                <a:solidFill>
                  <a:srgbClr val="9A0404"/>
                </a:solidFill>
                <a:latin typeface="LM Roman 8"/>
                <a:cs typeface="LM Roman 8"/>
              </a:rPr>
              <a:t>Vector-vector </a:t>
            </a: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multiplication </a:t>
            </a:r>
            <a:r>
              <a:rPr sz="800" spc="-5" dirty="0">
                <a:latin typeface="LM Roman 8"/>
                <a:cs typeface="LM Roman 8"/>
              </a:rPr>
              <a:t>– There are </a:t>
            </a:r>
            <a:r>
              <a:rPr sz="800" spc="-20" dirty="0">
                <a:latin typeface="LM Roman 8"/>
                <a:cs typeface="LM Roman 8"/>
              </a:rPr>
              <a:t>two </a:t>
            </a:r>
            <a:r>
              <a:rPr sz="800" spc="-5" dirty="0">
                <a:latin typeface="LM Roman 8"/>
                <a:cs typeface="LM Roman 8"/>
              </a:rPr>
              <a:t>types of </a:t>
            </a:r>
            <a:r>
              <a:rPr sz="800" spc="-10" dirty="0">
                <a:latin typeface="LM Roman 8"/>
                <a:cs typeface="LM Roman 8"/>
              </a:rPr>
              <a:t>vector-vector</a:t>
            </a:r>
            <a:r>
              <a:rPr sz="800" spc="80" dirty="0">
                <a:latin typeface="LM Roman 8"/>
                <a:cs typeface="LM Roman 8"/>
              </a:rPr>
              <a:t> </a:t>
            </a:r>
            <a:r>
              <a:rPr sz="800" dirty="0">
                <a:latin typeface="LM Roman 8"/>
                <a:cs typeface="LM Roman 8"/>
              </a:rPr>
              <a:t>products:</a:t>
            </a:r>
            <a:endParaRPr sz="800">
              <a:latin typeface="LM Roman 8"/>
              <a:cs typeface="LM Roman 8"/>
            </a:endParaRPr>
          </a:p>
          <a:p>
            <a:pPr marL="354330" lvl="1" indent="-147955">
              <a:lnSpc>
                <a:spcPct val="100000"/>
              </a:lnSpc>
              <a:spcBef>
                <a:spcPts val="855"/>
              </a:spcBef>
              <a:buChar char="•"/>
              <a:tabLst>
                <a:tab pos="354965" algn="l"/>
              </a:tabLst>
            </a:pPr>
            <a:r>
              <a:rPr sz="800" spc="-5" dirty="0">
                <a:latin typeface="LM Roman 8"/>
                <a:cs typeface="LM Roman 8"/>
              </a:rPr>
              <a:t>inner </a:t>
            </a:r>
            <a:r>
              <a:rPr sz="800" dirty="0">
                <a:latin typeface="LM Roman 8"/>
                <a:cs typeface="LM Roman 8"/>
              </a:rPr>
              <a:t>product: </a:t>
            </a:r>
            <a:r>
              <a:rPr sz="800" spc="-5" dirty="0">
                <a:latin typeface="LM Roman 8"/>
                <a:cs typeface="LM Roman 8"/>
              </a:rPr>
              <a:t>for </a:t>
            </a:r>
            <a:r>
              <a:rPr sz="800" i="1" spc="70" dirty="0">
                <a:latin typeface="Times New Roman"/>
                <a:cs typeface="Times New Roman"/>
              </a:rPr>
              <a:t>x,y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65" dirty="0">
                <a:latin typeface="MathJax_AMS"/>
                <a:cs typeface="MathJax_AMS"/>
              </a:rPr>
              <a:t>R</a:t>
            </a:r>
            <a:r>
              <a:rPr sz="900" i="1" spc="97" baseline="27777" dirty="0">
                <a:latin typeface="Times New Roman"/>
                <a:cs typeface="Times New Roman"/>
              </a:rPr>
              <a:t>n</a:t>
            </a:r>
            <a:r>
              <a:rPr sz="800" spc="65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83395" y="2857377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21229" y="2844728"/>
            <a:ext cx="195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3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37002" y="3161047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60980" y="2983914"/>
            <a:ext cx="10102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73405" algn="l"/>
              </a:tabLst>
            </a:pPr>
            <a:r>
              <a:rPr sz="800" i="1" spc="110" dirty="0">
                <a:latin typeface="Times New Roman"/>
                <a:cs typeface="Times New Roman"/>
              </a:rPr>
              <a:t>x</a:t>
            </a:r>
            <a:r>
              <a:rPr sz="900" i="1" spc="165" baseline="32407" dirty="0">
                <a:latin typeface="Times New Roman"/>
                <a:cs typeface="Times New Roman"/>
              </a:rPr>
              <a:t>T</a:t>
            </a:r>
            <a:r>
              <a:rPr sz="900" i="1" spc="-7" baseline="32407" dirty="0">
                <a:latin typeface="Times New Roman"/>
                <a:cs typeface="Times New Roman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y </a:t>
            </a:r>
            <a:r>
              <a:rPr sz="800" spc="-5" dirty="0">
                <a:latin typeface="LM Roman 8"/>
                <a:cs typeface="LM Roman 8"/>
              </a:rPr>
              <a:t>=	</a:t>
            </a:r>
            <a:r>
              <a:rPr sz="800" i="1" spc="105" dirty="0">
                <a:latin typeface="Times New Roman"/>
                <a:cs typeface="Times New Roman"/>
              </a:rPr>
              <a:t>x</a:t>
            </a:r>
            <a:r>
              <a:rPr sz="900" i="1" spc="157" baseline="-9259" dirty="0">
                <a:latin typeface="Times New Roman"/>
                <a:cs typeface="Times New Roman"/>
              </a:rPr>
              <a:t>i</a:t>
            </a:r>
            <a:r>
              <a:rPr sz="800" i="1" spc="105" dirty="0">
                <a:latin typeface="Times New Roman"/>
                <a:cs typeface="Times New Roman"/>
              </a:rPr>
              <a:t>y</a:t>
            </a:r>
            <a:r>
              <a:rPr sz="900" i="1" spc="157" baseline="-9259" dirty="0">
                <a:latin typeface="Times New Roman"/>
                <a:cs typeface="Times New Roman"/>
              </a:rPr>
              <a:t>i </a:t>
            </a:r>
            <a:r>
              <a:rPr sz="800" i="1" spc="-135" dirty="0">
                <a:latin typeface="DejaVu Sans"/>
                <a:cs typeface="DejaVu Sans"/>
              </a:rPr>
              <a:t>∈</a:t>
            </a:r>
            <a:r>
              <a:rPr sz="800" i="1" spc="-45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MathJax_AMS"/>
                <a:cs typeface="MathJax_AMS"/>
              </a:rPr>
              <a:t>R</a:t>
            </a:r>
            <a:endParaRPr sz="800">
              <a:latin typeface="MathJax_AMS"/>
              <a:cs typeface="MathJax_A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356053" y="2857639"/>
            <a:ext cx="1020444" cy="448309"/>
            <a:chOff x="2356053" y="2857639"/>
            <a:chExt cx="1020444" cy="448309"/>
          </a:xfrm>
        </p:grpSpPr>
        <p:sp>
          <p:nvSpPr>
            <p:cNvPr id="25" name="object 25"/>
            <p:cNvSpPr/>
            <p:nvPr/>
          </p:nvSpPr>
          <p:spPr>
            <a:xfrm>
              <a:off x="2356053" y="2860167"/>
              <a:ext cx="1020444" cy="0"/>
            </a:xfrm>
            <a:custGeom>
              <a:avLst/>
              <a:gdLst/>
              <a:ahLst/>
              <a:cxnLst/>
              <a:rect l="l" t="t" r="r" b="b"/>
              <a:pathLst>
                <a:path w="1020445">
                  <a:moveTo>
                    <a:pt x="0" y="0"/>
                  </a:moveTo>
                  <a:lnTo>
                    <a:pt x="102014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58593" y="2860167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73666" y="2860167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29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56053" y="3302800"/>
              <a:ext cx="1020444" cy="0"/>
            </a:xfrm>
            <a:custGeom>
              <a:avLst/>
              <a:gdLst/>
              <a:ahLst/>
              <a:cxnLst/>
              <a:rect l="l" t="t" r="r" b="b"/>
              <a:pathLst>
                <a:path w="1020445">
                  <a:moveTo>
                    <a:pt x="0" y="0"/>
                  </a:moveTo>
                  <a:lnTo>
                    <a:pt x="102014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99300" y="3452785"/>
            <a:ext cx="2308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85420" algn="l"/>
              </a:tabLst>
            </a:pPr>
            <a:r>
              <a:rPr sz="800" spc="-5" dirty="0">
                <a:latin typeface="LM Roman 8"/>
                <a:cs typeface="LM Roman 8"/>
              </a:rPr>
              <a:t>outer </a:t>
            </a:r>
            <a:r>
              <a:rPr sz="800" dirty="0">
                <a:latin typeface="LM Roman 8"/>
                <a:cs typeface="LM Roman 8"/>
              </a:rPr>
              <a:t>product: </a:t>
            </a:r>
            <a:r>
              <a:rPr sz="800" spc="-5" dirty="0">
                <a:latin typeface="LM Roman 8"/>
                <a:cs typeface="LM Roman 8"/>
              </a:rPr>
              <a:t>for </a:t>
            </a: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95" dirty="0">
                <a:latin typeface="MathJax_AMS"/>
                <a:cs typeface="MathJax_AMS"/>
              </a:rPr>
              <a:t>R</a:t>
            </a:r>
            <a:r>
              <a:rPr sz="900" i="1" spc="142" baseline="27777" dirty="0">
                <a:latin typeface="Times New Roman"/>
                <a:cs typeface="Times New Roman"/>
              </a:rPr>
              <a:t>m</a:t>
            </a:r>
            <a:r>
              <a:rPr sz="800" i="1" spc="95" dirty="0">
                <a:latin typeface="Times New Roman"/>
                <a:cs typeface="Times New Roman"/>
              </a:rPr>
              <a:t>, </a:t>
            </a:r>
            <a:r>
              <a:rPr sz="800" i="1" spc="60" dirty="0">
                <a:latin typeface="Times New Roman"/>
                <a:cs typeface="Times New Roman"/>
              </a:rPr>
              <a:t>y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65" dirty="0">
                <a:latin typeface="MathJax_AMS"/>
                <a:cs typeface="MathJax_AMS"/>
              </a:rPr>
              <a:t>R</a:t>
            </a:r>
            <a:r>
              <a:rPr sz="900" i="1" spc="97" baseline="27777" dirty="0">
                <a:latin typeface="Times New Roman"/>
                <a:cs typeface="Times New Roman"/>
              </a:rPr>
              <a:t>n</a:t>
            </a:r>
            <a:r>
              <a:rPr sz="800" spc="65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2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53120" y="3848010"/>
            <a:ext cx="3689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i="1" spc="100" dirty="0">
                <a:latin typeface="Times New Roman"/>
                <a:cs typeface="Times New Roman"/>
              </a:rPr>
              <a:t>xy</a:t>
            </a:r>
            <a:r>
              <a:rPr sz="900" i="1" spc="150" baseline="32407" dirty="0">
                <a:latin typeface="Times New Roman"/>
                <a:cs typeface="Times New Roman"/>
              </a:rPr>
              <a:t>T</a:t>
            </a:r>
            <a:r>
              <a:rPr sz="900" i="1" spc="270" baseline="32407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13381" y="3650632"/>
            <a:ext cx="106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45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82723" y="3909871"/>
            <a:ext cx="43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23044" y="3909871"/>
            <a:ext cx="43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31681" y="3701807"/>
            <a:ext cx="966469" cy="415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95"/>
              </a:spcBef>
              <a:tabLst>
                <a:tab pos="419734" algn="l"/>
                <a:tab pos="690245" algn="l"/>
              </a:tabLst>
            </a:pPr>
            <a:r>
              <a:rPr sz="800" i="1" spc="55" dirty="0">
                <a:latin typeface="Times New Roman"/>
                <a:cs typeface="Times New Roman"/>
              </a:rPr>
              <a:t>x</a:t>
            </a:r>
            <a:r>
              <a:rPr sz="900" spc="82" baseline="-9259" dirty="0">
                <a:latin typeface="LM Roman 6"/>
                <a:cs typeface="LM Roman 6"/>
              </a:rPr>
              <a:t>1</a:t>
            </a:r>
            <a:r>
              <a:rPr sz="800" i="1" spc="55" dirty="0">
                <a:latin typeface="Times New Roman"/>
                <a:cs typeface="Times New Roman"/>
              </a:rPr>
              <a:t>y</a:t>
            </a:r>
            <a:r>
              <a:rPr sz="900" spc="82" baseline="-9259" dirty="0">
                <a:latin typeface="LM Roman 6"/>
                <a:cs typeface="LM Roman 6"/>
              </a:rPr>
              <a:t>1	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14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14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	</a:t>
            </a:r>
            <a:r>
              <a:rPr sz="800" i="1" spc="95" dirty="0">
                <a:latin typeface="Times New Roman"/>
                <a:cs typeface="Times New Roman"/>
              </a:rPr>
              <a:t>x</a:t>
            </a:r>
            <a:r>
              <a:rPr sz="900" spc="142" baseline="-9259" dirty="0">
                <a:latin typeface="LM Roman 6"/>
                <a:cs typeface="LM Roman 6"/>
              </a:rPr>
              <a:t>1</a:t>
            </a:r>
            <a:r>
              <a:rPr sz="800" i="1" spc="95" dirty="0">
                <a:latin typeface="Times New Roman"/>
                <a:cs typeface="Times New Roman"/>
              </a:rPr>
              <a:t>y</a:t>
            </a:r>
            <a:r>
              <a:rPr sz="900" i="1" spc="142" baseline="-9259" dirty="0">
                <a:latin typeface="Times New Roman"/>
                <a:cs typeface="Times New Roman"/>
              </a:rPr>
              <a:t>n</a:t>
            </a:r>
            <a:endParaRPr sz="900" baseline="-9259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55"/>
              </a:spcBef>
              <a:tabLst>
                <a:tab pos="419734" algn="l"/>
              </a:tabLst>
            </a:pPr>
            <a:r>
              <a:rPr sz="800" i="1" spc="110" dirty="0">
                <a:latin typeface="Times New Roman"/>
                <a:cs typeface="Times New Roman"/>
              </a:rPr>
              <a:t>x</a:t>
            </a:r>
            <a:r>
              <a:rPr sz="900" i="1" spc="165" baseline="-9259" dirty="0">
                <a:latin typeface="Times New Roman"/>
                <a:cs typeface="Times New Roman"/>
              </a:rPr>
              <a:t>m</a:t>
            </a:r>
            <a:r>
              <a:rPr sz="800" i="1" spc="110" dirty="0">
                <a:latin typeface="Times New Roman"/>
                <a:cs typeface="Times New Roman"/>
              </a:rPr>
              <a:t>y</a:t>
            </a:r>
            <a:r>
              <a:rPr sz="900" spc="165" baseline="-9259" dirty="0">
                <a:latin typeface="LM Roman 6"/>
                <a:cs typeface="LM Roman 6"/>
              </a:rPr>
              <a:t>1	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20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20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78683" y="3982782"/>
            <a:ext cx="3251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i="1" spc="225" baseline="6944" dirty="0">
                <a:latin typeface="Times New Roman"/>
                <a:cs typeface="Times New Roman"/>
              </a:rPr>
              <a:t>x</a:t>
            </a:r>
            <a:r>
              <a:rPr sz="600" i="1" spc="150" dirty="0">
                <a:latin typeface="Times New Roman"/>
                <a:cs typeface="Times New Roman"/>
              </a:rPr>
              <a:t>m</a:t>
            </a:r>
            <a:r>
              <a:rPr sz="1200" i="1" spc="225" baseline="6944" dirty="0">
                <a:latin typeface="Times New Roman"/>
                <a:cs typeface="Times New Roman"/>
              </a:rPr>
              <a:t>y</a:t>
            </a:r>
            <a:r>
              <a:rPr sz="600" i="1" spc="15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35146" y="3650632"/>
            <a:ext cx="106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114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32759" y="3805960"/>
            <a:ext cx="4533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i="1" spc="-202" baseline="-24305" dirty="0">
                <a:latin typeface="DejaVu Sans"/>
                <a:cs typeface="DejaVu Sans"/>
              </a:rPr>
              <a:t>∈</a:t>
            </a:r>
            <a:r>
              <a:rPr sz="1200" i="1" spc="-89" baseline="-24305" dirty="0">
                <a:latin typeface="DejaVu Sans"/>
                <a:cs typeface="DejaVu Sans"/>
              </a:rPr>
              <a:t> </a:t>
            </a:r>
            <a:r>
              <a:rPr sz="1200" spc="165" baseline="-24305" dirty="0">
                <a:latin typeface="MathJax_AMS"/>
                <a:cs typeface="MathJax_AMS"/>
              </a:rPr>
              <a:t>R</a:t>
            </a:r>
            <a:r>
              <a:rPr sz="600" i="1" spc="110" dirty="0">
                <a:latin typeface="Times New Roman"/>
                <a:cs typeface="Times New Roman"/>
              </a:rPr>
              <a:t>m</a:t>
            </a:r>
            <a:r>
              <a:rPr sz="600" i="1" spc="110" dirty="0">
                <a:latin typeface="DejaVu Sans"/>
                <a:cs typeface="DejaVu Sans"/>
              </a:rPr>
              <a:t>×</a:t>
            </a:r>
            <a:r>
              <a:rPr sz="600" i="1" spc="11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835505" y="3726497"/>
            <a:ext cx="2061845" cy="420370"/>
            <a:chOff x="1835505" y="3726497"/>
            <a:chExt cx="2061845" cy="420370"/>
          </a:xfrm>
        </p:grpSpPr>
        <p:sp>
          <p:nvSpPr>
            <p:cNvPr id="39" name="object 39"/>
            <p:cNvSpPr/>
            <p:nvPr/>
          </p:nvSpPr>
          <p:spPr>
            <a:xfrm>
              <a:off x="1835505" y="3729024"/>
              <a:ext cx="2061845" cy="0"/>
            </a:xfrm>
            <a:custGeom>
              <a:avLst/>
              <a:gdLst/>
              <a:ahLst/>
              <a:cxnLst/>
              <a:rect l="l" t="t" r="r" b="b"/>
              <a:pathLst>
                <a:path w="2061845">
                  <a:moveTo>
                    <a:pt x="0" y="0"/>
                  </a:moveTo>
                  <a:lnTo>
                    <a:pt x="206124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838032" y="3729024"/>
              <a:ext cx="0" cy="415290"/>
            </a:xfrm>
            <a:custGeom>
              <a:avLst/>
              <a:gdLst/>
              <a:ahLst/>
              <a:cxnLst/>
              <a:rect l="l" t="t" r="r" b="b"/>
              <a:pathLst>
                <a:path h="415289">
                  <a:moveTo>
                    <a:pt x="0" y="41520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94226" y="3729024"/>
              <a:ext cx="0" cy="415290"/>
            </a:xfrm>
            <a:custGeom>
              <a:avLst/>
              <a:gdLst/>
              <a:ahLst/>
              <a:cxnLst/>
              <a:rect l="l" t="t" r="r" b="b"/>
              <a:pathLst>
                <a:path h="415289">
                  <a:moveTo>
                    <a:pt x="0" y="415201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835505" y="4144225"/>
              <a:ext cx="2061845" cy="0"/>
            </a:xfrm>
            <a:custGeom>
              <a:avLst/>
              <a:gdLst/>
              <a:ahLst/>
              <a:cxnLst/>
              <a:rect l="l" t="t" r="r" b="b"/>
              <a:pathLst>
                <a:path w="2061845">
                  <a:moveTo>
                    <a:pt x="0" y="0"/>
                  </a:moveTo>
                  <a:lnTo>
                    <a:pt x="206124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29894" y="4402339"/>
            <a:ext cx="4556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0495" indent="-11303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51130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Matrix-vector </a:t>
            </a: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multiplication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dirty="0">
                <a:latin typeface="LM Roman 8"/>
                <a:cs typeface="LM Roman 8"/>
              </a:rPr>
              <a:t>product </a:t>
            </a:r>
            <a:r>
              <a:rPr sz="800" spc="-5" dirty="0">
                <a:latin typeface="LM Roman 8"/>
                <a:cs typeface="LM Roman 8"/>
              </a:rPr>
              <a:t>of matrix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110" dirty="0">
                <a:latin typeface="MathJax_AMS"/>
                <a:cs typeface="MathJax_AMS"/>
              </a:rPr>
              <a:t>R</a:t>
            </a:r>
            <a:r>
              <a:rPr sz="900" i="1" spc="165" baseline="27777" dirty="0">
                <a:latin typeface="Times New Roman"/>
                <a:cs typeface="Times New Roman"/>
              </a:rPr>
              <a:t>m</a:t>
            </a:r>
            <a:r>
              <a:rPr sz="900" i="1" spc="165" baseline="27777" dirty="0">
                <a:latin typeface="DejaVu Sans"/>
                <a:cs typeface="DejaVu Sans"/>
              </a:rPr>
              <a:t>×</a:t>
            </a:r>
            <a:r>
              <a:rPr sz="900" i="1" spc="165" baseline="27777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spc="-10" dirty="0">
                <a:latin typeface="LM Roman 8"/>
                <a:cs typeface="LM Roman 8"/>
              </a:rPr>
              <a:t>vector </a:t>
            </a: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75" dirty="0">
                <a:latin typeface="MathJax_AMS"/>
                <a:cs typeface="MathJax_AMS"/>
              </a:rPr>
              <a:t>R</a:t>
            </a:r>
            <a:r>
              <a:rPr sz="900" i="1" spc="112" baseline="27777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2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9907" y="4504396"/>
            <a:ext cx="13989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LM Roman 8"/>
                <a:cs typeface="LM Roman 8"/>
              </a:rPr>
              <a:t>vector </a:t>
            </a:r>
            <a:r>
              <a:rPr sz="800" spc="-5" dirty="0">
                <a:latin typeface="LM Roman 8"/>
                <a:cs typeface="LM Roman 8"/>
              </a:rPr>
              <a:t>of size </a:t>
            </a:r>
            <a:r>
              <a:rPr sz="800" spc="65" dirty="0">
                <a:latin typeface="MathJax_AMS"/>
                <a:cs typeface="MathJax_AMS"/>
              </a:rPr>
              <a:t>R</a:t>
            </a:r>
            <a:r>
              <a:rPr sz="900" i="1" spc="97" baseline="27777" dirty="0">
                <a:latin typeface="Times New Roman"/>
                <a:cs typeface="Times New Roman"/>
              </a:rPr>
              <a:t>n</a:t>
            </a:r>
            <a:r>
              <a:rPr sz="800" spc="65" dirty="0">
                <a:latin typeface="LM Roman 8"/>
                <a:cs typeface="LM Roman 8"/>
              </a:rPr>
              <a:t>,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-8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73643" y="4841689"/>
            <a:ext cx="471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130" dirty="0">
                <a:latin typeface="Times New Roman"/>
                <a:cs typeface="Times New Roman"/>
              </a:rPr>
              <a:t>Ax</a:t>
            </a:r>
            <a:r>
              <a:rPr sz="800" i="1" spc="-10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1500" spc="240" baseline="8333" dirty="0">
                <a:latin typeface="Arial"/>
                <a:cs typeface="Arial"/>
              </a:rPr>
              <a:t></a:t>
            </a:r>
            <a:endParaRPr sz="1500" baseline="8333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332951" y="4685924"/>
            <a:ext cx="81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332951" y="4755088"/>
            <a:ext cx="1422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r</a:t>
            </a:r>
            <a:r>
              <a:rPr sz="600" i="1" spc="75" dirty="0">
                <a:latin typeface="Times New Roman"/>
                <a:cs typeface="Times New Roman"/>
              </a:rPr>
              <a:t>,</a:t>
            </a:r>
            <a:r>
              <a:rPr sz="600" spc="-5" dirty="0">
                <a:latin typeface="LM Roman 6"/>
                <a:cs typeface="LM Roman 6"/>
              </a:rPr>
              <a:t>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275827" y="4696331"/>
            <a:ext cx="2667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800" i="1" spc="190" dirty="0">
                <a:latin typeface="Times New Roman"/>
                <a:cs typeface="Times New Roman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381262" y="4831701"/>
            <a:ext cx="55880" cy="248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12700">
              <a:lnSpc>
                <a:spcPts val="880"/>
              </a:lnSpc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232101" y="4998845"/>
            <a:ext cx="189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112" baseline="-20833" dirty="0">
                <a:latin typeface="Times New Roman"/>
                <a:cs typeface="Times New Roman"/>
              </a:rPr>
              <a:t>a</a:t>
            </a:r>
            <a:r>
              <a:rPr sz="600" i="1" spc="75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14625" y="5085174"/>
            <a:ext cx="179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r</a:t>
            </a:r>
            <a:r>
              <a:rPr sz="600" i="1" spc="140" dirty="0">
                <a:latin typeface="Times New Roman"/>
                <a:cs typeface="Times New Roman"/>
              </a:rPr>
              <a:t>,m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474366" y="5034570"/>
            <a:ext cx="863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20" dirty="0">
                <a:latin typeface="Times New Roman"/>
                <a:cs typeface="Times New Roman"/>
              </a:rPr>
              <a:t>x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083523" y="4593696"/>
            <a:ext cx="6508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7050" algn="l"/>
              </a:tabLst>
            </a:pPr>
            <a:r>
              <a:rPr sz="1000" spc="160" dirty="0">
                <a:latin typeface="Arial"/>
                <a:cs typeface="Arial"/>
              </a:rPr>
              <a:t>	</a:t>
            </a:r>
            <a:r>
              <a:rPr sz="1000" spc="-80" dirty="0">
                <a:latin typeface="Arial"/>
                <a:cs typeface="Arial"/>
              </a:rPr>
              <a:t>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572766" y="4821446"/>
            <a:ext cx="3009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160" dirty="0">
                <a:latin typeface="Arial"/>
                <a:cs typeface="Arial"/>
              </a:rPr>
              <a:t></a:t>
            </a:r>
            <a:r>
              <a:rPr sz="1000" spc="-135" dirty="0">
                <a:latin typeface="Arial"/>
                <a:cs typeface="Arial"/>
              </a:rPr>
              <a:t> </a:t>
            </a:r>
            <a:r>
              <a:rPr sz="1200" spc="-7" baseline="-10416" dirty="0">
                <a:latin typeface="LM Roman 8"/>
                <a:cs typeface="LM Roman 8"/>
              </a:rPr>
              <a:t>=</a:t>
            </a:r>
            <a:endParaRPr sz="1200" baseline="-10416">
              <a:latin typeface="LM Roman 8"/>
              <a:cs typeface="LM Roman 8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914434" y="4740470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852267" y="4727808"/>
            <a:ext cx="195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3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868041" y="5044127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027552" y="4866994"/>
            <a:ext cx="5505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90" dirty="0">
                <a:latin typeface="Times New Roman"/>
                <a:cs typeface="Times New Roman"/>
              </a:rPr>
              <a:t>a</a:t>
            </a:r>
            <a:r>
              <a:rPr sz="900" i="1" spc="135" baseline="-9259" dirty="0">
                <a:latin typeface="Times New Roman"/>
                <a:cs typeface="Times New Roman"/>
              </a:rPr>
              <a:t>c,i</a:t>
            </a:r>
            <a:r>
              <a:rPr sz="800" i="1" spc="90" dirty="0">
                <a:latin typeface="Times New Roman"/>
                <a:cs typeface="Times New Roman"/>
              </a:rPr>
              <a:t>x</a:t>
            </a:r>
            <a:r>
              <a:rPr sz="900" i="1" spc="135" baseline="-9259" dirty="0">
                <a:latin typeface="Times New Roman"/>
                <a:cs typeface="Times New Roman"/>
              </a:rPr>
              <a:t>i </a:t>
            </a:r>
            <a:r>
              <a:rPr sz="800" i="1" spc="-135" dirty="0">
                <a:latin typeface="DejaVu Sans"/>
                <a:cs typeface="DejaVu Sans"/>
              </a:rPr>
              <a:t>∈</a:t>
            </a:r>
            <a:r>
              <a:rPr sz="800" i="1" spc="-30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MathJax_AMS"/>
                <a:cs typeface="MathJax_AMS"/>
              </a:rPr>
              <a:t>R</a:t>
            </a:r>
            <a:endParaRPr sz="800">
              <a:latin typeface="MathJax_AMS"/>
              <a:cs typeface="MathJax_A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526751" y="4850249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768716" y="4679645"/>
            <a:ext cx="1878964" cy="552450"/>
            <a:chOff x="1768716" y="4679645"/>
            <a:chExt cx="1878964" cy="552450"/>
          </a:xfrm>
        </p:grpSpPr>
        <p:sp>
          <p:nvSpPr>
            <p:cNvPr id="61" name="object 61"/>
            <p:cNvSpPr/>
            <p:nvPr/>
          </p:nvSpPr>
          <p:spPr>
            <a:xfrm>
              <a:off x="1768716" y="4682172"/>
              <a:ext cx="1878964" cy="0"/>
            </a:xfrm>
            <a:custGeom>
              <a:avLst/>
              <a:gdLst/>
              <a:ahLst/>
              <a:cxnLst/>
              <a:rect l="l" t="t" r="r" b="b"/>
              <a:pathLst>
                <a:path w="1878965">
                  <a:moveTo>
                    <a:pt x="0" y="0"/>
                  </a:moveTo>
                  <a:lnTo>
                    <a:pt x="187850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71243" y="4682172"/>
              <a:ext cx="0" cy="547370"/>
            </a:xfrm>
            <a:custGeom>
              <a:avLst/>
              <a:gdLst/>
              <a:ahLst/>
              <a:cxnLst/>
              <a:rect l="l" t="t" r="r" b="b"/>
              <a:pathLst>
                <a:path h="547370">
                  <a:moveTo>
                    <a:pt x="0" y="54687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44684" y="4682172"/>
              <a:ext cx="0" cy="547370"/>
            </a:xfrm>
            <a:custGeom>
              <a:avLst/>
              <a:gdLst/>
              <a:ahLst/>
              <a:cxnLst/>
              <a:rect l="l" t="t" r="r" b="b"/>
              <a:pathLst>
                <a:path h="547370">
                  <a:moveTo>
                    <a:pt x="0" y="54687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768716" y="5229047"/>
              <a:ext cx="1878964" cy="0"/>
            </a:xfrm>
            <a:custGeom>
              <a:avLst/>
              <a:gdLst/>
              <a:ahLst/>
              <a:cxnLst/>
              <a:rect l="l" t="t" r="r" b="b"/>
              <a:pathLst>
                <a:path w="1878965">
                  <a:moveTo>
                    <a:pt x="0" y="0"/>
                  </a:moveTo>
                  <a:lnTo>
                    <a:pt x="187850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014285" y="5355798"/>
            <a:ext cx="1301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r</a:t>
            </a:r>
            <a:r>
              <a:rPr sz="600" i="1" spc="80" dirty="0">
                <a:latin typeface="Times New Roman"/>
                <a:cs typeface="Times New Roman"/>
              </a:rPr>
              <a:t>,i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19683" y="5295670"/>
            <a:ext cx="43668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where </a:t>
            </a:r>
            <a:r>
              <a:rPr sz="800" i="1" spc="75" dirty="0">
                <a:latin typeface="Times New Roman"/>
                <a:cs typeface="Times New Roman"/>
              </a:rPr>
              <a:t>a</a:t>
            </a:r>
            <a:r>
              <a:rPr sz="900" i="1" spc="112" baseline="27777" dirty="0">
                <a:latin typeface="Times New Roman"/>
                <a:cs typeface="Times New Roman"/>
              </a:rPr>
              <a:t>T </a:t>
            </a:r>
            <a:r>
              <a:rPr sz="800" spc="-5" dirty="0">
                <a:latin typeface="LM Roman 8"/>
                <a:cs typeface="LM Roman 8"/>
              </a:rPr>
              <a:t>are the </a:t>
            </a:r>
            <a:r>
              <a:rPr sz="800" spc="-10" dirty="0">
                <a:latin typeface="LM Roman 8"/>
                <a:cs typeface="LM Roman 8"/>
              </a:rPr>
              <a:t>vector rows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80" dirty="0">
                <a:latin typeface="Times New Roman"/>
                <a:cs typeface="Times New Roman"/>
              </a:rPr>
              <a:t>a</a:t>
            </a:r>
            <a:r>
              <a:rPr sz="900" i="1" spc="120" baseline="-9259" dirty="0">
                <a:latin typeface="Times New Roman"/>
                <a:cs typeface="Times New Roman"/>
              </a:rPr>
              <a:t>c,j </a:t>
            </a:r>
            <a:r>
              <a:rPr sz="800" spc="-5" dirty="0">
                <a:latin typeface="LM Roman 8"/>
                <a:cs typeface="LM Roman 8"/>
              </a:rPr>
              <a:t>are the </a:t>
            </a:r>
            <a:r>
              <a:rPr sz="800" spc="-10" dirty="0">
                <a:latin typeface="LM Roman 8"/>
                <a:cs typeface="LM Roman 8"/>
              </a:rPr>
              <a:t>vector </a:t>
            </a:r>
            <a:r>
              <a:rPr sz="800" spc="-5" dirty="0">
                <a:latin typeface="LM Roman 8"/>
                <a:cs typeface="LM Roman 8"/>
              </a:rPr>
              <a:t>columns of </a:t>
            </a:r>
            <a:r>
              <a:rPr sz="800" i="1" spc="65" dirty="0">
                <a:latin typeface="Times New Roman"/>
                <a:cs typeface="Times New Roman"/>
              </a:rPr>
              <a:t>A</a:t>
            </a:r>
            <a:r>
              <a:rPr sz="800" spc="65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10" dirty="0">
                <a:latin typeface="Times New Roman"/>
                <a:cs typeface="Times New Roman"/>
              </a:rPr>
              <a:t>x</a:t>
            </a:r>
            <a:r>
              <a:rPr sz="900" i="1" spc="165" baseline="-9259" dirty="0">
                <a:latin typeface="Times New Roman"/>
                <a:cs typeface="Times New Roman"/>
              </a:rPr>
              <a:t>i </a:t>
            </a:r>
            <a:r>
              <a:rPr sz="800" spc="-5" dirty="0">
                <a:latin typeface="LM Roman 8"/>
                <a:cs typeface="LM Roman 8"/>
              </a:rPr>
              <a:t>are the</a:t>
            </a:r>
            <a:r>
              <a:rPr sz="800" spc="2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entries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55294" y="5427635"/>
            <a:ext cx="2387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75" dirty="0">
                <a:latin typeface="LM Roman 8"/>
                <a:cs typeface="LM Roman 8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800" spc="60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29894" y="5618605"/>
            <a:ext cx="4556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670" indent="-116205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54305" algn="l"/>
              </a:tabLst>
            </a:pP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Matrix-matrix </a:t>
            </a: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multiplication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dirty="0">
                <a:latin typeface="LM Roman 8"/>
                <a:cs typeface="LM Roman 8"/>
              </a:rPr>
              <a:t>product </a:t>
            </a:r>
            <a:r>
              <a:rPr sz="800" spc="-5" dirty="0">
                <a:latin typeface="LM Roman 8"/>
                <a:cs typeface="LM Roman 8"/>
              </a:rPr>
              <a:t>of matrices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110" dirty="0">
                <a:latin typeface="MathJax_AMS"/>
                <a:cs typeface="MathJax_AMS"/>
              </a:rPr>
              <a:t>R</a:t>
            </a:r>
            <a:r>
              <a:rPr sz="900" i="1" spc="165" baseline="27777" dirty="0">
                <a:latin typeface="Times New Roman"/>
                <a:cs typeface="Times New Roman"/>
              </a:rPr>
              <a:t>m</a:t>
            </a:r>
            <a:r>
              <a:rPr sz="900" i="1" spc="165" baseline="27777" dirty="0">
                <a:latin typeface="DejaVu Sans"/>
                <a:cs typeface="DejaVu Sans"/>
              </a:rPr>
              <a:t>×</a:t>
            </a:r>
            <a:r>
              <a:rPr sz="900" i="1" spc="165" baseline="27777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45" dirty="0">
                <a:latin typeface="Times New Roman"/>
                <a:cs typeface="Times New Roman"/>
              </a:rPr>
              <a:t>B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75" dirty="0">
                <a:latin typeface="MathJax_AMS"/>
                <a:cs typeface="MathJax_AMS"/>
              </a:rPr>
              <a:t>R</a:t>
            </a:r>
            <a:r>
              <a:rPr sz="900" i="1" spc="112" baseline="27777" dirty="0">
                <a:latin typeface="Times New Roman"/>
                <a:cs typeface="Times New Roman"/>
              </a:rPr>
              <a:t>n</a:t>
            </a:r>
            <a:r>
              <a:rPr sz="900" i="1" spc="112" baseline="27777" dirty="0">
                <a:latin typeface="DejaVu Sans"/>
                <a:cs typeface="DejaVu Sans"/>
              </a:rPr>
              <a:t>×</a:t>
            </a:r>
            <a:r>
              <a:rPr sz="900" i="1" spc="112" baseline="27777" dirty="0">
                <a:latin typeface="Times New Roman"/>
                <a:cs typeface="Times New Roman"/>
              </a:rPr>
              <a:t>p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27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29894" y="5735153"/>
            <a:ext cx="15474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matrix of size </a:t>
            </a:r>
            <a:r>
              <a:rPr sz="800" spc="70" dirty="0">
                <a:latin typeface="MathJax_AMS"/>
                <a:cs typeface="MathJax_AMS"/>
              </a:rPr>
              <a:t>R</a:t>
            </a:r>
            <a:r>
              <a:rPr sz="900" i="1" spc="104" baseline="27777" dirty="0">
                <a:latin typeface="Times New Roman"/>
                <a:cs typeface="Times New Roman"/>
              </a:rPr>
              <a:t>n</a:t>
            </a:r>
            <a:r>
              <a:rPr sz="900" i="1" spc="104" baseline="27777" dirty="0">
                <a:latin typeface="DejaVu Sans"/>
                <a:cs typeface="DejaVu Sans"/>
              </a:rPr>
              <a:t>×</a:t>
            </a:r>
            <a:r>
              <a:rPr sz="900" i="1" spc="104" baseline="27777" dirty="0">
                <a:latin typeface="Times New Roman"/>
                <a:cs typeface="Times New Roman"/>
              </a:rPr>
              <a:t>p</a:t>
            </a:r>
            <a:r>
              <a:rPr sz="800" spc="70" dirty="0">
                <a:latin typeface="LM Roman 8"/>
                <a:cs typeface="LM Roman 8"/>
              </a:rPr>
              <a:t>,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258785" y="6097751"/>
            <a:ext cx="3060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45" dirty="0">
                <a:latin typeface="Times New Roman"/>
                <a:cs typeface="Times New Roman"/>
              </a:rPr>
              <a:t>AB</a:t>
            </a:r>
            <a:r>
              <a:rPr sz="800" i="1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761134" y="5927101"/>
            <a:ext cx="82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a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818258" y="5985845"/>
            <a:ext cx="1422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r</a:t>
            </a:r>
            <a:r>
              <a:rPr sz="600" i="1" spc="70" dirty="0">
                <a:latin typeface="Times New Roman"/>
                <a:cs typeface="Times New Roman"/>
              </a:rPr>
              <a:t>,</a:t>
            </a:r>
            <a:r>
              <a:rPr sz="600" spc="-5" dirty="0">
                <a:latin typeface="LM Roman 6"/>
                <a:cs typeface="LM Roman 6"/>
              </a:rPr>
              <a:t>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987359" y="5966465"/>
            <a:ext cx="143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c</a:t>
            </a:r>
            <a:r>
              <a:rPr sz="600" i="1" spc="45" dirty="0">
                <a:latin typeface="Times New Roman"/>
                <a:cs typeface="Times New Roman"/>
              </a:rPr>
              <a:t>,</a:t>
            </a:r>
            <a:r>
              <a:rPr sz="600" spc="-5" dirty="0">
                <a:latin typeface="LM Roman 6"/>
                <a:cs typeface="LM Roman 6"/>
              </a:rPr>
              <a:t>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818258" y="5916681"/>
            <a:ext cx="846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7875" algn="l"/>
              </a:tabLst>
            </a:pPr>
            <a:r>
              <a:rPr sz="600" i="1" spc="100" dirty="0">
                <a:latin typeface="Times New Roman"/>
                <a:cs typeface="Times New Roman"/>
              </a:rPr>
              <a:t>T	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583637" y="5985845"/>
            <a:ext cx="1422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r</a:t>
            </a:r>
            <a:r>
              <a:rPr sz="600" i="1" spc="70" dirty="0">
                <a:latin typeface="Times New Roman"/>
                <a:cs typeface="Times New Roman"/>
              </a:rPr>
              <a:t>,</a:t>
            </a:r>
            <a:r>
              <a:rPr sz="600" spc="-5" dirty="0">
                <a:latin typeface="LM Roman 6"/>
                <a:cs typeface="LM Roman 6"/>
              </a:rPr>
              <a:t>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941360" y="5927101"/>
            <a:ext cx="8369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7025" algn="l"/>
                <a:tab pos="597535" algn="l"/>
              </a:tabLst>
            </a:pPr>
            <a:r>
              <a:rPr sz="800" i="1" spc="-40" dirty="0">
                <a:latin typeface="Times New Roman"/>
                <a:cs typeface="Times New Roman"/>
              </a:rPr>
              <a:t>b	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14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14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	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800" i="1" spc="190" dirty="0">
                <a:latin typeface="Times New Roman"/>
                <a:cs typeface="Times New Roman"/>
              </a:rPr>
              <a:t> </a:t>
            </a:r>
            <a:r>
              <a:rPr sz="800" i="1" spc="-40" dirty="0">
                <a:latin typeface="Times New Roman"/>
                <a:cs typeface="Times New Roman"/>
              </a:rPr>
              <a:t>b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752737" y="5965055"/>
            <a:ext cx="146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75" dirty="0">
                <a:latin typeface="Times New Roman"/>
                <a:cs typeface="Times New Roman"/>
              </a:rPr>
              <a:t>c,p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921306" y="6113080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921306" y="6163689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687878" y="6113080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687878" y="6163689"/>
            <a:ext cx="55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717420" y="6229602"/>
            <a:ext cx="189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112" baseline="-20833" dirty="0">
                <a:latin typeface="Times New Roman"/>
                <a:cs typeface="Times New Roman"/>
              </a:rPr>
              <a:t>a</a:t>
            </a:r>
            <a:r>
              <a:rPr sz="600" i="1" spc="75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799945" y="6315943"/>
            <a:ext cx="179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r</a:t>
            </a:r>
            <a:r>
              <a:rPr sz="600" i="1" spc="75" dirty="0">
                <a:latin typeface="Times New Roman"/>
                <a:cs typeface="Times New Roman"/>
              </a:rPr>
              <a:t>,</a:t>
            </a:r>
            <a:r>
              <a:rPr sz="600" i="1" spc="220" dirty="0">
                <a:latin typeface="Times New Roman"/>
                <a:cs typeface="Times New Roman"/>
              </a:rPr>
              <a:t>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934273" y="6279386"/>
            <a:ext cx="24002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30" baseline="6944" dirty="0">
                <a:latin typeface="Times New Roman"/>
                <a:cs typeface="Times New Roman"/>
              </a:rPr>
              <a:t>b</a:t>
            </a:r>
            <a:r>
              <a:rPr sz="600" i="1" spc="20" dirty="0">
                <a:latin typeface="Times New Roman"/>
                <a:cs typeface="Times New Roman"/>
              </a:rPr>
              <a:t>c,</a:t>
            </a:r>
            <a:r>
              <a:rPr sz="600" spc="20" dirty="0">
                <a:latin typeface="LM Roman 6"/>
                <a:cs typeface="LM Roman 6"/>
              </a:rPr>
              <a:t>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256193" y="6265328"/>
            <a:ext cx="1511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55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r>
              <a:rPr sz="800" i="1" spc="-150" dirty="0">
                <a:latin typeface="DejaVu Sans"/>
                <a:cs typeface="DejaVu Sans"/>
              </a:rPr>
              <a:t> </a:t>
            </a:r>
            <a:r>
              <a:rPr sz="800" i="1" spc="-20" dirty="0">
                <a:latin typeface="DejaVu Sans"/>
                <a:cs typeface="DejaVu Sans"/>
              </a:rPr>
              <a:t>·</a:t>
            </a:r>
            <a:endParaRPr sz="800">
              <a:latin typeface="DejaVu Sans"/>
              <a:cs typeface="DejaVu San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482799" y="6229602"/>
            <a:ext cx="189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112" baseline="-20833" dirty="0">
                <a:latin typeface="Times New Roman"/>
                <a:cs typeface="Times New Roman"/>
              </a:rPr>
              <a:t>a</a:t>
            </a:r>
            <a:r>
              <a:rPr sz="600" i="1" spc="75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565323" y="6315943"/>
            <a:ext cx="179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r</a:t>
            </a:r>
            <a:r>
              <a:rPr sz="600" i="1" spc="75" dirty="0">
                <a:latin typeface="Times New Roman"/>
                <a:cs typeface="Times New Roman"/>
              </a:rPr>
              <a:t>,</a:t>
            </a:r>
            <a:r>
              <a:rPr sz="600" i="1" spc="220" dirty="0">
                <a:latin typeface="Times New Roman"/>
                <a:cs typeface="Times New Roman"/>
              </a:rPr>
              <a:t>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699651" y="6277977"/>
            <a:ext cx="242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67" baseline="6944" dirty="0">
                <a:latin typeface="Times New Roman"/>
                <a:cs typeface="Times New Roman"/>
              </a:rPr>
              <a:t>b</a:t>
            </a:r>
            <a:r>
              <a:rPr sz="600" i="1" spc="45" dirty="0">
                <a:latin typeface="Times New Roman"/>
                <a:cs typeface="Times New Roman"/>
              </a:rPr>
              <a:t>c,p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568843" y="5824453"/>
            <a:ext cx="1528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03985" algn="l"/>
              </a:tabLst>
            </a:pPr>
            <a:r>
              <a:rPr sz="1000" spc="160" dirty="0">
                <a:latin typeface="Arial"/>
                <a:cs typeface="Arial"/>
              </a:rPr>
              <a:t>	</a:t>
            </a:r>
            <a:r>
              <a:rPr sz="1000" spc="-80" dirty="0">
                <a:latin typeface="Arial"/>
                <a:cs typeface="Arial"/>
              </a:rPr>
              <a:t>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568843" y="6052202"/>
            <a:ext cx="1528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03985" algn="l"/>
              </a:tabLst>
            </a:pPr>
            <a:r>
              <a:rPr sz="1000" spc="160" dirty="0">
                <a:latin typeface="Arial"/>
                <a:cs typeface="Arial"/>
              </a:rPr>
              <a:t>	</a:t>
            </a:r>
            <a:r>
              <a:rPr sz="1000" spc="-80" dirty="0">
                <a:latin typeface="Arial"/>
                <a:cs typeface="Arial"/>
              </a:rPr>
              <a:t></a:t>
            </a:r>
            <a:endParaRPr sz="10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101276" y="6097751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276968" y="5971227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214801" y="5958578"/>
            <a:ext cx="195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3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230575" y="6274884"/>
            <a:ext cx="177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i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472611" y="6138486"/>
            <a:ext cx="130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80" dirty="0">
                <a:latin typeface="Times New Roman"/>
                <a:cs typeface="Times New Roman"/>
              </a:rPr>
              <a:t>c,i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415487" y="6097751"/>
            <a:ext cx="24002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800" i="1" spc="100" dirty="0">
                <a:latin typeface="Times New Roman"/>
                <a:cs typeface="Times New Roman"/>
              </a:rPr>
              <a:t> </a:t>
            </a:r>
            <a:r>
              <a:rPr sz="800" i="1" spc="-40" dirty="0">
                <a:latin typeface="Times New Roman"/>
                <a:cs typeface="Times New Roman"/>
              </a:rPr>
              <a:t>b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630040" y="6081006"/>
            <a:ext cx="81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3630040" y="6151542"/>
            <a:ext cx="1301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0" dirty="0">
                <a:latin typeface="Times New Roman"/>
                <a:cs typeface="Times New Roman"/>
              </a:rPr>
              <a:t>r</a:t>
            </a:r>
            <a:r>
              <a:rPr sz="600" i="1" spc="80" dirty="0">
                <a:latin typeface="Times New Roman"/>
                <a:cs typeface="Times New Roman"/>
              </a:rPr>
              <a:t>,i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770439" y="6097751"/>
            <a:ext cx="200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35" dirty="0">
                <a:latin typeface="DejaVu Sans"/>
                <a:cs typeface="DejaVu Sans"/>
              </a:rPr>
              <a:t>∈</a:t>
            </a:r>
            <a:r>
              <a:rPr sz="800" i="1" spc="-90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MathJax_AMS"/>
                <a:cs typeface="MathJax_AMS"/>
              </a:rPr>
              <a:t>R</a:t>
            </a:r>
            <a:endParaRPr sz="800">
              <a:latin typeface="MathJax_AMS"/>
              <a:cs typeface="MathJax_AM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945115" y="6081006"/>
            <a:ext cx="2057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5" dirty="0">
                <a:latin typeface="Times New Roman"/>
                <a:cs typeface="Times New Roman"/>
              </a:rPr>
              <a:t>n</a:t>
            </a:r>
            <a:r>
              <a:rPr sz="600" i="1" spc="70" dirty="0">
                <a:latin typeface="DejaVu Sans"/>
                <a:cs typeface="DejaVu Sans"/>
              </a:rPr>
              <a:t>×</a:t>
            </a:r>
            <a:r>
              <a:rPr sz="600" i="1" spc="80" dirty="0">
                <a:latin typeface="Times New Roman"/>
                <a:cs typeface="Times New Roman"/>
              </a:rPr>
              <a:t>p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1228471" y="5910402"/>
            <a:ext cx="2959100" cy="552450"/>
            <a:chOff x="1228471" y="5910402"/>
            <a:chExt cx="2959100" cy="552450"/>
          </a:xfrm>
        </p:grpSpPr>
        <p:sp>
          <p:nvSpPr>
            <p:cNvPr id="102" name="object 102"/>
            <p:cNvSpPr/>
            <p:nvPr/>
          </p:nvSpPr>
          <p:spPr>
            <a:xfrm>
              <a:off x="1228471" y="5912929"/>
              <a:ext cx="2959100" cy="0"/>
            </a:xfrm>
            <a:custGeom>
              <a:avLst/>
              <a:gdLst/>
              <a:ahLst/>
              <a:cxnLst/>
              <a:rect l="l" t="t" r="r" b="b"/>
              <a:pathLst>
                <a:path w="2959100">
                  <a:moveTo>
                    <a:pt x="0" y="0"/>
                  </a:moveTo>
                  <a:lnTo>
                    <a:pt x="295901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230998" y="5912929"/>
              <a:ext cx="0" cy="547370"/>
            </a:xfrm>
            <a:custGeom>
              <a:avLst/>
              <a:gdLst/>
              <a:ahLst/>
              <a:cxnLst/>
              <a:rect l="l" t="t" r="r" b="b"/>
              <a:pathLst>
                <a:path h="547370">
                  <a:moveTo>
                    <a:pt x="0" y="54687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184942" y="5912929"/>
              <a:ext cx="0" cy="547370"/>
            </a:xfrm>
            <a:custGeom>
              <a:avLst/>
              <a:gdLst/>
              <a:ahLst/>
              <a:cxnLst/>
              <a:rect l="l" t="t" r="r" b="b"/>
              <a:pathLst>
                <a:path h="547370">
                  <a:moveTo>
                    <a:pt x="0" y="54687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228471" y="6459804"/>
              <a:ext cx="2959100" cy="0"/>
            </a:xfrm>
            <a:custGeom>
              <a:avLst/>
              <a:gdLst/>
              <a:ahLst/>
              <a:cxnLst/>
              <a:rect l="l" t="t" r="r" b="b"/>
              <a:pathLst>
                <a:path w="2959100">
                  <a:moveTo>
                    <a:pt x="0" y="0"/>
                  </a:moveTo>
                  <a:lnTo>
                    <a:pt x="295901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1012723" y="6586555"/>
            <a:ext cx="3340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85" dirty="0">
                <a:latin typeface="Times New Roman"/>
                <a:cs typeface="Times New Roman"/>
              </a:rPr>
              <a:t>r,i</a:t>
            </a:r>
            <a:r>
              <a:rPr sz="600" i="1" spc="90" dirty="0">
                <a:latin typeface="Times New Roman"/>
                <a:cs typeface="Times New Roman"/>
              </a:rPr>
              <a:t> </a:t>
            </a:r>
            <a:r>
              <a:rPr sz="600" i="1" spc="85" dirty="0">
                <a:latin typeface="Times New Roman"/>
                <a:cs typeface="Times New Roman"/>
              </a:rPr>
              <a:t>r,i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19683" y="6526439"/>
            <a:ext cx="43668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where </a:t>
            </a:r>
            <a:r>
              <a:rPr sz="800" i="1" spc="75" dirty="0">
                <a:latin typeface="Times New Roman"/>
                <a:cs typeface="Times New Roman"/>
              </a:rPr>
              <a:t>a</a:t>
            </a:r>
            <a:r>
              <a:rPr sz="900" i="1" spc="112" baseline="27777" dirty="0">
                <a:latin typeface="Times New Roman"/>
                <a:cs typeface="Times New Roman"/>
              </a:rPr>
              <a:t>T </a:t>
            </a:r>
            <a:r>
              <a:rPr sz="800" i="1" spc="35" dirty="0">
                <a:latin typeface="Times New Roman"/>
                <a:cs typeface="Times New Roman"/>
              </a:rPr>
              <a:t>, </a:t>
            </a:r>
            <a:r>
              <a:rPr sz="800" i="1" spc="30" dirty="0">
                <a:latin typeface="Times New Roman"/>
                <a:cs typeface="Times New Roman"/>
              </a:rPr>
              <a:t>b</a:t>
            </a:r>
            <a:r>
              <a:rPr sz="900" i="1" spc="44" baseline="27777" dirty="0">
                <a:latin typeface="Times New Roman"/>
                <a:cs typeface="Times New Roman"/>
              </a:rPr>
              <a:t>T </a:t>
            </a:r>
            <a:r>
              <a:rPr sz="800" spc="-5" dirty="0">
                <a:latin typeface="LM Roman 8"/>
                <a:cs typeface="LM Roman 8"/>
              </a:rPr>
              <a:t>are the </a:t>
            </a:r>
            <a:r>
              <a:rPr sz="800" spc="-10" dirty="0">
                <a:latin typeface="LM Roman 8"/>
                <a:cs typeface="LM Roman 8"/>
              </a:rPr>
              <a:t>vector rows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85" dirty="0">
                <a:latin typeface="Times New Roman"/>
                <a:cs typeface="Times New Roman"/>
              </a:rPr>
              <a:t>a</a:t>
            </a:r>
            <a:r>
              <a:rPr sz="900" i="1" spc="127" baseline="-9259" dirty="0">
                <a:latin typeface="Times New Roman"/>
                <a:cs typeface="Times New Roman"/>
              </a:rPr>
              <a:t>c,j</a:t>
            </a:r>
            <a:r>
              <a:rPr sz="800" i="1" spc="85" dirty="0">
                <a:latin typeface="Times New Roman"/>
                <a:cs typeface="Times New Roman"/>
              </a:rPr>
              <a:t>, </a:t>
            </a:r>
            <a:r>
              <a:rPr sz="800" i="1" spc="60" dirty="0">
                <a:latin typeface="Times New Roman"/>
                <a:cs typeface="Times New Roman"/>
              </a:rPr>
              <a:t>b</a:t>
            </a:r>
            <a:r>
              <a:rPr sz="900" i="1" spc="89" baseline="-9259" dirty="0">
                <a:latin typeface="Times New Roman"/>
                <a:cs typeface="Times New Roman"/>
              </a:rPr>
              <a:t>c,j </a:t>
            </a:r>
            <a:r>
              <a:rPr sz="800" spc="-5" dirty="0">
                <a:latin typeface="LM Roman 8"/>
                <a:cs typeface="LM Roman 8"/>
              </a:rPr>
              <a:t>are the </a:t>
            </a:r>
            <a:r>
              <a:rPr sz="800" spc="-10" dirty="0">
                <a:latin typeface="LM Roman 8"/>
                <a:cs typeface="LM Roman 8"/>
              </a:rPr>
              <a:t>vector </a:t>
            </a:r>
            <a:r>
              <a:rPr sz="800" spc="-5" dirty="0">
                <a:latin typeface="LM Roman 8"/>
                <a:cs typeface="LM Roman 8"/>
              </a:rPr>
              <a:t>columns of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45" dirty="0">
                <a:latin typeface="Times New Roman"/>
                <a:cs typeface="Times New Roman"/>
              </a:rPr>
              <a:t>B</a:t>
            </a:r>
            <a:r>
              <a:rPr sz="800" i="1" spc="55" dirty="0">
                <a:latin typeface="Times New Roman"/>
                <a:cs typeface="Times New Roman"/>
              </a:rPr>
              <a:t> </a:t>
            </a:r>
            <a:r>
              <a:rPr sz="800" dirty="0">
                <a:latin typeface="LM Roman 8"/>
                <a:cs typeface="LM Roman 8"/>
              </a:rPr>
              <a:t>respec-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455294" y="6658392"/>
            <a:ext cx="3067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LM Roman 8"/>
                <a:cs typeface="LM Roman 8"/>
              </a:rPr>
              <a:t>tively.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29894" y="6872426"/>
            <a:ext cx="4556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210" indent="-118745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56845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Transpose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dirty="0">
                <a:latin typeface="LM Roman 8"/>
                <a:cs typeface="LM Roman 8"/>
              </a:rPr>
              <a:t>transpose </a:t>
            </a:r>
            <a:r>
              <a:rPr sz="800" spc="-5" dirty="0">
                <a:latin typeface="LM Roman 8"/>
                <a:cs typeface="LM Roman 8"/>
              </a:rPr>
              <a:t>of a matrix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95" dirty="0">
                <a:latin typeface="MathJax_AMS"/>
                <a:cs typeface="MathJax_AMS"/>
              </a:rPr>
              <a:t>R</a:t>
            </a:r>
            <a:r>
              <a:rPr sz="900" i="1" spc="142" baseline="27777" dirty="0">
                <a:latin typeface="Times New Roman"/>
                <a:cs typeface="Times New Roman"/>
              </a:rPr>
              <a:t>m</a:t>
            </a:r>
            <a:r>
              <a:rPr sz="900" i="1" spc="142" baseline="27777" dirty="0">
                <a:latin typeface="DejaVu Sans"/>
                <a:cs typeface="DejaVu Sans"/>
              </a:rPr>
              <a:t>×</a:t>
            </a:r>
            <a:r>
              <a:rPr sz="900" i="1" spc="142" baseline="27777" dirty="0">
                <a:latin typeface="Times New Roman"/>
                <a:cs typeface="Times New Roman"/>
              </a:rPr>
              <a:t>n</a:t>
            </a:r>
            <a:r>
              <a:rPr sz="800" spc="95" dirty="0">
                <a:latin typeface="LM Roman 8"/>
                <a:cs typeface="LM Roman 8"/>
              </a:rPr>
              <a:t>,</a:t>
            </a:r>
            <a:r>
              <a:rPr sz="800" spc="22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noted </a:t>
            </a:r>
            <a:r>
              <a:rPr sz="800" i="1" spc="120" dirty="0">
                <a:latin typeface="Times New Roman"/>
                <a:cs typeface="Times New Roman"/>
              </a:rPr>
              <a:t>A</a:t>
            </a:r>
            <a:r>
              <a:rPr sz="900" i="1" spc="179" baseline="27777" dirty="0">
                <a:latin typeface="Times New Roman"/>
                <a:cs typeface="Times New Roman"/>
              </a:rPr>
              <a:t>T </a:t>
            </a:r>
            <a:r>
              <a:rPr sz="800" spc="-5" dirty="0">
                <a:latin typeface="LM Roman 8"/>
                <a:cs typeface="LM Roman 8"/>
              </a:rPr>
              <a:t>, is </a:t>
            </a:r>
            <a:r>
              <a:rPr sz="800" spc="-10" dirty="0">
                <a:latin typeface="LM Roman 8"/>
                <a:cs typeface="LM Roman 8"/>
              </a:rPr>
              <a:t>such </a:t>
            </a:r>
            <a:r>
              <a:rPr sz="800" spc="-5" dirty="0">
                <a:latin typeface="LM Roman 8"/>
                <a:cs typeface="LM Roman 8"/>
              </a:rPr>
              <a:t>that its </a:t>
            </a:r>
            <a:r>
              <a:rPr sz="800" spc="-10" dirty="0">
                <a:latin typeface="LM Roman 8"/>
                <a:cs typeface="LM Roman 8"/>
              </a:rPr>
              <a:t>entries </a:t>
            </a:r>
            <a:r>
              <a:rPr sz="800" spc="-5" dirty="0">
                <a:latin typeface="LM Roman 8"/>
                <a:cs typeface="LM Roman 8"/>
              </a:rPr>
              <a:t>are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340257" y="855871"/>
            <a:ext cx="685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340257" y="92640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100" dirty="0">
                <a:latin typeface="Times New Roman"/>
                <a:cs typeface="Times New Roman"/>
              </a:rPr>
              <a:t>i,j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6845147" y="872615"/>
            <a:ext cx="844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14020" algn="l"/>
                <a:tab pos="636905" algn="l"/>
              </a:tabLst>
            </a:pPr>
            <a:r>
              <a:rPr sz="800" i="1" spc="30" dirty="0">
                <a:latin typeface="DejaVu Sans"/>
                <a:cs typeface="DejaVu Sans"/>
              </a:rPr>
              <a:t>∀</a:t>
            </a:r>
            <a:r>
              <a:rPr sz="800" i="1" spc="30" dirty="0">
                <a:latin typeface="Times New Roman"/>
                <a:cs typeface="Times New Roman"/>
              </a:rPr>
              <a:t>i,j,	</a:t>
            </a:r>
            <a:r>
              <a:rPr sz="800" i="1" spc="145" dirty="0">
                <a:latin typeface="Times New Roman"/>
                <a:cs typeface="Times New Roman"/>
              </a:rPr>
              <a:t>A	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20" dirty="0">
                <a:latin typeface="LM Roman 8"/>
                <a:cs typeface="LM Roman 8"/>
              </a:rPr>
              <a:t> </a:t>
            </a:r>
            <a:r>
              <a:rPr sz="800" i="1" spc="145" dirty="0">
                <a:latin typeface="Times New Roman"/>
                <a:cs typeface="Times New Roman"/>
              </a:rPr>
              <a:t>A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676426" y="913351"/>
            <a:ext cx="11366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130" dirty="0">
                <a:latin typeface="Times New Roman"/>
                <a:cs typeface="Times New Roman"/>
              </a:rPr>
              <a:t>j</a:t>
            </a:r>
            <a:r>
              <a:rPr sz="600" i="1" spc="80" dirty="0">
                <a:latin typeface="Times New Roman"/>
                <a:cs typeface="Times New Roman"/>
              </a:rPr>
              <a:t>,i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6802132" y="849591"/>
            <a:ext cx="1024890" cy="223520"/>
            <a:chOff x="6802132" y="849591"/>
            <a:chExt cx="1024890" cy="223520"/>
          </a:xfrm>
        </p:grpSpPr>
        <p:sp>
          <p:nvSpPr>
            <p:cNvPr id="115" name="object 115"/>
            <p:cNvSpPr/>
            <p:nvPr/>
          </p:nvSpPr>
          <p:spPr>
            <a:xfrm>
              <a:off x="6802132" y="852119"/>
              <a:ext cx="1024890" cy="0"/>
            </a:xfrm>
            <a:custGeom>
              <a:avLst/>
              <a:gdLst/>
              <a:ahLst/>
              <a:cxnLst/>
              <a:rect l="l" t="t" r="r" b="b"/>
              <a:pathLst>
                <a:path w="1024890">
                  <a:moveTo>
                    <a:pt x="0" y="0"/>
                  </a:moveTo>
                  <a:lnTo>
                    <a:pt x="102461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804660" y="852119"/>
              <a:ext cx="0" cy="218440"/>
            </a:xfrm>
            <a:custGeom>
              <a:avLst/>
              <a:gdLst/>
              <a:ahLst/>
              <a:cxnLst/>
              <a:rect l="l" t="t" r="r" b="b"/>
              <a:pathLst>
                <a:path h="218440">
                  <a:moveTo>
                    <a:pt x="0" y="21814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824203" y="852119"/>
              <a:ext cx="0" cy="218440"/>
            </a:xfrm>
            <a:custGeom>
              <a:avLst/>
              <a:gdLst/>
              <a:ahLst/>
              <a:cxnLst/>
              <a:rect l="l" t="t" r="r" b="b"/>
              <a:pathLst>
                <a:path h="218440">
                  <a:moveTo>
                    <a:pt x="0" y="21814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802132" y="1070267"/>
              <a:ext cx="1024890" cy="0"/>
            </a:xfrm>
            <a:custGeom>
              <a:avLst/>
              <a:gdLst/>
              <a:ahLst/>
              <a:cxnLst/>
              <a:rect l="l" t="t" r="r" b="b"/>
              <a:pathLst>
                <a:path w="1024890">
                  <a:moveTo>
                    <a:pt x="0" y="0"/>
                  </a:moveTo>
                  <a:lnTo>
                    <a:pt x="102461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5036362" y="1170265"/>
            <a:ext cx="2630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for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matrices </a:t>
            </a:r>
            <a:r>
              <a:rPr sz="800" i="1" spc="85" dirty="0">
                <a:solidFill>
                  <a:srgbClr val="59439A"/>
                </a:solidFill>
                <a:latin typeface="Times New Roman"/>
                <a:cs typeface="Times New Roman"/>
              </a:rPr>
              <a:t>A,B</a:t>
            </a:r>
            <a:r>
              <a:rPr sz="800" i="1" spc="85" dirty="0">
                <a:solidFill>
                  <a:srgbClr val="59439A"/>
                </a:solidFill>
                <a:latin typeface="LM Roman 8"/>
                <a:cs typeface="LM Roman 8"/>
              </a:rPr>
              <a:t>,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 </a:t>
            </a:r>
            <a:r>
              <a:rPr sz="800" spc="8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85" dirty="0">
                <a:solidFill>
                  <a:srgbClr val="59439A"/>
                </a:solidFill>
                <a:latin typeface="Times New Roman"/>
                <a:cs typeface="Times New Roman"/>
              </a:rPr>
              <a:t>AB</a:t>
            </a:r>
            <a:r>
              <a:rPr sz="800" spc="8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900" i="1" spc="127" baseline="27777" dirty="0">
                <a:solidFill>
                  <a:srgbClr val="59439A"/>
                </a:solidFill>
                <a:latin typeface="Times New Roman"/>
                <a:cs typeface="Times New Roman"/>
              </a:rPr>
              <a:t>T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 </a:t>
            </a:r>
            <a:r>
              <a:rPr sz="800" i="1" spc="140" dirty="0">
                <a:solidFill>
                  <a:srgbClr val="59439A"/>
                </a:solidFill>
                <a:latin typeface="Times New Roman"/>
                <a:cs typeface="Times New Roman"/>
              </a:rPr>
              <a:t>B</a:t>
            </a:r>
            <a:r>
              <a:rPr sz="900" i="1" spc="209" baseline="27777" dirty="0">
                <a:solidFill>
                  <a:srgbClr val="59439A"/>
                </a:solidFill>
                <a:latin typeface="Times New Roman"/>
                <a:cs typeface="Times New Roman"/>
              </a:rPr>
              <a:t>T </a:t>
            </a:r>
            <a:r>
              <a:rPr sz="800" i="1" spc="120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900" i="1" spc="179" baseline="27777" dirty="0">
                <a:solidFill>
                  <a:srgbClr val="59439A"/>
                </a:solidFill>
                <a:latin typeface="Times New Roman"/>
                <a:cs typeface="Times New Roman"/>
              </a:rPr>
              <a:t>T</a:t>
            </a:r>
            <a:r>
              <a:rPr sz="900" i="1" spc="-7" baseline="27777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5036362" y="1395296"/>
            <a:ext cx="45567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765" indent="-11430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52400" algn="l"/>
              </a:tabLst>
            </a:pPr>
            <a:r>
              <a:rPr sz="800" b="1" spc="-15" dirty="0">
                <a:solidFill>
                  <a:srgbClr val="0C6C04"/>
                </a:solidFill>
                <a:latin typeface="LM Roman 8"/>
                <a:cs typeface="LM Roman 8"/>
              </a:rPr>
              <a:t>Inverse </a:t>
            </a:r>
            <a:r>
              <a:rPr sz="800" spc="-5" dirty="0">
                <a:latin typeface="LM Roman 8"/>
                <a:cs typeface="LM Roman 8"/>
              </a:rPr>
              <a:t>– The </a:t>
            </a:r>
            <a:r>
              <a:rPr sz="800" spc="-10" dirty="0">
                <a:latin typeface="LM Roman 8"/>
                <a:cs typeface="LM Roman 8"/>
              </a:rPr>
              <a:t>inverse </a:t>
            </a:r>
            <a:r>
              <a:rPr sz="800" spc="-5" dirty="0">
                <a:latin typeface="LM Roman 8"/>
                <a:cs typeface="LM Roman 8"/>
              </a:rPr>
              <a:t>of an </a:t>
            </a:r>
            <a:r>
              <a:rPr sz="800" spc="-10" dirty="0">
                <a:latin typeface="LM Roman 8"/>
                <a:cs typeface="LM Roman 8"/>
              </a:rPr>
              <a:t>invertible </a:t>
            </a:r>
            <a:r>
              <a:rPr sz="800" spc="-5" dirty="0">
                <a:latin typeface="LM Roman 8"/>
                <a:cs typeface="LM Roman 8"/>
              </a:rPr>
              <a:t>square matrix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is noted </a:t>
            </a:r>
            <a:r>
              <a:rPr sz="800" i="1" spc="70" dirty="0">
                <a:latin typeface="Times New Roman"/>
                <a:cs typeface="Times New Roman"/>
              </a:rPr>
              <a:t>A</a:t>
            </a:r>
            <a:r>
              <a:rPr sz="900" i="1" spc="104" baseline="27777" dirty="0">
                <a:latin typeface="DejaVu Sans"/>
                <a:cs typeface="DejaVu Sans"/>
              </a:rPr>
              <a:t>−</a:t>
            </a:r>
            <a:r>
              <a:rPr sz="900" spc="104" baseline="27777" dirty="0">
                <a:latin typeface="LM Roman 6"/>
                <a:cs typeface="LM Roman 6"/>
              </a:rPr>
              <a:t>1 </a:t>
            </a:r>
            <a:r>
              <a:rPr sz="800" spc="-5" dirty="0">
                <a:latin typeface="LM Roman 8"/>
                <a:cs typeface="LM Roman 8"/>
              </a:rPr>
              <a:t>and is the only</a:t>
            </a:r>
            <a:r>
              <a:rPr sz="800" spc="2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matrix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5061762" y="1497366"/>
            <a:ext cx="495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6816356" y="1708492"/>
            <a:ext cx="996315" cy="17208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35"/>
              </a:spcBef>
            </a:pPr>
            <a:r>
              <a:rPr sz="800" i="1" spc="85" dirty="0">
                <a:latin typeface="Times New Roman"/>
                <a:cs typeface="Times New Roman"/>
              </a:rPr>
              <a:t>AA</a:t>
            </a:r>
            <a:r>
              <a:rPr sz="900" i="1" spc="127" baseline="32407" dirty="0">
                <a:latin typeface="DejaVu Sans"/>
                <a:cs typeface="DejaVu Sans"/>
              </a:rPr>
              <a:t>−</a:t>
            </a:r>
            <a:r>
              <a:rPr sz="900" spc="127" baseline="32407" dirty="0">
                <a:latin typeface="LM Roman 6"/>
                <a:cs typeface="LM Roman 6"/>
              </a:rPr>
              <a:t>1</a:t>
            </a:r>
            <a:r>
              <a:rPr sz="900" spc="15" baseline="32407" dirty="0">
                <a:latin typeface="LM Roman 6"/>
                <a:cs typeface="LM Roman 6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i="1" spc="100" dirty="0">
                <a:latin typeface="Times New Roman"/>
                <a:cs typeface="Times New Roman"/>
              </a:rPr>
              <a:t>A</a:t>
            </a:r>
            <a:r>
              <a:rPr sz="900" i="1" spc="150" baseline="32407" dirty="0">
                <a:latin typeface="DejaVu Sans"/>
                <a:cs typeface="DejaVu Sans"/>
              </a:rPr>
              <a:t>−</a:t>
            </a:r>
            <a:r>
              <a:rPr sz="900" spc="150" baseline="32407" dirty="0">
                <a:latin typeface="LM Roman 6"/>
                <a:cs typeface="LM Roman 6"/>
              </a:rPr>
              <a:t>1</a:t>
            </a:r>
            <a:r>
              <a:rPr sz="800" i="1" spc="100" dirty="0">
                <a:latin typeface="Times New Roman"/>
                <a:cs typeface="Times New Roman"/>
              </a:rPr>
              <a:t>A</a:t>
            </a:r>
            <a:r>
              <a:rPr sz="800" i="1" spc="2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i="1" spc="100" dirty="0">
                <a:latin typeface="Times New Roman"/>
                <a:cs typeface="Times New Roman"/>
              </a:rPr>
              <a:t>I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5036362" y="1977477"/>
            <a:ext cx="4556125" cy="4610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819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</a:t>
            </a:r>
            <a:r>
              <a:rPr sz="800" i="1" spc="22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not</a:t>
            </a:r>
            <a:r>
              <a:rPr sz="800" i="1" spc="7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15" dirty="0">
                <a:solidFill>
                  <a:srgbClr val="59439A"/>
                </a:solidFill>
                <a:latin typeface="LM Roman 8"/>
                <a:cs typeface="LM Roman 8"/>
              </a:rPr>
              <a:t>all</a:t>
            </a:r>
            <a:r>
              <a:rPr sz="800" i="1" spc="7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square</a:t>
            </a:r>
            <a:r>
              <a:rPr sz="800" i="1" spc="7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matrices</a:t>
            </a:r>
            <a:r>
              <a:rPr sz="800" i="1" spc="6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are</a:t>
            </a:r>
            <a:r>
              <a:rPr sz="800" i="1" spc="7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invertible.</a:t>
            </a:r>
            <a:r>
              <a:rPr sz="800" i="1" spc="28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Also,</a:t>
            </a:r>
            <a:r>
              <a:rPr sz="800" i="1" spc="8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for</a:t>
            </a:r>
            <a:r>
              <a:rPr sz="800" i="1" spc="7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matrices</a:t>
            </a:r>
            <a:r>
              <a:rPr sz="800" i="1" spc="6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85" dirty="0">
                <a:solidFill>
                  <a:srgbClr val="59439A"/>
                </a:solidFill>
                <a:latin typeface="Times New Roman"/>
                <a:cs typeface="Times New Roman"/>
              </a:rPr>
              <a:t>A,B</a:t>
            </a:r>
            <a:r>
              <a:rPr sz="800" i="1" spc="85" dirty="0">
                <a:solidFill>
                  <a:srgbClr val="59439A"/>
                </a:solidFill>
                <a:latin typeface="LM Roman 8"/>
                <a:cs typeface="LM Roman 8"/>
              </a:rPr>
              <a:t>,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</a:t>
            </a:r>
            <a:r>
              <a:rPr sz="800" i="1" spc="6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</a:t>
            </a:r>
            <a:r>
              <a:rPr sz="800" i="1" spc="7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spc="6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65" dirty="0">
                <a:solidFill>
                  <a:srgbClr val="59439A"/>
                </a:solidFill>
                <a:latin typeface="Times New Roman"/>
                <a:cs typeface="Times New Roman"/>
              </a:rPr>
              <a:t>AB</a:t>
            </a:r>
            <a:r>
              <a:rPr sz="800" spc="65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900" i="1" spc="97" baseline="27777" dirty="0">
                <a:solidFill>
                  <a:srgbClr val="59439A"/>
                </a:solidFill>
                <a:latin typeface="DejaVu Sans"/>
                <a:cs typeface="DejaVu Sans"/>
              </a:rPr>
              <a:t>−</a:t>
            </a:r>
            <a:r>
              <a:rPr sz="900" spc="97" baseline="27777" dirty="0">
                <a:solidFill>
                  <a:srgbClr val="59439A"/>
                </a:solidFill>
                <a:latin typeface="LM Roman 6"/>
                <a:cs typeface="LM Roman 6"/>
              </a:rPr>
              <a:t>1</a:t>
            </a:r>
            <a:r>
              <a:rPr sz="900" spc="232" baseline="27777" dirty="0">
                <a:solidFill>
                  <a:srgbClr val="59439A"/>
                </a:solidFill>
                <a:latin typeface="LM Roman 6"/>
                <a:cs typeface="LM Roman 6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  <a:p>
            <a:pPr marL="38100">
              <a:lnSpc>
                <a:spcPts val="819"/>
              </a:lnSpc>
            </a:pPr>
            <a:r>
              <a:rPr sz="1200" i="1" spc="127" baseline="-20833" dirty="0">
                <a:solidFill>
                  <a:srgbClr val="59439A"/>
                </a:solidFill>
                <a:latin typeface="Times New Roman"/>
                <a:cs typeface="Times New Roman"/>
              </a:rPr>
              <a:t>B</a:t>
            </a:r>
            <a:r>
              <a:rPr sz="600" i="1" spc="85" dirty="0">
                <a:solidFill>
                  <a:srgbClr val="59439A"/>
                </a:solidFill>
                <a:latin typeface="DejaVu Sans"/>
                <a:cs typeface="DejaVu Sans"/>
              </a:rPr>
              <a:t>−</a:t>
            </a:r>
            <a:r>
              <a:rPr sz="600" spc="85" dirty="0">
                <a:solidFill>
                  <a:srgbClr val="59439A"/>
                </a:solidFill>
                <a:latin typeface="LM Roman 6"/>
                <a:cs typeface="LM Roman 6"/>
              </a:rPr>
              <a:t>1</a:t>
            </a:r>
            <a:r>
              <a:rPr sz="1200" i="1" spc="127" baseline="-20833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600" i="1" spc="85" dirty="0">
                <a:solidFill>
                  <a:srgbClr val="59439A"/>
                </a:solidFill>
                <a:latin typeface="DejaVu Sans"/>
                <a:cs typeface="DejaVu Sans"/>
              </a:rPr>
              <a:t>−</a:t>
            </a:r>
            <a:r>
              <a:rPr sz="600" spc="85" dirty="0">
                <a:solidFill>
                  <a:srgbClr val="59439A"/>
                </a:solidFill>
                <a:latin typeface="LM Roman 6"/>
                <a:cs typeface="LM Roman 6"/>
              </a:rPr>
              <a:t>1</a:t>
            </a:r>
            <a:endParaRPr sz="600">
              <a:latin typeface="LM Roman 6"/>
              <a:cs typeface="LM Roman 6"/>
            </a:endParaRPr>
          </a:p>
          <a:p>
            <a:pPr marL="150495" indent="-113030">
              <a:lnSpc>
                <a:spcPct val="100000"/>
              </a:lnSpc>
              <a:spcBef>
                <a:spcPts val="825"/>
              </a:spcBef>
              <a:buFont typeface="DejaVu Sans"/>
              <a:buChar char="❒"/>
              <a:tabLst>
                <a:tab pos="151130" algn="l"/>
              </a:tabLst>
            </a:pPr>
            <a:r>
              <a:rPr sz="800" b="1" spc="-20" dirty="0">
                <a:solidFill>
                  <a:srgbClr val="0C6C04"/>
                </a:solidFill>
                <a:latin typeface="LM Roman 8"/>
                <a:cs typeface="LM Roman 8"/>
              </a:rPr>
              <a:t>Trace </a:t>
            </a:r>
            <a:r>
              <a:rPr sz="800" spc="-5" dirty="0">
                <a:latin typeface="LM Roman 8"/>
                <a:cs typeface="LM Roman 8"/>
              </a:rPr>
              <a:t>– The trace of a square matrix </a:t>
            </a:r>
            <a:r>
              <a:rPr sz="800" i="1" spc="65" dirty="0">
                <a:latin typeface="Times New Roman"/>
                <a:cs typeface="Times New Roman"/>
              </a:rPr>
              <a:t>A</a:t>
            </a:r>
            <a:r>
              <a:rPr sz="800" spc="65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noted </a:t>
            </a:r>
            <a:r>
              <a:rPr sz="800" spc="20" dirty="0">
                <a:latin typeface="LM Roman 8"/>
                <a:cs typeface="LM Roman 8"/>
              </a:rPr>
              <a:t>tr(</a:t>
            </a:r>
            <a:r>
              <a:rPr sz="800" i="1" spc="20" dirty="0">
                <a:latin typeface="Times New Roman"/>
                <a:cs typeface="Times New Roman"/>
              </a:rPr>
              <a:t>A</a:t>
            </a:r>
            <a:r>
              <a:rPr sz="800" spc="20" dirty="0">
                <a:latin typeface="LM Roman 8"/>
                <a:cs typeface="LM Roman 8"/>
              </a:rPr>
              <a:t>), </a:t>
            </a:r>
            <a:r>
              <a:rPr sz="800" spc="-5" dirty="0">
                <a:latin typeface="LM Roman 8"/>
                <a:cs typeface="LM Roman 8"/>
              </a:rPr>
              <a:t>is the sum of its diagonal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entries: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6914045" y="2625952"/>
            <a:ext cx="387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25" dirty="0">
                <a:latin typeface="LM Roman 8"/>
                <a:cs typeface="LM Roman 8"/>
              </a:rPr>
              <a:t>tr(</a:t>
            </a:r>
            <a:r>
              <a:rPr sz="800" i="1" spc="25" dirty="0">
                <a:latin typeface="Times New Roman"/>
                <a:cs typeface="Times New Roman"/>
              </a:rPr>
              <a:t>A</a:t>
            </a:r>
            <a:r>
              <a:rPr sz="800" spc="25" dirty="0">
                <a:latin typeface="LM Roman 8"/>
                <a:cs typeface="LM Roman 8"/>
              </a:rPr>
              <a:t>)</a:t>
            </a:r>
            <a:r>
              <a:rPr sz="800" spc="-1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7367549" y="2499428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305382" y="2486779"/>
            <a:ext cx="195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3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480668" y="2641395"/>
            <a:ext cx="2533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150" baseline="6944" dirty="0">
                <a:latin typeface="Times New Roman"/>
                <a:cs typeface="Times New Roman"/>
              </a:rPr>
              <a:t>A</a:t>
            </a:r>
            <a:r>
              <a:rPr sz="600" i="1" spc="100" dirty="0">
                <a:latin typeface="Times New Roman"/>
                <a:cs typeface="Times New Roman"/>
              </a:rPr>
              <a:t>i,i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6883730" y="2499690"/>
            <a:ext cx="861694" cy="448309"/>
            <a:chOff x="6883730" y="2499690"/>
            <a:chExt cx="861694" cy="448309"/>
          </a:xfrm>
        </p:grpSpPr>
        <p:sp>
          <p:nvSpPr>
            <p:cNvPr id="129" name="object 129"/>
            <p:cNvSpPr/>
            <p:nvPr/>
          </p:nvSpPr>
          <p:spPr>
            <a:xfrm>
              <a:off x="6883730" y="2502217"/>
              <a:ext cx="861694" cy="0"/>
            </a:xfrm>
            <a:custGeom>
              <a:avLst/>
              <a:gdLst/>
              <a:ahLst/>
              <a:cxnLst/>
              <a:rect l="l" t="t" r="r" b="b"/>
              <a:pathLst>
                <a:path w="861695">
                  <a:moveTo>
                    <a:pt x="0" y="0"/>
                  </a:moveTo>
                  <a:lnTo>
                    <a:pt x="86141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886257" y="2502217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742605" y="2502217"/>
              <a:ext cx="0" cy="443230"/>
            </a:xfrm>
            <a:custGeom>
              <a:avLst/>
              <a:gdLst/>
              <a:ahLst/>
              <a:cxnLst/>
              <a:rect l="l" t="t" r="r" b="b"/>
              <a:pathLst>
                <a:path h="443230">
                  <a:moveTo>
                    <a:pt x="0" y="442633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883730" y="2944850"/>
              <a:ext cx="861694" cy="0"/>
            </a:xfrm>
            <a:custGeom>
              <a:avLst/>
              <a:gdLst/>
              <a:ahLst/>
              <a:cxnLst/>
              <a:rect l="l" t="t" r="r" b="b"/>
              <a:pathLst>
                <a:path w="861695">
                  <a:moveTo>
                    <a:pt x="0" y="0"/>
                  </a:moveTo>
                  <a:lnTo>
                    <a:pt x="86141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4972862" y="2803098"/>
            <a:ext cx="4632325" cy="61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algn="ctr">
              <a:lnSpc>
                <a:spcPct val="100000"/>
              </a:lnSpc>
              <a:spcBef>
                <a:spcPts val="95"/>
              </a:spcBef>
            </a:pPr>
            <a:r>
              <a:rPr sz="600" i="1" spc="30" dirty="0">
                <a:latin typeface="Times New Roman"/>
                <a:cs typeface="Times New Roman"/>
              </a:rPr>
              <a:t>i</a:t>
            </a:r>
            <a:r>
              <a:rPr sz="600" spc="30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00">
              <a:latin typeface="LM Roman 6"/>
              <a:cs typeface="LM Roman 6"/>
            </a:endParaRPr>
          </a:p>
          <a:p>
            <a:pPr marL="101600">
              <a:lnSpc>
                <a:spcPct val="100000"/>
              </a:lnSpc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for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matrices </a:t>
            </a:r>
            <a:r>
              <a:rPr sz="800" i="1" spc="85" dirty="0">
                <a:solidFill>
                  <a:srgbClr val="59439A"/>
                </a:solidFill>
                <a:latin typeface="Times New Roman"/>
                <a:cs typeface="Times New Roman"/>
              </a:rPr>
              <a:t>A,B</a:t>
            </a:r>
            <a:r>
              <a:rPr sz="800" i="1" spc="85" dirty="0">
                <a:solidFill>
                  <a:srgbClr val="59439A"/>
                </a:solidFill>
                <a:latin typeface="LM Roman 8"/>
                <a:cs typeface="LM Roman 8"/>
              </a:rPr>
              <a:t>,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have </a:t>
            </a:r>
            <a:r>
              <a:rPr sz="800" i="1" spc="45" dirty="0">
                <a:solidFill>
                  <a:srgbClr val="59439A"/>
                </a:solidFill>
                <a:latin typeface="LM Roman 8"/>
                <a:cs typeface="LM Roman 8"/>
              </a:rPr>
              <a:t>tr</a:t>
            </a:r>
            <a:r>
              <a:rPr sz="800" spc="4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4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900" i="1" spc="67" baseline="27777" dirty="0">
                <a:solidFill>
                  <a:srgbClr val="59439A"/>
                </a:solidFill>
                <a:latin typeface="Times New Roman"/>
                <a:cs typeface="Times New Roman"/>
              </a:rPr>
              <a:t>T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) = </a:t>
            </a:r>
            <a:r>
              <a:rPr sz="800" i="1" spc="25" dirty="0">
                <a:solidFill>
                  <a:srgbClr val="59439A"/>
                </a:solidFill>
                <a:latin typeface="LM Roman 8"/>
                <a:cs typeface="LM Roman 8"/>
              </a:rPr>
              <a:t>tr</a:t>
            </a:r>
            <a:r>
              <a:rPr sz="800" spc="25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2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spc="25" dirty="0">
                <a:solidFill>
                  <a:srgbClr val="59439A"/>
                </a:solidFill>
                <a:latin typeface="LM Roman 8"/>
                <a:cs typeface="LM Roman 8"/>
              </a:rPr>
              <a:t>)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and </a:t>
            </a:r>
            <a:r>
              <a:rPr sz="800" i="1" spc="50" dirty="0">
                <a:solidFill>
                  <a:srgbClr val="59439A"/>
                </a:solidFill>
                <a:latin typeface="LM Roman 8"/>
                <a:cs typeface="LM Roman 8"/>
              </a:rPr>
              <a:t>tr</a:t>
            </a:r>
            <a:r>
              <a:rPr sz="800" spc="50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50" dirty="0">
                <a:solidFill>
                  <a:srgbClr val="59439A"/>
                </a:solidFill>
                <a:latin typeface="Times New Roman"/>
                <a:cs typeface="Times New Roman"/>
              </a:rPr>
              <a:t>AB</a:t>
            </a:r>
            <a:r>
              <a:rPr sz="800" spc="50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r>
              <a:rPr sz="800" spc="-20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 </a:t>
            </a:r>
            <a:r>
              <a:rPr sz="800" i="1" spc="50" dirty="0">
                <a:solidFill>
                  <a:srgbClr val="59439A"/>
                </a:solidFill>
                <a:latin typeface="LM Roman 8"/>
                <a:cs typeface="LM Roman 8"/>
              </a:rPr>
              <a:t>tr</a:t>
            </a:r>
            <a:r>
              <a:rPr sz="800" spc="50" dirty="0">
                <a:solidFill>
                  <a:srgbClr val="59439A"/>
                </a:solidFill>
                <a:latin typeface="LM Roman 8"/>
                <a:cs typeface="LM Roman 8"/>
              </a:rPr>
              <a:t>(</a:t>
            </a:r>
            <a:r>
              <a:rPr sz="800" i="1" spc="50" dirty="0">
                <a:solidFill>
                  <a:srgbClr val="59439A"/>
                </a:solidFill>
                <a:latin typeface="Times New Roman"/>
                <a:cs typeface="Times New Roman"/>
              </a:rPr>
              <a:t>BA</a:t>
            </a:r>
            <a:r>
              <a:rPr sz="800" spc="50" dirty="0">
                <a:solidFill>
                  <a:srgbClr val="59439A"/>
                </a:solidFill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  <a:p>
            <a:pPr marL="227965" indent="-127000">
              <a:lnSpc>
                <a:spcPct val="100000"/>
              </a:lnSpc>
              <a:spcBef>
                <a:spcPts val="810"/>
              </a:spcBef>
              <a:buFont typeface="DejaVu Sans"/>
              <a:buChar char="❒"/>
              <a:tabLst>
                <a:tab pos="228600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Determinant</a:t>
            </a:r>
            <a:r>
              <a:rPr sz="800" b="1" spc="70" dirty="0">
                <a:solidFill>
                  <a:srgbClr val="0C6C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114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determinant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114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square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matrix</a:t>
            </a:r>
            <a:r>
              <a:rPr sz="800" spc="114" dirty="0">
                <a:latin typeface="LM Roman 8"/>
                <a:cs typeface="LM Roman 8"/>
              </a:rPr>
              <a:t> </a:t>
            </a: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220" dirty="0">
                <a:latin typeface="Times New Roman"/>
                <a:cs typeface="Times New Roman"/>
              </a:rPr>
              <a:t> </a:t>
            </a:r>
            <a:r>
              <a:rPr sz="800" i="1" spc="-135" dirty="0">
                <a:latin typeface="DejaVu Sans"/>
                <a:cs typeface="DejaVu Sans"/>
              </a:rPr>
              <a:t>∈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spc="85" dirty="0">
                <a:latin typeface="MathJax_AMS"/>
                <a:cs typeface="MathJax_AMS"/>
              </a:rPr>
              <a:t>R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900" i="1" spc="127" baseline="27777" dirty="0">
                <a:latin typeface="DejaVu Sans"/>
                <a:cs typeface="DejaVu Sans"/>
              </a:rPr>
              <a:t>×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800" spc="85" dirty="0">
                <a:latin typeface="LM Roman 8"/>
                <a:cs typeface="LM Roman 8"/>
              </a:rPr>
              <a:t>,</a:t>
            </a:r>
            <a:r>
              <a:rPr sz="800" spc="1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noted</a:t>
            </a:r>
            <a:r>
              <a:rPr sz="800" spc="114" dirty="0">
                <a:latin typeface="LM Roman 8"/>
                <a:cs typeface="LM Roman 8"/>
              </a:rPr>
              <a:t> </a:t>
            </a:r>
            <a:r>
              <a:rPr sz="800" i="1" spc="20" dirty="0">
                <a:latin typeface="DejaVu Sans"/>
                <a:cs typeface="DejaVu Sans"/>
              </a:rPr>
              <a:t>|</a:t>
            </a:r>
            <a:r>
              <a:rPr sz="800" i="1" spc="20" dirty="0">
                <a:latin typeface="Times New Roman"/>
                <a:cs typeface="Times New Roman"/>
              </a:rPr>
              <a:t>A</a:t>
            </a:r>
            <a:r>
              <a:rPr sz="800" i="1" spc="20" dirty="0">
                <a:latin typeface="DejaVu Sans"/>
                <a:cs typeface="DejaVu Sans"/>
              </a:rPr>
              <a:t>|</a:t>
            </a:r>
            <a:r>
              <a:rPr sz="800" i="1" spc="140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LM Roman 8"/>
                <a:cs typeface="LM Roman 8"/>
              </a:rPr>
              <a:t>or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spc="20" dirty="0">
                <a:latin typeface="LM Roman 8"/>
                <a:cs typeface="LM Roman 8"/>
              </a:rPr>
              <a:t>det(</a:t>
            </a:r>
            <a:r>
              <a:rPr sz="800" i="1" spc="20" dirty="0">
                <a:latin typeface="Times New Roman"/>
                <a:cs typeface="Times New Roman"/>
              </a:rPr>
              <a:t>A</a:t>
            </a:r>
            <a:r>
              <a:rPr sz="800" spc="20" dirty="0">
                <a:latin typeface="LM Roman 8"/>
                <a:cs typeface="LM Roman 8"/>
              </a:rPr>
              <a:t>)</a:t>
            </a:r>
            <a:r>
              <a:rPr sz="800" spc="114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5036362" y="3395851"/>
            <a:ext cx="45504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expressed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recursively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in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terms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100" dirty="0">
                <a:latin typeface="LM Roman 8"/>
                <a:cs typeface="LM Roman 8"/>
              </a:rPr>
              <a:t> </a:t>
            </a:r>
            <a:r>
              <a:rPr sz="800" i="1" spc="130" dirty="0">
                <a:latin typeface="Times New Roman"/>
                <a:cs typeface="Times New Roman"/>
              </a:rPr>
              <a:t>A</a:t>
            </a:r>
            <a:r>
              <a:rPr sz="900" i="1" spc="195" baseline="-13888" dirty="0">
                <a:latin typeface="DejaVu Sans"/>
                <a:cs typeface="DejaVu Sans"/>
              </a:rPr>
              <a:t>\</a:t>
            </a:r>
            <a:r>
              <a:rPr sz="900" i="1" spc="195" baseline="-13888" dirty="0">
                <a:latin typeface="Times New Roman"/>
                <a:cs typeface="Times New Roman"/>
              </a:rPr>
              <a:t>i,</a:t>
            </a:r>
            <a:r>
              <a:rPr sz="900" i="1" spc="195" baseline="-13888" dirty="0">
                <a:latin typeface="DejaVu Sans"/>
                <a:cs typeface="DejaVu Sans"/>
              </a:rPr>
              <a:t>\</a:t>
            </a:r>
            <a:r>
              <a:rPr sz="900" i="1" spc="195" baseline="-13888" dirty="0">
                <a:latin typeface="Times New Roman"/>
                <a:cs typeface="Times New Roman"/>
              </a:rPr>
              <a:t>j</a:t>
            </a:r>
            <a:r>
              <a:rPr sz="900" i="1" spc="-104" baseline="-13888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,</a:t>
            </a:r>
            <a:r>
              <a:rPr sz="800" spc="13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which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matrix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without</a:t>
            </a:r>
            <a:r>
              <a:rPr sz="800" spc="1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its</a:t>
            </a:r>
            <a:r>
              <a:rPr sz="800" spc="100" dirty="0">
                <a:latin typeface="LM Roman 8"/>
                <a:cs typeface="LM Roman 8"/>
              </a:rPr>
              <a:t> </a:t>
            </a:r>
            <a:r>
              <a:rPr sz="800" i="1" spc="100" dirty="0">
                <a:latin typeface="Times New Roman"/>
                <a:cs typeface="Times New Roman"/>
              </a:rPr>
              <a:t>i</a:t>
            </a:r>
            <a:r>
              <a:rPr sz="900" i="1" spc="150" baseline="27777" dirty="0">
                <a:latin typeface="Times New Roman"/>
                <a:cs typeface="Times New Roman"/>
              </a:rPr>
              <a:t>th</a:t>
            </a:r>
            <a:r>
              <a:rPr sz="900" i="1" spc="434" baseline="27777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LM Roman 8"/>
                <a:cs typeface="LM Roman 8"/>
              </a:rPr>
              <a:t>row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and</a:t>
            </a:r>
            <a:r>
              <a:rPr sz="800" spc="105" dirty="0">
                <a:latin typeface="LM Roman 8"/>
                <a:cs typeface="LM Roman 8"/>
              </a:rPr>
              <a:t> </a:t>
            </a:r>
            <a:r>
              <a:rPr sz="800" i="1" spc="135" dirty="0">
                <a:latin typeface="Times New Roman"/>
                <a:cs typeface="Times New Roman"/>
              </a:rPr>
              <a:t>j</a:t>
            </a:r>
            <a:r>
              <a:rPr sz="900" i="1" spc="202" baseline="27777" dirty="0">
                <a:latin typeface="Times New Roman"/>
                <a:cs typeface="Times New Roman"/>
              </a:rPr>
              <a:t>th</a:t>
            </a:r>
            <a:endParaRPr sz="900" baseline="27777">
              <a:latin typeface="Times New Roman"/>
              <a:cs typeface="Times New Roman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5061762" y="3519283"/>
            <a:ext cx="911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column, as</a:t>
            </a:r>
            <a:r>
              <a:rPr sz="800" spc="-4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7183983" y="3727632"/>
            <a:ext cx="844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7121817" y="3714983"/>
            <a:ext cx="1955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30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7132878" y="4031289"/>
            <a:ext cx="186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5" dirty="0">
                <a:latin typeface="Times New Roman"/>
                <a:cs typeface="Times New Roman"/>
              </a:rPr>
              <a:t>j</a:t>
            </a:r>
            <a:r>
              <a:rPr sz="600" spc="-5" dirty="0">
                <a:latin typeface="LM Roman 6"/>
                <a:cs typeface="LM Roman 6"/>
              </a:rPr>
              <a:t>=1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6355740" y="3854156"/>
            <a:ext cx="19177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61390" algn="l"/>
              </a:tabLst>
            </a:pPr>
            <a:r>
              <a:rPr sz="800" spc="20" dirty="0">
                <a:latin typeface="LM Roman 8"/>
                <a:cs typeface="LM Roman 8"/>
              </a:rPr>
              <a:t>det(</a:t>
            </a:r>
            <a:r>
              <a:rPr sz="800" i="1" spc="20" dirty="0">
                <a:latin typeface="Times New Roman"/>
                <a:cs typeface="Times New Roman"/>
              </a:rPr>
              <a:t>A</a:t>
            </a:r>
            <a:r>
              <a:rPr sz="800" spc="20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10" dirty="0">
                <a:latin typeface="LM Roman 8"/>
                <a:cs typeface="LM Roman 8"/>
              </a:rPr>
              <a:t> </a:t>
            </a:r>
            <a:r>
              <a:rPr sz="800" i="1" spc="20" dirty="0">
                <a:latin typeface="DejaVu Sans"/>
                <a:cs typeface="DejaVu Sans"/>
              </a:rPr>
              <a:t>|</a:t>
            </a:r>
            <a:r>
              <a:rPr sz="800" i="1" spc="20" dirty="0">
                <a:latin typeface="Times New Roman"/>
                <a:cs typeface="Times New Roman"/>
              </a:rPr>
              <a:t>A</a:t>
            </a:r>
            <a:r>
              <a:rPr sz="800" i="1" spc="20" dirty="0">
                <a:latin typeface="DejaVu Sans"/>
                <a:cs typeface="DejaVu Sans"/>
              </a:rPr>
              <a:t>|</a:t>
            </a:r>
            <a:r>
              <a:rPr sz="800" i="1" spc="-15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LM Roman 8"/>
                <a:cs typeface="LM Roman 8"/>
              </a:rPr>
              <a:t>=	</a:t>
            </a:r>
            <a:r>
              <a:rPr sz="800" spc="30" dirty="0">
                <a:latin typeface="LM Roman 8"/>
                <a:cs typeface="LM Roman 8"/>
              </a:rPr>
              <a:t>(</a:t>
            </a:r>
            <a:r>
              <a:rPr sz="800" i="1" spc="30" dirty="0">
                <a:latin typeface="DejaVu Sans"/>
                <a:cs typeface="DejaVu Sans"/>
              </a:rPr>
              <a:t>−</a:t>
            </a:r>
            <a:r>
              <a:rPr sz="800" spc="30" dirty="0">
                <a:latin typeface="LM Roman 8"/>
                <a:cs typeface="LM Roman 8"/>
              </a:rPr>
              <a:t>1)</a:t>
            </a:r>
            <a:r>
              <a:rPr sz="900" i="1" spc="44" baseline="32407" dirty="0">
                <a:latin typeface="Times New Roman"/>
                <a:cs typeface="Times New Roman"/>
              </a:rPr>
              <a:t>i</a:t>
            </a:r>
            <a:r>
              <a:rPr sz="900" spc="44" baseline="32407" dirty="0">
                <a:latin typeface="LM Roman 6"/>
                <a:cs typeface="LM Roman 6"/>
              </a:rPr>
              <a:t>+</a:t>
            </a:r>
            <a:r>
              <a:rPr sz="900" i="1" spc="44" baseline="32407" dirty="0">
                <a:latin typeface="Times New Roman"/>
                <a:cs typeface="Times New Roman"/>
              </a:rPr>
              <a:t>j</a:t>
            </a:r>
            <a:r>
              <a:rPr sz="900" i="1" spc="-120" baseline="32407" dirty="0">
                <a:latin typeface="Times New Roman"/>
                <a:cs typeface="Times New Roman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A</a:t>
            </a:r>
            <a:r>
              <a:rPr sz="900" i="1" spc="165" baseline="-9259" dirty="0">
                <a:latin typeface="Times New Roman"/>
                <a:cs typeface="Times New Roman"/>
              </a:rPr>
              <a:t>i,j</a:t>
            </a:r>
            <a:r>
              <a:rPr sz="900" i="1" spc="-112" baseline="-9259" dirty="0">
                <a:latin typeface="Times New Roman"/>
                <a:cs typeface="Times New Roman"/>
              </a:rPr>
              <a:t> </a:t>
            </a:r>
            <a:r>
              <a:rPr sz="800" i="1" spc="105" dirty="0">
                <a:latin typeface="DejaVu Sans"/>
                <a:cs typeface="DejaVu Sans"/>
              </a:rPr>
              <a:t>|</a:t>
            </a:r>
            <a:r>
              <a:rPr sz="800" i="1" spc="105" dirty="0">
                <a:latin typeface="Times New Roman"/>
                <a:cs typeface="Times New Roman"/>
              </a:rPr>
              <a:t>A</a:t>
            </a:r>
            <a:r>
              <a:rPr sz="900" i="1" spc="157" baseline="-13888" dirty="0">
                <a:latin typeface="DejaVu Sans"/>
                <a:cs typeface="DejaVu Sans"/>
              </a:rPr>
              <a:t>\</a:t>
            </a:r>
            <a:r>
              <a:rPr sz="900" i="1" spc="157" baseline="-13888" dirty="0">
                <a:latin typeface="Times New Roman"/>
                <a:cs typeface="Times New Roman"/>
              </a:rPr>
              <a:t>i,</a:t>
            </a:r>
            <a:r>
              <a:rPr sz="900" i="1" spc="157" baseline="-13888" dirty="0">
                <a:latin typeface="DejaVu Sans"/>
                <a:cs typeface="DejaVu Sans"/>
              </a:rPr>
              <a:t>\</a:t>
            </a:r>
            <a:r>
              <a:rPr sz="900" i="1" spc="157" baseline="-13888" dirty="0">
                <a:latin typeface="Times New Roman"/>
                <a:cs typeface="Times New Roman"/>
              </a:rPr>
              <a:t>j</a:t>
            </a:r>
            <a:r>
              <a:rPr sz="900" i="1" spc="-120" baseline="-13888" dirty="0">
                <a:latin typeface="Times New Roman"/>
                <a:cs typeface="Times New Roman"/>
              </a:rPr>
              <a:t> </a:t>
            </a:r>
            <a:r>
              <a:rPr sz="800" i="1" spc="-35" dirty="0">
                <a:latin typeface="DejaVu Sans"/>
                <a:cs typeface="DejaVu Sans"/>
              </a:rPr>
              <a:t>|</a:t>
            </a:r>
            <a:endParaRPr sz="800">
              <a:latin typeface="DejaVu Sans"/>
              <a:cs typeface="DejaVu Sans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6350825" y="3727894"/>
            <a:ext cx="1927225" cy="462915"/>
            <a:chOff x="6350825" y="3727894"/>
            <a:chExt cx="1927225" cy="462915"/>
          </a:xfrm>
        </p:grpSpPr>
        <p:sp>
          <p:nvSpPr>
            <p:cNvPr id="141" name="object 141"/>
            <p:cNvSpPr/>
            <p:nvPr/>
          </p:nvSpPr>
          <p:spPr>
            <a:xfrm>
              <a:off x="6350825" y="3730421"/>
              <a:ext cx="1927225" cy="0"/>
            </a:xfrm>
            <a:custGeom>
              <a:avLst/>
              <a:gdLst/>
              <a:ahLst/>
              <a:cxnLst/>
              <a:rect l="l" t="t" r="r" b="b"/>
              <a:pathLst>
                <a:path w="1927225">
                  <a:moveTo>
                    <a:pt x="0" y="0"/>
                  </a:moveTo>
                  <a:lnTo>
                    <a:pt x="192722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353352" y="3730421"/>
              <a:ext cx="0" cy="457834"/>
            </a:xfrm>
            <a:custGeom>
              <a:avLst/>
              <a:gdLst/>
              <a:ahLst/>
              <a:cxnLst/>
              <a:rect l="l" t="t" r="r" b="b"/>
              <a:pathLst>
                <a:path h="457835">
                  <a:moveTo>
                    <a:pt x="0" y="45739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8275510" y="3730421"/>
              <a:ext cx="0" cy="457834"/>
            </a:xfrm>
            <a:custGeom>
              <a:avLst/>
              <a:gdLst/>
              <a:ahLst/>
              <a:cxnLst/>
              <a:rect l="l" t="t" r="r" b="b"/>
              <a:pathLst>
                <a:path h="457835">
                  <a:moveTo>
                    <a:pt x="0" y="45739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350825" y="4187812"/>
              <a:ext cx="1927225" cy="0"/>
            </a:xfrm>
            <a:custGeom>
              <a:avLst/>
              <a:gdLst/>
              <a:ahLst/>
              <a:cxnLst/>
              <a:rect l="l" t="t" r="r" b="b"/>
              <a:pathLst>
                <a:path w="1927225">
                  <a:moveTo>
                    <a:pt x="0" y="0"/>
                  </a:moveTo>
                  <a:lnTo>
                    <a:pt x="192722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5036362" y="4287798"/>
            <a:ext cx="4556760" cy="852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145" dirty="0">
                <a:solidFill>
                  <a:srgbClr val="59439A"/>
                </a:solidFill>
                <a:latin typeface="Times New Roman"/>
                <a:cs typeface="Times New Roman"/>
              </a:rPr>
              <a:t>A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invertible if and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only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if </a:t>
            </a:r>
            <a:r>
              <a:rPr sz="800" i="1" spc="20" dirty="0">
                <a:solidFill>
                  <a:srgbClr val="59439A"/>
                </a:solidFill>
                <a:latin typeface="DejaVu Sans"/>
                <a:cs typeface="DejaVu Sans"/>
              </a:rPr>
              <a:t>|</a:t>
            </a:r>
            <a:r>
              <a:rPr sz="800" i="1" spc="20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i="1" spc="20" dirty="0">
                <a:solidFill>
                  <a:srgbClr val="59439A"/>
                </a:solidFill>
                <a:latin typeface="DejaVu Sans"/>
                <a:cs typeface="DejaVu Sans"/>
              </a:rPr>
              <a:t>| </a:t>
            </a:r>
            <a:r>
              <a:rPr sz="800" i="1" spc="-5" dirty="0">
                <a:solidFill>
                  <a:srgbClr val="59439A"/>
                </a:solidFill>
                <a:latin typeface="DejaVu Sans"/>
                <a:cs typeface="DejaVu Sans"/>
              </a:rPr>
              <a:t>ƒ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 0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.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Also, </a:t>
            </a:r>
            <a:r>
              <a:rPr sz="800" i="1" spc="60" dirty="0">
                <a:solidFill>
                  <a:srgbClr val="59439A"/>
                </a:solidFill>
                <a:latin typeface="DejaVu Sans"/>
                <a:cs typeface="DejaVu Sans"/>
              </a:rPr>
              <a:t>|</a:t>
            </a:r>
            <a:r>
              <a:rPr sz="800" i="1" spc="60" dirty="0">
                <a:solidFill>
                  <a:srgbClr val="59439A"/>
                </a:solidFill>
                <a:latin typeface="Times New Roman"/>
                <a:cs typeface="Times New Roman"/>
              </a:rPr>
              <a:t>AB</a:t>
            </a:r>
            <a:r>
              <a:rPr sz="800" i="1" spc="60" dirty="0">
                <a:solidFill>
                  <a:srgbClr val="59439A"/>
                </a:solidFill>
                <a:latin typeface="DejaVu Sans"/>
                <a:cs typeface="DejaVu Sans"/>
              </a:rPr>
              <a:t>|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 </a:t>
            </a:r>
            <a:r>
              <a:rPr sz="800" i="1" spc="30" dirty="0">
                <a:solidFill>
                  <a:srgbClr val="59439A"/>
                </a:solidFill>
                <a:latin typeface="DejaVu Sans"/>
                <a:cs typeface="DejaVu Sans"/>
              </a:rPr>
              <a:t>|</a:t>
            </a:r>
            <a:r>
              <a:rPr sz="800" i="1" spc="30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i="1" spc="30" dirty="0">
                <a:solidFill>
                  <a:srgbClr val="59439A"/>
                </a:solidFill>
                <a:latin typeface="DejaVu Sans"/>
                <a:cs typeface="DejaVu Sans"/>
              </a:rPr>
              <a:t>||</a:t>
            </a:r>
            <a:r>
              <a:rPr sz="800" i="1" spc="30" dirty="0">
                <a:solidFill>
                  <a:srgbClr val="59439A"/>
                </a:solidFill>
                <a:latin typeface="Times New Roman"/>
                <a:cs typeface="Times New Roman"/>
              </a:rPr>
              <a:t>B</a:t>
            </a:r>
            <a:r>
              <a:rPr sz="800" i="1" spc="30" dirty="0">
                <a:solidFill>
                  <a:srgbClr val="59439A"/>
                </a:solidFill>
                <a:latin typeface="DejaVu Sans"/>
                <a:cs typeface="DejaVu Sans"/>
              </a:rPr>
              <a:t>|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and </a:t>
            </a:r>
            <a:r>
              <a:rPr sz="800" i="1" spc="65" dirty="0">
                <a:solidFill>
                  <a:srgbClr val="59439A"/>
                </a:solidFill>
                <a:latin typeface="DejaVu Sans"/>
                <a:cs typeface="DejaVu Sans"/>
              </a:rPr>
              <a:t>|</a:t>
            </a:r>
            <a:r>
              <a:rPr sz="800" i="1" spc="6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900" i="1" spc="97" baseline="27777" dirty="0">
                <a:solidFill>
                  <a:srgbClr val="59439A"/>
                </a:solidFill>
                <a:latin typeface="Times New Roman"/>
                <a:cs typeface="Times New Roman"/>
              </a:rPr>
              <a:t>T </a:t>
            </a:r>
            <a:r>
              <a:rPr sz="800" i="1" spc="-35" dirty="0">
                <a:solidFill>
                  <a:srgbClr val="59439A"/>
                </a:solidFill>
                <a:latin typeface="DejaVu Sans"/>
                <a:cs typeface="DejaVu Sans"/>
              </a:rPr>
              <a:t>|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=</a:t>
            </a:r>
            <a:r>
              <a:rPr sz="800" spc="-8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15" dirty="0">
                <a:solidFill>
                  <a:srgbClr val="59439A"/>
                </a:solidFill>
                <a:latin typeface="DejaVu Sans"/>
                <a:cs typeface="DejaVu Sans"/>
              </a:rPr>
              <a:t>|</a:t>
            </a:r>
            <a:r>
              <a:rPr sz="800" i="1" spc="15" dirty="0">
                <a:solidFill>
                  <a:srgbClr val="59439A"/>
                </a:solidFill>
                <a:latin typeface="Times New Roman"/>
                <a:cs typeface="Times New Roman"/>
              </a:rPr>
              <a:t>A</a:t>
            </a:r>
            <a:r>
              <a:rPr sz="800" i="1" spc="15" dirty="0">
                <a:solidFill>
                  <a:srgbClr val="59439A"/>
                </a:solidFill>
                <a:latin typeface="DejaVu Sans"/>
                <a:cs typeface="DejaVu Sans"/>
              </a:rPr>
              <a:t>|</a:t>
            </a:r>
            <a:r>
              <a:rPr sz="800" i="1" spc="15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LM Roman 8"/>
              <a:cs typeface="LM Roman 8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  <a:tabLst>
                <a:tab pos="482600" algn="l"/>
              </a:tabLst>
            </a:pPr>
            <a:r>
              <a:rPr sz="1000" b="1" spc="-5" dirty="0">
                <a:latin typeface="LM Roman 10"/>
                <a:cs typeface="LM Roman 10"/>
              </a:rPr>
              <a:t>5.2.3	</a:t>
            </a:r>
            <a:r>
              <a:rPr sz="900" b="1" spc="-10" dirty="0">
                <a:latin typeface="LM Roman 9"/>
                <a:cs typeface="LM Roman 9"/>
              </a:rPr>
              <a:t>Matrix </a:t>
            </a:r>
            <a:r>
              <a:rPr sz="900" b="1" dirty="0">
                <a:latin typeface="LM Roman 9"/>
                <a:cs typeface="LM Roman 9"/>
              </a:rPr>
              <a:t>properties</a:t>
            </a:r>
            <a:endParaRPr sz="900">
              <a:latin typeface="LM Roman 9"/>
              <a:cs typeface="LM Roman 9"/>
            </a:endParaRPr>
          </a:p>
          <a:p>
            <a:pPr marL="38100" marR="30480">
              <a:lnSpc>
                <a:spcPts val="800"/>
              </a:lnSpc>
              <a:spcBef>
                <a:spcPts val="944"/>
              </a:spcBef>
              <a:buFont typeface="DejaVu Sans"/>
              <a:buChar char="❒"/>
              <a:tabLst>
                <a:tab pos="148590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Symmetric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decomposition </a:t>
            </a:r>
            <a:r>
              <a:rPr sz="800" spc="-5" dirty="0">
                <a:latin typeface="LM Roman 8"/>
                <a:cs typeface="LM Roman 8"/>
              </a:rPr>
              <a:t>– A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matrix </a:t>
            </a: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-11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can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expressed in terms of its symmetric  and antisymmetric parts as</a:t>
            </a:r>
            <a:r>
              <a:rPr sz="800" spc="-10" dirty="0">
                <a:latin typeface="LM Roman 8"/>
                <a:cs typeface="LM Roman 8"/>
              </a:rPr>
              <a:t> follows: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612318" y="5288380"/>
            <a:ext cx="2197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-3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6882993" y="5376989"/>
            <a:ext cx="367030" cy="0"/>
          </a:xfrm>
          <a:custGeom>
            <a:avLst/>
            <a:gdLst/>
            <a:ahLst/>
            <a:cxnLst/>
            <a:rect l="l" t="t" r="r" b="b"/>
            <a:pathLst>
              <a:path w="367029">
                <a:moveTo>
                  <a:pt x="0" y="0"/>
                </a:moveTo>
                <a:lnTo>
                  <a:pt x="36668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924750" y="5516079"/>
            <a:ext cx="85090" cy="15240"/>
          </a:xfrm>
          <a:custGeom>
            <a:avLst/>
            <a:gdLst/>
            <a:ahLst/>
            <a:cxnLst/>
            <a:rect l="l" t="t" r="r" b="b"/>
            <a:pathLst>
              <a:path w="85090" h="15239">
                <a:moveTo>
                  <a:pt x="84658" y="0"/>
                </a:moveTo>
                <a:lnTo>
                  <a:pt x="0" y="0"/>
                </a:lnTo>
                <a:lnTo>
                  <a:pt x="0" y="15176"/>
                </a:lnTo>
                <a:lnTo>
                  <a:pt x="84658" y="15176"/>
                </a:lnTo>
                <a:lnTo>
                  <a:pt x="846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7123277" y="5516079"/>
            <a:ext cx="85090" cy="15240"/>
          </a:xfrm>
          <a:custGeom>
            <a:avLst/>
            <a:gdLst/>
            <a:ahLst/>
            <a:cxnLst/>
            <a:rect l="l" t="t" r="r" b="b"/>
            <a:pathLst>
              <a:path w="85090" h="15239">
                <a:moveTo>
                  <a:pt x="84658" y="0"/>
                </a:moveTo>
                <a:lnTo>
                  <a:pt x="0" y="0"/>
                </a:lnTo>
                <a:lnTo>
                  <a:pt x="0" y="15176"/>
                </a:lnTo>
                <a:lnTo>
                  <a:pt x="84658" y="15176"/>
                </a:lnTo>
                <a:lnTo>
                  <a:pt x="846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 txBox="1"/>
          <p:nvPr/>
        </p:nvSpPr>
        <p:spPr>
          <a:xfrm>
            <a:off x="7288936" y="5288380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+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6844893" y="5217895"/>
            <a:ext cx="10617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75005" algn="l"/>
              </a:tabLst>
            </a:pP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i="1" spc="120" dirty="0">
                <a:latin typeface="Times New Roman"/>
                <a:cs typeface="Times New Roman"/>
              </a:rPr>
              <a:t>A</a:t>
            </a:r>
            <a:r>
              <a:rPr sz="900" i="1" spc="179" baseline="27777" dirty="0">
                <a:latin typeface="Times New Roman"/>
                <a:cs typeface="Times New Roman"/>
              </a:rPr>
              <a:t>T	</a:t>
            </a: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-120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− </a:t>
            </a:r>
            <a:r>
              <a:rPr sz="800" i="1" spc="120" dirty="0">
                <a:latin typeface="Times New Roman"/>
                <a:cs typeface="Times New Roman"/>
              </a:rPr>
              <a:t>A</a:t>
            </a:r>
            <a:r>
              <a:rPr sz="900" i="1" spc="179" baseline="27777" dirty="0">
                <a:latin typeface="Times New Roman"/>
                <a:cs typeface="Times New Roman"/>
              </a:rPr>
              <a:t>T</a:t>
            </a:r>
            <a:endParaRPr sz="900" baseline="27777">
              <a:latin typeface="Times New Roman"/>
              <a:cs typeface="Times New Roman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7520190" y="5376989"/>
            <a:ext cx="367030" cy="0"/>
          </a:xfrm>
          <a:custGeom>
            <a:avLst/>
            <a:gdLst/>
            <a:ahLst/>
            <a:cxnLst/>
            <a:rect l="l" t="t" r="r" b="b"/>
            <a:pathLst>
              <a:path w="367029">
                <a:moveTo>
                  <a:pt x="0" y="0"/>
                </a:moveTo>
                <a:lnTo>
                  <a:pt x="36668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 txBox="1"/>
          <p:nvPr/>
        </p:nvSpPr>
        <p:spPr>
          <a:xfrm>
            <a:off x="7026757" y="5364199"/>
            <a:ext cx="716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9605" algn="l"/>
              </a:tabLst>
            </a:pPr>
            <a:r>
              <a:rPr sz="800" spc="-5" dirty="0">
                <a:latin typeface="LM Roman 8"/>
                <a:cs typeface="LM Roman 8"/>
              </a:rPr>
              <a:t>2	2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54" name="object 154"/>
          <p:cNvSpPr/>
          <p:nvPr/>
        </p:nvSpPr>
        <p:spPr>
          <a:xfrm>
            <a:off x="7561935" y="5516079"/>
            <a:ext cx="85090" cy="15240"/>
          </a:xfrm>
          <a:custGeom>
            <a:avLst/>
            <a:gdLst/>
            <a:ahLst/>
            <a:cxnLst/>
            <a:rect l="l" t="t" r="r" b="b"/>
            <a:pathLst>
              <a:path w="85090" h="15239">
                <a:moveTo>
                  <a:pt x="84658" y="0"/>
                </a:moveTo>
                <a:lnTo>
                  <a:pt x="0" y="0"/>
                </a:lnTo>
                <a:lnTo>
                  <a:pt x="0" y="15176"/>
                </a:lnTo>
                <a:lnTo>
                  <a:pt x="84658" y="15176"/>
                </a:lnTo>
                <a:lnTo>
                  <a:pt x="846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7760474" y="5516079"/>
            <a:ext cx="85090" cy="15240"/>
          </a:xfrm>
          <a:custGeom>
            <a:avLst/>
            <a:gdLst/>
            <a:ahLst/>
            <a:cxnLst/>
            <a:rect l="l" t="t" r="r" b="b"/>
            <a:pathLst>
              <a:path w="85090" h="15239">
                <a:moveTo>
                  <a:pt x="84658" y="0"/>
                </a:moveTo>
                <a:lnTo>
                  <a:pt x="0" y="0"/>
                </a:lnTo>
                <a:lnTo>
                  <a:pt x="0" y="15176"/>
                </a:lnTo>
                <a:lnTo>
                  <a:pt x="84658" y="15176"/>
                </a:lnTo>
                <a:lnTo>
                  <a:pt x="846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 txBox="1"/>
          <p:nvPr/>
        </p:nvSpPr>
        <p:spPr>
          <a:xfrm>
            <a:off x="6810870" y="5505912"/>
            <a:ext cx="1231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spc="-135" dirty="0">
                <a:latin typeface="LM Roman 6"/>
                <a:cs typeface="LM Roman 6"/>
              </a:rPr>
              <a:t>S</a:t>
            </a:r>
            <a:r>
              <a:rPr sz="1500" spc="-202" baseline="50000" dirty="0">
                <a:latin typeface="Arial"/>
                <a:cs typeface="Arial"/>
              </a:rPr>
              <a:t>s</a:t>
            </a:r>
            <a:r>
              <a:rPr sz="600" spc="-135" dirty="0">
                <a:latin typeface="LM Roman 6"/>
                <a:cs typeface="LM Roman 6"/>
              </a:rPr>
              <a:t>ym</a:t>
            </a:r>
            <a:r>
              <a:rPr sz="1500" spc="-202" baseline="50000" dirty="0">
                <a:latin typeface="Arial"/>
                <a:cs typeface="Arial"/>
              </a:rPr>
              <a:t>˛</a:t>
            </a:r>
            <a:r>
              <a:rPr sz="600" spc="-135" dirty="0">
                <a:latin typeface="LM Roman 6"/>
                <a:cs typeface="LM Roman 6"/>
              </a:rPr>
              <a:t>m</a:t>
            </a:r>
            <a:r>
              <a:rPr sz="1500" spc="-202" baseline="50000" dirty="0">
                <a:latin typeface="Arial"/>
                <a:cs typeface="Arial"/>
              </a:rPr>
              <a:t>¸</a:t>
            </a:r>
            <a:r>
              <a:rPr sz="600" spc="-135" dirty="0">
                <a:latin typeface="LM Roman 6"/>
                <a:cs typeface="LM Roman 6"/>
              </a:rPr>
              <a:t>etr</a:t>
            </a:r>
            <a:r>
              <a:rPr sz="1500" spc="-202" baseline="50000" dirty="0">
                <a:latin typeface="Arial"/>
                <a:cs typeface="Arial"/>
              </a:rPr>
              <a:t>x</a:t>
            </a:r>
            <a:r>
              <a:rPr sz="600" spc="-135" dirty="0">
                <a:latin typeface="LM Roman 6"/>
                <a:cs typeface="LM Roman 6"/>
              </a:rPr>
              <a:t>ic</a:t>
            </a:r>
            <a:r>
              <a:rPr sz="600" spc="-110" dirty="0">
                <a:latin typeface="LM Roman 6"/>
                <a:cs typeface="LM Roman 6"/>
              </a:rPr>
              <a:t> </a:t>
            </a:r>
            <a:r>
              <a:rPr sz="600" spc="-105" dirty="0">
                <a:latin typeface="LM Roman 6"/>
                <a:cs typeface="LM Roman 6"/>
              </a:rPr>
              <a:t>An</a:t>
            </a:r>
            <a:r>
              <a:rPr sz="1500" spc="-157" baseline="50000" dirty="0">
                <a:latin typeface="Arial"/>
                <a:cs typeface="Arial"/>
              </a:rPr>
              <a:t>s</a:t>
            </a:r>
            <a:r>
              <a:rPr sz="600" spc="-105" dirty="0">
                <a:latin typeface="LM Roman 6"/>
                <a:cs typeface="LM Roman 6"/>
              </a:rPr>
              <a:t>tisy</a:t>
            </a:r>
            <a:r>
              <a:rPr sz="1500" spc="-157" baseline="50000" dirty="0">
                <a:latin typeface="Arial"/>
                <a:cs typeface="Arial"/>
              </a:rPr>
              <a:t>˛</a:t>
            </a:r>
            <a:r>
              <a:rPr sz="600" spc="-105" dirty="0">
                <a:latin typeface="LM Roman 6"/>
                <a:cs typeface="LM Roman 6"/>
              </a:rPr>
              <a:t>m</a:t>
            </a:r>
            <a:r>
              <a:rPr sz="1500" spc="-157" baseline="50000" dirty="0">
                <a:latin typeface="Arial"/>
                <a:cs typeface="Arial"/>
              </a:rPr>
              <a:t>¸</a:t>
            </a:r>
            <a:r>
              <a:rPr sz="600" spc="-105" dirty="0">
                <a:latin typeface="LM Roman 6"/>
                <a:cs typeface="LM Roman 6"/>
              </a:rPr>
              <a:t>me</a:t>
            </a:r>
            <a:r>
              <a:rPr sz="1500" spc="-157" baseline="50000" dirty="0">
                <a:latin typeface="Arial"/>
                <a:cs typeface="Arial"/>
              </a:rPr>
              <a:t>x</a:t>
            </a:r>
            <a:r>
              <a:rPr sz="600" spc="-105" dirty="0">
                <a:latin typeface="LM Roman 6"/>
                <a:cs typeface="LM Roman 6"/>
              </a:rPr>
              <a:t>tric</a:t>
            </a:r>
            <a:endParaRPr sz="600">
              <a:latin typeface="LM Roman 6"/>
              <a:cs typeface="LM Roman 6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6581991" y="5201196"/>
            <a:ext cx="1464945" cy="514984"/>
            <a:chOff x="6581991" y="5201196"/>
            <a:chExt cx="1464945" cy="514984"/>
          </a:xfrm>
        </p:grpSpPr>
        <p:sp>
          <p:nvSpPr>
            <p:cNvPr id="158" name="object 158"/>
            <p:cNvSpPr/>
            <p:nvPr/>
          </p:nvSpPr>
          <p:spPr>
            <a:xfrm>
              <a:off x="6581991" y="5203723"/>
              <a:ext cx="1464945" cy="0"/>
            </a:xfrm>
            <a:custGeom>
              <a:avLst/>
              <a:gdLst/>
              <a:ahLst/>
              <a:cxnLst/>
              <a:rect l="l" t="t" r="r" b="b"/>
              <a:pathLst>
                <a:path w="1464945">
                  <a:moveTo>
                    <a:pt x="0" y="0"/>
                  </a:moveTo>
                  <a:lnTo>
                    <a:pt x="146488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584531" y="5203723"/>
              <a:ext cx="0" cy="509905"/>
            </a:xfrm>
            <a:custGeom>
              <a:avLst/>
              <a:gdLst/>
              <a:ahLst/>
              <a:cxnLst/>
              <a:rect l="l" t="t" r="r" b="b"/>
              <a:pathLst>
                <a:path h="509904">
                  <a:moveTo>
                    <a:pt x="0" y="50930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8044345" y="5203723"/>
              <a:ext cx="0" cy="509905"/>
            </a:xfrm>
            <a:custGeom>
              <a:avLst/>
              <a:gdLst/>
              <a:ahLst/>
              <a:cxnLst/>
              <a:rect l="l" t="t" r="r" b="b"/>
              <a:pathLst>
                <a:path h="509904">
                  <a:moveTo>
                    <a:pt x="0" y="509308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6581991" y="5713031"/>
              <a:ext cx="1464945" cy="0"/>
            </a:xfrm>
            <a:custGeom>
              <a:avLst/>
              <a:gdLst/>
              <a:ahLst/>
              <a:cxnLst/>
              <a:rect l="l" t="t" r="r" b="b"/>
              <a:pathLst>
                <a:path w="1464945">
                  <a:moveTo>
                    <a:pt x="0" y="0"/>
                  </a:moveTo>
                  <a:lnTo>
                    <a:pt x="1464881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2" name="object 162"/>
          <p:cNvSpPr txBox="1"/>
          <p:nvPr/>
        </p:nvSpPr>
        <p:spPr>
          <a:xfrm>
            <a:off x="5061762" y="5894970"/>
            <a:ext cx="45053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635" indent="-11557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827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Norm </a:t>
            </a:r>
            <a:r>
              <a:rPr sz="800" spc="-5" dirty="0">
                <a:latin typeface="LM Roman 8"/>
                <a:cs typeface="LM Roman 8"/>
              </a:rPr>
              <a:t>– A norm is a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i="1" spc="135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i="1" dirty="0">
                <a:latin typeface="Times New Roman"/>
                <a:cs typeface="Times New Roman"/>
              </a:rPr>
              <a:t>V </a:t>
            </a:r>
            <a:r>
              <a:rPr sz="800" i="1" spc="10" dirty="0">
                <a:latin typeface="DejaVu Sans"/>
                <a:cs typeface="DejaVu Sans"/>
              </a:rPr>
              <a:t>−→ </a:t>
            </a:r>
            <a:r>
              <a:rPr sz="800" spc="5" dirty="0">
                <a:latin typeface="LM Roman 8"/>
                <a:cs typeface="LM Roman 8"/>
              </a:rPr>
              <a:t>[0</a:t>
            </a:r>
            <a:r>
              <a:rPr sz="800" i="1" spc="5" dirty="0">
                <a:latin typeface="Times New Roman"/>
                <a:cs typeface="Times New Roman"/>
              </a:rPr>
              <a:t>, </a:t>
            </a:r>
            <a:r>
              <a:rPr sz="800" spc="-5" dirty="0">
                <a:latin typeface="LM Roman 8"/>
                <a:cs typeface="LM Roman 8"/>
              </a:rPr>
              <a:t>+ </a:t>
            </a:r>
            <a:r>
              <a:rPr sz="800" i="1" spc="85" dirty="0">
                <a:latin typeface="DejaVu Sans"/>
                <a:cs typeface="DejaVu Sans"/>
              </a:rPr>
              <a:t>∞</a:t>
            </a:r>
            <a:r>
              <a:rPr sz="800" spc="85" dirty="0">
                <a:latin typeface="LM Roman 8"/>
                <a:cs typeface="LM Roman 8"/>
              </a:rPr>
              <a:t>[ </a:t>
            </a:r>
            <a:r>
              <a:rPr sz="800" spc="-5" dirty="0">
                <a:latin typeface="LM Roman 8"/>
                <a:cs typeface="LM Roman 8"/>
              </a:rPr>
              <a:t>where </a:t>
            </a:r>
            <a:r>
              <a:rPr sz="800" i="1" dirty="0">
                <a:latin typeface="Times New Roman"/>
                <a:cs typeface="Times New Roman"/>
              </a:rPr>
              <a:t>V </a:t>
            </a:r>
            <a:r>
              <a:rPr sz="800" spc="-5" dirty="0">
                <a:latin typeface="LM Roman 8"/>
                <a:cs typeface="LM Roman 8"/>
              </a:rPr>
              <a:t>is a </a:t>
            </a:r>
            <a:r>
              <a:rPr sz="800" spc="-10" dirty="0">
                <a:latin typeface="LM Roman 8"/>
                <a:cs typeface="LM Roman 8"/>
              </a:rPr>
              <a:t>vector </a:t>
            </a:r>
            <a:r>
              <a:rPr sz="800" spc="-5" dirty="0">
                <a:latin typeface="LM Roman 8"/>
                <a:cs typeface="LM Roman 8"/>
              </a:rPr>
              <a:t>space, and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2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5061762" y="6002666"/>
            <a:ext cx="1703070" cy="8839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for all </a:t>
            </a:r>
            <a:r>
              <a:rPr sz="800" i="1" spc="70" dirty="0">
                <a:latin typeface="Times New Roman"/>
                <a:cs typeface="Times New Roman"/>
              </a:rPr>
              <a:t>x,y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i="1" dirty="0">
                <a:latin typeface="Times New Roman"/>
                <a:cs typeface="Times New Roman"/>
              </a:rPr>
              <a:t>V </a:t>
            </a:r>
            <a:r>
              <a:rPr sz="800" spc="-5" dirty="0">
                <a:latin typeface="LM Roman 8"/>
                <a:cs typeface="LM Roman 8"/>
              </a:rPr>
              <a:t>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  <a:p>
            <a:pPr marL="328930" indent="-147955">
              <a:lnSpc>
                <a:spcPct val="100000"/>
              </a:lnSpc>
              <a:spcBef>
                <a:spcPts val="900"/>
              </a:spcBef>
              <a:buFont typeface="LM Roman 8"/>
              <a:buChar char="•"/>
              <a:tabLst>
                <a:tab pos="329565" algn="l"/>
              </a:tabLst>
            </a:pPr>
            <a:r>
              <a:rPr sz="800" i="1" spc="135" dirty="0">
                <a:latin typeface="Times New Roman"/>
                <a:cs typeface="Times New Roman"/>
              </a:rPr>
              <a:t>N</a:t>
            </a:r>
            <a:r>
              <a:rPr sz="800" i="1" spc="-120" dirty="0">
                <a:latin typeface="Times New Roman"/>
                <a:cs typeface="Times New Roman"/>
              </a:rPr>
              <a:t> 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x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i="1" spc="40" dirty="0">
                <a:latin typeface="Times New Roman"/>
                <a:cs typeface="Times New Roman"/>
              </a:rPr>
              <a:t>y</a:t>
            </a:r>
            <a:r>
              <a:rPr sz="800" spc="40" dirty="0">
                <a:latin typeface="LM Roman 8"/>
                <a:cs typeface="LM Roman 8"/>
              </a:rPr>
              <a:t>)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114" dirty="0">
                <a:latin typeface="RobotoRegular"/>
                <a:cs typeface="RobotoRegular"/>
              </a:rPr>
              <a:t>™</a:t>
            </a:r>
            <a:r>
              <a:rPr sz="800" spc="35" dirty="0">
                <a:latin typeface="RobotoRegular"/>
                <a:cs typeface="RobotoRegular"/>
              </a:rPr>
              <a:t> </a:t>
            </a:r>
            <a:r>
              <a:rPr sz="800" i="1" spc="135" dirty="0">
                <a:latin typeface="Times New Roman"/>
                <a:cs typeface="Times New Roman"/>
              </a:rPr>
              <a:t>N</a:t>
            </a:r>
            <a:r>
              <a:rPr sz="800" i="1" spc="-120" dirty="0">
                <a:latin typeface="Times New Roman"/>
                <a:cs typeface="Times New Roman"/>
              </a:rPr>
              <a:t>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</a:t>
            </a:r>
            <a:r>
              <a:rPr sz="800" spc="-9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i="1" spc="135" dirty="0">
                <a:latin typeface="Times New Roman"/>
                <a:cs typeface="Times New Roman"/>
              </a:rPr>
              <a:t>N</a:t>
            </a:r>
            <a:r>
              <a:rPr sz="800" i="1" spc="-114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LM Roman 8"/>
                <a:cs typeface="LM Roman 8"/>
              </a:rPr>
              <a:t>(</a:t>
            </a:r>
            <a:r>
              <a:rPr sz="800" i="1" spc="25" dirty="0">
                <a:latin typeface="Times New Roman"/>
                <a:cs typeface="Times New Roman"/>
              </a:rPr>
              <a:t>y</a:t>
            </a:r>
            <a:r>
              <a:rPr sz="800" spc="2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  <a:p>
            <a:pPr marL="328930" indent="-147955">
              <a:lnSpc>
                <a:spcPct val="100000"/>
              </a:lnSpc>
              <a:spcBef>
                <a:spcPts val="1010"/>
              </a:spcBef>
              <a:buFont typeface="LM Roman 8"/>
              <a:buChar char="•"/>
              <a:tabLst>
                <a:tab pos="329565" algn="l"/>
              </a:tabLst>
            </a:pPr>
            <a:r>
              <a:rPr sz="800" i="1" spc="135" dirty="0">
                <a:latin typeface="Times New Roman"/>
                <a:cs typeface="Times New Roman"/>
              </a:rPr>
              <a:t>N</a:t>
            </a:r>
            <a:r>
              <a:rPr sz="800" i="1" spc="-120" dirty="0">
                <a:latin typeface="Times New Roman"/>
                <a:cs typeface="Times New Roman"/>
              </a:rPr>
              <a:t> </a:t>
            </a:r>
            <a:r>
              <a:rPr sz="800" spc="40" dirty="0">
                <a:latin typeface="LM Roman 8"/>
                <a:cs typeface="LM Roman 8"/>
              </a:rPr>
              <a:t>(</a:t>
            </a:r>
            <a:r>
              <a:rPr sz="800" i="1" spc="40" dirty="0">
                <a:latin typeface="Times New Roman"/>
                <a:cs typeface="Times New Roman"/>
              </a:rPr>
              <a:t>ax</a:t>
            </a:r>
            <a:r>
              <a:rPr sz="800" spc="40" dirty="0">
                <a:latin typeface="LM Roman 8"/>
                <a:cs typeface="LM Roman 8"/>
              </a:rPr>
              <a:t>)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i="1" spc="25" dirty="0">
                <a:latin typeface="DejaVu Sans"/>
                <a:cs typeface="DejaVu Sans"/>
              </a:rPr>
              <a:t>|</a:t>
            </a:r>
            <a:r>
              <a:rPr sz="800" i="1" spc="25" dirty="0">
                <a:latin typeface="Times New Roman"/>
                <a:cs typeface="Times New Roman"/>
              </a:rPr>
              <a:t>a</a:t>
            </a:r>
            <a:r>
              <a:rPr sz="800" i="1" spc="25" dirty="0">
                <a:latin typeface="DejaVu Sans"/>
                <a:cs typeface="DejaVu Sans"/>
              </a:rPr>
              <a:t>|</a:t>
            </a:r>
            <a:r>
              <a:rPr sz="800" i="1" spc="25" dirty="0">
                <a:latin typeface="Times New Roman"/>
                <a:cs typeface="Times New Roman"/>
              </a:rPr>
              <a:t>N</a:t>
            </a:r>
            <a:r>
              <a:rPr sz="800" i="1" spc="-114" dirty="0">
                <a:latin typeface="Times New Roman"/>
                <a:cs typeface="Times New Roman"/>
              </a:rPr>
              <a:t>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for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800" i="1" spc="7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scalar</a:t>
            </a:r>
            <a:endParaRPr sz="800">
              <a:latin typeface="LM Roman 8"/>
              <a:cs typeface="LM Roman 8"/>
            </a:endParaRPr>
          </a:p>
          <a:p>
            <a:pPr marL="328930" indent="-147955">
              <a:lnSpc>
                <a:spcPct val="100000"/>
              </a:lnSpc>
              <a:spcBef>
                <a:spcPts val="1010"/>
              </a:spcBef>
              <a:buChar char="•"/>
              <a:tabLst>
                <a:tab pos="329565" algn="l"/>
              </a:tabLst>
            </a:pPr>
            <a:r>
              <a:rPr sz="800" spc="-5" dirty="0">
                <a:latin typeface="LM Roman 8"/>
                <a:cs typeface="LM Roman 8"/>
              </a:rPr>
              <a:t>if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i="1" spc="135" dirty="0">
                <a:latin typeface="Times New Roman"/>
                <a:cs typeface="Times New Roman"/>
              </a:rPr>
              <a:t>N</a:t>
            </a:r>
            <a:r>
              <a:rPr sz="800" i="1" spc="-114" dirty="0">
                <a:latin typeface="Times New Roman"/>
                <a:cs typeface="Times New Roman"/>
              </a:rPr>
              <a:t>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0,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then 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i="1" spc="3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0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64" name="object 164"/>
          <p:cNvSpPr/>
          <p:nvPr/>
        </p:nvSpPr>
        <p:spPr>
          <a:xfrm>
            <a:off x="467994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 txBox="1"/>
          <p:nvPr/>
        </p:nvSpPr>
        <p:spPr>
          <a:xfrm>
            <a:off x="455294" y="6961830"/>
            <a:ext cx="375285" cy="16891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spc="-10" dirty="0">
                <a:latin typeface="LM Roman 8"/>
                <a:cs typeface="LM Roman 8"/>
              </a:rPr>
              <a:t>flip</a:t>
            </a:r>
            <a:r>
              <a:rPr sz="800" spc="10" dirty="0">
                <a:latin typeface="LM Roman 8"/>
                <a:cs typeface="LM Roman 8"/>
              </a:rPr>
              <a:t>p</a:t>
            </a:r>
            <a:r>
              <a:rPr sz="800" spc="-5" dirty="0">
                <a:latin typeface="LM Roman 8"/>
                <a:cs typeface="LM Roman 8"/>
              </a:rPr>
              <a:t>ed: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5061762" y="6961830"/>
            <a:ext cx="3735070" cy="23622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spc="-30" dirty="0">
                <a:latin typeface="LM Roman 8"/>
                <a:cs typeface="LM Roman 8"/>
              </a:rPr>
              <a:t>For </a:t>
            </a: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i="1" dirty="0">
                <a:latin typeface="Times New Roman"/>
                <a:cs typeface="Times New Roman"/>
              </a:rPr>
              <a:t>V </a:t>
            </a:r>
            <a:r>
              <a:rPr sz="800" spc="-5" dirty="0">
                <a:latin typeface="LM Roman 8"/>
                <a:cs typeface="LM Roman 8"/>
              </a:rPr>
              <a:t>, the most commonly used norms are summed up in the table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below: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455294" y="7316103"/>
            <a:ext cx="1364615" cy="2012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00" spc="-20" dirty="0">
                <a:latin typeface="LM Roman Caps 10"/>
                <a:cs typeface="LM Roman Caps 10"/>
              </a:rPr>
              <a:t>Stanford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University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4909832" y="7312686"/>
            <a:ext cx="203200" cy="20510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z="1000" spc="-5" dirty="0">
                <a:latin typeface="LM Roman 10"/>
                <a:cs typeface="LM Roman 10"/>
              </a:rPr>
              <a:t>15</a:t>
            </a:fld>
            <a:endParaRPr sz="1000">
              <a:latin typeface="LM Roman 10"/>
              <a:cs typeface="LM Roman 10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8931249" y="7316103"/>
            <a:ext cx="636270" cy="2012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00" spc="-35" dirty="0">
                <a:latin typeface="LM Roman Caps 10"/>
                <a:cs typeface="LM Roman Caps 10"/>
              </a:rPr>
              <a:t>Fall</a:t>
            </a:r>
            <a:r>
              <a:rPr sz="1000" spc="-6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2018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170" name="Date Placeholder 169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lang="en-US" spc="-10" dirty="0"/>
          </a:p>
        </p:txBody>
      </p:sp>
      <p:sp>
        <p:nvSpPr>
          <p:cNvPr id="171" name="Slide Number Placeholder 17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lang="en-IN" spc="-5" smtClean="0"/>
              <a:t>15</a:t>
            </a:fld>
            <a:endParaRPr lang="en-IN"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299" y="182910"/>
            <a:ext cx="17976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LM Roman Caps 10"/>
                <a:cs typeface="LM Roman Caps 10"/>
              </a:rPr>
              <a:t>CS </a:t>
            </a:r>
            <a:r>
              <a:rPr sz="1000" spc="-10" dirty="0">
                <a:latin typeface="LM Roman Caps 10"/>
                <a:cs typeface="LM Roman Caps 10"/>
              </a:rPr>
              <a:t>229 </a:t>
            </a:r>
            <a:r>
              <a:rPr sz="1000" spc="-5" dirty="0">
                <a:latin typeface="LM Roman Caps 10"/>
                <a:cs typeface="LM Roman Caps 10"/>
              </a:rPr>
              <a:t>– </a:t>
            </a:r>
            <a:r>
              <a:rPr sz="1000" spc="-10" dirty="0">
                <a:latin typeface="LM Roman Caps 10"/>
                <a:cs typeface="LM Roman Caps 10"/>
              </a:rPr>
              <a:t>Machine</a:t>
            </a:r>
            <a:r>
              <a:rPr sz="1000" spc="-30" dirty="0">
                <a:latin typeface="LM Roman Caps 10"/>
                <a:cs typeface="LM Roman Caps 10"/>
              </a:rPr>
              <a:t> </a:t>
            </a:r>
            <a:r>
              <a:rPr sz="1000" spc="-5" dirty="0">
                <a:latin typeface="LM Roman Caps 10"/>
                <a:cs typeface="LM Roman Caps 10"/>
              </a:rPr>
              <a:t>Learning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6667" y="182910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LM Roman Caps 10"/>
                <a:cs typeface="LM Roman Caps 10"/>
              </a:rPr>
              <a:t>Shervine </a:t>
            </a:r>
            <a:r>
              <a:rPr sz="1000" spc="-10" dirty="0">
                <a:latin typeface="LM Roman Caps 10"/>
                <a:cs typeface="LM Roman Caps 10"/>
              </a:rPr>
              <a:t>Amidi </a:t>
            </a:r>
            <a:r>
              <a:rPr sz="1000" spc="-5" dirty="0">
                <a:latin typeface="LM Roman Caps 10"/>
                <a:cs typeface="LM Roman Caps 10"/>
              </a:rPr>
              <a:t>&amp; </a:t>
            </a:r>
            <a:r>
              <a:rPr sz="1000" spc="-10" dirty="0">
                <a:latin typeface="LM Roman Caps 10"/>
                <a:cs typeface="LM Roman Caps 10"/>
              </a:rPr>
              <a:t>Afshine</a:t>
            </a:r>
            <a:r>
              <a:rPr sz="1000" spc="-15" dirty="0">
                <a:latin typeface="LM Roman Caps 10"/>
                <a:cs typeface="LM Roman Caps 10"/>
              </a:rPr>
              <a:t> </a:t>
            </a:r>
            <a:r>
              <a:rPr sz="1000" spc="-10" dirty="0">
                <a:latin typeface="LM Roman Caps 10"/>
                <a:cs typeface="LM Roman Caps 10"/>
              </a:rPr>
              <a:t>Amidi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3999" y="370217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13608" y="1387449"/>
            <a:ext cx="314325" cy="0"/>
          </a:xfrm>
          <a:custGeom>
            <a:avLst/>
            <a:gdLst/>
            <a:ahLst/>
            <a:cxnLst/>
            <a:rect l="l" t="t" r="r" b="b"/>
            <a:pathLst>
              <a:path w="314325">
                <a:moveTo>
                  <a:pt x="0" y="0"/>
                </a:moveTo>
                <a:lnTo>
                  <a:pt x="31394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35579" y="1989747"/>
            <a:ext cx="46990" cy="0"/>
          </a:xfrm>
          <a:custGeom>
            <a:avLst/>
            <a:gdLst/>
            <a:ahLst/>
            <a:cxnLst/>
            <a:rect l="l" t="t" r="r" b="b"/>
            <a:pathLst>
              <a:path w="46989">
                <a:moveTo>
                  <a:pt x="0" y="0"/>
                </a:moveTo>
                <a:lnTo>
                  <a:pt x="4679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14006" y="683996"/>
          <a:ext cx="3462654" cy="1988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36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Norm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Notation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Definition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b="1" spc="-10" dirty="0">
                          <a:latin typeface="LM Roman 8"/>
                          <a:cs typeface="LM Roman 8"/>
                        </a:rPr>
                        <a:t>Use</a:t>
                      </a:r>
                      <a:r>
                        <a:rPr sz="800" b="1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b="1" spc="-5" dirty="0">
                          <a:latin typeface="LM Roman 8"/>
                          <a:cs typeface="LM Roman 8"/>
                        </a:rPr>
                        <a:t>case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Manhattan,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6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900" spc="89" baseline="27777" dirty="0">
                          <a:latin typeface="LM Roman 6"/>
                          <a:cs typeface="LM Roman 6"/>
                        </a:rPr>
                        <a:t>1</a:t>
                      </a:r>
                      <a:endParaRPr sz="900" baseline="27777">
                        <a:latin typeface="LM Roman 6"/>
                        <a:cs typeface="LM Roman 6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800" i="1" spc="-5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800" i="1" spc="-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-5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900" spc="-7" baseline="-9259" dirty="0">
                          <a:latin typeface="LM Roman 6"/>
                          <a:cs typeface="LM Roman 6"/>
                        </a:rPr>
                        <a:t>1</a:t>
                      </a:r>
                      <a:endParaRPr sz="900" baseline="-9259">
                        <a:latin typeface="LM Roman 6"/>
                        <a:cs typeface="LM Roman 6"/>
                      </a:endParaRPr>
                    </a:p>
                  </a:txBody>
                  <a:tcPr marL="0" marR="0" marT="144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944"/>
                        </a:lnSpc>
                      </a:pPr>
                      <a:r>
                        <a:rPr sz="1500" spc="22" baseline="-16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600" i="1" spc="15" dirty="0">
                          <a:latin typeface="Times New Roman"/>
                          <a:cs typeface="Times New Roman"/>
                        </a:rPr>
                        <a:t>n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814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i="1" spc="45" dirty="0">
                          <a:latin typeface="DejaVu Sans"/>
                          <a:cs typeface="DejaVu Sans"/>
                        </a:rPr>
                        <a:t>|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67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i="1" spc="45" dirty="0">
                          <a:latin typeface="DejaVu Sans"/>
                          <a:cs typeface="DejaVu Sans"/>
                        </a:rPr>
                        <a:t>|</a:t>
                      </a:r>
                      <a:endParaRPr sz="800">
                        <a:latin typeface="DejaVu Sans"/>
                        <a:cs typeface="DejaVu Sans"/>
                      </a:endParaRPr>
                    </a:p>
                    <a:p>
                      <a:pPr marL="21336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LASSO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regularization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Euclidean,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6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900" spc="89" baseline="27777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27777">
                        <a:latin typeface="LM Roman 6"/>
                        <a:cs typeface="LM Roman 6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i="1" spc="-5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800" i="1" spc="-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800" i="1" spc="-5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900" spc="-7" baseline="-9259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-9259">
                        <a:latin typeface="LM Roman 6"/>
                        <a:cs typeface="LM Roman 6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ts val="900"/>
                        </a:lnSpc>
                        <a:spcBef>
                          <a:spcPts val="620"/>
                        </a:spcBef>
                      </a:pPr>
                      <a:r>
                        <a:rPr sz="1500" spc="209" baseline="63888" dirty="0">
                          <a:latin typeface="Arial"/>
                          <a:cs typeface="Arial"/>
                        </a:rPr>
                        <a:t>‚</a:t>
                      </a:r>
                      <a:r>
                        <a:rPr sz="1000" spc="14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209" baseline="5555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900" i="1" spc="209" baseline="37037" dirty="0">
                          <a:latin typeface="Times New Roman"/>
                          <a:cs typeface="Times New Roman"/>
                        </a:rPr>
                        <a:t>n</a:t>
                      </a:r>
                      <a:endParaRPr sz="900" baseline="37037">
                        <a:latin typeface="Times New Roman"/>
                        <a:cs typeface="Times New Roman"/>
                      </a:endParaRPr>
                    </a:p>
                    <a:p>
                      <a:pPr marL="154305">
                        <a:lnSpc>
                          <a:spcPts val="745"/>
                        </a:lnSpc>
                        <a:tabLst>
                          <a:tab pos="488315" algn="l"/>
                        </a:tabLst>
                      </a:pPr>
                      <a:r>
                        <a:rPr sz="1000" spc="770" dirty="0">
                          <a:latin typeface="Arial"/>
                          <a:cs typeface="Arial"/>
                        </a:rPr>
                        <a:t>,	</a:t>
                      </a:r>
                      <a:r>
                        <a:rPr sz="1200" i="1" spc="89" baseline="-13888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spc="89" baseline="4629" dirty="0">
                          <a:latin typeface="LM Roman 6"/>
                          <a:cs typeface="LM Roman 6"/>
                        </a:rPr>
                        <a:t>2</a:t>
                      </a:r>
                      <a:endParaRPr sz="900" baseline="4629">
                        <a:latin typeface="LM Roman 6"/>
                        <a:cs typeface="LM Roman 6"/>
                      </a:endParaRPr>
                    </a:p>
                    <a:p>
                      <a:pPr marR="165735" algn="r">
                        <a:lnSpc>
                          <a:spcPts val="565"/>
                        </a:lnSpc>
                      </a:pPr>
                      <a:r>
                        <a:rPr sz="600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787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Ridge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regularization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i="1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800" dirty="0">
                          <a:latin typeface="LM Roman 8"/>
                          <a:cs typeface="LM Roman 8"/>
                        </a:rPr>
                        <a:t>-norm,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10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900" i="1" spc="157" baseline="27777" dirty="0">
                          <a:latin typeface="Times New Roman"/>
                          <a:cs typeface="Times New Roman"/>
                        </a:rPr>
                        <a:t>p</a:t>
                      </a:r>
                      <a:endParaRPr sz="900" baseline="27777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i="1" spc="15" baseline="6944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1200" i="1" spc="15" baseline="6944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200" i="1" spc="15" baseline="6944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600" i="1" spc="10" dirty="0">
                          <a:latin typeface="Times New Roman"/>
                          <a:cs typeface="Times New Roman"/>
                        </a:rPr>
                        <a:t>p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810"/>
                        </a:lnSpc>
                        <a:tabLst>
                          <a:tab pos="494665" algn="l"/>
                        </a:tabLst>
                      </a:pPr>
                      <a:r>
                        <a:rPr sz="1000" spc="17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262" baseline="-41666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900" i="1" spc="262" baseline="-41666" dirty="0">
                          <a:latin typeface="Times New Roman"/>
                          <a:cs typeface="Times New Roman"/>
                        </a:rPr>
                        <a:t>n	</a:t>
                      </a:r>
                      <a:r>
                        <a:rPr sz="1000" spc="170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10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50" spc="-7" baseline="5555" dirty="0">
                          <a:latin typeface="LM Roman 5"/>
                          <a:cs typeface="LM Roman 5"/>
                        </a:rPr>
                        <a:t>1</a:t>
                      </a:r>
                      <a:endParaRPr sz="750" baseline="5555">
                        <a:latin typeface="LM Roman 5"/>
                        <a:cs typeface="LM Roman 5"/>
                      </a:endParaRPr>
                    </a:p>
                    <a:p>
                      <a:pPr marR="92075" algn="r">
                        <a:lnSpc>
                          <a:spcPts val="430"/>
                        </a:lnSpc>
                      </a:pPr>
                      <a:r>
                        <a:rPr sz="500" i="1" dirty="0">
                          <a:latin typeface="Arial"/>
                          <a:cs typeface="Arial"/>
                        </a:rPr>
                        <a:t>p</a:t>
                      </a:r>
                      <a:endParaRPr sz="500">
                        <a:latin typeface="Arial"/>
                        <a:cs typeface="Arial"/>
                      </a:endParaRPr>
                    </a:p>
                    <a:p>
                      <a:pPr marL="110489" algn="ctr">
                        <a:lnSpc>
                          <a:spcPts val="865"/>
                        </a:lnSpc>
                      </a:pPr>
                      <a:r>
                        <a:rPr sz="1200" i="1" spc="150" baseline="-27777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600" i="1" spc="100" dirty="0">
                          <a:latin typeface="Times New Roman"/>
                          <a:cs typeface="Times New Roman"/>
                        </a:rPr>
                        <a:t>p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56210" algn="ctr">
                        <a:lnSpc>
                          <a:spcPts val="675"/>
                        </a:lnSpc>
                      </a:pPr>
                      <a:r>
                        <a:rPr sz="600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943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600" i="1" spc="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600" spc="30" dirty="0">
                          <a:latin typeface="LM Roman 6"/>
                          <a:cs typeface="LM Roman 6"/>
                        </a:rPr>
                        <a:t>=1</a:t>
                      </a:r>
                      <a:endParaRPr sz="600">
                        <a:latin typeface="LM Roman 6"/>
                        <a:cs typeface="LM Roman 6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Hölder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5" dirty="0">
                          <a:latin typeface="LM Roman 8"/>
                          <a:cs typeface="LM Roman 8"/>
                        </a:rPr>
                        <a:t>inequality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1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20" dirty="0">
                          <a:latin typeface="LM Roman 8"/>
                          <a:cs typeface="LM Roman 8"/>
                        </a:rPr>
                        <a:t>Infinity,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17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900" i="1" spc="262" baseline="27777" dirty="0">
                          <a:latin typeface="DejaVu Sans"/>
                          <a:cs typeface="DejaVu Sans"/>
                        </a:rPr>
                        <a:t>∞</a:t>
                      </a:r>
                      <a:endParaRPr sz="900" baseline="27777">
                        <a:latin typeface="DejaVu Sans"/>
                        <a:cs typeface="DejaVu Sans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i="1" spc="52" baseline="6944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1200" i="1" spc="52" baseline="6944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200" i="1" spc="52" baseline="6944" dirty="0">
                          <a:latin typeface="DejaVu Sans"/>
                          <a:cs typeface="DejaVu Sans"/>
                        </a:rPr>
                        <a:t>||</a:t>
                      </a:r>
                      <a:r>
                        <a:rPr sz="600" i="1" spc="35" dirty="0">
                          <a:latin typeface="DejaVu Sans"/>
                          <a:cs typeface="DejaVu Sans"/>
                        </a:rPr>
                        <a:t>∞</a:t>
                      </a:r>
                      <a:endParaRPr sz="600">
                        <a:latin typeface="DejaVu Sans"/>
                        <a:cs typeface="DejaVu Sans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880"/>
                        </a:lnSpc>
                        <a:spcBef>
                          <a:spcPts val="185"/>
                        </a:spcBef>
                      </a:pPr>
                      <a:r>
                        <a:rPr sz="800" spc="-5" dirty="0">
                          <a:latin typeface="LM Roman 8"/>
                          <a:cs typeface="LM Roman 8"/>
                        </a:rPr>
                        <a:t>max</a:t>
                      </a:r>
                      <a:r>
                        <a:rPr sz="800" spc="-20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i="1" spc="45" dirty="0">
                          <a:latin typeface="DejaVu Sans"/>
                          <a:cs typeface="DejaVu Sans"/>
                        </a:rPr>
                        <a:t>|</a:t>
                      </a:r>
                      <a:r>
                        <a:rPr sz="800" i="1" spc="4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900" i="1" spc="67" baseline="-9259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800" i="1" spc="45" dirty="0">
                          <a:latin typeface="DejaVu Sans"/>
                          <a:cs typeface="DejaVu Sans"/>
                        </a:rPr>
                        <a:t>|</a:t>
                      </a:r>
                      <a:endParaRPr sz="800">
                        <a:latin typeface="DejaVu Sans"/>
                        <a:cs typeface="DejaVu Sans"/>
                      </a:endParaRPr>
                    </a:p>
                    <a:p>
                      <a:pPr marR="152400" algn="ctr">
                        <a:lnSpc>
                          <a:spcPts val="640"/>
                        </a:lnSpc>
                      </a:pPr>
                      <a:r>
                        <a:rPr sz="600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spc="-10" dirty="0">
                          <a:latin typeface="LM Roman 8"/>
                          <a:cs typeface="LM Roman 8"/>
                        </a:rPr>
                        <a:t>Uniform</a:t>
                      </a:r>
                      <a:r>
                        <a:rPr sz="800" spc="-15" dirty="0">
                          <a:latin typeface="LM Roman 8"/>
                          <a:cs typeface="LM Roman 8"/>
                        </a:rPr>
                        <a:t> </a:t>
                      </a:r>
                      <a:r>
                        <a:rPr sz="800" spc="-10" dirty="0">
                          <a:latin typeface="LM Roman 8"/>
                          <a:cs typeface="LM Roman 8"/>
                        </a:rPr>
                        <a:t>convergence</a:t>
                      </a:r>
                      <a:endParaRPr sz="800">
                        <a:latin typeface="LM Roman 8"/>
                        <a:cs typeface="LM Roman 8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91299" y="2876548"/>
            <a:ext cx="4505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014" indent="-107950">
              <a:lnSpc>
                <a:spcPct val="100000"/>
              </a:lnSpc>
              <a:spcBef>
                <a:spcPts val="95"/>
              </a:spcBef>
              <a:buFont typeface="DejaVu Sans"/>
              <a:buChar char="❒"/>
              <a:tabLst>
                <a:tab pos="120650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Linearly</a:t>
            </a:r>
            <a:r>
              <a:rPr sz="800" b="1" spc="-4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dependence</a:t>
            </a:r>
            <a:r>
              <a:rPr sz="800" b="1" spc="-75" dirty="0">
                <a:solidFill>
                  <a:srgbClr val="9A0404"/>
                </a:solidFill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–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set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vectors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said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to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5" dirty="0">
                <a:latin typeface="LM Roman 8"/>
                <a:cs typeface="LM Roman 8"/>
              </a:rPr>
              <a:t>be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linearly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dependent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if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one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3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vectors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299" y="2978606"/>
            <a:ext cx="29762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in the set can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defined as a linear combination of the</a:t>
            </a:r>
            <a:r>
              <a:rPr sz="800" spc="1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others.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499" y="3064661"/>
            <a:ext cx="4607560" cy="8839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</a:t>
            </a:r>
            <a:r>
              <a:rPr sz="800" i="1" spc="5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if</a:t>
            </a:r>
            <a:r>
              <a:rPr sz="800" i="1" spc="-7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no</a:t>
            </a:r>
            <a:r>
              <a:rPr sz="800" i="1" spc="-7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vector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can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be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written</a:t>
            </a:r>
            <a:r>
              <a:rPr sz="800" i="1" spc="-7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this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way,</a:t>
            </a:r>
            <a:r>
              <a:rPr sz="800" i="1" spc="-6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then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vectors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are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said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to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be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linearly</a:t>
            </a:r>
            <a:r>
              <a:rPr sz="800" i="1" spc="-8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independent.</a:t>
            </a:r>
            <a:endParaRPr sz="800">
              <a:latin typeface="LM Roman 8"/>
              <a:cs typeface="LM Roman 8"/>
            </a:endParaRPr>
          </a:p>
          <a:p>
            <a:pPr marL="63500" marR="55244" algn="just">
              <a:lnSpc>
                <a:spcPct val="86000"/>
              </a:lnSpc>
              <a:spcBef>
                <a:spcPts val="795"/>
              </a:spcBef>
              <a:buFont typeface="DejaVu Sans"/>
              <a:buChar char="❒"/>
              <a:tabLst>
                <a:tab pos="179070" algn="l"/>
              </a:tabLst>
            </a:pPr>
            <a:r>
              <a:rPr sz="800" b="1" spc="-5" dirty="0">
                <a:solidFill>
                  <a:srgbClr val="020E86"/>
                </a:solidFill>
                <a:latin typeface="LM Roman 8"/>
                <a:cs typeface="LM Roman 8"/>
              </a:rPr>
              <a:t>Matrix rank </a:t>
            </a:r>
            <a:r>
              <a:rPr sz="800" spc="-5" dirty="0">
                <a:latin typeface="LM Roman 8"/>
                <a:cs typeface="LM Roman 8"/>
              </a:rPr>
              <a:t>– The rank of a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matrix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is noted </a:t>
            </a:r>
            <a:r>
              <a:rPr sz="800" spc="15" dirty="0">
                <a:latin typeface="LM Roman 8"/>
                <a:cs typeface="LM Roman 8"/>
              </a:rPr>
              <a:t>rank(</a:t>
            </a:r>
            <a:r>
              <a:rPr sz="800" i="1" spc="15" dirty="0">
                <a:latin typeface="Times New Roman"/>
                <a:cs typeface="Times New Roman"/>
              </a:rPr>
              <a:t>A</a:t>
            </a:r>
            <a:r>
              <a:rPr sz="800" spc="15" dirty="0">
                <a:latin typeface="LM Roman 8"/>
                <a:cs typeface="LM Roman 8"/>
              </a:rPr>
              <a:t>) </a:t>
            </a:r>
            <a:r>
              <a:rPr sz="800" spc="-5" dirty="0">
                <a:latin typeface="LM Roman 8"/>
                <a:cs typeface="LM Roman 8"/>
              </a:rPr>
              <a:t>and is the dimension of the  </a:t>
            </a:r>
            <a:r>
              <a:rPr sz="800" spc="-10" dirty="0">
                <a:latin typeface="LM Roman 8"/>
                <a:cs typeface="LM Roman 8"/>
              </a:rPr>
              <a:t>vector </a:t>
            </a:r>
            <a:r>
              <a:rPr sz="800" spc="-5" dirty="0">
                <a:latin typeface="LM Roman 8"/>
                <a:cs typeface="LM Roman 8"/>
              </a:rPr>
              <a:t>space generated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its columns. This is </a:t>
            </a:r>
            <a:r>
              <a:rPr sz="800" spc="-10" dirty="0">
                <a:latin typeface="LM Roman 8"/>
                <a:cs typeface="LM Roman 8"/>
              </a:rPr>
              <a:t>equivalent </a:t>
            </a:r>
            <a:r>
              <a:rPr sz="800" spc="-5" dirty="0">
                <a:latin typeface="LM Roman 8"/>
                <a:cs typeface="LM Roman 8"/>
              </a:rPr>
              <a:t>to the </a:t>
            </a:r>
            <a:r>
              <a:rPr sz="800" spc="-10" dirty="0">
                <a:latin typeface="LM Roman 8"/>
                <a:cs typeface="LM Roman 8"/>
              </a:rPr>
              <a:t>maximum number </a:t>
            </a:r>
            <a:r>
              <a:rPr sz="800" spc="-5" dirty="0">
                <a:latin typeface="LM Roman 8"/>
                <a:cs typeface="LM Roman 8"/>
              </a:rPr>
              <a:t>of linearly  independent columns of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i="1" spc="65" dirty="0">
                <a:latin typeface="Times New Roman"/>
                <a:cs typeface="Times New Roman"/>
              </a:rPr>
              <a:t>A</a:t>
            </a:r>
            <a:r>
              <a:rPr sz="800" spc="65" dirty="0"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63500" marR="55880" algn="just">
              <a:lnSpc>
                <a:spcPts val="850"/>
              </a:lnSpc>
              <a:spcBef>
                <a:spcPts val="840"/>
              </a:spcBef>
              <a:buFont typeface="DejaVu Sans"/>
              <a:buChar char="❒"/>
              <a:tabLst>
                <a:tab pos="180340" algn="l"/>
              </a:tabLst>
            </a:pPr>
            <a:r>
              <a:rPr sz="800" b="1" spc="-15" dirty="0">
                <a:solidFill>
                  <a:srgbClr val="9A0404"/>
                </a:solidFill>
                <a:latin typeface="LM Roman 8"/>
                <a:cs typeface="LM Roman 8"/>
              </a:rPr>
              <a:t>Positive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semi-definite </a:t>
            </a: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matrix </a:t>
            </a:r>
            <a:r>
              <a:rPr sz="800" spc="-5" dirty="0">
                <a:latin typeface="LM Roman 8"/>
                <a:cs typeface="LM Roman 8"/>
              </a:rPr>
              <a:t>– A matrix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95" dirty="0">
                <a:latin typeface="MathJax_AMS"/>
                <a:cs typeface="MathJax_AMS"/>
              </a:rPr>
              <a:t>R</a:t>
            </a:r>
            <a:r>
              <a:rPr sz="900" i="1" spc="142" baseline="27777" dirty="0">
                <a:latin typeface="Times New Roman"/>
                <a:cs typeface="Times New Roman"/>
              </a:rPr>
              <a:t>n</a:t>
            </a:r>
            <a:r>
              <a:rPr sz="900" i="1" spc="142" baseline="27777" dirty="0">
                <a:latin typeface="DejaVu Sans"/>
                <a:cs typeface="DejaVu Sans"/>
              </a:rPr>
              <a:t>×</a:t>
            </a:r>
            <a:r>
              <a:rPr sz="900" i="1" spc="142" baseline="27777" dirty="0">
                <a:latin typeface="Times New Roman"/>
                <a:cs typeface="Times New Roman"/>
              </a:rPr>
              <a:t>n </a:t>
            </a:r>
            <a:r>
              <a:rPr sz="800" spc="-5" dirty="0">
                <a:latin typeface="LM Roman 8"/>
                <a:cs typeface="LM Roman 8"/>
              </a:rPr>
              <a:t>is positive semi-definite (PSD) and  is noted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i="1" spc="-15" dirty="0">
                <a:latin typeface="DejaVu Sans"/>
                <a:cs typeface="DejaVu Sans"/>
              </a:rPr>
              <a:t>≤ </a:t>
            </a:r>
            <a:r>
              <a:rPr sz="800" spc="-5" dirty="0">
                <a:latin typeface="LM Roman 8"/>
                <a:cs typeface="LM Roman 8"/>
              </a:rPr>
              <a:t>0 if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125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43595" y="3992092"/>
            <a:ext cx="791845" cy="17526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  <a:tabLst>
                <a:tab pos="605155" algn="l"/>
              </a:tabLst>
            </a:pP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3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140" dirty="0">
                <a:latin typeface="Times New Roman"/>
                <a:cs typeface="Times New Roman"/>
              </a:rPr>
              <a:t>A</a:t>
            </a:r>
            <a:r>
              <a:rPr sz="900" i="1" spc="150" baseline="32407" dirty="0">
                <a:latin typeface="Times New Roman"/>
                <a:cs typeface="Times New Roman"/>
              </a:rPr>
              <a:t>T</a:t>
            </a:r>
            <a:r>
              <a:rPr sz="900" i="1" baseline="32407" dirty="0">
                <a:latin typeface="Times New Roman"/>
                <a:cs typeface="Times New Roman"/>
              </a:rPr>
              <a:t>	</a:t>
            </a:r>
            <a:r>
              <a:rPr sz="800" spc="-5" dirty="0">
                <a:latin typeface="LM Roman 8"/>
                <a:cs typeface="LM Roman 8"/>
              </a:rPr>
              <a:t>and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8333" y="3992092"/>
            <a:ext cx="1076325" cy="1949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800" i="1" spc="20" dirty="0">
                <a:latin typeface="DejaVu Sans"/>
                <a:cs typeface="DejaVu Sans"/>
              </a:rPr>
              <a:t>∀</a:t>
            </a:r>
            <a:r>
              <a:rPr sz="800" i="1" spc="20" dirty="0">
                <a:latin typeface="Times New Roman"/>
                <a:cs typeface="Times New Roman"/>
              </a:rPr>
              <a:t>x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75" dirty="0">
                <a:latin typeface="MathJax_AMS"/>
                <a:cs typeface="MathJax_AMS"/>
              </a:rPr>
              <a:t>R</a:t>
            </a:r>
            <a:r>
              <a:rPr sz="900" i="1" spc="112" baseline="32407" dirty="0">
                <a:latin typeface="Times New Roman"/>
                <a:cs typeface="Times New Roman"/>
              </a:rPr>
              <a:t>n</a:t>
            </a:r>
            <a:r>
              <a:rPr sz="800" i="1" spc="75" dirty="0">
                <a:latin typeface="Times New Roman"/>
                <a:cs typeface="Times New Roman"/>
              </a:rPr>
              <a:t>, </a:t>
            </a:r>
            <a:r>
              <a:rPr sz="800" i="1" spc="105" dirty="0">
                <a:latin typeface="Times New Roman"/>
                <a:cs typeface="Times New Roman"/>
              </a:rPr>
              <a:t>x</a:t>
            </a:r>
            <a:r>
              <a:rPr sz="900" i="1" spc="157" baseline="32407" dirty="0">
                <a:latin typeface="Times New Roman"/>
                <a:cs typeface="Times New Roman"/>
              </a:rPr>
              <a:t>T </a:t>
            </a:r>
            <a:r>
              <a:rPr sz="800" i="1" spc="130" dirty="0">
                <a:latin typeface="Times New Roman"/>
                <a:cs typeface="Times New Roman"/>
              </a:rPr>
              <a:t>Ax </a:t>
            </a:r>
            <a:r>
              <a:rPr sz="800" spc="335" dirty="0">
                <a:latin typeface="RobotoRegular"/>
                <a:cs typeface="RobotoRegular"/>
              </a:rPr>
              <a:t>“</a:t>
            </a:r>
            <a:r>
              <a:rPr sz="800" spc="-75" dirty="0">
                <a:latin typeface="RobotoRegular"/>
                <a:cs typeface="RobotoRegular"/>
              </a:rPr>
              <a:t> </a:t>
            </a:r>
            <a:r>
              <a:rPr sz="800" spc="-5" dirty="0">
                <a:latin typeface="LM Roman 8"/>
                <a:cs typeface="LM Roman 8"/>
              </a:rPr>
              <a:t>0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7799" y="4248250"/>
            <a:ext cx="4620260" cy="58928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76200" marR="55244">
              <a:lnSpc>
                <a:spcPts val="940"/>
              </a:lnSpc>
              <a:spcBef>
                <a:spcPts val="14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similarly,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matrix </a:t>
            </a:r>
            <a:r>
              <a:rPr sz="800" i="1" spc="145" dirty="0">
                <a:solidFill>
                  <a:srgbClr val="59439A"/>
                </a:solidFill>
                <a:latin typeface="Times New Roman"/>
                <a:cs typeface="Times New Roman"/>
              </a:rPr>
              <a:t>A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said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to </a:t>
            </a:r>
            <a:r>
              <a:rPr sz="800" i="1" spc="-25" dirty="0">
                <a:solidFill>
                  <a:srgbClr val="59439A"/>
                </a:solidFill>
                <a:latin typeface="LM Roman 8"/>
                <a:cs typeface="LM Roman 8"/>
              </a:rPr>
              <a:t>be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positive definite,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and is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noted </a:t>
            </a:r>
            <a:r>
              <a:rPr sz="800" i="1" spc="145" dirty="0">
                <a:solidFill>
                  <a:srgbClr val="59439A"/>
                </a:solidFill>
                <a:latin typeface="Times New Roman"/>
                <a:cs typeface="Times New Roman"/>
              </a:rPr>
              <a:t>A </a:t>
            </a:r>
            <a:r>
              <a:rPr sz="800" i="1" spc="345" dirty="0">
                <a:solidFill>
                  <a:srgbClr val="59439A"/>
                </a:solidFill>
                <a:latin typeface="DejaVu Sans"/>
                <a:cs typeface="DejaVu Sans"/>
              </a:rPr>
              <a:t>)</a:t>
            </a:r>
            <a:r>
              <a:rPr sz="800" i="1" spc="-125" dirty="0">
                <a:solidFill>
                  <a:srgbClr val="59439A"/>
                </a:solidFill>
                <a:latin typeface="DejaVu Sans"/>
                <a:cs typeface="DejaVu Sans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0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, if it is a PSD 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matrix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 which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satisfies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 for </a:t>
            </a:r>
            <a:r>
              <a:rPr sz="800" i="1" spc="15" dirty="0">
                <a:solidFill>
                  <a:srgbClr val="59439A"/>
                </a:solidFill>
                <a:latin typeface="LM Roman 8"/>
                <a:cs typeface="LM Roman 8"/>
              </a:rPr>
              <a:t>all</a:t>
            </a:r>
            <a:r>
              <a:rPr sz="800" i="1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non-zero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vector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60" dirty="0">
                <a:solidFill>
                  <a:srgbClr val="59439A"/>
                </a:solidFill>
                <a:latin typeface="Times New Roman"/>
                <a:cs typeface="Times New Roman"/>
              </a:rPr>
              <a:t>x</a:t>
            </a:r>
            <a:r>
              <a:rPr sz="800" i="1" spc="60" dirty="0">
                <a:solidFill>
                  <a:srgbClr val="59439A"/>
                </a:solidFill>
                <a:latin typeface="LM Roman 8"/>
                <a:cs typeface="LM Roman 8"/>
              </a:rPr>
              <a:t>,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110" dirty="0">
                <a:solidFill>
                  <a:srgbClr val="59439A"/>
                </a:solidFill>
                <a:latin typeface="Times New Roman"/>
                <a:cs typeface="Times New Roman"/>
              </a:rPr>
              <a:t>x</a:t>
            </a:r>
            <a:r>
              <a:rPr sz="900" i="1" spc="165" baseline="27777" dirty="0">
                <a:solidFill>
                  <a:srgbClr val="59439A"/>
                </a:solidFill>
                <a:latin typeface="Times New Roman"/>
                <a:cs typeface="Times New Roman"/>
              </a:rPr>
              <a:t>T</a:t>
            </a:r>
            <a:r>
              <a:rPr sz="900" i="1" spc="-7" baseline="27777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i="1" spc="130" dirty="0">
                <a:solidFill>
                  <a:srgbClr val="59439A"/>
                </a:solidFill>
                <a:latin typeface="Times New Roman"/>
                <a:cs typeface="Times New Roman"/>
              </a:rPr>
              <a:t>Ax</a:t>
            </a:r>
            <a:r>
              <a:rPr sz="800" i="1" spc="40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i="1" spc="114" dirty="0">
                <a:solidFill>
                  <a:srgbClr val="59439A"/>
                </a:solidFill>
                <a:latin typeface="Times New Roman"/>
                <a:cs typeface="Times New Roman"/>
              </a:rPr>
              <a:t>&gt;</a:t>
            </a:r>
            <a:r>
              <a:rPr sz="800" i="1" spc="35" dirty="0">
                <a:solidFill>
                  <a:srgbClr val="59439A"/>
                </a:solidFill>
                <a:latin typeface="Times New Roman"/>
                <a:cs typeface="Times New Roman"/>
              </a:rPr>
              <a:t> </a:t>
            </a:r>
            <a:r>
              <a:rPr sz="800" spc="-5" dirty="0">
                <a:solidFill>
                  <a:srgbClr val="59439A"/>
                </a:solidFill>
                <a:latin typeface="LM Roman 8"/>
                <a:cs typeface="LM Roman 8"/>
              </a:rPr>
              <a:t>0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.</a:t>
            </a:r>
            <a:endParaRPr sz="800">
              <a:latin typeface="LM Roman 8"/>
              <a:cs typeface="LM Roman 8"/>
            </a:endParaRPr>
          </a:p>
          <a:p>
            <a:pPr marL="76200" marR="55880">
              <a:lnSpc>
                <a:spcPts val="850"/>
              </a:lnSpc>
              <a:spcBef>
                <a:spcPts val="819"/>
              </a:spcBef>
              <a:buFont typeface="DejaVu Sans"/>
              <a:buChar char="❒"/>
              <a:tabLst>
                <a:tab pos="189230" algn="l"/>
              </a:tabLst>
            </a:pPr>
            <a:r>
              <a:rPr sz="800" b="1" spc="-15" dirty="0">
                <a:solidFill>
                  <a:srgbClr val="020E86"/>
                </a:solidFill>
                <a:latin typeface="LM Roman 8"/>
                <a:cs typeface="LM Roman 8"/>
              </a:rPr>
              <a:t>Eigenvalue, </a:t>
            </a: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eigenvector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a matrix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85" dirty="0">
                <a:latin typeface="MathJax_AMS"/>
                <a:cs typeface="MathJax_AMS"/>
              </a:rPr>
              <a:t>R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900" i="1" spc="127" baseline="27777" dirty="0">
                <a:latin typeface="DejaVu Sans"/>
                <a:cs typeface="DejaVu Sans"/>
              </a:rPr>
              <a:t>×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800" spc="85" dirty="0">
                <a:latin typeface="LM Roman 8"/>
                <a:cs typeface="LM Roman 8"/>
              </a:rPr>
              <a:t>, </a:t>
            </a:r>
            <a:r>
              <a:rPr sz="800" i="1" spc="145" dirty="0">
                <a:latin typeface="Times New Roman"/>
                <a:cs typeface="Times New Roman"/>
              </a:rPr>
              <a:t>λ </a:t>
            </a:r>
            <a:r>
              <a:rPr sz="800" spc="-5" dirty="0">
                <a:latin typeface="LM Roman 8"/>
                <a:cs typeface="LM Roman 8"/>
              </a:rPr>
              <a:t>is said to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an </a:t>
            </a:r>
            <a:r>
              <a:rPr sz="800" spc="-10" dirty="0">
                <a:latin typeface="LM Roman 8"/>
                <a:cs typeface="LM Roman 8"/>
              </a:rPr>
              <a:t>eigenvalue </a:t>
            </a:r>
            <a:r>
              <a:rPr sz="800" spc="-5" dirty="0">
                <a:latin typeface="LM Roman 8"/>
                <a:cs typeface="LM Roman 8"/>
              </a:rPr>
              <a:t>of </a:t>
            </a: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-7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if  there exists a </a:t>
            </a:r>
            <a:r>
              <a:rPr sz="800" spc="-10" dirty="0">
                <a:latin typeface="LM Roman 8"/>
                <a:cs typeface="LM Roman 8"/>
              </a:rPr>
              <a:t>vector </a:t>
            </a:r>
            <a:r>
              <a:rPr sz="800" i="1" spc="80" dirty="0">
                <a:latin typeface="Times New Roman"/>
                <a:cs typeface="Times New Roman"/>
              </a:rPr>
              <a:t>z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25" dirty="0">
                <a:latin typeface="MathJax_AMS"/>
                <a:cs typeface="MathJax_AMS"/>
              </a:rPr>
              <a:t>R</a:t>
            </a:r>
            <a:r>
              <a:rPr sz="900" i="1" spc="37" baseline="27777" dirty="0">
                <a:latin typeface="Times New Roman"/>
                <a:cs typeface="Times New Roman"/>
              </a:rPr>
              <a:t>n</a:t>
            </a:r>
            <a:r>
              <a:rPr sz="800" i="1" spc="25" dirty="0">
                <a:latin typeface="DejaVu Sans"/>
                <a:cs typeface="DejaVu Sans"/>
              </a:rPr>
              <a:t>\{</a:t>
            </a:r>
            <a:r>
              <a:rPr sz="800" spc="25" dirty="0">
                <a:latin typeface="LM Roman 8"/>
                <a:cs typeface="LM Roman 8"/>
              </a:rPr>
              <a:t>0</a:t>
            </a:r>
            <a:r>
              <a:rPr sz="800" i="1" spc="25" dirty="0">
                <a:latin typeface="DejaVu Sans"/>
                <a:cs typeface="DejaVu Sans"/>
              </a:rPr>
              <a:t>}</a:t>
            </a:r>
            <a:r>
              <a:rPr sz="800" spc="25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called </a:t>
            </a:r>
            <a:r>
              <a:rPr sz="800" spc="-10" dirty="0">
                <a:latin typeface="LM Roman 8"/>
                <a:cs typeface="LM Roman 8"/>
              </a:rPr>
              <a:t>eigenvector, such </a:t>
            </a:r>
            <a:r>
              <a:rPr sz="800" spc="-5" dirty="0">
                <a:latin typeface="LM Roman 8"/>
                <a:cs typeface="LM Roman 8"/>
              </a:rPr>
              <a:t>that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1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05836" y="4880876"/>
            <a:ext cx="476884" cy="15176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70"/>
              </a:spcBef>
            </a:pPr>
            <a:r>
              <a:rPr sz="800" i="1" spc="110" dirty="0">
                <a:latin typeface="Times New Roman"/>
                <a:cs typeface="Times New Roman"/>
              </a:rPr>
              <a:t>Az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50" dirty="0">
                <a:latin typeface="LM Roman 8"/>
                <a:cs typeface="LM Roman 8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λz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3199" y="5201855"/>
            <a:ext cx="4582160" cy="26352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50800" marR="43180">
              <a:lnSpc>
                <a:spcPts val="919"/>
              </a:lnSpc>
              <a:spcBef>
                <a:spcPts val="160"/>
              </a:spcBef>
              <a:buFont typeface="DejaVu Sans"/>
              <a:buChar char="❒"/>
              <a:tabLst>
                <a:tab pos="167640" algn="l"/>
              </a:tabLst>
            </a:pPr>
            <a:r>
              <a:rPr sz="800" b="1" dirty="0">
                <a:solidFill>
                  <a:srgbClr val="9A0404"/>
                </a:solidFill>
                <a:latin typeface="LM Roman 8"/>
                <a:cs typeface="LM Roman 8"/>
              </a:rPr>
              <a:t>Spectral </a:t>
            </a:r>
            <a:r>
              <a:rPr sz="800" b="1" spc="-5" dirty="0">
                <a:solidFill>
                  <a:srgbClr val="9A0404"/>
                </a:solidFill>
                <a:latin typeface="LM Roman 8"/>
                <a:cs typeface="LM Roman 8"/>
              </a:rPr>
              <a:t>theorem </a:t>
            </a:r>
            <a:r>
              <a:rPr sz="800" spc="-5" dirty="0">
                <a:latin typeface="LM Roman 8"/>
                <a:cs typeface="LM Roman 8"/>
              </a:rPr>
              <a:t>– Let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85" dirty="0">
                <a:latin typeface="MathJax_AMS"/>
                <a:cs typeface="MathJax_AMS"/>
              </a:rPr>
              <a:t>R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900" i="1" spc="127" baseline="27777" dirty="0">
                <a:latin typeface="DejaVu Sans"/>
                <a:cs typeface="DejaVu Sans"/>
              </a:rPr>
              <a:t>×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800" spc="85" dirty="0">
                <a:latin typeface="LM Roman 8"/>
                <a:cs typeface="LM Roman 8"/>
              </a:rPr>
              <a:t>. </a:t>
            </a:r>
            <a:r>
              <a:rPr sz="800" spc="-5" dirty="0">
                <a:latin typeface="LM Roman 8"/>
                <a:cs typeface="LM Roman 8"/>
              </a:rPr>
              <a:t>If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is symmetric, then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is diagonalizable </a:t>
            </a:r>
            <a:r>
              <a:rPr sz="800" spc="-15" dirty="0">
                <a:latin typeface="LM Roman 8"/>
                <a:cs typeface="LM Roman 8"/>
              </a:rPr>
              <a:t>by </a:t>
            </a:r>
            <a:r>
              <a:rPr sz="800" spc="-5" dirty="0">
                <a:latin typeface="LM Roman 8"/>
                <a:cs typeface="LM Roman 8"/>
              </a:rPr>
              <a:t>a real  orthogonal matrix </a:t>
            </a:r>
            <a:r>
              <a:rPr sz="800" i="1" spc="-5" dirty="0">
                <a:latin typeface="Times New Roman"/>
                <a:cs typeface="Times New Roman"/>
              </a:rPr>
              <a:t>U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85" dirty="0">
                <a:latin typeface="MathJax_AMS"/>
                <a:cs typeface="MathJax_AMS"/>
              </a:rPr>
              <a:t>R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900" i="1" spc="127" baseline="27777" dirty="0">
                <a:latin typeface="DejaVu Sans"/>
                <a:cs typeface="DejaVu Sans"/>
              </a:rPr>
              <a:t>×</a:t>
            </a:r>
            <a:r>
              <a:rPr sz="900" i="1" spc="127" baseline="27777" dirty="0">
                <a:latin typeface="Times New Roman"/>
                <a:cs typeface="Times New Roman"/>
              </a:rPr>
              <a:t>n</a:t>
            </a:r>
            <a:r>
              <a:rPr sz="800" spc="85" dirty="0">
                <a:latin typeface="LM Roman 8"/>
                <a:cs typeface="LM Roman 8"/>
              </a:rPr>
              <a:t>. </a:t>
            </a:r>
            <a:r>
              <a:rPr sz="800" spc="-5" dirty="0">
                <a:latin typeface="LM Roman 8"/>
                <a:cs typeface="LM Roman 8"/>
              </a:rPr>
              <a:t>By noting Λ = </a:t>
            </a:r>
            <a:r>
              <a:rPr sz="800" spc="40" dirty="0">
                <a:latin typeface="LM Roman 8"/>
                <a:cs typeface="LM Roman 8"/>
              </a:rPr>
              <a:t>diag(</a:t>
            </a:r>
            <a:r>
              <a:rPr sz="800" i="1" spc="40" dirty="0">
                <a:latin typeface="Times New Roman"/>
                <a:cs typeface="Times New Roman"/>
              </a:rPr>
              <a:t>λ</a:t>
            </a:r>
            <a:r>
              <a:rPr sz="900" spc="60" baseline="-9259" dirty="0">
                <a:latin typeface="LM Roman 6"/>
                <a:cs typeface="LM Roman 6"/>
              </a:rPr>
              <a:t>1</a:t>
            </a:r>
            <a:r>
              <a:rPr sz="800" i="1" spc="40" dirty="0">
                <a:latin typeface="Times New Roman"/>
                <a:cs typeface="Times New Roman"/>
              </a:rPr>
              <a:t>,...,λ</a:t>
            </a:r>
            <a:r>
              <a:rPr sz="900" i="1" spc="60" baseline="-9259" dirty="0">
                <a:latin typeface="Times New Roman"/>
                <a:cs typeface="Times New Roman"/>
              </a:rPr>
              <a:t>n</a:t>
            </a:r>
            <a:r>
              <a:rPr sz="800" spc="40" dirty="0">
                <a:latin typeface="LM Roman 8"/>
                <a:cs typeface="LM Roman 8"/>
              </a:rPr>
              <a:t>), </a:t>
            </a:r>
            <a:r>
              <a:rPr sz="800" spc="-15" dirty="0">
                <a:latin typeface="LM Roman 8"/>
                <a:cs typeface="LM Roman 8"/>
              </a:rPr>
              <a:t>we</a:t>
            </a:r>
            <a:r>
              <a:rPr sz="800" spc="-190" dirty="0">
                <a:latin typeface="LM Roman 8"/>
                <a:cs typeface="LM Roman 8"/>
              </a:rPr>
              <a:t> </a:t>
            </a:r>
            <a:r>
              <a:rPr sz="800" spc="-15" dirty="0">
                <a:latin typeface="LM Roman 8"/>
                <a:cs typeface="LM Roman 8"/>
              </a:rPr>
              <a:t>have: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82634" y="5508993"/>
            <a:ext cx="1322705" cy="1949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800" i="1" spc="-20" dirty="0">
                <a:latin typeface="DejaVu Sans"/>
                <a:cs typeface="DejaVu Sans"/>
              </a:rPr>
              <a:t>∃</a:t>
            </a:r>
            <a:r>
              <a:rPr sz="800" spc="-20" dirty="0">
                <a:latin typeface="LM Roman 8"/>
                <a:cs typeface="LM Roman 8"/>
              </a:rPr>
              <a:t>Λ </a:t>
            </a:r>
            <a:r>
              <a:rPr sz="800" dirty="0">
                <a:latin typeface="LM Roman 8"/>
                <a:cs typeface="LM Roman 8"/>
              </a:rPr>
              <a:t>diagonal</a:t>
            </a:r>
            <a:r>
              <a:rPr sz="800" i="1" dirty="0">
                <a:latin typeface="Times New Roman"/>
                <a:cs typeface="Times New Roman"/>
              </a:rPr>
              <a:t>, </a:t>
            </a: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-12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-5" dirty="0">
                <a:latin typeface="Times New Roman"/>
                <a:cs typeface="Times New Roman"/>
              </a:rPr>
              <a:t>U </a:t>
            </a:r>
            <a:r>
              <a:rPr sz="800" spc="55" dirty="0">
                <a:latin typeface="LM Roman 8"/>
                <a:cs typeface="LM Roman 8"/>
              </a:rPr>
              <a:t>Λ</a:t>
            </a:r>
            <a:r>
              <a:rPr sz="800" i="1" spc="55" dirty="0">
                <a:latin typeface="Times New Roman"/>
                <a:cs typeface="Times New Roman"/>
              </a:rPr>
              <a:t>U</a:t>
            </a:r>
            <a:r>
              <a:rPr sz="900" i="1" spc="82" baseline="32407" dirty="0">
                <a:latin typeface="Times New Roman"/>
                <a:cs typeface="Times New Roman"/>
              </a:rPr>
              <a:t>T</a:t>
            </a:r>
            <a:endParaRPr sz="900" baseline="3240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1299" y="5859969"/>
            <a:ext cx="4505960" cy="36322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algn="just">
              <a:lnSpc>
                <a:spcPct val="88600"/>
              </a:lnSpc>
              <a:spcBef>
                <a:spcPts val="204"/>
              </a:spcBef>
              <a:buFont typeface="DejaVu Sans"/>
              <a:buChar char="❒"/>
              <a:tabLst>
                <a:tab pos="125730" algn="l"/>
              </a:tabLst>
            </a:pPr>
            <a:r>
              <a:rPr sz="800" b="1" spc="-10" dirty="0">
                <a:solidFill>
                  <a:srgbClr val="0C6C04"/>
                </a:solidFill>
                <a:latin typeface="LM Roman 8"/>
                <a:cs typeface="LM Roman 8"/>
              </a:rPr>
              <a:t>Singular-value </a:t>
            </a:r>
            <a:r>
              <a:rPr sz="800" b="1" spc="-5" dirty="0">
                <a:solidFill>
                  <a:srgbClr val="0C6C04"/>
                </a:solidFill>
                <a:latin typeface="LM Roman 8"/>
                <a:cs typeface="LM Roman 8"/>
              </a:rPr>
              <a:t>decomposition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30" dirty="0">
                <a:latin typeface="LM Roman 8"/>
                <a:cs typeface="LM Roman 8"/>
              </a:rPr>
              <a:t>For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spc="-10" dirty="0">
                <a:latin typeface="LM Roman 8"/>
                <a:cs typeface="LM Roman 8"/>
              </a:rPr>
              <a:t>given </a:t>
            </a:r>
            <a:r>
              <a:rPr sz="800" spc="-5" dirty="0">
                <a:latin typeface="LM Roman 8"/>
                <a:cs typeface="LM Roman 8"/>
              </a:rPr>
              <a:t>matrix </a:t>
            </a:r>
            <a:r>
              <a:rPr sz="800" i="1" spc="145" dirty="0">
                <a:latin typeface="Times New Roman"/>
                <a:cs typeface="Times New Roman"/>
              </a:rPr>
              <a:t>A </a:t>
            </a:r>
            <a:r>
              <a:rPr sz="800" spc="-5" dirty="0">
                <a:latin typeface="LM Roman 8"/>
                <a:cs typeface="LM Roman 8"/>
              </a:rPr>
              <a:t>of dimensions </a:t>
            </a:r>
            <a:r>
              <a:rPr sz="800" i="1" spc="170" dirty="0">
                <a:latin typeface="Times New Roman"/>
                <a:cs typeface="Times New Roman"/>
              </a:rPr>
              <a:t>m</a:t>
            </a:r>
            <a:r>
              <a:rPr sz="800" i="1" spc="-105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× </a:t>
            </a:r>
            <a:r>
              <a:rPr sz="800" i="1" spc="50" dirty="0">
                <a:latin typeface="Times New Roman"/>
                <a:cs typeface="Times New Roman"/>
              </a:rPr>
              <a:t>n</a:t>
            </a:r>
            <a:r>
              <a:rPr sz="800" spc="50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the singular-  </a:t>
            </a:r>
            <a:r>
              <a:rPr sz="800" spc="-15" dirty="0">
                <a:latin typeface="LM Roman 8"/>
                <a:cs typeface="LM Roman 8"/>
              </a:rPr>
              <a:t>value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decomposition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(SVD)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factorization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technique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guarantees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the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existence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of</a:t>
            </a:r>
            <a:r>
              <a:rPr sz="800" spc="-50" dirty="0">
                <a:latin typeface="LM Roman 8"/>
                <a:cs typeface="LM Roman 8"/>
              </a:rPr>
              <a:t> </a:t>
            </a:r>
            <a:r>
              <a:rPr sz="800" i="1" spc="-5" dirty="0">
                <a:latin typeface="Times New Roman"/>
                <a:cs typeface="Times New Roman"/>
              </a:rPr>
              <a:t>U</a:t>
            </a:r>
            <a:r>
              <a:rPr sz="800" i="1" spc="120" dirty="0">
                <a:latin typeface="Times New Roman"/>
                <a:cs typeface="Times New Roman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m</a:t>
            </a:r>
            <a:r>
              <a:rPr sz="800" i="1" spc="110" dirty="0">
                <a:latin typeface="DejaVu Sans"/>
                <a:cs typeface="DejaVu Sans"/>
              </a:rPr>
              <a:t>×</a:t>
            </a:r>
            <a:r>
              <a:rPr sz="800" i="1" spc="-190" dirty="0">
                <a:latin typeface="DejaVu Sans"/>
                <a:cs typeface="DejaVu Sans"/>
              </a:rPr>
              <a:t> </a:t>
            </a:r>
            <a:r>
              <a:rPr sz="800" i="1" spc="170" dirty="0">
                <a:latin typeface="Times New Roman"/>
                <a:cs typeface="Times New Roman"/>
              </a:rPr>
              <a:t>m  </a:t>
            </a:r>
            <a:r>
              <a:rPr sz="800" spc="-15" dirty="0">
                <a:latin typeface="LM Roman 8"/>
                <a:cs typeface="LM Roman 8"/>
              </a:rPr>
              <a:t>unitary,</a:t>
            </a:r>
            <a:r>
              <a:rPr sz="800" spc="-5" dirty="0">
                <a:latin typeface="LM Roman 8"/>
                <a:cs typeface="LM Roman 8"/>
              </a:rPr>
              <a:t> Σ </a:t>
            </a:r>
            <a:r>
              <a:rPr sz="800" i="1" spc="170" dirty="0">
                <a:latin typeface="Times New Roman"/>
                <a:cs typeface="Times New Roman"/>
              </a:rPr>
              <a:t>m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×</a:t>
            </a:r>
            <a:r>
              <a:rPr sz="800" i="1" spc="-65" dirty="0">
                <a:latin typeface="DejaVu Sans"/>
                <a:cs typeface="DejaVu Sans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n</a:t>
            </a:r>
            <a:r>
              <a:rPr sz="800" i="1" spc="8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diagonal and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i="1" dirty="0">
                <a:latin typeface="Times New Roman"/>
                <a:cs typeface="Times New Roman"/>
              </a:rPr>
              <a:t>V</a:t>
            </a:r>
            <a:r>
              <a:rPr sz="800" i="1" spc="70" dirty="0">
                <a:latin typeface="Times New Roman"/>
                <a:cs typeface="Times New Roman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n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×</a:t>
            </a:r>
            <a:r>
              <a:rPr sz="800" i="1" spc="-65" dirty="0">
                <a:latin typeface="DejaVu Sans"/>
                <a:cs typeface="DejaVu Sans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n</a:t>
            </a:r>
            <a:r>
              <a:rPr sz="800" i="1" spc="8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unitary matrices,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-5" dirty="0">
                <a:latin typeface="LM Roman 8"/>
                <a:cs typeface="LM Roman 8"/>
              </a:rPr>
              <a:t> that: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30564" y="6266497"/>
            <a:ext cx="627380" cy="17526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1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i="1" spc="-5" dirty="0">
                <a:latin typeface="Times New Roman"/>
                <a:cs typeface="Times New Roman"/>
              </a:rPr>
              <a:t>U</a:t>
            </a:r>
            <a:r>
              <a:rPr sz="800" i="1" spc="-130" dirty="0">
                <a:latin typeface="Times New Roman"/>
                <a:cs typeface="Times New Roman"/>
              </a:rPr>
              <a:t> </a:t>
            </a:r>
            <a:r>
              <a:rPr sz="800" dirty="0">
                <a:latin typeface="LM Roman 8"/>
                <a:cs typeface="LM Roman 8"/>
              </a:rPr>
              <a:t>Σ</a:t>
            </a:r>
            <a:r>
              <a:rPr sz="800" i="1" dirty="0">
                <a:latin typeface="Times New Roman"/>
                <a:cs typeface="Times New Roman"/>
              </a:rPr>
              <a:t>V</a:t>
            </a:r>
            <a:r>
              <a:rPr sz="800" i="1" spc="-25" dirty="0">
                <a:latin typeface="Times New Roman"/>
                <a:cs typeface="Times New Roman"/>
              </a:rPr>
              <a:t> </a:t>
            </a:r>
            <a:r>
              <a:rPr sz="900" i="1" spc="150" baseline="32407" dirty="0">
                <a:latin typeface="Times New Roman"/>
                <a:cs typeface="Times New Roman"/>
              </a:rPr>
              <a:t>T</a:t>
            </a:r>
            <a:endParaRPr sz="900" baseline="32407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5899" y="6622638"/>
            <a:ext cx="454533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95"/>
              </a:lnSpc>
              <a:tabLst>
                <a:tab pos="482600" algn="l"/>
              </a:tabLst>
            </a:pPr>
            <a:r>
              <a:rPr sz="1000" b="1" spc="-5" dirty="0">
                <a:latin typeface="LM Roman 10"/>
                <a:cs typeface="LM Roman 10"/>
              </a:rPr>
              <a:t>5.2.4	</a:t>
            </a:r>
            <a:r>
              <a:rPr sz="900" b="1" spc="-10" dirty="0">
                <a:latin typeface="LM Roman 9"/>
                <a:cs typeface="LM Roman 9"/>
              </a:rPr>
              <a:t>Matrix calculus</a:t>
            </a:r>
            <a:endParaRPr sz="900">
              <a:latin typeface="LM Roman 9"/>
              <a:cs typeface="LM Roman 9"/>
            </a:endParaRPr>
          </a:p>
          <a:p>
            <a:pPr marL="149225" indent="-111760">
              <a:lnSpc>
                <a:spcPct val="100000"/>
              </a:lnSpc>
              <a:spcBef>
                <a:spcPts val="815"/>
              </a:spcBef>
              <a:buFont typeface="DejaVu Sans"/>
              <a:buChar char="❒"/>
              <a:tabLst>
                <a:tab pos="149860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Gradient </a:t>
            </a:r>
            <a:r>
              <a:rPr sz="800" spc="-5" dirty="0">
                <a:latin typeface="LM Roman 8"/>
                <a:cs typeface="LM Roman 8"/>
              </a:rPr>
              <a:t>– Let </a:t>
            </a:r>
            <a:r>
              <a:rPr sz="800" i="1" spc="180" dirty="0">
                <a:latin typeface="Times New Roman"/>
                <a:cs typeface="Times New Roman"/>
              </a:rPr>
              <a:t>f 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spc="110" dirty="0">
                <a:latin typeface="MathJax_AMS"/>
                <a:cs typeface="MathJax_AMS"/>
              </a:rPr>
              <a:t>R</a:t>
            </a:r>
            <a:r>
              <a:rPr sz="900" i="1" spc="165" baseline="27777" dirty="0">
                <a:latin typeface="Times New Roman"/>
                <a:cs typeface="Times New Roman"/>
              </a:rPr>
              <a:t>m</a:t>
            </a:r>
            <a:r>
              <a:rPr sz="900" i="1" spc="165" baseline="27777" dirty="0">
                <a:latin typeface="DejaVu Sans"/>
                <a:cs typeface="DejaVu Sans"/>
              </a:rPr>
              <a:t>×</a:t>
            </a:r>
            <a:r>
              <a:rPr sz="900" i="1" spc="165" baseline="27777" dirty="0">
                <a:latin typeface="Times New Roman"/>
                <a:cs typeface="Times New Roman"/>
              </a:rPr>
              <a:t>n </a:t>
            </a:r>
            <a:r>
              <a:rPr sz="800" i="1" spc="175" dirty="0">
                <a:latin typeface="DejaVu Sans"/>
                <a:cs typeface="DejaVu Sans"/>
              </a:rPr>
              <a:t>→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-100" dirty="0">
                <a:latin typeface="Times New Roman"/>
                <a:cs typeface="Times New Roman"/>
              </a:rPr>
              <a:t>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110" dirty="0">
                <a:latin typeface="MathJax_AMS"/>
                <a:cs typeface="MathJax_AMS"/>
              </a:rPr>
              <a:t>R</a:t>
            </a:r>
            <a:r>
              <a:rPr sz="900" i="1" spc="165" baseline="27777" dirty="0">
                <a:latin typeface="Times New Roman"/>
                <a:cs typeface="Times New Roman"/>
              </a:rPr>
              <a:t>m</a:t>
            </a:r>
            <a:r>
              <a:rPr sz="900" i="1" spc="165" baseline="27777" dirty="0">
                <a:latin typeface="DejaVu Sans"/>
                <a:cs typeface="DejaVu Sans"/>
              </a:rPr>
              <a:t>×</a:t>
            </a:r>
            <a:r>
              <a:rPr sz="900" i="1" spc="165" baseline="27777" dirty="0">
                <a:latin typeface="Times New Roman"/>
                <a:cs typeface="Times New Roman"/>
              </a:rPr>
              <a:t>n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a matrix. The gradient of </a:t>
            </a:r>
            <a:r>
              <a:rPr sz="800" i="1" spc="180" dirty="0">
                <a:latin typeface="Times New Roman"/>
                <a:cs typeface="Times New Roman"/>
              </a:rPr>
              <a:t>f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77787" y="739246"/>
            <a:ext cx="100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31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42975" y="940985"/>
            <a:ext cx="958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85" dirty="0">
                <a:latin typeface="Times New Roman"/>
                <a:cs typeface="Times New Roman"/>
              </a:rPr>
              <a:t>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53351" y="898676"/>
            <a:ext cx="4191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70" dirty="0">
                <a:latin typeface="DejaVu Sans"/>
                <a:cs typeface="DejaVu Sans"/>
              </a:rPr>
              <a:t>∇ </a:t>
            </a:r>
            <a:r>
              <a:rPr sz="800" i="1" spc="180" dirty="0">
                <a:latin typeface="Times New Roman"/>
                <a:cs typeface="Times New Roman"/>
              </a:rPr>
              <a:t>f</a:t>
            </a:r>
            <a:r>
              <a:rPr sz="800" i="1" spc="-20" dirty="0">
                <a:latin typeface="Times New Roman"/>
                <a:cs typeface="Times New Roman"/>
              </a:rPr>
              <a:t> 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800" spc="4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46480" y="739246"/>
            <a:ext cx="100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38732" y="828191"/>
            <a:ext cx="4946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7" baseline="-38194" dirty="0">
                <a:latin typeface="LM Roman 8"/>
                <a:cs typeface="LM Roman 8"/>
              </a:rPr>
              <a:t>= </a:t>
            </a:r>
            <a:r>
              <a:rPr sz="800" i="1" u="sng" spc="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∂f</a:t>
            </a:r>
            <a:r>
              <a:rPr sz="800" i="1" spc="-95" dirty="0">
                <a:latin typeface="Times New Roman"/>
                <a:cs typeface="Times New Roman"/>
              </a:rPr>
              <a:t> </a:t>
            </a:r>
            <a:r>
              <a:rPr sz="800" u="sng" spc="4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(</a:t>
            </a:r>
            <a:r>
              <a:rPr sz="800" i="1" u="sng" spc="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800" u="sng" spc="45" dirty="0">
                <a:uFill>
                  <a:solidFill>
                    <a:srgbClr val="000000"/>
                  </a:solidFill>
                </a:uFill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96645" y="993570"/>
            <a:ext cx="6089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25755" algn="l"/>
              </a:tabLst>
            </a:pPr>
            <a:r>
              <a:rPr sz="600" i="1" spc="100" dirty="0">
                <a:latin typeface="Times New Roman"/>
                <a:cs typeface="Times New Roman"/>
              </a:rPr>
              <a:t>i,j	</a:t>
            </a:r>
            <a:r>
              <a:rPr sz="1200" i="1" spc="157" baseline="10416" dirty="0">
                <a:latin typeface="Times New Roman"/>
                <a:cs typeface="Times New Roman"/>
              </a:rPr>
              <a:t>∂A</a:t>
            </a:r>
            <a:r>
              <a:rPr sz="900" i="1" spc="157" baseline="4629" dirty="0">
                <a:latin typeface="Times New Roman"/>
                <a:cs typeface="Times New Roman"/>
              </a:rPr>
              <a:t>i,j</a:t>
            </a:r>
            <a:endParaRPr sz="900" baseline="4629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747459" y="823175"/>
            <a:ext cx="1206500" cy="342265"/>
            <a:chOff x="6747459" y="823175"/>
            <a:chExt cx="1206500" cy="342265"/>
          </a:xfrm>
        </p:grpSpPr>
        <p:sp>
          <p:nvSpPr>
            <p:cNvPr id="27" name="object 27"/>
            <p:cNvSpPr/>
            <p:nvPr/>
          </p:nvSpPr>
          <p:spPr>
            <a:xfrm>
              <a:off x="6747459" y="825703"/>
              <a:ext cx="1206500" cy="0"/>
            </a:xfrm>
            <a:custGeom>
              <a:avLst/>
              <a:gdLst/>
              <a:ahLst/>
              <a:cxnLst/>
              <a:rect l="l" t="t" r="r" b="b"/>
              <a:pathLst>
                <a:path w="1206500">
                  <a:moveTo>
                    <a:pt x="0" y="0"/>
                  </a:moveTo>
                  <a:lnTo>
                    <a:pt x="120592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49999" y="825703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4">
                  <a:moveTo>
                    <a:pt x="0" y="33703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950860" y="825703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4">
                  <a:moveTo>
                    <a:pt x="0" y="33703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47459" y="1162735"/>
              <a:ext cx="1206500" cy="0"/>
            </a:xfrm>
            <a:custGeom>
              <a:avLst/>
              <a:gdLst/>
              <a:ahLst/>
              <a:cxnLst/>
              <a:rect l="l" t="t" r="r" b="b"/>
              <a:pathLst>
                <a:path w="1206500">
                  <a:moveTo>
                    <a:pt x="0" y="0"/>
                  </a:moveTo>
                  <a:lnTo>
                    <a:pt x="120592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059667" y="1210207"/>
            <a:ext cx="4582160" cy="344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gradient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of </a:t>
            </a:r>
            <a:r>
              <a:rPr sz="800" i="1" spc="180" dirty="0">
                <a:solidFill>
                  <a:srgbClr val="59439A"/>
                </a:solidFill>
                <a:latin typeface="Times New Roman"/>
                <a:cs typeface="Times New Roman"/>
              </a:rPr>
              <a:t>f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only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defined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when </a:t>
            </a:r>
            <a:r>
              <a:rPr sz="800" i="1" spc="180" dirty="0">
                <a:solidFill>
                  <a:srgbClr val="59439A"/>
                </a:solidFill>
                <a:latin typeface="Times New Roman"/>
                <a:cs typeface="Times New Roman"/>
              </a:rPr>
              <a:t>f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a function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that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returns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</a:t>
            </a:r>
            <a:r>
              <a:rPr sz="800" i="1" spc="-55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scalar.</a:t>
            </a:r>
            <a:endParaRPr sz="800">
              <a:latin typeface="LM Roman 8"/>
              <a:cs typeface="LM Roman 8"/>
            </a:endParaRPr>
          </a:p>
          <a:p>
            <a:pPr marL="170180" indent="-120014">
              <a:lnSpc>
                <a:spcPct val="100000"/>
              </a:lnSpc>
              <a:spcBef>
                <a:spcPts val="590"/>
              </a:spcBef>
              <a:buFont typeface="DejaVu Sans"/>
              <a:buChar char="❒"/>
              <a:tabLst>
                <a:tab pos="170815" algn="l"/>
              </a:tabLst>
            </a:pPr>
            <a:r>
              <a:rPr sz="800" b="1" spc="-10" dirty="0">
                <a:solidFill>
                  <a:srgbClr val="020E86"/>
                </a:solidFill>
                <a:latin typeface="LM Roman 8"/>
                <a:cs typeface="LM Roman 8"/>
              </a:rPr>
              <a:t>Hessian </a:t>
            </a:r>
            <a:r>
              <a:rPr sz="800" spc="-5" dirty="0">
                <a:latin typeface="LM Roman 8"/>
                <a:cs typeface="LM Roman 8"/>
              </a:rPr>
              <a:t>– Let </a:t>
            </a:r>
            <a:r>
              <a:rPr sz="800" i="1" spc="180" dirty="0">
                <a:latin typeface="Times New Roman"/>
                <a:cs typeface="Times New Roman"/>
              </a:rPr>
              <a:t>f </a:t>
            </a:r>
            <a:r>
              <a:rPr sz="800" spc="-5" dirty="0">
                <a:latin typeface="LM Roman 8"/>
                <a:cs typeface="LM Roman 8"/>
              </a:rPr>
              <a:t>: </a:t>
            </a:r>
            <a:r>
              <a:rPr sz="800" spc="75" dirty="0">
                <a:latin typeface="MathJax_AMS"/>
                <a:cs typeface="MathJax_AMS"/>
              </a:rPr>
              <a:t>R</a:t>
            </a:r>
            <a:r>
              <a:rPr sz="900" i="1" spc="112" baseline="27777" dirty="0">
                <a:latin typeface="Times New Roman"/>
                <a:cs typeface="Times New Roman"/>
              </a:rPr>
              <a:t>n </a:t>
            </a:r>
            <a:r>
              <a:rPr sz="800" i="1" spc="175" dirty="0">
                <a:latin typeface="DejaVu Sans"/>
                <a:cs typeface="DejaVu Sans"/>
              </a:rPr>
              <a:t>→</a:t>
            </a:r>
            <a:r>
              <a:rPr sz="800" i="1" spc="310" dirty="0">
                <a:latin typeface="DejaVu Sans"/>
                <a:cs typeface="DejaVu Sans"/>
              </a:rPr>
              <a:t> </a:t>
            </a:r>
            <a:r>
              <a:rPr sz="800" spc="-5" dirty="0">
                <a:latin typeface="MathJax_AMS"/>
                <a:cs typeface="MathJax_AMS"/>
              </a:rPr>
              <a:t>R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spc="-10" dirty="0">
                <a:latin typeface="LM Roman 8"/>
                <a:cs typeface="LM Roman 8"/>
              </a:rPr>
              <a:t>function </a:t>
            </a:r>
            <a:r>
              <a:rPr sz="800" spc="-5" dirty="0">
                <a:latin typeface="LM Roman 8"/>
                <a:cs typeface="LM Roman 8"/>
              </a:rPr>
              <a:t>and </a:t>
            </a:r>
            <a:r>
              <a:rPr sz="800" i="1" spc="120" dirty="0">
                <a:latin typeface="Times New Roman"/>
                <a:cs typeface="Times New Roman"/>
              </a:rPr>
              <a:t>x </a:t>
            </a:r>
            <a:r>
              <a:rPr sz="800" i="1" spc="-135" dirty="0">
                <a:latin typeface="DejaVu Sans"/>
                <a:cs typeface="DejaVu Sans"/>
              </a:rPr>
              <a:t>∈ </a:t>
            </a:r>
            <a:r>
              <a:rPr sz="800" spc="75" dirty="0">
                <a:latin typeface="MathJax_AMS"/>
                <a:cs typeface="MathJax_AMS"/>
              </a:rPr>
              <a:t>R</a:t>
            </a:r>
            <a:r>
              <a:rPr sz="900" i="1" spc="112" baseline="27777" dirty="0">
                <a:latin typeface="Times New Roman"/>
                <a:cs typeface="Times New Roman"/>
              </a:rPr>
              <a:t>n </a:t>
            </a:r>
            <a:r>
              <a:rPr sz="800" spc="5" dirty="0">
                <a:latin typeface="LM Roman 8"/>
                <a:cs typeface="LM Roman 8"/>
              </a:rPr>
              <a:t>be </a:t>
            </a:r>
            <a:r>
              <a:rPr sz="800" spc="-5" dirty="0">
                <a:latin typeface="LM Roman 8"/>
                <a:cs typeface="LM Roman 8"/>
              </a:rPr>
              <a:t>a vector. The hessian of </a:t>
            </a:r>
            <a:r>
              <a:rPr sz="800" i="1" spc="180" dirty="0">
                <a:latin typeface="Times New Roman"/>
                <a:cs typeface="Times New Roman"/>
              </a:rPr>
              <a:t>f </a:t>
            </a:r>
            <a:r>
              <a:rPr sz="800" spc="-5" dirty="0">
                <a:latin typeface="LM Roman 8"/>
                <a:cs typeface="LM Roman 8"/>
              </a:rPr>
              <a:t>with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80693" y="1513641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80693" y="1574665"/>
            <a:ext cx="787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0" dirty="0">
                <a:latin typeface="Times New Roman"/>
                <a:cs typeface="Times New Roman"/>
              </a:rPr>
              <a:t>x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97754" y="1524062"/>
            <a:ext cx="26333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LM Roman 8"/>
                <a:cs typeface="LM Roman 8"/>
              </a:rPr>
              <a:t>respect</a:t>
            </a:r>
            <a:r>
              <a:rPr sz="800" spc="-5" dirty="0">
                <a:latin typeface="LM Roman 8"/>
                <a:cs typeface="LM Roman 8"/>
              </a:rPr>
              <a:t> to 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i="1" spc="8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a </a:t>
            </a:r>
            <a:r>
              <a:rPr sz="800" i="1" spc="110" dirty="0">
                <a:latin typeface="Times New Roman"/>
                <a:cs typeface="Times New Roman"/>
              </a:rPr>
              <a:t>n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×</a:t>
            </a:r>
            <a:r>
              <a:rPr sz="800" i="1" spc="-70" dirty="0">
                <a:latin typeface="DejaVu Sans"/>
                <a:cs typeface="DejaVu Sans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n</a:t>
            </a:r>
            <a:r>
              <a:rPr sz="800" i="1" spc="8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symmetric matrix,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noted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i="1" spc="170" dirty="0">
                <a:latin typeface="DejaVu Sans"/>
                <a:cs typeface="DejaVu Sans"/>
              </a:rPr>
              <a:t>∇</a:t>
            </a:r>
            <a:r>
              <a:rPr sz="800" i="1" spc="210" dirty="0">
                <a:latin typeface="DejaVu Sans"/>
                <a:cs typeface="DejaVu Sans"/>
              </a:rPr>
              <a:t> </a:t>
            </a:r>
            <a:r>
              <a:rPr sz="800" i="1" spc="180" dirty="0">
                <a:latin typeface="Times New Roman"/>
                <a:cs typeface="Times New Roman"/>
              </a:rPr>
              <a:t>f</a:t>
            </a:r>
            <a:r>
              <a:rPr sz="800" i="1" spc="-114" dirty="0">
                <a:latin typeface="Times New Roman"/>
                <a:cs typeface="Times New Roman"/>
              </a:rPr>
              <a:t> </a:t>
            </a:r>
            <a:r>
              <a:rPr sz="800" spc="60" dirty="0">
                <a:latin typeface="LM Roman 8"/>
                <a:cs typeface="LM Roman 8"/>
              </a:rPr>
              <a:t>(</a:t>
            </a:r>
            <a:r>
              <a:rPr sz="800" i="1" spc="60" dirty="0">
                <a:latin typeface="Times New Roman"/>
                <a:cs typeface="Times New Roman"/>
              </a:rPr>
              <a:t>x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05178" y="1524062"/>
            <a:ext cx="602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LM Roman 8"/>
                <a:cs typeface="LM Roman 8"/>
              </a:rPr>
              <a:t>),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938365" y="1764936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LM Roman 6"/>
                <a:cs typeface="LM Roman 6"/>
              </a:rPr>
              <a:t>2</a:t>
            </a:r>
            <a:endParaRPr sz="600">
              <a:latin typeface="LM Roman 6"/>
              <a:cs typeface="LM Roman 6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38365" y="1832285"/>
            <a:ext cx="787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0" dirty="0">
                <a:latin typeface="Times New Roman"/>
                <a:cs typeface="Times New Roman"/>
              </a:rPr>
              <a:t>x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3176" y="1622252"/>
            <a:ext cx="532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3865" algn="l"/>
              </a:tabLst>
            </a:pPr>
            <a:r>
              <a:rPr sz="1000" spc="315" dirty="0">
                <a:latin typeface="Arial"/>
                <a:cs typeface="Arial"/>
              </a:rPr>
              <a:t>.	</a:t>
            </a:r>
            <a:r>
              <a:rPr sz="1000" spc="-25" dirty="0">
                <a:latin typeface="Arial"/>
                <a:cs typeface="Arial"/>
              </a:rPr>
              <a:t>Σ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48741" y="1781681"/>
            <a:ext cx="6826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105" algn="l"/>
              </a:tabLst>
            </a:pPr>
            <a:r>
              <a:rPr sz="800" i="1" spc="170" dirty="0">
                <a:latin typeface="DejaVu Sans"/>
                <a:cs typeface="DejaVu Sans"/>
              </a:rPr>
              <a:t>∇ </a:t>
            </a:r>
            <a:r>
              <a:rPr sz="800" i="1" spc="-45" dirty="0">
                <a:latin typeface="DejaVu Sans"/>
                <a:cs typeface="DejaVu Sans"/>
              </a:rPr>
              <a:t> </a:t>
            </a:r>
            <a:r>
              <a:rPr sz="800" i="1" spc="180" dirty="0">
                <a:latin typeface="Times New Roman"/>
                <a:cs typeface="Times New Roman"/>
              </a:rPr>
              <a:t>f</a:t>
            </a:r>
            <a:r>
              <a:rPr sz="800" i="1" spc="-114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(</a:t>
            </a:r>
            <a:r>
              <a:rPr sz="800" i="1" spc="120" dirty="0">
                <a:latin typeface="Times New Roman"/>
                <a:cs typeface="Times New Roman"/>
              </a:rPr>
              <a:t>x</a:t>
            </a:r>
            <a:r>
              <a:rPr sz="800" spc="-5" dirty="0">
                <a:latin typeface="LM Roman 8"/>
                <a:cs typeface="LM Roman 8"/>
              </a:rPr>
              <a:t>)</a:t>
            </a:r>
            <a:r>
              <a:rPr sz="800" dirty="0">
                <a:latin typeface="LM Roman 8"/>
                <a:cs typeface="LM Roman 8"/>
              </a:rPr>
              <a:t>	</a:t>
            </a:r>
            <a:r>
              <a:rPr sz="800" spc="-5" dirty="0">
                <a:latin typeface="LM Roman 8"/>
                <a:cs typeface="LM Roman 8"/>
              </a:rPr>
              <a:t>=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532484" y="1711196"/>
            <a:ext cx="3987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105" dirty="0">
                <a:latin typeface="Times New Roman"/>
                <a:cs typeface="Times New Roman"/>
              </a:rPr>
              <a:t>∂</a:t>
            </a:r>
            <a:r>
              <a:rPr sz="900" spc="157" baseline="27777" dirty="0">
                <a:latin typeface="LM Roman 6"/>
                <a:cs typeface="LM Roman 6"/>
              </a:rPr>
              <a:t>2</a:t>
            </a:r>
            <a:r>
              <a:rPr sz="800" i="1" spc="105" dirty="0">
                <a:latin typeface="Times New Roman"/>
                <a:cs typeface="Times New Roman"/>
              </a:rPr>
              <a:t>f</a:t>
            </a:r>
            <a:r>
              <a:rPr sz="800" i="1" spc="-135" dirty="0">
                <a:latin typeface="Times New Roman"/>
                <a:cs typeface="Times New Roman"/>
              </a:rPr>
              <a:t> </a:t>
            </a:r>
            <a:r>
              <a:rPr sz="800" spc="35" dirty="0">
                <a:latin typeface="LM Roman 8"/>
                <a:cs typeface="LM Roman 8"/>
              </a:rPr>
              <a:t>(</a:t>
            </a:r>
            <a:r>
              <a:rPr sz="800" i="1" spc="35" dirty="0">
                <a:latin typeface="Times New Roman"/>
                <a:cs typeface="Times New Roman"/>
              </a:rPr>
              <a:t>x</a:t>
            </a:r>
            <a:r>
              <a:rPr sz="800" spc="35" dirty="0">
                <a:latin typeface="LM Roman 8"/>
                <a:cs typeface="LM Roman 8"/>
              </a:rPr>
              <a:t>)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563739" y="1870290"/>
            <a:ext cx="336550" cy="0"/>
          </a:xfrm>
          <a:custGeom>
            <a:avLst/>
            <a:gdLst/>
            <a:ahLst/>
            <a:cxnLst/>
            <a:rect l="l" t="t" r="r" b="b"/>
            <a:pathLst>
              <a:path w="336550">
                <a:moveTo>
                  <a:pt x="0" y="0"/>
                </a:moveTo>
                <a:lnTo>
                  <a:pt x="33605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551039" y="1857500"/>
            <a:ext cx="3124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5" dirty="0">
                <a:latin typeface="Times New Roman"/>
                <a:cs typeface="Times New Roman"/>
              </a:rPr>
              <a:t>∂x</a:t>
            </a:r>
            <a:r>
              <a:rPr sz="800" i="1" spc="50" dirty="0">
                <a:latin typeface="Times New Roman"/>
                <a:cs typeface="Times New Roman"/>
              </a:rPr>
              <a:t> </a:t>
            </a:r>
            <a:r>
              <a:rPr sz="800" i="1" spc="105" dirty="0">
                <a:latin typeface="Times New Roman"/>
                <a:cs typeface="Times New Roman"/>
              </a:rPr>
              <a:t>∂x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80249" y="1901880"/>
            <a:ext cx="6216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6400" algn="l"/>
                <a:tab pos="569595" algn="l"/>
              </a:tabLst>
            </a:pPr>
            <a:r>
              <a:rPr sz="600" i="1" spc="95" dirty="0">
                <a:latin typeface="Times New Roman"/>
                <a:cs typeface="Times New Roman"/>
              </a:rPr>
              <a:t>i,</a:t>
            </a:r>
            <a:r>
              <a:rPr sz="600" i="1" spc="105" dirty="0">
                <a:latin typeface="Times New Roman"/>
                <a:cs typeface="Times New Roman"/>
              </a:rPr>
              <a:t>j</a:t>
            </a:r>
            <a:r>
              <a:rPr sz="600" i="1" dirty="0">
                <a:latin typeface="Times New Roman"/>
                <a:cs typeface="Times New Roman"/>
              </a:rPr>
              <a:t>	</a:t>
            </a:r>
            <a:r>
              <a:rPr sz="900" i="1" spc="142" baseline="4629" dirty="0">
                <a:latin typeface="Times New Roman"/>
                <a:cs typeface="Times New Roman"/>
              </a:rPr>
              <a:t>i</a:t>
            </a:r>
            <a:r>
              <a:rPr sz="900" i="1" baseline="4629" dirty="0">
                <a:latin typeface="Times New Roman"/>
                <a:cs typeface="Times New Roman"/>
              </a:rPr>
              <a:t>	</a:t>
            </a:r>
            <a:r>
              <a:rPr sz="900" i="1" spc="202" baseline="4629" dirty="0">
                <a:latin typeface="Times New Roman"/>
                <a:cs typeface="Times New Roman"/>
              </a:rPr>
              <a:t>j</a:t>
            </a:r>
            <a:endParaRPr sz="900" baseline="4629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742862" y="1697456"/>
            <a:ext cx="1215390" cy="351155"/>
            <a:chOff x="6742862" y="1697456"/>
            <a:chExt cx="1215390" cy="351155"/>
          </a:xfrm>
        </p:grpSpPr>
        <p:sp>
          <p:nvSpPr>
            <p:cNvPr id="45" name="object 45"/>
            <p:cNvSpPr/>
            <p:nvPr/>
          </p:nvSpPr>
          <p:spPr>
            <a:xfrm>
              <a:off x="6742862" y="1699983"/>
              <a:ext cx="1215390" cy="0"/>
            </a:xfrm>
            <a:custGeom>
              <a:avLst/>
              <a:gdLst/>
              <a:ahLst/>
              <a:cxnLst/>
              <a:rect l="l" t="t" r="r" b="b"/>
              <a:pathLst>
                <a:path w="1215390">
                  <a:moveTo>
                    <a:pt x="0" y="0"/>
                  </a:moveTo>
                  <a:lnTo>
                    <a:pt x="121514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45389" y="1699983"/>
              <a:ext cx="0" cy="346075"/>
            </a:xfrm>
            <a:custGeom>
              <a:avLst/>
              <a:gdLst/>
              <a:ahLst/>
              <a:cxnLst/>
              <a:rect l="l" t="t" r="r" b="b"/>
              <a:pathLst>
                <a:path h="346075">
                  <a:moveTo>
                    <a:pt x="0" y="34575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955470" y="1699983"/>
              <a:ext cx="0" cy="346075"/>
            </a:xfrm>
            <a:custGeom>
              <a:avLst/>
              <a:gdLst/>
              <a:ahLst/>
              <a:cxnLst/>
              <a:rect l="l" t="t" r="r" b="b"/>
              <a:pathLst>
                <a:path h="346075">
                  <a:moveTo>
                    <a:pt x="0" y="34575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742862" y="2045741"/>
              <a:ext cx="1215390" cy="0"/>
            </a:xfrm>
            <a:custGeom>
              <a:avLst/>
              <a:gdLst/>
              <a:ahLst/>
              <a:cxnLst/>
              <a:rect l="l" t="t" r="r" b="b"/>
              <a:pathLst>
                <a:path w="1215390">
                  <a:moveTo>
                    <a:pt x="0" y="0"/>
                  </a:moveTo>
                  <a:lnTo>
                    <a:pt x="1215148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097767" y="2093212"/>
            <a:ext cx="4505960" cy="446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Remark: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the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hessian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of </a:t>
            </a:r>
            <a:r>
              <a:rPr sz="800" i="1" spc="180" dirty="0">
                <a:solidFill>
                  <a:srgbClr val="59439A"/>
                </a:solidFill>
                <a:latin typeface="Times New Roman"/>
                <a:cs typeface="Times New Roman"/>
              </a:rPr>
              <a:t>f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only </a:t>
            </a:r>
            <a:r>
              <a:rPr sz="800" i="1" spc="-20" dirty="0">
                <a:solidFill>
                  <a:srgbClr val="59439A"/>
                </a:solidFill>
                <a:latin typeface="LM Roman 8"/>
                <a:cs typeface="LM Roman 8"/>
              </a:rPr>
              <a:t>defined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when </a:t>
            </a:r>
            <a:r>
              <a:rPr sz="800" i="1" spc="180" dirty="0">
                <a:solidFill>
                  <a:srgbClr val="59439A"/>
                </a:solidFill>
                <a:latin typeface="Times New Roman"/>
                <a:cs typeface="Times New Roman"/>
              </a:rPr>
              <a:t>f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is a function </a:t>
            </a:r>
            <a:r>
              <a:rPr sz="800" i="1" spc="-10" dirty="0">
                <a:solidFill>
                  <a:srgbClr val="59439A"/>
                </a:solidFill>
                <a:latin typeface="LM Roman 8"/>
                <a:cs typeface="LM Roman 8"/>
              </a:rPr>
              <a:t>that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returns </a:t>
            </a:r>
            <a:r>
              <a:rPr sz="800" i="1" spc="-5" dirty="0">
                <a:solidFill>
                  <a:srgbClr val="59439A"/>
                </a:solidFill>
                <a:latin typeface="LM Roman 8"/>
                <a:cs typeface="LM Roman 8"/>
              </a:rPr>
              <a:t>a</a:t>
            </a:r>
            <a:r>
              <a:rPr sz="800" i="1" spc="-60" dirty="0">
                <a:solidFill>
                  <a:srgbClr val="59439A"/>
                </a:solidFill>
                <a:latin typeface="LM Roman 8"/>
                <a:cs typeface="LM Roman 8"/>
              </a:rPr>
              <a:t> </a:t>
            </a:r>
            <a:r>
              <a:rPr sz="800" i="1" spc="-15" dirty="0">
                <a:solidFill>
                  <a:srgbClr val="59439A"/>
                </a:solidFill>
                <a:latin typeface="LM Roman 8"/>
                <a:cs typeface="LM Roman 8"/>
              </a:rPr>
              <a:t>scalar.</a:t>
            </a:r>
            <a:endParaRPr sz="800">
              <a:latin typeface="LM Roman 8"/>
              <a:cs typeface="LM Roman 8"/>
            </a:endParaRPr>
          </a:p>
          <a:p>
            <a:pPr marL="12700" marR="5080">
              <a:lnSpc>
                <a:spcPts val="800"/>
              </a:lnSpc>
              <a:spcBef>
                <a:spcPts val="750"/>
              </a:spcBef>
              <a:buFont typeface="DejaVu Sans"/>
              <a:buChar char="❒"/>
              <a:tabLst>
                <a:tab pos="136525" algn="l"/>
              </a:tabLst>
            </a:pPr>
            <a:r>
              <a:rPr sz="800" b="1" spc="-10" dirty="0">
                <a:solidFill>
                  <a:srgbClr val="9A0404"/>
                </a:solidFill>
                <a:latin typeface="LM Roman 8"/>
                <a:cs typeface="LM Roman 8"/>
              </a:rPr>
              <a:t>Gradient </a:t>
            </a:r>
            <a:r>
              <a:rPr sz="800" b="1" dirty="0">
                <a:solidFill>
                  <a:srgbClr val="9A0404"/>
                </a:solidFill>
                <a:latin typeface="LM Roman 8"/>
                <a:cs typeface="LM Roman 8"/>
              </a:rPr>
              <a:t>operations </a:t>
            </a:r>
            <a:r>
              <a:rPr sz="800" spc="-5" dirty="0">
                <a:latin typeface="LM Roman 8"/>
                <a:cs typeface="LM Roman 8"/>
              </a:rPr>
              <a:t>– </a:t>
            </a:r>
            <a:r>
              <a:rPr sz="800" spc="-30" dirty="0">
                <a:latin typeface="LM Roman 8"/>
                <a:cs typeface="LM Roman 8"/>
              </a:rPr>
              <a:t>For </a:t>
            </a:r>
            <a:r>
              <a:rPr sz="800" spc="-5" dirty="0">
                <a:latin typeface="LM Roman 8"/>
                <a:cs typeface="LM Roman 8"/>
              </a:rPr>
              <a:t>matrices </a:t>
            </a:r>
            <a:r>
              <a:rPr sz="800" i="1" spc="85" dirty="0">
                <a:latin typeface="Times New Roman"/>
                <a:cs typeface="Times New Roman"/>
              </a:rPr>
              <a:t>A,B,C</a:t>
            </a:r>
            <a:r>
              <a:rPr sz="800" spc="85" dirty="0">
                <a:latin typeface="LM Roman 8"/>
                <a:cs typeface="LM Roman 8"/>
              </a:rPr>
              <a:t>, </a:t>
            </a:r>
            <a:r>
              <a:rPr sz="800" spc="-5" dirty="0">
                <a:latin typeface="LM Roman 8"/>
                <a:cs typeface="LM Roman 8"/>
              </a:rPr>
              <a:t>the </a:t>
            </a:r>
            <a:r>
              <a:rPr sz="800" spc="-10" dirty="0">
                <a:latin typeface="LM Roman 8"/>
                <a:cs typeface="LM Roman 8"/>
              </a:rPr>
              <a:t>following </a:t>
            </a:r>
            <a:r>
              <a:rPr sz="800" spc="-5" dirty="0">
                <a:latin typeface="LM Roman 8"/>
                <a:cs typeface="LM Roman 8"/>
              </a:rPr>
              <a:t>gradient </a:t>
            </a:r>
            <a:r>
              <a:rPr sz="800" dirty="0">
                <a:latin typeface="LM Roman 8"/>
                <a:cs typeface="LM Roman 8"/>
              </a:rPr>
              <a:t>properties </a:t>
            </a:r>
            <a:r>
              <a:rPr sz="800" spc="-5" dirty="0">
                <a:latin typeface="LM Roman 8"/>
                <a:cs typeface="LM Roman 8"/>
              </a:rPr>
              <a:t>are </a:t>
            </a:r>
            <a:r>
              <a:rPr sz="800" spc="-10" dirty="0">
                <a:latin typeface="LM Roman 8"/>
                <a:cs typeface="LM Roman 8"/>
              </a:rPr>
              <a:t>worth  having </a:t>
            </a:r>
            <a:r>
              <a:rPr sz="800" spc="-5" dirty="0">
                <a:latin typeface="LM Roman 8"/>
                <a:cs typeface="LM Roman 8"/>
              </a:rPr>
              <a:t>in mind:</a:t>
            </a:r>
            <a:endParaRPr sz="800">
              <a:latin typeface="LM Roman 8"/>
              <a:cs typeface="LM Roman 8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178778" y="2570657"/>
            <a:ext cx="885190" cy="20066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800" i="1" spc="90" dirty="0">
                <a:latin typeface="DejaVu Sans"/>
                <a:cs typeface="DejaVu Sans"/>
              </a:rPr>
              <a:t>∇</a:t>
            </a:r>
            <a:r>
              <a:rPr sz="900" i="1" spc="135" baseline="-13888" dirty="0">
                <a:latin typeface="Times New Roman"/>
                <a:cs typeface="Times New Roman"/>
              </a:rPr>
              <a:t>A</a:t>
            </a:r>
            <a:r>
              <a:rPr sz="800" spc="90" dirty="0">
                <a:latin typeface="LM Roman 8"/>
                <a:cs typeface="LM Roman 8"/>
              </a:rPr>
              <a:t>tr(</a:t>
            </a:r>
            <a:r>
              <a:rPr sz="800" i="1" spc="90" dirty="0">
                <a:latin typeface="Times New Roman"/>
                <a:cs typeface="Times New Roman"/>
              </a:rPr>
              <a:t>AB</a:t>
            </a:r>
            <a:r>
              <a:rPr sz="800" spc="90" dirty="0">
                <a:latin typeface="LM Roman 8"/>
                <a:cs typeface="LM Roman 8"/>
              </a:rPr>
              <a:t>)</a:t>
            </a:r>
            <a:r>
              <a:rPr sz="800" spc="-14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 </a:t>
            </a:r>
            <a:r>
              <a:rPr sz="800" i="1" spc="140" dirty="0">
                <a:latin typeface="Times New Roman"/>
                <a:cs typeface="Times New Roman"/>
              </a:rPr>
              <a:t>B</a:t>
            </a:r>
            <a:r>
              <a:rPr sz="900" i="1" spc="209" baseline="32407" dirty="0">
                <a:latin typeface="Times New Roman"/>
                <a:cs typeface="Times New Roman"/>
              </a:rPr>
              <a:t>T</a:t>
            </a:r>
            <a:endParaRPr sz="900" baseline="32407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283704" y="2568067"/>
            <a:ext cx="1238885" cy="2076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75"/>
              </a:spcBef>
            </a:pPr>
            <a:r>
              <a:rPr sz="800" i="1" spc="155" dirty="0">
                <a:latin typeface="DejaVu Sans"/>
                <a:cs typeface="DejaVu Sans"/>
              </a:rPr>
              <a:t>∇</a:t>
            </a:r>
            <a:r>
              <a:rPr sz="900" i="1" spc="232" baseline="-23148" dirty="0">
                <a:latin typeface="Times New Roman"/>
                <a:cs typeface="Times New Roman"/>
              </a:rPr>
              <a:t>A</a:t>
            </a:r>
            <a:r>
              <a:rPr sz="750" i="1" spc="232" baseline="-5555" dirty="0">
                <a:latin typeface="Arial"/>
                <a:cs typeface="Arial"/>
              </a:rPr>
              <a:t>T</a:t>
            </a:r>
            <a:r>
              <a:rPr sz="750" i="1" spc="52" baseline="-5555" dirty="0">
                <a:latin typeface="Arial"/>
                <a:cs typeface="Arial"/>
              </a:rPr>
              <a:t> </a:t>
            </a:r>
            <a:r>
              <a:rPr sz="800" i="1" spc="180" dirty="0">
                <a:latin typeface="Times New Roman"/>
                <a:cs typeface="Times New Roman"/>
              </a:rPr>
              <a:t>f</a:t>
            </a:r>
            <a:r>
              <a:rPr sz="800" i="1" spc="-120" dirty="0">
                <a:latin typeface="Times New Roman"/>
                <a:cs typeface="Times New Roman"/>
              </a:rPr>
              <a:t> 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800" spc="45" dirty="0">
                <a:latin typeface="LM Roman 8"/>
                <a:cs typeface="LM Roman 8"/>
              </a:rPr>
              <a:t>)</a:t>
            </a:r>
            <a:r>
              <a:rPr sz="800" spc="-6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60" dirty="0">
                <a:latin typeface="LM Roman 8"/>
                <a:cs typeface="LM Roman 8"/>
              </a:rPr>
              <a:t> </a:t>
            </a:r>
            <a:r>
              <a:rPr sz="800" spc="145" dirty="0">
                <a:latin typeface="LM Roman 8"/>
                <a:cs typeface="LM Roman 8"/>
              </a:rPr>
              <a:t>(</a:t>
            </a:r>
            <a:r>
              <a:rPr sz="800" i="1" spc="145" dirty="0">
                <a:latin typeface="DejaVu Sans"/>
                <a:cs typeface="DejaVu Sans"/>
              </a:rPr>
              <a:t>∇</a:t>
            </a:r>
            <a:r>
              <a:rPr sz="900" i="1" spc="217" baseline="-13888" dirty="0">
                <a:latin typeface="Times New Roman"/>
                <a:cs typeface="Times New Roman"/>
              </a:rPr>
              <a:t>A</a:t>
            </a:r>
            <a:r>
              <a:rPr sz="800" i="1" spc="145" dirty="0">
                <a:latin typeface="Times New Roman"/>
                <a:cs typeface="Times New Roman"/>
              </a:rPr>
              <a:t>f</a:t>
            </a:r>
            <a:r>
              <a:rPr sz="800" i="1" spc="-120" dirty="0">
                <a:latin typeface="Times New Roman"/>
                <a:cs typeface="Times New Roman"/>
              </a:rPr>
              <a:t> 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800" spc="45" dirty="0">
                <a:latin typeface="LM Roman 8"/>
                <a:cs typeface="LM Roman 8"/>
              </a:rPr>
              <a:t>))</a:t>
            </a:r>
            <a:r>
              <a:rPr sz="900" i="1" spc="67" baseline="32407" dirty="0">
                <a:latin typeface="Times New Roman"/>
                <a:cs typeface="Times New Roman"/>
              </a:rPr>
              <a:t>T</a:t>
            </a:r>
            <a:endParaRPr sz="900" baseline="32407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50902" y="2869336"/>
            <a:ext cx="1743710" cy="20066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800" i="1" spc="105" dirty="0">
                <a:latin typeface="DejaVu Sans"/>
                <a:cs typeface="DejaVu Sans"/>
              </a:rPr>
              <a:t>∇</a:t>
            </a:r>
            <a:r>
              <a:rPr sz="900" i="1" spc="157" baseline="-13888" dirty="0">
                <a:latin typeface="Times New Roman"/>
                <a:cs typeface="Times New Roman"/>
              </a:rPr>
              <a:t>A</a:t>
            </a:r>
            <a:r>
              <a:rPr sz="800" spc="105" dirty="0">
                <a:latin typeface="LM Roman 8"/>
                <a:cs typeface="LM Roman 8"/>
              </a:rPr>
              <a:t>tr(</a:t>
            </a:r>
            <a:r>
              <a:rPr sz="800" i="1" spc="105" dirty="0">
                <a:latin typeface="Times New Roman"/>
                <a:cs typeface="Times New Roman"/>
              </a:rPr>
              <a:t>ABA</a:t>
            </a:r>
            <a:r>
              <a:rPr sz="900" i="1" spc="157" baseline="32407" dirty="0">
                <a:latin typeface="Times New Roman"/>
                <a:cs typeface="Times New Roman"/>
              </a:rPr>
              <a:t>T</a:t>
            </a:r>
            <a:r>
              <a:rPr sz="900" i="1" spc="-15" baseline="32407" dirty="0">
                <a:latin typeface="Times New Roman"/>
                <a:cs typeface="Times New Roman"/>
              </a:rPr>
              <a:t> </a:t>
            </a:r>
            <a:r>
              <a:rPr sz="800" i="1" spc="60" dirty="0">
                <a:latin typeface="Times New Roman"/>
                <a:cs typeface="Times New Roman"/>
              </a:rPr>
              <a:t>C</a:t>
            </a:r>
            <a:r>
              <a:rPr sz="800" spc="60" dirty="0">
                <a:latin typeface="LM Roman 8"/>
                <a:cs typeface="LM Roman 8"/>
              </a:rPr>
              <a:t>)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55" dirty="0">
                <a:latin typeface="LM Roman 8"/>
                <a:cs typeface="LM Roman 8"/>
              </a:rPr>
              <a:t> </a:t>
            </a:r>
            <a:r>
              <a:rPr sz="800" i="1" spc="135" dirty="0">
                <a:latin typeface="Times New Roman"/>
                <a:cs typeface="Times New Roman"/>
              </a:rPr>
              <a:t>CAB</a:t>
            </a:r>
            <a:r>
              <a:rPr sz="800" i="1" spc="2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+</a:t>
            </a:r>
            <a:r>
              <a:rPr sz="800" spc="-100" dirty="0">
                <a:latin typeface="LM Roman 8"/>
                <a:cs typeface="LM Roman 8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C</a:t>
            </a:r>
            <a:r>
              <a:rPr sz="900" i="1" spc="165" baseline="32407" dirty="0">
                <a:latin typeface="Times New Roman"/>
                <a:cs typeface="Times New Roman"/>
              </a:rPr>
              <a:t>T</a:t>
            </a:r>
            <a:r>
              <a:rPr sz="900" i="1" spc="-15" baseline="32407" dirty="0">
                <a:latin typeface="Times New Roman"/>
                <a:cs typeface="Times New Roman"/>
              </a:rPr>
              <a:t> </a:t>
            </a:r>
            <a:r>
              <a:rPr sz="800" i="1" spc="140" dirty="0">
                <a:latin typeface="Times New Roman"/>
                <a:cs typeface="Times New Roman"/>
              </a:rPr>
              <a:t>AB</a:t>
            </a:r>
            <a:r>
              <a:rPr sz="900" i="1" spc="209" baseline="32407" dirty="0">
                <a:latin typeface="Times New Roman"/>
                <a:cs typeface="Times New Roman"/>
              </a:rPr>
              <a:t>T</a:t>
            </a:r>
            <a:endParaRPr sz="900" baseline="32407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814716" y="2869336"/>
            <a:ext cx="1035685" cy="20066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254"/>
              </a:spcBef>
            </a:pPr>
            <a:r>
              <a:rPr sz="800" i="1" spc="90" dirty="0">
                <a:latin typeface="DejaVu Sans"/>
                <a:cs typeface="DejaVu Sans"/>
              </a:rPr>
              <a:t>∇</a:t>
            </a:r>
            <a:r>
              <a:rPr sz="900" i="1" spc="135" baseline="-13888" dirty="0">
                <a:latin typeface="Times New Roman"/>
                <a:cs typeface="Times New Roman"/>
              </a:rPr>
              <a:t>A</a:t>
            </a:r>
            <a:r>
              <a:rPr sz="800" i="1" spc="90" dirty="0">
                <a:latin typeface="DejaVu Sans"/>
                <a:cs typeface="DejaVu Sans"/>
              </a:rPr>
              <a:t>|</a:t>
            </a:r>
            <a:r>
              <a:rPr sz="800" i="1" spc="90" dirty="0">
                <a:latin typeface="Times New Roman"/>
                <a:cs typeface="Times New Roman"/>
              </a:rPr>
              <a:t>A</a:t>
            </a:r>
            <a:r>
              <a:rPr sz="800" i="1" spc="90" dirty="0">
                <a:latin typeface="DejaVu Sans"/>
                <a:cs typeface="DejaVu Sans"/>
              </a:rPr>
              <a:t>| </a:t>
            </a:r>
            <a:r>
              <a:rPr sz="800" spc="-5" dirty="0">
                <a:latin typeface="LM Roman 8"/>
                <a:cs typeface="LM Roman 8"/>
              </a:rPr>
              <a:t>=</a:t>
            </a:r>
            <a:r>
              <a:rPr sz="800" spc="-185" dirty="0">
                <a:latin typeface="LM Roman 8"/>
                <a:cs typeface="LM Roman 8"/>
              </a:rPr>
              <a:t> </a:t>
            </a:r>
            <a:r>
              <a:rPr sz="800" i="1" spc="45" dirty="0">
                <a:latin typeface="DejaVu Sans"/>
                <a:cs typeface="DejaVu Sans"/>
              </a:rPr>
              <a:t>|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800" i="1" spc="45" dirty="0">
                <a:latin typeface="DejaVu Sans"/>
                <a:cs typeface="DejaVu Sans"/>
              </a:rPr>
              <a:t>|</a:t>
            </a:r>
            <a:r>
              <a:rPr sz="800" spc="45" dirty="0">
                <a:latin typeface="LM Roman 8"/>
                <a:cs typeface="LM Roman 8"/>
              </a:rPr>
              <a:t>(</a:t>
            </a:r>
            <a:r>
              <a:rPr sz="800" i="1" spc="45" dirty="0">
                <a:latin typeface="Times New Roman"/>
                <a:cs typeface="Times New Roman"/>
              </a:rPr>
              <a:t>A</a:t>
            </a:r>
            <a:r>
              <a:rPr sz="900" i="1" spc="67" baseline="32407" dirty="0">
                <a:latin typeface="DejaVu Sans"/>
                <a:cs typeface="DejaVu Sans"/>
              </a:rPr>
              <a:t>−</a:t>
            </a:r>
            <a:r>
              <a:rPr sz="900" spc="67" baseline="32407" dirty="0">
                <a:latin typeface="LM Roman 6"/>
                <a:cs typeface="LM Roman 6"/>
              </a:rPr>
              <a:t>1</a:t>
            </a:r>
            <a:r>
              <a:rPr sz="800" spc="45" dirty="0">
                <a:latin typeface="LM Roman 8"/>
                <a:cs typeface="LM Roman 8"/>
              </a:rPr>
              <a:t>)</a:t>
            </a:r>
            <a:r>
              <a:rPr sz="900" i="1" spc="67" baseline="32407" dirty="0">
                <a:latin typeface="Times New Roman"/>
                <a:cs typeface="Times New Roman"/>
              </a:rPr>
              <a:t>T</a:t>
            </a:r>
            <a:endParaRPr sz="900" baseline="32407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3999" y="7313612"/>
            <a:ext cx="9086850" cy="0"/>
          </a:xfrm>
          <a:custGeom>
            <a:avLst/>
            <a:gdLst/>
            <a:ahLst/>
            <a:cxnLst/>
            <a:rect l="l" t="t" r="r" b="b"/>
            <a:pathLst>
              <a:path w="9086850">
                <a:moveTo>
                  <a:pt x="0" y="0"/>
                </a:moveTo>
                <a:lnTo>
                  <a:pt x="908640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91299" y="6961830"/>
            <a:ext cx="3018790" cy="5556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spc="-5" dirty="0">
                <a:latin typeface="LM Roman 8"/>
                <a:cs typeface="LM Roman 8"/>
              </a:rPr>
              <a:t>with </a:t>
            </a:r>
            <a:r>
              <a:rPr sz="800" dirty="0">
                <a:latin typeface="LM Roman 8"/>
                <a:cs typeface="LM Roman 8"/>
              </a:rPr>
              <a:t>respect </a:t>
            </a:r>
            <a:r>
              <a:rPr sz="800" spc="-5" dirty="0">
                <a:latin typeface="LM Roman 8"/>
                <a:cs typeface="LM Roman 8"/>
              </a:rPr>
              <a:t>to </a:t>
            </a:r>
            <a:r>
              <a:rPr sz="800" i="1" spc="145" dirty="0">
                <a:latin typeface="Times New Roman"/>
                <a:cs typeface="Times New Roman"/>
              </a:rPr>
              <a:t>A</a:t>
            </a:r>
            <a:r>
              <a:rPr sz="800" i="1" spc="8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is a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i="1" spc="170" dirty="0">
                <a:latin typeface="Times New Roman"/>
                <a:cs typeface="Times New Roman"/>
              </a:rPr>
              <a:t>m</a:t>
            </a:r>
            <a:r>
              <a:rPr sz="800" i="1" spc="-15" dirty="0">
                <a:latin typeface="Times New Roman"/>
                <a:cs typeface="Times New Roman"/>
              </a:rPr>
              <a:t> </a:t>
            </a:r>
            <a:r>
              <a:rPr sz="800" i="1" spc="-15" dirty="0">
                <a:latin typeface="DejaVu Sans"/>
                <a:cs typeface="DejaVu Sans"/>
              </a:rPr>
              <a:t>×</a:t>
            </a:r>
            <a:r>
              <a:rPr sz="800" i="1" spc="-65" dirty="0">
                <a:latin typeface="DejaVu Sans"/>
                <a:cs typeface="DejaVu Sans"/>
              </a:rPr>
              <a:t> </a:t>
            </a:r>
            <a:r>
              <a:rPr sz="800" i="1" spc="110" dirty="0">
                <a:latin typeface="Times New Roman"/>
                <a:cs typeface="Times New Roman"/>
              </a:rPr>
              <a:t>n</a:t>
            </a:r>
            <a:r>
              <a:rPr sz="800" i="1" spc="8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LM Roman 8"/>
                <a:cs typeface="LM Roman 8"/>
              </a:rPr>
              <a:t>matrix,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noted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i="1" spc="195" dirty="0">
                <a:latin typeface="DejaVu Sans"/>
                <a:cs typeface="DejaVu Sans"/>
              </a:rPr>
              <a:t>∇</a:t>
            </a:r>
            <a:r>
              <a:rPr sz="900" i="1" spc="292" baseline="-13888" dirty="0">
                <a:latin typeface="Times New Roman"/>
                <a:cs typeface="Times New Roman"/>
              </a:rPr>
              <a:t>A</a:t>
            </a:r>
            <a:r>
              <a:rPr sz="800" i="1" spc="195" dirty="0">
                <a:latin typeface="Times New Roman"/>
                <a:cs typeface="Times New Roman"/>
              </a:rPr>
              <a:t>f</a:t>
            </a:r>
            <a:r>
              <a:rPr sz="800" i="1" spc="-114" dirty="0">
                <a:latin typeface="Times New Roman"/>
                <a:cs typeface="Times New Roman"/>
              </a:rPr>
              <a:t> </a:t>
            </a:r>
            <a:r>
              <a:rPr sz="800" spc="30" dirty="0">
                <a:latin typeface="LM Roman 8"/>
                <a:cs typeface="LM Roman 8"/>
              </a:rPr>
              <a:t>(</a:t>
            </a:r>
            <a:r>
              <a:rPr sz="800" i="1" spc="30" dirty="0">
                <a:latin typeface="Times New Roman"/>
                <a:cs typeface="Times New Roman"/>
              </a:rPr>
              <a:t>A</a:t>
            </a:r>
            <a:r>
              <a:rPr sz="800" spc="30" dirty="0">
                <a:latin typeface="LM Roman 8"/>
                <a:cs typeface="LM Roman 8"/>
              </a:rPr>
              <a:t>),</a:t>
            </a:r>
            <a:r>
              <a:rPr sz="800" spc="-5" dirty="0">
                <a:latin typeface="LM Roman 8"/>
                <a:cs typeface="LM Roman 8"/>
              </a:rPr>
              <a:t> </a:t>
            </a:r>
            <a:r>
              <a:rPr sz="800" spc="-10" dirty="0">
                <a:latin typeface="LM Roman 8"/>
                <a:cs typeface="LM Roman 8"/>
              </a:rPr>
              <a:t>such</a:t>
            </a:r>
            <a:r>
              <a:rPr sz="800" dirty="0">
                <a:latin typeface="LM Roman 8"/>
                <a:cs typeface="LM Roman 8"/>
              </a:rPr>
              <a:t> </a:t>
            </a:r>
            <a:r>
              <a:rPr sz="800" spc="-5" dirty="0">
                <a:latin typeface="LM Roman 8"/>
                <a:cs typeface="LM Roman 8"/>
              </a:rPr>
              <a:t>that:</a:t>
            </a:r>
            <a:endParaRPr sz="800">
              <a:latin typeface="LM Roman 8"/>
              <a:cs typeface="LM Roman 8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LM Roman 8"/>
              <a:cs typeface="LM Roman 8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0" dirty="0">
                <a:latin typeface="LM Roman Caps 10"/>
                <a:cs typeface="LM Roman Caps 10"/>
              </a:rPr>
              <a:t>Stanford</a:t>
            </a:r>
            <a:r>
              <a:rPr sz="1000" spc="-10" dirty="0">
                <a:latin typeface="LM Roman Caps 10"/>
                <a:cs typeface="LM Roman Caps 10"/>
              </a:rPr>
              <a:t> University</a:t>
            </a:r>
            <a:endParaRPr sz="1000">
              <a:latin typeface="LM Roman Caps 10"/>
              <a:cs typeface="LM Roman Caps 10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945837" y="7312686"/>
            <a:ext cx="203200" cy="20510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z="1000" spc="-5" dirty="0">
                <a:latin typeface="LM Roman 10"/>
                <a:cs typeface="LM Roman 10"/>
              </a:rPr>
              <a:t>16</a:t>
            </a:fld>
            <a:endParaRPr sz="1000">
              <a:latin typeface="LM Roman 10"/>
              <a:cs typeface="LM Roman 10"/>
            </a:endParaRPr>
          </a:p>
        </p:txBody>
      </p:sp>
      <p:sp>
        <p:nvSpPr>
          <p:cNvPr id="58" name="Date Placeholder 5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lang="en-US" spc="-20" smtClean="0"/>
              <a:t>Stanford University</a:t>
            </a:r>
            <a:endParaRPr lang="en-US" spc="-10" dirty="0"/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366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lang="en-IN" spc="-5" smtClean="0"/>
              <a:t>16</a:t>
            </a:fld>
            <a:endParaRPr lang="en-IN"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8482</Words>
  <Application>Microsoft Office PowerPoint</Application>
  <PresentationFormat>Custom</PresentationFormat>
  <Paragraphs>1509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3" baseType="lpstr">
      <vt:lpstr>Arial</vt:lpstr>
      <vt:lpstr>Avdira</vt:lpstr>
      <vt:lpstr>Calibri</vt:lpstr>
      <vt:lpstr>DejaVu Sans</vt:lpstr>
      <vt:lpstr>LM Roman 10</vt:lpstr>
      <vt:lpstr>LM Roman 12</vt:lpstr>
      <vt:lpstr>LM Roman 17</vt:lpstr>
      <vt:lpstr>LM Roman 5</vt:lpstr>
      <vt:lpstr>LM Roman 6</vt:lpstr>
      <vt:lpstr>LM Roman 7</vt:lpstr>
      <vt:lpstr>LM Roman 8</vt:lpstr>
      <vt:lpstr>LM Roman 9</vt:lpstr>
      <vt:lpstr>LM Roman Caps 10</vt:lpstr>
      <vt:lpstr>MathJax_AMS</vt:lpstr>
      <vt:lpstr>RobotoRegular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Setua</dc:creator>
  <cp:lastModifiedBy>sovanesh</cp:lastModifiedBy>
  <cp:revision>2</cp:revision>
  <dcterms:created xsi:type="dcterms:W3CDTF">2021-02-13T02:05:34Z</dcterms:created>
  <dcterms:modified xsi:type="dcterms:W3CDTF">2021-02-13T02:22:57Z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2018-09-15T00:00:00Z</vt:filetime>
  </property>
  <property fmtid="{D5CDD505-2E9C-101B-9397-08002B2CF9AE}" pid="3" name="Creator">
    <vt:lpwstr>LaTeX with hyperref package</vt:lpwstr>
  </property>
  <property fmtid="{D5CDD505-2E9C-101B-9397-08002B2CF9AE}" pid="4" name="LastSaved">
    <vt:filetime>2021-02-13T00:00:00Z</vt:filetime>
  </property>
</Properties>
</file>