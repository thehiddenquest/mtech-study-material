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charts/chart6.xml" ContentType="application/vnd.openxmlformats-officedocument.drawingml.chart+xml"/>
  <Override PartName="/ppt/charts/chart7.xml" ContentType="application/vnd.openxmlformats-officedocument.drawingml.chart+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charts/chart8.xml" ContentType="application/vnd.openxmlformats-officedocument.drawingml.chart+xml"/>
  <Override PartName="/ppt/charts/chart9.xml" ContentType="application/vnd.openxmlformats-officedocument.drawingml.chart+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charts/chart10.xml" ContentType="application/vnd.openxmlformats-officedocument.drawingml.chart+xml"/>
  <Override PartName="/ppt/charts/chart11.xml" ContentType="application/vnd.openxmlformats-officedocument.drawingml.chart+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charts/chart12.xml" ContentType="application/vnd.openxmlformats-officedocument.drawingml.chart+xml"/>
  <Override PartName="/ppt/charts/chart13.xml" ContentType="application/vnd.openxmlformats-officedocument.drawingml.chart+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2" r:id="rId1"/>
  </p:sldMasterIdLst>
  <p:notesMasterIdLst>
    <p:notesMasterId r:id="rId61"/>
  </p:notesMasterIdLst>
  <p:sldIdLst>
    <p:sldId id="256" r:id="rId2"/>
    <p:sldId id="618" r:id="rId3"/>
    <p:sldId id="257" r:id="rId4"/>
    <p:sldId id="259" r:id="rId5"/>
    <p:sldId id="258" r:id="rId6"/>
    <p:sldId id="260" r:id="rId7"/>
    <p:sldId id="261" r:id="rId8"/>
    <p:sldId id="262" r:id="rId9"/>
    <p:sldId id="263" r:id="rId10"/>
    <p:sldId id="563" r:id="rId11"/>
    <p:sldId id="621" r:id="rId12"/>
    <p:sldId id="628" r:id="rId13"/>
    <p:sldId id="629" r:id="rId14"/>
    <p:sldId id="630" r:id="rId15"/>
    <p:sldId id="631" r:id="rId16"/>
    <p:sldId id="632" r:id="rId17"/>
    <p:sldId id="633" r:id="rId18"/>
    <p:sldId id="634" r:id="rId19"/>
    <p:sldId id="635" r:id="rId20"/>
    <p:sldId id="637" r:id="rId21"/>
    <p:sldId id="638" r:id="rId22"/>
    <p:sldId id="627" r:id="rId23"/>
    <p:sldId id="479" r:id="rId24"/>
    <p:sldId id="565" r:id="rId25"/>
    <p:sldId id="566" r:id="rId26"/>
    <p:sldId id="568" r:id="rId27"/>
    <p:sldId id="569" r:id="rId28"/>
    <p:sldId id="570" r:id="rId29"/>
    <p:sldId id="572" r:id="rId30"/>
    <p:sldId id="573" r:id="rId31"/>
    <p:sldId id="574" r:id="rId32"/>
    <p:sldId id="575" r:id="rId33"/>
    <p:sldId id="577" r:id="rId34"/>
    <p:sldId id="619" r:id="rId35"/>
    <p:sldId id="620" r:id="rId36"/>
    <p:sldId id="578" r:id="rId37"/>
    <p:sldId id="579" r:id="rId38"/>
    <p:sldId id="609" r:id="rId39"/>
    <p:sldId id="613" r:id="rId40"/>
    <p:sldId id="612" r:id="rId41"/>
    <p:sldId id="615" r:id="rId42"/>
    <p:sldId id="581" r:id="rId43"/>
    <p:sldId id="582" r:id="rId44"/>
    <p:sldId id="583" r:id="rId45"/>
    <p:sldId id="584" r:id="rId46"/>
    <p:sldId id="586" r:id="rId47"/>
    <p:sldId id="587" r:id="rId48"/>
    <p:sldId id="588" r:id="rId49"/>
    <p:sldId id="589" r:id="rId50"/>
    <p:sldId id="590" r:id="rId51"/>
    <p:sldId id="592" r:id="rId52"/>
    <p:sldId id="593" r:id="rId53"/>
    <p:sldId id="617" r:id="rId54"/>
    <p:sldId id="594" r:id="rId55"/>
    <p:sldId id="607" r:id="rId56"/>
    <p:sldId id="622" r:id="rId57"/>
    <p:sldId id="623" r:id="rId58"/>
    <p:sldId id="624" r:id="rId59"/>
    <p:sldId id="625" r:id="rId60"/>
  </p:sldIdLst>
  <p:sldSz cx="9144000" cy="5143500" type="screen16x9"/>
  <p:notesSz cx="6858000" cy="9144000"/>
  <p:custDataLst>
    <p:tags r:id="rId6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C00"/>
    <a:srgbClr val="CCFFFF"/>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485" autoAdjust="0"/>
    <p:restoredTop sz="94660"/>
  </p:normalViewPr>
  <p:slideViewPr>
    <p:cSldViewPr>
      <p:cViewPr varScale="1">
        <p:scale>
          <a:sx n="104" d="100"/>
          <a:sy n="104" d="100"/>
        </p:scale>
        <p:origin x="222" y="96"/>
      </p:cViewPr>
      <p:guideLst>
        <p:guide orient="horz" pos="1620"/>
        <p:guide pos="2880"/>
      </p:guideLst>
    </p:cSldViewPr>
  </p:slideViewPr>
  <p:notesTextViewPr>
    <p:cViewPr>
      <p:scale>
        <a:sx n="1" d="1"/>
        <a:sy n="1" d="1"/>
      </p:scale>
      <p:origin x="0" y="0"/>
    </p:cViewPr>
  </p:notesTextViewPr>
  <p:sorterViewPr>
    <p:cViewPr>
      <p:scale>
        <a:sx n="100" d="100"/>
        <a:sy n="100" d="100"/>
      </p:scale>
      <p:origin x="0" y="6557"/>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rts/_rels/chart1.xml.rels><?xml version="1.0" encoding="UTF-8" standalone="yes"?>
<Relationships xmlns="http://schemas.openxmlformats.org/package/2006/relationships"><Relationship Id="rId1" Type="http://schemas.openxmlformats.org/officeDocument/2006/relationships/oleObject" Target="file:///C:\Users\Public\Documents\ml-class\lectures-slides\assets\portland.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Public\Documents\ml-class\lectures-slides\assets\portland.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Public\Documents\ml-class\lectures-slides\assets\2.2.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C:\Users\Public\Documents\ml-class\lectures-slides\assets\2.2.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Users\Public\Documents\ml-class\lectures-slides\assets\2.2.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C:\Users\Public\Documents\ml-class\lectures-slides\assets\2.2.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C:\Users\Public\Documents\ml-class\lectures-slides\assets\2.2.xlsx"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file:///C:\Users\Public\Documents\ml-class\lectures-slides\assets\2.2.xlsx" TargetMode="External"/></Relationships>
</file>

<file path=ppt/charts/_rels/chart9.xml.rels><?xml version="1.0" encoding="UTF-8" standalone="yes"?>
<Relationships xmlns="http://schemas.openxmlformats.org/package/2006/relationships"><Relationship Id="rId1" Type="http://schemas.openxmlformats.org/officeDocument/2006/relationships/oleObject" Target="file:///C:\Users\Public\Documents\ml-class\lectures-slides\assets\2.2.xlsx" TargetMode="External"/></Relationships>
</file>

<file path=ppt/charts/_rels/chart10.xml.rels><?xml version="1.0" encoding="UTF-8" standalone="yes"?>
<Relationships xmlns="http://schemas.openxmlformats.org/package/2006/relationships"><Relationship Id="rId1" Type="http://schemas.openxmlformats.org/officeDocument/2006/relationships/oleObject" Target="file:///C:\Users\Public\Documents\ml-class\lectures-slides\assets\2.2.xlsx" TargetMode="External"/></Relationships>
</file>

<file path=ppt/charts/_rels/chart11.xml.rels><?xml version="1.0" encoding="UTF-8" standalone="yes"?>
<Relationships xmlns="http://schemas.openxmlformats.org/package/2006/relationships"><Relationship Id="rId1" Type="http://schemas.openxmlformats.org/officeDocument/2006/relationships/oleObject" Target="file:///C:\Users\Public\Documents\ml-class\lectures-slides\assets\2.2.xlsx" TargetMode="External"/></Relationships>
</file>

<file path=ppt/charts/_rels/chart12.xml.rels><?xml version="1.0" encoding="UTF-8" standalone="yes"?>
<Relationships xmlns="http://schemas.openxmlformats.org/package/2006/relationships"><Relationship Id="rId1" Type="http://schemas.openxmlformats.org/officeDocument/2006/relationships/oleObject" Target="file:///C:\Users\Public\Documents\ml-class\lectures-slides\assets\portland.xlsx" TargetMode="External"/></Relationships>
</file>

<file path=ppt/charts/_rels/chart13.xml.rels><?xml version="1.0" encoding="UTF-8" standalone="yes"?>
<Relationships xmlns="http://schemas.openxmlformats.org/package/2006/relationships"><Relationship Id="rId1" Type="http://schemas.openxmlformats.org/officeDocument/2006/relationships/oleObject" Target="file:///C:\Users\Public\Documents\ml-class\lectures-slides\assets\2.2.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none"/>
          </c:marker>
          <c:xVal>
            <c:numRef>
              <c:f>portland!$A$1:$A$48</c:f>
              <c:numCache>
                <c:formatCode>General</c:formatCode>
                <c:ptCount val="48"/>
                <c:pt idx="0">
                  <c:v>2104</c:v>
                </c:pt>
                <c:pt idx="1">
                  <c:v>1600</c:v>
                </c:pt>
                <c:pt idx="2">
                  <c:v>2400</c:v>
                </c:pt>
                <c:pt idx="3">
                  <c:v>1416</c:v>
                </c:pt>
                <c:pt idx="4">
                  <c:v>3000</c:v>
                </c:pt>
                <c:pt idx="5">
                  <c:v>1985</c:v>
                </c:pt>
                <c:pt idx="6">
                  <c:v>1534</c:v>
                </c:pt>
                <c:pt idx="7">
                  <c:v>1427</c:v>
                </c:pt>
                <c:pt idx="8">
                  <c:v>1380</c:v>
                </c:pt>
                <c:pt idx="9">
                  <c:v>1494</c:v>
                </c:pt>
                <c:pt idx="10">
                  <c:v>1940</c:v>
                </c:pt>
                <c:pt idx="11">
                  <c:v>2000</c:v>
                </c:pt>
                <c:pt idx="12">
                  <c:v>1890</c:v>
                </c:pt>
                <c:pt idx="13">
                  <c:v>4478</c:v>
                </c:pt>
                <c:pt idx="14">
                  <c:v>1268</c:v>
                </c:pt>
                <c:pt idx="15">
                  <c:v>2300</c:v>
                </c:pt>
                <c:pt idx="16">
                  <c:v>1320</c:v>
                </c:pt>
                <c:pt idx="17">
                  <c:v>1236</c:v>
                </c:pt>
                <c:pt idx="18">
                  <c:v>2609</c:v>
                </c:pt>
                <c:pt idx="19">
                  <c:v>3031</c:v>
                </c:pt>
                <c:pt idx="20">
                  <c:v>1767</c:v>
                </c:pt>
                <c:pt idx="21">
                  <c:v>1888</c:v>
                </c:pt>
                <c:pt idx="22">
                  <c:v>1604</c:v>
                </c:pt>
                <c:pt idx="23">
                  <c:v>1962</c:v>
                </c:pt>
                <c:pt idx="24">
                  <c:v>3890</c:v>
                </c:pt>
                <c:pt idx="25">
                  <c:v>1100</c:v>
                </c:pt>
                <c:pt idx="26">
                  <c:v>1458</c:v>
                </c:pt>
                <c:pt idx="27">
                  <c:v>2526</c:v>
                </c:pt>
                <c:pt idx="28">
                  <c:v>2200</c:v>
                </c:pt>
                <c:pt idx="29">
                  <c:v>2637</c:v>
                </c:pt>
                <c:pt idx="30">
                  <c:v>1839</c:v>
                </c:pt>
                <c:pt idx="31">
                  <c:v>1000</c:v>
                </c:pt>
                <c:pt idx="32">
                  <c:v>2040</c:v>
                </c:pt>
                <c:pt idx="33">
                  <c:v>3137</c:v>
                </c:pt>
                <c:pt idx="34">
                  <c:v>1811</c:v>
                </c:pt>
                <c:pt idx="35">
                  <c:v>1437</c:v>
                </c:pt>
                <c:pt idx="36">
                  <c:v>1239</c:v>
                </c:pt>
                <c:pt idx="37">
                  <c:v>2132</c:v>
                </c:pt>
                <c:pt idx="38">
                  <c:v>4215</c:v>
                </c:pt>
                <c:pt idx="39">
                  <c:v>2162</c:v>
                </c:pt>
                <c:pt idx="40">
                  <c:v>1664</c:v>
                </c:pt>
                <c:pt idx="41">
                  <c:v>2238</c:v>
                </c:pt>
                <c:pt idx="42">
                  <c:v>2567</c:v>
                </c:pt>
                <c:pt idx="43">
                  <c:v>1200</c:v>
                </c:pt>
                <c:pt idx="44">
                  <c:v>852</c:v>
                </c:pt>
                <c:pt idx="45">
                  <c:v>1852</c:v>
                </c:pt>
                <c:pt idx="46">
                  <c:v>1203</c:v>
                </c:pt>
              </c:numCache>
            </c:numRef>
          </c:xVal>
          <c:yVal>
            <c:numRef>
              <c:f>portland!$B$1:$B$48</c:f>
              <c:numCache>
                <c:formatCode>General</c:formatCode>
                <c:ptCount val="48"/>
                <c:pt idx="0">
                  <c:v>399900</c:v>
                </c:pt>
                <c:pt idx="1">
                  <c:v>329900</c:v>
                </c:pt>
                <c:pt idx="2">
                  <c:v>369000</c:v>
                </c:pt>
                <c:pt idx="3">
                  <c:v>232000</c:v>
                </c:pt>
                <c:pt idx="4">
                  <c:v>539900</c:v>
                </c:pt>
                <c:pt idx="5">
                  <c:v>299900</c:v>
                </c:pt>
                <c:pt idx="6">
                  <c:v>314900</c:v>
                </c:pt>
                <c:pt idx="7">
                  <c:v>198999</c:v>
                </c:pt>
                <c:pt idx="8">
                  <c:v>212000</c:v>
                </c:pt>
                <c:pt idx="9">
                  <c:v>242500</c:v>
                </c:pt>
                <c:pt idx="10">
                  <c:v>239999</c:v>
                </c:pt>
                <c:pt idx="11">
                  <c:v>347000</c:v>
                </c:pt>
                <c:pt idx="12">
                  <c:v>329999</c:v>
                </c:pt>
                <c:pt idx="13">
                  <c:v>699900</c:v>
                </c:pt>
                <c:pt idx="14">
                  <c:v>259900</c:v>
                </c:pt>
                <c:pt idx="15">
                  <c:v>449900</c:v>
                </c:pt>
                <c:pt idx="16">
                  <c:v>299900</c:v>
                </c:pt>
                <c:pt idx="17">
                  <c:v>199900</c:v>
                </c:pt>
                <c:pt idx="18">
                  <c:v>499998</c:v>
                </c:pt>
                <c:pt idx="19">
                  <c:v>599000</c:v>
                </c:pt>
                <c:pt idx="20">
                  <c:v>252900</c:v>
                </c:pt>
                <c:pt idx="21">
                  <c:v>255000</c:v>
                </c:pt>
                <c:pt idx="22">
                  <c:v>242900</c:v>
                </c:pt>
                <c:pt idx="23">
                  <c:v>259900</c:v>
                </c:pt>
                <c:pt idx="24">
                  <c:v>573900</c:v>
                </c:pt>
                <c:pt idx="25">
                  <c:v>249900</c:v>
                </c:pt>
                <c:pt idx="26">
                  <c:v>464500</c:v>
                </c:pt>
                <c:pt idx="27">
                  <c:v>469000</c:v>
                </c:pt>
                <c:pt idx="28">
                  <c:v>475000</c:v>
                </c:pt>
                <c:pt idx="29">
                  <c:v>299900</c:v>
                </c:pt>
                <c:pt idx="30">
                  <c:v>349900</c:v>
                </c:pt>
                <c:pt idx="31">
                  <c:v>169900</c:v>
                </c:pt>
                <c:pt idx="32">
                  <c:v>314900</c:v>
                </c:pt>
                <c:pt idx="33">
                  <c:v>579900</c:v>
                </c:pt>
                <c:pt idx="34">
                  <c:v>285900</c:v>
                </c:pt>
                <c:pt idx="35">
                  <c:v>249900</c:v>
                </c:pt>
                <c:pt idx="36">
                  <c:v>229900</c:v>
                </c:pt>
                <c:pt idx="37">
                  <c:v>345000</c:v>
                </c:pt>
                <c:pt idx="38">
                  <c:v>549000</c:v>
                </c:pt>
                <c:pt idx="39">
                  <c:v>287000</c:v>
                </c:pt>
                <c:pt idx="40">
                  <c:v>368500</c:v>
                </c:pt>
                <c:pt idx="41">
                  <c:v>329900</c:v>
                </c:pt>
                <c:pt idx="42">
                  <c:v>314000</c:v>
                </c:pt>
                <c:pt idx="43">
                  <c:v>299000</c:v>
                </c:pt>
                <c:pt idx="44">
                  <c:v>179900</c:v>
                </c:pt>
                <c:pt idx="45">
                  <c:v>299900</c:v>
                </c:pt>
                <c:pt idx="46">
                  <c:v>239500</c:v>
                </c:pt>
              </c:numCache>
            </c:numRef>
          </c:yVal>
          <c:smooth val="0"/>
          <c:extLst>
            <c:ext xmlns:c16="http://schemas.microsoft.com/office/drawing/2014/chart" uri="{C3380CC4-5D6E-409C-BE32-E72D297353CC}">
              <c16:uniqueId val="{00000000-B50A-477F-BB44-2F7EABF1D590}"/>
            </c:ext>
          </c:extLst>
        </c:ser>
        <c:dLbls>
          <c:showLegendKey val="0"/>
          <c:showVal val="0"/>
          <c:showCatName val="0"/>
          <c:showSerName val="0"/>
          <c:showPercent val="0"/>
          <c:showBubbleSize val="0"/>
        </c:dLbls>
        <c:axId val="264610944"/>
        <c:axId val="264612480"/>
      </c:scatterChart>
      <c:valAx>
        <c:axId val="264610944"/>
        <c:scaling>
          <c:orientation val="minMax"/>
          <c:max val="3000"/>
        </c:scaling>
        <c:delete val="0"/>
        <c:axPos val="b"/>
        <c:numFmt formatCode="General" sourceLinked="1"/>
        <c:majorTickMark val="out"/>
        <c:minorTickMark val="none"/>
        <c:tickLblPos val="nextTo"/>
        <c:crossAx val="264612480"/>
        <c:crosses val="autoZero"/>
        <c:crossBetween val="midCat"/>
      </c:valAx>
      <c:valAx>
        <c:axId val="264612480"/>
        <c:scaling>
          <c:orientation val="minMax"/>
          <c:max val="500000"/>
        </c:scaling>
        <c:delete val="0"/>
        <c:axPos val="l"/>
        <c:majorGridlines/>
        <c:numFmt formatCode="General" sourceLinked="0"/>
        <c:majorTickMark val="out"/>
        <c:minorTickMark val="none"/>
        <c:tickLblPos val="nextTo"/>
        <c:crossAx val="264610944"/>
        <c:crosses val="autoZero"/>
        <c:crossBetween val="midCat"/>
        <c:majorUnit val="100000"/>
        <c:dispUnits>
          <c:builtInUnit val="thousands"/>
        </c:dispUnits>
      </c:valAx>
    </c:plotArea>
    <c:plotVisOnly val="1"/>
    <c:dispBlanksAs val="gap"/>
    <c:showDLblsOverMax val="0"/>
  </c:chart>
  <c:txPr>
    <a:bodyPr/>
    <a:lstStyle/>
    <a:p>
      <a:pPr>
        <a:defRPr sz="16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x"/>
            <c:size val="8"/>
            <c:spPr>
              <a:noFill/>
              <a:ln w="12700">
                <a:solidFill>
                  <a:srgbClr val="C00000"/>
                </a:solidFill>
              </a:ln>
            </c:spPr>
          </c:marker>
          <c:xVal>
            <c:numRef>
              <c:f>portland!$A$1:$A$48</c:f>
              <c:numCache>
                <c:formatCode>General</c:formatCode>
                <c:ptCount val="48"/>
                <c:pt idx="0">
                  <c:v>2104</c:v>
                </c:pt>
                <c:pt idx="1">
                  <c:v>1600</c:v>
                </c:pt>
                <c:pt idx="2">
                  <c:v>2400</c:v>
                </c:pt>
                <c:pt idx="3">
                  <c:v>1416</c:v>
                </c:pt>
                <c:pt idx="4">
                  <c:v>3000</c:v>
                </c:pt>
                <c:pt idx="5">
                  <c:v>1985</c:v>
                </c:pt>
                <c:pt idx="6">
                  <c:v>1534</c:v>
                </c:pt>
                <c:pt idx="7">
                  <c:v>1427</c:v>
                </c:pt>
                <c:pt idx="8">
                  <c:v>1380</c:v>
                </c:pt>
                <c:pt idx="9">
                  <c:v>1494</c:v>
                </c:pt>
                <c:pt idx="10">
                  <c:v>1940</c:v>
                </c:pt>
                <c:pt idx="11">
                  <c:v>2000</c:v>
                </c:pt>
                <c:pt idx="12">
                  <c:v>1890</c:v>
                </c:pt>
                <c:pt idx="13">
                  <c:v>4478</c:v>
                </c:pt>
                <c:pt idx="14">
                  <c:v>1268</c:v>
                </c:pt>
                <c:pt idx="15">
                  <c:v>2300</c:v>
                </c:pt>
                <c:pt idx="16">
                  <c:v>1320</c:v>
                </c:pt>
                <c:pt idx="17">
                  <c:v>1236</c:v>
                </c:pt>
                <c:pt idx="18">
                  <c:v>2609</c:v>
                </c:pt>
                <c:pt idx="19">
                  <c:v>3031</c:v>
                </c:pt>
                <c:pt idx="20">
                  <c:v>1767</c:v>
                </c:pt>
                <c:pt idx="21">
                  <c:v>1888</c:v>
                </c:pt>
                <c:pt idx="22">
                  <c:v>1604</c:v>
                </c:pt>
                <c:pt idx="23">
                  <c:v>1962</c:v>
                </c:pt>
                <c:pt idx="24">
                  <c:v>3890</c:v>
                </c:pt>
                <c:pt idx="25">
                  <c:v>1100</c:v>
                </c:pt>
                <c:pt idx="26">
                  <c:v>1458</c:v>
                </c:pt>
                <c:pt idx="27">
                  <c:v>2526</c:v>
                </c:pt>
                <c:pt idx="28">
                  <c:v>2200</c:v>
                </c:pt>
                <c:pt idx="29">
                  <c:v>2637</c:v>
                </c:pt>
                <c:pt idx="30">
                  <c:v>1839</c:v>
                </c:pt>
                <c:pt idx="31">
                  <c:v>1000</c:v>
                </c:pt>
                <c:pt idx="32">
                  <c:v>2040</c:v>
                </c:pt>
                <c:pt idx="33">
                  <c:v>3137</c:v>
                </c:pt>
                <c:pt idx="34">
                  <c:v>1811</c:v>
                </c:pt>
                <c:pt idx="35">
                  <c:v>1437</c:v>
                </c:pt>
                <c:pt idx="36">
                  <c:v>1239</c:v>
                </c:pt>
                <c:pt idx="37">
                  <c:v>2132</c:v>
                </c:pt>
                <c:pt idx="38">
                  <c:v>4215</c:v>
                </c:pt>
                <c:pt idx="39">
                  <c:v>2162</c:v>
                </c:pt>
                <c:pt idx="40">
                  <c:v>1664</c:v>
                </c:pt>
                <c:pt idx="41">
                  <c:v>2238</c:v>
                </c:pt>
                <c:pt idx="42">
                  <c:v>2567</c:v>
                </c:pt>
                <c:pt idx="43">
                  <c:v>1200</c:v>
                </c:pt>
                <c:pt idx="44">
                  <c:v>852</c:v>
                </c:pt>
                <c:pt idx="45">
                  <c:v>1852</c:v>
                </c:pt>
                <c:pt idx="46">
                  <c:v>1203</c:v>
                </c:pt>
              </c:numCache>
            </c:numRef>
          </c:xVal>
          <c:yVal>
            <c:numRef>
              <c:f>portland!$B$1:$B$48</c:f>
              <c:numCache>
                <c:formatCode>General</c:formatCode>
                <c:ptCount val="48"/>
                <c:pt idx="0">
                  <c:v>399900</c:v>
                </c:pt>
                <c:pt idx="1">
                  <c:v>329900</c:v>
                </c:pt>
                <c:pt idx="2">
                  <c:v>369000</c:v>
                </c:pt>
                <c:pt idx="3">
                  <c:v>232000</c:v>
                </c:pt>
                <c:pt idx="4">
                  <c:v>539900</c:v>
                </c:pt>
                <c:pt idx="5">
                  <c:v>299900</c:v>
                </c:pt>
                <c:pt idx="6">
                  <c:v>314900</c:v>
                </c:pt>
                <c:pt idx="7">
                  <c:v>198999</c:v>
                </c:pt>
                <c:pt idx="8">
                  <c:v>212000</c:v>
                </c:pt>
                <c:pt idx="9">
                  <c:v>242500</c:v>
                </c:pt>
                <c:pt idx="10">
                  <c:v>239999</c:v>
                </c:pt>
                <c:pt idx="11">
                  <c:v>347000</c:v>
                </c:pt>
                <c:pt idx="12">
                  <c:v>329999</c:v>
                </c:pt>
                <c:pt idx="13">
                  <c:v>699900</c:v>
                </c:pt>
                <c:pt idx="14">
                  <c:v>259900</c:v>
                </c:pt>
                <c:pt idx="15">
                  <c:v>449900</c:v>
                </c:pt>
                <c:pt idx="16">
                  <c:v>299900</c:v>
                </c:pt>
                <c:pt idx="17">
                  <c:v>199900</c:v>
                </c:pt>
                <c:pt idx="18">
                  <c:v>499998</c:v>
                </c:pt>
                <c:pt idx="19">
                  <c:v>599000</c:v>
                </c:pt>
                <c:pt idx="20">
                  <c:v>252900</c:v>
                </c:pt>
                <c:pt idx="21">
                  <c:v>255000</c:v>
                </c:pt>
                <c:pt idx="22">
                  <c:v>242900</c:v>
                </c:pt>
                <c:pt idx="23">
                  <c:v>259900</c:v>
                </c:pt>
                <c:pt idx="24">
                  <c:v>573900</c:v>
                </c:pt>
                <c:pt idx="25">
                  <c:v>249900</c:v>
                </c:pt>
                <c:pt idx="26">
                  <c:v>464500</c:v>
                </c:pt>
                <c:pt idx="27">
                  <c:v>469000</c:v>
                </c:pt>
                <c:pt idx="28">
                  <c:v>475000</c:v>
                </c:pt>
                <c:pt idx="29">
                  <c:v>299900</c:v>
                </c:pt>
                <c:pt idx="30">
                  <c:v>349900</c:v>
                </c:pt>
                <c:pt idx="31">
                  <c:v>169900</c:v>
                </c:pt>
                <c:pt idx="32">
                  <c:v>314900</c:v>
                </c:pt>
                <c:pt idx="33">
                  <c:v>579900</c:v>
                </c:pt>
                <c:pt idx="34">
                  <c:v>285900</c:v>
                </c:pt>
                <c:pt idx="35">
                  <c:v>249900</c:v>
                </c:pt>
                <c:pt idx="36">
                  <c:v>229900</c:v>
                </c:pt>
                <c:pt idx="37">
                  <c:v>345000</c:v>
                </c:pt>
                <c:pt idx="38">
                  <c:v>549000</c:v>
                </c:pt>
                <c:pt idx="39">
                  <c:v>287000</c:v>
                </c:pt>
                <c:pt idx="40">
                  <c:v>368500</c:v>
                </c:pt>
                <c:pt idx="41">
                  <c:v>329900</c:v>
                </c:pt>
                <c:pt idx="42">
                  <c:v>314000</c:v>
                </c:pt>
                <c:pt idx="43">
                  <c:v>299000</c:v>
                </c:pt>
                <c:pt idx="44">
                  <c:v>179900</c:v>
                </c:pt>
                <c:pt idx="45">
                  <c:v>299900</c:v>
                </c:pt>
                <c:pt idx="46">
                  <c:v>239500</c:v>
                </c:pt>
              </c:numCache>
            </c:numRef>
          </c:yVal>
          <c:smooth val="0"/>
          <c:extLst>
            <c:ext xmlns:c16="http://schemas.microsoft.com/office/drawing/2014/chart" uri="{C3380CC4-5D6E-409C-BE32-E72D297353CC}">
              <c16:uniqueId val="{00000000-3D1C-4C3D-9C51-A756D9036033}"/>
            </c:ext>
          </c:extLst>
        </c:ser>
        <c:dLbls>
          <c:showLegendKey val="0"/>
          <c:showVal val="0"/>
          <c:showCatName val="0"/>
          <c:showSerName val="0"/>
          <c:showPercent val="0"/>
          <c:showBubbleSize val="0"/>
        </c:dLbls>
        <c:axId val="264624000"/>
        <c:axId val="264631040"/>
      </c:scatterChart>
      <c:valAx>
        <c:axId val="264624000"/>
        <c:scaling>
          <c:orientation val="minMax"/>
          <c:max val="3000"/>
        </c:scaling>
        <c:delete val="0"/>
        <c:axPos val="b"/>
        <c:numFmt formatCode="General" sourceLinked="1"/>
        <c:majorTickMark val="out"/>
        <c:minorTickMark val="none"/>
        <c:tickLblPos val="nextTo"/>
        <c:crossAx val="264631040"/>
        <c:crosses val="autoZero"/>
        <c:crossBetween val="midCat"/>
      </c:valAx>
      <c:valAx>
        <c:axId val="264631040"/>
        <c:scaling>
          <c:orientation val="minMax"/>
          <c:max val="500000"/>
        </c:scaling>
        <c:delete val="0"/>
        <c:axPos val="l"/>
        <c:majorGridlines/>
        <c:numFmt formatCode="General" sourceLinked="0"/>
        <c:majorTickMark val="out"/>
        <c:minorTickMark val="none"/>
        <c:tickLblPos val="nextTo"/>
        <c:crossAx val="264624000"/>
        <c:crosses val="autoZero"/>
        <c:crossBetween val="midCat"/>
        <c:majorUnit val="100000"/>
        <c:dispUnits>
          <c:builtInUnit val="thousands"/>
        </c:dispUnits>
      </c:valAx>
      <c:spPr>
        <a:noFill/>
        <a:ln w="25400">
          <a:noFill/>
        </a:ln>
      </c:spPr>
    </c:plotArea>
    <c:plotVisOnly val="1"/>
    <c:dispBlanksAs val="gap"/>
    <c:showDLblsOverMax val="0"/>
  </c:chart>
  <c:txPr>
    <a:bodyPr/>
    <a:lstStyle/>
    <a:p>
      <a:pPr>
        <a:defRPr sz="16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none"/>
          </c:marker>
          <c:xVal>
            <c:numRef>
              <c:f>Sheet1!$A$2:$A$5</c:f>
              <c:numCache>
                <c:formatCode>General</c:formatCode>
                <c:ptCount val="4"/>
                <c:pt idx="0">
                  <c:v>1</c:v>
                </c:pt>
                <c:pt idx="1">
                  <c:v>2</c:v>
                </c:pt>
              </c:numCache>
            </c:numRef>
          </c:xVal>
          <c:yVal>
            <c:numRef>
              <c:f>Sheet1!$B$2:$B$5</c:f>
              <c:numCache>
                <c:formatCode>General</c:formatCode>
                <c:ptCount val="4"/>
                <c:pt idx="0">
                  <c:v>1</c:v>
                </c:pt>
                <c:pt idx="1">
                  <c:v>2</c:v>
                </c:pt>
              </c:numCache>
            </c:numRef>
          </c:yVal>
          <c:smooth val="0"/>
          <c:extLst>
            <c:ext xmlns:c16="http://schemas.microsoft.com/office/drawing/2014/chart" uri="{C3380CC4-5D6E-409C-BE32-E72D297353CC}">
              <c16:uniqueId val="{00000000-11D9-459C-A841-81D352844A17}"/>
            </c:ext>
          </c:extLst>
        </c:ser>
        <c:dLbls>
          <c:showLegendKey val="0"/>
          <c:showVal val="0"/>
          <c:showCatName val="0"/>
          <c:showSerName val="0"/>
          <c:showPercent val="0"/>
          <c:showBubbleSize val="0"/>
        </c:dLbls>
        <c:axId val="264561024"/>
        <c:axId val="264562560"/>
      </c:scatterChart>
      <c:valAx>
        <c:axId val="264561024"/>
        <c:scaling>
          <c:orientation val="minMax"/>
        </c:scaling>
        <c:delete val="0"/>
        <c:axPos val="b"/>
        <c:numFmt formatCode="General" sourceLinked="1"/>
        <c:majorTickMark val="cross"/>
        <c:minorTickMark val="none"/>
        <c:tickLblPos val="nextTo"/>
        <c:spPr>
          <a:ln w="38100"/>
        </c:spPr>
        <c:crossAx val="264562560"/>
        <c:crosses val="autoZero"/>
        <c:crossBetween val="midCat"/>
        <c:majorUnit val="1"/>
      </c:valAx>
      <c:valAx>
        <c:axId val="264562560"/>
        <c:scaling>
          <c:orientation val="minMax"/>
        </c:scaling>
        <c:delete val="0"/>
        <c:axPos val="l"/>
        <c:majorGridlines>
          <c:spPr>
            <a:ln>
              <a:noFill/>
            </a:ln>
          </c:spPr>
        </c:majorGridlines>
        <c:numFmt formatCode="General" sourceLinked="1"/>
        <c:majorTickMark val="cross"/>
        <c:minorTickMark val="none"/>
        <c:tickLblPos val="nextTo"/>
        <c:spPr>
          <a:ln w="38100"/>
        </c:spPr>
        <c:crossAx val="264561024"/>
        <c:crosses val="autoZero"/>
        <c:crossBetween val="midCat"/>
        <c:majorUnit val="1"/>
      </c:valAx>
      <c:spPr>
        <a:ln w="12700">
          <a:noFill/>
        </a:ln>
      </c:spPr>
    </c:plotArea>
    <c:plotVisOnly val="1"/>
    <c:dispBlanksAs val="gap"/>
    <c:showDLblsOverMax val="0"/>
  </c:chart>
  <c:txPr>
    <a:bodyPr/>
    <a:lstStyle/>
    <a:p>
      <a:pPr>
        <a:defRPr sz="20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none"/>
          </c:marker>
          <c:xVal>
            <c:numRef>
              <c:f>Sheet1!$A$2:$A$5</c:f>
              <c:numCache>
                <c:formatCode>General</c:formatCode>
                <c:ptCount val="4"/>
                <c:pt idx="0">
                  <c:v>1</c:v>
                </c:pt>
                <c:pt idx="1">
                  <c:v>2</c:v>
                </c:pt>
              </c:numCache>
            </c:numRef>
          </c:xVal>
          <c:yVal>
            <c:numRef>
              <c:f>Sheet1!$B$2:$B$5</c:f>
              <c:numCache>
                <c:formatCode>General</c:formatCode>
                <c:ptCount val="4"/>
                <c:pt idx="0">
                  <c:v>1</c:v>
                </c:pt>
                <c:pt idx="1">
                  <c:v>2</c:v>
                </c:pt>
              </c:numCache>
            </c:numRef>
          </c:yVal>
          <c:smooth val="0"/>
          <c:extLst>
            <c:ext xmlns:c16="http://schemas.microsoft.com/office/drawing/2014/chart" uri="{C3380CC4-5D6E-409C-BE32-E72D297353CC}">
              <c16:uniqueId val="{00000000-653A-460C-97A8-68541486D9C4}"/>
            </c:ext>
          </c:extLst>
        </c:ser>
        <c:dLbls>
          <c:showLegendKey val="0"/>
          <c:showVal val="0"/>
          <c:showCatName val="0"/>
          <c:showSerName val="0"/>
          <c:showPercent val="0"/>
          <c:showBubbleSize val="0"/>
        </c:dLbls>
        <c:axId val="264660096"/>
        <c:axId val="264661632"/>
      </c:scatterChart>
      <c:valAx>
        <c:axId val="264660096"/>
        <c:scaling>
          <c:orientation val="minMax"/>
        </c:scaling>
        <c:delete val="0"/>
        <c:axPos val="b"/>
        <c:numFmt formatCode="General" sourceLinked="1"/>
        <c:majorTickMark val="cross"/>
        <c:minorTickMark val="none"/>
        <c:tickLblPos val="nextTo"/>
        <c:spPr>
          <a:ln w="38100"/>
        </c:spPr>
        <c:crossAx val="264661632"/>
        <c:crosses val="autoZero"/>
        <c:crossBetween val="midCat"/>
        <c:majorUnit val="1"/>
      </c:valAx>
      <c:valAx>
        <c:axId val="264661632"/>
        <c:scaling>
          <c:orientation val="minMax"/>
        </c:scaling>
        <c:delete val="0"/>
        <c:axPos val="l"/>
        <c:majorGridlines>
          <c:spPr>
            <a:ln>
              <a:noFill/>
            </a:ln>
          </c:spPr>
        </c:majorGridlines>
        <c:numFmt formatCode="General" sourceLinked="1"/>
        <c:majorTickMark val="cross"/>
        <c:minorTickMark val="none"/>
        <c:tickLblPos val="nextTo"/>
        <c:spPr>
          <a:ln w="38100"/>
        </c:spPr>
        <c:crossAx val="264660096"/>
        <c:crosses val="autoZero"/>
        <c:crossBetween val="midCat"/>
        <c:majorUnit val="1"/>
      </c:valAx>
      <c:spPr>
        <a:ln w="12700">
          <a:noFill/>
        </a:ln>
      </c:spPr>
    </c:plotArea>
    <c:plotVisOnly val="1"/>
    <c:dispBlanksAs val="gap"/>
    <c:showDLblsOverMax val="0"/>
  </c:chart>
  <c:txPr>
    <a:bodyPr/>
    <a:lstStyle/>
    <a:p>
      <a:pPr>
        <a:defRPr sz="20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none"/>
          </c:marker>
          <c:xVal>
            <c:numRef>
              <c:f>Sheet1!$A$2:$A$5</c:f>
              <c:numCache>
                <c:formatCode>General</c:formatCode>
                <c:ptCount val="4"/>
                <c:pt idx="0">
                  <c:v>1</c:v>
                </c:pt>
                <c:pt idx="1">
                  <c:v>2</c:v>
                </c:pt>
              </c:numCache>
            </c:numRef>
          </c:xVal>
          <c:yVal>
            <c:numRef>
              <c:f>Sheet1!$B$2:$B$5</c:f>
              <c:numCache>
                <c:formatCode>General</c:formatCode>
                <c:ptCount val="4"/>
                <c:pt idx="0">
                  <c:v>1</c:v>
                </c:pt>
                <c:pt idx="1">
                  <c:v>2</c:v>
                </c:pt>
              </c:numCache>
            </c:numRef>
          </c:yVal>
          <c:smooth val="0"/>
          <c:extLst>
            <c:ext xmlns:c16="http://schemas.microsoft.com/office/drawing/2014/chart" uri="{C3380CC4-5D6E-409C-BE32-E72D297353CC}">
              <c16:uniqueId val="{00000000-AC5B-40C3-92AB-0C3143FF520B}"/>
            </c:ext>
          </c:extLst>
        </c:ser>
        <c:dLbls>
          <c:showLegendKey val="0"/>
          <c:showVal val="0"/>
          <c:showCatName val="0"/>
          <c:showSerName val="0"/>
          <c:showPercent val="0"/>
          <c:showBubbleSize val="0"/>
        </c:dLbls>
        <c:axId val="264681344"/>
        <c:axId val="264682880"/>
      </c:scatterChart>
      <c:valAx>
        <c:axId val="264681344"/>
        <c:scaling>
          <c:orientation val="minMax"/>
        </c:scaling>
        <c:delete val="0"/>
        <c:axPos val="b"/>
        <c:numFmt formatCode="General" sourceLinked="1"/>
        <c:majorTickMark val="cross"/>
        <c:minorTickMark val="none"/>
        <c:tickLblPos val="nextTo"/>
        <c:spPr>
          <a:ln w="38100"/>
        </c:spPr>
        <c:crossAx val="264682880"/>
        <c:crosses val="autoZero"/>
        <c:crossBetween val="midCat"/>
        <c:majorUnit val="1"/>
      </c:valAx>
      <c:valAx>
        <c:axId val="264682880"/>
        <c:scaling>
          <c:orientation val="minMax"/>
        </c:scaling>
        <c:delete val="0"/>
        <c:axPos val="l"/>
        <c:majorGridlines>
          <c:spPr>
            <a:ln>
              <a:noFill/>
            </a:ln>
          </c:spPr>
        </c:majorGridlines>
        <c:numFmt formatCode="General" sourceLinked="1"/>
        <c:majorTickMark val="cross"/>
        <c:minorTickMark val="none"/>
        <c:tickLblPos val="nextTo"/>
        <c:spPr>
          <a:ln w="38100"/>
        </c:spPr>
        <c:crossAx val="264681344"/>
        <c:crosses val="autoZero"/>
        <c:crossBetween val="midCat"/>
        <c:majorUnit val="1"/>
      </c:valAx>
      <c:spPr>
        <a:ln w="12700">
          <a:noFill/>
        </a:ln>
      </c:spPr>
    </c:plotArea>
    <c:plotVisOnly val="1"/>
    <c:dispBlanksAs val="gap"/>
    <c:showDLblsOverMax val="0"/>
  </c:chart>
  <c:txPr>
    <a:bodyPr/>
    <a:lstStyle/>
    <a:p>
      <a:pPr>
        <a:defRPr sz="20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4"/>
          <c:order val="4"/>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0-5C1C-4BCB-911C-76D8EAAD370A}"/>
            </c:ext>
          </c:extLst>
        </c:ser>
        <c:ser>
          <c:idx val="5"/>
          <c:order val="5"/>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1-5C1C-4BCB-911C-76D8EAAD370A}"/>
            </c:ext>
          </c:extLst>
        </c:ser>
        <c:ser>
          <c:idx val="6"/>
          <c:order val="6"/>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2-5C1C-4BCB-911C-76D8EAAD370A}"/>
            </c:ext>
          </c:extLst>
        </c:ser>
        <c:ser>
          <c:idx val="7"/>
          <c:order val="7"/>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3-5C1C-4BCB-911C-76D8EAAD370A}"/>
            </c:ext>
          </c:extLst>
        </c:ser>
        <c:ser>
          <c:idx val="2"/>
          <c:order val="2"/>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4-5C1C-4BCB-911C-76D8EAAD370A}"/>
            </c:ext>
          </c:extLst>
        </c:ser>
        <c:ser>
          <c:idx val="3"/>
          <c:order val="3"/>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5-5C1C-4BCB-911C-76D8EAAD370A}"/>
            </c:ext>
          </c:extLst>
        </c:ser>
        <c:ser>
          <c:idx val="1"/>
          <c:order val="1"/>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6-5C1C-4BCB-911C-76D8EAAD370A}"/>
            </c:ext>
          </c:extLst>
        </c:ser>
        <c:ser>
          <c:idx val="0"/>
          <c:order val="0"/>
          <c:spPr>
            <a:ln w="0">
              <a:noFill/>
            </a:ln>
          </c:spPr>
          <c:marker>
            <c:symbol val="x"/>
            <c:size val="13"/>
            <c:spPr>
              <a:ln w="19050">
                <a:solidFill>
                  <a:schemeClr val="accent2"/>
                </a:solidFill>
              </a:ln>
            </c:spPr>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7-5C1C-4BCB-911C-76D8EAAD370A}"/>
            </c:ext>
          </c:extLst>
        </c:ser>
        <c:dLbls>
          <c:showLegendKey val="0"/>
          <c:showVal val="0"/>
          <c:showCatName val="0"/>
          <c:showSerName val="0"/>
          <c:showPercent val="0"/>
          <c:showBubbleSize val="0"/>
        </c:dLbls>
        <c:axId val="264024064"/>
        <c:axId val="264025984"/>
      </c:scatterChart>
      <c:valAx>
        <c:axId val="264024064"/>
        <c:scaling>
          <c:orientation val="minMax"/>
          <c:max val="3"/>
        </c:scaling>
        <c:delete val="0"/>
        <c:axPos val="b"/>
        <c:numFmt formatCode="General" sourceLinked="1"/>
        <c:majorTickMark val="cross"/>
        <c:minorTickMark val="none"/>
        <c:tickLblPos val="nextTo"/>
        <c:spPr>
          <a:ln w="38100"/>
        </c:spPr>
        <c:crossAx val="264025984"/>
        <c:crosses val="autoZero"/>
        <c:crossBetween val="midCat"/>
        <c:majorUnit val="1"/>
      </c:valAx>
      <c:valAx>
        <c:axId val="264025984"/>
        <c:scaling>
          <c:orientation val="minMax"/>
          <c:max val="3"/>
        </c:scaling>
        <c:delete val="0"/>
        <c:axPos val="l"/>
        <c:majorGridlines>
          <c:spPr>
            <a:ln>
              <a:noFill/>
            </a:ln>
          </c:spPr>
        </c:majorGridlines>
        <c:numFmt formatCode="General" sourceLinked="1"/>
        <c:majorTickMark val="cross"/>
        <c:minorTickMark val="none"/>
        <c:tickLblPos val="nextTo"/>
        <c:spPr>
          <a:ln w="38100"/>
        </c:spPr>
        <c:crossAx val="264024064"/>
        <c:crosses val="autoZero"/>
        <c:crossBetween val="midCat"/>
        <c:majorUnit val="1"/>
      </c:valAx>
    </c:plotArea>
    <c:plotVisOnly val="1"/>
    <c:dispBlanksAs val="gap"/>
    <c:showDLblsOverMax val="0"/>
  </c:chart>
  <c:txPr>
    <a:bodyPr/>
    <a:lstStyle/>
    <a:p>
      <a:pPr>
        <a:defRPr sz="20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4"/>
          <c:order val="4"/>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0-88DA-461D-89FD-3F9CA5ADC26A}"/>
            </c:ext>
          </c:extLst>
        </c:ser>
        <c:ser>
          <c:idx val="5"/>
          <c:order val="5"/>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1-88DA-461D-89FD-3F9CA5ADC26A}"/>
            </c:ext>
          </c:extLst>
        </c:ser>
        <c:ser>
          <c:idx val="6"/>
          <c:order val="6"/>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2-88DA-461D-89FD-3F9CA5ADC26A}"/>
            </c:ext>
          </c:extLst>
        </c:ser>
        <c:ser>
          <c:idx val="7"/>
          <c:order val="7"/>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3-88DA-461D-89FD-3F9CA5ADC26A}"/>
            </c:ext>
          </c:extLst>
        </c:ser>
        <c:ser>
          <c:idx val="2"/>
          <c:order val="2"/>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4-88DA-461D-89FD-3F9CA5ADC26A}"/>
            </c:ext>
          </c:extLst>
        </c:ser>
        <c:ser>
          <c:idx val="3"/>
          <c:order val="3"/>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5-88DA-461D-89FD-3F9CA5ADC26A}"/>
            </c:ext>
          </c:extLst>
        </c:ser>
        <c:ser>
          <c:idx val="1"/>
          <c:order val="1"/>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6-88DA-461D-89FD-3F9CA5ADC26A}"/>
            </c:ext>
          </c:extLst>
        </c:ser>
        <c:ser>
          <c:idx val="0"/>
          <c:order val="0"/>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7-88DA-461D-89FD-3F9CA5ADC26A}"/>
            </c:ext>
          </c:extLst>
        </c:ser>
        <c:dLbls>
          <c:showLegendKey val="0"/>
          <c:showVal val="0"/>
          <c:showCatName val="0"/>
          <c:showSerName val="0"/>
          <c:showPercent val="0"/>
          <c:showBubbleSize val="0"/>
        </c:dLbls>
        <c:axId val="50883584"/>
        <c:axId val="50893568"/>
      </c:scatterChart>
      <c:valAx>
        <c:axId val="50883584"/>
        <c:scaling>
          <c:orientation val="minMax"/>
          <c:max val="2.5"/>
          <c:min val="-0.5"/>
        </c:scaling>
        <c:delete val="0"/>
        <c:axPos val="b"/>
        <c:numFmt formatCode="General" sourceLinked="1"/>
        <c:majorTickMark val="cross"/>
        <c:minorTickMark val="none"/>
        <c:tickLblPos val="nextTo"/>
        <c:spPr>
          <a:ln w="38100"/>
        </c:spPr>
        <c:crossAx val="50893568"/>
        <c:crosses val="autoZero"/>
        <c:crossBetween val="midCat"/>
        <c:majorUnit val="0.5"/>
      </c:valAx>
      <c:valAx>
        <c:axId val="50893568"/>
        <c:scaling>
          <c:orientation val="minMax"/>
          <c:max val="3"/>
          <c:min val="0"/>
        </c:scaling>
        <c:delete val="0"/>
        <c:axPos val="l"/>
        <c:majorGridlines>
          <c:spPr>
            <a:ln>
              <a:noFill/>
            </a:ln>
          </c:spPr>
        </c:majorGridlines>
        <c:numFmt formatCode="General" sourceLinked="1"/>
        <c:majorTickMark val="cross"/>
        <c:minorTickMark val="none"/>
        <c:tickLblPos val="nextTo"/>
        <c:spPr>
          <a:ln w="38100"/>
        </c:spPr>
        <c:crossAx val="50883584"/>
        <c:crosses val="autoZero"/>
        <c:crossBetween val="midCat"/>
        <c:majorUnit val="1"/>
      </c:valAx>
    </c:plotArea>
    <c:plotVisOnly val="1"/>
    <c:dispBlanksAs val="gap"/>
    <c:showDLblsOverMax val="0"/>
  </c:chart>
  <c:txPr>
    <a:bodyPr/>
    <a:lstStyle/>
    <a:p>
      <a:pPr>
        <a:defRPr sz="20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4"/>
          <c:order val="4"/>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0-08AD-4E8D-97BA-EEC4D0A98CFA}"/>
            </c:ext>
          </c:extLst>
        </c:ser>
        <c:ser>
          <c:idx val="5"/>
          <c:order val="5"/>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1-08AD-4E8D-97BA-EEC4D0A98CFA}"/>
            </c:ext>
          </c:extLst>
        </c:ser>
        <c:ser>
          <c:idx val="6"/>
          <c:order val="6"/>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2-08AD-4E8D-97BA-EEC4D0A98CFA}"/>
            </c:ext>
          </c:extLst>
        </c:ser>
        <c:ser>
          <c:idx val="7"/>
          <c:order val="7"/>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3-08AD-4E8D-97BA-EEC4D0A98CFA}"/>
            </c:ext>
          </c:extLst>
        </c:ser>
        <c:ser>
          <c:idx val="2"/>
          <c:order val="2"/>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4-08AD-4E8D-97BA-EEC4D0A98CFA}"/>
            </c:ext>
          </c:extLst>
        </c:ser>
        <c:ser>
          <c:idx val="3"/>
          <c:order val="3"/>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5-08AD-4E8D-97BA-EEC4D0A98CFA}"/>
            </c:ext>
          </c:extLst>
        </c:ser>
        <c:ser>
          <c:idx val="1"/>
          <c:order val="1"/>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6-08AD-4E8D-97BA-EEC4D0A98CFA}"/>
            </c:ext>
          </c:extLst>
        </c:ser>
        <c:ser>
          <c:idx val="0"/>
          <c:order val="0"/>
          <c:spPr>
            <a:ln w="0">
              <a:noFill/>
            </a:ln>
          </c:spPr>
          <c:marker>
            <c:symbol val="x"/>
            <c:size val="13"/>
            <c:spPr>
              <a:ln w="19050">
                <a:solidFill>
                  <a:schemeClr val="accent2"/>
                </a:solidFill>
              </a:ln>
            </c:spPr>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7-08AD-4E8D-97BA-EEC4D0A98CFA}"/>
            </c:ext>
          </c:extLst>
        </c:ser>
        <c:dLbls>
          <c:showLegendKey val="0"/>
          <c:showVal val="0"/>
          <c:showCatName val="0"/>
          <c:showSerName val="0"/>
          <c:showPercent val="0"/>
          <c:showBubbleSize val="0"/>
        </c:dLbls>
        <c:axId val="264378624"/>
        <c:axId val="264397184"/>
      </c:scatterChart>
      <c:valAx>
        <c:axId val="264378624"/>
        <c:scaling>
          <c:orientation val="minMax"/>
          <c:max val="3"/>
        </c:scaling>
        <c:delete val="0"/>
        <c:axPos val="b"/>
        <c:numFmt formatCode="General" sourceLinked="1"/>
        <c:majorTickMark val="cross"/>
        <c:minorTickMark val="none"/>
        <c:tickLblPos val="nextTo"/>
        <c:spPr>
          <a:ln w="38100"/>
        </c:spPr>
        <c:crossAx val="264397184"/>
        <c:crosses val="autoZero"/>
        <c:crossBetween val="midCat"/>
        <c:majorUnit val="1"/>
      </c:valAx>
      <c:valAx>
        <c:axId val="264397184"/>
        <c:scaling>
          <c:orientation val="minMax"/>
          <c:max val="3"/>
        </c:scaling>
        <c:delete val="0"/>
        <c:axPos val="l"/>
        <c:majorGridlines>
          <c:spPr>
            <a:ln>
              <a:noFill/>
            </a:ln>
          </c:spPr>
        </c:majorGridlines>
        <c:numFmt formatCode="General" sourceLinked="1"/>
        <c:majorTickMark val="cross"/>
        <c:minorTickMark val="none"/>
        <c:tickLblPos val="nextTo"/>
        <c:spPr>
          <a:ln w="38100"/>
        </c:spPr>
        <c:crossAx val="264378624"/>
        <c:crosses val="autoZero"/>
        <c:crossBetween val="midCat"/>
        <c:majorUnit val="1"/>
      </c:valAx>
    </c:plotArea>
    <c:plotVisOnly val="1"/>
    <c:dispBlanksAs val="gap"/>
    <c:showDLblsOverMax val="0"/>
  </c:chart>
  <c:txPr>
    <a:bodyPr/>
    <a:lstStyle/>
    <a:p>
      <a:pPr>
        <a:defRPr sz="20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4"/>
          <c:order val="4"/>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0-FE96-406C-88F4-CC9B08E69E5F}"/>
            </c:ext>
          </c:extLst>
        </c:ser>
        <c:ser>
          <c:idx val="5"/>
          <c:order val="5"/>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1-FE96-406C-88F4-CC9B08E69E5F}"/>
            </c:ext>
          </c:extLst>
        </c:ser>
        <c:ser>
          <c:idx val="6"/>
          <c:order val="6"/>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2-FE96-406C-88F4-CC9B08E69E5F}"/>
            </c:ext>
          </c:extLst>
        </c:ser>
        <c:ser>
          <c:idx val="7"/>
          <c:order val="7"/>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3-FE96-406C-88F4-CC9B08E69E5F}"/>
            </c:ext>
          </c:extLst>
        </c:ser>
        <c:ser>
          <c:idx val="2"/>
          <c:order val="2"/>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4-FE96-406C-88F4-CC9B08E69E5F}"/>
            </c:ext>
          </c:extLst>
        </c:ser>
        <c:ser>
          <c:idx val="3"/>
          <c:order val="3"/>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5-FE96-406C-88F4-CC9B08E69E5F}"/>
            </c:ext>
          </c:extLst>
        </c:ser>
        <c:ser>
          <c:idx val="1"/>
          <c:order val="1"/>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6-FE96-406C-88F4-CC9B08E69E5F}"/>
            </c:ext>
          </c:extLst>
        </c:ser>
        <c:ser>
          <c:idx val="0"/>
          <c:order val="0"/>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7-FE96-406C-88F4-CC9B08E69E5F}"/>
            </c:ext>
          </c:extLst>
        </c:ser>
        <c:dLbls>
          <c:showLegendKey val="0"/>
          <c:showVal val="0"/>
          <c:showCatName val="0"/>
          <c:showSerName val="0"/>
          <c:showPercent val="0"/>
          <c:showBubbleSize val="0"/>
        </c:dLbls>
        <c:axId val="264447104"/>
        <c:axId val="264448640"/>
      </c:scatterChart>
      <c:valAx>
        <c:axId val="264447104"/>
        <c:scaling>
          <c:orientation val="minMax"/>
          <c:max val="2.5"/>
          <c:min val="-0.5"/>
        </c:scaling>
        <c:delete val="0"/>
        <c:axPos val="b"/>
        <c:numFmt formatCode="General" sourceLinked="1"/>
        <c:majorTickMark val="cross"/>
        <c:minorTickMark val="none"/>
        <c:tickLblPos val="nextTo"/>
        <c:spPr>
          <a:ln w="38100"/>
        </c:spPr>
        <c:crossAx val="264448640"/>
        <c:crosses val="autoZero"/>
        <c:crossBetween val="midCat"/>
        <c:majorUnit val="0.5"/>
      </c:valAx>
      <c:valAx>
        <c:axId val="264448640"/>
        <c:scaling>
          <c:orientation val="minMax"/>
          <c:max val="3"/>
          <c:min val="0"/>
        </c:scaling>
        <c:delete val="0"/>
        <c:axPos val="l"/>
        <c:majorGridlines>
          <c:spPr>
            <a:ln>
              <a:noFill/>
            </a:ln>
          </c:spPr>
        </c:majorGridlines>
        <c:numFmt formatCode="General" sourceLinked="1"/>
        <c:majorTickMark val="cross"/>
        <c:minorTickMark val="none"/>
        <c:tickLblPos val="nextTo"/>
        <c:spPr>
          <a:ln w="38100"/>
        </c:spPr>
        <c:crossAx val="264447104"/>
        <c:crosses val="autoZero"/>
        <c:crossBetween val="midCat"/>
        <c:majorUnit val="1"/>
      </c:valAx>
    </c:plotArea>
    <c:plotVisOnly val="1"/>
    <c:dispBlanksAs val="gap"/>
    <c:showDLblsOverMax val="0"/>
  </c:chart>
  <c:txPr>
    <a:bodyPr/>
    <a:lstStyle/>
    <a:p>
      <a:pPr>
        <a:defRPr sz="20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4"/>
          <c:order val="4"/>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0-F1B0-4B2A-911F-6087387E6A7F}"/>
            </c:ext>
          </c:extLst>
        </c:ser>
        <c:ser>
          <c:idx val="5"/>
          <c:order val="5"/>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1-F1B0-4B2A-911F-6087387E6A7F}"/>
            </c:ext>
          </c:extLst>
        </c:ser>
        <c:ser>
          <c:idx val="6"/>
          <c:order val="6"/>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2-F1B0-4B2A-911F-6087387E6A7F}"/>
            </c:ext>
          </c:extLst>
        </c:ser>
        <c:ser>
          <c:idx val="7"/>
          <c:order val="7"/>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3-F1B0-4B2A-911F-6087387E6A7F}"/>
            </c:ext>
          </c:extLst>
        </c:ser>
        <c:ser>
          <c:idx val="2"/>
          <c:order val="2"/>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4-F1B0-4B2A-911F-6087387E6A7F}"/>
            </c:ext>
          </c:extLst>
        </c:ser>
        <c:ser>
          <c:idx val="3"/>
          <c:order val="3"/>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5-F1B0-4B2A-911F-6087387E6A7F}"/>
            </c:ext>
          </c:extLst>
        </c:ser>
        <c:ser>
          <c:idx val="1"/>
          <c:order val="1"/>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6-F1B0-4B2A-911F-6087387E6A7F}"/>
            </c:ext>
          </c:extLst>
        </c:ser>
        <c:ser>
          <c:idx val="0"/>
          <c:order val="0"/>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7-F1B0-4B2A-911F-6087387E6A7F}"/>
            </c:ext>
          </c:extLst>
        </c:ser>
        <c:dLbls>
          <c:showLegendKey val="0"/>
          <c:showVal val="0"/>
          <c:showCatName val="0"/>
          <c:showSerName val="0"/>
          <c:showPercent val="0"/>
          <c:showBubbleSize val="0"/>
        </c:dLbls>
        <c:axId val="265170304"/>
        <c:axId val="265188480"/>
      </c:scatterChart>
      <c:valAx>
        <c:axId val="265170304"/>
        <c:scaling>
          <c:orientation val="minMax"/>
          <c:max val="2.5"/>
          <c:min val="-0.5"/>
        </c:scaling>
        <c:delete val="0"/>
        <c:axPos val="b"/>
        <c:numFmt formatCode="General" sourceLinked="1"/>
        <c:majorTickMark val="cross"/>
        <c:minorTickMark val="none"/>
        <c:tickLblPos val="nextTo"/>
        <c:spPr>
          <a:ln w="38100"/>
        </c:spPr>
        <c:crossAx val="265188480"/>
        <c:crosses val="autoZero"/>
        <c:crossBetween val="midCat"/>
        <c:majorUnit val="0.5"/>
      </c:valAx>
      <c:valAx>
        <c:axId val="265188480"/>
        <c:scaling>
          <c:orientation val="minMax"/>
          <c:max val="3"/>
          <c:min val="0"/>
        </c:scaling>
        <c:delete val="0"/>
        <c:axPos val="l"/>
        <c:majorGridlines>
          <c:spPr>
            <a:ln>
              <a:noFill/>
            </a:ln>
          </c:spPr>
        </c:majorGridlines>
        <c:numFmt formatCode="General" sourceLinked="1"/>
        <c:majorTickMark val="cross"/>
        <c:minorTickMark val="none"/>
        <c:tickLblPos val="nextTo"/>
        <c:spPr>
          <a:ln w="38100"/>
        </c:spPr>
        <c:crossAx val="265170304"/>
        <c:crosses val="autoZero"/>
        <c:crossBetween val="midCat"/>
        <c:majorUnit val="1"/>
      </c:valAx>
    </c:plotArea>
    <c:plotVisOnly val="1"/>
    <c:dispBlanksAs val="gap"/>
    <c:showDLblsOverMax val="0"/>
  </c:chart>
  <c:txPr>
    <a:bodyPr/>
    <a:lstStyle/>
    <a:p>
      <a:pPr>
        <a:defRPr sz="20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4"/>
          <c:order val="4"/>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0-C5E2-4399-9895-15F98100DDE8}"/>
            </c:ext>
          </c:extLst>
        </c:ser>
        <c:ser>
          <c:idx val="5"/>
          <c:order val="5"/>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1-C5E2-4399-9895-15F98100DDE8}"/>
            </c:ext>
          </c:extLst>
        </c:ser>
        <c:ser>
          <c:idx val="6"/>
          <c:order val="6"/>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2-C5E2-4399-9895-15F98100DDE8}"/>
            </c:ext>
          </c:extLst>
        </c:ser>
        <c:ser>
          <c:idx val="7"/>
          <c:order val="7"/>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3-C5E2-4399-9895-15F98100DDE8}"/>
            </c:ext>
          </c:extLst>
        </c:ser>
        <c:ser>
          <c:idx val="2"/>
          <c:order val="2"/>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4-C5E2-4399-9895-15F98100DDE8}"/>
            </c:ext>
          </c:extLst>
        </c:ser>
        <c:ser>
          <c:idx val="3"/>
          <c:order val="3"/>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5-C5E2-4399-9895-15F98100DDE8}"/>
            </c:ext>
          </c:extLst>
        </c:ser>
        <c:ser>
          <c:idx val="1"/>
          <c:order val="1"/>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6-C5E2-4399-9895-15F98100DDE8}"/>
            </c:ext>
          </c:extLst>
        </c:ser>
        <c:ser>
          <c:idx val="0"/>
          <c:order val="0"/>
          <c:spPr>
            <a:ln w="0">
              <a:noFill/>
            </a:ln>
          </c:spPr>
          <c:marker>
            <c:symbol val="x"/>
            <c:size val="13"/>
            <c:spPr>
              <a:ln w="19050">
                <a:solidFill>
                  <a:schemeClr val="accent2"/>
                </a:solidFill>
              </a:ln>
            </c:spPr>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7-C5E2-4399-9895-15F98100DDE8}"/>
            </c:ext>
          </c:extLst>
        </c:ser>
        <c:dLbls>
          <c:showLegendKey val="0"/>
          <c:showVal val="0"/>
          <c:showCatName val="0"/>
          <c:showSerName val="0"/>
          <c:showPercent val="0"/>
          <c:showBubbleSize val="0"/>
        </c:dLbls>
        <c:axId val="265218304"/>
        <c:axId val="265236864"/>
      </c:scatterChart>
      <c:valAx>
        <c:axId val="265218304"/>
        <c:scaling>
          <c:orientation val="minMax"/>
          <c:max val="3"/>
        </c:scaling>
        <c:delete val="0"/>
        <c:axPos val="b"/>
        <c:numFmt formatCode="General" sourceLinked="1"/>
        <c:majorTickMark val="cross"/>
        <c:minorTickMark val="none"/>
        <c:tickLblPos val="nextTo"/>
        <c:spPr>
          <a:ln w="38100"/>
        </c:spPr>
        <c:crossAx val="265236864"/>
        <c:crosses val="autoZero"/>
        <c:crossBetween val="midCat"/>
        <c:majorUnit val="1"/>
      </c:valAx>
      <c:valAx>
        <c:axId val="265236864"/>
        <c:scaling>
          <c:orientation val="minMax"/>
          <c:max val="3"/>
        </c:scaling>
        <c:delete val="0"/>
        <c:axPos val="l"/>
        <c:majorGridlines>
          <c:spPr>
            <a:ln>
              <a:noFill/>
            </a:ln>
          </c:spPr>
        </c:majorGridlines>
        <c:numFmt formatCode="General" sourceLinked="1"/>
        <c:majorTickMark val="cross"/>
        <c:minorTickMark val="none"/>
        <c:tickLblPos val="nextTo"/>
        <c:spPr>
          <a:ln w="38100"/>
        </c:spPr>
        <c:crossAx val="265218304"/>
        <c:crosses val="autoZero"/>
        <c:crossBetween val="midCat"/>
        <c:majorUnit val="1"/>
      </c:valAx>
    </c:plotArea>
    <c:plotVisOnly val="1"/>
    <c:dispBlanksAs val="gap"/>
    <c:showDLblsOverMax val="0"/>
  </c:chart>
  <c:txPr>
    <a:bodyPr/>
    <a:lstStyle/>
    <a:p>
      <a:pPr>
        <a:defRPr sz="20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x"/>
            <c:size val="7"/>
            <c:spPr>
              <a:noFill/>
              <a:ln w="12700">
                <a:solidFill>
                  <a:srgbClr val="C00000"/>
                </a:solidFill>
              </a:ln>
            </c:spPr>
          </c:marker>
          <c:xVal>
            <c:numRef>
              <c:f>portland!$A$1:$A$48</c:f>
              <c:numCache>
                <c:formatCode>General</c:formatCode>
                <c:ptCount val="48"/>
                <c:pt idx="0">
                  <c:v>2104</c:v>
                </c:pt>
                <c:pt idx="1">
                  <c:v>1600</c:v>
                </c:pt>
                <c:pt idx="2">
                  <c:v>2400</c:v>
                </c:pt>
                <c:pt idx="3">
                  <c:v>1416</c:v>
                </c:pt>
                <c:pt idx="4">
                  <c:v>3000</c:v>
                </c:pt>
                <c:pt idx="5">
                  <c:v>1985</c:v>
                </c:pt>
                <c:pt idx="6">
                  <c:v>1534</c:v>
                </c:pt>
                <c:pt idx="7">
                  <c:v>1427</c:v>
                </c:pt>
                <c:pt idx="8">
                  <c:v>1380</c:v>
                </c:pt>
                <c:pt idx="9">
                  <c:v>1494</c:v>
                </c:pt>
                <c:pt idx="10">
                  <c:v>1940</c:v>
                </c:pt>
                <c:pt idx="11">
                  <c:v>2000</c:v>
                </c:pt>
                <c:pt idx="12">
                  <c:v>1890</c:v>
                </c:pt>
                <c:pt idx="13">
                  <c:v>4478</c:v>
                </c:pt>
                <c:pt idx="14">
                  <c:v>1268</c:v>
                </c:pt>
                <c:pt idx="15">
                  <c:v>2300</c:v>
                </c:pt>
                <c:pt idx="16">
                  <c:v>1320</c:v>
                </c:pt>
                <c:pt idx="17">
                  <c:v>1236</c:v>
                </c:pt>
                <c:pt idx="18">
                  <c:v>2609</c:v>
                </c:pt>
                <c:pt idx="19">
                  <c:v>3031</c:v>
                </c:pt>
                <c:pt idx="20">
                  <c:v>1767</c:v>
                </c:pt>
                <c:pt idx="21">
                  <c:v>1888</c:v>
                </c:pt>
                <c:pt idx="22">
                  <c:v>1604</c:v>
                </c:pt>
                <c:pt idx="23">
                  <c:v>1962</c:v>
                </c:pt>
                <c:pt idx="24">
                  <c:v>3890</c:v>
                </c:pt>
                <c:pt idx="25">
                  <c:v>1100</c:v>
                </c:pt>
                <c:pt idx="26">
                  <c:v>1458</c:v>
                </c:pt>
                <c:pt idx="27">
                  <c:v>2526</c:v>
                </c:pt>
                <c:pt idx="28">
                  <c:v>2200</c:v>
                </c:pt>
                <c:pt idx="29">
                  <c:v>2637</c:v>
                </c:pt>
                <c:pt idx="30">
                  <c:v>1839</c:v>
                </c:pt>
                <c:pt idx="31">
                  <c:v>1000</c:v>
                </c:pt>
                <c:pt idx="32">
                  <c:v>2040</c:v>
                </c:pt>
                <c:pt idx="33">
                  <c:v>3137</c:v>
                </c:pt>
                <c:pt idx="34">
                  <c:v>1811</c:v>
                </c:pt>
                <c:pt idx="35">
                  <c:v>1437</c:v>
                </c:pt>
                <c:pt idx="36">
                  <c:v>1239</c:v>
                </c:pt>
                <c:pt idx="37">
                  <c:v>2132</c:v>
                </c:pt>
                <c:pt idx="38">
                  <c:v>4215</c:v>
                </c:pt>
                <c:pt idx="39">
                  <c:v>2162</c:v>
                </c:pt>
                <c:pt idx="40">
                  <c:v>1664</c:v>
                </c:pt>
                <c:pt idx="41">
                  <c:v>2238</c:v>
                </c:pt>
                <c:pt idx="42">
                  <c:v>2567</c:v>
                </c:pt>
                <c:pt idx="43">
                  <c:v>1200</c:v>
                </c:pt>
                <c:pt idx="44">
                  <c:v>852</c:v>
                </c:pt>
                <c:pt idx="45">
                  <c:v>1852</c:v>
                </c:pt>
                <c:pt idx="46">
                  <c:v>1203</c:v>
                </c:pt>
              </c:numCache>
            </c:numRef>
          </c:xVal>
          <c:yVal>
            <c:numRef>
              <c:f>portland!$B$1:$B$48</c:f>
              <c:numCache>
                <c:formatCode>General</c:formatCode>
                <c:ptCount val="48"/>
                <c:pt idx="0">
                  <c:v>399900</c:v>
                </c:pt>
                <c:pt idx="1">
                  <c:v>329900</c:v>
                </c:pt>
                <c:pt idx="2">
                  <c:v>369000</c:v>
                </c:pt>
                <c:pt idx="3">
                  <c:v>232000</c:v>
                </c:pt>
                <c:pt idx="4">
                  <c:v>539900</c:v>
                </c:pt>
                <c:pt idx="5">
                  <c:v>299900</c:v>
                </c:pt>
                <c:pt idx="6">
                  <c:v>314900</c:v>
                </c:pt>
                <c:pt idx="7">
                  <c:v>198999</c:v>
                </c:pt>
                <c:pt idx="8">
                  <c:v>212000</c:v>
                </c:pt>
                <c:pt idx="9">
                  <c:v>242500</c:v>
                </c:pt>
                <c:pt idx="10">
                  <c:v>239999</c:v>
                </c:pt>
                <c:pt idx="11">
                  <c:v>347000</c:v>
                </c:pt>
                <c:pt idx="12">
                  <c:v>329999</c:v>
                </c:pt>
                <c:pt idx="13">
                  <c:v>699900</c:v>
                </c:pt>
                <c:pt idx="14">
                  <c:v>259900</c:v>
                </c:pt>
                <c:pt idx="15">
                  <c:v>449900</c:v>
                </c:pt>
                <c:pt idx="16">
                  <c:v>299900</c:v>
                </c:pt>
                <c:pt idx="17">
                  <c:v>199900</c:v>
                </c:pt>
                <c:pt idx="18">
                  <c:v>499998</c:v>
                </c:pt>
                <c:pt idx="19">
                  <c:v>599000</c:v>
                </c:pt>
                <c:pt idx="20">
                  <c:v>252900</c:v>
                </c:pt>
                <c:pt idx="21">
                  <c:v>255000</c:v>
                </c:pt>
                <c:pt idx="22">
                  <c:v>242900</c:v>
                </c:pt>
                <c:pt idx="23">
                  <c:v>259900</c:v>
                </c:pt>
                <c:pt idx="24">
                  <c:v>573900</c:v>
                </c:pt>
                <c:pt idx="25">
                  <c:v>249900</c:v>
                </c:pt>
                <c:pt idx="26">
                  <c:v>464500</c:v>
                </c:pt>
                <c:pt idx="27">
                  <c:v>469000</c:v>
                </c:pt>
                <c:pt idx="28">
                  <c:v>475000</c:v>
                </c:pt>
                <c:pt idx="29">
                  <c:v>299900</c:v>
                </c:pt>
                <c:pt idx="30">
                  <c:v>349900</c:v>
                </c:pt>
                <c:pt idx="31">
                  <c:v>169900</c:v>
                </c:pt>
                <c:pt idx="32">
                  <c:v>314900</c:v>
                </c:pt>
                <c:pt idx="33">
                  <c:v>579900</c:v>
                </c:pt>
                <c:pt idx="34">
                  <c:v>285900</c:v>
                </c:pt>
                <c:pt idx="35">
                  <c:v>249900</c:v>
                </c:pt>
                <c:pt idx="36">
                  <c:v>229900</c:v>
                </c:pt>
                <c:pt idx="37">
                  <c:v>345000</c:v>
                </c:pt>
                <c:pt idx="38">
                  <c:v>549000</c:v>
                </c:pt>
                <c:pt idx="39">
                  <c:v>287000</c:v>
                </c:pt>
                <c:pt idx="40">
                  <c:v>368500</c:v>
                </c:pt>
                <c:pt idx="41">
                  <c:v>329900</c:v>
                </c:pt>
                <c:pt idx="42">
                  <c:v>314000</c:v>
                </c:pt>
                <c:pt idx="43">
                  <c:v>299000</c:v>
                </c:pt>
                <c:pt idx="44">
                  <c:v>179900</c:v>
                </c:pt>
                <c:pt idx="45">
                  <c:v>299900</c:v>
                </c:pt>
                <c:pt idx="46">
                  <c:v>239500</c:v>
                </c:pt>
              </c:numCache>
            </c:numRef>
          </c:yVal>
          <c:smooth val="0"/>
          <c:extLst>
            <c:ext xmlns:c16="http://schemas.microsoft.com/office/drawing/2014/chart" uri="{C3380CC4-5D6E-409C-BE32-E72D297353CC}">
              <c16:uniqueId val="{00000000-56DB-4735-81C1-14504FDB73D9}"/>
            </c:ext>
          </c:extLst>
        </c:ser>
        <c:dLbls>
          <c:showLegendKey val="0"/>
          <c:showVal val="0"/>
          <c:showCatName val="0"/>
          <c:showSerName val="0"/>
          <c:showPercent val="0"/>
          <c:showBubbleSize val="0"/>
        </c:dLbls>
        <c:axId val="265276032"/>
        <c:axId val="264185344"/>
      </c:scatterChart>
      <c:valAx>
        <c:axId val="265276032"/>
        <c:scaling>
          <c:orientation val="minMax"/>
          <c:max val="3000"/>
        </c:scaling>
        <c:delete val="0"/>
        <c:axPos val="b"/>
        <c:numFmt formatCode="General" sourceLinked="1"/>
        <c:majorTickMark val="out"/>
        <c:minorTickMark val="none"/>
        <c:tickLblPos val="nextTo"/>
        <c:spPr>
          <a:ln w="25400"/>
        </c:spPr>
        <c:crossAx val="264185344"/>
        <c:crosses val="autoZero"/>
        <c:crossBetween val="midCat"/>
      </c:valAx>
      <c:valAx>
        <c:axId val="264185344"/>
        <c:scaling>
          <c:orientation val="minMax"/>
          <c:max val="500000"/>
        </c:scaling>
        <c:delete val="0"/>
        <c:axPos val="l"/>
        <c:majorGridlines/>
        <c:numFmt formatCode="General" sourceLinked="0"/>
        <c:majorTickMark val="out"/>
        <c:minorTickMark val="none"/>
        <c:tickLblPos val="nextTo"/>
        <c:spPr>
          <a:ln w="25400"/>
        </c:spPr>
        <c:crossAx val="265276032"/>
        <c:crosses val="autoZero"/>
        <c:crossBetween val="midCat"/>
        <c:majorUnit val="100000"/>
        <c:dispUnits>
          <c:builtInUnit val="thousands"/>
        </c:dispUnits>
      </c:valAx>
    </c:plotArea>
    <c:plotVisOnly val="1"/>
    <c:dispBlanksAs val="gap"/>
    <c:showDLblsOverMax val="0"/>
  </c:chart>
  <c:txPr>
    <a:bodyPr/>
    <a:lstStyle/>
    <a:p>
      <a:pPr>
        <a:defRPr sz="1600"/>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4"/>
          <c:order val="4"/>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0-8CEC-4B0F-900F-E84A26B9C504}"/>
            </c:ext>
          </c:extLst>
        </c:ser>
        <c:ser>
          <c:idx val="5"/>
          <c:order val="5"/>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1-8CEC-4B0F-900F-E84A26B9C504}"/>
            </c:ext>
          </c:extLst>
        </c:ser>
        <c:ser>
          <c:idx val="6"/>
          <c:order val="6"/>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2-8CEC-4B0F-900F-E84A26B9C504}"/>
            </c:ext>
          </c:extLst>
        </c:ser>
        <c:ser>
          <c:idx val="7"/>
          <c:order val="7"/>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3-8CEC-4B0F-900F-E84A26B9C504}"/>
            </c:ext>
          </c:extLst>
        </c:ser>
        <c:ser>
          <c:idx val="2"/>
          <c:order val="2"/>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4-8CEC-4B0F-900F-E84A26B9C504}"/>
            </c:ext>
          </c:extLst>
        </c:ser>
        <c:ser>
          <c:idx val="3"/>
          <c:order val="3"/>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5-8CEC-4B0F-900F-E84A26B9C504}"/>
            </c:ext>
          </c:extLst>
        </c:ser>
        <c:ser>
          <c:idx val="1"/>
          <c:order val="1"/>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6-8CEC-4B0F-900F-E84A26B9C504}"/>
            </c:ext>
          </c:extLst>
        </c:ser>
        <c:ser>
          <c:idx val="0"/>
          <c:order val="0"/>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7-8CEC-4B0F-900F-E84A26B9C504}"/>
            </c:ext>
          </c:extLst>
        </c:ser>
        <c:dLbls>
          <c:showLegendKey val="0"/>
          <c:showVal val="0"/>
          <c:showCatName val="0"/>
          <c:showSerName val="0"/>
          <c:showPercent val="0"/>
          <c:showBubbleSize val="0"/>
        </c:dLbls>
        <c:axId val="264239744"/>
        <c:axId val="264249728"/>
      </c:scatterChart>
      <c:valAx>
        <c:axId val="264239744"/>
        <c:scaling>
          <c:orientation val="minMax"/>
          <c:max val="2.5"/>
          <c:min val="-0.5"/>
        </c:scaling>
        <c:delete val="0"/>
        <c:axPos val="b"/>
        <c:numFmt formatCode="General" sourceLinked="1"/>
        <c:majorTickMark val="cross"/>
        <c:minorTickMark val="none"/>
        <c:tickLblPos val="nextTo"/>
        <c:spPr>
          <a:ln w="38100"/>
        </c:spPr>
        <c:crossAx val="264249728"/>
        <c:crosses val="autoZero"/>
        <c:crossBetween val="midCat"/>
        <c:majorUnit val="0.5"/>
      </c:valAx>
      <c:valAx>
        <c:axId val="264249728"/>
        <c:scaling>
          <c:orientation val="minMax"/>
          <c:max val="3"/>
          <c:min val="0"/>
        </c:scaling>
        <c:delete val="0"/>
        <c:axPos val="l"/>
        <c:majorGridlines>
          <c:spPr>
            <a:ln>
              <a:noFill/>
            </a:ln>
          </c:spPr>
        </c:majorGridlines>
        <c:numFmt formatCode="General" sourceLinked="1"/>
        <c:majorTickMark val="cross"/>
        <c:minorTickMark val="none"/>
        <c:tickLblPos val="nextTo"/>
        <c:spPr>
          <a:ln w="38100"/>
        </c:spPr>
        <c:crossAx val="264239744"/>
        <c:crosses val="autoZero"/>
        <c:crossBetween val="midCat"/>
        <c:majorUnit val="1"/>
      </c:valAx>
    </c:plotArea>
    <c:plotVisOnly val="1"/>
    <c:dispBlanksAs val="gap"/>
    <c:showDLblsOverMax val="0"/>
  </c:chart>
  <c:txPr>
    <a:bodyPr/>
    <a:lstStyle/>
    <a:p>
      <a:pPr>
        <a:defRPr sz="2000"/>
      </a:pPr>
      <a:endParaRPr lang="en-US"/>
    </a:p>
  </c:txPr>
  <c:externalData r:id="rId1">
    <c:autoUpdate val="0"/>
  </c:externalData>
</c:chartSpace>
</file>

<file path=ppt/ink/ink1.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09-13T23:03:25.685"/>
    </inkml:context>
    <inkml:brush xml:id="br0">
      <inkml:brushProperty name="width" value="0.05292" units="cm"/>
      <inkml:brushProperty name="height" value="0.05292" units="cm"/>
      <inkml:brushProperty name="color" value="#FF0000"/>
    </inkml:brush>
  </inkml:definitions>
  <inkml:trace contextRef="#ctx0" brushRef="#br0">17646 8485 8359,'0'0'289,"0"0"-65,-19 0 1153,19 0 257,0-21-193,0 21-384,0 0-256,0 0 0,0 0-161,0 0-223,0 0-289,19 0-128,1 0 96,0 21 0,21-1-96,18 19 96,1-19-96,-1 39 96,20-19-96,0 20 0,2 0 0,-2-1-96,0-19 64,-20 19 32,21-19-64,-21-20 0,-18 0-64,-3 0-161,3 0-319,-41-20-193,20 0-352,-20 0-64,0 0-1634,-20-20-1985</inkml:trace>
  <inkml:trace contextRef="#ctx0" brushRef="#br0" timeOffset="491.02">18282 8464 3203,'20'0'1249,"-20"0"-320,0 0 864,0 0-95,-20 0-865,-1 0 192,-17 0-128,-23 0-289,2 0-127,-20 0-193,19 21 0,-19-21 128,20 0-159,-2 0-161,2 20-32,19-20 64,20 0 32,1 0-96,-1 0-64,20 19-32,0-19 160,20 0 257,-1 20-97,1-20-64,0 20 128,0 0-63,19 0 63,-19 20-96,1 0-192,19-21-64,-1 21 0,-19 0-128,0-1-224,20-19-321,-21 20-480,1-20-1601,-20 0-4677</inkml:trace>
  <inkml:trace contextRef="#ctx0" brushRef="#br0" timeOffset="2688.15">10956 5643 352,'0'0'993,"0"0"-128,0 0 256,0 0-224,0 0-33,0 0 97,0 0 32,0 0 128,0 0-96,0 0 32,0 0-256,0 0-192,0-20-97,0 20-64,0 0-159,0-20-97,0 20 0,-20 0-96,20-19 32,-19 19-96,-1 0 32,0 0 0,0-20-32,0 20-32,-19 0 0,-1 0-32,1 0 0,-1 0 0,-1 20 32,3-1-64,-3-19 64,21 20-32,-19 0 0,19 21-64,0-22 96,0 1 0,1 19 0,19 2 0,0-22 0,19 20 64,1 2 0,0-2 32,0 1-64,19-20-64,2 19 96,-1-19-32,19 0 33,-19 0 63,19 0 96,-19-20 32,-1 0-96,21-20-32,-21 20-32,2-20 33,-3 0 31,3 0 32,-1-19 32,-21 19 96,1 0 97,0-20-129,-20 21-32,0-22 97,-20 22-129,0-20-128,1-2-64,-21 2-32,-1 19 0,3-20 0,-3 20 0,2 0 32,-1 20-32,0-20-32,21 20 0,-1 0-32,0 0-192,0 0-1026,20 20-1536,-20 20-3684</inkml:trace>
  <inkml:trace contextRef="#ctx0" brushRef="#br0" timeOffset="3930.22">11434 9856 4260,'18'-20'1473,"-18"20"-288,0 0 833,0 0 352,0 0-768,0 0-641,0 0-545,-18 0-256,18 0 321,0 20 31,-20-20-160,20 20-95,-21 20-65,1-1 0,-18 1 64,-3 20-160,-18 19 97,-1 1-1,-19 19-96,-20 20 0,-1 20 0,1 1-32,20 18-32,-20-18 32,18-21-64,2 0 96,20-20 0,-1-20-96,21 1-64,-21-40 32,39 20-64,-17-20-448,38-21-673,0 1-1186,0-20-2369</inkml:trace>
  <inkml:trace contextRef="#ctx0" brushRef="#br0" timeOffset="4450.25">10857 9916 8680,'-39'19'833,"39"1"-385,0-20 545,0 0 448,0 0-160,19 0-288,21-20-416,19 20-193,2-40-95,18 21-33,20-1-32,-20 0-128,-19 0-96,-1 20 32,2-20-32,-43 20 0,3 0-96,-1 20 128,-20 0 32,0 0 64,-20 19 0,20 1 1,-21 20-33,21 0-64,0-21-64,0 21-321,0 0-1248,21-1-2435</inkml:trace>
  <inkml:trace contextRef="#ctx0" brushRef="#br0" timeOffset="6714.38">11612 5365 1345,'20'0'704,"-20"-20"-607,0 20 1344,0 0 865,0 0-352,0 0-929,-20-19-160,20 19 64,0 0-161,-20 0-159,20 0-97,-20-20 1,0 20-129,1 0-128,-1 0 1,-20-21 63,19 21-64,-17 0-256,-3 0 0,3 21 32,-3-1 32,1-1-32,21 1-32,-21 20 0,20 0-32,0-21-32,0 41 32,20-20 32,0-1 0,20 21 0,20-20 32,0-1-32,-1 22 0,22-42 96,-3 20-96,1-18 64,2-21 65,-2 0 95,1 0 128,-1-21-64,0-18-159,-19 0 63,1-2-256,-3 2 160,-17-21-64,-21 1-32,0 19 0,-21-20 0,-17 21 0,-3-1 32,-18 19 32,-1 2-64,1 19-96,-1 0-993,1 0-2210</inkml:trace>
  <inkml:trace contextRef="#ctx0" brushRef="#br0" timeOffset="9141.52">17765 8544 1281,'0'0'865,"0"0"576,0 0 32,0 0-512,0 0-608,-20 0-161,20 0 192,0-20 97,0 20 159,0 0-31,0 0-129,0 0 97,0 0-129,-18 0-63,18 0 127,0 0-160,-21-19 1,21 19-33,0 0 192,0 0 33,0 0-33,-20 0 1,20 0-161,0 0-31,0 0-97,0 0-160,0 0 0,0 0 128,20 19-64,-20-19 64,21 20-63,17-20-1,3 20-128,-1 20 96,19-21-64,0 21-64,1 0 0,19 0-32,-20 0 128,2 19-128,-2-19 0,1 19 32,-1-19 0,-19 0 64,19 0 0,0-20-32,-39-1 0,21-19 32,-21 0-32,-20 0-32,0 0-129,0 0-255,0-19-545,-20 19-608,-1-20-1570,1 0-3908</inkml:trace>
  <inkml:trace contextRef="#ctx0" brushRef="#br0" timeOffset="9661.54">18261 8485 2914,'21'0'1986,"-1"0"-1954,0 0 897,0 0 769,-1 0-321,-19 0-768,20 0-289,-20 0 64,0 0 33,0 0 640,-20 0-417,1 0-448,-21 20-31,-1-20 223,-17 0 64,-1 19-63,-22-19-129,2 0-160,0 0 32,20 0-96,-1 0 32,19 0-32,2 0 64,19 0-64,20 0 32,-20 0-96,20 20 0,0-20 128,20 0 225,0 20 31,1 0 32,-3 19 1,23-18-65,-1 19-96,-20-1 33,19 1-193,1 0-64,-1-1 0,-19 1-64,20 0-353,-20-21-448,-20 21-672,19-20-1025,-19 0-2980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608008F-8C0F-4F63-86DC-E7B67385E4BD}" type="datetimeFigureOut">
              <a:rPr lang="en-US" smtClean="0"/>
              <a:pPr/>
              <a:t>9/10/2025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FF38DAD-5F37-4EA5-A798-26ED1E453939}" type="slidenum">
              <a:rPr lang="en-US" smtClean="0"/>
              <a:pPr/>
              <a:t>‹#›</a:t>
            </a:fld>
            <a:endParaRPr lang="en-US"/>
          </a:p>
        </p:txBody>
      </p:sp>
    </p:spTree>
    <p:extLst>
      <p:ext uri="{BB962C8B-B14F-4D97-AF65-F5344CB8AC3E}">
        <p14:creationId xmlns:p14="http://schemas.microsoft.com/office/powerpoint/2010/main" val="240361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FF38DAD-5F37-4EA5-A798-26ED1E453939}" type="slidenum">
              <a:rPr lang="en-US" smtClean="0"/>
              <a:pPr/>
              <a:t>10</a:t>
            </a:fld>
            <a:endParaRPr lang="en-US"/>
          </a:p>
        </p:txBody>
      </p:sp>
    </p:spTree>
    <p:extLst>
      <p:ext uri="{BB962C8B-B14F-4D97-AF65-F5344CB8AC3E}">
        <p14:creationId xmlns:p14="http://schemas.microsoft.com/office/powerpoint/2010/main" val="31266332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p:spPr>
        <p:txBody>
          <a:bodyPr/>
          <a:lstStyle/>
          <a:p>
            <a:fld id="{324BCD14-5A93-4938-87CE-709050061C51}" type="slidenum">
              <a:rPr lang="en-US" smtClean="0">
                <a:solidFill>
                  <a:prstClr val="black"/>
                </a:solidFill>
                <a:latin typeface="Arial" pitchFamily="34" charset="0"/>
              </a:rPr>
              <a:pPr/>
              <a:t>43</a:t>
            </a:fld>
            <a:endParaRPr lang="en-US">
              <a:solidFill>
                <a:prstClr val="black"/>
              </a:solidFill>
              <a:latin typeface="Arial" pitchFamily="34" charset="0"/>
            </a:endParaRPr>
          </a:p>
        </p:txBody>
      </p:sp>
      <p:sp>
        <p:nvSpPr>
          <p:cNvPr id="171011" name="Rectangle 2"/>
          <p:cNvSpPr>
            <a:spLocks noGrp="1" noRot="1" noChangeAspect="1" noChangeArrowheads="1" noTextEdit="1"/>
          </p:cNvSpPr>
          <p:nvPr>
            <p:ph type="sldImg"/>
          </p:nvPr>
        </p:nvSpPr>
        <p:spPr>
          <a:ln/>
        </p:spPr>
      </p:sp>
      <p:sp>
        <p:nvSpPr>
          <p:cNvPr id="171012" name="Rectangle 3"/>
          <p:cNvSpPr>
            <a:spLocks noGrp="1" noChangeArrowheads="1"/>
          </p:cNvSpPr>
          <p:nvPr>
            <p:ph type="body" idx="1"/>
          </p:nvPr>
        </p:nvSpPr>
        <p:spPr>
          <a:xfrm>
            <a:off x="914400" y="4343400"/>
            <a:ext cx="5029200" cy="4114800"/>
          </a:xfrm>
          <a:noFill/>
          <a:ln/>
        </p:spPr>
        <p:txBody>
          <a:bodyPr/>
          <a:lstStyle/>
          <a:p>
            <a:pPr eaLnBrk="1" hangingPunct="1"/>
            <a:endParaRPr lang="en-US">
              <a:latin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a:noFill/>
        </p:spPr>
        <p:txBody>
          <a:bodyPr/>
          <a:lstStyle/>
          <a:p>
            <a:fld id="{90F41B15-6F5C-47EB-9972-9BA42C6AE2E6}" type="slidenum">
              <a:rPr lang="en-US" smtClean="0">
                <a:solidFill>
                  <a:prstClr val="black"/>
                </a:solidFill>
                <a:latin typeface="Arial" pitchFamily="34" charset="0"/>
              </a:rPr>
              <a:pPr/>
              <a:t>44</a:t>
            </a:fld>
            <a:endParaRPr lang="en-US">
              <a:solidFill>
                <a:prstClr val="black"/>
              </a:solidFill>
              <a:latin typeface="Arial" pitchFamily="34" charset="0"/>
            </a:endParaRPr>
          </a:p>
        </p:txBody>
      </p:sp>
      <p:sp>
        <p:nvSpPr>
          <p:cNvPr id="172035" name="Rectangle 2"/>
          <p:cNvSpPr>
            <a:spLocks noGrp="1" noRot="1" noChangeAspect="1" noChangeArrowheads="1" noTextEdit="1"/>
          </p:cNvSpPr>
          <p:nvPr>
            <p:ph type="sldImg"/>
          </p:nvPr>
        </p:nvSpPr>
        <p:spPr>
          <a:ln/>
        </p:spPr>
      </p:sp>
      <p:sp>
        <p:nvSpPr>
          <p:cNvPr id="172036" name="Rectangle 3"/>
          <p:cNvSpPr>
            <a:spLocks noGrp="1" noChangeArrowheads="1"/>
          </p:cNvSpPr>
          <p:nvPr>
            <p:ph type="body" idx="1"/>
          </p:nvPr>
        </p:nvSpPr>
        <p:spPr>
          <a:xfrm>
            <a:off x="914400" y="4343400"/>
            <a:ext cx="5029200" cy="4114800"/>
          </a:xfrm>
          <a:noFill/>
          <a:ln/>
        </p:spPr>
        <p:txBody>
          <a:bodyPr/>
          <a:lstStyle/>
          <a:p>
            <a:pPr eaLnBrk="1" hangingPunct="1"/>
            <a:endParaRPr lang="en-US">
              <a:latin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2561A7B-D7A8-4E54-BD3D-24FA34F63026}" type="datetime1">
              <a:rPr lang="en-US" smtClean="0">
                <a:solidFill>
                  <a:prstClr val="black">
                    <a:tint val="75000"/>
                  </a:prstClr>
                </a:solidFill>
              </a:rPr>
              <a:t>9/10/2025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Linear Regression</a:t>
            </a: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840196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561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B654C1C-1A5F-4D8C-ADD5-41286AC964CD}" type="datetime1">
              <a:rPr lang="en-US" smtClean="0">
                <a:solidFill>
                  <a:prstClr val="black">
                    <a:tint val="75000"/>
                  </a:prstClr>
                </a:solidFill>
              </a:rPr>
              <a:t>9/10/2025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Linear Regression</a:t>
            </a: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661860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9FD54E5-9C75-4606-89B7-02EBA48C5021}" type="datetime1">
              <a:rPr lang="en-US" smtClean="0">
                <a:solidFill>
                  <a:prstClr val="black">
                    <a:tint val="75000"/>
                  </a:prstClr>
                </a:solidFill>
              </a:rPr>
              <a:t>9/10/2025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Linear Regression</a:t>
            </a: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33317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E9FE4D1-1A9A-4184-9A46-68426F058D02}" type="datetime1">
              <a:rPr lang="en-US" smtClean="0">
                <a:solidFill>
                  <a:prstClr val="black">
                    <a:tint val="75000"/>
                  </a:prstClr>
                </a:solidFill>
              </a:rPr>
              <a:t>9/10/2025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r>
              <a:rPr lang="en-US">
                <a:solidFill>
                  <a:prstClr val="black">
                    <a:tint val="75000"/>
                  </a:prstClr>
                </a:solidFill>
              </a:rPr>
              <a:t>Linear Regression</a:t>
            </a:r>
          </a:p>
        </p:txBody>
      </p:sp>
      <p:sp>
        <p:nvSpPr>
          <p:cNvPr id="9" name="Slide Number Placeholder 8"/>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693836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63541738-E1E3-4929-8520-8A160BE27F02}" type="datetime1">
              <a:rPr lang="en-US" smtClean="0">
                <a:solidFill>
                  <a:prstClr val="black">
                    <a:tint val="75000"/>
                  </a:prstClr>
                </a:solidFill>
              </a:rPr>
              <a:t>9/10/2025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r>
              <a:rPr lang="en-US">
                <a:solidFill>
                  <a:prstClr val="black">
                    <a:tint val="75000"/>
                  </a:prstClr>
                </a:solidFill>
              </a:rPr>
              <a:t>Linear Regression</a:t>
            </a:r>
          </a:p>
        </p:txBody>
      </p:sp>
      <p:sp>
        <p:nvSpPr>
          <p:cNvPr id="5" name="Slide Number Placeholder 4"/>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36761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1295AC-1DCA-48F8-B21B-B79B192BE89E}" type="datetime1">
              <a:rPr lang="en-US" smtClean="0">
                <a:solidFill>
                  <a:prstClr val="black">
                    <a:tint val="75000"/>
                  </a:prstClr>
                </a:solidFill>
              </a:rPr>
              <a:t>9/10/2025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r>
              <a:rPr lang="en-US">
                <a:solidFill>
                  <a:prstClr val="black">
                    <a:tint val="75000"/>
                  </a:prstClr>
                </a:solidFill>
              </a:rPr>
              <a:t>Linear Regression</a:t>
            </a:r>
          </a:p>
        </p:txBody>
      </p:sp>
      <p:sp>
        <p:nvSpPr>
          <p:cNvPr id="4" name="Slide Number Placeholder 3"/>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16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F4885CE-7804-41F6-9A0F-4AD943F6DC1F}" type="datetime1">
              <a:rPr lang="en-US" smtClean="0">
                <a:solidFill>
                  <a:prstClr val="black">
                    <a:tint val="75000"/>
                  </a:prstClr>
                </a:solidFill>
              </a:rPr>
              <a:t>9/10/2025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Linear Regression</a:t>
            </a: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617523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B6509D-C7A2-460E-B35E-32BE8A6BFE6D}" type="datetime1">
              <a:rPr lang="en-US" smtClean="0">
                <a:solidFill>
                  <a:prstClr val="black">
                    <a:tint val="75000"/>
                  </a:prstClr>
                </a:solidFill>
              </a:rPr>
              <a:t>9/10/2025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Linear Regression</a:t>
            </a: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484239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200151"/>
            <a:ext cx="8229600" cy="339447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BD96D1-C19A-4AF9-B6C4-1435134B4D3C}" type="datetime1">
              <a:rPr lang="en-US" smtClean="0">
                <a:solidFill>
                  <a:prstClr val="black">
                    <a:tint val="75000"/>
                  </a:prstClr>
                </a:solidFill>
              </a:rPr>
              <a:t>9/10/2025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Linear Regression</a:t>
            </a: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37083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08A0CA6-4DB6-40B9-9657-879018EDD00B}" type="datetime1">
              <a:rPr lang="en-US" smtClean="0">
                <a:solidFill>
                  <a:prstClr val="black">
                    <a:tint val="75000"/>
                  </a:prstClr>
                </a:solidFill>
              </a:rPr>
              <a:t>9/10/2025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Linear Regression</a:t>
            </a: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639593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200151"/>
            <a:ext cx="8229600" cy="339447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EC4BE4-1D08-4703-96DC-E21E3E7318C0}" type="datetime1">
              <a:rPr lang="en-US" smtClean="0">
                <a:solidFill>
                  <a:prstClr val="black">
                    <a:tint val="75000"/>
                  </a:prstClr>
                </a:solidFill>
              </a:rPr>
              <a:t>9/10/2025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Linear Regression</a:t>
            </a: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205614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A3561993-D2EB-4886-9E2B-00308DE13949}" type="datetime1">
              <a:rPr lang="en-US" smtClean="0">
                <a:solidFill>
                  <a:prstClr val="black">
                    <a:tint val="75000"/>
                  </a:prstClr>
                </a:solidFill>
              </a:rPr>
              <a:t>9/10/2025</a:t>
            </a:fld>
            <a:endParaRPr lang="en-US">
              <a:solidFill>
                <a:prstClr val="black">
                  <a:tint val="75000"/>
                </a:prstClr>
              </a:solidFill>
            </a:endParaRPr>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solidFill>
                  <a:prstClr val="black">
                    <a:tint val="75000"/>
                  </a:prstClr>
                </a:solidFill>
              </a:rPr>
              <a:t>Linear Regression</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
        <p:nvSpPr>
          <p:cNvPr id="12" name="TextBox 11"/>
          <p:cNvSpPr txBox="1"/>
          <p:nvPr userDrawn="1"/>
        </p:nvSpPr>
        <p:spPr>
          <a:xfrm>
            <a:off x="9372599" y="666750"/>
            <a:ext cx="1370568" cy="1600438"/>
          </a:xfrm>
          <a:prstGeom prst="rect">
            <a:avLst/>
          </a:prstGeom>
          <a:noFill/>
        </p:spPr>
        <p:txBody>
          <a:bodyPr wrap="none" rtlCol="0">
            <a:spAutoFit/>
          </a:bodyPr>
          <a:lstStyle/>
          <a:p>
            <a:r>
              <a:rPr lang="en-US" sz="1400" dirty="0">
                <a:solidFill>
                  <a:prstClr val="black"/>
                </a:solidFill>
              </a:rPr>
              <a:t>Template</a:t>
            </a:r>
          </a:p>
          <a:p>
            <a:r>
              <a:rPr lang="en-US" sz="1400" dirty="0">
                <a:solidFill>
                  <a:prstClr val="black"/>
                </a:solidFill>
              </a:rPr>
              <a:t>block2x2White1</a:t>
            </a:r>
          </a:p>
          <a:p>
            <a:endParaRPr lang="en-US" sz="1400" dirty="0">
              <a:solidFill>
                <a:prstClr val="black"/>
              </a:solidFill>
            </a:endParaRPr>
          </a:p>
          <a:p>
            <a:r>
              <a:rPr lang="en-US" sz="1400" dirty="0">
                <a:solidFill>
                  <a:prstClr val="black"/>
                </a:solidFill>
              </a:rPr>
              <a:t>Ordering of</a:t>
            </a:r>
            <a:r>
              <a:rPr lang="en-US" sz="1400" baseline="0" dirty="0">
                <a:solidFill>
                  <a:prstClr val="black"/>
                </a:solidFill>
              </a:rPr>
              <a:t> </a:t>
            </a:r>
          </a:p>
          <a:p>
            <a:r>
              <a:rPr lang="en-US" sz="1400" baseline="0" dirty="0">
                <a:solidFill>
                  <a:prstClr val="black"/>
                </a:solidFill>
              </a:rPr>
              <a:t>buttons is</a:t>
            </a:r>
            <a:r>
              <a:rPr lang="en-US" sz="1400" dirty="0">
                <a:solidFill>
                  <a:prstClr val="black"/>
                </a:solidFill>
              </a:rPr>
              <a:t>:</a:t>
            </a:r>
          </a:p>
          <a:p>
            <a:r>
              <a:rPr lang="en-US" sz="1400" dirty="0">
                <a:solidFill>
                  <a:prstClr val="black"/>
                </a:solidFill>
              </a:rPr>
              <a:t>13</a:t>
            </a:r>
          </a:p>
          <a:p>
            <a:r>
              <a:rPr lang="en-US" sz="1400" dirty="0">
                <a:solidFill>
                  <a:prstClr val="black"/>
                </a:solidFill>
              </a:rPr>
              <a:t>24</a:t>
            </a:r>
          </a:p>
        </p:txBody>
      </p:sp>
    </p:spTree>
    <p:extLst>
      <p:ext uri="{BB962C8B-B14F-4D97-AF65-F5344CB8AC3E}">
        <p14:creationId xmlns:p14="http://schemas.microsoft.com/office/powerpoint/2010/main" val="218230408"/>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26.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8.xml"/><Relationship Id="rId7" Type="http://schemas.openxmlformats.org/officeDocument/2006/relationships/chart" Target="../charts/chart3.xml"/><Relationship Id="rId12" Type="http://schemas.openxmlformats.org/officeDocument/2006/relationships/chart" Target="../charts/chart5.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2.png"/><Relationship Id="rId11" Type="http://schemas.openxmlformats.org/officeDocument/2006/relationships/chart" Target="../charts/chart4.xml"/><Relationship Id="rId5" Type="http://schemas.openxmlformats.org/officeDocument/2006/relationships/slideLayout" Target="../slideLayouts/slideLayout7.xml"/><Relationship Id="rId10" Type="http://schemas.openxmlformats.org/officeDocument/2006/relationships/image" Target="../media/image6.png"/><Relationship Id="rId4" Type="http://schemas.openxmlformats.org/officeDocument/2006/relationships/tags" Target="../tags/tag9.xml"/><Relationship Id="rId9" Type="http://schemas.openxmlformats.org/officeDocument/2006/relationships/image" Target="../media/image5.png"/></Relationships>
</file>

<file path=ppt/slides/_rels/slide28.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tags" Target="../tags/tag12.xml"/><Relationship Id="rId7" Type="http://schemas.openxmlformats.org/officeDocument/2006/relationships/slideLayout" Target="../slideLayouts/slideLayout7.xml"/><Relationship Id="rId12" Type="http://schemas.openxmlformats.org/officeDocument/2006/relationships/image" Target="../media/image11.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image" Target="../media/image10.png"/><Relationship Id="rId5" Type="http://schemas.openxmlformats.org/officeDocument/2006/relationships/tags" Target="../tags/tag14.xml"/><Relationship Id="rId10" Type="http://schemas.openxmlformats.org/officeDocument/2006/relationships/image" Target="../media/image9.png"/><Relationship Id="rId4" Type="http://schemas.openxmlformats.org/officeDocument/2006/relationships/tags" Target="../tags/tag13.xml"/><Relationship Id="rId9" Type="http://schemas.openxmlformats.org/officeDocument/2006/relationships/image" Target="../media/image8.png"/></Relationships>
</file>

<file path=ppt/slides/_rels/slide29.xml.rels><?xml version="1.0" encoding="UTF-8" standalone="yes"?>
<Relationships xmlns="http://schemas.openxmlformats.org/package/2006/relationships"><Relationship Id="rId8" Type="http://schemas.openxmlformats.org/officeDocument/2006/relationships/tags" Target="../tags/tag23.xml"/><Relationship Id="rId13" Type="http://schemas.openxmlformats.org/officeDocument/2006/relationships/image" Target="../media/image12.png"/><Relationship Id="rId3" Type="http://schemas.openxmlformats.org/officeDocument/2006/relationships/tags" Target="../tags/tag18.xml"/><Relationship Id="rId7" Type="http://schemas.openxmlformats.org/officeDocument/2006/relationships/tags" Target="../tags/tag22.xml"/><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tags" Target="../tags/tag17.xml"/><Relationship Id="rId16" Type="http://schemas.openxmlformats.org/officeDocument/2006/relationships/image" Target="../media/image15.png"/><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image" Target="../media/image7.png"/><Relationship Id="rId5" Type="http://schemas.openxmlformats.org/officeDocument/2006/relationships/tags" Target="../tags/tag20.xml"/><Relationship Id="rId15" Type="http://schemas.openxmlformats.org/officeDocument/2006/relationships/image" Target="../media/image14.png"/><Relationship Id="rId10" Type="http://schemas.openxmlformats.org/officeDocument/2006/relationships/image" Target="../media/image2.png"/><Relationship Id="rId4" Type="http://schemas.openxmlformats.org/officeDocument/2006/relationships/tags" Target="../tags/tag19.xml"/><Relationship Id="rId9" Type="http://schemas.openxmlformats.org/officeDocument/2006/relationships/slideLayout" Target="../slideLayouts/slideLayout7.xml"/><Relationship Id="rId14" Type="http://schemas.openxmlformats.org/officeDocument/2006/relationships/image" Target="../media/image13.png"/></Relationships>
</file>

<file path=ppt/slides/_rels/slide30.xml.rels><?xml version="1.0" encoding="UTF-8" standalone="yes"?>
<Relationships xmlns="http://schemas.openxmlformats.org/package/2006/relationships"><Relationship Id="rId8" Type="http://schemas.openxmlformats.org/officeDocument/2006/relationships/tags" Target="../tags/tag31.xml"/><Relationship Id="rId13" Type="http://schemas.openxmlformats.org/officeDocument/2006/relationships/image" Target="../media/image19.png"/><Relationship Id="rId3" Type="http://schemas.openxmlformats.org/officeDocument/2006/relationships/tags" Target="../tags/tag26.xml"/><Relationship Id="rId7" Type="http://schemas.openxmlformats.org/officeDocument/2006/relationships/tags" Target="../tags/tag30.xml"/><Relationship Id="rId12" Type="http://schemas.openxmlformats.org/officeDocument/2006/relationships/image" Target="../media/image18.png"/><Relationship Id="rId17" Type="http://schemas.openxmlformats.org/officeDocument/2006/relationships/image" Target="../media/image22.png"/><Relationship Id="rId2" Type="http://schemas.openxmlformats.org/officeDocument/2006/relationships/tags" Target="../tags/tag25.xml"/><Relationship Id="rId16" Type="http://schemas.openxmlformats.org/officeDocument/2006/relationships/chart" Target="../charts/chart7.xml"/><Relationship Id="rId1" Type="http://schemas.openxmlformats.org/officeDocument/2006/relationships/tags" Target="../tags/tag24.xml"/><Relationship Id="rId6" Type="http://schemas.openxmlformats.org/officeDocument/2006/relationships/tags" Target="../tags/tag29.xml"/><Relationship Id="rId11" Type="http://schemas.openxmlformats.org/officeDocument/2006/relationships/image" Target="../media/image17.png"/><Relationship Id="rId5" Type="http://schemas.openxmlformats.org/officeDocument/2006/relationships/tags" Target="../tags/tag28.xml"/><Relationship Id="rId15" Type="http://schemas.openxmlformats.org/officeDocument/2006/relationships/image" Target="../media/image21.png"/><Relationship Id="rId10" Type="http://schemas.openxmlformats.org/officeDocument/2006/relationships/chart" Target="../charts/chart6.xml"/><Relationship Id="rId4" Type="http://schemas.openxmlformats.org/officeDocument/2006/relationships/tags" Target="../tags/tag27.xml"/><Relationship Id="rId9" Type="http://schemas.openxmlformats.org/officeDocument/2006/relationships/slideLayout" Target="../slideLayouts/slideLayout7.xml"/><Relationship Id="rId14" Type="http://schemas.openxmlformats.org/officeDocument/2006/relationships/image" Target="../media/image20.png"/></Relationships>
</file>

<file path=ppt/slides/_rels/slide31.xml.rels><?xml version="1.0" encoding="UTF-8" standalone="yes"?>
<Relationships xmlns="http://schemas.openxmlformats.org/package/2006/relationships"><Relationship Id="rId8" Type="http://schemas.openxmlformats.org/officeDocument/2006/relationships/tags" Target="../tags/tag39.xml"/><Relationship Id="rId13" Type="http://schemas.openxmlformats.org/officeDocument/2006/relationships/image" Target="../media/image20.png"/><Relationship Id="rId3" Type="http://schemas.openxmlformats.org/officeDocument/2006/relationships/tags" Target="../tags/tag34.xml"/><Relationship Id="rId7" Type="http://schemas.openxmlformats.org/officeDocument/2006/relationships/tags" Target="../tags/tag38.xml"/><Relationship Id="rId12" Type="http://schemas.openxmlformats.org/officeDocument/2006/relationships/image" Target="../media/image23.png"/><Relationship Id="rId17" Type="http://schemas.openxmlformats.org/officeDocument/2006/relationships/image" Target="../media/image22.png"/><Relationship Id="rId2" Type="http://schemas.openxmlformats.org/officeDocument/2006/relationships/tags" Target="../tags/tag33.xml"/><Relationship Id="rId16" Type="http://schemas.openxmlformats.org/officeDocument/2006/relationships/chart" Target="../charts/chart9.xml"/><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image" Target="../media/image17.png"/><Relationship Id="rId5" Type="http://schemas.openxmlformats.org/officeDocument/2006/relationships/tags" Target="../tags/tag36.xml"/><Relationship Id="rId15" Type="http://schemas.openxmlformats.org/officeDocument/2006/relationships/image" Target="../media/image18.png"/><Relationship Id="rId10" Type="http://schemas.openxmlformats.org/officeDocument/2006/relationships/chart" Target="../charts/chart8.xml"/><Relationship Id="rId4" Type="http://schemas.openxmlformats.org/officeDocument/2006/relationships/tags" Target="../tags/tag35.xml"/><Relationship Id="rId9" Type="http://schemas.openxmlformats.org/officeDocument/2006/relationships/slideLayout" Target="../slideLayouts/slideLayout7.xml"/><Relationship Id="rId14" Type="http://schemas.openxmlformats.org/officeDocument/2006/relationships/image" Target="../media/image21.png"/></Relationships>
</file>

<file path=ppt/slides/_rels/slide32.xml.rels><?xml version="1.0" encoding="UTF-8" standalone="yes"?>
<Relationships xmlns="http://schemas.openxmlformats.org/package/2006/relationships"><Relationship Id="rId8" Type="http://schemas.openxmlformats.org/officeDocument/2006/relationships/tags" Target="../tags/tag47.xml"/><Relationship Id="rId13" Type="http://schemas.openxmlformats.org/officeDocument/2006/relationships/image" Target="../media/image17.png"/><Relationship Id="rId3" Type="http://schemas.openxmlformats.org/officeDocument/2006/relationships/tags" Target="../tags/tag42.xml"/><Relationship Id="rId7" Type="http://schemas.openxmlformats.org/officeDocument/2006/relationships/tags" Target="../tags/tag46.xml"/><Relationship Id="rId12" Type="http://schemas.openxmlformats.org/officeDocument/2006/relationships/image" Target="../media/image20.png"/><Relationship Id="rId17" Type="http://schemas.openxmlformats.org/officeDocument/2006/relationships/image" Target="../media/image18.png"/><Relationship Id="rId2" Type="http://schemas.openxmlformats.org/officeDocument/2006/relationships/tags" Target="../tags/tag41.xml"/><Relationship Id="rId16" Type="http://schemas.openxmlformats.org/officeDocument/2006/relationships/chart" Target="../charts/chart11.xml"/><Relationship Id="rId1" Type="http://schemas.openxmlformats.org/officeDocument/2006/relationships/tags" Target="../tags/tag40.xml"/><Relationship Id="rId6" Type="http://schemas.openxmlformats.org/officeDocument/2006/relationships/tags" Target="../tags/tag45.xml"/><Relationship Id="rId11" Type="http://schemas.openxmlformats.org/officeDocument/2006/relationships/image" Target="../media/image22.png"/><Relationship Id="rId5" Type="http://schemas.openxmlformats.org/officeDocument/2006/relationships/tags" Target="../tags/tag44.xml"/><Relationship Id="rId15" Type="http://schemas.openxmlformats.org/officeDocument/2006/relationships/image" Target="../media/image21.png"/><Relationship Id="rId10" Type="http://schemas.openxmlformats.org/officeDocument/2006/relationships/chart" Target="../charts/chart10.xml"/><Relationship Id="rId4" Type="http://schemas.openxmlformats.org/officeDocument/2006/relationships/tags" Target="../tags/tag43.xml"/><Relationship Id="rId9" Type="http://schemas.openxmlformats.org/officeDocument/2006/relationships/slideLayout" Target="../slideLayouts/slideLayout7.xml"/><Relationship Id="rId14" Type="http://schemas.openxmlformats.org/officeDocument/2006/relationships/image" Target="../media/image24.png"/></Relationships>
</file>

<file path=ppt/slides/_rels/slide3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tags" Target="../tags/tag50.xml"/><Relationship Id="rId7" Type="http://schemas.openxmlformats.org/officeDocument/2006/relationships/image" Target="../media/image7.png"/><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2.png"/><Relationship Id="rId5" Type="http://schemas.openxmlformats.org/officeDocument/2006/relationships/slideLayout" Target="../slideLayouts/slideLayout7.xml"/><Relationship Id="rId4" Type="http://schemas.openxmlformats.org/officeDocument/2006/relationships/tags" Target="../tags/tag51.xml"/><Relationship Id="rId9"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8" Type="http://schemas.openxmlformats.org/officeDocument/2006/relationships/tags" Target="../tags/tag59.xml"/><Relationship Id="rId13" Type="http://schemas.openxmlformats.org/officeDocument/2006/relationships/image" Target="../media/image27.png"/><Relationship Id="rId18" Type="http://schemas.openxmlformats.org/officeDocument/2006/relationships/chart" Target="../charts/chart12.xml"/><Relationship Id="rId3" Type="http://schemas.openxmlformats.org/officeDocument/2006/relationships/tags" Target="../tags/tag54.xml"/><Relationship Id="rId7" Type="http://schemas.openxmlformats.org/officeDocument/2006/relationships/tags" Target="../tags/tag58.xml"/><Relationship Id="rId12" Type="http://schemas.openxmlformats.org/officeDocument/2006/relationships/image" Target="../media/image26.png"/><Relationship Id="rId17" Type="http://schemas.openxmlformats.org/officeDocument/2006/relationships/image" Target="../media/image20.png"/><Relationship Id="rId2" Type="http://schemas.openxmlformats.org/officeDocument/2006/relationships/tags" Target="../tags/tag53.xml"/><Relationship Id="rId16" Type="http://schemas.openxmlformats.org/officeDocument/2006/relationships/image" Target="../media/image22.png"/><Relationship Id="rId1" Type="http://schemas.openxmlformats.org/officeDocument/2006/relationships/tags" Target="../tags/tag52.xml"/><Relationship Id="rId6" Type="http://schemas.openxmlformats.org/officeDocument/2006/relationships/tags" Target="../tags/tag57.xml"/><Relationship Id="rId11" Type="http://schemas.openxmlformats.org/officeDocument/2006/relationships/image" Target="../media/image17.png"/><Relationship Id="rId5" Type="http://schemas.openxmlformats.org/officeDocument/2006/relationships/tags" Target="../tags/tag56.xml"/><Relationship Id="rId15" Type="http://schemas.openxmlformats.org/officeDocument/2006/relationships/image" Target="../media/image29.png"/><Relationship Id="rId10" Type="http://schemas.openxmlformats.org/officeDocument/2006/relationships/slideLayout" Target="../slideLayouts/slideLayout7.xml"/><Relationship Id="rId19" Type="http://schemas.openxmlformats.org/officeDocument/2006/relationships/chart" Target="../charts/chart13.xml"/><Relationship Id="rId4" Type="http://schemas.openxmlformats.org/officeDocument/2006/relationships/tags" Target="../tags/tag55.xml"/><Relationship Id="rId9" Type="http://schemas.openxmlformats.org/officeDocument/2006/relationships/tags" Target="../tags/tag60.xml"/><Relationship Id="rId14" Type="http://schemas.openxmlformats.org/officeDocument/2006/relationships/image" Target="../media/image28.png"/></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tags" Target="../tags/tag63.xml"/><Relationship Id="rId7" Type="http://schemas.openxmlformats.org/officeDocument/2006/relationships/image" Target="../media/image32.png"/><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image" Target="../media/image31.png"/><Relationship Id="rId11" Type="http://schemas.openxmlformats.org/officeDocument/2006/relationships/image" Target="../media/image29.png"/><Relationship Id="rId5" Type="http://schemas.openxmlformats.org/officeDocument/2006/relationships/slideLayout" Target="../slideLayouts/slideLayout7.xml"/><Relationship Id="rId10" Type="http://schemas.openxmlformats.org/officeDocument/2006/relationships/image" Target="../media/image28.png"/><Relationship Id="rId4" Type="http://schemas.openxmlformats.org/officeDocument/2006/relationships/tags" Target="../tags/tag64.xml"/><Relationship Id="rId9" Type="http://schemas.openxmlformats.org/officeDocument/2006/relationships/image" Target="../media/image27.png"/></Relationships>
</file>

<file path=ppt/slides/_rels/slide3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tags" Target="../tags/tag67.xml"/><Relationship Id="rId7" Type="http://schemas.openxmlformats.org/officeDocument/2006/relationships/image" Target="../media/image34.png"/><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33.png"/><Relationship Id="rId11" Type="http://schemas.openxmlformats.org/officeDocument/2006/relationships/image" Target="../media/image29.png"/><Relationship Id="rId5" Type="http://schemas.openxmlformats.org/officeDocument/2006/relationships/slideLayout" Target="../slideLayouts/slideLayout7.xml"/><Relationship Id="rId10" Type="http://schemas.openxmlformats.org/officeDocument/2006/relationships/image" Target="../media/image28.png"/><Relationship Id="rId4" Type="http://schemas.openxmlformats.org/officeDocument/2006/relationships/tags" Target="../tags/tag68.xml"/><Relationship Id="rId9" Type="http://schemas.openxmlformats.org/officeDocument/2006/relationships/image" Target="../media/image27.png"/></Relationships>
</file>

<file path=ppt/slides/_rels/slide40.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tags" Target="../tags/tag71.xml"/><Relationship Id="rId7" Type="http://schemas.openxmlformats.org/officeDocument/2006/relationships/image" Target="../media/image36.png"/><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image" Target="../media/image35.png"/><Relationship Id="rId11" Type="http://schemas.openxmlformats.org/officeDocument/2006/relationships/image" Target="../media/image29.png"/><Relationship Id="rId5" Type="http://schemas.openxmlformats.org/officeDocument/2006/relationships/slideLayout" Target="../slideLayouts/slideLayout7.xml"/><Relationship Id="rId10" Type="http://schemas.openxmlformats.org/officeDocument/2006/relationships/image" Target="../media/image28.png"/><Relationship Id="rId4" Type="http://schemas.openxmlformats.org/officeDocument/2006/relationships/tags" Target="../tags/tag72.xml"/><Relationship Id="rId9" Type="http://schemas.openxmlformats.org/officeDocument/2006/relationships/image" Target="../media/image27.png"/></Relationships>
</file>

<file path=ppt/slides/_rels/slide4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tags" Target="../tags/tag75.xml"/><Relationship Id="rId7" Type="http://schemas.openxmlformats.org/officeDocument/2006/relationships/image" Target="../media/image38.pn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37.png"/><Relationship Id="rId11" Type="http://schemas.openxmlformats.org/officeDocument/2006/relationships/image" Target="../media/image29.png"/><Relationship Id="rId5" Type="http://schemas.openxmlformats.org/officeDocument/2006/relationships/slideLayout" Target="../slideLayouts/slideLayout7.xml"/><Relationship Id="rId10" Type="http://schemas.openxmlformats.org/officeDocument/2006/relationships/image" Target="../media/image28.png"/><Relationship Id="rId4" Type="http://schemas.openxmlformats.org/officeDocument/2006/relationships/tags" Target="../tags/tag76.xml"/><Relationship Id="rId9" Type="http://schemas.openxmlformats.org/officeDocument/2006/relationships/image" Target="../media/image27.png"/></Relationships>
</file>

<file path=ppt/slides/_rels/slide42.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tags" Target="../tags/tag79.xml"/><Relationship Id="rId7" Type="http://schemas.openxmlformats.org/officeDocument/2006/relationships/image" Target="../media/image28.png"/><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slideLayout" Target="../slideLayouts/slideLayout7.xml"/><Relationship Id="rId5" Type="http://schemas.openxmlformats.org/officeDocument/2006/relationships/tags" Target="../tags/tag81.xml"/><Relationship Id="rId4" Type="http://schemas.openxmlformats.org/officeDocument/2006/relationships/tags" Target="../tags/tag80.xml"/><Relationship Id="rId9" Type="http://schemas.openxmlformats.org/officeDocument/2006/relationships/image" Target="../media/image7.png"/></Relationships>
</file>

<file path=ppt/slides/_rels/slide4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58.emf"/><Relationship Id="rId4" Type="http://schemas.openxmlformats.org/officeDocument/2006/relationships/customXml" Target="../ink/ink1.xml"/></Relationships>
</file>

<file path=ppt/slides/_rels/slide45.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tags" Target="../tags/tag84.xml"/><Relationship Id="rId7" Type="http://schemas.openxmlformats.org/officeDocument/2006/relationships/image" Target="../media/image42.png"/><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41.png"/><Relationship Id="rId5" Type="http://schemas.openxmlformats.org/officeDocument/2006/relationships/slideLayout" Target="../slideLayouts/slideLayout7.xml"/><Relationship Id="rId4" Type="http://schemas.openxmlformats.org/officeDocument/2006/relationships/tags" Target="../tags/tag85.xml"/><Relationship Id="rId9" Type="http://schemas.openxmlformats.org/officeDocument/2006/relationships/image" Target="../media/image44.pn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7.xml"/><Relationship Id="rId1" Type="http://schemas.openxmlformats.org/officeDocument/2006/relationships/tags" Target="../tags/tag86.xml"/><Relationship Id="rId5" Type="http://schemas.openxmlformats.org/officeDocument/2006/relationships/image" Target="../media/image46.png"/><Relationship Id="rId4" Type="http://schemas.openxmlformats.org/officeDocument/2006/relationships/image" Target="../media/image45.png"/></Relationships>
</file>

<file path=ppt/slides/_rels/slide4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0.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image" Target="../media/image48.png"/><Relationship Id="rId5" Type="http://schemas.openxmlformats.org/officeDocument/2006/relationships/image" Target="../media/image20.png"/><Relationship Id="rId4"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tags" Target="../tags/tag93.xml"/><Relationship Id="rId7" Type="http://schemas.openxmlformats.org/officeDocument/2006/relationships/image" Target="../media/image49.png"/><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image" Target="../media/image20.png"/><Relationship Id="rId5" Type="http://schemas.openxmlformats.org/officeDocument/2006/relationships/slideLayout" Target="../slideLayouts/slideLayout7.xml"/><Relationship Id="rId4" Type="http://schemas.openxmlformats.org/officeDocument/2006/relationships/tags" Target="../tags/tag94.xml"/></Relationships>
</file>

<file path=ppt/slides/_rels/slide50.xml.rels><?xml version="1.0" encoding="UTF-8" standalone="yes"?>
<Relationships xmlns="http://schemas.openxmlformats.org/package/2006/relationships"><Relationship Id="rId3" Type="http://schemas.openxmlformats.org/officeDocument/2006/relationships/tags" Target="../tags/tag97.xml"/><Relationship Id="rId7" Type="http://schemas.openxmlformats.org/officeDocument/2006/relationships/image" Target="../media/image22.png"/><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image" Target="../media/image20.png"/><Relationship Id="rId5" Type="http://schemas.openxmlformats.org/officeDocument/2006/relationships/image" Target="../media/image50.png"/><Relationship Id="rId4"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tags" Target="../tags/tag100.xml"/><Relationship Id="rId7" Type="http://schemas.openxmlformats.org/officeDocument/2006/relationships/image" Target="../media/image52.png"/><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image" Target="../media/image2.png"/><Relationship Id="rId5" Type="http://schemas.openxmlformats.org/officeDocument/2006/relationships/image" Target="../media/image51.png"/><Relationship Id="rId4"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tags" Target="../tags/tag103.xml"/><Relationship Id="rId7" Type="http://schemas.openxmlformats.org/officeDocument/2006/relationships/image" Target="../media/image55.png"/><Relationship Id="rId2" Type="http://schemas.openxmlformats.org/officeDocument/2006/relationships/tags" Target="../tags/tag102.xml"/><Relationship Id="rId1" Type="http://schemas.openxmlformats.org/officeDocument/2006/relationships/tags" Target="../tags/tag101.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tags" Target="../tags/tag106.xml"/><Relationship Id="rId7" Type="http://schemas.openxmlformats.org/officeDocument/2006/relationships/image" Target="../media/image55.png"/><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image" Target="../media/image54.png"/><Relationship Id="rId5" Type="http://schemas.openxmlformats.org/officeDocument/2006/relationships/image" Target="../media/image53.png"/><Relationship Id="rId10" Type="http://schemas.openxmlformats.org/officeDocument/2006/relationships/image" Target="../media/image58.png"/><Relationship Id="rId4" Type="http://schemas.openxmlformats.org/officeDocument/2006/relationships/slideLayout" Target="../slideLayouts/slideLayout7.xml"/><Relationship Id="rId9" Type="http://schemas.openxmlformats.org/officeDocument/2006/relationships/image" Target="../media/image57.png"/></Relationships>
</file>

<file path=ppt/slides/_rels/slide54.xml.rels><?xml version="1.0" encoding="UTF-8" standalone="yes"?>
<Relationships xmlns="http://schemas.openxmlformats.org/package/2006/relationships"><Relationship Id="rId3" Type="http://schemas.openxmlformats.org/officeDocument/2006/relationships/tags" Target="../tags/tag109.xml"/><Relationship Id="rId7" Type="http://schemas.openxmlformats.org/officeDocument/2006/relationships/image" Target="../media/image20.png"/><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0543" y="1352550"/>
            <a:ext cx="4122914" cy="562727"/>
          </a:xfrm>
          <a:prstGeom prst="rect">
            <a:avLst/>
          </a:prstGeom>
        </p:spPr>
        <p:txBody>
          <a:bodyPr vert="horz" wrap="square" lIns="0" tIns="8645" rIns="0" bIns="0" rtlCol="0">
            <a:spAutoFit/>
          </a:bodyPr>
          <a:lstStyle/>
          <a:p>
            <a:pPr>
              <a:tabLst>
                <a:tab pos="1479573" algn="l"/>
              </a:tabLst>
            </a:pPr>
            <a:r>
              <a:rPr sz="3600" b="1" dirty="0">
                <a:latin typeface="Arial"/>
                <a:cs typeface="Arial"/>
              </a:rPr>
              <a:t>Mac</a:t>
            </a:r>
            <a:r>
              <a:rPr sz="3600" b="1" spc="-3" dirty="0">
                <a:latin typeface="Arial"/>
                <a:cs typeface="Arial"/>
              </a:rPr>
              <a:t>hin</a:t>
            </a:r>
            <a:r>
              <a:rPr sz="3600" b="1" dirty="0">
                <a:latin typeface="Arial"/>
                <a:cs typeface="Arial"/>
              </a:rPr>
              <a:t>e	</a:t>
            </a:r>
            <a:r>
              <a:rPr lang="en-GB" sz="3600" b="1" dirty="0">
                <a:latin typeface="Arial"/>
                <a:cs typeface="Arial"/>
              </a:rPr>
              <a:t> </a:t>
            </a:r>
            <a:r>
              <a:rPr sz="3600" b="1" spc="-3" dirty="0">
                <a:latin typeface="Arial"/>
                <a:cs typeface="Arial"/>
              </a:rPr>
              <a:t>L</a:t>
            </a:r>
            <a:r>
              <a:rPr sz="3600" b="1" dirty="0">
                <a:latin typeface="Arial"/>
                <a:cs typeface="Arial"/>
              </a:rPr>
              <a:t>ear</a:t>
            </a:r>
            <a:r>
              <a:rPr sz="3600" b="1" spc="-3" dirty="0">
                <a:latin typeface="Arial"/>
                <a:cs typeface="Arial"/>
              </a:rPr>
              <a:t>nin</a:t>
            </a:r>
            <a:r>
              <a:rPr sz="3600" b="1" dirty="0">
                <a:latin typeface="Arial"/>
                <a:cs typeface="Arial"/>
              </a:rPr>
              <a:t>g</a:t>
            </a:r>
            <a:endParaRPr sz="3600" dirty="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37266F-270C-61FF-89BF-B3FD0DD40477}"/>
              </a:ext>
            </a:extLst>
          </p:cNvPr>
          <p:cNvSpPr>
            <a:spLocks noGrp="1"/>
          </p:cNvSpPr>
          <p:nvPr>
            <p:ph type="dt" sz="half" idx="10"/>
          </p:nvPr>
        </p:nvSpPr>
        <p:spPr/>
        <p:txBody>
          <a:bodyPr/>
          <a:lstStyle/>
          <a:p>
            <a:fld id="{4E1295AC-1DCA-48F8-B21B-B79B192BE89E}" type="datetime1">
              <a:rPr lang="en-US" smtClean="0">
                <a:solidFill>
                  <a:prstClr val="black">
                    <a:tint val="75000"/>
                  </a:prstClr>
                </a:solidFill>
              </a:rPr>
              <a:t>9/10/2025</a:t>
            </a:fld>
            <a:endParaRPr lang="en-US">
              <a:solidFill>
                <a:prstClr val="black">
                  <a:tint val="75000"/>
                </a:prstClr>
              </a:solidFill>
            </a:endParaRPr>
          </a:p>
        </p:txBody>
      </p:sp>
      <p:sp>
        <p:nvSpPr>
          <p:cNvPr id="3" name="Footer Placeholder 2">
            <a:extLst>
              <a:ext uri="{FF2B5EF4-FFF2-40B4-BE49-F238E27FC236}">
                <a16:creationId xmlns:a16="http://schemas.microsoft.com/office/drawing/2014/main" id="{82305B26-5138-82CD-C0EF-4919A804A854}"/>
              </a:ext>
            </a:extLst>
          </p:cNvPr>
          <p:cNvSpPr>
            <a:spLocks noGrp="1"/>
          </p:cNvSpPr>
          <p:nvPr>
            <p:ph type="ftr" sz="quarter" idx="11"/>
          </p:nvPr>
        </p:nvSpPr>
        <p:spPr/>
        <p:txBody>
          <a:bodyPr/>
          <a:lstStyle/>
          <a:p>
            <a:r>
              <a:rPr lang="en-US">
                <a:solidFill>
                  <a:prstClr val="black">
                    <a:tint val="75000"/>
                  </a:prstClr>
                </a:solidFill>
              </a:rPr>
              <a:t>Linear Regression</a:t>
            </a:r>
          </a:p>
        </p:txBody>
      </p:sp>
      <p:sp>
        <p:nvSpPr>
          <p:cNvPr id="4" name="Slide Number Placeholder 3">
            <a:extLst>
              <a:ext uri="{FF2B5EF4-FFF2-40B4-BE49-F238E27FC236}">
                <a16:creationId xmlns:a16="http://schemas.microsoft.com/office/drawing/2014/main" id="{FB3C1C3A-30A0-6122-D80C-9CA16CF124E9}"/>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2</a:t>
            </a:fld>
            <a:endParaRPr lang="en-US">
              <a:solidFill>
                <a:prstClr val="black">
                  <a:tint val="75000"/>
                </a:prstClr>
              </a:solidFill>
            </a:endParaRPr>
          </a:p>
        </p:txBody>
      </p:sp>
      <p:pic>
        <p:nvPicPr>
          <p:cNvPr id="5" name="Picture 4">
            <a:extLst>
              <a:ext uri="{FF2B5EF4-FFF2-40B4-BE49-F238E27FC236}">
                <a16:creationId xmlns:a16="http://schemas.microsoft.com/office/drawing/2014/main" id="{575DDF58-812E-55B9-2620-2E50448A0145}"/>
              </a:ext>
            </a:extLst>
          </p:cNvPr>
          <p:cNvPicPr>
            <a:picLocks noChangeAspect="1"/>
          </p:cNvPicPr>
          <p:nvPr/>
        </p:nvPicPr>
        <p:blipFill>
          <a:blip r:embed="rId2"/>
          <a:stretch>
            <a:fillRect/>
          </a:stretch>
        </p:blipFill>
        <p:spPr>
          <a:xfrm>
            <a:off x="0" y="-95251"/>
            <a:ext cx="9144000" cy="4862513"/>
          </a:xfrm>
          <a:prstGeom prst="rect">
            <a:avLst/>
          </a:prstGeom>
        </p:spPr>
      </p:pic>
    </p:spTree>
    <p:extLst>
      <p:ext uri="{BB962C8B-B14F-4D97-AF65-F5344CB8AC3E}">
        <p14:creationId xmlns:p14="http://schemas.microsoft.com/office/powerpoint/2010/main" val="1843546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3F05B8-BC93-365F-AD57-E41CE4BB7DFB}"/>
              </a:ext>
            </a:extLst>
          </p:cNvPr>
          <p:cNvSpPr txBox="1"/>
          <p:nvPr/>
        </p:nvSpPr>
        <p:spPr>
          <a:xfrm>
            <a:off x="210312" y="146470"/>
            <a:ext cx="8741664" cy="4643451"/>
          </a:xfrm>
          <a:prstGeom prst="rect">
            <a:avLst/>
          </a:prstGeom>
          <a:noFill/>
        </p:spPr>
        <p:txBody>
          <a:bodyPr wrap="square">
            <a:spAutoFit/>
          </a:bodyPr>
          <a:lstStyle/>
          <a:p>
            <a:pPr fontAlgn="base">
              <a:lnSpc>
                <a:spcPct val="107000"/>
              </a:lnSpc>
            </a:pPr>
            <a:r>
              <a:rPr lang="en-US" sz="2400" b="1" kern="1800" dirty="0">
                <a:solidFill>
                  <a:srgbClr val="273239"/>
                </a:solidFill>
                <a:latin typeface="Arial" panose="020B0604020202020204" pitchFamily="34" charset="0"/>
                <a:ea typeface="Times New Roman" panose="02020603050405020304" pitchFamily="18" charset="0"/>
                <a:cs typeface="Times New Roman" panose="02020603050405020304" pitchFamily="18" charset="0"/>
              </a:rPr>
              <a:t>Types of Regression Techniques in ML</a:t>
            </a:r>
          </a:p>
          <a:p>
            <a:pPr marL="257175" marR="121444" indent="-257175" fontAlgn="t">
              <a:lnSpc>
                <a:spcPct val="0"/>
              </a:lnSpc>
              <a:spcBef>
                <a:spcPts val="225"/>
              </a:spcBef>
              <a:buSzPts val="1000"/>
              <a:buFont typeface="Symbol" panose="05050102010706020507" pitchFamily="18" charset="2"/>
              <a:buChar char=""/>
              <a:tabLst>
                <a:tab pos="342900" algn="l"/>
              </a:tabLst>
            </a:pPr>
            <a:r>
              <a:rPr lang="en-US" sz="750" kern="0" dirty="0">
                <a:solidFill>
                  <a:srgbClr val="273239"/>
                </a:solidFill>
                <a:latin typeface="Arial" panose="020B0604020202020204" pitchFamily="34" charset="0"/>
                <a:ea typeface="Times New Roman" panose="02020603050405020304" pitchFamily="18" charset="0"/>
                <a:cs typeface="Times New Roman" panose="02020603050405020304" pitchFamily="18" charset="0"/>
              </a:rPr>
              <a:t> </a:t>
            </a:r>
            <a:endParaRPr lang="en-US" sz="1050" kern="100" dirty="0">
              <a:solidFill>
                <a:srgbClr val="273239"/>
              </a:solidFill>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pPr>
            <a:r>
              <a:rPr lang="en-US"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A regression problem is when the output variable is a real or continuous value, such as “salary” or “weight”. Many different models can be used, and the simplest is linear regression. It tries to fit data with the best hyperplane that goes through the points.</a:t>
            </a:r>
          </a:p>
          <a:p>
            <a:pPr fontAlgn="base">
              <a:lnSpc>
                <a:spcPct val="107000"/>
              </a:lnSpc>
            </a:pPr>
            <a:endParaRPr lang="en-US" kern="100" dirty="0">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pPr>
            <a:r>
              <a:rPr lang="en-US" b="1"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What is Regression Analysis?</a:t>
            </a:r>
            <a:endParaRPr lang="en-US" kern="100" dirty="0">
              <a:latin typeface="Times New Roman" panose="02020603050405020304" pitchFamily="18" charset="0"/>
              <a:ea typeface="Calibri" panose="020F0502020204030204" pitchFamily="34" charset="0"/>
              <a:cs typeface="Times New Roman" panose="02020603050405020304" pitchFamily="18" charset="0"/>
            </a:endParaRPr>
          </a:p>
          <a:p>
            <a:pPr marL="214313" indent="-214313" fontAlgn="base">
              <a:lnSpc>
                <a:spcPct val="107000"/>
              </a:lnSpc>
              <a:buFont typeface="Wingdings" panose="05000000000000000000" pitchFamily="2" charset="2"/>
              <a:buChar char="Ø"/>
            </a:pPr>
            <a:r>
              <a:rPr lang="en-US" b="1"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Regression Analysis</a:t>
            </a:r>
            <a:r>
              <a:rPr lang="en-US"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 is a statistical process for estimating the relationships between dependent or criterion variables and one or more independent variables or predictors. </a:t>
            </a:r>
          </a:p>
          <a:p>
            <a:pPr marL="214313" indent="-214313" fontAlgn="base">
              <a:lnSpc>
                <a:spcPct val="107000"/>
              </a:lnSpc>
              <a:buFont typeface="Wingdings" panose="05000000000000000000" pitchFamily="2" charset="2"/>
              <a:buChar char="Ø"/>
            </a:pPr>
            <a:r>
              <a:rPr lang="en-US"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Regression analysis is generally used when dealing with a dataset with the target variable in the form of continuous data. Regression analysis explains the changes in criteria about changes in select predictors. </a:t>
            </a:r>
          </a:p>
          <a:p>
            <a:pPr marL="214313" indent="-214313" fontAlgn="base">
              <a:lnSpc>
                <a:spcPct val="107000"/>
              </a:lnSpc>
              <a:buFont typeface="Wingdings" panose="05000000000000000000" pitchFamily="2" charset="2"/>
              <a:buChar char="Ø"/>
            </a:pPr>
            <a:r>
              <a:rPr lang="en-US"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The conditional expectation of the requirements is based on predictors where the average value of the dependent variables is given when the independent variables are changed. </a:t>
            </a:r>
          </a:p>
          <a:p>
            <a:pPr marL="214313" indent="-214313" fontAlgn="base">
              <a:lnSpc>
                <a:spcPct val="107000"/>
              </a:lnSpc>
              <a:buFont typeface="Wingdings" panose="05000000000000000000" pitchFamily="2" charset="2"/>
              <a:buChar char="Ø"/>
            </a:pPr>
            <a:r>
              <a:rPr lang="en-US"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Three significant uses for regression analysis are determining the </a:t>
            </a:r>
            <a:r>
              <a:rPr lang="en-US" b="1"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strength of predictors, forecasting an effect, and trend forecasting. </a:t>
            </a:r>
            <a:endParaRPr lang="en-US" b="1" kern="1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316200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67E76E-48B6-02DE-4AAF-2948F3E859F9}"/>
              </a:ext>
            </a:extLst>
          </p:cNvPr>
          <p:cNvSpPr txBox="1"/>
          <p:nvPr/>
        </p:nvSpPr>
        <p:spPr>
          <a:xfrm>
            <a:off x="533400" y="69077"/>
            <a:ext cx="8293608" cy="5005345"/>
          </a:xfrm>
          <a:prstGeom prst="rect">
            <a:avLst/>
          </a:prstGeom>
          <a:noFill/>
        </p:spPr>
        <p:txBody>
          <a:bodyPr wrap="square">
            <a:spAutoFit/>
          </a:bodyPr>
          <a:lstStyle/>
          <a:p>
            <a:pPr fontAlgn="base">
              <a:lnSpc>
                <a:spcPct val="107000"/>
              </a:lnSpc>
            </a:pPr>
            <a:r>
              <a:rPr lang="en-US" b="1"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What is the purpose of using Regression Analysis?</a:t>
            </a:r>
            <a:endParaRPr lang="en-US" kern="100" dirty="0">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pPr>
            <a:endParaRPr lang="en-US"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endParaRPr>
          </a:p>
          <a:p>
            <a:pPr fontAlgn="base">
              <a:lnSpc>
                <a:spcPct val="107000"/>
              </a:lnSpc>
            </a:pPr>
            <a:r>
              <a:rPr lang="en-US" sz="2400"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There are times when we would like to analyze the effect of different independent features on the target or, what we say, dependent features. </a:t>
            </a:r>
          </a:p>
          <a:p>
            <a:pPr fontAlgn="base">
              <a:lnSpc>
                <a:spcPct val="107000"/>
              </a:lnSpc>
            </a:pPr>
            <a:endParaRPr lang="en-US" sz="2400"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endParaRPr>
          </a:p>
          <a:p>
            <a:pPr fontAlgn="base">
              <a:lnSpc>
                <a:spcPct val="107000"/>
              </a:lnSpc>
            </a:pPr>
            <a:r>
              <a:rPr lang="en-US" sz="2400"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This helps us make decisions that can affect the target variable in the desired direction. </a:t>
            </a:r>
          </a:p>
          <a:p>
            <a:pPr fontAlgn="base">
              <a:lnSpc>
                <a:spcPct val="107000"/>
              </a:lnSpc>
            </a:pPr>
            <a:endParaRPr lang="en-US" sz="2400"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endParaRPr>
          </a:p>
          <a:p>
            <a:pPr fontAlgn="base">
              <a:lnSpc>
                <a:spcPct val="107000"/>
              </a:lnSpc>
            </a:pPr>
            <a:r>
              <a:rPr lang="en-US" sz="2400"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Regression analysis is heavily based on </a:t>
            </a:r>
            <a:r>
              <a:rPr lang="en-US" sz="2400" kern="0" dirty="0">
                <a:latin typeface="Times New Roman" panose="02020603050405020304" pitchFamily="18" charset="0"/>
                <a:ea typeface="Times New Roman" panose="02020603050405020304" pitchFamily="18" charset="0"/>
                <a:cs typeface="Times New Roman" panose="02020603050405020304" pitchFamily="18" charset="0"/>
              </a:rPr>
              <a:t>statistics</a:t>
            </a:r>
            <a:r>
              <a:rPr lang="en-US" sz="2400"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 and hence gives quite reliable results; for this reason, only regression models are used to find the linear as well as non-linear relation between the independent and the dependent or target variables.</a:t>
            </a:r>
            <a:endParaRPr lang="en-US" sz="2400" kern="1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76415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DC7BE8D-BEC0-07B2-CBCB-73332C90A3C7}"/>
              </a:ext>
            </a:extLst>
          </p:cNvPr>
          <p:cNvSpPr txBox="1"/>
          <p:nvPr/>
        </p:nvSpPr>
        <p:spPr>
          <a:xfrm>
            <a:off x="310896" y="181870"/>
            <a:ext cx="8680704" cy="5010539"/>
          </a:xfrm>
          <a:prstGeom prst="rect">
            <a:avLst/>
          </a:prstGeom>
          <a:noFill/>
        </p:spPr>
        <p:txBody>
          <a:bodyPr wrap="square">
            <a:spAutoFit/>
          </a:bodyPr>
          <a:lstStyle/>
          <a:p>
            <a:pPr fontAlgn="base">
              <a:lnSpc>
                <a:spcPct val="107000"/>
              </a:lnSpc>
            </a:pPr>
            <a:r>
              <a:rPr lang="en-US" sz="2400" b="1"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Types of Regression Techniques</a:t>
            </a:r>
            <a:endParaRPr lang="en-US" sz="2400" kern="100" dirty="0">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pPr>
            <a:r>
              <a:rPr lang="en-US" sz="2400"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There are several types of regression techniques, each suited to different kinds of data and relationships. The main types of regression techniques are:</a:t>
            </a:r>
            <a:endParaRPr lang="en-US" sz="2400" kern="100" dirty="0">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tabLst>
                <a:tab pos="342900" algn="l"/>
              </a:tabLst>
            </a:pPr>
            <a:r>
              <a:rPr lang="en-US" sz="2400" kern="0" dirty="0">
                <a:latin typeface="Times New Roman" panose="02020603050405020304" pitchFamily="18" charset="0"/>
                <a:ea typeface="Times New Roman" panose="02020603050405020304" pitchFamily="18" charset="0"/>
                <a:cs typeface="Times New Roman" panose="02020603050405020304" pitchFamily="18" charset="0"/>
              </a:rPr>
              <a:t>1. </a:t>
            </a: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Linear Regression</a:t>
            </a:r>
            <a:endParaRPr lang="en-US" sz="2000" kern="100" dirty="0">
              <a:latin typeface="Times New Roman" panose="02020603050405020304" pitchFamily="18" charset="0"/>
              <a:ea typeface="Calibri" panose="020F0502020204030204" pitchFamily="34" charset="0"/>
              <a:cs typeface="Times New Roman" panose="02020603050405020304" pitchFamily="18" charset="0"/>
            </a:endParaRPr>
          </a:p>
          <a:p>
            <a:pPr marL="257175" indent="-257175" fontAlgn="base">
              <a:lnSpc>
                <a:spcPct val="107000"/>
              </a:lnSpc>
              <a:buFont typeface="+mj-lt"/>
              <a:buAutoNum type="arabicPeriod" startAt="2"/>
              <a:tabLst>
                <a:tab pos="342900" algn="l"/>
              </a:tabLst>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Polynomial Regression</a:t>
            </a:r>
            <a:endParaRPr lang="en-US" sz="2000" kern="100" dirty="0">
              <a:latin typeface="Times New Roman" panose="02020603050405020304" pitchFamily="18" charset="0"/>
              <a:ea typeface="Calibri" panose="020F0502020204030204" pitchFamily="34" charset="0"/>
              <a:cs typeface="Times New Roman" panose="02020603050405020304" pitchFamily="18" charset="0"/>
            </a:endParaRPr>
          </a:p>
          <a:p>
            <a:pPr marL="257175" indent="-257175" fontAlgn="base">
              <a:lnSpc>
                <a:spcPct val="107000"/>
              </a:lnSpc>
              <a:buFont typeface="+mj-lt"/>
              <a:buAutoNum type="arabicPeriod" startAt="2"/>
              <a:tabLst>
                <a:tab pos="342900" algn="l"/>
              </a:tabLst>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Stepwise Regression</a:t>
            </a:r>
            <a:endParaRPr lang="en-US" sz="2000" kern="100" dirty="0">
              <a:latin typeface="Times New Roman" panose="02020603050405020304" pitchFamily="18" charset="0"/>
              <a:ea typeface="Calibri" panose="020F0502020204030204" pitchFamily="34" charset="0"/>
              <a:cs typeface="Times New Roman" panose="02020603050405020304" pitchFamily="18" charset="0"/>
            </a:endParaRPr>
          </a:p>
          <a:p>
            <a:pPr marL="257175" indent="-257175" fontAlgn="base">
              <a:lnSpc>
                <a:spcPct val="107000"/>
              </a:lnSpc>
              <a:buFont typeface="+mj-lt"/>
              <a:buAutoNum type="arabicPeriod" startAt="2"/>
              <a:tabLst>
                <a:tab pos="342900" algn="l"/>
              </a:tabLst>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Decision Tree Regression</a:t>
            </a:r>
            <a:endParaRPr lang="en-US" sz="2000" kern="100" dirty="0">
              <a:latin typeface="Times New Roman" panose="02020603050405020304" pitchFamily="18" charset="0"/>
              <a:ea typeface="Calibri" panose="020F0502020204030204" pitchFamily="34" charset="0"/>
              <a:cs typeface="Times New Roman" panose="02020603050405020304" pitchFamily="18" charset="0"/>
            </a:endParaRPr>
          </a:p>
          <a:p>
            <a:pPr marL="257175" indent="-257175" fontAlgn="base">
              <a:lnSpc>
                <a:spcPct val="107000"/>
              </a:lnSpc>
              <a:buFont typeface="+mj-lt"/>
              <a:buAutoNum type="arabicPeriod" startAt="2"/>
              <a:tabLst>
                <a:tab pos="342900" algn="l"/>
              </a:tabLst>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Random Forest Regression</a:t>
            </a:r>
            <a:endParaRPr lang="en-US" sz="2000" kern="100" dirty="0">
              <a:latin typeface="Times New Roman" panose="02020603050405020304" pitchFamily="18" charset="0"/>
              <a:ea typeface="Calibri" panose="020F0502020204030204" pitchFamily="34" charset="0"/>
              <a:cs typeface="Times New Roman" panose="02020603050405020304" pitchFamily="18" charset="0"/>
            </a:endParaRPr>
          </a:p>
          <a:p>
            <a:pPr marL="257175" indent="-257175" fontAlgn="base">
              <a:lnSpc>
                <a:spcPct val="107000"/>
              </a:lnSpc>
              <a:buFont typeface="+mj-lt"/>
              <a:buAutoNum type="arabicPeriod" startAt="2"/>
              <a:tabLst>
                <a:tab pos="342900" algn="l"/>
              </a:tabLst>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Support Vector Regression</a:t>
            </a:r>
            <a:endParaRPr lang="en-US" sz="2000" kern="100" dirty="0">
              <a:latin typeface="Times New Roman" panose="02020603050405020304" pitchFamily="18" charset="0"/>
              <a:ea typeface="Calibri" panose="020F0502020204030204" pitchFamily="34" charset="0"/>
              <a:cs typeface="Times New Roman" panose="02020603050405020304" pitchFamily="18" charset="0"/>
            </a:endParaRPr>
          </a:p>
          <a:p>
            <a:pPr marL="257175" indent="-257175" fontAlgn="base">
              <a:lnSpc>
                <a:spcPct val="107000"/>
              </a:lnSpc>
              <a:buFont typeface="+mj-lt"/>
              <a:buAutoNum type="arabicPeriod" startAt="2"/>
              <a:tabLst>
                <a:tab pos="342900" algn="l"/>
              </a:tabLst>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Ridge Regression</a:t>
            </a:r>
            <a:endParaRPr lang="en-US" sz="2000" kern="100" dirty="0">
              <a:latin typeface="Times New Roman" panose="02020603050405020304" pitchFamily="18" charset="0"/>
              <a:ea typeface="Calibri" panose="020F0502020204030204" pitchFamily="34" charset="0"/>
              <a:cs typeface="Times New Roman" panose="02020603050405020304" pitchFamily="18" charset="0"/>
            </a:endParaRPr>
          </a:p>
          <a:p>
            <a:pPr marL="257175" indent="-257175" fontAlgn="base">
              <a:lnSpc>
                <a:spcPct val="107000"/>
              </a:lnSpc>
              <a:buFont typeface="+mj-lt"/>
              <a:buAutoNum type="arabicPeriod" startAt="2"/>
              <a:tabLst>
                <a:tab pos="342900" algn="l"/>
              </a:tabLst>
            </a:pP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Lasso Regression</a:t>
            </a:r>
            <a:endParaRPr lang="en-US" sz="2000" kern="100" dirty="0">
              <a:latin typeface="Times New Roman" panose="02020603050405020304" pitchFamily="18" charset="0"/>
              <a:ea typeface="Calibri" panose="020F0502020204030204" pitchFamily="34" charset="0"/>
              <a:cs typeface="Times New Roman" panose="02020603050405020304" pitchFamily="18" charset="0"/>
            </a:endParaRPr>
          </a:p>
          <a:p>
            <a:pPr marL="257175" indent="-257175" fontAlgn="base">
              <a:lnSpc>
                <a:spcPct val="107000"/>
              </a:lnSpc>
              <a:buFont typeface="+mj-lt"/>
              <a:buAutoNum type="arabicPeriod" startAt="2"/>
              <a:tabLst>
                <a:tab pos="342900" algn="l"/>
              </a:tabLst>
            </a:pPr>
            <a:r>
              <a:rPr lang="en-US" sz="2000" kern="0" dirty="0" err="1">
                <a:latin typeface="Times New Roman" panose="02020603050405020304" pitchFamily="18" charset="0"/>
                <a:ea typeface="Times New Roman" panose="02020603050405020304" pitchFamily="18" charset="0"/>
                <a:cs typeface="Times New Roman" panose="02020603050405020304" pitchFamily="18" charset="0"/>
              </a:rPr>
              <a:t>ElasticNet</a:t>
            </a:r>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 Regression</a:t>
            </a:r>
            <a:endParaRPr lang="en-US" sz="2000" kern="100" dirty="0">
              <a:latin typeface="Times New Roman" panose="02020603050405020304" pitchFamily="18" charset="0"/>
              <a:ea typeface="Calibri" panose="020F0502020204030204" pitchFamily="34" charset="0"/>
              <a:cs typeface="Times New Roman" panose="02020603050405020304" pitchFamily="18" charset="0"/>
            </a:endParaRPr>
          </a:p>
          <a:p>
            <a:r>
              <a:rPr lang="en-US" sz="2000" kern="0" dirty="0">
                <a:latin typeface="Times New Roman" panose="02020603050405020304" pitchFamily="18" charset="0"/>
                <a:ea typeface="Times New Roman" panose="02020603050405020304" pitchFamily="18" charset="0"/>
                <a:cs typeface="Times New Roman" panose="02020603050405020304" pitchFamily="18" charset="0"/>
              </a:rPr>
              <a:t>10. Bayesian Linear Regression</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2011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6CD0F8-4EF1-020C-E818-05A6115AB0B2}"/>
              </a:ext>
            </a:extLst>
          </p:cNvPr>
          <p:cNvSpPr txBox="1"/>
          <p:nvPr/>
        </p:nvSpPr>
        <p:spPr>
          <a:xfrm>
            <a:off x="301752" y="174825"/>
            <a:ext cx="8759952" cy="4891147"/>
          </a:xfrm>
          <a:prstGeom prst="rect">
            <a:avLst/>
          </a:prstGeom>
          <a:noFill/>
        </p:spPr>
        <p:txBody>
          <a:bodyPr wrap="square">
            <a:spAutoFit/>
          </a:bodyPr>
          <a:lstStyle/>
          <a:p>
            <a:pPr fontAlgn="base">
              <a:lnSpc>
                <a:spcPct val="107000"/>
              </a:lnSpc>
            </a:pPr>
            <a:r>
              <a:rPr lang="en-US" b="1"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Linear Regression</a:t>
            </a:r>
            <a:endParaRPr lang="en-US" kern="100" dirty="0">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pPr>
            <a:r>
              <a:rPr lang="en-US"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Linear regression is used for predictive analysis. </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Linear regression </a:t>
            </a:r>
            <a:r>
              <a:rPr lang="en-US"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is a linear approach for modeling the relationship between the criterion or the scalar response and the multiple predictors or explanatory variables. Linear regression focuses on the conditional probability distribution of the response given the values of the predictors. For linear regression, there is a danger of </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overfitting. </a:t>
            </a:r>
            <a:r>
              <a:rPr lang="en-US"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The formula for linear regression is:</a:t>
            </a:r>
            <a:endParaRPr lang="en-US" kern="100" dirty="0">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pPr>
            <a:r>
              <a:rPr lang="en-US" i="1"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Syntax:</a:t>
            </a:r>
            <a:endParaRPr lang="en-US" kern="100" dirty="0">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pPr>
            <a:r>
              <a:rPr lang="en-US" b="1" i="1"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		y = θ</a:t>
            </a:r>
            <a:r>
              <a:rPr lang="en-US" b="1" i="1" kern="0" baseline="-2500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0 </a:t>
            </a:r>
            <a:r>
              <a:rPr lang="en-US" b="1" i="1"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 +  θ</a:t>
            </a:r>
            <a:r>
              <a:rPr lang="en-US" b="1" i="1" kern="0" baseline="-2500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1</a:t>
            </a:r>
            <a:r>
              <a:rPr lang="en-US" b="1" i="1"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 x</a:t>
            </a:r>
            <a:endParaRPr lang="en-US" kern="100" dirty="0">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pPr>
            <a:r>
              <a:rPr lang="en-US" i="1"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where,</a:t>
            </a:r>
            <a:endParaRPr lang="en-US" kern="100" dirty="0">
              <a:latin typeface="Times New Roman" panose="02020603050405020304" pitchFamily="18" charset="0"/>
              <a:ea typeface="Calibri" panose="020F0502020204030204" pitchFamily="34" charset="0"/>
              <a:cs typeface="Times New Roman" panose="02020603050405020304" pitchFamily="18" charset="0"/>
            </a:endParaRPr>
          </a:p>
          <a:p>
            <a:pPr marL="257175" indent="-257175" fontAlgn="base">
              <a:lnSpc>
                <a:spcPct val="107000"/>
              </a:lnSpc>
              <a:buSzPts val="1000"/>
              <a:buFont typeface="Symbol" panose="05050102010706020507" pitchFamily="18" charset="2"/>
              <a:buChar char=""/>
              <a:tabLst>
                <a:tab pos="342900" algn="l"/>
              </a:tabLst>
            </a:pPr>
            <a:r>
              <a:rPr lang="en-US" b="1" i="1"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θ</a:t>
            </a:r>
            <a:r>
              <a:rPr lang="en-US" b="1" i="1" kern="0" baseline="-2500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1</a:t>
            </a:r>
            <a:r>
              <a:rPr lang="en-US" i="1"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 – It is the model weights or parameters</a:t>
            </a:r>
            <a:endParaRPr lang="en-US" kern="100" dirty="0">
              <a:latin typeface="Times New Roman" panose="02020603050405020304" pitchFamily="18" charset="0"/>
              <a:ea typeface="Calibri" panose="020F0502020204030204" pitchFamily="34" charset="0"/>
              <a:cs typeface="Times New Roman" panose="02020603050405020304" pitchFamily="18" charset="0"/>
            </a:endParaRPr>
          </a:p>
          <a:p>
            <a:pPr marL="257175" indent="-257175" fontAlgn="base">
              <a:lnSpc>
                <a:spcPct val="107000"/>
              </a:lnSpc>
              <a:spcAft>
                <a:spcPts val="600"/>
              </a:spcAft>
              <a:buSzPts val="1000"/>
              <a:buFont typeface="Symbol" panose="05050102010706020507" pitchFamily="18" charset="2"/>
              <a:buChar char=""/>
              <a:tabLst>
                <a:tab pos="342900" algn="l"/>
              </a:tabLst>
            </a:pPr>
            <a:r>
              <a:rPr lang="en-US" b="1" i="1"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θ</a:t>
            </a:r>
            <a:r>
              <a:rPr lang="en-US" b="1" i="1" kern="0" baseline="-2500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0</a:t>
            </a:r>
            <a:r>
              <a:rPr lang="en-US" i="1"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 – It is known as the bias.</a:t>
            </a:r>
            <a:endParaRPr lang="en-US" kern="100" dirty="0">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pPr>
            <a:r>
              <a:rPr lang="en-US"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This is the most basic form of regression analysis and is used to model a linear relationship between a single dependent variable and one or more independent variables.</a:t>
            </a:r>
            <a:endParaRPr lang="en-US" kern="100" dirty="0">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pPr>
            <a:r>
              <a:rPr lang="en-US"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Here, a linear regression model is instantiated to fit a linear relationship between input features (X) and target values (y). This code is used for simple demonstration of the approach.</a:t>
            </a:r>
            <a:endParaRPr lang="en-US" kern="1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10358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E8FFE8-98B5-E087-E10C-B336E5124039}"/>
              </a:ext>
            </a:extLst>
          </p:cNvPr>
          <p:cNvSpPr txBox="1"/>
          <p:nvPr/>
        </p:nvSpPr>
        <p:spPr>
          <a:xfrm>
            <a:off x="758952" y="548074"/>
            <a:ext cx="7781544" cy="2390398"/>
          </a:xfrm>
          <a:prstGeom prst="rect">
            <a:avLst/>
          </a:prstGeom>
          <a:noFill/>
        </p:spPr>
        <p:txBody>
          <a:bodyPr wrap="square">
            <a:spAutoFit/>
          </a:bodyPr>
          <a:lstStyle/>
          <a:p>
            <a:pPr fontAlgn="base">
              <a:lnSpc>
                <a:spcPts val="1080"/>
              </a:lnSpc>
            </a:pPr>
            <a:r>
              <a:rPr lang="en-US" sz="2100" b="1" kern="0" dirty="0">
                <a:solidFill>
                  <a:srgbClr val="006699"/>
                </a:solidFill>
                <a:latin typeface="Times New Roman" panose="02020603050405020304" pitchFamily="18" charset="0"/>
                <a:ea typeface="Times New Roman" panose="02020603050405020304" pitchFamily="18" charset="0"/>
                <a:cs typeface="Times New Roman" panose="02020603050405020304" pitchFamily="18" charset="0"/>
              </a:rPr>
              <a:t>from</a:t>
            </a:r>
            <a:r>
              <a:rPr lang="en-US" sz="21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100" kern="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sklearn.linear_model</a:t>
            </a:r>
            <a:r>
              <a:rPr lang="en-US" sz="21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100" b="1" kern="0" dirty="0">
                <a:solidFill>
                  <a:srgbClr val="006699"/>
                </a:solidFill>
                <a:latin typeface="Times New Roman" panose="02020603050405020304" pitchFamily="18" charset="0"/>
                <a:ea typeface="Times New Roman" panose="02020603050405020304" pitchFamily="18" charset="0"/>
                <a:cs typeface="Times New Roman" panose="02020603050405020304" pitchFamily="18" charset="0"/>
              </a:rPr>
              <a:t>import</a:t>
            </a:r>
            <a:r>
              <a:rPr lang="en-US" sz="21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100" kern="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LinearRegression</a:t>
            </a:r>
            <a:endParaRPr lang="en-US" sz="21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fontAlgn="base">
              <a:lnSpc>
                <a:spcPts val="1080"/>
              </a:lnSpc>
            </a:pPr>
            <a:endParaRPr lang="en-US" sz="2100" kern="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fontAlgn="base">
              <a:lnSpc>
                <a:spcPts val="1080"/>
              </a:lnSpc>
            </a:pPr>
            <a:endParaRPr lang="en-US" sz="2100" kern="100" dirty="0">
              <a:latin typeface="Times New Roman" panose="02020603050405020304" pitchFamily="18" charset="0"/>
              <a:ea typeface="Calibri" panose="020F0502020204030204" pitchFamily="34" charset="0"/>
              <a:cs typeface="Times New Roman" panose="02020603050405020304" pitchFamily="18" charset="0"/>
            </a:endParaRPr>
          </a:p>
          <a:p>
            <a:pPr fontAlgn="base">
              <a:lnSpc>
                <a:spcPts val="1080"/>
              </a:lnSpc>
            </a:pPr>
            <a:r>
              <a:rPr lang="en-US" sz="21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2100" kern="100" dirty="0">
              <a:latin typeface="Times New Roman" panose="02020603050405020304" pitchFamily="18" charset="0"/>
              <a:ea typeface="Calibri" panose="020F0502020204030204" pitchFamily="34" charset="0"/>
              <a:cs typeface="Times New Roman" panose="02020603050405020304" pitchFamily="18" charset="0"/>
            </a:endParaRPr>
          </a:p>
          <a:p>
            <a:pPr fontAlgn="base">
              <a:lnSpc>
                <a:spcPts val="1080"/>
              </a:lnSpc>
            </a:pPr>
            <a:r>
              <a:rPr lang="en-US" sz="2100" kern="0" dirty="0">
                <a:solidFill>
                  <a:srgbClr val="008200"/>
                </a:solidFill>
                <a:latin typeface="Times New Roman" panose="02020603050405020304" pitchFamily="18" charset="0"/>
                <a:ea typeface="Times New Roman" panose="02020603050405020304" pitchFamily="18" charset="0"/>
                <a:cs typeface="Times New Roman" panose="02020603050405020304" pitchFamily="18" charset="0"/>
              </a:rPr>
              <a:t># Create a linear regression model</a:t>
            </a:r>
          </a:p>
          <a:p>
            <a:pPr fontAlgn="base">
              <a:lnSpc>
                <a:spcPts val="1080"/>
              </a:lnSpc>
            </a:pPr>
            <a:endParaRPr lang="en-US" sz="2100" kern="100" dirty="0">
              <a:latin typeface="Times New Roman" panose="02020603050405020304" pitchFamily="18" charset="0"/>
              <a:ea typeface="Calibri" panose="020F0502020204030204" pitchFamily="34" charset="0"/>
              <a:cs typeface="Times New Roman" panose="02020603050405020304" pitchFamily="18" charset="0"/>
            </a:endParaRPr>
          </a:p>
          <a:p>
            <a:pPr fontAlgn="base">
              <a:lnSpc>
                <a:spcPts val="1080"/>
              </a:lnSpc>
            </a:pPr>
            <a:r>
              <a:rPr lang="en-US" sz="21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model </a:t>
            </a:r>
            <a:r>
              <a:rPr lang="en-US" sz="2100" b="1" kern="0" dirty="0">
                <a:solidFill>
                  <a:srgbClr val="006699"/>
                </a:solidFill>
                <a:latin typeface="Times New Roman" panose="02020603050405020304" pitchFamily="18" charset="0"/>
                <a:ea typeface="Times New Roman" panose="02020603050405020304" pitchFamily="18" charset="0"/>
                <a:cs typeface="Times New Roman" panose="02020603050405020304" pitchFamily="18" charset="0"/>
              </a:rPr>
              <a:t>=</a:t>
            </a:r>
            <a:r>
              <a:rPr lang="en-US" sz="21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100" kern="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LinearRegression</a:t>
            </a:r>
            <a:r>
              <a:rPr lang="en-US" sz="21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2100" kern="100" dirty="0">
              <a:latin typeface="Times New Roman" panose="02020603050405020304" pitchFamily="18" charset="0"/>
              <a:ea typeface="Calibri" panose="020F0502020204030204" pitchFamily="34" charset="0"/>
              <a:cs typeface="Times New Roman" panose="02020603050405020304" pitchFamily="18" charset="0"/>
            </a:endParaRPr>
          </a:p>
          <a:p>
            <a:pPr fontAlgn="base">
              <a:lnSpc>
                <a:spcPts val="1080"/>
              </a:lnSpc>
            </a:pPr>
            <a:r>
              <a:rPr lang="en-US" sz="21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2100" kern="100" dirty="0">
              <a:latin typeface="Times New Roman" panose="02020603050405020304" pitchFamily="18" charset="0"/>
              <a:ea typeface="Calibri" panose="020F0502020204030204" pitchFamily="34" charset="0"/>
              <a:cs typeface="Times New Roman" panose="02020603050405020304" pitchFamily="18" charset="0"/>
            </a:endParaRPr>
          </a:p>
          <a:p>
            <a:pPr fontAlgn="base">
              <a:lnSpc>
                <a:spcPts val="1080"/>
              </a:lnSpc>
            </a:pPr>
            <a:r>
              <a:rPr lang="en-US" sz="2100" kern="0" dirty="0">
                <a:solidFill>
                  <a:srgbClr val="008200"/>
                </a:solidFill>
                <a:latin typeface="Times New Roman" panose="02020603050405020304" pitchFamily="18" charset="0"/>
                <a:ea typeface="Times New Roman" panose="02020603050405020304" pitchFamily="18" charset="0"/>
                <a:cs typeface="Times New Roman" panose="02020603050405020304" pitchFamily="18" charset="0"/>
              </a:rPr>
              <a:t># Fit the model to the data</a:t>
            </a:r>
          </a:p>
          <a:p>
            <a:pPr fontAlgn="base">
              <a:lnSpc>
                <a:spcPts val="1080"/>
              </a:lnSpc>
            </a:pPr>
            <a:endParaRPr lang="en-US" sz="2100" kern="100" dirty="0">
              <a:latin typeface="Times New Roman" panose="02020603050405020304" pitchFamily="18" charset="0"/>
              <a:ea typeface="Calibri" panose="020F0502020204030204" pitchFamily="34" charset="0"/>
              <a:cs typeface="Times New Roman" panose="02020603050405020304" pitchFamily="18" charset="0"/>
            </a:endParaRPr>
          </a:p>
          <a:p>
            <a:pPr fontAlgn="base">
              <a:lnSpc>
                <a:spcPts val="1080"/>
              </a:lnSpc>
            </a:pPr>
            <a:r>
              <a:rPr lang="en-US" sz="21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100" kern="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model.fit</a:t>
            </a:r>
            <a:r>
              <a:rPr lang="en-US" sz="21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(X, y)</a:t>
            </a:r>
          </a:p>
          <a:p>
            <a:pPr fontAlgn="base">
              <a:lnSpc>
                <a:spcPts val="1080"/>
              </a:lnSpc>
            </a:pPr>
            <a:endParaRPr lang="en-US" sz="2100" kern="100" dirty="0">
              <a:latin typeface="Times New Roman" panose="02020603050405020304" pitchFamily="18" charset="0"/>
              <a:ea typeface="Calibri" panose="020F0502020204030204" pitchFamily="34" charset="0"/>
              <a:cs typeface="Times New Roman" panose="02020603050405020304" pitchFamily="18" charset="0"/>
            </a:endParaRPr>
          </a:p>
          <a:p>
            <a:pPr fontAlgn="base">
              <a:lnSpc>
                <a:spcPts val="1080"/>
              </a:lnSpc>
            </a:pPr>
            <a:r>
              <a:rPr lang="en-US" sz="21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2100" kern="100" dirty="0">
              <a:latin typeface="Times New Roman" panose="02020603050405020304" pitchFamily="18" charset="0"/>
              <a:ea typeface="Calibri" panose="020F0502020204030204" pitchFamily="34" charset="0"/>
              <a:cs typeface="Times New Roman" panose="02020603050405020304" pitchFamily="18" charset="0"/>
            </a:endParaRPr>
          </a:p>
          <a:p>
            <a:pPr fontAlgn="base">
              <a:lnSpc>
                <a:spcPts val="1080"/>
              </a:lnSpc>
            </a:pPr>
            <a:r>
              <a:rPr lang="en-US" sz="2100" kern="0" dirty="0">
                <a:solidFill>
                  <a:srgbClr val="008200"/>
                </a:solidFill>
                <a:latin typeface="Times New Roman" panose="02020603050405020304" pitchFamily="18" charset="0"/>
                <a:ea typeface="Times New Roman" panose="02020603050405020304" pitchFamily="18" charset="0"/>
                <a:cs typeface="Times New Roman" panose="02020603050405020304" pitchFamily="18" charset="0"/>
              </a:rPr>
              <a:t># Predict the response for a new data point</a:t>
            </a:r>
            <a:endParaRPr lang="en-US" sz="2100" kern="100" dirty="0">
              <a:latin typeface="Times New Roman" panose="02020603050405020304" pitchFamily="18" charset="0"/>
              <a:ea typeface="Calibri" panose="020F0502020204030204" pitchFamily="34" charset="0"/>
              <a:cs typeface="Times New Roman" panose="02020603050405020304" pitchFamily="18" charset="0"/>
            </a:endParaRPr>
          </a:p>
          <a:p>
            <a:r>
              <a:rPr lang="en-US" sz="21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100" kern="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y_pred</a:t>
            </a:r>
            <a:r>
              <a:rPr lang="en-US" sz="21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100" b="1" kern="0" dirty="0">
                <a:solidFill>
                  <a:srgbClr val="006699"/>
                </a:solidFill>
                <a:latin typeface="Times New Roman" panose="02020603050405020304" pitchFamily="18" charset="0"/>
                <a:ea typeface="Times New Roman" panose="02020603050405020304" pitchFamily="18" charset="0"/>
                <a:cs typeface="Times New Roman" panose="02020603050405020304" pitchFamily="18" charset="0"/>
              </a:rPr>
              <a:t>=</a:t>
            </a:r>
            <a:r>
              <a:rPr lang="en-US" sz="2100"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sz="2100" kern="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model.predict</a:t>
            </a:r>
            <a:r>
              <a:rPr lang="en-US" sz="21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en-US" sz="2100" kern="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X_new</a:t>
            </a:r>
            <a:r>
              <a:rPr lang="en-US" sz="2100" kern="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21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85B6068-7F07-8BB0-D828-8BCADFF0D6D1}"/>
              </a:ext>
            </a:extLst>
          </p:cNvPr>
          <p:cNvSpPr txBox="1"/>
          <p:nvPr/>
        </p:nvSpPr>
        <p:spPr>
          <a:xfrm>
            <a:off x="667512" y="3463660"/>
            <a:ext cx="7827264" cy="665118"/>
          </a:xfrm>
          <a:prstGeom prst="rect">
            <a:avLst/>
          </a:prstGeom>
          <a:noFill/>
        </p:spPr>
        <p:txBody>
          <a:bodyPr wrap="square">
            <a:spAutoFit/>
          </a:bodyPr>
          <a:lstStyle/>
          <a:p>
            <a:pPr fontAlgn="base">
              <a:lnSpc>
                <a:spcPct val="107000"/>
              </a:lnSpc>
            </a:pPr>
            <a:r>
              <a:rPr lang="en-US" b="1"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Note:</a:t>
            </a:r>
            <a:r>
              <a:rPr lang="en-US"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 This code demonstrates the basic workflow of creating, training, and utilizing a linear regression model for predictive modeling tasks.</a:t>
            </a:r>
            <a:endParaRPr lang="en-US" kern="1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76985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291A01D-BB97-5EA4-B1FD-4A8D41B74DDB}"/>
              </a:ext>
            </a:extLst>
          </p:cNvPr>
          <p:cNvSpPr txBox="1"/>
          <p:nvPr/>
        </p:nvSpPr>
        <p:spPr>
          <a:xfrm>
            <a:off x="274320" y="232298"/>
            <a:ext cx="8522208" cy="3526991"/>
          </a:xfrm>
          <a:prstGeom prst="rect">
            <a:avLst/>
          </a:prstGeom>
          <a:noFill/>
        </p:spPr>
        <p:txBody>
          <a:bodyPr wrap="square">
            <a:spAutoFit/>
          </a:bodyPr>
          <a:lstStyle/>
          <a:p>
            <a:pPr fontAlgn="base">
              <a:lnSpc>
                <a:spcPct val="107000"/>
              </a:lnSpc>
            </a:pPr>
            <a:r>
              <a:rPr lang="en-US" sz="2100" b="1"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Polynomial Regression</a:t>
            </a:r>
            <a:endParaRPr lang="en-US" sz="2100" kern="100" dirty="0">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pPr>
            <a:r>
              <a:rPr lang="en-US" sz="2100"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This extension of linear regression is used to model a non-linear relationship between the dependent variable and independent variables. The syntax remains the same, but now, in the input variables, we include some polynomial or higher degree terms for some already existing features. Linear regression was only able to fit a linear model to the data at hand. However, with polynomial features, we can easily fit some non-linear relationships between the target and input features.</a:t>
            </a:r>
            <a:endParaRPr lang="en-US" sz="2100" kern="100" dirty="0">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07000"/>
              </a:lnSpc>
            </a:pPr>
            <a:r>
              <a:rPr lang="en-US" sz="2100" kern="0" dirty="0">
                <a:solidFill>
                  <a:srgbClr val="273239"/>
                </a:solidFill>
                <a:latin typeface="Times New Roman" panose="02020603050405020304" pitchFamily="18" charset="0"/>
                <a:ea typeface="Times New Roman" panose="02020603050405020304" pitchFamily="18" charset="0"/>
                <a:cs typeface="Times New Roman" panose="02020603050405020304" pitchFamily="18" charset="0"/>
              </a:rPr>
              <a:t>Here is the code for a simple demonstration of the Polynomial regression approach.</a:t>
            </a:r>
            <a:endParaRPr lang="en-US" sz="2100" kern="1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74841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C4C40FF-6DC2-C1F9-5A1C-6E85E9822EA2}"/>
              </a:ext>
            </a:extLst>
          </p:cNvPr>
          <p:cNvSpPr txBox="1"/>
          <p:nvPr/>
        </p:nvSpPr>
        <p:spPr>
          <a:xfrm>
            <a:off x="612648" y="402658"/>
            <a:ext cx="8257032" cy="4293483"/>
          </a:xfrm>
          <a:prstGeom prst="rect">
            <a:avLst/>
          </a:prstGeom>
          <a:noFill/>
        </p:spPr>
        <p:txBody>
          <a:bodyPr wrap="square">
            <a:spAutoFit/>
          </a:bodyPr>
          <a:lstStyle/>
          <a:p>
            <a:r>
              <a:rPr lang="en-US" sz="2100" dirty="0">
                <a:latin typeface="Times New Roman" panose="02020603050405020304" pitchFamily="18" charset="0"/>
                <a:cs typeface="Times New Roman" panose="02020603050405020304" pitchFamily="18" charset="0"/>
              </a:rPr>
              <a:t>from </a:t>
            </a:r>
            <a:r>
              <a:rPr lang="en-US" sz="2100" dirty="0" err="1">
                <a:latin typeface="Times New Roman" panose="02020603050405020304" pitchFamily="18" charset="0"/>
                <a:cs typeface="Times New Roman" panose="02020603050405020304" pitchFamily="18" charset="0"/>
              </a:rPr>
              <a:t>sklearn.linear_model</a:t>
            </a:r>
            <a:r>
              <a:rPr lang="en-US" sz="2100" dirty="0">
                <a:latin typeface="Times New Roman" panose="02020603050405020304" pitchFamily="18" charset="0"/>
                <a:cs typeface="Times New Roman" panose="02020603050405020304" pitchFamily="18" charset="0"/>
              </a:rPr>
              <a:t> import </a:t>
            </a:r>
            <a:r>
              <a:rPr lang="en-US" sz="2100" dirty="0" err="1">
                <a:latin typeface="Times New Roman" panose="02020603050405020304" pitchFamily="18" charset="0"/>
                <a:cs typeface="Times New Roman" panose="02020603050405020304" pitchFamily="18" charset="0"/>
              </a:rPr>
              <a:t>PolynomialRegression</a:t>
            </a:r>
            <a:endParaRPr lang="en-US" sz="2100" dirty="0">
              <a:latin typeface="Times New Roman" panose="02020603050405020304" pitchFamily="18" charset="0"/>
              <a:cs typeface="Times New Roman" panose="02020603050405020304" pitchFamily="18" charset="0"/>
            </a:endParaRPr>
          </a:p>
          <a:p>
            <a:r>
              <a:rPr lang="en-US" sz="2100" dirty="0">
                <a:latin typeface="Times New Roman" panose="02020603050405020304" pitchFamily="18" charset="0"/>
                <a:cs typeface="Times New Roman" panose="02020603050405020304" pitchFamily="18" charset="0"/>
              </a:rPr>
              <a:t> </a:t>
            </a:r>
          </a:p>
          <a:p>
            <a:r>
              <a:rPr lang="en-US" sz="2100" dirty="0">
                <a:latin typeface="Times New Roman" panose="02020603050405020304" pitchFamily="18" charset="0"/>
                <a:cs typeface="Times New Roman" panose="02020603050405020304" pitchFamily="18" charset="0"/>
              </a:rPr>
              <a:t># Create a polynomial regression model</a:t>
            </a:r>
          </a:p>
          <a:p>
            <a:r>
              <a:rPr lang="en-US" sz="2100" dirty="0">
                <a:latin typeface="Times New Roman" panose="02020603050405020304" pitchFamily="18" charset="0"/>
                <a:cs typeface="Times New Roman" panose="02020603050405020304" pitchFamily="18" charset="0"/>
              </a:rPr>
              <a:t>	model = </a:t>
            </a:r>
            <a:r>
              <a:rPr lang="en-US" sz="2100" dirty="0" err="1">
                <a:latin typeface="Times New Roman" panose="02020603050405020304" pitchFamily="18" charset="0"/>
                <a:cs typeface="Times New Roman" panose="02020603050405020304" pitchFamily="18" charset="0"/>
              </a:rPr>
              <a:t>PolynomialRegression</a:t>
            </a:r>
            <a:r>
              <a:rPr lang="en-US" sz="2100" dirty="0">
                <a:latin typeface="Times New Roman" panose="02020603050405020304" pitchFamily="18" charset="0"/>
                <a:cs typeface="Times New Roman" panose="02020603050405020304" pitchFamily="18" charset="0"/>
              </a:rPr>
              <a:t>(degree=2)</a:t>
            </a:r>
          </a:p>
          <a:p>
            <a:r>
              <a:rPr lang="en-US" sz="2100" dirty="0">
                <a:latin typeface="Times New Roman" panose="02020603050405020304" pitchFamily="18" charset="0"/>
                <a:cs typeface="Times New Roman" panose="02020603050405020304" pitchFamily="18" charset="0"/>
              </a:rPr>
              <a:t> </a:t>
            </a:r>
          </a:p>
          <a:p>
            <a:r>
              <a:rPr lang="en-US" sz="2100" dirty="0">
                <a:latin typeface="Times New Roman" panose="02020603050405020304" pitchFamily="18" charset="0"/>
                <a:cs typeface="Times New Roman" panose="02020603050405020304" pitchFamily="18" charset="0"/>
              </a:rPr>
              <a:t># Fit the model to the data</a:t>
            </a:r>
          </a:p>
          <a:p>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model.fit</a:t>
            </a:r>
            <a:r>
              <a:rPr lang="en-US" sz="2100" dirty="0">
                <a:latin typeface="Times New Roman" panose="02020603050405020304" pitchFamily="18" charset="0"/>
                <a:cs typeface="Times New Roman" panose="02020603050405020304" pitchFamily="18" charset="0"/>
              </a:rPr>
              <a:t>(X, y)</a:t>
            </a:r>
          </a:p>
          <a:p>
            <a:r>
              <a:rPr lang="en-US" sz="2100" dirty="0">
                <a:latin typeface="Times New Roman" panose="02020603050405020304" pitchFamily="18" charset="0"/>
                <a:cs typeface="Times New Roman" panose="02020603050405020304" pitchFamily="18" charset="0"/>
              </a:rPr>
              <a:t> </a:t>
            </a:r>
          </a:p>
          <a:p>
            <a:r>
              <a:rPr lang="en-US" sz="2100" dirty="0">
                <a:latin typeface="Times New Roman" panose="02020603050405020304" pitchFamily="18" charset="0"/>
                <a:cs typeface="Times New Roman" panose="02020603050405020304" pitchFamily="18" charset="0"/>
              </a:rPr>
              <a:t># Predict the response for a new data point</a:t>
            </a:r>
          </a:p>
          <a:p>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y_pred</a:t>
            </a:r>
            <a:r>
              <a:rPr lang="en-US" sz="2100" dirty="0">
                <a:latin typeface="Times New Roman" panose="02020603050405020304" pitchFamily="18" charset="0"/>
                <a:cs typeface="Times New Roman" panose="02020603050405020304" pitchFamily="18" charset="0"/>
              </a:rPr>
              <a:t> = </a:t>
            </a:r>
            <a:r>
              <a:rPr lang="en-US" sz="2100" dirty="0" err="1">
                <a:latin typeface="Times New Roman" panose="02020603050405020304" pitchFamily="18" charset="0"/>
                <a:cs typeface="Times New Roman" panose="02020603050405020304" pitchFamily="18" charset="0"/>
              </a:rPr>
              <a:t>model.predict</a:t>
            </a:r>
            <a:r>
              <a:rPr lang="en-US" sz="2100" dirty="0">
                <a:latin typeface="Times New Roman" panose="02020603050405020304" pitchFamily="18" charset="0"/>
                <a:cs typeface="Times New Roman" panose="02020603050405020304" pitchFamily="18" charset="0"/>
              </a:rPr>
              <a:t>(</a:t>
            </a:r>
            <a:r>
              <a:rPr lang="en-US" sz="2100" dirty="0" err="1">
                <a:latin typeface="Times New Roman" panose="02020603050405020304" pitchFamily="18" charset="0"/>
                <a:cs typeface="Times New Roman" panose="02020603050405020304" pitchFamily="18" charset="0"/>
              </a:rPr>
              <a:t>X_new</a:t>
            </a:r>
            <a:r>
              <a:rPr lang="en-US" sz="2100" dirty="0">
                <a:latin typeface="Times New Roman" panose="02020603050405020304" pitchFamily="18" charset="0"/>
                <a:cs typeface="Times New Roman" panose="02020603050405020304" pitchFamily="18" charset="0"/>
              </a:rPr>
              <a:t>)</a:t>
            </a:r>
          </a:p>
          <a:p>
            <a:endParaRPr lang="en-US" sz="2100" dirty="0">
              <a:latin typeface="Times New Roman" panose="02020603050405020304" pitchFamily="18" charset="0"/>
              <a:cs typeface="Times New Roman" panose="02020603050405020304" pitchFamily="18" charset="0"/>
            </a:endParaRPr>
          </a:p>
          <a:p>
            <a:r>
              <a:rPr lang="en-US" sz="2100" dirty="0">
                <a:latin typeface="Times New Roman" panose="02020603050405020304" pitchFamily="18" charset="0"/>
                <a:cs typeface="Times New Roman" panose="02020603050405020304" pitchFamily="18" charset="0"/>
              </a:rPr>
              <a:t>Note: This code demonstrates the basic workflow of creating, training, and utilizing a Polynomial regression model for predictive modeling tasks.</a:t>
            </a:r>
          </a:p>
        </p:txBody>
      </p:sp>
    </p:spTree>
    <p:extLst>
      <p:ext uri="{BB962C8B-B14F-4D97-AF65-F5344CB8AC3E}">
        <p14:creationId xmlns:p14="http://schemas.microsoft.com/office/powerpoint/2010/main" val="1840293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609600" y="666750"/>
            <a:ext cx="8229600" cy="142875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dirty="0">
                <a:solidFill>
                  <a:schemeClr val="tx1">
                    <a:lumMod val="75000"/>
                    <a:lumOff val="25000"/>
                  </a:schemeClr>
                </a:solidFill>
              </a:rPr>
              <a:t>Linear regression with one variable</a:t>
            </a:r>
          </a:p>
        </p:txBody>
      </p:sp>
      <p:sp>
        <p:nvSpPr>
          <p:cNvPr id="3" name="Rectangle 2"/>
          <p:cNvSpPr/>
          <p:nvPr/>
        </p:nvSpPr>
        <p:spPr>
          <a:xfrm>
            <a:off x="8153400" y="4705350"/>
            <a:ext cx="990600" cy="438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67171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D3A2CA-C7B4-E817-86F2-BD6B3F855192}"/>
              </a:ext>
            </a:extLst>
          </p:cNvPr>
          <p:cNvSpPr>
            <a:spLocks noGrp="1"/>
          </p:cNvSpPr>
          <p:nvPr>
            <p:ph type="dt" sz="half" idx="10"/>
          </p:nvPr>
        </p:nvSpPr>
        <p:spPr/>
        <p:txBody>
          <a:bodyPr/>
          <a:lstStyle/>
          <a:p>
            <a:fld id="{4E1295AC-1DCA-48F8-B21B-B79B192BE89E}" type="datetime1">
              <a:rPr lang="en-US" smtClean="0">
                <a:solidFill>
                  <a:prstClr val="black">
                    <a:tint val="75000"/>
                  </a:prstClr>
                </a:solidFill>
              </a:rPr>
              <a:t>9/10/2025</a:t>
            </a:fld>
            <a:endParaRPr lang="en-US">
              <a:solidFill>
                <a:prstClr val="black">
                  <a:tint val="75000"/>
                </a:prstClr>
              </a:solidFill>
            </a:endParaRPr>
          </a:p>
        </p:txBody>
      </p:sp>
      <p:sp>
        <p:nvSpPr>
          <p:cNvPr id="3" name="Footer Placeholder 2">
            <a:extLst>
              <a:ext uri="{FF2B5EF4-FFF2-40B4-BE49-F238E27FC236}">
                <a16:creationId xmlns:a16="http://schemas.microsoft.com/office/drawing/2014/main" id="{3E9E7F23-AD3B-96C2-BC30-82AD654622ED}"/>
              </a:ext>
            </a:extLst>
          </p:cNvPr>
          <p:cNvSpPr>
            <a:spLocks noGrp="1"/>
          </p:cNvSpPr>
          <p:nvPr>
            <p:ph type="ftr" sz="quarter" idx="11"/>
          </p:nvPr>
        </p:nvSpPr>
        <p:spPr/>
        <p:txBody>
          <a:bodyPr/>
          <a:lstStyle/>
          <a:p>
            <a:r>
              <a:rPr lang="en-US">
                <a:solidFill>
                  <a:prstClr val="black">
                    <a:tint val="75000"/>
                  </a:prstClr>
                </a:solidFill>
              </a:rPr>
              <a:t>Linear Regression</a:t>
            </a:r>
          </a:p>
        </p:txBody>
      </p:sp>
      <p:sp>
        <p:nvSpPr>
          <p:cNvPr id="4" name="Slide Number Placeholder 3">
            <a:extLst>
              <a:ext uri="{FF2B5EF4-FFF2-40B4-BE49-F238E27FC236}">
                <a16:creationId xmlns:a16="http://schemas.microsoft.com/office/drawing/2014/main" id="{38EF68C1-D39C-D9EC-AC06-AD41822068D8}"/>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11</a:t>
            </a:fld>
            <a:endParaRPr lang="en-US">
              <a:solidFill>
                <a:prstClr val="black">
                  <a:tint val="75000"/>
                </a:prstClr>
              </a:solidFill>
            </a:endParaRPr>
          </a:p>
        </p:txBody>
      </p:sp>
      <p:sp>
        <p:nvSpPr>
          <p:cNvPr id="6" name="TextBox 5">
            <a:extLst>
              <a:ext uri="{FF2B5EF4-FFF2-40B4-BE49-F238E27FC236}">
                <a16:creationId xmlns:a16="http://schemas.microsoft.com/office/drawing/2014/main" id="{9CB49407-9C6D-B37E-BCF4-4FF288EA3DD9}"/>
              </a:ext>
            </a:extLst>
          </p:cNvPr>
          <p:cNvSpPr txBox="1"/>
          <p:nvPr/>
        </p:nvSpPr>
        <p:spPr>
          <a:xfrm>
            <a:off x="914400" y="590550"/>
            <a:ext cx="7848600" cy="3648884"/>
          </a:xfrm>
          <a:prstGeom prst="rect">
            <a:avLst/>
          </a:prstGeom>
          <a:noFill/>
        </p:spPr>
        <p:txBody>
          <a:bodyPr wrap="square">
            <a:spAutoFit/>
          </a:bodyPr>
          <a:lstStyle/>
          <a:p>
            <a:pPr marL="0" marR="0">
              <a:buNone/>
            </a:pPr>
            <a:r>
              <a:rPr lang="en-IN"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Assumptions of Linear Regression: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buFont typeface="Wingdings" panose="05000000000000000000" pitchFamily="2" charset="2"/>
              <a:buChar char="Ø"/>
              <a:tabLst>
                <a:tab pos="457200" algn="l"/>
              </a:tabLst>
            </a:pP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There must be a linear relationship between independent and dependent variables.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buFont typeface="Wingdings" panose="05000000000000000000" pitchFamily="2" charset="2"/>
              <a:buChar char="Ø"/>
              <a:tabLst>
                <a:tab pos="457200" algn="l"/>
              </a:tabLst>
            </a:pP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There should not be any outliers present.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buFont typeface="Wingdings" panose="05000000000000000000" pitchFamily="2" charset="2"/>
              <a:buChar char="Ø"/>
              <a:tabLst>
                <a:tab pos="457200" algn="l"/>
              </a:tabLst>
            </a:pP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No heteroscedasticity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buFont typeface="Wingdings" panose="05000000000000000000" pitchFamily="2" charset="2"/>
              <a:buChar char="Ø"/>
              <a:tabLst>
                <a:tab pos="457200" algn="l"/>
              </a:tabLst>
            </a:pP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Sample observations should be independent.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buFont typeface="Wingdings" panose="05000000000000000000" pitchFamily="2" charset="2"/>
              <a:buChar char="Ø"/>
              <a:tabLst>
                <a:tab pos="457200" algn="l"/>
              </a:tabLst>
            </a:pP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Error terms should be normally distributed with a mean of 0 and constant variance.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buFont typeface="Wingdings" panose="05000000000000000000" pitchFamily="2" charset="2"/>
              <a:buChar char="Ø"/>
              <a:tabLst>
                <a:tab pos="457200" algn="l"/>
              </a:tabLst>
            </a:pP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Absence of multicollinearity and autocorrelation.</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845588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43A5A8-288B-702F-5BF0-E5DEF2D6A1EF}"/>
              </a:ext>
            </a:extLst>
          </p:cNvPr>
          <p:cNvSpPr>
            <a:spLocks noGrp="1"/>
          </p:cNvSpPr>
          <p:nvPr>
            <p:ph type="dt" sz="half" idx="10"/>
          </p:nvPr>
        </p:nvSpPr>
        <p:spPr/>
        <p:txBody>
          <a:bodyPr/>
          <a:lstStyle/>
          <a:p>
            <a:fld id="{4E1295AC-1DCA-48F8-B21B-B79B192BE89E}" type="datetime1">
              <a:rPr lang="en-US" smtClean="0">
                <a:solidFill>
                  <a:prstClr val="black">
                    <a:tint val="75000"/>
                  </a:prstClr>
                </a:solidFill>
              </a:rPr>
              <a:t>9/10/2025</a:t>
            </a:fld>
            <a:endParaRPr lang="en-US">
              <a:solidFill>
                <a:prstClr val="black">
                  <a:tint val="75000"/>
                </a:prstClr>
              </a:solidFill>
            </a:endParaRPr>
          </a:p>
        </p:txBody>
      </p:sp>
      <p:sp>
        <p:nvSpPr>
          <p:cNvPr id="3" name="Footer Placeholder 2">
            <a:extLst>
              <a:ext uri="{FF2B5EF4-FFF2-40B4-BE49-F238E27FC236}">
                <a16:creationId xmlns:a16="http://schemas.microsoft.com/office/drawing/2014/main" id="{2D2FBC9F-D585-1321-B964-2C0D70A99CCE}"/>
              </a:ext>
            </a:extLst>
          </p:cNvPr>
          <p:cNvSpPr>
            <a:spLocks noGrp="1"/>
          </p:cNvSpPr>
          <p:nvPr>
            <p:ph type="ftr" sz="quarter" idx="11"/>
          </p:nvPr>
        </p:nvSpPr>
        <p:spPr/>
        <p:txBody>
          <a:bodyPr/>
          <a:lstStyle/>
          <a:p>
            <a:r>
              <a:rPr lang="en-US">
                <a:solidFill>
                  <a:prstClr val="black">
                    <a:tint val="75000"/>
                  </a:prstClr>
                </a:solidFill>
              </a:rPr>
              <a:t>Linear Regression</a:t>
            </a:r>
          </a:p>
        </p:txBody>
      </p:sp>
      <p:sp>
        <p:nvSpPr>
          <p:cNvPr id="4" name="Slide Number Placeholder 3">
            <a:extLst>
              <a:ext uri="{FF2B5EF4-FFF2-40B4-BE49-F238E27FC236}">
                <a16:creationId xmlns:a16="http://schemas.microsoft.com/office/drawing/2014/main" id="{3DF6626E-F9AD-EA56-AB1A-D4BE898CD77E}"/>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12</a:t>
            </a:fld>
            <a:endParaRPr lang="en-US">
              <a:solidFill>
                <a:prstClr val="black">
                  <a:tint val="75000"/>
                </a:prstClr>
              </a:solidFill>
            </a:endParaRPr>
          </a:p>
        </p:txBody>
      </p:sp>
      <p:sp>
        <p:nvSpPr>
          <p:cNvPr id="6" name="TextBox 5">
            <a:extLst>
              <a:ext uri="{FF2B5EF4-FFF2-40B4-BE49-F238E27FC236}">
                <a16:creationId xmlns:a16="http://schemas.microsoft.com/office/drawing/2014/main" id="{82189832-60AC-162F-24D5-AAA24F59FD82}"/>
              </a:ext>
            </a:extLst>
          </p:cNvPr>
          <p:cNvSpPr txBox="1"/>
          <p:nvPr/>
        </p:nvSpPr>
        <p:spPr>
          <a:xfrm>
            <a:off x="202046" y="285750"/>
            <a:ext cx="9018154" cy="3816429"/>
          </a:xfrm>
          <a:prstGeom prst="rect">
            <a:avLst/>
          </a:prstGeom>
          <a:noFill/>
        </p:spPr>
        <p:txBody>
          <a:bodyPr wrap="square">
            <a:spAutoFit/>
          </a:bodyPr>
          <a:lstStyle/>
          <a:p>
            <a:pPr marL="0" marR="0">
              <a:buNone/>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1. L - Linearity</a:t>
            </a:r>
            <a:endParaRPr lang="en-US" sz="2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Assumption:</a:t>
            </a:r>
            <a:r>
              <a:rPr lang="en-US" sz="22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The relationship between the independent variables (X) and the dependent variable (Y) is linear.</a:t>
            </a:r>
            <a:endParaRPr lang="en-US" sz="22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What it means:</a:t>
            </a:r>
            <a:r>
              <a:rPr lang="en-US" sz="22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The change in the dependent variable due to a one-unit change in an independent variable is constant. The model should be specified as Y = β₀ + β₁X₁ + ... + βₖXₖ + ε, not a non-linear form (e.g., Y = β₀ + β₁X₁² + ε).</a:t>
            </a:r>
            <a:endParaRPr lang="en-US" sz="22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What happens if it’s violated?</a:t>
            </a:r>
            <a:r>
              <a:rPr lang="en-US" sz="22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The model will systematically misrepresent the relationship, leading to biased and unreliable predictions. When a straight line is unfit, you might see a clear pattern (e.g., a curve) in the residual plot.</a:t>
            </a:r>
            <a:endParaRPr lang="en-US" sz="22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708847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56E1E1-8ABA-F62C-FD00-00BF4CE0C260}"/>
              </a:ext>
            </a:extLst>
          </p:cNvPr>
          <p:cNvSpPr>
            <a:spLocks noGrp="1"/>
          </p:cNvSpPr>
          <p:nvPr>
            <p:ph type="dt" sz="half" idx="10"/>
          </p:nvPr>
        </p:nvSpPr>
        <p:spPr/>
        <p:txBody>
          <a:bodyPr/>
          <a:lstStyle/>
          <a:p>
            <a:fld id="{4E1295AC-1DCA-48F8-B21B-B79B192BE89E}" type="datetime1">
              <a:rPr lang="en-US" smtClean="0">
                <a:solidFill>
                  <a:prstClr val="black">
                    <a:tint val="75000"/>
                  </a:prstClr>
                </a:solidFill>
              </a:rPr>
              <a:t>9/10/2025</a:t>
            </a:fld>
            <a:endParaRPr lang="en-US">
              <a:solidFill>
                <a:prstClr val="black">
                  <a:tint val="75000"/>
                </a:prstClr>
              </a:solidFill>
            </a:endParaRPr>
          </a:p>
        </p:txBody>
      </p:sp>
      <p:sp>
        <p:nvSpPr>
          <p:cNvPr id="3" name="Footer Placeholder 2">
            <a:extLst>
              <a:ext uri="{FF2B5EF4-FFF2-40B4-BE49-F238E27FC236}">
                <a16:creationId xmlns:a16="http://schemas.microsoft.com/office/drawing/2014/main" id="{FD5DC1DF-D46E-FE0F-B801-84071A1941BA}"/>
              </a:ext>
            </a:extLst>
          </p:cNvPr>
          <p:cNvSpPr>
            <a:spLocks noGrp="1"/>
          </p:cNvSpPr>
          <p:nvPr>
            <p:ph type="ftr" sz="quarter" idx="11"/>
          </p:nvPr>
        </p:nvSpPr>
        <p:spPr/>
        <p:txBody>
          <a:bodyPr/>
          <a:lstStyle/>
          <a:p>
            <a:r>
              <a:rPr lang="en-US">
                <a:solidFill>
                  <a:prstClr val="black">
                    <a:tint val="75000"/>
                  </a:prstClr>
                </a:solidFill>
              </a:rPr>
              <a:t>Linear Regression</a:t>
            </a:r>
          </a:p>
        </p:txBody>
      </p:sp>
      <p:sp>
        <p:nvSpPr>
          <p:cNvPr id="4" name="Slide Number Placeholder 3">
            <a:extLst>
              <a:ext uri="{FF2B5EF4-FFF2-40B4-BE49-F238E27FC236}">
                <a16:creationId xmlns:a16="http://schemas.microsoft.com/office/drawing/2014/main" id="{437D8898-7035-A96E-4FBA-6E70396F53CD}"/>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13</a:t>
            </a:fld>
            <a:endParaRPr lang="en-US">
              <a:solidFill>
                <a:prstClr val="black">
                  <a:tint val="75000"/>
                </a:prstClr>
              </a:solidFill>
            </a:endParaRPr>
          </a:p>
        </p:txBody>
      </p:sp>
      <p:sp>
        <p:nvSpPr>
          <p:cNvPr id="6" name="TextBox 5">
            <a:extLst>
              <a:ext uri="{FF2B5EF4-FFF2-40B4-BE49-F238E27FC236}">
                <a16:creationId xmlns:a16="http://schemas.microsoft.com/office/drawing/2014/main" id="{27FE032B-9137-7DE7-5124-948DAFA89A39}"/>
              </a:ext>
            </a:extLst>
          </p:cNvPr>
          <p:cNvSpPr txBox="1"/>
          <p:nvPr/>
        </p:nvSpPr>
        <p:spPr>
          <a:xfrm>
            <a:off x="46182" y="102393"/>
            <a:ext cx="9097818" cy="3477875"/>
          </a:xfrm>
          <a:prstGeom prst="rect">
            <a:avLst/>
          </a:prstGeom>
          <a:noFill/>
        </p:spPr>
        <p:txBody>
          <a:bodyPr wrap="square">
            <a:spAutoFit/>
          </a:bodyPr>
          <a:lstStyle/>
          <a:p>
            <a:pPr marL="0" marR="0">
              <a:buNone/>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2. I - Independence of Errors</a:t>
            </a:r>
            <a:endParaRPr lang="en-US" sz="2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Assumption:</a:t>
            </a:r>
            <a:r>
              <a:rPr lang="en-US" sz="22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The error terms (residuals) are uncorrelated with each other.</a:t>
            </a:r>
            <a:endParaRPr lang="en-US" sz="22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What it means:</a:t>
            </a:r>
            <a:r>
              <a:rPr lang="en-US" sz="22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The error for one observation (data point) does not influence the error for another. This is most commonly violated in </a:t>
            </a: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time-series data</a:t>
            </a:r>
            <a:r>
              <a:rPr lang="en-US" sz="22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(where today’s error might be correlated with yesterday’s error) or </a:t>
            </a: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spatial data</a:t>
            </a:r>
            <a:r>
              <a:rPr lang="en-US" sz="22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2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What happens if it’s violated?</a:t>
            </a:r>
            <a:r>
              <a:rPr lang="en-US" sz="22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Standard errors of the coefficient estimates become underestimated, leading to inflated t-statistics and a higher risk of Type I errors (falsely rejecting a true null hypothesis, i.e., finding a significant effect where none exists).</a:t>
            </a:r>
            <a:endParaRPr lang="en-US" sz="22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2273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81FCAC-D5D6-455D-55C0-33CDB142FC77}"/>
              </a:ext>
            </a:extLst>
          </p:cNvPr>
          <p:cNvSpPr>
            <a:spLocks noGrp="1"/>
          </p:cNvSpPr>
          <p:nvPr>
            <p:ph type="dt" sz="half" idx="10"/>
          </p:nvPr>
        </p:nvSpPr>
        <p:spPr/>
        <p:txBody>
          <a:bodyPr/>
          <a:lstStyle/>
          <a:p>
            <a:fld id="{4E1295AC-1DCA-48F8-B21B-B79B192BE89E}" type="datetime1">
              <a:rPr lang="en-US" smtClean="0">
                <a:solidFill>
                  <a:prstClr val="black">
                    <a:tint val="75000"/>
                  </a:prstClr>
                </a:solidFill>
              </a:rPr>
              <a:t>9/10/2025</a:t>
            </a:fld>
            <a:endParaRPr lang="en-US">
              <a:solidFill>
                <a:prstClr val="black">
                  <a:tint val="75000"/>
                </a:prstClr>
              </a:solidFill>
            </a:endParaRPr>
          </a:p>
        </p:txBody>
      </p:sp>
      <p:sp>
        <p:nvSpPr>
          <p:cNvPr id="3" name="Footer Placeholder 2">
            <a:extLst>
              <a:ext uri="{FF2B5EF4-FFF2-40B4-BE49-F238E27FC236}">
                <a16:creationId xmlns:a16="http://schemas.microsoft.com/office/drawing/2014/main" id="{784E6646-E8D7-9AD6-AA0C-0B4EF1C5A643}"/>
              </a:ext>
            </a:extLst>
          </p:cNvPr>
          <p:cNvSpPr>
            <a:spLocks noGrp="1"/>
          </p:cNvSpPr>
          <p:nvPr>
            <p:ph type="ftr" sz="quarter" idx="11"/>
          </p:nvPr>
        </p:nvSpPr>
        <p:spPr/>
        <p:txBody>
          <a:bodyPr/>
          <a:lstStyle/>
          <a:p>
            <a:r>
              <a:rPr lang="en-US">
                <a:solidFill>
                  <a:prstClr val="black">
                    <a:tint val="75000"/>
                  </a:prstClr>
                </a:solidFill>
              </a:rPr>
              <a:t>Linear Regression</a:t>
            </a:r>
          </a:p>
        </p:txBody>
      </p:sp>
      <p:sp>
        <p:nvSpPr>
          <p:cNvPr id="4" name="Slide Number Placeholder 3">
            <a:extLst>
              <a:ext uri="{FF2B5EF4-FFF2-40B4-BE49-F238E27FC236}">
                <a16:creationId xmlns:a16="http://schemas.microsoft.com/office/drawing/2014/main" id="{0F4C65F7-2997-D2A5-1453-A4C5F29C3A60}"/>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14</a:t>
            </a:fld>
            <a:endParaRPr lang="en-US">
              <a:solidFill>
                <a:prstClr val="black">
                  <a:tint val="75000"/>
                </a:prstClr>
              </a:solidFill>
            </a:endParaRPr>
          </a:p>
        </p:txBody>
      </p:sp>
      <p:sp>
        <p:nvSpPr>
          <p:cNvPr id="6" name="TextBox 5">
            <a:extLst>
              <a:ext uri="{FF2B5EF4-FFF2-40B4-BE49-F238E27FC236}">
                <a16:creationId xmlns:a16="http://schemas.microsoft.com/office/drawing/2014/main" id="{C7806F48-8B5D-244D-BA56-5DDC4800659C}"/>
              </a:ext>
            </a:extLst>
          </p:cNvPr>
          <p:cNvSpPr txBox="1"/>
          <p:nvPr/>
        </p:nvSpPr>
        <p:spPr>
          <a:xfrm>
            <a:off x="185882" y="133350"/>
            <a:ext cx="8805717" cy="3874394"/>
          </a:xfrm>
          <a:prstGeom prst="rect">
            <a:avLst/>
          </a:prstGeom>
          <a:noFill/>
        </p:spPr>
        <p:txBody>
          <a:bodyPr wrap="square">
            <a:spAutoFit/>
          </a:bodyPr>
          <a:lstStyle/>
          <a:p>
            <a:pPr marL="0" marR="0">
              <a:buNone/>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3. N - Normality of Errors</a:t>
            </a:r>
            <a:endParaRPr lang="en-US" sz="2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Assumption:</a:t>
            </a:r>
            <a:r>
              <a:rPr lang="en-US" sz="22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The error terms are normally distributed.</a:t>
            </a:r>
            <a:endParaRPr lang="en-US" sz="22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What it means:</a:t>
            </a:r>
            <a:r>
              <a:rPr lang="en-US" sz="22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For any fixed value of X, the values of Y are normally distributed around the regression line. This assumption is crucial for </a:t>
            </a: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conducting hypothesis tests</a:t>
            </a:r>
            <a:r>
              <a:rPr lang="en-US" sz="22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and </a:t>
            </a: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constructing coefficient confidence interval</a:t>
            </a:r>
            <a:r>
              <a:rPr lang="en-US" sz="22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s.</a:t>
            </a:r>
            <a:endParaRPr lang="en-US" sz="22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What happens if it’s violated?</a:t>
            </a:r>
            <a:r>
              <a:rPr lang="en-US" sz="22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With large sample sizes (thanks to the Central Limit Theorem), the estimates of the coefficients themselves are still unbiased. However, p-values and confidence intervals become unreliable for small sample sizes.</a:t>
            </a:r>
            <a:endParaRPr lang="en-US" sz="22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ts val="2100"/>
              </a:lnSpc>
              <a:spcBef>
                <a:spcPts val="1200"/>
              </a:spcBef>
              <a:spcAft>
                <a:spcPts val="1200"/>
              </a:spcAft>
              <a:buNone/>
            </a:pPr>
            <a:endParaRPr lang="en-US" sz="1200" kern="100" dirty="0">
              <a:solidFill>
                <a:srgbClr val="0F1115"/>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811862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B34259-BC18-9A50-099D-E1E8A3219FCF}"/>
              </a:ext>
            </a:extLst>
          </p:cNvPr>
          <p:cNvSpPr>
            <a:spLocks noGrp="1"/>
          </p:cNvSpPr>
          <p:nvPr>
            <p:ph type="dt" sz="half" idx="10"/>
          </p:nvPr>
        </p:nvSpPr>
        <p:spPr/>
        <p:txBody>
          <a:bodyPr/>
          <a:lstStyle/>
          <a:p>
            <a:fld id="{4E1295AC-1DCA-48F8-B21B-B79B192BE89E}" type="datetime1">
              <a:rPr lang="en-US" smtClean="0">
                <a:solidFill>
                  <a:prstClr val="black">
                    <a:tint val="75000"/>
                  </a:prstClr>
                </a:solidFill>
              </a:rPr>
              <a:t>9/10/2025</a:t>
            </a:fld>
            <a:endParaRPr lang="en-US">
              <a:solidFill>
                <a:prstClr val="black">
                  <a:tint val="75000"/>
                </a:prstClr>
              </a:solidFill>
            </a:endParaRPr>
          </a:p>
        </p:txBody>
      </p:sp>
      <p:sp>
        <p:nvSpPr>
          <p:cNvPr id="3" name="Footer Placeholder 2">
            <a:extLst>
              <a:ext uri="{FF2B5EF4-FFF2-40B4-BE49-F238E27FC236}">
                <a16:creationId xmlns:a16="http://schemas.microsoft.com/office/drawing/2014/main" id="{C3ADCA0E-19FB-2C0C-0F95-82CF105736BB}"/>
              </a:ext>
            </a:extLst>
          </p:cNvPr>
          <p:cNvSpPr>
            <a:spLocks noGrp="1"/>
          </p:cNvSpPr>
          <p:nvPr>
            <p:ph type="ftr" sz="quarter" idx="11"/>
          </p:nvPr>
        </p:nvSpPr>
        <p:spPr/>
        <p:txBody>
          <a:bodyPr/>
          <a:lstStyle/>
          <a:p>
            <a:r>
              <a:rPr lang="en-US">
                <a:solidFill>
                  <a:prstClr val="black">
                    <a:tint val="75000"/>
                  </a:prstClr>
                </a:solidFill>
              </a:rPr>
              <a:t>Linear Regression</a:t>
            </a:r>
          </a:p>
        </p:txBody>
      </p:sp>
      <p:sp>
        <p:nvSpPr>
          <p:cNvPr id="4" name="Slide Number Placeholder 3">
            <a:extLst>
              <a:ext uri="{FF2B5EF4-FFF2-40B4-BE49-F238E27FC236}">
                <a16:creationId xmlns:a16="http://schemas.microsoft.com/office/drawing/2014/main" id="{A8918378-1D9E-8E45-9575-5B4C30890BEA}"/>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15</a:t>
            </a:fld>
            <a:endParaRPr lang="en-US">
              <a:solidFill>
                <a:prstClr val="black">
                  <a:tint val="75000"/>
                </a:prstClr>
              </a:solidFill>
            </a:endParaRPr>
          </a:p>
        </p:txBody>
      </p:sp>
      <p:sp>
        <p:nvSpPr>
          <p:cNvPr id="6" name="TextBox 5">
            <a:extLst>
              <a:ext uri="{FF2B5EF4-FFF2-40B4-BE49-F238E27FC236}">
                <a16:creationId xmlns:a16="http://schemas.microsoft.com/office/drawing/2014/main" id="{8245D6DB-078F-AAC4-2667-F35B1322BB20}"/>
              </a:ext>
            </a:extLst>
          </p:cNvPr>
          <p:cNvSpPr txBox="1"/>
          <p:nvPr/>
        </p:nvSpPr>
        <p:spPr>
          <a:xfrm>
            <a:off x="228600" y="285750"/>
            <a:ext cx="8686800" cy="3816429"/>
          </a:xfrm>
          <a:prstGeom prst="rect">
            <a:avLst/>
          </a:prstGeom>
          <a:noFill/>
        </p:spPr>
        <p:txBody>
          <a:bodyPr wrap="square">
            <a:spAutoFit/>
          </a:bodyPr>
          <a:lstStyle/>
          <a:p>
            <a:pPr marL="0" marR="0">
              <a:buNone/>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4. E - Equal Variance (Homoscedasticity)</a:t>
            </a:r>
            <a:endParaRPr lang="en-US" sz="2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Assumption:</a:t>
            </a:r>
            <a:r>
              <a:rPr lang="en-US" sz="22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The error terms have a constant variance across all levels of the independent variables.</a:t>
            </a:r>
            <a:endParaRPr lang="en-US" sz="22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What it means:</a:t>
            </a:r>
            <a:r>
              <a:rPr lang="en-US" sz="22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The “spread” or “scatter” of the residuals should be roughly the same for all predicted values of Y. This is the opposite of </a:t>
            </a: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heteroscedasticity</a:t>
            </a:r>
            <a:r>
              <a:rPr lang="en-US" sz="22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(changing variance).</a:t>
            </a:r>
            <a:endParaRPr lang="en-US" sz="22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What happens if it’s violated?</a:t>
            </a:r>
            <a:r>
              <a:rPr lang="en-US" sz="22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Similar to the independence assumption, the standard errors become biased and inefficient. This makes confidence intervals and hypothesis tests untrustworthy.</a:t>
            </a:r>
            <a:endParaRPr lang="en-US" sz="22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US" sz="22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Coefficients can have counter-intuitive signs (e.g., a negative coefficient for a variable that should clearly have a positive effect).</a:t>
            </a:r>
            <a:endParaRPr lang="en-US" sz="22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768758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F4CD43-0DCA-F5DE-5168-8F03586A5732}"/>
              </a:ext>
            </a:extLst>
          </p:cNvPr>
          <p:cNvSpPr>
            <a:spLocks noGrp="1"/>
          </p:cNvSpPr>
          <p:nvPr>
            <p:ph type="dt" sz="half" idx="10"/>
          </p:nvPr>
        </p:nvSpPr>
        <p:spPr/>
        <p:txBody>
          <a:bodyPr/>
          <a:lstStyle/>
          <a:p>
            <a:fld id="{4E1295AC-1DCA-48F8-B21B-B79B192BE89E}" type="datetime1">
              <a:rPr lang="en-US" smtClean="0">
                <a:solidFill>
                  <a:prstClr val="black">
                    <a:tint val="75000"/>
                  </a:prstClr>
                </a:solidFill>
              </a:rPr>
              <a:t>9/10/2025</a:t>
            </a:fld>
            <a:endParaRPr lang="en-US">
              <a:solidFill>
                <a:prstClr val="black">
                  <a:tint val="75000"/>
                </a:prstClr>
              </a:solidFill>
            </a:endParaRPr>
          </a:p>
        </p:txBody>
      </p:sp>
      <p:sp>
        <p:nvSpPr>
          <p:cNvPr id="3" name="Footer Placeholder 2">
            <a:extLst>
              <a:ext uri="{FF2B5EF4-FFF2-40B4-BE49-F238E27FC236}">
                <a16:creationId xmlns:a16="http://schemas.microsoft.com/office/drawing/2014/main" id="{A68FF55E-D305-EDF9-021B-A3AF1669BD11}"/>
              </a:ext>
            </a:extLst>
          </p:cNvPr>
          <p:cNvSpPr>
            <a:spLocks noGrp="1"/>
          </p:cNvSpPr>
          <p:nvPr>
            <p:ph type="ftr" sz="quarter" idx="11"/>
          </p:nvPr>
        </p:nvSpPr>
        <p:spPr/>
        <p:txBody>
          <a:bodyPr/>
          <a:lstStyle/>
          <a:p>
            <a:r>
              <a:rPr lang="en-US">
                <a:solidFill>
                  <a:prstClr val="black">
                    <a:tint val="75000"/>
                  </a:prstClr>
                </a:solidFill>
              </a:rPr>
              <a:t>Linear Regression</a:t>
            </a:r>
          </a:p>
        </p:txBody>
      </p:sp>
      <p:sp>
        <p:nvSpPr>
          <p:cNvPr id="4" name="Slide Number Placeholder 3">
            <a:extLst>
              <a:ext uri="{FF2B5EF4-FFF2-40B4-BE49-F238E27FC236}">
                <a16:creationId xmlns:a16="http://schemas.microsoft.com/office/drawing/2014/main" id="{781145F3-2056-8912-58B4-1D167A72D33B}"/>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16</a:t>
            </a:fld>
            <a:endParaRPr lang="en-US">
              <a:solidFill>
                <a:prstClr val="black">
                  <a:tint val="75000"/>
                </a:prstClr>
              </a:solidFill>
            </a:endParaRPr>
          </a:p>
        </p:txBody>
      </p:sp>
      <p:sp>
        <p:nvSpPr>
          <p:cNvPr id="6" name="TextBox 5">
            <a:extLst>
              <a:ext uri="{FF2B5EF4-FFF2-40B4-BE49-F238E27FC236}">
                <a16:creationId xmlns:a16="http://schemas.microsoft.com/office/drawing/2014/main" id="{0FBA696E-19A7-679A-121A-4947C32EBBD9}"/>
              </a:ext>
            </a:extLst>
          </p:cNvPr>
          <p:cNvSpPr txBox="1"/>
          <p:nvPr/>
        </p:nvSpPr>
        <p:spPr>
          <a:xfrm>
            <a:off x="96982" y="0"/>
            <a:ext cx="9047018" cy="4736168"/>
          </a:xfrm>
          <a:prstGeom prst="rect">
            <a:avLst/>
          </a:prstGeom>
          <a:noFill/>
        </p:spPr>
        <p:txBody>
          <a:bodyPr wrap="square">
            <a:spAutoFit/>
          </a:bodyPr>
          <a:lstStyle/>
          <a:p>
            <a:pPr marL="0" marR="0">
              <a:buNone/>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5. No (or little) Perfect Multicollinearity</a:t>
            </a:r>
            <a:endParaRPr lang="en-US" sz="2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Assumption:</a:t>
            </a:r>
            <a:r>
              <a:rPr lang="en-US" sz="22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The independent variables are not perfectly correlated with each other.</a:t>
            </a:r>
            <a:endParaRPr lang="en-US" sz="22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What it means:</a:t>
            </a:r>
            <a:r>
              <a:rPr lang="en-US" sz="22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You should not be able to perfectly predict one independent variable using another. A high degree of correlation (even if not perfect) can also be problematic.</a:t>
            </a:r>
            <a:endParaRPr lang="en-US" sz="22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What happens if it’s violated?</a:t>
            </a:r>
            <a:r>
              <a:rPr lang="en-US" sz="22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It becomes difficult to isolate the individual effect of each correlated variable on the dependent variable. This leads to:</a:t>
            </a:r>
            <a:endParaRPr lang="en-US" sz="22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High standard errors</a:t>
            </a:r>
            <a:r>
              <a:rPr lang="en-US" sz="22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and unstable coefficient estimates (small changes in the data can cause large changes in the coefficients).</a:t>
            </a:r>
          </a:p>
          <a:p>
            <a:pPr marL="742950" lvl="1" indent="-285750">
              <a:buSzPts val="1000"/>
              <a:buFont typeface="Courier New" panose="02070309020205020404" pitchFamily="49" charset="0"/>
              <a:buChar char="o"/>
              <a:tabLst>
                <a:tab pos="914400" algn="l"/>
              </a:tabLst>
            </a:pPr>
            <a:r>
              <a:rPr lang="en-US" sz="2200" dirty="0">
                <a:latin typeface="Times New Roman" panose="02020603050405020304" pitchFamily="18" charset="0"/>
                <a:cs typeface="Times New Roman" panose="02020603050405020304" pitchFamily="18" charset="0"/>
              </a:rPr>
              <a:t>Coefficients can have counter-intuitive signs (e.g., a negative coefficient for a variable that should clearly have a positive effect).</a:t>
            </a:r>
          </a:p>
          <a:p>
            <a:pPr marL="742950" marR="0" lvl="1" indent="-285750">
              <a:lnSpc>
                <a:spcPts val="2100"/>
              </a:lnSpc>
              <a:spcAft>
                <a:spcPts val="800"/>
              </a:spcAft>
              <a:buSzPts val="1000"/>
              <a:buFont typeface="Courier New" panose="02070309020205020404" pitchFamily="49" charset="0"/>
              <a:buChar char="o"/>
              <a:tabLst>
                <a:tab pos="914400" algn="l"/>
              </a:tabLst>
            </a:pPr>
            <a:endParaRPr lang="en-US" sz="1200" kern="100" dirty="0">
              <a:solidFill>
                <a:srgbClr val="0F1115"/>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007513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8310C5-8D2E-5B43-44E7-D4B9D5C7DE67}"/>
              </a:ext>
            </a:extLst>
          </p:cNvPr>
          <p:cNvSpPr>
            <a:spLocks noGrp="1"/>
          </p:cNvSpPr>
          <p:nvPr>
            <p:ph type="dt" sz="half" idx="10"/>
          </p:nvPr>
        </p:nvSpPr>
        <p:spPr/>
        <p:txBody>
          <a:bodyPr/>
          <a:lstStyle/>
          <a:p>
            <a:fld id="{4E1295AC-1DCA-48F8-B21B-B79B192BE89E}" type="datetime1">
              <a:rPr lang="en-US" smtClean="0">
                <a:solidFill>
                  <a:prstClr val="black">
                    <a:tint val="75000"/>
                  </a:prstClr>
                </a:solidFill>
              </a:rPr>
              <a:t>9/10/2025</a:t>
            </a:fld>
            <a:endParaRPr lang="en-US">
              <a:solidFill>
                <a:prstClr val="black">
                  <a:tint val="75000"/>
                </a:prstClr>
              </a:solidFill>
            </a:endParaRPr>
          </a:p>
        </p:txBody>
      </p:sp>
      <p:sp>
        <p:nvSpPr>
          <p:cNvPr id="3" name="Footer Placeholder 2">
            <a:extLst>
              <a:ext uri="{FF2B5EF4-FFF2-40B4-BE49-F238E27FC236}">
                <a16:creationId xmlns:a16="http://schemas.microsoft.com/office/drawing/2014/main" id="{6903FFF2-1680-3D15-203F-57DA4DDAA5C7}"/>
              </a:ext>
            </a:extLst>
          </p:cNvPr>
          <p:cNvSpPr>
            <a:spLocks noGrp="1"/>
          </p:cNvSpPr>
          <p:nvPr>
            <p:ph type="ftr" sz="quarter" idx="11"/>
          </p:nvPr>
        </p:nvSpPr>
        <p:spPr/>
        <p:txBody>
          <a:bodyPr/>
          <a:lstStyle/>
          <a:p>
            <a:r>
              <a:rPr lang="en-US">
                <a:solidFill>
                  <a:prstClr val="black">
                    <a:tint val="75000"/>
                  </a:prstClr>
                </a:solidFill>
              </a:rPr>
              <a:t>Linear Regression</a:t>
            </a:r>
          </a:p>
        </p:txBody>
      </p:sp>
      <p:sp>
        <p:nvSpPr>
          <p:cNvPr id="4" name="Slide Number Placeholder 3">
            <a:extLst>
              <a:ext uri="{FF2B5EF4-FFF2-40B4-BE49-F238E27FC236}">
                <a16:creationId xmlns:a16="http://schemas.microsoft.com/office/drawing/2014/main" id="{866298D2-3497-9C46-34EF-E1DBCD4643B0}"/>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17</a:t>
            </a:fld>
            <a:endParaRPr lang="en-US">
              <a:solidFill>
                <a:prstClr val="black">
                  <a:tint val="75000"/>
                </a:prstClr>
              </a:solidFill>
            </a:endParaRPr>
          </a:p>
        </p:txBody>
      </p:sp>
      <p:sp>
        <p:nvSpPr>
          <p:cNvPr id="6" name="TextBox 5">
            <a:extLst>
              <a:ext uri="{FF2B5EF4-FFF2-40B4-BE49-F238E27FC236}">
                <a16:creationId xmlns:a16="http://schemas.microsoft.com/office/drawing/2014/main" id="{16446E2E-1542-7624-04B3-2E91895EAF37}"/>
              </a:ext>
            </a:extLst>
          </p:cNvPr>
          <p:cNvSpPr txBox="1"/>
          <p:nvPr/>
        </p:nvSpPr>
        <p:spPr>
          <a:xfrm>
            <a:off x="152400" y="77894"/>
            <a:ext cx="8839200" cy="4603824"/>
          </a:xfrm>
          <a:prstGeom prst="rect">
            <a:avLst/>
          </a:prstGeom>
          <a:noFill/>
        </p:spPr>
        <p:txBody>
          <a:bodyPr wrap="square">
            <a:spAutoFit/>
          </a:bodyPr>
          <a:lstStyle/>
          <a:p>
            <a:pPr marL="0" marR="0">
              <a:lnSpc>
                <a:spcPts val="2250"/>
              </a:lnSpc>
              <a:spcBef>
                <a:spcPts val="2400"/>
              </a:spcBef>
              <a:spcAft>
                <a:spcPts val="1200"/>
              </a:spcAft>
              <a:buNone/>
            </a:pPr>
            <a:r>
              <a:rPr lang="en-US" sz="1500" b="1" kern="0" dirty="0">
                <a:solidFill>
                  <a:srgbClr val="0F1115"/>
                </a:solidFill>
                <a:effectLst/>
                <a:latin typeface="Segoe UI" panose="020B0502040204020203" pitchFamily="34" charset="0"/>
                <a:ea typeface="Times New Roman" panose="02020603050405020304" pitchFamily="18" charset="0"/>
                <a:cs typeface="Times New Roman" panose="02020603050405020304" pitchFamily="18" charset="0"/>
              </a:rPr>
              <a:t>Sustainability Tests (Diagnostic Tests)</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buNone/>
            </a:pPr>
            <a:r>
              <a:rPr lang="en-US" sz="24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1. Testing Linearity</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US" sz="24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Visual Test: Residual vs. Fitted Plot</a:t>
            </a:r>
            <a:endParaRPr lang="en-US" sz="24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US" sz="24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How:</a:t>
            </a:r>
            <a:r>
              <a:rPr lang="en-US" sz="24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Plot the model’s residuals (on the y-axis) against the predicted (fitted) values (on the x-axis).</a:t>
            </a:r>
            <a:endParaRPr lang="en-US" sz="24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US" sz="24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What to look for:</a:t>
            </a:r>
            <a:r>
              <a:rPr lang="en-US" sz="24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The points should be randomly scattered around zero with no discernible pattern (e.g., no U-shape or curve). A clear pattern indicates non-linearity.</a:t>
            </a:r>
            <a:endParaRPr lang="en-US" sz="24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US" sz="24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Statistical Test:</a:t>
            </a:r>
            <a:r>
              <a:rPr lang="en-US" sz="24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Ramsey’s RESET Test</a:t>
            </a:r>
            <a:endParaRPr lang="en-US" sz="24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US" sz="24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How:</a:t>
            </a:r>
            <a:r>
              <a:rPr lang="en-US" sz="24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It tests whether non-linear combinations of the fitted values help explain the dependent variable. A significant p-value suggests a non-linear relationship is missing from the model.</a:t>
            </a:r>
            <a:endParaRPr lang="en-US" sz="24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2808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DA131C-2DE6-BAD0-07ED-49DE28148111}"/>
              </a:ext>
            </a:extLst>
          </p:cNvPr>
          <p:cNvSpPr>
            <a:spLocks noGrp="1"/>
          </p:cNvSpPr>
          <p:nvPr>
            <p:ph type="dt" sz="half" idx="10"/>
          </p:nvPr>
        </p:nvSpPr>
        <p:spPr/>
        <p:txBody>
          <a:bodyPr/>
          <a:lstStyle/>
          <a:p>
            <a:fld id="{4E1295AC-1DCA-48F8-B21B-B79B192BE89E}" type="datetime1">
              <a:rPr lang="en-US" smtClean="0">
                <a:solidFill>
                  <a:prstClr val="black">
                    <a:tint val="75000"/>
                  </a:prstClr>
                </a:solidFill>
              </a:rPr>
              <a:t>9/10/2025</a:t>
            </a:fld>
            <a:endParaRPr lang="en-US">
              <a:solidFill>
                <a:prstClr val="black">
                  <a:tint val="75000"/>
                </a:prstClr>
              </a:solidFill>
            </a:endParaRPr>
          </a:p>
        </p:txBody>
      </p:sp>
      <p:sp>
        <p:nvSpPr>
          <p:cNvPr id="3" name="Footer Placeholder 2">
            <a:extLst>
              <a:ext uri="{FF2B5EF4-FFF2-40B4-BE49-F238E27FC236}">
                <a16:creationId xmlns:a16="http://schemas.microsoft.com/office/drawing/2014/main" id="{398AA08B-4C39-2463-4538-3B672237FB84}"/>
              </a:ext>
            </a:extLst>
          </p:cNvPr>
          <p:cNvSpPr>
            <a:spLocks noGrp="1"/>
          </p:cNvSpPr>
          <p:nvPr>
            <p:ph type="ftr" sz="quarter" idx="11"/>
          </p:nvPr>
        </p:nvSpPr>
        <p:spPr/>
        <p:txBody>
          <a:bodyPr/>
          <a:lstStyle/>
          <a:p>
            <a:r>
              <a:rPr lang="en-US">
                <a:solidFill>
                  <a:prstClr val="black">
                    <a:tint val="75000"/>
                  </a:prstClr>
                </a:solidFill>
              </a:rPr>
              <a:t>Linear Regression</a:t>
            </a:r>
          </a:p>
        </p:txBody>
      </p:sp>
      <p:sp>
        <p:nvSpPr>
          <p:cNvPr id="4" name="Slide Number Placeholder 3">
            <a:extLst>
              <a:ext uri="{FF2B5EF4-FFF2-40B4-BE49-F238E27FC236}">
                <a16:creationId xmlns:a16="http://schemas.microsoft.com/office/drawing/2014/main" id="{6B3B49CD-5CAF-2B37-228D-B4F9A5C50FC3}"/>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18</a:t>
            </a:fld>
            <a:endParaRPr lang="en-US">
              <a:solidFill>
                <a:prstClr val="black">
                  <a:tint val="75000"/>
                </a:prstClr>
              </a:solidFill>
            </a:endParaRPr>
          </a:p>
        </p:txBody>
      </p:sp>
      <p:sp>
        <p:nvSpPr>
          <p:cNvPr id="6" name="TextBox 5">
            <a:extLst>
              <a:ext uri="{FF2B5EF4-FFF2-40B4-BE49-F238E27FC236}">
                <a16:creationId xmlns:a16="http://schemas.microsoft.com/office/drawing/2014/main" id="{733FD63E-6143-CED3-995C-F44365D77E1B}"/>
              </a:ext>
            </a:extLst>
          </p:cNvPr>
          <p:cNvSpPr txBox="1"/>
          <p:nvPr/>
        </p:nvSpPr>
        <p:spPr>
          <a:xfrm>
            <a:off x="304800" y="209550"/>
            <a:ext cx="8534400" cy="3046988"/>
          </a:xfrm>
          <a:prstGeom prst="rect">
            <a:avLst/>
          </a:prstGeom>
          <a:noFill/>
        </p:spPr>
        <p:txBody>
          <a:bodyPr wrap="square">
            <a:spAutoFit/>
          </a:bodyPr>
          <a:lstStyle/>
          <a:p>
            <a:pPr marL="0" marR="0">
              <a:buNone/>
            </a:pPr>
            <a:r>
              <a:rPr lang="en-US" sz="24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2. Testing Independence of Errors</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US" sz="24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Statistical Test: Durbin-Watson Test</a:t>
            </a:r>
            <a:endParaRPr lang="en-US" sz="24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US" sz="24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How:</a:t>
            </a:r>
            <a:r>
              <a:rPr lang="en-US" sz="24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This is the standard test for autocorrelation in time-series data. The test statistic ranges from 0 to 4.</a:t>
            </a:r>
            <a:endParaRPr lang="en-US" sz="24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US" sz="24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What to look for:</a:t>
            </a:r>
            <a:r>
              <a:rPr lang="en-US" sz="24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A value </a:t>
            </a:r>
            <a:r>
              <a:rPr lang="en-US" sz="24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close to 2</a:t>
            </a:r>
            <a:r>
              <a:rPr lang="en-US" sz="24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indicates no autocorrelation. A value </a:t>
            </a:r>
            <a:r>
              <a:rPr lang="en-US" sz="24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toward 0</a:t>
            </a:r>
            <a:r>
              <a:rPr lang="en-US" sz="24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indicates positive autocorrelation, and a value </a:t>
            </a:r>
            <a:r>
              <a:rPr lang="en-US" sz="24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toward 4</a:t>
            </a:r>
            <a:r>
              <a:rPr lang="en-US" sz="24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indicates negative autocorrelation.</a:t>
            </a:r>
            <a:endParaRPr lang="en-US" sz="24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103858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F69985-4A5F-6FCD-55CF-1B91EDFB78D4}"/>
              </a:ext>
            </a:extLst>
          </p:cNvPr>
          <p:cNvSpPr>
            <a:spLocks noGrp="1"/>
          </p:cNvSpPr>
          <p:nvPr>
            <p:ph type="dt" sz="half" idx="10"/>
          </p:nvPr>
        </p:nvSpPr>
        <p:spPr/>
        <p:txBody>
          <a:bodyPr/>
          <a:lstStyle/>
          <a:p>
            <a:fld id="{4E1295AC-1DCA-48F8-B21B-B79B192BE89E}" type="datetime1">
              <a:rPr lang="en-US" smtClean="0">
                <a:solidFill>
                  <a:prstClr val="black">
                    <a:tint val="75000"/>
                  </a:prstClr>
                </a:solidFill>
              </a:rPr>
              <a:t>9/10/2025</a:t>
            </a:fld>
            <a:endParaRPr lang="en-US">
              <a:solidFill>
                <a:prstClr val="black">
                  <a:tint val="75000"/>
                </a:prstClr>
              </a:solidFill>
            </a:endParaRPr>
          </a:p>
        </p:txBody>
      </p:sp>
      <p:sp>
        <p:nvSpPr>
          <p:cNvPr id="3" name="Footer Placeholder 2">
            <a:extLst>
              <a:ext uri="{FF2B5EF4-FFF2-40B4-BE49-F238E27FC236}">
                <a16:creationId xmlns:a16="http://schemas.microsoft.com/office/drawing/2014/main" id="{9E21957F-11C8-86B7-1AFC-438CB9851554}"/>
              </a:ext>
            </a:extLst>
          </p:cNvPr>
          <p:cNvSpPr>
            <a:spLocks noGrp="1"/>
          </p:cNvSpPr>
          <p:nvPr>
            <p:ph type="ftr" sz="quarter" idx="11"/>
          </p:nvPr>
        </p:nvSpPr>
        <p:spPr/>
        <p:txBody>
          <a:bodyPr/>
          <a:lstStyle/>
          <a:p>
            <a:r>
              <a:rPr lang="en-US">
                <a:solidFill>
                  <a:prstClr val="black">
                    <a:tint val="75000"/>
                  </a:prstClr>
                </a:solidFill>
              </a:rPr>
              <a:t>Linear Regression</a:t>
            </a:r>
          </a:p>
        </p:txBody>
      </p:sp>
      <p:sp>
        <p:nvSpPr>
          <p:cNvPr id="4" name="Slide Number Placeholder 3">
            <a:extLst>
              <a:ext uri="{FF2B5EF4-FFF2-40B4-BE49-F238E27FC236}">
                <a16:creationId xmlns:a16="http://schemas.microsoft.com/office/drawing/2014/main" id="{25D518DA-818A-E2F4-CAA3-0B4AA8D235EA}"/>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19</a:t>
            </a:fld>
            <a:endParaRPr lang="en-US">
              <a:solidFill>
                <a:prstClr val="black">
                  <a:tint val="75000"/>
                </a:prstClr>
              </a:solidFill>
            </a:endParaRPr>
          </a:p>
        </p:txBody>
      </p:sp>
      <p:sp>
        <p:nvSpPr>
          <p:cNvPr id="6" name="TextBox 5">
            <a:extLst>
              <a:ext uri="{FF2B5EF4-FFF2-40B4-BE49-F238E27FC236}">
                <a16:creationId xmlns:a16="http://schemas.microsoft.com/office/drawing/2014/main" id="{CD64EB1B-EFD4-AD85-7ECA-D070240DA2B8}"/>
              </a:ext>
            </a:extLst>
          </p:cNvPr>
          <p:cNvSpPr txBox="1"/>
          <p:nvPr/>
        </p:nvSpPr>
        <p:spPr>
          <a:xfrm>
            <a:off x="152400" y="209550"/>
            <a:ext cx="8686800" cy="4893647"/>
          </a:xfrm>
          <a:prstGeom prst="rect">
            <a:avLst/>
          </a:prstGeom>
          <a:noFill/>
        </p:spPr>
        <p:txBody>
          <a:bodyPr wrap="square">
            <a:spAutoFit/>
          </a:bodyPr>
          <a:lstStyle/>
          <a:p>
            <a:pPr marL="0" marR="0">
              <a:buNone/>
            </a:pPr>
            <a:r>
              <a:rPr lang="en-US" sz="24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3. Testing Normality of Errors</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US" sz="24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Visual Test: Q-Q Plot (Quantile-Quantile Plot)</a:t>
            </a:r>
            <a:endParaRPr lang="en-US" sz="24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US" sz="24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How:</a:t>
            </a:r>
            <a:r>
              <a:rPr lang="en-US" sz="24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Plot the quantiles of your standardized residuals against the quantiles of a theoretical normal distribution.</a:t>
            </a:r>
            <a:endParaRPr lang="en-US" sz="24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US" sz="24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What to look for:</a:t>
            </a:r>
            <a:r>
              <a:rPr lang="en-US" sz="24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The points should closely follow the 45-degree reference line. Deviations from this line indicate departures from normality.</a:t>
            </a:r>
          </a:p>
          <a:p>
            <a:pPr lvl="0"/>
            <a:r>
              <a:rPr lang="en-US" sz="2400" b="1" dirty="0">
                <a:latin typeface="Times New Roman" panose="02020603050405020304" pitchFamily="18" charset="0"/>
                <a:cs typeface="Times New Roman" panose="02020603050405020304" pitchFamily="18" charset="0"/>
              </a:rPr>
              <a:t>Statistical Tests:</a:t>
            </a:r>
            <a:endParaRPr lang="en-US" sz="2400" dirty="0">
              <a:latin typeface="Times New Roman" panose="02020603050405020304" pitchFamily="18" charset="0"/>
              <a:cs typeface="Times New Roman" panose="02020603050405020304" pitchFamily="18" charset="0"/>
            </a:endParaRPr>
          </a:p>
          <a:p>
            <a:pPr lvl="1"/>
            <a:r>
              <a:rPr lang="en-US" sz="2400" b="1" dirty="0">
                <a:latin typeface="Times New Roman" panose="02020603050405020304" pitchFamily="18" charset="0"/>
                <a:cs typeface="Times New Roman" panose="02020603050405020304" pitchFamily="18" charset="0"/>
              </a:rPr>
              <a:t>Shapiro-Wilk Test:</a:t>
            </a:r>
            <a:r>
              <a:rPr lang="en-US" sz="2400" dirty="0">
                <a:latin typeface="Times New Roman" panose="02020603050405020304" pitchFamily="18" charset="0"/>
                <a:cs typeface="Times New Roman" panose="02020603050405020304" pitchFamily="18" charset="0"/>
              </a:rPr>
              <a:t> A formal test of normality. A non-significant p-value (p &gt; 0.05) suggests the residuals are normally distributed.</a:t>
            </a:r>
          </a:p>
          <a:p>
            <a:pPr lvl="1"/>
            <a:r>
              <a:rPr lang="en-US" sz="2400" b="1" dirty="0">
                <a:latin typeface="Times New Roman" panose="02020603050405020304" pitchFamily="18" charset="0"/>
                <a:cs typeface="Times New Roman" panose="02020603050405020304" pitchFamily="18" charset="0"/>
              </a:rPr>
              <a:t>Kolmogorov-Smirnov Test:</a:t>
            </a:r>
            <a:r>
              <a:rPr lang="en-US" sz="2400" dirty="0">
                <a:latin typeface="Times New Roman" panose="02020603050405020304" pitchFamily="18" charset="0"/>
                <a:cs typeface="Times New Roman" panose="02020603050405020304" pitchFamily="18" charset="0"/>
              </a:rPr>
              <a:t> Another test for normality.</a:t>
            </a:r>
          </a:p>
          <a:p>
            <a:pPr lvl="1"/>
            <a:r>
              <a:rPr lang="en-US" sz="2400" i="1" dirty="0">
                <a:latin typeface="Times New Roman" panose="02020603050405020304" pitchFamily="18" charset="0"/>
                <a:cs typeface="Times New Roman" panose="02020603050405020304" pitchFamily="18" charset="0"/>
              </a:rPr>
              <a:t>Note: These tests are often too sensitive with large sample sizes, so the Q-Q plot is often more informative.</a:t>
            </a:r>
            <a:endParaRPr lang="en-US" sz="24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19397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3E8A09-46EC-DDBE-C3C3-3E11E76AC95B}"/>
              </a:ext>
            </a:extLst>
          </p:cNvPr>
          <p:cNvSpPr>
            <a:spLocks noGrp="1"/>
          </p:cNvSpPr>
          <p:nvPr>
            <p:ph type="dt" sz="half" idx="10"/>
          </p:nvPr>
        </p:nvSpPr>
        <p:spPr/>
        <p:txBody>
          <a:bodyPr/>
          <a:lstStyle/>
          <a:p>
            <a:fld id="{4E1295AC-1DCA-48F8-B21B-B79B192BE89E}" type="datetime1">
              <a:rPr lang="en-US" smtClean="0">
                <a:solidFill>
                  <a:prstClr val="black">
                    <a:tint val="75000"/>
                  </a:prstClr>
                </a:solidFill>
              </a:rPr>
              <a:t>9/10/2025</a:t>
            </a:fld>
            <a:endParaRPr lang="en-US">
              <a:solidFill>
                <a:prstClr val="black">
                  <a:tint val="75000"/>
                </a:prstClr>
              </a:solidFill>
            </a:endParaRPr>
          </a:p>
        </p:txBody>
      </p:sp>
      <p:sp>
        <p:nvSpPr>
          <p:cNvPr id="3" name="Footer Placeholder 2">
            <a:extLst>
              <a:ext uri="{FF2B5EF4-FFF2-40B4-BE49-F238E27FC236}">
                <a16:creationId xmlns:a16="http://schemas.microsoft.com/office/drawing/2014/main" id="{E2D38941-A829-7873-E034-147EE8705099}"/>
              </a:ext>
            </a:extLst>
          </p:cNvPr>
          <p:cNvSpPr>
            <a:spLocks noGrp="1"/>
          </p:cNvSpPr>
          <p:nvPr>
            <p:ph type="ftr" sz="quarter" idx="11"/>
          </p:nvPr>
        </p:nvSpPr>
        <p:spPr/>
        <p:txBody>
          <a:bodyPr/>
          <a:lstStyle/>
          <a:p>
            <a:r>
              <a:rPr lang="en-US">
                <a:solidFill>
                  <a:prstClr val="black">
                    <a:tint val="75000"/>
                  </a:prstClr>
                </a:solidFill>
              </a:rPr>
              <a:t>Linear Regression</a:t>
            </a:r>
          </a:p>
        </p:txBody>
      </p:sp>
      <p:sp>
        <p:nvSpPr>
          <p:cNvPr id="4" name="Slide Number Placeholder 3">
            <a:extLst>
              <a:ext uri="{FF2B5EF4-FFF2-40B4-BE49-F238E27FC236}">
                <a16:creationId xmlns:a16="http://schemas.microsoft.com/office/drawing/2014/main" id="{3DE5F5FD-6489-4DE4-C7DD-7D937A74EB55}"/>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20</a:t>
            </a:fld>
            <a:endParaRPr lang="en-US">
              <a:solidFill>
                <a:prstClr val="black">
                  <a:tint val="75000"/>
                </a:prstClr>
              </a:solidFill>
            </a:endParaRPr>
          </a:p>
        </p:txBody>
      </p:sp>
      <p:sp>
        <p:nvSpPr>
          <p:cNvPr id="6" name="TextBox 5">
            <a:extLst>
              <a:ext uri="{FF2B5EF4-FFF2-40B4-BE49-F238E27FC236}">
                <a16:creationId xmlns:a16="http://schemas.microsoft.com/office/drawing/2014/main" id="{FD3FD803-1392-14A3-86B1-ADB133A975F9}"/>
              </a:ext>
            </a:extLst>
          </p:cNvPr>
          <p:cNvSpPr txBox="1"/>
          <p:nvPr/>
        </p:nvSpPr>
        <p:spPr>
          <a:xfrm>
            <a:off x="304800" y="102393"/>
            <a:ext cx="8610600" cy="4154984"/>
          </a:xfrm>
          <a:prstGeom prst="rect">
            <a:avLst/>
          </a:prstGeom>
          <a:noFill/>
        </p:spPr>
        <p:txBody>
          <a:bodyPr wrap="square">
            <a:spAutoFit/>
          </a:bodyPr>
          <a:lstStyle/>
          <a:p>
            <a:pPr marL="0" marR="0">
              <a:buNone/>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4. Testing Homoscedasticity (Equal Variance)</a:t>
            </a:r>
            <a:endParaRPr lang="en-US" sz="2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Visual Test: Scale-Location Plot (or Residual vs. Fitted Plot)</a:t>
            </a:r>
            <a:endParaRPr lang="en-US" sz="22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How:</a:t>
            </a:r>
            <a:r>
              <a:rPr lang="en-US" sz="22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This is similar to the residual vs. fitted plot. It plots the square root of the standardized residuals against the fitted values.</a:t>
            </a:r>
            <a:endParaRPr lang="en-US" sz="22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What to look for:</a:t>
            </a:r>
            <a:r>
              <a:rPr lang="en-US" sz="22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A horizontal line with randomly spread points indicates constant variance. A fanning pattern (cone shape) indicates heteroscedasticity (variance increases/decreases with fitted values).</a:t>
            </a:r>
            <a:endParaRPr lang="en-US" sz="22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Statistical Tests:</a:t>
            </a:r>
            <a:endParaRPr lang="en-US" sz="22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Breusch-Pagan Test:</a:t>
            </a:r>
            <a:r>
              <a:rPr lang="en-US" sz="22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A common test where a significant p-value (p &lt; 0.05) indicates the presence of heteroscedasticity.</a:t>
            </a:r>
            <a:endParaRPr lang="en-US" sz="22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White Test:</a:t>
            </a:r>
            <a:r>
              <a:rPr lang="en-US" sz="22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A more general test that is also sensitive to non-linearities.</a:t>
            </a:r>
            <a:endParaRPr lang="en-US" sz="22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843681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54B636-B4D0-59DD-0E04-56DB144A9DA2}"/>
              </a:ext>
            </a:extLst>
          </p:cNvPr>
          <p:cNvSpPr>
            <a:spLocks noGrp="1"/>
          </p:cNvSpPr>
          <p:nvPr>
            <p:ph type="dt" sz="half" idx="10"/>
          </p:nvPr>
        </p:nvSpPr>
        <p:spPr/>
        <p:txBody>
          <a:bodyPr/>
          <a:lstStyle/>
          <a:p>
            <a:fld id="{4E1295AC-1DCA-48F8-B21B-B79B192BE89E}" type="datetime1">
              <a:rPr lang="en-US" smtClean="0">
                <a:solidFill>
                  <a:prstClr val="black">
                    <a:tint val="75000"/>
                  </a:prstClr>
                </a:solidFill>
              </a:rPr>
              <a:t>9/10/2025</a:t>
            </a:fld>
            <a:endParaRPr lang="en-US">
              <a:solidFill>
                <a:prstClr val="black">
                  <a:tint val="75000"/>
                </a:prstClr>
              </a:solidFill>
            </a:endParaRPr>
          </a:p>
        </p:txBody>
      </p:sp>
      <p:sp>
        <p:nvSpPr>
          <p:cNvPr id="3" name="Footer Placeholder 2">
            <a:extLst>
              <a:ext uri="{FF2B5EF4-FFF2-40B4-BE49-F238E27FC236}">
                <a16:creationId xmlns:a16="http://schemas.microsoft.com/office/drawing/2014/main" id="{299C3D31-5C8F-3935-A8EA-37F3886DE65C}"/>
              </a:ext>
            </a:extLst>
          </p:cNvPr>
          <p:cNvSpPr>
            <a:spLocks noGrp="1"/>
          </p:cNvSpPr>
          <p:nvPr>
            <p:ph type="ftr" sz="quarter" idx="11"/>
          </p:nvPr>
        </p:nvSpPr>
        <p:spPr/>
        <p:txBody>
          <a:bodyPr/>
          <a:lstStyle/>
          <a:p>
            <a:r>
              <a:rPr lang="en-US">
                <a:solidFill>
                  <a:prstClr val="black">
                    <a:tint val="75000"/>
                  </a:prstClr>
                </a:solidFill>
              </a:rPr>
              <a:t>Linear Regression</a:t>
            </a:r>
          </a:p>
        </p:txBody>
      </p:sp>
      <p:sp>
        <p:nvSpPr>
          <p:cNvPr id="4" name="Slide Number Placeholder 3">
            <a:extLst>
              <a:ext uri="{FF2B5EF4-FFF2-40B4-BE49-F238E27FC236}">
                <a16:creationId xmlns:a16="http://schemas.microsoft.com/office/drawing/2014/main" id="{A728F3CE-0A10-804C-8DF2-0B8390669814}"/>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21</a:t>
            </a:fld>
            <a:endParaRPr lang="en-US">
              <a:solidFill>
                <a:prstClr val="black">
                  <a:tint val="75000"/>
                </a:prstClr>
              </a:solidFill>
            </a:endParaRPr>
          </a:p>
        </p:txBody>
      </p:sp>
      <p:sp>
        <p:nvSpPr>
          <p:cNvPr id="6" name="TextBox 5">
            <a:extLst>
              <a:ext uri="{FF2B5EF4-FFF2-40B4-BE49-F238E27FC236}">
                <a16:creationId xmlns:a16="http://schemas.microsoft.com/office/drawing/2014/main" id="{407433CF-A4E7-A799-AB47-5DA48CAA9A3B}"/>
              </a:ext>
            </a:extLst>
          </p:cNvPr>
          <p:cNvSpPr txBox="1"/>
          <p:nvPr/>
        </p:nvSpPr>
        <p:spPr>
          <a:xfrm>
            <a:off x="228600" y="102393"/>
            <a:ext cx="8839200" cy="4490973"/>
          </a:xfrm>
          <a:prstGeom prst="rect">
            <a:avLst/>
          </a:prstGeom>
          <a:noFill/>
        </p:spPr>
        <p:txBody>
          <a:bodyPr wrap="square">
            <a:spAutoFit/>
          </a:bodyPr>
          <a:lstStyle/>
          <a:p>
            <a:pPr marL="0" marR="0">
              <a:buNone/>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5. Testing for Multicollinearity</a:t>
            </a:r>
            <a:endParaRPr lang="en-US" sz="2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Diagnostic: Variance Inflation Factor (VIF)</a:t>
            </a:r>
            <a:endParaRPr lang="en-US" sz="22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How:</a:t>
            </a:r>
            <a:r>
              <a:rPr lang="en-US" sz="22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VIF measures how much the variance of a coefficient is inflated due to multicollinearity. It is calculated for each independent variable.</a:t>
            </a:r>
            <a:endParaRPr lang="en-US" sz="22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What to look for:</a:t>
            </a:r>
            <a:endParaRPr lang="en-US" sz="22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1143000" marR="0" lvl="2" indent="-228600">
              <a:buSzPts val="1000"/>
              <a:buFont typeface="Wingdings" panose="05000000000000000000" pitchFamily="2" charset="2"/>
              <a:buChar char=""/>
              <a:tabLst>
                <a:tab pos="1371600" algn="l"/>
              </a:tabLst>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VIF = 1:</a:t>
            </a:r>
            <a:r>
              <a:rPr lang="en-US" sz="22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No correlation.</a:t>
            </a:r>
            <a:endParaRPr lang="en-US" sz="22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1143000" marR="0" lvl="2" indent="-228600">
              <a:buSzPts val="1000"/>
              <a:buFont typeface="Wingdings" panose="05000000000000000000" pitchFamily="2" charset="2"/>
              <a:buChar char=""/>
              <a:tabLst>
                <a:tab pos="1371600" algn="l"/>
              </a:tabLst>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1 &lt; VIF &lt; 5:</a:t>
            </a:r>
            <a:r>
              <a:rPr lang="en-US" sz="22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Moderate correlation (usually acceptable).</a:t>
            </a:r>
            <a:endParaRPr lang="en-US" sz="22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1143000" marR="0" lvl="2" indent="-228600">
              <a:buSzPts val="1000"/>
              <a:buFont typeface="Wingdings" panose="05000000000000000000" pitchFamily="2" charset="2"/>
              <a:buChar char=""/>
              <a:tabLst>
                <a:tab pos="1371600" algn="l"/>
              </a:tabLst>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VIF &gt;= 5 to 10:</a:t>
            </a:r>
            <a:r>
              <a:rPr lang="en-US" sz="22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High correlation, a cause for concern.</a:t>
            </a:r>
            <a:endParaRPr lang="en-US" sz="22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Simple Check: Correlation Matrix</a:t>
            </a:r>
            <a:endParaRPr lang="en-US" sz="22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How:</a:t>
            </a:r>
            <a:r>
              <a:rPr lang="en-US" sz="22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Look at the pairwise correlations between independent variables.</a:t>
            </a:r>
            <a:endParaRPr lang="en-US" sz="22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US" sz="2200" b="1"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What to look for:</a:t>
            </a:r>
            <a:r>
              <a:rPr lang="en-US" sz="2200" kern="0" dirty="0">
                <a:solidFill>
                  <a:srgbClr val="0F1115"/>
                </a:solidFill>
                <a:effectLst/>
                <a:latin typeface="Times New Roman" panose="02020603050405020304" pitchFamily="18" charset="0"/>
                <a:ea typeface="Times New Roman" panose="02020603050405020304" pitchFamily="18" charset="0"/>
                <a:cs typeface="Times New Roman" panose="02020603050405020304" pitchFamily="18" charset="0"/>
              </a:rPr>
              <a:t> Correlations above |0.7| or |0.8| can signal a potential multicollinearity problem.</a:t>
            </a:r>
            <a:endParaRPr lang="en-US" sz="2200" kern="100" dirty="0">
              <a:solidFill>
                <a:srgbClr val="0F1115"/>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132842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A428E0-BAB7-1ED1-470F-9EB114CEB75D}"/>
              </a:ext>
            </a:extLst>
          </p:cNvPr>
          <p:cNvSpPr>
            <a:spLocks noGrp="1"/>
          </p:cNvSpPr>
          <p:nvPr>
            <p:ph type="dt" sz="half" idx="10"/>
          </p:nvPr>
        </p:nvSpPr>
        <p:spPr/>
        <p:txBody>
          <a:bodyPr/>
          <a:lstStyle/>
          <a:p>
            <a:fld id="{4E1295AC-1DCA-48F8-B21B-B79B192BE89E}" type="datetime1">
              <a:rPr lang="en-US" smtClean="0">
                <a:solidFill>
                  <a:prstClr val="black">
                    <a:tint val="75000"/>
                  </a:prstClr>
                </a:solidFill>
              </a:rPr>
              <a:t>9/10/2025</a:t>
            </a:fld>
            <a:endParaRPr lang="en-US">
              <a:solidFill>
                <a:prstClr val="black">
                  <a:tint val="75000"/>
                </a:prstClr>
              </a:solidFill>
            </a:endParaRPr>
          </a:p>
        </p:txBody>
      </p:sp>
      <p:sp>
        <p:nvSpPr>
          <p:cNvPr id="3" name="Footer Placeholder 2">
            <a:extLst>
              <a:ext uri="{FF2B5EF4-FFF2-40B4-BE49-F238E27FC236}">
                <a16:creationId xmlns:a16="http://schemas.microsoft.com/office/drawing/2014/main" id="{AB907BC1-5880-7883-0EF9-CCA70237899C}"/>
              </a:ext>
            </a:extLst>
          </p:cNvPr>
          <p:cNvSpPr>
            <a:spLocks noGrp="1"/>
          </p:cNvSpPr>
          <p:nvPr>
            <p:ph type="ftr" sz="quarter" idx="11"/>
          </p:nvPr>
        </p:nvSpPr>
        <p:spPr/>
        <p:txBody>
          <a:bodyPr/>
          <a:lstStyle/>
          <a:p>
            <a:r>
              <a:rPr lang="en-US">
                <a:solidFill>
                  <a:prstClr val="black">
                    <a:tint val="75000"/>
                  </a:prstClr>
                </a:solidFill>
              </a:rPr>
              <a:t>Linear Regression</a:t>
            </a:r>
          </a:p>
        </p:txBody>
      </p:sp>
      <p:sp>
        <p:nvSpPr>
          <p:cNvPr id="4" name="Slide Number Placeholder 3">
            <a:extLst>
              <a:ext uri="{FF2B5EF4-FFF2-40B4-BE49-F238E27FC236}">
                <a16:creationId xmlns:a16="http://schemas.microsoft.com/office/drawing/2014/main" id="{1DCE0536-1786-AE7D-90AA-F2A5EFA3FBEF}"/>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22</a:t>
            </a:fld>
            <a:endParaRPr lang="en-US">
              <a:solidFill>
                <a:prstClr val="black">
                  <a:tint val="75000"/>
                </a:prstClr>
              </a:solidFill>
            </a:endParaRPr>
          </a:p>
        </p:txBody>
      </p:sp>
      <p:graphicFrame>
        <p:nvGraphicFramePr>
          <p:cNvPr id="6" name="Table 5">
            <a:extLst>
              <a:ext uri="{FF2B5EF4-FFF2-40B4-BE49-F238E27FC236}">
                <a16:creationId xmlns:a16="http://schemas.microsoft.com/office/drawing/2014/main" id="{110BD352-30F6-5C2B-8961-A75B1ACE9D3C}"/>
              </a:ext>
            </a:extLst>
          </p:cNvPr>
          <p:cNvGraphicFramePr>
            <a:graphicFrameLocks noGrp="1"/>
          </p:cNvGraphicFramePr>
          <p:nvPr>
            <p:extLst>
              <p:ext uri="{D42A27DB-BD31-4B8C-83A1-F6EECF244321}">
                <p14:modId xmlns:p14="http://schemas.microsoft.com/office/powerpoint/2010/main" val="3284423681"/>
              </p:ext>
            </p:extLst>
          </p:nvPr>
        </p:nvGraphicFramePr>
        <p:xfrm>
          <a:off x="381000" y="152422"/>
          <a:ext cx="8134350" cy="4614841"/>
        </p:xfrm>
        <a:graphic>
          <a:graphicData uri="http://schemas.openxmlformats.org/drawingml/2006/table">
            <a:tbl>
              <a:tblPr firstRow="1" firstCol="1" bandRow="1"/>
              <a:tblGrid>
                <a:gridCol w="1676400">
                  <a:extLst>
                    <a:ext uri="{9D8B030D-6E8A-4147-A177-3AD203B41FA5}">
                      <a16:colId xmlns:a16="http://schemas.microsoft.com/office/drawing/2014/main" val="228756561"/>
                    </a:ext>
                  </a:extLst>
                </a:gridCol>
                <a:gridCol w="1860274">
                  <a:extLst>
                    <a:ext uri="{9D8B030D-6E8A-4147-A177-3AD203B41FA5}">
                      <a16:colId xmlns:a16="http://schemas.microsoft.com/office/drawing/2014/main" val="3788051292"/>
                    </a:ext>
                  </a:extLst>
                </a:gridCol>
                <a:gridCol w="2298838">
                  <a:extLst>
                    <a:ext uri="{9D8B030D-6E8A-4147-A177-3AD203B41FA5}">
                      <a16:colId xmlns:a16="http://schemas.microsoft.com/office/drawing/2014/main" val="1903435983"/>
                    </a:ext>
                  </a:extLst>
                </a:gridCol>
                <a:gridCol w="2298838">
                  <a:extLst>
                    <a:ext uri="{9D8B030D-6E8A-4147-A177-3AD203B41FA5}">
                      <a16:colId xmlns:a16="http://schemas.microsoft.com/office/drawing/2014/main" val="992322682"/>
                    </a:ext>
                  </a:extLst>
                </a:gridCol>
              </a:tblGrid>
              <a:tr h="544086">
                <a:tc>
                  <a:txBody>
                    <a:bodyPr/>
                    <a:lstStyle/>
                    <a:p>
                      <a:pPr marL="0" marR="0" algn="ctr">
                        <a:lnSpc>
                          <a:spcPts val="1875"/>
                        </a:lnSpc>
                        <a:spcAft>
                          <a:spcPts val="800"/>
                        </a:spcAft>
                        <a:buNone/>
                      </a:pP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Assumption</a:t>
                      </a:r>
                      <a:endParaRPr lang="en-US" sz="20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15240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ts val="1875"/>
                        </a:lnSpc>
                        <a:spcAft>
                          <a:spcPts val="800"/>
                        </a:spcAft>
                        <a:buNone/>
                      </a:pP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Visual Test</a:t>
                      </a:r>
                      <a:endParaRPr lang="en-US" sz="20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52400" marR="15240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ts val="1875"/>
                        </a:lnSpc>
                        <a:spcAft>
                          <a:spcPts val="800"/>
                        </a:spcAft>
                        <a:buNone/>
                      </a:pP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Statistical Test</a:t>
                      </a:r>
                      <a:endParaRPr lang="en-US" sz="20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52400" marR="15240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ts val="1875"/>
                        </a:lnSpc>
                        <a:spcAft>
                          <a:spcPts val="800"/>
                        </a:spcAft>
                        <a:buNone/>
                      </a:pP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What to Look For</a:t>
                      </a:r>
                      <a:endParaRPr lang="en-US" sz="20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52400" marR="15240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7156149"/>
                  </a:ext>
                </a:extLst>
              </a:tr>
              <a:tr h="544086">
                <a:tc>
                  <a:txBody>
                    <a:bodyPr/>
                    <a:lstStyle/>
                    <a:p>
                      <a:pPr marL="0" marR="0" algn="ctr">
                        <a:lnSpc>
                          <a:spcPts val="1875"/>
                        </a:lnSpc>
                        <a:spcAft>
                          <a:spcPts val="800"/>
                        </a:spcAft>
                        <a:buNone/>
                      </a:pP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Linearity</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15240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ts val="1875"/>
                        </a:lnSpc>
                        <a:spcAft>
                          <a:spcPts val="800"/>
                        </a:spcAft>
                        <a:buNone/>
                      </a:pP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Residual vs. Fitted Plot</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52400" marR="15240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ts val="1875"/>
                        </a:lnSpc>
                        <a:spcAft>
                          <a:spcPts val="800"/>
                        </a:spcAft>
                        <a:buNone/>
                      </a:pPr>
                      <a:r>
                        <a:rPr lang="en-US" sz="2000" kern="0">
                          <a:effectLst/>
                          <a:latin typeface="Times New Roman" panose="02020603050405020304" pitchFamily="18" charset="0"/>
                          <a:ea typeface="Times New Roman" panose="02020603050405020304" pitchFamily="18" charset="0"/>
                          <a:cs typeface="Times New Roman" panose="02020603050405020304" pitchFamily="18" charset="0"/>
                        </a:rPr>
                        <a:t>Ramsey’s RESET</a:t>
                      </a:r>
                      <a:endParaRPr lang="en-US" sz="2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52400" marR="15240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ts val="1875"/>
                        </a:lnSpc>
                        <a:spcAft>
                          <a:spcPts val="800"/>
                        </a:spcAft>
                        <a:buNone/>
                      </a:pPr>
                      <a:r>
                        <a:rPr lang="en-US" sz="2000" kern="0">
                          <a:effectLst/>
                          <a:latin typeface="Times New Roman" panose="02020603050405020304" pitchFamily="18" charset="0"/>
                          <a:ea typeface="Times New Roman" panose="02020603050405020304" pitchFamily="18" charset="0"/>
                          <a:cs typeface="Times New Roman" panose="02020603050405020304" pitchFamily="18" charset="0"/>
                        </a:rPr>
                        <a:t>No pattern in plot; p &gt; 0.05</a:t>
                      </a:r>
                      <a:endParaRPr lang="en-US" sz="2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52400" marR="15240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91689420"/>
                  </a:ext>
                </a:extLst>
              </a:tr>
              <a:tr h="865180">
                <a:tc>
                  <a:txBody>
                    <a:bodyPr/>
                    <a:lstStyle/>
                    <a:p>
                      <a:pPr marL="0" marR="0" algn="ctr">
                        <a:lnSpc>
                          <a:spcPts val="1875"/>
                        </a:lnSpc>
                        <a:spcAft>
                          <a:spcPts val="800"/>
                        </a:spcAft>
                        <a:buNone/>
                      </a:pP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Independence</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15240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ts val="1875"/>
                        </a:lnSpc>
                        <a:spcAft>
                          <a:spcPts val="800"/>
                        </a:spcAft>
                        <a:buNone/>
                      </a:pPr>
                      <a:r>
                        <a:rPr lang="en-US" sz="2000" kern="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52400" marR="15240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ts val="1875"/>
                        </a:lnSpc>
                        <a:spcAft>
                          <a:spcPts val="800"/>
                        </a:spcAft>
                        <a:buNone/>
                      </a:pPr>
                      <a:r>
                        <a:rPr lang="en-US" sz="2000" kern="0">
                          <a:effectLst/>
                          <a:latin typeface="Times New Roman" panose="02020603050405020304" pitchFamily="18" charset="0"/>
                          <a:ea typeface="Times New Roman" panose="02020603050405020304" pitchFamily="18" charset="0"/>
                          <a:cs typeface="Times New Roman" panose="02020603050405020304" pitchFamily="18" charset="0"/>
                        </a:rPr>
                        <a:t>Durbin-Watson</a:t>
                      </a:r>
                      <a:endParaRPr lang="en-US" sz="2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52400" marR="15240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ts val="1875"/>
                        </a:lnSpc>
                        <a:spcAft>
                          <a:spcPts val="800"/>
                        </a:spcAft>
                        <a:buNone/>
                      </a:pPr>
                      <a:r>
                        <a:rPr lang="en-US" sz="2000" kern="0">
                          <a:effectLst/>
                          <a:latin typeface="Times New Roman" panose="02020603050405020304" pitchFamily="18" charset="0"/>
                          <a:ea typeface="Times New Roman" panose="02020603050405020304" pitchFamily="18" charset="0"/>
                          <a:cs typeface="Times New Roman" panose="02020603050405020304" pitchFamily="18" charset="0"/>
                        </a:rPr>
                        <a:t>Statistic ~ 2 (1.5 - 2.5 is often ok)</a:t>
                      </a:r>
                      <a:endParaRPr lang="en-US" sz="2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52400" marR="15240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74095707"/>
                  </a:ext>
                </a:extLst>
              </a:tr>
              <a:tr h="544086">
                <a:tc>
                  <a:txBody>
                    <a:bodyPr/>
                    <a:lstStyle/>
                    <a:p>
                      <a:pPr marL="0" marR="0" algn="ctr">
                        <a:lnSpc>
                          <a:spcPts val="1875"/>
                        </a:lnSpc>
                        <a:spcAft>
                          <a:spcPts val="800"/>
                        </a:spcAft>
                        <a:buNone/>
                      </a:pP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Normality</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15240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ts val="1875"/>
                        </a:lnSpc>
                        <a:spcAft>
                          <a:spcPts val="800"/>
                        </a:spcAft>
                        <a:buNone/>
                      </a:pP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Q-Q Plot</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52400" marR="15240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ts val="1875"/>
                        </a:lnSpc>
                        <a:spcAft>
                          <a:spcPts val="800"/>
                        </a:spcAft>
                        <a:buNone/>
                      </a:pPr>
                      <a:r>
                        <a:rPr lang="en-US" sz="2000" kern="0">
                          <a:effectLst/>
                          <a:latin typeface="Times New Roman" panose="02020603050405020304" pitchFamily="18" charset="0"/>
                          <a:ea typeface="Times New Roman" panose="02020603050405020304" pitchFamily="18" charset="0"/>
                          <a:cs typeface="Times New Roman" panose="02020603050405020304" pitchFamily="18" charset="0"/>
                        </a:rPr>
                        <a:t>Shapiro-Wilk, KS</a:t>
                      </a:r>
                      <a:endParaRPr lang="en-US" sz="2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52400" marR="15240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ts val="1875"/>
                        </a:lnSpc>
                        <a:spcAft>
                          <a:spcPts val="800"/>
                        </a:spcAft>
                        <a:buNone/>
                      </a:pPr>
                      <a:r>
                        <a:rPr lang="en-US" sz="2000" kern="0">
                          <a:effectLst/>
                          <a:latin typeface="Times New Roman" panose="02020603050405020304" pitchFamily="18" charset="0"/>
                          <a:ea typeface="Times New Roman" panose="02020603050405020304" pitchFamily="18" charset="0"/>
                          <a:cs typeface="Times New Roman" panose="02020603050405020304" pitchFamily="18" charset="0"/>
                        </a:rPr>
                        <a:t>Points on line; p &gt; 0.05</a:t>
                      </a:r>
                      <a:endParaRPr lang="en-US" sz="2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52400" marR="15240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49343804"/>
                  </a:ext>
                </a:extLst>
              </a:tr>
              <a:tr h="544086">
                <a:tc>
                  <a:txBody>
                    <a:bodyPr/>
                    <a:lstStyle/>
                    <a:p>
                      <a:pPr marL="0" marR="0" algn="ctr">
                        <a:lnSpc>
                          <a:spcPts val="1875"/>
                        </a:lnSpc>
                        <a:spcAft>
                          <a:spcPts val="800"/>
                        </a:spcAft>
                        <a:buNone/>
                      </a:pP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Equal Variance</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15240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ts val="1875"/>
                        </a:lnSpc>
                        <a:spcAft>
                          <a:spcPts val="800"/>
                        </a:spcAft>
                        <a:buNone/>
                      </a:pP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Scale-Location Plot</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52400" marR="15240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ts val="1875"/>
                        </a:lnSpc>
                        <a:spcAft>
                          <a:spcPts val="800"/>
                        </a:spcAft>
                        <a:buNone/>
                      </a:pP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Breusch-Pagan</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52400" marR="15240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ts val="1875"/>
                        </a:lnSpc>
                        <a:spcAft>
                          <a:spcPts val="800"/>
                        </a:spcAft>
                        <a:buNone/>
                      </a:pP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Horizontal line; p &gt; 0.05</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52400" marR="15240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98960804"/>
                  </a:ext>
                </a:extLst>
              </a:tr>
              <a:tr h="1186275">
                <a:tc>
                  <a:txBody>
                    <a:bodyPr/>
                    <a:lstStyle/>
                    <a:p>
                      <a:pPr marL="0" marR="0" algn="ctr">
                        <a:lnSpc>
                          <a:spcPts val="1875"/>
                        </a:lnSpc>
                        <a:spcAft>
                          <a:spcPts val="800"/>
                        </a:spcAft>
                        <a:buNone/>
                      </a:pP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No Multicollinearity</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15240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ts val="1875"/>
                        </a:lnSpc>
                        <a:spcAft>
                          <a:spcPts val="800"/>
                        </a:spcAft>
                        <a:buNone/>
                      </a:pPr>
                      <a:r>
                        <a:rPr lang="en-US" sz="2000" kern="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0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152400" marR="15240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ts val="1875"/>
                        </a:lnSpc>
                        <a:spcAft>
                          <a:spcPts val="800"/>
                        </a:spcAft>
                        <a:buNone/>
                      </a:pP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VIF</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52400" marR="15240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ts val="1875"/>
                        </a:lnSpc>
                        <a:spcAft>
                          <a:spcPts val="800"/>
                        </a:spcAft>
                        <a:buNone/>
                      </a:pP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VIF &lt; 5 (or 10)</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52400" marR="15240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72940363"/>
                  </a:ext>
                </a:extLst>
              </a:tr>
            </a:tbl>
          </a:graphicData>
        </a:graphic>
      </p:graphicFrame>
    </p:spTree>
    <p:extLst>
      <p:ext uri="{BB962C8B-B14F-4D97-AF65-F5344CB8AC3E}">
        <p14:creationId xmlns:p14="http://schemas.microsoft.com/office/powerpoint/2010/main" val="19008810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hart 5"/>
          <p:cNvGraphicFramePr>
            <a:graphicFrameLocks/>
          </p:cNvGraphicFramePr>
          <p:nvPr>
            <p:extLst>
              <p:ext uri="{D42A27DB-BD31-4B8C-83A1-F6EECF244321}">
                <p14:modId xmlns:p14="http://schemas.microsoft.com/office/powerpoint/2010/main" val="2886120269"/>
              </p:ext>
            </p:extLst>
          </p:nvPr>
        </p:nvGraphicFramePr>
        <p:xfrm>
          <a:off x="3267052" y="133350"/>
          <a:ext cx="531876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p:cNvGraphicFramePr>
            <a:graphicFrameLocks/>
          </p:cNvGraphicFramePr>
          <p:nvPr>
            <p:extLst>
              <p:ext uri="{D42A27DB-BD31-4B8C-83A1-F6EECF244321}">
                <p14:modId xmlns:p14="http://schemas.microsoft.com/office/powerpoint/2010/main" val="1453026222"/>
              </p:ext>
            </p:extLst>
          </p:nvPr>
        </p:nvGraphicFramePr>
        <p:xfrm>
          <a:off x="3267052" y="133350"/>
          <a:ext cx="531876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p:cNvSpPr txBox="1"/>
          <p:nvPr/>
        </p:nvSpPr>
        <p:spPr>
          <a:xfrm>
            <a:off x="453422" y="209550"/>
            <a:ext cx="2351926" cy="954107"/>
          </a:xfrm>
          <a:prstGeom prst="rect">
            <a:avLst/>
          </a:prstGeom>
          <a:noFill/>
        </p:spPr>
        <p:txBody>
          <a:bodyPr wrap="none" rtlCol="0">
            <a:spAutoFit/>
          </a:bodyPr>
          <a:lstStyle/>
          <a:p>
            <a:pPr algn="ctr"/>
            <a:r>
              <a:rPr lang="en-US" sz="2800" b="1" dirty="0"/>
              <a:t>Housing Prices</a:t>
            </a:r>
          </a:p>
          <a:p>
            <a:pPr algn="ctr"/>
            <a:endParaRPr lang="en-US" sz="2800" b="1" dirty="0"/>
          </a:p>
        </p:txBody>
      </p:sp>
      <p:sp>
        <p:nvSpPr>
          <p:cNvPr id="9" name="TextBox 8"/>
          <p:cNvSpPr txBox="1"/>
          <p:nvPr/>
        </p:nvSpPr>
        <p:spPr>
          <a:xfrm>
            <a:off x="1828800" y="1371421"/>
            <a:ext cx="1575412" cy="830997"/>
          </a:xfrm>
          <a:prstGeom prst="rect">
            <a:avLst/>
          </a:prstGeom>
          <a:noFill/>
        </p:spPr>
        <p:txBody>
          <a:bodyPr wrap="square" rtlCol="0">
            <a:spAutoFit/>
          </a:bodyPr>
          <a:lstStyle/>
          <a:p>
            <a:pPr algn="ctr"/>
            <a:r>
              <a:rPr lang="en-US" sz="2400" dirty="0"/>
              <a:t>Price</a:t>
            </a:r>
          </a:p>
          <a:p>
            <a:pPr algn="ctr"/>
            <a:endParaRPr lang="en-US" sz="2400" dirty="0"/>
          </a:p>
        </p:txBody>
      </p:sp>
      <p:sp>
        <p:nvSpPr>
          <p:cNvPr id="10" name="TextBox 9"/>
          <p:cNvSpPr txBox="1"/>
          <p:nvPr/>
        </p:nvSpPr>
        <p:spPr>
          <a:xfrm>
            <a:off x="5309212" y="2800350"/>
            <a:ext cx="1519711" cy="461665"/>
          </a:xfrm>
          <a:prstGeom prst="rect">
            <a:avLst/>
          </a:prstGeom>
          <a:noFill/>
        </p:spPr>
        <p:txBody>
          <a:bodyPr wrap="none" rtlCol="0">
            <a:spAutoFit/>
          </a:bodyPr>
          <a:lstStyle/>
          <a:p>
            <a:r>
              <a:rPr lang="en-US" sz="2400" dirty="0"/>
              <a:t>Size (feet</a:t>
            </a:r>
            <a:r>
              <a:rPr lang="en-US" sz="2400" baseline="30000" dirty="0"/>
              <a:t>2</a:t>
            </a:r>
            <a:r>
              <a:rPr lang="en-US" sz="2400" dirty="0"/>
              <a:t>)</a:t>
            </a:r>
          </a:p>
        </p:txBody>
      </p:sp>
      <p:sp>
        <p:nvSpPr>
          <p:cNvPr id="11" name="TextBox 10"/>
          <p:cNvSpPr txBox="1"/>
          <p:nvPr/>
        </p:nvSpPr>
        <p:spPr>
          <a:xfrm>
            <a:off x="304800" y="3270945"/>
            <a:ext cx="4000500" cy="1384995"/>
          </a:xfrm>
          <a:prstGeom prst="rect">
            <a:avLst/>
          </a:prstGeom>
          <a:noFill/>
        </p:spPr>
        <p:txBody>
          <a:bodyPr wrap="square" rtlCol="0">
            <a:spAutoFit/>
          </a:bodyPr>
          <a:lstStyle/>
          <a:p>
            <a:r>
              <a:rPr lang="en-US" sz="2400" u="sng" dirty="0"/>
              <a:t>Supervised Learning</a:t>
            </a:r>
          </a:p>
          <a:p>
            <a:endParaRPr lang="en-US" sz="1000" dirty="0"/>
          </a:p>
          <a:p>
            <a:r>
              <a:rPr lang="en-US" sz="2400" dirty="0"/>
              <a:t>Given the “right answer” for each example in the data.</a:t>
            </a:r>
          </a:p>
        </p:txBody>
      </p:sp>
      <p:sp>
        <p:nvSpPr>
          <p:cNvPr id="12" name="TextBox 11"/>
          <p:cNvSpPr txBox="1"/>
          <p:nvPr/>
        </p:nvSpPr>
        <p:spPr>
          <a:xfrm>
            <a:off x="4267200" y="3270945"/>
            <a:ext cx="4114800" cy="1015663"/>
          </a:xfrm>
          <a:prstGeom prst="rect">
            <a:avLst/>
          </a:prstGeom>
          <a:noFill/>
        </p:spPr>
        <p:txBody>
          <a:bodyPr wrap="square" rtlCol="0">
            <a:spAutoFit/>
          </a:bodyPr>
          <a:lstStyle/>
          <a:p>
            <a:r>
              <a:rPr lang="en-US" sz="2400" u="sng" dirty="0"/>
              <a:t>Regression Problem</a:t>
            </a:r>
          </a:p>
          <a:p>
            <a:endParaRPr lang="en-US" sz="1000" dirty="0"/>
          </a:p>
          <a:p>
            <a:r>
              <a:rPr lang="en-US" sz="2400" dirty="0"/>
              <a:t>Predict real-valued output</a:t>
            </a:r>
          </a:p>
        </p:txBody>
      </p:sp>
      <p:cxnSp>
        <p:nvCxnSpPr>
          <p:cNvPr id="14" name="Straight Connector 13"/>
          <p:cNvCxnSpPr/>
          <p:nvPr/>
        </p:nvCxnSpPr>
        <p:spPr>
          <a:xfrm>
            <a:off x="4114800" y="3347145"/>
            <a:ext cx="0" cy="151060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p:cNvSpPr>
            <a:spLocks noGrp="1"/>
          </p:cNvSpPr>
          <p:nvPr>
            <p:ph type="dt" sz="half" idx="10"/>
          </p:nvPr>
        </p:nvSpPr>
        <p:spPr/>
        <p:txBody>
          <a:bodyPr/>
          <a:lstStyle/>
          <a:p>
            <a:fld id="{9C401D5F-3D79-4ECD-9C88-A98F0997BA34}" type="datetime1">
              <a:rPr lang="en-US" smtClean="0">
                <a:solidFill>
                  <a:prstClr val="black">
                    <a:tint val="75000"/>
                  </a:prstClr>
                </a:solidFill>
              </a:rPr>
              <a:t>9/10/2025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r>
              <a:rPr lang="en-US">
                <a:solidFill>
                  <a:prstClr val="black">
                    <a:tint val="75000"/>
                  </a:prstClr>
                </a:solidFill>
              </a:rPr>
              <a:t>Linear Regression</a:t>
            </a:r>
          </a:p>
        </p:txBody>
      </p:sp>
      <p:sp>
        <p:nvSpPr>
          <p:cNvPr id="5" name="Slide Number Placeholder 4"/>
          <p:cNvSpPr>
            <a:spLocks noGrp="1"/>
          </p:cNvSpPr>
          <p:nvPr>
            <p:ph type="sldNum" sz="quarter" idx="12"/>
          </p:nvPr>
        </p:nvSpPr>
        <p:spPr/>
        <p:txBody>
          <a:bodyPr/>
          <a:lstStyle/>
          <a:p>
            <a:fld id="{F043A558-56C3-499B-89A2-59E5853E6BB4}" type="slidenum">
              <a:rPr lang="en-US" smtClean="0">
                <a:solidFill>
                  <a:prstClr val="black">
                    <a:tint val="75000"/>
                  </a:prstClr>
                </a:solidFill>
              </a:rPr>
              <a:pPr/>
              <a:t>23</a:t>
            </a:fld>
            <a:endParaRPr lang="en-US">
              <a:solidFill>
                <a:prstClr val="black">
                  <a:tint val="75000"/>
                </a:prstClr>
              </a:solidFill>
            </a:endParaRPr>
          </a:p>
        </p:txBody>
      </p:sp>
    </p:spTree>
    <p:extLst>
      <p:ext uri="{BB962C8B-B14F-4D97-AF65-F5344CB8AC3E}">
        <p14:creationId xmlns:p14="http://schemas.microsoft.com/office/powerpoint/2010/main" val="731813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Graphic spid="7" grpId="0">
        <p:bldAsOne/>
      </p:bldGraphic>
      <p:bldP spid="11" grpId="0"/>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3422" y="2495550"/>
            <a:ext cx="5512663" cy="1600438"/>
          </a:xfrm>
          <a:prstGeom prst="rect">
            <a:avLst/>
          </a:prstGeom>
          <a:noFill/>
        </p:spPr>
        <p:txBody>
          <a:bodyPr wrap="none" rtlCol="0">
            <a:spAutoFit/>
          </a:bodyPr>
          <a:lstStyle/>
          <a:p>
            <a:r>
              <a:rPr lang="en-US" sz="2400" dirty="0"/>
              <a:t>Notation:</a:t>
            </a:r>
          </a:p>
          <a:p>
            <a:r>
              <a:rPr lang="en-US" sz="100" dirty="0"/>
              <a:t> </a:t>
            </a:r>
            <a:endParaRPr lang="en-US" sz="2000" dirty="0"/>
          </a:p>
          <a:p>
            <a:r>
              <a:rPr lang="en-US" sz="2400" dirty="0"/>
              <a:t>   </a:t>
            </a:r>
            <a:r>
              <a:rPr lang="en-US" sz="2400" b="1" dirty="0"/>
              <a:t>m</a:t>
            </a:r>
            <a:r>
              <a:rPr lang="en-US" sz="2400" dirty="0"/>
              <a:t> = Number of training examples</a:t>
            </a:r>
          </a:p>
          <a:p>
            <a:r>
              <a:rPr lang="en-US" sz="2400" dirty="0"/>
              <a:t>   </a:t>
            </a:r>
            <a:r>
              <a:rPr lang="en-US" sz="2400" b="1" dirty="0"/>
              <a:t>x</a:t>
            </a:r>
            <a:r>
              <a:rPr lang="en-US" sz="2400" dirty="0"/>
              <a:t>’s = “input” variable / features</a:t>
            </a:r>
          </a:p>
          <a:p>
            <a:r>
              <a:rPr lang="en-US" sz="2400" dirty="0"/>
              <a:t>   </a:t>
            </a:r>
            <a:r>
              <a:rPr lang="en-US" sz="2400" b="1" dirty="0"/>
              <a:t>y</a:t>
            </a:r>
            <a:r>
              <a:rPr lang="en-US" sz="2400" dirty="0"/>
              <a:t>’s = “output” variable / “target” variable</a:t>
            </a:r>
          </a:p>
        </p:txBody>
      </p:sp>
      <p:graphicFrame>
        <p:nvGraphicFramePr>
          <p:cNvPr id="5" name="Table 4"/>
          <p:cNvGraphicFramePr>
            <a:graphicFrameLocks noGrp="1"/>
          </p:cNvGraphicFramePr>
          <p:nvPr>
            <p:extLst>
              <p:ext uri="{D42A27DB-BD31-4B8C-83A1-F6EECF244321}">
                <p14:modId xmlns:p14="http://schemas.microsoft.com/office/powerpoint/2010/main" val="4058971770"/>
              </p:ext>
            </p:extLst>
          </p:nvPr>
        </p:nvGraphicFramePr>
        <p:xfrm>
          <a:off x="3276600" y="209550"/>
          <a:ext cx="5334000" cy="2324100"/>
        </p:xfrm>
        <a:graphic>
          <a:graphicData uri="http://schemas.openxmlformats.org/drawingml/2006/table">
            <a:tbl>
              <a:tblPr>
                <a:tableStyleId>{2D5ABB26-0587-4C30-8999-92F81FD0307C}</a:tableStyleId>
              </a:tblPr>
              <a:tblGrid>
                <a:gridCol w="2391103">
                  <a:extLst>
                    <a:ext uri="{9D8B030D-6E8A-4147-A177-3AD203B41FA5}">
                      <a16:colId xmlns:a16="http://schemas.microsoft.com/office/drawing/2014/main" val="20000"/>
                    </a:ext>
                  </a:extLst>
                </a:gridCol>
                <a:gridCol w="2942897">
                  <a:extLst>
                    <a:ext uri="{9D8B030D-6E8A-4147-A177-3AD203B41FA5}">
                      <a16:colId xmlns:a16="http://schemas.microsoft.com/office/drawing/2014/main" val="20001"/>
                    </a:ext>
                  </a:extLst>
                </a:gridCol>
              </a:tblGrid>
              <a:tr h="457200">
                <a:tc>
                  <a:txBody>
                    <a:bodyPr/>
                    <a:lstStyle/>
                    <a:p>
                      <a:pPr algn="ctr" fontAlgn="b"/>
                      <a:r>
                        <a:rPr lang="en-US" sz="2400" b="1" u="none" strike="noStrike" dirty="0">
                          <a:effectLst/>
                        </a:rPr>
                        <a:t>Size in</a:t>
                      </a:r>
                      <a:r>
                        <a:rPr lang="en-US" sz="2400" b="1" u="none" strike="noStrike" baseline="0" dirty="0">
                          <a:effectLst/>
                        </a:rPr>
                        <a:t> </a:t>
                      </a:r>
                      <a:r>
                        <a:rPr lang="en-US" sz="2400" b="1" u="none" strike="noStrike" dirty="0">
                          <a:effectLst/>
                        </a:rPr>
                        <a:t>feet</a:t>
                      </a:r>
                      <a:r>
                        <a:rPr lang="en-US" sz="2400" b="1" u="none" strike="noStrike" baseline="30000" dirty="0">
                          <a:effectLst/>
                        </a:rPr>
                        <a:t>2</a:t>
                      </a:r>
                      <a:r>
                        <a:rPr lang="en-US" sz="2400" b="1" u="none" strike="noStrike" dirty="0">
                          <a:effectLst/>
                        </a:rPr>
                        <a:t> (</a:t>
                      </a:r>
                      <a:r>
                        <a:rPr lang="en-US" sz="2400" b="0" u="none" strike="noStrike" dirty="0">
                          <a:effectLst/>
                        </a:rPr>
                        <a:t>x</a:t>
                      </a:r>
                      <a:r>
                        <a:rPr lang="en-US" sz="2400" b="1" u="none" strike="noStrike" dirty="0">
                          <a:effectLst/>
                        </a:rPr>
                        <a:t>)</a:t>
                      </a:r>
                      <a:endParaRPr lang="en-US" sz="2400" b="1" i="0" u="none" strike="noStrike" dirty="0">
                        <a:solidFill>
                          <a:srgbClr val="000000"/>
                        </a:solidFill>
                        <a:effectLst/>
                        <a:latin typeface="Calibri"/>
                      </a:endParaRPr>
                    </a:p>
                  </a:txBody>
                  <a:tcPr marL="7620" marR="7620" marT="762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b"/>
                      <a:r>
                        <a:rPr lang="en-US" sz="2400" b="1" u="none" strike="noStrike" dirty="0">
                          <a:effectLst/>
                        </a:rPr>
                        <a:t>Price (</a:t>
                      </a:r>
                      <a:r>
                        <a:rPr lang="en-US" sz="2400" b="1" u="none" strike="noStrike" dirty="0" err="1">
                          <a:effectLst/>
                        </a:rPr>
                        <a:t>Rs</a:t>
                      </a:r>
                      <a:r>
                        <a:rPr lang="en-US" sz="2400" b="1" u="none" strike="noStrike" dirty="0">
                          <a:effectLst/>
                        </a:rPr>
                        <a:t>) in 1000's (</a:t>
                      </a:r>
                      <a:r>
                        <a:rPr lang="en-US" sz="2400" b="0" u="none" strike="noStrike" dirty="0">
                          <a:effectLst/>
                        </a:rPr>
                        <a:t>y</a:t>
                      </a:r>
                      <a:r>
                        <a:rPr lang="en-US" sz="2400" b="1" u="none" strike="noStrike" dirty="0">
                          <a:effectLst/>
                        </a:rPr>
                        <a:t>)</a:t>
                      </a:r>
                      <a:endParaRPr lang="en-US" sz="2400" b="1" i="0" u="none" strike="noStrike" dirty="0">
                        <a:solidFill>
                          <a:srgbClr val="000000"/>
                        </a:solidFill>
                        <a:effectLst/>
                        <a:latin typeface="Calibri"/>
                      </a:endParaRPr>
                    </a:p>
                  </a:txBody>
                  <a:tcPr marL="7620" marR="7620" marT="762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91362">
                <a:tc>
                  <a:txBody>
                    <a:bodyPr/>
                    <a:lstStyle/>
                    <a:p>
                      <a:pPr algn="ctr" fontAlgn="b"/>
                      <a:r>
                        <a:rPr lang="en-US" sz="2400" u="none" strike="noStrike" dirty="0">
                          <a:effectLst/>
                        </a:rPr>
                        <a:t>2104</a:t>
                      </a:r>
                      <a:endParaRPr lang="en-US" sz="2400" b="0" i="0" u="none" strike="noStrike" dirty="0">
                        <a:solidFill>
                          <a:srgbClr val="000000"/>
                        </a:solidFill>
                        <a:effectLst/>
                        <a:latin typeface="Calibri"/>
                      </a:endParaRPr>
                    </a:p>
                  </a:txBody>
                  <a:tcPr marL="7620" marR="7620" marT="7620"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fontAlgn="b"/>
                      <a:r>
                        <a:rPr lang="en-US" sz="2400" b="0" i="0" u="none" strike="noStrike" dirty="0">
                          <a:solidFill>
                            <a:schemeClr val="tx1"/>
                          </a:solidFill>
                          <a:effectLst/>
                          <a:latin typeface="+mn-lt"/>
                        </a:rPr>
                        <a:t>460</a:t>
                      </a:r>
                      <a:endParaRPr lang="en-US" sz="2400" b="0" i="0" u="none" strike="noStrike" dirty="0">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291362">
                <a:tc>
                  <a:txBody>
                    <a:bodyPr/>
                    <a:lstStyle/>
                    <a:p>
                      <a:pPr algn="ctr" fontAlgn="b"/>
                      <a:r>
                        <a:rPr lang="en-US" sz="2400" u="none" strike="noStrike" dirty="0">
                          <a:effectLst/>
                        </a:rPr>
                        <a:t>1416</a:t>
                      </a:r>
                      <a:endParaRPr lang="en-US" sz="2400" b="0" i="0" u="none" strike="noStrike" dirty="0">
                        <a:solidFill>
                          <a:srgbClr val="000000"/>
                        </a:solidFill>
                        <a:effectLst/>
                        <a:latin typeface="Calibri"/>
                      </a:endParaRPr>
                    </a:p>
                  </a:txBody>
                  <a:tcPr marL="7620" marR="7620" marT="7620" marB="0" anchor="b">
                    <a:lnR w="12700" cap="flat" cmpd="sng" algn="ctr">
                      <a:solidFill>
                        <a:schemeClr val="tx1"/>
                      </a:solidFill>
                      <a:prstDash val="solid"/>
                      <a:round/>
                      <a:headEnd type="none" w="med" len="med"/>
                      <a:tailEnd type="none" w="med" len="med"/>
                    </a:lnR>
                  </a:tcPr>
                </a:tc>
                <a:tc>
                  <a:txBody>
                    <a:bodyPr/>
                    <a:lstStyle/>
                    <a:p>
                      <a:pPr algn="ctr" fontAlgn="b"/>
                      <a:r>
                        <a:rPr lang="en-US" sz="2400" u="none" strike="noStrike" dirty="0">
                          <a:effectLst/>
                        </a:rPr>
                        <a:t>232</a:t>
                      </a:r>
                      <a:endParaRPr lang="en-US" sz="2400" b="0" i="0" u="none" strike="noStrike" dirty="0">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291362">
                <a:tc>
                  <a:txBody>
                    <a:bodyPr/>
                    <a:lstStyle/>
                    <a:p>
                      <a:pPr algn="ctr" fontAlgn="b"/>
                      <a:r>
                        <a:rPr lang="en-US" sz="2400" u="none" strike="noStrike" dirty="0">
                          <a:effectLst/>
                        </a:rPr>
                        <a:t>1534</a:t>
                      </a:r>
                      <a:endParaRPr lang="en-US" sz="2400" b="0" i="0" u="none" strike="noStrike" dirty="0">
                        <a:solidFill>
                          <a:srgbClr val="000000"/>
                        </a:solidFill>
                        <a:effectLst/>
                        <a:latin typeface="Calibri"/>
                      </a:endParaRPr>
                    </a:p>
                  </a:txBody>
                  <a:tcPr marL="7620" marR="7620" marT="7620" marB="0" anchor="b">
                    <a:lnR w="12700" cap="flat" cmpd="sng" algn="ctr">
                      <a:solidFill>
                        <a:schemeClr val="tx1"/>
                      </a:solidFill>
                      <a:prstDash val="solid"/>
                      <a:round/>
                      <a:headEnd type="none" w="med" len="med"/>
                      <a:tailEnd type="none" w="med" len="med"/>
                    </a:lnR>
                  </a:tcPr>
                </a:tc>
                <a:tc>
                  <a:txBody>
                    <a:bodyPr/>
                    <a:lstStyle/>
                    <a:p>
                      <a:pPr algn="ctr" fontAlgn="b"/>
                      <a:r>
                        <a:rPr lang="en-US" sz="2400" u="none" strike="noStrike" dirty="0">
                          <a:effectLst/>
                        </a:rPr>
                        <a:t>315</a:t>
                      </a:r>
                      <a:endParaRPr lang="en-US" sz="2400" b="0" i="0" u="none" strike="noStrike" dirty="0">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291362">
                <a:tc>
                  <a:txBody>
                    <a:bodyPr/>
                    <a:lstStyle/>
                    <a:p>
                      <a:pPr algn="ctr" fontAlgn="b"/>
                      <a:r>
                        <a:rPr lang="en-US" sz="2400" u="none" strike="noStrike" dirty="0">
                          <a:effectLst/>
                        </a:rPr>
                        <a:t>852</a:t>
                      </a:r>
                      <a:endParaRPr lang="en-US" sz="2400" b="0" i="0" u="none" strike="noStrike" dirty="0">
                        <a:solidFill>
                          <a:srgbClr val="000000"/>
                        </a:solidFill>
                        <a:effectLst/>
                        <a:latin typeface="Calibri"/>
                      </a:endParaRPr>
                    </a:p>
                  </a:txBody>
                  <a:tcPr marL="7620" marR="7620" marT="7620" marB="0" anchor="b">
                    <a:lnR w="12700" cap="flat" cmpd="sng" algn="ctr">
                      <a:solidFill>
                        <a:schemeClr val="tx1"/>
                      </a:solidFill>
                      <a:prstDash val="solid"/>
                      <a:round/>
                      <a:headEnd type="none" w="med" len="med"/>
                      <a:tailEnd type="none" w="med" len="med"/>
                    </a:lnR>
                  </a:tcPr>
                </a:tc>
                <a:tc>
                  <a:txBody>
                    <a:bodyPr/>
                    <a:lstStyle/>
                    <a:p>
                      <a:pPr algn="ctr" fontAlgn="b"/>
                      <a:r>
                        <a:rPr lang="en-US" sz="2400" u="none" strike="noStrike" dirty="0">
                          <a:effectLst/>
                        </a:rPr>
                        <a:t>178</a:t>
                      </a:r>
                      <a:endParaRPr lang="en-US" sz="2400" b="0" i="0" u="none" strike="noStrike" dirty="0">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r h="291362">
                <a:tc>
                  <a:txBody>
                    <a:bodyPr/>
                    <a:lstStyle/>
                    <a:p>
                      <a:pPr algn="ctr" fontAlgn="b"/>
                      <a:r>
                        <a:rPr lang="en-US" sz="2400" u="none" strike="noStrike" dirty="0">
                          <a:effectLst/>
                        </a:rPr>
                        <a:t>…</a:t>
                      </a:r>
                      <a:endParaRPr lang="en-US" sz="2400" b="0" i="0" u="none" strike="noStrike" dirty="0">
                        <a:solidFill>
                          <a:srgbClr val="000000"/>
                        </a:solidFill>
                        <a:effectLst/>
                        <a:latin typeface="Calibri"/>
                      </a:endParaRPr>
                    </a:p>
                  </a:txBody>
                  <a:tcPr marL="7620" marR="7620" marT="7620" marB="0" anchor="b">
                    <a:lnR w="12700" cap="flat" cmpd="sng" algn="ctr">
                      <a:solidFill>
                        <a:schemeClr val="tx1"/>
                      </a:solidFill>
                      <a:prstDash val="solid"/>
                      <a:round/>
                      <a:headEnd type="none" w="med" len="med"/>
                      <a:tailEnd type="none" w="med" len="med"/>
                    </a:lnR>
                  </a:tcPr>
                </a:tc>
                <a:tc>
                  <a:txBody>
                    <a:bodyPr/>
                    <a:lstStyle/>
                    <a:p>
                      <a:pPr algn="ctr" fontAlgn="b"/>
                      <a:r>
                        <a:rPr lang="en-US" sz="2400" u="none" strike="noStrike" dirty="0">
                          <a:effectLst/>
                        </a:rPr>
                        <a:t>…</a:t>
                      </a:r>
                      <a:endParaRPr lang="en-US" sz="2400" b="0" i="0" u="none" strike="noStrike" dirty="0">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5"/>
                  </a:ext>
                </a:extLst>
              </a:tr>
            </a:tbl>
          </a:graphicData>
        </a:graphic>
      </p:graphicFrame>
      <p:sp>
        <p:nvSpPr>
          <p:cNvPr id="6" name="TextBox 5"/>
          <p:cNvSpPr txBox="1"/>
          <p:nvPr/>
        </p:nvSpPr>
        <p:spPr>
          <a:xfrm>
            <a:off x="453422" y="209550"/>
            <a:ext cx="2351926" cy="1384995"/>
          </a:xfrm>
          <a:prstGeom prst="rect">
            <a:avLst/>
          </a:prstGeom>
          <a:noFill/>
        </p:spPr>
        <p:txBody>
          <a:bodyPr wrap="none" rtlCol="0">
            <a:spAutoFit/>
          </a:bodyPr>
          <a:lstStyle/>
          <a:p>
            <a:pPr algn="ctr"/>
            <a:r>
              <a:rPr lang="en-US" sz="2800" b="1" dirty="0"/>
              <a:t>Training set of</a:t>
            </a:r>
          </a:p>
          <a:p>
            <a:pPr algn="ctr"/>
            <a:r>
              <a:rPr lang="en-US" sz="2800" b="1" dirty="0"/>
              <a:t>housing prices</a:t>
            </a:r>
          </a:p>
          <a:p>
            <a:pPr algn="ctr"/>
            <a:endParaRPr lang="en-US" sz="2800" b="1" dirty="0"/>
          </a:p>
        </p:txBody>
      </p:sp>
      <p:sp>
        <p:nvSpPr>
          <p:cNvPr id="3" name="Date Placeholder 2"/>
          <p:cNvSpPr>
            <a:spLocks noGrp="1"/>
          </p:cNvSpPr>
          <p:nvPr>
            <p:ph type="dt" sz="half" idx="10"/>
          </p:nvPr>
        </p:nvSpPr>
        <p:spPr/>
        <p:txBody>
          <a:bodyPr/>
          <a:lstStyle/>
          <a:p>
            <a:fld id="{E6E87A84-938E-4AC6-B203-F93D37E64EE2}" type="datetime1">
              <a:rPr lang="en-US" smtClean="0">
                <a:solidFill>
                  <a:prstClr val="black">
                    <a:tint val="75000"/>
                  </a:prstClr>
                </a:solidFill>
              </a:rPr>
              <a:t>9/10/2025</a:t>
            </a:fld>
            <a:endParaRPr lang="en-US">
              <a:solidFill>
                <a:prstClr val="black">
                  <a:tint val="75000"/>
                </a:prstClr>
              </a:solidFill>
            </a:endParaRPr>
          </a:p>
        </p:txBody>
      </p:sp>
      <p:sp>
        <p:nvSpPr>
          <p:cNvPr id="7" name="Footer Placeholder 6"/>
          <p:cNvSpPr>
            <a:spLocks noGrp="1"/>
          </p:cNvSpPr>
          <p:nvPr>
            <p:ph type="ftr" sz="quarter" idx="11"/>
          </p:nvPr>
        </p:nvSpPr>
        <p:spPr/>
        <p:txBody>
          <a:bodyPr/>
          <a:lstStyle/>
          <a:p>
            <a:r>
              <a:rPr lang="en-US">
                <a:solidFill>
                  <a:prstClr val="black">
                    <a:tint val="75000"/>
                  </a:prstClr>
                </a:solidFill>
              </a:rPr>
              <a:t>Linear Regression</a:t>
            </a:r>
          </a:p>
        </p:txBody>
      </p:sp>
      <p:sp>
        <p:nvSpPr>
          <p:cNvPr id="8" name="Slide Number Placeholder 7"/>
          <p:cNvSpPr>
            <a:spLocks noGrp="1"/>
          </p:cNvSpPr>
          <p:nvPr>
            <p:ph type="sldNum" sz="quarter" idx="12"/>
          </p:nvPr>
        </p:nvSpPr>
        <p:spPr/>
        <p:txBody>
          <a:bodyPr/>
          <a:lstStyle/>
          <a:p>
            <a:fld id="{F043A558-56C3-499B-89A2-59E5853E6BB4}" type="slidenum">
              <a:rPr lang="en-US" smtClean="0">
                <a:solidFill>
                  <a:prstClr val="black">
                    <a:tint val="75000"/>
                  </a:prstClr>
                </a:solidFill>
              </a:rPr>
              <a:pPr/>
              <a:t>24</a:t>
            </a:fld>
            <a:endParaRPr lang="en-US">
              <a:solidFill>
                <a:prstClr val="black">
                  <a:tint val="75000"/>
                </a:prstClr>
              </a:solidFill>
            </a:endParaRPr>
          </a:p>
        </p:txBody>
      </p:sp>
    </p:spTree>
    <p:extLst>
      <p:ext uri="{BB962C8B-B14F-4D97-AF65-F5344CB8AC3E}">
        <p14:creationId xmlns:p14="http://schemas.microsoft.com/office/powerpoint/2010/main" val="3237172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4800600" y="438150"/>
            <a:ext cx="0" cy="41148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Rounded Rectangle 4"/>
          <p:cNvSpPr/>
          <p:nvPr/>
        </p:nvSpPr>
        <p:spPr>
          <a:xfrm>
            <a:off x="1048288" y="399486"/>
            <a:ext cx="2533112" cy="609600"/>
          </a:xfrm>
          <a:prstGeom prst="round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Training Set</a:t>
            </a:r>
          </a:p>
        </p:txBody>
      </p:sp>
      <p:sp>
        <p:nvSpPr>
          <p:cNvPr id="6" name="Rounded Rectangle 5"/>
          <p:cNvSpPr/>
          <p:nvPr/>
        </p:nvSpPr>
        <p:spPr>
          <a:xfrm>
            <a:off x="743488" y="1618686"/>
            <a:ext cx="3142712" cy="586556"/>
          </a:xfrm>
          <a:prstGeom prst="round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Learning Algorithm</a:t>
            </a:r>
          </a:p>
        </p:txBody>
      </p:sp>
      <p:sp>
        <p:nvSpPr>
          <p:cNvPr id="7" name="Rounded Rectangle 6"/>
          <p:cNvSpPr/>
          <p:nvPr/>
        </p:nvSpPr>
        <p:spPr>
          <a:xfrm>
            <a:off x="1933844" y="2837886"/>
            <a:ext cx="762000" cy="586556"/>
          </a:xfrm>
          <a:prstGeom prst="round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i="1" dirty="0">
                <a:solidFill>
                  <a:schemeClr val="tx1"/>
                </a:solidFill>
              </a:rPr>
              <a:t>h</a:t>
            </a:r>
          </a:p>
        </p:txBody>
      </p:sp>
      <p:sp>
        <p:nvSpPr>
          <p:cNvPr id="8" name="TextBox 7"/>
          <p:cNvSpPr txBox="1"/>
          <p:nvPr/>
        </p:nvSpPr>
        <p:spPr>
          <a:xfrm>
            <a:off x="0" y="2807553"/>
            <a:ext cx="1143000" cy="830997"/>
          </a:xfrm>
          <a:prstGeom prst="rect">
            <a:avLst/>
          </a:prstGeom>
          <a:noFill/>
        </p:spPr>
        <p:txBody>
          <a:bodyPr wrap="square" rtlCol="0">
            <a:spAutoFit/>
          </a:bodyPr>
          <a:lstStyle/>
          <a:p>
            <a:pPr algn="ctr"/>
            <a:r>
              <a:rPr lang="en-US" sz="2400" dirty="0"/>
              <a:t>Size of house</a:t>
            </a:r>
          </a:p>
        </p:txBody>
      </p:sp>
      <p:sp>
        <p:nvSpPr>
          <p:cNvPr id="9" name="TextBox 8"/>
          <p:cNvSpPr txBox="1"/>
          <p:nvPr/>
        </p:nvSpPr>
        <p:spPr>
          <a:xfrm>
            <a:off x="3352800" y="2807553"/>
            <a:ext cx="1447800" cy="830997"/>
          </a:xfrm>
          <a:prstGeom prst="rect">
            <a:avLst/>
          </a:prstGeom>
          <a:noFill/>
        </p:spPr>
        <p:txBody>
          <a:bodyPr wrap="square" rtlCol="0">
            <a:spAutoFit/>
          </a:bodyPr>
          <a:lstStyle/>
          <a:p>
            <a:pPr algn="ctr"/>
            <a:r>
              <a:rPr lang="en-US" sz="2400" dirty="0"/>
              <a:t>Estimated price</a:t>
            </a:r>
          </a:p>
        </p:txBody>
      </p:sp>
      <p:cxnSp>
        <p:nvCxnSpPr>
          <p:cNvPr id="12" name="Straight Arrow Connector 11"/>
          <p:cNvCxnSpPr>
            <a:stCxn id="5" idx="2"/>
            <a:endCxn id="6" idx="0"/>
          </p:cNvCxnSpPr>
          <p:nvPr/>
        </p:nvCxnSpPr>
        <p:spPr>
          <a:xfrm>
            <a:off x="2314844" y="1009086"/>
            <a:ext cx="0" cy="609600"/>
          </a:xfrm>
          <a:prstGeom prst="straightConnector1">
            <a:avLst/>
          </a:prstGeom>
          <a:ln w="57150">
            <a:solidFill>
              <a:schemeClr val="tx2">
                <a:lumMod val="50000"/>
              </a:schemeClr>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6" idx="2"/>
            <a:endCxn id="7" idx="0"/>
          </p:cNvCxnSpPr>
          <p:nvPr/>
        </p:nvCxnSpPr>
        <p:spPr>
          <a:xfrm>
            <a:off x="2314844" y="2205242"/>
            <a:ext cx="0" cy="632644"/>
          </a:xfrm>
          <a:prstGeom prst="straightConnector1">
            <a:avLst/>
          </a:prstGeom>
          <a:ln w="57150">
            <a:solidFill>
              <a:schemeClr val="tx2">
                <a:lumMod val="50000"/>
              </a:schemeClr>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7" idx="1"/>
          </p:cNvCxnSpPr>
          <p:nvPr/>
        </p:nvCxnSpPr>
        <p:spPr>
          <a:xfrm>
            <a:off x="1143000" y="3131164"/>
            <a:ext cx="790844" cy="0"/>
          </a:xfrm>
          <a:prstGeom prst="straightConnector1">
            <a:avLst/>
          </a:prstGeom>
          <a:ln w="57150">
            <a:solidFill>
              <a:schemeClr val="tx2">
                <a:lumMod val="50000"/>
              </a:schemeClr>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7" idx="3"/>
          </p:cNvCxnSpPr>
          <p:nvPr/>
        </p:nvCxnSpPr>
        <p:spPr>
          <a:xfrm>
            <a:off x="2695844" y="3131164"/>
            <a:ext cx="733156" cy="0"/>
          </a:xfrm>
          <a:prstGeom prst="straightConnector1">
            <a:avLst/>
          </a:prstGeom>
          <a:ln w="57150">
            <a:solidFill>
              <a:schemeClr val="tx2">
                <a:lumMod val="50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5257800" y="438150"/>
            <a:ext cx="3369833" cy="461665"/>
          </a:xfrm>
          <a:prstGeom prst="rect">
            <a:avLst/>
          </a:prstGeom>
          <a:noFill/>
        </p:spPr>
        <p:txBody>
          <a:bodyPr wrap="none" rtlCol="0">
            <a:spAutoFit/>
          </a:bodyPr>
          <a:lstStyle/>
          <a:p>
            <a:r>
              <a:rPr lang="en-US" sz="2400" b="1" dirty="0"/>
              <a:t>How do we represent </a:t>
            </a:r>
            <a:r>
              <a:rPr lang="en-US" sz="2400" b="1" i="1" dirty="0"/>
              <a:t>h</a:t>
            </a:r>
            <a:r>
              <a:rPr lang="en-US" sz="2400" b="1" dirty="0"/>
              <a:t> ?</a:t>
            </a:r>
          </a:p>
        </p:txBody>
      </p:sp>
      <p:sp>
        <p:nvSpPr>
          <p:cNvPr id="37" name="TextBox 36"/>
          <p:cNvSpPr txBox="1"/>
          <p:nvPr/>
        </p:nvSpPr>
        <p:spPr>
          <a:xfrm>
            <a:off x="4946147" y="3867150"/>
            <a:ext cx="3893053" cy="707886"/>
          </a:xfrm>
          <a:prstGeom prst="rect">
            <a:avLst/>
          </a:prstGeom>
          <a:noFill/>
        </p:spPr>
        <p:txBody>
          <a:bodyPr wrap="none" rtlCol="0">
            <a:spAutoFit/>
          </a:bodyPr>
          <a:lstStyle/>
          <a:p>
            <a:r>
              <a:rPr lang="en-US" sz="2000" dirty="0"/>
              <a:t>Linear regression with one variable.</a:t>
            </a:r>
          </a:p>
          <a:p>
            <a:r>
              <a:rPr lang="en-US" sz="2000" dirty="0"/>
              <a:t>Univariate linear regression.</a:t>
            </a:r>
          </a:p>
        </p:txBody>
      </p:sp>
      <p:sp>
        <p:nvSpPr>
          <p:cNvPr id="2" name="Date Placeholder 1"/>
          <p:cNvSpPr>
            <a:spLocks noGrp="1"/>
          </p:cNvSpPr>
          <p:nvPr>
            <p:ph type="dt" sz="half" idx="10"/>
          </p:nvPr>
        </p:nvSpPr>
        <p:spPr/>
        <p:txBody>
          <a:bodyPr/>
          <a:lstStyle/>
          <a:p>
            <a:fld id="{5D33890E-2BF9-46BA-8C3E-1462320B1AD8}" type="datetime1">
              <a:rPr lang="en-US" smtClean="0">
                <a:solidFill>
                  <a:prstClr val="black">
                    <a:tint val="75000"/>
                  </a:prstClr>
                </a:solidFill>
              </a:rPr>
              <a:t>9/10/2025</a:t>
            </a:fld>
            <a:endParaRPr lang="en-US">
              <a:solidFill>
                <a:prstClr val="black">
                  <a:tint val="75000"/>
                </a:prstClr>
              </a:solidFill>
            </a:endParaRPr>
          </a:p>
        </p:txBody>
      </p:sp>
      <p:sp>
        <p:nvSpPr>
          <p:cNvPr id="10" name="Footer Placeholder 9"/>
          <p:cNvSpPr>
            <a:spLocks noGrp="1"/>
          </p:cNvSpPr>
          <p:nvPr>
            <p:ph type="ftr" sz="quarter" idx="11"/>
          </p:nvPr>
        </p:nvSpPr>
        <p:spPr/>
        <p:txBody>
          <a:bodyPr/>
          <a:lstStyle/>
          <a:p>
            <a:r>
              <a:rPr lang="en-US">
                <a:solidFill>
                  <a:prstClr val="black">
                    <a:tint val="75000"/>
                  </a:prstClr>
                </a:solidFill>
              </a:rPr>
              <a:t>Linear Regression</a:t>
            </a:r>
          </a:p>
        </p:txBody>
      </p:sp>
      <p:sp>
        <p:nvSpPr>
          <p:cNvPr id="11" name="Slide Number Placeholder 10"/>
          <p:cNvSpPr>
            <a:spLocks noGrp="1"/>
          </p:cNvSpPr>
          <p:nvPr>
            <p:ph type="sldNum" sz="quarter" idx="12"/>
          </p:nvPr>
        </p:nvSpPr>
        <p:spPr/>
        <p:txBody>
          <a:bodyPr/>
          <a:lstStyle/>
          <a:p>
            <a:fld id="{F043A558-56C3-499B-89A2-59E5853E6BB4}" type="slidenum">
              <a:rPr lang="en-US" smtClean="0">
                <a:solidFill>
                  <a:prstClr val="black">
                    <a:tint val="75000"/>
                  </a:prstClr>
                </a:solidFill>
              </a:rPr>
              <a:pPr/>
              <a:t>25</a:t>
            </a:fld>
            <a:endParaRPr lang="en-US">
              <a:solidFill>
                <a:prstClr val="black">
                  <a:tint val="75000"/>
                </a:prstClr>
              </a:solidFill>
            </a:endParaRPr>
          </a:p>
        </p:txBody>
      </p:sp>
      <p:sp>
        <p:nvSpPr>
          <p:cNvPr id="14" name="TextBox 13"/>
          <p:cNvSpPr txBox="1"/>
          <p:nvPr/>
        </p:nvSpPr>
        <p:spPr>
          <a:xfrm>
            <a:off x="1659933" y="3638550"/>
            <a:ext cx="1309822" cy="369332"/>
          </a:xfrm>
          <a:prstGeom prst="rect">
            <a:avLst/>
          </a:prstGeom>
          <a:noFill/>
        </p:spPr>
        <p:txBody>
          <a:bodyPr wrap="square" rtlCol="0">
            <a:spAutoFit/>
          </a:bodyPr>
          <a:lstStyle/>
          <a:p>
            <a:r>
              <a:rPr lang="en-US" dirty="0"/>
              <a:t>hypothesis</a:t>
            </a:r>
          </a:p>
        </p:txBody>
      </p:sp>
      <p:sp>
        <p:nvSpPr>
          <p:cNvPr id="17" name="TextBox 16"/>
          <p:cNvSpPr txBox="1"/>
          <p:nvPr/>
        </p:nvSpPr>
        <p:spPr>
          <a:xfrm>
            <a:off x="743488" y="4221093"/>
            <a:ext cx="3333212" cy="369332"/>
          </a:xfrm>
          <a:prstGeom prst="rect">
            <a:avLst/>
          </a:prstGeom>
          <a:noFill/>
        </p:spPr>
        <p:txBody>
          <a:bodyPr wrap="square" rtlCol="0">
            <a:spAutoFit/>
          </a:bodyPr>
          <a:lstStyle/>
          <a:p>
            <a:pPr algn="ctr"/>
            <a:r>
              <a:rPr lang="en-US" dirty="0"/>
              <a:t>h maps from x’s to y’s</a:t>
            </a:r>
          </a:p>
        </p:txBody>
      </p:sp>
      <p:cxnSp>
        <p:nvCxnSpPr>
          <p:cNvPr id="20" name="Straight Connector 19"/>
          <p:cNvCxnSpPr/>
          <p:nvPr/>
        </p:nvCxnSpPr>
        <p:spPr>
          <a:xfrm>
            <a:off x="5410200" y="1428750"/>
            <a:ext cx="0" cy="2209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5410200" y="3562350"/>
            <a:ext cx="2895600" cy="76200"/>
          </a:xfrm>
          <a:prstGeom prst="line">
            <a:avLst/>
          </a:prstGeom>
        </p:spPr>
        <p:style>
          <a:lnRef idx="1">
            <a:schemeClr val="accent1"/>
          </a:lnRef>
          <a:fillRef idx="0">
            <a:schemeClr val="accent1"/>
          </a:fillRef>
          <a:effectRef idx="0">
            <a:schemeClr val="accent1"/>
          </a:effectRef>
          <a:fontRef idx="minor">
            <a:schemeClr val="tx1"/>
          </a:fontRef>
        </p:style>
      </p:cxnSp>
      <p:pic>
        <p:nvPicPr>
          <p:cNvPr id="25" name="Picture 24"/>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5169459" y="958834"/>
            <a:ext cx="3377081" cy="300086"/>
          </a:xfrm>
          <a:prstGeom prst="rect">
            <a:avLst/>
          </a:prstGeom>
        </p:spPr>
      </p:pic>
      <p:sp>
        <p:nvSpPr>
          <p:cNvPr id="23" name="TextBox 22"/>
          <p:cNvSpPr txBox="1"/>
          <p:nvPr/>
        </p:nvSpPr>
        <p:spPr>
          <a:xfrm>
            <a:off x="6629399" y="3638550"/>
            <a:ext cx="313317" cy="369332"/>
          </a:xfrm>
          <a:prstGeom prst="rect">
            <a:avLst/>
          </a:prstGeom>
          <a:noFill/>
        </p:spPr>
        <p:txBody>
          <a:bodyPr wrap="square" rtlCol="0">
            <a:spAutoFit/>
          </a:bodyPr>
          <a:lstStyle/>
          <a:p>
            <a:r>
              <a:rPr lang="en-US" dirty="0"/>
              <a:t>x</a:t>
            </a:r>
          </a:p>
        </p:txBody>
      </p:sp>
      <p:sp>
        <p:nvSpPr>
          <p:cNvPr id="27" name="TextBox 26"/>
          <p:cNvSpPr txBox="1"/>
          <p:nvPr/>
        </p:nvSpPr>
        <p:spPr>
          <a:xfrm>
            <a:off x="4927948" y="2310884"/>
            <a:ext cx="457199" cy="369332"/>
          </a:xfrm>
          <a:prstGeom prst="rect">
            <a:avLst/>
          </a:prstGeom>
          <a:noFill/>
        </p:spPr>
        <p:txBody>
          <a:bodyPr wrap="square" rtlCol="0">
            <a:spAutoFit/>
          </a:bodyPr>
          <a:lstStyle/>
          <a:p>
            <a:pPr algn="ctr"/>
            <a:r>
              <a:rPr lang="en-US" dirty="0"/>
              <a:t>y</a:t>
            </a:r>
          </a:p>
        </p:txBody>
      </p:sp>
      <p:cxnSp>
        <p:nvCxnSpPr>
          <p:cNvPr id="26" name="Straight Connector 25"/>
          <p:cNvCxnSpPr/>
          <p:nvPr/>
        </p:nvCxnSpPr>
        <p:spPr>
          <a:xfrm flipV="1">
            <a:off x="5385147" y="2205242"/>
            <a:ext cx="2920653" cy="925922"/>
          </a:xfrm>
          <a:prstGeom prst="line">
            <a:avLst/>
          </a:prstGeom>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7088292" y="2265381"/>
            <a:ext cx="313317" cy="369332"/>
          </a:xfrm>
          <a:prstGeom prst="rect">
            <a:avLst/>
          </a:prstGeom>
          <a:noFill/>
        </p:spPr>
        <p:txBody>
          <a:bodyPr wrap="square" rtlCol="0">
            <a:spAutoFit/>
          </a:bodyPr>
          <a:lstStyle/>
          <a:p>
            <a:r>
              <a:rPr lang="en-US" dirty="0"/>
              <a:t>x</a:t>
            </a:r>
          </a:p>
        </p:txBody>
      </p:sp>
      <p:sp>
        <p:nvSpPr>
          <p:cNvPr id="31" name="TextBox 30"/>
          <p:cNvSpPr txBox="1"/>
          <p:nvPr/>
        </p:nvSpPr>
        <p:spPr>
          <a:xfrm>
            <a:off x="7095116" y="2542738"/>
            <a:ext cx="313317" cy="369332"/>
          </a:xfrm>
          <a:prstGeom prst="rect">
            <a:avLst/>
          </a:prstGeom>
          <a:noFill/>
        </p:spPr>
        <p:txBody>
          <a:bodyPr wrap="square" rtlCol="0">
            <a:spAutoFit/>
          </a:bodyPr>
          <a:lstStyle/>
          <a:p>
            <a:r>
              <a:rPr lang="en-US" dirty="0"/>
              <a:t>x</a:t>
            </a:r>
          </a:p>
        </p:txBody>
      </p:sp>
      <p:sp>
        <p:nvSpPr>
          <p:cNvPr id="32" name="TextBox 31"/>
          <p:cNvSpPr txBox="1"/>
          <p:nvPr/>
        </p:nvSpPr>
        <p:spPr>
          <a:xfrm>
            <a:off x="6579356" y="2348984"/>
            <a:ext cx="313317" cy="369332"/>
          </a:xfrm>
          <a:prstGeom prst="rect">
            <a:avLst/>
          </a:prstGeom>
          <a:noFill/>
        </p:spPr>
        <p:txBody>
          <a:bodyPr wrap="square" rtlCol="0">
            <a:spAutoFit/>
          </a:bodyPr>
          <a:lstStyle/>
          <a:p>
            <a:r>
              <a:rPr lang="en-US" dirty="0"/>
              <a:t>x</a:t>
            </a:r>
          </a:p>
        </p:txBody>
      </p:sp>
      <p:sp>
        <p:nvSpPr>
          <p:cNvPr id="33" name="TextBox 32"/>
          <p:cNvSpPr txBox="1"/>
          <p:nvPr/>
        </p:nvSpPr>
        <p:spPr>
          <a:xfrm>
            <a:off x="6845473" y="2438221"/>
            <a:ext cx="313317" cy="369332"/>
          </a:xfrm>
          <a:prstGeom prst="rect">
            <a:avLst/>
          </a:prstGeom>
          <a:noFill/>
        </p:spPr>
        <p:txBody>
          <a:bodyPr wrap="square" rtlCol="0">
            <a:spAutoFit/>
          </a:bodyPr>
          <a:lstStyle/>
          <a:p>
            <a:r>
              <a:rPr lang="en-US" dirty="0"/>
              <a:t>x</a:t>
            </a:r>
          </a:p>
        </p:txBody>
      </p:sp>
      <p:sp>
        <p:nvSpPr>
          <p:cNvPr id="34" name="TextBox 33"/>
          <p:cNvSpPr txBox="1"/>
          <p:nvPr/>
        </p:nvSpPr>
        <p:spPr>
          <a:xfrm>
            <a:off x="7413827" y="2373563"/>
            <a:ext cx="313317" cy="369332"/>
          </a:xfrm>
          <a:prstGeom prst="rect">
            <a:avLst/>
          </a:prstGeom>
          <a:noFill/>
        </p:spPr>
        <p:txBody>
          <a:bodyPr wrap="square" rtlCol="0">
            <a:spAutoFit/>
          </a:bodyPr>
          <a:lstStyle/>
          <a:p>
            <a:r>
              <a:rPr lang="en-US" dirty="0"/>
              <a:t>x</a:t>
            </a:r>
          </a:p>
        </p:txBody>
      </p:sp>
      <p:sp>
        <p:nvSpPr>
          <p:cNvPr id="35" name="TextBox 34"/>
          <p:cNvSpPr txBox="1"/>
          <p:nvPr/>
        </p:nvSpPr>
        <p:spPr>
          <a:xfrm>
            <a:off x="7571039" y="2207085"/>
            <a:ext cx="313317" cy="369332"/>
          </a:xfrm>
          <a:prstGeom prst="rect">
            <a:avLst/>
          </a:prstGeom>
          <a:noFill/>
        </p:spPr>
        <p:txBody>
          <a:bodyPr wrap="square" rtlCol="0">
            <a:spAutoFit/>
          </a:bodyPr>
          <a:lstStyle/>
          <a:p>
            <a:r>
              <a:rPr lang="en-US" dirty="0"/>
              <a:t>x</a:t>
            </a:r>
          </a:p>
        </p:txBody>
      </p:sp>
      <p:sp>
        <p:nvSpPr>
          <p:cNvPr id="38" name="TextBox 37"/>
          <p:cNvSpPr txBox="1"/>
          <p:nvPr/>
        </p:nvSpPr>
        <p:spPr>
          <a:xfrm>
            <a:off x="6330283" y="2761832"/>
            <a:ext cx="313317" cy="369332"/>
          </a:xfrm>
          <a:prstGeom prst="rect">
            <a:avLst/>
          </a:prstGeom>
          <a:noFill/>
        </p:spPr>
        <p:txBody>
          <a:bodyPr wrap="square" rtlCol="0">
            <a:spAutoFit/>
          </a:bodyPr>
          <a:lstStyle/>
          <a:p>
            <a:r>
              <a:rPr lang="en-US" dirty="0"/>
              <a:t>x</a:t>
            </a:r>
          </a:p>
        </p:txBody>
      </p:sp>
      <p:sp>
        <p:nvSpPr>
          <p:cNvPr id="39" name="TextBox 38"/>
          <p:cNvSpPr txBox="1"/>
          <p:nvPr/>
        </p:nvSpPr>
        <p:spPr>
          <a:xfrm>
            <a:off x="6398521" y="2521564"/>
            <a:ext cx="313317" cy="369332"/>
          </a:xfrm>
          <a:prstGeom prst="rect">
            <a:avLst/>
          </a:prstGeom>
          <a:noFill/>
        </p:spPr>
        <p:txBody>
          <a:bodyPr wrap="square" rtlCol="0">
            <a:spAutoFit/>
          </a:bodyPr>
          <a:lstStyle/>
          <a:p>
            <a:r>
              <a:rPr lang="en-US" dirty="0"/>
              <a:t>x</a:t>
            </a:r>
          </a:p>
        </p:txBody>
      </p:sp>
    </p:spTree>
    <p:extLst>
      <p:ext uri="{BB962C8B-B14F-4D97-AF65-F5344CB8AC3E}">
        <p14:creationId xmlns:p14="http://schemas.microsoft.com/office/powerpoint/2010/main" val="1492800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p:bldP spid="9" grpId="0"/>
      <p:bldP spid="36" grpId="0"/>
      <p:bldP spid="3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1066800" y="4196775"/>
            <a:ext cx="3766737" cy="584775"/>
          </a:xfrm>
          <a:prstGeom prst="rect">
            <a:avLst/>
          </a:prstGeom>
          <a:noFill/>
        </p:spPr>
        <p:txBody>
          <a:bodyPr wrap="none" rtlCol="0">
            <a:spAutoFit/>
          </a:bodyPr>
          <a:lstStyle/>
          <a:p>
            <a:r>
              <a:rPr lang="en-US" sz="3200" dirty="0"/>
              <a:t>How to choose     ‘s ?</a:t>
            </a:r>
          </a:p>
        </p:txBody>
      </p:sp>
      <p:sp>
        <p:nvSpPr>
          <p:cNvPr id="2" name="TextBox 1"/>
          <p:cNvSpPr txBox="1"/>
          <p:nvPr/>
        </p:nvSpPr>
        <p:spPr>
          <a:xfrm>
            <a:off x="381000" y="249019"/>
            <a:ext cx="2427203" cy="646331"/>
          </a:xfrm>
          <a:prstGeom prst="rect">
            <a:avLst/>
          </a:prstGeom>
          <a:noFill/>
        </p:spPr>
        <p:txBody>
          <a:bodyPr wrap="none" rtlCol="0">
            <a:spAutoFit/>
          </a:bodyPr>
          <a:lstStyle/>
          <a:p>
            <a:pPr algn="ctr"/>
            <a:r>
              <a:rPr lang="en-US" sz="3600" dirty="0"/>
              <a:t>Training Set</a:t>
            </a:r>
          </a:p>
        </p:txBody>
      </p:sp>
      <p:pic>
        <p:nvPicPr>
          <p:cNvPr id="8" name="Picture 7"/>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2795119" y="3028950"/>
            <a:ext cx="3377081" cy="469916"/>
          </a:xfrm>
          <a:prstGeom prst="rect">
            <a:avLst/>
          </a:prstGeom>
        </p:spPr>
      </p:pic>
      <p:pic>
        <p:nvPicPr>
          <p:cNvPr id="9" name="Picture 8"/>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1177290" y="3616264"/>
            <a:ext cx="315615" cy="403286"/>
          </a:xfrm>
          <a:prstGeom prst="rect">
            <a:avLst/>
          </a:prstGeom>
        </p:spPr>
      </p:pic>
      <p:sp>
        <p:nvSpPr>
          <p:cNvPr id="10" name="TextBox 9"/>
          <p:cNvSpPr txBox="1"/>
          <p:nvPr/>
        </p:nvSpPr>
        <p:spPr>
          <a:xfrm>
            <a:off x="457200" y="2943116"/>
            <a:ext cx="2143536" cy="584775"/>
          </a:xfrm>
          <a:prstGeom prst="rect">
            <a:avLst/>
          </a:prstGeom>
          <a:noFill/>
        </p:spPr>
        <p:txBody>
          <a:bodyPr wrap="none" rtlCol="0">
            <a:spAutoFit/>
          </a:bodyPr>
          <a:lstStyle/>
          <a:p>
            <a:r>
              <a:rPr lang="en-US" sz="3200" dirty="0"/>
              <a:t>Hypothesis:</a:t>
            </a:r>
          </a:p>
        </p:txBody>
      </p:sp>
      <p:sp>
        <p:nvSpPr>
          <p:cNvPr id="11" name="TextBox 10"/>
          <p:cNvSpPr txBox="1"/>
          <p:nvPr/>
        </p:nvSpPr>
        <p:spPr>
          <a:xfrm>
            <a:off x="1430446" y="3581387"/>
            <a:ext cx="3000950" cy="584775"/>
          </a:xfrm>
          <a:prstGeom prst="rect">
            <a:avLst/>
          </a:prstGeom>
          <a:noFill/>
        </p:spPr>
        <p:txBody>
          <a:bodyPr wrap="none" rtlCol="0">
            <a:spAutoFit/>
          </a:bodyPr>
          <a:lstStyle/>
          <a:p>
            <a:r>
              <a:rPr lang="en-US" sz="3200" dirty="0"/>
              <a:t>‘s:      Parameters</a:t>
            </a:r>
          </a:p>
        </p:txBody>
      </p:sp>
      <p:pic>
        <p:nvPicPr>
          <p:cNvPr id="13" name="Picture 12"/>
          <p:cNvPicPr>
            <a:picLocks noChangeAspect="1"/>
          </p:cNvPicPr>
          <p:nvPr>
            <p:custDataLst>
              <p:tags r:id="rId3"/>
            </p:custDataLst>
          </p:nvPr>
        </p:nvPicPr>
        <p:blipFill>
          <a:blip r:embed="rId6" cstate="print">
            <a:extLst>
              <a:ext uri="{28A0092B-C50C-407E-A947-70E740481C1C}">
                <a14:useLocalDpi xmlns:a14="http://schemas.microsoft.com/office/drawing/2010/main" val="0"/>
              </a:ext>
            </a:extLst>
          </a:blip>
          <a:stretch>
            <a:fillRect/>
          </a:stretch>
        </p:blipFill>
        <p:spPr>
          <a:xfrm>
            <a:off x="3787140" y="4302064"/>
            <a:ext cx="315615" cy="403286"/>
          </a:xfrm>
          <a:prstGeom prst="rect">
            <a:avLst/>
          </a:prstGeom>
        </p:spPr>
      </p:pic>
      <p:graphicFrame>
        <p:nvGraphicFramePr>
          <p:cNvPr id="14" name="Table 13"/>
          <p:cNvGraphicFramePr>
            <a:graphicFrameLocks noGrp="1"/>
          </p:cNvGraphicFramePr>
          <p:nvPr>
            <p:extLst>
              <p:ext uri="{D42A27DB-BD31-4B8C-83A1-F6EECF244321}">
                <p14:modId xmlns:p14="http://schemas.microsoft.com/office/powerpoint/2010/main" val="3137749860"/>
              </p:ext>
            </p:extLst>
          </p:nvPr>
        </p:nvGraphicFramePr>
        <p:xfrm>
          <a:off x="3276600" y="209550"/>
          <a:ext cx="5334000" cy="2324100"/>
        </p:xfrm>
        <a:graphic>
          <a:graphicData uri="http://schemas.openxmlformats.org/drawingml/2006/table">
            <a:tbl>
              <a:tblPr>
                <a:tableStyleId>{2D5ABB26-0587-4C30-8999-92F81FD0307C}</a:tableStyleId>
              </a:tblPr>
              <a:tblGrid>
                <a:gridCol w="2391103">
                  <a:extLst>
                    <a:ext uri="{9D8B030D-6E8A-4147-A177-3AD203B41FA5}">
                      <a16:colId xmlns:a16="http://schemas.microsoft.com/office/drawing/2014/main" val="20000"/>
                    </a:ext>
                  </a:extLst>
                </a:gridCol>
                <a:gridCol w="2942897">
                  <a:extLst>
                    <a:ext uri="{9D8B030D-6E8A-4147-A177-3AD203B41FA5}">
                      <a16:colId xmlns:a16="http://schemas.microsoft.com/office/drawing/2014/main" val="20001"/>
                    </a:ext>
                  </a:extLst>
                </a:gridCol>
              </a:tblGrid>
              <a:tr h="457200">
                <a:tc>
                  <a:txBody>
                    <a:bodyPr/>
                    <a:lstStyle/>
                    <a:p>
                      <a:pPr algn="ctr" fontAlgn="b"/>
                      <a:r>
                        <a:rPr lang="en-US" sz="2400" b="1" u="none" strike="noStrike" dirty="0">
                          <a:effectLst/>
                        </a:rPr>
                        <a:t>Size in</a:t>
                      </a:r>
                      <a:r>
                        <a:rPr lang="en-US" sz="2400" b="1" u="none" strike="noStrike" baseline="0" dirty="0">
                          <a:effectLst/>
                        </a:rPr>
                        <a:t> </a:t>
                      </a:r>
                      <a:r>
                        <a:rPr lang="en-US" sz="2400" b="1" u="none" strike="noStrike" dirty="0">
                          <a:effectLst/>
                        </a:rPr>
                        <a:t>feet</a:t>
                      </a:r>
                      <a:r>
                        <a:rPr lang="en-US" sz="2400" b="1" u="none" strike="noStrike" baseline="30000" dirty="0">
                          <a:effectLst/>
                        </a:rPr>
                        <a:t>2</a:t>
                      </a:r>
                      <a:r>
                        <a:rPr lang="en-US" sz="2400" b="1" u="none" strike="noStrike" dirty="0">
                          <a:effectLst/>
                        </a:rPr>
                        <a:t> (</a:t>
                      </a:r>
                      <a:r>
                        <a:rPr lang="en-US" sz="2400" b="0" u="none" strike="noStrike" dirty="0">
                          <a:effectLst/>
                        </a:rPr>
                        <a:t>x</a:t>
                      </a:r>
                      <a:r>
                        <a:rPr lang="en-US" sz="2400" b="1" u="none" strike="noStrike" dirty="0">
                          <a:effectLst/>
                        </a:rPr>
                        <a:t>)</a:t>
                      </a:r>
                      <a:endParaRPr lang="en-US" sz="2400" b="1" i="0" u="none" strike="noStrike" dirty="0">
                        <a:solidFill>
                          <a:srgbClr val="000000"/>
                        </a:solidFill>
                        <a:effectLst/>
                        <a:latin typeface="Calibri"/>
                      </a:endParaRPr>
                    </a:p>
                  </a:txBody>
                  <a:tcPr marL="7620" marR="7620" marT="762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b"/>
                      <a:r>
                        <a:rPr lang="en-US" sz="2400" b="1" u="none" strike="noStrike" dirty="0">
                          <a:effectLst/>
                        </a:rPr>
                        <a:t>Price </a:t>
                      </a:r>
                      <a:endParaRPr lang="en-US" sz="2400" b="1" i="0" u="none" strike="noStrike" dirty="0">
                        <a:solidFill>
                          <a:srgbClr val="000000"/>
                        </a:solidFill>
                        <a:effectLst/>
                        <a:latin typeface="Calibri"/>
                      </a:endParaRPr>
                    </a:p>
                  </a:txBody>
                  <a:tcPr marL="7620" marR="7620" marT="762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91362">
                <a:tc>
                  <a:txBody>
                    <a:bodyPr/>
                    <a:lstStyle/>
                    <a:p>
                      <a:pPr algn="ctr" fontAlgn="b"/>
                      <a:r>
                        <a:rPr lang="en-US" sz="2400" u="none" strike="noStrike" dirty="0">
                          <a:effectLst/>
                        </a:rPr>
                        <a:t>2104</a:t>
                      </a:r>
                      <a:endParaRPr lang="en-US" sz="2400" b="0" i="0" u="none" strike="noStrike" dirty="0">
                        <a:solidFill>
                          <a:srgbClr val="000000"/>
                        </a:solidFill>
                        <a:effectLst/>
                        <a:latin typeface="Calibri"/>
                      </a:endParaRPr>
                    </a:p>
                  </a:txBody>
                  <a:tcPr marL="7620" marR="7620" marT="7620"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fontAlgn="b"/>
                      <a:r>
                        <a:rPr lang="en-US" sz="2400" b="0" i="0" u="none" strike="noStrike" dirty="0">
                          <a:solidFill>
                            <a:schemeClr val="tx1"/>
                          </a:solidFill>
                          <a:effectLst/>
                          <a:latin typeface="+mn-lt"/>
                        </a:rPr>
                        <a:t>460</a:t>
                      </a:r>
                      <a:endParaRPr lang="en-US" sz="2400" b="0" i="0" u="none" strike="noStrike" dirty="0">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291362">
                <a:tc>
                  <a:txBody>
                    <a:bodyPr/>
                    <a:lstStyle/>
                    <a:p>
                      <a:pPr algn="ctr" fontAlgn="b"/>
                      <a:r>
                        <a:rPr lang="en-US" sz="2400" u="none" strike="noStrike" dirty="0">
                          <a:effectLst/>
                        </a:rPr>
                        <a:t>1416</a:t>
                      </a:r>
                      <a:endParaRPr lang="en-US" sz="2400" b="0" i="0" u="none" strike="noStrike" dirty="0">
                        <a:solidFill>
                          <a:srgbClr val="000000"/>
                        </a:solidFill>
                        <a:effectLst/>
                        <a:latin typeface="Calibri"/>
                      </a:endParaRPr>
                    </a:p>
                  </a:txBody>
                  <a:tcPr marL="7620" marR="7620" marT="7620" marB="0" anchor="b">
                    <a:lnR w="12700" cap="flat" cmpd="sng" algn="ctr">
                      <a:solidFill>
                        <a:schemeClr val="tx1"/>
                      </a:solidFill>
                      <a:prstDash val="solid"/>
                      <a:round/>
                      <a:headEnd type="none" w="med" len="med"/>
                      <a:tailEnd type="none" w="med" len="med"/>
                    </a:lnR>
                  </a:tcPr>
                </a:tc>
                <a:tc>
                  <a:txBody>
                    <a:bodyPr/>
                    <a:lstStyle/>
                    <a:p>
                      <a:pPr algn="ctr" fontAlgn="b"/>
                      <a:r>
                        <a:rPr lang="en-US" sz="2400" u="none" strike="noStrike" dirty="0">
                          <a:effectLst/>
                        </a:rPr>
                        <a:t>232</a:t>
                      </a:r>
                      <a:endParaRPr lang="en-US" sz="2400" b="0" i="0" u="none" strike="noStrike" dirty="0">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291362">
                <a:tc>
                  <a:txBody>
                    <a:bodyPr/>
                    <a:lstStyle/>
                    <a:p>
                      <a:pPr algn="ctr" fontAlgn="b"/>
                      <a:r>
                        <a:rPr lang="en-US" sz="2400" u="none" strike="noStrike" dirty="0">
                          <a:effectLst/>
                        </a:rPr>
                        <a:t>1534</a:t>
                      </a:r>
                      <a:endParaRPr lang="en-US" sz="2400" b="0" i="0" u="none" strike="noStrike" dirty="0">
                        <a:solidFill>
                          <a:srgbClr val="000000"/>
                        </a:solidFill>
                        <a:effectLst/>
                        <a:latin typeface="Calibri"/>
                      </a:endParaRPr>
                    </a:p>
                  </a:txBody>
                  <a:tcPr marL="7620" marR="7620" marT="7620" marB="0" anchor="b">
                    <a:lnR w="12700" cap="flat" cmpd="sng" algn="ctr">
                      <a:solidFill>
                        <a:schemeClr val="tx1"/>
                      </a:solidFill>
                      <a:prstDash val="solid"/>
                      <a:round/>
                      <a:headEnd type="none" w="med" len="med"/>
                      <a:tailEnd type="none" w="med" len="med"/>
                    </a:lnR>
                  </a:tcPr>
                </a:tc>
                <a:tc>
                  <a:txBody>
                    <a:bodyPr/>
                    <a:lstStyle/>
                    <a:p>
                      <a:pPr algn="ctr" fontAlgn="b"/>
                      <a:r>
                        <a:rPr lang="en-US" sz="2400" u="none" strike="noStrike" dirty="0">
                          <a:effectLst/>
                        </a:rPr>
                        <a:t>315</a:t>
                      </a:r>
                      <a:endParaRPr lang="en-US" sz="2400" b="0" i="0" u="none" strike="noStrike" dirty="0">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291362">
                <a:tc>
                  <a:txBody>
                    <a:bodyPr/>
                    <a:lstStyle/>
                    <a:p>
                      <a:pPr algn="ctr" fontAlgn="b"/>
                      <a:r>
                        <a:rPr lang="en-US" sz="2400" u="none" strike="noStrike" dirty="0">
                          <a:effectLst/>
                        </a:rPr>
                        <a:t>852</a:t>
                      </a:r>
                      <a:endParaRPr lang="en-US" sz="2400" b="0" i="0" u="none" strike="noStrike" dirty="0">
                        <a:solidFill>
                          <a:srgbClr val="000000"/>
                        </a:solidFill>
                        <a:effectLst/>
                        <a:latin typeface="Calibri"/>
                      </a:endParaRPr>
                    </a:p>
                  </a:txBody>
                  <a:tcPr marL="7620" marR="7620" marT="7620" marB="0" anchor="b">
                    <a:lnR w="12700" cap="flat" cmpd="sng" algn="ctr">
                      <a:solidFill>
                        <a:schemeClr val="tx1"/>
                      </a:solidFill>
                      <a:prstDash val="solid"/>
                      <a:round/>
                      <a:headEnd type="none" w="med" len="med"/>
                      <a:tailEnd type="none" w="med" len="med"/>
                    </a:lnR>
                  </a:tcPr>
                </a:tc>
                <a:tc>
                  <a:txBody>
                    <a:bodyPr/>
                    <a:lstStyle/>
                    <a:p>
                      <a:pPr algn="ctr" fontAlgn="b"/>
                      <a:r>
                        <a:rPr lang="en-US" sz="2400" u="none" strike="noStrike" dirty="0">
                          <a:effectLst/>
                        </a:rPr>
                        <a:t>178</a:t>
                      </a:r>
                      <a:endParaRPr lang="en-US" sz="2400" b="0" i="0" u="none" strike="noStrike" dirty="0">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r h="291362">
                <a:tc>
                  <a:txBody>
                    <a:bodyPr/>
                    <a:lstStyle/>
                    <a:p>
                      <a:pPr algn="ctr" fontAlgn="b"/>
                      <a:r>
                        <a:rPr lang="en-US" sz="2400" u="none" strike="noStrike" dirty="0">
                          <a:effectLst/>
                        </a:rPr>
                        <a:t>…</a:t>
                      </a:r>
                      <a:endParaRPr lang="en-US" sz="2400" b="0" i="0" u="none" strike="noStrike" dirty="0">
                        <a:solidFill>
                          <a:srgbClr val="000000"/>
                        </a:solidFill>
                        <a:effectLst/>
                        <a:latin typeface="Calibri"/>
                      </a:endParaRPr>
                    </a:p>
                  </a:txBody>
                  <a:tcPr marL="7620" marR="7620" marT="7620" marB="0" anchor="b">
                    <a:lnR w="12700" cap="flat" cmpd="sng" algn="ctr">
                      <a:solidFill>
                        <a:schemeClr val="tx1"/>
                      </a:solidFill>
                      <a:prstDash val="solid"/>
                      <a:round/>
                      <a:headEnd type="none" w="med" len="med"/>
                      <a:tailEnd type="none" w="med" len="med"/>
                    </a:lnR>
                  </a:tcPr>
                </a:tc>
                <a:tc>
                  <a:txBody>
                    <a:bodyPr/>
                    <a:lstStyle/>
                    <a:p>
                      <a:pPr algn="ctr" fontAlgn="b"/>
                      <a:r>
                        <a:rPr lang="en-US" sz="2400" u="none" strike="noStrike" dirty="0">
                          <a:effectLst/>
                        </a:rPr>
                        <a:t>…</a:t>
                      </a:r>
                      <a:endParaRPr lang="en-US" sz="2400" b="0" i="0" u="none" strike="noStrike" dirty="0">
                        <a:solidFill>
                          <a:srgbClr val="000000"/>
                        </a:solidFill>
                        <a:effectLst/>
                        <a:latin typeface="Calibri"/>
                      </a:endParaRPr>
                    </a:p>
                  </a:txBody>
                  <a:tcPr marL="7620" marR="7620" marT="7620" marB="0"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5"/>
                  </a:ext>
                </a:extLst>
              </a:tr>
            </a:tbl>
          </a:graphicData>
        </a:graphic>
      </p:graphicFrame>
      <p:sp>
        <p:nvSpPr>
          <p:cNvPr id="4" name="Date Placeholder 3"/>
          <p:cNvSpPr>
            <a:spLocks noGrp="1"/>
          </p:cNvSpPr>
          <p:nvPr>
            <p:ph type="dt" sz="half" idx="10"/>
          </p:nvPr>
        </p:nvSpPr>
        <p:spPr/>
        <p:txBody>
          <a:bodyPr/>
          <a:lstStyle/>
          <a:p>
            <a:fld id="{4A7C535F-F21C-4818-A6F2-8C8AE06670FE}" type="datetime1">
              <a:rPr lang="en-US" smtClean="0">
                <a:solidFill>
                  <a:prstClr val="black">
                    <a:tint val="75000"/>
                  </a:prstClr>
                </a:solidFill>
              </a:rPr>
              <a:t>9/10/2025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Linear Regression</a:t>
            </a: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26</a:t>
            </a:fld>
            <a:endParaRPr lang="en-US">
              <a:solidFill>
                <a:prstClr val="black">
                  <a:tint val="75000"/>
                </a:prstClr>
              </a:solidFill>
            </a:endParaRPr>
          </a:p>
        </p:txBody>
      </p:sp>
    </p:spTree>
    <p:extLst>
      <p:ext uri="{BB962C8B-B14F-4D97-AF65-F5344CB8AC3E}">
        <p14:creationId xmlns:p14="http://schemas.microsoft.com/office/powerpoint/2010/main" val="526267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609600" y="512826"/>
            <a:ext cx="2201418" cy="306324"/>
          </a:xfrm>
          <a:prstGeom prst="rect">
            <a:avLst/>
          </a:prstGeom>
        </p:spPr>
      </p:pic>
      <p:graphicFrame>
        <p:nvGraphicFramePr>
          <p:cNvPr id="7" name="Chart 6"/>
          <p:cNvGraphicFramePr>
            <a:graphicFrameLocks/>
          </p:cNvGraphicFramePr>
          <p:nvPr>
            <p:extLst>
              <p:ext uri="{D42A27DB-BD31-4B8C-83A1-F6EECF244321}">
                <p14:modId xmlns:p14="http://schemas.microsoft.com/office/powerpoint/2010/main" val="1779726303"/>
              </p:ext>
            </p:extLst>
          </p:nvPr>
        </p:nvGraphicFramePr>
        <p:xfrm>
          <a:off x="215306" y="1056513"/>
          <a:ext cx="2832694" cy="2400300"/>
        </p:xfrm>
        <a:graphic>
          <a:graphicData uri="http://schemas.openxmlformats.org/drawingml/2006/chart">
            <c:chart xmlns:c="http://schemas.openxmlformats.org/drawingml/2006/chart" xmlns:r="http://schemas.openxmlformats.org/officeDocument/2006/relationships" r:id="rId7"/>
          </a:graphicData>
        </a:graphic>
      </p:graphicFrame>
      <p:pic>
        <p:nvPicPr>
          <p:cNvPr id="14" name="Picture 13"/>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1295400" y="3545586"/>
            <a:ext cx="1044702" cy="626364"/>
          </a:xfrm>
          <a:prstGeom prst="rect">
            <a:avLst/>
          </a:prstGeom>
        </p:spPr>
      </p:pic>
      <p:pic>
        <p:nvPicPr>
          <p:cNvPr id="17" name="Picture 16"/>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4267200" y="3545586"/>
            <a:ext cx="1044702" cy="626364"/>
          </a:xfrm>
          <a:prstGeom prst="rect">
            <a:avLst/>
          </a:prstGeom>
        </p:spPr>
      </p:pic>
      <p:pic>
        <p:nvPicPr>
          <p:cNvPr id="18" name="Picture 17"/>
          <p:cNvPicPr>
            <a:picLocks noChangeAspect="1"/>
          </p:cNvPicPr>
          <p:nvPr>
            <p:custDataLst>
              <p:tags r:id="rId4"/>
            </p:custDataLst>
          </p:nvPr>
        </p:nvPicPr>
        <p:blipFill>
          <a:blip r:embed="rId10" cstate="print">
            <a:extLst>
              <a:ext uri="{28A0092B-C50C-407E-A947-70E740481C1C}">
                <a14:useLocalDpi xmlns:a14="http://schemas.microsoft.com/office/drawing/2010/main" val="0"/>
              </a:ext>
            </a:extLst>
          </a:blip>
          <a:stretch>
            <a:fillRect/>
          </a:stretch>
        </p:blipFill>
        <p:spPr>
          <a:xfrm>
            <a:off x="7162800" y="3545586"/>
            <a:ext cx="1044702" cy="626364"/>
          </a:xfrm>
          <a:prstGeom prst="rect">
            <a:avLst/>
          </a:prstGeom>
        </p:spPr>
      </p:pic>
      <p:graphicFrame>
        <p:nvGraphicFramePr>
          <p:cNvPr id="10" name="Chart 9"/>
          <p:cNvGraphicFramePr>
            <a:graphicFrameLocks/>
          </p:cNvGraphicFramePr>
          <p:nvPr>
            <p:extLst>
              <p:ext uri="{D42A27DB-BD31-4B8C-83A1-F6EECF244321}">
                <p14:modId xmlns:p14="http://schemas.microsoft.com/office/powerpoint/2010/main" val="531280064"/>
              </p:ext>
            </p:extLst>
          </p:nvPr>
        </p:nvGraphicFramePr>
        <p:xfrm>
          <a:off x="3242055" y="1056513"/>
          <a:ext cx="2832694" cy="2400300"/>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11" name="Chart 10"/>
          <p:cNvGraphicFramePr>
            <a:graphicFrameLocks/>
          </p:cNvGraphicFramePr>
          <p:nvPr>
            <p:extLst>
              <p:ext uri="{D42A27DB-BD31-4B8C-83A1-F6EECF244321}">
                <p14:modId xmlns:p14="http://schemas.microsoft.com/office/powerpoint/2010/main" val="2299571369"/>
              </p:ext>
            </p:extLst>
          </p:nvPr>
        </p:nvGraphicFramePr>
        <p:xfrm>
          <a:off x="6268804" y="1056513"/>
          <a:ext cx="2832694" cy="2400300"/>
        </p:xfrm>
        <a:graphic>
          <a:graphicData uri="http://schemas.openxmlformats.org/drawingml/2006/chart">
            <c:chart xmlns:c="http://schemas.openxmlformats.org/drawingml/2006/chart" xmlns:r="http://schemas.openxmlformats.org/officeDocument/2006/relationships" r:id="rId12"/>
          </a:graphicData>
        </a:graphic>
      </p:graphicFrame>
      <p:sp>
        <p:nvSpPr>
          <p:cNvPr id="4" name="Date Placeholder 3"/>
          <p:cNvSpPr>
            <a:spLocks noGrp="1"/>
          </p:cNvSpPr>
          <p:nvPr>
            <p:ph type="dt" sz="half" idx="10"/>
          </p:nvPr>
        </p:nvSpPr>
        <p:spPr/>
        <p:txBody>
          <a:bodyPr/>
          <a:lstStyle/>
          <a:p>
            <a:fld id="{25ACC2CD-5C46-47D5-A92A-1F70265C9188}" type="datetime1">
              <a:rPr lang="en-US" smtClean="0">
                <a:solidFill>
                  <a:prstClr val="black">
                    <a:tint val="75000"/>
                  </a:prstClr>
                </a:solidFill>
              </a:rPr>
              <a:t>9/10/2025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Linear Regression</a:t>
            </a: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27</a:t>
            </a:fld>
            <a:endParaRPr lang="en-US">
              <a:solidFill>
                <a:prstClr val="black">
                  <a:tint val="75000"/>
                </a:prstClr>
              </a:solidFill>
            </a:endParaRPr>
          </a:p>
        </p:txBody>
      </p:sp>
      <p:cxnSp>
        <p:nvCxnSpPr>
          <p:cNvPr id="9" name="Straight Connector 8"/>
          <p:cNvCxnSpPr/>
          <p:nvPr/>
        </p:nvCxnSpPr>
        <p:spPr>
          <a:xfrm>
            <a:off x="609600" y="2038350"/>
            <a:ext cx="220141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733800" y="287655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V="1">
            <a:off x="3733800" y="1657350"/>
            <a:ext cx="1905000" cy="1219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6705600" y="226695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V="1">
            <a:off x="6705600" y="1428750"/>
            <a:ext cx="1752600" cy="9144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10848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flipV="1">
            <a:off x="858666" y="433685"/>
            <a:ext cx="0" cy="2133601"/>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630066" y="2338685"/>
            <a:ext cx="2971800" cy="0"/>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534538" y="1119485"/>
            <a:ext cx="324128" cy="461665"/>
          </a:xfrm>
          <a:prstGeom prst="rect">
            <a:avLst/>
          </a:prstGeom>
          <a:noFill/>
        </p:spPr>
        <p:txBody>
          <a:bodyPr wrap="none" rtlCol="0">
            <a:spAutoFit/>
          </a:bodyPr>
          <a:lstStyle/>
          <a:p>
            <a:r>
              <a:rPr lang="en-US" sz="2400" dirty="0"/>
              <a:t>y</a:t>
            </a:r>
          </a:p>
        </p:txBody>
      </p:sp>
      <p:sp>
        <p:nvSpPr>
          <p:cNvPr id="9" name="TextBox 8"/>
          <p:cNvSpPr txBox="1"/>
          <p:nvPr/>
        </p:nvSpPr>
        <p:spPr>
          <a:xfrm>
            <a:off x="2001666" y="2262485"/>
            <a:ext cx="317716" cy="461665"/>
          </a:xfrm>
          <a:prstGeom prst="rect">
            <a:avLst/>
          </a:prstGeom>
          <a:noFill/>
        </p:spPr>
        <p:txBody>
          <a:bodyPr wrap="none" rtlCol="0">
            <a:spAutoFit/>
          </a:bodyPr>
          <a:lstStyle/>
          <a:p>
            <a:r>
              <a:rPr lang="en-US" sz="2400" dirty="0"/>
              <a:t>x</a:t>
            </a:r>
          </a:p>
        </p:txBody>
      </p:sp>
      <p:grpSp>
        <p:nvGrpSpPr>
          <p:cNvPr id="43" name="Group 42"/>
          <p:cNvGrpSpPr/>
          <p:nvPr/>
        </p:nvGrpSpPr>
        <p:grpSpPr>
          <a:xfrm>
            <a:off x="1011066" y="984142"/>
            <a:ext cx="1811743" cy="1108886"/>
            <a:chOff x="1981200" y="760007"/>
            <a:chExt cx="1811743" cy="1108886"/>
          </a:xfrm>
        </p:grpSpPr>
        <p:grpSp>
          <p:nvGrpSpPr>
            <p:cNvPr id="25" name="Group 24"/>
            <p:cNvGrpSpPr/>
            <p:nvPr/>
          </p:nvGrpSpPr>
          <p:grpSpPr>
            <a:xfrm flipV="1">
              <a:off x="1981200" y="1733550"/>
              <a:ext cx="135343" cy="135343"/>
              <a:chOff x="5370863" y="1729085"/>
              <a:chExt cx="914400" cy="914400"/>
            </a:xfrm>
          </p:grpSpPr>
          <p:cxnSp>
            <p:nvCxnSpPr>
              <p:cNvPr id="26" name="Straight Connector 25"/>
              <p:cNvCxnSpPr/>
              <p:nvPr/>
            </p:nvCxnSpPr>
            <p:spPr>
              <a:xfrm>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flipV="1">
              <a:off x="2438400" y="1675773"/>
              <a:ext cx="135343" cy="135343"/>
              <a:chOff x="5370863" y="1729085"/>
              <a:chExt cx="914400" cy="914400"/>
            </a:xfrm>
          </p:grpSpPr>
          <p:cxnSp>
            <p:nvCxnSpPr>
              <p:cNvPr id="29" name="Straight Connector 28"/>
              <p:cNvCxnSpPr/>
              <p:nvPr/>
            </p:nvCxnSpPr>
            <p:spPr>
              <a:xfrm>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flipV="1">
              <a:off x="2535773" y="1358615"/>
              <a:ext cx="135343" cy="135343"/>
              <a:chOff x="5370863" y="1729085"/>
              <a:chExt cx="914400" cy="914400"/>
            </a:xfrm>
          </p:grpSpPr>
          <p:cxnSp>
            <p:nvCxnSpPr>
              <p:cNvPr id="32" name="Straight Connector 31"/>
              <p:cNvCxnSpPr/>
              <p:nvPr/>
            </p:nvCxnSpPr>
            <p:spPr>
              <a:xfrm>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34" name="Group 33"/>
            <p:cNvGrpSpPr/>
            <p:nvPr/>
          </p:nvGrpSpPr>
          <p:grpSpPr>
            <a:xfrm flipV="1">
              <a:off x="3062986" y="1276350"/>
              <a:ext cx="135343" cy="135343"/>
              <a:chOff x="5370863" y="1729085"/>
              <a:chExt cx="914400" cy="914400"/>
            </a:xfrm>
          </p:grpSpPr>
          <p:cxnSp>
            <p:nvCxnSpPr>
              <p:cNvPr id="35" name="Straight Connector 34"/>
              <p:cNvCxnSpPr/>
              <p:nvPr/>
            </p:nvCxnSpPr>
            <p:spPr>
              <a:xfrm>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37" name="Group 36"/>
            <p:cNvGrpSpPr/>
            <p:nvPr/>
          </p:nvGrpSpPr>
          <p:grpSpPr>
            <a:xfrm flipV="1">
              <a:off x="3429000" y="1058510"/>
              <a:ext cx="135343" cy="135343"/>
              <a:chOff x="5370863" y="1729085"/>
              <a:chExt cx="914400" cy="914400"/>
            </a:xfrm>
          </p:grpSpPr>
          <p:cxnSp>
            <p:nvCxnSpPr>
              <p:cNvPr id="38" name="Straight Connector 37"/>
              <p:cNvCxnSpPr/>
              <p:nvPr/>
            </p:nvCxnSpPr>
            <p:spPr>
              <a:xfrm>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H="1">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flipV="1">
              <a:off x="3657600" y="760007"/>
              <a:ext cx="135343" cy="135343"/>
              <a:chOff x="5370863" y="1729085"/>
              <a:chExt cx="914400" cy="914400"/>
            </a:xfrm>
          </p:grpSpPr>
          <p:cxnSp>
            <p:nvCxnSpPr>
              <p:cNvPr id="41" name="Straight Connector 40"/>
              <p:cNvCxnSpPr/>
              <p:nvPr/>
            </p:nvCxnSpPr>
            <p:spPr>
              <a:xfrm>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H="1">
                <a:off x="5370863" y="1729085"/>
                <a:ext cx="91440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grpSp>
        <p:nvGrpSpPr>
          <p:cNvPr id="6" name="Group 5"/>
          <p:cNvGrpSpPr/>
          <p:nvPr/>
        </p:nvGrpSpPr>
        <p:grpSpPr>
          <a:xfrm>
            <a:off x="152400" y="3130064"/>
            <a:ext cx="4801737" cy="1384995"/>
            <a:chOff x="532262" y="3130064"/>
            <a:chExt cx="4801737" cy="1384995"/>
          </a:xfrm>
        </p:grpSpPr>
        <p:grpSp>
          <p:nvGrpSpPr>
            <p:cNvPr id="49" name="Group 48"/>
            <p:cNvGrpSpPr/>
            <p:nvPr/>
          </p:nvGrpSpPr>
          <p:grpSpPr>
            <a:xfrm>
              <a:off x="532262" y="3130064"/>
              <a:ext cx="4801737" cy="1384995"/>
              <a:chOff x="837062" y="2368064"/>
              <a:chExt cx="4801737" cy="1384995"/>
            </a:xfrm>
          </p:grpSpPr>
          <p:sp>
            <p:nvSpPr>
              <p:cNvPr id="44" name="TextBox 43"/>
              <p:cNvSpPr txBox="1"/>
              <p:nvPr/>
            </p:nvSpPr>
            <p:spPr>
              <a:xfrm>
                <a:off x="837062" y="2368064"/>
                <a:ext cx="4801737" cy="1384995"/>
              </a:xfrm>
              <a:prstGeom prst="rect">
                <a:avLst/>
              </a:prstGeom>
              <a:noFill/>
            </p:spPr>
            <p:txBody>
              <a:bodyPr wrap="square" rtlCol="0">
                <a:spAutoFit/>
              </a:bodyPr>
              <a:lstStyle/>
              <a:p>
                <a:pPr marL="803275" indent="-803275"/>
                <a:r>
                  <a:rPr lang="en-US" sz="2800" dirty="0"/>
                  <a:t>Idea: Choose             so that                    	          is close to     for our training examples </a:t>
                </a:r>
              </a:p>
            </p:txBody>
          </p:sp>
          <p:pic>
            <p:nvPicPr>
              <p:cNvPr id="46" name="Picture 45"/>
              <p:cNvPicPr>
                <a:picLocks noChangeAspect="1"/>
              </p:cNvPicPr>
              <p:nvPr>
                <p:custDataLst>
                  <p:tags r:id="rId5"/>
                </p:custDataLst>
              </p:nvPr>
            </p:nvPicPr>
            <p:blipFill>
              <a:blip r:embed="rId8" cstate="print">
                <a:extLst>
                  <a:ext uri="{28A0092B-C50C-407E-A947-70E740481C1C}">
                    <a14:useLocalDpi xmlns:a14="http://schemas.microsoft.com/office/drawing/2010/main" val="0"/>
                  </a:ext>
                </a:extLst>
              </a:blip>
              <a:stretch>
                <a:fillRect/>
              </a:stretch>
            </p:blipFill>
            <p:spPr>
              <a:xfrm>
                <a:off x="2918460" y="2441595"/>
                <a:ext cx="789354" cy="335895"/>
              </a:xfrm>
              <a:prstGeom prst="rect">
                <a:avLst/>
              </a:prstGeom>
            </p:spPr>
          </p:pic>
          <p:pic>
            <p:nvPicPr>
              <p:cNvPr id="48" name="Picture 47"/>
              <p:cNvPicPr>
                <a:picLocks noChangeAspect="1"/>
              </p:cNvPicPr>
              <p:nvPr>
                <p:custDataLst>
                  <p:tags r:id="rId6"/>
                </p:custDataLst>
              </p:nvPr>
            </p:nvPicPr>
            <p:blipFill>
              <a:blip r:embed="rId9" cstate="print">
                <a:extLst>
                  <a:ext uri="{28A0092B-C50C-407E-A947-70E740481C1C}">
                    <a14:useLocalDpi xmlns:a14="http://schemas.microsoft.com/office/drawing/2010/main" val="0"/>
                  </a:ext>
                </a:extLst>
              </a:blip>
              <a:stretch>
                <a:fillRect/>
              </a:stretch>
            </p:blipFill>
            <p:spPr>
              <a:xfrm>
                <a:off x="1737257" y="2886668"/>
                <a:ext cx="831342" cy="375084"/>
              </a:xfrm>
              <a:prstGeom prst="rect">
                <a:avLst/>
              </a:prstGeom>
            </p:spPr>
          </p:pic>
        </p:grpSp>
        <p:pic>
          <p:nvPicPr>
            <p:cNvPr id="2" name="Picture 1"/>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tretch>
              <a:fillRect/>
            </a:stretch>
          </p:blipFill>
          <p:spPr>
            <a:xfrm>
              <a:off x="3891144" y="3760157"/>
              <a:ext cx="180023" cy="245745"/>
            </a:xfrm>
            <a:prstGeom prst="rect">
              <a:avLst/>
            </a:prstGeom>
          </p:spPr>
        </p:pic>
        <p:pic>
          <p:nvPicPr>
            <p:cNvPr id="4" name="Picture 3"/>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4043869" y="4057587"/>
              <a:ext cx="808673" cy="382905"/>
            </a:xfrm>
            <a:prstGeom prst="rect">
              <a:avLst/>
            </a:prstGeom>
          </p:spPr>
        </p:pic>
      </p:grpSp>
      <p:sp>
        <p:nvSpPr>
          <p:cNvPr id="10" name="Date Placeholder 9"/>
          <p:cNvSpPr>
            <a:spLocks noGrp="1"/>
          </p:cNvSpPr>
          <p:nvPr>
            <p:ph type="dt" sz="half" idx="10"/>
          </p:nvPr>
        </p:nvSpPr>
        <p:spPr/>
        <p:txBody>
          <a:bodyPr/>
          <a:lstStyle/>
          <a:p>
            <a:fld id="{1C78C35B-1FA6-4EFF-BD86-6DF11950A2FC}" type="datetime1">
              <a:rPr lang="en-US" smtClean="0">
                <a:solidFill>
                  <a:prstClr val="black">
                    <a:tint val="75000"/>
                  </a:prstClr>
                </a:solidFill>
              </a:rPr>
              <a:t>9/10/2025</a:t>
            </a:fld>
            <a:endParaRPr lang="en-US">
              <a:solidFill>
                <a:prstClr val="black">
                  <a:tint val="75000"/>
                </a:prstClr>
              </a:solidFill>
            </a:endParaRPr>
          </a:p>
        </p:txBody>
      </p:sp>
      <p:sp>
        <p:nvSpPr>
          <p:cNvPr id="11" name="Footer Placeholder 10"/>
          <p:cNvSpPr>
            <a:spLocks noGrp="1"/>
          </p:cNvSpPr>
          <p:nvPr>
            <p:ph type="ftr" sz="quarter" idx="11"/>
          </p:nvPr>
        </p:nvSpPr>
        <p:spPr/>
        <p:txBody>
          <a:bodyPr/>
          <a:lstStyle/>
          <a:p>
            <a:r>
              <a:rPr lang="en-US">
                <a:solidFill>
                  <a:prstClr val="black">
                    <a:tint val="75000"/>
                  </a:prstClr>
                </a:solidFill>
              </a:rPr>
              <a:t>Linear Regression</a:t>
            </a:r>
          </a:p>
        </p:txBody>
      </p:sp>
      <p:sp>
        <p:nvSpPr>
          <p:cNvPr id="12" name="Slide Number Placeholder 11"/>
          <p:cNvSpPr>
            <a:spLocks noGrp="1"/>
          </p:cNvSpPr>
          <p:nvPr>
            <p:ph type="sldNum" sz="quarter" idx="12"/>
          </p:nvPr>
        </p:nvSpPr>
        <p:spPr/>
        <p:txBody>
          <a:bodyPr/>
          <a:lstStyle/>
          <a:p>
            <a:fld id="{F043A558-56C3-499B-89A2-59E5853E6BB4}" type="slidenum">
              <a:rPr lang="en-US" smtClean="0">
                <a:solidFill>
                  <a:prstClr val="black">
                    <a:tint val="75000"/>
                  </a:prstClr>
                </a:solidFill>
              </a:rPr>
              <a:pPr/>
              <a:t>28</a:t>
            </a:fld>
            <a:endParaRPr lang="en-US">
              <a:solidFill>
                <a:prstClr val="black">
                  <a:tint val="75000"/>
                </a:prstClr>
              </a:solidFill>
            </a:endParaRPr>
          </a:p>
        </p:txBody>
      </p:sp>
      <p:cxnSp>
        <p:nvCxnSpPr>
          <p:cNvPr id="14" name="Straight Connector 13"/>
          <p:cNvCxnSpPr/>
          <p:nvPr/>
        </p:nvCxnSpPr>
        <p:spPr>
          <a:xfrm flipV="1">
            <a:off x="858666" y="984142"/>
            <a:ext cx="2494134" cy="1108886"/>
          </a:xfrm>
          <a:prstGeom prst="line">
            <a:avLst/>
          </a:prstGeom>
        </p:spPr>
        <p:style>
          <a:lnRef idx="1">
            <a:schemeClr val="accent1"/>
          </a:lnRef>
          <a:fillRef idx="0">
            <a:schemeClr val="accent1"/>
          </a:fillRef>
          <a:effectRef idx="0">
            <a:schemeClr val="accent1"/>
          </a:effectRef>
          <a:fontRef idx="minor">
            <a:schemeClr val="tx1"/>
          </a:fontRef>
        </p:style>
      </p:cxnSp>
      <p:pic>
        <p:nvPicPr>
          <p:cNvPr id="45" name="Picture 44"/>
          <p:cNvPicPr>
            <a:picLocks noChangeAspect="1"/>
          </p:cNvPicPr>
          <p:nvPr>
            <p:custDataLst>
              <p:tags r:id="rId1"/>
            </p:custDataLst>
          </p:nvPr>
        </p:nvPicPr>
        <p:blipFill>
          <a:blip r:embed="rId12" cstate="print">
            <a:extLst>
              <a:ext uri="{28A0092B-C50C-407E-A947-70E740481C1C}">
                <a14:useLocalDpi xmlns:a14="http://schemas.microsoft.com/office/drawing/2010/main" val="0"/>
              </a:ext>
            </a:extLst>
          </a:blip>
          <a:stretch>
            <a:fillRect/>
          </a:stretch>
        </p:blipFill>
        <p:spPr>
          <a:xfrm>
            <a:off x="4068343" y="473131"/>
            <a:ext cx="3810000" cy="535429"/>
          </a:xfrm>
          <a:prstGeom prst="rect">
            <a:avLst/>
          </a:prstGeom>
        </p:spPr>
      </p:pic>
      <p:sp>
        <p:nvSpPr>
          <p:cNvPr id="16" name="TextBox 15"/>
          <p:cNvSpPr txBox="1"/>
          <p:nvPr/>
        </p:nvSpPr>
        <p:spPr>
          <a:xfrm>
            <a:off x="5562600" y="3203595"/>
            <a:ext cx="3048000" cy="369332"/>
          </a:xfrm>
          <a:prstGeom prst="rect">
            <a:avLst/>
          </a:prstGeom>
          <a:noFill/>
        </p:spPr>
        <p:txBody>
          <a:bodyPr wrap="square" rtlCol="0">
            <a:spAutoFit/>
          </a:bodyPr>
          <a:lstStyle/>
          <a:p>
            <a:r>
              <a:rPr lang="en-US" dirty="0"/>
              <a:t>Squared Error function</a:t>
            </a:r>
          </a:p>
        </p:txBody>
      </p:sp>
      <p:pic>
        <p:nvPicPr>
          <p:cNvPr id="50" name="Picture 49"/>
          <p:cNvPicPr>
            <a:picLocks noChangeAspect="1"/>
          </p:cNvPicPr>
          <p:nvPr>
            <p:custDataLst>
              <p:tags r:id="rId2"/>
            </p:custDataLst>
          </p:nvPr>
        </p:nvPicPr>
        <p:blipFill>
          <a:blip r:embed="rId13" cstate="print">
            <a:extLst>
              <a:ext uri="{28A0092B-C50C-407E-A947-70E740481C1C}">
                <a14:useLocalDpi xmlns:a14="http://schemas.microsoft.com/office/drawing/2010/main" val="0"/>
              </a:ext>
            </a:extLst>
          </a:blip>
          <a:stretch>
            <a:fillRect/>
          </a:stretch>
        </p:blipFill>
        <p:spPr>
          <a:xfrm>
            <a:off x="4755711" y="1297876"/>
            <a:ext cx="2435263" cy="481417"/>
          </a:xfrm>
          <a:prstGeom prst="rect">
            <a:avLst/>
          </a:prstGeom>
        </p:spPr>
      </p:pic>
    </p:spTree>
    <p:extLst>
      <p:ext uri="{BB962C8B-B14F-4D97-AF65-F5344CB8AC3E}">
        <p14:creationId xmlns:p14="http://schemas.microsoft.com/office/powerpoint/2010/main" val="2733880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custDataLst>
              <p:tags r:id="rId1"/>
            </p:custDataLst>
          </p:nvPr>
        </p:nvPicPr>
        <p:blipFill>
          <a:blip r:embed="rId10" cstate="print">
            <a:extLst>
              <a:ext uri="{28A0092B-C50C-407E-A947-70E740481C1C}">
                <a14:useLocalDpi xmlns:a14="http://schemas.microsoft.com/office/drawing/2010/main" val="0"/>
              </a:ext>
            </a:extLst>
          </a:blip>
          <a:stretch>
            <a:fillRect/>
          </a:stretch>
        </p:blipFill>
        <p:spPr>
          <a:xfrm>
            <a:off x="914399" y="895350"/>
            <a:ext cx="2261483" cy="314682"/>
          </a:xfrm>
          <a:prstGeom prst="rect">
            <a:avLst/>
          </a:prstGeom>
        </p:spPr>
      </p:pic>
      <p:sp>
        <p:nvSpPr>
          <p:cNvPr id="10" name="TextBox 9"/>
          <p:cNvSpPr txBox="1"/>
          <p:nvPr/>
        </p:nvSpPr>
        <p:spPr>
          <a:xfrm>
            <a:off x="304800" y="361950"/>
            <a:ext cx="1651414" cy="461665"/>
          </a:xfrm>
          <a:prstGeom prst="rect">
            <a:avLst/>
          </a:prstGeom>
          <a:noFill/>
        </p:spPr>
        <p:txBody>
          <a:bodyPr wrap="none" rtlCol="0">
            <a:spAutoFit/>
          </a:bodyPr>
          <a:lstStyle/>
          <a:p>
            <a:r>
              <a:rPr lang="en-US" sz="2400" dirty="0"/>
              <a:t>Hypothesis:</a:t>
            </a:r>
          </a:p>
        </p:txBody>
      </p:sp>
      <p:pic>
        <p:nvPicPr>
          <p:cNvPr id="20" name="Picture 19"/>
          <p:cNvPicPr>
            <a:picLocks noChangeAspect="1"/>
          </p:cNvPicPr>
          <p:nvPr>
            <p:custDataLst>
              <p:tags r:id="rId2"/>
            </p:custDataLst>
          </p:nvPr>
        </p:nvPicPr>
        <p:blipFill>
          <a:blip r:embed="rId11" cstate="print">
            <a:extLst>
              <a:ext uri="{28A0092B-C50C-407E-A947-70E740481C1C}">
                <a14:useLocalDpi xmlns:a14="http://schemas.microsoft.com/office/drawing/2010/main" val="0"/>
              </a:ext>
            </a:extLst>
          </a:blip>
          <a:stretch>
            <a:fillRect/>
          </a:stretch>
        </p:blipFill>
        <p:spPr>
          <a:xfrm>
            <a:off x="937959" y="1985145"/>
            <a:ext cx="662241" cy="281805"/>
          </a:xfrm>
          <a:prstGeom prst="rect">
            <a:avLst/>
          </a:prstGeom>
        </p:spPr>
      </p:pic>
      <p:sp>
        <p:nvSpPr>
          <p:cNvPr id="15" name="TextBox 14"/>
          <p:cNvSpPr txBox="1"/>
          <p:nvPr/>
        </p:nvSpPr>
        <p:spPr>
          <a:xfrm>
            <a:off x="304800" y="1478062"/>
            <a:ext cx="1687578" cy="461665"/>
          </a:xfrm>
          <a:prstGeom prst="rect">
            <a:avLst/>
          </a:prstGeom>
          <a:noFill/>
        </p:spPr>
        <p:txBody>
          <a:bodyPr wrap="none" rtlCol="0">
            <a:spAutoFit/>
          </a:bodyPr>
          <a:lstStyle/>
          <a:p>
            <a:r>
              <a:rPr lang="en-US" sz="2400" dirty="0"/>
              <a:t>Parameters:</a:t>
            </a:r>
          </a:p>
        </p:txBody>
      </p:sp>
      <p:pic>
        <p:nvPicPr>
          <p:cNvPr id="13" name="Picture 12"/>
          <p:cNvPicPr>
            <a:picLocks noChangeAspect="1"/>
          </p:cNvPicPr>
          <p:nvPr>
            <p:custDataLst>
              <p:tags r:id="rId3"/>
            </p:custDataLst>
          </p:nvPr>
        </p:nvPicPr>
        <p:blipFill>
          <a:blip r:embed="rId12" cstate="print">
            <a:extLst>
              <a:ext uri="{28A0092B-C50C-407E-A947-70E740481C1C}">
                <a14:useLocalDpi xmlns:a14="http://schemas.microsoft.com/office/drawing/2010/main" val="0"/>
              </a:ext>
            </a:extLst>
          </a:blip>
          <a:stretch>
            <a:fillRect/>
          </a:stretch>
        </p:blipFill>
        <p:spPr>
          <a:xfrm>
            <a:off x="914400" y="3041141"/>
            <a:ext cx="3810000" cy="535429"/>
          </a:xfrm>
          <a:prstGeom prst="rect">
            <a:avLst/>
          </a:prstGeom>
        </p:spPr>
      </p:pic>
      <p:sp>
        <p:nvSpPr>
          <p:cNvPr id="17" name="TextBox 16"/>
          <p:cNvSpPr txBox="1"/>
          <p:nvPr/>
        </p:nvSpPr>
        <p:spPr>
          <a:xfrm>
            <a:off x="304800" y="2594174"/>
            <a:ext cx="1971758" cy="461665"/>
          </a:xfrm>
          <a:prstGeom prst="rect">
            <a:avLst/>
          </a:prstGeom>
          <a:noFill/>
        </p:spPr>
        <p:txBody>
          <a:bodyPr wrap="none" rtlCol="0">
            <a:spAutoFit/>
          </a:bodyPr>
          <a:lstStyle/>
          <a:p>
            <a:r>
              <a:rPr lang="en-US" sz="2400" dirty="0"/>
              <a:t>Cost Function:</a:t>
            </a:r>
          </a:p>
        </p:txBody>
      </p:sp>
      <p:pic>
        <p:nvPicPr>
          <p:cNvPr id="7" name="Picture 6"/>
          <p:cNvPicPr>
            <a:picLocks noChangeAspect="1"/>
          </p:cNvPicPr>
          <p:nvPr>
            <p:custDataLst>
              <p:tags r:id="rId4"/>
            </p:custDataLst>
          </p:nvPr>
        </p:nvPicPr>
        <p:blipFill>
          <a:blip r:embed="rId13" cstate="print">
            <a:extLst>
              <a:ext uri="{28A0092B-C50C-407E-A947-70E740481C1C}">
                <a14:useLocalDpi xmlns:a14="http://schemas.microsoft.com/office/drawing/2010/main" val="0"/>
              </a:ext>
            </a:extLst>
          </a:blip>
          <a:stretch>
            <a:fillRect/>
          </a:stretch>
        </p:blipFill>
        <p:spPr>
          <a:xfrm>
            <a:off x="1210817" y="3919133"/>
            <a:ext cx="2435263" cy="481417"/>
          </a:xfrm>
          <a:prstGeom prst="rect">
            <a:avLst/>
          </a:prstGeom>
        </p:spPr>
      </p:pic>
      <p:sp>
        <p:nvSpPr>
          <p:cNvPr id="19" name="TextBox 18"/>
          <p:cNvSpPr txBox="1"/>
          <p:nvPr/>
        </p:nvSpPr>
        <p:spPr>
          <a:xfrm>
            <a:off x="304800" y="3827039"/>
            <a:ext cx="840295" cy="461665"/>
          </a:xfrm>
          <a:prstGeom prst="rect">
            <a:avLst/>
          </a:prstGeom>
          <a:noFill/>
        </p:spPr>
        <p:txBody>
          <a:bodyPr wrap="none" rtlCol="0">
            <a:spAutoFit/>
          </a:bodyPr>
          <a:lstStyle/>
          <a:p>
            <a:r>
              <a:rPr lang="en-US" sz="2400" dirty="0"/>
              <a:t>Goal:</a:t>
            </a:r>
          </a:p>
        </p:txBody>
      </p:sp>
      <p:cxnSp>
        <p:nvCxnSpPr>
          <p:cNvPr id="30" name="Straight Connector 29"/>
          <p:cNvCxnSpPr/>
          <p:nvPr/>
        </p:nvCxnSpPr>
        <p:spPr>
          <a:xfrm>
            <a:off x="5105400" y="566800"/>
            <a:ext cx="0" cy="3962400"/>
          </a:xfrm>
          <a:prstGeom prst="line">
            <a:avLst/>
          </a:prstGeom>
          <a:ln w="12700">
            <a:solidFill>
              <a:schemeClr val="tx1">
                <a:alpha val="55000"/>
              </a:schemeClr>
            </a:solidFill>
          </a:ln>
        </p:spPr>
        <p:style>
          <a:lnRef idx="1">
            <a:schemeClr val="accent1"/>
          </a:lnRef>
          <a:fillRef idx="0">
            <a:schemeClr val="accent1"/>
          </a:fillRef>
          <a:effectRef idx="0">
            <a:schemeClr val="accent1"/>
          </a:effectRef>
          <a:fontRef idx="minor">
            <a:schemeClr val="tx1"/>
          </a:fontRef>
        </p:style>
      </p:cxnSp>
      <p:pic>
        <p:nvPicPr>
          <p:cNvPr id="36" name="Picture 35"/>
          <p:cNvPicPr>
            <a:picLocks noChangeAspect="1"/>
          </p:cNvPicPr>
          <p:nvPr>
            <p:custDataLst>
              <p:tags r:id="rId5"/>
            </p:custDataLst>
          </p:nvPr>
        </p:nvPicPr>
        <p:blipFill>
          <a:blip r:embed="rId14" cstate="print">
            <a:extLst>
              <a:ext uri="{28A0092B-C50C-407E-A947-70E740481C1C}">
                <a14:useLocalDpi xmlns:a14="http://schemas.microsoft.com/office/drawing/2010/main" val="0"/>
              </a:ext>
            </a:extLst>
          </a:blip>
          <a:stretch>
            <a:fillRect/>
          </a:stretch>
        </p:blipFill>
        <p:spPr>
          <a:xfrm>
            <a:off x="5345963" y="819150"/>
            <a:ext cx="1799412" cy="355636"/>
          </a:xfrm>
          <a:prstGeom prst="rect">
            <a:avLst/>
          </a:prstGeom>
        </p:spPr>
      </p:pic>
      <p:pic>
        <p:nvPicPr>
          <p:cNvPr id="37" name="Picture 36"/>
          <p:cNvPicPr>
            <a:picLocks noChangeAspect="1"/>
          </p:cNvPicPr>
          <p:nvPr>
            <p:custDataLst>
              <p:tags r:id="rId6"/>
            </p:custDataLst>
          </p:nvPr>
        </p:nvPicPr>
        <p:blipFill>
          <a:blip r:embed="rId15" cstate="print">
            <a:extLst>
              <a:ext uri="{28A0092B-C50C-407E-A947-70E740481C1C}">
                <a14:useLocalDpi xmlns:a14="http://schemas.microsoft.com/office/drawing/2010/main" val="0"/>
              </a:ext>
            </a:extLst>
          </a:blip>
          <a:stretch>
            <a:fillRect/>
          </a:stretch>
        </p:blipFill>
        <p:spPr>
          <a:xfrm>
            <a:off x="5334000" y="1885950"/>
            <a:ext cx="268054" cy="302556"/>
          </a:xfrm>
          <a:prstGeom prst="rect">
            <a:avLst/>
          </a:prstGeom>
        </p:spPr>
      </p:pic>
      <p:pic>
        <p:nvPicPr>
          <p:cNvPr id="14" name="Picture 13"/>
          <p:cNvPicPr>
            <a:picLocks noChangeAspect="1"/>
          </p:cNvPicPr>
          <p:nvPr>
            <p:custDataLst>
              <p:tags r:id="rId7"/>
            </p:custDataLst>
          </p:nvPr>
        </p:nvPicPr>
        <p:blipFill>
          <a:blip r:embed="rId16" cstate="print">
            <a:extLst>
              <a:ext uri="{28A0092B-C50C-407E-A947-70E740481C1C}">
                <a14:useLocalDpi xmlns:a14="http://schemas.microsoft.com/office/drawing/2010/main" val="0"/>
              </a:ext>
            </a:extLst>
          </a:blip>
          <a:stretch>
            <a:fillRect/>
          </a:stretch>
        </p:blipFill>
        <p:spPr>
          <a:xfrm>
            <a:off x="5257800" y="2957238"/>
            <a:ext cx="3741419" cy="577317"/>
          </a:xfrm>
          <a:prstGeom prst="rect">
            <a:avLst/>
          </a:prstGeom>
        </p:spPr>
      </p:pic>
      <p:pic>
        <p:nvPicPr>
          <p:cNvPr id="9" name="Picture 8"/>
          <p:cNvPicPr>
            <a:picLocks noChangeAspect="1"/>
          </p:cNvPicPr>
          <p:nvPr>
            <p:custDataLst>
              <p:tags r:id="rId8"/>
            </p:custDataLst>
          </p:nvPr>
        </p:nvPicPr>
        <p:blipFill>
          <a:blip r:embed="rId17" cstate="print">
            <a:extLst>
              <a:ext uri="{28A0092B-C50C-407E-A947-70E740481C1C}">
                <a14:useLocalDpi xmlns:a14="http://schemas.microsoft.com/office/drawing/2010/main" val="0"/>
              </a:ext>
            </a:extLst>
          </a:blip>
          <a:stretch>
            <a:fillRect/>
          </a:stretch>
        </p:blipFill>
        <p:spPr>
          <a:xfrm>
            <a:off x="5257800" y="3902045"/>
            <a:ext cx="2133600" cy="498505"/>
          </a:xfrm>
          <a:prstGeom prst="rect">
            <a:avLst/>
          </a:prstGeom>
        </p:spPr>
      </p:pic>
      <p:sp>
        <p:nvSpPr>
          <p:cNvPr id="35" name="TextBox 34"/>
          <p:cNvSpPr txBox="1"/>
          <p:nvPr/>
        </p:nvSpPr>
        <p:spPr>
          <a:xfrm>
            <a:off x="6248400" y="57150"/>
            <a:ext cx="1425390" cy="461665"/>
          </a:xfrm>
          <a:prstGeom prst="rect">
            <a:avLst/>
          </a:prstGeom>
          <a:noFill/>
        </p:spPr>
        <p:txBody>
          <a:bodyPr wrap="none" rtlCol="0">
            <a:spAutoFit/>
          </a:bodyPr>
          <a:lstStyle/>
          <a:p>
            <a:r>
              <a:rPr lang="en-US" sz="2400" u="sng" dirty="0"/>
              <a:t>Simplified</a:t>
            </a:r>
          </a:p>
        </p:txBody>
      </p:sp>
      <p:sp>
        <p:nvSpPr>
          <p:cNvPr id="3" name="Date Placeholder 2"/>
          <p:cNvSpPr>
            <a:spLocks noGrp="1"/>
          </p:cNvSpPr>
          <p:nvPr>
            <p:ph type="dt" sz="half" idx="10"/>
          </p:nvPr>
        </p:nvSpPr>
        <p:spPr/>
        <p:txBody>
          <a:bodyPr/>
          <a:lstStyle/>
          <a:p>
            <a:fld id="{F2DF3852-0857-4DF2-9D2A-4981267B2DD2}" type="datetime1">
              <a:rPr lang="en-US" smtClean="0">
                <a:solidFill>
                  <a:prstClr val="black">
                    <a:tint val="75000"/>
                  </a:prstClr>
                </a:solidFill>
              </a:rPr>
              <a:t>9/10/2025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r>
              <a:rPr lang="en-US">
                <a:solidFill>
                  <a:prstClr val="black">
                    <a:tint val="75000"/>
                  </a:prstClr>
                </a:solidFill>
              </a:rPr>
              <a:t>Linear Regression</a:t>
            </a:r>
          </a:p>
        </p:txBody>
      </p:sp>
      <p:sp>
        <p:nvSpPr>
          <p:cNvPr id="5" name="Slide Number Placeholder 4"/>
          <p:cNvSpPr>
            <a:spLocks noGrp="1"/>
          </p:cNvSpPr>
          <p:nvPr>
            <p:ph type="sldNum" sz="quarter" idx="12"/>
          </p:nvPr>
        </p:nvSpPr>
        <p:spPr/>
        <p:txBody>
          <a:bodyPr/>
          <a:lstStyle/>
          <a:p>
            <a:fld id="{F043A558-56C3-499B-89A2-59E5853E6BB4}" type="slidenum">
              <a:rPr lang="en-US" smtClean="0">
                <a:solidFill>
                  <a:prstClr val="black">
                    <a:tint val="75000"/>
                  </a:prstClr>
                </a:solidFill>
              </a:rPr>
              <a:pPr/>
              <a:t>29</a:t>
            </a:fld>
            <a:endParaRPr lang="en-US">
              <a:solidFill>
                <a:prstClr val="black">
                  <a:tint val="75000"/>
                </a:prstClr>
              </a:solidFill>
            </a:endParaRPr>
          </a:p>
        </p:txBody>
      </p:sp>
      <p:sp>
        <p:nvSpPr>
          <p:cNvPr id="6" name="Right Brace 5"/>
          <p:cNvSpPr/>
          <p:nvPr/>
        </p:nvSpPr>
        <p:spPr>
          <a:xfrm>
            <a:off x="6245669" y="1478062"/>
            <a:ext cx="78931" cy="134694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2" name="Straight Connector 11"/>
          <p:cNvCxnSpPr>
            <a:stCxn id="6" idx="2"/>
          </p:cNvCxnSpPr>
          <p:nvPr/>
        </p:nvCxnSpPr>
        <p:spPr>
          <a:xfrm>
            <a:off x="6245669" y="2825006"/>
            <a:ext cx="213633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6" idx="2"/>
          </p:cNvCxnSpPr>
          <p:nvPr/>
        </p:nvCxnSpPr>
        <p:spPr>
          <a:xfrm flipV="1">
            <a:off x="6245669" y="1478062"/>
            <a:ext cx="1983931" cy="1346944"/>
          </a:xfrm>
          <a:prstGeom prst="line">
            <a:avLst/>
          </a:prstGeom>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7549823" y="694526"/>
            <a:ext cx="860610" cy="401648"/>
          </a:xfrm>
          <a:prstGeom prst="rect">
            <a:avLst/>
          </a:prstGeom>
          <a:noFill/>
        </p:spPr>
        <p:txBody>
          <a:bodyPr wrap="square" rtlCol="0">
            <a:spAutoFit/>
          </a:bodyPr>
          <a:lstStyle/>
          <a:p>
            <a:r>
              <a:rPr lang="el-GR" sz="2010" i="1" dirty="0"/>
              <a:t>ϴ</a:t>
            </a:r>
            <a:r>
              <a:rPr lang="en-US" sz="2010" i="1" baseline="-25000" dirty="0"/>
              <a:t>0</a:t>
            </a:r>
            <a:r>
              <a:rPr lang="en-US" sz="2010" dirty="0"/>
              <a:t> = 0</a:t>
            </a:r>
          </a:p>
        </p:txBody>
      </p:sp>
    </p:spTree>
    <p:extLst>
      <p:ext uri="{BB962C8B-B14F-4D97-AF65-F5344CB8AC3E}">
        <p14:creationId xmlns:p14="http://schemas.microsoft.com/office/powerpoint/2010/main" val="2278243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p:cNvGraphicFramePr>
            <a:graphicFrameLocks/>
          </p:cNvGraphicFramePr>
          <p:nvPr>
            <p:extLst>
              <p:ext uri="{D42A27DB-BD31-4B8C-83A1-F6EECF244321}">
                <p14:modId xmlns:p14="http://schemas.microsoft.com/office/powerpoint/2010/main" val="3892828426"/>
              </p:ext>
            </p:extLst>
          </p:nvPr>
        </p:nvGraphicFramePr>
        <p:xfrm>
          <a:off x="533400" y="1169225"/>
          <a:ext cx="3169920" cy="2686050"/>
        </p:xfrm>
        <a:graphic>
          <a:graphicData uri="http://schemas.openxmlformats.org/drawingml/2006/chart">
            <c:chart xmlns:c="http://schemas.openxmlformats.org/drawingml/2006/chart" xmlns:r="http://schemas.openxmlformats.org/officeDocument/2006/relationships" r:id="rId10"/>
          </a:graphicData>
        </a:graphic>
      </p:graphicFrame>
      <p:pic>
        <p:nvPicPr>
          <p:cNvPr id="5" name="Picture 4"/>
          <p:cNvPicPr>
            <a:picLocks noChangeAspect="1"/>
          </p:cNvPicPr>
          <p:nvPr>
            <p:custDataLst>
              <p:tags r:id="rId1"/>
            </p:custDataLst>
          </p:nvPr>
        </p:nvPicPr>
        <p:blipFill>
          <a:blip r:embed="rId11" cstate="print">
            <a:extLst>
              <a:ext uri="{28A0092B-C50C-407E-A947-70E740481C1C}">
                <a14:useLocalDpi xmlns:a14="http://schemas.microsoft.com/office/drawing/2010/main" val="0"/>
              </a:ext>
            </a:extLst>
          </a:blip>
          <a:stretch>
            <a:fillRect/>
          </a:stretch>
        </p:blipFill>
        <p:spPr>
          <a:xfrm>
            <a:off x="1957578" y="209550"/>
            <a:ext cx="678942" cy="306324"/>
          </a:xfrm>
          <a:prstGeom prst="rect">
            <a:avLst/>
          </a:prstGeom>
        </p:spPr>
      </p:pic>
      <p:sp>
        <p:nvSpPr>
          <p:cNvPr id="16" name="TextBox 15"/>
          <p:cNvSpPr txBox="1"/>
          <p:nvPr/>
        </p:nvSpPr>
        <p:spPr>
          <a:xfrm>
            <a:off x="228600" y="2102675"/>
            <a:ext cx="324128" cy="461665"/>
          </a:xfrm>
          <a:prstGeom prst="rect">
            <a:avLst/>
          </a:prstGeom>
          <a:noFill/>
        </p:spPr>
        <p:txBody>
          <a:bodyPr wrap="none" rtlCol="0">
            <a:spAutoFit/>
          </a:bodyPr>
          <a:lstStyle/>
          <a:p>
            <a:r>
              <a:rPr lang="en-US" sz="2400" dirty="0"/>
              <a:t>y</a:t>
            </a:r>
          </a:p>
        </p:txBody>
      </p:sp>
      <p:sp>
        <p:nvSpPr>
          <p:cNvPr id="17" name="TextBox 16"/>
          <p:cNvSpPr txBox="1"/>
          <p:nvPr/>
        </p:nvSpPr>
        <p:spPr>
          <a:xfrm>
            <a:off x="2057400" y="3546010"/>
            <a:ext cx="317716" cy="461665"/>
          </a:xfrm>
          <a:prstGeom prst="rect">
            <a:avLst/>
          </a:prstGeom>
          <a:noFill/>
        </p:spPr>
        <p:txBody>
          <a:bodyPr wrap="none" rtlCol="0">
            <a:spAutoFit/>
          </a:bodyPr>
          <a:lstStyle/>
          <a:p>
            <a:r>
              <a:rPr lang="en-US" sz="2400" dirty="0"/>
              <a:t>x</a:t>
            </a:r>
          </a:p>
        </p:txBody>
      </p:sp>
      <p:cxnSp>
        <p:nvCxnSpPr>
          <p:cNvPr id="20" name="Straight Connector 19"/>
          <p:cNvCxnSpPr/>
          <p:nvPr/>
        </p:nvCxnSpPr>
        <p:spPr>
          <a:xfrm flipV="1">
            <a:off x="731520" y="1143000"/>
            <a:ext cx="3063240" cy="2354580"/>
          </a:xfrm>
          <a:prstGeom prst="line">
            <a:avLst/>
          </a:prstGeom>
          <a:ln w="381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pic>
        <p:nvPicPr>
          <p:cNvPr id="28" name="Picture 27"/>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3810000" y="1259891"/>
            <a:ext cx="543154" cy="245059"/>
          </a:xfrm>
          <a:prstGeom prst="rect">
            <a:avLst/>
          </a:prstGeom>
        </p:spPr>
      </p:pic>
      <p:pic>
        <p:nvPicPr>
          <p:cNvPr id="29" name="Picture 28"/>
          <p:cNvPicPr>
            <a:picLocks noChangeAspect="1"/>
          </p:cNvPicPr>
          <p:nvPr>
            <p:custDataLst>
              <p:tags r:id="rId3"/>
            </p:custDataLst>
          </p:nvPr>
        </p:nvPicPr>
        <p:blipFill>
          <a:blip r:embed="rId13" cstate="print">
            <a:extLst>
              <a:ext uri="{28A0092B-C50C-407E-A947-70E740481C1C}">
                <a14:useLocalDpi xmlns:a14="http://schemas.microsoft.com/office/drawing/2010/main" val="0"/>
              </a:ext>
            </a:extLst>
          </a:blip>
          <a:stretch>
            <a:fillRect/>
          </a:stretch>
        </p:blipFill>
        <p:spPr>
          <a:xfrm>
            <a:off x="3657600" y="2331275"/>
            <a:ext cx="640080" cy="208483"/>
          </a:xfrm>
          <a:prstGeom prst="rect">
            <a:avLst/>
          </a:prstGeom>
        </p:spPr>
      </p:pic>
      <p:sp>
        <p:nvSpPr>
          <p:cNvPr id="30" name="TextBox 29"/>
          <p:cNvSpPr txBox="1"/>
          <p:nvPr/>
        </p:nvSpPr>
        <p:spPr>
          <a:xfrm>
            <a:off x="552728" y="578675"/>
            <a:ext cx="3464666" cy="369332"/>
          </a:xfrm>
          <a:prstGeom prst="rect">
            <a:avLst/>
          </a:prstGeom>
          <a:noFill/>
        </p:spPr>
        <p:txBody>
          <a:bodyPr wrap="none" rtlCol="0">
            <a:spAutoFit/>
          </a:bodyPr>
          <a:lstStyle/>
          <a:p>
            <a:r>
              <a:rPr lang="en-US" dirty="0"/>
              <a:t>(for fixed     , this is a function of x)</a:t>
            </a:r>
          </a:p>
        </p:txBody>
      </p:sp>
      <p:pic>
        <p:nvPicPr>
          <p:cNvPr id="33" name="Picture 32"/>
          <p:cNvPicPr>
            <a:picLocks noChangeAspect="1"/>
          </p:cNvPicPr>
          <p:nvPr>
            <p:custDataLst>
              <p:tags r:id="rId4"/>
            </p:custDataLst>
          </p:nvPr>
        </p:nvPicPr>
        <p:blipFill>
          <a:blip r:embed="rId14" cstate="print">
            <a:extLst>
              <a:ext uri="{28A0092B-C50C-407E-A947-70E740481C1C}">
                <a14:useLocalDpi xmlns:a14="http://schemas.microsoft.com/office/drawing/2010/main" val="0"/>
              </a:ext>
            </a:extLst>
          </a:blip>
          <a:stretch>
            <a:fillRect/>
          </a:stretch>
        </p:blipFill>
        <p:spPr>
          <a:xfrm>
            <a:off x="1534095" y="666750"/>
            <a:ext cx="184709" cy="208483"/>
          </a:xfrm>
          <a:prstGeom prst="rect">
            <a:avLst/>
          </a:prstGeom>
        </p:spPr>
      </p:pic>
      <p:cxnSp>
        <p:nvCxnSpPr>
          <p:cNvPr id="34" name="Straight Connector 33"/>
          <p:cNvCxnSpPr/>
          <p:nvPr/>
        </p:nvCxnSpPr>
        <p:spPr>
          <a:xfrm>
            <a:off x="4648200" y="566800"/>
            <a:ext cx="0" cy="3962400"/>
          </a:xfrm>
          <a:prstGeom prst="line">
            <a:avLst/>
          </a:prstGeom>
          <a:ln w="12700">
            <a:solidFill>
              <a:schemeClr val="tx1">
                <a:alpha val="55000"/>
              </a:schemeClr>
            </a:solidFill>
          </a:ln>
        </p:spPr>
        <p:style>
          <a:lnRef idx="1">
            <a:schemeClr val="accent1"/>
          </a:lnRef>
          <a:fillRef idx="0">
            <a:schemeClr val="accent1"/>
          </a:fillRef>
          <a:effectRef idx="0">
            <a:schemeClr val="accent1"/>
          </a:effectRef>
          <a:fontRef idx="minor">
            <a:schemeClr val="tx1"/>
          </a:fontRef>
        </p:style>
      </p:cxnSp>
      <p:pic>
        <p:nvPicPr>
          <p:cNvPr id="38" name="Picture 37"/>
          <p:cNvPicPr>
            <a:picLocks noChangeAspect="1"/>
          </p:cNvPicPr>
          <p:nvPr>
            <p:custDataLst>
              <p:tags r:id="rId5"/>
            </p:custDataLst>
          </p:nvPr>
        </p:nvPicPr>
        <p:blipFill>
          <a:blip r:embed="rId15" cstate="print">
            <a:extLst>
              <a:ext uri="{28A0092B-C50C-407E-A947-70E740481C1C}">
                <a14:useLocalDpi xmlns:a14="http://schemas.microsoft.com/office/drawing/2010/main" val="0"/>
              </a:ext>
            </a:extLst>
          </a:blip>
          <a:stretch>
            <a:fillRect/>
          </a:stretch>
        </p:blipFill>
        <p:spPr>
          <a:xfrm>
            <a:off x="6550784" y="209550"/>
            <a:ext cx="662940" cy="306324"/>
          </a:xfrm>
          <a:prstGeom prst="rect">
            <a:avLst/>
          </a:prstGeom>
        </p:spPr>
      </p:pic>
      <p:sp>
        <p:nvSpPr>
          <p:cNvPr id="36" name="TextBox 35"/>
          <p:cNvSpPr txBox="1"/>
          <p:nvPr/>
        </p:nvSpPr>
        <p:spPr>
          <a:xfrm>
            <a:off x="5145934" y="578675"/>
            <a:ext cx="3080843" cy="369332"/>
          </a:xfrm>
          <a:prstGeom prst="rect">
            <a:avLst/>
          </a:prstGeom>
          <a:noFill/>
        </p:spPr>
        <p:txBody>
          <a:bodyPr wrap="none" rtlCol="0">
            <a:spAutoFit/>
          </a:bodyPr>
          <a:lstStyle/>
          <a:p>
            <a:r>
              <a:rPr lang="en-US" dirty="0"/>
              <a:t>(function of the parameter      )</a:t>
            </a:r>
          </a:p>
        </p:txBody>
      </p:sp>
      <p:pic>
        <p:nvPicPr>
          <p:cNvPr id="37" name="Picture 36"/>
          <p:cNvPicPr>
            <a:picLocks noChangeAspect="1"/>
          </p:cNvPicPr>
          <p:nvPr>
            <p:custDataLst>
              <p:tags r:id="rId6"/>
            </p:custDataLst>
          </p:nvPr>
        </p:nvPicPr>
        <p:blipFill>
          <a:blip r:embed="rId14" cstate="print">
            <a:extLst>
              <a:ext uri="{28A0092B-C50C-407E-A947-70E740481C1C}">
                <a14:useLocalDpi xmlns:a14="http://schemas.microsoft.com/office/drawing/2010/main" val="0"/>
              </a:ext>
            </a:extLst>
          </a:blip>
          <a:stretch>
            <a:fillRect/>
          </a:stretch>
        </p:blipFill>
        <p:spPr>
          <a:xfrm>
            <a:off x="7816291" y="666750"/>
            <a:ext cx="184709" cy="208483"/>
          </a:xfrm>
          <a:prstGeom prst="rect">
            <a:avLst/>
          </a:prstGeom>
        </p:spPr>
      </p:pic>
      <p:grpSp>
        <p:nvGrpSpPr>
          <p:cNvPr id="49" name="Group 48"/>
          <p:cNvGrpSpPr/>
          <p:nvPr/>
        </p:nvGrpSpPr>
        <p:grpSpPr>
          <a:xfrm>
            <a:off x="4956048" y="1104900"/>
            <a:ext cx="3883152" cy="2914650"/>
            <a:chOff x="4956048" y="1104900"/>
            <a:chExt cx="3883152" cy="2914650"/>
          </a:xfrm>
        </p:grpSpPr>
        <p:graphicFrame>
          <p:nvGraphicFramePr>
            <p:cNvPr id="40" name="Chart 39"/>
            <p:cNvGraphicFramePr>
              <a:graphicFrameLocks/>
            </p:cNvGraphicFramePr>
            <p:nvPr>
              <p:extLst>
                <p:ext uri="{D42A27DB-BD31-4B8C-83A1-F6EECF244321}">
                  <p14:modId xmlns:p14="http://schemas.microsoft.com/office/powerpoint/2010/main" val="2121781722"/>
                </p:ext>
              </p:extLst>
            </p:nvPr>
          </p:nvGraphicFramePr>
          <p:xfrm>
            <a:off x="5334000" y="1104900"/>
            <a:ext cx="3505200" cy="2686050"/>
          </p:xfrm>
          <a:graphic>
            <a:graphicData uri="http://schemas.openxmlformats.org/drawingml/2006/chart">
              <c:chart xmlns:c="http://schemas.openxmlformats.org/drawingml/2006/chart" xmlns:r="http://schemas.openxmlformats.org/officeDocument/2006/relationships" r:id="rId16"/>
            </a:graphicData>
          </a:graphic>
        </p:graphicFrame>
        <p:pic>
          <p:nvPicPr>
            <p:cNvPr id="48" name="Picture 47"/>
            <p:cNvPicPr>
              <a:picLocks noChangeAspect="1"/>
            </p:cNvPicPr>
            <p:nvPr>
              <p:custDataLst>
                <p:tags r:id="rId7"/>
              </p:custDataLst>
            </p:nvPr>
          </p:nvPicPr>
          <p:blipFill>
            <a:blip r:embed="rId17" cstate="print">
              <a:extLst>
                <a:ext uri="{28A0092B-C50C-407E-A947-70E740481C1C}">
                  <a14:useLocalDpi xmlns:a14="http://schemas.microsoft.com/office/drawing/2010/main" val="0"/>
                </a:ext>
              </a:extLst>
            </a:blip>
            <a:stretch>
              <a:fillRect/>
            </a:stretch>
          </p:blipFill>
          <p:spPr>
            <a:xfrm>
              <a:off x="4956048" y="2132859"/>
              <a:ext cx="530352" cy="245059"/>
            </a:xfrm>
            <a:prstGeom prst="rect">
              <a:avLst/>
            </a:prstGeom>
          </p:spPr>
        </p:pic>
        <p:pic>
          <p:nvPicPr>
            <p:cNvPr id="47" name="Picture 46"/>
            <p:cNvPicPr>
              <a:picLocks noChangeAspect="1"/>
            </p:cNvPicPr>
            <p:nvPr>
              <p:custDataLst>
                <p:tags r:id="rId8"/>
              </p:custDataLst>
            </p:nvPr>
          </p:nvPicPr>
          <p:blipFill>
            <a:blip r:embed="rId14" cstate="print">
              <a:extLst>
                <a:ext uri="{28A0092B-C50C-407E-A947-70E740481C1C}">
                  <a14:useLocalDpi xmlns:a14="http://schemas.microsoft.com/office/drawing/2010/main" val="0"/>
                </a:ext>
              </a:extLst>
            </a:blip>
            <a:stretch>
              <a:fillRect/>
            </a:stretch>
          </p:blipFill>
          <p:spPr>
            <a:xfrm>
              <a:off x="7022276" y="3811067"/>
              <a:ext cx="184709" cy="208483"/>
            </a:xfrm>
            <a:prstGeom prst="rect">
              <a:avLst/>
            </a:prstGeom>
          </p:spPr>
        </p:pic>
      </p:grpSp>
      <p:sp>
        <p:nvSpPr>
          <p:cNvPr id="21" name="Freeform 20"/>
          <p:cNvSpPr/>
          <p:nvPr/>
        </p:nvSpPr>
        <p:spPr>
          <a:xfrm>
            <a:off x="5885905" y="1453214"/>
            <a:ext cx="2457450" cy="1760585"/>
          </a:xfrm>
          <a:custGeom>
            <a:avLst/>
            <a:gdLst>
              <a:gd name="connsiteX0" fmla="*/ 0 w 2457450"/>
              <a:gd name="connsiteY0" fmla="*/ 0 h 1760585"/>
              <a:gd name="connsiteX1" fmla="*/ 354330 w 2457450"/>
              <a:gd name="connsiteY1" fmla="*/ 1245870 h 1760585"/>
              <a:gd name="connsiteX2" fmla="*/ 1200150 w 2457450"/>
              <a:gd name="connsiteY2" fmla="*/ 1760220 h 1760585"/>
              <a:gd name="connsiteX3" fmla="*/ 2000250 w 2457450"/>
              <a:gd name="connsiteY3" fmla="*/ 1303020 h 1760585"/>
              <a:gd name="connsiteX4" fmla="*/ 2457450 w 2457450"/>
              <a:gd name="connsiteY4" fmla="*/ 22860 h 1760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7450" h="1760585">
                <a:moveTo>
                  <a:pt x="0" y="0"/>
                </a:moveTo>
                <a:cubicBezTo>
                  <a:pt x="77152" y="476250"/>
                  <a:pt x="154305" y="952500"/>
                  <a:pt x="354330" y="1245870"/>
                </a:cubicBezTo>
                <a:cubicBezTo>
                  <a:pt x="554355" y="1539240"/>
                  <a:pt x="925830" y="1750695"/>
                  <a:pt x="1200150" y="1760220"/>
                </a:cubicBezTo>
                <a:cubicBezTo>
                  <a:pt x="1474470" y="1769745"/>
                  <a:pt x="1790700" y="1592580"/>
                  <a:pt x="2000250" y="1303020"/>
                </a:cubicBezTo>
                <a:cubicBezTo>
                  <a:pt x="2209800" y="1013460"/>
                  <a:pt x="2333625" y="518160"/>
                  <a:pt x="2457450" y="22860"/>
                </a:cubicBezTo>
              </a:path>
            </a:pathLst>
          </a:custGeom>
          <a:ln w="15748">
            <a:solidFill>
              <a:schemeClr val="bg2">
                <a:lumMod val="1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F5B787DA-1DA4-4EC6-8533-922F63EC3207}" type="datetime1">
              <a:rPr lang="en-US" smtClean="0">
                <a:solidFill>
                  <a:prstClr val="black">
                    <a:tint val="75000"/>
                  </a:prstClr>
                </a:solidFill>
              </a:rPr>
              <a:t>9/10/2025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Linear Regression</a:t>
            </a: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30</a:t>
            </a:fld>
            <a:endParaRPr lang="en-US">
              <a:solidFill>
                <a:prstClr val="black">
                  <a:tint val="75000"/>
                </a:prstClr>
              </a:solidFill>
            </a:endParaRPr>
          </a:p>
        </p:txBody>
      </p:sp>
      <p:sp>
        <p:nvSpPr>
          <p:cNvPr id="8" name="TextBox 7"/>
          <p:cNvSpPr txBox="1"/>
          <p:nvPr/>
        </p:nvSpPr>
        <p:spPr>
          <a:xfrm>
            <a:off x="838200" y="4171950"/>
            <a:ext cx="3657600" cy="369332"/>
          </a:xfrm>
          <a:prstGeom prst="rect">
            <a:avLst/>
          </a:prstGeom>
          <a:noFill/>
        </p:spPr>
        <p:txBody>
          <a:bodyPr wrap="square" rtlCol="0">
            <a:spAutoFit/>
          </a:bodyPr>
          <a:lstStyle/>
          <a:p>
            <a:r>
              <a:rPr lang="en-US" dirty="0"/>
              <a:t>Calculate J(0), J(0.5), J(1.0)</a:t>
            </a:r>
          </a:p>
        </p:txBody>
      </p:sp>
    </p:spTree>
    <p:extLst>
      <p:ext uri="{BB962C8B-B14F-4D97-AF65-F5344CB8AC3E}">
        <p14:creationId xmlns:p14="http://schemas.microsoft.com/office/powerpoint/2010/main" val="875804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Chart 43"/>
          <p:cNvGraphicFramePr>
            <a:graphicFrameLocks/>
          </p:cNvGraphicFramePr>
          <p:nvPr>
            <p:extLst>
              <p:ext uri="{D42A27DB-BD31-4B8C-83A1-F6EECF244321}">
                <p14:modId xmlns:p14="http://schemas.microsoft.com/office/powerpoint/2010/main" val="2349696626"/>
              </p:ext>
            </p:extLst>
          </p:nvPr>
        </p:nvGraphicFramePr>
        <p:xfrm>
          <a:off x="533400" y="1169225"/>
          <a:ext cx="3169920" cy="2686050"/>
        </p:xfrm>
        <a:graphic>
          <a:graphicData uri="http://schemas.openxmlformats.org/drawingml/2006/chart">
            <c:chart xmlns:c="http://schemas.openxmlformats.org/drawingml/2006/chart" xmlns:r="http://schemas.openxmlformats.org/officeDocument/2006/relationships" r:id="rId10"/>
          </a:graphicData>
        </a:graphic>
      </p:graphicFrame>
      <p:pic>
        <p:nvPicPr>
          <p:cNvPr id="5" name="Picture 4"/>
          <p:cNvPicPr>
            <a:picLocks noChangeAspect="1"/>
          </p:cNvPicPr>
          <p:nvPr>
            <p:custDataLst>
              <p:tags r:id="rId1"/>
            </p:custDataLst>
          </p:nvPr>
        </p:nvPicPr>
        <p:blipFill>
          <a:blip r:embed="rId11" cstate="print">
            <a:extLst>
              <a:ext uri="{28A0092B-C50C-407E-A947-70E740481C1C}">
                <a14:useLocalDpi xmlns:a14="http://schemas.microsoft.com/office/drawing/2010/main" val="0"/>
              </a:ext>
            </a:extLst>
          </a:blip>
          <a:stretch>
            <a:fillRect/>
          </a:stretch>
        </p:blipFill>
        <p:spPr>
          <a:xfrm>
            <a:off x="1957578" y="209550"/>
            <a:ext cx="678942" cy="306324"/>
          </a:xfrm>
          <a:prstGeom prst="rect">
            <a:avLst/>
          </a:prstGeom>
        </p:spPr>
      </p:pic>
      <p:sp>
        <p:nvSpPr>
          <p:cNvPr id="16" name="TextBox 15"/>
          <p:cNvSpPr txBox="1"/>
          <p:nvPr/>
        </p:nvSpPr>
        <p:spPr>
          <a:xfrm>
            <a:off x="228600" y="2102675"/>
            <a:ext cx="324128" cy="461665"/>
          </a:xfrm>
          <a:prstGeom prst="rect">
            <a:avLst/>
          </a:prstGeom>
          <a:noFill/>
        </p:spPr>
        <p:txBody>
          <a:bodyPr wrap="none" rtlCol="0">
            <a:spAutoFit/>
          </a:bodyPr>
          <a:lstStyle/>
          <a:p>
            <a:r>
              <a:rPr lang="en-US" sz="2400" dirty="0"/>
              <a:t>y</a:t>
            </a:r>
          </a:p>
        </p:txBody>
      </p:sp>
      <p:sp>
        <p:nvSpPr>
          <p:cNvPr id="17" name="TextBox 16"/>
          <p:cNvSpPr txBox="1"/>
          <p:nvPr/>
        </p:nvSpPr>
        <p:spPr>
          <a:xfrm>
            <a:off x="2057400" y="3546010"/>
            <a:ext cx="317716" cy="461665"/>
          </a:xfrm>
          <a:prstGeom prst="rect">
            <a:avLst/>
          </a:prstGeom>
          <a:noFill/>
        </p:spPr>
        <p:txBody>
          <a:bodyPr wrap="none" rtlCol="0">
            <a:spAutoFit/>
          </a:bodyPr>
          <a:lstStyle/>
          <a:p>
            <a:r>
              <a:rPr lang="en-US" sz="2400" dirty="0"/>
              <a:t>x</a:t>
            </a:r>
          </a:p>
        </p:txBody>
      </p:sp>
      <p:cxnSp>
        <p:nvCxnSpPr>
          <p:cNvPr id="20" name="Straight Connector 19"/>
          <p:cNvCxnSpPr/>
          <p:nvPr/>
        </p:nvCxnSpPr>
        <p:spPr>
          <a:xfrm flipV="1">
            <a:off x="833252" y="2331276"/>
            <a:ext cx="2595748" cy="1029441"/>
          </a:xfrm>
          <a:prstGeom prst="line">
            <a:avLst/>
          </a:prstGeom>
          <a:ln w="381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3596640" y="2331276"/>
            <a:ext cx="835762" cy="208483"/>
          </a:xfrm>
          <a:prstGeom prst="rect">
            <a:avLst/>
          </a:prstGeom>
        </p:spPr>
      </p:pic>
      <p:sp>
        <p:nvSpPr>
          <p:cNvPr id="30" name="TextBox 29"/>
          <p:cNvSpPr txBox="1"/>
          <p:nvPr/>
        </p:nvSpPr>
        <p:spPr>
          <a:xfrm>
            <a:off x="552728" y="578675"/>
            <a:ext cx="3464666" cy="369332"/>
          </a:xfrm>
          <a:prstGeom prst="rect">
            <a:avLst/>
          </a:prstGeom>
          <a:noFill/>
        </p:spPr>
        <p:txBody>
          <a:bodyPr wrap="none" rtlCol="0">
            <a:spAutoFit/>
          </a:bodyPr>
          <a:lstStyle/>
          <a:p>
            <a:r>
              <a:rPr lang="en-US" dirty="0"/>
              <a:t>(for fixed     , this is a function of x)</a:t>
            </a:r>
          </a:p>
        </p:txBody>
      </p:sp>
      <p:pic>
        <p:nvPicPr>
          <p:cNvPr id="33" name="Picture 32"/>
          <p:cNvPicPr>
            <a:picLocks noChangeAspect="1"/>
          </p:cNvPicPr>
          <p:nvPr>
            <p:custDataLst>
              <p:tags r:id="rId3"/>
            </p:custDataLst>
          </p:nvPr>
        </p:nvPicPr>
        <p:blipFill>
          <a:blip r:embed="rId13" cstate="print">
            <a:extLst>
              <a:ext uri="{28A0092B-C50C-407E-A947-70E740481C1C}">
                <a14:useLocalDpi xmlns:a14="http://schemas.microsoft.com/office/drawing/2010/main" val="0"/>
              </a:ext>
            </a:extLst>
          </a:blip>
          <a:stretch>
            <a:fillRect/>
          </a:stretch>
        </p:blipFill>
        <p:spPr>
          <a:xfrm>
            <a:off x="1534095" y="666750"/>
            <a:ext cx="184709" cy="208483"/>
          </a:xfrm>
          <a:prstGeom prst="rect">
            <a:avLst/>
          </a:prstGeom>
        </p:spPr>
      </p:pic>
      <p:cxnSp>
        <p:nvCxnSpPr>
          <p:cNvPr id="34" name="Straight Connector 33"/>
          <p:cNvCxnSpPr/>
          <p:nvPr/>
        </p:nvCxnSpPr>
        <p:spPr>
          <a:xfrm>
            <a:off x="4648200" y="566800"/>
            <a:ext cx="0" cy="3962400"/>
          </a:xfrm>
          <a:prstGeom prst="line">
            <a:avLst/>
          </a:prstGeom>
          <a:ln w="12700">
            <a:solidFill>
              <a:schemeClr val="tx1">
                <a:alpha val="55000"/>
              </a:schemeClr>
            </a:solidFill>
          </a:ln>
        </p:spPr>
        <p:style>
          <a:lnRef idx="1">
            <a:schemeClr val="accent1"/>
          </a:lnRef>
          <a:fillRef idx="0">
            <a:schemeClr val="accent1"/>
          </a:fillRef>
          <a:effectRef idx="0">
            <a:schemeClr val="accent1"/>
          </a:effectRef>
          <a:fontRef idx="minor">
            <a:schemeClr val="tx1"/>
          </a:fontRef>
        </p:style>
      </p:cxnSp>
      <p:grpSp>
        <p:nvGrpSpPr>
          <p:cNvPr id="39" name="Group 38"/>
          <p:cNvGrpSpPr/>
          <p:nvPr/>
        </p:nvGrpSpPr>
        <p:grpSpPr>
          <a:xfrm>
            <a:off x="5145934" y="209550"/>
            <a:ext cx="3080843" cy="738457"/>
            <a:chOff x="5145934" y="209550"/>
            <a:chExt cx="3080843" cy="738457"/>
          </a:xfrm>
        </p:grpSpPr>
        <p:pic>
          <p:nvPicPr>
            <p:cNvPr id="38" name="Picture 37"/>
            <p:cNvPicPr>
              <a:picLocks noChangeAspect="1"/>
            </p:cNvPicPr>
            <p:nvPr>
              <p:custDataLst>
                <p:tags r:id="rId7"/>
              </p:custDataLst>
            </p:nvPr>
          </p:nvPicPr>
          <p:blipFill>
            <a:blip r:embed="rId14" cstate="print">
              <a:extLst>
                <a:ext uri="{28A0092B-C50C-407E-A947-70E740481C1C}">
                  <a14:useLocalDpi xmlns:a14="http://schemas.microsoft.com/office/drawing/2010/main" val="0"/>
                </a:ext>
              </a:extLst>
            </a:blip>
            <a:stretch>
              <a:fillRect/>
            </a:stretch>
          </p:blipFill>
          <p:spPr>
            <a:xfrm>
              <a:off x="6550784" y="209550"/>
              <a:ext cx="662940" cy="306324"/>
            </a:xfrm>
            <a:prstGeom prst="rect">
              <a:avLst/>
            </a:prstGeom>
          </p:spPr>
        </p:pic>
        <p:sp>
          <p:nvSpPr>
            <p:cNvPr id="36" name="TextBox 35"/>
            <p:cNvSpPr txBox="1"/>
            <p:nvPr/>
          </p:nvSpPr>
          <p:spPr>
            <a:xfrm>
              <a:off x="5145934" y="578675"/>
              <a:ext cx="3080843" cy="369332"/>
            </a:xfrm>
            <a:prstGeom prst="rect">
              <a:avLst/>
            </a:prstGeom>
            <a:noFill/>
          </p:spPr>
          <p:txBody>
            <a:bodyPr wrap="none" rtlCol="0">
              <a:spAutoFit/>
            </a:bodyPr>
            <a:lstStyle/>
            <a:p>
              <a:r>
                <a:rPr lang="en-US" dirty="0"/>
                <a:t>(function of the parameter      )</a:t>
              </a:r>
            </a:p>
          </p:txBody>
        </p:sp>
        <p:pic>
          <p:nvPicPr>
            <p:cNvPr id="37" name="Picture 36"/>
            <p:cNvPicPr>
              <a:picLocks noChangeAspect="1"/>
            </p:cNvPicPr>
            <p:nvPr>
              <p:custDataLst>
                <p:tags r:id="rId8"/>
              </p:custDataLst>
            </p:nvPr>
          </p:nvPicPr>
          <p:blipFill>
            <a:blip r:embed="rId13" cstate="print">
              <a:extLst>
                <a:ext uri="{28A0092B-C50C-407E-A947-70E740481C1C}">
                  <a14:useLocalDpi xmlns:a14="http://schemas.microsoft.com/office/drawing/2010/main" val="0"/>
                </a:ext>
              </a:extLst>
            </a:blip>
            <a:stretch>
              <a:fillRect/>
            </a:stretch>
          </p:blipFill>
          <p:spPr>
            <a:xfrm>
              <a:off x="7816291" y="666750"/>
              <a:ext cx="184709" cy="208483"/>
            </a:xfrm>
            <a:prstGeom prst="rect">
              <a:avLst/>
            </a:prstGeom>
          </p:spPr>
        </p:pic>
      </p:grpSp>
      <p:pic>
        <p:nvPicPr>
          <p:cNvPr id="45" name="Picture 44"/>
          <p:cNvPicPr>
            <a:picLocks noChangeAspect="1"/>
          </p:cNvPicPr>
          <p:nvPr>
            <p:custDataLst>
              <p:tags r:id="rId4"/>
            </p:custDataLst>
          </p:nvPr>
        </p:nvPicPr>
        <p:blipFill>
          <a:blip r:embed="rId15" cstate="print">
            <a:extLst>
              <a:ext uri="{28A0092B-C50C-407E-A947-70E740481C1C}">
                <a14:useLocalDpi xmlns:a14="http://schemas.microsoft.com/office/drawing/2010/main" val="0"/>
              </a:ext>
            </a:extLst>
          </a:blip>
          <a:stretch>
            <a:fillRect/>
          </a:stretch>
        </p:blipFill>
        <p:spPr>
          <a:xfrm>
            <a:off x="3810000" y="1259891"/>
            <a:ext cx="543154" cy="245059"/>
          </a:xfrm>
          <a:prstGeom prst="rect">
            <a:avLst/>
          </a:prstGeom>
        </p:spPr>
      </p:pic>
      <p:grpSp>
        <p:nvGrpSpPr>
          <p:cNvPr id="46" name="Group 45"/>
          <p:cNvGrpSpPr/>
          <p:nvPr/>
        </p:nvGrpSpPr>
        <p:grpSpPr>
          <a:xfrm>
            <a:off x="4956048" y="1104900"/>
            <a:ext cx="3883152" cy="2914650"/>
            <a:chOff x="4956048" y="1104900"/>
            <a:chExt cx="3883152" cy="2914650"/>
          </a:xfrm>
        </p:grpSpPr>
        <p:graphicFrame>
          <p:nvGraphicFramePr>
            <p:cNvPr id="50" name="Chart 49"/>
            <p:cNvGraphicFramePr>
              <a:graphicFrameLocks/>
            </p:cNvGraphicFramePr>
            <p:nvPr>
              <p:extLst>
                <p:ext uri="{D42A27DB-BD31-4B8C-83A1-F6EECF244321}">
                  <p14:modId xmlns:p14="http://schemas.microsoft.com/office/powerpoint/2010/main" val="1033916439"/>
                </p:ext>
              </p:extLst>
            </p:nvPr>
          </p:nvGraphicFramePr>
          <p:xfrm>
            <a:off x="5334000" y="1104900"/>
            <a:ext cx="3505200" cy="2686050"/>
          </p:xfrm>
          <a:graphic>
            <a:graphicData uri="http://schemas.openxmlformats.org/drawingml/2006/chart">
              <c:chart xmlns:c="http://schemas.openxmlformats.org/drawingml/2006/chart" xmlns:r="http://schemas.openxmlformats.org/officeDocument/2006/relationships" r:id="rId16"/>
            </a:graphicData>
          </a:graphic>
        </p:graphicFrame>
        <p:pic>
          <p:nvPicPr>
            <p:cNvPr id="51" name="Picture 50"/>
            <p:cNvPicPr>
              <a:picLocks noChangeAspect="1"/>
            </p:cNvPicPr>
            <p:nvPr>
              <p:custDataLst>
                <p:tags r:id="rId5"/>
              </p:custDataLst>
            </p:nvPr>
          </p:nvPicPr>
          <p:blipFill>
            <a:blip r:embed="rId17" cstate="print">
              <a:extLst>
                <a:ext uri="{28A0092B-C50C-407E-A947-70E740481C1C}">
                  <a14:useLocalDpi xmlns:a14="http://schemas.microsoft.com/office/drawing/2010/main" val="0"/>
                </a:ext>
              </a:extLst>
            </a:blip>
            <a:stretch>
              <a:fillRect/>
            </a:stretch>
          </p:blipFill>
          <p:spPr>
            <a:xfrm>
              <a:off x="4956048" y="2132859"/>
              <a:ext cx="530352" cy="245059"/>
            </a:xfrm>
            <a:prstGeom prst="rect">
              <a:avLst/>
            </a:prstGeom>
          </p:spPr>
        </p:pic>
        <p:pic>
          <p:nvPicPr>
            <p:cNvPr id="52" name="Picture 51"/>
            <p:cNvPicPr>
              <a:picLocks noChangeAspect="1"/>
            </p:cNvPicPr>
            <p:nvPr>
              <p:custDataLst>
                <p:tags r:id="rId6"/>
              </p:custDataLst>
            </p:nvPr>
          </p:nvPicPr>
          <p:blipFill>
            <a:blip r:embed="rId13" cstate="print">
              <a:extLst>
                <a:ext uri="{28A0092B-C50C-407E-A947-70E740481C1C}">
                  <a14:useLocalDpi xmlns:a14="http://schemas.microsoft.com/office/drawing/2010/main" val="0"/>
                </a:ext>
              </a:extLst>
            </a:blip>
            <a:stretch>
              <a:fillRect/>
            </a:stretch>
          </p:blipFill>
          <p:spPr>
            <a:xfrm>
              <a:off x="7022276" y="3811067"/>
              <a:ext cx="184709" cy="208483"/>
            </a:xfrm>
            <a:prstGeom prst="rect">
              <a:avLst/>
            </a:prstGeom>
          </p:spPr>
        </p:pic>
      </p:grpSp>
      <p:sp>
        <p:nvSpPr>
          <p:cNvPr id="4" name="Date Placeholder 3"/>
          <p:cNvSpPr>
            <a:spLocks noGrp="1"/>
          </p:cNvSpPr>
          <p:nvPr>
            <p:ph type="dt" sz="half" idx="10"/>
          </p:nvPr>
        </p:nvSpPr>
        <p:spPr/>
        <p:txBody>
          <a:bodyPr/>
          <a:lstStyle/>
          <a:p>
            <a:fld id="{FE120CC5-9FFC-47E0-B398-FBC4859E350C}" type="datetime1">
              <a:rPr lang="en-US" smtClean="0">
                <a:solidFill>
                  <a:prstClr val="black">
                    <a:tint val="75000"/>
                  </a:prstClr>
                </a:solidFill>
              </a:rPr>
              <a:t>9/10/2025</a:t>
            </a:fld>
            <a:endParaRPr lang="en-US">
              <a:solidFill>
                <a:prstClr val="black">
                  <a:tint val="75000"/>
                </a:prstClr>
              </a:solidFill>
            </a:endParaRPr>
          </a:p>
        </p:txBody>
      </p:sp>
      <p:sp>
        <p:nvSpPr>
          <p:cNvPr id="7" name="Footer Placeholder 6"/>
          <p:cNvSpPr>
            <a:spLocks noGrp="1"/>
          </p:cNvSpPr>
          <p:nvPr>
            <p:ph type="ftr" sz="quarter" idx="11"/>
          </p:nvPr>
        </p:nvSpPr>
        <p:spPr/>
        <p:txBody>
          <a:bodyPr/>
          <a:lstStyle/>
          <a:p>
            <a:r>
              <a:rPr lang="en-US">
                <a:solidFill>
                  <a:prstClr val="black">
                    <a:tint val="75000"/>
                  </a:prstClr>
                </a:solidFill>
              </a:rPr>
              <a:t>Linear Regression</a:t>
            </a:r>
          </a:p>
        </p:txBody>
      </p:sp>
      <p:sp>
        <p:nvSpPr>
          <p:cNvPr id="8" name="Slide Number Placeholder 7"/>
          <p:cNvSpPr>
            <a:spLocks noGrp="1"/>
          </p:cNvSpPr>
          <p:nvPr>
            <p:ph type="sldNum" sz="quarter" idx="12"/>
          </p:nvPr>
        </p:nvSpPr>
        <p:spPr/>
        <p:txBody>
          <a:bodyPr/>
          <a:lstStyle/>
          <a:p>
            <a:fld id="{F043A558-56C3-499B-89A2-59E5853E6BB4}" type="slidenum">
              <a:rPr lang="en-US" smtClean="0">
                <a:solidFill>
                  <a:prstClr val="black">
                    <a:tint val="75000"/>
                  </a:prstClr>
                </a:solidFill>
              </a:rPr>
              <a:pPr/>
              <a:t>31</a:t>
            </a:fld>
            <a:endParaRPr lang="en-US">
              <a:solidFill>
                <a:prstClr val="black">
                  <a:tint val="75000"/>
                </a:prstClr>
              </a:solidFill>
            </a:endParaRPr>
          </a:p>
        </p:txBody>
      </p:sp>
    </p:spTree>
    <p:extLst>
      <p:ext uri="{BB962C8B-B14F-4D97-AF65-F5344CB8AC3E}">
        <p14:creationId xmlns:p14="http://schemas.microsoft.com/office/powerpoint/2010/main" val="25964188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 name="Group 67"/>
          <p:cNvGrpSpPr/>
          <p:nvPr/>
        </p:nvGrpSpPr>
        <p:grpSpPr>
          <a:xfrm>
            <a:off x="4956048" y="1104900"/>
            <a:ext cx="3883152" cy="2914650"/>
            <a:chOff x="4956048" y="1104900"/>
            <a:chExt cx="3883152" cy="2914650"/>
          </a:xfrm>
        </p:grpSpPr>
        <p:graphicFrame>
          <p:nvGraphicFramePr>
            <p:cNvPr id="69" name="Chart 68"/>
            <p:cNvGraphicFramePr>
              <a:graphicFrameLocks/>
            </p:cNvGraphicFramePr>
            <p:nvPr>
              <p:extLst>
                <p:ext uri="{D42A27DB-BD31-4B8C-83A1-F6EECF244321}">
                  <p14:modId xmlns:p14="http://schemas.microsoft.com/office/powerpoint/2010/main" val="447985067"/>
                </p:ext>
              </p:extLst>
            </p:nvPr>
          </p:nvGraphicFramePr>
          <p:xfrm>
            <a:off x="5334000" y="1104900"/>
            <a:ext cx="3505200" cy="2686050"/>
          </p:xfrm>
          <a:graphic>
            <a:graphicData uri="http://schemas.openxmlformats.org/drawingml/2006/chart">
              <c:chart xmlns:c="http://schemas.openxmlformats.org/drawingml/2006/chart" xmlns:r="http://schemas.openxmlformats.org/officeDocument/2006/relationships" r:id="rId10"/>
            </a:graphicData>
          </a:graphic>
        </p:graphicFrame>
        <p:pic>
          <p:nvPicPr>
            <p:cNvPr id="70" name="Picture 69"/>
            <p:cNvPicPr>
              <a:picLocks noChangeAspect="1"/>
            </p:cNvPicPr>
            <p:nvPr>
              <p:custDataLst>
                <p:tags r:id="rId7"/>
              </p:custDataLst>
            </p:nvPr>
          </p:nvPicPr>
          <p:blipFill>
            <a:blip r:embed="rId11" cstate="print">
              <a:extLst>
                <a:ext uri="{28A0092B-C50C-407E-A947-70E740481C1C}">
                  <a14:useLocalDpi xmlns:a14="http://schemas.microsoft.com/office/drawing/2010/main" val="0"/>
                </a:ext>
              </a:extLst>
            </a:blip>
            <a:stretch>
              <a:fillRect/>
            </a:stretch>
          </p:blipFill>
          <p:spPr>
            <a:xfrm>
              <a:off x="4956048" y="2132859"/>
              <a:ext cx="530352" cy="245059"/>
            </a:xfrm>
            <a:prstGeom prst="rect">
              <a:avLst/>
            </a:prstGeom>
          </p:spPr>
        </p:pic>
        <p:pic>
          <p:nvPicPr>
            <p:cNvPr id="71" name="Picture 70"/>
            <p:cNvPicPr>
              <a:picLocks noChangeAspect="1"/>
            </p:cNvPicPr>
            <p:nvPr>
              <p:custDataLst>
                <p:tags r:id="rId8"/>
              </p:custDataLst>
            </p:nvPr>
          </p:nvPicPr>
          <p:blipFill>
            <a:blip r:embed="rId12" cstate="print">
              <a:extLst>
                <a:ext uri="{28A0092B-C50C-407E-A947-70E740481C1C}">
                  <a14:useLocalDpi xmlns:a14="http://schemas.microsoft.com/office/drawing/2010/main" val="0"/>
                </a:ext>
              </a:extLst>
            </a:blip>
            <a:stretch>
              <a:fillRect/>
            </a:stretch>
          </p:blipFill>
          <p:spPr>
            <a:xfrm>
              <a:off x="7022276" y="3811067"/>
              <a:ext cx="184709" cy="208483"/>
            </a:xfrm>
            <a:prstGeom prst="rect">
              <a:avLst/>
            </a:prstGeom>
          </p:spPr>
        </p:pic>
      </p:grpSp>
      <p:pic>
        <p:nvPicPr>
          <p:cNvPr id="5" name="Picture 4"/>
          <p:cNvPicPr>
            <a:picLocks noChangeAspect="1"/>
          </p:cNvPicPr>
          <p:nvPr>
            <p:custDataLst>
              <p:tags r:id="rId1"/>
            </p:custDataLst>
          </p:nvPr>
        </p:nvPicPr>
        <p:blipFill>
          <a:blip r:embed="rId13" cstate="print">
            <a:extLst>
              <a:ext uri="{28A0092B-C50C-407E-A947-70E740481C1C}">
                <a14:useLocalDpi xmlns:a14="http://schemas.microsoft.com/office/drawing/2010/main" val="0"/>
              </a:ext>
            </a:extLst>
          </a:blip>
          <a:stretch>
            <a:fillRect/>
          </a:stretch>
        </p:blipFill>
        <p:spPr>
          <a:xfrm>
            <a:off x="1957578" y="209550"/>
            <a:ext cx="678942" cy="306324"/>
          </a:xfrm>
          <a:prstGeom prst="rect">
            <a:avLst/>
          </a:prstGeom>
        </p:spPr>
      </p:pic>
      <p:sp>
        <p:nvSpPr>
          <p:cNvPr id="16" name="TextBox 15"/>
          <p:cNvSpPr txBox="1"/>
          <p:nvPr/>
        </p:nvSpPr>
        <p:spPr>
          <a:xfrm>
            <a:off x="228600" y="2102675"/>
            <a:ext cx="324128" cy="461665"/>
          </a:xfrm>
          <a:prstGeom prst="rect">
            <a:avLst/>
          </a:prstGeom>
          <a:noFill/>
        </p:spPr>
        <p:txBody>
          <a:bodyPr wrap="none" rtlCol="0">
            <a:spAutoFit/>
          </a:bodyPr>
          <a:lstStyle/>
          <a:p>
            <a:r>
              <a:rPr lang="en-US" sz="2400" dirty="0"/>
              <a:t>y</a:t>
            </a:r>
          </a:p>
        </p:txBody>
      </p:sp>
      <p:sp>
        <p:nvSpPr>
          <p:cNvPr id="17" name="TextBox 16"/>
          <p:cNvSpPr txBox="1"/>
          <p:nvPr/>
        </p:nvSpPr>
        <p:spPr>
          <a:xfrm>
            <a:off x="2057400" y="3546010"/>
            <a:ext cx="317716" cy="461665"/>
          </a:xfrm>
          <a:prstGeom prst="rect">
            <a:avLst/>
          </a:prstGeom>
          <a:noFill/>
        </p:spPr>
        <p:txBody>
          <a:bodyPr wrap="none" rtlCol="0">
            <a:spAutoFit/>
          </a:bodyPr>
          <a:lstStyle/>
          <a:p>
            <a:r>
              <a:rPr lang="en-US" sz="2400" dirty="0"/>
              <a:t>x</a:t>
            </a:r>
          </a:p>
        </p:txBody>
      </p:sp>
      <p:cxnSp>
        <p:nvCxnSpPr>
          <p:cNvPr id="20" name="Straight Connector 19"/>
          <p:cNvCxnSpPr/>
          <p:nvPr/>
        </p:nvCxnSpPr>
        <p:spPr>
          <a:xfrm>
            <a:off x="833252" y="3276119"/>
            <a:ext cx="3002478" cy="13346"/>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pic>
        <p:nvPicPr>
          <p:cNvPr id="23" name="Picture 22"/>
          <p:cNvPicPr>
            <a:picLocks noChangeAspect="1"/>
          </p:cNvPicPr>
          <p:nvPr>
            <p:custDataLst>
              <p:tags r:id="rId2"/>
            </p:custDataLst>
          </p:nvPr>
        </p:nvPicPr>
        <p:blipFill>
          <a:blip r:embed="rId14" cstate="print">
            <a:extLst>
              <a:ext uri="{28A0092B-C50C-407E-A947-70E740481C1C}">
                <a14:useLocalDpi xmlns:a14="http://schemas.microsoft.com/office/drawing/2010/main" val="0"/>
              </a:ext>
            </a:extLst>
          </a:blip>
          <a:stretch>
            <a:fillRect/>
          </a:stretch>
        </p:blipFill>
        <p:spPr>
          <a:xfrm>
            <a:off x="3596640" y="2331277"/>
            <a:ext cx="649224" cy="208483"/>
          </a:xfrm>
          <a:prstGeom prst="rect">
            <a:avLst/>
          </a:prstGeom>
        </p:spPr>
      </p:pic>
      <p:sp>
        <p:nvSpPr>
          <p:cNvPr id="30" name="TextBox 29"/>
          <p:cNvSpPr txBox="1"/>
          <p:nvPr/>
        </p:nvSpPr>
        <p:spPr>
          <a:xfrm>
            <a:off x="552728" y="578675"/>
            <a:ext cx="3464666" cy="369332"/>
          </a:xfrm>
          <a:prstGeom prst="rect">
            <a:avLst/>
          </a:prstGeom>
          <a:noFill/>
        </p:spPr>
        <p:txBody>
          <a:bodyPr wrap="none" rtlCol="0">
            <a:spAutoFit/>
          </a:bodyPr>
          <a:lstStyle/>
          <a:p>
            <a:r>
              <a:rPr lang="en-US" dirty="0"/>
              <a:t>(for fixed     , this is a function of x)</a:t>
            </a:r>
          </a:p>
        </p:txBody>
      </p:sp>
      <p:pic>
        <p:nvPicPr>
          <p:cNvPr id="33" name="Picture 32"/>
          <p:cNvPicPr>
            <a:picLocks noChangeAspect="1"/>
          </p:cNvPicPr>
          <p:nvPr>
            <p:custDataLst>
              <p:tags r:id="rId3"/>
            </p:custDataLst>
          </p:nvPr>
        </p:nvPicPr>
        <p:blipFill>
          <a:blip r:embed="rId12" cstate="print">
            <a:extLst>
              <a:ext uri="{28A0092B-C50C-407E-A947-70E740481C1C}">
                <a14:useLocalDpi xmlns:a14="http://schemas.microsoft.com/office/drawing/2010/main" val="0"/>
              </a:ext>
            </a:extLst>
          </a:blip>
          <a:stretch>
            <a:fillRect/>
          </a:stretch>
        </p:blipFill>
        <p:spPr>
          <a:xfrm>
            <a:off x="1534095" y="666750"/>
            <a:ext cx="184709" cy="208483"/>
          </a:xfrm>
          <a:prstGeom prst="rect">
            <a:avLst/>
          </a:prstGeom>
        </p:spPr>
      </p:pic>
      <p:cxnSp>
        <p:nvCxnSpPr>
          <p:cNvPr id="34" name="Straight Connector 33"/>
          <p:cNvCxnSpPr/>
          <p:nvPr/>
        </p:nvCxnSpPr>
        <p:spPr>
          <a:xfrm>
            <a:off x="4648200" y="566800"/>
            <a:ext cx="0" cy="3962400"/>
          </a:xfrm>
          <a:prstGeom prst="line">
            <a:avLst/>
          </a:prstGeom>
          <a:ln w="12700">
            <a:solidFill>
              <a:schemeClr val="tx1">
                <a:alpha val="55000"/>
              </a:schemeClr>
            </a:solidFill>
          </a:ln>
        </p:spPr>
        <p:style>
          <a:lnRef idx="1">
            <a:schemeClr val="accent1"/>
          </a:lnRef>
          <a:fillRef idx="0">
            <a:schemeClr val="accent1"/>
          </a:fillRef>
          <a:effectRef idx="0">
            <a:schemeClr val="accent1"/>
          </a:effectRef>
          <a:fontRef idx="minor">
            <a:schemeClr val="tx1"/>
          </a:fontRef>
        </p:style>
      </p:cxnSp>
      <p:grpSp>
        <p:nvGrpSpPr>
          <p:cNvPr id="39" name="Group 38"/>
          <p:cNvGrpSpPr/>
          <p:nvPr/>
        </p:nvGrpSpPr>
        <p:grpSpPr>
          <a:xfrm>
            <a:off x="5145934" y="209550"/>
            <a:ext cx="3080843" cy="738457"/>
            <a:chOff x="5145934" y="209550"/>
            <a:chExt cx="3080843" cy="738457"/>
          </a:xfrm>
        </p:grpSpPr>
        <p:pic>
          <p:nvPicPr>
            <p:cNvPr id="38" name="Picture 37"/>
            <p:cNvPicPr>
              <a:picLocks noChangeAspect="1"/>
            </p:cNvPicPr>
            <p:nvPr>
              <p:custDataLst>
                <p:tags r:id="rId5"/>
              </p:custDataLst>
            </p:nvPr>
          </p:nvPicPr>
          <p:blipFill>
            <a:blip r:embed="rId15" cstate="print">
              <a:extLst>
                <a:ext uri="{28A0092B-C50C-407E-A947-70E740481C1C}">
                  <a14:useLocalDpi xmlns:a14="http://schemas.microsoft.com/office/drawing/2010/main" val="0"/>
                </a:ext>
              </a:extLst>
            </a:blip>
            <a:stretch>
              <a:fillRect/>
            </a:stretch>
          </p:blipFill>
          <p:spPr>
            <a:xfrm>
              <a:off x="6550784" y="209550"/>
              <a:ext cx="662940" cy="306324"/>
            </a:xfrm>
            <a:prstGeom prst="rect">
              <a:avLst/>
            </a:prstGeom>
          </p:spPr>
        </p:pic>
        <p:sp>
          <p:nvSpPr>
            <p:cNvPr id="36" name="TextBox 35"/>
            <p:cNvSpPr txBox="1"/>
            <p:nvPr/>
          </p:nvSpPr>
          <p:spPr>
            <a:xfrm>
              <a:off x="5145934" y="578675"/>
              <a:ext cx="3080843" cy="369332"/>
            </a:xfrm>
            <a:prstGeom prst="rect">
              <a:avLst/>
            </a:prstGeom>
            <a:noFill/>
          </p:spPr>
          <p:txBody>
            <a:bodyPr wrap="none" rtlCol="0">
              <a:spAutoFit/>
            </a:bodyPr>
            <a:lstStyle/>
            <a:p>
              <a:r>
                <a:rPr lang="en-US" dirty="0"/>
                <a:t>(function of the parameter      )</a:t>
              </a:r>
            </a:p>
          </p:txBody>
        </p:sp>
        <p:pic>
          <p:nvPicPr>
            <p:cNvPr id="37" name="Picture 36"/>
            <p:cNvPicPr>
              <a:picLocks noChangeAspect="1"/>
            </p:cNvPicPr>
            <p:nvPr>
              <p:custDataLst>
                <p:tags r:id="rId6"/>
              </p:custDataLst>
            </p:nvPr>
          </p:nvPicPr>
          <p:blipFill>
            <a:blip r:embed="rId12" cstate="print">
              <a:extLst>
                <a:ext uri="{28A0092B-C50C-407E-A947-70E740481C1C}">
                  <a14:useLocalDpi xmlns:a14="http://schemas.microsoft.com/office/drawing/2010/main" val="0"/>
                </a:ext>
              </a:extLst>
            </a:blip>
            <a:stretch>
              <a:fillRect/>
            </a:stretch>
          </p:blipFill>
          <p:spPr>
            <a:xfrm>
              <a:off x="7816291" y="666750"/>
              <a:ext cx="184709" cy="208483"/>
            </a:xfrm>
            <a:prstGeom prst="rect">
              <a:avLst/>
            </a:prstGeom>
          </p:spPr>
        </p:pic>
      </p:grpSp>
      <p:graphicFrame>
        <p:nvGraphicFramePr>
          <p:cNvPr id="59" name="Chart 58"/>
          <p:cNvGraphicFramePr>
            <a:graphicFrameLocks/>
          </p:cNvGraphicFramePr>
          <p:nvPr>
            <p:extLst>
              <p:ext uri="{D42A27DB-BD31-4B8C-83A1-F6EECF244321}">
                <p14:modId xmlns:p14="http://schemas.microsoft.com/office/powerpoint/2010/main" val="4051574275"/>
              </p:ext>
            </p:extLst>
          </p:nvPr>
        </p:nvGraphicFramePr>
        <p:xfrm>
          <a:off x="533400" y="1169225"/>
          <a:ext cx="3169920" cy="2686050"/>
        </p:xfrm>
        <a:graphic>
          <a:graphicData uri="http://schemas.openxmlformats.org/drawingml/2006/chart">
            <c:chart xmlns:c="http://schemas.openxmlformats.org/drawingml/2006/chart" xmlns:r="http://schemas.openxmlformats.org/officeDocument/2006/relationships" r:id="rId16"/>
          </a:graphicData>
        </a:graphic>
      </p:graphicFrame>
      <p:pic>
        <p:nvPicPr>
          <p:cNvPr id="60" name="Picture 59"/>
          <p:cNvPicPr>
            <a:picLocks noChangeAspect="1"/>
          </p:cNvPicPr>
          <p:nvPr>
            <p:custDataLst>
              <p:tags r:id="rId4"/>
            </p:custDataLst>
          </p:nvPr>
        </p:nvPicPr>
        <p:blipFill>
          <a:blip r:embed="rId17" cstate="print">
            <a:extLst>
              <a:ext uri="{28A0092B-C50C-407E-A947-70E740481C1C}">
                <a14:useLocalDpi xmlns:a14="http://schemas.microsoft.com/office/drawing/2010/main" val="0"/>
              </a:ext>
            </a:extLst>
          </a:blip>
          <a:stretch>
            <a:fillRect/>
          </a:stretch>
        </p:blipFill>
        <p:spPr>
          <a:xfrm>
            <a:off x="3810000" y="1259891"/>
            <a:ext cx="543154" cy="245059"/>
          </a:xfrm>
          <a:prstGeom prst="rect">
            <a:avLst/>
          </a:prstGeom>
        </p:spPr>
      </p:pic>
      <p:sp>
        <p:nvSpPr>
          <p:cNvPr id="3" name="Date Placeholder 2"/>
          <p:cNvSpPr>
            <a:spLocks noGrp="1"/>
          </p:cNvSpPr>
          <p:nvPr>
            <p:ph type="dt" sz="half" idx="10"/>
          </p:nvPr>
        </p:nvSpPr>
        <p:spPr/>
        <p:txBody>
          <a:bodyPr/>
          <a:lstStyle/>
          <a:p>
            <a:fld id="{301B7D9C-FF5B-47D0-9DA9-125602C072AF}" type="datetime1">
              <a:rPr lang="en-US" smtClean="0">
                <a:solidFill>
                  <a:prstClr val="black">
                    <a:tint val="75000"/>
                  </a:prstClr>
                </a:solidFill>
              </a:rPr>
              <a:t>9/10/2025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r>
              <a:rPr lang="en-US">
                <a:solidFill>
                  <a:prstClr val="black">
                    <a:tint val="75000"/>
                  </a:prstClr>
                </a:solidFill>
              </a:rPr>
              <a:t>Linear Regression</a:t>
            </a: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32</a:t>
            </a:fld>
            <a:endParaRPr lang="en-US">
              <a:solidFill>
                <a:prstClr val="black">
                  <a:tint val="75000"/>
                </a:prstClr>
              </a:solidFill>
            </a:endParaRPr>
          </a:p>
        </p:txBody>
      </p:sp>
    </p:spTree>
    <p:extLst>
      <p:ext uri="{BB962C8B-B14F-4D97-AF65-F5344CB8AC3E}">
        <p14:creationId xmlns:p14="http://schemas.microsoft.com/office/powerpoint/2010/main" val="9726490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3515468" y="895350"/>
            <a:ext cx="2580532" cy="359077"/>
          </a:xfrm>
          <a:prstGeom prst="rect">
            <a:avLst/>
          </a:prstGeom>
        </p:spPr>
      </p:pic>
      <p:sp>
        <p:nvSpPr>
          <p:cNvPr id="10" name="TextBox 9"/>
          <p:cNvSpPr txBox="1"/>
          <p:nvPr/>
        </p:nvSpPr>
        <p:spPr>
          <a:xfrm>
            <a:off x="622258" y="786885"/>
            <a:ext cx="2143536" cy="584775"/>
          </a:xfrm>
          <a:prstGeom prst="rect">
            <a:avLst/>
          </a:prstGeom>
          <a:noFill/>
        </p:spPr>
        <p:txBody>
          <a:bodyPr wrap="none" rtlCol="0">
            <a:spAutoFit/>
          </a:bodyPr>
          <a:lstStyle/>
          <a:p>
            <a:r>
              <a:rPr lang="en-US" sz="3200" dirty="0"/>
              <a:t>Hypothesis:</a:t>
            </a:r>
          </a:p>
        </p:txBody>
      </p:sp>
      <p:pic>
        <p:nvPicPr>
          <p:cNvPr id="20" name="Picture 19"/>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3478530" y="1877915"/>
            <a:ext cx="755670" cy="321562"/>
          </a:xfrm>
          <a:prstGeom prst="rect">
            <a:avLst/>
          </a:prstGeom>
        </p:spPr>
      </p:pic>
      <p:sp>
        <p:nvSpPr>
          <p:cNvPr id="15" name="TextBox 14"/>
          <p:cNvSpPr txBox="1"/>
          <p:nvPr/>
        </p:nvSpPr>
        <p:spPr>
          <a:xfrm>
            <a:off x="622258" y="1719890"/>
            <a:ext cx="2189638" cy="584775"/>
          </a:xfrm>
          <a:prstGeom prst="rect">
            <a:avLst/>
          </a:prstGeom>
          <a:noFill/>
        </p:spPr>
        <p:txBody>
          <a:bodyPr wrap="none" rtlCol="0">
            <a:spAutoFit/>
          </a:bodyPr>
          <a:lstStyle/>
          <a:p>
            <a:r>
              <a:rPr lang="en-US" sz="3200" dirty="0"/>
              <a:t>Parameters:</a:t>
            </a:r>
          </a:p>
        </p:txBody>
      </p:sp>
      <p:pic>
        <p:nvPicPr>
          <p:cNvPr id="4" name="Picture 3"/>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3478530" y="2571750"/>
            <a:ext cx="5360670" cy="753349"/>
          </a:xfrm>
          <a:prstGeom prst="rect">
            <a:avLst/>
          </a:prstGeom>
        </p:spPr>
      </p:pic>
      <p:sp>
        <p:nvSpPr>
          <p:cNvPr id="17" name="TextBox 16"/>
          <p:cNvSpPr txBox="1"/>
          <p:nvPr/>
        </p:nvSpPr>
        <p:spPr>
          <a:xfrm>
            <a:off x="622258" y="2615685"/>
            <a:ext cx="2578142" cy="584775"/>
          </a:xfrm>
          <a:prstGeom prst="rect">
            <a:avLst/>
          </a:prstGeom>
          <a:noFill/>
        </p:spPr>
        <p:txBody>
          <a:bodyPr wrap="none" rtlCol="0">
            <a:spAutoFit/>
          </a:bodyPr>
          <a:lstStyle/>
          <a:p>
            <a:r>
              <a:rPr lang="en-US" sz="3200" dirty="0"/>
              <a:t>Cost Function:</a:t>
            </a:r>
          </a:p>
        </p:txBody>
      </p:sp>
      <p:pic>
        <p:nvPicPr>
          <p:cNvPr id="2" name="Picture 1"/>
          <p:cNvPicPr>
            <a:picLocks noChangeAspect="1"/>
          </p:cNvPicPr>
          <p:nvPr>
            <p:custDataLst>
              <p:tags r:id="rId4"/>
            </p:custDataLst>
          </p:nvPr>
        </p:nvPicPr>
        <p:blipFill>
          <a:blip r:embed="rId9" cstate="print">
            <a:extLst>
              <a:ext uri="{28A0092B-C50C-407E-A947-70E740481C1C}">
                <a14:useLocalDpi xmlns:a14="http://schemas.microsoft.com/office/drawing/2010/main" val="0"/>
              </a:ext>
            </a:extLst>
          </a:blip>
          <a:stretch>
            <a:fillRect/>
          </a:stretch>
        </p:blipFill>
        <p:spPr>
          <a:xfrm>
            <a:off x="3478530" y="3701415"/>
            <a:ext cx="2765679" cy="546735"/>
          </a:xfrm>
          <a:prstGeom prst="rect">
            <a:avLst/>
          </a:prstGeom>
        </p:spPr>
      </p:pic>
      <p:sp>
        <p:nvSpPr>
          <p:cNvPr id="19" name="TextBox 18"/>
          <p:cNvSpPr txBox="1"/>
          <p:nvPr/>
        </p:nvSpPr>
        <p:spPr>
          <a:xfrm>
            <a:off x="622258" y="3587175"/>
            <a:ext cx="1063112" cy="584775"/>
          </a:xfrm>
          <a:prstGeom prst="rect">
            <a:avLst/>
          </a:prstGeom>
          <a:noFill/>
        </p:spPr>
        <p:txBody>
          <a:bodyPr wrap="none" rtlCol="0">
            <a:spAutoFit/>
          </a:bodyPr>
          <a:lstStyle/>
          <a:p>
            <a:r>
              <a:rPr lang="en-US" sz="3200" dirty="0"/>
              <a:t>Goal:</a:t>
            </a:r>
          </a:p>
        </p:txBody>
      </p:sp>
      <p:sp>
        <p:nvSpPr>
          <p:cNvPr id="5" name="Date Placeholder 4"/>
          <p:cNvSpPr>
            <a:spLocks noGrp="1"/>
          </p:cNvSpPr>
          <p:nvPr>
            <p:ph type="dt" sz="half" idx="10"/>
          </p:nvPr>
        </p:nvSpPr>
        <p:spPr/>
        <p:txBody>
          <a:bodyPr/>
          <a:lstStyle/>
          <a:p>
            <a:fld id="{D203F677-72C8-4AF1-BE92-785882A1A754}" type="datetime1">
              <a:rPr lang="en-US" smtClean="0">
                <a:solidFill>
                  <a:prstClr val="black">
                    <a:tint val="75000"/>
                  </a:prstClr>
                </a:solidFill>
              </a:rPr>
              <a:t>9/10/2025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Linear Regression</a:t>
            </a: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33</a:t>
            </a:fld>
            <a:endParaRPr lang="en-US">
              <a:solidFill>
                <a:prstClr val="black">
                  <a:tint val="75000"/>
                </a:prstClr>
              </a:solidFill>
            </a:endParaRPr>
          </a:p>
        </p:txBody>
      </p:sp>
    </p:spTree>
    <p:extLst>
      <p:ext uri="{BB962C8B-B14F-4D97-AF65-F5344CB8AC3E}">
        <p14:creationId xmlns:p14="http://schemas.microsoft.com/office/powerpoint/2010/main" val="3578508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2186F6-F18C-FB94-36D5-422E470272B3}"/>
              </a:ext>
            </a:extLst>
          </p:cNvPr>
          <p:cNvSpPr>
            <a:spLocks noGrp="1"/>
          </p:cNvSpPr>
          <p:nvPr>
            <p:ph type="dt" sz="half" idx="10"/>
          </p:nvPr>
        </p:nvSpPr>
        <p:spPr/>
        <p:txBody>
          <a:bodyPr/>
          <a:lstStyle/>
          <a:p>
            <a:fld id="{4E1295AC-1DCA-48F8-B21B-B79B192BE89E}" type="datetime1">
              <a:rPr lang="en-US" smtClean="0">
                <a:solidFill>
                  <a:prstClr val="black">
                    <a:tint val="75000"/>
                  </a:prstClr>
                </a:solidFill>
              </a:rPr>
              <a:t>9/10/2025</a:t>
            </a:fld>
            <a:endParaRPr lang="en-US">
              <a:solidFill>
                <a:prstClr val="black">
                  <a:tint val="75000"/>
                </a:prstClr>
              </a:solidFill>
            </a:endParaRPr>
          </a:p>
        </p:txBody>
      </p:sp>
      <p:sp>
        <p:nvSpPr>
          <p:cNvPr id="3" name="Footer Placeholder 2">
            <a:extLst>
              <a:ext uri="{FF2B5EF4-FFF2-40B4-BE49-F238E27FC236}">
                <a16:creationId xmlns:a16="http://schemas.microsoft.com/office/drawing/2014/main" id="{B14DE580-D25E-7281-BD78-E6447CDB80D5}"/>
              </a:ext>
            </a:extLst>
          </p:cNvPr>
          <p:cNvSpPr>
            <a:spLocks noGrp="1"/>
          </p:cNvSpPr>
          <p:nvPr>
            <p:ph type="ftr" sz="quarter" idx="11"/>
          </p:nvPr>
        </p:nvSpPr>
        <p:spPr/>
        <p:txBody>
          <a:bodyPr/>
          <a:lstStyle/>
          <a:p>
            <a:r>
              <a:rPr lang="en-US">
                <a:solidFill>
                  <a:prstClr val="black">
                    <a:tint val="75000"/>
                  </a:prstClr>
                </a:solidFill>
              </a:rPr>
              <a:t>Linear Regression</a:t>
            </a:r>
          </a:p>
        </p:txBody>
      </p:sp>
      <p:sp>
        <p:nvSpPr>
          <p:cNvPr id="4" name="Slide Number Placeholder 3">
            <a:extLst>
              <a:ext uri="{FF2B5EF4-FFF2-40B4-BE49-F238E27FC236}">
                <a16:creationId xmlns:a16="http://schemas.microsoft.com/office/drawing/2014/main" id="{A07E3790-FC3D-98AC-6033-C00AD910BF36}"/>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34</a:t>
            </a:fld>
            <a:endParaRPr lang="en-US">
              <a:solidFill>
                <a:prstClr val="black">
                  <a:tint val="75000"/>
                </a:prstClr>
              </a:solidFill>
            </a:endParaRPr>
          </a:p>
        </p:txBody>
      </p:sp>
      <p:sp>
        <p:nvSpPr>
          <p:cNvPr id="6" name="TextBox 5">
            <a:extLst>
              <a:ext uri="{FF2B5EF4-FFF2-40B4-BE49-F238E27FC236}">
                <a16:creationId xmlns:a16="http://schemas.microsoft.com/office/drawing/2014/main" id="{36FD79C4-2EC7-B254-286F-E89EE50241F7}"/>
              </a:ext>
            </a:extLst>
          </p:cNvPr>
          <p:cNvSpPr txBox="1"/>
          <p:nvPr/>
        </p:nvSpPr>
        <p:spPr>
          <a:xfrm>
            <a:off x="436084" y="471907"/>
            <a:ext cx="8555515" cy="2949718"/>
          </a:xfrm>
          <a:prstGeom prst="rect">
            <a:avLst/>
          </a:prstGeom>
          <a:noFill/>
        </p:spPr>
        <p:txBody>
          <a:bodyPr wrap="square">
            <a:spAutoFit/>
          </a:bodyPr>
          <a:lstStyle/>
          <a:p>
            <a:pPr marL="0" marR="0">
              <a:lnSpc>
                <a:spcPct val="107000"/>
              </a:lnSpc>
              <a:spcBef>
                <a:spcPts val="0"/>
              </a:spcBef>
              <a:spcAft>
                <a:spcPts val="800"/>
              </a:spcAf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1. </a:t>
            </a:r>
            <a:r>
              <a:rPr lang="en-US" sz="2400" b="1" kern="0" dirty="0">
                <a:effectLst/>
                <a:latin typeface="Times New Roman" panose="02020603050405020304" pitchFamily="18" charset="0"/>
                <a:ea typeface="Times New Roman" panose="02020603050405020304" pitchFamily="18" charset="0"/>
                <a:cs typeface="Times New Roman" panose="02020603050405020304" pitchFamily="18" charset="0"/>
              </a:rPr>
              <a:t>Mean Squared Error (MSE)</a:t>
            </a: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large differences.</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b="1" kern="0" dirty="0">
                <a:effectLst/>
                <a:latin typeface="Times New Roman" panose="02020603050405020304" pitchFamily="18" charset="0"/>
                <a:ea typeface="Times New Roman" panose="02020603050405020304" pitchFamily="18" charset="0"/>
                <a:cs typeface="Times New Roman" panose="02020603050405020304" pitchFamily="18" charset="0"/>
              </a:rPr>
              <a:t>2. Mean Absolute Error (MAE)</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b="1" kern="0" dirty="0">
                <a:effectLst/>
                <a:latin typeface="Times New Roman" panose="02020603050405020304" pitchFamily="18" charset="0"/>
                <a:ea typeface="Times New Roman" panose="02020603050405020304" pitchFamily="18" charset="0"/>
                <a:cs typeface="Times New Roman" panose="02020603050405020304" pitchFamily="18" charset="0"/>
              </a:rPr>
              <a:t>3. Cross-Entropy Loss (Log Loss)</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b="1" kern="0" dirty="0">
                <a:effectLst/>
                <a:latin typeface="Times New Roman" panose="02020603050405020304" pitchFamily="18" charset="0"/>
                <a:ea typeface="Times New Roman" panose="02020603050405020304" pitchFamily="18" charset="0"/>
                <a:cs typeface="Times New Roman" panose="02020603050405020304" pitchFamily="18" charset="0"/>
              </a:rPr>
              <a:t>4. Hinge Loss</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b="1" kern="0" dirty="0">
                <a:effectLst/>
                <a:latin typeface="Times New Roman" panose="02020603050405020304" pitchFamily="18" charset="0"/>
                <a:ea typeface="Times New Roman" panose="02020603050405020304" pitchFamily="18" charset="0"/>
                <a:cs typeface="Times New Roman" panose="02020603050405020304" pitchFamily="18" charset="0"/>
              </a:rPr>
              <a:t>5. Huber Loss</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b="1" kern="0" dirty="0">
                <a:effectLst/>
                <a:latin typeface="Times New Roman" panose="02020603050405020304" pitchFamily="18" charset="0"/>
                <a:ea typeface="Times New Roman" panose="02020603050405020304" pitchFamily="18" charset="0"/>
                <a:cs typeface="Times New Roman" panose="02020603050405020304" pitchFamily="18" charset="0"/>
              </a:rPr>
              <a:t>6. </a:t>
            </a:r>
            <a:r>
              <a:rPr lang="en-US" sz="2400" b="1" kern="0" dirty="0" err="1">
                <a:effectLst/>
                <a:latin typeface="Times New Roman" panose="02020603050405020304" pitchFamily="18" charset="0"/>
                <a:ea typeface="Times New Roman" panose="02020603050405020304" pitchFamily="18" charset="0"/>
                <a:cs typeface="Times New Roman" panose="02020603050405020304" pitchFamily="18" charset="0"/>
              </a:rPr>
              <a:t>Kullback-Leibler</a:t>
            </a:r>
            <a:r>
              <a:rPr lang="en-US" sz="2400" b="1" kern="0" dirty="0">
                <a:effectLst/>
                <a:latin typeface="Times New Roman" panose="02020603050405020304" pitchFamily="18" charset="0"/>
                <a:ea typeface="Times New Roman" panose="02020603050405020304" pitchFamily="18" charset="0"/>
                <a:cs typeface="Times New Roman" panose="02020603050405020304" pitchFamily="18" charset="0"/>
              </a:rPr>
              <a:t> Divergence (KL Divergence)</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565611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41EFE1-A526-1CA8-45A2-366A38B40D21}"/>
              </a:ext>
            </a:extLst>
          </p:cNvPr>
          <p:cNvSpPr>
            <a:spLocks noGrp="1"/>
          </p:cNvSpPr>
          <p:nvPr>
            <p:ph type="dt" sz="half" idx="10"/>
          </p:nvPr>
        </p:nvSpPr>
        <p:spPr/>
        <p:txBody>
          <a:bodyPr/>
          <a:lstStyle/>
          <a:p>
            <a:fld id="{4E1295AC-1DCA-48F8-B21B-B79B192BE89E}" type="datetime1">
              <a:rPr lang="en-US" smtClean="0">
                <a:solidFill>
                  <a:prstClr val="black">
                    <a:tint val="75000"/>
                  </a:prstClr>
                </a:solidFill>
              </a:rPr>
              <a:t>9/10/2025</a:t>
            </a:fld>
            <a:endParaRPr lang="en-US">
              <a:solidFill>
                <a:prstClr val="black">
                  <a:tint val="75000"/>
                </a:prstClr>
              </a:solidFill>
            </a:endParaRPr>
          </a:p>
        </p:txBody>
      </p:sp>
      <p:sp>
        <p:nvSpPr>
          <p:cNvPr id="3" name="Footer Placeholder 2">
            <a:extLst>
              <a:ext uri="{FF2B5EF4-FFF2-40B4-BE49-F238E27FC236}">
                <a16:creationId xmlns:a16="http://schemas.microsoft.com/office/drawing/2014/main" id="{EF532FAD-5382-6AB6-F49F-387A931154D2}"/>
              </a:ext>
            </a:extLst>
          </p:cNvPr>
          <p:cNvSpPr>
            <a:spLocks noGrp="1"/>
          </p:cNvSpPr>
          <p:nvPr>
            <p:ph type="ftr" sz="quarter" idx="11"/>
          </p:nvPr>
        </p:nvSpPr>
        <p:spPr/>
        <p:txBody>
          <a:bodyPr/>
          <a:lstStyle/>
          <a:p>
            <a:r>
              <a:rPr lang="en-US">
                <a:solidFill>
                  <a:prstClr val="black">
                    <a:tint val="75000"/>
                  </a:prstClr>
                </a:solidFill>
              </a:rPr>
              <a:t>Linear Regression</a:t>
            </a:r>
          </a:p>
        </p:txBody>
      </p:sp>
      <p:sp>
        <p:nvSpPr>
          <p:cNvPr id="4" name="Slide Number Placeholder 3">
            <a:extLst>
              <a:ext uri="{FF2B5EF4-FFF2-40B4-BE49-F238E27FC236}">
                <a16:creationId xmlns:a16="http://schemas.microsoft.com/office/drawing/2014/main" id="{1CEEDFAD-E8E1-7A9E-AD1B-CD4F1827B60A}"/>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35</a:t>
            </a:fld>
            <a:endParaRPr lang="en-US">
              <a:solidFill>
                <a:prstClr val="black">
                  <a:tint val="75000"/>
                </a:prstClr>
              </a:solidFill>
            </a:endParaRPr>
          </a:p>
        </p:txBody>
      </p:sp>
      <p:sp>
        <p:nvSpPr>
          <p:cNvPr id="6" name="TextBox 5">
            <a:extLst>
              <a:ext uri="{FF2B5EF4-FFF2-40B4-BE49-F238E27FC236}">
                <a16:creationId xmlns:a16="http://schemas.microsoft.com/office/drawing/2014/main" id="{E28EC67E-6EAB-9794-2813-8143C2DCBF39}"/>
              </a:ext>
            </a:extLst>
          </p:cNvPr>
          <p:cNvSpPr txBox="1"/>
          <p:nvPr/>
        </p:nvSpPr>
        <p:spPr>
          <a:xfrm>
            <a:off x="228600" y="209550"/>
            <a:ext cx="8686800" cy="4767587"/>
          </a:xfrm>
          <a:prstGeom prst="rect">
            <a:avLst/>
          </a:prstGeom>
          <a:noFill/>
        </p:spPr>
        <p:txBody>
          <a:bodyPr wrap="square">
            <a:spAutoFit/>
          </a:bodyPr>
          <a:lstStyle/>
          <a:p>
            <a:pPr marL="0" marR="0">
              <a:lnSpc>
                <a:spcPct val="107000"/>
              </a:lnSpc>
              <a:spcBef>
                <a:spcPts val="0"/>
              </a:spcBef>
              <a:spcAft>
                <a:spcPts val="800"/>
              </a:spcAft>
            </a:pP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Choosing the Right Cost Function</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Choosing the correct cost function depends on the type of machine learning task, the data, and the specific characteristics of the problem. Here are some guidelines:</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Regression Tasks</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Mean Squared Error (MSE), Mean Absolute Error (MAE), and Huber Loss are common choices. MSE is preferred when we want to penalize larger errors more, while MAE is robust to outliers. Huber Loss offers a balance between the two.</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Classification Tasks</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Cross-Entropy Loss is commonly used in classification problems, especially when probabilities are involved. Hinge Loss is used in support vector machines. For imbalanced datasets, specialized cost functions like focal loss (a variant of cross-entropy) are used.</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Probabilistic Models</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kern="0" dirty="0" err="1">
                <a:effectLst/>
                <a:latin typeface="Times New Roman" panose="02020603050405020304" pitchFamily="18" charset="0"/>
                <a:ea typeface="Times New Roman" panose="02020603050405020304" pitchFamily="18" charset="0"/>
                <a:cs typeface="Times New Roman" panose="02020603050405020304" pitchFamily="18" charset="0"/>
              </a:rPr>
              <a:t>Kullback-Leibler</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Divergence is used when comparing probability distributions, particularly in models like Variational Autoencoders.</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638234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custDataLst>
              <p:tags r:id="rId1"/>
            </p:custDataLst>
          </p:nvPr>
        </p:nvPicPr>
        <p:blipFill>
          <a:blip r:embed="rId11" cstate="print">
            <a:extLst>
              <a:ext uri="{28A0092B-C50C-407E-A947-70E740481C1C}">
                <a14:useLocalDpi xmlns:a14="http://schemas.microsoft.com/office/drawing/2010/main" val="0"/>
              </a:ext>
            </a:extLst>
          </a:blip>
          <a:stretch>
            <a:fillRect/>
          </a:stretch>
        </p:blipFill>
        <p:spPr>
          <a:xfrm>
            <a:off x="2243050" y="209550"/>
            <a:ext cx="678942" cy="306324"/>
          </a:xfrm>
          <a:prstGeom prst="rect">
            <a:avLst/>
          </a:prstGeom>
        </p:spPr>
      </p:pic>
      <p:pic>
        <p:nvPicPr>
          <p:cNvPr id="4" name="Picture 3"/>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1096518" y="4400550"/>
            <a:ext cx="2484882" cy="306324"/>
          </a:xfrm>
          <a:prstGeom prst="rect">
            <a:avLst/>
          </a:prstGeom>
        </p:spPr>
      </p:pic>
      <p:sp>
        <p:nvSpPr>
          <p:cNvPr id="30" name="TextBox 29"/>
          <p:cNvSpPr txBox="1"/>
          <p:nvPr/>
        </p:nvSpPr>
        <p:spPr>
          <a:xfrm>
            <a:off x="838200" y="578675"/>
            <a:ext cx="3729162" cy="369332"/>
          </a:xfrm>
          <a:prstGeom prst="rect">
            <a:avLst/>
          </a:prstGeom>
          <a:noFill/>
        </p:spPr>
        <p:txBody>
          <a:bodyPr wrap="none" rtlCol="0">
            <a:spAutoFit/>
          </a:bodyPr>
          <a:lstStyle/>
          <a:p>
            <a:r>
              <a:rPr lang="en-US" dirty="0"/>
              <a:t>(for fixed           , this is a function of x)</a:t>
            </a:r>
          </a:p>
        </p:txBody>
      </p:sp>
      <p:pic>
        <p:nvPicPr>
          <p:cNvPr id="3" name="Picture 2"/>
          <p:cNvPicPr>
            <a:picLocks noChangeAspect="1"/>
          </p:cNvPicPr>
          <p:nvPr>
            <p:custDataLst>
              <p:tags r:id="rId3"/>
            </p:custDataLst>
          </p:nvPr>
        </p:nvPicPr>
        <p:blipFill>
          <a:blip r:embed="rId13" cstate="print">
            <a:extLst>
              <a:ext uri="{28A0092B-C50C-407E-A947-70E740481C1C}">
                <a14:useLocalDpi xmlns:a14="http://schemas.microsoft.com/office/drawing/2010/main" val="0"/>
              </a:ext>
            </a:extLst>
          </a:blip>
          <a:stretch>
            <a:fillRect/>
          </a:stretch>
        </p:blipFill>
        <p:spPr>
          <a:xfrm>
            <a:off x="1819568" y="666750"/>
            <a:ext cx="519391" cy="222859"/>
          </a:xfrm>
          <a:prstGeom prst="rect">
            <a:avLst/>
          </a:prstGeom>
        </p:spPr>
      </p:pic>
      <p:cxnSp>
        <p:nvCxnSpPr>
          <p:cNvPr id="34" name="Straight Connector 33"/>
          <p:cNvCxnSpPr/>
          <p:nvPr/>
        </p:nvCxnSpPr>
        <p:spPr>
          <a:xfrm>
            <a:off x="5105400" y="566800"/>
            <a:ext cx="0" cy="3962400"/>
          </a:xfrm>
          <a:prstGeom prst="line">
            <a:avLst/>
          </a:prstGeom>
          <a:ln w="12700">
            <a:solidFill>
              <a:schemeClr val="tx1">
                <a:alpha val="55000"/>
              </a:schemeClr>
            </a:solidFill>
          </a:ln>
        </p:spPr>
        <p:style>
          <a:lnRef idx="1">
            <a:schemeClr val="accent1"/>
          </a:lnRef>
          <a:fillRef idx="0">
            <a:schemeClr val="accent1"/>
          </a:fillRef>
          <a:effectRef idx="0">
            <a:schemeClr val="accent1"/>
          </a:effectRef>
          <a:fontRef idx="minor">
            <a:schemeClr val="tx1"/>
          </a:fontRef>
        </p:style>
      </p:cxnSp>
      <p:pic>
        <p:nvPicPr>
          <p:cNvPr id="65" name="Picture 64"/>
          <p:cNvPicPr>
            <a:picLocks noChangeAspect="1"/>
          </p:cNvPicPr>
          <p:nvPr>
            <p:custDataLst>
              <p:tags r:id="rId4"/>
            </p:custDataLst>
          </p:nvPr>
        </p:nvPicPr>
        <p:blipFill>
          <a:blip r:embed="rId14" cstate="print">
            <a:extLst>
              <a:ext uri="{28A0092B-C50C-407E-A947-70E740481C1C}">
                <a14:useLocalDpi xmlns:a14="http://schemas.microsoft.com/office/drawing/2010/main" val="0"/>
              </a:ext>
            </a:extLst>
          </a:blip>
          <a:stretch>
            <a:fillRect/>
          </a:stretch>
        </p:blipFill>
        <p:spPr>
          <a:xfrm>
            <a:off x="6550784" y="209550"/>
            <a:ext cx="1076706" cy="306324"/>
          </a:xfrm>
          <a:prstGeom prst="rect">
            <a:avLst/>
          </a:prstGeom>
        </p:spPr>
      </p:pic>
      <p:sp>
        <p:nvSpPr>
          <p:cNvPr id="36" name="TextBox 35"/>
          <p:cNvSpPr txBox="1"/>
          <p:nvPr/>
        </p:nvSpPr>
        <p:spPr>
          <a:xfrm>
            <a:off x="5328312" y="578675"/>
            <a:ext cx="3484031" cy="369332"/>
          </a:xfrm>
          <a:prstGeom prst="rect">
            <a:avLst/>
          </a:prstGeom>
          <a:noFill/>
        </p:spPr>
        <p:txBody>
          <a:bodyPr wrap="none" rtlCol="0">
            <a:spAutoFit/>
          </a:bodyPr>
          <a:lstStyle/>
          <a:p>
            <a:r>
              <a:rPr lang="en-US" dirty="0"/>
              <a:t>(function of the parameters            )</a:t>
            </a:r>
          </a:p>
        </p:txBody>
      </p:sp>
      <p:pic>
        <p:nvPicPr>
          <p:cNvPr id="66" name="Picture 65"/>
          <p:cNvPicPr>
            <a:picLocks noChangeAspect="1"/>
          </p:cNvPicPr>
          <p:nvPr>
            <p:custDataLst>
              <p:tags r:id="rId5"/>
            </p:custDataLst>
          </p:nvPr>
        </p:nvPicPr>
        <p:blipFill>
          <a:blip r:embed="rId15" cstate="print">
            <a:extLst>
              <a:ext uri="{28A0092B-C50C-407E-A947-70E740481C1C}">
                <a14:useLocalDpi xmlns:a14="http://schemas.microsoft.com/office/drawing/2010/main" val="0"/>
              </a:ext>
            </a:extLst>
          </a:blip>
          <a:stretch>
            <a:fillRect/>
          </a:stretch>
        </p:blipFill>
        <p:spPr>
          <a:xfrm>
            <a:off x="8080557" y="666750"/>
            <a:ext cx="515722" cy="219456"/>
          </a:xfrm>
          <a:prstGeom prst="rect">
            <a:avLst/>
          </a:prstGeom>
        </p:spPr>
      </p:pic>
      <p:pic>
        <p:nvPicPr>
          <p:cNvPr id="48" name="Picture 47"/>
          <p:cNvPicPr>
            <a:picLocks noChangeAspect="1"/>
          </p:cNvPicPr>
          <p:nvPr>
            <p:custDataLst>
              <p:tags r:id="rId6"/>
            </p:custDataLst>
          </p:nvPr>
        </p:nvPicPr>
        <p:blipFill>
          <a:blip r:embed="rId16" cstate="print">
            <a:extLst>
              <a:ext uri="{28A0092B-C50C-407E-A947-70E740481C1C}">
                <a14:useLocalDpi xmlns:a14="http://schemas.microsoft.com/office/drawing/2010/main" val="0"/>
              </a:ext>
            </a:extLst>
          </a:blip>
          <a:stretch>
            <a:fillRect/>
          </a:stretch>
        </p:blipFill>
        <p:spPr>
          <a:xfrm>
            <a:off x="12211050" y="1137361"/>
            <a:ext cx="530352" cy="245059"/>
          </a:xfrm>
          <a:prstGeom prst="rect">
            <a:avLst/>
          </a:prstGeom>
        </p:spPr>
      </p:pic>
      <p:pic>
        <p:nvPicPr>
          <p:cNvPr id="47" name="Picture 46"/>
          <p:cNvPicPr>
            <a:picLocks noChangeAspect="1"/>
          </p:cNvPicPr>
          <p:nvPr>
            <p:custDataLst>
              <p:tags r:id="rId7"/>
            </p:custDataLst>
          </p:nvPr>
        </p:nvPicPr>
        <p:blipFill>
          <a:blip r:embed="rId17" cstate="print">
            <a:extLst>
              <a:ext uri="{28A0092B-C50C-407E-A947-70E740481C1C}">
                <a14:useLocalDpi xmlns:a14="http://schemas.microsoft.com/office/drawing/2010/main" val="0"/>
              </a:ext>
            </a:extLst>
          </a:blip>
          <a:stretch>
            <a:fillRect/>
          </a:stretch>
        </p:blipFill>
        <p:spPr>
          <a:xfrm>
            <a:off x="11041505" y="3536137"/>
            <a:ext cx="184709" cy="208483"/>
          </a:xfrm>
          <a:prstGeom prst="rect">
            <a:avLst/>
          </a:prstGeom>
        </p:spPr>
      </p:pic>
      <p:graphicFrame>
        <p:nvGraphicFramePr>
          <p:cNvPr id="54" name="Chart 53"/>
          <p:cNvGraphicFramePr>
            <a:graphicFrameLocks/>
          </p:cNvGraphicFramePr>
          <p:nvPr>
            <p:extLst>
              <p:ext uri="{D42A27DB-BD31-4B8C-83A1-F6EECF244321}">
                <p14:modId xmlns:p14="http://schemas.microsoft.com/office/powerpoint/2010/main" val="2083933837"/>
              </p:ext>
            </p:extLst>
          </p:nvPr>
        </p:nvGraphicFramePr>
        <p:xfrm>
          <a:off x="955296" y="1200150"/>
          <a:ext cx="4114800" cy="2909045"/>
        </p:xfrm>
        <a:graphic>
          <a:graphicData uri="http://schemas.openxmlformats.org/drawingml/2006/chart">
            <c:chart xmlns:c="http://schemas.openxmlformats.org/drawingml/2006/chart" xmlns:r="http://schemas.openxmlformats.org/officeDocument/2006/relationships" r:id="rId18"/>
          </a:graphicData>
        </a:graphic>
      </p:graphicFrame>
      <p:sp>
        <p:nvSpPr>
          <p:cNvPr id="55" name="TextBox 54"/>
          <p:cNvSpPr txBox="1"/>
          <p:nvPr/>
        </p:nvSpPr>
        <p:spPr>
          <a:xfrm>
            <a:off x="0" y="2001619"/>
            <a:ext cx="1013739" cy="646331"/>
          </a:xfrm>
          <a:prstGeom prst="rect">
            <a:avLst/>
          </a:prstGeom>
          <a:noFill/>
        </p:spPr>
        <p:txBody>
          <a:bodyPr vert="horz" wrap="none" rtlCol="0">
            <a:spAutoFit/>
          </a:bodyPr>
          <a:lstStyle/>
          <a:p>
            <a:pPr algn="ctr"/>
            <a:r>
              <a:rPr lang="en-US" dirty="0"/>
              <a:t>Price ($) </a:t>
            </a:r>
          </a:p>
          <a:p>
            <a:pPr algn="ctr"/>
            <a:r>
              <a:rPr lang="en-US" dirty="0"/>
              <a:t>in 1000’s</a:t>
            </a:r>
          </a:p>
        </p:txBody>
      </p:sp>
      <p:sp>
        <p:nvSpPr>
          <p:cNvPr id="57" name="TextBox 56"/>
          <p:cNvSpPr txBox="1"/>
          <p:nvPr/>
        </p:nvSpPr>
        <p:spPr>
          <a:xfrm>
            <a:off x="2286000" y="3943350"/>
            <a:ext cx="1607171" cy="369332"/>
          </a:xfrm>
          <a:prstGeom prst="rect">
            <a:avLst/>
          </a:prstGeom>
          <a:noFill/>
        </p:spPr>
        <p:txBody>
          <a:bodyPr vert="horz" wrap="none" rtlCol="0">
            <a:spAutoFit/>
          </a:bodyPr>
          <a:lstStyle/>
          <a:p>
            <a:pPr algn="ctr"/>
            <a:r>
              <a:rPr lang="en-US" dirty="0"/>
              <a:t>Size in feet</a:t>
            </a:r>
            <a:r>
              <a:rPr lang="en-US" baseline="30000" dirty="0"/>
              <a:t>2</a:t>
            </a:r>
            <a:r>
              <a:rPr lang="en-US" dirty="0"/>
              <a:t> (x)</a:t>
            </a:r>
          </a:p>
        </p:txBody>
      </p:sp>
      <p:cxnSp>
        <p:nvCxnSpPr>
          <p:cNvPr id="59" name="Straight Connector 58"/>
          <p:cNvCxnSpPr/>
          <p:nvPr/>
        </p:nvCxnSpPr>
        <p:spPr>
          <a:xfrm flipV="1">
            <a:off x="1013739" y="2535013"/>
            <a:ext cx="3863061" cy="1047215"/>
          </a:xfrm>
          <a:prstGeom prst="line">
            <a:avLst/>
          </a:prstGeom>
          <a:ln w="254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flipV="1">
            <a:off x="9925050" y="1021299"/>
            <a:ext cx="0" cy="2629966"/>
          </a:xfrm>
          <a:prstGeom prst="line">
            <a:avLst/>
          </a:prstGeom>
          <a:ln w="15875">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9696450" y="3383498"/>
            <a:ext cx="2971800" cy="0"/>
          </a:xfrm>
          <a:prstGeom prst="line">
            <a:avLst/>
          </a:prstGeom>
          <a:ln w="15875">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sp>
        <p:nvSpPr>
          <p:cNvPr id="2" name="Freeform 1"/>
          <p:cNvSpPr/>
          <p:nvPr/>
        </p:nvSpPr>
        <p:spPr>
          <a:xfrm>
            <a:off x="5885905" y="1444491"/>
            <a:ext cx="2457450" cy="1760585"/>
          </a:xfrm>
          <a:custGeom>
            <a:avLst/>
            <a:gdLst>
              <a:gd name="connsiteX0" fmla="*/ 0 w 2457450"/>
              <a:gd name="connsiteY0" fmla="*/ 0 h 1760585"/>
              <a:gd name="connsiteX1" fmla="*/ 354330 w 2457450"/>
              <a:gd name="connsiteY1" fmla="*/ 1245870 h 1760585"/>
              <a:gd name="connsiteX2" fmla="*/ 1200150 w 2457450"/>
              <a:gd name="connsiteY2" fmla="*/ 1760220 h 1760585"/>
              <a:gd name="connsiteX3" fmla="*/ 2000250 w 2457450"/>
              <a:gd name="connsiteY3" fmla="*/ 1303020 h 1760585"/>
              <a:gd name="connsiteX4" fmla="*/ 2457450 w 2457450"/>
              <a:gd name="connsiteY4" fmla="*/ 22860 h 1760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7450" h="1760585">
                <a:moveTo>
                  <a:pt x="0" y="0"/>
                </a:moveTo>
                <a:cubicBezTo>
                  <a:pt x="77152" y="476250"/>
                  <a:pt x="154305" y="952500"/>
                  <a:pt x="354330" y="1245870"/>
                </a:cubicBezTo>
                <a:cubicBezTo>
                  <a:pt x="554355" y="1539240"/>
                  <a:pt x="925830" y="1750695"/>
                  <a:pt x="1200150" y="1760220"/>
                </a:cubicBezTo>
                <a:cubicBezTo>
                  <a:pt x="1474470" y="1769745"/>
                  <a:pt x="1790700" y="1592580"/>
                  <a:pt x="2000250" y="1303020"/>
                </a:cubicBezTo>
                <a:cubicBezTo>
                  <a:pt x="2209800" y="1013460"/>
                  <a:pt x="2333625" y="518160"/>
                  <a:pt x="2457450" y="22860"/>
                </a:cubicBezTo>
              </a:path>
            </a:pathLst>
          </a:custGeom>
          <a:ln w="15748">
            <a:solidFill>
              <a:schemeClr val="bg2">
                <a:lumMod val="1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Date Placeholder 6"/>
          <p:cNvSpPr>
            <a:spLocks noGrp="1"/>
          </p:cNvSpPr>
          <p:nvPr>
            <p:ph type="dt" sz="half" idx="10"/>
          </p:nvPr>
        </p:nvSpPr>
        <p:spPr/>
        <p:txBody>
          <a:bodyPr/>
          <a:lstStyle/>
          <a:p>
            <a:fld id="{7FC3E555-D368-43CC-A577-3764962B51A1}" type="datetime1">
              <a:rPr lang="en-US" smtClean="0">
                <a:solidFill>
                  <a:prstClr val="black">
                    <a:tint val="75000"/>
                  </a:prstClr>
                </a:solidFill>
              </a:rPr>
              <a:t>9/10/2025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r>
              <a:rPr lang="en-US">
                <a:solidFill>
                  <a:prstClr val="black">
                    <a:tint val="75000"/>
                  </a:prstClr>
                </a:solidFill>
              </a:rPr>
              <a:t>Linear Regression</a:t>
            </a:r>
          </a:p>
        </p:txBody>
      </p:sp>
      <p:sp>
        <p:nvSpPr>
          <p:cNvPr id="9" name="Slide Number Placeholder 8"/>
          <p:cNvSpPr>
            <a:spLocks noGrp="1"/>
          </p:cNvSpPr>
          <p:nvPr>
            <p:ph type="sldNum" sz="quarter" idx="12"/>
          </p:nvPr>
        </p:nvSpPr>
        <p:spPr/>
        <p:txBody>
          <a:bodyPr/>
          <a:lstStyle/>
          <a:p>
            <a:fld id="{F043A558-56C3-499B-89A2-59E5853E6BB4}" type="slidenum">
              <a:rPr lang="en-US" smtClean="0">
                <a:solidFill>
                  <a:prstClr val="black">
                    <a:tint val="75000"/>
                  </a:prstClr>
                </a:solidFill>
              </a:rPr>
              <a:pPr/>
              <a:t>36</a:t>
            </a:fld>
            <a:endParaRPr lang="en-US">
              <a:solidFill>
                <a:prstClr val="black">
                  <a:tint val="75000"/>
                </a:prstClr>
              </a:solidFill>
            </a:endParaRPr>
          </a:p>
        </p:txBody>
      </p:sp>
      <p:grpSp>
        <p:nvGrpSpPr>
          <p:cNvPr id="23" name="Group 22"/>
          <p:cNvGrpSpPr/>
          <p:nvPr/>
        </p:nvGrpSpPr>
        <p:grpSpPr>
          <a:xfrm>
            <a:off x="4956048" y="1104900"/>
            <a:ext cx="3883152" cy="2914650"/>
            <a:chOff x="4956048" y="1104900"/>
            <a:chExt cx="3883152" cy="2914650"/>
          </a:xfrm>
        </p:grpSpPr>
        <p:graphicFrame>
          <p:nvGraphicFramePr>
            <p:cNvPr id="24" name="Chart 23"/>
            <p:cNvGraphicFramePr>
              <a:graphicFrameLocks/>
            </p:cNvGraphicFramePr>
            <p:nvPr>
              <p:extLst>
                <p:ext uri="{D42A27DB-BD31-4B8C-83A1-F6EECF244321}">
                  <p14:modId xmlns:p14="http://schemas.microsoft.com/office/powerpoint/2010/main" val="1747359930"/>
                </p:ext>
              </p:extLst>
            </p:nvPr>
          </p:nvGraphicFramePr>
          <p:xfrm>
            <a:off x="5334000" y="1104900"/>
            <a:ext cx="3505200" cy="2686050"/>
          </p:xfrm>
          <a:graphic>
            <a:graphicData uri="http://schemas.openxmlformats.org/drawingml/2006/chart">
              <c:chart xmlns:c="http://schemas.openxmlformats.org/drawingml/2006/chart" xmlns:r="http://schemas.openxmlformats.org/officeDocument/2006/relationships" r:id="rId19"/>
            </a:graphicData>
          </a:graphic>
        </p:graphicFrame>
        <p:pic>
          <p:nvPicPr>
            <p:cNvPr id="25" name="Picture 24"/>
            <p:cNvPicPr>
              <a:picLocks noChangeAspect="1"/>
            </p:cNvPicPr>
            <p:nvPr>
              <p:custDataLst>
                <p:tags r:id="rId8"/>
              </p:custDataLst>
            </p:nvPr>
          </p:nvPicPr>
          <p:blipFill>
            <a:blip r:embed="rId16" cstate="print">
              <a:extLst>
                <a:ext uri="{28A0092B-C50C-407E-A947-70E740481C1C}">
                  <a14:useLocalDpi xmlns:a14="http://schemas.microsoft.com/office/drawing/2010/main" val="0"/>
                </a:ext>
              </a:extLst>
            </a:blip>
            <a:stretch>
              <a:fillRect/>
            </a:stretch>
          </p:blipFill>
          <p:spPr>
            <a:xfrm>
              <a:off x="4956048" y="2132859"/>
              <a:ext cx="530352" cy="245059"/>
            </a:xfrm>
            <a:prstGeom prst="rect">
              <a:avLst/>
            </a:prstGeom>
          </p:spPr>
        </p:pic>
        <p:pic>
          <p:nvPicPr>
            <p:cNvPr id="26" name="Picture 25"/>
            <p:cNvPicPr>
              <a:picLocks noChangeAspect="1"/>
            </p:cNvPicPr>
            <p:nvPr>
              <p:custDataLst>
                <p:tags r:id="rId9"/>
              </p:custDataLst>
            </p:nvPr>
          </p:nvPicPr>
          <p:blipFill>
            <a:blip r:embed="rId17" cstate="print">
              <a:extLst>
                <a:ext uri="{28A0092B-C50C-407E-A947-70E740481C1C}">
                  <a14:useLocalDpi xmlns:a14="http://schemas.microsoft.com/office/drawing/2010/main" val="0"/>
                </a:ext>
              </a:extLst>
            </a:blip>
            <a:stretch>
              <a:fillRect/>
            </a:stretch>
          </p:blipFill>
          <p:spPr>
            <a:xfrm>
              <a:off x="7022276" y="3811067"/>
              <a:ext cx="184709" cy="208483"/>
            </a:xfrm>
            <a:prstGeom prst="rect">
              <a:avLst/>
            </a:prstGeom>
          </p:spPr>
        </p:pic>
      </p:grpSp>
    </p:spTree>
    <p:extLst>
      <p:ext uri="{BB962C8B-B14F-4D97-AF65-F5344CB8AC3E}">
        <p14:creationId xmlns:p14="http://schemas.microsoft.com/office/powerpoint/2010/main" val="3561616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Public\Documents\ml-class\lectures-slides\assets\2.bow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57150"/>
            <a:ext cx="6310772" cy="4953000"/>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p:cNvSpPr>
            <a:spLocks noGrp="1"/>
          </p:cNvSpPr>
          <p:nvPr>
            <p:ph type="dt" sz="half" idx="10"/>
          </p:nvPr>
        </p:nvSpPr>
        <p:spPr/>
        <p:txBody>
          <a:bodyPr/>
          <a:lstStyle/>
          <a:p>
            <a:fld id="{97753811-334E-4CB0-9E57-5C8533B05BB3}" type="datetime1">
              <a:rPr lang="en-US" smtClean="0">
                <a:solidFill>
                  <a:prstClr val="black">
                    <a:tint val="75000"/>
                  </a:prstClr>
                </a:solidFill>
              </a:rPr>
              <a:t>9/10/2025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Linear Regression</a:t>
            </a: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37</a:t>
            </a:fld>
            <a:endParaRPr lang="en-US">
              <a:solidFill>
                <a:prstClr val="black">
                  <a:tint val="75000"/>
                </a:prstClr>
              </a:solidFill>
            </a:endParaRPr>
          </a:p>
        </p:txBody>
      </p:sp>
    </p:spTree>
    <p:extLst>
      <p:ext uri="{BB962C8B-B14F-4D97-AF65-F5344CB8AC3E}">
        <p14:creationId xmlns:p14="http://schemas.microsoft.com/office/powerpoint/2010/main" val="26449558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4526644" y="880382"/>
            <a:ext cx="4388756" cy="3291567"/>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228600" y="880382"/>
            <a:ext cx="4388757" cy="329156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2243050" y="209550"/>
            <a:ext cx="678942" cy="306324"/>
          </a:xfrm>
          <a:prstGeom prst="rect">
            <a:avLst/>
          </a:prstGeom>
        </p:spPr>
      </p:pic>
      <p:sp>
        <p:nvSpPr>
          <p:cNvPr id="9" name="TextBox 8"/>
          <p:cNvSpPr txBox="1"/>
          <p:nvPr/>
        </p:nvSpPr>
        <p:spPr>
          <a:xfrm>
            <a:off x="838200" y="578675"/>
            <a:ext cx="3729162" cy="369332"/>
          </a:xfrm>
          <a:prstGeom prst="rect">
            <a:avLst/>
          </a:prstGeom>
          <a:noFill/>
        </p:spPr>
        <p:txBody>
          <a:bodyPr wrap="none" rtlCol="0">
            <a:spAutoFit/>
          </a:bodyPr>
          <a:lstStyle/>
          <a:p>
            <a:r>
              <a:rPr lang="en-US" dirty="0"/>
              <a:t>(for fixed           , this is a function of x)</a:t>
            </a:r>
          </a:p>
        </p:txBody>
      </p:sp>
      <p:pic>
        <p:nvPicPr>
          <p:cNvPr id="10" name="Picture 9"/>
          <p:cNvPicPr>
            <a:picLocks noChangeAspect="1"/>
          </p:cNvPicPr>
          <p:nvPr>
            <p:custDataLst>
              <p:tags r:id="rId2"/>
            </p:custDataLst>
          </p:nvPr>
        </p:nvPicPr>
        <p:blipFill>
          <a:blip r:embed="rId9" cstate="print">
            <a:extLst>
              <a:ext uri="{28A0092B-C50C-407E-A947-70E740481C1C}">
                <a14:useLocalDpi xmlns:a14="http://schemas.microsoft.com/office/drawing/2010/main" val="0"/>
              </a:ext>
            </a:extLst>
          </a:blip>
          <a:stretch>
            <a:fillRect/>
          </a:stretch>
        </p:blipFill>
        <p:spPr>
          <a:xfrm>
            <a:off x="1819568" y="666750"/>
            <a:ext cx="519391" cy="222859"/>
          </a:xfrm>
          <a:prstGeom prst="rect">
            <a:avLst/>
          </a:prstGeom>
        </p:spPr>
      </p:pic>
      <p:pic>
        <p:nvPicPr>
          <p:cNvPr id="11" name="Picture 10"/>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tretch>
            <a:fillRect/>
          </a:stretch>
        </p:blipFill>
        <p:spPr>
          <a:xfrm>
            <a:off x="6550784" y="209550"/>
            <a:ext cx="1076706" cy="306324"/>
          </a:xfrm>
          <a:prstGeom prst="rect">
            <a:avLst/>
          </a:prstGeom>
        </p:spPr>
      </p:pic>
      <p:sp>
        <p:nvSpPr>
          <p:cNvPr id="12" name="TextBox 11"/>
          <p:cNvSpPr txBox="1"/>
          <p:nvPr/>
        </p:nvSpPr>
        <p:spPr>
          <a:xfrm>
            <a:off x="5328312" y="578675"/>
            <a:ext cx="3484031" cy="369332"/>
          </a:xfrm>
          <a:prstGeom prst="rect">
            <a:avLst/>
          </a:prstGeom>
          <a:noFill/>
        </p:spPr>
        <p:txBody>
          <a:bodyPr wrap="none" rtlCol="0">
            <a:spAutoFit/>
          </a:bodyPr>
          <a:lstStyle/>
          <a:p>
            <a:r>
              <a:rPr lang="en-US" dirty="0"/>
              <a:t>(function of the parameters            )</a:t>
            </a:r>
          </a:p>
        </p:txBody>
      </p:sp>
      <p:pic>
        <p:nvPicPr>
          <p:cNvPr id="13" name="Picture 12"/>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8080557" y="666750"/>
            <a:ext cx="515722" cy="219456"/>
          </a:xfrm>
          <a:prstGeom prst="rect">
            <a:avLst/>
          </a:prstGeom>
        </p:spPr>
      </p:pic>
      <p:sp>
        <p:nvSpPr>
          <p:cNvPr id="3" name="Date Placeholder 2"/>
          <p:cNvSpPr>
            <a:spLocks noGrp="1"/>
          </p:cNvSpPr>
          <p:nvPr>
            <p:ph type="dt" sz="half" idx="10"/>
          </p:nvPr>
        </p:nvSpPr>
        <p:spPr/>
        <p:txBody>
          <a:bodyPr/>
          <a:lstStyle/>
          <a:p>
            <a:fld id="{B952308B-ED32-4F88-8D78-B5A3144BA2E1}" type="datetime1">
              <a:rPr lang="en-US" smtClean="0">
                <a:solidFill>
                  <a:prstClr val="black">
                    <a:tint val="75000"/>
                  </a:prstClr>
                </a:solidFill>
              </a:rPr>
              <a:t>9/10/2025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r>
              <a:rPr lang="en-US">
                <a:solidFill>
                  <a:prstClr val="black">
                    <a:tint val="75000"/>
                  </a:prstClr>
                </a:solidFill>
              </a:rPr>
              <a:t>Linear Regression</a:t>
            </a:r>
          </a:p>
        </p:txBody>
      </p:sp>
      <p:sp>
        <p:nvSpPr>
          <p:cNvPr id="5" name="Slide Number Placeholder 4"/>
          <p:cNvSpPr>
            <a:spLocks noGrp="1"/>
          </p:cNvSpPr>
          <p:nvPr>
            <p:ph type="sldNum" sz="quarter" idx="12"/>
          </p:nvPr>
        </p:nvSpPr>
        <p:spPr/>
        <p:txBody>
          <a:bodyPr/>
          <a:lstStyle/>
          <a:p>
            <a:fld id="{F043A558-56C3-499B-89A2-59E5853E6BB4}" type="slidenum">
              <a:rPr lang="en-US" smtClean="0">
                <a:solidFill>
                  <a:prstClr val="black">
                    <a:tint val="75000"/>
                  </a:prstClr>
                </a:solidFill>
              </a:rPr>
              <a:pPr/>
              <a:t>38</a:t>
            </a:fld>
            <a:endParaRPr lang="en-US">
              <a:solidFill>
                <a:prstClr val="black">
                  <a:tint val="75000"/>
                </a:prstClr>
              </a:solidFill>
            </a:endParaRPr>
          </a:p>
        </p:txBody>
      </p:sp>
    </p:spTree>
    <p:extLst>
      <p:ext uri="{BB962C8B-B14F-4D97-AF65-F5344CB8AC3E}">
        <p14:creationId xmlns:p14="http://schemas.microsoft.com/office/powerpoint/2010/main" val="19423918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4526644" y="880382"/>
            <a:ext cx="4388756" cy="3291567"/>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228600" y="880382"/>
            <a:ext cx="4388756" cy="329156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2243050" y="209550"/>
            <a:ext cx="678942" cy="306324"/>
          </a:xfrm>
          <a:prstGeom prst="rect">
            <a:avLst/>
          </a:prstGeom>
        </p:spPr>
      </p:pic>
      <p:sp>
        <p:nvSpPr>
          <p:cNvPr id="5" name="TextBox 4"/>
          <p:cNvSpPr txBox="1"/>
          <p:nvPr/>
        </p:nvSpPr>
        <p:spPr>
          <a:xfrm>
            <a:off x="838200" y="578675"/>
            <a:ext cx="3729162" cy="369332"/>
          </a:xfrm>
          <a:prstGeom prst="rect">
            <a:avLst/>
          </a:prstGeom>
          <a:noFill/>
        </p:spPr>
        <p:txBody>
          <a:bodyPr wrap="none" rtlCol="0">
            <a:spAutoFit/>
          </a:bodyPr>
          <a:lstStyle/>
          <a:p>
            <a:r>
              <a:rPr lang="en-US" dirty="0"/>
              <a:t>(for fixed           , this is a function of x)</a:t>
            </a:r>
          </a:p>
        </p:txBody>
      </p:sp>
      <p:pic>
        <p:nvPicPr>
          <p:cNvPr id="6" name="Picture 5"/>
          <p:cNvPicPr>
            <a:picLocks noChangeAspect="1"/>
          </p:cNvPicPr>
          <p:nvPr>
            <p:custDataLst>
              <p:tags r:id="rId2"/>
            </p:custDataLst>
          </p:nvPr>
        </p:nvPicPr>
        <p:blipFill>
          <a:blip r:embed="rId9" cstate="print">
            <a:extLst>
              <a:ext uri="{28A0092B-C50C-407E-A947-70E740481C1C}">
                <a14:useLocalDpi xmlns:a14="http://schemas.microsoft.com/office/drawing/2010/main" val="0"/>
              </a:ext>
            </a:extLst>
          </a:blip>
          <a:stretch>
            <a:fillRect/>
          </a:stretch>
        </p:blipFill>
        <p:spPr>
          <a:xfrm>
            <a:off x="1819568" y="666750"/>
            <a:ext cx="519391" cy="222859"/>
          </a:xfrm>
          <a:prstGeom prst="rect">
            <a:avLst/>
          </a:prstGeom>
        </p:spPr>
      </p:pic>
      <p:pic>
        <p:nvPicPr>
          <p:cNvPr id="7" name="Picture 6"/>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tretch>
            <a:fillRect/>
          </a:stretch>
        </p:blipFill>
        <p:spPr>
          <a:xfrm>
            <a:off x="6550784" y="209550"/>
            <a:ext cx="1076706" cy="306324"/>
          </a:xfrm>
          <a:prstGeom prst="rect">
            <a:avLst/>
          </a:prstGeom>
        </p:spPr>
      </p:pic>
      <p:sp>
        <p:nvSpPr>
          <p:cNvPr id="8" name="TextBox 7"/>
          <p:cNvSpPr txBox="1"/>
          <p:nvPr/>
        </p:nvSpPr>
        <p:spPr>
          <a:xfrm>
            <a:off x="5328312" y="578675"/>
            <a:ext cx="3484031" cy="369332"/>
          </a:xfrm>
          <a:prstGeom prst="rect">
            <a:avLst/>
          </a:prstGeom>
          <a:noFill/>
        </p:spPr>
        <p:txBody>
          <a:bodyPr wrap="none" rtlCol="0">
            <a:spAutoFit/>
          </a:bodyPr>
          <a:lstStyle/>
          <a:p>
            <a:r>
              <a:rPr lang="en-US" dirty="0"/>
              <a:t>(function of the parameters            )</a:t>
            </a:r>
          </a:p>
        </p:txBody>
      </p:sp>
      <p:pic>
        <p:nvPicPr>
          <p:cNvPr id="9" name="Picture 8"/>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8080557" y="666750"/>
            <a:ext cx="515722" cy="219456"/>
          </a:xfrm>
          <a:prstGeom prst="rect">
            <a:avLst/>
          </a:prstGeom>
        </p:spPr>
      </p:pic>
      <p:sp>
        <p:nvSpPr>
          <p:cNvPr id="3" name="Date Placeholder 2"/>
          <p:cNvSpPr>
            <a:spLocks noGrp="1"/>
          </p:cNvSpPr>
          <p:nvPr>
            <p:ph type="dt" sz="half" idx="10"/>
          </p:nvPr>
        </p:nvSpPr>
        <p:spPr/>
        <p:txBody>
          <a:bodyPr/>
          <a:lstStyle/>
          <a:p>
            <a:fld id="{28937EDE-7AEC-4A99-A257-781945A22C84}" type="datetime1">
              <a:rPr lang="en-US" smtClean="0">
                <a:solidFill>
                  <a:prstClr val="black">
                    <a:tint val="75000"/>
                  </a:prstClr>
                </a:solidFill>
              </a:rPr>
              <a:t>9/10/2025</a:t>
            </a:fld>
            <a:endParaRPr lang="en-US">
              <a:solidFill>
                <a:prstClr val="black">
                  <a:tint val="75000"/>
                </a:prstClr>
              </a:solidFill>
            </a:endParaRPr>
          </a:p>
        </p:txBody>
      </p:sp>
      <p:sp>
        <p:nvSpPr>
          <p:cNvPr id="10" name="Footer Placeholder 9"/>
          <p:cNvSpPr>
            <a:spLocks noGrp="1"/>
          </p:cNvSpPr>
          <p:nvPr>
            <p:ph type="ftr" sz="quarter" idx="11"/>
          </p:nvPr>
        </p:nvSpPr>
        <p:spPr/>
        <p:txBody>
          <a:bodyPr/>
          <a:lstStyle/>
          <a:p>
            <a:r>
              <a:rPr lang="en-US">
                <a:solidFill>
                  <a:prstClr val="black">
                    <a:tint val="75000"/>
                  </a:prstClr>
                </a:solidFill>
              </a:rPr>
              <a:t>Linear Regression</a:t>
            </a:r>
          </a:p>
        </p:txBody>
      </p:sp>
      <p:sp>
        <p:nvSpPr>
          <p:cNvPr id="11" name="Slide Number Placeholder 10"/>
          <p:cNvSpPr>
            <a:spLocks noGrp="1"/>
          </p:cNvSpPr>
          <p:nvPr>
            <p:ph type="sldNum" sz="quarter" idx="12"/>
          </p:nvPr>
        </p:nvSpPr>
        <p:spPr/>
        <p:txBody>
          <a:bodyPr/>
          <a:lstStyle/>
          <a:p>
            <a:fld id="{F043A558-56C3-499B-89A2-59E5853E6BB4}" type="slidenum">
              <a:rPr lang="en-US" smtClean="0">
                <a:solidFill>
                  <a:prstClr val="black">
                    <a:tint val="75000"/>
                  </a:prstClr>
                </a:solidFill>
              </a:rPr>
              <a:pPr/>
              <a:t>39</a:t>
            </a:fld>
            <a:endParaRPr lang="en-US">
              <a:solidFill>
                <a:prstClr val="black">
                  <a:tint val="75000"/>
                </a:prstClr>
              </a:solidFill>
            </a:endParaRPr>
          </a:p>
        </p:txBody>
      </p:sp>
    </p:spTree>
    <p:extLst>
      <p:ext uri="{BB962C8B-B14F-4D97-AF65-F5344CB8AC3E}">
        <p14:creationId xmlns:p14="http://schemas.microsoft.com/office/powerpoint/2010/main" val="3149210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4526644" y="880382"/>
            <a:ext cx="4388756" cy="3291567"/>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228600" y="880382"/>
            <a:ext cx="4388756" cy="329156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2243050" y="209550"/>
            <a:ext cx="678942" cy="306324"/>
          </a:xfrm>
          <a:prstGeom prst="rect">
            <a:avLst/>
          </a:prstGeom>
        </p:spPr>
      </p:pic>
      <p:sp>
        <p:nvSpPr>
          <p:cNvPr id="5" name="TextBox 4"/>
          <p:cNvSpPr txBox="1"/>
          <p:nvPr/>
        </p:nvSpPr>
        <p:spPr>
          <a:xfrm>
            <a:off x="838200" y="578675"/>
            <a:ext cx="3729162" cy="369332"/>
          </a:xfrm>
          <a:prstGeom prst="rect">
            <a:avLst/>
          </a:prstGeom>
          <a:noFill/>
        </p:spPr>
        <p:txBody>
          <a:bodyPr wrap="none" rtlCol="0">
            <a:spAutoFit/>
          </a:bodyPr>
          <a:lstStyle/>
          <a:p>
            <a:r>
              <a:rPr lang="en-US" dirty="0"/>
              <a:t>(for fixed           , this is a function of x)</a:t>
            </a:r>
          </a:p>
        </p:txBody>
      </p:sp>
      <p:pic>
        <p:nvPicPr>
          <p:cNvPr id="6" name="Picture 5"/>
          <p:cNvPicPr>
            <a:picLocks noChangeAspect="1"/>
          </p:cNvPicPr>
          <p:nvPr>
            <p:custDataLst>
              <p:tags r:id="rId2"/>
            </p:custDataLst>
          </p:nvPr>
        </p:nvPicPr>
        <p:blipFill>
          <a:blip r:embed="rId9" cstate="print">
            <a:extLst>
              <a:ext uri="{28A0092B-C50C-407E-A947-70E740481C1C}">
                <a14:useLocalDpi xmlns:a14="http://schemas.microsoft.com/office/drawing/2010/main" val="0"/>
              </a:ext>
            </a:extLst>
          </a:blip>
          <a:stretch>
            <a:fillRect/>
          </a:stretch>
        </p:blipFill>
        <p:spPr>
          <a:xfrm>
            <a:off x="1819568" y="666750"/>
            <a:ext cx="519391" cy="222859"/>
          </a:xfrm>
          <a:prstGeom prst="rect">
            <a:avLst/>
          </a:prstGeom>
        </p:spPr>
      </p:pic>
      <p:pic>
        <p:nvPicPr>
          <p:cNvPr id="7" name="Picture 6"/>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tretch>
            <a:fillRect/>
          </a:stretch>
        </p:blipFill>
        <p:spPr>
          <a:xfrm>
            <a:off x="6550784" y="209550"/>
            <a:ext cx="1076706" cy="306324"/>
          </a:xfrm>
          <a:prstGeom prst="rect">
            <a:avLst/>
          </a:prstGeom>
        </p:spPr>
      </p:pic>
      <p:sp>
        <p:nvSpPr>
          <p:cNvPr id="8" name="TextBox 7"/>
          <p:cNvSpPr txBox="1"/>
          <p:nvPr/>
        </p:nvSpPr>
        <p:spPr>
          <a:xfrm>
            <a:off x="5328312" y="578675"/>
            <a:ext cx="3484031" cy="369332"/>
          </a:xfrm>
          <a:prstGeom prst="rect">
            <a:avLst/>
          </a:prstGeom>
          <a:noFill/>
        </p:spPr>
        <p:txBody>
          <a:bodyPr wrap="none" rtlCol="0">
            <a:spAutoFit/>
          </a:bodyPr>
          <a:lstStyle/>
          <a:p>
            <a:r>
              <a:rPr lang="en-US" dirty="0"/>
              <a:t>(function of the parameters            )</a:t>
            </a:r>
          </a:p>
        </p:txBody>
      </p:sp>
      <p:pic>
        <p:nvPicPr>
          <p:cNvPr id="9" name="Picture 8"/>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8080557" y="666750"/>
            <a:ext cx="515722" cy="219456"/>
          </a:xfrm>
          <a:prstGeom prst="rect">
            <a:avLst/>
          </a:prstGeom>
        </p:spPr>
      </p:pic>
      <p:sp>
        <p:nvSpPr>
          <p:cNvPr id="3" name="Date Placeholder 2"/>
          <p:cNvSpPr>
            <a:spLocks noGrp="1"/>
          </p:cNvSpPr>
          <p:nvPr>
            <p:ph type="dt" sz="half" idx="10"/>
          </p:nvPr>
        </p:nvSpPr>
        <p:spPr/>
        <p:txBody>
          <a:bodyPr/>
          <a:lstStyle/>
          <a:p>
            <a:fld id="{855FA9C2-CB76-497A-BC74-74D883C67DAF}" type="datetime1">
              <a:rPr lang="en-US" smtClean="0">
                <a:solidFill>
                  <a:prstClr val="black">
                    <a:tint val="75000"/>
                  </a:prstClr>
                </a:solidFill>
              </a:rPr>
              <a:t>9/10/2025</a:t>
            </a:fld>
            <a:endParaRPr lang="en-US">
              <a:solidFill>
                <a:prstClr val="black">
                  <a:tint val="75000"/>
                </a:prstClr>
              </a:solidFill>
            </a:endParaRPr>
          </a:p>
        </p:txBody>
      </p:sp>
      <p:sp>
        <p:nvSpPr>
          <p:cNvPr id="10" name="Footer Placeholder 9"/>
          <p:cNvSpPr>
            <a:spLocks noGrp="1"/>
          </p:cNvSpPr>
          <p:nvPr>
            <p:ph type="ftr" sz="quarter" idx="11"/>
          </p:nvPr>
        </p:nvSpPr>
        <p:spPr/>
        <p:txBody>
          <a:bodyPr/>
          <a:lstStyle/>
          <a:p>
            <a:r>
              <a:rPr lang="en-US">
                <a:solidFill>
                  <a:prstClr val="black">
                    <a:tint val="75000"/>
                  </a:prstClr>
                </a:solidFill>
              </a:rPr>
              <a:t>Linear Regression</a:t>
            </a:r>
          </a:p>
        </p:txBody>
      </p:sp>
      <p:sp>
        <p:nvSpPr>
          <p:cNvPr id="11" name="Slide Number Placeholder 10"/>
          <p:cNvSpPr>
            <a:spLocks noGrp="1"/>
          </p:cNvSpPr>
          <p:nvPr>
            <p:ph type="sldNum" sz="quarter" idx="12"/>
          </p:nvPr>
        </p:nvSpPr>
        <p:spPr/>
        <p:txBody>
          <a:bodyPr/>
          <a:lstStyle/>
          <a:p>
            <a:fld id="{F043A558-56C3-499B-89A2-59E5853E6BB4}" type="slidenum">
              <a:rPr lang="en-US" smtClean="0">
                <a:solidFill>
                  <a:prstClr val="black">
                    <a:tint val="75000"/>
                  </a:prstClr>
                </a:solidFill>
              </a:rPr>
              <a:pPr/>
              <a:t>40</a:t>
            </a:fld>
            <a:endParaRPr lang="en-US">
              <a:solidFill>
                <a:prstClr val="black">
                  <a:tint val="75000"/>
                </a:prstClr>
              </a:solidFill>
            </a:endParaRPr>
          </a:p>
        </p:txBody>
      </p:sp>
    </p:spTree>
    <p:extLst>
      <p:ext uri="{BB962C8B-B14F-4D97-AF65-F5344CB8AC3E}">
        <p14:creationId xmlns:p14="http://schemas.microsoft.com/office/powerpoint/2010/main" val="30803165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a:off x="4526644" y="880382"/>
            <a:ext cx="4388756" cy="3291567"/>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228600" y="880382"/>
            <a:ext cx="4388756" cy="329156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2243050" y="209550"/>
            <a:ext cx="678942" cy="306324"/>
          </a:xfrm>
          <a:prstGeom prst="rect">
            <a:avLst/>
          </a:prstGeom>
        </p:spPr>
      </p:pic>
      <p:sp>
        <p:nvSpPr>
          <p:cNvPr id="5" name="TextBox 4"/>
          <p:cNvSpPr txBox="1"/>
          <p:nvPr/>
        </p:nvSpPr>
        <p:spPr>
          <a:xfrm>
            <a:off x="838200" y="578675"/>
            <a:ext cx="3729162" cy="369332"/>
          </a:xfrm>
          <a:prstGeom prst="rect">
            <a:avLst/>
          </a:prstGeom>
          <a:noFill/>
        </p:spPr>
        <p:txBody>
          <a:bodyPr wrap="none" rtlCol="0">
            <a:spAutoFit/>
          </a:bodyPr>
          <a:lstStyle/>
          <a:p>
            <a:r>
              <a:rPr lang="en-US" dirty="0"/>
              <a:t>(for fixed           , this is a function of x)</a:t>
            </a:r>
          </a:p>
        </p:txBody>
      </p:sp>
      <p:pic>
        <p:nvPicPr>
          <p:cNvPr id="6" name="Picture 5"/>
          <p:cNvPicPr>
            <a:picLocks noChangeAspect="1"/>
          </p:cNvPicPr>
          <p:nvPr>
            <p:custDataLst>
              <p:tags r:id="rId2"/>
            </p:custDataLst>
          </p:nvPr>
        </p:nvPicPr>
        <p:blipFill>
          <a:blip r:embed="rId9" cstate="print">
            <a:extLst>
              <a:ext uri="{28A0092B-C50C-407E-A947-70E740481C1C}">
                <a14:useLocalDpi xmlns:a14="http://schemas.microsoft.com/office/drawing/2010/main" val="0"/>
              </a:ext>
            </a:extLst>
          </a:blip>
          <a:stretch>
            <a:fillRect/>
          </a:stretch>
        </p:blipFill>
        <p:spPr>
          <a:xfrm>
            <a:off x="1819568" y="666750"/>
            <a:ext cx="519391" cy="222859"/>
          </a:xfrm>
          <a:prstGeom prst="rect">
            <a:avLst/>
          </a:prstGeom>
        </p:spPr>
      </p:pic>
      <p:pic>
        <p:nvPicPr>
          <p:cNvPr id="7" name="Picture 6"/>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tretch>
            <a:fillRect/>
          </a:stretch>
        </p:blipFill>
        <p:spPr>
          <a:xfrm>
            <a:off x="6550784" y="209550"/>
            <a:ext cx="1076706" cy="306324"/>
          </a:xfrm>
          <a:prstGeom prst="rect">
            <a:avLst/>
          </a:prstGeom>
        </p:spPr>
      </p:pic>
      <p:sp>
        <p:nvSpPr>
          <p:cNvPr id="8" name="TextBox 7"/>
          <p:cNvSpPr txBox="1"/>
          <p:nvPr/>
        </p:nvSpPr>
        <p:spPr>
          <a:xfrm>
            <a:off x="5328312" y="578675"/>
            <a:ext cx="3484031" cy="369332"/>
          </a:xfrm>
          <a:prstGeom prst="rect">
            <a:avLst/>
          </a:prstGeom>
          <a:noFill/>
        </p:spPr>
        <p:txBody>
          <a:bodyPr wrap="none" rtlCol="0">
            <a:spAutoFit/>
          </a:bodyPr>
          <a:lstStyle/>
          <a:p>
            <a:r>
              <a:rPr lang="en-US" dirty="0"/>
              <a:t>(function of the parameters            )</a:t>
            </a:r>
          </a:p>
        </p:txBody>
      </p:sp>
      <p:pic>
        <p:nvPicPr>
          <p:cNvPr id="9" name="Picture 8"/>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8080557" y="666750"/>
            <a:ext cx="515722" cy="219456"/>
          </a:xfrm>
          <a:prstGeom prst="rect">
            <a:avLst/>
          </a:prstGeom>
        </p:spPr>
      </p:pic>
      <p:sp>
        <p:nvSpPr>
          <p:cNvPr id="3" name="Date Placeholder 2"/>
          <p:cNvSpPr>
            <a:spLocks noGrp="1"/>
          </p:cNvSpPr>
          <p:nvPr>
            <p:ph type="dt" sz="half" idx="10"/>
          </p:nvPr>
        </p:nvSpPr>
        <p:spPr/>
        <p:txBody>
          <a:bodyPr/>
          <a:lstStyle/>
          <a:p>
            <a:fld id="{9739B9DE-3B43-48BB-8A99-6CF164F7442A}" type="datetime1">
              <a:rPr lang="en-US" smtClean="0">
                <a:solidFill>
                  <a:prstClr val="black">
                    <a:tint val="75000"/>
                  </a:prstClr>
                </a:solidFill>
              </a:rPr>
              <a:t>9/10/2025</a:t>
            </a:fld>
            <a:endParaRPr lang="en-US">
              <a:solidFill>
                <a:prstClr val="black">
                  <a:tint val="75000"/>
                </a:prstClr>
              </a:solidFill>
            </a:endParaRPr>
          </a:p>
        </p:txBody>
      </p:sp>
      <p:sp>
        <p:nvSpPr>
          <p:cNvPr id="10" name="Footer Placeholder 9"/>
          <p:cNvSpPr>
            <a:spLocks noGrp="1"/>
          </p:cNvSpPr>
          <p:nvPr>
            <p:ph type="ftr" sz="quarter" idx="11"/>
          </p:nvPr>
        </p:nvSpPr>
        <p:spPr/>
        <p:txBody>
          <a:bodyPr/>
          <a:lstStyle/>
          <a:p>
            <a:r>
              <a:rPr lang="en-US">
                <a:solidFill>
                  <a:prstClr val="black">
                    <a:tint val="75000"/>
                  </a:prstClr>
                </a:solidFill>
              </a:rPr>
              <a:t>Linear Regression</a:t>
            </a:r>
          </a:p>
        </p:txBody>
      </p:sp>
      <p:sp>
        <p:nvSpPr>
          <p:cNvPr id="11" name="Slide Number Placeholder 10"/>
          <p:cNvSpPr>
            <a:spLocks noGrp="1"/>
          </p:cNvSpPr>
          <p:nvPr>
            <p:ph type="sldNum" sz="quarter" idx="12"/>
          </p:nvPr>
        </p:nvSpPr>
        <p:spPr/>
        <p:txBody>
          <a:bodyPr/>
          <a:lstStyle/>
          <a:p>
            <a:fld id="{F043A558-56C3-499B-89A2-59E5853E6BB4}" type="slidenum">
              <a:rPr lang="en-US" smtClean="0">
                <a:solidFill>
                  <a:prstClr val="black">
                    <a:tint val="75000"/>
                  </a:prstClr>
                </a:solidFill>
              </a:rPr>
              <a:pPr/>
              <a:t>41</a:t>
            </a:fld>
            <a:endParaRPr lang="en-US">
              <a:solidFill>
                <a:prstClr val="black">
                  <a:tint val="75000"/>
                </a:prstClr>
              </a:solidFill>
            </a:endParaRPr>
          </a:p>
        </p:txBody>
      </p:sp>
    </p:spTree>
    <p:extLst>
      <p:ext uri="{BB962C8B-B14F-4D97-AF65-F5344CB8AC3E}">
        <p14:creationId xmlns:p14="http://schemas.microsoft.com/office/powerpoint/2010/main" val="9096949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839843" y="438150"/>
            <a:ext cx="3089435" cy="523220"/>
          </a:xfrm>
          <a:prstGeom prst="rect">
            <a:avLst/>
          </a:prstGeom>
          <a:noFill/>
        </p:spPr>
        <p:txBody>
          <a:bodyPr wrap="none" rtlCol="0">
            <a:spAutoFit/>
          </a:bodyPr>
          <a:lstStyle/>
          <a:p>
            <a:r>
              <a:rPr lang="en-US" sz="2800" dirty="0"/>
              <a:t>Have some function</a:t>
            </a:r>
          </a:p>
        </p:txBody>
      </p:sp>
      <p:pic>
        <p:nvPicPr>
          <p:cNvPr id="43" name="Picture 42"/>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3986598" y="525780"/>
            <a:ext cx="1305492" cy="371414"/>
          </a:xfrm>
          <a:prstGeom prst="rect">
            <a:avLst/>
          </a:prstGeom>
        </p:spPr>
      </p:pic>
      <p:sp>
        <p:nvSpPr>
          <p:cNvPr id="44" name="TextBox 43"/>
          <p:cNvSpPr txBox="1"/>
          <p:nvPr/>
        </p:nvSpPr>
        <p:spPr>
          <a:xfrm>
            <a:off x="839843" y="1057930"/>
            <a:ext cx="1050544" cy="523220"/>
          </a:xfrm>
          <a:prstGeom prst="rect">
            <a:avLst/>
          </a:prstGeom>
          <a:noFill/>
        </p:spPr>
        <p:txBody>
          <a:bodyPr wrap="none" rtlCol="0">
            <a:spAutoFit/>
          </a:bodyPr>
          <a:lstStyle/>
          <a:p>
            <a:r>
              <a:rPr lang="en-US" sz="2800" dirty="0"/>
              <a:t>Want </a:t>
            </a:r>
          </a:p>
        </p:txBody>
      </p:sp>
      <p:pic>
        <p:nvPicPr>
          <p:cNvPr id="3" name="Picture 2"/>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2065020" y="1146810"/>
            <a:ext cx="2076037" cy="568208"/>
          </a:xfrm>
          <a:prstGeom prst="rect">
            <a:avLst/>
          </a:prstGeom>
        </p:spPr>
      </p:pic>
      <p:sp>
        <p:nvSpPr>
          <p:cNvPr id="15" name="TextBox 14"/>
          <p:cNvSpPr txBox="1"/>
          <p:nvPr/>
        </p:nvSpPr>
        <p:spPr>
          <a:xfrm>
            <a:off x="685800" y="1787468"/>
            <a:ext cx="7620000" cy="2962513"/>
          </a:xfrm>
          <a:prstGeom prst="roundRect">
            <a:avLst/>
          </a:prstGeom>
          <a:noFill/>
          <a:ln>
            <a:noFill/>
          </a:ln>
        </p:spPr>
        <p:txBody>
          <a:bodyPr wrap="square" rtlCol="0">
            <a:spAutoFit/>
          </a:bodyPr>
          <a:lstStyle/>
          <a:p>
            <a:pPr>
              <a:lnSpc>
                <a:spcPct val="150000"/>
              </a:lnSpc>
            </a:pPr>
            <a:r>
              <a:rPr lang="en-US" sz="2800" b="1" dirty="0"/>
              <a:t>Outline:</a:t>
            </a:r>
          </a:p>
          <a:p>
            <a:pPr marL="800100" lvl="1" indent="-342900">
              <a:lnSpc>
                <a:spcPct val="150000"/>
              </a:lnSpc>
              <a:buFont typeface="Arial" pitchFamily="34" charset="0"/>
              <a:buChar char="•"/>
            </a:pPr>
            <a:r>
              <a:rPr lang="en-US" sz="2800" dirty="0"/>
              <a:t>Start with some</a:t>
            </a:r>
          </a:p>
          <a:p>
            <a:pPr marL="800100" lvl="1" indent="-342900">
              <a:lnSpc>
                <a:spcPct val="150000"/>
              </a:lnSpc>
              <a:buFont typeface="Arial" pitchFamily="34" charset="0"/>
              <a:buChar char="•"/>
            </a:pPr>
            <a:r>
              <a:rPr lang="en-US" sz="2800" dirty="0"/>
              <a:t>Keep changing              to reduce                     until we hopefully end up at a minimum</a:t>
            </a:r>
          </a:p>
        </p:txBody>
      </p:sp>
      <p:pic>
        <p:nvPicPr>
          <p:cNvPr id="48" name="Picture 47"/>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4149090" y="2819400"/>
            <a:ext cx="796862" cy="339090"/>
          </a:xfrm>
          <a:prstGeom prst="rect">
            <a:avLst/>
          </a:prstGeom>
          <a:ln>
            <a:noFill/>
          </a:ln>
        </p:spPr>
      </p:pic>
      <p:pic>
        <p:nvPicPr>
          <p:cNvPr id="49" name="Picture 48"/>
          <p:cNvPicPr>
            <a:picLocks noChangeAspect="1"/>
          </p:cNvPicPr>
          <p:nvPr>
            <p:custDataLst>
              <p:tags r:id="rId4"/>
            </p:custDataLst>
          </p:nvPr>
        </p:nvPicPr>
        <p:blipFill>
          <a:blip r:embed="rId7" cstate="print">
            <a:extLst>
              <a:ext uri="{28A0092B-C50C-407E-A947-70E740481C1C}">
                <a14:useLocalDpi xmlns:a14="http://schemas.microsoft.com/office/drawing/2010/main" val="0"/>
              </a:ext>
            </a:extLst>
          </a:blip>
          <a:stretch>
            <a:fillRect/>
          </a:stretch>
        </p:blipFill>
        <p:spPr>
          <a:xfrm>
            <a:off x="6499860" y="3450560"/>
            <a:ext cx="1330930" cy="378651"/>
          </a:xfrm>
          <a:prstGeom prst="rect">
            <a:avLst/>
          </a:prstGeom>
          <a:ln>
            <a:noFill/>
          </a:ln>
        </p:spPr>
      </p:pic>
      <p:pic>
        <p:nvPicPr>
          <p:cNvPr id="12" name="Picture 11"/>
          <p:cNvPicPr>
            <a:picLocks noChangeAspect="1"/>
          </p:cNvPicPr>
          <p:nvPr>
            <p:custDataLst>
              <p:tags r:id="rId5"/>
            </p:custDataLst>
          </p:nvPr>
        </p:nvPicPr>
        <p:blipFill>
          <a:blip r:embed="rId9" cstate="print">
            <a:extLst>
              <a:ext uri="{28A0092B-C50C-407E-A947-70E740481C1C}">
                <a14:useLocalDpi xmlns:a14="http://schemas.microsoft.com/office/drawing/2010/main" val="0"/>
              </a:ext>
            </a:extLst>
          </a:blip>
          <a:stretch>
            <a:fillRect/>
          </a:stretch>
        </p:blipFill>
        <p:spPr>
          <a:xfrm>
            <a:off x="3962400" y="3455670"/>
            <a:ext cx="796862" cy="339090"/>
          </a:xfrm>
          <a:prstGeom prst="rect">
            <a:avLst/>
          </a:prstGeom>
        </p:spPr>
      </p:pic>
      <p:sp>
        <p:nvSpPr>
          <p:cNvPr id="4" name="Date Placeholder 3"/>
          <p:cNvSpPr>
            <a:spLocks noGrp="1"/>
          </p:cNvSpPr>
          <p:nvPr>
            <p:ph type="dt" sz="half" idx="10"/>
          </p:nvPr>
        </p:nvSpPr>
        <p:spPr/>
        <p:txBody>
          <a:bodyPr/>
          <a:lstStyle/>
          <a:p>
            <a:fld id="{FD0DD400-924F-4C9F-B050-C3C2C9B6D56E}" type="datetime1">
              <a:rPr lang="en-US" smtClean="0">
                <a:solidFill>
                  <a:prstClr val="black">
                    <a:tint val="75000"/>
                  </a:prstClr>
                </a:solidFill>
              </a:rPr>
              <a:t>9/10/2025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Linear Regression</a:t>
            </a: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42</a:t>
            </a:fld>
            <a:endParaRPr lang="en-US">
              <a:solidFill>
                <a:prstClr val="black">
                  <a:tint val="75000"/>
                </a:prstClr>
              </a:solidFill>
            </a:endParaRPr>
          </a:p>
        </p:txBody>
      </p:sp>
    </p:spTree>
    <p:extLst>
      <p:ext uri="{BB962C8B-B14F-4D97-AF65-F5344CB8AC3E}">
        <p14:creationId xmlns:p14="http://schemas.microsoft.com/office/powerpoint/2010/main" val="328431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p:cNvPicPr>
            <a:picLocks noChangeAspect="1" noChangeArrowheads="1"/>
          </p:cNvPicPr>
          <p:nvPr/>
        </p:nvPicPr>
        <p:blipFill>
          <a:blip r:embed="rId3" cstate="print"/>
          <a:srcRect/>
          <a:stretch>
            <a:fillRect/>
          </a:stretch>
        </p:blipFill>
        <p:spPr bwMode="auto">
          <a:xfrm>
            <a:off x="609600" y="510778"/>
            <a:ext cx="7677150" cy="4032647"/>
          </a:xfrm>
          <a:prstGeom prst="rect">
            <a:avLst/>
          </a:prstGeom>
          <a:noFill/>
          <a:ln w="9525">
            <a:noFill/>
            <a:miter lim="800000"/>
            <a:headEnd/>
            <a:tailEnd/>
          </a:ln>
        </p:spPr>
      </p:pic>
      <p:sp>
        <p:nvSpPr>
          <p:cNvPr id="477191" name="AutoShape 7"/>
          <p:cNvSpPr>
            <a:spLocks noChangeArrowheads="1"/>
          </p:cNvSpPr>
          <p:nvPr/>
        </p:nvSpPr>
        <p:spPr bwMode="auto">
          <a:xfrm>
            <a:off x="3790950" y="2024062"/>
            <a:ext cx="228600" cy="17145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a:solidFill>
                <a:prstClr val="black"/>
              </a:solidFill>
            </a:endParaRPr>
          </a:p>
        </p:txBody>
      </p:sp>
      <p:sp>
        <p:nvSpPr>
          <p:cNvPr id="477192" name="AutoShape 8"/>
          <p:cNvSpPr>
            <a:spLocks noChangeArrowheads="1"/>
          </p:cNvSpPr>
          <p:nvPr/>
        </p:nvSpPr>
        <p:spPr bwMode="auto">
          <a:xfrm>
            <a:off x="3829050" y="2241946"/>
            <a:ext cx="228600" cy="17145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a:solidFill>
                <a:prstClr val="black"/>
              </a:solidFill>
            </a:endParaRPr>
          </a:p>
        </p:txBody>
      </p:sp>
      <p:sp>
        <p:nvSpPr>
          <p:cNvPr id="477193" name="AutoShape 9"/>
          <p:cNvSpPr>
            <a:spLocks noChangeArrowheads="1"/>
          </p:cNvSpPr>
          <p:nvPr/>
        </p:nvSpPr>
        <p:spPr bwMode="auto">
          <a:xfrm>
            <a:off x="3810000" y="2463402"/>
            <a:ext cx="228600" cy="17145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a:solidFill>
                <a:prstClr val="black"/>
              </a:solidFill>
            </a:endParaRPr>
          </a:p>
        </p:txBody>
      </p:sp>
      <p:sp>
        <p:nvSpPr>
          <p:cNvPr id="477194" name="AutoShape 10"/>
          <p:cNvSpPr>
            <a:spLocks noChangeArrowheads="1"/>
          </p:cNvSpPr>
          <p:nvPr/>
        </p:nvSpPr>
        <p:spPr bwMode="auto">
          <a:xfrm>
            <a:off x="3581400" y="2692002"/>
            <a:ext cx="228600" cy="17145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a:solidFill>
                <a:prstClr val="black"/>
              </a:solidFill>
            </a:endParaRPr>
          </a:p>
        </p:txBody>
      </p:sp>
      <p:sp>
        <p:nvSpPr>
          <p:cNvPr id="477195" name="AutoShape 11"/>
          <p:cNvSpPr>
            <a:spLocks noChangeArrowheads="1"/>
          </p:cNvSpPr>
          <p:nvPr/>
        </p:nvSpPr>
        <p:spPr bwMode="auto">
          <a:xfrm>
            <a:off x="3657600" y="2920602"/>
            <a:ext cx="228600" cy="17145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a:solidFill>
                <a:prstClr val="black"/>
              </a:solidFill>
            </a:endParaRPr>
          </a:p>
        </p:txBody>
      </p:sp>
      <p:sp>
        <p:nvSpPr>
          <p:cNvPr id="477196" name="AutoShape 12"/>
          <p:cNvSpPr>
            <a:spLocks noChangeArrowheads="1"/>
          </p:cNvSpPr>
          <p:nvPr/>
        </p:nvSpPr>
        <p:spPr bwMode="auto">
          <a:xfrm>
            <a:off x="3962400" y="2977752"/>
            <a:ext cx="228600" cy="17145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a:solidFill>
                <a:prstClr val="black"/>
              </a:solidFill>
            </a:endParaRPr>
          </a:p>
        </p:txBody>
      </p:sp>
      <p:sp>
        <p:nvSpPr>
          <p:cNvPr id="477197" name="AutoShape 13"/>
          <p:cNvSpPr>
            <a:spLocks noChangeArrowheads="1"/>
          </p:cNvSpPr>
          <p:nvPr/>
        </p:nvSpPr>
        <p:spPr bwMode="auto">
          <a:xfrm>
            <a:off x="4114800" y="3149202"/>
            <a:ext cx="228600" cy="17145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a:solidFill>
                <a:prstClr val="black"/>
              </a:solidFill>
            </a:endParaRPr>
          </a:p>
        </p:txBody>
      </p:sp>
      <p:sp>
        <p:nvSpPr>
          <p:cNvPr id="477198" name="AutoShape 14"/>
          <p:cNvSpPr>
            <a:spLocks noChangeArrowheads="1"/>
          </p:cNvSpPr>
          <p:nvPr/>
        </p:nvSpPr>
        <p:spPr bwMode="auto">
          <a:xfrm>
            <a:off x="4038600" y="3377802"/>
            <a:ext cx="228600" cy="17145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a:solidFill>
                <a:prstClr val="black"/>
              </a:solidFill>
            </a:endParaRPr>
          </a:p>
        </p:txBody>
      </p:sp>
      <p:cxnSp>
        <p:nvCxnSpPr>
          <p:cNvPr id="477199" name="AutoShape 15"/>
          <p:cNvCxnSpPr>
            <a:cxnSpLocks noChangeShapeType="1"/>
          </p:cNvCxnSpPr>
          <p:nvPr/>
        </p:nvCxnSpPr>
        <p:spPr bwMode="auto">
          <a:xfrm>
            <a:off x="3692525" y="2777727"/>
            <a:ext cx="76200" cy="228600"/>
          </a:xfrm>
          <a:prstGeom prst="straightConnector1">
            <a:avLst/>
          </a:prstGeom>
          <a:noFill/>
          <a:ln w="28575">
            <a:solidFill>
              <a:schemeClr val="tx1"/>
            </a:solidFill>
            <a:round/>
            <a:headEnd/>
            <a:tailEnd/>
          </a:ln>
        </p:spPr>
      </p:cxnSp>
      <p:cxnSp>
        <p:nvCxnSpPr>
          <p:cNvPr id="477200" name="AutoShape 16"/>
          <p:cNvCxnSpPr>
            <a:cxnSpLocks noChangeShapeType="1"/>
          </p:cNvCxnSpPr>
          <p:nvPr/>
        </p:nvCxnSpPr>
        <p:spPr bwMode="auto">
          <a:xfrm flipH="1">
            <a:off x="3692525" y="2549127"/>
            <a:ext cx="228600" cy="228600"/>
          </a:xfrm>
          <a:prstGeom prst="straightConnector1">
            <a:avLst/>
          </a:prstGeom>
          <a:noFill/>
          <a:ln w="28575">
            <a:solidFill>
              <a:schemeClr val="tx1"/>
            </a:solidFill>
            <a:round/>
            <a:headEnd/>
            <a:tailEnd/>
          </a:ln>
        </p:spPr>
      </p:cxnSp>
      <p:cxnSp>
        <p:nvCxnSpPr>
          <p:cNvPr id="477201" name="AutoShape 17"/>
          <p:cNvCxnSpPr>
            <a:cxnSpLocks noChangeShapeType="1"/>
          </p:cNvCxnSpPr>
          <p:nvPr/>
        </p:nvCxnSpPr>
        <p:spPr bwMode="auto">
          <a:xfrm>
            <a:off x="3775075" y="3006327"/>
            <a:ext cx="304800" cy="57150"/>
          </a:xfrm>
          <a:prstGeom prst="straightConnector1">
            <a:avLst/>
          </a:prstGeom>
          <a:noFill/>
          <a:ln w="28575">
            <a:solidFill>
              <a:schemeClr val="tx1"/>
            </a:solidFill>
            <a:round/>
            <a:headEnd/>
            <a:tailEnd/>
          </a:ln>
        </p:spPr>
      </p:cxnSp>
      <p:cxnSp>
        <p:nvCxnSpPr>
          <p:cNvPr id="477202" name="AutoShape 18"/>
          <p:cNvCxnSpPr>
            <a:cxnSpLocks noChangeShapeType="1"/>
          </p:cNvCxnSpPr>
          <p:nvPr/>
        </p:nvCxnSpPr>
        <p:spPr bwMode="auto">
          <a:xfrm>
            <a:off x="4068763" y="3063477"/>
            <a:ext cx="152400" cy="171450"/>
          </a:xfrm>
          <a:prstGeom prst="straightConnector1">
            <a:avLst/>
          </a:prstGeom>
          <a:noFill/>
          <a:ln w="28575">
            <a:solidFill>
              <a:schemeClr val="tx1"/>
            </a:solidFill>
            <a:round/>
            <a:headEnd/>
            <a:tailEnd/>
          </a:ln>
        </p:spPr>
      </p:cxnSp>
      <p:cxnSp>
        <p:nvCxnSpPr>
          <p:cNvPr id="477203" name="AutoShape 19"/>
          <p:cNvCxnSpPr>
            <a:cxnSpLocks noChangeShapeType="1"/>
          </p:cNvCxnSpPr>
          <p:nvPr/>
        </p:nvCxnSpPr>
        <p:spPr bwMode="auto">
          <a:xfrm flipH="1">
            <a:off x="4144963" y="3234927"/>
            <a:ext cx="76200" cy="228600"/>
          </a:xfrm>
          <a:prstGeom prst="straightConnector1">
            <a:avLst/>
          </a:prstGeom>
          <a:noFill/>
          <a:ln w="28575">
            <a:solidFill>
              <a:schemeClr val="tx1"/>
            </a:solidFill>
            <a:round/>
            <a:headEnd/>
            <a:tailEnd/>
          </a:ln>
        </p:spPr>
      </p:cxnSp>
      <p:sp>
        <p:nvSpPr>
          <p:cNvPr id="477204" name="Line 20"/>
          <p:cNvSpPr>
            <a:spLocks noChangeShapeType="1"/>
          </p:cNvSpPr>
          <p:nvPr/>
        </p:nvSpPr>
        <p:spPr bwMode="auto">
          <a:xfrm>
            <a:off x="3905251" y="2109787"/>
            <a:ext cx="42863" cy="228600"/>
          </a:xfrm>
          <a:prstGeom prst="line">
            <a:avLst/>
          </a:prstGeom>
          <a:noFill/>
          <a:ln w="28575">
            <a:solidFill>
              <a:schemeClr val="tx1"/>
            </a:solidFill>
            <a:round/>
            <a:headEnd/>
            <a:tailEnd/>
          </a:ln>
        </p:spPr>
        <p:txBody>
          <a:bodyPr/>
          <a:lstStyle/>
          <a:p>
            <a:endParaRPr lang="en-US">
              <a:solidFill>
                <a:prstClr val="black"/>
              </a:solidFill>
            </a:endParaRPr>
          </a:p>
        </p:txBody>
      </p:sp>
      <p:sp>
        <p:nvSpPr>
          <p:cNvPr id="477205" name="Line 21"/>
          <p:cNvSpPr>
            <a:spLocks noChangeShapeType="1"/>
          </p:cNvSpPr>
          <p:nvPr/>
        </p:nvSpPr>
        <p:spPr bwMode="auto">
          <a:xfrm flipH="1">
            <a:off x="3924301" y="2334815"/>
            <a:ext cx="23813" cy="210741"/>
          </a:xfrm>
          <a:prstGeom prst="line">
            <a:avLst/>
          </a:prstGeom>
          <a:noFill/>
          <a:ln w="28575">
            <a:solidFill>
              <a:schemeClr val="tx1"/>
            </a:solidFill>
            <a:round/>
            <a:headEnd/>
            <a:tailEnd/>
          </a:ln>
        </p:spPr>
        <p:txBody>
          <a:bodyPr/>
          <a:lstStyle/>
          <a:p>
            <a:endParaRPr lang="en-US">
              <a:solidFill>
                <a:prstClr val="black"/>
              </a:solidFill>
            </a:endParaRPr>
          </a:p>
        </p:txBody>
      </p:sp>
      <p:sp>
        <p:nvSpPr>
          <p:cNvPr id="50196" name="Text Box 22"/>
          <p:cNvSpPr txBox="1">
            <a:spLocks noChangeArrowheads="1"/>
          </p:cNvSpPr>
          <p:nvPr/>
        </p:nvSpPr>
        <p:spPr bwMode="auto">
          <a:xfrm>
            <a:off x="6772276" y="3714749"/>
            <a:ext cx="381836" cy="369332"/>
          </a:xfrm>
          <a:prstGeom prst="rect">
            <a:avLst/>
          </a:prstGeom>
          <a:noFill/>
          <a:ln w="9525">
            <a:noFill/>
            <a:miter lim="800000"/>
            <a:headEnd/>
            <a:tailEnd/>
          </a:ln>
        </p:spPr>
        <p:txBody>
          <a:bodyPr wrap="none">
            <a:spAutoFit/>
          </a:bodyPr>
          <a:lstStyle/>
          <a:p>
            <a:r>
              <a:rPr lang="en-US">
                <a:solidFill>
                  <a:prstClr val="black"/>
                </a:solidFill>
                <a:latin typeface="Symbol" pitchFamily="18" charset="2"/>
                <a:sym typeface="Symbol" pitchFamily="18" charset="2"/>
              </a:rPr>
              <a:t></a:t>
            </a:r>
            <a:r>
              <a:rPr lang="en-US" baseline="-25000">
                <a:solidFill>
                  <a:prstClr val="black"/>
                </a:solidFill>
                <a:latin typeface="Symbol" pitchFamily="18" charset="2"/>
                <a:sym typeface="Symbol" pitchFamily="18" charset="2"/>
              </a:rPr>
              <a:t>1</a:t>
            </a:r>
            <a:endParaRPr lang="en-US" baseline="-25000">
              <a:solidFill>
                <a:prstClr val="black"/>
              </a:solidFill>
              <a:latin typeface="Symbol" pitchFamily="18" charset="2"/>
            </a:endParaRPr>
          </a:p>
        </p:txBody>
      </p:sp>
      <p:sp>
        <p:nvSpPr>
          <p:cNvPr id="50197" name="Text Box 23"/>
          <p:cNvSpPr txBox="1">
            <a:spLocks noChangeArrowheads="1"/>
          </p:cNvSpPr>
          <p:nvPr/>
        </p:nvSpPr>
        <p:spPr bwMode="auto">
          <a:xfrm>
            <a:off x="2751138" y="3999309"/>
            <a:ext cx="381836" cy="369332"/>
          </a:xfrm>
          <a:prstGeom prst="rect">
            <a:avLst/>
          </a:prstGeom>
          <a:noFill/>
          <a:ln w="9525">
            <a:noFill/>
            <a:miter lim="800000"/>
            <a:headEnd/>
            <a:tailEnd/>
          </a:ln>
        </p:spPr>
        <p:txBody>
          <a:bodyPr wrap="none">
            <a:spAutoFit/>
          </a:bodyPr>
          <a:lstStyle/>
          <a:p>
            <a:r>
              <a:rPr lang="en-US">
                <a:solidFill>
                  <a:prstClr val="black"/>
                </a:solidFill>
                <a:latin typeface="Symbol" pitchFamily="18" charset="2"/>
                <a:sym typeface="Symbol" pitchFamily="18" charset="2"/>
              </a:rPr>
              <a:t></a:t>
            </a:r>
            <a:r>
              <a:rPr lang="en-US" baseline="-25000">
                <a:solidFill>
                  <a:prstClr val="black"/>
                </a:solidFill>
                <a:latin typeface="Symbol" pitchFamily="18" charset="2"/>
                <a:sym typeface="Symbol" pitchFamily="18" charset="2"/>
              </a:rPr>
              <a:t>0</a:t>
            </a:r>
            <a:endParaRPr lang="en-US" baseline="-25000">
              <a:solidFill>
                <a:prstClr val="black"/>
              </a:solidFill>
              <a:latin typeface="Symbol" pitchFamily="18" charset="2"/>
            </a:endParaRPr>
          </a:p>
        </p:txBody>
      </p:sp>
      <p:sp>
        <p:nvSpPr>
          <p:cNvPr id="23" name="Text Box 21"/>
          <p:cNvSpPr txBox="1">
            <a:spLocks noChangeArrowheads="1"/>
          </p:cNvSpPr>
          <p:nvPr/>
        </p:nvSpPr>
        <p:spPr bwMode="auto">
          <a:xfrm>
            <a:off x="596285" y="2379820"/>
            <a:ext cx="851515" cy="369332"/>
          </a:xfrm>
          <a:prstGeom prst="rect">
            <a:avLst/>
          </a:prstGeom>
          <a:noFill/>
          <a:ln w="9525">
            <a:noFill/>
            <a:miter lim="800000"/>
            <a:headEnd/>
            <a:tailEnd/>
          </a:ln>
        </p:spPr>
        <p:txBody>
          <a:bodyPr wrap="none">
            <a:spAutoFit/>
          </a:bodyPr>
          <a:lstStyle/>
          <a:p>
            <a:r>
              <a:rPr lang="en-US" dirty="0">
                <a:solidFill>
                  <a:prstClr val="black"/>
                </a:solidFill>
              </a:rPr>
              <a:t>J(</a:t>
            </a:r>
            <a:r>
              <a:rPr lang="en-US" dirty="0">
                <a:solidFill>
                  <a:prstClr val="black"/>
                </a:solidFill>
                <a:latin typeface="Symbol" pitchFamily="18" charset="2"/>
                <a:sym typeface="Symbol" pitchFamily="18" charset="2"/>
              </a:rPr>
              <a:t></a:t>
            </a:r>
            <a:r>
              <a:rPr lang="en-US" baseline="-25000" dirty="0">
                <a:solidFill>
                  <a:prstClr val="black"/>
                </a:solidFill>
                <a:latin typeface="Symbol" pitchFamily="18" charset="2"/>
                <a:sym typeface="Symbol" pitchFamily="18" charset="2"/>
              </a:rPr>
              <a:t>0</a:t>
            </a:r>
            <a:r>
              <a:rPr lang="en-US" dirty="0">
                <a:solidFill>
                  <a:prstClr val="black"/>
                </a:solidFill>
                <a:latin typeface="Symbol" pitchFamily="18" charset="2"/>
                <a:sym typeface="Symbol" pitchFamily="18" charset="2"/>
              </a:rPr>
              <a:t>,</a:t>
            </a:r>
            <a:r>
              <a:rPr lang="en-US" baseline="-25000" dirty="0">
                <a:solidFill>
                  <a:prstClr val="black"/>
                </a:solidFill>
                <a:latin typeface="Symbol" pitchFamily="18" charset="2"/>
                <a:sym typeface="Symbol" pitchFamily="18" charset="2"/>
              </a:rPr>
              <a:t>1</a:t>
            </a:r>
            <a:r>
              <a:rPr lang="en-US" dirty="0">
                <a:solidFill>
                  <a:prstClr val="black"/>
                </a:solidFill>
              </a:rPr>
              <a:t>)</a:t>
            </a:r>
            <a:endParaRPr lang="en-US" baseline="-25000" dirty="0">
              <a:solidFill>
                <a:prstClr val="black"/>
              </a:solidFill>
              <a:latin typeface="Symbol" pitchFamily="18" charset="2"/>
              <a:sym typeface="Symbol" pitchFamily="18" charset="2"/>
            </a:endParaRPr>
          </a:p>
        </p:txBody>
      </p:sp>
      <p:sp>
        <p:nvSpPr>
          <p:cNvPr id="3" name="Date Placeholder 2"/>
          <p:cNvSpPr>
            <a:spLocks noGrp="1"/>
          </p:cNvSpPr>
          <p:nvPr>
            <p:ph type="dt" sz="half" idx="10"/>
          </p:nvPr>
        </p:nvSpPr>
        <p:spPr/>
        <p:txBody>
          <a:bodyPr/>
          <a:lstStyle/>
          <a:p>
            <a:fld id="{E968A24F-53C3-4CFA-8217-DC7A2194879D}" type="datetime1">
              <a:rPr lang="en-US" smtClean="0">
                <a:solidFill>
                  <a:prstClr val="black">
                    <a:tint val="75000"/>
                  </a:prstClr>
                </a:solidFill>
              </a:rPr>
              <a:t>9/10/2025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r>
              <a:rPr lang="en-US">
                <a:solidFill>
                  <a:prstClr val="black">
                    <a:tint val="75000"/>
                  </a:prstClr>
                </a:solidFill>
              </a:rPr>
              <a:t>Linear Regression</a:t>
            </a:r>
          </a:p>
        </p:txBody>
      </p:sp>
      <p:sp>
        <p:nvSpPr>
          <p:cNvPr id="5" name="Slide Number Placeholder 4"/>
          <p:cNvSpPr>
            <a:spLocks noGrp="1"/>
          </p:cNvSpPr>
          <p:nvPr>
            <p:ph type="sldNum" sz="quarter" idx="12"/>
          </p:nvPr>
        </p:nvSpPr>
        <p:spPr/>
        <p:txBody>
          <a:bodyPr/>
          <a:lstStyle/>
          <a:p>
            <a:fld id="{F043A558-56C3-499B-89A2-59E5853E6BB4}" type="slidenum">
              <a:rPr lang="en-US" smtClean="0">
                <a:solidFill>
                  <a:prstClr val="black">
                    <a:tint val="75000"/>
                  </a:prstClr>
                </a:solidFill>
              </a:rPr>
              <a:pPr/>
              <a:t>43</a:t>
            </a:fld>
            <a:endParaRPr lang="en-US">
              <a:solidFill>
                <a:prstClr val="black">
                  <a:tint val="75000"/>
                </a:prstClr>
              </a:solidFill>
            </a:endParaRPr>
          </a:p>
        </p:txBody>
      </p:sp>
    </p:spTree>
    <p:extLst>
      <p:ext uri="{BB962C8B-B14F-4D97-AF65-F5344CB8AC3E}">
        <p14:creationId xmlns:p14="http://schemas.microsoft.com/office/powerpoint/2010/main" val="2854360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719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7204"/>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47719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77205"/>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47719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77200"/>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477194"/>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nodeType="afterEffect">
                                  <p:stCondLst>
                                    <p:cond delay="500"/>
                                  </p:stCondLst>
                                  <p:childTnLst>
                                    <p:set>
                                      <p:cBhvr>
                                        <p:cTn id="30" dur="1" fill="hold">
                                          <p:stCondLst>
                                            <p:cond delay="0"/>
                                          </p:stCondLst>
                                        </p:cTn>
                                        <p:tgtEl>
                                          <p:spTgt spid="477199"/>
                                        </p:tgtEl>
                                        <p:attrNameLst>
                                          <p:attrName>style.visibility</p:attrName>
                                        </p:attrNameLst>
                                      </p:cBhvr>
                                      <p:to>
                                        <p:strVal val="visible"/>
                                      </p:to>
                                    </p:set>
                                  </p:childTnLst>
                                </p:cTn>
                              </p:par>
                            </p:childTnLst>
                          </p:cTn>
                        </p:par>
                        <p:par>
                          <p:cTn id="31" fill="hold">
                            <p:stCondLst>
                              <p:cond delay="500"/>
                            </p:stCondLst>
                            <p:childTnLst>
                              <p:par>
                                <p:cTn id="32" presetID="1" presetClass="entr" presetSubtype="0" fill="hold" grpId="0" nodeType="afterEffect">
                                  <p:stCondLst>
                                    <p:cond delay="0"/>
                                  </p:stCondLst>
                                  <p:childTnLst>
                                    <p:set>
                                      <p:cBhvr>
                                        <p:cTn id="33" dur="1" fill="hold">
                                          <p:stCondLst>
                                            <p:cond delay="0"/>
                                          </p:stCondLst>
                                        </p:cTn>
                                        <p:tgtEl>
                                          <p:spTgt spid="477195"/>
                                        </p:tgtEl>
                                        <p:attrNameLst>
                                          <p:attrName>style.visibility</p:attrName>
                                        </p:attrNameLst>
                                      </p:cBhvr>
                                      <p:to>
                                        <p:strVal val="visible"/>
                                      </p:to>
                                    </p:set>
                                  </p:childTnLst>
                                </p:cTn>
                              </p:par>
                            </p:childTnLst>
                          </p:cTn>
                        </p:par>
                        <p:par>
                          <p:cTn id="34" fill="hold">
                            <p:stCondLst>
                              <p:cond delay="500"/>
                            </p:stCondLst>
                            <p:childTnLst>
                              <p:par>
                                <p:cTn id="35" presetID="1" presetClass="entr" presetSubtype="0" fill="hold" nodeType="afterEffect">
                                  <p:stCondLst>
                                    <p:cond delay="500"/>
                                  </p:stCondLst>
                                  <p:childTnLst>
                                    <p:set>
                                      <p:cBhvr>
                                        <p:cTn id="36" dur="1" fill="hold">
                                          <p:stCondLst>
                                            <p:cond delay="0"/>
                                          </p:stCondLst>
                                        </p:cTn>
                                        <p:tgtEl>
                                          <p:spTgt spid="477201"/>
                                        </p:tgtEl>
                                        <p:attrNameLst>
                                          <p:attrName>style.visibility</p:attrName>
                                        </p:attrNameLst>
                                      </p:cBhvr>
                                      <p:to>
                                        <p:strVal val="visible"/>
                                      </p:to>
                                    </p:set>
                                  </p:childTnLst>
                                </p:cTn>
                              </p:par>
                            </p:childTnLst>
                          </p:cTn>
                        </p:par>
                        <p:par>
                          <p:cTn id="37" fill="hold">
                            <p:stCondLst>
                              <p:cond delay="1000"/>
                            </p:stCondLst>
                            <p:childTnLst>
                              <p:par>
                                <p:cTn id="38" presetID="1" presetClass="entr" presetSubtype="0" fill="hold" grpId="0" nodeType="afterEffect">
                                  <p:stCondLst>
                                    <p:cond delay="0"/>
                                  </p:stCondLst>
                                  <p:childTnLst>
                                    <p:set>
                                      <p:cBhvr>
                                        <p:cTn id="39" dur="1" fill="hold">
                                          <p:stCondLst>
                                            <p:cond delay="0"/>
                                          </p:stCondLst>
                                        </p:cTn>
                                        <p:tgtEl>
                                          <p:spTgt spid="477196"/>
                                        </p:tgtEl>
                                        <p:attrNameLst>
                                          <p:attrName>style.visibility</p:attrName>
                                        </p:attrNameLst>
                                      </p:cBhvr>
                                      <p:to>
                                        <p:strVal val="visible"/>
                                      </p:to>
                                    </p:set>
                                  </p:childTnLst>
                                </p:cTn>
                              </p:par>
                            </p:childTnLst>
                          </p:cTn>
                        </p:par>
                        <p:par>
                          <p:cTn id="40" fill="hold">
                            <p:stCondLst>
                              <p:cond delay="1000"/>
                            </p:stCondLst>
                            <p:childTnLst>
                              <p:par>
                                <p:cTn id="41" presetID="1" presetClass="entr" presetSubtype="0" fill="hold" nodeType="afterEffect">
                                  <p:stCondLst>
                                    <p:cond delay="500"/>
                                  </p:stCondLst>
                                  <p:childTnLst>
                                    <p:set>
                                      <p:cBhvr>
                                        <p:cTn id="42" dur="1" fill="hold">
                                          <p:stCondLst>
                                            <p:cond delay="0"/>
                                          </p:stCondLst>
                                        </p:cTn>
                                        <p:tgtEl>
                                          <p:spTgt spid="477202"/>
                                        </p:tgtEl>
                                        <p:attrNameLst>
                                          <p:attrName>style.visibility</p:attrName>
                                        </p:attrNameLst>
                                      </p:cBhvr>
                                      <p:to>
                                        <p:strVal val="visible"/>
                                      </p:to>
                                    </p:set>
                                  </p:childTnLst>
                                </p:cTn>
                              </p:par>
                            </p:childTnLst>
                          </p:cTn>
                        </p:par>
                        <p:par>
                          <p:cTn id="43" fill="hold">
                            <p:stCondLst>
                              <p:cond delay="1500"/>
                            </p:stCondLst>
                            <p:childTnLst>
                              <p:par>
                                <p:cTn id="44" presetID="1" presetClass="entr" presetSubtype="0" fill="hold" grpId="0" nodeType="afterEffect">
                                  <p:stCondLst>
                                    <p:cond delay="0"/>
                                  </p:stCondLst>
                                  <p:childTnLst>
                                    <p:set>
                                      <p:cBhvr>
                                        <p:cTn id="45" dur="1" fill="hold">
                                          <p:stCondLst>
                                            <p:cond delay="0"/>
                                          </p:stCondLst>
                                        </p:cTn>
                                        <p:tgtEl>
                                          <p:spTgt spid="477197"/>
                                        </p:tgtEl>
                                        <p:attrNameLst>
                                          <p:attrName>style.visibility</p:attrName>
                                        </p:attrNameLst>
                                      </p:cBhvr>
                                      <p:to>
                                        <p:strVal val="visible"/>
                                      </p:to>
                                    </p:set>
                                  </p:childTnLst>
                                </p:cTn>
                              </p:par>
                            </p:childTnLst>
                          </p:cTn>
                        </p:par>
                        <p:par>
                          <p:cTn id="46" fill="hold">
                            <p:stCondLst>
                              <p:cond delay="1500"/>
                            </p:stCondLst>
                            <p:childTnLst>
                              <p:par>
                                <p:cTn id="47" presetID="1" presetClass="entr" presetSubtype="0" fill="hold" nodeType="afterEffect">
                                  <p:stCondLst>
                                    <p:cond delay="500"/>
                                  </p:stCondLst>
                                  <p:childTnLst>
                                    <p:set>
                                      <p:cBhvr>
                                        <p:cTn id="48" dur="1" fill="hold">
                                          <p:stCondLst>
                                            <p:cond delay="0"/>
                                          </p:stCondLst>
                                        </p:cTn>
                                        <p:tgtEl>
                                          <p:spTgt spid="477203"/>
                                        </p:tgtEl>
                                        <p:attrNameLst>
                                          <p:attrName>style.visibility</p:attrName>
                                        </p:attrNameLst>
                                      </p:cBhvr>
                                      <p:to>
                                        <p:strVal val="visible"/>
                                      </p:to>
                                    </p:set>
                                  </p:childTnLst>
                                </p:cTn>
                              </p:par>
                            </p:childTnLst>
                          </p:cTn>
                        </p:par>
                        <p:par>
                          <p:cTn id="49" fill="hold">
                            <p:stCondLst>
                              <p:cond delay="2000"/>
                            </p:stCondLst>
                            <p:childTnLst>
                              <p:par>
                                <p:cTn id="50" presetID="1" presetClass="entr" presetSubtype="0" fill="hold" grpId="0" nodeType="afterEffect">
                                  <p:stCondLst>
                                    <p:cond delay="0"/>
                                  </p:stCondLst>
                                  <p:childTnLst>
                                    <p:set>
                                      <p:cBhvr>
                                        <p:cTn id="51" dur="1" fill="hold">
                                          <p:stCondLst>
                                            <p:cond delay="0"/>
                                          </p:stCondLst>
                                        </p:cTn>
                                        <p:tgtEl>
                                          <p:spTgt spid="4771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7191" grpId="0" animBg="1"/>
      <p:bldP spid="477192" grpId="0" animBg="1"/>
      <p:bldP spid="477193" grpId="0" animBg="1"/>
      <p:bldP spid="477194" grpId="0" animBg="1"/>
      <p:bldP spid="477195" grpId="0" animBg="1"/>
      <p:bldP spid="477196" grpId="0" animBg="1"/>
      <p:bldP spid="477197" grpId="0" animBg="1"/>
      <p:bldP spid="477198" grpId="0" animBg="1"/>
      <p:bldP spid="477204" grpId="0" animBg="1"/>
      <p:bldP spid="47720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2"/>
          <p:cNvPicPr>
            <a:picLocks noChangeAspect="1" noChangeArrowheads="1"/>
          </p:cNvPicPr>
          <p:nvPr/>
        </p:nvPicPr>
        <p:blipFill>
          <a:blip r:embed="rId3" cstate="print"/>
          <a:srcRect/>
          <a:stretch>
            <a:fillRect/>
          </a:stretch>
        </p:blipFill>
        <p:spPr bwMode="auto">
          <a:xfrm>
            <a:off x="609600" y="510778"/>
            <a:ext cx="7677150" cy="4032647"/>
          </a:xfrm>
          <a:prstGeom prst="rect">
            <a:avLst/>
          </a:prstGeom>
          <a:noFill/>
          <a:ln w="9525">
            <a:noFill/>
            <a:miter lim="800000"/>
            <a:headEnd/>
            <a:tailEnd/>
          </a:ln>
        </p:spPr>
      </p:pic>
      <p:sp>
        <p:nvSpPr>
          <p:cNvPr id="51204" name="Text Box 4"/>
          <p:cNvSpPr txBox="1">
            <a:spLocks noChangeArrowheads="1"/>
          </p:cNvSpPr>
          <p:nvPr/>
        </p:nvSpPr>
        <p:spPr bwMode="auto">
          <a:xfrm>
            <a:off x="2751138" y="3993356"/>
            <a:ext cx="381836" cy="369332"/>
          </a:xfrm>
          <a:prstGeom prst="rect">
            <a:avLst/>
          </a:prstGeom>
          <a:noFill/>
          <a:ln w="9525">
            <a:noFill/>
            <a:miter lim="800000"/>
            <a:headEnd/>
            <a:tailEnd/>
          </a:ln>
        </p:spPr>
        <p:txBody>
          <a:bodyPr wrap="none">
            <a:spAutoFit/>
          </a:bodyPr>
          <a:lstStyle/>
          <a:p>
            <a:r>
              <a:rPr lang="en-US">
                <a:solidFill>
                  <a:prstClr val="black"/>
                </a:solidFill>
                <a:latin typeface="Symbol" pitchFamily="18" charset="2"/>
                <a:sym typeface="Symbol" pitchFamily="18" charset="2"/>
              </a:rPr>
              <a:t></a:t>
            </a:r>
            <a:r>
              <a:rPr lang="en-US" baseline="-25000">
                <a:solidFill>
                  <a:prstClr val="black"/>
                </a:solidFill>
                <a:latin typeface="Symbol" pitchFamily="18" charset="2"/>
                <a:sym typeface="Symbol" pitchFamily="18" charset="2"/>
              </a:rPr>
              <a:t>0</a:t>
            </a:r>
            <a:endParaRPr lang="en-US" baseline="-25000">
              <a:solidFill>
                <a:prstClr val="black"/>
              </a:solidFill>
              <a:latin typeface="Symbol" pitchFamily="18" charset="2"/>
            </a:endParaRPr>
          </a:p>
        </p:txBody>
      </p:sp>
      <p:sp>
        <p:nvSpPr>
          <p:cNvPr id="51205" name="Text Box 5"/>
          <p:cNvSpPr txBox="1">
            <a:spLocks noChangeArrowheads="1"/>
          </p:cNvSpPr>
          <p:nvPr/>
        </p:nvSpPr>
        <p:spPr bwMode="auto">
          <a:xfrm>
            <a:off x="6772276" y="3708796"/>
            <a:ext cx="381836" cy="369332"/>
          </a:xfrm>
          <a:prstGeom prst="rect">
            <a:avLst/>
          </a:prstGeom>
          <a:noFill/>
          <a:ln w="9525">
            <a:noFill/>
            <a:miter lim="800000"/>
            <a:headEnd/>
            <a:tailEnd/>
          </a:ln>
        </p:spPr>
        <p:txBody>
          <a:bodyPr wrap="none">
            <a:spAutoFit/>
          </a:bodyPr>
          <a:lstStyle/>
          <a:p>
            <a:r>
              <a:rPr lang="en-US">
                <a:solidFill>
                  <a:prstClr val="black"/>
                </a:solidFill>
                <a:latin typeface="Symbol" pitchFamily="18" charset="2"/>
                <a:sym typeface="Symbol" pitchFamily="18" charset="2"/>
              </a:rPr>
              <a:t></a:t>
            </a:r>
            <a:r>
              <a:rPr lang="en-US" baseline="-25000">
                <a:solidFill>
                  <a:prstClr val="black"/>
                </a:solidFill>
                <a:latin typeface="Symbol" pitchFamily="18" charset="2"/>
                <a:sym typeface="Symbol" pitchFamily="18" charset="2"/>
              </a:rPr>
              <a:t>1</a:t>
            </a:r>
            <a:endParaRPr lang="en-US" baseline="-25000">
              <a:solidFill>
                <a:prstClr val="black"/>
              </a:solidFill>
              <a:latin typeface="Symbol" pitchFamily="18" charset="2"/>
            </a:endParaRPr>
          </a:p>
        </p:txBody>
      </p:sp>
      <p:sp>
        <p:nvSpPr>
          <p:cNvPr id="479239" name="AutoShape 7"/>
          <p:cNvSpPr>
            <a:spLocks noChangeArrowheads="1"/>
          </p:cNvSpPr>
          <p:nvPr/>
        </p:nvSpPr>
        <p:spPr bwMode="auto">
          <a:xfrm>
            <a:off x="3986213" y="1925240"/>
            <a:ext cx="228600" cy="17145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a:solidFill>
                <a:prstClr val="black"/>
              </a:solidFill>
            </a:endParaRPr>
          </a:p>
        </p:txBody>
      </p:sp>
      <p:sp>
        <p:nvSpPr>
          <p:cNvPr id="479240" name="AutoShape 8"/>
          <p:cNvSpPr>
            <a:spLocks noChangeArrowheads="1"/>
          </p:cNvSpPr>
          <p:nvPr/>
        </p:nvSpPr>
        <p:spPr bwMode="auto">
          <a:xfrm>
            <a:off x="4243388" y="2157412"/>
            <a:ext cx="228600" cy="17145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a:solidFill>
                <a:prstClr val="black"/>
              </a:solidFill>
            </a:endParaRPr>
          </a:p>
        </p:txBody>
      </p:sp>
      <p:sp>
        <p:nvSpPr>
          <p:cNvPr id="479241" name="AutoShape 9"/>
          <p:cNvSpPr>
            <a:spLocks noChangeArrowheads="1"/>
          </p:cNvSpPr>
          <p:nvPr/>
        </p:nvSpPr>
        <p:spPr bwMode="auto">
          <a:xfrm>
            <a:off x="4529138" y="2250280"/>
            <a:ext cx="228600" cy="17145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a:solidFill>
                <a:prstClr val="black"/>
              </a:solidFill>
            </a:endParaRPr>
          </a:p>
        </p:txBody>
      </p:sp>
      <p:sp>
        <p:nvSpPr>
          <p:cNvPr id="479242" name="AutoShape 10"/>
          <p:cNvSpPr>
            <a:spLocks noChangeArrowheads="1"/>
          </p:cNvSpPr>
          <p:nvPr/>
        </p:nvSpPr>
        <p:spPr bwMode="auto">
          <a:xfrm>
            <a:off x="4876800" y="2457449"/>
            <a:ext cx="228600" cy="17145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a:solidFill>
                <a:prstClr val="black"/>
              </a:solidFill>
            </a:endParaRPr>
          </a:p>
        </p:txBody>
      </p:sp>
      <p:sp>
        <p:nvSpPr>
          <p:cNvPr id="479243" name="AutoShape 11"/>
          <p:cNvSpPr>
            <a:spLocks noChangeArrowheads="1"/>
          </p:cNvSpPr>
          <p:nvPr/>
        </p:nvSpPr>
        <p:spPr bwMode="auto">
          <a:xfrm>
            <a:off x="5257800" y="2628899"/>
            <a:ext cx="228600" cy="17145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a:solidFill>
                <a:prstClr val="black"/>
              </a:solidFill>
            </a:endParaRPr>
          </a:p>
        </p:txBody>
      </p:sp>
      <p:sp>
        <p:nvSpPr>
          <p:cNvPr id="479244" name="AutoShape 12"/>
          <p:cNvSpPr>
            <a:spLocks noChangeArrowheads="1"/>
          </p:cNvSpPr>
          <p:nvPr/>
        </p:nvSpPr>
        <p:spPr bwMode="auto">
          <a:xfrm>
            <a:off x="5638800" y="2743199"/>
            <a:ext cx="228600" cy="17145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a:solidFill>
                <a:prstClr val="black"/>
              </a:solidFill>
            </a:endParaRPr>
          </a:p>
        </p:txBody>
      </p:sp>
      <p:sp>
        <p:nvSpPr>
          <p:cNvPr id="479245" name="AutoShape 13"/>
          <p:cNvSpPr>
            <a:spLocks noChangeArrowheads="1"/>
          </p:cNvSpPr>
          <p:nvPr/>
        </p:nvSpPr>
        <p:spPr bwMode="auto">
          <a:xfrm>
            <a:off x="6019800" y="2857499"/>
            <a:ext cx="228600" cy="17145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a:solidFill>
                <a:prstClr val="black"/>
              </a:solidFill>
            </a:endParaRPr>
          </a:p>
        </p:txBody>
      </p:sp>
      <p:cxnSp>
        <p:nvCxnSpPr>
          <p:cNvPr id="479246" name="AutoShape 14"/>
          <p:cNvCxnSpPr>
            <a:cxnSpLocks noChangeShapeType="1"/>
          </p:cNvCxnSpPr>
          <p:nvPr/>
        </p:nvCxnSpPr>
        <p:spPr bwMode="auto">
          <a:xfrm>
            <a:off x="4976813" y="2543174"/>
            <a:ext cx="381000" cy="171450"/>
          </a:xfrm>
          <a:prstGeom prst="straightConnector1">
            <a:avLst/>
          </a:prstGeom>
          <a:noFill/>
          <a:ln w="28575">
            <a:solidFill>
              <a:schemeClr val="tx1"/>
            </a:solidFill>
            <a:round/>
            <a:headEnd/>
            <a:tailEnd/>
          </a:ln>
        </p:spPr>
      </p:cxnSp>
      <p:cxnSp>
        <p:nvCxnSpPr>
          <p:cNvPr id="479247" name="AutoShape 15"/>
          <p:cNvCxnSpPr>
            <a:cxnSpLocks noChangeShapeType="1"/>
          </p:cNvCxnSpPr>
          <p:nvPr/>
        </p:nvCxnSpPr>
        <p:spPr bwMode="auto">
          <a:xfrm>
            <a:off x="5368925" y="2714624"/>
            <a:ext cx="381000" cy="114300"/>
          </a:xfrm>
          <a:prstGeom prst="straightConnector1">
            <a:avLst/>
          </a:prstGeom>
          <a:noFill/>
          <a:ln w="28575">
            <a:solidFill>
              <a:schemeClr val="tx1"/>
            </a:solidFill>
            <a:round/>
            <a:headEnd/>
            <a:tailEnd/>
          </a:ln>
        </p:spPr>
      </p:cxnSp>
      <p:cxnSp>
        <p:nvCxnSpPr>
          <p:cNvPr id="479248" name="AutoShape 16"/>
          <p:cNvCxnSpPr>
            <a:cxnSpLocks noChangeShapeType="1"/>
          </p:cNvCxnSpPr>
          <p:nvPr/>
        </p:nvCxnSpPr>
        <p:spPr bwMode="auto">
          <a:xfrm>
            <a:off x="5749925" y="2828924"/>
            <a:ext cx="381000" cy="114300"/>
          </a:xfrm>
          <a:prstGeom prst="straightConnector1">
            <a:avLst/>
          </a:prstGeom>
          <a:noFill/>
          <a:ln w="28575">
            <a:solidFill>
              <a:schemeClr val="tx1"/>
            </a:solidFill>
            <a:round/>
            <a:headEnd/>
            <a:tailEnd/>
          </a:ln>
        </p:spPr>
      </p:cxnSp>
      <p:sp>
        <p:nvSpPr>
          <p:cNvPr id="479249" name="Line 17"/>
          <p:cNvSpPr>
            <a:spLocks noChangeShapeType="1"/>
          </p:cNvSpPr>
          <p:nvPr/>
        </p:nvSpPr>
        <p:spPr bwMode="auto">
          <a:xfrm>
            <a:off x="4100513" y="2014536"/>
            <a:ext cx="247650" cy="225029"/>
          </a:xfrm>
          <a:prstGeom prst="line">
            <a:avLst/>
          </a:prstGeom>
          <a:noFill/>
          <a:ln w="28575">
            <a:solidFill>
              <a:schemeClr val="tx1"/>
            </a:solidFill>
            <a:round/>
            <a:headEnd/>
            <a:tailEnd/>
          </a:ln>
        </p:spPr>
        <p:txBody>
          <a:bodyPr/>
          <a:lstStyle/>
          <a:p>
            <a:endParaRPr lang="en-US">
              <a:solidFill>
                <a:prstClr val="black"/>
              </a:solidFill>
            </a:endParaRPr>
          </a:p>
        </p:txBody>
      </p:sp>
      <p:sp>
        <p:nvSpPr>
          <p:cNvPr id="479250" name="Line 18"/>
          <p:cNvSpPr>
            <a:spLocks noChangeShapeType="1"/>
          </p:cNvSpPr>
          <p:nvPr/>
        </p:nvSpPr>
        <p:spPr bwMode="auto">
          <a:xfrm>
            <a:off x="4348163" y="2243136"/>
            <a:ext cx="290512" cy="100013"/>
          </a:xfrm>
          <a:prstGeom prst="line">
            <a:avLst/>
          </a:prstGeom>
          <a:noFill/>
          <a:ln w="28575">
            <a:solidFill>
              <a:schemeClr val="tx1"/>
            </a:solidFill>
            <a:round/>
            <a:headEnd/>
            <a:tailEnd/>
          </a:ln>
        </p:spPr>
        <p:txBody>
          <a:bodyPr/>
          <a:lstStyle/>
          <a:p>
            <a:endParaRPr lang="en-US">
              <a:solidFill>
                <a:prstClr val="black"/>
              </a:solidFill>
            </a:endParaRPr>
          </a:p>
        </p:txBody>
      </p:sp>
      <p:sp>
        <p:nvSpPr>
          <p:cNvPr id="479251" name="AutoShape 19"/>
          <p:cNvSpPr>
            <a:spLocks noChangeArrowheads="1"/>
          </p:cNvSpPr>
          <p:nvPr/>
        </p:nvSpPr>
        <p:spPr bwMode="auto">
          <a:xfrm>
            <a:off x="3790950" y="2018109"/>
            <a:ext cx="228600" cy="17145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a:solidFill>
                <a:prstClr val="black"/>
              </a:solidFill>
            </a:endParaRPr>
          </a:p>
        </p:txBody>
      </p:sp>
      <p:sp>
        <p:nvSpPr>
          <p:cNvPr id="479252" name="Line 20"/>
          <p:cNvSpPr>
            <a:spLocks noChangeShapeType="1"/>
          </p:cNvSpPr>
          <p:nvPr/>
        </p:nvSpPr>
        <p:spPr bwMode="auto">
          <a:xfrm>
            <a:off x="4643439" y="2346722"/>
            <a:ext cx="333375" cy="196453"/>
          </a:xfrm>
          <a:prstGeom prst="line">
            <a:avLst/>
          </a:prstGeom>
          <a:noFill/>
          <a:ln w="28575">
            <a:solidFill>
              <a:schemeClr val="tx1"/>
            </a:solidFill>
            <a:round/>
            <a:headEnd/>
            <a:tailEnd/>
          </a:ln>
        </p:spPr>
        <p:txBody>
          <a:bodyPr/>
          <a:lstStyle/>
          <a:p>
            <a:endParaRPr lang="en-US">
              <a:solidFill>
                <a:prstClr val="black"/>
              </a:solidFill>
            </a:endParaRPr>
          </a:p>
        </p:txBody>
      </p:sp>
      <p:sp>
        <p:nvSpPr>
          <p:cNvPr id="22" name="Text Box 21"/>
          <p:cNvSpPr txBox="1">
            <a:spLocks noChangeArrowheads="1"/>
          </p:cNvSpPr>
          <p:nvPr/>
        </p:nvSpPr>
        <p:spPr bwMode="auto">
          <a:xfrm>
            <a:off x="596285" y="2383392"/>
            <a:ext cx="851515" cy="369332"/>
          </a:xfrm>
          <a:prstGeom prst="rect">
            <a:avLst/>
          </a:prstGeom>
          <a:noFill/>
          <a:ln w="9525">
            <a:noFill/>
            <a:miter lim="800000"/>
            <a:headEnd/>
            <a:tailEnd/>
          </a:ln>
        </p:spPr>
        <p:txBody>
          <a:bodyPr wrap="none">
            <a:spAutoFit/>
          </a:bodyPr>
          <a:lstStyle/>
          <a:p>
            <a:r>
              <a:rPr lang="en-US" dirty="0">
                <a:solidFill>
                  <a:prstClr val="black"/>
                </a:solidFill>
              </a:rPr>
              <a:t>J(</a:t>
            </a:r>
            <a:r>
              <a:rPr lang="en-US" dirty="0">
                <a:solidFill>
                  <a:prstClr val="black"/>
                </a:solidFill>
                <a:latin typeface="Symbol" pitchFamily="18" charset="2"/>
                <a:sym typeface="Symbol" pitchFamily="18" charset="2"/>
              </a:rPr>
              <a:t></a:t>
            </a:r>
            <a:r>
              <a:rPr lang="en-US" baseline="-25000" dirty="0">
                <a:solidFill>
                  <a:prstClr val="black"/>
                </a:solidFill>
                <a:latin typeface="Symbol" pitchFamily="18" charset="2"/>
                <a:sym typeface="Symbol" pitchFamily="18" charset="2"/>
              </a:rPr>
              <a:t>0</a:t>
            </a:r>
            <a:r>
              <a:rPr lang="en-US" dirty="0">
                <a:solidFill>
                  <a:prstClr val="black"/>
                </a:solidFill>
                <a:latin typeface="Symbol" pitchFamily="18" charset="2"/>
                <a:sym typeface="Symbol" pitchFamily="18" charset="2"/>
              </a:rPr>
              <a:t>,</a:t>
            </a:r>
            <a:r>
              <a:rPr lang="en-US" baseline="-25000" dirty="0">
                <a:solidFill>
                  <a:prstClr val="black"/>
                </a:solidFill>
                <a:latin typeface="Symbol" pitchFamily="18" charset="2"/>
                <a:sym typeface="Symbol" pitchFamily="18" charset="2"/>
              </a:rPr>
              <a:t>1</a:t>
            </a:r>
            <a:r>
              <a:rPr lang="en-US" dirty="0">
                <a:solidFill>
                  <a:prstClr val="black"/>
                </a:solidFill>
              </a:rPr>
              <a:t>)</a:t>
            </a:r>
            <a:endParaRPr lang="en-US" baseline="-25000" dirty="0">
              <a:solidFill>
                <a:prstClr val="black"/>
              </a:solidFill>
              <a:latin typeface="Symbol" pitchFamily="18" charset="2"/>
              <a:sym typeface="Symbol" pitchFamily="18" charset="2"/>
            </a:endParaRPr>
          </a:p>
        </p:txBody>
      </p:sp>
      <mc:AlternateContent xmlns:mc="http://schemas.openxmlformats.org/markup-compatibility/2006" xmlns:p14="http://schemas.microsoft.com/office/powerpoint/2010/main">
        <mc:Choice Requires="p14">
          <p:contentPart p14:bwMode="auto" r:id="rId4">
            <p14:nvContentPartPr>
              <p14:cNvPr id="2" name="Ink 1"/>
              <p14:cNvContentPartPr/>
              <p14:nvPr/>
            </p14:nvContentPartPr>
            <p14:xfrm>
              <a:off x="3665880" y="1902600"/>
              <a:ext cx="3044880" cy="2304000"/>
            </p14:xfrm>
          </p:contentPart>
        </mc:Choice>
        <mc:Fallback xmlns="">
          <p:pic>
            <p:nvPicPr>
              <p:cNvPr id="2" name="Ink 1"/>
              <p:cNvPicPr/>
              <p:nvPr/>
            </p:nvPicPr>
            <p:blipFill>
              <a:blip r:embed="rId5"/>
              <a:stretch>
                <a:fillRect/>
              </a:stretch>
            </p:blipFill>
            <p:spPr>
              <a:xfrm>
                <a:off x="3655800" y="1893960"/>
                <a:ext cx="3064320" cy="2320920"/>
              </a:xfrm>
              <a:prstGeom prst="rect">
                <a:avLst/>
              </a:prstGeom>
            </p:spPr>
          </p:pic>
        </mc:Fallback>
      </mc:AlternateContent>
      <p:sp>
        <p:nvSpPr>
          <p:cNvPr id="3" name="Date Placeholder 2"/>
          <p:cNvSpPr>
            <a:spLocks noGrp="1"/>
          </p:cNvSpPr>
          <p:nvPr>
            <p:ph type="dt" sz="half" idx="10"/>
          </p:nvPr>
        </p:nvSpPr>
        <p:spPr/>
        <p:txBody>
          <a:bodyPr/>
          <a:lstStyle/>
          <a:p>
            <a:fld id="{7D5E5E47-4AB1-4225-9E7E-F0D56BAE23CC}" type="datetime1">
              <a:rPr lang="en-US" smtClean="0">
                <a:solidFill>
                  <a:prstClr val="black">
                    <a:tint val="75000"/>
                  </a:prstClr>
                </a:solidFill>
              </a:rPr>
              <a:t>9/10/2025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r>
              <a:rPr lang="en-US">
                <a:solidFill>
                  <a:prstClr val="black">
                    <a:tint val="75000"/>
                  </a:prstClr>
                </a:solidFill>
              </a:rPr>
              <a:t>Linear Regression</a:t>
            </a:r>
          </a:p>
        </p:txBody>
      </p:sp>
      <p:sp>
        <p:nvSpPr>
          <p:cNvPr id="5" name="Slide Number Placeholder 4"/>
          <p:cNvSpPr>
            <a:spLocks noGrp="1"/>
          </p:cNvSpPr>
          <p:nvPr>
            <p:ph type="sldNum" sz="quarter" idx="12"/>
          </p:nvPr>
        </p:nvSpPr>
        <p:spPr/>
        <p:txBody>
          <a:bodyPr/>
          <a:lstStyle/>
          <a:p>
            <a:fld id="{F043A558-56C3-499B-89A2-59E5853E6BB4}" type="slidenum">
              <a:rPr lang="en-US" smtClean="0">
                <a:solidFill>
                  <a:prstClr val="black">
                    <a:tint val="75000"/>
                  </a:prstClr>
                </a:solidFill>
              </a:rPr>
              <a:pPr/>
              <a:t>44</a:t>
            </a:fld>
            <a:endParaRPr lang="en-US">
              <a:solidFill>
                <a:prstClr val="black">
                  <a:tint val="75000"/>
                </a:prstClr>
              </a:solidFill>
            </a:endParaRPr>
          </a:p>
        </p:txBody>
      </p:sp>
    </p:spTree>
    <p:extLst>
      <p:ext uri="{BB962C8B-B14F-4D97-AF65-F5344CB8AC3E}">
        <p14:creationId xmlns:p14="http://schemas.microsoft.com/office/powerpoint/2010/main" val="2774161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92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92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9249"/>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479240"/>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79250"/>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childTnLst>
                                    <p:set>
                                      <p:cBhvr>
                                        <p:cTn id="24" dur="1" fill="hold">
                                          <p:stCondLst>
                                            <p:cond delay="0"/>
                                          </p:stCondLst>
                                        </p:cTn>
                                        <p:tgtEl>
                                          <p:spTgt spid="47924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79252"/>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1" fill="hold">
                                          <p:stCondLst>
                                            <p:cond delay="0"/>
                                          </p:stCondLst>
                                        </p:cTn>
                                        <p:tgtEl>
                                          <p:spTgt spid="479242"/>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nodeType="afterEffect">
                                  <p:stCondLst>
                                    <p:cond delay="500"/>
                                  </p:stCondLst>
                                  <p:childTnLst>
                                    <p:set>
                                      <p:cBhvr>
                                        <p:cTn id="34" dur="1" fill="hold">
                                          <p:stCondLst>
                                            <p:cond delay="0"/>
                                          </p:stCondLst>
                                        </p:cTn>
                                        <p:tgtEl>
                                          <p:spTgt spid="479246"/>
                                        </p:tgtEl>
                                        <p:attrNameLst>
                                          <p:attrName>style.visibility</p:attrName>
                                        </p:attrNameLst>
                                      </p:cBhvr>
                                      <p:to>
                                        <p:strVal val="visible"/>
                                      </p:to>
                                    </p:set>
                                  </p:childTnLst>
                                </p:cTn>
                              </p:par>
                            </p:childTnLst>
                          </p:cTn>
                        </p:par>
                        <p:par>
                          <p:cTn id="35" fill="hold">
                            <p:stCondLst>
                              <p:cond delay="500"/>
                            </p:stCondLst>
                            <p:childTnLst>
                              <p:par>
                                <p:cTn id="36" presetID="1" presetClass="entr" presetSubtype="0" fill="hold" grpId="0" nodeType="afterEffect">
                                  <p:stCondLst>
                                    <p:cond delay="0"/>
                                  </p:stCondLst>
                                  <p:childTnLst>
                                    <p:set>
                                      <p:cBhvr>
                                        <p:cTn id="37" dur="1" fill="hold">
                                          <p:stCondLst>
                                            <p:cond delay="0"/>
                                          </p:stCondLst>
                                        </p:cTn>
                                        <p:tgtEl>
                                          <p:spTgt spid="479243"/>
                                        </p:tgtEl>
                                        <p:attrNameLst>
                                          <p:attrName>style.visibility</p:attrName>
                                        </p:attrNameLst>
                                      </p:cBhvr>
                                      <p:to>
                                        <p:strVal val="visible"/>
                                      </p:to>
                                    </p:set>
                                  </p:childTnLst>
                                </p:cTn>
                              </p:par>
                            </p:childTnLst>
                          </p:cTn>
                        </p:par>
                        <p:par>
                          <p:cTn id="38" fill="hold">
                            <p:stCondLst>
                              <p:cond delay="500"/>
                            </p:stCondLst>
                            <p:childTnLst>
                              <p:par>
                                <p:cTn id="39" presetID="1" presetClass="entr" presetSubtype="0" fill="hold" nodeType="afterEffect">
                                  <p:stCondLst>
                                    <p:cond delay="500"/>
                                  </p:stCondLst>
                                  <p:childTnLst>
                                    <p:set>
                                      <p:cBhvr>
                                        <p:cTn id="40" dur="1" fill="hold">
                                          <p:stCondLst>
                                            <p:cond delay="0"/>
                                          </p:stCondLst>
                                        </p:cTn>
                                        <p:tgtEl>
                                          <p:spTgt spid="479247"/>
                                        </p:tgtEl>
                                        <p:attrNameLst>
                                          <p:attrName>style.visibility</p:attrName>
                                        </p:attrNameLst>
                                      </p:cBhvr>
                                      <p:to>
                                        <p:strVal val="visible"/>
                                      </p:to>
                                    </p:set>
                                  </p:childTnLst>
                                </p:cTn>
                              </p:par>
                            </p:childTnLst>
                          </p:cTn>
                        </p:par>
                        <p:par>
                          <p:cTn id="41" fill="hold">
                            <p:stCondLst>
                              <p:cond delay="1000"/>
                            </p:stCondLst>
                            <p:childTnLst>
                              <p:par>
                                <p:cTn id="42" presetID="1" presetClass="entr" presetSubtype="0" fill="hold" grpId="0" nodeType="afterEffect">
                                  <p:stCondLst>
                                    <p:cond delay="0"/>
                                  </p:stCondLst>
                                  <p:childTnLst>
                                    <p:set>
                                      <p:cBhvr>
                                        <p:cTn id="43" dur="1" fill="hold">
                                          <p:stCondLst>
                                            <p:cond delay="0"/>
                                          </p:stCondLst>
                                        </p:cTn>
                                        <p:tgtEl>
                                          <p:spTgt spid="479244"/>
                                        </p:tgtEl>
                                        <p:attrNameLst>
                                          <p:attrName>style.visibility</p:attrName>
                                        </p:attrNameLst>
                                      </p:cBhvr>
                                      <p:to>
                                        <p:strVal val="visible"/>
                                      </p:to>
                                    </p:set>
                                  </p:childTnLst>
                                </p:cTn>
                              </p:par>
                            </p:childTnLst>
                          </p:cTn>
                        </p:par>
                        <p:par>
                          <p:cTn id="44" fill="hold">
                            <p:stCondLst>
                              <p:cond delay="1000"/>
                            </p:stCondLst>
                            <p:childTnLst>
                              <p:par>
                                <p:cTn id="45" presetID="1" presetClass="entr" presetSubtype="0" fill="hold" nodeType="afterEffect">
                                  <p:stCondLst>
                                    <p:cond delay="500"/>
                                  </p:stCondLst>
                                  <p:childTnLst>
                                    <p:set>
                                      <p:cBhvr>
                                        <p:cTn id="46" dur="1" fill="hold">
                                          <p:stCondLst>
                                            <p:cond delay="0"/>
                                          </p:stCondLst>
                                        </p:cTn>
                                        <p:tgtEl>
                                          <p:spTgt spid="479248"/>
                                        </p:tgtEl>
                                        <p:attrNameLst>
                                          <p:attrName>style.visibility</p:attrName>
                                        </p:attrNameLst>
                                      </p:cBhvr>
                                      <p:to>
                                        <p:strVal val="visible"/>
                                      </p:to>
                                    </p:set>
                                  </p:childTnLst>
                                </p:cTn>
                              </p:par>
                            </p:childTnLst>
                          </p:cTn>
                        </p:par>
                        <p:par>
                          <p:cTn id="47" fill="hold">
                            <p:stCondLst>
                              <p:cond delay="1500"/>
                            </p:stCondLst>
                            <p:childTnLst>
                              <p:par>
                                <p:cTn id="48" presetID="1" presetClass="entr" presetSubtype="0" fill="hold" grpId="0" nodeType="afterEffect">
                                  <p:stCondLst>
                                    <p:cond delay="0"/>
                                  </p:stCondLst>
                                  <p:childTnLst>
                                    <p:set>
                                      <p:cBhvr>
                                        <p:cTn id="49" dur="1" fill="hold">
                                          <p:stCondLst>
                                            <p:cond delay="0"/>
                                          </p:stCondLst>
                                        </p:cTn>
                                        <p:tgtEl>
                                          <p:spTgt spid="4792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9239" grpId="0" animBg="1"/>
      <p:bldP spid="479240" grpId="0" animBg="1"/>
      <p:bldP spid="479241" grpId="0" animBg="1"/>
      <p:bldP spid="479242" grpId="0" animBg="1"/>
      <p:bldP spid="479243" grpId="0" animBg="1"/>
      <p:bldP spid="479244" grpId="0" animBg="1"/>
      <p:bldP spid="479245" grpId="0" animBg="1"/>
      <p:bldP spid="479249" grpId="0" animBg="1"/>
      <p:bldP spid="479250" grpId="0" animBg="1"/>
      <p:bldP spid="479251" grpId="0" animBg="1"/>
      <p:bldP spid="47925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285750"/>
            <a:ext cx="4263860" cy="523220"/>
          </a:xfrm>
          <a:prstGeom prst="rect">
            <a:avLst/>
          </a:prstGeom>
          <a:noFill/>
        </p:spPr>
        <p:txBody>
          <a:bodyPr wrap="none" rtlCol="0">
            <a:spAutoFit/>
          </a:bodyPr>
          <a:lstStyle/>
          <a:p>
            <a:r>
              <a:rPr lang="en-US" sz="2800" b="1" dirty="0"/>
              <a:t>Gradient descent algorithm</a:t>
            </a:r>
          </a:p>
        </p:txBody>
      </p:sp>
      <p:pic>
        <p:nvPicPr>
          <p:cNvPr id="8" name="Picture 7"/>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732283" y="1147899"/>
            <a:ext cx="3230117" cy="1271451"/>
          </a:xfrm>
          <a:prstGeom prst="rect">
            <a:avLst/>
          </a:prstGeom>
        </p:spPr>
      </p:pic>
      <p:pic>
        <p:nvPicPr>
          <p:cNvPr id="3" name="Picture 2"/>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4438650" y="1642819"/>
            <a:ext cx="2731770" cy="306324"/>
          </a:xfrm>
          <a:prstGeom prst="rect">
            <a:avLst/>
          </a:prstGeom>
        </p:spPr>
      </p:pic>
      <p:cxnSp>
        <p:nvCxnSpPr>
          <p:cNvPr id="30" name="Straight Connector 29"/>
          <p:cNvCxnSpPr/>
          <p:nvPr/>
        </p:nvCxnSpPr>
        <p:spPr>
          <a:xfrm>
            <a:off x="609600" y="2800350"/>
            <a:ext cx="7696200" cy="0"/>
          </a:xfrm>
          <a:prstGeom prst="line">
            <a:avLst/>
          </a:prstGeom>
          <a:ln w="127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513465" y="2876550"/>
            <a:ext cx="3905621" cy="461665"/>
          </a:xfrm>
          <a:prstGeom prst="rect">
            <a:avLst/>
          </a:prstGeom>
          <a:noFill/>
        </p:spPr>
        <p:txBody>
          <a:bodyPr wrap="none" rtlCol="0">
            <a:spAutoFit/>
          </a:bodyPr>
          <a:lstStyle/>
          <a:p>
            <a:r>
              <a:rPr lang="en-US" sz="2400" dirty="0"/>
              <a:t>Correct: Simultaneous update</a:t>
            </a:r>
          </a:p>
        </p:txBody>
      </p:sp>
      <p:pic>
        <p:nvPicPr>
          <p:cNvPr id="6" name="Picture 5"/>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702111" y="3436772"/>
            <a:ext cx="2964485" cy="1192378"/>
          </a:xfrm>
          <a:prstGeom prst="rect">
            <a:avLst/>
          </a:prstGeom>
        </p:spPr>
      </p:pic>
      <p:cxnSp>
        <p:nvCxnSpPr>
          <p:cNvPr id="39" name="Straight Connector 38"/>
          <p:cNvCxnSpPr/>
          <p:nvPr/>
        </p:nvCxnSpPr>
        <p:spPr>
          <a:xfrm>
            <a:off x="4457700" y="2876550"/>
            <a:ext cx="0" cy="1905000"/>
          </a:xfrm>
          <a:prstGeom prst="line">
            <a:avLst/>
          </a:prstGeom>
          <a:ln w="127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4704465" y="2876550"/>
            <a:ext cx="1391535" cy="461665"/>
          </a:xfrm>
          <a:prstGeom prst="rect">
            <a:avLst/>
          </a:prstGeom>
          <a:noFill/>
        </p:spPr>
        <p:txBody>
          <a:bodyPr wrap="none" rtlCol="0">
            <a:spAutoFit/>
          </a:bodyPr>
          <a:lstStyle/>
          <a:p>
            <a:r>
              <a:rPr lang="en-US" sz="2400" dirty="0"/>
              <a:t>Incorrect:</a:t>
            </a:r>
          </a:p>
        </p:txBody>
      </p:sp>
      <p:pic>
        <p:nvPicPr>
          <p:cNvPr id="7" name="Picture 6"/>
          <p:cNvPicPr>
            <a:picLocks noChangeAspect="1"/>
          </p:cNvPicPr>
          <p:nvPr>
            <p:custDataLst>
              <p:tags r:id="rId4"/>
            </p:custDataLst>
          </p:nvPr>
        </p:nvPicPr>
        <p:blipFill>
          <a:blip r:embed="rId9" cstate="print">
            <a:extLst>
              <a:ext uri="{28A0092B-C50C-407E-A947-70E740481C1C}">
                <a14:useLocalDpi xmlns:a14="http://schemas.microsoft.com/office/drawing/2010/main" val="0"/>
              </a:ext>
            </a:extLst>
          </a:blip>
          <a:stretch>
            <a:fillRect/>
          </a:stretch>
        </p:blipFill>
        <p:spPr>
          <a:xfrm>
            <a:off x="4893110" y="3436772"/>
            <a:ext cx="2964485" cy="1139342"/>
          </a:xfrm>
          <a:prstGeom prst="rect">
            <a:avLst/>
          </a:prstGeom>
        </p:spPr>
      </p:pic>
      <p:sp>
        <p:nvSpPr>
          <p:cNvPr id="5" name="Date Placeholder 4"/>
          <p:cNvSpPr>
            <a:spLocks noGrp="1"/>
          </p:cNvSpPr>
          <p:nvPr>
            <p:ph type="dt" sz="half" idx="10"/>
          </p:nvPr>
        </p:nvSpPr>
        <p:spPr/>
        <p:txBody>
          <a:bodyPr/>
          <a:lstStyle/>
          <a:p>
            <a:fld id="{AEC9A596-DC45-4F2A-A1F4-624E484FDDF2}" type="datetime1">
              <a:rPr lang="en-US" smtClean="0">
                <a:solidFill>
                  <a:prstClr val="black">
                    <a:tint val="75000"/>
                  </a:prstClr>
                </a:solidFill>
              </a:rPr>
              <a:t>9/10/2025</a:t>
            </a:fld>
            <a:endParaRPr lang="en-US">
              <a:solidFill>
                <a:prstClr val="black">
                  <a:tint val="75000"/>
                </a:prstClr>
              </a:solidFill>
            </a:endParaRPr>
          </a:p>
        </p:txBody>
      </p:sp>
      <p:sp>
        <p:nvSpPr>
          <p:cNvPr id="9" name="Footer Placeholder 8"/>
          <p:cNvSpPr>
            <a:spLocks noGrp="1"/>
          </p:cNvSpPr>
          <p:nvPr>
            <p:ph type="ftr" sz="quarter" idx="11"/>
          </p:nvPr>
        </p:nvSpPr>
        <p:spPr/>
        <p:txBody>
          <a:bodyPr/>
          <a:lstStyle/>
          <a:p>
            <a:r>
              <a:rPr lang="en-US">
                <a:solidFill>
                  <a:prstClr val="black">
                    <a:tint val="75000"/>
                  </a:prstClr>
                </a:solidFill>
              </a:rPr>
              <a:t>Linear Regression</a:t>
            </a:r>
          </a:p>
        </p:txBody>
      </p:sp>
      <p:sp>
        <p:nvSpPr>
          <p:cNvPr id="10" name="Slide Number Placeholder 9"/>
          <p:cNvSpPr>
            <a:spLocks noGrp="1"/>
          </p:cNvSpPr>
          <p:nvPr>
            <p:ph type="sldNum" sz="quarter" idx="12"/>
          </p:nvPr>
        </p:nvSpPr>
        <p:spPr/>
        <p:txBody>
          <a:bodyPr/>
          <a:lstStyle/>
          <a:p>
            <a:fld id="{F043A558-56C3-499B-89A2-59E5853E6BB4}" type="slidenum">
              <a:rPr lang="en-US" smtClean="0">
                <a:solidFill>
                  <a:prstClr val="black">
                    <a:tint val="75000"/>
                  </a:prstClr>
                </a:solidFill>
              </a:rPr>
              <a:pPr/>
              <a:t>45</a:t>
            </a:fld>
            <a:endParaRPr lang="en-US">
              <a:solidFill>
                <a:prstClr val="black">
                  <a:tint val="75000"/>
                </a:prstClr>
              </a:solidFill>
            </a:endParaRPr>
          </a:p>
        </p:txBody>
      </p:sp>
    </p:spTree>
    <p:extLst>
      <p:ext uri="{BB962C8B-B14F-4D97-AF65-F5344CB8AC3E}">
        <p14:creationId xmlns:p14="http://schemas.microsoft.com/office/powerpoint/2010/main" val="3261930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571440"/>
            <a:ext cx="4839979" cy="584775"/>
          </a:xfrm>
          <a:prstGeom prst="rect">
            <a:avLst/>
          </a:prstGeom>
          <a:noFill/>
        </p:spPr>
        <p:txBody>
          <a:bodyPr wrap="none" rtlCol="0">
            <a:spAutoFit/>
          </a:bodyPr>
          <a:lstStyle/>
          <a:p>
            <a:r>
              <a:rPr lang="en-US" sz="3200" b="1" dirty="0"/>
              <a:t>Gradient descent algorithm</a:t>
            </a:r>
          </a:p>
        </p:txBody>
      </p:sp>
      <p:pic>
        <p:nvPicPr>
          <p:cNvPr id="3" name="Picture 2"/>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960882" y="1476756"/>
            <a:ext cx="3513582" cy="1383030"/>
          </a:xfrm>
          <a:prstGeom prst="rect">
            <a:avLst/>
          </a:prstGeom>
        </p:spPr>
      </p:pic>
      <p:pic>
        <p:nvPicPr>
          <p:cNvPr id="4" name="Picture 3"/>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4981555" y="1975867"/>
            <a:ext cx="2790845" cy="612320"/>
          </a:xfrm>
          <a:prstGeom prst="rect">
            <a:avLst/>
          </a:prstGeom>
        </p:spPr>
      </p:pic>
      <p:sp>
        <p:nvSpPr>
          <p:cNvPr id="6" name="Date Placeholder 5"/>
          <p:cNvSpPr>
            <a:spLocks noGrp="1"/>
          </p:cNvSpPr>
          <p:nvPr>
            <p:ph type="dt" sz="half" idx="10"/>
          </p:nvPr>
        </p:nvSpPr>
        <p:spPr/>
        <p:txBody>
          <a:bodyPr/>
          <a:lstStyle/>
          <a:p>
            <a:fld id="{0345652C-DB47-4BDF-91E6-AB3FE617829E}" type="datetime1">
              <a:rPr lang="en-US" smtClean="0">
                <a:solidFill>
                  <a:prstClr val="black">
                    <a:tint val="75000"/>
                  </a:prstClr>
                </a:solidFill>
              </a:rPr>
              <a:t>9/10/2025</a:t>
            </a:fld>
            <a:endParaRPr lang="en-US">
              <a:solidFill>
                <a:prstClr val="black">
                  <a:tint val="75000"/>
                </a:prstClr>
              </a:solidFill>
            </a:endParaRPr>
          </a:p>
        </p:txBody>
      </p:sp>
      <p:sp>
        <p:nvSpPr>
          <p:cNvPr id="7" name="Footer Placeholder 6"/>
          <p:cNvSpPr>
            <a:spLocks noGrp="1"/>
          </p:cNvSpPr>
          <p:nvPr>
            <p:ph type="ftr" sz="quarter" idx="11"/>
          </p:nvPr>
        </p:nvSpPr>
        <p:spPr/>
        <p:txBody>
          <a:bodyPr/>
          <a:lstStyle/>
          <a:p>
            <a:r>
              <a:rPr lang="en-US">
                <a:solidFill>
                  <a:prstClr val="black">
                    <a:tint val="75000"/>
                  </a:prstClr>
                </a:solidFill>
              </a:rPr>
              <a:t>Linear Regression</a:t>
            </a:r>
          </a:p>
        </p:txBody>
      </p:sp>
      <p:sp>
        <p:nvSpPr>
          <p:cNvPr id="8" name="Slide Number Placeholder 7"/>
          <p:cNvSpPr>
            <a:spLocks noGrp="1"/>
          </p:cNvSpPr>
          <p:nvPr>
            <p:ph type="sldNum" sz="quarter" idx="12"/>
          </p:nvPr>
        </p:nvSpPr>
        <p:spPr/>
        <p:txBody>
          <a:bodyPr/>
          <a:lstStyle/>
          <a:p>
            <a:fld id="{F043A558-56C3-499B-89A2-59E5853E6BB4}" type="slidenum">
              <a:rPr lang="en-US" smtClean="0">
                <a:solidFill>
                  <a:prstClr val="black">
                    <a:tint val="75000"/>
                  </a:prstClr>
                </a:solidFill>
              </a:rPr>
              <a:pPr/>
              <a:t>46</a:t>
            </a:fld>
            <a:endParaRPr lang="en-US">
              <a:solidFill>
                <a:prstClr val="black">
                  <a:tint val="75000"/>
                </a:prstClr>
              </a:solidFill>
            </a:endParaRPr>
          </a:p>
        </p:txBody>
      </p:sp>
    </p:spTree>
    <p:extLst>
      <p:ext uri="{BB962C8B-B14F-4D97-AF65-F5344CB8AC3E}">
        <p14:creationId xmlns:p14="http://schemas.microsoft.com/office/powerpoint/2010/main" val="5954561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838200" y="285750"/>
            <a:ext cx="0" cy="2170337"/>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3" name="Straight Connector 2"/>
          <p:cNvCxnSpPr/>
          <p:nvPr/>
        </p:nvCxnSpPr>
        <p:spPr>
          <a:xfrm>
            <a:off x="609600" y="2227487"/>
            <a:ext cx="2971800" cy="0"/>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V="1">
            <a:off x="838200" y="2687413"/>
            <a:ext cx="0" cy="2170337"/>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609600" y="4629150"/>
            <a:ext cx="2971800" cy="0"/>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sp>
        <p:nvSpPr>
          <p:cNvPr id="7" name="Date Placeholder 6"/>
          <p:cNvSpPr>
            <a:spLocks noGrp="1"/>
          </p:cNvSpPr>
          <p:nvPr>
            <p:ph type="dt" sz="half" idx="10"/>
          </p:nvPr>
        </p:nvSpPr>
        <p:spPr/>
        <p:txBody>
          <a:bodyPr/>
          <a:lstStyle/>
          <a:p>
            <a:fld id="{DFB09A45-55F5-4A03-84DC-8C31289683DD}" type="datetime1">
              <a:rPr lang="en-US" smtClean="0">
                <a:solidFill>
                  <a:prstClr val="black">
                    <a:tint val="75000"/>
                  </a:prstClr>
                </a:solidFill>
              </a:rPr>
              <a:t>9/10/2025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r>
              <a:rPr lang="en-US">
                <a:solidFill>
                  <a:prstClr val="black">
                    <a:tint val="75000"/>
                  </a:prstClr>
                </a:solidFill>
              </a:rPr>
              <a:t>Linear Regression</a:t>
            </a:r>
          </a:p>
        </p:txBody>
      </p:sp>
      <p:sp>
        <p:nvSpPr>
          <p:cNvPr id="9" name="Slide Number Placeholder 8"/>
          <p:cNvSpPr>
            <a:spLocks noGrp="1"/>
          </p:cNvSpPr>
          <p:nvPr>
            <p:ph type="sldNum" sz="quarter" idx="12"/>
          </p:nvPr>
        </p:nvSpPr>
        <p:spPr/>
        <p:txBody>
          <a:bodyPr/>
          <a:lstStyle/>
          <a:p>
            <a:fld id="{F043A558-56C3-499B-89A2-59E5853E6BB4}" type="slidenum">
              <a:rPr lang="en-US" smtClean="0">
                <a:solidFill>
                  <a:prstClr val="black">
                    <a:tint val="75000"/>
                  </a:prstClr>
                </a:solidFill>
              </a:rPr>
              <a:pPr/>
              <a:t>47</a:t>
            </a:fld>
            <a:endParaRPr lang="en-US">
              <a:solidFill>
                <a:prstClr val="black">
                  <a:tint val="75000"/>
                </a:prstClr>
              </a:solidFill>
            </a:endParaRPr>
          </a:p>
        </p:txBody>
      </p:sp>
      <p:sp>
        <p:nvSpPr>
          <p:cNvPr id="14" name="Freeform 13"/>
          <p:cNvSpPr/>
          <p:nvPr/>
        </p:nvSpPr>
        <p:spPr>
          <a:xfrm>
            <a:off x="909107" y="312536"/>
            <a:ext cx="2457450" cy="1760585"/>
          </a:xfrm>
          <a:custGeom>
            <a:avLst/>
            <a:gdLst>
              <a:gd name="connsiteX0" fmla="*/ 0 w 2457450"/>
              <a:gd name="connsiteY0" fmla="*/ 0 h 1760585"/>
              <a:gd name="connsiteX1" fmla="*/ 354330 w 2457450"/>
              <a:gd name="connsiteY1" fmla="*/ 1245870 h 1760585"/>
              <a:gd name="connsiteX2" fmla="*/ 1200150 w 2457450"/>
              <a:gd name="connsiteY2" fmla="*/ 1760220 h 1760585"/>
              <a:gd name="connsiteX3" fmla="*/ 2000250 w 2457450"/>
              <a:gd name="connsiteY3" fmla="*/ 1303020 h 1760585"/>
              <a:gd name="connsiteX4" fmla="*/ 2457450 w 2457450"/>
              <a:gd name="connsiteY4" fmla="*/ 22860 h 1760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7450" h="1760585">
                <a:moveTo>
                  <a:pt x="0" y="0"/>
                </a:moveTo>
                <a:cubicBezTo>
                  <a:pt x="77152" y="476250"/>
                  <a:pt x="154305" y="952500"/>
                  <a:pt x="354330" y="1245870"/>
                </a:cubicBezTo>
                <a:cubicBezTo>
                  <a:pt x="554355" y="1539240"/>
                  <a:pt x="925830" y="1750695"/>
                  <a:pt x="1200150" y="1760220"/>
                </a:cubicBezTo>
                <a:cubicBezTo>
                  <a:pt x="1474470" y="1769745"/>
                  <a:pt x="1790700" y="1592580"/>
                  <a:pt x="2000250" y="1303020"/>
                </a:cubicBezTo>
                <a:cubicBezTo>
                  <a:pt x="2209800" y="1013460"/>
                  <a:pt x="2333625" y="518160"/>
                  <a:pt x="2457450" y="22860"/>
                </a:cubicBezTo>
              </a:path>
            </a:pathLst>
          </a:custGeom>
          <a:ln w="15748">
            <a:solidFill>
              <a:schemeClr val="bg2">
                <a:lumMod val="1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Freeform 14"/>
          <p:cNvSpPr/>
          <p:nvPr/>
        </p:nvSpPr>
        <p:spPr>
          <a:xfrm>
            <a:off x="909107" y="2741494"/>
            <a:ext cx="2457450" cy="1760585"/>
          </a:xfrm>
          <a:custGeom>
            <a:avLst/>
            <a:gdLst>
              <a:gd name="connsiteX0" fmla="*/ 0 w 2457450"/>
              <a:gd name="connsiteY0" fmla="*/ 0 h 1760585"/>
              <a:gd name="connsiteX1" fmla="*/ 354330 w 2457450"/>
              <a:gd name="connsiteY1" fmla="*/ 1245870 h 1760585"/>
              <a:gd name="connsiteX2" fmla="*/ 1200150 w 2457450"/>
              <a:gd name="connsiteY2" fmla="*/ 1760220 h 1760585"/>
              <a:gd name="connsiteX3" fmla="*/ 2000250 w 2457450"/>
              <a:gd name="connsiteY3" fmla="*/ 1303020 h 1760585"/>
              <a:gd name="connsiteX4" fmla="*/ 2457450 w 2457450"/>
              <a:gd name="connsiteY4" fmla="*/ 22860 h 1760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7450" h="1760585">
                <a:moveTo>
                  <a:pt x="0" y="0"/>
                </a:moveTo>
                <a:cubicBezTo>
                  <a:pt x="77152" y="476250"/>
                  <a:pt x="154305" y="952500"/>
                  <a:pt x="354330" y="1245870"/>
                </a:cubicBezTo>
                <a:cubicBezTo>
                  <a:pt x="554355" y="1539240"/>
                  <a:pt x="925830" y="1750695"/>
                  <a:pt x="1200150" y="1760220"/>
                </a:cubicBezTo>
                <a:cubicBezTo>
                  <a:pt x="1474470" y="1769745"/>
                  <a:pt x="1790700" y="1592580"/>
                  <a:pt x="2000250" y="1303020"/>
                </a:cubicBezTo>
                <a:cubicBezTo>
                  <a:pt x="2209800" y="1013460"/>
                  <a:pt x="2333625" y="518160"/>
                  <a:pt x="2457450" y="22860"/>
                </a:cubicBezTo>
              </a:path>
            </a:pathLst>
          </a:custGeom>
          <a:ln w="15748">
            <a:solidFill>
              <a:schemeClr val="bg2">
                <a:lumMod val="1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p:cNvSpPr txBox="1"/>
          <p:nvPr/>
        </p:nvSpPr>
        <p:spPr>
          <a:xfrm>
            <a:off x="3036846" y="880260"/>
            <a:ext cx="304800" cy="369332"/>
          </a:xfrm>
          <a:prstGeom prst="rect">
            <a:avLst/>
          </a:prstGeom>
          <a:noFill/>
        </p:spPr>
        <p:txBody>
          <a:bodyPr wrap="square" rtlCol="0">
            <a:spAutoFit/>
          </a:bodyPr>
          <a:lstStyle/>
          <a:p>
            <a:r>
              <a:rPr lang="en-US" dirty="0"/>
              <a:t>X</a:t>
            </a:r>
          </a:p>
        </p:txBody>
      </p:sp>
      <p:sp>
        <p:nvSpPr>
          <p:cNvPr id="18" name="TextBox 17"/>
          <p:cNvSpPr txBox="1"/>
          <p:nvPr/>
        </p:nvSpPr>
        <p:spPr>
          <a:xfrm>
            <a:off x="920699" y="3398679"/>
            <a:ext cx="304800" cy="369332"/>
          </a:xfrm>
          <a:prstGeom prst="rect">
            <a:avLst/>
          </a:prstGeom>
          <a:noFill/>
        </p:spPr>
        <p:txBody>
          <a:bodyPr wrap="square" rtlCol="0">
            <a:spAutoFit/>
          </a:bodyPr>
          <a:lstStyle/>
          <a:p>
            <a:r>
              <a:rPr lang="en-US" dirty="0"/>
              <a:t>X</a:t>
            </a:r>
          </a:p>
        </p:txBody>
      </p:sp>
      <mc:AlternateContent xmlns:mc="http://schemas.openxmlformats.org/markup-compatibility/2006" xmlns:a14="http://schemas.microsoft.com/office/drawing/2010/main">
        <mc:Choice Requires="a14">
          <p:sp>
            <p:nvSpPr>
              <p:cNvPr id="19" name="TextBox 18"/>
              <p:cNvSpPr txBox="1"/>
              <p:nvPr/>
            </p:nvSpPr>
            <p:spPr>
              <a:xfrm>
                <a:off x="4343400" y="742950"/>
                <a:ext cx="3886200" cy="801630"/>
              </a:xfrm>
              <a:prstGeom prst="rect">
                <a:avLst/>
              </a:prstGeom>
              <a:noFill/>
            </p:spPr>
            <p:txBody>
              <a:bodyPr wrap="square" rtlCol="0">
                <a:spAutoFit/>
              </a:bodyPr>
              <a:lstStyle/>
              <a:p>
                <a:r>
                  <a:rPr lang="el-GR" sz="3200" dirty="0"/>
                  <a:t>ϴ</a:t>
                </a:r>
                <a:r>
                  <a:rPr lang="en-US" sz="3200" baseline="-25000" dirty="0"/>
                  <a:t>1</a:t>
                </a:r>
                <a:r>
                  <a:rPr lang="en-US" sz="3200" dirty="0"/>
                  <a:t> := </a:t>
                </a:r>
                <a:r>
                  <a:rPr lang="el-GR" sz="3200" dirty="0"/>
                  <a:t>ϴ</a:t>
                </a:r>
                <a:r>
                  <a:rPr lang="en-US" sz="3200" baseline="-25000" dirty="0"/>
                  <a:t>1</a:t>
                </a:r>
                <a:r>
                  <a:rPr lang="en-US" sz="3200" dirty="0"/>
                  <a:t>  - </a:t>
                </a:r>
                <a:r>
                  <a:rPr lang="el-GR" sz="3200" dirty="0"/>
                  <a:t>α</a:t>
                </a:r>
                <a:r>
                  <a:rPr lang="en-US" sz="3200" dirty="0"/>
                  <a:t> </a:t>
                </a:r>
                <a14:m>
                  <m:oMath xmlns:m="http://schemas.openxmlformats.org/officeDocument/2006/math">
                    <m:f>
                      <m:fPr>
                        <m:ctrlPr>
                          <a:rPr lang="en-US" sz="3200" i="1">
                            <a:latin typeface="Cambria Math" panose="02040503050406030204" pitchFamily="18" charset="0"/>
                          </a:rPr>
                        </m:ctrlPr>
                      </m:fPr>
                      <m:num>
                        <m:r>
                          <a:rPr lang="en-US" sz="3200" i="1">
                            <a:latin typeface="Cambria Math"/>
                          </a:rPr>
                          <m:t>𝑑</m:t>
                        </m:r>
                        <m:r>
                          <a:rPr lang="en-US" sz="3200" i="1">
                            <a:latin typeface="Cambria Math"/>
                          </a:rPr>
                          <m:t>   </m:t>
                        </m:r>
                      </m:num>
                      <m:den>
                        <m:r>
                          <a:rPr lang="en-US" sz="3200" i="1">
                            <a:latin typeface="Cambria Math"/>
                          </a:rPr>
                          <m:t>𝑑</m:t>
                        </m:r>
                        <m:r>
                          <m:rPr>
                            <m:sty m:val="p"/>
                          </m:rPr>
                          <a:rPr lang="el-GR" sz="3200" i="1">
                            <a:latin typeface="Cambria Math"/>
                          </a:rPr>
                          <m:t>ϴ</m:t>
                        </m:r>
                        <m:r>
                          <a:rPr lang="en-US" sz="3200" i="1">
                            <a:latin typeface="Cambria Math"/>
                          </a:rPr>
                          <m:t>1</m:t>
                        </m:r>
                      </m:den>
                    </m:f>
                  </m:oMath>
                </a14:m>
                <a:r>
                  <a:rPr lang="en-US" sz="3200" dirty="0"/>
                  <a:t>  J(</a:t>
                </a:r>
                <a:r>
                  <a:rPr lang="el-GR" sz="3200" dirty="0"/>
                  <a:t>ϴ</a:t>
                </a:r>
                <a:r>
                  <a:rPr lang="en-US" sz="3200" baseline="-25000" dirty="0"/>
                  <a:t>1</a:t>
                </a:r>
                <a:r>
                  <a:rPr lang="en-US" sz="3200" dirty="0"/>
                  <a:t>)</a:t>
                </a:r>
              </a:p>
            </p:txBody>
          </p:sp>
        </mc:Choice>
        <mc:Fallback xmlns="">
          <p:sp>
            <p:nvSpPr>
              <p:cNvPr id="19" name="TextBox 18"/>
              <p:cNvSpPr txBox="1">
                <a:spLocks noRot="1" noChangeAspect="1" noMove="1" noResize="1" noEditPoints="1" noAdjustHandles="1" noChangeArrowheads="1" noChangeShapeType="1" noTextEdit="1"/>
              </p:cNvSpPr>
              <p:nvPr/>
            </p:nvSpPr>
            <p:spPr>
              <a:xfrm>
                <a:off x="4343400" y="742950"/>
                <a:ext cx="3886200" cy="801630"/>
              </a:xfrm>
              <a:prstGeom prst="rect">
                <a:avLst/>
              </a:prstGeom>
              <a:blipFill rotWithShape="1">
                <a:blip r:embed="rId2"/>
                <a:stretch>
                  <a:fillRect l="-4082" b="-12214"/>
                </a:stretch>
              </a:blipFill>
            </p:spPr>
            <p:txBody>
              <a:bodyPr/>
              <a:lstStyle/>
              <a:p>
                <a:r>
                  <a:rPr lang="en-US">
                    <a:noFill/>
                  </a:rPr>
                  <a:t> </a:t>
                </a:r>
              </a:p>
            </p:txBody>
          </p:sp>
        </mc:Fallback>
      </mc:AlternateContent>
      <p:sp>
        <p:nvSpPr>
          <p:cNvPr id="20" name="TextBox 19"/>
          <p:cNvSpPr txBox="1"/>
          <p:nvPr/>
        </p:nvSpPr>
        <p:spPr>
          <a:xfrm>
            <a:off x="4495800" y="1730797"/>
            <a:ext cx="3581400" cy="1077218"/>
          </a:xfrm>
          <a:prstGeom prst="rect">
            <a:avLst/>
          </a:prstGeom>
          <a:noFill/>
        </p:spPr>
        <p:txBody>
          <a:bodyPr wrap="square" rtlCol="0">
            <a:spAutoFit/>
          </a:bodyPr>
          <a:lstStyle/>
          <a:p>
            <a:r>
              <a:rPr lang="el-GR" sz="3200" dirty="0"/>
              <a:t>ϴ</a:t>
            </a:r>
            <a:r>
              <a:rPr lang="en-US" sz="3200" baseline="-25000" dirty="0"/>
              <a:t>1</a:t>
            </a:r>
            <a:r>
              <a:rPr lang="en-US" sz="3200" dirty="0"/>
              <a:t> := </a:t>
            </a:r>
            <a:r>
              <a:rPr lang="el-GR" sz="3200" dirty="0"/>
              <a:t>ϴ</a:t>
            </a:r>
            <a:r>
              <a:rPr lang="en-US" sz="3200" baseline="-25000" dirty="0"/>
              <a:t>1</a:t>
            </a:r>
            <a:r>
              <a:rPr lang="en-US" sz="3200" dirty="0"/>
              <a:t>  - </a:t>
            </a:r>
            <a:r>
              <a:rPr lang="el-GR" sz="3200" dirty="0"/>
              <a:t>α</a:t>
            </a:r>
            <a:r>
              <a:rPr lang="en-US" sz="3200" dirty="0"/>
              <a:t> (positive number)</a:t>
            </a:r>
          </a:p>
        </p:txBody>
      </p:sp>
      <p:sp>
        <p:nvSpPr>
          <p:cNvPr id="21" name="TextBox 20"/>
          <p:cNvSpPr txBox="1"/>
          <p:nvPr/>
        </p:nvSpPr>
        <p:spPr>
          <a:xfrm>
            <a:off x="4677770" y="3767158"/>
            <a:ext cx="3581400" cy="1077218"/>
          </a:xfrm>
          <a:prstGeom prst="rect">
            <a:avLst/>
          </a:prstGeom>
          <a:noFill/>
        </p:spPr>
        <p:txBody>
          <a:bodyPr wrap="square" rtlCol="0">
            <a:spAutoFit/>
          </a:bodyPr>
          <a:lstStyle/>
          <a:p>
            <a:r>
              <a:rPr lang="el-GR" sz="3200" dirty="0"/>
              <a:t>ϴ</a:t>
            </a:r>
            <a:r>
              <a:rPr lang="en-US" sz="3200" baseline="-25000" dirty="0"/>
              <a:t>1</a:t>
            </a:r>
            <a:r>
              <a:rPr lang="en-US" sz="3200" dirty="0"/>
              <a:t> := </a:t>
            </a:r>
            <a:r>
              <a:rPr lang="el-GR" sz="3200" dirty="0"/>
              <a:t>ϴ</a:t>
            </a:r>
            <a:r>
              <a:rPr lang="en-US" sz="3200" baseline="-25000" dirty="0"/>
              <a:t>1</a:t>
            </a:r>
            <a:r>
              <a:rPr lang="en-US" sz="3200" dirty="0"/>
              <a:t>  - </a:t>
            </a:r>
            <a:r>
              <a:rPr lang="el-GR" sz="3200" dirty="0"/>
              <a:t>α</a:t>
            </a:r>
            <a:r>
              <a:rPr lang="en-US" sz="3200" dirty="0"/>
              <a:t> (negative number)</a:t>
            </a:r>
          </a:p>
        </p:txBody>
      </p:sp>
      <p:sp>
        <p:nvSpPr>
          <p:cNvPr id="22" name="Rectangle 21"/>
          <p:cNvSpPr/>
          <p:nvPr/>
        </p:nvSpPr>
        <p:spPr>
          <a:xfrm>
            <a:off x="3366557" y="372344"/>
            <a:ext cx="630301" cy="369332"/>
          </a:xfrm>
          <a:prstGeom prst="rect">
            <a:avLst/>
          </a:prstGeom>
        </p:spPr>
        <p:txBody>
          <a:bodyPr wrap="none">
            <a:spAutoFit/>
          </a:bodyPr>
          <a:lstStyle/>
          <a:p>
            <a:r>
              <a:rPr lang="en-US" dirty="0"/>
              <a:t>J(</a:t>
            </a:r>
            <a:r>
              <a:rPr lang="el-GR" dirty="0"/>
              <a:t>ϴ</a:t>
            </a:r>
            <a:r>
              <a:rPr lang="en-US" baseline="-25000" dirty="0"/>
              <a:t>1</a:t>
            </a:r>
            <a:r>
              <a:rPr lang="en-US" dirty="0"/>
              <a:t>)</a:t>
            </a:r>
          </a:p>
        </p:txBody>
      </p:sp>
      <p:sp>
        <p:nvSpPr>
          <p:cNvPr id="23" name="Rectangle 22"/>
          <p:cNvSpPr/>
          <p:nvPr/>
        </p:nvSpPr>
        <p:spPr>
          <a:xfrm>
            <a:off x="1008272" y="2756416"/>
            <a:ext cx="630301" cy="369332"/>
          </a:xfrm>
          <a:prstGeom prst="rect">
            <a:avLst/>
          </a:prstGeom>
        </p:spPr>
        <p:txBody>
          <a:bodyPr wrap="none">
            <a:spAutoFit/>
          </a:bodyPr>
          <a:lstStyle/>
          <a:p>
            <a:r>
              <a:rPr lang="en-US" dirty="0"/>
              <a:t>J(</a:t>
            </a:r>
            <a:r>
              <a:rPr lang="el-GR" dirty="0"/>
              <a:t>ϴ</a:t>
            </a:r>
            <a:r>
              <a:rPr lang="en-US" baseline="-25000" dirty="0"/>
              <a:t>1</a:t>
            </a:r>
            <a:r>
              <a:rPr lang="en-US" dirty="0"/>
              <a:t>)</a:t>
            </a:r>
          </a:p>
        </p:txBody>
      </p:sp>
      <mc:AlternateContent xmlns:mc="http://schemas.openxmlformats.org/markup-compatibility/2006" xmlns:a14="http://schemas.microsoft.com/office/drawing/2010/main">
        <mc:Choice Requires="a14">
          <p:sp>
            <p:nvSpPr>
              <p:cNvPr id="24" name="TextBox 23"/>
              <p:cNvSpPr txBox="1"/>
              <p:nvPr/>
            </p:nvSpPr>
            <p:spPr>
              <a:xfrm>
                <a:off x="4466230" y="3086655"/>
                <a:ext cx="4449170" cy="801630"/>
              </a:xfrm>
              <a:prstGeom prst="rect">
                <a:avLst/>
              </a:prstGeom>
              <a:noFill/>
            </p:spPr>
            <p:txBody>
              <a:bodyPr wrap="square" rtlCol="0">
                <a:spAutoFit/>
              </a:bodyPr>
              <a:lstStyle/>
              <a:p>
                <a:r>
                  <a:rPr lang="el-GR" sz="3200" dirty="0"/>
                  <a:t>ϴ</a:t>
                </a:r>
                <a:r>
                  <a:rPr lang="en-US" sz="3200" baseline="-25000" dirty="0"/>
                  <a:t>1</a:t>
                </a:r>
                <a:r>
                  <a:rPr lang="en-US" sz="3200" dirty="0"/>
                  <a:t> := </a:t>
                </a:r>
                <a:r>
                  <a:rPr lang="el-GR" sz="3200" dirty="0"/>
                  <a:t>ϴ</a:t>
                </a:r>
                <a:r>
                  <a:rPr lang="en-US" sz="3200" baseline="-25000" dirty="0"/>
                  <a:t>1</a:t>
                </a:r>
                <a:r>
                  <a:rPr lang="en-US" sz="3200" dirty="0"/>
                  <a:t>  - </a:t>
                </a:r>
                <a:r>
                  <a:rPr lang="el-GR" sz="3200" dirty="0"/>
                  <a:t>α</a:t>
                </a:r>
                <a:r>
                  <a:rPr lang="en-US" sz="3200" dirty="0"/>
                  <a:t> </a:t>
                </a:r>
                <a14:m>
                  <m:oMath xmlns:m="http://schemas.openxmlformats.org/officeDocument/2006/math">
                    <m:f>
                      <m:fPr>
                        <m:ctrlPr>
                          <a:rPr lang="en-US" sz="3200" i="1">
                            <a:latin typeface="Cambria Math" panose="02040503050406030204" pitchFamily="18" charset="0"/>
                          </a:rPr>
                        </m:ctrlPr>
                      </m:fPr>
                      <m:num>
                        <m:r>
                          <a:rPr lang="en-US" sz="3200" i="1">
                            <a:latin typeface="Cambria Math"/>
                          </a:rPr>
                          <m:t>𝑑</m:t>
                        </m:r>
                        <m:r>
                          <a:rPr lang="en-US" sz="3200" i="1">
                            <a:latin typeface="Cambria Math"/>
                          </a:rPr>
                          <m:t>   </m:t>
                        </m:r>
                      </m:num>
                      <m:den>
                        <m:r>
                          <a:rPr lang="en-US" sz="3200" i="1">
                            <a:latin typeface="Cambria Math"/>
                          </a:rPr>
                          <m:t>𝑑</m:t>
                        </m:r>
                        <m:r>
                          <m:rPr>
                            <m:sty m:val="p"/>
                          </m:rPr>
                          <a:rPr lang="el-GR" sz="3200" i="1">
                            <a:latin typeface="Cambria Math"/>
                          </a:rPr>
                          <m:t>ϴ</m:t>
                        </m:r>
                        <m:r>
                          <a:rPr lang="en-US" sz="3200" i="1">
                            <a:latin typeface="Cambria Math"/>
                          </a:rPr>
                          <m:t>1</m:t>
                        </m:r>
                      </m:den>
                    </m:f>
                  </m:oMath>
                </a14:m>
                <a:r>
                  <a:rPr lang="en-US" sz="3200" dirty="0"/>
                  <a:t>  J(</a:t>
                </a:r>
                <a:r>
                  <a:rPr lang="el-GR" sz="3200" dirty="0"/>
                  <a:t>ϴ</a:t>
                </a:r>
                <a:r>
                  <a:rPr lang="en-US" sz="3200" baseline="-25000" dirty="0"/>
                  <a:t>1</a:t>
                </a:r>
                <a:r>
                  <a:rPr lang="en-US" sz="3200" dirty="0"/>
                  <a:t>)</a:t>
                </a:r>
              </a:p>
            </p:txBody>
          </p:sp>
        </mc:Choice>
        <mc:Fallback xmlns="">
          <p:sp>
            <p:nvSpPr>
              <p:cNvPr id="24" name="TextBox 23"/>
              <p:cNvSpPr txBox="1">
                <a:spLocks noRot="1" noChangeAspect="1" noMove="1" noResize="1" noEditPoints="1" noAdjustHandles="1" noChangeArrowheads="1" noChangeShapeType="1" noTextEdit="1"/>
              </p:cNvSpPr>
              <p:nvPr/>
            </p:nvSpPr>
            <p:spPr>
              <a:xfrm>
                <a:off x="4466230" y="3086655"/>
                <a:ext cx="4449170" cy="801630"/>
              </a:xfrm>
              <a:prstGeom prst="rect">
                <a:avLst/>
              </a:prstGeom>
              <a:blipFill rotWithShape="1">
                <a:blip r:embed="rId3"/>
                <a:stretch>
                  <a:fillRect l="-3562" b="-11364"/>
                </a:stretch>
              </a:blipFill>
            </p:spPr>
            <p:txBody>
              <a:bodyPr/>
              <a:lstStyle/>
              <a:p>
                <a:r>
                  <a:rPr lang="en-US">
                    <a:noFill/>
                  </a:rPr>
                  <a:t> </a:t>
                </a:r>
              </a:p>
            </p:txBody>
          </p:sp>
        </mc:Fallback>
      </mc:AlternateContent>
    </p:spTree>
    <p:extLst>
      <p:ext uri="{BB962C8B-B14F-4D97-AF65-F5344CB8AC3E}">
        <p14:creationId xmlns:p14="http://schemas.microsoft.com/office/powerpoint/2010/main" val="3511285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5943600" y="285750"/>
            <a:ext cx="0" cy="2170337"/>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3" name="Straight Connector 2"/>
          <p:cNvCxnSpPr/>
          <p:nvPr/>
        </p:nvCxnSpPr>
        <p:spPr>
          <a:xfrm>
            <a:off x="5715000" y="2227487"/>
            <a:ext cx="2971800" cy="0"/>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p:nvCxnSpPr>
        <p:spPr>
          <a:xfrm flipV="1">
            <a:off x="5943600" y="2687413"/>
            <a:ext cx="0" cy="2170337"/>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5715000" y="4629150"/>
            <a:ext cx="2971800" cy="0"/>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7161068" y="2343150"/>
            <a:ext cx="249135" cy="281201"/>
          </a:xfrm>
          <a:prstGeom prst="rect">
            <a:avLst/>
          </a:prstGeom>
        </p:spPr>
      </p:pic>
      <p:pic>
        <p:nvPicPr>
          <p:cNvPr id="7" name="Picture 6"/>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7161068" y="4753508"/>
            <a:ext cx="249135" cy="281201"/>
          </a:xfrm>
          <a:prstGeom prst="rect">
            <a:avLst/>
          </a:prstGeom>
        </p:spPr>
      </p:pic>
      <p:pic>
        <p:nvPicPr>
          <p:cNvPr id="8" name="Picture 7"/>
          <p:cNvPicPr>
            <a:picLocks noChangeAspect="1"/>
          </p:cNvPicPr>
          <p:nvPr>
            <p:custDataLst>
              <p:tags r:id="rId3"/>
            </p:custDataLst>
          </p:nvPr>
        </p:nvPicPr>
        <p:blipFill>
          <a:blip r:embed="rId6" cstate="print">
            <a:extLst>
              <a:ext uri="{28A0092B-C50C-407E-A947-70E740481C1C}">
                <a14:useLocalDpi xmlns:a14="http://schemas.microsoft.com/office/drawing/2010/main" val="0"/>
              </a:ext>
            </a:extLst>
          </a:blip>
          <a:stretch>
            <a:fillRect/>
          </a:stretch>
        </p:blipFill>
        <p:spPr>
          <a:xfrm>
            <a:off x="762000" y="819215"/>
            <a:ext cx="2816352" cy="674370"/>
          </a:xfrm>
          <a:prstGeom prst="rect">
            <a:avLst/>
          </a:prstGeom>
        </p:spPr>
      </p:pic>
      <p:sp>
        <p:nvSpPr>
          <p:cNvPr id="10" name="TextBox 9"/>
          <p:cNvSpPr txBox="1"/>
          <p:nvPr/>
        </p:nvSpPr>
        <p:spPr>
          <a:xfrm>
            <a:off x="609600" y="1502224"/>
            <a:ext cx="3886200" cy="725263"/>
          </a:xfrm>
          <a:prstGeom prst="rect">
            <a:avLst/>
          </a:prstGeom>
          <a:noFill/>
        </p:spPr>
        <p:txBody>
          <a:bodyPr wrap="square" rtlCol="0">
            <a:spAutoFit/>
          </a:bodyPr>
          <a:lstStyle/>
          <a:p>
            <a:r>
              <a:rPr lang="en-US" sz="2000" dirty="0"/>
              <a:t>If </a:t>
            </a:r>
            <a:r>
              <a:rPr lang="el-GR" sz="2000" dirty="0"/>
              <a:t>α</a:t>
            </a:r>
            <a:r>
              <a:rPr lang="en-US" sz="2000" dirty="0"/>
              <a:t> is too small, gradient descent can be slow.</a:t>
            </a:r>
          </a:p>
        </p:txBody>
      </p:sp>
      <p:sp>
        <p:nvSpPr>
          <p:cNvPr id="11" name="TextBox 10"/>
          <p:cNvSpPr txBox="1"/>
          <p:nvPr/>
        </p:nvSpPr>
        <p:spPr>
          <a:xfrm>
            <a:off x="609600" y="3257550"/>
            <a:ext cx="3886200" cy="1015663"/>
          </a:xfrm>
          <a:prstGeom prst="rect">
            <a:avLst/>
          </a:prstGeom>
          <a:noFill/>
        </p:spPr>
        <p:txBody>
          <a:bodyPr wrap="square" rtlCol="0">
            <a:spAutoFit/>
          </a:bodyPr>
          <a:lstStyle/>
          <a:p>
            <a:r>
              <a:rPr lang="en-US" sz="2000" dirty="0"/>
              <a:t>If </a:t>
            </a:r>
            <a:r>
              <a:rPr lang="el-GR" sz="2000" dirty="0"/>
              <a:t>α</a:t>
            </a:r>
            <a:r>
              <a:rPr lang="en-US" sz="2000" dirty="0"/>
              <a:t> is too large, gradient descent can overshoot the minimum. It may fail to converge, or even diverge.</a:t>
            </a:r>
          </a:p>
        </p:txBody>
      </p:sp>
      <p:sp>
        <p:nvSpPr>
          <p:cNvPr id="12" name="Date Placeholder 11"/>
          <p:cNvSpPr>
            <a:spLocks noGrp="1"/>
          </p:cNvSpPr>
          <p:nvPr>
            <p:ph type="dt" sz="half" idx="10"/>
          </p:nvPr>
        </p:nvSpPr>
        <p:spPr/>
        <p:txBody>
          <a:bodyPr/>
          <a:lstStyle/>
          <a:p>
            <a:fld id="{F01C91EA-A8FA-4B55-A672-E815216CB937}" type="datetime1">
              <a:rPr lang="en-US" smtClean="0">
                <a:solidFill>
                  <a:prstClr val="black">
                    <a:tint val="75000"/>
                  </a:prstClr>
                </a:solidFill>
              </a:rPr>
              <a:t>9/10/2025</a:t>
            </a:fld>
            <a:endParaRPr lang="en-US">
              <a:solidFill>
                <a:prstClr val="black">
                  <a:tint val="75000"/>
                </a:prstClr>
              </a:solidFill>
            </a:endParaRPr>
          </a:p>
        </p:txBody>
      </p:sp>
      <p:sp>
        <p:nvSpPr>
          <p:cNvPr id="13" name="Footer Placeholder 12"/>
          <p:cNvSpPr>
            <a:spLocks noGrp="1"/>
          </p:cNvSpPr>
          <p:nvPr>
            <p:ph type="ftr" sz="quarter" idx="11"/>
          </p:nvPr>
        </p:nvSpPr>
        <p:spPr/>
        <p:txBody>
          <a:bodyPr/>
          <a:lstStyle/>
          <a:p>
            <a:r>
              <a:rPr lang="en-US">
                <a:solidFill>
                  <a:prstClr val="black">
                    <a:tint val="75000"/>
                  </a:prstClr>
                </a:solidFill>
              </a:rPr>
              <a:t>Linear Regression</a:t>
            </a:r>
          </a:p>
        </p:txBody>
      </p:sp>
      <p:sp>
        <p:nvSpPr>
          <p:cNvPr id="14" name="Slide Number Placeholder 13"/>
          <p:cNvSpPr>
            <a:spLocks noGrp="1"/>
          </p:cNvSpPr>
          <p:nvPr>
            <p:ph type="sldNum" sz="quarter" idx="12"/>
          </p:nvPr>
        </p:nvSpPr>
        <p:spPr/>
        <p:txBody>
          <a:bodyPr/>
          <a:lstStyle/>
          <a:p>
            <a:fld id="{F043A558-56C3-499B-89A2-59E5853E6BB4}" type="slidenum">
              <a:rPr lang="en-US" smtClean="0">
                <a:solidFill>
                  <a:prstClr val="black">
                    <a:tint val="75000"/>
                  </a:prstClr>
                </a:solidFill>
              </a:rPr>
              <a:pPr/>
              <a:t>48</a:t>
            </a:fld>
            <a:endParaRPr lang="en-US">
              <a:solidFill>
                <a:prstClr val="black">
                  <a:tint val="75000"/>
                </a:prstClr>
              </a:solidFill>
            </a:endParaRPr>
          </a:p>
        </p:txBody>
      </p:sp>
      <p:sp>
        <p:nvSpPr>
          <p:cNvPr id="15" name="Freeform 14"/>
          <p:cNvSpPr/>
          <p:nvPr/>
        </p:nvSpPr>
        <p:spPr>
          <a:xfrm>
            <a:off x="6056910" y="384165"/>
            <a:ext cx="2457450" cy="1760585"/>
          </a:xfrm>
          <a:custGeom>
            <a:avLst/>
            <a:gdLst>
              <a:gd name="connsiteX0" fmla="*/ 0 w 2457450"/>
              <a:gd name="connsiteY0" fmla="*/ 0 h 1760585"/>
              <a:gd name="connsiteX1" fmla="*/ 354330 w 2457450"/>
              <a:gd name="connsiteY1" fmla="*/ 1245870 h 1760585"/>
              <a:gd name="connsiteX2" fmla="*/ 1200150 w 2457450"/>
              <a:gd name="connsiteY2" fmla="*/ 1760220 h 1760585"/>
              <a:gd name="connsiteX3" fmla="*/ 2000250 w 2457450"/>
              <a:gd name="connsiteY3" fmla="*/ 1303020 h 1760585"/>
              <a:gd name="connsiteX4" fmla="*/ 2457450 w 2457450"/>
              <a:gd name="connsiteY4" fmla="*/ 22860 h 1760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7450" h="1760585">
                <a:moveTo>
                  <a:pt x="0" y="0"/>
                </a:moveTo>
                <a:cubicBezTo>
                  <a:pt x="77152" y="476250"/>
                  <a:pt x="154305" y="952500"/>
                  <a:pt x="354330" y="1245870"/>
                </a:cubicBezTo>
                <a:cubicBezTo>
                  <a:pt x="554355" y="1539240"/>
                  <a:pt x="925830" y="1750695"/>
                  <a:pt x="1200150" y="1760220"/>
                </a:cubicBezTo>
                <a:cubicBezTo>
                  <a:pt x="1474470" y="1769745"/>
                  <a:pt x="1790700" y="1592580"/>
                  <a:pt x="2000250" y="1303020"/>
                </a:cubicBezTo>
                <a:cubicBezTo>
                  <a:pt x="2209800" y="1013460"/>
                  <a:pt x="2333625" y="518160"/>
                  <a:pt x="2457450" y="22860"/>
                </a:cubicBezTo>
              </a:path>
            </a:pathLst>
          </a:custGeom>
          <a:ln w="15748">
            <a:solidFill>
              <a:schemeClr val="bg2">
                <a:lumMod val="1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Freeform 15"/>
          <p:cNvSpPr/>
          <p:nvPr/>
        </p:nvSpPr>
        <p:spPr>
          <a:xfrm>
            <a:off x="6056910" y="2699698"/>
            <a:ext cx="2457450" cy="1760585"/>
          </a:xfrm>
          <a:custGeom>
            <a:avLst/>
            <a:gdLst>
              <a:gd name="connsiteX0" fmla="*/ 0 w 2457450"/>
              <a:gd name="connsiteY0" fmla="*/ 0 h 1760585"/>
              <a:gd name="connsiteX1" fmla="*/ 354330 w 2457450"/>
              <a:gd name="connsiteY1" fmla="*/ 1245870 h 1760585"/>
              <a:gd name="connsiteX2" fmla="*/ 1200150 w 2457450"/>
              <a:gd name="connsiteY2" fmla="*/ 1760220 h 1760585"/>
              <a:gd name="connsiteX3" fmla="*/ 2000250 w 2457450"/>
              <a:gd name="connsiteY3" fmla="*/ 1303020 h 1760585"/>
              <a:gd name="connsiteX4" fmla="*/ 2457450 w 2457450"/>
              <a:gd name="connsiteY4" fmla="*/ 22860 h 1760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7450" h="1760585">
                <a:moveTo>
                  <a:pt x="0" y="0"/>
                </a:moveTo>
                <a:cubicBezTo>
                  <a:pt x="77152" y="476250"/>
                  <a:pt x="154305" y="952500"/>
                  <a:pt x="354330" y="1245870"/>
                </a:cubicBezTo>
                <a:cubicBezTo>
                  <a:pt x="554355" y="1539240"/>
                  <a:pt x="925830" y="1750695"/>
                  <a:pt x="1200150" y="1760220"/>
                </a:cubicBezTo>
                <a:cubicBezTo>
                  <a:pt x="1474470" y="1769745"/>
                  <a:pt x="1790700" y="1592580"/>
                  <a:pt x="2000250" y="1303020"/>
                </a:cubicBezTo>
                <a:cubicBezTo>
                  <a:pt x="2209800" y="1013460"/>
                  <a:pt x="2333625" y="518160"/>
                  <a:pt x="2457450" y="22860"/>
                </a:cubicBezTo>
              </a:path>
            </a:pathLst>
          </a:custGeom>
          <a:ln w="15748">
            <a:solidFill>
              <a:schemeClr val="bg2">
                <a:lumMod val="1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p:cNvSpPr txBox="1"/>
          <p:nvPr/>
        </p:nvSpPr>
        <p:spPr>
          <a:xfrm>
            <a:off x="7583606" y="4090951"/>
            <a:ext cx="304800" cy="369332"/>
          </a:xfrm>
          <a:prstGeom prst="rect">
            <a:avLst/>
          </a:prstGeom>
          <a:noFill/>
        </p:spPr>
        <p:txBody>
          <a:bodyPr wrap="square" rtlCol="0">
            <a:spAutoFit/>
          </a:bodyPr>
          <a:lstStyle/>
          <a:p>
            <a:r>
              <a:rPr lang="en-US" dirty="0"/>
              <a:t>x</a:t>
            </a:r>
          </a:p>
        </p:txBody>
      </p:sp>
      <p:sp>
        <p:nvSpPr>
          <p:cNvPr id="19" name="TextBox 18"/>
          <p:cNvSpPr txBox="1"/>
          <p:nvPr/>
        </p:nvSpPr>
        <p:spPr>
          <a:xfrm>
            <a:off x="6037576" y="817225"/>
            <a:ext cx="304800" cy="369332"/>
          </a:xfrm>
          <a:prstGeom prst="rect">
            <a:avLst/>
          </a:prstGeom>
          <a:noFill/>
        </p:spPr>
        <p:txBody>
          <a:bodyPr wrap="square" rtlCol="0">
            <a:spAutoFit/>
          </a:bodyPr>
          <a:lstStyle/>
          <a:p>
            <a:r>
              <a:rPr lang="en-US" dirty="0"/>
              <a:t>x</a:t>
            </a:r>
          </a:p>
        </p:txBody>
      </p:sp>
      <p:sp>
        <p:nvSpPr>
          <p:cNvPr id="20" name="TextBox 19"/>
          <p:cNvSpPr txBox="1"/>
          <p:nvPr/>
        </p:nvSpPr>
        <p:spPr>
          <a:xfrm>
            <a:off x="5970475" y="2890356"/>
            <a:ext cx="304800" cy="369332"/>
          </a:xfrm>
          <a:prstGeom prst="rect">
            <a:avLst/>
          </a:prstGeom>
          <a:noFill/>
        </p:spPr>
        <p:txBody>
          <a:bodyPr wrap="square" rtlCol="0">
            <a:spAutoFit/>
          </a:bodyPr>
          <a:lstStyle/>
          <a:p>
            <a:r>
              <a:rPr lang="en-US" dirty="0"/>
              <a:t>x</a:t>
            </a:r>
          </a:p>
        </p:txBody>
      </p:sp>
      <p:sp>
        <p:nvSpPr>
          <p:cNvPr id="21" name="TextBox 20"/>
          <p:cNvSpPr txBox="1"/>
          <p:nvPr/>
        </p:nvSpPr>
        <p:spPr>
          <a:xfrm>
            <a:off x="6369672" y="1555584"/>
            <a:ext cx="304800" cy="369332"/>
          </a:xfrm>
          <a:prstGeom prst="rect">
            <a:avLst/>
          </a:prstGeom>
          <a:noFill/>
        </p:spPr>
        <p:txBody>
          <a:bodyPr wrap="square" rtlCol="0">
            <a:spAutoFit/>
          </a:bodyPr>
          <a:lstStyle/>
          <a:p>
            <a:r>
              <a:rPr lang="en-US" dirty="0"/>
              <a:t>x</a:t>
            </a:r>
          </a:p>
        </p:txBody>
      </p:sp>
      <p:sp>
        <p:nvSpPr>
          <p:cNvPr id="22" name="TextBox 21"/>
          <p:cNvSpPr txBox="1"/>
          <p:nvPr/>
        </p:nvSpPr>
        <p:spPr>
          <a:xfrm>
            <a:off x="6077382" y="1004450"/>
            <a:ext cx="304800" cy="369332"/>
          </a:xfrm>
          <a:prstGeom prst="rect">
            <a:avLst/>
          </a:prstGeom>
          <a:noFill/>
        </p:spPr>
        <p:txBody>
          <a:bodyPr wrap="square" rtlCol="0">
            <a:spAutoFit/>
          </a:bodyPr>
          <a:lstStyle/>
          <a:p>
            <a:r>
              <a:rPr lang="en-US" dirty="0"/>
              <a:t>x</a:t>
            </a:r>
          </a:p>
        </p:txBody>
      </p:sp>
      <p:sp>
        <p:nvSpPr>
          <p:cNvPr id="23" name="TextBox 22"/>
          <p:cNvSpPr txBox="1"/>
          <p:nvPr/>
        </p:nvSpPr>
        <p:spPr>
          <a:xfrm>
            <a:off x="6217988" y="1370918"/>
            <a:ext cx="304800" cy="369332"/>
          </a:xfrm>
          <a:prstGeom prst="rect">
            <a:avLst/>
          </a:prstGeom>
          <a:noFill/>
        </p:spPr>
        <p:txBody>
          <a:bodyPr wrap="square" rtlCol="0">
            <a:spAutoFit/>
          </a:bodyPr>
          <a:lstStyle/>
          <a:p>
            <a:r>
              <a:rPr lang="en-US" dirty="0"/>
              <a:t>x</a:t>
            </a:r>
          </a:p>
        </p:txBody>
      </p:sp>
      <p:sp>
        <p:nvSpPr>
          <p:cNvPr id="24" name="TextBox 23"/>
          <p:cNvSpPr txBox="1"/>
          <p:nvPr/>
        </p:nvSpPr>
        <p:spPr>
          <a:xfrm>
            <a:off x="6122875" y="1146740"/>
            <a:ext cx="304800" cy="369332"/>
          </a:xfrm>
          <a:prstGeom prst="rect">
            <a:avLst/>
          </a:prstGeom>
          <a:noFill/>
        </p:spPr>
        <p:txBody>
          <a:bodyPr wrap="square" rtlCol="0">
            <a:spAutoFit/>
          </a:bodyPr>
          <a:lstStyle/>
          <a:p>
            <a:r>
              <a:rPr lang="en-US" dirty="0"/>
              <a:t>x</a:t>
            </a:r>
          </a:p>
        </p:txBody>
      </p:sp>
      <p:sp>
        <p:nvSpPr>
          <p:cNvPr id="25" name="TextBox 24"/>
          <p:cNvSpPr txBox="1"/>
          <p:nvPr/>
        </p:nvSpPr>
        <p:spPr>
          <a:xfrm>
            <a:off x="6338965" y="3819361"/>
            <a:ext cx="304800" cy="369332"/>
          </a:xfrm>
          <a:prstGeom prst="rect">
            <a:avLst/>
          </a:prstGeom>
          <a:noFill/>
        </p:spPr>
        <p:txBody>
          <a:bodyPr wrap="square" rtlCol="0">
            <a:spAutoFit/>
          </a:bodyPr>
          <a:lstStyle/>
          <a:p>
            <a:r>
              <a:rPr lang="en-US" dirty="0"/>
              <a:t>x</a:t>
            </a:r>
          </a:p>
        </p:txBody>
      </p:sp>
      <p:sp>
        <p:nvSpPr>
          <p:cNvPr id="26" name="TextBox 25"/>
          <p:cNvSpPr txBox="1"/>
          <p:nvPr/>
        </p:nvSpPr>
        <p:spPr>
          <a:xfrm>
            <a:off x="8032139" y="3634411"/>
            <a:ext cx="304800" cy="369332"/>
          </a:xfrm>
          <a:prstGeom prst="rect">
            <a:avLst/>
          </a:prstGeom>
          <a:noFill/>
        </p:spPr>
        <p:txBody>
          <a:bodyPr wrap="square" rtlCol="0">
            <a:spAutoFit/>
          </a:bodyPr>
          <a:lstStyle/>
          <a:p>
            <a:r>
              <a:rPr lang="en-US" dirty="0"/>
              <a:t>x</a:t>
            </a:r>
          </a:p>
        </p:txBody>
      </p:sp>
      <p:sp>
        <p:nvSpPr>
          <p:cNvPr id="27" name="TextBox 26"/>
          <p:cNvSpPr txBox="1"/>
          <p:nvPr/>
        </p:nvSpPr>
        <p:spPr>
          <a:xfrm>
            <a:off x="6106952" y="3257550"/>
            <a:ext cx="304800" cy="369332"/>
          </a:xfrm>
          <a:prstGeom prst="rect">
            <a:avLst/>
          </a:prstGeom>
          <a:noFill/>
        </p:spPr>
        <p:txBody>
          <a:bodyPr wrap="square" rtlCol="0">
            <a:spAutoFit/>
          </a:bodyPr>
          <a:lstStyle/>
          <a:p>
            <a:r>
              <a:rPr lang="en-US" dirty="0"/>
              <a:t>x</a:t>
            </a:r>
          </a:p>
        </p:txBody>
      </p:sp>
      <p:sp>
        <p:nvSpPr>
          <p:cNvPr id="28" name="TextBox 27"/>
          <p:cNvSpPr txBox="1"/>
          <p:nvPr/>
        </p:nvSpPr>
        <p:spPr>
          <a:xfrm>
            <a:off x="8212972" y="3087101"/>
            <a:ext cx="304800" cy="369332"/>
          </a:xfrm>
          <a:prstGeom prst="rect">
            <a:avLst/>
          </a:prstGeom>
          <a:noFill/>
        </p:spPr>
        <p:txBody>
          <a:bodyPr wrap="square" rtlCol="0">
            <a:spAutoFit/>
          </a:bodyPr>
          <a:lstStyle/>
          <a:p>
            <a:r>
              <a:rPr lang="en-US" dirty="0"/>
              <a:t>x</a:t>
            </a:r>
          </a:p>
        </p:txBody>
      </p:sp>
      <p:cxnSp>
        <p:nvCxnSpPr>
          <p:cNvPr id="30" name="Straight Connector 29"/>
          <p:cNvCxnSpPr/>
          <p:nvPr/>
        </p:nvCxnSpPr>
        <p:spPr>
          <a:xfrm>
            <a:off x="6122875" y="3075022"/>
            <a:ext cx="2242497" cy="196745"/>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6217988" y="3271767"/>
            <a:ext cx="2118951" cy="184666"/>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6229782" y="3456433"/>
            <a:ext cx="1954757" cy="362928"/>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a:off x="6491365" y="3819361"/>
            <a:ext cx="1693174" cy="184666"/>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6491365" y="4004027"/>
            <a:ext cx="1244641" cy="27159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62533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p:cNvCxnSpPr/>
          <p:nvPr/>
        </p:nvCxnSpPr>
        <p:spPr>
          <a:xfrm flipV="1">
            <a:off x="1453311" y="520510"/>
            <a:ext cx="0" cy="2475138"/>
          </a:xfrm>
          <a:prstGeom prst="line">
            <a:avLst/>
          </a:prstGeom>
          <a:ln w="15875">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3" name="Straight Connector 2"/>
          <p:cNvCxnSpPr/>
          <p:nvPr/>
        </p:nvCxnSpPr>
        <p:spPr>
          <a:xfrm>
            <a:off x="1224711" y="2767047"/>
            <a:ext cx="3886200" cy="0"/>
          </a:xfrm>
          <a:prstGeom prst="line">
            <a:avLst/>
          </a:prstGeom>
          <a:ln w="15875">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pic>
        <p:nvPicPr>
          <p:cNvPr id="4" name="Picture 3"/>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4104827" y="2926577"/>
            <a:ext cx="184709" cy="208483"/>
          </a:xfrm>
          <a:prstGeom prst="rect">
            <a:avLst/>
          </a:prstGeom>
        </p:spPr>
      </p:pic>
      <p:sp>
        <p:nvSpPr>
          <p:cNvPr id="9" name="Freeform 8"/>
          <p:cNvSpPr/>
          <p:nvPr/>
        </p:nvSpPr>
        <p:spPr>
          <a:xfrm>
            <a:off x="1224711" y="729429"/>
            <a:ext cx="3681350" cy="1778433"/>
          </a:xfrm>
          <a:custGeom>
            <a:avLst/>
            <a:gdLst>
              <a:gd name="connsiteX0" fmla="*/ 0 w 3681350"/>
              <a:gd name="connsiteY0" fmla="*/ 757675 h 1784229"/>
              <a:gd name="connsiteX1" fmla="*/ 356259 w 3681350"/>
              <a:gd name="connsiteY1" fmla="*/ 401415 h 1784229"/>
              <a:gd name="connsiteX2" fmla="*/ 688768 w 3681350"/>
              <a:gd name="connsiteY2" fmla="*/ 698298 h 1784229"/>
              <a:gd name="connsiteX3" fmla="*/ 890649 w 3681350"/>
              <a:gd name="connsiteY3" fmla="*/ 1339565 h 1784229"/>
              <a:gd name="connsiteX4" fmla="*/ 1045028 w 3681350"/>
              <a:gd name="connsiteY4" fmla="*/ 1707700 h 1784229"/>
              <a:gd name="connsiteX5" fmla="*/ 1187532 w 3681350"/>
              <a:gd name="connsiteY5" fmla="*/ 1778952 h 1784229"/>
              <a:gd name="connsiteX6" fmla="*/ 1246909 w 3681350"/>
              <a:gd name="connsiteY6" fmla="*/ 1778952 h 1784229"/>
              <a:gd name="connsiteX7" fmla="*/ 1377537 w 3681350"/>
              <a:gd name="connsiteY7" fmla="*/ 1778952 h 1784229"/>
              <a:gd name="connsiteX8" fmla="*/ 1579418 w 3681350"/>
              <a:gd name="connsiteY8" fmla="*/ 1707700 h 1784229"/>
              <a:gd name="connsiteX9" fmla="*/ 1733797 w 3681350"/>
              <a:gd name="connsiteY9" fmla="*/ 1327690 h 1784229"/>
              <a:gd name="connsiteX10" fmla="*/ 1805049 w 3681350"/>
              <a:gd name="connsiteY10" fmla="*/ 971430 h 1784229"/>
              <a:gd name="connsiteX11" fmla="*/ 1911927 w 3681350"/>
              <a:gd name="connsiteY11" fmla="*/ 555794 h 1784229"/>
              <a:gd name="connsiteX12" fmla="*/ 1983179 w 3681350"/>
              <a:gd name="connsiteY12" fmla="*/ 401415 h 1784229"/>
              <a:gd name="connsiteX13" fmla="*/ 2066306 w 3681350"/>
              <a:gd name="connsiteY13" fmla="*/ 187659 h 1784229"/>
              <a:gd name="connsiteX14" fmla="*/ 2149433 w 3681350"/>
              <a:gd name="connsiteY14" fmla="*/ 92656 h 1784229"/>
              <a:gd name="connsiteX15" fmla="*/ 2244436 w 3681350"/>
              <a:gd name="connsiteY15" fmla="*/ 21404 h 1784229"/>
              <a:gd name="connsiteX16" fmla="*/ 2375065 w 3681350"/>
              <a:gd name="connsiteY16" fmla="*/ 21404 h 1784229"/>
              <a:gd name="connsiteX17" fmla="*/ 2576945 w 3681350"/>
              <a:gd name="connsiteY17" fmla="*/ 270786 h 1784229"/>
              <a:gd name="connsiteX18" fmla="*/ 2719449 w 3681350"/>
              <a:gd name="connsiteY18" fmla="*/ 1066433 h 1784229"/>
              <a:gd name="connsiteX19" fmla="*/ 2909454 w 3681350"/>
              <a:gd name="connsiteY19" fmla="*/ 1517695 h 1784229"/>
              <a:gd name="connsiteX20" fmla="*/ 3384467 w 3681350"/>
              <a:gd name="connsiteY20" fmla="*/ 1315815 h 1784229"/>
              <a:gd name="connsiteX21" fmla="*/ 3681350 w 3681350"/>
              <a:gd name="connsiteY21" fmla="*/ 508293 h 1784229"/>
              <a:gd name="connsiteX0" fmla="*/ 0 w 3681350"/>
              <a:gd name="connsiteY0" fmla="*/ 757675 h 1784229"/>
              <a:gd name="connsiteX1" fmla="*/ 356259 w 3681350"/>
              <a:gd name="connsiteY1" fmla="*/ 401415 h 1784229"/>
              <a:gd name="connsiteX2" fmla="*/ 688768 w 3681350"/>
              <a:gd name="connsiteY2" fmla="*/ 698298 h 1784229"/>
              <a:gd name="connsiteX3" fmla="*/ 890649 w 3681350"/>
              <a:gd name="connsiteY3" fmla="*/ 1339565 h 1784229"/>
              <a:gd name="connsiteX4" fmla="*/ 1187532 w 3681350"/>
              <a:gd name="connsiteY4" fmla="*/ 1778952 h 1784229"/>
              <a:gd name="connsiteX5" fmla="*/ 1246909 w 3681350"/>
              <a:gd name="connsiteY5" fmla="*/ 1778952 h 1784229"/>
              <a:gd name="connsiteX6" fmla="*/ 1377537 w 3681350"/>
              <a:gd name="connsiteY6" fmla="*/ 1778952 h 1784229"/>
              <a:gd name="connsiteX7" fmla="*/ 1579418 w 3681350"/>
              <a:gd name="connsiteY7" fmla="*/ 1707700 h 1784229"/>
              <a:gd name="connsiteX8" fmla="*/ 1733797 w 3681350"/>
              <a:gd name="connsiteY8" fmla="*/ 1327690 h 1784229"/>
              <a:gd name="connsiteX9" fmla="*/ 1805049 w 3681350"/>
              <a:gd name="connsiteY9" fmla="*/ 971430 h 1784229"/>
              <a:gd name="connsiteX10" fmla="*/ 1911927 w 3681350"/>
              <a:gd name="connsiteY10" fmla="*/ 555794 h 1784229"/>
              <a:gd name="connsiteX11" fmla="*/ 1983179 w 3681350"/>
              <a:gd name="connsiteY11" fmla="*/ 401415 h 1784229"/>
              <a:gd name="connsiteX12" fmla="*/ 2066306 w 3681350"/>
              <a:gd name="connsiteY12" fmla="*/ 187659 h 1784229"/>
              <a:gd name="connsiteX13" fmla="*/ 2149433 w 3681350"/>
              <a:gd name="connsiteY13" fmla="*/ 92656 h 1784229"/>
              <a:gd name="connsiteX14" fmla="*/ 2244436 w 3681350"/>
              <a:gd name="connsiteY14" fmla="*/ 21404 h 1784229"/>
              <a:gd name="connsiteX15" fmla="*/ 2375065 w 3681350"/>
              <a:gd name="connsiteY15" fmla="*/ 21404 h 1784229"/>
              <a:gd name="connsiteX16" fmla="*/ 2576945 w 3681350"/>
              <a:gd name="connsiteY16" fmla="*/ 270786 h 1784229"/>
              <a:gd name="connsiteX17" fmla="*/ 2719449 w 3681350"/>
              <a:gd name="connsiteY17" fmla="*/ 1066433 h 1784229"/>
              <a:gd name="connsiteX18" fmla="*/ 2909454 w 3681350"/>
              <a:gd name="connsiteY18" fmla="*/ 1517695 h 1784229"/>
              <a:gd name="connsiteX19" fmla="*/ 3384467 w 3681350"/>
              <a:gd name="connsiteY19" fmla="*/ 1315815 h 1784229"/>
              <a:gd name="connsiteX20" fmla="*/ 3681350 w 3681350"/>
              <a:gd name="connsiteY20" fmla="*/ 508293 h 1784229"/>
              <a:gd name="connsiteX0" fmla="*/ 0 w 3681350"/>
              <a:gd name="connsiteY0" fmla="*/ 757675 h 1814302"/>
              <a:gd name="connsiteX1" fmla="*/ 356259 w 3681350"/>
              <a:gd name="connsiteY1" fmla="*/ 401415 h 1814302"/>
              <a:gd name="connsiteX2" fmla="*/ 688768 w 3681350"/>
              <a:gd name="connsiteY2" fmla="*/ 698298 h 1814302"/>
              <a:gd name="connsiteX3" fmla="*/ 890649 w 3681350"/>
              <a:gd name="connsiteY3" fmla="*/ 1339565 h 1814302"/>
              <a:gd name="connsiteX4" fmla="*/ 1187532 w 3681350"/>
              <a:gd name="connsiteY4" fmla="*/ 1778952 h 1814302"/>
              <a:gd name="connsiteX5" fmla="*/ 1377537 w 3681350"/>
              <a:gd name="connsiteY5" fmla="*/ 1778952 h 1814302"/>
              <a:gd name="connsiteX6" fmla="*/ 1579418 w 3681350"/>
              <a:gd name="connsiteY6" fmla="*/ 1707700 h 1814302"/>
              <a:gd name="connsiteX7" fmla="*/ 1733797 w 3681350"/>
              <a:gd name="connsiteY7" fmla="*/ 1327690 h 1814302"/>
              <a:gd name="connsiteX8" fmla="*/ 1805049 w 3681350"/>
              <a:gd name="connsiteY8" fmla="*/ 971430 h 1814302"/>
              <a:gd name="connsiteX9" fmla="*/ 1911927 w 3681350"/>
              <a:gd name="connsiteY9" fmla="*/ 555794 h 1814302"/>
              <a:gd name="connsiteX10" fmla="*/ 1983179 w 3681350"/>
              <a:gd name="connsiteY10" fmla="*/ 401415 h 1814302"/>
              <a:gd name="connsiteX11" fmla="*/ 2066306 w 3681350"/>
              <a:gd name="connsiteY11" fmla="*/ 187659 h 1814302"/>
              <a:gd name="connsiteX12" fmla="*/ 2149433 w 3681350"/>
              <a:gd name="connsiteY12" fmla="*/ 92656 h 1814302"/>
              <a:gd name="connsiteX13" fmla="*/ 2244436 w 3681350"/>
              <a:gd name="connsiteY13" fmla="*/ 21404 h 1814302"/>
              <a:gd name="connsiteX14" fmla="*/ 2375065 w 3681350"/>
              <a:gd name="connsiteY14" fmla="*/ 21404 h 1814302"/>
              <a:gd name="connsiteX15" fmla="*/ 2576945 w 3681350"/>
              <a:gd name="connsiteY15" fmla="*/ 270786 h 1814302"/>
              <a:gd name="connsiteX16" fmla="*/ 2719449 w 3681350"/>
              <a:gd name="connsiteY16" fmla="*/ 1066433 h 1814302"/>
              <a:gd name="connsiteX17" fmla="*/ 2909454 w 3681350"/>
              <a:gd name="connsiteY17" fmla="*/ 1517695 h 1814302"/>
              <a:gd name="connsiteX18" fmla="*/ 3384467 w 3681350"/>
              <a:gd name="connsiteY18" fmla="*/ 1315815 h 1814302"/>
              <a:gd name="connsiteX19" fmla="*/ 3681350 w 3681350"/>
              <a:gd name="connsiteY19" fmla="*/ 508293 h 1814302"/>
              <a:gd name="connsiteX0" fmla="*/ 0 w 3681350"/>
              <a:gd name="connsiteY0" fmla="*/ 757675 h 1804839"/>
              <a:gd name="connsiteX1" fmla="*/ 356259 w 3681350"/>
              <a:gd name="connsiteY1" fmla="*/ 401415 h 1804839"/>
              <a:gd name="connsiteX2" fmla="*/ 688768 w 3681350"/>
              <a:gd name="connsiteY2" fmla="*/ 698298 h 1804839"/>
              <a:gd name="connsiteX3" fmla="*/ 890649 w 3681350"/>
              <a:gd name="connsiteY3" fmla="*/ 1339565 h 1804839"/>
              <a:gd name="connsiteX4" fmla="*/ 1187532 w 3681350"/>
              <a:gd name="connsiteY4" fmla="*/ 1778952 h 1804839"/>
              <a:gd name="connsiteX5" fmla="*/ 1579418 w 3681350"/>
              <a:gd name="connsiteY5" fmla="*/ 1707700 h 1804839"/>
              <a:gd name="connsiteX6" fmla="*/ 1733797 w 3681350"/>
              <a:gd name="connsiteY6" fmla="*/ 1327690 h 1804839"/>
              <a:gd name="connsiteX7" fmla="*/ 1805049 w 3681350"/>
              <a:gd name="connsiteY7" fmla="*/ 971430 h 1804839"/>
              <a:gd name="connsiteX8" fmla="*/ 1911927 w 3681350"/>
              <a:gd name="connsiteY8" fmla="*/ 555794 h 1804839"/>
              <a:gd name="connsiteX9" fmla="*/ 1983179 w 3681350"/>
              <a:gd name="connsiteY9" fmla="*/ 401415 h 1804839"/>
              <a:gd name="connsiteX10" fmla="*/ 2066306 w 3681350"/>
              <a:gd name="connsiteY10" fmla="*/ 187659 h 1804839"/>
              <a:gd name="connsiteX11" fmla="*/ 2149433 w 3681350"/>
              <a:gd name="connsiteY11" fmla="*/ 92656 h 1804839"/>
              <a:gd name="connsiteX12" fmla="*/ 2244436 w 3681350"/>
              <a:gd name="connsiteY12" fmla="*/ 21404 h 1804839"/>
              <a:gd name="connsiteX13" fmla="*/ 2375065 w 3681350"/>
              <a:gd name="connsiteY13" fmla="*/ 21404 h 1804839"/>
              <a:gd name="connsiteX14" fmla="*/ 2576945 w 3681350"/>
              <a:gd name="connsiteY14" fmla="*/ 270786 h 1804839"/>
              <a:gd name="connsiteX15" fmla="*/ 2719449 w 3681350"/>
              <a:gd name="connsiteY15" fmla="*/ 1066433 h 1804839"/>
              <a:gd name="connsiteX16" fmla="*/ 2909454 w 3681350"/>
              <a:gd name="connsiteY16" fmla="*/ 1517695 h 1804839"/>
              <a:gd name="connsiteX17" fmla="*/ 3384467 w 3681350"/>
              <a:gd name="connsiteY17" fmla="*/ 1315815 h 1804839"/>
              <a:gd name="connsiteX18" fmla="*/ 3681350 w 3681350"/>
              <a:gd name="connsiteY18" fmla="*/ 508293 h 1804839"/>
              <a:gd name="connsiteX0" fmla="*/ 0 w 3681350"/>
              <a:gd name="connsiteY0" fmla="*/ 757675 h 1778952"/>
              <a:gd name="connsiteX1" fmla="*/ 356259 w 3681350"/>
              <a:gd name="connsiteY1" fmla="*/ 401415 h 1778952"/>
              <a:gd name="connsiteX2" fmla="*/ 688768 w 3681350"/>
              <a:gd name="connsiteY2" fmla="*/ 698298 h 1778952"/>
              <a:gd name="connsiteX3" fmla="*/ 890649 w 3681350"/>
              <a:gd name="connsiteY3" fmla="*/ 1339565 h 1778952"/>
              <a:gd name="connsiteX4" fmla="*/ 1187532 w 3681350"/>
              <a:gd name="connsiteY4" fmla="*/ 1778952 h 1778952"/>
              <a:gd name="connsiteX5" fmla="*/ 1733797 w 3681350"/>
              <a:gd name="connsiteY5" fmla="*/ 1327690 h 1778952"/>
              <a:gd name="connsiteX6" fmla="*/ 1805049 w 3681350"/>
              <a:gd name="connsiteY6" fmla="*/ 971430 h 1778952"/>
              <a:gd name="connsiteX7" fmla="*/ 1911927 w 3681350"/>
              <a:gd name="connsiteY7" fmla="*/ 555794 h 1778952"/>
              <a:gd name="connsiteX8" fmla="*/ 1983179 w 3681350"/>
              <a:gd name="connsiteY8" fmla="*/ 401415 h 1778952"/>
              <a:gd name="connsiteX9" fmla="*/ 2066306 w 3681350"/>
              <a:gd name="connsiteY9" fmla="*/ 187659 h 1778952"/>
              <a:gd name="connsiteX10" fmla="*/ 2149433 w 3681350"/>
              <a:gd name="connsiteY10" fmla="*/ 92656 h 1778952"/>
              <a:gd name="connsiteX11" fmla="*/ 2244436 w 3681350"/>
              <a:gd name="connsiteY11" fmla="*/ 21404 h 1778952"/>
              <a:gd name="connsiteX12" fmla="*/ 2375065 w 3681350"/>
              <a:gd name="connsiteY12" fmla="*/ 21404 h 1778952"/>
              <a:gd name="connsiteX13" fmla="*/ 2576945 w 3681350"/>
              <a:gd name="connsiteY13" fmla="*/ 270786 h 1778952"/>
              <a:gd name="connsiteX14" fmla="*/ 2719449 w 3681350"/>
              <a:gd name="connsiteY14" fmla="*/ 1066433 h 1778952"/>
              <a:gd name="connsiteX15" fmla="*/ 2909454 w 3681350"/>
              <a:gd name="connsiteY15" fmla="*/ 1517695 h 1778952"/>
              <a:gd name="connsiteX16" fmla="*/ 3384467 w 3681350"/>
              <a:gd name="connsiteY16" fmla="*/ 1315815 h 1778952"/>
              <a:gd name="connsiteX17" fmla="*/ 3681350 w 3681350"/>
              <a:gd name="connsiteY17" fmla="*/ 508293 h 1778952"/>
              <a:gd name="connsiteX0" fmla="*/ 0 w 3681350"/>
              <a:gd name="connsiteY0" fmla="*/ 757675 h 1790382"/>
              <a:gd name="connsiteX1" fmla="*/ 356259 w 3681350"/>
              <a:gd name="connsiteY1" fmla="*/ 401415 h 1790382"/>
              <a:gd name="connsiteX2" fmla="*/ 688768 w 3681350"/>
              <a:gd name="connsiteY2" fmla="*/ 698298 h 1790382"/>
              <a:gd name="connsiteX3" fmla="*/ 890649 w 3681350"/>
              <a:gd name="connsiteY3" fmla="*/ 1339565 h 1790382"/>
              <a:gd name="connsiteX4" fmla="*/ 1256112 w 3681350"/>
              <a:gd name="connsiteY4" fmla="*/ 1790382 h 1790382"/>
              <a:gd name="connsiteX5" fmla="*/ 1733797 w 3681350"/>
              <a:gd name="connsiteY5" fmla="*/ 1327690 h 1790382"/>
              <a:gd name="connsiteX6" fmla="*/ 1805049 w 3681350"/>
              <a:gd name="connsiteY6" fmla="*/ 971430 h 1790382"/>
              <a:gd name="connsiteX7" fmla="*/ 1911927 w 3681350"/>
              <a:gd name="connsiteY7" fmla="*/ 555794 h 1790382"/>
              <a:gd name="connsiteX8" fmla="*/ 1983179 w 3681350"/>
              <a:gd name="connsiteY8" fmla="*/ 401415 h 1790382"/>
              <a:gd name="connsiteX9" fmla="*/ 2066306 w 3681350"/>
              <a:gd name="connsiteY9" fmla="*/ 187659 h 1790382"/>
              <a:gd name="connsiteX10" fmla="*/ 2149433 w 3681350"/>
              <a:gd name="connsiteY10" fmla="*/ 92656 h 1790382"/>
              <a:gd name="connsiteX11" fmla="*/ 2244436 w 3681350"/>
              <a:gd name="connsiteY11" fmla="*/ 21404 h 1790382"/>
              <a:gd name="connsiteX12" fmla="*/ 2375065 w 3681350"/>
              <a:gd name="connsiteY12" fmla="*/ 21404 h 1790382"/>
              <a:gd name="connsiteX13" fmla="*/ 2576945 w 3681350"/>
              <a:gd name="connsiteY13" fmla="*/ 270786 h 1790382"/>
              <a:gd name="connsiteX14" fmla="*/ 2719449 w 3681350"/>
              <a:gd name="connsiteY14" fmla="*/ 1066433 h 1790382"/>
              <a:gd name="connsiteX15" fmla="*/ 2909454 w 3681350"/>
              <a:gd name="connsiteY15" fmla="*/ 1517695 h 1790382"/>
              <a:gd name="connsiteX16" fmla="*/ 3384467 w 3681350"/>
              <a:gd name="connsiteY16" fmla="*/ 1315815 h 1790382"/>
              <a:gd name="connsiteX17" fmla="*/ 3681350 w 3681350"/>
              <a:gd name="connsiteY17" fmla="*/ 508293 h 1790382"/>
              <a:gd name="connsiteX0" fmla="*/ 0 w 3681350"/>
              <a:gd name="connsiteY0" fmla="*/ 757675 h 1790382"/>
              <a:gd name="connsiteX1" fmla="*/ 356259 w 3681350"/>
              <a:gd name="connsiteY1" fmla="*/ 401415 h 1790382"/>
              <a:gd name="connsiteX2" fmla="*/ 688768 w 3681350"/>
              <a:gd name="connsiteY2" fmla="*/ 698298 h 1790382"/>
              <a:gd name="connsiteX3" fmla="*/ 890649 w 3681350"/>
              <a:gd name="connsiteY3" fmla="*/ 1339565 h 1790382"/>
              <a:gd name="connsiteX4" fmla="*/ 1256112 w 3681350"/>
              <a:gd name="connsiteY4" fmla="*/ 1790382 h 1790382"/>
              <a:gd name="connsiteX5" fmla="*/ 1733797 w 3681350"/>
              <a:gd name="connsiteY5" fmla="*/ 1327690 h 1790382"/>
              <a:gd name="connsiteX6" fmla="*/ 1805049 w 3681350"/>
              <a:gd name="connsiteY6" fmla="*/ 971430 h 1790382"/>
              <a:gd name="connsiteX7" fmla="*/ 1911927 w 3681350"/>
              <a:gd name="connsiteY7" fmla="*/ 555794 h 1790382"/>
              <a:gd name="connsiteX8" fmla="*/ 1983179 w 3681350"/>
              <a:gd name="connsiteY8" fmla="*/ 401415 h 1790382"/>
              <a:gd name="connsiteX9" fmla="*/ 2066306 w 3681350"/>
              <a:gd name="connsiteY9" fmla="*/ 187659 h 1790382"/>
              <a:gd name="connsiteX10" fmla="*/ 2149433 w 3681350"/>
              <a:gd name="connsiteY10" fmla="*/ 92656 h 1790382"/>
              <a:gd name="connsiteX11" fmla="*/ 2244436 w 3681350"/>
              <a:gd name="connsiteY11" fmla="*/ 21404 h 1790382"/>
              <a:gd name="connsiteX12" fmla="*/ 2375065 w 3681350"/>
              <a:gd name="connsiteY12" fmla="*/ 21404 h 1790382"/>
              <a:gd name="connsiteX13" fmla="*/ 2576945 w 3681350"/>
              <a:gd name="connsiteY13" fmla="*/ 270786 h 1790382"/>
              <a:gd name="connsiteX14" fmla="*/ 2719449 w 3681350"/>
              <a:gd name="connsiteY14" fmla="*/ 1066433 h 1790382"/>
              <a:gd name="connsiteX15" fmla="*/ 2909454 w 3681350"/>
              <a:gd name="connsiteY15" fmla="*/ 1517695 h 1790382"/>
              <a:gd name="connsiteX16" fmla="*/ 3384467 w 3681350"/>
              <a:gd name="connsiteY16" fmla="*/ 1315815 h 1790382"/>
              <a:gd name="connsiteX17" fmla="*/ 3681350 w 3681350"/>
              <a:gd name="connsiteY17" fmla="*/ 508293 h 1790382"/>
              <a:gd name="connsiteX0" fmla="*/ 0 w 3681350"/>
              <a:gd name="connsiteY0" fmla="*/ 757675 h 1791207"/>
              <a:gd name="connsiteX1" fmla="*/ 356259 w 3681350"/>
              <a:gd name="connsiteY1" fmla="*/ 401415 h 1791207"/>
              <a:gd name="connsiteX2" fmla="*/ 688768 w 3681350"/>
              <a:gd name="connsiteY2" fmla="*/ 698298 h 1791207"/>
              <a:gd name="connsiteX3" fmla="*/ 890649 w 3681350"/>
              <a:gd name="connsiteY3" fmla="*/ 1339565 h 1791207"/>
              <a:gd name="connsiteX4" fmla="*/ 1256112 w 3681350"/>
              <a:gd name="connsiteY4" fmla="*/ 1790382 h 1791207"/>
              <a:gd name="connsiteX5" fmla="*/ 1733797 w 3681350"/>
              <a:gd name="connsiteY5" fmla="*/ 1327690 h 1791207"/>
              <a:gd name="connsiteX6" fmla="*/ 1805049 w 3681350"/>
              <a:gd name="connsiteY6" fmla="*/ 971430 h 1791207"/>
              <a:gd name="connsiteX7" fmla="*/ 1911927 w 3681350"/>
              <a:gd name="connsiteY7" fmla="*/ 555794 h 1791207"/>
              <a:gd name="connsiteX8" fmla="*/ 1983179 w 3681350"/>
              <a:gd name="connsiteY8" fmla="*/ 401415 h 1791207"/>
              <a:gd name="connsiteX9" fmla="*/ 2066306 w 3681350"/>
              <a:gd name="connsiteY9" fmla="*/ 187659 h 1791207"/>
              <a:gd name="connsiteX10" fmla="*/ 2149433 w 3681350"/>
              <a:gd name="connsiteY10" fmla="*/ 92656 h 1791207"/>
              <a:gd name="connsiteX11" fmla="*/ 2244436 w 3681350"/>
              <a:gd name="connsiteY11" fmla="*/ 21404 h 1791207"/>
              <a:gd name="connsiteX12" fmla="*/ 2375065 w 3681350"/>
              <a:gd name="connsiteY12" fmla="*/ 21404 h 1791207"/>
              <a:gd name="connsiteX13" fmla="*/ 2576945 w 3681350"/>
              <a:gd name="connsiteY13" fmla="*/ 270786 h 1791207"/>
              <a:gd name="connsiteX14" fmla="*/ 2719449 w 3681350"/>
              <a:gd name="connsiteY14" fmla="*/ 1066433 h 1791207"/>
              <a:gd name="connsiteX15" fmla="*/ 2909454 w 3681350"/>
              <a:gd name="connsiteY15" fmla="*/ 1517695 h 1791207"/>
              <a:gd name="connsiteX16" fmla="*/ 3384467 w 3681350"/>
              <a:gd name="connsiteY16" fmla="*/ 1315815 h 1791207"/>
              <a:gd name="connsiteX17" fmla="*/ 3681350 w 3681350"/>
              <a:gd name="connsiteY17" fmla="*/ 508293 h 1791207"/>
              <a:gd name="connsiteX0" fmla="*/ 0 w 3681350"/>
              <a:gd name="connsiteY0" fmla="*/ 757675 h 1791207"/>
              <a:gd name="connsiteX1" fmla="*/ 356259 w 3681350"/>
              <a:gd name="connsiteY1" fmla="*/ 401415 h 1791207"/>
              <a:gd name="connsiteX2" fmla="*/ 688768 w 3681350"/>
              <a:gd name="connsiteY2" fmla="*/ 698298 h 1791207"/>
              <a:gd name="connsiteX3" fmla="*/ 890649 w 3681350"/>
              <a:gd name="connsiteY3" fmla="*/ 1339565 h 1791207"/>
              <a:gd name="connsiteX4" fmla="*/ 1256112 w 3681350"/>
              <a:gd name="connsiteY4" fmla="*/ 1790382 h 1791207"/>
              <a:gd name="connsiteX5" fmla="*/ 1733797 w 3681350"/>
              <a:gd name="connsiteY5" fmla="*/ 1327690 h 1791207"/>
              <a:gd name="connsiteX6" fmla="*/ 1805049 w 3681350"/>
              <a:gd name="connsiteY6" fmla="*/ 971430 h 1791207"/>
              <a:gd name="connsiteX7" fmla="*/ 1911927 w 3681350"/>
              <a:gd name="connsiteY7" fmla="*/ 555794 h 1791207"/>
              <a:gd name="connsiteX8" fmla="*/ 1983179 w 3681350"/>
              <a:gd name="connsiteY8" fmla="*/ 401415 h 1791207"/>
              <a:gd name="connsiteX9" fmla="*/ 2066306 w 3681350"/>
              <a:gd name="connsiteY9" fmla="*/ 187659 h 1791207"/>
              <a:gd name="connsiteX10" fmla="*/ 2149433 w 3681350"/>
              <a:gd name="connsiteY10" fmla="*/ 92656 h 1791207"/>
              <a:gd name="connsiteX11" fmla="*/ 2244436 w 3681350"/>
              <a:gd name="connsiteY11" fmla="*/ 21404 h 1791207"/>
              <a:gd name="connsiteX12" fmla="*/ 2375065 w 3681350"/>
              <a:gd name="connsiteY12" fmla="*/ 21404 h 1791207"/>
              <a:gd name="connsiteX13" fmla="*/ 2576945 w 3681350"/>
              <a:gd name="connsiteY13" fmla="*/ 270786 h 1791207"/>
              <a:gd name="connsiteX14" fmla="*/ 2719449 w 3681350"/>
              <a:gd name="connsiteY14" fmla="*/ 1066433 h 1791207"/>
              <a:gd name="connsiteX15" fmla="*/ 2909454 w 3681350"/>
              <a:gd name="connsiteY15" fmla="*/ 1517695 h 1791207"/>
              <a:gd name="connsiteX16" fmla="*/ 3384467 w 3681350"/>
              <a:gd name="connsiteY16" fmla="*/ 1315815 h 1791207"/>
              <a:gd name="connsiteX17" fmla="*/ 3681350 w 3681350"/>
              <a:gd name="connsiteY17" fmla="*/ 508293 h 1791207"/>
              <a:gd name="connsiteX0" fmla="*/ 0 w 3681350"/>
              <a:gd name="connsiteY0" fmla="*/ 757675 h 1791207"/>
              <a:gd name="connsiteX1" fmla="*/ 356259 w 3681350"/>
              <a:gd name="connsiteY1" fmla="*/ 401415 h 1791207"/>
              <a:gd name="connsiteX2" fmla="*/ 688768 w 3681350"/>
              <a:gd name="connsiteY2" fmla="*/ 698298 h 1791207"/>
              <a:gd name="connsiteX3" fmla="*/ 890649 w 3681350"/>
              <a:gd name="connsiteY3" fmla="*/ 1339565 h 1791207"/>
              <a:gd name="connsiteX4" fmla="*/ 1336122 w 3681350"/>
              <a:gd name="connsiteY4" fmla="*/ 1790382 h 1791207"/>
              <a:gd name="connsiteX5" fmla="*/ 1733797 w 3681350"/>
              <a:gd name="connsiteY5" fmla="*/ 1327690 h 1791207"/>
              <a:gd name="connsiteX6" fmla="*/ 1805049 w 3681350"/>
              <a:gd name="connsiteY6" fmla="*/ 971430 h 1791207"/>
              <a:gd name="connsiteX7" fmla="*/ 1911927 w 3681350"/>
              <a:gd name="connsiteY7" fmla="*/ 555794 h 1791207"/>
              <a:gd name="connsiteX8" fmla="*/ 1983179 w 3681350"/>
              <a:gd name="connsiteY8" fmla="*/ 401415 h 1791207"/>
              <a:gd name="connsiteX9" fmla="*/ 2066306 w 3681350"/>
              <a:gd name="connsiteY9" fmla="*/ 187659 h 1791207"/>
              <a:gd name="connsiteX10" fmla="*/ 2149433 w 3681350"/>
              <a:gd name="connsiteY10" fmla="*/ 92656 h 1791207"/>
              <a:gd name="connsiteX11" fmla="*/ 2244436 w 3681350"/>
              <a:gd name="connsiteY11" fmla="*/ 21404 h 1791207"/>
              <a:gd name="connsiteX12" fmla="*/ 2375065 w 3681350"/>
              <a:gd name="connsiteY12" fmla="*/ 21404 h 1791207"/>
              <a:gd name="connsiteX13" fmla="*/ 2576945 w 3681350"/>
              <a:gd name="connsiteY13" fmla="*/ 270786 h 1791207"/>
              <a:gd name="connsiteX14" fmla="*/ 2719449 w 3681350"/>
              <a:gd name="connsiteY14" fmla="*/ 1066433 h 1791207"/>
              <a:gd name="connsiteX15" fmla="*/ 2909454 w 3681350"/>
              <a:gd name="connsiteY15" fmla="*/ 1517695 h 1791207"/>
              <a:gd name="connsiteX16" fmla="*/ 3384467 w 3681350"/>
              <a:gd name="connsiteY16" fmla="*/ 1315815 h 1791207"/>
              <a:gd name="connsiteX17" fmla="*/ 3681350 w 3681350"/>
              <a:gd name="connsiteY17" fmla="*/ 508293 h 1791207"/>
              <a:gd name="connsiteX0" fmla="*/ 0 w 3681350"/>
              <a:gd name="connsiteY0" fmla="*/ 757675 h 1791207"/>
              <a:gd name="connsiteX1" fmla="*/ 356259 w 3681350"/>
              <a:gd name="connsiteY1" fmla="*/ 401415 h 1791207"/>
              <a:gd name="connsiteX2" fmla="*/ 688768 w 3681350"/>
              <a:gd name="connsiteY2" fmla="*/ 698298 h 1791207"/>
              <a:gd name="connsiteX3" fmla="*/ 890649 w 3681350"/>
              <a:gd name="connsiteY3" fmla="*/ 1339565 h 1791207"/>
              <a:gd name="connsiteX4" fmla="*/ 1278972 w 3681350"/>
              <a:gd name="connsiteY4" fmla="*/ 1790382 h 1791207"/>
              <a:gd name="connsiteX5" fmla="*/ 1733797 w 3681350"/>
              <a:gd name="connsiteY5" fmla="*/ 1327690 h 1791207"/>
              <a:gd name="connsiteX6" fmla="*/ 1805049 w 3681350"/>
              <a:gd name="connsiteY6" fmla="*/ 971430 h 1791207"/>
              <a:gd name="connsiteX7" fmla="*/ 1911927 w 3681350"/>
              <a:gd name="connsiteY7" fmla="*/ 555794 h 1791207"/>
              <a:gd name="connsiteX8" fmla="*/ 1983179 w 3681350"/>
              <a:gd name="connsiteY8" fmla="*/ 401415 h 1791207"/>
              <a:gd name="connsiteX9" fmla="*/ 2066306 w 3681350"/>
              <a:gd name="connsiteY9" fmla="*/ 187659 h 1791207"/>
              <a:gd name="connsiteX10" fmla="*/ 2149433 w 3681350"/>
              <a:gd name="connsiteY10" fmla="*/ 92656 h 1791207"/>
              <a:gd name="connsiteX11" fmla="*/ 2244436 w 3681350"/>
              <a:gd name="connsiteY11" fmla="*/ 21404 h 1791207"/>
              <a:gd name="connsiteX12" fmla="*/ 2375065 w 3681350"/>
              <a:gd name="connsiteY12" fmla="*/ 21404 h 1791207"/>
              <a:gd name="connsiteX13" fmla="*/ 2576945 w 3681350"/>
              <a:gd name="connsiteY13" fmla="*/ 270786 h 1791207"/>
              <a:gd name="connsiteX14" fmla="*/ 2719449 w 3681350"/>
              <a:gd name="connsiteY14" fmla="*/ 1066433 h 1791207"/>
              <a:gd name="connsiteX15" fmla="*/ 2909454 w 3681350"/>
              <a:gd name="connsiteY15" fmla="*/ 1517695 h 1791207"/>
              <a:gd name="connsiteX16" fmla="*/ 3384467 w 3681350"/>
              <a:gd name="connsiteY16" fmla="*/ 1315815 h 1791207"/>
              <a:gd name="connsiteX17" fmla="*/ 3681350 w 3681350"/>
              <a:gd name="connsiteY17" fmla="*/ 508293 h 1791207"/>
              <a:gd name="connsiteX0" fmla="*/ 0 w 3681350"/>
              <a:gd name="connsiteY0" fmla="*/ 757675 h 1791207"/>
              <a:gd name="connsiteX1" fmla="*/ 356259 w 3681350"/>
              <a:gd name="connsiteY1" fmla="*/ 401415 h 1791207"/>
              <a:gd name="connsiteX2" fmla="*/ 688768 w 3681350"/>
              <a:gd name="connsiteY2" fmla="*/ 698298 h 1791207"/>
              <a:gd name="connsiteX3" fmla="*/ 890649 w 3681350"/>
              <a:gd name="connsiteY3" fmla="*/ 1339565 h 1791207"/>
              <a:gd name="connsiteX4" fmla="*/ 1278972 w 3681350"/>
              <a:gd name="connsiteY4" fmla="*/ 1790382 h 1791207"/>
              <a:gd name="connsiteX5" fmla="*/ 1733797 w 3681350"/>
              <a:gd name="connsiteY5" fmla="*/ 1327690 h 1791207"/>
              <a:gd name="connsiteX6" fmla="*/ 1805049 w 3681350"/>
              <a:gd name="connsiteY6" fmla="*/ 971430 h 1791207"/>
              <a:gd name="connsiteX7" fmla="*/ 1911927 w 3681350"/>
              <a:gd name="connsiteY7" fmla="*/ 555794 h 1791207"/>
              <a:gd name="connsiteX8" fmla="*/ 1983179 w 3681350"/>
              <a:gd name="connsiteY8" fmla="*/ 401415 h 1791207"/>
              <a:gd name="connsiteX9" fmla="*/ 2066306 w 3681350"/>
              <a:gd name="connsiteY9" fmla="*/ 187659 h 1791207"/>
              <a:gd name="connsiteX10" fmla="*/ 2149433 w 3681350"/>
              <a:gd name="connsiteY10" fmla="*/ 92656 h 1791207"/>
              <a:gd name="connsiteX11" fmla="*/ 2244436 w 3681350"/>
              <a:gd name="connsiteY11" fmla="*/ 21404 h 1791207"/>
              <a:gd name="connsiteX12" fmla="*/ 2375065 w 3681350"/>
              <a:gd name="connsiteY12" fmla="*/ 21404 h 1791207"/>
              <a:gd name="connsiteX13" fmla="*/ 2576945 w 3681350"/>
              <a:gd name="connsiteY13" fmla="*/ 270786 h 1791207"/>
              <a:gd name="connsiteX14" fmla="*/ 2719449 w 3681350"/>
              <a:gd name="connsiteY14" fmla="*/ 1066433 h 1791207"/>
              <a:gd name="connsiteX15" fmla="*/ 2909454 w 3681350"/>
              <a:gd name="connsiteY15" fmla="*/ 1517695 h 1791207"/>
              <a:gd name="connsiteX16" fmla="*/ 3384467 w 3681350"/>
              <a:gd name="connsiteY16" fmla="*/ 1315815 h 1791207"/>
              <a:gd name="connsiteX17" fmla="*/ 3681350 w 3681350"/>
              <a:gd name="connsiteY17" fmla="*/ 508293 h 1791207"/>
              <a:gd name="connsiteX0" fmla="*/ 0 w 3681350"/>
              <a:gd name="connsiteY0" fmla="*/ 757675 h 1790382"/>
              <a:gd name="connsiteX1" fmla="*/ 356259 w 3681350"/>
              <a:gd name="connsiteY1" fmla="*/ 401415 h 1790382"/>
              <a:gd name="connsiteX2" fmla="*/ 688768 w 3681350"/>
              <a:gd name="connsiteY2" fmla="*/ 698298 h 1790382"/>
              <a:gd name="connsiteX3" fmla="*/ 890649 w 3681350"/>
              <a:gd name="connsiteY3" fmla="*/ 1339565 h 1790382"/>
              <a:gd name="connsiteX4" fmla="*/ 1278972 w 3681350"/>
              <a:gd name="connsiteY4" fmla="*/ 1790382 h 1790382"/>
              <a:gd name="connsiteX5" fmla="*/ 1733797 w 3681350"/>
              <a:gd name="connsiteY5" fmla="*/ 1327690 h 1790382"/>
              <a:gd name="connsiteX6" fmla="*/ 1805049 w 3681350"/>
              <a:gd name="connsiteY6" fmla="*/ 971430 h 1790382"/>
              <a:gd name="connsiteX7" fmla="*/ 1911927 w 3681350"/>
              <a:gd name="connsiteY7" fmla="*/ 555794 h 1790382"/>
              <a:gd name="connsiteX8" fmla="*/ 1983179 w 3681350"/>
              <a:gd name="connsiteY8" fmla="*/ 401415 h 1790382"/>
              <a:gd name="connsiteX9" fmla="*/ 2066306 w 3681350"/>
              <a:gd name="connsiteY9" fmla="*/ 187659 h 1790382"/>
              <a:gd name="connsiteX10" fmla="*/ 2149433 w 3681350"/>
              <a:gd name="connsiteY10" fmla="*/ 92656 h 1790382"/>
              <a:gd name="connsiteX11" fmla="*/ 2244436 w 3681350"/>
              <a:gd name="connsiteY11" fmla="*/ 21404 h 1790382"/>
              <a:gd name="connsiteX12" fmla="*/ 2375065 w 3681350"/>
              <a:gd name="connsiteY12" fmla="*/ 21404 h 1790382"/>
              <a:gd name="connsiteX13" fmla="*/ 2576945 w 3681350"/>
              <a:gd name="connsiteY13" fmla="*/ 270786 h 1790382"/>
              <a:gd name="connsiteX14" fmla="*/ 2719449 w 3681350"/>
              <a:gd name="connsiteY14" fmla="*/ 1066433 h 1790382"/>
              <a:gd name="connsiteX15" fmla="*/ 2909454 w 3681350"/>
              <a:gd name="connsiteY15" fmla="*/ 1517695 h 1790382"/>
              <a:gd name="connsiteX16" fmla="*/ 3384467 w 3681350"/>
              <a:gd name="connsiteY16" fmla="*/ 1315815 h 1790382"/>
              <a:gd name="connsiteX17" fmla="*/ 3681350 w 3681350"/>
              <a:gd name="connsiteY17" fmla="*/ 508293 h 1790382"/>
              <a:gd name="connsiteX0" fmla="*/ 0 w 3681350"/>
              <a:gd name="connsiteY0" fmla="*/ 757675 h 1790382"/>
              <a:gd name="connsiteX1" fmla="*/ 356259 w 3681350"/>
              <a:gd name="connsiteY1" fmla="*/ 401415 h 1790382"/>
              <a:gd name="connsiteX2" fmla="*/ 688768 w 3681350"/>
              <a:gd name="connsiteY2" fmla="*/ 698298 h 1790382"/>
              <a:gd name="connsiteX3" fmla="*/ 890649 w 3681350"/>
              <a:gd name="connsiteY3" fmla="*/ 1339565 h 1790382"/>
              <a:gd name="connsiteX4" fmla="*/ 1278972 w 3681350"/>
              <a:gd name="connsiteY4" fmla="*/ 1790382 h 1790382"/>
              <a:gd name="connsiteX5" fmla="*/ 1733797 w 3681350"/>
              <a:gd name="connsiteY5" fmla="*/ 1327690 h 1790382"/>
              <a:gd name="connsiteX6" fmla="*/ 1805049 w 3681350"/>
              <a:gd name="connsiteY6" fmla="*/ 971430 h 1790382"/>
              <a:gd name="connsiteX7" fmla="*/ 1911927 w 3681350"/>
              <a:gd name="connsiteY7" fmla="*/ 555794 h 1790382"/>
              <a:gd name="connsiteX8" fmla="*/ 2066306 w 3681350"/>
              <a:gd name="connsiteY8" fmla="*/ 187659 h 1790382"/>
              <a:gd name="connsiteX9" fmla="*/ 2149433 w 3681350"/>
              <a:gd name="connsiteY9" fmla="*/ 92656 h 1790382"/>
              <a:gd name="connsiteX10" fmla="*/ 2244436 w 3681350"/>
              <a:gd name="connsiteY10" fmla="*/ 21404 h 1790382"/>
              <a:gd name="connsiteX11" fmla="*/ 2375065 w 3681350"/>
              <a:gd name="connsiteY11" fmla="*/ 21404 h 1790382"/>
              <a:gd name="connsiteX12" fmla="*/ 2576945 w 3681350"/>
              <a:gd name="connsiteY12" fmla="*/ 270786 h 1790382"/>
              <a:gd name="connsiteX13" fmla="*/ 2719449 w 3681350"/>
              <a:gd name="connsiteY13" fmla="*/ 1066433 h 1790382"/>
              <a:gd name="connsiteX14" fmla="*/ 2909454 w 3681350"/>
              <a:gd name="connsiteY14" fmla="*/ 1517695 h 1790382"/>
              <a:gd name="connsiteX15" fmla="*/ 3384467 w 3681350"/>
              <a:gd name="connsiteY15" fmla="*/ 1315815 h 1790382"/>
              <a:gd name="connsiteX16" fmla="*/ 3681350 w 3681350"/>
              <a:gd name="connsiteY16" fmla="*/ 508293 h 1790382"/>
              <a:gd name="connsiteX0" fmla="*/ 0 w 3681350"/>
              <a:gd name="connsiteY0" fmla="*/ 757675 h 1790382"/>
              <a:gd name="connsiteX1" fmla="*/ 356259 w 3681350"/>
              <a:gd name="connsiteY1" fmla="*/ 401415 h 1790382"/>
              <a:gd name="connsiteX2" fmla="*/ 688768 w 3681350"/>
              <a:gd name="connsiteY2" fmla="*/ 698298 h 1790382"/>
              <a:gd name="connsiteX3" fmla="*/ 890649 w 3681350"/>
              <a:gd name="connsiteY3" fmla="*/ 1339565 h 1790382"/>
              <a:gd name="connsiteX4" fmla="*/ 1278972 w 3681350"/>
              <a:gd name="connsiteY4" fmla="*/ 1790382 h 1790382"/>
              <a:gd name="connsiteX5" fmla="*/ 1733797 w 3681350"/>
              <a:gd name="connsiteY5" fmla="*/ 1327690 h 1790382"/>
              <a:gd name="connsiteX6" fmla="*/ 1805049 w 3681350"/>
              <a:gd name="connsiteY6" fmla="*/ 971430 h 1790382"/>
              <a:gd name="connsiteX7" fmla="*/ 2066306 w 3681350"/>
              <a:gd name="connsiteY7" fmla="*/ 187659 h 1790382"/>
              <a:gd name="connsiteX8" fmla="*/ 2149433 w 3681350"/>
              <a:gd name="connsiteY8" fmla="*/ 92656 h 1790382"/>
              <a:gd name="connsiteX9" fmla="*/ 2244436 w 3681350"/>
              <a:gd name="connsiteY9" fmla="*/ 21404 h 1790382"/>
              <a:gd name="connsiteX10" fmla="*/ 2375065 w 3681350"/>
              <a:gd name="connsiteY10" fmla="*/ 21404 h 1790382"/>
              <a:gd name="connsiteX11" fmla="*/ 2576945 w 3681350"/>
              <a:gd name="connsiteY11" fmla="*/ 270786 h 1790382"/>
              <a:gd name="connsiteX12" fmla="*/ 2719449 w 3681350"/>
              <a:gd name="connsiteY12" fmla="*/ 1066433 h 1790382"/>
              <a:gd name="connsiteX13" fmla="*/ 2909454 w 3681350"/>
              <a:gd name="connsiteY13" fmla="*/ 1517695 h 1790382"/>
              <a:gd name="connsiteX14" fmla="*/ 3384467 w 3681350"/>
              <a:gd name="connsiteY14" fmla="*/ 1315815 h 1790382"/>
              <a:gd name="connsiteX15" fmla="*/ 3681350 w 3681350"/>
              <a:gd name="connsiteY15" fmla="*/ 508293 h 1790382"/>
              <a:gd name="connsiteX0" fmla="*/ 0 w 3681350"/>
              <a:gd name="connsiteY0" fmla="*/ 757675 h 1790382"/>
              <a:gd name="connsiteX1" fmla="*/ 356259 w 3681350"/>
              <a:gd name="connsiteY1" fmla="*/ 401415 h 1790382"/>
              <a:gd name="connsiteX2" fmla="*/ 688768 w 3681350"/>
              <a:gd name="connsiteY2" fmla="*/ 698298 h 1790382"/>
              <a:gd name="connsiteX3" fmla="*/ 890649 w 3681350"/>
              <a:gd name="connsiteY3" fmla="*/ 1339565 h 1790382"/>
              <a:gd name="connsiteX4" fmla="*/ 1278972 w 3681350"/>
              <a:gd name="connsiteY4" fmla="*/ 1790382 h 1790382"/>
              <a:gd name="connsiteX5" fmla="*/ 1733797 w 3681350"/>
              <a:gd name="connsiteY5" fmla="*/ 1327690 h 1790382"/>
              <a:gd name="connsiteX6" fmla="*/ 1873629 w 3681350"/>
              <a:gd name="connsiteY6" fmla="*/ 834270 h 1790382"/>
              <a:gd name="connsiteX7" fmla="*/ 2066306 w 3681350"/>
              <a:gd name="connsiteY7" fmla="*/ 187659 h 1790382"/>
              <a:gd name="connsiteX8" fmla="*/ 2149433 w 3681350"/>
              <a:gd name="connsiteY8" fmla="*/ 92656 h 1790382"/>
              <a:gd name="connsiteX9" fmla="*/ 2244436 w 3681350"/>
              <a:gd name="connsiteY9" fmla="*/ 21404 h 1790382"/>
              <a:gd name="connsiteX10" fmla="*/ 2375065 w 3681350"/>
              <a:gd name="connsiteY10" fmla="*/ 21404 h 1790382"/>
              <a:gd name="connsiteX11" fmla="*/ 2576945 w 3681350"/>
              <a:gd name="connsiteY11" fmla="*/ 270786 h 1790382"/>
              <a:gd name="connsiteX12" fmla="*/ 2719449 w 3681350"/>
              <a:gd name="connsiteY12" fmla="*/ 1066433 h 1790382"/>
              <a:gd name="connsiteX13" fmla="*/ 2909454 w 3681350"/>
              <a:gd name="connsiteY13" fmla="*/ 1517695 h 1790382"/>
              <a:gd name="connsiteX14" fmla="*/ 3384467 w 3681350"/>
              <a:gd name="connsiteY14" fmla="*/ 1315815 h 1790382"/>
              <a:gd name="connsiteX15" fmla="*/ 3681350 w 3681350"/>
              <a:gd name="connsiteY15" fmla="*/ 508293 h 1790382"/>
              <a:gd name="connsiteX0" fmla="*/ 0 w 3681350"/>
              <a:gd name="connsiteY0" fmla="*/ 757675 h 1790382"/>
              <a:gd name="connsiteX1" fmla="*/ 356259 w 3681350"/>
              <a:gd name="connsiteY1" fmla="*/ 401415 h 1790382"/>
              <a:gd name="connsiteX2" fmla="*/ 688768 w 3681350"/>
              <a:gd name="connsiteY2" fmla="*/ 698298 h 1790382"/>
              <a:gd name="connsiteX3" fmla="*/ 890649 w 3681350"/>
              <a:gd name="connsiteY3" fmla="*/ 1339565 h 1790382"/>
              <a:gd name="connsiteX4" fmla="*/ 1278972 w 3681350"/>
              <a:gd name="connsiteY4" fmla="*/ 1790382 h 1790382"/>
              <a:gd name="connsiteX5" fmla="*/ 1733797 w 3681350"/>
              <a:gd name="connsiteY5" fmla="*/ 1327690 h 1790382"/>
              <a:gd name="connsiteX6" fmla="*/ 2066306 w 3681350"/>
              <a:gd name="connsiteY6" fmla="*/ 187659 h 1790382"/>
              <a:gd name="connsiteX7" fmla="*/ 2149433 w 3681350"/>
              <a:gd name="connsiteY7" fmla="*/ 92656 h 1790382"/>
              <a:gd name="connsiteX8" fmla="*/ 2244436 w 3681350"/>
              <a:gd name="connsiteY8" fmla="*/ 21404 h 1790382"/>
              <a:gd name="connsiteX9" fmla="*/ 2375065 w 3681350"/>
              <a:gd name="connsiteY9" fmla="*/ 21404 h 1790382"/>
              <a:gd name="connsiteX10" fmla="*/ 2576945 w 3681350"/>
              <a:gd name="connsiteY10" fmla="*/ 270786 h 1790382"/>
              <a:gd name="connsiteX11" fmla="*/ 2719449 w 3681350"/>
              <a:gd name="connsiteY11" fmla="*/ 1066433 h 1790382"/>
              <a:gd name="connsiteX12" fmla="*/ 2909454 w 3681350"/>
              <a:gd name="connsiteY12" fmla="*/ 1517695 h 1790382"/>
              <a:gd name="connsiteX13" fmla="*/ 3384467 w 3681350"/>
              <a:gd name="connsiteY13" fmla="*/ 1315815 h 1790382"/>
              <a:gd name="connsiteX14" fmla="*/ 3681350 w 3681350"/>
              <a:gd name="connsiteY14" fmla="*/ 508293 h 1790382"/>
              <a:gd name="connsiteX0" fmla="*/ 0 w 3681350"/>
              <a:gd name="connsiteY0" fmla="*/ 762503 h 1795210"/>
              <a:gd name="connsiteX1" fmla="*/ 356259 w 3681350"/>
              <a:gd name="connsiteY1" fmla="*/ 406243 h 1795210"/>
              <a:gd name="connsiteX2" fmla="*/ 688768 w 3681350"/>
              <a:gd name="connsiteY2" fmla="*/ 703126 h 1795210"/>
              <a:gd name="connsiteX3" fmla="*/ 890649 w 3681350"/>
              <a:gd name="connsiteY3" fmla="*/ 1344393 h 1795210"/>
              <a:gd name="connsiteX4" fmla="*/ 1278972 w 3681350"/>
              <a:gd name="connsiteY4" fmla="*/ 1795210 h 1795210"/>
              <a:gd name="connsiteX5" fmla="*/ 1733797 w 3681350"/>
              <a:gd name="connsiteY5" fmla="*/ 1332518 h 1795210"/>
              <a:gd name="connsiteX6" fmla="*/ 2066306 w 3681350"/>
              <a:gd name="connsiteY6" fmla="*/ 192487 h 1795210"/>
              <a:gd name="connsiteX7" fmla="*/ 2244436 w 3681350"/>
              <a:gd name="connsiteY7" fmla="*/ 26232 h 1795210"/>
              <a:gd name="connsiteX8" fmla="*/ 2375065 w 3681350"/>
              <a:gd name="connsiteY8" fmla="*/ 26232 h 1795210"/>
              <a:gd name="connsiteX9" fmla="*/ 2576945 w 3681350"/>
              <a:gd name="connsiteY9" fmla="*/ 275614 h 1795210"/>
              <a:gd name="connsiteX10" fmla="*/ 2719449 w 3681350"/>
              <a:gd name="connsiteY10" fmla="*/ 1071261 h 1795210"/>
              <a:gd name="connsiteX11" fmla="*/ 2909454 w 3681350"/>
              <a:gd name="connsiteY11" fmla="*/ 1522523 h 1795210"/>
              <a:gd name="connsiteX12" fmla="*/ 3384467 w 3681350"/>
              <a:gd name="connsiteY12" fmla="*/ 1320643 h 1795210"/>
              <a:gd name="connsiteX13" fmla="*/ 3681350 w 3681350"/>
              <a:gd name="connsiteY13" fmla="*/ 513121 h 1795210"/>
              <a:gd name="connsiteX0" fmla="*/ 0 w 3681350"/>
              <a:gd name="connsiteY0" fmla="*/ 842948 h 1875655"/>
              <a:gd name="connsiteX1" fmla="*/ 356259 w 3681350"/>
              <a:gd name="connsiteY1" fmla="*/ 486688 h 1875655"/>
              <a:gd name="connsiteX2" fmla="*/ 688768 w 3681350"/>
              <a:gd name="connsiteY2" fmla="*/ 783571 h 1875655"/>
              <a:gd name="connsiteX3" fmla="*/ 890649 w 3681350"/>
              <a:gd name="connsiteY3" fmla="*/ 1424838 h 1875655"/>
              <a:gd name="connsiteX4" fmla="*/ 1278972 w 3681350"/>
              <a:gd name="connsiteY4" fmla="*/ 1875655 h 1875655"/>
              <a:gd name="connsiteX5" fmla="*/ 1733797 w 3681350"/>
              <a:gd name="connsiteY5" fmla="*/ 1412963 h 1875655"/>
              <a:gd name="connsiteX6" fmla="*/ 2244436 w 3681350"/>
              <a:gd name="connsiteY6" fmla="*/ 106677 h 1875655"/>
              <a:gd name="connsiteX7" fmla="*/ 2375065 w 3681350"/>
              <a:gd name="connsiteY7" fmla="*/ 106677 h 1875655"/>
              <a:gd name="connsiteX8" fmla="*/ 2576945 w 3681350"/>
              <a:gd name="connsiteY8" fmla="*/ 356059 h 1875655"/>
              <a:gd name="connsiteX9" fmla="*/ 2719449 w 3681350"/>
              <a:gd name="connsiteY9" fmla="*/ 1151706 h 1875655"/>
              <a:gd name="connsiteX10" fmla="*/ 2909454 w 3681350"/>
              <a:gd name="connsiteY10" fmla="*/ 1602968 h 1875655"/>
              <a:gd name="connsiteX11" fmla="*/ 3384467 w 3681350"/>
              <a:gd name="connsiteY11" fmla="*/ 1401088 h 1875655"/>
              <a:gd name="connsiteX12" fmla="*/ 3681350 w 3681350"/>
              <a:gd name="connsiteY12" fmla="*/ 593566 h 1875655"/>
              <a:gd name="connsiteX0" fmla="*/ 0 w 3681350"/>
              <a:gd name="connsiteY0" fmla="*/ 796203 h 1828910"/>
              <a:gd name="connsiteX1" fmla="*/ 356259 w 3681350"/>
              <a:gd name="connsiteY1" fmla="*/ 439943 h 1828910"/>
              <a:gd name="connsiteX2" fmla="*/ 688768 w 3681350"/>
              <a:gd name="connsiteY2" fmla="*/ 736826 h 1828910"/>
              <a:gd name="connsiteX3" fmla="*/ 890649 w 3681350"/>
              <a:gd name="connsiteY3" fmla="*/ 1378093 h 1828910"/>
              <a:gd name="connsiteX4" fmla="*/ 1278972 w 3681350"/>
              <a:gd name="connsiteY4" fmla="*/ 1828910 h 1828910"/>
              <a:gd name="connsiteX5" fmla="*/ 1733797 w 3681350"/>
              <a:gd name="connsiteY5" fmla="*/ 1366218 h 1828910"/>
              <a:gd name="connsiteX6" fmla="*/ 2375065 w 3681350"/>
              <a:gd name="connsiteY6" fmla="*/ 59932 h 1828910"/>
              <a:gd name="connsiteX7" fmla="*/ 2576945 w 3681350"/>
              <a:gd name="connsiteY7" fmla="*/ 309314 h 1828910"/>
              <a:gd name="connsiteX8" fmla="*/ 2719449 w 3681350"/>
              <a:gd name="connsiteY8" fmla="*/ 1104961 h 1828910"/>
              <a:gd name="connsiteX9" fmla="*/ 2909454 w 3681350"/>
              <a:gd name="connsiteY9" fmla="*/ 1556223 h 1828910"/>
              <a:gd name="connsiteX10" fmla="*/ 3384467 w 3681350"/>
              <a:gd name="connsiteY10" fmla="*/ 1354343 h 1828910"/>
              <a:gd name="connsiteX11" fmla="*/ 3681350 w 3681350"/>
              <a:gd name="connsiteY11" fmla="*/ 546821 h 1828910"/>
              <a:gd name="connsiteX0" fmla="*/ 0 w 3681350"/>
              <a:gd name="connsiteY0" fmla="*/ 772905 h 1805612"/>
              <a:gd name="connsiteX1" fmla="*/ 356259 w 3681350"/>
              <a:gd name="connsiteY1" fmla="*/ 416645 h 1805612"/>
              <a:gd name="connsiteX2" fmla="*/ 688768 w 3681350"/>
              <a:gd name="connsiteY2" fmla="*/ 713528 h 1805612"/>
              <a:gd name="connsiteX3" fmla="*/ 890649 w 3681350"/>
              <a:gd name="connsiteY3" fmla="*/ 1354795 h 1805612"/>
              <a:gd name="connsiteX4" fmla="*/ 1278972 w 3681350"/>
              <a:gd name="connsiteY4" fmla="*/ 1805612 h 1805612"/>
              <a:gd name="connsiteX5" fmla="*/ 1733797 w 3681350"/>
              <a:gd name="connsiteY5" fmla="*/ 1342920 h 1805612"/>
              <a:gd name="connsiteX6" fmla="*/ 2375065 w 3681350"/>
              <a:gd name="connsiteY6" fmla="*/ 36634 h 1805612"/>
              <a:gd name="connsiteX7" fmla="*/ 2576945 w 3681350"/>
              <a:gd name="connsiteY7" fmla="*/ 286016 h 1805612"/>
              <a:gd name="connsiteX8" fmla="*/ 2719449 w 3681350"/>
              <a:gd name="connsiteY8" fmla="*/ 1081663 h 1805612"/>
              <a:gd name="connsiteX9" fmla="*/ 2909454 w 3681350"/>
              <a:gd name="connsiteY9" fmla="*/ 1532925 h 1805612"/>
              <a:gd name="connsiteX10" fmla="*/ 3384467 w 3681350"/>
              <a:gd name="connsiteY10" fmla="*/ 1331045 h 1805612"/>
              <a:gd name="connsiteX11" fmla="*/ 3681350 w 3681350"/>
              <a:gd name="connsiteY11" fmla="*/ 523523 h 1805612"/>
              <a:gd name="connsiteX0" fmla="*/ 0 w 3681350"/>
              <a:gd name="connsiteY0" fmla="*/ 736509 h 1769216"/>
              <a:gd name="connsiteX1" fmla="*/ 356259 w 3681350"/>
              <a:gd name="connsiteY1" fmla="*/ 380249 h 1769216"/>
              <a:gd name="connsiteX2" fmla="*/ 688768 w 3681350"/>
              <a:gd name="connsiteY2" fmla="*/ 677132 h 1769216"/>
              <a:gd name="connsiteX3" fmla="*/ 890649 w 3681350"/>
              <a:gd name="connsiteY3" fmla="*/ 1318399 h 1769216"/>
              <a:gd name="connsiteX4" fmla="*/ 1278972 w 3681350"/>
              <a:gd name="connsiteY4" fmla="*/ 1769216 h 1769216"/>
              <a:gd name="connsiteX5" fmla="*/ 1733797 w 3681350"/>
              <a:gd name="connsiteY5" fmla="*/ 1306524 h 1769216"/>
              <a:gd name="connsiteX6" fmla="*/ 2375065 w 3681350"/>
              <a:gd name="connsiteY6" fmla="*/ 238 h 1769216"/>
              <a:gd name="connsiteX7" fmla="*/ 2576945 w 3681350"/>
              <a:gd name="connsiteY7" fmla="*/ 249620 h 1769216"/>
              <a:gd name="connsiteX8" fmla="*/ 2719449 w 3681350"/>
              <a:gd name="connsiteY8" fmla="*/ 1045267 h 1769216"/>
              <a:gd name="connsiteX9" fmla="*/ 2909454 w 3681350"/>
              <a:gd name="connsiteY9" fmla="*/ 1496529 h 1769216"/>
              <a:gd name="connsiteX10" fmla="*/ 3384467 w 3681350"/>
              <a:gd name="connsiteY10" fmla="*/ 1294649 h 1769216"/>
              <a:gd name="connsiteX11" fmla="*/ 3681350 w 3681350"/>
              <a:gd name="connsiteY11" fmla="*/ 487127 h 1769216"/>
              <a:gd name="connsiteX0" fmla="*/ 0 w 3681350"/>
              <a:gd name="connsiteY0" fmla="*/ 737904 h 1770611"/>
              <a:gd name="connsiteX1" fmla="*/ 356259 w 3681350"/>
              <a:gd name="connsiteY1" fmla="*/ 381644 h 1770611"/>
              <a:gd name="connsiteX2" fmla="*/ 688768 w 3681350"/>
              <a:gd name="connsiteY2" fmla="*/ 678527 h 1770611"/>
              <a:gd name="connsiteX3" fmla="*/ 890649 w 3681350"/>
              <a:gd name="connsiteY3" fmla="*/ 1319794 h 1770611"/>
              <a:gd name="connsiteX4" fmla="*/ 1278972 w 3681350"/>
              <a:gd name="connsiteY4" fmla="*/ 1770611 h 1770611"/>
              <a:gd name="connsiteX5" fmla="*/ 1733797 w 3681350"/>
              <a:gd name="connsiteY5" fmla="*/ 1307919 h 1770611"/>
              <a:gd name="connsiteX6" fmla="*/ 2375065 w 3681350"/>
              <a:gd name="connsiteY6" fmla="*/ 1633 h 1770611"/>
              <a:gd name="connsiteX7" fmla="*/ 2719449 w 3681350"/>
              <a:gd name="connsiteY7" fmla="*/ 1046662 h 1770611"/>
              <a:gd name="connsiteX8" fmla="*/ 2909454 w 3681350"/>
              <a:gd name="connsiteY8" fmla="*/ 1497924 h 1770611"/>
              <a:gd name="connsiteX9" fmla="*/ 3384467 w 3681350"/>
              <a:gd name="connsiteY9" fmla="*/ 1296044 h 1770611"/>
              <a:gd name="connsiteX10" fmla="*/ 3681350 w 3681350"/>
              <a:gd name="connsiteY10" fmla="*/ 488522 h 1770611"/>
              <a:gd name="connsiteX0" fmla="*/ 0 w 3681350"/>
              <a:gd name="connsiteY0" fmla="*/ 737908 h 1770615"/>
              <a:gd name="connsiteX1" fmla="*/ 356259 w 3681350"/>
              <a:gd name="connsiteY1" fmla="*/ 381648 h 1770615"/>
              <a:gd name="connsiteX2" fmla="*/ 688768 w 3681350"/>
              <a:gd name="connsiteY2" fmla="*/ 678531 h 1770615"/>
              <a:gd name="connsiteX3" fmla="*/ 890649 w 3681350"/>
              <a:gd name="connsiteY3" fmla="*/ 1319798 h 1770615"/>
              <a:gd name="connsiteX4" fmla="*/ 1278972 w 3681350"/>
              <a:gd name="connsiteY4" fmla="*/ 1770615 h 1770615"/>
              <a:gd name="connsiteX5" fmla="*/ 1733797 w 3681350"/>
              <a:gd name="connsiteY5" fmla="*/ 1307923 h 1770615"/>
              <a:gd name="connsiteX6" fmla="*/ 2375065 w 3681350"/>
              <a:gd name="connsiteY6" fmla="*/ 1637 h 1770615"/>
              <a:gd name="connsiteX7" fmla="*/ 2719449 w 3681350"/>
              <a:gd name="connsiteY7" fmla="*/ 1046666 h 1770615"/>
              <a:gd name="connsiteX8" fmla="*/ 3000894 w 3681350"/>
              <a:gd name="connsiteY8" fmla="*/ 1509358 h 1770615"/>
              <a:gd name="connsiteX9" fmla="*/ 3384467 w 3681350"/>
              <a:gd name="connsiteY9" fmla="*/ 1296048 h 1770615"/>
              <a:gd name="connsiteX10" fmla="*/ 3681350 w 3681350"/>
              <a:gd name="connsiteY10" fmla="*/ 488526 h 1770615"/>
              <a:gd name="connsiteX0" fmla="*/ 0 w 3681350"/>
              <a:gd name="connsiteY0" fmla="*/ 737908 h 1770615"/>
              <a:gd name="connsiteX1" fmla="*/ 356259 w 3681350"/>
              <a:gd name="connsiteY1" fmla="*/ 381648 h 1770615"/>
              <a:gd name="connsiteX2" fmla="*/ 688768 w 3681350"/>
              <a:gd name="connsiteY2" fmla="*/ 678531 h 1770615"/>
              <a:gd name="connsiteX3" fmla="*/ 890649 w 3681350"/>
              <a:gd name="connsiteY3" fmla="*/ 1319798 h 1770615"/>
              <a:gd name="connsiteX4" fmla="*/ 1278972 w 3681350"/>
              <a:gd name="connsiteY4" fmla="*/ 1770615 h 1770615"/>
              <a:gd name="connsiteX5" fmla="*/ 1733797 w 3681350"/>
              <a:gd name="connsiteY5" fmla="*/ 1307923 h 1770615"/>
              <a:gd name="connsiteX6" fmla="*/ 2375065 w 3681350"/>
              <a:gd name="connsiteY6" fmla="*/ 1637 h 1770615"/>
              <a:gd name="connsiteX7" fmla="*/ 2719449 w 3681350"/>
              <a:gd name="connsiteY7" fmla="*/ 1046666 h 1770615"/>
              <a:gd name="connsiteX8" fmla="*/ 3000894 w 3681350"/>
              <a:gd name="connsiteY8" fmla="*/ 1509358 h 1770615"/>
              <a:gd name="connsiteX9" fmla="*/ 3384467 w 3681350"/>
              <a:gd name="connsiteY9" fmla="*/ 1296048 h 1770615"/>
              <a:gd name="connsiteX10" fmla="*/ 3681350 w 3681350"/>
              <a:gd name="connsiteY10" fmla="*/ 488526 h 1770615"/>
              <a:gd name="connsiteX0" fmla="*/ 0 w 3681350"/>
              <a:gd name="connsiteY0" fmla="*/ 746138 h 1778845"/>
              <a:gd name="connsiteX1" fmla="*/ 356259 w 3681350"/>
              <a:gd name="connsiteY1" fmla="*/ 389878 h 1778845"/>
              <a:gd name="connsiteX2" fmla="*/ 688768 w 3681350"/>
              <a:gd name="connsiteY2" fmla="*/ 686761 h 1778845"/>
              <a:gd name="connsiteX3" fmla="*/ 890649 w 3681350"/>
              <a:gd name="connsiteY3" fmla="*/ 1328028 h 1778845"/>
              <a:gd name="connsiteX4" fmla="*/ 1278972 w 3681350"/>
              <a:gd name="connsiteY4" fmla="*/ 1778845 h 1778845"/>
              <a:gd name="connsiteX5" fmla="*/ 1733797 w 3681350"/>
              <a:gd name="connsiteY5" fmla="*/ 1316153 h 1778845"/>
              <a:gd name="connsiteX6" fmla="*/ 2375065 w 3681350"/>
              <a:gd name="connsiteY6" fmla="*/ 9867 h 1778845"/>
              <a:gd name="connsiteX7" fmla="*/ 2662299 w 3681350"/>
              <a:gd name="connsiteY7" fmla="*/ 757716 h 1778845"/>
              <a:gd name="connsiteX8" fmla="*/ 3000894 w 3681350"/>
              <a:gd name="connsiteY8" fmla="*/ 1517588 h 1778845"/>
              <a:gd name="connsiteX9" fmla="*/ 3384467 w 3681350"/>
              <a:gd name="connsiteY9" fmla="*/ 1304278 h 1778845"/>
              <a:gd name="connsiteX10" fmla="*/ 3681350 w 3681350"/>
              <a:gd name="connsiteY10" fmla="*/ 496756 h 1778845"/>
              <a:gd name="connsiteX0" fmla="*/ 0 w 3681350"/>
              <a:gd name="connsiteY0" fmla="*/ 747440 h 1780147"/>
              <a:gd name="connsiteX1" fmla="*/ 356259 w 3681350"/>
              <a:gd name="connsiteY1" fmla="*/ 391180 h 1780147"/>
              <a:gd name="connsiteX2" fmla="*/ 688768 w 3681350"/>
              <a:gd name="connsiteY2" fmla="*/ 688063 h 1780147"/>
              <a:gd name="connsiteX3" fmla="*/ 890649 w 3681350"/>
              <a:gd name="connsiteY3" fmla="*/ 1329330 h 1780147"/>
              <a:gd name="connsiteX4" fmla="*/ 1278972 w 3681350"/>
              <a:gd name="connsiteY4" fmla="*/ 1780147 h 1780147"/>
              <a:gd name="connsiteX5" fmla="*/ 1733797 w 3681350"/>
              <a:gd name="connsiteY5" fmla="*/ 1317455 h 1780147"/>
              <a:gd name="connsiteX6" fmla="*/ 2375065 w 3681350"/>
              <a:gd name="connsiteY6" fmla="*/ 11169 h 1780147"/>
              <a:gd name="connsiteX7" fmla="*/ 2662299 w 3681350"/>
              <a:gd name="connsiteY7" fmla="*/ 759018 h 1780147"/>
              <a:gd name="connsiteX8" fmla="*/ 3000894 w 3681350"/>
              <a:gd name="connsiteY8" fmla="*/ 1518890 h 1780147"/>
              <a:gd name="connsiteX9" fmla="*/ 3384467 w 3681350"/>
              <a:gd name="connsiteY9" fmla="*/ 1305580 h 1780147"/>
              <a:gd name="connsiteX10" fmla="*/ 3681350 w 3681350"/>
              <a:gd name="connsiteY10" fmla="*/ 498058 h 1780147"/>
              <a:gd name="connsiteX0" fmla="*/ 0 w 3681350"/>
              <a:gd name="connsiteY0" fmla="*/ 747440 h 1780147"/>
              <a:gd name="connsiteX1" fmla="*/ 356259 w 3681350"/>
              <a:gd name="connsiteY1" fmla="*/ 391180 h 1780147"/>
              <a:gd name="connsiteX2" fmla="*/ 688768 w 3681350"/>
              <a:gd name="connsiteY2" fmla="*/ 688063 h 1780147"/>
              <a:gd name="connsiteX3" fmla="*/ 890649 w 3681350"/>
              <a:gd name="connsiteY3" fmla="*/ 1329330 h 1780147"/>
              <a:gd name="connsiteX4" fmla="*/ 1278972 w 3681350"/>
              <a:gd name="connsiteY4" fmla="*/ 1780147 h 1780147"/>
              <a:gd name="connsiteX5" fmla="*/ 1733797 w 3681350"/>
              <a:gd name="connsiteY5" fmla="*/ 1317455 h 1780147"/>
              <a:gd name="connsiteX6" fmla="*/ 2375065 w 3681350"/>
              <a:gd name="connsiteY6" fmla="*/ 11169 h 1780147"/>
              <a:gd name="connsiteX7" fmla="*/ 2662299 w 3681350"/>
              <a:gd name="connsiteY7" fmla="*/ 759018 h 1780147"/>
              <a:gd name="connsiteX8" fmla="*/ 3000894 w 3681350"/>
              <a:gd name="connsiteY8" fmla="*/ 1518890 h 1780147"/>
              <a:gd name="connsiteX9" fmla="*/ 3384467 w 3681350"/>
              <a:gd name="connsiteY9" fmla="*/ 1305580 h 1780147"/>
              <a:gd name="connsiteX10" fmla="*/ 3681350 w 3681350"/>
              <a:gd name="connsiteY10" fmla="*/ 498058 h 1780147"/>
              <a:gd name="connsiteX0" fmla="*/ 0 w 3681350"/>
              <a:gd name="connsiteY0" fmla="*/ 745726 h 1778433"/>
              <a:gd name="connsiteX1" fmla="*/ 356259 w 3681350"/>
              <a:gd name="connsiteY1" fmla="*/ 389466 h 1778433"/>
              <a:gd name="connsiteX2" fmla="*/ 688768 w 3681350"/>
              <a:gd name="connsiteY2" fmla="*/ 686349 h 1778433"/>
              <a:gd name="connsiteX3" fmla="*/ 890649 w 3681350"/>
              <a:gd name="connsiteY3" fmla="*/ 1327616 h 1778433"/>
              <a:gd name="connsiteX4" fmla="*/ 1278972 w 3681350"/>
              <a:gd name="connsiteY4" fmla="*/ 1778433 h 1778433"/>
              <a:gd name="connsiteX5" fmla="*/ 1733797 w 3681350"/>
              <a:gd name="connsiteY5" fmla="*/ 1315741 h 1778433"/>
              <a:gd name="connsiteX6" fmla="*/ 2375065 w 3681350"/>
              <a:gd name="connsiteY6" fmla="*/ 9455 h 1778433"/>
              <a:gd name="connsiteX7" fmla="*/ 2708019 w 3681350"/>
              <a:gd name="connsiteY7" fmla="*/ 791594 h 1778433"/>
              <a:gd name="connsiteX8" fmla="*/ 3000894 w 3681350"/>
              <a:gd name="connsiteY8" fmla="*/ 1517176 h 1778433"/>
              <a:gd name="connsiteX9" fmla="*/ 3384467 w 3681350"/>
              <a:gd name="connsiteY9" fmla="*/ 1303866 h 1778433"/>
              <a:gd name="connsiteX10" fmla="*/ 3681350 w 3681350"/>
              <a:gd name="connsiteY10" fmla="*/ 496344 h 1778433"/>
              <a:gd name="connsiteX0" fmla="*/ 0 w 3681350"/>
              <a:gd name="connsiteY0" fmla="*/ 745726 h 1778433"/>
              <a:gd name="connsiteX1" fmla="*/ 356259 w 3681350"/>
              <a:gd name="connsiteY1" fmla="*/ 389466 h 1778433"/>
              <a:gd name="connsiteX2" fmla="*/ 688768 w 3681350"/>
              <a:gd name="connsiteY2" fmla="*/ 686349 h 1778433"/>
              <a:gd name="connsiteX3" fmla="*/ 890649 w 3681350"/>
              <a:gd name="connsiteY3" fmla="*/ 1327616 h 1778433"/>
              <a:gd name="connsiteX4" fmla="*/ 1278972 w 3681350"/>
              <a:gd name="connsiteY4" fmla="*/ 1778433 h 1778433"/>
              <a:gd name="connsiteX5" fmla="*/ 1733797 w 3681350"/>
              <a:gd name="connsiteY5" fmla="*/ 1315741 h 1778433"/>
              <a:gd name="connsiteX6" fmla="*/ 2375065 w 3681350"/>
              <a:gd name="connsiteY6" fmla="*/ 9455 h 1778433"/>
              <a:gd name="connsiteX7" fmla="*/ 2708019 w 3681350"/>
              <a:gd name="connsiteY7" fmla="*/ 791594 h 1778433"/>
              <a:gd name="connsiteX8" fmla="*/ 3000894 w 3681350"/>
              <a:gd name="connsiteY8" fmla="*/ 1517176 h 1778433"/>
              <a:gd name="connsiteX9" fmla="*/ 3384467 w 3681350"/>
              <a:gd name="connsiteY9" fmla="*/ 1303866 h 1778433"/>
              <a:gd name="connsiteX10" fmla="*/ 3681350 w 3681350"/>
              <a:gd name="connsiteY10" fmla="*/ 496344 h 1778433"/>
              <a:gd name="connsiteX0" fmla="*/ 0 w 3681350"/>
              <a:gd name="connsiteY0" fmla="*/ 745726 h 1778433"/>
              <a:gd name="connsiteX1" fmla="*/ 356259 w 3681350"/>
              <a:gd name="connsiteY1" fmla="*/ 389466 h 1778433"/>
              <a:gd name="connsiteX2" fmla="*/ 890649 w 3681350"/>
              <a:gd name="connsiteY2" fmla="*/ 1327616 h 1778433"/>
              <a:gd name="connsiteX3" fmla="*/ 1278972 w 3681350"/>
              <a:gd name="connsiteY3" fmla="*/ 1778433 h 1778433"/>
              <a:gd name="connsiteX4" fmla="*/ 1733797 w 3681350"/>
              <a:gd name="connsiteY4" fmla="*/ 1315741 h 1778433"/>
              <a:gd name="connsiteX5" fmla="*/ 2375065 w 3681350"/>
              <a:gd name="connsiteY5" fmla="*/ 9455 h 1778433"/>
              <a:gd name="connsiteX6" fmla="*/ 2708019 w 3681350"/>
              <a:gd name="connsiteY6" fmla="*/ 791594 h 1778433"/>
              <a:gd name="connsiteX7" fmla="*/ 3000894 w 3681350"/>
              <a:gd name="connsiteY7" fmla="*/ 1517176 h 1778433"/>
              <a:gd name="connsiteX8" fmla="*/ 3384467 w 3681350"/>
              <a:gd name="connsiteY8" fmla="*/ 1303866 h 1778433"/>
              <a:gd name="connsiteX9" fmla="*/ 3681350 w 3681350"/>
              <a:gd name="connsiteY9" fmla="*/ 496344 h 1778433"/>
              <a:gd name="connsiteX0" fmla="*/ 0 w 3681350"/>
              <a:gd name="connsiteY0" fmla="*/ 745726 h 1778433"/>
              <a:gd name="connsiteX1" fmla="*/ 356259 w 3681350"/>
              <a:gd name="connsiteY1" fmla="*/ 389466 h 1778433"/>
              <a:gd name="connsiteX2" fmla="*/ 856359 w 3681350"/>
              <a:gd name="connsiteY2" fmla="*/ 1007576 h 1778433"/>
              <a:gd name="connsiteX3" fmla="*/ 1278972 w 3681350"/>
              <a:gd name="connsiteY3" fmla="*/ 1778433 h 1778433"/>
              <a:gd name="connsiteX4" fmla="*/ 1733797 w 3681350"/>
              <a:gd name="connsiteY4" fmla="*/ 1315741 h 1778433"/>
              <a:gd name="connsiteX5" fmla="*/ 2375065 w 3681350"/>
              <a:gd name="connsiteY5" fmla="*/ 9455 h 1778433"/>
              <a:gd name="connsiteX6" fmla="*/ 2708019 w 3681350"/>
              <a:gd name="connsiteY6" fmla="*/ 791594 h 1778433"/>
              <a:gd name="connsiteX7" fmla="*/ 3000894 w 3681350"/>
              <a:gd name="connsiteY7" fmla="*/ 1517176 h 1778433"/>
              <a:gd name="connsiteX8" fmla="*/ 3384467 w 3681350"/>
              <a:gd name="connsiteY8" fmla="*/ 1303866 h 1778433"/>
              <a:gd name="connsiteX9" fmla="*/ 3681350 w 3681350"/>
              <a:gd name="connsiteY9" fmla="*/ 496344 h 1778433"/>
              <a:gd name="connsiteX0" fmla="*/ 0 w 3681350"/>
              <a:gd name="connsiteY0" fmla="*/ 745726 h 1778433"/>
              <a:gd name="connsiteX1" fmla="*/ 356259 w 3681350"/>
              <a:gd name="connsiteY1" fmla="*/ 389466 h 1778433"/>
              <a:gd name="connsiteX2" fmla="*/ 856359 w 3681350"/>
              <a:gd name="connsiteY2" fmla="*/ 1007576 h 1778433"/>
              <a:gd name="connsiteX3" fmla="*/ 1278972 w 3681350"/>
              <a:gd name="connsiteY3" fmla="*/ 1778433 h 1778433"/>
              <a:gd name="connsiteX4" fmla="*/ 1733797 w 3681350"/>
              <a:gd name="connsiteY4" fmla="*/ 1315741 h 1778433"/>
              <a:gd name="connsiteX5" fmla="*/ 2375065 w 3681350"/>
              <a:gd name="connsiteY5" fmla="*/ 9455 h 1778433"/>
              <a:gd name="connsiteX6" fmla="*/ 2708019 w 3681350"/>
              <a:gd name="connsiteY6" fmla="*/ 791594 h 1778433"/>
              <a:gd name="connsiteX7" fmla="*/ 3000894 w 3681350"/>
              <a:gd name="connsiteY7" fmla="*/ 1517176 h 1778433"/>
              <a:gd name="connsiteX8" fmla="*/ 3384467 w 3681350"/>
              <a:gd name="connsiteY8" fmla="*/ 1303866 h 1778433"/>
              <a:gd name="connsiteX9" fmla="*/ 3681350 w 3681350"/>
              <a:gd name="connsiteY9" fmla="*/ 496344 h 1778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81350" h="1778433">
                <a:moveTo>
                  <a:pt x="0" y="745726"/>
                </a:moveTo>
                <a:cubicBezTo>
                  <a:pt x="120732" y="572544"/>
                  <a:pt x="213533" y="345824"/>
                  <a:pt x="356259" y="389466"/>
                </a:cubicBezTo>
                <a:cubicBezTo>
                  <a:pt x="498985" y="433108"/>
                  <a:pt x="702574" y="661782"/>
                  <a:pt x="856359" y="1007576"/>
                </a:cubicBezTo>
                <a:cubicBezTo>
                  <a:pt x="1010144" y="1353370"/>
                  <a:pt x="1048145" y="1762352"/>
                  <a:pt x="1278972" y="1778433"/>
                </a:cubicBezTo>
                <a:cubicBezTo>
                  <a:pt x="1522367" y="1753594"/>
                  <a:pt x="1551115" y="1610571"/>
                  <a:pt x="1733797" y="1315741"/>
                </a:cubicBezTo>
                <a:cubicBezTo>
                  <a:pt x="1916479" y="1020911"/>
                  <a:pt x="2212695" y="96813"/>
                  <a:pt x="2375065" y="9455"/>
                </a:cubicBezTo>
                <a:cubicBezTo>
                  <a:pt x="2537435" y="-77903"/>
                  <a:pt x="2603714" y="460297"/>
                  <a:pt x="2708019" y="791594"/>
                </a:cubicBezTo>
                <a:cubicBezTo>
                  <a:pt x="2812324" y="1122891"/>
                  <a:pt x="2888153" y="1431797"/>
                  <a:pt x="3000894" y="1517176"/>
                </a:cubicBezTo>
                <a:cubicBezTo>
                  <a:pt x="3113635" y="1602555"/>
                  <a:pt x="3255818" y="1472100"/>
                  <a:pt x="3384467" y="1303866"/>
                </a:cubicBezTo>
                <a:cubicBezTo>
                  <a:pt x="3513116" y="1135632"/>
                  <a:pt x="3597233" y="815988"/>
                  <a:pt x="3681350" y="496344"/>
                </a:cubicBezTo>
              </a:path>
            </a:pathLst>
          </a:custGeom>
          <a:ln w="381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p:cNvSpPr txBox="1"/>
          <p:nvPr/>
        </p:nvSpPr>
        <p:spPr>
          <a:xfrm>
            <a:off x="5444411" y="2468165"/>
            <a:ext cx="1733936" cy="400110"/>
          </a:xfrm>
          <a:prstGeom prst="rect">
            <a:avLst/>
          </a:prstGeom>
          <a:noFill/>
        </p:spPr>
        <p:txBody>
          <a:bodyPr wrap="none" rtlCol="0">
            <a:spAutoFit/>
          </a:bodyPr>
          <a:lstStyle/>
          <a:p>
            <a:r>
              <a:rPr lang="en-US" sz="2000" dirty="0">
                <a:solidFill>
                  <a:srgbClr val="FF0000"/>
                </a:solidFill>
              </a:rPr>
              <a:t>at local optima</a:t>
            </a:r>
          </a:p>
        </p:txBody>
      </p:sp>
      <p:pic>
        <p:nvPicPr>
          <p:cNvPr id="6" name="Picture 5"/>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5273434" y="2561197"/>
            <a:ext cx="199226" cy="224869"/>
          </a:xfrm>
          <a:prstGeom prst="rect">
            <a:avLst/>
          </a:prstGeom>
        </p:spPr>
      </p:pic>
      <p:cxnSp>
        <p:nvCxnSpPr>
          <p:cNvPr id="18" name="Straight Arrow Connector 17"/>
          <p:cNvCxnSpPr/>
          <p:nvPr/>
        </p:nvCxnSpPr>
        <p:spPr>
          <a:xfrm flipH="1" flipV="1">
            <a:off x="4272711" y="2328852"/>
            <a:ext cx="838200" cy="232345"/>
          </a:xfrm>
          <a:prstGeom prst="straightConnector1">
            <a:avLst/>
          </a:prstGeom>
          <a:ln w="12700">
            <a:solidFill>
              <a:schemeClr val="accent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4192231" y="2685095"/>
            <a:ext cx="1" cy="18574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143000" y="3306365"/>
            <a:ext cx="1922386" cy="400110"/>
          </a:xfrm>
          <a:prstGeom prst="rect">
            <a:avLst/>
          </a:prstGeom>
          <a:noFill/>
        </p:spPr>
        <p:txBody>
          <a:bodyPr wrap="none" rtlCol="0">
            <a:spAutoFit/>
          </a:bodyPr>
          <a:lstStyle/>
          <a:p>
            <a:r>
              <a:rPr lang="en-US" sz="2000" dirty="0">
                <a:solidFill>
                  <a:srgbClr val="FF0000"/>
                </a:solidFill>
              </a:rPr>
              <a:t>Current value of </a:t>
            </a:r>
          </a:p>
        </p:txBody>
      </p:sp>
      <p:pic>
        <p:nvPicPr>
          <p:cNvPr id="7" name="Picture 6"/>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2997454" y="3391194"/>
            <a:ext cx="199226" cy="224869"/>
          </a:xfrm>
          <a:prstGeom prst="rect">
            <a:avLst/>
          </a:prstGeom>
        </p:spPr>
      </p:pic>
      <p:cxnSp>
        <p:nvCxnSpPr>
          <p:cNvPr id="23" name="Straight Arrow Connector 22"/>
          <p:cNvCxnSpPr/>
          <p:nvPr/>
        </p:nvCxnSpPr>
        <p:spPr>
          <a:xfrm flipV="1">
            <a:off x="2520111" y="2870835"/>
            <a:ext cx="1524000" cy="435530"/>
          </a:xfrm>
          <a:prstGeom prst="straightConnector1">
            <a:avLst/>
          </a:prstGeom>
          <a:ln w="12700">
            <a:solidFill>
              <a:schemeClr val="accent2">
                <a:lumMod val="50000"/>
              </a:schemeClr>
            </a:solidFill>
            <a:tailEnd type="arrow"/>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p:custDataLst>
              <p:tags r:id="rId4"/>
            </p:custDataLst>
          </p:nvPr>
        </p:nvPicPr>
        <p:blipFill>
          <a:blip r:embed="rId8" cstate="print">
            <a:extLst>
              <a:ext uri="{28A0092B-C50C-407E-A947-70E740481C1C}">
                <a14:useLocalDpi xmlns:a14="http://schemas.microsoft.com/office/drawing/2010/main" val="0"/>
              </a:ext>
            </a:extLst>
          </a:blip>
          <a:stretch>
            <a:fillRect/>
          </a:stretch>
        </p:blipFill>
        <p:spPr>
          <a:xfrm>
            <a:off x="4648201" y="3181351"/>
            <a:ext cx="3276599" cy="787670"/>
          </a:xfrm>
          <a:prstGeom prst="rect">
            <a:avLst/>
          </a:prstGeom>
        </p:spPr>
      </p:pic>
      <p:sp>
        <p:nvSpPr>
          <p:cNvPr id="5" name="Date Placeholder 4"/>
          <p:cNvSpPr>
            <a:spLocks noGrp="1"/>
          </p:cNvSpPr>
          <p:nvPr>
            <p:ph type="dt" sz="half" idx="10"/>
          </p:nvPr>
        </p:nvSpPr>
        <p:spPr/>
        <p:txBody>
          <a:bodyPr/>
          <a:lstStyle/>
          <a:p>
            <a:fld id="{195BDE27-C447-498B-9042-90E2A4C231C4}" type="datetime1">
              <a:rPr lang="en-US" smtClean="0">
                <a:solidFill>
                  <a:prstClr val="black">
                    <a:tint val="75000"/>
                  </a:prstClr>
                </a:solidFill>
              </a:rPr>
              <a:t>9/10/2025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r>
              <a:rPr lang="en-US">
                <a:solidFill>
                  <a:prstClr val="black">
                    <a:tint val="75000"/>
                  </a:prstClr>
                </a:solidFill>
              </a:rPr>
              <a:t>Linear Regression</a:t>
            </a:r>
          </a:p>
        </p:txBody>
      </p:sp>
      <p:sp>
        <p:nvSpPr>
          <p:cNvPr id="11" name="Slide Number Placeholder 10"/>
          <p:cNvSpPr>
            <a:spLocks noGrp="1"/>
          </p:cNvSpPr>
          <p:nvPr>
            <p:ph type="sldNum" sz="quarter" idx="12"/>
          </p:nvPr>
        </p:nvSpPr>
        <p:spPr/>
        <p:txBody>
          <a:bodyPr/>
          <a:lstStyle/>
          <a:p>
            <a:fld id="{F043A558-56C3-499B-89A2-59E5853E6BB4}" type="slidenum">
              <a:rPr lang="en-US" smtClean="0">
                <a:solidFill>
                  <a:prstClr val="black">
                    <a:tint val="75000"/>
                  </a:prstClr>
                </a:solidFill>
              </a:rPr>
              <a:pPr/>
              <a:t>49</a:t>
            </a:fld>
            <a:endParaRPr lang="en-US">
              <a:solidFill>
                <a:prstClr val="black">
                  <a:tint val="75000"/>
                </a:prstClr>
              </a:solidFill>
            </a:endParaRPr>
          </a:p>
        </p:txBody>
      </p:sp>
    </p:spTree>
    <p:extLst>
      <p:ext uri="{BB962C8B-B14F-4D97-AF65-F5344CB8AC3E}">
        <p14:creationId xmlns:p14="http://schemas.microsoft.com/office/powerpoint/2010/main" val="13543880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579949" y="1352551"/>
            <a:ext cx="3077652" cy="739844"/>
          </a:xfrm>
          <a:prstGeom prst="rect">
            <a:avLst/>
          </a:prstGeom>
        </p:spPr>
      </p:pic>
      <p:sp>
        <p:nvSpPr>
          <p:cNvPr id="3" name="TextBox 2"/>
          <p:cNvSpPr txBox="1"/>
          <p:nvPr/>
        </p:nvSpPr>
        <p:spPr>
          <a:xfrm>
            <a:off x="457200" y="133350"/>
            <a:ext cx="7162800" cy="954107"/>
          </a:xfrm>
          <a:prstGeom prst="rect">
            <a:avLst/>
          </a:prstGeom>
          <a:noFill/>
        </p:spPr>
        <p:txBody>
          <a:bodyPr wrap="square" rtlCol="0">
            <a:spAutoFit/>
          </a:bodyPr>
          <a:lstStyle/>
          <a:p>
            <a:r>
              <a:rPr lang="en-US" sz="2800" dirty="0"/>
              <a:t>Gradient descent can converge to a local minimum, even with the learning rate </a:t>
            </a:r>
            <a:r>
              <a:rPr lang="el-GR" sz="2800" dirty="0"/>
              <a:t>α</a:t>
            </a:r>
            <a:r>
              <a:rPr lang="en-US" sz="2800" dirty="0"/>
              <a:t> fixed.</a:t>
            </a:r>
          </a:p>
        </p:txBody>
      </p:sp>
      <p:sp>
        <p:nvSpPr>
          <p:cNvPr id="4" name="TextBox 3"/>
          <p:cNvSpPr txBox="1"/>
          <p:nvPr/>
        </p:nvSpPr>
        <p:spPr>
          <a:xfrm>
            <a:off x="444600" y="2332494"/>
            <a:ext cx="4040506" cy="2677656"/>
          </a:xfrm>
          <a:prstGeom prst="rect">
            <a:avLst/>
          </a:prstGeom>
          <a:noFill/>
        </p:spPr>
        <p:txBody>
          <a:bodyPr wrap="square" rtlCol="0">
            <a:spAutoFit/>
          </a:bodyPr>
          <a:lstStyle/>
          <a:p>
            <a:r>
              <a:rPr lang="en-US" sz="2800" dirty="0"/>
              <a:t>As we approach a local minimum, gradient descent will automatically take smaller steps. So, no need to decrease </a:t>
            </a:r>
            <a:r>
              <a:rPr lang="el-GR" sz="2800" dirty="0"/>
              <a:t>α</a:t>
            </a:r>
            <a:r>
              <a:rPr lang="en-US" sz="2800" dirty="0"/>
              <a:t> over time. </a:t>
            </a:r>
          </a:p>
        </p:txBody>
      </p:sp>
      <p:cxnSp>
        <p:nvCxnSpPr>
          <p:cNvPr id="5" name="Straight Connector 4"/>
          <p:cNvCxnSpPr/>
          <p:nvPr/>
        </p:nvCxnSpPr>
        <p:spPr>
          <a:xfrm flipV="1">
            <a:off x="5037582" y="1417851"/>
            <a:ext cx="0" cy="2966991"/>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4861504" y="4156241"/>
            <a:ext cx="3658764" cy="0"/>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6735359" y="4268267"/>
            <a:ext cx="184709" cy="208483"/>
          </a:xfrm>
          <a:prstGeom prst="rect">
            <a:avLst/>
          </a:prstGeom>
        </p:spPr>
      </p:pic>
      <p:pic>
        <p:nvPicPr>
          <p:cNvPr id="8" name="Picture 7"/>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4419600" y="2495550"/>
            <a:ext cx="530352" cy="245059"/>
          </a:xfrm>
          <a:prstGeom prst="rect">
            <a:avLst/>
          </a:prstGeom>
        </p:spPr>
      </p:pic>
      <p:sp>
        <p:nvSpPr>
          <p:cNvPr id="9" name="Date Placeholder 8"/>
          <p:cNvSpPr>
            <a:spLocks noGrp="1"/>
          </p:cNvSpPr>
          <p:nvPr>
            <p:ph type="dt" sz="half" idx="10"/>
          </p:nvPr>
        </p:nvSpPr>
        <p:spPr/>
        <p:txBody>
          <a:bodyPr/>
          <a:lstStyle/>
          <a:p>
            <a:fld id="{F1BC1341-71D1-4029-B762-3077B19D5519}" type="datetime1">
              <a:rPr lang="en-US" smtClean="0">
                <a:solidFill>
                  <a:prstClr val="black">
                    <a:tint val="75000"/>
                  </a:prstClr>
                </a:solidFill>
              </a:rPr>
              <a:t>9/10/2025</a:t>
            </a:fld>
            <a:endParaRPr lang="en-US">
              <a:solidFill>
                <a:prstClr val="black">
                  <a:tint val="75000"/>
                </a:prstClr>
              </a:solidFill>
            </a:endParaRPr>
          </a:p>
        </p:txBody>
      </p:sp>
      <p:sp>
        <p:nvSpPr>
          <p:cNvPr id="11" name="Footer Placeholder 10"/>
          <p:cNvSpPr>
            <a:spLocks noGrp="1"/>
          </p:cNvSpPr>
          <p:nvPr>
            <p:ph type="ftr" sz="quarter" idx="11"/>
          </p:nvPr>
        </p:nvSpPr>
        <p:spPr/>
        <p:txBody>
          <a:bodyPr/>
          <a:lstStyle/>
          <a:p>
            <a:r>
              <a:rPr lang="en-US">
                <a:solidFill>
                  <a:prstClr val="black">
                    <a:tint val="75000"/>
                  </a:prstClr>
                </a:solidFill>
              </a:rPr>
              <a:t>Linear Regression</a:t>
            </a:r>
          </a:p>
        </p:txBody>
      </p:sp>
      <p:sp>
        <p:nvSpPr>
          <p:cNvPr id="12" name="Slide Number Placeholder 11"/>
          <p:cNvSpPr>
            <a:spLocks noGrp="1"/>
          </p:cNvSpPr>
          <p:nvPr>
            <p:ph type="sldNum" sz="quarter" idx="12"/>
          </p:nvPr>
        </p:nvSpPr>
        <p:spPr/>
        <p:txBody>
          <a:bodyPr/>
          <a:lstStyle/>
          <a:p>
            <a:fld id="{F043A558-56C3-499B-89A2-59E5853E6BB4}" type="slidenum">
              <a:rPr lang="en-US" smtClean="0">
                <a:solidFill>
                  <a:prstClr val="black">
                    <a:tint val="75000"/>
                  </a:prstClr>
                </a:solidFill>
              </a:rPr>
              <a:pPr/>
              <a:t>50</a:t>
            </a:fld>
            <a:endParaRPr lang="en-US">
              <a:solidFill>
                <a:prstClr val="black">
                  <a:tint val="75000"/>
                </a:prstClr>
              </a:solidFill>
            </a:endParaRPr>
          </a:p>
        </p:txBody>
      </p:sp>
      <p:sp>
        <p:nvSpPr>
          <p:cNvPr id="17" name="Freeform 16"/>
          <p:cNvSpPr/>
          <p:nvPr/>
        </p:nvSpPr>
        <p:spPr>
          <a:xfrm>
            <a:off x="5431808" y="2092395"/>
            <a:ext cx="2251881" cy="1746914"/>
          </a:xfrm>
          <a:custGeom>
            <a:avLst/>
            <a:gdLst>
              <a:gd name="connsiteX0" fmla="*/ 0 w 2251881"/>
              <a:gd name="connsiteY0" fmla="*/ 1282890 h 1746914"/>
              <a:gd name="connsiteX1" fmla="*/ 68239 w 2251881"/>
              <a:gd name="connsiteY1" fmla="*/ 1337481 h 1746914"/>
              <a:gd name="connsiteX2" fmla="*/ 81887 w 2251881"/>
              <a:gd name="connsiteY2" fmla="*/ 1378424 h 1746914"/>
              <a:gd name="connsiteX3" fmla="*/ 122830 w 2251881"/>
              <a:gd name="connsiteY3" fmla="*/ 1419368 h 1746914"/>
              <a:gd name="connsiteX4" fmla="*/ 150125 w 2251881"/>
              <a:gd name="connsiteY4" fmla="*/ 1460311 h 1746914"/>
              <a:gd name="connsiteX5" fmla="*/ 232012 w 2251881"/>
              <a:gd name="connsiteY5" fmla="*/ 1542197 h 1746914"/>
              <a:gd name="connsiteX6" fmla="*/ 313898 w 2251881"/>
              <a:gd name="connsiteY6" fmla="*/ 1596788 h 1746914"/>
              <a:gd name="connsiteX7" fmla="*/ 341194 w 2251881"/>
              <a:gd name="connsiteY7" fmla="*/ 1637732 h 1746914"/>
              <a:gd name="connsiteX8" fmla="*/ 464024 w 2251881"/>
              <a:gd name="connsiteY8" fmla="*/ 1678675 h 1746914"/>
              <a:gd name="connsiteX9" fmla="*/ 586854 w 2251881"/>
              <a:gd name="connsiteY9" fmla="*/ 1705971 h 1746914"/>
              <a:gd name="connsiteX10" fmla="*/ 696036 w 2251881"/>
              <a:gd name="connsiteY10" fmla="*/ 1719618 h 1746914"/>
              <a:gd name="connsiteX11" fmla="*/ 846161 w 2251881"/>
              <a:gd name="connsiteY11" fmla="*/ 1746914 h 1746914"/>
              <a:gd name="connsiteX12" fmla="*/ 1132764 w 2251881"/>
              <a:gd name="connsiteY12" fmla="*/ 1733266 h 1746914"/>
              <a:gd name="connsiteX13" fmla="*/ 1282890 w 2251881"/>
              <a:gd name="connsiteY13" fmla="*/ 1692323 h 1746914"/>
              <a:gd name="connsiteX14" fmla="*/ 1323833 w 2251881"/>
              <a:gd name="connsiteY14" fmla="*/ 1665027 h 1746914"/>
              <a:gd name="connsiteX15" fmla="*/ 1378424 w 2251881"/>
              <a:gd name="connsiteY15" fmla="*/ 1651379 h 1746914"/>
              <a:gd name="connsiteX16" fmla="*/ 1419367 w 2251881"/>
              <a:gd name="connsiteY16" fmla="*/ 1610436 h 1746914"/>
              <a:gd name="connsiteX17" fmla="*/ 1460310 w 2251881"/>
              <a:gd name="connsiteY17" fmla="*/ 1583141 h 1746914"/>
              <a:gd name="connsiteX18" fmla="*/ 1528549 w 2251881"/>
              <a:gd name="connsiteY18" fmla="*/ 1528550 h 1746914"/>
              <a:gd name="connsiteX19" fmla="*/ 1624084 w 2251881"/>
              <a:gd name="connsiteY19" fmla="*/ 1460311 h 1746914"/>
              <a:gd name="connsiteX20" fmla="*/ 1665027 w 2251881"/>
              <a:gd name="connsiteY20" fmla="*/ 1446663 h 1746914"/>
              <a:gd name="connsiteX21" fmla="*/ 1760561 w 2251881"/>
              <a:gd name="connsiteY21" fmla="*/ 1323833 h 1746914"/>
              <a:gd name="connsiteX22" fmla="*/ 1774209 w 2251881"/>
              <a:gd name="connsiteY22" fmla="*/ 1282890 h 1746914"/>
              <a:gd name="connsiteX23" fmla="*/ 1828800 w 2251881"/>
              <a:gd name="connsiteY23" fmla="*/ 1201003 h 1746914"/>
              <a:gd name="connsiteX24" fmla="*/ 1856095 w 2251881"/>
              <a:gd name="connsiteY24" fmla="*/ 1105469 h 1746914"/>
              <a:gd name="connsiteX25" fmla="*/ 1897039 w 2251881"/>
              <a:gd name="connsiteY25" fmla="*/ 982639 h 1746914"/>
              <a:gd name="connsiteX26" fmla="*/ 1924334 w 2251881"/>
              <a:gd name="connsiteY26" fmla="*/ 941696 h 1746914"/>
              <a:gd name="connsiteX27" fmla="*/ 1937982 w 2251881"/>
              <a:gd name="connsiteY27" fmla="*/ 887105 h 1746914"/>
              <a:gd name="connsiteX28" fmla="*/ 1965278 w 2251881"/>
              <a:gd name="connsiteY28" fmla="*/ 805218 h 1746914"/>
              <a:gd name="connsiteX29" fmla="*/ 2006221 w 2251881"/>
              <a:gd name="connsiteY29" fmla="*/ 668741 h 1746914"/>
              <a:gd name="connsiteX30" fmla="*/ 2033516 w 2251881"/>
              <a:gd name="connsiteY30" fmla="*/ 627797 h 1746914"/>
              <a:gd name="connsiteX31" fmla="*/ 2060812 w 2251881"/>
              <a:gd name="connsiteY31" fmla="*/ 545911 h 1746914"/>
              <a:gd name="connsiteX32" fmla="*/ 2088107 w 2251881"/>
              <a:gd name="connsiteY32" fmla="*/ 504968 h 1746914"/>
              <a:gd name="connsiteX33" fmla="*/ 2115403 w 2251881"/>
              <a:gd name="connsiteY33" fmla="*/ 423081 h 1746914"/>
              <a:gd name="connsiteX34" fmla="*/ 2129051 w 2251881"/>
              <a:gd name="connsiteY34" fmla="*/ 382138 h 1746914"/>
              <a:gd name="connsiteX35" fmla="*/ 2142698 w 2251881"/>
              <a:gd name="connsiteY35" fmla="*/ 341194 h 1746914"/>
              <a:gd name="connsiteX36" fmla="*/ 2169994 w 2251881"/>
              <a:gd name="connsiteY36" fmla="*/ 300251 h 1746914"/>
              <a:gd name="connsiteX37" fmla="*/ 2183642 w 2251881"/>
              <a:gd name="connsiteY37" fmla="*/ 232012 h 1746914"/>
              <a:gd name="connsiteX38" fmla="*/ 2210937 w 2251881"/>
              <a:gd name="connsiteY38" fmla="*/ 150126 h 1746914"/>
              <a:gd name="connsiteX39" fmla="*/ 2224585 w 2251881"/>
              <a:gd name="connsiteY39" fmla="*/ 81887 h 1746914"/>
              <a:gd name="connsiteX40" fmla="*/ 2251881 w 2251881"/>
              <a:gd name="connsiteY40" fmla="*/ 0 h 1746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251881" h="1746914">
                <a:moveTo>
                  <a:pt x="0" y="1282890"/>
                </a:moveTo>
                <a:cubicBezTo>
                  <a:pt x="22746" y="1301087"/>
                  <a:pt x="49282" y="1315364"/>
                  <a:pt x="68239" y="1337481"/>
                </a:cubicBezTo>
                <a:cubicBezTo>
                  <a:pt x="77601" y="1348404"/>
                  <a:pt x="73907" y="1366454"/>
                  <a:pt x="81887" y="1378424"/>
                </a:cubicBezTo>
                <a:cubicBezTo>
                  <a:pt x="92593" y="1394483"/>
                  <a:pt x="110474" y="1404540"/>
                  <a:pt x="122830" y="1419368"/>
                </a:cubicBezTo>
                <a:cubicBezTo>
                  <a:pt x="133330" y="1431969"/>
                  <a:pt x="139228" y="1448052"/>
                  <a:pt x="150125" y="1460311"/>
                </a:cubicBezTo>
                <a:cubicBezTo>
                  <a:pt x="175771" y="1489162"/>
                  <a:pt x="204716" y="1514902"/>
                  <a:pt x="232012" y="1542197"/>
                </a:cubicBezTo>
                <a:cubicBezTo>
                  <a:pt x="255209" y="1565393"/>
                  <a:pt x="313898" y="1596788"/>
                  <a:pt x="313898" y="1596788"/>
                </a:cubicBezTo>
                <a:cubicBezTo>
                  <a:pt x="322997" y="1610436"/>
                  <a:pt x="329595" y="1626133"/>
                  <a:pt x="341194" y="1637732"/>
                </a:cubicBezTo>
                <a:cubicBezTo>
                  <a:pt x="380930" y="1677468"/>
                  <a:pt x="406839" y="1667238"/>
                  <a:pt x="464024" y="1678675"/>
                </a:cubicBezTo>
                <a:cubicBezTo>
                  <a:pt x="554580" y="1696786"/>
                  <a:pt x="483575" y="1690082"/>
                  <a:pt x="586854" y="1705971"/>
                </a:cubicBezTo>
                <a:cubicBezTo>
                  <a:pt x="623105" y="1711548"/>
                  <a:pt x="659642" y="1715069"/>
                  <a:pt x="696036" y="1719618"/>
                </a:cubicBezTo>
                <a:cubicBezTo>
                  <a:pt x="743816" y="1731563"/>
                  <a:pt x="797260" y="1746914"/>
                  <a:pt x="846161" y="1746914"/>
                </a:cubicBezTo>
                <a:cubicBezTo>
                  <a:pt x="941804" y="1746914"/>
                  <a:pt x="1037230" y="1737815"/>
                  <a:pt x="1132764" y="1733266"/>
                </a:cubicBezTo>
                <a:cubicBezTo>
                  <a:pt x="1255903" y="1702482"/>
                  <a:pt x="1206357" y="1717834"/>
                  <a:pt x="1282890" y="1692323"/>
                </a:cubicBezTo>
                <a:cubicBezTo>
                  <a:pt x="1296538" y="1683224"/>
                  <a:pt x="1308757" y="1671488"/>
                  <a:pt x="1323833" y="1665027"/>
                </a:cubicBezTo>
                <a:cubicBezTo>
                  <a:pt x="1341073" y="1657638"/>
                  <a:pt x="1362138" y="1660685"/>
                  <a:pt x="1378424" y="1651379"/>
                </a:cubicBezTo>
                <a:cubicBezTo>
                  <a:pt x="1395182" y="1641803"/>
                  <a:pt x="1404540" y="1622792"/>
                  <a:pt x="1419367" y="1610436"/>
                </a:cubicBezTo>
                <a:cubicBezTo>
                  <a:pt x="1431968" y="1599935"/>
                  <a:pt x="1446662" y="1592239"/>
                  <a:pt x="1460310" y="1583141"/>
                </a:cubicBezTo>
                <a:cubicBezTo>
                  <a:pt x="1512107" y="1505446"/>
                  <a:pt x="1457555" y="1569118"/>
                  <a:pt x="1528549" y="1528550"/>
                </a:cubicBezTo>
                <a:cubicBezTo>
                  <a:pt x="1571855" y="1503804"/>
                  <a:pt x="1581814" y="1481446"/>
                  <a:pt x="1624084" y="1460311"/>
                </a:cubicBezTo>
                <a:cubicBezTo>
                  <a:pt x="1636951" y="1453877"/>
                  <a:pt x="1651379" y="1451212"/>
                  <a:pt x="1665027" y="1446663"/>
                </a:cubicBezTo>
                <a:cubicBezTo>
                  <a:pt x="1700355" y="1411335"/>
                  <a:pt x="1744236" y="1372807"/>
                  <a:pt x="1760561" y="1323833"/>
                </a:cubicBezTo>
                <a:cubicBezTo>
                  <a:pt x="1765110" y="1310185"/>
                  <a:pt x="1767223" y="1295466"/>
                  <a:pt x="1774209" y="1282890"/>
                </a:cubicBezTo>
                <a:cubicBezTo>
                  <a:pt x="1790141" y="1254213"/>
                  <a:pt x="1818426" y="1232125"/>
                  <a:pt x="1828800" y="1201003"/>
                </a:cubicBezTo>
                <a:cubicBezTo>
                  <a:pt x="1874664" y="1063415"/>
                  <a:pt x="1804688" y="1276826"/>
                  <a:pt x="1856095" y="1105469"/>
                </a:cubicBezTo>
                <a:cubicBezTo>
                  <a:pt x="1856098" y="1105457"/>
                  <a:pt x="1890213" y="1003117"/>
                  <a:pt x="1897039" y="982639"/>
                </a:cubicBezTo>
                <a:cubicBezTo>
                  <a:pt x="1902226" y="967078"/>
                  <a:pt x="1915236" y="955344"/>
                  <a:pt x="1924334" y="941696"/>
                </a:cubicBezTo>
                <a:cubicBezTo>
                  <a:pt x="1928883" y="923499"/>
                  <a:pt x="1932592" y="905071"/>
                  <a:pt x="1937982" y="887105"/>
                </a:cubicBezTo>
                <a:cubicBezTo>
                  <a:pt x="1946250" y="859546"/>
                  <a:pt x="1958300" y="833131"/>
                  <a:pt x="1965278" y="805218"/>
                </a:cubicBezTo>
                <a:cubicBezTo>
                  <a:pt x="1985903" y="722714"/>
                  <a:pt x="1972993" y="768421"/>
                  <a:pt x="2006221" y="668741"/>
                </a:cubicBezTo>
                <a:cubicBezTo>
                  <a:pt x="2011408" y="653180"/>
                  <a:pt x="2026854" y="642786"/>
                  <a:pt x="2033516" y="627797"/>
                </a:cubicBezTo>
                <a:cubicBezTo>
                  <a:pt x="2045201" y="601505"/>
                  <a:pt x="2044852" y="569851"/>
                  <a:pt x="2060812" y="545911"/>
                </a:cubicBezTo>
                <a:cubicBezTo>
                  <a:pt x="2069910" y="532263"/>
                  <a:pt x="2081445" y="519957"/>
                  <a:pt x="2088107" y="504968"/>
                </a:cubicBezTo>
                <a:cubicBezTo>
                  <a:pt x="2099792" y="478676"/>
                  <a:pt x="2106304" y="450377"/>
                  <a:pt x="2115403" y="423081"/>
                </a:cubicBezTo>
                <a:lnTo>
                  <a:pt x="2129051" y="382138"/>
                </a:lnTo>
                <a:cubicBezTo>
                  <a:pt x="2133600" y="368490"/>
                  <a:pt x="2134718" y="353164"/>
                  <a:pt x="2142698" y="341194"/>
                </a:cubicBezTo>
                <a:lnTo>
                  <a:pt x="2169994" y="300251"/>
                </a:lnTo>
                <a:cubicBezTo>
                  <a:pt x="2174543" y="277505"/>
                  <a:pt x="2177539" y="254391"/>
                  <a:pt x="2183642" y="232012"/>
                </a:cubicBezTo>
                <a:cubicBezTo>
                  <a:pt x="2191212" y="204254"/>
                  <a:pt x="2205294" y="178339"/>
                  <a:pt x="2210937" y="150126"/>
                </a:cubicBezTo>
                <a:cubicBezTo>
                  <a:pt x="2215486" y="127380"/>
                  <a:pt x="2218481" y="104266"/>
                  <a:pt x="2224585" y="81887"/>
                </a:cubicBezTo>
                <a:cubicBezTo>
                  <a:pt x="2232156" y="54129"/>
                  <a:pt x="2251881" y="0"/>
                  <a:pt x="2251881"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p:cNvCxnSpPr>
            <a:stCxn id="17" idx="37"/>
            <a:endCxn id="17" idx="31"/>
          </p:cNvCxnSpPr>
          <p:nvPr/>
        </p:nvCxnSpPr>
        <p:spPr>
          <a:xfrm flipH="1">
            <a:off x="7492620" y="2324407"/>
            <a:ext cx="122830" cy="31389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17" idx="27"/>
            <a:endCxn id="17" idx="23"/>
          </p:cNvCxnSpPr>
          <p:nvPr/>
        </p:nvCxnSpPr>
        <p:spPr>
          <a:xfrm flipH="1">
            <a:off x="7260608" y="2979500"/>
            <a:ext cx="109182" cy="31389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7" idx="30"/>
            <a:endCxn id="17" idx="27"/>
          </p:cNvCxnSpPr>
          <p:nvPr/>
        </p:nvCxnSpPr>
        <p:spPr>
          <a:xfrm flipH="1">
            <a:off x="7369790" y="2720192"/>
            <a:ext cx="95534" cy="25930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08147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666750"/>
            <a:ext cx="3604128" cy="461665"/>
          </a:xfrm>
          <a:prstGeom prst="rect">
            <a:avLst/>
          </a:prstGeom>
          <a:noFill/>
        </p:spPr>
        <p:txBody>
          <a:bodyPr wrap="none" rtlCol="0">
            <a:spAutoFit/>
          </a:bodyPr>
          <a:lstStyle/>
          <a:p>
            <a:r>
              <a:rPr lang="en-US" sz="2400" dirty="0"/>
              <a:t>Gradient descent algorithm</a:t>
            </a:r>
          </a:p>
        </p:txBody>
      </p:sp>
      <p:pic>
        <p:nvPicPr>
          <p:cNvPr id="7" name="Picture 6"/>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457200" y="1504950"/>
            <a:ext cx="3513582" cy="1915668"/>
          </a:xfrm>
          <a:prstGeom prst="rect">
            <a:avLst/>
          </a:prstGeom>
        </p:spPr>
      </p:pic>
      <p:pic>
        <p:nvPicPr>
          <p:cNvPr id="56" name="Picture 55"/>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4897374" y="1579626"/>
            <a:ext cx="2201418" cy="306324"/>
          </a:xfrm>
          <a:prstGeom prst="rect">
            <a:avLst/>
          </a:prstGeom>
        </p:spPr>
      </p:pic>
      <p:sp>
        <p:nvSpPr>
          <p:cNvPr id="57" name="TextBox 56"/>
          <p:cNvSpPr txBox="1"/>
          <p:nvPr/>
        </p:nvSpPr>
        <p:spPr>
          <a:xfrm>
            <a:off x="4724400" y="662285"/>
            <a:ext cx="3256212" cy="461665"/>
          </a:xfrm>
          <a:prstGeom prst="rect">
            <a:avLst/>
          </a:prstGeom>
          <a:noFill/>
        </p:spPr>
        <p:txBody>
          <a:bodyPr wrap="none" rtlCol="0">
            <a:spAutoFit/>
          </a:bodyPr>
          <a:lstStyle/>
          <a:p>
            <a:r>
              <a:rPr lang="en-US" sz="2400" dirty="0"/>
              <a:t>Linear Regression Model</a:t>
            </a:r>
          </a:p>
        </p:txBody>
      </p:sp>
      <p:pic>
        <p:nvPicPr>
          <p:cNvPr id="3" name="Picture 2"/>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4668774" y="2343150"/>
            <a:ext cx="4246626" cy="596790"/>
          </a:xfrm>
          <a:prstGeom prst="rect">
            <a:avLst/>
          </a:prstGeom>
        </p:spPr>
      </p:pic>
      <p:cxnSp>
        <p:nvCxnSpPr>
          <p:cNvPr id="59" name="Straight Connector 58"/>
          <p:cNvCxnSpPr/>
          <p:nvPr/>
        </p:nvCxnSpPr>
        <p:spPr>
          <a:xfrm>
            <a:off x="4495800" y="566800"/>
            <a:ext cx="0" cy="3962400"/>
          </a:xfrm>
          <a:prstGeom prst="line">
            <a:avLst/>
          </a:prstGeom>
          <a:ln w="12700">
            <a:solidFill>
              <a:schemeClr val="tx1">
                <a:alpha val="5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p>
            <a:fld id="{0F33B228-6C4A-4C89-98C1-B9A50DE658B8}" type="datetime1">
              <a:rPr lang="en-US" smtClean="0">
                <a:solidFill>
                  <a:prstClr val="black">
                    <a:tint val="75000"/>
                  </a:prstClr>
                </a:solidFill>
              </a:rPr>
              <a:t>9/10/2025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Linear Regression</a:t>
            </a: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51</a:t>
            </a:fld>
            <a:endParaRPr lang="en-US">
              <a:solidFill>
                <a:prstClr val="black">
                  <a:tint val="75000"/>
                </a:prstClr>
              </a:solidFill>
            </a:endParaRPr>
          </a:p>
        </p:txBody>
      </p:sp>
    </p:spTree>
    <p:extLst>
      <p:ext uri="{BB962C8B-B14F-4D97-AF65-F5344CB8AC3E}">
        <p14:creationId xmlns:p14="http://schemas.microsoft.com/office/powerpoint/2010/main" val="13999047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709551" y="819150"/>
            <a:ext cx="1915668" cy="717804"/>
          </a:xfrm>
          <a:prstGeom prst="rect">
            <a:avLst/>
          </a:prstGeom>
        </p:spPr>
      </p:pic>
      <p:pic>
        <p:nvPicPr>
          <p:cNvPr id="7" name="Picture 6"/>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614017" y="2482786"/>
            <a:ext cx="2836926" cy="406908"/>
          </a:xfrm>
          <a:prstGeom prst="rect">
            <a:avLst/>
          </a:prstGeom>
        </p:spPr>
      </p:pic>
      <p:pic>
        <p:nvPicPr>
          <p:cNvPr id="2" name="Picture 1"/>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709551" y="4019550"/>
            <a:ext cx="2852772" cy="411480"/>
          </a:xfrm>
          <a:prstGeom prst="rect">
            <a:avLst/>
          </a:prstGeom>
        </p:spPr>
      </p:pic>
      <p:sp>
        <p:nvSpPr>
          <p:cNvPr id="4" name="Date Placeholder 3"/>
          <p:cNvSpPr>
            <a:spLocks noGrp="1"/>
          </p:cNvSpPr>
          <p:nvPr>
            <p:ph type="dt" sz="half" idx="10"/>
          </p:nvPr>
        </p:nvSpPr>
        <p:spPr/>
        <p:txBody>
          <a:bodyPr/>
          <a:lstStyle/>
          <a:p>
            <a:fld id="{B237B51F-C9B5-45DB-8EAA-8164FAB26E7C}" type="datetime1">
              <a:rPr lang="en-US" smtClean="0">
                <a:solidFill>
                  <a:prstClr val="black">
                    <a:tint val="75000"/>
                  </a:prstClr>
                </a:solidFill>
              </a:rPr>
              <a:t>9/10/2025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Linear Regression</a:t>
            </a:r>
          </a:p>
        </p:txBody>
      </p:sp>
      <p:sp>
        <p:nvSpPr>
          <p:cNvPr id="8" name="Slide Number Placeholder 7"/>
          <p:cNvSpPr>
            <a:spLocks noGrp="1"/>
          </p:cNvSpPr>
          <p:nvPr>
            <p:ph type="sldNum" sz="quarter" idx="12"/>
          </p:nvPr>
        </p:nvSpPr>
        <p:spPr/>
        <p:txBody>
          <a:bodyPr/>
          <a:lstStyle/>
          <a:p>
            <a:fld id="{F043A558-56C3-499B-89A2-59E5853E6BB4}" type="slidenum">
              <a:rPr lang="en-US" smtClean="0">
                <a:solidFill>
                  <a:prstClr val="black">
                    <a:tint val="75000"/>
                  </a:prstClr>
                </a:solidFill>
              </a:rPr>
              <a:pPr/>
              <a:t>52</a:t>
            </a:fld>
            <a:endParaRPr lang="en-US">
              <a:solidFill>
                <a:prstClr val="black">
                  <a:tint val="75000"/>
                </a:prstClr>
              </a:solidFill>
            </a:endParaRPr>
          </a:p>
        </p:txBody>
      </p:sp>
    </p:spTree>
    <p:extLst>
      <p:ext uri="{BB962C8B-B14F-4D97-AF65-F5344CB8AC3E}">
        <p14:creationId xmlns:p14="http://schemas.microsoft.com/office/powerpoint/2010/main" val="3521180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709551" y="819150"/>
            <a:ext cx="1915668" cy="717804"/>
          </a:xfrm>
          <a:prstGeom prst="rect">
            <a:avLst/>
          </a:prstGeom>
        </p:spPr>
      </p:pic>
      <p:pic>
        <p:nvPicPr>
          <p:cNvPr id="7" name="Picture 6"/>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730023" y="2572715"/>
            <a:ext cx="2836926" cy="406908"/>
          </a:xfrm>
          <a:prstGeom prst="rect">
            <a:avLst/>
          </a:prstGeom>
        </p:spPr>
      </p:pic>
      <p:pic>
        <p:nvPicPr>
          <p:cNvPr id="2" name="Picture 1"/>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693705" y="4176513"/>
            <a:ext cx="2852772" cy="411480"/>
          </a:xfrm>
          <a:prstGeom prst="rect">
            <a:avLst/>
          </a:prstGeom>
        </p:spPr>
      </p:pic>
      <mc:AlternateContent xmlns:mc="http://schemas.openxmlformats.org/markup-compatibility/2006" xmlns:a14="http://schemas.microsoft.com/office/drawing/2010/main">
        <mc:Choice Requires="a14">
          <p:sp>
            <p:nvSpPr>
              <p:cNvPr id="4" name="TextBox 3"/>
              <p:cNvSpPr txBox="1"/>
              <p:nvPr/>
            </p:nvSpPr>
            <p:spPr>
              <a:xfrm>
                <a:off x="3570361" y="2457331"/>
                <a:ext cx="4296600" cy="637675"/>
              </a:xfrm>
              <a:prstGeom prst="rect">
                <a:avLst/>
              </a:prstGeom>
              <a:noFill/>
            </p:spPr>
            <p:txBody>
              <a:bodyPr wrap="square" rtlCol="0">
                <a:spAutoFit/>
              </a:bodyPr>
              <a:lstStyle/>
              <a:p>
                <a14:m>
                  <m:oMath xmlns:m="http://schemas.openxmlformats.org/officeDocument/2006/math">
                    <m:f>
                      <m:fPr>
                        <m:ctrlPr>
                          <a:rPr lang="en-US" sz="2500" b="0" i="1" smtClean="0">
                            <a:latin typeface="Cambria Math" panose="02040503050406030204" pitchFamily="18" charset="0"/>
                          </a:rPr>
                        </m:ctrlPr>
                      </m:fPr>
                      <m:num>
                        <m:r>
                          <a:rPr lang="en-US" sz="2500" b="0" i="1" smtClean="0">
                            <a:latin typeface="Cambria Math"/>
                          </a:rPr>
                          <m:t>1</m:t>
                        </m:r>
                      </m:num>
                      <m:den>
                        <m:r>
                          <a:rPr lang="en-US" sz="2500" b="0" i="1" smtClean="0">
                            <a:latin typeface="Cambria Math"/>
                          </a:rPr>
                          <m:t>𝑚</m:t>
                        </m:r>
                      </m:den>
                    </m:f>
                    <m:r>
                      <a:rPr lang="en-US" sz="2500" b="0" i="1" smtClean="0">
                        <a:latin typeface="Cambria Math"/>
                      </a:rPr>
                      <m:t> </m:t>
                    </m:r>
                    <m:nary>
                      <m:naryPr>
                        <m:chr m:val="∑"/>
                        <m:ctrlPr>
                          <a:rPr lang="pt-BR" sz="2500" b="0" i="1" smtClean="0">
                            <a:latin typeface="Cambria Math" panose="02040503050406030204" pitchFamily="18" charset="0"/>
                          </a:rPr>
                        </m:ctrlPr>
                      </m:naryPr>
                      <m:sub>
                        <m:r>
                          <m:rPr>
                            <m:brk m:alnAt="23"/>
                          </m:rPr>
                          <a:rPr lang="en-US" sz="2500" b="0" i="1" smtClean="0">
                            <a:latin typeface="Cambria Math"/>
                          </a:rPr>
                          <m:t>𝑖</m:t>
                        </m:r>
                        <m:r>
                          <a:rPr lang="en-US" sz="2500" b="0" i="1" smtClean="0">
                            <a:latin typeface="Cambria Math"/>
                          </a:rPr>
                          <m:t>=1</m:t>
                        </m:r>
                      </m:sub>
                      <m:sup>
                        <m:r>
                          <a:rPr lang="en-US" sz="2500" b="0" i="1" smtClean="0">
                            <a:latin typeface="Cambria Math"/>
                          </a:rPr>
                          <m:t>𝑚</m:t>
                        </m:r>
                      </m:sup>
                      <m:e>
                        <m:r>
                          <a:rPr lang="en-US" sz="2500" b="0" i="1" smtClean="0">
                            <a:latin typeface="Cambria Math"/>
                          </a:rPr>
                          <m:t>(</m:t>
                        </m:r>
                        <m:r>
                          <a:rPr lang="en-US" sz="2500" b="0" i="1" smtClean="0">
                            <a:latin typeface="Cambria Math"/>
                          </a:rPr>
                          <m:t>h</m:t>
                        </m:r>
                        <m:r>
                          <m:rPr>
                            <m:sty m:val="p"/>
                          </m:rPr>
                          <a:rPr lang="el-GR" sz="2500" b="0" i="1" baseline="-25000" smtClean="0">
                            <a:latin typeface="Cambria Math"/>
                          </a:rPr>
                          <m:t>ϴ</m:t>
                        </m:r>
                        <m:r>
                          <a:rPr lang="en-US" sz="2500" b="0" i="1" baseline="-25000" smtClean="0">
                            <a:latin typeface="Cambria Math"/>
                          </a:rPr>
                          <m:t> </m:t>
                        </m:r>
                        <m:sSup>
                          <m:sSupPr>
                            <m:ctrlPr>
                              <a:rPr lang="pt-BR" sz="2500" b="0" i="1" smtClean="0">
                                <a:latin typeface="Cambria Math" panose="02040503050406030204" pitchFamily="18" charset="0"/>
                              </a:rPr>
                            </m:ctrlPr>
                          </m:sSupPr>
                          <m:e>
                            <m:r>
                              <a:rPr lang="en-US" sz="2500" b="0" i="1" smtClean="0">
                                <a:latin typeface="Cambria Math"/>
                              </a:rPr>
                              <m:t>(</m:t>
                            </m:r>
                            <m:r>
                              <a:rPr lang="en-US" sz="2500" b="0" i="1" smtClean="0">
                                <a:latin typeface="Cambria Math"/>
                              </a:rPr>
                              <m:t>𝑥</m:t>
                            </m:r>
                          </m:e>
                          <m:sup>
                            <m:r>
                              <a:rPr lang="en-US" sz="2500" b="0" i="1" smtClean="0">
                                <a:latin typeface="Cambria Math"/>
                              </a:rPr>
                              <m:t>(</m:t>
                            </m:r>
                            <m:r>
                              <a:rPr lang="en-US" sz="2500" b="0" i="1" smtClean="0">
                                <a:latin typeface="Cambria Math"/>
                              </a:rPr>
                              <m:t>𝑖</m:t>
                            </m:r>
                            <m:r>
                              <a:rPr lang="en-US" sz="2500" b="0" i="1" smtClean="0">
                                <a:latin typeface="Cambria Math"/>
                              </a:rPr>
                              <m:t>)</m:t>
                            </m:r>
                          </m:sup>
                        </m:sSup>
                        <m:sSup>
                          <m:sSupPr>
                            <m:ctrlPr>
                              <a:rPr lang="pt-BR" sz="2500" b="0" i="1" smtClean="0">
                                <a:latin typeface="Cambria Math" panose="02040503050406030204" pitchFamily="18" charset="0"/>
                              </a:rPr>
                            </m:ctrlPr>
                          </m:sSupPr>
                          <m:e>
                            <m:r>
                              <a:rPr lang="en-US" sz="2500" b="0" i="1" smtClean="0">
                                <a:latin typeface="Cambria Math"/>
                              </a:rPr>
                              <m:t>)−</m:t>
                            </m:r>
                            <m:r>
                              <a:rPr lang="en-US" sz="2500" b="0" i="1" smtClean="0">
                                <a:latin typeface="Cambria Math"/>
                              </a:rPr>
                              <m:t>𝑦</m:t>
                            </m:r>
                          </m:e>
                          <m:sup>
                            <m:r>
                              <a:rPr lang="en-US" sz="2500" b="0" i="1" smtClean="0">
                                <a:latin typeface="Cambria Math"/>
                              </a:rPr>
                              <m:t>(</m:t>
                            </m:r>
                            <m:r>
                              <a:rPr lang="en-US" sz="2500" b="0" i="1" smtClean="0">
                                <a:latin typeface="Cambria Math"/>
                              </a:rPr>
                              <m:t>𝑖</m:t>
                            </m:r>
                            <m:r>
                              <a:rPr lang="en-US" sz="2500" b="0" i="1" smtClean="0">
                                <a:latin typeface="Cambria Math"/>
                              </a:rPr>
                              <m:t>)</m:t>
                            </m:r>
                          </m:sup>
                        </m:sSup>
                      </m:e>
                    </m:nary>
                  </m:oMath>
                </a14:m>
                <a:r>
                  <a:rPr lang="en-US" sz="2500" dirty="0"/>
                  <a:t>)</a:t>
                </a:r>
              </a:p>
            </p:txBody>
          </p:sp>
        </mc:Choice>
        <mc:Fallback xmlns="">
          <p:sp>
            <p:nvSpPr>
              <p:cNvPr id="4" name="TextBox 3"/>
              <p:cNvSpPr txBox="1">
                <a:spLocks noRot="1" noChangeAspect="1" noMove="1" noResize="1" noEditPoints="1" noAdjustHandles="1" noChangeArrowheads="1" noChangeShapeType="1" noTextEdit="1"/>
              </p:cNvSpPr>
              <p:nvPr/>
            </p:nvSpPr>
            <p:spPr>
              <a:xfrm>
                <a:off x="3570361" y="2457331"/>
                <a:ext cx="4296600" cy="637675"/>
              </a:xfrm>
              <a:prstGeom prst="rect">
                <a:avLst/>
              </a:prstGeom>
              <a:blipFill rotWithShape="1">
                <a:blip r:embed="rId8"/>
                <a:stretch>
                  <a:fillRect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3810000" y="4011449"/>
                <a:ext cx="4296600" cy="637675"/>
              </a:xfrm>
              <a:prstGeom prst="rect">
                <a:avLst/>
              </a:prstGeom>
              <a:noFill/>
            </p:spPr>
            <p:txBody>
              <a:bodyPr wrap="square" rtlCol="0">
                <a:spAutoFit/>
              </a:bodyPr>
              <a:lstStyle/>
              <a:p>
                <a14:m>
                  <m:oMath xmlns:m="http://schemas.openxmlformats.org/officeDocument/2006/math">
                    <m:f>
                      <m:fPr>
                        <m:ctrlPr>
                          <a:rPr lang="en-US" sz="2500" b="0" i="1" smtClean="0">
                            <a:latin typeface="Cambria Math" panose="02040503050406030204" pitchFamily="18" charset="0"/>
                          </a:rPr>
                        </m:ctrlPr>
                      </m:fPr>
                      <m:num>
                        <m:r>
                          <a:rPr lang="en-US" sz="2500" b="0" i="1" smtClean="0">
                            <a:latin typeface="Cambria Math"/>
                          </a:rPr>
                          <m:t>1</m:t>
                        </m:r>
                      </m:num>
                      <m:den>
                        <m:r>
                          <a:rPr lang="en-US" sz="2500" b="0" i="1" smtClean="0">
                            <a:latin typeface="Cambria Math"/>
                          </a:rPr>
                          <m:t>𝑚</m:t>
                        </m:r>
                      </m:den>
                    </m:f>
                    <m:r>
                      <a:rPr lang="en-US" sz="2500" b="0" i="1" smtClean="0">
                        <a:latin typeface="Cambria Math"/>
                      </a:rPr>
                      <m:t> </m:t>
                    </m:r>
                    <m:nary>
                      <m:naryPr>
                        <m:chr m:val="∑"/>
                        <m:ctrlPr>
                          <a:rPr lang="pt-BR" sz="2500" b="0" i="1" smtClean="0">
                            <a:latin typeface="Cambria Math" panose="02040503050406030204" pitchFamily="18" charset="0"/>
                          </a:rPr>
                        </m:ctrlPr>
                      </m:naryPr>
                      <m:sub>
                        <m:r>
                          <m:rPr>
                            <m:brk m:alnAt="23"/>
                          </m:rPr>
                          <a:rPr lang="en-US" sz="2500" b="0" i="1" smtClean="0">
                            <a:latin typeface="Cambria Math"/>
                          </a:rPr>
                          <m:t>𝑖</m:t>
                        </m:r>
                        <m:r>
                          <a:rPr lang="en-US" sz="2500" b="0" i="1" smtClean="0">
                            <a:latin typeface="Cambria Math"/>
                          </a:rPr>
                          <m:t>=1</m:t>
                        </m:r>
                      </m:sub>
                      <m:sup>
                        <m:r>
                          <a:rPr lang="en-US" sz="2500" b="0" i="1" smtClean="0">
                            <a:latin typeface="Cambria Math"/>
                          </a:rPr>
                          <m:t>𝑚</m:t>
                        </m:r>
                      </m:sup>
                      <m:e>
                        <m:r>
                          <a:rPr lang="en-US" sz="2500" b="0" i="1" smtClean="0">
                            <a:latin typeface="Cambria Math"/>
                          </a:rPr>
                          <m:t>(</m:t>
                        </m:r>
                        <m:r>
                          <a:rPr lang="en-US" sz="2500" b="0" i="1" smtClean="0">
                            <a:latin typeface="Cambria Math"/>
                          </a:rPr>
                          <m:t>h</m:t>
                        </m:r>
                        <m:r>
                          <m:rPr>
                            <m:sty m:val="p"/>
                          </m:rPr>
                          <a:rPr lang="el-GR" sz="2500" b="0" i="1" baseline="-25000" smtClean="0">
                            <a:latin typeface="Cambria Math"/>
                          </a:rPr>
                          <m:t>ϴ</m:t>
                        </m:r>
                        <m:r>
                          <a:rPr lang="en-US" sz="2500" b="0" i="1" baseline="-25000" smtClean="0">
                            <a:latin typeface="Cambria Math"/>
                          </a:rPr>
                          <m:t> </m:t>
                        </m:r>
                        <m:sSup>
                          <m:sSupPr>
                            <m:ctrlPr>
                              <a:rPr lang="pt-BR" sz="2500" b="0" i="1" smtClean="0">
                                <a:latin typeface="Cambria Math" panose="02040503050406030204" pitchFamily="18" charset="0"/>
                              </a:rPr>
                            </m:ctrlPr>
                          </m:sSupPr>
                          <m:e>
                            <m:r>
                              <a:rPr lang="en-US" sz="2500" b="0" i="1" smtClean="0">
                                <a:latin typeface="Cambria Math"/>
                              </a:rPr>
                              <m:t>(</m:t>
                            </m:r>
                            <m:r>
                              <a:rPr lang="en-US" sz="2500" b="0" i="1" smtClean="0">
                                <a:latin typeface="Cambria Math"/>
                              </a:rPr>
                              <m:t>𝑥</m:t>
                            </m:r>
                          </m:e>
                          <m:sup>
                            <m:r>
                              <a:rPr lang="en-US" sz="2500" b="0" i="1" smtClean="0">
                                <a:latin typeface="Cambria Math"/>
                              </a:rPr>
                              <m:t>(</m:t>
                            </m:r>
                            <m:r>
                              <a:rPr lang="en-US" sz="2500" b="0" i="1" smtClean="0">
                                <a:latin typeface="Cambria Math"/>
                              </a:rPr>
                              <m:t>𝑖</m:t>
                            </m:r>
                            <m:r>
                              <a:rPr lang="en-US" sz="2500" b="0" i="1" smtClean="0">
                                <a:latin typeface="Cambria Math"/>
                              </a:rPr>
                              <m:t>)</m:t>
                            </m:r>
                          </m:sup>
                        </m:sSup>
                        <m:sSup>
                          <m:sSupPr>
                            <m:ctrlPr>
                              <a:rPr lang="pt-BR" sz="2500" b="0" i="1" smtClean="0">
                                <a:latin typeface="Cambria Math" panose="02040503050406030204" pitchFamily="18" charset="0"/>
                              </a:rPr>
                            </m:ctrlPr>
                          </m:sSupPr>
                          <m:e>
                            <m:r>
                              <a:rPr lang="en-US" sz="2500" b="0" i="1" smtClean="0">
                                <a:latin typeface="Cambria Math"/>
                              </a:rPr>
                              <m:t>)−</m:t>
                            </m:r>
                            <m:r>
                              <a:rPr lang="en-US" sz="2500" b="0" i="1" smtClean="0">
                                <a:latin typeface="Cambria Math"/>
                              </a:rPr>
                              <m:t>𝑦</m:t>
                            </m:r>
                          </m:e>
                          <m:sup>
                            <m:r>
                              <a:rPr lang="en-US" sz="2500" b="0" i="1" smtClean="0">
                                <a:latin typeface="Cambria Math"/>
                              </a:rPr>
                              <m:t>(</m:t>
                            </m:r>
                            <m:r>
                              <a:rPr lang="en-US" sz="2500" b="0" i="1" smtClean="0">
                                <a:latin typeface="Cambria Math"/>
                              </a:rPr>
                              <m:t>𝑖</m:t>
                            </m:r>
                            <m:r>
                              <a:rPr lang="en-US" sz="2500" b="0" i="1" smtClean="0">
                                <a:latin typeface="Cambria Math"/>
                              </a:rPr>
                              <m:t>)</m:t>
                            </m:r>
                          </m:sup>
                        </m:sSup>
                      </m:e>
                    </m:nary>
                  </m:oMath>
                </a14:m>
                <a:r>
                  <a:rPr lang="en-US" sz="2500" dirty="0"/>
                  <a:t>).</a:t>
                </a:r>
                <a:r>
                  <a:rPr lang="pt-BR" sz="2500" dirty="0"/>
                  <a:t> </a:t>
                </a:r>
                <a14:m>
                  <m:oMath xmlns:m="http://schemas.openxmlformats.org/officeDocument/2006/math">
                    <m:sSup>
                      <m:sSupPr>
                        <m:ctrlPr>
                          <a:rPr lang="pt-BR" sz="2500" i="1">
                            <a:latin typeface="Cambria Math" panose="02040503050406030204" pitchFamily="18" charset="0"/>
                          </a:rPr>
                        </m:ctrlPr>
                      </m:sSupPr>
                      <m:e>
                        <m:r>
                          <a:rPr lang="en-US" sz="2500" i="1">
                            <a:latin typeface="Cambria Math"/>
                          </a:rPr>
                          <m:t>𝑥</m:t>
                        </m:r>
                      </m:e>
                      <m:sup>
                        <m:r>
                          <a:rPr lang="en-US" sz="2500" i="1">
                            <a:latin typeface="Cambria Math"/>
                          </a:rPr>
                          <m:t>(</m:t>
                        </m:r>
                        <m:r>
                          <a:rPr lang="en-US" sz="2500" i="1">
                            <a:latin typeface="Cambria Math"/>
                          </a:rPr>
                          <m:t>𝑖</m:t>
                        </m:r>
                        <m:r>
                          <a:rPr lang="en-US" sz="2500" i="1">
                            <a:latin typeface="Cambria Math"/>
                          </a:rPr>
                          <m:t>)</m:t>
                        </m:r>
                      </m:sup>
                    </m:sSup>
                  </m:oMath>
                </a14:m>
                <a:endParaRPr lang="en-US" sz="2500" dirty="0"/>
              </a:p>
            </p:txBody>
          </p:sp>
        </mc:Choice>
        <mc:Fallback xmlns="">
          <p:sp>
            <p:nvSpPr>
              <p:cNvPr id="8" name="TextBox 7"/>
              <p:cNvSpPr txBox="1">
                <a:spLocks noRot="1" noChangeAspect="1" noMove="1" noResize="1" noEditPoints="1" noAdjustHandles="1" noChangeArrowheads="1" noChangeShapeType="1" noTextEdit="1"/>
              </p:cNvSpPr>
              <p:nvPr/>
            </p:nvSpPr>
            <p:spPr>
              <a:xfrm>
                <a:off x="3810000" y="4011449"/>
                <a:ext cx="4296600" cy="637675"/>
              </a:xfrm>
              <a:prstGeom prst="rect">
                <a:avLst/>
              </a:prstGeom>
              <a:blipFill rotWithShape="1">
                <a:blip r:embed="rId9"/>
                <a:stretch>
                  <a:fillRect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2819400" y="814893"/>
                <a:ext cx="4296600" cy="701154"/>
              </a:xfrm>
              <a:prstGeom prst="rect">
                <a:avLst/>
              </a:prstGeom>
              <a:noFill/>
            </p:spPr>
            <p:txBody>
              <a:bodyPr wrap="square" rtlCol="0">
                <a:spAutoFit/>
              </a:bodyPr>
              <a:lstStyle/>
              <a:p>
                <a14:m>
                  <m:oMath xmlns:m="http://schemas.openxmlformats.org/officeDocument/2006/math">
                    <m:f>
                      <m:fPr>
                        <m:ctrlPr>
                          <a:rPr lang="en-US" sz="2500" i="1" smtClean="0">
                            <a:latin typeface="Cambria Math" panose="02040503050406030204" pitchFamily="18" charset="0"/>
                          </a:rPr>
                        </m:ctrlPr>
                      </m:fPr>
                      <m:num>
                        <m:r>
                          <m:rPr>
                            <m:sty m:val="p"/>
                          </m:rPr>
                          <a:rPr lang="el-GR" sz="2500" i="1" smtClean="0">
                            <a:latin typeface="Cambria Math"/>
                          </a:rPr>
                          <m:t>δ</m:t>
                        </m:r>
                      </m:num>
                      <m:den>
                        <m:r>
                          <m:rPr>
                            <m:sty m:val="p"/>
                          </m:rPr>
                          <a:rPr lang="el-GR" sz="2500" i="1" smtClean="0">
                            <a:latin typeface="Cambria Math"/>
                          </a:rPr>
                          <m:t>δϴ</m:t>
                        </m:r>
                        <m:r>
                          <a:rPr lang="en-US" sz="2500" b="0" i="1" smtClean="0">
                            <a:latin typeface="Cambria Math"/>
                          </a:rPr>
                          <m:t>𝑗</m:t>
                        </m:r>
                      </m:den>
                    </m:f>
                    <m:r>
                      <a:rPr lang="en-US" sz="2500" i="1">
                        <a:latin typeface="Cambria Math"/>
                      </a:rPr>
                      <m:t> </m:t>
                    </m:r>
                    <m:f>
                      <m:fPr>
                        <m:ctrlPr>
                          <a:rPr lang="en-US" sz="2500" b="0" i="1" smtClean="0">
                            <a:latin typeface="Cambria Math" panose="02040503050406030204" pitchFamily="18" charset="0"/>
                          </a:rPr>
                        </m:ctrlPr>
                      </m:fPr>
                      <m:num>
                        <m:r>
                          <a:rPr lang="en-US" sz="2500" b="0" i="1" smtClean="0">
                            <a:latin typeface="Cambria Math"/>
                          </a:rPr>
                          <m:t>1</m:t>
                        </m:r>
                      </m:num>
                      <m:den>
                        <m:r>
                          <a:rPr lang="en-US" sz="2500" b="0" i="1" smtClean="0">
                            <a:latin typeface="Cambria Math"/>
                          </a:rPr>
                          <m:t>2</m:t>
                        </m:r>
                        <m:r>
                          <a:rPr lang="en-US" sz="2500" b="0" i="1" smtClean="0">
                            <a:latin typeface="Cambria Math"/>
                          </a:rPr>
                          <m:t>𝑚</m:t>
                        </m:r>
                      </m:den>
                    </m:f>
                    <m:r>
                      <a:rPr lang="en-US" sz="2500" b="0" i="1" smtClean="0">
                        <a:latin typeface="Cambria Math"/>
                      </a:rPr>
                      <m:t> </m:t>
                    </m:r>
                    <m:nary>
                      <m:naryPr>
                        <m:chr m:val="∑"/>
                        <m:ctrlPr>
                          <a:rPr lang="pt-BR" sz="2500" b="0" i="1" smtClean="0">
                            <a:latin typeface="Cambria Math" panose="02040503050406030204" pitchFamily="18" charset="0"/>
                          </a:rPr>
                        </m:ctrlPr>
                      </m:naryPr>
                      <m:sub>
                        <m:r>
                          <m:rPr>
                            <m:brk m:alnAt="23"/>
                          </m:rPr>
                          <a:rPr lang="en-US" sz="2500" b="0" i="1" smtClean="0">
                            <a:latin typeface="Cambria Math"/>
                          </a:rPr>
                          <m:t>𝑖</m:t>
                        </m:r>
                        <m:r>
                          <a:rPr lang="en-US" sz="2500" b="0" i="1" smtClean="0">
                            <a:latin typeface="Cambria Math"/>
                          </a:rPr>
                          <m:t>−1</m:t>
                        </m:r>
                      </m:sub>
                      <m:sup>
                        <m:r>
                          <a:rPr lang="en-US" sz="2500" b="0" i="1" smtClean="0">
                            <a:latin typeface="Cambria Math"/>
                          </a:rPr>
                          <m:t>𝑚</m:t>
                        </m:r>
                      </m:sup>
                      <m:e>
                        <m:r>
                          <a:rPr lang="en-US" sz="2500" b="0" i="1" smtClean="0">
                            <a:latin typeface="Cambria Math"/>
                          </a:rPr>
                          <m:t>(</m:t>
                        </m:r>
                        <m:r>
                          <a:rPr lang="en-US" sz="2500" b="0" i="1" smtClean="0">
                            <a:latin typeface="Cambria Math"/>
                          </a:rPr>
                          <m:t>h</m:t>
                        </m:r>
                        <m:r>
                          <m:rPr>
                            <m:sty m:val="p"/>
                          </m:rPr>
                          <a:rPr lang="el-GR" sz="2500" b="0" i="1" baseline="-25000" smtClean="0">
                            <a:latin typeface="Cambria Math"/>
                          </a:rPr>
                          <m:t>ϴ</m:t>
                        </m:r>
                        <m:r>
                          <a:rPr lang="en-US" sz="2500" b="0" i="1" baseline="-25000" smtClean="0">
                            <a:latin typeface="Cambria Math"/>
                          </a:rPr>
                          <m:t> </m:t>
                        </m:r>
                        <m:sSup>
                          <m:sSupPr>
                            <m:ctrlPr>
                              <a:rPr lang="pt-BR" sz="2500" b="0" i="1" smtClean="0">
                                <a:latin typeface="Cambria Math" panose="02040503050406030204" pitchFamily="18" charset="0"/>
                              </a:rPr>
                            </m:ctrlPr>
                          </m:sSupPr>
                          <m:e>
                            <m:r>
                              <a:rPr lang="en-US" sz="2500" b="0" i="1" smtClean="0">
                                <a:latin typeface="Cambria Math"/>
                              </a:rPr>
                              <m:t>(</m:t>
                            </m:r>
                            <m:r>
                              <a:rPr lang="en-US" sz="2500" b="0" i="1" smtClean="0">
                                <a:latin typeface="Cambria Math"/>
                              </a:rPr>
                              <m:t>𝑥</m:t>
                            </m:r>
                          </m:e>
                          <m:sup>
                            <m:r>
                              <a:rPr lang="en-US" sz="2500" b="0" i="1" smtClean="0">
                                <a:latin typeface="Cambria Math"/>
                              </a:rPr>
                              <m:t>(</m:t>
                            </m:r>
                            <m:r>
                              <a:rPr lang="en-US" sz="2500" b="0" i="1" smtClean="0">
                                <a:latin typeface="Cambria Math"/>
                              </a:rPr>
                              <m:t>𝑖</m:t>
                            </m:r>
                            <m:r>
                              <a:rPr lang="en-US" sz="2500" b="0" i="1" smtClean="0">
                                <a:latin typeface="Cambria Math"/>
                              </a:rPr>
                              <m:t>)</m:t>
                            </m:r>
                          </m:sup>
                        </m:sSup>
                        <m:sSup>
                          <m:sSupPr>
                            <m:ctrlPr>
                              <a:rPr lang="pt-BR" sz="2500" b="0" i="1" smtClean="0">
                                <a:latin typeface="Cambria Math" panose="02040503050406030204" pitchFamily="18" charset="0"/>
                              </a:rPr>
                            </m:ctrlPr>
                          </m:sSupPr>
                          <m:e>
                            <m:r>
                              <a:rPr lang="en-US" sz="2500" b="0" i="1" smtClean="0">
                                <a:latin typeface="Cambria Math"/>
                              </a:rPr>
                              <m:t>)−</m:t>
                            </m:r>
                            <m:r>
                              <a:rPr lang="en-US" sz="2500" b="0" i="1" smtClean="0">
                                <a:latin typeface="Cambria Math"/>
                              </a:rPr>
                              <m:t>𝑦</m:t>
                            </m:r>
                          </m:e>
                          <m:sup>
                            <m:r>
                              <a:rPr lang="en-US" sz="2500" b="0" i="1" smtClean="0">
                                <a:latin typeface="Cambria Math"/>
                              </a:rPr>
                              <m:t>(</m:t>
                            </m:r>
                            <m:r>
                              <a:rPr lang="en-US" sz="2500" b="0" i="1" smtClean="0">
                                <a:latin typeface="Cambria Math"/>
                              </a:rPr>
                              <m:t>𝑖</m:t>
                            </m:r>
                            <m:r>
                              <a:rPr lang="en-US" sz="2500" b="0" i="1" smtClean="0">
                                <a:latin typeface="Cambria Math"/>
                              </a:rPr>
                              <m:t>)</m:t>
                            </m:r>
                          </m:sup>
                        </m:sSup>
                      </m:e>
                    </m:nary>
                  </m:oMath>
                </a14:m>
                <a:r>
                  <a:rPr lang="en-US" sz="2500" dirty="0"/>
                  <a:t>)</a:t>
                </a:r>
                <a:r>
                  <a:rPr lang="en-US" sz="2500" baseline="30000" dirty="0"/>
                  <a:t>2</a:t>
                </a:r>
                <a:endParaRPr lang="en-US" sz="2500" dirty="0"/>
              </a:p>
            </p:txBody>
          </p:sp>
        </mc:Choice>
        <mc:Fallback xmlns="">
          <p:sp>
            <p:nvSpPr>
              <p:cNvPr id="9" name="TextBox 8"/>
              <p:cNvSpPr txBox="1">
                <a:spLocks noRot="1" noChangeAspect="1" noMove="1" noResize="1" noEditPoints="1" noAdjustHandles="1" noChangeArrowheads="1" noChangeShapeType="1" noTextEdit="1"/>
              </p:cNvSpPr>
              <p:nvPr/>
            </p:nvSpPr>
            <p:spPr>
              <a:xfrm>
                <a:off x="2819400" y="814893"/>
                <a:ext cx="4296600" cy="701154"/>
              </a:xfrm>
              <a:prstGeom prst="rect">
                <a:avLst/>
              </a:prstGeom>
              <a:blipFill rotWithShape="1">
                <a:blip r:embed="rId10"/>
                <a:stretch>
                  <a:fillRect b="-2609"/>
                </a:stretch>
              </a:blipFill>
            </p:spPr>
            <p:txBody>
              <a:bodyPr/>
              <a:lstStyle/>
              <a:p>
                <a:r>
                  <a:rPr lang="en-US">
                    <a:noFill/>
                  </a:rPr>
                  <a:t> </a:t>
                </a:r>
              </a:p>
            </p:txBody>
          </p:sp>
        </mc:Fallback>
      </mc:AlternateContent>
    </p:spTree>
    <p:extLst>
      <p:ext uri="{BB962C8B-B14F-4D97-AF65-F5344CB8AC3E}">
        <p14:creationId xmlns:p14="http://schemas.microsoft.com/office/powerpoint/2010/main" val="3822655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81000" y="800040"/>
            <a:ext cx="4263860" cy="523220"/>
          </a:xfrm>
          <a:prstGeom prst="rect">
            <a:avLst/>
          </a:prstGeom>
          <a:noFill/>
        </p:spPr>
        <p:txBody>
          <a:bodyPr wrap="none" rtlCol="0">
            <a:spAutoFit/>
          </a:bodyPr>
          <a:lstStyle/>
          <a:p>
            <a:r>
              <a:rPr lang="en-US" sz="2800" b="1" dirty="0"/>
              <a:t>Gradient descent algorithm</a:t>
            </a:r>
          </a:p>
        </p:txBody>
      </p:sp>
      <p:pic>
        <p:nvPicPr>
          <p:cNvPr id="2" name="Picture 1"/>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457200" y="1707642"/>
            <a:ext cx="5454396" cy="2116836"/>
          </a:xfrm>
          <a:prstGeom prst="rect">
            <a:avLst/>
          </a:prstGeom>
        </p:spPr>
      </p:pic>
      <p:sp>
        <p:nvSpPr>
          <p:cNvPr id="13" name="TextBox 12"/>
          <p:cNvSpPr txBox="1"/>
          <p:nvPr/>
        </p:nvSpPr>
        <p:spPr>
          <a:xfrm>
            <a:off x="6587490" y="2049780"/>
            <a:ext cx="2069220" cy="1569660"/>
          </a:xfrm>
          <a:prstGeom prst="rect">
            <a:avLst/>
          </a:prstGeom>
          <a:noFill/>
        </p:spPr>
        <p:txBody>
          <a:bodyPr wrap="none" rtlCol="0">
            <a:spAutoFit/>
          </a:bodyPr>
          <a:lstStyle/>
          <a:p>
            <a:pPr algn="ctr"/>
            <a:r>
              <a:rPr lang="en-US" sz="2400" dirty="0"/>
              <a:t>update </a:t>
            </a:r>
          </a:p>
          <a:p>
            <a:pPr algn="ctr"/>
            <a:r>
              <a:rPr lang="en-US" sz="2400" dirty="0"/>
              <a:t>and</a:t>
            </a:r>
          </a:p>
          <a:p>
            <a:pPr algn="ctr"/>
            <a:r>
              <a:rPr lang="en-US" sz="2400" dirty="0"/>
              <a:t>simultaneously</a:t>
            </a:r>
          </a:p>
          <a:p>
            <a:pPr algn="ctr"/>
            <a:endParaRPr lang="en-US" sz="2400" dirty="0"/>
          </a:p>
        </p:txBody>
      </p:sp>
      <p:pic>
        <p:nvPicPr>
          <p:cNvPr id="14" name="Picture 13"/>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6960869" y="2470693"/>
            <a:ext cx="284815" cy="311940"/>
          </a:xfrm>
          <a:prstGeom prst="rect">
            <a:avLst/>
          </a:prstGeom>
        </p:spPr>
      </p:pic>
      <p:pic>
        <p:nvPicPr>
          <p:cNvPr id="15" name="Picture 14"/>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7977193" y="2472049"/>
            <a:ext cx="273966" cy="309229"/>
          </a:xfrm>
          <a:prstGeom prst="rect">
            <a:avLst/>
          </a:prstGeom>
        </p:spPr>
      </p:pic>
      <p:sp>
        <p:nvSpPr>
          <p:cNvPr id="16" name="Right Brace 15"/>
          <p:cNvSpPr/>
          <p:nvPr/>
        </p:nvSpPr>
        <p:spPr>
          <a:xfrm>
            <a:off x="6172200" y="2114550"/>
            <a:ext cx="152400" cy="1219200"/>
          </a:xfrm>
          <a:prstGeom prst="rightBrace">
            <a:avLst/>
          </a:prstGeom>
          <a:ln>
            <a:solidFill>
              <a:schemeClr val="bg2">
                <a:lumMod val="1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2141FA2C-6760-4FCC-8D53-9BCDD1D368BB}" type="datetime1">
              <a:rPr lang="en-US" smtClean="0">
                <a:solidFill>
                  <a:prstClr val="black">
                    <a:tint val="75000"/>
                  </a:prstClr>
                </a:solidFill>
              </a:rPr>
              <a:t>9/10/2025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Linear Regression</a:t>
            </a: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54</a:t>
            </a:fld>
            <a:endParaRPr lang="en-US">
              <a:solidFill>
                <a:prstClr val="black">
                  <a:tint val="75000"/>
                </a:prstClr>
              </a:solidFill>
            </a:endParaRPr>
          </a:p>
        </p:txBody>
      </p:sp>
    </p:spTree>
    <p:extLst>
      <p:ext uri="{BB962C8B-B14F-4D97-AF65-F5344CB8AC3E}">
        <p14:creationId xmlns:p14="http://schemas.microsoft.com/office/powerpoint/2010/main" val="1704671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514350"/>
            <a:ext cx="4535088" cy="584775"/>
          </a:xfrm>
          <a:prstGeom prst="rect">
            <a:avLst/>
          </a:prstGeom>
          <a:noFill/>
        </p:spPr>
        <p:txBody>
          <a:bodyPr wrap="none" rtlCol="0">
            <a:spAutoFit/>
          </a:bodyPr>
          <a:lstStyle/>
          <a:p>
            <a:r>
              <a:rPr lang="en-US" sz="3200" b="1" dirty="0"/>
              <a:t>“Batch” Gradient Descent</a:t>
            </a:r>
          </a:p>
        </p:txBody>
      </p:sp>
      <p:sp>
        <p:nvSpPr>
          <p:cNvPr id="3" name="TextBox 2"/>
          <p:cNvSpPr txBox="1"/>
          <p:nvPr/>
        </p:nvSpPr>
        <p:spPr>
          <a:xfrm>
            <a:off x="685800" y="1428750"/>
            <a:ext cx="7833880" cy="1200329"/>
          </a:xfrm>
          <a:prstGeom prst="rect">
            <a:avLst/>
          </a:prstGeom>
          <a:noFill/>
        </p:spPr>
        <p:txBody>
          <a:bodyPr wrap="square" rtlCol="0">
            <a:spAutoFit/>
          </a:bodyPr>
          <a:lstStyle/>
          <a:p>
            <a:r>
              <a:rPr lang="en-US" sz="3600" dirty="0"/>
              <a:t>“Batch”: Each step of gradient descent uses all the training examples.</a:t>
            </a:r>
          </a:p>
        </p:txBody>
      </p:sp>
      <p:sp>
        <p:nvSpPr>
          <p:cNvPr id="5" name="Date Placeholder 4"/>
          <p:cNvSpPr>
            <a:spLocks noGrp="1"/>
          </p:cNvSpPr>
          <p:nvPr>
            <p:ph type="dt" sz="half" idx="10"/>
          </p:nvPr>
        </p:nvSpPr>
        <p:spPr/>
        <p:txBody>
          <a:bodyPr/>
          <a:lstStyle/>
          <a:p>
            <a:fld id="{622D71D2-2BA9-45E8-A4BB-437A553B8876}" type="datetime1">
              <a:rPr lang="en-US" smtClean="0">
                <a:solidFill>
                  <a:prstClr val="black">
                    <a:tint val="75000"/>
                  </a:prstClr>
                </a:solidFill>
              </a:rPr>
              <a:t>9/10/2025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a:solidFill>
                  <a:prstClr val="black">
                    <a:tint val="75000"/>
                  </a:prstClr>
                </a:solidFill>
              </a:rPr>
              <a:t>Linear Regression</a:t>
            </a: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55</a:t>
            </a:fld>
            <a:endParaRPr lang="en-US">
              <a:solidFill>
                <a:prstClr val="black">
                  <a:tint val="75000"/>
                </a:prstClr>
              </a:solidFill>
            </a:endParaRPr>
          </a:p>
        </p:txBody>
      </p:sp>
    </p:spTree>
    <p:extLst>
      <p:ext uri="{BB962C8B-B14F-4D97-AF65-F5344CB8AC3E}">
        <p14:creationId xmlns:p14="http://schemas.microsoft.com/office/powerpoint/2010/main" val="9984115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8265A8-F711-FA63-F8B8-C7B0AAB6D677}"/>
              </a:ext>
            </a:extLst>
          </p:cNvPr>
          <p:cNvSpPr>
            <a:spLocks noGrp="1"/>
          </p:cNvSpPr>
          <p:nvPr>
            <p:ph type="dt" sz="half" idx="10"/>
          </p:nvPr>
        </p:nvSpPr>
        <p:spPr/>
        <p:txBody>
          <a:bodyPr/>
          <a:lstStyle/>
          <a:p>
            <a:fld id="{4E1295AC-1DCA-48F8-B21B-B79B192BE89E}" type="datetime1">
              <a:rPr lang="en-US" smtClean="0">
                <a:solidFill>
                  <a:prstClr val="black">
                    <a:tint val="75000"/>
                  </a:prstClr>
                </a:solidFill>
              </a:rPr>
              <a:t>9/10/2025</a:t>
            </a:fld>
            <a:endParaRPr lang="en-US">
              <a:solidFill>
                <a:prstClr val="black">
                  <a:tint val="75000"/>
                </a:prstClr>
              </a:solidFill>
            </a:endParaRPr>
          </a:p>
        </p:txBody>
      </p:sp>
      <p:sp>
        <p:nvSpPr>
          <p:cNvPr id="3" name="Footer Placeholder 2">
            <a:extLst>
              <a:ext uri="{FF2B5EF4-FFF2-40B4-BE49-F238E27FC236}">
                <a16:creationId xmlns:a16="http://schemas.microsoft.com/office/drawing/2014/main" id="{65B80C72-067C-3D36-4CE6-66F9ABDC2534}"/>
              </a:ext>
            </a:extLst>
          </p:cNvPr>
          <p:cNvSpPr>
            <a:spLocks noGrp="1"/>
          </p:cNvSpPr>
          <p:nvPr>
            <p:ph type="ftr" sz="quarter" idx="11"/>
          </p:nvPr>
        </p:nvSpPr>
        <p:spPr/>
        <p:txBody>
          <a:bodyPr/>
          <a:lstStyle/>
          <a:p>
            <a:r>
              <a:rPr lang="en-US">
                <a:solidFill>
                  <a:prstClr val="black">
                    <a:tint val="75000"/>
                  </a:prstClr>
                </a:solidFill>
              </a:rPr>
              <a:t>Linear Regression</a:t>
            </a:r>
          </a:p>
        </p:txBody>
      </p:sp>
      <p:sp>
        <p:nvSpPr>
          <p:cNvPr id="4" name="Slide Number Placeholder 3">
            <a:extLst>
              <a:ext uri="{FF2B5EF4-FFF2-40B4-BE49-F238E27FC236}">
                <a16:creationId xmlns:a16="http://schemas.microsoft.com/office/drawing/2014/main" id="{8FA10E20-6403-742B-C720-6FF4B898148E}"/>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56</a:t>
            </a:fld>
            <a:endParaRPr lang="en-US">
              <a:solidFill>
                <a:prstClr val="black">
                  <a:tint val="75000"/>
                </a:prstClr>
              </a:solidFill>
            </a:endParaRPr>
          </a:p>
        </p:txBody>
      </p:sp>
      <p:sp>
        <p:nvSpPr>
          <p:cNvPr id="12" name="TextBox 11">
            <a:extLst>
              <a:ext uri="{FF2B5EF4-FFF2-40B4-BE49-F238E27FC236}">
                <a16:creationId xmlns:a16="http://schemas.microsoft.com/office/drawing/2014/main" id="{993183AE-0DE2-9C7D-BF62-2078B33F009C}"/>
              </a:ext>
            </a:extLst>
          </p:cNvPr>
          <p:cNvSpPr txBox="1"/>
          <p:nvPr/>
        </p:nvSpPr>
        <p:spPr>
          <a:xfrm>
            <a:off x="165101" y="131834"/>
            <a:ext cx="8974281" cy="4154984"/>
          </a:xfrm>
          <a:prstGeom prst="rect">
            <a:avLst/>
          </a:prstGeom>
          <a:noFill/>
        </p:spPr>
        <p:txBody>
          <a:bodyPr wrap="square">
            <a:spAutoFit/>
          </a:bodyPr>
          <a:lstStyle/>
          <a:p>
            <a:pPr marL="0" marR="0">
              <a:buNone/>
            </a:pPr>
            <a:r>
              <a:rPr lang="en-US" sz="2400" b="1" kern="1800" dirty="0">
                <a:effectLst/>
                <a:latin typeface="Times New Roman" panose="02020603050405020304" pitchFamily="18" charset="0"/>
                <a:ea typeface="Times New Roman" panose="02020603050405020304" pitchFamily="18" charset="0"/>
                <a:cs typeface="Times New Roman" panose="02020603050405020304" pitchFamily="18" charset="0"/>
              </a:rPr>
              <a:t>Meaning of Sustainability in ML/DL Models</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buNone/>
            </a:pPr>
            <a:r>
              <a:rPr lang="en-US" sz="2400" b="1" kern="0" dirty="0">
                <a:effectLst/>
                <a:latin typeface="Times New Roman" panose="02020603050405020304" pitchFamily="18" charset="0"/>
                <a:ea typeface="Times New Roman" panose="02020603050405020304" pitchFamily="18" charset="0"/>
                <a:cs typeface="Times New Roman" panose="02020603050405020304" pitchFamily="18" charset="0"/>
              </a:rPr>
              <a:t>1. Technical Sustainability</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A model is sustainable if it </a:t>
            </a:r>
            <a:r>
              <a:rPr lang="en-US" sz="2400" b="1" kern="0" dirty="0">
                <a:effectLst/>
                <a:latin typeface="Times New Roman" panose="02020603050405020304" pitchFamily="18" charset="0"/>
                <a:ea typeface="Times New Roman" panose="02020603050405020304" pitchFamily="18" charset="0"/>
                <a:cs typeface="Times New Roman" panose="02020603050405020304" pitchFamily="18" charset="0"/>
              </a:rPr>
              <a:t>remains valid and reliable over time</a:t>
            </a: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 even when:</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Data distribution changes (</a:t>
            </a:r>
            <a:r>
              <a:rPr lang="en-US" sz="2400" b="1" kern="0" dirty="0">
                <a:effectLst/>
                <a:latin typeface="Times New Roman" panose="02020603050405020304" pitchFamily="18" charset="0"/>
                <a:ea typeface="Times New Roman" panose="02020603050405020304" pitchFamily="18" charset="0"/>
                <a:cs typeface="Times New Roman" panose="02020603050405020304" pitchFamily="18" charset="0"/>
              </a:rPr>
              <a:t>concept drift, data drift</a:t>
            </a: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New environments or domains are introduced (</a:t>
            </a:r>
            <a:r>
              <a:rPr lang="en-US" sz="2400" b="1" kern="0" dirty="0">
                <a:effectLst/>
                <a:latin typeface="Times New Roman" panose="02020603050405020304" pitchFamily="18" charset="0"/>
                <a:ea typeface="Times New Roman" panose="02020603050405020304" pitchFamily="18" charset="0"/>
                <a:cs typeface="Times New Roman" panose="02020603050405020304" pitchFamily="18" charset="0"/>
              </a:rPr>
              <a:t>generalizability</a:t>
            </a: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Requires </a:t>
            </a:r>
            <a:r>
              <a:rPr lang="en-US" sz="2400" b="1" kern="0" dirty="0">
                <a:effectLst/>
                <a:latin typeface="Times New Roman" panose="02020603050405020304" pitchFamily="18" charset="0"/>
                <a:ea typeface="Times New Roman" panose="02020603050405020304" pitchFamily="18" charset="0"/>
                <a:cs typeface="Times New Roman" panose="02020603050405020304" pitchFamily="18" charset="0"/>
              </a:rPr>
              <a:t>continuous monitoring, retraining, explainability, and reproducibility</a:t>
            </a: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Example: A fraud detection model must adapt to new fraud patterns to stay useful.</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buNone/>
            </a:pP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633876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EECA6F-3FDF-0E9F-0976-3A81FEF5BBC9}"/>
              </a:ext>
            </a:extLst>
          </p:cNvPr>
          <p:cNvSpPr>
            <a:spLocks noGrp="1"/>
          </p:cNvSpPr>
          <p:nvPr>
            <p:ph type="dt" sz="half" idx="10"/>
          </p:nvPr>
        </p:nvSpPr>
        <p:spPr/>
        <p:txBody>
          <a:bodyPr/>
          <a:lstStyle/>
          <a:p>
            <a:fld id="{4E1295AC-1DCA-48F8-B21B-B79B192BE89E}" type="datetime1">
              <a:rPr lang="en-US" smtClean="0">
                <a:solidFill>
                  <a:prstClr val="black">
                    <a:tint val="75000"/>
                  </a:prstClr>
                </a:solidFill>
              </a:rPr>
              <a:t>9/10/2025</a:t>
            </a:fld>
            <a:endParaRPr lang="en-US">
              <a:solidFill>
                <a:prstClr val="black">
                  <a:tint val="75000"/>
                </a:prstClr>
              </a:solidFill>
            </a:endParaRPr>
          </a:p>
        </p:txBody>
      </p:sp>
      <p:sp>
        <p:nvSpPr>
          <p:cNvPr id="3" name="Footer Placeholder 2">
            <a:extLst>
              <a:ext uri="{FF2B5EF4-FFF2-40B4-BE49-F238E27FC236}">
                <a16:creationId xmlns:a16="http://schemas.microsoft.com/office/drawing/2014/main" id="{066AAD75-BE6B-43C9-AA60-7EFE62559E15}"/>
              </a:ext>
            </a:extLst>
          </p:cNvPr>
          <p:cNvSpPr>
            <a:spLocks noGrp="1"/>
          </p:cNvSpPr>
          <p:nvPr>
            <p:ph type="ftr" sz="quarter" idx="11"/>
          </p:nvPr>
        </p:nvSpPr>
        <p:spPr/>
        <p:txBody>
          <a:bodyPr/>
          <a:lstStyle/>
          <a:p>
            <a:r>
              <a:rPr lang="en-US">
                <a:solidFill>
                  <a:prstClr val="black">
                    <a:tint val="75000"/>
                  </a:prstClr>
                </a:solidFill>
              </a:rPr>
              <a:t>Linear Regression</a:t>
            </a:r>
          </a:p>
        </p:txBody>
      </p:sp>
      <p:sp>
        <p:nvSpPr>
          <p:cNvPr id="4" name="Slide Number Placeholder 3">
            <a:extLst>
              <a:ext uri="{FF2B5EF4-FFF2-40B4-BE49-F238E27FC236}">
                <a16:creationId xmlns:a16="http://schemas.microsoft.com/office/drawing/2014/main" id="{A2632DC8-F98C-84F1-3885-4355CBE73915}"/>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57</a:t>
            </a:fld>
            <a:endParaRPr lang="en-US">
              <a:solidFill>
                <a:prstClr val="black">
                  <a:tint val="75000"/>
                </a:prstClr>
              </a:solidFill>
            </a:endParaRPr>
          </a:p>
        </p:txBody>
      </p:sp>
      <p:sp>
        <p:nvSpPr>
          <p:cNvPr id="6" name="TextBox 5">
            <a:extLst>
              <a:ext uri="{FF2B5EF4-FFF2-40B4-BE49-F238E27FC236}">
                <a16:creationId xmlns:a16="http://schemas.microsoft.com/office/drawing/2014/main" id="{CD7245DB-C311-2672-E2B9-09727C6E296C}"/>
              </a:ext>
            </a:extLst>
          </p:cNvPr>
          <p:cNvSpPr txBox="1"/>
          <p:nvPr/>
        </p:nvSpPr>
        <p:spPr>
          <a:xfrm>
            <a:off x="114300" y="125985"/>
            <a:ext cx="8801099" cy="3245953"/>
          </a:xfrm>
          <a:prstGeom prst="rect">
            <a:avLst/>
          </a:prstGeom>
          <a:noFill/>
        </p:spPr>
        <p:txBody>
          <a:bodyPr wrap="square">
            <a:spAutoFit/>
          </a:bodyPr>
          <a:lstStyle/>
          <a:p>
            <a:pPr marL="0" marR="0">
              <a:buNone/>
            </a:pPr>
            <a:r>
              <a:rPr lang="en-US" sz="2400" b="1" kern="0" dirty="0">
                <a:effectLst/>
                <a:latin typeface="Times New Roman" panose="02020603050405020304" pitchFamily="18" charset="0"/>
                <a:ea typeface="Times New Roman" panose="02020603050405020304" pitchFamily="18" charset="0"/>
                <a:cs typeface="Times New Roman" panose="02020603050405020304" pitchFamily="18" charset="0"/>
              </a:rPr>
              <a:t>2. Environmental Sustainability</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Training large DL models consumes enormous </a:t>
            </a:r>
            <a:r>
              <a:rPr lang="en-US" sz="2400" b="1" kern="0" dirty="0">
                <a:effectLst/>
                <a:latin typeface="Times New Roman" panose="02020603050405020304" pitchFamily="18" charset="0"/>
                <a:ea typeface="Times New Roman" panose="02020603050405020304" pitchFamily="18" charset="0"/>
                <a:cs typeface="Times New Roman" panose="02020603050405020304" pitchFamily="18" charset="0"/>
              </a:rPr>
              <a:t>energy and compute resources</a:t>
            </a: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Sustainable ML means </a:t>
            </a:r>
            <a:r>
              <a:rPr lang="en-US" sz="2400" b="1" kern="0" dirty="0">
                <a:effectLst/>
                <a:latin typeface="Times New Roman" panose="02020603050405020304" pitchFamily="18" charset="0"/>
                <a:ea typeface="Times New Roman" panose="02020603050405020304" pitchFamily="18" charset="0"/>
                <a:cs typeface="Times New Roman" panose="02020603050405020304" pitchFamily="18" charset="0"/>
              </a:rPr>
              <a:t>optimizing energy use</a:t>
            </a: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 using </a:t>
            </a:r>
            <a:r>
              <a:rPr lang="en-US" sz="2400" b="1" kern="0" dirty="0">
                <a:effectLst/>
                <a:latin typeface="Times New Roman" panose="02020603050405020304" pitchFamily="18" charset="0"/>
                <a:ea typeface="Times New Roman" panose="02020603050405020304" pitchFamily="18" charset="0"/>
                <a:cs typeface="Times New Roman" panose="02020603050405020304" pitchFamily="18" charset="0"/>
              </a:rPr>
              <a:t>efficient architectures</a:t>
            </a: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 (e.g., pruning, quantization, </a:t>
            </a:r>
            <a:r>
              <a:rPr lang="en-US" sz="2400" kern="0" dirty="0" err="1">
                <a:effectLst/>
                <a:latin typeface="Times New Roman" panose="02020603050405020304" pitchFamily="18" charset="0"/>
                <a:ea typeface="Times New Roman" panose="02020603050405020304" pitchFamily="18" charset="0"/>
                <a:cs typeface="Times New Roman" panose="02020603050405020304" pitchFamily="18" charset="0"/>
              </a:rPr>
              <a:t>TinyML</a:t>
            </a: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 and considering the </a:t>
            </a:r>
            <a:r>
              <a:rPr lang="en-US" sz="2400" b="1" kern="0" dirty="0">
                <a:effectLst/>
                <a:latin typeface="Times New Roman" panose="02020603050405020304" pitchFamily="18" charset="0"/>
                <a:ea typeface="Times New Roman" panose="02020603050405020304" pitchFamily="18" charset="0"/>
                <a:cs typeface="Times New Roman" panose="02020603050405020304" pitchFamily="18" charset="0"/>
              </a:rPr>
              <a:t>carbon footprint</a:t>
            </a: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 of training/inference.</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Example: GPT-3 training required thousands of GPU-hours → sustainability calls for greener AI practices.</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291308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86166E-4E55-BAB3-5ED2-30D5B5FF8A1C}"/>
              </a:ext>
            </a:extLst>
          </p:cNvPr>
          <p:cNvSpPr>
            <a:spLocks noGrp="1"/>
          </p:cNvSpPr>
          <p:nvPr>
            <p:ph type="dt" sz="half" idx="10"/>
          </p:nvPr>
        </p:nvSpPr>
        <p:spPr/>
        <p:txBody>
          <a:bodyPr/>
          <a:lstStyle/>
          <a:p>
            <a:fld id="{4E1295AC-1DCA-48F8-B21B-B79B192BE89E}" type="datetime1">
              <a:rPr lang="en-US" smtClean="0">
                <a:solidFill>
                  <a:prstClr val="black">
                    <a:tint val="75000"/>
                  </a:prstClr>
                </a:solidFill>
              </a:rPr>
              <a:t>9/10/2025</a:t>
            </a:fld>
            <a:endParaRPr lang="en-US">
              <a:solidFill>
                <a:prstClr val="black">
                  <a:tint val="75000"/>
                </a:prstClr>
              </a:solidFill>
            </a:endParaRPr>
          </a:p>
        </p:txBody>
      </p:sp>
      <p:sp>
        <p:nvSpPr>
          <p:cNvPr id="3" name="Footer Placeholder 2">
            <a:extLst>
              <a:ext uri="{FF2B5EF4-FFF2-40B4-BE49-F238E27FC236}">
                <a16:creationId xmlns:a16="http://schemas.microsoft.com/office/drawing/2014/main" id="{EDEDC84D-9DCC-4772-5BC1-F7D8BD2C2E40}"/>
              </a:ext>
            </a:extLst>
          </p:cNvPr>
          <p:cNvSpPr>
            <a:spLocks noGrp="1"/>
          </p:cNvSpPr>
          <p:nvPr>
            <p:ph type="ftr" sz="quarter" idx="11"/>
          </p:nvPr>
        </p:nvSpPr>
        <p:spPr/>
        <p:txBody>
          <a:bodyPr/>
          <a:lstStyle/>
          <a:p>
            <a:r>
              <a:rPr lang="en-US">
                <a:solidFill>
                  <a:prstClr val="black">
                    <a:tint val="75000"/>
                  </a:prstClr>
                </a:solidFill>
              </a:rPr>
              <a:t>Linear Regression</a:t>
            </a:r>
          </a:p>
        </p:txBody>
      </p:sp>
      <p:sp>
        <p:nvSpPr>
          <p:cNvPr id="4" name="Slide Number Placeholder 3">
            <a:extLst>
              <a:ext uri="{FF2B5EF4-FFF2-40B4-BE49-F238E27FC236}">
                <a16:creationId xmlns:a16="http://schemas.microsoft.com/office/drawing/2014/main" id="{922F427B-6809-2DC9-D452-B01D0F84591D}"/>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58</a:t>
            </a:fld>
            <a:endParaRPr lang="en-US">
              <a:solidFill>
                <a:prstClr val="black">
                  <a:tint val="75000"/>
                </a:prstClr>
              </a:solidFill>
            </a:endParaRPr>
          </a:p>
        </p:txBody>
      </p:sp>
      <p:sp>
        <p:nvSpPr>
          <p:cNvPr id="6" name="TextBox 5">
            <a:extLst>
              <a:ext uri="{FF2B5EF4-FFF2-40B4-BE49-F238E27FC236}">
                <a16:creationId xmlns:a16="http://schemas.microsoft.com/office/drawing/2014/main" id="{21235DAD-4B05-ECB8-4D00-484358793C2C}"/>
              </a:ext>
            </a:extLst>
          </p:cNvPr>
          <p:cNvSpPr txBox="1"/>
          <p:nvPr/>
        </p:nvSpPr>
        <p:spPr>
          <a:xfrm>
            <a:off x="228600" y="209550"/>
            <a:ext cx="8763000" cy="4071692"/>
          </a:xfrm>
          <a:prstGeom prst="rect">
            <a:avLst/>
          </a:prstGeom>
          <a:noFill/>
        </p:spPr>
        <p:txBody>
          <a:bodyPr wrap="square">
            <a:spAutoFit/>
          </a:bodyPr>
          <a:lstStyle/>
          <a:p>
            <a:pPr marL="0" marR="0">
              <a:lnSpc>
                <a:spcPct val="115000"/>
              </a:lnSpc>
              <a:spcAft>
                <a:spcPts val="800"/>
              </a:spcAft>
              <a:buNone/>
            </a:pPr>
            <a:r>
              <a:rPr lang="en-US" sz="2400" b="1" kern="0" dirty="0">
                <a:effectLst/>
                <a:latin typeface="Times New Roman" panose="02020603050405020304" pitchFamily="18" charset="0"/>
                <a:ea typeface="Times New Roman" panose="02020603050405020304" pitchFamily="18" charset="0"/>
                <a:cs typeface="Times New Roman" panose="02020603050405020304" pitchFamily="18" charset="0"/>
              </a:rPr>
              <a:t>3. Economic &amp; Operational Sustainability</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A model is sustainable if it is </a:t>
            </a:r>
            <a:r>
              <a:rPr lang="en-US" sz="2400" b="1" kern="0" dirty="0">
                <a:effectLst/>
                <a:latin typeface="Times New Roman" panose="02020603050405020304" pitchFamily="18" charset="0"/>
                <a:ea typeface="Times New Roman" panose="02020603050405020304" pitchFamily="18" charset="0"/>
                <a:cs typeface="Times New Roman" panose="02020603050405020304" pitchFamily="18" charset="0"/>
              </a:rPr>
              <a:t>cost-effective</a:t>
            </a: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 to deploy, maintain, and scale.</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Includes:</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marR="0" lvl="1" indent="-285750">
              <a:lnSpc>
                <a:spcPct val="115000"/>
              </a:lnSpc>
              <a:spcAft>
                <a:spcPts val="800"/>
              </a:spcAft>
              <a:buSzPts val="1000"/>
              <a:buFont typeface="Courier New" panose="02070309020205020404" pitchFamily="49" charset="0"/>
              <a:buChar char="o"/>
              <a:tabLst>
                <a:tab pos="914400" algn="l"/>
              </a:tabLst>
            </a:pP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Efficient inference for real-time applications.</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marR="0" lvl="1" indent="-285750">
              <a:lnSpc>
                <a:spcPct val="115000"/>
              </a:lnSpc>
              <a:spcAft>
                <a:spcPts val="800"/>
              </a:spcAft>
              <a:buSzPts val="1000"/>
              <a:buFont typeface="Courier New" panose="02070309020205020404" pitchFamily="49" charset="0"/>
              <a:buChar char="o"/>
              <a:tabLst>
                <a:tab pos="914400" algn="l"/>
              </a:tabLst>
            </a:pP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Cloud vs. edge deployment trade-offs.</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marR="0" lvl="1" indent="-285750">
              <a:lnSpc>
                <a:spcPct val="115000"/>
              </a:lnSpc>
              <a:spcAft>
                <a:spcPts val="800"/>
              </a:spcAft>
              <a:buSzPts val="1000"/>
              <a:buFont typeface="Courier New" panose="02070309020205020404" pitchFamily="49" charset="0"/>
              <a:buChar char="o"/>
              <a:tabLst>
                <a:tab pos="914400" algn="l"/>
              </a:tabLst>
            </a:pP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Automation of retraining pipelines (</a:t>
            </a:r>
            <a:r>
              <a:rPr lang="en-US" sz="2400" kern="0" dirty="0" err="1">
                <a:effectLst/>
                <a:latin typeface="Times New Roman" panose="02020603050405020304" pitchFamily="18" charset="0"/>
                <a:ea typeface="Times New Roman" panose="02020603050405020304" pitchFamily="18" charset="0"/>
                <a:cs typeface="Times New Roman" panose="02020603050405020304" pitchFamily="18" charset="0"/>
              </a:rPr>
              <a:t>MLOps</a:t>
            </a: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303989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BEC319-9A4B-8E73-0B98-CB02FAEC6097}"/>
              </a:ext>
            </a:extLst>
          </p:cNvPr>
          <p:cNvSpPr>
            <a:spLocks noGrp="1"/>
          </p:cNvSpPr>
          <p:nvPr>
            <p:ph type="dt" sz="half" idx="10"/>
          </p:nvPr>
        </p:nvSpPr>
        <p:spPr/>
        <p:txBody>
          <a:bodyPr/>
          <a:lstStyle/>
          <a:p>
            <a:fld id="{4E1295AC-1DCA-48F8-B21B-B79B192BE89E}" type="datetime1">
              <a:rPr lang="en-US" smtClean="0">
                <a:solidFill>
                  <a:prstClr val="black">
                    <a:tint val="75000"/>
                  </a:prstClr>
                </a:solidFill>
              </a:rPr>
              <a:t>9/10/2025</a:t>
            </a:fld>
            <a:endParaRPr lang="en-US">
              <a:solidFill>
                <a:prstClr val="black">
                  <a:tint val="75000"/>
                </a:prstClr>
              </a:solidFill>
            </a:endParaRPr>
          </a:p>
        </p:txBody>
      </p:sp>
      <p:sp>
        <p:nvSpPr>
          <p:cNvPr id="3" name="Footer Placeholder 2">
            <a:extLst>
              <a:ext uri="{FF2B5EF4-FFF2-40B4-BE49-F238E27FC236}">
                <a16:creationId xmlns:a16="http://schemas.microsoft.com/office/drawing/2014/main" id="{19472C88-B352-76F1-C5F1-1FAFEEA6EC66}"/>
              </a:ext>
            </a:extLst>
          </p:cNvPr>
          <p:cNvSpPr>
            <a:spLocks noGrp="1"/>
          </p:cNvSpPr>
          <p:nvPr>
            <p:ph type="ftr" sz="quarter" idx="11"/>
          </p:nvPr>
        </p:nvSpPr>
        <p:spPr/>
        <p:txBody>
          <a:bodyPr/>
          <a:lstStyle/>
          <a:p>
            <a:r>
              <a:rPr lang="en-US">
                <a:solidFill>
                  <a:prstClr val="black">
                    <a:tint val="75000"/>
                  </a:prstClr>
                </a:solidFill>
              </a:rPr>
              <a:t>Linear Regression</a:t>
            </a:r>
          </a:p>
        </p:txBody>
      </p:sp>
      <p:sp>
        <p:nvSpPr>
          <p:cNvPr id="4" name="Slide Number Placeholder 3">
            <a:extLst>
              <a:ext uri="{FF2B5EF4-FFF2-40B4-BE49-F238E27FC236}">
                <a16:creationId xmlns:a16="http://schemas.microsoft.com/office/drawing/2014/main" id="{56F9F63F-9AE6-F427-142B-0C89D48D2CE8}"/>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59</a:t>
            </a:fld>
            <a:endParaRPr lang="en-US">
              <a:solidFill>
                <a:prstClr val="black">
                  <a:tint val="75000"/>
                </a:prstClr>
              </a:solidFill>
            </a:endParaRPr>
          </a:p>
        </p:txBody>
      </p:sp>
      <p:sp>
        <p:nvSpPr>
          <p:cNvPr id="6" name="TextBox 5">
            <a:extLst>
              <a:ext uri="{FF2B5EF4-FFF2-40B4-BE49-F238E27FC236}">
                <a16:creationId xmlns:a16="http://schemas.microsoft.com/office/drawing/2014/main" id="{7DA01DA3-A939-D439-E04B-0DC2CEA74397}"/>
              </a:ext>
            </a:extLst>
          </p:cNvPr>
          <p:cNvSpPr txBox="1"/>
          <p:nvPr/>
        </p:nvSpPr>
        <p:spPr>
          <a:xfrm>
            <a:off x="190500" y="209550"/>
            <a:ext cx="8763000" cy="3646960"/>
          </a:xfrm>
          <a:prstGeom prst="rect">
            <a:avLst/>
          </a:prstGeom>
          <a:noFill/>
        </p:spPr>
        <p:txBody>
          <a:bodyPr wrap="square">
            <a:spAutoFit/>
          </a:bodyPr>
          <a:lstStyle/>
          <a:p>
            <a:pPr marL="0" marR="0">
              <a:lnSpc>
                <a:spcPct val="115000"/>
              </a:lnSpc>
              <a:spcAft>
                <a:spcPts val="800"/>
              </a:spcAft>
              <a:buNone/>
            </a:pP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2400" b="1" kern="0" dirty="0">
                <a:effectLst/>
                <a:latin typeface="Times New Roman" panose="02020603050405020304" pitchFamily="18" charset="0"/>
                <a:ea typeface="Times New Roman" panose="02020603050405020304" pitchFamily="18" charset="0"/>
                <a:cs typeface="Times New Roman" panose="02020603050405020304" pitchFamily="18" charset="0"/>
              </a:rPr>
              <a:t>4. Ethical &amp; Social Sustainability</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Models must be </a:t>
            </a:r>
            <a:r>
              <a:rPr lang="en-US" sz="2400" b="1" kern="0" dirty="0">
                <a:effectLst/>
                <a:latin typeface="Times New Roman" panose="02020603050405020304" pitchFamily="18" charset="0"/>
                <a:ea typeface="Times New Roman" panose="02020603050405020304" pitchFamily="18" charset="0"/>
                <a:cs typeface="Times New Roman" panose="02020603050405020304" pitchFamily="18" charset="0"/>
              </a:rPr>
              <a:t>fair, transparent, explainable, and unbiased</a:t>
            </a: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15000"/>
              </a:lnSpc>
              <a:spcAft>
                <a:spcPts val="800"/>
              </a:spcAft>
              <a:buSzPts val="1000"/>
              <a:buFont typeface="Symbol" panose="05050102010706020507" pitchFamily="18" charset="2"/>
              <a:buChar char=""/>
              <a:tabLst>
                <a:tab pos="457200" algn="l"/>
              </a:tabLst>
            </a:pP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A sustainable ML/DL model:</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marR="0" lvl="1" indent="-285750">
              <a:lnSpc>
                <a:spcPct val="115000"/>
              </a:lnSpc>
              <a:spcAft>
                <a:spcPts val="800"/>
              </a:spcAft>
              <a:buSzPts val="1000"/>
              <a:buFont typeface="Courier New" panose="02070309020205020404" pitchFamily="49" charset="0"/>
              <a:buChar char="o"/>
              <a:tabLst>
                <a:tab pos="914400" algn="l"/>
              </a:tabLst>
            </a:pP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Avoids discrimination.</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marR="0" lvl="1" indent="-285750">
              <a:lnSpc>
                <a:spcPct val="115000"/>
              </a:lnSpc>
              <a:spcAft>
                <a:spcPts val="800"/>
              </a:spcAft>
              <a:buSzPts val="1000"/>
              <a:buFont typeface="Courier New" panose="02070309020205020404" pitchFamily="49" charset="0"/>
              <a:buChar char="o"/>
              <a:tabLst>
                <a:tab pos="914400" algn="l"/>
              </a:tabLst>
            </a:pP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Respects privacy (e.g., differential privacy, federated learning).</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marR="0" lvl="1" indent="-285750">
              <a:lnSpc>
                <a:spcPct val="115000"/>
              </a:lnSpc>
              <a:spcAft>
                <a:spcPts val="800"/>
              </a:spcAft>
              <a:buSzPts val="1000"/>
              <a:buFont typeface="Courier New" panose="02070309020205020404" pitchFamily="49" charset="0"/>
              <a:buChar char="o"/>
              <a:tabLst>
                <a:tab pos="914400" algn="l"/>
              </a:tabLst>
            </a:pP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Supports long-term societal benefit.</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351591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VIOUS_ACTIVE_SLIDE" val="593"/>
</p:tagLst>
</file>

<file path=ppt/tags/tag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 = \theta_0 + \theta_1 x&#10;$&#10;% \delta_i^{(l)} = \left(\sum_j W_{ji}^{(l)} \delta_j^{(l+1)}\right) f'(z_i^{(l)})&#10;&#10;&#10;&#10;\end{document}"/>
  <p:tag name="IGUANATEXSIZE" val="30"/>
</p:tagLst>
</file>

<file path=ppt/tags/tag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 = \theta_0 + \theta_1 x&#10;$&#10;% \delta_i^{(l)} = \left(\sum_j W_{ji}^{(l)} \delta_j^{(l+1)}\right) f'(z_i^{(l)})&#10;&#10;&#10;&#10;\end{document}"/>
  <p:tag name="IGUANATEXSIZE" val="30"/>
</p:tagLst>
</file>

<file path=ppt/tags/tag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i&#10;$&#10;% \delta_i^{(l)} = \left(\sum_j W_{ji}^{(l)} \delta_j^{(l+1)}\right) f'(z_i^{(l)})&#10;&#10;&#10;&#10;\end{document}"/>
  <p:tag name="IGUANATEXSIZE" val="30"/>
</p:tagLst>
</file>

<file path=ppt/tags/tag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i&#10;$&#10;% \delta_i^{(l)} = \left(\sum_j W_{ji}^{(l)} \delta_j^{(l+1)}\right) f'(z_i^{(l)})&#10;&#10;&#10;&#10;\end{document}"/>
  <p:tag name="IGUANATEXSIZE" val="30"/>
</p:tagLst>
</file>

<file path=ppt/tags/tag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 = \theta_0 + \theta_1 x&#10;$&#10;% \delta_i^{(l)} = \left(\sum_j W_{ji}^{(l)} \delta_j^{(l+1)}\right) f'(z_i^{(l)})&#10;&#10;&#10;&#10;\end{document}"/>
  <p:tag name="IGUANATEXSIZE" val="30"/>
</p:tagLst>
</file>

<file path=ppt/tags/tag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theta_0 = 1.5$&#10;&#10;$\theta_1 = 0$&#10;&#10;% \delta_i^{(l)} = \left(\sum_j W_{ji}^{(l)} \delta_j^{(l+1)}\right) f'(z_i^{(l)})&#10;&#10;&#10;&#10;\end{document}"/>
  <p:tag name="IGUANATEXSIZE" val="30"/>
</p:tagLst>
</file>

<file path=ppt/tags/tag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theta_0 = 0$&#10;&#10;$\theta_1 = 0.5$&#10;&#10;% \delta_i^{(l)} = \left(\sum_j W_{ji}^{(l)} \delta_j^{(l+1)}\right) f'(z_i^{(l)})&#10;&#10;&#10;&#10;\end{document}"/>
  <p:tag name="IGUANATEXSIZE" val="30"/>
</p:tagLst>
</file>

<file path=ppt/tags/tag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theta_0 = 1$&#10;&#10;$\theta_1 = 0.5$&#10;&#10;% \delta_i^{(l)} = \left(\sum_j W_{ji}^{(l)} \delta_j^{(l+1)}\right) f'(z_i^{(l)})&#10;&#10;&#10;&#10;\end{document}"/>
  <p:tag name="IGUANATEXSIZE" val="30"/>
</p:tagLst>
</file>

<file path=ppt/tags/tag1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 = \frac{1}{2m} \sum\limits^{m}_{i=1} \left( h_\theta(x^{(i)}) - y^{(i)} \right)^2&#10;$&#10;% \delta_i^{(l)} = \left(\sum_j W_{ji}^{(l)} \delta_j^{(l+1)}\right) f'(z_i^{(l)})&#10;&#10;&#10;&#10;\end{document}"/>
  <p:tag name="IGUANATEXSIZE" val="24"/>
</p:tagLst>
</file>

<file path=ppt/tags/tag1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underset{\theta_0,\theta_1}{\mathrm{minimize}} \; J(\theta_0,\theta_1)&#10;$&#10;% \delta_i^{(l)} = \left(\sum_j W_{ji}^{(l)} \delta_j^{(l+1)}\right) f'(z_i^{(l)})&#10;&#10;&#10;&#10;\end{document}"/>
  <p:tag name="IGUANATEXSIZE" val="30"/>
</p:tagLst>
</file>

<file path=ppt/tags/tag1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y&#10;$&#10;% \delta_i^{(l)} = \left(\sum_j W_{ji}^{(l)} \delta_j^{(l+1)}\right) f'(z_i^{(l)})&#10;&#10;&#10;&#10;\end{document}"/>
  <p:tag name="IGUANATEXSIZE" val="30"/>
</p:tagLst>
</file>

<file path=ppt/tags/tag1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x,y)&#10;$&#10;% \delta_i^{(l)} = \left(\sum_j W_{ji}^{(l)} \delta_j^{(l+1)}\right) f'(z_i^{(l)})&#10;&#10;&#10;&#10;\end{document}"/>
  <p:tag name="IGUANATEXSIZE" val="30"/>
</p:tagLst>
</file>

<file path=ppt/tags/tag1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theta_0, \theta_1$&#10;&#10;% \delta_i^{(l)} = \left(\sum_j W_{ji}^{(l)} \delta_j^{(l+1)}\right) f'(z_i^{(l)})&#10;&#10;&#10;&#10;\end{document}"/>
  <p:tag name="IGUANATEXSIZE" val="30"/>
</p:tagLst>
</file>

<file path=ppt/tags/tag1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30"/>
</p:tagLst>
</file>

<file path=ppt/tags/tag1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 = \theta_0 + \theta_1 x&#10;$&#10;% \delta_i^{(l)} = \left(\sum_j W_{ji}^{(l)} \delta_j^{(l+1)}\right) f'(z_i^{(l)})&#10;&#10;&#10;&#10;\end{document}"/>
  <p:tag name="IGUANATEXSIZE" val="30"/>
</p:tagLst>
</file>

<file path=ppt/tags/tag1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30"/>
</p:tagLst>
</file>

<file path=ppt/tags/tag1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 = \frac{1}{2m} \sum\limits^{m}_{i=1} \left( h_\theta(x^{(i)}) - y^{(i)} \right)^2&#10;$&#10;% \delta_i^{(l)} = \left(\sum_j W_{ji}^{(l)} \delta_j^{(l+1)}\right) f'(z_i^{(l)})&#10;&#10;&#10;&#10;\end{document}"/>
  <p:tag name="IGUANATEXSIZE" val="24"/>
</p:tagLst>
</file>

<file path=ppt/tags/tag1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underset{\theta_0,\theta_1}{\mathrm{minimize}} \; J(\theta_0,\theta_1)&#10;$&#10;% \delta_i^{(l)} = \left(\sum_j W_{ji}^{(l)} \delta_j^{(l+1)}\right) f'(z_i^{(l)})&#10;&#10;&#10;&#10;\end{document}"/>
  <p:tag name="IGUANATEXSIZE" val="30"/>
</p:tagLst>
</file>

<file path=ppt/tags/tag2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 = \theta_1 x&#10;$&#10;% \delta_i^{(l)} = \left(\sum_j W_{ji}^{(l)} \delta_j^{(l+1)}\right) f'(z_i^{(l)})&#10;&#10;&#10;&#10;\end{document}"/>
  <p:tag name="IGUANATEXSIZE" val="30"/>
</p:tagLst>
</file>

<file path=ppt/tags/tag2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10;$&#10;% \delta_i^{(l)} = \left(\sum_j W_{ji}^{(l)} \delta_j^{(l+1)}\right) f'(z_i^{(l)})&#10;&#10;&#10;&#10;\end{document}"/>
  <p:tag name="IGUANATEXSIZE" val="30"/>
</p:tagLst>
</file>

<file path=ppt/tags/tag2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1) = \frac{1}{2m} \sum\limits^{m}_{i=1} \left( h_\theta(x^{(i)}) - y^{(i)} \right)^2&#10;$&#10;% \delta_i^{(l)} = \left(\sum_j W_{ji}^{(l)} \delta_j^{(l+1)}\right) f'(z_i^{(l)})&#10;&#10;&#10;&#10;\end{document}"/>
  <p:tag name="IGUANATEXSIZE" val="24"/>
</p:tagLst>
</file>

<file path=ppt/tags/tag2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10;\underset{\theta_1}{\mathrm{minimize}} \; J(\theta_1)&#10;$&#10;% \delta_i^{(l)} = \left(\sum_j W_{ji}^{(l)} \delta_j^{(l+1)}\right) f'(z_i^{(l)})&#10;&#10;&#10;&#10;\end{document}"/>
  <p:tag name="IGUANATEXSIZE" val="30"/>
</p:tagLst>
</file>

<file path=ppt/tags/tag2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30"/>
</p:tagLst>
</file>

<file path=ppt/tags/tag2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24"/>
</p:tagLst>
</file>

<file path=ppt/tags/tag2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 = 1&#10;$&#10;% \delta_i^{(l)} = \left(\sum_j W_{ji}^{(l)} \delta_j^{(l+1)}\right) f'(z_i^{(l)})&#10;&#10;&#10;&#10;\end{document}"/>
  <p:tag name="IGUANATEXSIZE" val="24"/>
</p:tagLst>
</file>

<file path=ppt/tags/tag2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10;$&#10;% \delta_i^{(l)} = \left(\sum_j W_{ji}^{(l)} \delta_j^{(l+1)}\right) f'(z_i^{(l)})&#10;&#10;&#10;&#10;\end{document}"/>
  <p:tag name="IGUANATEXSIZE" val="24"/>
</p:tagLst>
</file>

<file path=ppt/tags/tag2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1)&#10;$&#10;% \delta_i^{(l)} = \left(\sum_j W_{ji}^{(l)} \delta_j^{(l+1)}\right) f'(z_i^{(l)})&#10;&#10;&#10;&#10;\end{document}"/>
  <p:tag name="IGUANATEXSIZE" val="30"/>
</p:tagLst>
</file>

<file path=ppt/tags/tag2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10;$&#10;% \delta_i^{(l)} = \left(\sum_j W_{ji}^{(l)} \delta_j^{(l+1)}\right) f'(z_i^{(l)})&#10;&#10;&#10;&#10;\end{document}"/>
  <p:tag name="IGUANATEXSIZE" val="24"/>
</p:tagLst>
</file>

<file path=ppt/tags/tag3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1)&#10;$&#10;% \delta_i^{(l)} = \left(\sum_j W_{ji}^{(l)} \delta_j^{(l+1)}\right) f'(z_i^{(l)})&#10;&#10;&#10;&#10;\end{document}"/>
  <p:tag name="IGUANATEXSIZE" val="24"/>
</p:tagLst>
</file>

<file path=ppt/tags/tag3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10;$&#10;% \delta_i^{(l)} = \left(\sum_j W_{ji}^{(l)} \delta_j^{(l+1)}\right) f'(z_i^{(l)})&#10;&#10;&#10;&#10;\end{document}"/>
  <p:tag name="IGUANATEXSIZE" val="24"/>
</p:tagLst>
</file>

<file path=ppt/tags/tag3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30"/>
</p:tagLst>
</file>

<file path=ppt/tags/tag3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 = 0.5&#10;$&#10;% \delta_i^{(l)} = \left(\sum_j W_{ji}^{(l)} \delta_j^{(l+1)}\right) f'(z_i^{(l)})&#10;&#10;&#10;&#10;\end{document}"/>
  <p:tag name="IGUANATEXSIZE" val="24"/>
</p:tagLst>
</file>

<file path=ppt/tags/tag3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10;$&#10;% \delta_i^{(l)} = \left(\sum_j W_{ji}^{(l)} \delta_j^{(l+1)}\right) f'(z_i^{(l)})&#10;&#10;&#10;&#10;\end{document}"/>
  <p:tag name="IGUANATEXSIZE" val="24"/>
</p:tagLst>
</file>

<file path=ppt/tags/tag3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24"/>
</p:tagLst>
</file>

<file path=ppt/tags/tag3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1)&#10;$&#10;% \delta_i^{(l)} = \left(\sum_j W_{ji}^{(l)} \delta_j^{(l+1)}\right) f'(z_i^{(l)})&#10;&#10;&#10;&#10;\end{document}"/>
  <p:tag name="IGUANATEXSIZE" val="24"/>
</p:tagLst>
</file>

<file path=ppt/tags/tag3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10;$&#10;% \delta_i^{(l)} = \left(\sum_j W_{ji}^{(l)} \delta_j^{(l+1)}\right) f'(z_i^{(l)})&#10;&#10;&#10;&#10;\end{document}"/>
  <p:tag name="IGUANATEXSIZE" val="24"/>
</p:tagLst>
</file>

<file path=ppt/tags/tag3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1)&#10;$&#10;% \delta_i^{(l)} = \left(\sum_j W_{ji}^{(l)} \delta_j^{(l+1)}\right) f'(z_i^{(l)})&#10;&#10;&#10;&#10;\end{document}"/>
  <p:tag name="IGUANATEXSIZE" val="30"/>
</p:tagLst>
</file>

<file path=ppt/tags/tag3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10;$&#10;% \delta_i^{(l)} = \left(\sum_j W_{ji}^{(l)} \delta_j^{(l+1)}\right) f'(z_i^{(l)})&#10;&#10;&#10;&#10;\end{document}"/>
  <p:tag name="IGUANATEXSIZE" val="24"/>
</p:tagLst>
</file>

<file path=ppt/tags/tag4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30"/>
</p:tagLst>
</file>

<file path=ppt/tags/tag4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 = 0&#10;$&#10;% \delta_i^{(l)} = \left(\sum_j W_{ji}^{(l)} \delta_j^{(l+1)}\right) f'(z_i^{(l)})&#10;&#10;&#10;&#10;\end{document}"/>
  <p:tag name="IGUANATEXSIZE" val="24"/>
</p:tagLst>
</file>

<file path=ppt/tags/tag4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10;$&#10;% \delta_i^{(l)} = \left(\sum_j W_{ji}^{(l)} \delta_j^{(l+1)}\right) f'(z_i^{(l)})&#10;&#10;&#10;&#10;\end{document}"/>
  <p:tag name="IGUANATEXSIZE" val="24"/>
</p:tagLst>
</file>

<file path=ppt/tags/tag4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24"/>
</p:tagLst>
</file>

<file path=ppt/tags/tag4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1)&#10;$&#10;% \delta_i^{(l)} = \left(\sum_j W_{ji}^{(l)} \delta_j^{(l+1)}\right) f'(z_i^{(l)})&#10;&#10;&#10;&#10;\end{document}"/>
  <p:tag name="IGUANATEXSIZE" val="30"/>
</p:tagLst>
</file>

<file path=ppt/tags/tag4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10;$&#10;% \delta_i^{(l)} = \left(\sum_j W_{ji}^{(l)} \delta_j^{(l+1)}\right) f'(z_i^{(l)})&#10;&#10;&#10;&#10;\end{document}"/>
  <p:tag name="IGUANATEXSIZE" val="24"/>
</p:tagLst>
</file>

<file path=ppt/tags/tag4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1)&#10;$&#10;% \delta_i^{(l)} = \left(\sum_j W_{ji}^{(l)} \delta_j^{(l+1)}\right) f'(z_i^{(l)})&#10;&#10;&#10;&#10;\end{document}"/>
  <p:tag name="IGUANATEXSIZE" val="24"/>
</p:tagLst>
</file>

<file path=ppt/tags/tag4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10;$&#10;% \delta_i^{(l)} = \left(\sum_j W_{ji}^{(l)} \delta_j^{(l+1)}\right) f'(z_i^{(l)})&#10;&#10;&#10;&#10;\end{document}"/>
  <p:tag name="IGUANATEXSIZE" val="24"/>
</p:tagLst>
</file>

<file path=ppt/tags/tag4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 = \theta_0 + \theta_1 x&#10;$&#10;% \delta_i^{(l)} = \left(\sum_j W_{ji}^{(l)} \delta_j^{(l+1)}\right) f'(z_i^{(l)})&#10;&#10;&#10;&#10;\end{document}"/>
  <p:tag name="IGUANATEXSIZE" val="30"/>
</p:tagLst>
</file>

<file path=ppt/tags/tag4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30"/>
</p:tagLst>
</file>

<file path=ppt/tags/tag5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 = \frac{1}{2m} \sum\limits^{m}_{i=1} \left( h_\theta(x^{(i)}) - y^{(i)} \right)^2&#10;$&#10;% \delta_i^{(l)} = \left(\sum_j W_{ji}^{(l)} \delta_j^{(l+1)}\right) f'(z_i^{(l)})&#10;&#10;&#10;&#10;\end{document}"/>
  <p:tag name="IGUANATEXSIZE" val="30"/>
</p:tagLst>
</file>

<file path=ppt/tags/tag5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underset{\theta_0,\theta_1}{\mathrm{minimize}} \; J(\theta_0,\theta_1)&#10;$&#10;% \delta_i^{(l)} = \left(\sum_j W_{ji}^{(l)} \delta_j^{(l+1)}\right) f'(z_i^{(l)})&#10;&#10;&#10;&#10;\end{document}"/>
  <p:tag name="IGUANATEXSIZE" val="30"/>
</p:tagLst>
</file>

<file path=ppt/tags/tag5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30"/>
</p:tagLst>
</file>

<file path=ppt/tags/tag5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 = 50  + 0.06x&#10;$&#10;% \delta_i^{(l)} = \left(\sum_j W_{ji}^{(l)} \delta_j^{(l+1)}\right) f'(z_i^{(l)})&#10;&#10;&#10;&#10;\end{document}"/>
  <p:tag name="IGUANATEXSIZE" val="30"/>
</p:tagLst>
</file>

<file path=ppt/tags/tag5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24"/>
</p:tagLst>
</file>

<file path=ppt/tags/tag5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10;$&#10;% \delta_i^{(l)} = \left(\sum_j W_{ji}^{(l)} \delta_j^{(l+1)}\right) f'(z_i^{(l)})&#10;&#10;&#10;&#10;\end{document}"/>
  <p:tag name="IGUANATEXSIZE" val="30"/>
</p:tagLst>
</file>

<file path=ppt/tags/tag5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theta_1&#10;$&#10;% \delta_i^{(l)} = \left(\sum_j W_{ji}^{(l)} \delta_j^{(l+1)}\right) f'(z_i^{(l)})&#10;&#10;&#10;&#10;\end{document}"/>
  <p:tag name="IGUANATEXSIZE" val="24"/>
</p:tagLst>
</file>

<file path=ppt/tags/tag5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1)&#10;$&#10;% \delta_i^{(l)} = \left(\sum_j W_{ji}^{(l)} \delta_j^{(l+1)}\right) f'(z_i^{(l)})&#10;&#10;&#10;&#10;\end{document}"/>
  <p:tag name="IGUANATEXSIZE" val="24"/>
</p:tagLst>
</file>

<file path=ppt/tags/tag5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10;$&#10;% \delta_i^{(l)} = \left(\sum_j W_{ji}^{(l)} \delta_j^{(l+1)}\right) f'(z_i^{(l)})&#10;&#10;&#10;&#10;\end{document}"/>
  <p:tag name="IGUANATEXSIZE" val="24"/>
</p:tagLst>
</file>

<file path=ppt/tags/tag5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1)&#10;$&#10;% \delta_i^{(l)} = \left(\sum_j W_{ji}^{(l)} \delta_j^{(l+1)}\right) f'(z_i^{(l)})&#10;&#10;&#10;&#10;\end{document}"/>
  <p:tag name="IGUANATEXSIZE" val="24"/>
</p:tagLst>
</file>

<file path=ppt/tags/tag6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10;$&#10;% \delta_i^{(l)} = \left(\sum_j W_{ji}^{(l)} \delta_j^{(l+1)}\right) f'(z_i^{(l)})&#10;&#10;&#10;&#10;\end{document}"/>
  <p:tag name="IGUANATEXSIZE" val="24"/>
</p:tagLst>
</file>

<file path=ppt/tags/tag6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30"/>
</p:tagLst>
</file>

<file path=ppt/tags/tag6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24"/>
</p:tagLst>
</file>

<file path=ppt/tags/tag6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10;$&#10;% \delta_i^{(l)} = \left(\sum_j W_{ji}^{(l)} \delta_j^{(l+1)}\right) f'(z_i^{(l)})&#10;&#10;&#10;&#10;\end{document}"/>
  <p:tag name="IGUANATEXSIZE" val="30"/>
</p:tagLst>
</file>

<file path=ppt/tags/tag6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theta_1&#10;$&#10;% \delta_i^{(l)} = \left(\sum_j W_{ji}^{(l)} \delta_j^{(l+1)}\right) f'(z_i^{(l)})&#10;&#10;&#10;&#10;\end{document}"/>
  <p:tag name="IGUANATEXSIZE" val="24"/>
</p:tagLst>
</file>

<file path=ppt/tags/tag6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30"/>
</p:tagLst>
</file>

<file path=ppt/tags/tag6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24"/>
</p:tagLst>
</file>

<file path=ppt/tags/tag6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10;$&#10;% \delta_i^{(l)} = \left(\sum_j W_{ji}^{(l)} \delta_j^{(l+1)}\right) f'(z_i^{(l)})&#10;&#10;&#10;&#10;\end{document}"/>
  <p:tag name="IGUANATEXSIZE" val="30"/>
</p:tagLst>
</file>

<file path=ppt/tags/tag6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theta_1&#10;$&#10;% \delta_i^{(l)} = \left(\sum_j W_{ji}^{(l)} \delta_j^{(l+1)}\right) f'(z_i^{(l)})&#10;&#10;&#10;&#10;\end{document}"/>
  <p:tag name="IGUANATEXSIZE" val="24"/>
</p:tagLst>
</file>

<file path=ppt/tags/tag6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30"/>
</p:tagLst>
</file>

<file path=ppt/tags/tag7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24"/>
</p:tagLst>
</file>

<file path=ppt/tags/tag7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10;$&#10;% \delta_i^{(l)} = \left(\sum_j W_{ji}^{(l)} \delta_j^{(l+1)}\right) f'(z_i^{(l)})&#10;&#10;&#10;&#10;\end{document}"/>
  <p:tag name="IGUANATEXSIZE" val="30"/>
</p:tagLst>
</file>

<file path=ppt/tags/tag7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theta_1&#10;$&#10;% \delta_i^{(l)} = \left(\sum_j W_{ji}^{(l)} \delta_j^{(l+1)}\right) f'(z_i^{(l)})&#10;&#10;&#10;&#10;\end{document}"/>
  <p:tag name="IGUANATEXSIZE" val="24"/>
</p:tagLst>
</file>

<file path=ppt/tags/tag7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30"/>
</p:tagLst>
</file>

<file path=ppt/tags/tag7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24"/>
</p:tagLst>
</file>

<file path=ppt/tags/tag7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10;$&#10;% \delta_i^{(l)} = \left(\sum_j W_{ji}^{(l)} \delta_j^{(l+1)}\right) f'(z_i^{(l)})&#10;&#10;&#10;&#10;\end{document}"/>
  <p:tag name="IGUANATEXSIZE" val="30"/>
</p:tagLst>
</file>

<file path=ppt/tags/tag7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theta_1&#10;$&#10;% \delta_i^{(l)} = \left(\sum_j W_{ji}^{(l)} \delta_j^{(l+1)}\right) f'(z_i^{(l)})&#10;&#10;&#10;&#10;\end{document}"/>
  <p:tag name="IGUANATEXSIZE" val="24"/>
</p:tagLst>
</file>

<file path=ppt/tags/tag7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 &#10;$&#10;% \delta_i^{(l)} = \left(\sum_j W_{ji}^{(l)} \delta_j^{(l+1)}\right) f'(z_i^{(l)})&#10;&#10;&#10;&#10;\end{document}"/>
  <p:tag name="IGUANATEXSIZE" val="30"/>
</p:tagLst>
</file>

<file path=ppt/tags/tag7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underset{\theta_0,\theta_1}{\mathrm{min}} \; J(\theta_0,\theta_1)&#10;$&#10;% \delta_i^{(l)} = \left(\sum_j W_{ji}^{(l)} \delta_j^{(l+1)}\right) f'(z_i^{(l)})&#10;&#10;&#10;&#10;\end{document}"/>
  <p:tag name="IGUANATEXSIZE" val="30"/>
</p:tagLst>
</file>

<file path=ppt/tags/tag7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30"/>
</p:tagLst>
</file>

<file path=ppt/tags/tag8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 &#10;$&#10;% \delta_i^{(l)} = \left(\sum_j W_{ji}^{(l)} \delta_j^{(l+1)}\right) f'(z_i^{(l)})&#10;&#10;&#10;&#10;\end{document}"/>
  <p:tag name="IGUANATEXSIZE" val="30"/>
</p:tagLst>
</file>

<file path=ppt/tags/tag8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10;$&#10;% \delta_i^{(l)} = \left(\sum_j W_{ji}^{(l)} \delta_j^{(l+1)}\right) f'(z_i^{(l)})&#10;&#10;&#10;&#10;\end{document}"/>
  <p:tag name="IGUANATEXSIZE" val="30"/>
</p:tagLst>
</file>

<file path=ppt/tags/tag8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repeat until convergence \{&#10;&#10;$&#10;\displaystyle&#10;\quad\theta_j := \theta_j - \alpha \frac{\partial}{\partial \theta_j} J(\theta_0,\theta_1)&#10;$&#10;&#10;\}&#10;% \delta_i^{(l)} = \left(\sum_j W_{ji}^{(l)} \delta_j^{(l+1)}\right) f'(z_i^{(l)})&#10;&#10;&#10;&#10;\end{document}"/>
  <p:tag name="IGUANATEXSIZE" val="24"/>
</p:tagLst>
</file>

<file path=ppt/tags/tag8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for $j=0$ and $j=1$)&#10;% \delta_i^{(l)} = \left(\sum_j W_{ji}^{(l)} \delta_j^{(l+1)}\right) f'(z_i^{(l)})&#10;&#10;&#10;&#10;\end{document}"/>
  <p:tag name="IGUANATEXSIZE" val="24"/>
</p:tagLst>
</file>

<file path=ppt/tags/tag8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color{blue}\mathrm{temp}0} := \theta_0 - \alpha \frac{\partial}{\partial \theta_0} J(\theta_0,\theta_1)$ &#10;&#10;${\color{blue}\mathrm{temp}1} := \theta_1 - \alpha \frac{\partial}{\partial \theta_1} J(\theta_0,\theta_1)$ &#10;&#10;$\theta_0 := {\color{blue}\mathrm{temp}0}$&#10;&#10;$\theta_1 := {\color{blue}\mathrm{temp}1}$ &#10;&#10;% \delta_i^{(l)} = \left(\sum_j W_{ji}^{(l)} \delta_j^{(l+1)}\right) f'(z_i^{(l)})&#10;&#10;&#10;&#10;\end{document}"/>
  <p:tag name="IGUANATEXSIZE" val="24"/>
</p:tagLst>
</file>

<file path=ppt/tags/tag8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color{blue}\mathrm{temp}0} := \theta_0 - \alpha \frac{\partial}{\partial \theta_0} J(\theta_0,\theta_1)$ &#10;&#10;$\theta_0 := {\color{blue}\mathrm{temp}0}$&#10;&#10;${\color{blue}\mathrm{temp}1} := \theta_1 - \alpha \frac{\partial}{\partial \theta_1} J(\theta_0,\theta_1)$ &#10;&#10;$\theta_1 := {\color{blue}\mathrm{temp}1}$ &#10;&#10;% \delta_i^{(l)} = \left(\sum_j W_{ji}^{(l)} \delta_j^{(l+1)}\right) f'(z_i^{(l)})&#10;&#10;&#10;&#10;\end{document}"/>
  <p:tag name="IGUANATEXSIZE" val="24"/>
</p:tagLst>
</file>

<file path=ppt/tags/tag8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repeat until convergence \{&#10;&#10;$&#10;\displaystyle&#10;\quad\theta_j := \theta_j - \alpha \frac{\partial}{\partial \theta_j} J(\theta_0,\theta_1)&#10;$ &#10;&#10;\}&#10;% \delta_i^{(l)} = \left(\sum_j W_{ji}^{(l)} \delta_j^{(l+1)}\right) f'(z_i^{(l)})&#10;&#10;&#10;&#10;\end{document}"/>
  <p:tag name="IGUANATEXSIZE" val="30"/>
</p:tagLst>
</file>

<file path=ppt/tags/tag8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simultaneously update&#10;&#10;\quad $j=0$ and $j=1$)&#10;% \delta_i^{(l)} = \left(\sum_j W_{ji}^{(l)} \delta_j^{(l+1)}\right) f'(z_i^{(l)})&#10;&#10;&#10;&#10;\end{document}"/>
  <p:tag name="IGUANATEXSIZE" val="30"/>
</p:tagLst>
</file>

<file path=ppt/tags/tag8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10;$&#10;% \delta_i^{(l)} = \left(\sum_j W_{ji}^{(l)} \delta_j^{(l+1)}\right) f'(z_i^{(l)})&#10;&#10;&#10;&#10;\end{document}"/>
  <p:tag name="IGUANATEXSIZE" val="24"/>
</p:tagLst>
</file>

<file path=ppt/tags/tag8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10;$&#10;% \delta_i^{(l)} = \left(\sum_j W_{ji}^{(l)} \delta_j^{(l+1)}\right) f'(z_i^{(l)})&#10;&#10;&#10;&#10;\end{document}"/>
  <p:tag name="IGUANATEXSIZE" val="24"/>
</p:tagLst>
</file>

<file path=ppt/tags/tag9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displaystyle&#10;\quad\theta_1 := \theta_1 - \alpha \frac{\partial}{\partial \theta_1} J(\theta_1)&#10;$ &#10;&#10;% \delta_i^{(l)} = \left(\sum_j W_{ji}^{(l)} \delta_j^{(l+1)}\right) f'(z_i^{(l)})&#10;&#10;&#10;&#10;\end{document}"/>
  <p:tag name="IGUANATEXSIZE" val="30"/>
</p:tagLst>
</file>

<file path=ppt/tags/tag9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10;$&#10;% \delta_i^{(l)} = \left(\sum_j W_{ji}^{(l)} \delta_j^{(l+1)}\right) f'(z_i^{(l)})&#10;&#10;&#10;&#10;\end{document}"/>
  <p:tag name="IGUANATEXSIZE" val="24"/>
</p:tagLst>
</file>

<file path=ppt/tags/tag9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color{red}\theta_1&#10;$&#10;% \delta_i^{(l)} = \left(\sum_j W_{ji}^{(l)} \delta_j^{(l+1)}\right) f'(z_i^{(l)})&#10;&#10;&#10;&#10;\end{document}"/>
  <p:tag name="IGUANATEXSIZE" val="24"/>
</p:tagLst>
</file>

<file path=ppt/tags/tag9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color{red}\theta_1&#10;$&#10;% \delta_i^{(l)} = \left(\sum_j W_{ji}^{(l)} \delta_j^{(l+1)}\right) f'(z_i^{(l)})&#10;&#10;&#10;&#10;\end{document}"/>
  <p:tag name="IGUANATEXSIZE" val="24"/>
</p:tagLst>
</file>

<file path=ppt/tags/tag9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displaystyle&#10;\quad\theta_1 := \theta_1 - \alpha \frac{d}{d \theta_1} J(\theta_1)&#10;$ &#10;&#10;% \delta_i^{(l)} = \left(\sum_j W_{ji}^{(l)} \delta_j^{(l+1)}\right) f'(z_i^{(l)})&#10;&#10;&#10;&#10;\end{document}"/>
  <p:tag name="IGUANATEXSIZE" val="30"/>
</p:tagLst>
</file>

<file path=ppt/tags/tag9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displaystyle&#10;\quad\theta_1 := \theta_1 - \alpha \frac{d}{d \theta_1} J(\theta_1)&#10;$ &#10;&#10;% \delta_i^{(l)} = \left(\sum_j W_{ji}^{(l)} \delta_j^{(l+1)}\right) f'(z_i^{(l)})&#10;&#10;&#10;&#10;\end{document}"/>
  <p:tag name="IGUANATEXSIZE" val="30"/>
</p:tagLst>
</file>

<file path=ppt/tags/tag9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10;$&#10;% \delta_i^{(l)} = \left(\sum_j W_{ji}^{(l)} \delta_j^{(l+1)}\right) f'(z_i^{(l)})&#10;&#10;&#10;&#10;\end{document}"/>
  <p:tag name="IGUANATEXSIZE" val="24"/>
</p:tagLst>
</file>

<file path=ppt/tags/tag9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1)&#10;$ &#10;&#10;% \delta_i^{(l)} = \left(\sum_j W_{ji}^{(l)} \delta_j^{(l+1)}\right) f'(z_i^{(l)})&#10;&#10;&#10;&#10;\end{document}"/>
  <p:tag name="IGUANATEXSIZE" val="24"/>
</p:tagLst>
</file>

<file path=ppt/tags/tag9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repeat until convergence \{&#10;&#10;$&#10;\displaystyle&#10;\quad\theta_j := \theta_j - \alpha \frac{\partial}{\partial \theta_j} J(\theta_0,\theta_1)&#10;$ &#10;&#10;\;\;\quad\quad{(for $j=1$ and $j=0$)}&#10;&#10;\}&#10;% \delta_i^{(l)} = \left(\sum_j W_{ji}^{(l)} \delta_j^{(l+1)}\right) f'(z_i^{(l)})&#10;&#10;&#10;&#10;\end{document}"/>
  <p:tag name="IGUANATEXSIZE" val="30"/>
</p:tagLst>
</file>

<file path=ppt/tags/tag9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 = \theta_0 + \theta_1 x&#10;$&#10;% \delta_i^{(l)} = \left(\sum_j W_{ji}^{(l)} \delta_j^{(l+1)}\right) f'(z_i^{(l)})&#10;&#10;&#10;&#10;\end{document}"/>
  <p:tag name="IGUANATEXSIZE" val="30"/>
</p:tagLst>
</file>

<file path=ppt/tags/tag10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 = \frac{1}{2m} \sum\limits^{m}_{i=1} \left( h_\theta(x^{(i)}) - y^{(i)} \right)^2&#10;$&#10;% \delta_i^{(l)} = \left(\sum_j W_{ji}^{(l)} \delta_j^{(l+1)}\right) f'(z_i^{(l)})&#10;&#10;&#10;&#10;\end{document}"/>
  <p:tag name="IGUANATEXSIZE" val="30"/>
</p:tagLst>
</file>

<file path=ppt/tags/tag10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displaystyle &#10;\frac{\partial}{\partial \theta_j} J(\theta_0,\theta_1) = &#10;$ &#10;% \delta_i^{(l)} = \left(\sum_j W_{ji}^{(l)} \delta_j^{(l+1)}\right) f'(z_i^{(l)})&#10;&#10;&#10;&#10;\end{document}"/>
  <p:tag name="IGUANATEXSIZE" val="30"/>
</p:tagLst>
</file>

<file path=ppt/tags/tag10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0: \frac{\partial}{\partial \theta_0} J(\theta_0,\theta_1) = &#10;% \frac{1}{M} \sum^{M}_{i=1} \left( h_\theta(x^{(i)}) - y^{(i)} \right)&#10;$ &#10;&#10;% \delta_i^{(l)} = \left(\sum_j W_{ji}^{(l)} \delta_j^{(l+1)}\right) f'(z_i^{(l)})&#10;&#10;&#10;&#10;\end{document}"/>
  <p:tag name="IGUANATEXSIZE" val="30"/>
</p:tagLst>
</file>

<file path=ppt/tags/tag10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10;j=1: \frac{\partial}{\partial \theta_1} J(\theta_0,\theta_1) = &#10;$ &#10;&#10;% \delta_i^{(l)} = \left(\sum_j W_{ji}^{(l)} \delta_j^{(l+1)}\right) f'(z_i^{(l)})&#10;&#10;&#10;&#10;\end{document}"/>
  <p:tag name="IGUANATEXSIZE" val="30"/>
</p:tagLst>
</file>

<file path=ppt/tags/tag10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displaystyle &#10;\frac{\partial}{\partial \theta_j} J(\theta_0,\theta_1) = &#10;$ &#10;% \delta_i^{(l)} = \left(\sum_j W_{ji}^{(l)} \delta_j^{(l+1)}\right) f'(z_i^{(l)})&#10;&#10;&#10;&#10;\end{document}"/>
  <p:tag name="IGUANATEXSIZE" val="30"/>
</p:tagLst>
</file>

<file path=ppt/tags/tag10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0: \frac{\partial}{\partial \theta_0} J(\theta_0,\theta_1) = &#10;% \frac{1}{M} \sum^{M}_{i=1} \left( h_\theta(x^{(i)}) - y^{(i)} \right)&#10;$ &#10;&#10;% \delta_i^{(l)} = \left(\sum_j W_{ji}^{(l)} \delta_j^{(l+1)}\right) f'(z_i^{(l)})&#10;&#10;&#10;&#10;\end{document}"/>
  <p:tag name="IGUANATEXSIZE" val="30"/>
</p:tagLst>
</file>

<file path=ppt/tags/tag10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10;j=1: \frac{\partial}{\partial \theta_1} J(\theta_0,\theta_1) = &#10;$ &#10;&#10;% \delta_i^{(l)} = \left(\sum_j W_{ji}^{(l)} \delta_j^{(l+1)}\right) f'(z_i^{(l)})&#10;&#10;&#10;&#10;\end{document}"/>
  <p:tag name="IGUANATEXSIZE" val="30"/>
</p:tagLst>
</file>

<file path=ppt/tags/tag10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repeat until convergence \{&#10;&#10;$&#10;\quad\theta_0 := \theta_0 - \alpha &#10; \frac{1}{m} \sum\limits^{m}_{i=1} \left( h_\theta(x^{(i)}) - y^{(i)} \right)&#10;$&#10;&#10;$&#10;\quad\theta_1 := \theta_1 - \alpha &#10; \frac{1}{m} \sum\limits^{m}_{i=1} \left( h_\theta(x^{(i)}) - y^{(i)} \right)\cdot x^{(i)}&#10;$&#10;&#10;\}&#10;% \delta_i^{(l)} = \left(\sum_j W_{ji}^{(l)} \delta_j^{(l+1)}\right) f'(z_i^{(l)})&#10;&#10;&#10;&#10;\end{document}"/>
  <p:tag name="IGUANATEXSIZE" val="30"/>
</p:tagLst>
</file>

<file path=ppt/tags/tag10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10;$&#10;% \delta_i^{(l)} = \left(\sum_j W_{ji}^{(l)} \delta_j^{(l+1)}\right) f'(z_i^{(l)})&#10;&#10;&#10;&#10;\end{document}"/>
  <p:tag name="IGUANATEXSIZE" val="24"/>
</p:tagLst>
</file>

<file path=ppt/tags/tag10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10;$&#10;% \delta_i^{(l)} = \left(\sum_j W_{ji}^{(l)} \delta_j^{(l+1)}\right) f'(z_i^{(l)})&#10;&#10;&#10;&#10;\end{document}"/>
  <p:tag name="IGUANATEXSIZE" val="24"/>
</p:tagLst>
</file>

<file path=ppt/theme/theme1.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Lecture</Template>
  <TotalTime>3563</TotalTime>
  <Words>3254</Words>
  <Application>Microsoft Office PowerPoint</Application>
  <PresentationFormat>On-screen Show (16:9)</PresentationFormat>
  <Paragraphs>503</Paragraphs>
  <Slides>59</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59</vt:i4>
      </vt:variant>
    </vt:vector>
  </HeadingPairs>
  <TitlesOfParts>
    <vt:vector size="68" baseType="lpstr">
      <vt:lpstr>Arial</vt:lpstr>
      <vt:lpstr>Calibri</vt:lpstr>
      <vt:lpstr>Cambria Math</vt:lpstr>
      <vt:lpstr>Courier New</vt:lpstr>
      <vt:lpstr>Segoe UI</vt:lpstr>
      <vt:lpstr>Symbol</vt:lpstr>
      <vt:lpstr>Times New Roman</vt:lpstr>
      <vt:lpstr>Wingdings</vt:lpstr>
      <vt:lpstr>3_Office Theme</vt:lpstr>
      <vt:lpstr>Machine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Programming</dc:title>
  <dc:creator>OpenClassroom</dc:creator>
  <cp:lastModifiedBy>Sanjit Setua</cp:lastModifiedBy>
  <cp:revision>192</cp:revision>
  <dcterms:created xsi:type="dcterms:W3CDTF">2010-07-08T21:59:02Z</dcterms:created>
  <dcterms:modified xsi:type="dcterms:W3CDTF">2025-09-10T09:26:15Z</dcterms:modified>
</cp:coreProperties>
</file>