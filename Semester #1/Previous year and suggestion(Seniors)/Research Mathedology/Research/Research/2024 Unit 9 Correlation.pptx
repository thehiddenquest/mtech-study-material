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0" r:id="rId2"/>
    <p:sldId id="276" r:id="rId3"/>
    <p:sldId id="330" r:id="rId4"/>
    <p:sldId id="332" r:id="rId5"/>
    <p:sldId id="334" r:id="rId6"/>
    <p:sldId id="285" r:id="rId7"/>
    <p:sldId id="286" r:id="rId8"/>
    <p:sldId id="335" r:id="rId9"/>
    <p:sldId id="336" r:id="rId10"/>
    <p:sldId id="287" r:id="rId11"/>
    <p:sldId id="339" r:id="rId12"/>
    <p:sldId id="340" r:id="rId13"/>
    <p:sldId id="341" r:id="rId14"/>
    <p:sldId id="289" r:id="rId15"/>
    <p:sldId id="291" r:id="rId16"/>
    <p:sldId id="292" r:id="rId17"/>
    <p:sldId id="293" r:id="rId18"/>
    <p:sldId id="342" r:id="rId19"/>
    <p:sldId id="343" r:id="rId20"/>
    <p:sldId id="344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60A04"/>
    <a:srgbClr val="C70803"/>
    <a:srgbClr val="CA04B2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7" d="100"/>
          <a:sy n="77" d="100"/>
        </p:scale>
        <p:origin x="-70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549F9-5A88-4DF9-99DD-7B46A37D1FBD}" type="datetimeFigureOut">
              <a:rPr lang="en-US" smtClean="0"/>
              <a:pPr/>
              <a:t>12/30/2023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E3176C-9E61-41A8-9B89-77C0F604D819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zh-TW" smtClean="0"/>
              <a:t>1.</a:t>
            </a:r>
            <a:r>
              <a:rPr lang="zh-TW" altLang="en-US" smtClean="0"/>
              <a:t> 若非線性關係</a:t>
            </a:r>
            <a:r>
              <a:rPr lang="en-US" altLang="zh-TW" smtClean="0"/>
              <a:t>,r</a:t>
            </a:r>
            <a:r>
              <a:rPr lang="zh-TW" altLang="en-US" smtClean="0"/>
              <a:t>則無法測出相關性。</a:t>
            </a:r>
            <a:endParaRPr lang="en-US" altLang="zh-TW" smtClean="0"/>
          </a:p>
          <a:p>
            <a:pPr>
              <a:spcBef>
                <a:spcPct val="0"/>
              </a:spcBef>
            </a:pPr>
            <a:r>
              <a:rPr lang="en-US" altLang="zh-TW" smtClean="0"/>
              <a:t>2.</a:t>
            </a:r>
            <a:r>
              <a:rPr lang="zh-TW" altLang="en-US" smtClean="0"/>
              <a:t>若有多個極值存在的話</a:t>
            </a:r>
            <a:r>
              <a:rPr lang="en-US" altLang="zh-TW" smtClean="0"/>
              <a:t>,</a:t>
            </a:r>
            <a:r>
              <a:rPr lang="zh-TW" altLang="en-US" smtClean="0"/>
              <a:t>可能會導致錯誤的結果。</a:t>
            </a:r>
            <a:endParaRPr lang="en-US" altLang="zh-TW" smtClean="0"/>
          </a:p>
          <a:p>
            <a:pPr>
              <a:spcBef>
                <a:spcPct val="0"/>
              </a:spcBef>
            </a:pPr>
            <a:r>
              <a:rPr lang="en-US" altLang="zh-TW" smtClean="0"/>
              <a:t>3.</a:t>
            </a:r>
            <a:r>
              <a:rPr lang="zh-TW" altLang="en-US" smtClean="0"/>
              <a:t> 不能估計落在變數範圍外之相關係數</a:t>
            </a:r>
          </a:p>
        </p:txBody>
      </p:sp>
      <p:sp>
        <p:nvSpPr>
          <p:cNvPr id="23556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5D29113-BFFC-4968-B616-17D70CF5986A}" type="slidenum">
              <a:rPr lang="zh-TW" altLang="en-US"/>
              <a:pPr/>
              <a:t>15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7" name="AutoShape 7"/>
          <p:cNvSpPr>
            <a:spLocks noChangeArrowheads="1"/>
          </p:cNvSpPr>
          <p:nvPr userDrawn="1"/>
        </p:nvSpPr>
        <p:spPr bwMode="auto">
          <a:xfrm rot="5400000">
            <a:off x="0" y="0"/>
            <a:ext cx="914400" cy="914400"/>
          </a:xfrm>
          <a:prstGeom prst="rtTriangle">
            <a:avLst/>
          </a:prstGeom>
          <a:solidFill>
            <a:srgbClr val="F60A04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8" name="Straight Connector 7"/>
          <p:cNvCxnSpPr/>
          <p:nvPr userDrawn="1"/>
        </p:nvCxnSpPr>
        <p:spPr bwMode="auto">
          <a:xfrm>
            <a:off x="533400" y="609600"/>
            <a:ext cx="8610600" cy="158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60A04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Connector 8"/>
          <p:cNvCxnSpPr/>
          <p:nvPr userDrawn="1"/>
        </p:nvCxnSpPr>
        <p:spPr bwMode="auto">
          <a:xfrm>
            <a:off x="533400" y="533400"/>
            <a:ext cx="8610600" cy="158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60A04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Rectangle 9"/>
          <p:cNvSpPr/>
          <p:nvPr userDrawn="1"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F60A0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6492875"/>
            <a:ext cx="28194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Prof. A. K. Datta    University of Calcutta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92875"/>
            <a:ext cx="4495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IN" dirty="0" err="1" smtClean="0"/>
              <a:t>Ph.D</a:t>
            </a:r>
            <a:r>
              <a:rPr lang="en-IN" dirty="0" smtClean="0"/>
              <a:t> Coursework on Research Methodology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29600" y="6492875"/>
            <a:ext cx="533400" cy="365125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Prof. A. K. Datta    University of Calcutta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Ph.D Coursework on Research Methodology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Prof. A. K. Datta    University of Calcutta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Ph.D Coursework on Research Methodology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Prof. A. K. Datta    University of Calcutta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Ph.D Coursework on Research Methodology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Prof. A. K. Datta    University of Calcutta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Ph.D Coursework on Research Methodology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Prof. A. K. Datta    University of Calcutta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Ph.D Coursework on Research Methodology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Prof. A. K. Datta    University of Calcutta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Ph.D Coursework on Research Methodology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Prof. A. K. Datta    University of Calcutta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Ph.D Coursework on Research Methodology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Prof. A. K. Datta    University of Calcutta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Ph.D Coursework on Research Methodology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Prof. A. K. Datta    University of Calcutta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Ph.D Coursework on Research Methodology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Prof. A. K. Datta    University of Calcutta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Ph.D Coursework on Research Methodology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E98B2FD2-3352-4BCA-8433-8230D6BE01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555E2CF-5695-4063-8848-8403BBBA9C1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600200"/>
            <a:ext cx="38100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14400" y="6251575"/>
            <a:ext cx="19812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2800" y="6248400"/>
            <a:ext cx="2971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81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FEC48F3-3099-4E6F-8572-9A124017406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7"/>
          <p:cNvSpPr>
            <a:spLocks noChangeArrowheads="1"/>
          </p:cNvSpPr>
          <p:nvPr userDrawn="1"/>
        </p:nvSpPr>
        <p:spPr bwMode="auto">
          <a:xfrm rot="5400000">
            <a:off x="0" y="0"/>
            <a:ext cx="914400" cy="914400"/>
          </a:xfrm>
          <a:prstGeom prst="rtTriangle">
            <a:avLst/>
          </a:prstGeom>
          <a:solidFill>
            <a:srgbClr val="F60A04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8" name="Straight Connector 7"/>
          <p:cNvCxnSpPr/>
          <p:nvPr userDrawn="1"/>
        </p:nvCxnSpPr>
        <p:spPr bwMode="auto">
          <a:xfrm>
            <a:off x="533400" y="609600"/>
            <a:ext cx="8610600" cy="158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60A04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Connector 8"/>
          <p:cNvCxnSpPr/>
          <p:nvPr userDrawn="1"/>
        </p:nvCxnSpPr>
        <p:spPr bwMode="auto">
          <a:xfrm>
            <a:off x="533400" y="533400"/>
            <a:ext cx="8610600" cy="158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60A04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Rectangle 9"/>
          <p:cNvSpPr/>
          <p:nvPr userDrawn="1"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F60A0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29600" y="6492875"/>
            <a:ext cx="533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92875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Prof. A. K. </a:t>
            </a:r>
            <a:r>
              <a:rPr lang="en-US" dirty="0" err="1" smtClean="0"/>
              <a:t>Datta</a:t>
            </a:r>
            <a:r>
              <a:rPr lang="en-US" dirty="0" smtClean="0"/>
              <a:t>    University of Calcutta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76600" y="6492875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IN" dirty="0" smtClean="0"/>
              <a:t>Ph.D.  Course work on Research Methodology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5" Type="http://schemas.openxmlformats.org/officeDocument/2006/relationships/oleObject" Target="../embeddings/oleObject8.bin"/><Relationship Id="rId4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11.bin"/><Relationship Id="rId4" Type="http://schemas.openxmlformats.org/officeDocument/2006/relationships/oleObject" Target="../embeddings/oleObject10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標題 1"/>
          <p:cNvSpPr>
            <a:spLocks noGrp="1"/>
          </p:cNvSpPr>
          <p:nvPr>
            <p:ph type="ctrTitle"/>
          </p:nvPr>
        </p:nvSpPr>
        <p:spPr>
          <a:xfrm>
            <a:off x="457200" y="1506538"/>
            <a:ext cx="8229600" cy="1470025"/>
          </a:xfrm>
        </p:spPr>
        <p:txBody>
          <a:bodyPr/>
          <a:lstStyle/>
          <a:p>
            <a:pPr eaLnBrk="1" hangingPunct="1"/>
            <a:r>
              <a:rPr altLang="zh-TW" smtClean="0">
                <a:latin typeface="Times New Roman" pitchFamily="18" charset="0"/>
                <a:cs typeface="Times New Roman" pitchFamily="18" charset="0"/>
              </a:rPr>
              <a:t>Correlation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and regression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Prof. A. K. Datta    University of Calcutta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Ph.D Coursework on Research Methodology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381000" y="533400"/>
            <a:ext cx="8534400" cy="5486400"/>
          </a:xfrm>
          <a:prstGeom prst="rect">
            <a:avLst/>
          </a:prstGeom>
        </p:spPr>
        <p:txBody>
          <a:bodyPr/>
          <a:lstStyle/>
          <a:p>
            <a:pPr marL="342900" indent="-342900" algn="just">
              <a:lnSpc>
                <a:spcPts val="3200"/>
              </a:lnSpc>
              <a:buFont typeface="Arial" pitchFamily="34" charset="0"/>
              <a:buChar char="•"/>
              <a:defRPr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man Old Style" pitchFamily="18" charset="0"/>
                <a:cs typeface="Times New Roman" pitchFamily="18" charset="0"/>
              </a:rPr>
              <a:t>Correlation analysis is a technique by which we can analyse the extent to which two variables are related to each other. Or </a:t>
            </a:r>
            <a:r>
              <a:rPr lang="en-US" altLang="zh-TW" sz="2000" dirty="0" smtClean="0">
                <a:latin typeface="Bookman Old Style" pitchFamily="18" charset="0"/>
                <a:cs typeface="Times New Roman" pitchFamily="18" charset="0"/>
              </a:rPr>
              <a:t>Correlation is defined as the quantification of the degree to which two random variables are related, provided that the relationship is linear.</a:t>
            </a:r>
          </a:p>
          <a:p>
            <a:pPr marL="342900" marR="0" lvl="0" indent="-342900" algn="just" defTabSz="914400" rtl="0" eaLnBrk="1" fontAlgn="auto" latinLnBrk="0" hangingPunct="1">
              <a:lnSpc>
                <a:spcPts val="3200"/>
              </a:lnSpc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man Old Style" pitchFamily="18" charset="0"/>
                <a:cs typeface="Times New Roman" pitchFamily="18" charset="0"/>
              </a:rPr>
              <a:t>A correlation coefficient is a measure of the extent to which the value of variable </a:t>
            </a:r>
            <a:r>
              <a:rPr kumimoji="0" lang="en-GB" sz="2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man Old Style" pitchFamily="18" charset="0"/>
                <a:cs typeface="Times New Roman" pitchFamily="18" charset="0"/>
              </a:rPr>
              <a:t>X</a:t>
            </a: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man Old Style" pitchFamily="18" charset="0"/>
                <a:cs typeface="Times New Roman" pitchFamily="18" charset="0"/>
              </a:rPr>
              <a:t> coincides with the value of variable </a:t>
            </a:r>
            <a:r>
              <a:rPr kumimoji="0" lang="en-GB" sz="2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man Old Style" pitchFamily="18" charset="0"/>
                <a:cs typeface="Times New Roman" pitchFamily="18" charset="0"/>
              </a:rPr>
              <a:t>Y</a:t>
            </a:r>
          </a:p>
          <a:p>
            <a:pPr marL="342900" marR="0" lvl="0" indent="-342900" algn="just" defTabSz="914400" rtl="0" eaLnBrk="1" fontAlgn="auto" latinLnBrk="0" hangingPunct="1">
              <a:lnSpc>
                <a:spcPts val="3200"/>
              </a:lnSpc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man Old Style" pitchFamily="18" charset="0"/>
                <a:cs typeface="Times New Roman" pitchFamily="18" charset="0"/>
              </a:rPr>
              <a:t>A correlation can be </a:t>
            </a:r>
            <a:r>
              <a:rPr kumimoji="0" lang="en-GB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man Old Style" pitchFamily="18" charset="0"/>
                <a:cs typeface="Times New Roman" pitchFamily="18" charset="0"/>
              </a:rPr>
              <a:t>positive</a:t>
            </a: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man Old Style" pitchFamily="18" charset="0"/>
                <a:cs typeface="Times New Roman" pitchFamily="18" charset="0"/>
              </a:rPr>
              <a:t> (high values on variable </a:t>
            </a:r>
            <a:r>
              <a:rPr kumimoji="0" lang="en-GB" sz="2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man Old Style" pitchFamily="18" charset="0"/>
                <a:cs typeface="Times New Roman" pitchFamily="18" charset="0"/>
              </a:rPr>
              <a:t>X</a:t>
            </a: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man Old Style" pitchFamily="18" charset="0"/>
                <a:cs typeface="Times New Roman" pitchFamily="18" charset="0"/>
              </a:rPr>
              <a:t> tend to coincide with high values on variable </a:t>
            </a:r>
            <a:r>
              <a:rPr kumimoji="0" lang="en-GB" sz="2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man Old Style" pitchFamily="18" charset="0"/>
                <a:cs typeface="Times New Roman" pitchFamily="18" charset="0"/>
              </a:rPr>
              <a:t>Y</a:t>
            </a: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man Old Style" pitchFamily="18" charset="0"/>
                <a:cs typeface="Times New Roman" pitchFamily="18" charset="0"/>
              </a:rPr>
              <a:t>), or </a:t>
            </a:r>
            <a:r>
              <a:rPr kumimoji="0" lang="en-GB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man Old Style" pitchFamily="18" charset="0"/>
                <a:cs typeface="Times New Roman" pitchFamily="18" charset="0"/>
              </a:rPr>
              <a:t>negative</a:t>
            </a: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man Old Style" pitchFamily="18" charset="0"/>
                <a:cs typeface="Times New Roman" pitchFamily="18" charset="0"/>
              </a:rPr>
              <a:t> (high values on variable </a:t>
            </a:r>
            <a:r>
              <a:rPr kumimoji="0" lang="en-GB" sz="2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man Old Style" pitchFamily="18" charset="0"/>
                <a:cs typeface="Times New Roman" pitchFamily="18" charset="0"/>
              </a:rPr>
              <a:t>X</a:t>
            </a: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man Old Style" pitchFamily="18" charset="0"/>
                <a:cs typeface="Times New Roman" pitchFamily="18" charset="0"/>
              </a:rPr>
              <a:t> tend to coincide with low values on variable </a:t>
            </a:r>
            <a:r>
              <a:rPr kumimoji="0" lang="en-GB" sz="2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man Old Style" pitchFamily="18" charset="0"/>
                <a:cs typeface="Times New Roman" pitchFamily="18" charset="0"/>
              </a:rPr>
              <a:t>Y</a:t>
            </a: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man Old Style" pitchFamily="18" charset="0"/>
                <a:cs typeface="Times New Roman" pitchFamily="18" charset="0"/>
              </a:rPr>
              <a:t>)</a:t>
            </a:r>
          </a:p>
          <a:p>
            <a:pPr marL="342900" lvl="0" indent="-342900" algn="just">
              <a:lnSpc>
                <a:spcPts val="3200"/>
              </a:lnSpc>
              <a:buFont typeface="Arial" pitchFamily="34" charset="0"/>
              <a:buChar char="•"/>
              <a:defRPr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man Old Style" pitchFamily="18" charset="0"/>
                <a:cs typeface="Times New Roman" pitchFamily="18" charset="0"/>
              </a:rPr>
              <a:t>There are several types of correlation techniques. One of the most commonly used is </a:t>
            </a:r>
            <a:r>
              <a:rPr lang="en-US" sz="2000" dirty="0" smtClean="0">
                <a:latin typeface="Bookman Old Style" pitchFamily="18" charset="0"/>
                <a:cs typeface="Times New Roman" pitchFamily="18" charset="0"/>
              </a:rPr>
              <a:t>Spearman Rho or </a:t>
            </a:r>
            <a:r>
              <a:rPr lang="en-US" sz="2000" dirty="0" smtClean="0">
                <a:latin typeface="Bookman Old Style" pitchFamily="18" charset="0"/>
                <a:cs typeface="Arial" pitchFamily="34" charset="0"/>
              </a:rPr>
              <a:t> </a:t>
            </a:r>
            <a:r>
              <a:rPr lang="en-US" sz="2000" dirty="0" smtClean="0">
                <a:latin typeface="Bookman Old Style" pitchFamily="18" charset="0"/>
                <a:cs typeface="Times New Roman" pitchFamily="18" charset="0"/>
              </a:rPr>
              <a:t>Pearson</a:t>
            </a:r>
            <a:r>
              <a:rPr lang="en-US" sz="2000" dirty="0" smtClean="0">
                <a:latin typeface="Bookman Old Style" pitchFamily="18" charset="0"/>
                <a:cs typeface="Arial" pitchFamily="34" charset="0"/>
              </a:rPr>
              <a:t> </a:t>
            </a:r>
            <a:r>
              <a:rPr kumimoji="0" lang="en-GB" sz="20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man Old Style" pitchFamily="18" charset="0"/>
                <a:cs typeface="Times New Roman" pitchFamily="18" charset="0"/>
              </a:rPr>
              <a:t>r</a:t>
            </a:r>
          </a:p>
          <a:p>
            <a:pPr marL="342900" lvl="0" indent="-342900" algn="just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endParaRPr kumimoji="0" lang="en-GB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9AB6324-A272-40B9-B63B-AE77ABB7B607}" type="slidenum">
              <a:rPr lang="en-US"/>
              <a:pPr/>
              <a:t>3</a:t>
            </a:fld>
            <a:endParaRPr lang="en-US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7772400" cy="1143000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Two Variable Relationships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228600" y="1371600"/>
            <a:ext cx="3672000" cy="3717064"/>
            <a:chOff x="1905000" y="2057400"/>
            <a:chExt cx="5943600" cy="4263309"/>
          </a:xfrm>
        </p:grpSpPr>
        <p:sp>
          <p:nvSpPr>
            <p:cNvPr id="30724" name="Line 3"/>
            <p:cNvSpPr>
              <a:spLocks noChangeShapeType="1"/>
            </p:cNvSpPr>
            <p:nvPr/>
          </p:nvSpPr>
          <p:spPr bwMode="auto">
            <a:xfrm>
              <a:off x="2362200" y="2438400"/>
              <a:ext cx="0" cy="3048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25" name="Line 4"/>
            <p:cNvSpPr>
              <a:spLocks noChangeShapeType="1"/>
            </p:cNvSpPr>
            <p:nvPr/>
          </p:nvSpPr>
          <p:spPr bwMode="auto">
            <a:xfrm>
              <a:off x="2362200" y="5486400"/>
              <a:ext cx="4953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26" name="Text Box 5"/>
            <p:cNvSpPr txBox="1">
              <a:spLocks noChangeArrowheads="1"/>
            </p:cNvSpPr>
            <p:nvPr/>
          </p:nvSpPr>
          <p:spPr bwMode="auto">
            <a:xfrm>
              <a:off x="7315200" y="5334000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="1">
                  <a:latin typeface="Book Antiqua" pitchFamily="18" charset="0"/>
                </a:rPr>
                <a:t>X</a:t>
              </a:r>
            </a:p>
          </p:txBody>
        </p:sp>
        <p:sp>
          <p:nvSpPr>
            <p:cNvPr id="30727" name="Text Box 6"/>
            <p:cNvSpPr txBox="1">
              <a:spLocks noChangeArrowheads="1"/>
            </p:cNvSpPr>
            <p:nvPr/>
          </p:nvSpPr>
          <p:spPr bwMode="auto">
            <a:xfrm>
              <a:off x="1905000" y="2057400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="1">
                  <a:latin typeface="Book Antiqua" pitchFamily="18" charset="0"/>
                </a:rPr>
                <a:t>Y</a:t>
              </a:r>
            </a:p>
          </p:txBody>
        </p:sp>
        <p:sp>
          <p:nvSpPr>
            <p:cNvPr id="30728" name="Oval 7"/>
            <p:cNvSpPr>
              <a:spLocks noChangeArrowheads="1"/>
            </p:cNvSpPr>
            <p:nvPr/>
          </p:nvSpPr>
          <p:spPr bwMode="auto">
            <a:xfrm>
              <a:off x="3200400" y="46482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29" name="Oval 8"/>
            <p:cNvSpPr>
              <a:spLocks noChangeArrowheads="1"/>
            </p:cNvSpPr>
            <p:nvPr/>
          </p:nvSpPr>
          <p:spPr bwMode="auto">
            <a:xfrm>
              <a:off x="3962400" y="41148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0" name="Oval 9"/>
            <p:cNvSpPr>
              <a:spLocks noChangeArrowheads="1"/>
            </p:cNvSpPr>
            <p:nvPr/>
          </p:nvSpPr>
          <p:spPr bwMode="auto">
            <a:xfrm>
              <a:off x="3733800" y="45720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1" name="Oval 10"/>
            <p:cNvSpPr>
              <a:spLocks noChangeArrowheads="1"/>
            </p:cNvSpPr>
            <p:nvPr/>
          </p:nvSpPr>
          <p:spPr bwMode="auto">
            <a:xfrm>
              <a:off x="2895600" y="51054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2" name="Oval 11"/>
            <p:cNvSpPr>
              <a:spLocks noChangeArrowheads="1"/>
            </p:cNvSpPr>
            <p:nvPr/>
          </p:nvSpPr>
          <p:spPr bwMode="auto">
            <a:xfrm>
              <a:off x="4267200" y="36576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3" name="Oval 12"/>
            <p:cNvSpPr>
              <a:spLocks noChangeArrowheads="1"/>
            </p:cNvSpPr>
            <p:nvPr/>
          </p:nvSpPr>
          <p:spPr bwMode="auto">
            <a:xfrm>
              <a:off x="4800600" y="36576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4" name="Oval 13"/>
            <p:cNvSpPr>
              <a:spLocks noChangeArrowheads="1"/>
            </p:cNvSpPr>
            <p:nvPr/>
          </p:nvSpPr>
          <p:spPr bwMode="auto">
            <a:xfrm>
              <a:off x="5181600" y="31242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5" name="Oval 14"/>
            <p:cNvSpPr>
              <a:spLocks noChangeArrowheads="1"/>
            </p:cNvSpPr>
            <p:nvPr/>
          </p:nvSpPr>
          <p:spPr bwMode="auto">
            <a:xfrm>
              <a:off x="5638800" y="27432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6" name="Oval 15"/>
            <p:cNvSpPr>
              <a:spLocks noChangeArrowheads="1"/>
            </p:cNvSpPr>
            <p:nvPr/>
          </p:nvSpPr>
          <p:spPr bwMode="auto">
            <a:xfrm>
              <a:off x="6172200" y="22860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7" name="Oval 16"/>
            <p:cNvSpPr>
              <a:spLocks noChangeArrowheads="1"/>
            </p:cNvSpPr>
            <p:nvPr/>
          </p:nvSpPr>
          <p:spPr bwMode="auto">
            <a:xfrm>
              <a:off x="6781800" y="22860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41" name="Text Box 17"/>
            <p:cNvSpPr txBox="1">
              <a:spLocks noChangeArrowheads="1"/>
            </p:cNvSpPr>
            <p:nvPr/>
          </p:nvSpPr>
          <p:spPr bwMode="auto">
            <a:xfrm>
              <a:off x="2590800" y="5791200"/>
              <a:ext cx="4038600" cy="52950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2400" dirty="0">
                  <a:latin typeface="Book Antiqua" pitchFamily="18" charset="0"/>
                </a:rPr>
                <a:t>(a)  Linear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419600" y="1295400"/>
            <a:ext cx="4032000" cy="3780276"/>
            <a:chOff x="1905000" y="2057400"/>
            <a:chExt cx="5943600" cy="4253224"/>
          </a:xfrm>
        </p:grpSpPr>
        <p:sp>
          <p:nvSpPr>
            <p:cNvPr id="21" name="Line 3"/>
            <p:cNvSpPr>
              <a:spLocks noChangeShapeType="1"/>
            </p:cNvSpPr>
            <p:nvPr/>
          </p:nvSpPr>
          <p:spPr bwMode="auto">
            <a:xfrm>
              <a:off x="2362200" y="2438400"/>
              <a:ext cx="0" cy="3048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4"/>
            <p:cNvSpPr>
              <a:spLocks noChangeShapeType="1"/>
            </p:cNvSpPr>
            <p:nvPr/>
          </p:nvSpPr>
          <p:spPr bwMode="auto">
            <a:xfrm>
              <a:off x="2362200" y="5486400"/>
              <a:ext cx="4953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Text Box 5"/>
            <p:cNvSpPr txBox="1">
              <a:spLocks noChangeArrowheads="1"/>
            </p:cNvSpPr>
            <p:nvPr/>
          </p:nvSpPr>
          <p:spPr bwMode="auto">
            <a:xfrm>
              <a:off x="7315200" y="5334000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="1">
                  <a:latin typeface="Book Antiqua" pitchFamily="18" charset="0"/>
                </a:rPr>
                <a:t>X</a:t>
              </a:r>
            </a:p>
          </p:txBody>
        </p:sp>
        <p:sp>
          <p:nvSpPr>
            <p:cNvPr id="24" name="Text Box 6"/>
            <p:cNvSpPr txBox="1">
              <a:spLocks noChangeArrowheads="1"/>
            </p:cNvSpPr>
            <p:nvPr/>
          </p:nvSpPr>
          <p:spPr bwMode="auto">
            <a:xfrm>
              <a:off x="1905000" y="2057400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="1">
                  <a:latin typeface="Book Antiqua" pitchFamily="18" charset="0"/>
                </a:rPr>
                <a:t>Y</a:t>
              </a:r>
            </a:p>
          </p:txBody>
        </p:sp>
        <p:sp>
          <p:nvSpPr>
            <p:cNvPr id="25" name="Oval 7"/>
            <p:cNvSpPr>
              <a:spLocks noChangeArrowheads="1"/>
            </p:cNvSpPr>
            <p:nvPr/>
          </p:nvSpPr>
          <p:spPr bwMode="auto">
            <a:xfrm rot="-5400000">
              <a:off x="5943600" y="41910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Oval 8"/>
            <p:cNvSpPr>
              <a:spLocks noChangeArrowheads="1"/>
            </p:cNvSpPr>
            <p:nvPr/>
          </p:nvSpPr>
          <p:spPr bwMode="auto">
            <a:xfrm rot="-5400000">
              <a:off x="5181600" y="40386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Oval 9"/>
            <p:cNvSpPr>
              <a:spLocks noChangeArrowheads="1"/>
            </p:cNvSpPr>
            <p:nvPr/>
          </p:nvSpPr>
          <p:spPr bwMode="auto">
            <a:xfrm rot="-5400000">
              <a:off x="5410200" y="44958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Oval 10"/>
            <p:cNvSpPr>
              <a:spLocks noChangeArrowheads="1"/>
            </p:cNvSpPr>
            <p:nvPr/>
          </p:nvSpPr>
          <p:spPr bwMode="auto">
            <a:xfrm rot="-5400000">
              <a:off x="6400800" y="50292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Oval 11"/>
            <p:cNvSpPr>
              <a:spLocks noChangeArrowheads="1"/>
            </p:cNvSpPr>
            <p:nvPr/>
          </p:nvSpPr>
          <p:spPr bwMode="auto">
            <a:xfrm rot="-5400000">
              <a:off x="4419600" y="36576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Oval 12"/>
            <p:cNvSpPr>
              <a:spLocks noChangeArrowheads="1"/>
            </p:cNvSpPr>
            <p:nvPr/>
          </p:nvSpPr>
          <p:spPr bwMode="auto">
            <a:xfrm rot="-5400000">
              <a:off x="5029200" y="32004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Oval 13"/>
            <p:cNvSpPr>
              <a:spLocks noChangeArrowheads="1"/>
            </p:cNvSpPr>
            <p:nvPr/>
          </p:nvSpPr>
          <p:spPr bwMode="auto">
            <a:xfrm rot="-5400000">
              <a:off x="4038600" y="32004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Oval 14"/>
            <p:cNvSpPr>
              <a:spLocks noChangeArrowheads="1"/>
            </p:cNvSpPr>
            <p:nvPr/>
          </p:nvSpPr>
          <p:spPr bwMode="auto">
            <a:xfrm rot="-5400000">
              <a:off x="3657600" y="27432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15"/>
            <p:cNvSpPr>
              <a:spLocks noChangeArrowheads="1"/>
            </p:cNvSpPr>
            <p:nvPr/>
          </p:nvSpPr>
          <p:spPr bwMode="auto">
            <a:xfrm rot="-5400000">
              <a:off x="3200400" y="24384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Oval 16"/>
            <p:cNvSpPr>
              <a:spLocks noChangeArrowheads="1"/>
            </p:cNvSpPr>
            <p:nvPr/>
          </p:nvSpPr>
          <p:spPr bwMode="auto">
            <a:xfrm rot="-5400000">
              <a:off x="2895600" y="26670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Text Box 17"/>
            <p:cNvSpPr txBox="1">
              <a:spLocks noChangeArrowheads="1"/>
            </p:cNvSpPr>
            <p:nvPr/>
          </p:nvSpPr>
          <p:spPr bwMode="auto">
            <a:xfrm>
              <a:off x="2590800" y="5791200"/>
              <a:ext cx="4038600" cy="5194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(b)  Linear</a:t>
              </a:r>
            </a:p>
          </p:txBody>
        </p:sp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E745F59-1D15-451A-8443-8295F8A246E9}" type="slidenum">
              <a:rPr lang="en-US"/>
              <a:pPr/>
              <a:t>4</a:t>
            </a:fld>
            <a:endParaRPr lang="en-US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7772400" cy="1143000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Two Variable Relationships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152400" y="1371600"/>
            <a:ext cx="4392000" cy="3360529"/>
            <a:chOff x="1905000" y="2057400"/>
            <a:chExt cx="5943600" cy="4332088"/>
          </a:xfrm>
        </p:grpSpPr>
        <p:sp>
          <p:nvSpPr>
            <p:cNvPr id="32772" name="Line 3"/>
            <p:cNvSpPr>
              <a:spLocks noChangeShapeType="1"/>
            </p:cNvSpPr>
            <p:nvPr/>
          </p:nvSpPr>
          <p:spPr bwMode="auto">
            <a:xfrm>
              <a:off x="2362200" y="2438400"/>
              <a:ext cx="0" cy="3048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73" name="Line 4"/>
            <p:cNvSpPr>
              <a:spLocks noChangeShapeType="1"/>
            </p:cNvSpPr>
            <p:nvPr/>
          </p:nvSpPr>
          <p:spPr bwMode="auto">
            <a:xfrm>
              <a:off x="2362200" y="5486400"/>
              <a:ext cx="4953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74" name="Text Box 5"/>
            <p:cNvSpPr txBox="1">
              <a:spLocks noChangeArrowheads="1"/>
            </p:cNvSpPr>
            <p:nvPr/>
          </p:nvSpPr>
          <p:spPr bwMode="auto">
            <a:xfrm>
              <a:off x="7315200" y="5334000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="1">
                  <a:latin typeface="Book Antiqua" pitchFamily="18" charset="0"/>
                </a:rPr>
                <a:t>X</a:t>
              </a:r>
            </a:p>
          </p:txBody>
        </p:sp>
        <p:sp>
          <p:nvSpPr>
            <p:cNvPr id="32775" name="Text Box 6"/>
            <p:cNvSpPr txBox="1">
              <a:spLocks noChangeArrowheads="1"/>
            </p:cNvSpPr>
            <p:nvPr/>
          </p:nvSpPr>
          <p:spPr bwMode="auto">
            <a:xfrm>
              <a:off x="1905000" y="2057400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="1">
                  <a:latin typeface="Book Antiqua" pitchFamily="18" charset="0"/>
                </a:rPr>
                <a:t>Y</a:t>
              </a:r>
            </a:p>
          </p:txBody>
        </p:sp>
        <p:sp>
          <p:nvSpPr>
            <p:cNvPr id="32776" name="Oval 7"/>
            <p:cNvSpPr>
              <a:spLocks noChangeArrowheads="1"/>
            </p:cNvSpPr>
            <p:nvPr/>
          </p:nvSpPr>
          <p:spPr bwMode="auto">
            <a:xfrm rot="-5400000">
              <a:off x="4876800" y="26670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77" name="Oval 8"/>
            <p:cNvSpPr>
              <a:spLocks noChangeArrowheads="1"/>
            </p:cNvSpPr>
            <p:nvPr/>
          </p:nvSpPr>
          <p:spPr bwMode="auto">
            <a:xfrm rot="-5400000">
              <a:off x="4495800" y="30480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78" name="Oval 9"/>
            <p:cNvSpPr>
              <a:spLocks noChangeArrowheads="1"/>
            </p:cNvSpPr>
            <p:nvPr/>
          </p:nvSpPr>
          <p:spPr bwMode="auto">
            <a:xfrm rot="-5400000">
              <a:off x="5105400" y="30480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79" name="Oval 10"/>
            <p:cNvSpPr>
              <a:spLocks noChangeArrowheads="1"/>
            </p:cNvSpPr>
            <p:nvPr/>
          </p:nvSpPr>
          <p:spPr bwMode="auto">
            <a:xfrm rot="-5400000">
              <a:off x="5257800" y="35052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0" name="Oval 11"/>
            <p:cNvSpPr>
              <a:spLocks noChangeArrowheads="1"/>
            </p:cNvSpPr>
            <p:nvPr/>
          </p:nvSpPr>
          <p:spPr bwMode="auto">
            <a:xfrm rot="-5400000">
              <a:off x="3733800" y="28956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1" name="Oval 12"/>
            <p:cNvSpPr>
              <a:spLocks noChangeArrowheads="1"/>
            </p:cNvSpPr>
            <p:nvPr/>
          </p:nvSpPr>
          <p:spPr bwMode="auto">
            <a:xfrm rot="-5400000">
              <a:off x="4038600" y="26670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2" name="Oval 13"/>
            <p:cNvSpPr>
              <a:spLocks noChangeArrowheads="1"/>
            </p:cNvSpPr>
            <p:nvPr/>
          </p:nvSpPr>
          <p:spPr bwMode="auto">
            <a:xfrm rot="-5400000">
              <a:off x="3352800" y="27432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3" name="Oval 14"/>
            <p:cNvSpPr>
              <a:spLocks noChangeArrowheads="1"/>
            </p:cNvSpPr>
            <p:nvPr/>
          </p:nvSpPr>
          <p:spPr bwMode="auto">
            <a:xfrm rot="-5400000">
              <a:off x="3200400" y="25146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4" name="Oval 15"/>
            <p:cNvSpPr>
              <a:spLocks noChangeArrowheads="1"/>
            </p:cNvSpPr>
            <p:nvPr/>
          </p:nvSpPr>
          <p:spPr bwMode="auto">
            <a:xfrm rot="-5400000">
              <a:off x="2590800" y="25146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5" name="Oval 16"/>
            <p:cNvSpPr>
              <a:spLocks noChangeArrowheads="1"/>
            </p:cNvSpPr>
            <p:nvPr/>
          </p:nvSpPr>
          <p:spPr bwMode="auto">
            <a:xfrm rot="-5400000">
              <a:off x="2819400" y="28956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89" name="Text Box 17"/>
            <p:cNvSpPr txBox="1">
              <a:spLocks noChangeArrowheads="1"/>
            </p:cNvSpPr>
            <p:nvPr/>
          </p:nvSpPr>
          <p:spPr bwMode="auto">
            <a:xfrm>
              <a:off x="2590800" y="5715000"/>
              <a:ext cx="4038600" cy="6744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2800" dirty="0">
                  <a:latin typeface="Times New Roman" pitchFamily="18" charset="0"/>
                  <a:cs typeface="Times New Roman" pitchFamily="18" charset="0"/>
                </a:rPr>
                <a:t>(c)  Curvilinear</a:t>
              </a:r>
            </a:p>
          </p:txBody>
        </p:sp>
        <p:sp>
          <p:nvSpPr>
            <p:cNvPr id="32787" name="Oval 18"/>
            <p:cNvSpPr>
              <a:spLocks noChangeArrowheads="1"/>
            </p:cNvSpPr>
            <p:nvPr/>
          </p:nvSpPr>
          <p:spPr bwMode="auto">
            <a:xfrm>
              <a:off x="5638800" y="32766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8" name="Oval 19"/>
            <p:cNvSpPr>
              <a:spLocks noChangeArrowheads="1"/>
            </p:cNvSpPr>
            <p:nvPr/>
          </p:nvSpPr>
          <p:spPr bwMode="auto">
            <a:xfrm>
              <a:off x="5867400" y="37338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9" name="Oval 20"/>
            <p:cNvSpPr>
              <a:spLocks noChangeArrowheads="1"/>
            </p:cNvSpPr>
            <p:nvPr/>
          </p:nvSpPr>
          <p:spPr bwMode="auto">
            <a:xfrm>
              <a:off x="5867400" y="41910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90" name="Oval 21"/>
            <p:cNvSpPr>
              <a:spLocks noChangeArrowheads="1"/>
            </p:cNvSpPr>
            <p:nvPr/>
          </p:nvSpPr>
          <p:spPr bwMode="auto">
            <a:xfrm>
              <a:off x="6477000" y="41910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91" name="Oval 22"/>
            <p:cNvSpPr>
              <a:spLocks noChangeArrowheads="1"/>
            </p:cNvSpPr>
            <p:nvPr/>
          </p:nvSpPr>
          <p:spPr bwMode="auto">
            <a:xfrm>
              <a:off x="6096000" y="44958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92" name="Oval 23"/>
            <p:cNvSpPr>
              <a:spLocks noChangeArrowheads="1"/>
            </p:cNvSpPr>
            <p:nvPr/>
          </p:nvSpPr>
          <p:spPr bwMode="auto">
            <a:xfrm>
              <a:off x="6477000" y="51054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4495800" y="1371600"/>
            <a:ext cx="4320000" cy="3330499"/>
            <a:chOff x="1905000" y="2057400"/>
            <a:chExt cx="5943600" cy="4246195"/>
          </a:xfrm>
        </p:grpSpPr>
        <p:sp>
          <p:nvSpPr>
            <p:cNvPr id="27" name="Line 3"/>
            <p:cNvSpPr>
              <a:spLocks noChangeShapeType="1"/>
            </p:cNvSpPr>
            <p:nvPr/>
          </p:nvSpPr>
          <p:spPr bwMode="auto">
            <a:xfrm>
              <a:off x="2362200" y="2438400"/>
              <a:ext cx="0" cy="3048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4"/>
            <p:cNvSpPr>
              <a:spLocks noChangeShapeType="1"/>
            </p:cNvSpPr>
            <p:nvPr/>
          </p:nvSpPr>
          <p:spPr bwMode="auto">
            <a:xfrm>
              <a:off x="2362200" y="5486400"/>
              <a:ext cx="4953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Text Box 5"/>
            <p:cNvSpPr txBox="1">
              <a:spLocks noChangeArrowheads="1"/>
            </p:cNvSpPr>
            <p:nvPr/>
          </p:nvSpPr>
          <p:spPr bwMode="auto">
            <a:xfrm>
              <a:off x="7315200" y="5334000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="1">
                  <a:latin typeface="Book Antiqua" pitchFamily="18" charset="0"/>
                </a:rPr>
                <a:t>X</a:t>
              </a:r>
            </a:p>
          </p:txBody>
        </p:sp>
        <p:sp>
          <p:nvSpPr>
            <p:cNvPr id="30" name="Text Box 6"/>
            <p:cNvSpPr txBox="1">
              <a:spLocks noChangeArrowheads="1"/>
            </p:cNvSpPr>
            <p:nvPr/>
          </p:nvSpPr>
          <p:spPr bwMode="auto">
            <a:xfrm>
              <a:off x="1905000" y="2057400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="1">
                  <a:latin typeface="Book Antiqua" pitchFamily="18" charset="0"/>
                </a:rPr>
                <a:t>Y</a:t>
              </a:r>
            </a:p>
          </p:txBody>
        </p:sp>
        <p:sp>
          <p:nvSpPr>
            <p:cNvPr id="31" name="Oval 7"/>
            <p:cNvSpPr>
              <a:spLocks noChangeArrowheads="1"/>
            </p:cNvSpPr>
            <p:nvPr/>
          </p:nvSpPr>
          <p:spPr bwMode="auto">
            <a:xfrm rot="-5400000">
              <a:off x="4876800" y="24384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Oval 8"/>
            <p:cNvSpPr>
              <a:spLocks noChangeArrowheads="1"/>
            </p:cNvSpPr>
            <p:nvPr/>
          </p:nvSpPr>
          <p:spPr bwMode="auto">
            <a:xfrm rot="-5400000">
              <a:off x="4648200" y="28194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9"/>
            <p:cNvSpPr>
              <a:spLocks noChangeArrowheads="1"/>
            </p:cNvSpPr>
            <p:nvPr/>
          </p:nvSpPr>
          <p:spPr bwMode="auto">
            <a:xfrm rot="-5400000">
              <a:off x="5181600" y="24384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Oval 10"/>
            <p:cNvSpPr>
              <a:spLocks noChangeArrowheads="1"/>
            </p:cNvSpPr>
            <p:nvPr/>
          </p:nvSpPr>
          <p:spPr bwMode="auto">
            <a:xfrm rot="-5400000">
              <a:off x="5486400" y="24384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Oval 11"/>
            <p:cNvSpPr>
              <a:spLocks noChangeArrowheads="1"/>
            </p:cNvSpPr>
            <p:nvPr/>
          </p:nvSpPr>
          <p:spPr bwMode="auto">
            <a:xfrm rot="-5400000">
              <a:off x="3733800" y="28956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12"/>
            <p:cNvSpPr>
              <a:spLocks noChangeArrowheads="1"/>
            </p:cNvSpPr>
            <p:nvPr/>
          </p:nvSpPr>
          <p:spPr bwMode="auto">
            <a:xfrm rot="-5400000">
              <a:off x="4038600" y="26670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Oval 13"/>
            <p:cNvSpPr>
              <a:spLocks noChangeArrowheads="1"/>
            </p:cNvSpPr>
            <p:nvPr/>
          </p:nvSpPr>
          <p:spPr bwMode="auto">
            <a:xfrm rot="-5400000">
              <a:off x="3352800" y="27432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Oval 14"/>
            <p:cNvSpPr>
              <a:spLocks noChangeArrowheads="1"/>
            </p:cNvSpPr>
            <p:nvPr/>
          </p:nvSpPr>
          <p:spPr bwMode="auto">
            <a:xfrm rot="-5400000">
              <a:off x="3581400" y="25146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Oval 15"/>
            <p:cNvSpPr>
              <a:spLocks noChangeArrowheads="1"/>
            </p:cNvSpPr>
            <p:nvPr/>
          </p:nvSpPr>
          <p:spPr bwMode="auto">
            <a:xfrm rot="-5400000">
              <a:off x="4343400" y="25146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Oval 16"/>
            <p:cNvSpPr>
              <a:spLocks noChangeArrowheads="1"/>
            </p:cNvSpPr>
            <p:nvPr/>
          </p:nvSpPr>
          <p:spPr bwMode="auto">
            <a:xfrm rot="-5400000">
              <a:off x="3276600" y="29718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Text Box 17"/>
            <p:cNvSpPr txBox="1">
              <a:spLocks noChangeArrowheads="1"/>
            </p:cNvSpPr>
            <p:nvPr/>
          </p:nvSpPr>
          <p:spPr bwMode="auto">
            <a:xfrm>
              <a:off x="2590801" y="5714999"/>
              <a:ext cx="4038601" cy="5885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2400" dirty="0">
                  <a:latin typeface="Book Antiqua" pitchFamily="18" charset="0"/>
                </a:rPr>
                <a:t>(d)  Curvilinear</a:t>
              </a:r>
            </a:p>
          </p:txBody>
        </p:sp>
        <p:sp>
          <p:nvSpPr>
            <p:cNvPr id="42" name="Oval 18"/>
            <p:cNvSpPr>
              <a:spLocks noChangeArrowheads="1"/>
            </p:cNvSpPr>
            <p:nvPr/>
          </p:nvSpPr>
          <p:spPr bwMode="auto">
            <a:xfrm>
              <a:off x="5867400" y="26670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Oval 19"/>
            <p:cNvSpPr>
              <a:spLocks noChangeArrowheads="1"/>
            </p:cNvSpPr>
            <p:nvPr/>
          </p:nvSpPr>
          <p:spPr bwMode="auto">
            <a:xfrm>
              <a:off x="3276600" y="36576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Oval 20"/>
            <p:cNvSpPr>
              <a:spLocks noChangeArrowheads="1"/>
            </p:cNvSpPr>
            <p:nvPr/>
          </p:nvSpPr>
          <p:spPr bwMode="auto">
            <a:xfrm>
              <a:off x="3124200" y="41148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Oval 21"/>
            <p:cNvSpPr>
              <a:spLocks noChangeArrowheads="1"/>
            </p:cNvSpPr>
            <p:nvPr/>
          </p:nvSpPr>
          <p:spPr bwMode="auto">
            <a:xfrm>
              <a:off x="2895600" y="36576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Oval 22"/>
            <p:cNvSpPr>
              <a:spLocks noChangeArrowheads="1"/>
            </p:cNvSpPr>
            <p:nvPr/>
          </p:nvSpPr>
          <p:spPr bwMode="auto">
            <a:xfrm>
              <a:off x="2971800" y="46482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Oval 23"/>
            <p:cNvSpPr>
              <a:spLocks noChangeArrowheads="1"/>
            </p:cNvSpPr>
            <p:nvPr/>
          </p:nvSpPr>
          <p:spPr bwMode="auto">
            <a:xfrm>
              <a:off x="2667000" y="5181600"/>
              <a:ext cx="76200" cy="76200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468EA2E-2CFB-4232-879F-8AF42187AFF2}" type="slidenum">
              <a:rPr lang="en-US"/>
              <a:pPr/>
              <a:t>5</a:t>
            </a:fld>
            <a:endParaRPr lang="en-US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85800"/>
            <a:ext cx="7772400" cy="1143000"/>
          </a:xfrm>
        </p:spPr>
        <p:txBody>
          <a:bodyPr/>
          <a:lstStyle/>
          <a:p>
            <a:r>
              <a:rPr lang="en-US" sz="3200" dirty="0" smtClean="0"/>
              <a:t>Two Variable Relationships</a:t>
            </a:r>
          </a:p>
        </p:txBody>
      </p:sp>
      <p:sp>
        <p:nvSpPr>
          <p:cNvPr id="34820" name="Line 3"/>
          <p:cNvSpPr>
            <a:spLocks noChangeShapeType="1"/>
          </p:cNvSpPr>
          <p:nvPr/>
        </p:nvSpPr>
        <p:spPr bwMode="auto">
          <a:xfrm>
            <a:off x="2362200" y="2438400"/>
            <a:ext cx="0" cy="3048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1" name="Line 4"/>
          <p:cNvSpPr>
            <a:spLocks noChangeShapeType="1"/>
          </p:cNvSpPr>
          <p:nvPr/>
        </p:nvSpPr>
        <p:spPr bwMode="auto">
          <a:xfrm>
            <a:off x="2362200" y="5486400"/>
            <a:ext cx="4953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2" name="Text Box 5"/>
          <p:cNvSpPr txBox="1">
            <a:spLocks noChangeArrowheads="1"/>
          </p:cNvSpPr>
          <p:nvPr/>
        </p:nvSpPr>
        <p:spPr bwMode="auto">
          <a:xfrm>
            <a:off x="7315200" y="53340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>
                <a:latin typeface="Book Antiqua" pitchFamily="18" charset="0"/>
              </a:rPr>
              <a:t>X</a:t>
            </a:r>
          </a:p>
        </p:txBody>
      </p:sp>
      <p:sp>
        <p:nvSpPr>
          <p:cNvPr id="34823" name="Text Box 6"/>
          <p:cNvSpPr txBox="1">
            <a:spLocks noChangeArrowheads="1"/>
          </p:cNvSpPr>
          <p:nvPr/>
        </p:nvSpPr>
        <p:spPr bwMode="auto">
          <a:xfrm>
            <a:off x="1905000" y="20574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>
                <a:latin typeface="Book Antiqua" pitchFamily="18" charset="0"/>
              </a:rPr>
              <a:t>Y</a:t>
            </a:r>
          </a:p>
        </p:txBody>
      </p:sp>
      <p:sp>
        <p:nvSpPr>
          <p:cNvPr id="34824" name="Oval 7"/>
          <p:cNvSpPr>
            <a:spLocks noChangeArrowheads="1"/>
          </p:cNvSpPr>
          <p:nvPr/>
        </p:nvSpPr>
        <p:spPr bwMode="auto">
          <a:xfrm rot="-5400000">
            <a:off x="5334000" y="25908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5" name="Oval 8"/>
          <p:cNvSpPr>
            <a:spLocks noChangeArrowheads="1"/>
          </p:cNvSpPr>
          <p:nvPr/>
        </p:nvSpPr>
        <p:spPr bwMode="auto">
          <a:xfrm rot="-5400000">
            <a:off x="4876800" y="31242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6" name="Oval 9"/>
          <p:cNvSpPr>
            <a:spLocks noChangeArrowheads="1"/>
          </p:cNvSpPr>
          <p:nvPr/>
        </p:nvSpPr>
        <p:spPr bwMode="auto">
          <a:xfrm rot="-5400000">
            <a:off x="4953000" y="38100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7" name="Oval 10"/>
          <p:cNvSpPr>
            <a:spLocks noChangeArrowheads="1"/>
          </p:cNvSpPr>
          <p:nvPr/>
        </p:nvSpPr>
        <p:spPr bwMode="auto">
          <a:xfrm rot="-5400000">
            <a:off x="5715000" y="32004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8" name="Oval 11"/>
          <p:cNvSpPr>
            <a:spLocks noChangeArrowheads="1"/>
          </p:cNvSpPr>
          <p:nvPr/>
        </p:nvSpPr>
        <p:spPr bwMode="auto">
          <a:xfrm rot="-5400000">
            <a:off x="3733800" y="28956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9" name="Oval 12"/>
          <p:cNvSpPr>
            <a:spLocks noChangeArrowheads="1"/>
          </p:cNvSpPr>
          <p:nvPr/>
        </p:nvSpPr>
        <p:spPr bwMode="auto">
          <a:xfrm rot="-5400000">
            <a:off x="4114800" y="38862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30" name="Oval 13"/>
          <p:cNvSpPr>
            <a:spLocks noChangeArrowheads="1"/>
          </p:cNvSpPr>
          <p:nvPr/>
        </p:nvSpPr>
        <p:spPr bwMode="auto">
          <a:xfrm rot="-5400000">
            <a:off x="3276600" y="30480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31" name="Oval 14"/>
          <p:cNvSpPr>
            <a:spLocks noChangeArrowheads="1"/>
          </p:cNvSpPr>
          <p:nvPr/>
        </p:nvSpPr>
        <p:spPr bwMode="auto">
          <a:xfrm rot="-5400000">
            <a:off x="5867400" y="48006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32" name="Oval 15"/>
          <p:cNvSpPr>
            <a:spLocks noChangeArrowheads="1"/>
          </p:cNvSpPr>
          <p:nvPr/>
        </p:nvSpPr>
        <p:spPr bwMode="auto">
          <a:xfrm rot="-5400000">
            <a:off x="4343400" y="25146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33" name="Oval 16"/>
          <p:cNvSpPr>
            <a:spLocks noChangeArrowheads="1"/>
          </p:cNvSpPr>
          <p:nvPr/>
        </p:nvSpPr>
        <p:spPr bwMode="auto">
          <a:xfrm rot="-5400000">
            <a:off x="2819400" y="28194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1937" name="Text Box 17"/>
          <p:cNvSpPr txBox="1">
            <a:spLocks noChangeArrowheads="1"/>
          </p:cNvSpPr>
          <p:nvPr/>
        </p:nvSpPr>
        <p:spPr bwMode="auto">
          <a:xfrm>
            <a:off x="2590800" y="5715000"/>
            <a:ext cx="4038600" cy="519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(e)  No Relationship</a:t>
            </a:r>
          </a:p>
        </p:txBody>
      </p:sp>
      <p:sp>
        <p:nvSpPr>
          <p:cNvPr id="34835" name="Oval 18"/>
          <p:cNvSpPr>
            <a:spLocks noChangeArrowheads="1"/>
          </p:cNvSpPr>
          <p:nvPr/>
        </p:nvSpPr>
        <p:spPr bwMode="auto">
          <a:xfrm>
            <a:off x="6096000" y="41148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36" name="Oval 19"/>
          <p:cNvSpPr>
            <a:spLocks noChangeArrowheads="1"/>
          </p:cNvSpPr>
          <p:nvPr/>
        </p:nvSpPr>
        <p:spPr bwMode="auto">
          <a:xfrm>
            <a:off x="3276600" y="36576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37" name="Oval 20"/>
          <p:cNvSpPr>
            <a:spLocks noChangeArrowheads="1"/>
          </p:cNvSpPr>
          <p:nvPr/>
        </p:nvSpPr>
        <p:spPr bwMode="auto">
          <a:xfrm>
            <a:off x="4724400" y="43434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38" name="Oval 21"/>
          <p:cNvSpPr>
            <a:spLocks noChangeArrowheads="1"/>
          </p:cNvSpPr>
          <p:nvPr/>
        </p:nvSpPr>
        <p:spPr bwMode="auto">
          <a:xfrm>
            <a:off x="2895600" y="36576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39" name="Oval 22"/>
          <p:cNvSpPr>
            <a:spLocks noChangeArrowheads="1"/>
          </p:cNvSpPr>
          <p:nvPr/>
        </p:nvSpPr>
        <p:spPr bwMode="auto">
          <a:xfrm>
            <a:off x="3505200" y="46482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40" name="Oval 23"/>
          <p:cNvSpPr>
            <a:spLocks noChangeArrowheads="1"/>
          </p:cNvSpPr>
          <p:nvPr/>
        </p:nvSpPr>
        <p:spPr bwMode="auto">
          <a:xfrm>
            <a:off x="2667000" y="51816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0"/>
            <a:ext cx="7772400" cy="65405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3200" dirty="0" smtClean="0">
                <a:latin typeface="Bookman Old Style" pitchFamily="18" charset="0"/>
              </a:rPr>
              <a:t>Pearson’s Correlation Coefficient</a:t>
            </a:r>
            <a:endParaRPr lang="zh-TW" altLang="en-US" sz="3200" dirty="0" smtClean="0">
              <a:latin typeface="Bookman Old Style" pitchFamily="18" charset="0"/>
            </a:endParaRPr>
          </a:p>
        </p:txBody>
      </p:sp>
      <p:sp>
        <p:nvSpPr>
          <p:cNvPr id="1028" name="內容版面配置區 2"/>
          <p:cNvSpPr>
            <a:spLocks noGrp="1"/>
          </p:cNvSpPr>
          <p:nvPr>
            <p:ph sz="quarter" idx="1"/>
          </p:nvPr>
        </p:nvSpPr>
        <p:spPr>
          <a:xfrm>
            <a:off x="381000" y="838200"/>
            <a:ext cx="8043862" cy="5286375"/>
          </a:xfrm>
        </p:spPr>
        <p:txBody>
          <a:bodyPr/>
          <a:lstStyle/>
          <a:p>
            <a:pPr algn="just" eaLnBrk="1" hangingPunct="1"/>
            <a:r>
              <a:rPr lang="en-US" altLang="zh-TW" sz="2400" dirty="0" smtClean="0">
                <a:latin typeface="Times New Roman" charset="0"/>
                <a:cs typeface="Times New Roman" charset="0"/>
              </a:rPr>
              <a:t>In the underlying </a:t>
            </a:r>
            <a:r>
              <a:rPr lang="en-US" altLang="zh-TW" sz="2400" dirty="0" smtClean="0">
                <a:solidFill>
                  <a:srgbClr val="0000CC"/>
                </a:solidFill>
                <a:latin typeface="Times New Roman" charset="0"/>
                <a:cs typeface="Times New Roman" charset="0"/>
              </a:rPr>
              <a:t>population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 form which the sample of points (</a:t>
            </a:r>
            <a:r>
              <a:rPr lang="en-US" altLang="zh-TW" sz="2400" dirty="0" err="1" smtClean="0">
                <a:latin typeface="Times New Roman" charset="0"/>
                <a:cs typeface="Times New Roman" charset="0"/>
              </a:rPr>
              <a:t>x</a:t>
            </a:r>
            <a:r>
              <a:rPr lang="en-US" altLang="zh-TW" sz="2400" i="1" baseline="-25000" dirty="0" err="1" smtClean="0">
                <a:latin typeface="Times New Roman" charset="0"/>
                <a:cs typeface="Times New Roman" charset="0"/>
              </a:rPr>
              <a:t>i</a:t>
            </a:r>
            <a:r>
              <a:rPr lang="en-US" altLang="zh-TW" sz="2400" dirty="0" err="1" smtClean="0">
                <a:latin typeface="Times New Roman" charset="0"/>
                <a:cs typeface="Times New Roman" charset="0"/>
              </a:rPr>
              <a:t>,y</a:t>
            </a:r>
            <a:r>
              <a:rPr lang="en-US" altLang="zh-TW" sz="2400" i="1" baseline="-25000" dirty="0" err="1" smtClean="0">
                <a:latin typeface="Times New Roman" charset="0"/>
                <a:cs typeface="Times New Roman" charset="0"/>
              </a:rPr>
              <a:t>i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) is selected, the population correlation between the variables </a:t>
            </a:r>
            <a:r>
              <a:rPr lang="en-US" altLang="zh-TW" sz="2400" i="1" dirty="0" smtClean="0">
                <a:latin typeface="Times New Roman" charset="0"/>
                <a:cs typeface="Times New Roman" charset="0"/>
              </a:rPr>
              <a:t>X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 and </a:t>
            </a:r>
            <a:r>
              <a:rPr lang="en-US" altLang="zh-TW" sz="2400" i="1" dirty="0" smtClean="0">
                <a:latin typeface="Times New Roman" charset="0"/>
                <a:cs typeface="Times New Roman" charset="0"/>
              </a:rPr>
              <a:t>Y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 is a Greek letter: rho</a:t>
            </a:r>
          </a:p>
          <a:p>
            <a:pPr algn="just" eaLnBrk="1" hangingPunct="1"/>
            <a:r>
              <a:rPr lang="en-US" altLang="zh-TW" sz="2400" dirty="0" smtClean="0">
                <a:latin typeface="Times New Roman" charset="0"/>
                <a:cs typeface="Times New Roman" charset="0"/>
              </a:rPr>
              <a:t>The quantifies the strength of the linear relationship between the outcomes </a:t>
            </a:r>
            <a:r>
              <a:rPr lang="en-US" altLang="zh-TW" sz="2400" i="1" dirty="0" smtClean="0">
                <a:latin typeface="Times New Roman" charset="0"/>
                <a:cs typeface="Times New Roman" charset="0"/>
              </a:rPr>
              <a:t>X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 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and </a:t>
            </a:r>
            <a:r>
              <a:rPr lang="en-US" altLang="zh-TW" sz="2400" i="1" dirty="0" smtClean="0">
                <a:latin typeface="Times New Roman" charset="0"/>
                <a:cs typeface="Times New Roman" charset="0"/>
              </a:rPr>
              <a:t>Y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.</a:t>
            </a:r>
            <a:endParaRPr lang="en-US" altLang="zh-TW" sz="2400" dirty="0" smtClean="0">
              <a:latin typeface="Times New Roman" charset="0"/>
              <a:cs typeface="Times New Roman" charset="0"/>
            </a:endParaRPr>
          </a:p>
          <a:p>
            <a:pPr algn="just" eaLnBrk="1" hangingPunct="1"/>
            <a:endParaRPr lang="en-US" altLang="zh-TW" sz="2400" dirty="0" smtClean="0">
              <a:latin typeface="Times New Roman" charset="0"/>
              <a:cs typeface="Times New Roman" charset="0"/>
            </a:endParaRPr>
          </a:p>
          <a:p>
            <a:pPr algn="just" eaLnBrk="1" hangingPunct="1"/>
            <a:endParaRPr lang="en-US" altLang="zh-TW" sz="2400" dirty="0" smtClean="0">
              <a:latin typeface="Times New Roman" charset="0"/>
              <a:cs typeface="Times New Roman" charset="0"/>
            </a:endParaRPr>
          </a:p>
          <a:p>
            <a:pPr algn="just" eaLnBrk="1" hangingPunct="1"/>
            <a:endParaRPr lang="en-US" altLang="zh-TW" sz="2400" dirty="0" smtClean="0">
              <a:latin typeface="Times New Roman" charset="0"/>
              <a:cs typeface="Times New Roman" charset="0"/>
            </a:endParaRPr>
          </a:p>
          <a:p>
            <a:pPr algn="just" eaLnBrk="1" hangingPunct="1">
              <a:buNone/>
            </a:pPr>
            <a:r>
              <a:rPr lang="en-US" altLang="zh-TW" sz="2400" dirty="0" smtClean="0">
                <a:latin typeface="Times New Roman" charset="0"/>
                <a:cs typeface="Times New Roman" charset="0"/>
              </a:rPr>
              <a:t>	where </a:t>
            </a:r>
            <a:r>
              <a:rPr lang="el-GR" altLang="zh-TW" sz="2400" dirty="0" smtClean="0">
                <a:latin typeface="Times New Roman" charset="0"/>
                <a:cs typeface="Times New Roman" charset="0"/>
              </a:rPr>
              <a:t>μ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 is the mean and </a:t>
            </a:r>
            <a:r>
              <a:rPr lang="el-GR" altLang="zh-TW" sz="2400" dirty="0" smtClean="0">
                <a:latin typeface="Times New Roman" charset="0"/>
                <a:cs typeface="Times New Roman" charset="0"/>
              </a:rPr>
              <a:t>σ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 is standard deviation</a:t>
            </a:r>
          </a:p>
          <a:p>
            <a:pPr algn="just" eaLnBrk="1" hangingPunct="1"/>
            <a:endParaRPr lang="en-US" altLang="zh-TW" sz="2400" dirty="0" smtClean="0">
              <a:latin typeface="Times New Roman" charset="0"/>
              <a:cs typeface="Times New Roman" charset="0"/>
            </a:endParaRPr>
          </a:p>
          <a:p>
            <a:pPr algn="just" eaLnBrk="1" hangingPunct="1"/>
            <a:r>
              <a:rPr lang="en-US" altLang="zh-TW" sz="2400" dirty="0" smtClean="0">
                <a:latin typeface="Times New Roman" charset="0"/>
                <a:cs typeface="Times New Roman" charset="0"/>
              </a:rPr>
              <a:t>The estimator of </a:t>
            </a:r>
            <a:r>
              <a:rPr lang="en-US" altLang="zh-TW" sz="2400" i="1" dirty="0" smtClean="0">
                <a:latin typeface="Times New Roman Symbol" pitchFamily="18" charset="0"/>
                <a:cs typeface="Times New Roman" charset="0"/>
              </a:rPr>
              <a:t>r</a:t>
            </a:r>
            <a:r>
              <a:rPr lang="en-US" altLang="zh-TW" sz="2400" dirty="0" smtClean="0">
                <a:latin typeface="Times New Roman Symbol" pitchFamily="18" charset="0"/>
                <a:cs typeface="Times New Roman" charset="0"/>
              </a:rPr>
              <a:t> 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is known as Pearson’s coefficient of correlation or correlation coefficient (</a:t>
            </a:r>
            <a:r>
              <a:rPr lang="en-US" altLang="zh-TW" sz="2400" i="1" dirty="0" smtClean="0">
                <a:latin typeface="Times New Roman" charset="0"/>
                <a:cs typeface="Times New Roman" charset="0"/>
              </a:rPr>
              <a:t>r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).</a:t>
            </a:r>
            <a:endParaRPr lang="zh-TW" altLang="en-US" sz="2400" dirty="0" smtClean="0">
              <a:latin typeface="Times New Roman" charset="0"/>
              <a:cs typeface="Times New Roman" charset="0"/>
            </a:endParaRPr>
          </a:p>
        </p:txBody>
      </p:sp>
      <p:graphicFrame>
        <p:nvGraphicFramePr>
          <p:cNvPr id="1026" name="Object 10"/>
          <p:cNvGraphicFramePr>
            <a:graphicFrameLocks noChangeAspect="1"/>
          </p:cNvGraphicFramePr>
          <p:nvPr/>
        </p:nvGraphicFramePr>
        <p:xfrm>
          <a:off x="838200" y="2819400"/>
          <a:ext cx="7086601" cy="1219200"/>
        </p:xfrm>
        <a:graphic>
          <a:graphicData uri="http://schemas.openxmlformats.org/presentationml/2006/ole">
            <p:oleObj spid="_x0000_s37890" name="Equation" r:id="rId3" imgW="3568680" imgH="7110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內容版面配置區 2"/>
          <p:cNvSpPr>
            <a:spLocks noGrp="1"/>
          </p:cNvSpPr>
          <p:nvPr>
            <p:ph sz="quarter" idx="1"/>
          </p:nvPr>
        </p:nvSpPr>
        <p:spPr>
          <a:xfrm>
            <a:off x="457200" y="762000"/>
            <a:ext cx="8458200" cy="5181600"/>
          </a:xfrm>
        </p:spPr>
        <p:txBody>
          <a:bodyPr/>
          <a:lstStyle/>
          <a:p>
            <a:pPr eaLnBrk="1" hangingPunct="1"/>
            <a:r>
              <a:rPr lang="en-US" altLang="zh-TW" sz="2400" dirty="0" smtClean="0">
                <a:latin typeface="Times New Roman" charset="0"/>
                <a:cs typeface="Times New Roman" charset="0"/>
              </a:rPr>
              <a:t>The sample correlation coefficient is denoted by </a:t>
            </a:r>
            <a:r>
              <a:rPr lang="en-US" altLang="zh-TW" sz="2800" i="1" dirty="0" smtClean="0">
                <a:latin typeface="Times New Roman" charset="0"/>
                <a:cs typeface="Times New Roman" charset="0"/>
              </a:rPr>
              <a:t>r</a:t>
            </a:r>
            <a:r>
              <a:rPr lang="en-US" altLang="zh-TW" sz="2800" dirty="0" smtClean="0">
                <a:latin typeface="Times New Roman" charset="0"/>
                <a:cs typeface="Times New Roman" charset="0"/>
              </a:rPr>
              <a:t>.</a:t>
            </a:r>
          </a:p>
          <a:p>
            <a:pPr eaLnBrk="1" hangingPunct="1"/>
            <a:endParaRPr lang="en-US" altLang="zh-TW" dirty="0" smtClean="0">
              <a:latin typeface="Times New Roman" charset="0"/>
              <a:cs typeface="Times New Roman" charset="0"/>
            </a:endParaRPr>
          </a:p>
          <a:p>
            <a:pPr eaLnBrk="1" hangingPunct="1"/>
            <a:endParaRPr lang="en-US" altLang="zh-TW" dirty="0" smtClean="0">
              <a:latin typeface="Times New Roman" charset="0"/>
              <a:cs typeface="Times New Roman" charset="0"/>
            </a:endParaRPr>
          </a:p>
          <a:p>
            <a:pPr eaLnBrk="1" hangingPunct="1"/>
            <a:endParaRPr lang="en-US" altLang="zh-TW" i="1" dirty="0" smtClean="0">
              <a:latin typeface="Times New Roman" charset="0"/>
              <a:cs typeface="Times New Roman" charset="0"/>
            </a:endParaRPr>
          </a:p>
          <a:p>
            <a:pPr eaLnBrk="1" hangingPunct="1"/>
            <a:r>
              <a:rPr lang="en-US" altLang="zh-TW" sz="2400" i="1" dirty="0" err="1" smtClean="0">
                <a:latin typeface="Times New Roman" charset="0"/>
                <a:cs typeface="Times New Roman" charset="0"/>
              </a:rPr>
              <a:t>s</a:t>
            </a:r>
            <a:r>
              <a:rPr lang="en-US" altLang="zh-TW" sz="2400" i="1" baseline="-25000" dirty="0" err="1" smtClean="0">
                <a:latin typeface="Times New Roman" charset="0"/>
                <a:cs typeface="Times New Roman" charset="0"/>
              </a:rPr>
              <a:t>x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 and </a:t>
            </a:r>
            <a:r>
              <a:rPr lang="en-US" altLang="zh-TW" sz="2400" i="1" dirty="0" err="1" smtClean="0">
                <a:latin typeface="Times New Roman" charset="0"/>
                <a:cs typeface="Times New Roman" charset="0"/>
              </a:rPr>
              <a:t>s</a:t>
            </a:r>
            <a:r>
              <a:rPr lang="en-US" altLang="zh-TW" sz="2400" i="1" baseline="-25000" dirty="0" err="1" smtClean="0">
                <a:latin typeface="Times New Roman" charset="0"/>
                <a:cs typeface="Times New Roman" charset="0"/>
              </a:rPr>
              <a:t>y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 are the sample standard deviations of the </a:t>
            </a:r>
            <a:r>
              <a:rPr lang="en-US" altLang="zh-TW" sz="2400" i="1" dirty="0" smtClean="0">
                <a:latin typeface="Times New Roman" charset="0"/>
                <a:cs typeface="Times New Roman" charset="0"/>
              </a:rPr>
              <a:t>x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 and </a:t>
            </a:r>
            <a:r>
              <a:rPr lang="en-US" altLang="zh-TW" sz="2400" i="1" dirty="0" smtClean="0">
                <a:latin typeface="Times New Roman" charset="0"/>
                <a:cs typeface="Times New Roman" charset="0"/>
              </a:rPr>
              <a:t>y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 values.</a:t>
            </a:r>
            <a:endParaRPr lang="zh-TW" altLang="en-US" sz="2400" dirty="0" smtClean="0">
              <a:latin typeface="Times New Roman" charset="0"/>
              <a:cs typeface="Times New Roman" charset="0"/>
            </a:endParaRPr>
          </a:p>
        </p:txBody>
      </p:sp>
      <p:graphicFrame>
        <p:nvGraphicFramePr>
          <p:cNvPr id="2050" name="Object 6"/>
          <p:cNvGraphicFramePr>
            <a:graphicFrameLocks noChangeAspect="1"/>
          </p:cNvGraphicFramePr>
          <p:nvPr/>
        </p:nvGraphicFramePr>
        <p:xfrm>
          <a:off x="2743200" y="3733800"/>
          <a:ext cx="4060825" cy="1649413"/>
        </p:xfrm>
        <a:graphic>
          <a:graphicData uri="http://schemas.openxmlformats.org/presentationml/2006/ole">
            <p:oleObj spid="_x0000_s38914" name="Equation" r:id="rId3" imgW="2184120" imgH="888840" progId="">
              <p:embed/>
            </p:oleObj>
          </a:graphicData>
        </a:graphic>
      </p:graphicFrame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1600200" y="1295400"/>
          <a:ext cx="6138863" cy="1243012"/>
        </p:xfrm>
        <a:graphic>
          <a:graphicData uri="http://schemas.openxmlformats.org/presentationml/2006/ole">
            <p:oleObj spid="_x0000_s38915" name="Equation" r:id="rId4" imgW="3314520" imgH="67284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686800" cy="609600"/>
          </a:xfrm>
        </p:spPr>
        <p:txBody>
          <a:bodyPr/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The Pearson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Correlation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Coefficient</a:t>
            </a:r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>
            <p:ph sz="half" idx="1"/>
          </p:nvPr>
        </p:nvGraphicFramePr>
        <p:xfrm>
          <a:off x="1828800" y="1524000"/>
          <a:ext cx="3810000" cy="762000"/>
        </p:xfrm>
        <a:graphic>
          <a:graphicData uri="http://schemas.openxmlformats.org/presentationml/2006/ole">
            <p:oleObj spid="_x0000_s95234" name="Equation" r:id="rId3" imgW="2666880" imgH="533160" progId="Equation.3">
              <p:embed/>
            </p:oleObj>
          </a:graphicData>
        </a:graphic>
      </p:graphicFrame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762000" y="838200"/>
            <a:ext cx="7239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atinLnBrk="1">
              <a:spcBef>
                <a:spcPct val="50000"/>
              </a:spcBef>
            </a:pPr>
            <a:r>
              <a:rPr kumimoji="1" lang="en-US" sz="24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Recall that the formula for a variance </a:t>
            </a:r>
            <a:r>
              <a:rPr kumimoji="1" lang="en-US" sz="2400" dirty="0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of sample is</a:t>
            </a:r>
            <a:r>
              <a:rPr kumimoji="1" lang="en-US" sz="24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: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457200" y="2514600"/>
            <a:ext cx="8534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atinLnBrk="1">
              <a:spcBef>
                <a:spcPct val="50000"/>
              </a:spcBef>
            </a:pPr>
            <a:r>
              <a:rPr kumimoji="1" lang="en-US" sz="24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If we replaced the second </a:t>
            </a:r>
            <a:r>
              <a:rPr kumimoji="1" lang="en-US" sz="2400" i="1" dirty="0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x</a:t>
            </a:r>
            <a:r>
              <a:rPr kumimoji="1" lang="en-US" sz="2400" dirty="0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</a:t>
            </a:r>
            <a:r>
              <a:rPr kumimoji="1" lang="en-US" sz="24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that was squared with a second </a:t>
            </a:r>
            <a:r>
              <a:rPr kumimoji="1" lang="en-US" sz="2400" dirty="0" err="1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variable</a:t>
            </a:r>
            <a:r>
              <a:rPr kumimoji="1" lang="en-US" sz="2400" i="1" dirty="0" err="1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y</a:t>
            </a:r>
            <a:r>
              <a:rPr kumimoji="1" lang="en-US" sz="2400" dirty="0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, </a:t>
            </a:r>
            <a:r>
              <a:rPr kumimoji="1" lang="en-US" sz="24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it would be:</a:t>
            </a:r>
          </a:p>
        </p:txBody>
      </p:sp>
      <p:graphicFrame>
        <p:nvGraphicFramePr>
          <p:cNvPr id="19462" name="Object 6"/>
          <p:cNvGraphicFramePr>
            <a:graphicFrameLocks noChangeAspect="1"/>
          </p:cNvGraphicFramePr>
          <p:nvPr>
            <p:ph sz="half" idx="2"/>
          </p:nvPr>
        </p:nvGraphicFramePr>
        <p:xfrm>
          <a:off x="2828925" y="3505200"/>
          <a:ext cx="2647950" cy="762000"/>
        </p:xfrm>
        <a:graphic>
          <a:graphicData uri="http://schemas.openxmlformats.org/presentationml/2006/ole">
            <p:oleObj spid="_x0000_s95235" name="Equation" r:id="rId4" imgW="1765080" imgH="507960" progId="Equation.3">
              <p:embed/>
            </p:oleObj>
          </a:graphicData>
        </a:graphic>
      </p:graphicFrame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152400" y="4724400"/>
            <a:ext cx="8839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atinLnBrk="1">
              <a:spcBef>
                <a:spcPct val="50000"/>
              </a:spcBef>
            </a:pPr>
            <a:r>
              <a:rPr kumimoji="1" lang="en-US" sz="24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This is called a co-variance and is an index of </a:t>
            </a:r>
            <a:r>
              <a:rPr kumimoji="1" lang="en-US" sz="2400" dirty="0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the relationship </a:t>
            </a:r>
            <a:r>
              <a:rPr kumimoji="1" lang="en-US" sz="24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between </a:t>
            </a:r>
            <a:r>
              <a:rPr kumimoji="1" lang="en-US" sz="2400" i="1" dirty="0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x</a:t>
            </a:r>
            <a:r>
              <a:rPr kumimoji="1" lang="en-US" sz="2400" dirty="0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</a:t>
            </a:r>
            <a:r>
              <a:rPr kumimoji="1" lang="en-US" sz="24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and </a:t>
            </a:r>
            <a:r>
              <a:rPr kumimoji="1" lang="en-US" sz="2400" i="1" dirty="0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y</a:t>
            </a:r>
            <a:r>
              <a:rPr kumimoji="1" lang="en-US" sz="2400" dirty="0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.</a:t>
            </a:r>
            <a:endParaRPr kumimoji="1" lang="en-US" sz="2400" dirty="0"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2"/>
          <p:cNvGraphicFramePr>
            <a:graphicFrameLocks noChangeAspect="1"/>
          </p:cNvGraphicFramePr>
          <p:nvPr/>
        </p:nvGraphicFramePr>
        <p:xfrm>
          <a:off x="1195388" y="825500"/>
          <a:ext cx="6432550" cy="1633538"/>
        </p:xfrm>
        <a:graphic>
          <a:graphicData uri="http://schemas.openxmlformats.org/presentationml/2006/ole">
            <p:oleObj spid="_x0000_s96258" name="Equation" r:id="rId3" imgW="3073320" imgH="1079280" progId="Equation.3">
              <p:embed/>
            </p:oleObj>
          </a:graphicData>
        </a:graphic>
      </p:graphicFrame>
      <p:sp>
        <p:nvSpPr>
          <p:cNvPr id="22531" name="Line 3"/>
          <p:cNvSpPr>
            <a:spLocks noChangeShapeType="1"/>
          </p:cNvSpPr>
          <p:nvPr/>
        </p:nvSpPr>
        <p:spPr bwMode="auto">
          <a:xfrm>
            <a:off x="4800600" y="1600200"/>
            <a:ext cx="2286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639762"/>
          </a:xfrm>
        </p:spPr>
        <p:txBody>
          <a:bodyPr/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Calculation of Pearson 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r</a:t>
            </a: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304800" y="2438400"/>
            <a:ext cx="8610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atinLnBrk="1"/>
            <a:r>
              <a:rPr kumimoji="1" lang="en-US" sz="2400" dirty="0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This </a:t>
            </a:r>
            <a:r>
              <a:rPr kumimoji="1" lang="en-US" sz="24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formula is merely the sum of </a:t>
            </a:r>
            <a:r>
              <a:rPr kumimoji="1" lang="en-US" sz="2400" dirty="0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squares </a:t>
            </a:r>
            <a:r>
              <a:rPr kumimoji="1" lang="en-US" sz="24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for covariance divided by the </a:t>
            </a:r>
            <a:r>
              <a:rPr kumimoji="1" lang="en-US" sz="2400" dirty="0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square </a:t>
            </a:r>
            <a:r>
              <a:rPr kumimoji="1" lang="en-US" sz="24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root of the product of the sum of squares </a:t>
            </a:r>
            <a:r>
              <a:rPr kumimoji="1" lang="en-US" sz="2400" dirty="0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for </a:t>
            </a:r>
            <a:r>
              <a:rPr kumimoji="1" lang="en-US" sz="2400" i="1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X</a:t>
            </a:r>
            <a:r>
              <a:rPr kumimoji="1" lang="en-US" sz="24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and </a:t>
            </a:r>
            <a:r>
              <a:rPr kumimoji="1" lang="en-US" sz="2400" i="1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Y</a:t>
            </a:r>
          </a:p>
        </p:txBody>
      </p:sp>
      <p:graphicFrame>
        <p:nvGraphicFramePr>
          <p:cNvPr id="96259" name="Object 3"/>
          <p:cNvGraphicFramePr>
            <a:graphicFrameLocks noChangeAspect="1"/>
          </p:cNvGraphicFramePr>
          <p:nvPr/>
        </p:nvGraphicFramePr>
        <p:xfrm>
          <a:off x="273050" y="3526688"/>
          <a:ext cx="3841750" cy="2493112"/>
        </p:xfrm>
        <a:graphic>
          <a:graphicData uri="http://schemas.openxmlformats.org/presentationml/2006/ole">
            <p:oleObj spid="_x0000_s96259" name="Equation" r:id="rId4" imgW="2082600" imgH="1650960" progId="Equation.3">
              <p:embed/>
            </p:oleObj>
          </a:graphicData>
        </a:graphic>
      </p:graphicFrame>
      <p:sp>
        <p:nvSpPr>
          <p:cNvPr id="7" name="Rectangle 6"/>
          <p:cNvSpPr/>
          <p:nvPr/>
        </p:nvSpPr>
        <p:spPr>
          <a:xfrm>
            <a:off x="4191000" y="3581400"/>
            <a:ext cx="4953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kumimoji="1" lang="en-US" sz="2400" dirty="0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Therefore, the formula for calculating </a:t>
            </a:r>
            <a:r>
              <a:rPr kumimoji="1" lang="en-US" sz="2400" i="1" dirty="0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r</a:t>
            </a:r>
            <a:r>
              <a:rPr kumimoji="1" lang="en-US" sz="2400" dirty="0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 is written as</a:t>
            </a:r>
          </a:p>
        </p:txBody>
      </p:sp>
      <p:graphicFrame>
        <p:nvGraphicFramePr>
          <p:cNvPr id="96260" name="Object 4"/>
          <p:cNvGraphicFramePr>
            <a:graphicFrameLocks noChangeAspect="1"/>
          </p:cNvGraphicFramePr>
          <p:nvPr/>
        </p:nvGraphicFramePr>
        <p:xfrm>
          <a:off x="4800600" y="4648200"/>
          <a:ext cx="2895600" cy="914400"/>
        </p:xfrm>
        <a:graphic>
          <a:graphicData uri="http://schemas.openxmlformats.org/presentationml/2006/ole">
            <p:oleObj spid="_x0000_s96260" name="Equation" r:id="rId5" imgW="1041120" imgH="444240" progId="Equation.3">
              <p:embed/>
            </p:oleObj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6629400" y="5105400"/>
            <a:ext cx="990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內容版面配置區 2"/>
          <p:cNvSpPr>
            <a:spLocks noGrp="1"/>
          </p:cNvSpPr>
          <p:nvPr>
            <p:ph sz="quarter" idx="1"/>
          </p:nvPr>
        </p:nvSpPr>
        <p:spPr>
          <a:xfrm>
            <a:off x="381001" y="500063"/>
            <a:ext cx="8477250" cy="5519737"/>
          </a:xfrm>
        </p:spPr>
        <p:txBody>
          <a:bodyPr/>
          <a:lstStyle/>
          <a:p>
            <a:pPr eaLnBrk="1" hangingPunct="1"/>
            <a:r>
              <a:rPr lang="en-US" altLang="zh-TW" sz="2800" dirty="0" smtClean="0">
                <a:latin typeface="Times New Roman" charset="0"/>
                <a:cs typeface="Times New Roman" charset="0"/>
              </a:rPr>
              <a:t>The correlation coefficient is dimensionless number; it has no units of measurement.</a:t>
            </a:r>
          </a:p>
          <a:p>
            <a:pPr lvl="1" algn="just" eaLnBrk="1" hangingPunct="1">
              <a:lnSpc>
                <a:spcPts val="3400"/>
              </a:lnSpc>
            </a:pPr>
            <a:r>
              <a:rPr lang="en-US" altLang="zh-TW" dirty="0" smtClean="0">
                <a:latin typeface="Times New Roman" charset="0"/>
                <a:cs typeface="Times New Roman" charset="0"/>
              </a:rPr>
              <a:t>-1 ≤ </a:t>
            </a:r>
            <a:r>
              <a:rPr lang="en-US" altLang="zh-TW" i="1" dirty="0" smtClean="0">
                <a:latin typeface="Times New Roman" charset="0"/>
                <a:cs typeface="Times New Roman" charset="0"/>
              </a:rPr>
              <a:t>r </a:t>
            </a:r>
            <a:r>
              <a:rPr lang="en-US" altLang="zh-TW" dirty="0" smtClean="0">
                <a:latin typeface="Times New Roman" charset="0"/>
                <a:cs typeface="Times New Roman" charset="0"/>
              </a:rPr>
              <a:t>≤ 1</a:t>
            </a:r>
          </a:p>
          <a:p>
            <a:pPr lvl="1" algn="just" eaLnBrk="1" hangingPunct="1">
              <a:lnSpc>
                <a:spcPts val="3400"/>
              </a:lnSpc>
            </a:pPr>
            <a:r>
              <a:rPr lang="en-US" altLang="zh-TW" sz="2400" dirty="0" smtClean="0">
                <a:latin typeface="Times New Roman" charset="0"/>
                <a:cs typeface="Times New Roman" charset="0"/>
              </a:rPr>
              <a:t>The value </a:t>
            </a:r>
            <a:r>
              <a:rPr lang="en-US" altLang="zh-TW" sz="2400" i="1" dirty="0" smtClean="0">
                <a:latin typeface="Times New Roman" charset="0"/>
                <a:cs typeface="Times New Roman" charset="0"/>
              </a:rPr>
              <a:t>r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=1 and </a:t>
            </a:r>
            <a:r>
              <a:rPr lang="en-US" altLang="zh-TW" sz="2400" i="1" dirty="0" smtClean="0">
                <a:latin typeface="Times New Roman" charset="0"/>
                <a:cs typeface="Times New Roman" charset="0"/>
              </a:rPr>
              <a:t>r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=-1 occur when there is an </a:t>
            </a:r>
            <a:r>
              <a:rPr lang="en-US" altLang="zh-TW" sz="2400" u="sng" dirty="0" smtClean="0">
                <a:latin typeface="Times New Roman" charset="0"/>
                <a:cs typeface="Times New Roman" charset="0"/>
              </a:rPr>
              <a:t>exact 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linear relationship between </a:t>
            </a:r>
            <a:r>
              <a:rPr lang="en-US" altLang="zh-TW" sz="2400" i="1" dirty="0" smtClean="0">
                <a:latin typeface="Times New Roman" charset="0"/>
                <a:cs typeface="Times New Roman" charset="0"/>
              </a:rPr>
              <a:t>x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 and </a:t>
            </a:r>
            <a:r>
              <a:rPr lang="en-US" altLang="zh-TW" sz="2400" i="1" dirty="0" smtClean="0">
                <a:latin typeface="Times New Roman" charset="0"/>
                <a:cs typeface="Times New Roman" charset="0"/>
              </a:rPr>
              <a:t>y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. </a:t>
            </a:r>
          </a:p>
          <a:p>
            <a:pPr lvl="1" algn="just" eaLnBrk="1" hangingPunct="1">
              <a:lnSpc>
                <a:spcPts val="3400"/>
              </a:lnSpc>
            </a:pPr>
            <a:r>
              <a:rPr lang="en-US" altLang="zh-TW" sz="2400" dirty="0" smtClean="0">
                <a:latin typeface="Times New Roman" charset="0"/>
                <a:cs typeface="Times New Roman" charset="0"/>
              </a:rPr>
              <a:t>If </a:t>
            </a:r>
            <a:r>
              <a:rPr lang="en-US" altLang="zh-TW" sz="2400" i="1" dirty="0" smtClean="0">
                <a:latin typeface="Times New Roman" charset="0"/>
                <a:cs typeface="Times New Roman" charset="0"/>
              </a:rPr>
              <a:t>y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 tends to increase in magnitude as </a:t>
            </a:r>
            <a:r>
              <a:rPr lang="en-US" altLang="zh-TW" sz="2400" i="1" dirty="0" smtClean="0">
                <a:latin typeface="Times New Roman" charset="0"/>
                <a:cs typeface="Times New Roman" charset="0"/>
              </a:rPr>
              <a:t>x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 increases, </a:t>
            </a:r>
            <a:r>
              <a:rPr lang="en-US" altLang="zh-TW" sz="2400" i="1" dirty="0" smtClean="0">
                <a:latin typeface="Times New Roman" charset="0"/>
                <a:cs typeface="Times New Roman" charset="0"/>
              </a:rPr>
              <a:t>r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 is greater than 0;  </a:t>
            </a:r>
            <a:r>
              <a:rPr lang="en-US" altLang="zh-TW" sz="2400" i="1" dirty="0" smtClean="0">
                <a:latin typeface="Times New Roman" charset="0"/>
                <a:cs typeface="Times New Roman" charset="0"/>
              </a:rPr>
              <a:t>x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 any </a:t>
            </a:r>
            <a:r>
              <a:rPr lang="en-US" altLang="zh-TW" sz="2400" i="1" dirty="0" smtClean="0">
                <a:latin typeface="Times New Roman" charset="0"/>
                <a:cs typeface="Times New Roman" charset="0"/>
              </a:rPr>
              <a:t>y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 are said to be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charset="0"/>
                <a:cs typeface="Times New Roman" charset="0"/>
              </a:rPr>
              <a:t>positively correlated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. (</a:t>
            </a:r>
            <a:r>
              <a:rPr lang="en-US" altLang="zh-TW" sz="2400" i="1" dirty="0" smtClean="0">
                <a:latin typeface="Times New Roman" charset="0"/>
                <a:cs typeface="Times New Roman" charset="0"/>
              </a:rPr>
              <a:t>r 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&gt;0)</a:t>
            </a:r>
          </a:p>
          <a:p>
            <a:pPr lvl="1" algn="just" eaLnBrk="1" hangingPunct="1">
              <a:lnSpc>
                <a:spcPts val="3400"/>
              </a:lnSpc>
            </a:pPr>
            <a:r>
              <a:rPr lang="en-US" altLang="zh-TW" sz="2400" dirty="0" smtClean="0">
                <a:latin typeface="Times New Roman" charset="0"/>
                <a:cs typeface="Times New Roman" charset="0"/>
              </a:rPr>
              <a:t>If </a:t>
            </a:r>
            <a:r>
              <a:rPr lang="en-US" altLang="zh-TW" sz="2400" i="1" dirty="0" smtClean="0">
                <a:latin typeface="Times New Roman" charset="0"/>
                <a:cs typeface="Times New Roman" charset="0"/>
              </a:rPr>
              <a:t>y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 decreases as </a:t>
            </a:r>
            <a:r>
              <a:rPr lang="en-US" altLang="zh-TW" sz="2400" i="1" dirty="0" smtClean="0">
                <a:latin typeface="Times New Roman" charset="0"/>
                <a:cs typeface="Times New Roman" charset="0"/>
              </a:rPr>
              <a:t>x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 increases, </a:t>
            </a:r>
            <a:r>
              <a:rPr lang="en-US" altLang="zh-TW" sz="2400" i="1" dirty="0" smtClean="0">
                <a:latin typeface="Times New Roman" charset="0"/>
                <a:cs typeface="Times New Roman" charset="0"/>
              </a:rPr>
              <a:t>r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 is less than 0 and the two variables are </a:t>
            </a:r>
            <a:r>
              <a:rPr lang="en-US" altLang="zh-TW" sz="2400" i="1" dirty="0" smtClean="0">
                <a:solidFill>
                  <a:srgbClr val="FF0000"/>
                </a:solidFill>
                <a:latin typeface="Times New Roman" charset="0"/>
                <a:cs typeface="Times New Roman" charset="0"/>
              </a:rPr>
              <a:t>negatively correlated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. (</a:t>
            </a:r>
            <a:r>
              <a:rPr lang="en-US" altLang="zh-TW" sz="2400" i="1" dirty="0" smtClean="0">
                <a:latin typeface="Times New Roman" charset="0"/>
                <a:cs typeface="Times New Roman" charset="0"/>
              </a:rPr>
              <a:t>r 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&lt;0)</a:t>
            </a:r>
          </a:p>
          <a:p>
            <a:pPr lvl="1" algn="just" eaLnBrk="1" hangingPunct="1">
              <a:lnSpc>
                <a:spcPts val="3400"/>
              </a:lnSpc>
            </a:pPr>
            <a:r>
              <a:rPr lang="en-US" altLang="zh-TW" sz="2400" dirty="0" smtClean="0">
                <a:latin typeface="Times New Roman" charset="0"/>
                <a:cs typeface="Times New Roman" charset="0"/>
              </a:rPr>
              <a:t>If </a:t>
            </a:r>
            <a:r>
              <a:rPr lang="en-US" altLang="zh-TW" sz="2400" i="1" dirty="0" smtClean="0">
                <a:latin typeface="Times New Roman" charset="0"/>
                <a:cs typeface="Times New Roman" charset="0"/>
              </a:rPr>
              <a:t>r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=0, there is no linear relationship between </a:t>
            </a:r>
            <a:r>
              <a:rPr lang="en-US" altLang="zh-TW" sz="2400" i="1" dirty="0" smtClean="0">
                <a:latin typeface="Times New Roman" charset="0"/>
                <a:cs typeface="Times New Roman" charset="0"/>
              </a:rPr>
              <a:t>x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 and </a:t>
            </a:r>
            <a:r>
              <a:rPr lang="en-US" altLang="zh-TW" sz="2400" i="1" dirty="0" smtClean="0">
                <a:latin typeface="Times New Roman" charset="0"/>
                <a:cs typeface="Times New Roman" charset="0"/>
              </a:rPr>
              <a:t>y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 and the variables are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charset="0"/>
                <a:cs typeface="Times New Roman" charset="0"/>
              </a:rPr>
              <a:t>uncorrelated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. (</a:t>
            </a:r>
            <a:r>
              <a:rPr lang="en-US" altLang="zh-TW" sz="2400" i="1" dirty="0" smtClean="0">
                <a:latin typeface="Times New Roman" charset="0"/>
                <a:cs typeface="Times New Roman" charset="0"/>
              </a:rPr>
              <a:t>r 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=0) </a:t>
            </a:r>
          </a:p>
          <a:p>
            <a:pPr eaLnBrk="1" hangingPunct="1">
              <a:lnSpc>
                <a:spcPts val="3400"/>
              </a:lnSpc>
              <a:buNone/>
            </a:pPr>
            <a:endParaRPr lang="en-US" altLang="zh-TW" dirty="0" smtClean="0">
              <a:latin typeface="Times New Roman" charset="0"/>
              <a:cs typeface="Times New Roman" charset="0"/>
            </a:endParaRPr>
          </a:p>
          <a:p>
            <a:pPr lvl="1" eaLnBrk="1" hangingPunct="1"/>
            <a:endParaRPr lang="en-US" altLang="zh-TW" dirty="0" smtClean="0">
              <a:latin typeface="Times New Roman" charset="0"/>
              <a:cs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Relation between study hour and error made by students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5603" name="Group 3"/>
          <p:cNvGraphicFramePr>
            <a:graphicFrameLocks noGrp="1"/>
          </p:cNvGraphicFramePr>
          <p:nvPr>
            <p:ph type="tbl" idx="1"/>
          </p:nvPr>
        </p:nvGraphicFramePr>
        <p:xfrm>
          <a:off x="457200" y="1295400"/>
          <a:ext cx="7848600" cy="4937760"/>
        </p:xfrm>
        <a:graphic>
          <a:graphicData uri="http://schemas.openxmlformats.org/drawingml/2006/table">
            <a:tbl>
              <a:tblPr/>
              <a:tblGrid>
                <a:gridCol w="1295400"/>
                <a:gridCol w="1371600"/>
                <a:gridCol w="1295400"/>
                <a:gridCol w="1295400"/>
                <a:gridCol w="1295400"/>
                <a:gridCol w="1295400"/>
              </a:tblGrid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Student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Hours Studied (</a:t>
                      </a:r>
                      <a:r>
                        <a:rPr kumimoji="0" lang="en-US" sz="16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Errors (y)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kumimoji="0" lang="en-US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xy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64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x = 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y = 73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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=546</a:t>
                      </a:r>
                      <a:endParaRPr kumimoji="0" lang="en-US" sz="2000" b="0" i="0" u="none" strike="noStrike" cap="none" normalizeH="0" baseline="3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y </a:t>
                      </a:r>
                      <a:r>
                        <a:rPr kumimoji="0" lang="en-US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2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=695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</a:t>
                      </a: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xy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=429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533400" y="609600"/>
            <a:ext cx="7924800" cy="1143000"/>
          </a:xfrm>
        </p:spPr>
        <p:txBody>
          <a:bodyPr/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Data Needed to Calculate the Sum of Squares</a:t>
            </a:r>
          </a:p>
        </p:txBody>
      </p:sp>
      <p:graphicFrame>
        <p:nvGraphicFramePr>
          <p:cNvPr id="26627" name="Group 3"/>
          <p:cNvGraphicFramePr>
            <a:graphicFrameLocks noGrp="1"/>
          </p:cNvGraphicFramePr>
          <p:nvPr>
            <p:ph sz="quarter" idx="1"/>
          </p:nvPr>
        </p:nvGraphicFramePr>
        <p:xfrm>
          <a:off x="860425" y="1768475"/>
          <a:ext cx="7442200" cy="1036638"/>
        </p:xfrm>
        <a:graphic>
          <a:graphicData uri="http://schemas.openxmlformats.org/drawingml/2006/table">
            <a:tbl>
              <a:tblPr/>
              <a:tblGrid>
                <a:gridCol w="1196975"/>
                <a:gridCol w="1138238"/>
                <a:gridCol w="1138237"/>
                <a:gridCol w="1358900"/>
                <a:gridCol w="1290638"/>
                <a:gridCol w="1319212"/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kumimoji="0" lang="en-US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xy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3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x = 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y = 73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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=546</a:t>
                      </a:r>
                      <a:endParaRPr kumimoji="0" lang="en-US" sz="2000" b="0" i="0" u="none" strike="noStrike" cap="none" normalizeH="0" baseline="3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y </a:t>
                      </a:r>
                      <a:r>
                        <a:rPr kumimoji="0" lang="en-US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2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 =695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</a:t>
                      </a: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xy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=429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6650" name="Object 26"/>
          <p:cNvGraphicFramePr>
            <a:graphicFrameLocks noChangeAspect="1"/>
          </p:cNvGraphicFramePr>
          <p:nvPr>
            <p:ph sz="quarter" idx="2"/>
          </p:nvPr>
        </p:nvGraphicFramePr>
        <p:xfrm>
          <a:off x="898525" y="4391025"/>
          <a:ext cx="2057400" cy="665163"/>
        </p:xfrm>
        <a:graphic>
          <a:graphicData uri="http://schemas.openxmlformats.org/presentationml/2006/ole">
            <p:oleObj spid="_x0000_s98306" name="Equation" r:id="rId3" imgW="1650960" imgH="533160" progId="Equation.3">
              <p:embed/>
            </p:oleObj>
          </a:graphicData>
        </a:graphic>
      </p:graphicFrame>
      <p:graphicFrame>
        <p:nvGraphicFramePr>
          <p:cNvPr id="26651" name="Object 27"/>
          <p:cNvGraphicFramePr>
            <a:graphicFrameLocks noChangeAspect="1"/>
          </p:cNvGraphicFramePr>
          <p:nvPr>
            <p:ph sz="quarter" idx="3"/>
          </p:nvPr>
        </p:nvGraphicFramePr>
        <p:xfrm>
          <a:off x="295275" y="5257800"/>
          <a:ext cx="2844800" cy="693738"/>
        </p:xfrm>
        <a:graphic>
          <a:graphicData uri="http://schemas.openxmlformats.org/presentationml/2006/ole">
            <p:oleObj spid="_x0000_s98307" name="Equation" r:id="rId4" imgW="2082600" imgH="507960" progId="Equation.3">
              <p:embed/>
            </p:oleObj>
          </a:graphicData>
        </a:graphic>
      </p:graphicFrame>
      <p:graphicFrame>
        <p:nvGraphicFramePr>
          <p:cNvPr id="26652" name="Object 28"/>
          <p:cNvGraphicFramePr>
            <a:graphicFrameLocks noChangeAspect="1"/>
          </p:cNvGraphicFramePr>
          <p:nvPr>
            <p:ph sz="quarter" idx="4"/>
          </p:nvPr>
        </p:nvGraphicFramePr>
        <p:xfrm>
          <a:off x="803275" y="3430588"/>
          <a:ext cx="2203450" cy="728662"/>
        </p:xfrm>
        <a:graphic>
          <a:graphicData uri="http://schemas.openxmlformats.org/presentationml/2006/ole">
            <p:oleObj spid="_x0000_s98308" name="Equation" r:id="rId5" imgW="1612800" imgH="533160" progId="Equation.3">
              <p:embed/>
            </p:oleObj>
          </a:graphicData>
        </a:graphic>
      </p:graphicFrame>
      <p:sp>
        <p:nvSpPr>
          <p:cNvPr id="26653" name="Text Box 29"/>
          <p:cNvSpPr txBox="1">
            <a:spLocks noChangeArrowheads="1"/>
          </p:cNvSpPr>
          <p:nvPr/>
        </p:nvSpPr>
        <p:spPr bwMode="auto">
          <a:xfrm>
            <a:off x="3276600" y="3581400"/>
            <a:ext cx="344357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= 546 - 70</a:t>
            </a:r>
            <a:r>
              <a:rPr lang="en-US" sz="2000" baseline="300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2</a:t>
            </a:r>
            <a:r>
              <a:rPr lang="en-US" sz="20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/10 = 546 - 490 = 56</a:t>
            </a:r>
          </a:p>
        </p:txBody>
      </p:sp>
      <p:sp>
        <p:nvSpPr>
          <p:cNvPr id="26654" name="Text Box 30"/>
          <p:cNvSpPr txBox="1">
            <a:spLocks noChangeArrowheads="1"/>
          </p:cNvSpPr>
          <p:nvPr/>
        </p:nvSpPr>
        <p:spPr bwMode="auto">
          <a:xfrm>
            <a:off x="3200400" y="4495800"/>
            <a:ext cx="395653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= 695 - 73</a:t>
            </a:r>
            <a:r>
              <a:rPr lang="en-US" sz="2000" baseline="300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2</a:t>
            </a:r>
            <a:r>
              <a:rPr lang="en-US" sz="20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/10 = 695 - 523.9 = 162.1</a:t>
            </a:r>
          </a:p>
        </p:txBody>
      </p:sp>
      <p:sp>
        <p:nvSpPr>
          <p:cNvPr id="26655" name="Text Box 31"/>
          <p:cNvSpPr txBox="1">
            <a:spLocks noChangeArrowheads="1"/>
          </p:cNvSpPr>
          <p:nvPr/>
        </p:nvSpPr>
        <p:spPr bwMode="auto">
          <a:xfrm>
            <a:off x="3200400" y="5334000"/>
            <a:ext cx="411696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= 429 – (70)(73)/10 = 429 – 511 = -82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563562"/>
          </a:xfrm>
        </p:spPr>
        <p:txBody>
          <a:bodyPr/>
          <a:lstStyle/>
          <a:p>
            <a:r>
              <a:rPr lang="en-US" sz="3200" dirty="0">
                <a:latin typeface="Bookman Old Style" pitchFamily="18" charset="0"/>
              </a:rPr>
              <a:t>Calculating the Correlation Coefficient</a:t>
            </a:r>
          </a:p>
        </p:txBody>
      </p:sp>
      <p:graphicFrame>
        <p:nvGraphicFramePr>
          <p:cNvPr id="27651" name="Object 3"/>
          <p:cNvGraphicFramePr>
            <a:graphicFrameLocks noChangeAspect="1"/>
          </p:cNvGraphicFramePr>
          <p:nvPr>
            <p:ph idx="1"/>
          </p:nvPr>
        </p:nvGraphicFramePr>
        <p:xfrm>
          <a:off x="609600" y="1219200"/>
          <a:ext cx="2678112" cy="762000"/>
        </p:xfrm>
        <a:graphic>
          <a:graphicData uri="http://schemas.openxmlformats.org/presentationml/2006/ole">
            <p:oleObj spid="_x0000_s99330" name="Equation" r:id="rId3" imgW="1041120" imgH="444240" progId="Equation.3">
              <p:embed/>
            </p:oleObj>
          </a:graphicData>
        </a:graphic>
      </p:graphicFrame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3657600" y="1371600"/>
            <a:ext cx="2739853" cy="1261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atinLnBrk="1"/>
            <a:r>
              <a:rPr kumimoji="1" lang="en-US" sz="24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= -82 / </a:t>
            </a:r>
            <a:r>
              <a:rPr kumimoji="1" lang="en-US" sz="24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√</a:t>
            </a:r>
            <a:r>
              <a:rPr kumimoji="1" lang="en-US" sz="24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(56)(162.1) </a:t>
            </a:r>
          </a:p>
          <a:p>
            <a:pPr latinLnBrk="1"/>
            <a:r>
              <a:rPr kumimoji="1" lang="en-US" sz="2800" b="1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/>
            </a:r>
            <a:br>
              <a:rPr kumimoji="1" lang="en-US" sz="2800" b="1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</a:br>
            <a:r>
              <a:rPr kumimoji="1" lang="en-US" sz="24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=  - 0.86 </a:t>
            </a:r>
            <a:endParaRPr kumimoji="1" lang="en-US" sz="3200" dirty="0"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974725" y="5078413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atinLnBrk="1"/>
            <a:endParaRPr kumimoji="1" lang="en-US" sz="2400" b="1">
              <a:ea typeface="굴림" pitchFamily="50" charset="-127"/>
            </a:endParaRPr>
          </a:p>
        </p:txBody>
      </p:sp>
      <p:sp>
        <p:nvSpPr>
          <p:cNvPr id="27654" name="Text Box 6"/>
          <p:cNvSpPr txBox="1">
            <a:spLocks noChangeArrowheads="1"/>
          </p:cNvSpPr>
          <p:nvPr/>
        </p:nvSpPr>
        <p:spPr bwMode="auto">
          <a:xfrm>
            <a:off x="381000" y="3352800"/>
            <a:ext cx="8229600" cy="21441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 eaLnBrk="0">
              <a:lnSpc>
                <a:spcPts val="3200"/>
              </a:lnSpc>
            </a:pPr>
            <a:r>
              <a:rPr kumimoji="1" lang="en-US" sz="24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Thus, the correlation between hours studied and errors made on the mid-term examination is -0.86; indicating </a:t>
            </a:r>
            <a:r>
              <a:rPr kumimoji="1" lang="en-US" sz="2400" dirty="0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that </a:t>
            </a:r>
            <a:r>
              <a:rPr kumimoji="1" lang="en-US" sz="24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more time spend studying is related to fewer </a:t>
            </a:r>
            <a:r>
              <a:rPr kumimoji="1" lang="en-US" sz="2400" dirty="0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errors </a:t>
            </a:r>
            <a:r>
              <a:rPr kumimoji="1" lang="en-US" sz="24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on the mid-term examination.  Hopefully an obvious, but now a statistical conclusion!</a:t>
            </a:r>
          </a:p>
        </p:txBody>
      </p:sp>
      <p:sp>
        <p:nvSpPr>
          <p:cNvPr id="27655" name="Line 7"/>
          <p:cNvSpPr>
            <a:spLocks noChangeShapeType="1"/>
          </p:cNvSpPr>
          <p:nvPr/>
        </p:nvSpPr>
        <p:spPr bwMode="auto">
          <a:xfrm>
            <a:off x="2209800" y="1600200"/>
            <a:ext cx="1143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內容版面配置區 2"/>
          <p:cNvSpPr>
            <a:spLocks noGrp="1"/>
          </p:cNvSpPr>
          <p:nvPr>
            <p:ph sz="quarter" idx="1"/>
          </p:nvPr>
        </p:nvSpPr>
        <p:spPr>
          <a:xfrm>
            <a:off x="914400" y="500063"/>
            <a:ext cx="7772400" cy="5519737"/>
          </a:xfrm>
        </p:spPr>
        <p:txBody>
          <a:bodyPr/>
          <a:lstStyle/>
          <a:p>
            <a:pPr eaLnBrk="1" hangingPunct="1">
              <a:lnSpc>
                <a:spcPts val="3400"/>
              </a:lnSpc>
            </a:pPr>
            <a:r>
              <a:rPr lang="en-US" altLang="zh-TW" sz="2800" dirty="0" smtClean="0">
                <a:latin typeface="Times New Roman" charset="0"/>
                <a:cs typeface="Times New Roman" charset="0"/>
              </a:rPr>
              <a:t>In this sample:</a:t>
            </a:r>
          </a:p>
          <a:p>
            <a:pPr lvl="1" algn="just" eaLnBrk="1" hangingPunct="1">
              <a:lnSpc>
                <a:spcPts val="3400"/>
              </a:lnSpc>
            </a:pP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Strong linear relationship</a:t>
            </a:r>
          </a:p>
          <a:p>
            <a:pPr lvl="1" algn="just" eaLnBrk="1" hangingPunct="1">
              <a:lnSpc>
                <a:spcPts val="3400"/>
              </a:lnSpc>
            </a:pP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Negative association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altLang="zh-TW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 eaLnBrk="1" hangingPunct="1">
              <a:lnSpc>
                <a:spcPts val="3400"/>
              </a:lnSpc>
            </a:pP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The correlation coefficient merely tells us that a linear relationship exists between two variables; it does not specify </a:t>
            </a:r>
            <a:r>
              <a:rPr lang="en-US" altLang="zh-TW" sz="2400" u="sng" dirty="0" smtClean="0">
                <a:latin typeface="Times New Roman" pitchFamily="18" charset="0"/>
                <a:cs typeface="Times New Roman" pitchFamily="18" charset="0"/>
              </a:rPr>
              <a:t>whether the relationship is cause-and-effect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 eaLnBrk="1" hangingPunct="1">
              <a:lnSpc>
                <a:spcPts val="3400"/>
              </a:lnSpc>
            </a:pP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We would also like to be able to draw conclusions about the unknown population correlation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 using the sample correlation coefficient 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.</a:t>
            </a:r>
            <a:endParaRPr lang="zh-TW" alt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內容版面配置區 2"/>
          <p:cNvSpPr>
            <a:spLocks noGrp="1"/>
          </p:cNvSpPr>
          <p:nvPr>
            <p:ph sz="quarter" idx="1"/>
          </p:nvPr>
        </p:nvSpPr>
        <p:spPr>
          <a:xfrm>
            <a:off x="304800" y="500063"/>
            <a:ext cx="8382000" cy="5519737"/>
          </a:xfrm>
        </p:spPr>
        <p:txBody>
          <a:bodyPr/>
          <a:lstStyle/>
          <a:p>
            <a:pPr eaLnBrk="1" hangingPunct="1">
              <a:lnSpc>
                <a:spcPts val="3400"/>
              </a:lnSpc>
            </a:pPr>
            <a:r>
              <a:rPr lang="en-US" altLang="zh-TW" sz="2800" dirty="0" smtClean="0">
                <a:latin typeface="Times New Roman" charset="0"/>
                <a:cs typeface="Times New Roman" charset="0"/>
              </a:rPr>
              <a:t>The coefficient of correlation </a:t>
            </a:r>
            <a:r>
              <a:rPr lang="en-US" altLang="zh-TW" sz="2800" i="1" dirty="0" smtClean="0">
                <a:latin typeface="Times New Roman" charset="0"/>
                <a:cs typeface="Times New Roman" charset="0"/>
              </a:rPr>
              <a:t>r</a:t>
            </a:r>
            <a:r>
              <a:rPr lang="en-US" altLang="zh-TW" sz="2800" dirty="0" smtClean="0">
                <a:latin typeface="Times New Roman" charset="0"/>
                <a:cs typeface="Times New Roman" charset="0"/>
              </a:rPr>
              <a:t> has several limitations:</a:t>
            </a:r>
          </a:p>
          <a:p>
            <a:pPr marL="788988" lvl="1" indent="-514350" eaLnBrk="1" hangingPunct="1">
              <a:lnSpc>
                <a:spcPts val="3400"/>
              </a:lnSpc>
              <a:buFont typeface="Franklin Gothic Book" pitchFamily="34" charset="0"/>
              <a:buAutoNum type="arabicPeriod"/>
            </a:pP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It quantifies only the strength of the linear relationship between two variables.</a:t>
            </a:r>
          </a:p>
          <a:p>
            <a:pPr marL="788988" lvl="1" indent="-514350" eaLnBrk="1" hangingPunct="1">
              <a:lnSpc>
                <a:spcPts val="3400"/>
              </a:lnSpc>
              <a:buFont typeface="Franklin Gothic Book" pitchFamily="34" charset="0"/>
              <a:buAutoNum type="arabicPeriod"/>
            </a:pP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Care must be taken when the data contain any outliers, or pairs of observations that lie considerably outside the range of the other data points.</a:t>
            </a:r>
          </a:p>
          <a:p>
            <a:pPr marL="788988" lvl="1" indent="-514350" eaLnBrk="1" hangingPunct="1">
              <a:lnSpc>
                <a:spcPts val="3400"/>
              </a:lnSpc>
              <a:buFont typeface="Franklin Gothic Book" pitchFamily="34" charset="0"/>
              <a:buAutoNum type="arabicPeriod"/>
            </a:pP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The estimated correlation should never be extrapolated beyond the observed ranges of the variables; the relationship between 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 may change outside of this region.</a:t>
            </a:r>
          </a:p>
          <a:p>
            <a:pPr marL="788988" lvl="1" indent="-514350" eaLnBrk="1" hangingPunct="1">
              <a:lnSpc>
                <a:spcPts val="3400"/>
              </a:lnSpc>
              <a:buFont typeface="Franklin Gothic Book" pitchFamily="34" charset="0"/>
              <a:buAutoNum type="arabicPeriod"/>
            </a:pP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A high correlation between two variables does not imply a cause-and-effect relationship.</a:t>
            </a:r>
            <a:endParaRPr lang="zh-TW" alt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17.2 Pearson’s Correlation Coefficient</a:t>
            </a:r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標題 1"/>
          <p:cNvSpPr>
            <a:spLocks noGrp="1"/>
          </p:cNvSpPr>
          <p:nvPr>
            <p:ph type="title"/>
          </p:nvPr>
        </p:nvSpPr>
        <p:spPr>
          <a:xfrm>
            <a:off x="838200" y="0"/>
            <a:ext cx="7772400" cy="476250"/>
          </a:xfrm>
        </p:spPr>
        <p:txBody>
          <a:bodyPr/>
          <a:lstStyle/>
          <a:p>
            <a:pPr eaLnBrk="1" hangingPunct="1"/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Spearman’s Rank Correlation Coefficient</a:t>
            </a:r>
            <a:endParaRPr lang="zh-TW" alt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00" name="內容版面配置區 2"/>
          <p:cNvSpPr>
            <a:spLocks noGrp="1"/>
          </p:cNvSpPr>
          <p:nvPr>
            <p:ph sz="quarter" idx="1"/>
          </p:nvPr>
        </p:nvSpPr>
        <p:spPr>
          <a:xfrm>
            <a:off x="381000" y="914400"/>
            <a:ext cx="8358187" cy="5562600"/>
          </a:xfrm>
        </p:spPr>
        <p:txBody>
          <a:bodyPr/>
          <a:lstStyle/>
          <a:p>
            <a:pPr algn="just" eaLnBrk="1" hangingPunct="1"/>
            <a:r>
              <a:rPr lang="en-US" altLang="zh-TW" sz="2400" dirty="0" smtClean="0">
                <a:latin typeface="Times New Roman" charset="0"/>
                <a:cs typeface="Times New Roman" charset="0"/>
              </a:rPr>
              <a:t>Pearson’s correlation coefficient is very sensitive to outlying values. We may be interested in calculating a measure of association that is more </a:t>
            </a:r>
            <a:r>
              <a:rPr lang="en-US" altLang="zh-TW" sz="2400" u="sng" dirty="0" smtClean="0">
                <a:latin typeface="Times New Roman" charset="0"/>
                <a:cs typeface="Times New Roman" charset="0"/>
              </a:rPr>
              <a:t>robust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.</a:t>
            </a:r>
          </a:p>
          <a:p>
            <a:pPr algn="just" eaLnBrk="1" hangingPunct="1"/>
            <a:r>
              <a:rPr lang="en-US" altLang="zh-TW" sz="2400" dirty="0" smtClean="0">
                <a:latin typeface="Times New Roman" charset="0"/>
                <a:cs typeface="Times New Roman" charset="0"/>
              </a:rPr>
              <a:t>One approach is to rank the two sets of outcomes </a:t>
            </a:r>
            <a:r>
              <a:rPr lang="en-US" altLang="zh-TW" sz="2400" i="1" dirty="0" smtClean="0">
                <a:latin typeface="Times New Roman" charset="0"/>
                <a:cs typeface="Times New Roman" charset="0"/>
              </a:rPr>
              <a:t>x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 and </a:t>
            </a:r>
            <a:r>
              <a:rPr lang="en-US" altLang="zh-TW" sz="2400" i="1" dirty="0" smtClean="0">
                <a:latin typeface="Times New Roman" charset="0"/>
                <a:cs typeface="Times New Roman" charset="0"/>
              </a:rPr>
              <a:t>y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 separately and known as Spearman’s rank correlation coefficient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.</a:t>
            </a:r>
            <a:endParaRPr lang="en-US" altLang="zh-TW" sz="2400" dirty="0" smtClean="0">
              <a:latin typeface="Times New Roman" charset="0"/>
              <a:cs typeface="Times New Roman" charset="0"/>
            </a:endParaRPr>
          </a:p>
          <a:p>
            <a:pPr eaLnBrk="1" hangingPunct="1"/>
            <a:r>
              <a:rPr lang="en-US" altLang="zh-TW" sz="2400" dirty="0" smtClean="0">
                <a:latin typeface="Times New Roman" charset="0"/>
                <a:cs typeface="Times New Roman" charset="0"/>
              </a:rPr>
              <a:t>Spearman’s rank correlation coefficient:</a:t>
            </a:r>
          </a:p>
          <a:p>
            <a:pPr eaLnBrk="1" hangingPunct="1"/>
            <a:endParaRPr lang="en-US" altLang="zh-TW" dirty="0" smtClean="0">
              <a:latin typeface="Times New Roman" charset="0"/>
              <a:cs typeface="Times New Roman" charset="0"/>
            </a:endParaRPr>
          </a:p>
          <a:p>
            <a:pPr eaLnBrk="1" hangingPunct="1"/>
            <a:endParaRPr lang="en-US" altLang="zh-TW" dirty="0" smtClean="0">
              <a:latin typeface="Times New Roman" charset="0"/>
              <a:cs typeface="Times New Roman" charset="0"/>
            </a:endParaRPr>
          </a:p>
          <a:p>
            <a:pPr eaLnBrk="1" hangingPunct="1"/>
            <a:endParaRPr lang="en-US" altLang="zh-TW" dirty="0" smtClean="0">
              <a:latin typeface="Times New Roman" charset="0"/>
              <a:cs typeface="Times New Roman" charset="0"/>
            </a:endParaRPr>
          </a:p>
          <a:p>
            <a:pPr lvl="1" eaLnBrk="1" hangingPunct="1"/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Where </a:t>
            </a:r>
            <a:r>
              <a:rPr lang="en-US" altLang="zh-TW" sz="2400" i="1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TW" sz="2400" i="1" baseline="-25000" dirty="0" err="1" smtClean="0">
                <a:latin typeface="Times New Roman" pitchFamily="18" charset="0"/>
                <a:cs typeface="Times New Roman" pitchFamily="18" charset="0"/>
              </a:rPr>
              <a:t>ri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altLang="zh-TW" sz="2400" i="1" dirty="0" err="1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TW" sz="2400" i="1" baseline="-25000" dirty="0" err="1" smtClean="0">
                <a:latin typeface="Times New Roman" pitchFamily="18" charset="0"/>
                <a:cs typeface="Times New Roman" pitchFamily="18" charset="0"/>
              </a:rPr>
              <a:t>ri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 are the rank associated the </a:t>
            </a:r>
            <a:r>
              <a:rPr lang="en-US" altLang="zh-TW" sz="24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z="24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 subject rather than the actual observations.</a:t>
            </a:r>
            <a:endParaRPr lang="zh-TW" alt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098" name="Object 3"/>
          <p:cNvGraphicFramePr>
            <a:graphicFrameLocks noChangeAspect="1"/>
          </p:cNvGraphicFramePr>
          <p:nvPr/>
        </p:nvGraphicFramePr>
        <p:xfrm>
          <a:off x="1905000" y="3733800"/>
          <a:ext cx="4437063" cy="1643063"/>
        </p:xfrm>
        <a:graphic>
          <a:graphicData uri="http://schemas.openxmlformats.org/presentationml/2006/ole">
            <p:oleObj spid="_x0000_s40962" name="Equation" r:id="rId3" imgW="2387520" imgH="88884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內容版面配置區 2"/>
          <p:cNvSpPr>
            <a:spLocks noGrp="1"/>
          </p:cNvSpPr>
          <p:nvPr>
            <p:ph sz="quarter" idx="1"/>
          </p:nvPr>
        </p:nvSpPr>
        <p:spPr>
          <a:xfrm>
            <a:off x="228600" y="571500"/>
            <a:ext cx="8629650" cy="5448300"/>
          </a:xfrm>
        </p:spPr>
        <p:txBody>
          <a:bodyPr/>
          <a:lstStyle/>
          <a:p>
            <a:pPr eaLnBrk="1" hangingPunct="1"/>
            <a:r>
              <a:rPr lang="en-US" altLang="zh-TW" sz="2400" dirty="0" smtClean="0">
                <a:latin typeface="Times New Roman" charset="0"/>
                <a:cs typeface="Times New Roman" charset="0"/>
              </a:rPr>
              <a:t>An equivalent method for computing </a:t>
            </a:r>
            <a:r>
              <a:rPr lang="en-US" altLang="zh-TW" sz="2400" i="1" dirty="0" err="1" smtClean="0">
                <a:latin typeface="Times New Roman" charset="0"/>
                <a:cs typeface="Times New Roman" charset="0"/>
              </a:rPr>
              <a:t>r</a:t>
            </a:r>
            <a:r>
              <a:rPr lang="en-US" altLang="zh-TW" sz="2400" i="1" baseline="-25000" dirty="0" err="1" smtClean="0">
                <a:latin typeface="Times New Roman" charset="0"/>
                <a:cs typeface="Times New Roman" charset="0"/>
              </a:rPr>
              <a:t>s</a:t>
            </a:r>
            <a:r>
              <a:rPr lang="en-US" altLang="zh-TW" sz="2400" dirty="0" smtClean="0">
                <a:latin typeface="Times New Roman" charset="0"/>
                <a:cs typeface="Times New Roman" charset="0"/>
              </a:rPr>
              <a:t> is provided by</a:t>
            </a:r>
            <a:endParaRPr lang="en-US" altLang="zh-TW" dirty="0" smtClean="0">
              <a:latin typeface="Times New Roman" charset="0"/>
              <a:cs typeface="Times New Roman" charset="0"/>
            </a:endParaRPr>
          </a:p>
          <a:p>
            <a:pPr eaLnBrk="1" hangingPunct="1"/>
            <a:endParaRPr lang="en-US" altLang="zh-TW" dirty="0" smtClean="0">
              <a:latin typeface="Times New Roman" charset="0"/>
              <a:cs typeface="Times New Roman" charset="0"/>
            </a:endParaRPr>
          </a:p>
          <a:p>
            <a:pPr eaLnBrk="1" hangingPunct="1"/>
            <a:endParaRPr lang="en-US" altLang="zh-TW" dirty="0" smtClean="0">
              <a:latin typeface="Times New Roman" charset="0"/>
              <a:cs typeface="Times New Roman" charset="0"/>
            </a:endParaRPr>
          </a:p>
          <a:p>
            <a:pPr eaLnBrk="1" hangingPunct="1"/>
            <a:endParaRPr lang="en-US" altLang="zh-TW" dirty="0" smtClean="0">
              <a:latin typeface="Times New Roman" charset="0"/>
              <a:cs typeface="Times New Roman" charset="0"/>
            </a:endParaRPr>
          </a:p>
          <a:p>
            <a:pPr lvl="1" eaLnBrk="1" hangingPunct="1"/>
            <a:r>
              <a:rPr lang="en-US" altLang="zh-TW" sz="2400" i="1" dirty="0" smtClean="0">
                <a:latin typeface="Times New Roman" charset="0"/>
                <a:cs typeface="Times New Roman" charset="0"/>
              </a:rPr>
              <a:t>n</a:t>
            </a:r>
            <a:r>
              <a:rPr lang="en-US" altLang="zh-TW" sz="2400" dirty="0" smtClean="0"/>
              <a:t>: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the number of data points in the sample</a:t>
            </a:r>
          </a:p>
          <a:p>
            <a:pPr lvl="1" eaLnBrk="1" hangingPunct="1"/>
            <a:r>
              <a:rPr lang="en-US" altLang="zh-TW" sz="2400" dirty="0" smtClean="0"/>
              <a:t> </a:t>
            </a:r>
            <a:r>
              <a:rPr lang="en-US" altLang="zh-TW" sz="2400" i="1" dirty="0" err="1" smtClean="0">
                <a:latin typeface="Times New Roman" charset="0"/>
                <a:cs typeface="Times New Roman" charset="0"/>
              </a:rPr>
              <a:t>d</a:t>
            </a:r>
            <a:r>
              <a:rPr lang="en-US" altLang="zh-TW" sz="2400" i="1" baseline="-25000" dirty="0" err="1" smtClean="0"/>
              <a:t>i</a:t>
            </a:r>
            <a:r>
              <a:rPr lang="en-US" altLang="zh-TW" sz="2400" dirty="0" smtClean="0"/>
              <a:t>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is the different between the rank of 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TW" sz="2400" i="1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 and the rank of </a:t>
            </a:r>
            <a:r>
              <a:rPr lang="en-US" altLang="zh-TW" sz="2400" i="1" dirty="0" err="1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TW" sz="2400" i="1" baseline="-250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endParaRPr lang="en-US" altLang="zh-TW" sz="2400" i="1" baseline="-250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-1 ≤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sz="2800" i="1" baseline="-25000" dirty="0" err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≤ 1</a:t>
            </a:r>
          </a:p>
          <a:p>
            <a:pPr eaLnBrk="1" hangingPunct="1"/>
            <a:r>
              <a:rPr lang="en-US" altLang="zh-TW" sz="2800" dirty="0" smtClean="0">
                <a:latin typeface="Times New Roman" charset="0"/>
                <a:cs typeface="Times New Roman" charset="0"/>
              </a:rPr>
              <a:t>High degree of correlation between </a:t>
            </a:r>
            <a:r>
              <a:rPr lang="en-US" altLang="zh-TW" sz="2800" i="1" dirty="0" smtClean="0">
                <a:latin typeface="Times New Roman" charset="0"/>
                <a:cs typeface="Times New Roman" charset="0"/>
              </a:rPr>
              <a:t>x</a:t>
            </a:r>
            <a:r>
              <a:rPr lang="en-US" altLang="zh-TW" sz="2800" dirty="0" smtClean="0">
                <a:latin typeface="Times New Roman" charset="0"/>
                <a:cs typeface="Times New Roman" charset="0"/>
              </a:rPr>
              <a:t> any </a:t>
            </a:r>
            <a:r>
              <a:rPr lang="en-US" altLang="zh-TW" sz="2800" i="1" dirty="0" smtClean="0">
                <a:latin typeface="Times New Roman" charset="0"/>
                <a:cs typeface="Times New Roman" charset="0"/>
              </a:rPr>
              <a:t>y</a:t>
            </a:r>
            <a:r>
              <a:rPr lang="en-US" altLang="zh-TW" sz="2800" dirty="0" smtClean="0">
                <a:latin typeface="Times New Roman" charset="0"/>
                <a:cs typeface="Times New Roman" charset="0"/>
              </a:rPr>
              <a:t>: </a:t>
            </a:r>
            <a:r>
              <a:rPr lang="en-US" altLang="zh-TW" sz="2800" i="1" dirty="0" smtClean="0">
                <a:latin typeface="Times New Roman" charset="0"/>
                <a:cs typeface="Times New Roman" charset="0"/>
              </a:rPr>
              <a:t> </a:t>
            </a:r>
            <a:r>
              <a:rPr lang="en-US" altLang="zh-TW" sz="2800" i="1" dirty="0" err="1" smtClean="0">
                <a:latin typeface="Times New Roman" charset="0"/>
                <a:cs typeface="Times New Roman" charset="0"/>
              </a:rPr>
              <a:t>r</a:t>
            </a:r>
            <a:r>
              <a:rPr lang="en-US" altLang="zh-TW" sz="2800" i="1" baseline="-25000" dirty="0" err="1" smtClean="0">
                <a:latin typeface="Times New Roman" charset="0"/>
                <a:cs typeface="Times New Roman" charset="0"/>
              </a:rPr>
              <a:t>s</a:t>
            </a:r>
            <a:r>
              <a:rPr lang="en-US" altLang="zh-TW" sz="2800" dirty="0" smtClean="0">
                <a:latin typeface="Times New Roman" charset="0"/>
                <a:cs typeface="Times New Roman" charset="0"/>
              </a:rPr>
              <a:t> =-1 or 1</a:t>
            </a:r>
          </a:p>
          <a:p>
            <a:pPr eaLnBrk="1" hangingPunct="1"/>
            <a:r>
              <a:rPr lang="en-US" altLang="zh-TW" sz="2800" dirty="0" smtClean="0">
                <a:latin typeface="Times New Roman" charset="0"/>
                <a:cs typeface="Times New Roman" charset="0"/>
              </a:rPr>
              <a:t>A lack of linear association between two variables: </a:t>
            </a:r>
            <a:r>
              <a:rPr lang="en-US" altLang="zh-TW" sz="2800" i="1" dirty="0" err="1" smtClean="0">
                <a:latin typeface="Times New Roman" charset="0"/>
                <a:cs typeface="Times New Roman" charset="0"/>
              </a:rPr>
              <a:t>r</a:t>
            </a:r>
            <a:r>
              <a:rPr lang="en-US" altLang="zh-TW" sz="2800" i="1" baseline="-25000" dirty="0" err="1" smtClean="0">
                <a:latin typeface="Times New Roman" charset="0"/>
                <a:cs typeface="Times New Roman" charset="0"/>
              </a:rPr>
              <a:t>s</a:t>
            </a:r>
            <a:r>
              <a:rPr lang="en-US" altLang="zh-TW" sz="2800" dirty="0" smtClean="0">
                <a:latin typeface="Times New Roman" charset="0"/>
                <a:cs typeface="Times New Roman" charset="0"/>
              </a:rPr>
              <a:t>= 0</a:t>
            </a:r>
          </a:p>
          <a:p>
            <a:pPr lvl="1" eaLnBrk="1" hangingPunct="1"/>
            <a:endParaRPr lang="zh-TW" altLang="en-US" dirty="0" smtClean="0"/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2286000" y="1219200"/>
          <a:ext cx="2928938" cy="1571625"/>
        </p:xfrm>
        <a:graphic>
          <a:graphicData uri="http://schemas.openxmlformats.org/presentationml/2006/ole">
            <p:oleObj spid="_x0000_s41986" name="Equation" r:id="rId3" imgW="1041120" imgH="6984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9025-0563-4C46-B97B-8FEE95CD2D7D}" type="slidenum">
              <a:rPr lang="en-US"/>
              <a:pPr/>
              <a:t>18</a:t>
            </a:fld>
            <a:endParaRPr lang="en-US"/>
          </a:p>
        </p:txBody>
      </p:sp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7772400" cy="114300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Spearman Rho Correlation</a:t>
            </a:r>
            <a:endParaRPr lang="en-MY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762000"/>
            <a:ext cx="4267200" cy="55626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u="sng" dirty="0">
                <a:solidFill>
                  <a:schemeClr val="hlink"/>
                </a:solidFill>
              </a:rPr>
              <a:t>Example # 1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2000" u="sng" dirty="0">
              <a:solidFill>
                <a:srgbClr val="663300"/>
              </a:solidFill>
            </a:endParaRP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Calculate the correlation between the IQ of a person with the number of hours spent in the class per week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Find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value of the term </a:t>
            </a:r>
            <a:r>
              <a:rPr lang="en-US" sz="2000" i="1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000" i="1" baseline="-250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²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Sort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data by the first column (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). Create a new column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assign it the ranked values 1,2,3,...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Font typeface="Wingdings" pitchFamily="2" charset="2"/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Sort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data by the second column (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000" i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). Create a fourth column 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yi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similarly assign it the ranked values 1,2,3,...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	Create a fifth column 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000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to hold the differences between the two rank columns (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000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). </a:t>
            </a:r>
          </a:p>
          <a:p>
            <a:pPr>
              <a:lnSpc>
                <a:spcPct val="80000"/>
              </a:lnSpc>
            </a:pPr>
            <a:endParaRPr lang="en-US" sz="1600" dirty="0"/>
          </a:p>
          <a:p>
            <a:pPr>
              <a:lnSpc>
                <a:spcPct val="80000"/>
              </a:lnSpc>
            </a:pPr>
            <a:endParaRPr lang="en-MY" sz="1600" dirty="0"/>
          </a:p>
        </p:txBody>
      </p:sp>
      <p:graphicFrame>
        <p:nvGraphicFramePr>
          <p:cNvPr id="78852" name="Group 4"/>
          <p:cNvGraphicFramePr>
            <a:graphicFrameLocks noGrp="1"/>
          </p:cNvGraphicFramePr>
          <p:nvPr>
            <p:ph sz="half" idx="2"/>
          </p:nvPr>
        </p:nvGraphicFramePr>
        <p:xfrm>
          <a:off x="4876800" y="1371600"/>
          <a:ext cx="2819400" cy="4297680"/>
        </p:xfrm>
        <a:graphic>
          <a:graphicData uri="http://schemas.openxmlformats.org/drawingml/2006/table">
            <a:tbl>
              <a:tblPr/>
              <a:tblGrid>
                <a:gridCol w="911225"/>
                <a:gridCol w="1908175"/>
              </a:tblGrid>
              <a:tr h="619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IQ, X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BF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Hours of class per week,  Y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endParaRPr kumimoji="0" 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BF75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15B67-2DB0-4AC2-B935-E284DA37F939}" type="slidenum">
              <a:rPr lang="en-US"/>
              <a:pPr/>
              <a:t>19</a:t>
            </a:fld>
            <a:endParaRPr lang="en-US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990600"/>
            <a:ext cx="7467600" cy="453072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 b="1" u="sng" dirty="0">
                <a:solidFill>
                  <a:schemeClr val="hlink"/>
                </a:solidFill>
              </a:rPr>
              <a:t>Example # 1 cont…/</a:t>
            </a:r>
          </a:p>
          <a:p>
            <a:pPr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	Create one final column to hold the value of column </a:t>
            </a:r>
            <a:r>
              <a:rPr lang="en-US" sz="2000" i="1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000" i="1" baseline="-25000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squared.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US" sz="1600" dirty="0"/>
          </a:p>
          <a:p>
            <a:pPr>
              <a:buFont typeface="Wingdings" pitchFamily="2" charset="2"/>
              <a:buNone/>
            </a:pPr>
            <a:r>
              <a:rPr lang="en-US" sz="1600" dirty="0"/>
              <a:t>	</a:t>
            </a:r>
          </a:p>
          <a:p>
            <a:endParaRPr lang="en-US" sz="1600" dirty="0"/>
          </a:p>
          <a:p>
            <a:endParaRPr lang="en-MY" sz="1600" dirty="0"/>
          </a:p>
        </p:txBody>
      </p:sp>
      <p:graphicFrame>
        <p:nvGraphicFramePr>
          <p:cNvPr id="80989" name="Group 93"/>
          <p:cNvGraphicFramePr>
            <a:graphicFrameLocks noGrp="1"/>
          </p:cNvGraphicFramePr>
          <p:nvPr>
            <p:ph sz="half" idx="2"/>
          </p:nvPr>
        </p:nvGraphicFramePr>
        <p:xfrm>
          <a:off x="1371600" y="1981200"/>
          <a:ext cx="6477000" cy="4352544"/>
        </p:xfrm>
        <a:graphic>
          <a:graphicData uri="http://schemas.openxmlformats.org/drawingml/2006/table">
            <a:tbl>
              <a:tblPr/>
              <a:tblGrid>
                <a:gridCol w="774700"/>
                <a:gridCol w="2540000"/>
                <a:gridCol w="911225"/>
                <a:gridCol w="915988"/>
                <a:gridCol w="665162"/>
                <a:gridCol w="669925"/>
              </a:tblGrid>
              <a:tr h="165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IQ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(</a:t>
                      </a: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18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18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BF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Hours of class per week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(Y</a:t>
                      </a:r>
                      <a:r>
                        <a:rPr kumimoji="0" lang="en-US" sz="18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BF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rank </a:t>
                      </a: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18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BF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rank </a:t>
                      </a:r>
                      <a:r>
                        <a:rPr kumimoji="0" lang="en-US" sz="18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kumimoji="0" lang="en-US" sz="1800" b="1" i="1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18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BF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r>
                        <a:rPr kumimoji="0" lang="en-US" sz="1800" b="1" i="1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BF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r>
                        <a:rPr kumimoji="0" lang="en-US" sz="1800" b="1" i="1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BF75"/>
                    </a:solidFill>
                  </a:tcPr>
                </a:tc>
              </a:tr>
              <a:tr h="163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56651-9A1A-4092-91FE-B3B2EFE23D3C}" type="slidenum">
              <a:rPr lang="en-US"/>
              <a:pPr/>
              <a:t>20</a:t>
            </a:fld>
            <a:endParaRPr lang="en-US"/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0292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Example # 1- Result</a:t>
            </a:r>
          </a:p>
          <a:p>
            <a:pPr>
              <a:lnSpc>
                <a:spcPct val="8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can add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find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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²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= 194</a:t>
            </a:r>
          </a:p>
          <a:p>
            <a:pPr>
              <a:lnSpc>
                <a:spcPct val="8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value of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is 10, so;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400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i="1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i="1" baseline="-25000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= 	1-  </a:t>
            </a:r>
            <a:r>
              <a:rPr lang="en-US" sz="2400" i="1" u="sng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6 </a:t>
            </a:r>
            <a:r>
              <a:rPr lang="en-US" sz="2400" i="1" u="sng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</a:t>
            </a:r>
            <a:r>
              <a:rPr lang="en-US" sz="2400" i="1" u="sng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u="sng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194   </a:t>
            </a:r>
            <a:r>
              <a:rPr lang="en-US" sz="24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                         		                  </a:t>
            </a:r>
            <a:r>
              <a:rPr lang="en-US" sz="2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10(10² </a:t>
            </a:r>
            <a:r>
              <a:rPr lang="en-US" sz="24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- 1)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400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400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i="1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i="1" baseline="-25000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 =	 −0.18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endParaRPr lang="en-US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low value shows that </a:t>
            </a:r>
            <a:r>
              <a:rPr lang="en-US" sz="2400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the correlation between IQ and hours spent in the class is very low </a:t>
            </a:r>
          </a:p>
          <a:p>
            <a:pPr>
              <a:lnSpc>
                <a:spcPct val="80000"/>
              </a:lnSpc>
            </a:pPr>
            <a:endParaRPr lang="en-US" sz="2400" i="1" u="sng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MY" sz="2400" dirty="0"/>
          </a:p>
        </p:txBody>
      </p:sp>
      <p:graphicFrame>
        <p:nvGraphicFramePr>
          <p:cNvPr id="112641" name="Object 2"/>
          <p:cNvGraphicFramePr>
            <a:graphicFrameLocks noChangeAspect="1"/>
          </p:cNvGraphicFramePr>
          <p:nvPr/>
        </p:nvGraphicFramePr>
        <p:xfrm>
          <a:off x="5943600" y="990600"/>
          <a:ext cx="2928938" cy="1571625"/>
        </p:xfrm>
        <a:graphic>
          <a:graphicData uri="http://schemas.openxmlformats.org/presentationml/2006/ole">
            <p:oleObj spid="_x0000_s112641" name="Equation" r:id="rId3" imgW="1041120" imgH="6984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1290</Words>
  <Application>Microsoft Office PowerPoint</Application>
  <PresentationFormat>On-screen Show (4:3)</PresentationFormat>
  <Paragraphs>296</Paragraphs>
  <Slides>20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Office Theme</vt:lpstr>
      <vt:lpstr>Equation</vt:lpstr>
      <vt:lpstr>Correlation and regression</vt:lpstr>
      <vt:lpstr>Slide 2</vt:lpstr>
      <vt:lpstr>Two Variable Relationships</vt:lpstr>
      <vt:lpstr>Two Variable Relationships</vt:lpstr>
      <vt:lpstr>Two Variable Relationships</vt:lpstr>
      <vt:lpstr>Pearson’s Correlation Coefficient</vt:lpstr>
      <vt:lpstr>Slide 7</vt:lpstr>
      <vt:lpstr>The Pearson  Correlation Coefficient</vt:lpstr>
      <vt:lpstr>Calculation of Pearson r</vt:lpstr>
      <vt:lpstr>Slide 10</vt:lpstr>
      <vt:lpstr>Relation between study hour and error made by students</vt:lpstr>
      <vt:lpstr>The Data Needed to Calculate the Sum of Squares</vt:lpstr>
      <vt:lpstr>Calculating the Correlation Coefficient</vt:lpstr>
      <vt:lpstr>Slide 14</vt:lpstr>
      <vt:lpstr>Slide 15</vt:lpstr>
      <vt:lpstr>Spearman’s Rank Correlation Coefficient</vt:lpstr>
      <vt:lpstr>Slide 17</vt:lpstr>
      <vt:lpstr>Spearman Rho Correlation</vt:lpstr>
      <vt:lpstr>Slide 19</vt:lpstr>
      <vt:lpstr>Slide 20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AKDatta</dc:creator>
  <cp:lastModifiedBy>Asit Datta</cp:lastModifiedBy>
  <cp:revision>76</cp:revision>
  <dcterms:created xsi:type="dcterms:W3CDTF">2006-08-16T00:00:00Z</dcterms:created>
  <dcterms:modified xsi:type="dcterms:W3CDTF">2023-12-30T03:46:39Z</dcterms:modified>
</cp:coreProperties>
</file>