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65" r:id="rId2"/>
    <p:sldId id="501" r:id="rId3"/>
    <p:sldId id="502" r:id="rId4"/>
    <p:sldId id="510" r:id="rId5"/>
    <p:sldId id="511" r:id="rId6"/>
    <p:sldId id="512" r:id="rId7"/>
    <p:sldId id="508" r:id="rId8"/>
    <p:sldId id="51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6816" userDrawn="1">
          <p15:clr>
            <a:srgbClr val="A4A3A4"/>
          </p15:clr>
        </p15:guide>
        <p15:guide id="3" pos="816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79589" autoAdjust="0"/>
  </p:normalViewPr>
  <p:slideViewPr>
    <p:cSldViewPr>
      <p:cViewPr varScale="1">
        <p:scale>
          <a:sx n="66" d="100"/>
          <a:sy n="66" d="100"/>
        </p:scale>
        <p:origin x="44" y="184"/>
      </p:cViewPr>
      <p:guideLst>
        <p:guide pos="3840"/>
        <p:guide pos="6816"/>
        <p:guide pos="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5" d="100"/>
          <a:sy n="95" d="100"/>
        </p:scale>
        <p:origin x="357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pPr/>
              <a:t>2/24/2026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pPr/>
              <a:t>2/24/2026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We celebrate Christmas to remember the birth of </a:t>
            </a:r>
            <a:r>
              <a:rPr lang="en-IN" smtClean="0"/>
              <a:t>Jesus Christ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612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316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740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377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149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un rising over grassy hill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" y="0"/>
            <a:ext cx="12188699" cy="47993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 bwMode="ltGray">
          <a:xfrm>
            <a:off x="-2" y="4754880"/>
            <a:ext cx="12192002" cy="21031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white">
          <a:xfrm>
            <a:off x="-127" y="4724400"/>
            <a:ext cx="12188826" cy="7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800600"/>
            <a:ext cx="9144002" cy="11430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943600"/>
            <a:ext cx="9144002" cy="762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288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6pPr>
              <a:defRPr/>
            </a:lvl6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2/24/2026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0"/>
            <a:ext cx="12188826" cy="4572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-1" y="4114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2/24/2026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5843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ernate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2/24/2026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4328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D43D-6574-4C7B-808D-C6C12215A4D4}" type="datetimeFigureOut">
              <a:rPr lang="en-US"/>
              <a:pPr/>
              <a:t>2/24/2026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E5F2-81AA-4605-B028-6FBA391056A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707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2/24/2026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708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2/24/2026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201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2/24/2026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4212" y="685800"/>
            <a:ext cx="7239001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2/24/2026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94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lternate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892" y="685800"/>
            <a:ext cx="637032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2/24/2026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3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731520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2362200"/>
            <a:ext cx="3200400" cy="1993392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0" y="0"/>
            <a:ext cx="7315200" cy="6858000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 algn="ctr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4355592"/>
            <a:ext cx="3200400" cy="16446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2/24/2026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2/24/2026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857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2/24/2026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155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1587" y="6583680"/>
            <a:ext cx="12188826" cy="2743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587" y="65836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9E583DDF-CA54-461A-A486-592D2374C532}" type="datetimeFigureOut">
              <a:rPr lang="en-US" smtClean="0"/>
              <a:pPr/>
              <a:t>2/24/2026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1" r:id="rId5"/>
    <p:sldLayoutId id="2147483653" r:id="rId6"/>
    <p:sldLayoutId id="2147483654" r:id="rId7"/>
    <p:sldLayoutId id="2147483655" r:id="rId8"/>
    <p:sldLayoutId id="2147483656" r:id="rId9"/>
    <p:sldLayoutId id="2147483663" r:id="rId10"/>
    <p:sldLayoutId id="2147483657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SzPct val="80000"/>
        <a:buFont typeface="Wingdings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SzPct val="80000"/>
        <a:buFont typeface="Wingdings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360">
          <p15:clr>
            <a:srgbClr val="F26B43"/>
          </p15:clr>
        </p15:guide>
        <p15:guide id="2" pos="40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941168"/>
            <a:ext cx="9144002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Dr. Sunirmal Khatua</a:t>
            </a:r>
            <a:endParaRPr lang="en-US" sz="28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2413" y="6094286"/>
            <a:ext cx="9144002" cy="762000"/>
          </a:xfrm>
        </p:spPr>
        <p:txBody>
          <a:bodyPr>
            <a:normAutofit/>
          </a:bodyPr>
          <a:lstStyle/>
          <a:p>
            <a:r>
              <a:rPr lang="en-US" sz="1600" i="1" dirty="0" err="1" smtClean="0">
                <a:latin typeface="Times New Roman" pitchFamily="18" charset="0"/>
                <a:cs typeface="Times New Roman" pitchFamily="18" charset="0"/>
              </a:rPr>
              <a:t>Visvesvaraya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 Young Faculty Fellow, Govt. of India</a:t>
            </a:r>
          </a:p>
          <a:p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Assistant Professor, University of Calcutta</a:t>
            </a:r>
            <a:endParaRPr lang="en-US" sz="16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ubtitle 3"/>
          <p:cNvSpPr txBox="1">
            <a:spLocks/>
          </p:cNvSpPr>
          <p:nvPr/>
        </p:nvSpPr>
        <p:spPr>
          <a:xfrm>
            <a:off x="1523968" y="5187280"/>
            <a:ext cx="9144002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en-US" b="0" i="1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By</a:t>
            </a: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489446"/>
            <a:ext cx="11914264" cy="160043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Consensus Algorithms  </a:t>
            </a:r>
          </a:p>
          <a:p>
            <a:pPr algn="r"/>
            <a:r>
              <a:rPr lang="en-US" sz="4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 Distributed Computing</a:t>
            </a:r>
            <a:endParaRPr lang="en-IN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9880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304800" y="-603448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What is Consensus </a:t>
            </a:r>
            <a:r>
              <a:rPr lang="en-US" dirty="0" smtClean="0"/>
              <a:t>Algorithm?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50238" y="918285"/>
            <a:ext cx="109037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en-US" sz="2400" dirty="0" smtClean="0"/>
              <a:t>  Getting a group of processes in a distributed system to </a:t>
            </a:r>
            <a:r>
              <a:rPr lang="en-US" sz="2400" dirty="0" smtClean="0">
                <a:solidFill>
                  <a:srgbClr val="FF0000"/>
                </a:solidFill>
              </a:rPr>
              <a:t>agree on a value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160784" y="1556792"/>
            <a:ext cx="10903768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en-US" sz="2400" dirty="0" smtClean="0"/>
              <a:t>  Properties of Consensus Algorithm: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400" dirty="0" smtClean="0">
                <a:solidFill>
                  <a:srgbClr val="FF0000"/>
                </a:solidFill>
              </a:rPr>
              <a:t>Termination</a:t>
            </a:r>
            <a:r>
              <a:rPr lang="en-US" sz="2400" dirty="0" smtClean="0"/>
              <a:t> : Eventually every non-faulty processes decides some value.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400" dirty="0" smtClean="0">
                <a:solidFill>
                  <a:srgbClr val="FF0000"/>
                </a:solidFill>
              </a:rPr>
              <a:t>Agreement</a:t>
            </a:r>
            <a:r>
              <a:rPr lang="en-US" sz="2400" dirty="0" smtClean="0"/>
              <a:t> : All non-faulty processes select the same value.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400" dirty="0" smtClean="0">
                <a:solidFill>
                  <a:srgbClr val="FF0000"/>
                </a:solidFill>
              </a:rPr>
              <a:t>Validity</a:t>
            </a:r>
            <a:r>
              <a:rPr lang="en-US" sz="2400" dirty="0" smtClean="0"/>
              <a:t> : The value must be proposed by some process.</a:t>
            </a:r>
          </a:p>
          <a:p>
            <a:pPr marL="800100" lvl="1" indent="-342900">
              <a:buClr>
                <a:schemeClr val="tx1"/>
              </a:buClr>
              <a:buAutoNum type="arabicPeriod"/>
              <a:defRPr/>
            </a:pPr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119336" y="3429000"/>
            <a:ext cx="1188132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en-US" sz="2400" dirty="0" smtClean="0"/>
              <a:t>  Usage of Consensus Algorithm:</a:t>
            </a:r>
          </a:p>
          <a:p>
            <a:pPr marL="800100" lvl="1" indent="-342900">
              <a:buClr>
                <a:schemeClr val="tx1"/>
              </a:buClr>
              <a:buAutoNum type="arabicPeriod"/>
              <a:defRPr/>
            </a:pPr>
            <a:r>
              <a:rPr lang="en-US" sz="2400" dirty="0" smtClean="0"/>
              <a:t>Leader </a:t>
            </a:r>
            <a:r>
              <a:rPr lang="en-US" sz="2400" dirty="0" smtClean="0"/>
              <a:t>Election</a:t>
            </a:r>
          </a:p>
          <a:p>
            <a:pPr marL="800100" lvl="1" indent="-342900">
              <a:buClr>
                <a:schemeClr val="tx1"/>
              </a:buClr>
              <a:buAutoNum type="arabicPeriod"/>
              <a:defRPr/>
            </a:pPr>
            <a:r>
              <a:rPr lang="en-US" sz="2400" dirty="0" smtClean="0"/>
              <a:t>Mutual Exclusion (Distributed Locks</a:t>
            </a:r>
            <a:r>
              <a:rPr lang="en-US" sz="2400" dirty="0" smtClean="0"/>
              <a:t>)</a:t>
            </a:r>
          </a:p>
          <a:p>
            <a:pPr marL="800100" lvl="1" indent="-342900">
              <a:buClr>
                <a:schemeClr val="tx1"/>
              </a:buClr>
              <a:buFontTx/>
              <a:buAutoNum type="arabicPeriod"/>
              <a:defRPr/>
            </a:pPr>
            <a:r>
              <a:rPr lang="en-US" sz="2400" dirty="0">
                <a:solidFill>
                  <a:srgbClr val="FF0000"/>
                </a:solidFill>
              </a:rPr>
              <a:t>Atomic Commit</a:t>
            </a:r>
            <a:r>
              <a:rPr lang="en-US" sz="2400" dirty="0"/>
              <a:t> in Distributed Transactions.</a:t>
            </a:r>
          </a:p>
          <a:p>
            <a:pPr marL="800100" lvl="1" indent="-342900">
              <a:buClr>
                <a:schemeClr val="tx1"/>
              </a:buClr>
              <a:buAutoNum type="arabicPeriod"/>
              <a:defRPr/>
            </a:pPr>
            <a:r>
              <a:rPr lang="en-US" sz="2400" dirty="0" smtClean="0"/>
              <a:t>Managing </a:t>
            </a:r>
            <a:r>
              <a:rPr lang="en-US" sz="2400" dirty="0" smtClean="0"/>
              <a:t>Cluster membership – Node Join / Node Failure</a:t>
            </a:r>
          </a:p>
          <a:p>
            <a:pPr marL="800100" lvl="1" indent="-342900">
              <a:buClr>
                <a:schemeClr val="tx1"/>
              </a:buClr>
              <a:buFontTx/>
              <a:buAutoNum type="arabicPeriod"/>
              <a:defRPr/>
            </a:pPr>
            <a:r>
              <a:rPr lang="en-US" sz="2400" dirty="0" smtClean="0"/>
              <a:t>Synchronizing </a:t>
            </a:r>
            <a:r>
              <a:rPr lang="en-US" sz="2400" dirty="0"/>
              <a:t>replicated state machines ensuring all replica have the same (consistent) view of the system </a:t>
            </a:r>
            <a:r>
              <a:rPr lang="en-US" sz="2400" dirty="0" smtClean="0"/>
              <a:t>state</a:t>
            </a:r>
          </a:p>
          <a:p>
            <a:pPr marL="800100" lvl="1" indent="-342900">
              <a:buClr>
                <a:schemeClr val="tx1"/>
              </a:buClr>
              <a:buFontTx/>
              <a:buAutoNum type="arabicPeriod"/>
              <a:defRPr/>
            </a:pPr>
            <a:r>
              <a:rPr lang="en-US" sz="2400" dirty="0" err="1" smtClean="0"/>
              <a:t>Blockchain</a:t>
            </a:r>
            <a:r>
              <a:rPr lang="en-US" sz="2400" dirty="0" smtClean="0"/>
              <a:t> ….</a:t>
            </a:r>
            <a:endParaRPr lang="en-US" sz="2400" dirty="0"/>
          </a:p>
          <a:p>
            <a:pPr marL="800100" lvl="1" indent="-342900">
              <a:buClr>
                <a:schemeClr val="tx1"/>
              </a:buClr>
              <a:buAutoNum type="arabicPeriod"/>
              <a:defRPr/>
            </a:pPr>
            <a:endParaRPr lang="en-US" sz="2400" dirty="0" smtClean="0"/>
          </a:p>
          <a:p>
            <a:pPr marL="800100" lvl="1" indent="-342900">
              <a:buClr>
                <a:schemeClr val="tx1"/>
              </a:buClr>
              <a:buAutoNum type="arabicPeriod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40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1056168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>
                <a:solidFill>
                  <a:schemeClr val="tx1"/>
                </a:solidFill>
              </a:rPr>
              <a:t>Atomic Commit in </a:t>
            </a:r>
            <a:r>
              <a:rPr lang="en-US" sz="3600" dirty="0" smtClean="0">
                <a:solidFill>
                  <a:schemeClr val="tx1"/>
                </a:solidFill>
              </a:rPr>
              <a:t>Distributed Transactions</a:t>
            </a:r>
            <a:endParaRPr lang="en-US" dirty="0"/>
          </a:p>
        </p:txBody>
      </p:sp>
      <p:grpSp>
        <p:nvGrpSpPr>
          <p:cNvPr id="28" name="Group 4"/>
          <p:cNvGrpSpPr>
            <a:grpSpLocks/>
          </p:cNvGrpSpPr>
          <p:nvPr/>
        </p:nvGrpSpPr>
        <p:grpSpPr bwMode="auto">
          <a:xfrm>
            <a:off x="623392" y="980728"/>
            <a:ext cx="2743200" cy="2057400"/>
            <a:chOff x="3888" y="1152"/>
            <a:chExt cx="1728" cy="1296"/>
          </a:xfrm>
        </p:grpSpPr>
        <p:pic>
          <p:nvPicPr>
            <p:cNvPr id="39" name="Picture 5" descr="DDB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8" y="1152"/>
              <a:ext cx="1728" cy="1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Rectangle 6"/>
            <p:cNvSpPr>
              <a:spLocks noChangeArrowheads="1"/>
            </p:cNvSpPr>
            <p:nvPr/>
          </p:nvSpPr>
          <p:spPr bwMode="auto">
            <a:xfrm>
              <a:off x="3888" y="1152"/>
              <a:ext cx="1728" cy="129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IN"/>
            </a:p>
          </p:txBody>
        </p:sp>
      </p:grpSp>
      <p:grpSp>
        <p:nvGrpSpPr>
          <p:cNvPr id="41" name="Group 7"/>
          <p:cNvGrpSpPr>
            <a:grpSpLocks/>
          </p:cNvGrpSpPr>
          <p:nvPr/>
        </p:nvGrpSpPr>
        <p:grpSpPr bwMode="auto">
          <a:xfrm>
            <a:off x="616496" y="3731096"/>
            <a:ext cx="2743200" cy="2362200"/>
            <a:chOff x="3888" y="2592"/>
            <a:chExt cx="1728" cy="1488"/>
          </a:xfrm>
        </p:grpSpPr>
        <p:pic>
          <p:nvPicPr>
            <p:cNvPr id="42" name="Picture 8" descr="DDB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8" y="2592"/>
              <a:ext cx="1728" cy="1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" name="Rectangle 9"/>
            <p:cNvSpPr>
              <a:spLocks noChangeArrowheads="1"/>
            </p:cNvSpPr>
            <p:nvPr/>
          </p:nvSpPr>
          <p:spPr bwMode="auto">
            <a:xfrm>
              <a:off x="3888" y="2592"/>
              <a:ext cx="1728" cy="14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IN"/>
            </a:p>
          </p:txBody>
        </p:sp>
      </p:grpSp>
      <p:grpSp>
        <p:nvGrpSpPr>
          <p:cNvPr id="44" name="Group 4"/>
          <p:cNvGrpSpPr>
            <a:grpSpLocks/>
          </p:cNvGrpSpPr>
          <p:nvPr/>
        </p:nvGrpSpPr>
        <p:grpSpPr bwMode="auto">
          <a:xfrm>
            <a:off x="4727848" y="908720"/>
            <a:ext cx="5791200" cy="2590800"/>
            <a:chOff x="1248" y="2723"/>
            <a:chExt cx="3648" cy="1632"/>
          </a:xfrm>
        </p:grpSpPr>
        <p:grpSp>
          <p:nvGrpSpPr>
            <p:cNvPr id="45" name="Group 5"/>
            <p:cNvGrpSpPr>
              <a:grpSpLocks/>
            </p:cNvGrpSpPr>
            <p:nvPr/>
          </p:nvGrpSpPr>
          <p:grpSpPr bwMode="auto">
            <a:xfrm>
              <a:off x="1248" y="2723"/>
              <a:ext cx="672" cy="1488"/>
              <a:chOff x="1968" y="2208"/>
              <a:chExt cx="672" cy="1488"/>
            </a:xfrm>
          </p:grpSpPr>
          <p:sp>
            <p:nvSpPr>
              <p:cNvPr id="67" name="Rectangle 6"/>
              <p:cNvSpPr>
                <a:spLocks noChangeArrowheads="1"/>
              </p:cNvSpPr>
              <p:nvPr/>
            </p:nvSpPr>
            <p:spPr bwMode="auto">
              <a:xfrm>
                <a:off x="1968" y="2208"/>
                <a:ext cx="672" cy="14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IN"/>
              </a:p>
            </p:txBody>
          </p:sp>
          <p:grpSp>
            <p:nvGrpSpPr>
              <p:cNvPr id="68" name="Group 7"/>
              <p:cNvGrpSpPr>
                <a:grpSpLocks/>
              </p:cNvGrpSpPr>
              <p:nvPr/>
            </p:nvGrpSpPr>
            <p:grpSpPr bwMode="auto">
              <a:xfrm>
                <a:off x="2084" y="2290"/>
                <a:ext cx="432" cy="432"/>
                <a:chOff x="1200" y="2352"/>
                <a:chExt cx="432" cy="432"/>
              </a:xfrm>
            </p:grpSpPr>
            <p:sp>
              <p:nvSpPr>
                <p:cNvPr id="72" name="Oval 8"/>
                <p:cNvSpPr>
                  <a:spLocks noChangeArrowheads="1"/>
                </p:cNvSpPr>
                <p:nvPr/>
              </p:nvSpPr>
              <p:spPr bwMode="auto">
                <a:xfrm>
                  <a:off x="1200" y="2352"/>
                  <a:ext cx="432" cy="432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IN"/>
                </a:p>
              </p:txBody>
            </p:sp>
            <p:sp>
              <p:nvSpPr>
                <p:cNvPr id="73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262" y="2448"/>
                  <a:ext cx="336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/>
                    <a:t>TC</a:t>
                  </a:r>
                  <a:r>
                    <a:rPr lang="en-US" baseline="-25000"/>
                    <a:t>1</a:t>
                  </a:r>
                </a:p>
              </p:txBody>
            </p:sp>
          </p:grpSp>
          <p:grpSp>
            <p:nvGrpSpPr>
              <p:cNvPr id="69" name="Group 10"/>
              <p:cNvGrpSpPr>
                <a:grpSpLocks/>
              </p:cNvGrpSpPr>
              <p:nvPr/>
            </p:nvGrpSpPr>
            <p:grpSpPr bwMode="auto">
              <a:xfrm>
                <a:off x="2085" y="3168"/>
                <a:ext cx="432" cy="432"/>
                <a:chOff x="1200" y="2352"/>
                <a:chExt cx="432" cy="432"/>
              </a:xfrm>
            </p:grpSpPr>
            <p:sp>
              <p:nvSpPr>
                <p:cNvPr id="70" name="Oval 11"/>
                <p:cNvSpPr>
                  <a:spLocks noChangeArrowheads="1"/>
                </p:cNvSpPr>
                <p:nvPr/>
              </p:nvSpPr>
              <p:spPr bwMode="auto">
                <a:xfrm>
                  <a:off x="1200" y="2352"/>
                  <a:ext cx="432" cy="432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IN"/>
                </a:p>
              </p:txBody>
            </p:sp>
            <p:sp>
              <p:nvSpPr>
                <p:cNvPr id="71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1262" y="2448"/>
                  <a:ext cx="336" cy="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sz="1500"/>
                    <a:t>TM</a:t>
                  </a:r>
                  <a:r>
                    <a:rPr lang="en-US" sz="1500" baseline="-25000"/>
                    <a:t>1</a:t>
                  </a:r>
                </a:p>
              </p:txBody>
            </p:sp>
          </p:grpSp>
        </p:grpSp>
        <p:grpSp>
          <p:nvGrpSpPr>
            <p:cNvPr id="46" name="Group 13"/>
            <p:cNvGrpSpPr>
              <a:grpSpLocks/>
            </p:cNvGrpSpPr>
            <p:nvPr/>
          </p:nvGrpSpPr>
          <p:grpSpPr bwMode="auto">
            <a:xfrm>
              <a:off x="4224" y="2723"/>
              <a:ext cx="672" cy="1488"/>
              <a:chOff x="1968" y="2208"/>
              <a:chExt cx="672" cy="1488"/>
            </a:xfrm>
          </p:grpSpPr>
          <p:sp>
            <p:nvSpPr>
              <p:cNvPr id="60" name="Rectangle 14"/>
              <p:cNvSpPr>
                <a:spLocks noChangeArrowheads="1"/>
              </p:cNvSpPr>
              <p:nvPr/>
            </p:nvSpPr>
            <p:spPr bwMode="auto">
              <a:xfrm>
                <a:off x="1968" y="2208"/>
                <a:ext cx="672" cy="14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IN"/>
              </a:p>
            </p:txBody>
          </p:sp>
          <p:grpSp>
            <p:nvGrpSpPr>
              <p:cNvPr id="61" name="Group 15"/>
              <p:cNvGrpSpPr>
                <a:grpSpLocks/>
              </p:cNvGrpSpPr>
              <p:nvPr/>
            </p:nvGrpSpPr>
            <p:grpSpPr bwMode="auto">
              <a:xfrm>
                <a:off x="2084" y="2290"/>
                <a:ext cx="432" cy="432"/>
                <a:chOff x="1200" y="2352"/>
                <a:chExt cx="432" cy="432"/>
              </a:xfrm>
            </p:grpSpPr>
            <p:sp>
              <p:nvSpPr>
                <p:cNvPr id="65" name="Oval 16"/>
                <p:cNvSpPr>
                  <a:spLocks noChangeArrowheads="1"/>
                </p:cNvSpPr>
                <p:nvPr/>
              </p:nvSpPr>
              <p:spPr bwMode="auto">
                <a:xfrm>
                  <a:off x="1200" y="2352"/>
                  <a:ext cx="432" cy="432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IN"/>
                </a:p>
              </p:txBody>
            </p:sp>
            <p:sp>
              <p:nvSpPr>
                <p:cNvPr id="66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1262" y="2448"/>
                  <a:ext cx="336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/>
                    <a:t>TC</a:t>
                  </a:r>
                  <a:r>
                    <a:rPr lang="en-US" baseline="-25000"/>
                    <a:t>n</a:t>
                  </a:r>
                </a:p>
              </p:txBody>
            </p:sp>
          </p:grpSp>
          <p:grpSp>
            <p:nvGrpSpPr>
              <p:cNvPr id="62" name="Group 18"/>
              <p:cNvGrpSpPr>
                <a:grpSpLocks/>
              </p:cNvGrpSpPr>
              <p:nvPr/>
            </p:nvGrpSpPr>
            <p:grpSpPr bwMode="auto">
              <a:xfrm>
                <a:off x="2085" y="3168"/>
                <a:ext cx="432" cy="432"/>
                <a:chOff x="1200" y="2352"/>
                <a:chExt cx="432" cy="432"/>
              </a:xfrm>
            </p:grpSpPr>
            <p:sp>
              <p:nvSpPr>
                <p:cNvPr id="63" name="Oval 19"/>
                <p:cNvSpPr>
                  <a:spLocks noChangeArrowheads="1"/>
                </p:cNvSpPr>
                <p:nvPr/>
              </p:nvSpPr>
              <p:spPr bwMode="auto">
                <a:xfrm>
                  <a:off x="1200" y="2352"/>
                  <a:ext cx="432" cy="432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IN"/>
                </a:p>
              </p:txBody>
            </p:sp>
            <p:sp>
              <p:nvSpPr>
                <p:cNvPr id="64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1262" y="2448"/>
                  <a:ext cx="336" cy="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sz="1500"/>
                    <a:t>TM</a:t>
                  </a:r>
                  <a:r>
                    <a:rPr lang="en-US" sz="1500" baseline="-25000"/>
                    <a:t>n</a:t>
                  </a:r>
                </a:p>
              </p:txBody>
            </p:sp>
          </p:grpSp>
        </p:grpSp>
        <p:sp>
          <p:nvSpPr>
            <p:cNvPr id="47" name="Oval 21"/>
            <p:cNvSpPr>
              <a:spLocks noChangeArrowheads="1"/>
            </p:cNvSpPr>
            <p:nvPr/>
          </p:nvSpPr>
          <p:spPr bwMode="auto">
            <a:xfrm>
              <a:off x="2544" y="3827"/>
              <a:ext cx="144" cy="14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IN"/>
            </a:p>
          </p:txBody>
        </p:sp>
        <p:sp>
          <p:nvSpPr>
            <p:cNvPr id="48" name="Oval 22"/>
            <p:cNvSpPr>
              <a:spLocks noChangeArrowheads="1"/>
            </p:cNvSpPr>
            <p:nvPr/>
          </p:nvSpPr>
          <p:spPr bwMode="auto">
            <a:xfrm>
              <a:off x="3360" y="3827"/>
              <a:ext cx="144" cy="14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IN"/>
            </a:p>
          </p:txBody>
        </p:sp>
        <p:sp>
          <p:nvSpPr>
            <p:cNvPr id="49" name="Line 23"/>
            <p:cNvSpPr>
              <a:spLocks noChangeShapeType="1"/>
            </p:cNvSpPr>
            <p:nvPr/>
          </p:nvSpPr>
          <p:spPr bwMode="auto">
            <a:xfrm>
              <a:off x="1584" y="3251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Line 24"/>
            <p:cNvSpPr>
              <a:spLocks noChangeShapeType="1"/>
            </p:cNvSpPr>
            <p:nvPr/>
          </p:nvSpPr>
          <p:spPr bwMode="auto">
            <a:xfrm>
              <a:off x="1584" y="3251"/>
              <a:ext cx="1008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Line 25"/>
            <p:cNvSpPr>
              <a:spLocks noChangeShapeType="1"/>
            </p:cNvSpPr>
            <p:nvPr/>
          </p:nvSpPr>
          <p:spPr bwMode="auto">
            <a:xfrm>
              <a:off x="1584" y="3251"/>
              <a:ext cx="1824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Line 26"/>
            <p:cNvSpPr>
              <a:spLocks noChangeShapeType="1"/>
            </p:cNvSpPr>
            <p:nvPr/>
          </p:nvSpPr>
          <p:spPr bwMode="auto">
            <a:xfrm>
              <a:off x="1584" y="3251"/>
              <a:ext cx="2832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Line 27"/>
            <p:cNvSpPr>
              <a:spLocks noChangeShapeType="1"/>
            </p:cNvSpPr>
            <p:nvPr/>
          </p:nvSpPr>
          <p:spPr bwMode="auto">
            <a:xfrm>
              <a:off x="4560" y="3251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Line 28"/>
            <p:cNvSpPr>
              <a:spLocks noChangeShapeType="1"/>
            </p:cNvSpPr>
            <p:nvPr/>
          </p:nvSpPr>
          <p:spPr bwMode="auto">
            <a:xfrm flipH="1">
              <a:off x="3456" y="3251"/>
              <a:ext cx="1104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Line 29"/>
            <p:cNvSpPr>
              <a:spLocks noChangeShapeType="1"/>
            </p:cNvSpPr>
            <p:nvPr/>
          </p:nvSpPr>
          <p:spPr bwMode="auto">
            <a:xfrm flipH="1">
              <a:off x="2640" y="3251"/>
              <a:ext cx="192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Line 30"/>
            <p:cNvSpPr>
              <a:spLocks noChangeShapeType="1"/>
            </p:cNvSpPr>
            <p:nvPr/>
          </p:nvSpPr>
          <p:spPr bwMode="auto">
            <a:xfrm flipH="1">
              <a:off x="1728" y="3251"/>
              <a:ext cx="2832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Line 31"/>
            <p:cNvSpPr>
              <a:spLocks noChangeShapeType="1"/>
            </p:cNvSpPr>
            <p:nvPr/>
          </p:nvSpPr>
          <p:spPr bwMode="auto">
            <a:xfrm>
              <a:off x="1824" y="3011"/>
              <a:ext cx="24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Text Box 32"/>
            <p:cNvSpPr txBox="1">
              <a:spLocks noChangeArrowheads="1"/>
            </p:cNvSpPr>
            <p:nvPr/>
          </p:nvSpPr>
          <p:spPr bwMode="auto">
            <a:xfrm>
              <a:off x="1344" y="4163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400" i="1">
                  <a:latin typeface="Times New Roman" panose="02020603050405020304" pitchFamily="18" charset="0"/>
                </a:rPr>
                <a:t>Site</a:t>
              </a:r>
              <a:r>
                <a:rPr lang="en-US" sz="1400" i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9" name="Text Box 33"/>
            <p:cNvSpPr txBox="1">
              <a:spLocks noChangeArrowheads="1"/>
            </p:cNvSpPr>
            <p:nvPr/>
          </p:nvSpPr>
          <p:spPr bwMode="auto">
            <a:xfrm>
              <a:off x="4320" y="4163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400" i="1">
                  <a:latin typeface="Times New Roman" panose="02020603050405020304" pitchFamily="18" charset="0"/>
                </a:rPr>
                <a:t>Site</a:t>
              </a:r>
              <a:r>
                <a:rPr lang="en-US" sz="1400" i="1" baseline="-25000">
                  <a:latin typeface="Times New Roman" panose="02020603050405020304" pitchFamily="18" charset="0"/>
                </a:rPr>
                <a:t>n</a:t>
              </a:r>
            </a:p>
          </p:txBody>
        </p:sp>
      </p:grpSp>
      <p:sp>
        <p:nvSpPr>
          <p:cNvPr id="74" name="Rectangle 3"/>
          <p:cNvSpPr txBox="1">
            <a:spLocks noChangeArrowheads="1"/>
          </p:cNvSpPr>
          <p:nvPr/>
        </p:nvSpPr>
        <p:spPr>
          <a:xfrm>
            <a:off x="3647728" y="3522979"/>
            <a:ext cx="8534400" cy="304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346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en-US" sz="1800" dirty="0"/>
              <a:t>Each site </a:t>
            </a:r>
            <a:r>
              <a:rPr lang="en-US" sz="1800" dirty="0" smtClean="0"/>
              <a:t>contains two subsystems:</a:t>
            </a:r>
          </a:p>
          <a:p>
            <a:pPr lvl="1"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700" dirty="0" smtClean="0"/>
              <a:t>Transaction Manager (TM):</a:t>
            </a:r>
          </a:p>
          <a:p>
            <a:pPr lvl="2">
              <a:buClr>
                <a:schemeClr val="tx1"/>
              </a:buClr>
              <a:buFontTx/>
              <a:buChar char="o"/>
            </a:pPr>
            <a:r>
              <a:rPr lang="en-US" dirty="0" smtClean="0"/>
              <a:t>It manages the execution of those transaction (sub-transaction) that access data in that site.</a:t>
            </a:r>
          </a:p>
          <a:p>
            <a:pPr lvl="2">
              <a:buClr>
                <a:schemeClr val="tx1"/>
              </a:buClr>
              <a:buFontTx/>
              <a:buChar char="o"/>
            </a:pPr>
            <a:r>
              <a:rPr lang="en-US" dirty="0" smtClean="0"/>
              <a:t>Each sub-transaction may either be a local or a part of global transaction.</a:t>
            </a:r>
          </a:p>
          <a:p>
            <a:pPr lvl="1"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700" dirty="0" smtClean="0"/>
              <a:t>Transaction Coordinator (TC):</a:t>
            </a:r>
          </a:p>
          <a:p>
            <a:pPr lvl="2">
              <a:buClr>
                <a:schemeClr val="tx1"/>
              </a:buClr>
              <a:buFontTx/>
              <a:buChar char="o"/>
            </a:pPr>
            <a:r>
              <a:rPr lang="en-US" dirty="0" smtClean="0"/>
              <a:t>It coordinates the execution of various transaction (both local &amp; global) initiated at that site</a:t>
            </a:r>
          </a:p>
          <a:p>
            <a:pPr lvl="2">
              <a:buClr>
                <a:schemeClr val="tx1"/>
              </a:buClr>
              <a:buFontTx/>
              <a:buChar char="o"/>
            </a:pPr>
            <a:r>
              <a:rPr lang="en-US" dirty="0" smtClean="0"/>
              <a:t>For nested transaction, it is also responsible for breaking a transaction into a number of sub-transactions &amp; distributing them to appropriate sites.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49322" y="3086254"/>
            <a:ext cx="1691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Flat Transaction</a:t>
            </a:r>
            <a:endParaRPr lang="en-IN" dirty="0"/>
          </a:p>
        </p:txBody>
      </p:sp>
      <p:sp>
        <p:nvSpPr>
          <p:cNvPr id="75" name="Rectangle 74"/>
          <p:cNvSpPr/>
          <p:nvPr/>
        </p:nvSpPr>
        <p:spPr>
          <a:xfrm>
            <a:off x="1142351" y="6115670"/>
            <a:ext cx="20152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Nested Transaction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0218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944" y="993775"/>
            <a:ext cx="8610600" cy="538797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600" dirty="0"/>
              <a:t>Consider a transaction </a:t>
            </a:r>
            <a:r>
              <a:rPr lang="en-US" sz="1600" dirty="0">
                <a:solidFill>
                  <a:schemeClr val="accent2"/>
                </a:solidFill>
              </a:rPr>
              <a:t>T</a:t>
            </a:r>
            <a:r>
              <a:rPr lang="en-US" sz="1600" dirty="0"/>
              <a:t> initiated at site </a:t>
            </a:r>
            <a:r>
              <a:rPr lang="en-US" sz="1600" i="1" dirty="0">
                <a:solidFill>
                  <a:schemeClr val="accent2"/>
                </a:solidFill>
              </a:rPr>
              <a:t>S</a:t>
            </a:r>
            <a:r>
              <a:rPr lang="en-US" sz="1600" i="1" baseline="-25000" dirty="0">
                <a:solidFill>
                  <a:schemeClr val="accent2"/>
                </a:solidFill>
              </a:rPr>
              <a:t>i</a:t>
            </a:r>
            <a:r>
              <a:rPr lang="en-US" sz="1600" dirty="0"/>
              <a:t>, where the transaction coordinator is </a:t>
            </a:r>
            <a:r>
              <a:rPr lang="en-US" sz="1600" i="1" dirty="0" err="1">
                <a:solidFill>
                  <a:schemeClr val="accent2"/>
                </a:solidFill>
              </a:rPr>
              <a:t>C</a:t>
            </a:r>
            <a:r>
              <a:rPr lang="en-US" sz="1600" i="1" baseline="-25000" dirty="0" err="1">
                <a:solidFill>
                  <a:schemeClr val="accent2"/>
                </a:solidFill>
              </a:rPr>
              <a:t>i</a:t>
            </a:r>
            <a:r>
              <a:rPr lang="en-US" sz="1600" i="1" dirty="0">
                <a:solidFill>
                  <a:schemeClr val="accent2"/>
                </a:solidFill>
              </a:rPr>
              <a:t> 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600" dirty="0"/>
              <a:t>When all sites where </a:t>
            </a:r>
            <a:r>
              <a:rPr lang="en-US" sz="1600" dirty="0">
                <a:solidFill>
                  <a:schemeClr val="accent2"/>
                </a:solidFill>
              </a:rPr>
              <a:t>T</a:t>
            </a:r>
            <a:r>
              <a:rPr lang="en-US" sz="1600" dirty="0"/>
              <a:t> has executed inform </a:t>
            </a:r>
            <a:r>
              <a:rPr lang="en-US" sz="1600" i="1" dirty="0" err="1">
                <a:solidFill>
                  <a:schemeClr val="accent2"/>
                </a:solidFill>
              </a:rPr>
              <a:t>C</a:t>
            </a:r>
            <a:r>
              <a:rPr lang="en-US" sz="1600" i="1" baseline="-25000" dirty="0" err="1">
                <a:solidFill>
                  <a:schemeClr val="accent2"/>
                </a:solidFill>
              </a:rPr>
              <a:t>i</a:t>
            </a:r>
            <a:r>
              <a:rPr lang="en-US" sz="1600" dirty="0">
                <a:solidFill>
                  <a:srgbClr val="3333FF"/>
                </a:solidFill>
              </a:rPr>
              <a:t> </a:t>
            </a:r>
            <a:r>
              <a:rPr lang="en-US" sz="1600" dirty="0"/>
              <a:t>that </a:t>
            </a:r>
            <a:r>
              <a:rPr lang="en-US" sz="1600" dirty="0">
                <a:solidFill>
                  <a:schemeClr val="accent2"/>
                </a:solidFill>
              </a:rPr>
              <a:t>T</a:t>
            </a:r>
            <a:r>
              <a:rPr lang="en-US" sz="1600" dirty="0"/>
              <a:t> has completed – </a:t>
            </a:r>
            <a:r>
              <a:rPr lang="en-US" sz="1600" i="1" dirty="0" err="1">
                <a:solidFill>
                  <a:schemeClr val="accent2"/>
                </a:solidFill>
              </a:rPr>
              <a:t>C</a:t>
            </a:r>
            <a:r>
              <a:rPr lang="en-US" sz="1600" i="1" baseline="-25000" dirty="0" err="1">
                <a:solidFill>
                  <a:schemeClr val="accent2"/>
                </a:solidFill>
              </a:rPr>
              <a:t>i</a:t>
            </a:r>
            <a:r>
              <a:rPr lang="en-US" sz="1600" dirty="0"/>
              <a:t> starts the 2PC Protocol. Assuming </a:t>
            </a:r>
            <a:r>
              <a:rPr lang="en-US" sz="1600" i="1" dirty="0">
                <a:solidFill>
                  <a:srgbClr val="3333FF"/>
                </a:solidFill>
              </a:rPr>
              <a:t>no failures </a:t>
            </a:r>
            <a:r>
              <a:rPr lang="en-US" sz="1600" dirty="0"/>
              <a:t>occur, the protocol consists of two phases: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600" b="1" dirty="0"/>
              <a:t>Phase-1: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500" i="1" dirty="0" err="1">
                <a:solidFill>
                  <a:schemeClr val="accent2"/>
                </a:solidFill>
              </a:rPr>
              <a:t>Ci</a:t>
            </a:r>
            <a:r>
              <a:rPr lang="en-US" sz="1500" dirty="0"/>
              <a:t> adds a record </a:t>
            </a:r>
            <a:r>
              <a:rPr lang="en-US" sz="1500" i="1" dirty="0">
                <a:solidFill>
                  <a:srgbClr val="3333FF"/>
                </a:solidFill>
              </a:rPr>
              <a:t>&lt;Prepare T&gt;</a:t>
            </a:r>
            <a:r>
              <a:rPr lang="en-US" sz="1500" dirty="0"/>
              <a:t> to the log and forces the log onto stable storage.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500" dirty="0"/>
              <a:t>It then sends </a:t>
            </a:r>
            <a:r>
              <a:rPr lang="en-US" sz="1500" i="1" dirty="0">
                <a:solidFill>
                  <a:srgbClr val="3333FF"/>
                </a:solidFill>
              </a:rPr>
              <a:t>&lt;Prepare T&gt;</a:t>
            </a:r>
            <a:r>
              <a:rPr lang="en-US" sz="1500" dirty="0"/>
              <a:t> message to all the sites where </a:t>
            </a:r>
            <a:r>
              <a:rPr lang="en-US" sz="1500" dirty="0">
                <a:solidFill>
                  <a:schemeClr val="accent2"/>
                </a:solidFill>
              </a:rPr>
              <a:t>T</a:t>
            </a:r>
            <a:r>
              <a:rPr lang="en-US" sz="1500" dirty="0"/>
              <a:t> were executed.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500" dirty="0"/>
              <a:t>On receiving such a message, the TM at that site decide whether it is willing to commit.</a:t>
            </a:r>
          </a:p>
          <a:p>
            <a:pPr lvl="2" eaLnBrk="1" hangingPunct="1">
              <a:buClr>
                <a:schemeClr val="tx1"/>
              </a:buClr>
              <a:buFontTx/>
              <a:buChar char="o"/>
            </a:pPr>
            <a:r>
              <a:rPr lang="en-US" sz="1400" dirty="0"/>
              <a:t>If the answer is ‘no’ , it adds a record </a:t>
            </a:r>
            <a:r>
              <a:rPr lang="en-US" sz="1400" i="1" dirty="0">
                <a:solidFill>
                  <a:srgbClr val="3333FF"/>
                </a:solidFill>
              </a:rPr>
              <a:t>&lt;Abort T&gt;</a:t>
            </a:r>
            <a:r>
              <a:rPr lang="en-US" sz="1400" dirty="0"/>
              <a:t> to the stable log &amp; responds by sending </a:t>
            </a:r>
            <a:r>
              <a:rPr lang="en-US" sz="1400" i="1" dirty="0">
                <a:solidFill>
                  <a:srgbClr val="3333FF"/>
                </a:solidFill>
              </a:rPr>
              <a:t>&lt;abort T&gt;</a:t>
            </a:r>
            <a:r>
              <a:rPr lang="en-US" sz="1400" dirty="0"/>
              <a:t> message to </a:t>
            </a:r>
            <a:r>
              <a:rPr lang="en-US" sz="1400" i="1" dirty="0" err="1">
                <a:solidFill>
                  <a:schemeClr val="accent2"/>
                </a:solidFill>
              </a:rPr>
              <a:t>C</a:t>
            </a:r>
            <a:r>
              <a:rPr lang="en-US" sz="1400" i="1" baseline="-25000" dirty="0" err="1">
                <a:solidFill>
                  <a:schemeClr val="accent2"/>
                </a:solidFill>
              </a:rPr>
              <a:t>i</a:t>
            </a:r>
            <a:r>
              <a:rPr lang="en-US" sz="1400" dirty="0"/>
              <a:t>.</a:t>
            </a:r>
          </a:p>
          <a:p>
            <a:pPr lvl="2" eaLnBrk="1" hangingPunct="1">
              <a:buClr>
                <a:schemeClr val="tx1"/>
              </a:buClr>
              <a:buFontTx/>
              <a:buChar char="o"/>
            </a:pPr>
            <a:r>
              <a:rPr lang="en-US" sz="1400" dirty="0"/>
              <a:t>If the answer is ‘yes’ , it adds a record </a:t>
            </a:r>
            <a:r>
              <a:rPr lang="en-US" sz="1400" i="1" dirty="0">
                <a:solidFill>
                  <a:srgbClr val="3333FF"/>
                </a:solidFill>
              </a:rPr>
              <a:t>&lt;Ready T&gt;</a:t>
            </a:r>
            <a:r>
              <a:rPr lang="en-US" sz="1400" dirty="0"/>
              <a:t> to the stable log &amp; responds by sending </a:t>
            </a:r>
            <a:r>
              <a:rPr lang="en-US" sz="1400" i="1" dirty="0">
                <a:solidFill>
                  <a:srgbClr val="3333FF"/>
                </a:solidFill>
              </a:rPr>
              <a:t>&lt;ready T&gt;</a:t>
            </a:r>
            <a:r>
              <a:rPr lang="en-US" sz="1400" dirty="0"/>
              <a:t> message to </a:t>
            </a:r>
            <a:r>
              <a:rPr lang="en-US" sz="1400" i="1" dirty="0" err="1">
                <a:solidFill>
                  <a:schemeClr val="accent2"/>
                </a:solidFill>
              </a:rPr>
              <a:t>C</a:t>
            </a:r>
            <a:r>
              <a:rPr lang="en-US" sz="1400" i="1" baseline="-25000" dirty="0" err="1">
                <a:solidFill>
                  <a:schemeClr val="accent2"/>
                </a:solidFill>
              </a:rPr>
              <a:t>i</a:t>
            </a:r>
            <a:r>
              <a:rPr lang="en-US" sz="1400" dirty="0"/>
              <a:t>.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600" b="1" dirty="0"/>
              <a:t>Phase-2: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500" dirty="0"/>
              <a:t>When </a:t>
            </a:r>
            <a:r>
              <a:rPr lang="en-US" sz="1500" i="1" dirty="0" err="1">
                <a:solidFill>
                  <a:schemeClr val="accent2"/>
                </a:solidFill>
              </a:rPr>
              <a:t>C</a:t>
            </a:r>
            <a:r>
              <a:rPr lang="en-US" sz="1500" i="1" baseline="-25000" dirty="0" err="1">
                <a:solidFill>
                  <a:schemeClr val="accent2"/>
                </a:solidFill>
              </a:rPr>
              <a:t>i</a:t>
            </a:r>
            <a:r>
              <a:rPr lang="en-US" sz="1500" i="1" dirty="0">
                <a:solidFill>
                  <a:schemeClr val="accent2"/>
                </a:solidFill>
              </a:rPr>
              <a:t> </a:t>
            </a:r>
            <a:r>
              <a:rPr lang="en-US" sz="1500" dirty="0"/>
              <a:t>receives responds to </a:t>
            </a:r>
            <a:r>
              <a:rPr lang="en-US" sz="1500" i="1" dirty="0">
                <a:solidFill>
                  <a:srgbClr val="3333FF"/>
                </a:solidFill>
              </a:rPr>
              <a:t>&lt;Prepare T&gt;</a:t>
            </a:r>
            <a:r>
              <a:rPr lang="en-US" sz="1500" dirty="0"/>
              <a:t> message from all the sites or timeout occurs, </a:t>
            </a:r>
            <a:r>
              <a:rPr lang="en-US" sz="1500" i="1" dirty="0" err="1">
                <a:solidFill>
                  <a:schemeClr val="accent2"/>
                </a:solidFill>
              </a:rPr>
              <a:t>C</a:t>
            </a:r>
            <a:r>
              <a:rPr lang="en-US" sz="1500" i="1" baseline="-25000" dirty="0" err="1">
                <a:solidFill>
                  <a:schemeClr val="accent2"/>
                </a:solidFill>
              </a:rPr>
              <a:t>i</a:t>
            </a:r>
            <a:r>
              <a:rPr lang="en-US" sz="1500" dirty="0"/>
              <a:t> can determine whether </a:t>
            </a:r>
            <a:r>
              <a:rPr lang="en-US" sz="1500" dirty="0">
                <a:solidFill>
                  <a:schemeClr val="accent2"/>
                </a:solidFill>
              </a:rPr>
              <a:t>T </a:t>
            </a:r>
            <a:r>
              <a:rPr lang="en-US" sz="1500" dirty="0"/>
              <a:t>can be committed or aborted.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500" dirty="0"/>
              <a:t>Transaction </a:t>
            </a:r>
            <a:r>
              <a:rPr lang="en-US" sz="1500" dirty="0">
                <a:solidFill>
                  <a:schemeClr val="accent2"/>
                </a:solidFill>
              </a:rPr>
              <a:t>T</a:t>
            </a:r>
            <a:r>
              <a:rPr lang="en-US" sz="1500" dirty="0"/>
              <a:t> can be committed, if </a:t>
            </a:r>
            <a:r>
              <a:rPr lang="en-US" sz="1500" i="1" dirty="0" err="1">
                <a:solidFill>
                  <a:schemeClr val="accent2"/>
                </a:solidFill>
              </a:rPr>
              <a:t>C</a:t>
            </a:r>
            <a:r>
              <a:rPr lang="en-US" sz="1500" i="1" baseline="-25000" dirty="0" err="1">
                <a:solidFill>
                  <a:schemeClr val="accent2"/>
                </a:solidFill>
              </a:rPr>
              <a:t>i</a:t>
            </a:r>
            <a:r>
              <a:rPr lang="en-US" sz="1500" dirty="0"/>
              <a:t> receives </a:t>
            </a:r>
            <a:r>
              <a:rPr lang="en-US" sz="1500" i="1" dirty="0">
                <a:solidFill>
                  <a:srgbClr val="3333FF"/>
                </a:solidFill>
              </a:rPr>
              <a:t>&lt;Ready T&gt;</a:t>
            </a:r>
            <a:r>
              <a:rPr lang="en-US" sz="1500" dirty="0"/>
              <a:t> message from all the sites. Otherwise </a:t>
            </a:r>
            <a:r>
              <a:rPr lang="en-US" sz="1500" dirty="0">
                <a:solidFill>
                  <a:schemeClr val="accent2"/>
                </a:solidFill>
              </a:rPr>
              <a:t>T </a:t>
            </a:r>
            <a:r>
              <a:rPr lang="en-US" sz="1500" dirty="0"/>
              <a:t>must be aborted.</a:t>
            </a:r>
          </a:p>
          <a:p>
            <a:pPr lvl="2" eaLnBrk="1" hangingPunct="1">
              <a:buClr>
                <a:schemeClr val="tx1"/>
              </a:buClr>
              <a:buFontTx/>
              <a:buChar char="o"/>
            </a:pPr>
            <a:r>
              <a:rPr lang="en-US" sz="1400" dirty="0"/>
              <a:t>Depending on the situation either a record </a:t>
            </a:r>
            <a:r>
              <a:rPr lang="en-US" sz="1400" i="1" dirty="0">
                <a:solidFill>
                  <a:srgbClr val="3333FF"/>
                </a:solidFill>
              </a:rPr>
              <a:t>&lt;Commit T&gt;</a:t>
            </a:r>
            <a:r>
              <a:rPr lang="en-US" sz="1400" dirty="0"/>
              <a:t> or </a:t>
            </a:r>
            <a:r>
              <a:rPr lang="en-US" sz="1400" i="1" dirty="0">
                <a:solidFill>
                  <a:srgbClr val="3333FF"/>
                </a:solidFill>
              </a:rPr>
              <a:t>&lt;Abort T&gt;</a:t>
            </a:r>
            <a:r>
              <a:rPr lang="en-US" sz="1400" dirty="0"/>
              <a:t> is added to the stable log. </a:t>
            </a:r>
            <a:r>
              <a:rPr lang="en-US" sz="1400" i="1" dirty="0" err="1">
                <a:solidFill>
                  <a:schemeClr val="accent2"/>
                </a:solidFill>
              </a:rPr>
              <a:t>C</a:t>
            </a:r>
            <a:r>
              <a:rPr lang="en-US" sz="1400" i="1" baseline="-25000" dirty="0" err="1">
                <a:solidFill>
                  <a:schemeClr val="accent2"/>
                </a:solidFill>
              </a:rPr>
              <a:t>i</a:t>
            </a:r>
            <a:r>
              <a:rPr lang="en-US" sz="1400" dirty="0"/>
              <a:t> then sends either a </a:t>
            </a:r>
            <a:r>
              <a:rPr lang="en-US" sz="1400" i="1" dirty="0">
                <a:solidFill>
                  <a:srgbClr val="3333FF"/>
                </a:solidFill>
              </a:rPr>
              <a:t>&lt;Commit T&gt;</a:t>
            </a:r>
            <a:r>
              <a:rPr lang="en-US" sz="1400" dirty="0"/>
              <a:t> or </a:t>
            </a:r>
            <a:r>
              <a:rPr lang="en-US" sz="1400" i="1" dirty="0">
                <a:solidFill>
                  <a:srgbClr val="3333FF"/>
                </a:solidFill>
              </a:rPr>
              <a:t>&lt;Abort T&gt;</a:t>
            </a:r>
            <a:r>
              <a:rPr lang="en-US" sz="1400" dirty="0"/>
              <a:t> message to all the sites.</a:t>
            </a:r>
          </a:p>
          <a:p>
            <a:pPr lvl="2" eaLnBrk="1" hangingPunct="1">
              <a:buClr>
                <a:schemeClr val="tx1"/>
              </a:buClr>
              <a:buFontTx/>
              <a:buChar char="o"/>
            </a:pPr>
            <a:r>
              <a:rPr lang="en-US" sz="1400" dirty="0"/>
              <a:t>When a site receives that message, it records it into log and sends </a:t>
            </a:r>
            <a:r>
              <a:rPr lang="en-US" sz="1400" i="1" dirty="0">
                <a:solidFill>
                  <a:srgbClr val="3333FF"/>
                </a:solidFill>
              </a:rPr>
              <a:t>&lt;ACK T&gt;</a:t>
            </a:r>
            <a:r>
              <a:rPr lang="en-US" sz="1400" dirty="0"/>
              <a:t> to </a:t>
            </a:r>
            <a:r>
              <a:rPr lang="en-US" sz="1400" i="1" dirty="0" err="1">
                <a:solidFill>
                  <a:schemeClr val="accent2"/>
                </a:solidFill>
              </a:rPr>
              <a:t>C</a:t>
            </a:r>
            <a:r>
              <a:rPr lang="en-US" sz="1400" i="1" baseline="-25000" dirty="0" err="1">
                <a:solidFill>
                  <a:schemeClr val="accent2"/>
                </a:solidFill>
              </a:rPr>
              <a:t>i</a:t>
            </a:r>
            <a:endParaRPr lang="en-US" sz="1400" i="1" baseline="-25000" dirty="0">
              <a:solidFill>
                <a:schemeClr val="accent2"/>
              </a:solidFill>
            </a:endParaRPr>
          </a:p>
          <a:p>
            <a:pPr lvl="2" eaLnBrk="1" hangingPunct="1">
              <a:buClr>
                <a:schemeClr val="tx1"/>
              </a:buClr>
              <a:buFontTx/>
              <a:buChar char="o"/>
            </a:pPr>
            <a:r>
              <a:rPr lang="en-US" sz="1400" dirty="0"/>
              <a:t>On receiving </a:t>
            </a:r>
            <a:r>
              <a:rPr lang="en-US" sz="1400" i="1" dirty="0">
                <a:solidFill>
                  <a:srgbClr val="3333FF"/>
                </a:solidFill>
              </a:rPr>
              <a:t>&lt;ACK T&gt;</a:t>
            </a:r>
            <a:r>
              <a:rPr lang="en-US" sz="1400" dirty="0"/>
              <a:t> from all the sites, </a:t>
            </a:r>
            <a:r>
              <a:rPr lang="en-US" sz="1400" i="1" dirty="0" err="1">
                <a:solidFill>
                  <a:schemeClr val="accent2"/>
                </a:solidFill>
              </a:rPr>
              <a:t>C</a:t>
            </a:r>
            <a:r>
              <a:rPr lang="en-US" sz="1400" i="1" baseline="-25000" dirty="0" err="1">
                <a:solidFill>
                  <a:schemeClr val="accent2"/>
                </a:solidFill>
              </a:rPr>
              <a:t>i</a:t>
            </a:r>
            <a:r>
              <a:rPr lang="en-US" sz="1400" dirty="0"/>
              <a:t> adds the record </a:t>
            </a:r>
            <a:r>
              <a:rPr lang="en-US" sz="1400" i="1" dirty="0">
                <a:solidFill>
                  <a:srgbClr val="3333FF"/>
                </a:solidFill>
              </a:rPr>
              <a:t>&lt;Complete T&gt;</a:t>
            </a:r>
            <a:r>
              <a:rPr lang="en-US" sz="1400" dirty="0"/>
              <a:t> to the log.  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endParaRPr lang="en-US" sz="1400" dirty="0"/>
          </a:p>
          <a:p>
            <a:pPr lvl="1" eaLnBrk="1" hangingPunct="1"/>
            <a:endParaRPr lang="en-US" sz="1500" baseline="-25000" dirty="0"/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1828800" y="1239615"/>
            <a:ext cx="8610600" cy="50292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524250" y="2187352"/>
            <a:ext cx="1371600" cy="457200"/>
            <a:chOff x="1644" y="2064"/>
            <a:chExt cx="864" cy="288"/>
          </a:xfrm>
        </p:grpSpPr>
        <p:sp>
          <p:nvSpPr>
            <p:cNvPr id="8269" name="Line 6"/>
            <p:cNvSpPr>
              <a:spLocks noChangeShapeType="1"/>
            </p:cNvSpPr>
            <p:nvPr/>
          </p:nvSpPr>
          <p:spPr bwMode="auto">
            <a:xfrm>
              <a:off x="1920" y="20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70" name="Text Box 7"/>
            <p:cNvSpPr txBox="1">
              <a:spLocks noChangeArrowheads="1"/>
            </p:cNvSpPr>
            <p:nvPr/>
          </p:nvSpPr>
          <p:spPr bwMode="auto">
            <a:xfrm>
              <a:off x="1644" y="2124"/>
              <a:ext cx="8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200" i="1">
                  <a:latin typeface="Times New Roman" panose="02020603050405020304" pitchFamily="18" charset="0"/>
                </a:rPr>
                <a:t>Send &lt;Prepate T&gt;</a:t>
              </a:r>
            </a:p>
          </p:txBody>
        </p:sp>
      </p:grpSp>
      <p:sp>
        <p:nvSpPr>
          <p:cNvPr id="83976" name="Text Box 8"/>
          <p:cNvSpPr txBox="1">
            <a:spLocks noChangeArrowheads="1"/>
          </p:cNvSpPr>
          <p:nvPr/>
        </p:nvSpPr>
        <p:spPr bwMode="auto">
          <a:xfrm>
            <a:off x="6705600" y="1653952"/>
            <a:ext cx="1524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200" i="1">
                <a:latin typeface="Times New Roman" panose="02020603050405020304" pitchFamily="18" charset="0"/>
              </a:rPr>
              <a:t>Receive &lt;Prepate T&gt;</a:t>
            </a: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7010400" y="2111152"/>
            <a:ext cx="1524000" cy="609600"/>
            <a:chOff x="3216" y="2016"/>
            <a:chExt cx="960" cy="384"/>
          </a:xfrm>
        </p:grpSpPr>
        <p:sp>
          <p:nvSpPr>
            <p:cNvPr id="8267" name="Line 10"/>
            <p:cNvSpPr>
              <a:spLocks noChangeShapeType="1"/>
            </p:cNvSpPr>
            <p:nvPr/>
          </p:nvSpPr>
          <p:spPr bwMode="auto">
            <a:xfrm flipH="1">
              <a:off x="3744" y="2016"/>
              <a:ext cx="43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68" name="Text Box 11"/>
            <p:cNvSpPr txBox="1">
              <a:spLocks noChangeArrowheads="1"/>
            </p:cNvSpPr>
            <p:nvPr/>
          </p:nvSpPr>
          <p:spPr bwMode="auto">
            <a:xfrm>
              <a:off x="3216" y="2035"/>
              <a:ext cx="8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200" i="1">
                  <a:latin typeface="Times New Roman" panose="02020603050405020304" pitchFamily="18" charset="0"/>
                </a:rPr>
                <a:t>Send &lt;Ready T&gt;</a:t>
              </a: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8839200" y="2111152"/>
            <a:ext cx="1447800" cy="533400"/>
            <a:chOff x="4368" y="2016"/>
            <a:chExt cx="912" cy="336"/>
          </a:xfrm>
        </p:grpSpPr>
        <p:sp>
          <p:nvSpPr>
            <p:cNvPr id="8265" name="Line 13"/>
            <p:cNvSpPr>
              <a:spLocks noChangeShapeType="1"/>
            </p:cNvSpPr>
            <p:nvPr/>
          </p:nvSpPr>
          <p:spPr bwMode="auto">
            <a:xfrm>
              <a:off x="4368" y="2016"/>
              <a:ext cx="33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66" name="Text Box 14"/>
            <p:cNvSpPr txBox="1">
              <a:spLocks noChangeArrowheads="1"/>
            </p:cNvSpPr>
            <p:nvPr/>
          </p:nvSpPr>
          <p:spPr bwMode="auto">
            <a:xfrm>
              <a:off x="4416" y="2035"/>
              <a:ext cx="8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200" i="1">
                  <a:latin typeface="Times New Roman" panose="02020603050405020304" pitchFamily="18" charset="0"/>
                </a:rPr>
                <a:t>Send &lt;Abort T&gt;</a:t>
              </a:r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2441576" y="3208116"/>
            <a:ext cx="1444625" cy="579437"/>
            <a:chOff x="962" y="2707"/>
            <a:chExt cx="910" cy="365"/>
          </a:xfrm>
        </p:grpSpPr>
        <p:sp>
          <p:nvSpPr>
            <p:cNvPr id="8263" name="Line 16"/>
            <p:cNvSpPr>
              <a:spLocks noChangeShapeType="1"/>
            </p:cNvSpPr>
            <p:nvPr/>
          </p:nvSpPr>
          <p:spPr bwMode="auto">
            <a:xfrm flipH="1">
              <a:off x="1488" y="2736"/>
              <a:ext cx="38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64" name="Text Box 17"/>
            <p:cNvSpPr txBox="1">
              <a:spLocks noChangeArrowheads="1"/>
            </p:cNvSpPr>
            <p:nvPr/>
          </p:nvSpPr>
          <p:spPr bwMode="auto">
            <a:xfrm>
              <a:off x="962" y="2707"/>
              <a:ext cx="8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200" i="1">
                  <a:latin typeface="Times New Roman" panose="02020603050405020304" pitchFamily="18" charset="0"/>
                </a:rPr>
                <a:t>Receive all &lt;Ready T&gt;</a:t>
              </a:r>
            </a:p>
          </p:txBody>
        </p:sp>
      </p:grp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4038601" y="3070002"/>
            <a:ext cx="1577975" cy="717550"/>
            <a:chOff x="1968" y="2620"/>
            <a:chExt cx="994" cy="452"/>
          </a:xfrm>
        </p:grpSpPr>
        <p:sp>
          <p:nvSpPr>
            <p:cNvPr id="8261" name="Line 19"/>
            <p:cNvSpPr>
              <a:spLocks noChangeShapeType="1"/>
            </p:cNvSpPr>
            <p:nvPr/>
          </p:nvSpPr>
          <p:spPr bwMode="auto">
            <a:xfrm>
              <a:off x="1968" y="2736"/>
              <a:ext cx="38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62" name="Text Box 20"/>
            <p:cNvSpPr txBox="1">
              <a:spLocks noChangeArrowheads="1"/>
            </p:cNvSpPr>
            <p:nvPr/>
          </p:nvSpPr>
          <p:spPr bwMode="auto">
            <a:xfrm>
              <a:off x="2098" y="2620"/>
              <a:ext cx="864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200" i="1">
                  <a:latin typeface="Times New Roman" panose="02020603050405020304" pitchFamily="18" charset="0"/>
                </a:rPr>
                <a:t>Timeout or receive &lt;Abort T&gt; from  at least one site</a:t>
              </a:r>
            </a:p>
          </p:txBody>
        </p:sp>
      </p:grpSp>
      <p:sp>
        <p:nvSpPr>
          <p:cNvPr id="83989" name="Text Box 21"/>
          <p:cNvSpPr txBox="1">
            <a:spLocks noChangeArrowheads="1"/>
          </p:cNvSpPr>
          <p:nvPr/>
        </p:nvSpPr>
        <p:spPr bwMode="auto">
          <a:xfrm>
            <a:off x="1524000" y="4016152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200" i="1">
                <a:latin typeface="Times New Roman" panose="02020603050405020304" pitchFamily="18" charset="0"/>
              </a:rPr>
              <a:t>Send          &lt;Commit T&gt;</a:t>
            </a:r>
          </a:p>
        </p:txBody>
      </p:sp>
      <p:sp>
        <p:nvSpPr>
          <p:cNvPr id="83990" name="Text Box 22"/>
          <p:cNvSpPr txBox="1">
            <a:spLocks noChangeArrowheads="1"/>
          </p:cNvSpPr>
          <p:nvPr/>
        </p:nvSpPr>
        <p:spPr bwMode="auto">
          <a:xfrm>
            <a:off x="5029200" y="3939952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200" i="1">
                <a:latin typeface="Times New Roman" panose="02020603050405020304" pitchFamily="18" charset="0"/>
              </a:rPr>
              <a:t>Send            &lt;Abort T&gt;</a:t>
            </a:r>
          </a:p>
        </p:txBody>
      </p:sp>
      <p:grpSp>
        <p:nvGrpSpPr>
          <p:cNvPr id="7" name="Group 23"/>
          <p:cNvGrpSpPr>
            <a:grpSpLocks/>
          </p:cNvGrpSpPr>
          <p:nvPr/>
        </p:nvGrpSpPr>
        <p:grpSpPr bwMode="auto">
          <a:xfrm>
            <a:off x="6934200" y="3254152"/>
            <a:ext cx="1524000" cy="533400"/>
            <a:chOff x="3168" y="2736"/>
            <a:chExt cx="960" cy="336"/>
          </a:xfrm>
        </p:grpSpPr>
        <p:sp>
          <p:nvSpPr>
            <p:cNvPr id="8259" name="Line 24"/>
            <p:cNvSpPr>
              <a:spLocks noChangeShapeType="1"/>
            </p:cNvSpPr>
            <p:nvPr/>
          </p:nvSpPr>
          <p:spPr bwMode="auto">
            <a:xfrm>
              <a:off x="3552" y="2736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60" name="Text Box 25"/>
            <p:cNvSpPr txBox="1">
              <a:spLocks noChangeArrowheads="1"/>
            </p:cNvSpPr>
            <p:nvPr/>
          </p:nvSpPr>
          <p:spPr bwMode="auto">
            <a:xfrm>
              <a:off x="3168" y="2803"/>
              <a:ext cx="9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200" i="1">
                  <a:latin typeface="Times New Roman" panose="02020603050405020304" pitchFamily="18" charset="0"/>
                </a:rPr>
                <a:t>Receive &lt;Commit T&gt;</a:t>
              </a:r>
            </a:p>
          </p:txBody>
        </p:sp>
      </p:grpSp>
      <p:grpSp>
        <p:nvGrpSpPr>
          <p:cNvPr id="8" name="Group 26"/>
          <p:cNvGrpSpPr>
            <a:grpSpLocks/>
          </p:cNvGrpSpPr>
          <p:nvPr/>
        </p:nvGrpSpPr>
        <p:grpSpPr bwMode="auto">
          <a:xfrm>
            <a:off x="7772400" y="2598516"/>
            <a:ext cx="1524000" cy="350837"/>
            <a:chOff x="3696" y="2323"/>
            <a:chExt cx="960" cy="221"/>
          </a:xfrm>
        </p:grpSpPr>
        <p:sp>
          <p:nvSpPr>
            <p:cNvPr id="8257" name="Line 27"/>
            <p:cNvSpPr>
              <a:spLocks noChangeShapeType="1"/>
            </p:cNvSpPr>
            <p:nvPr/>
          </p:nvSpPr>
          <p:spPr bwMode="auto">
            <a:xfrm>
              <a:off x="3840" y="2544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58" name="Text Box 28"/>
            <p:cNvSpPr txBox="1">
              <a:spLocks noChangeArrowheads="1"/>
            </p:cNvSpPr>
            <p:nvPr/>
          </p:nvSpPr>
          <p:spPr bwMode="auto">
            <a:xfrm>
              <a:off x="3696" y="2323"/>
              <a:ext cx="9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200" i="1">
                  <a:latin typeface="Times New Roman" panose="02020603050405020304" pitchFamily="18" charset="0"/>
                </a:rPr>
                <a:t>Receive &lt;Abort T&gt;</a:t>
              </a:r>
            </a:p>
          </p:txBody>
        </p:sp>
      </p:grpSp>
      <p:grpSp>
        <p:nvGrpSpPr>
          <p:cNvPr id="9" name="Group 29"/>
          <p:cNvGrpSpPr>
            <a:grpSpLocks/>
          </p:cNvGrpSpPr>
          <p:nvPr/>
        </p:nvGrpSpPr>
        <p:grpSpPr bwMode="auto">
          <a:xfrm>
            <a:off x="2514600" y="1196752"/>
            <a:ext cx="7620000" cy="3200400"/>
            <a:chOff x="624" y="960"/>
            <a:chExt cx="4800" cy="2016"/>
          </a:xfrm>
        </p:grpSpPr>
        <p:grpSp>
          <p:nvGrpSpPr>
            <p:cNvPr id="8229" name="Group 30"/>
            <p:cNvGrpSpPr>
              <a:grpSpLocks/>
            </p:cNvGrpSpPr>
            <p:nvPr/>
          </p:nvGrpSpPr>
          <p:grpSpPr bwMode="auto">
            <a:xfrm>
              <a:off x="624" y="960"/>
              <a:ext cx="1824" cy="2016"/>
              <a:chOff x="1008" y="1440"/>
              <a:chExt cx="1824" cy="2016"/>
            </a:xfrm>
          </p:grpSpPr>
          <p:grpSp>
            <p:nvGrpSpPr>
              <p:cNvPr id="8244" name="Group 31"/>
              <p:cNvGrpSpPr>
                <a:grpSpLocks/>
              </p:cNvGrpSpPr>
              <p:nvPr/>
            </p:nvGrpSpPr>
            <p:grpSpPr bwMode="auto">
              <a:xfrm>
                <a:off x="1632" y="1680"/>
                <a:ext cx="576" cy="384"/>
                <a:chOff x="1488" y="1715"/>
                <a:chExt cx="576" cy="384"/>
              </a:xfrm>
            </p:grpSpPr>
            <p:sp>
              <p:nvSpPr>
                <p:cNvPr id="8255" name="Oval 32"/>
                <p:cNvSpPr>
                  <a:spLocks noChangeArrowheads="1"/>
                </p:cNvSpPr>
                <p:nvPr/>
              </p:nvSpPr>
              <p:spPr bwMode="auto">
                <a:xfrm>
                  <a:off x="1488" y="1715"/>
                  <a:ext cx="576" cy="38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IN"/>
                </a:p>
              </p:txBody>
            </p:sp>
            <p:sp>
              <p:nvSpPr>
                <p:cNvPr id="8256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1529" y="1783"/>
                  <a:ext cx="4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/>
                    <a:t>Init</a:t>
                  </a:r>
                </a:p>
              </p:txBody>
            </p:sp>
          </p:grpSp>
          <p:grpSp>
            <p:nvGrpSpPr>
              <p:cNvPr id="8245" name="Group 34"/>
              <p:cNvGrpSpPr>
                <a:grpSpLocks/>
              </p:cNvGrpSpPr>
              <p:nvPr/>
            </p:nvGrpSpPr>
            <p:grpSpPr bwMode="auto">
              <a:xfrm>
                <a:off x="1632" y="2352"/>
                <a:ext cx="576" cy="384"/>
                <a:chOff x="1488" y="1715"/>
                <a:chExt cx="576" cy="384"/>
              </a:xfrm>
            </p:grpSpPr>
            <p:sp>
              <p:nvSpPr>
                <p:cNvPr id="8253" name="Oval 35"/>
                <p:cNvSpPr>
                  <a:spLocks noChangeArrowheads="1"/>
                </p:cNvSpPr>
                <p:nvPr/>
              </p:nvSpPr>
              <p:spPr bwMode="auto">
                <a:xfrm>
                  <a:off x="1488" y="1715"/>
                  <a:ext cx="576" cy="38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IN"/>
                </a:p>
              </p:txBody>
            </p:sp>
            <p:sp>
              <p:nvSpPr>
                <p:cNvPr id="8254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1529" y="1783"/>
                  <a:ext cx="4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/>
                    <a:t>Wait</a:t>
                  </a:r>
                </a:p>
              </p:txBody>
            </p:sp>
          </p:grpSp>
          <p:grpSp>
            <p:nvGrpSpPr>
              <p:cNvPr id="8246" name="Group 37"/>
              <p:cNvGrpSpPr>
                <a:grpSpLocks/>
              </p:cNvGrpSpPr>
              <p:nvPr/>
            </p:nvGrpSpPr>
            <p:grpSpPr bwMode="auto">
              <a:xfrm>
                <a:off x="1008" y="3072"/>
                <a:ext cx="720" cy="384"/>
                <a:chOff x="1488" y="1715"/>
                <a:chExt cx="576" cy="384"/>
              </a:xfrm>
            </p:grpSpPr>
            <p:sp>
              <p:nvSpPr>
                <p:cNvPr id="8251" name="Oval 38"/>
                <p:cNvSpPr>
                  <a:spLocks noChangeArrowheads="1"/>
                </p:cNvSpPr>
                <p:nvPr/>
              </p:nvSpPr>
              <p:spPr bwMode="auto">
                <a:xfrm>
                  <a:off x="1488" y="1715"/>
                  <a:ext cx="576" cy="38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IN"/>
                </a:p>
              </p:txBody>
            </p:sp>
            <p:sp>
              <p:nvSpPr>
                <p:cNvPr id="8252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1529" y="1783"/>
                  <a:ext cx="4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/>
                    <a:t>Commit</a:t>
                  </a:r>
                </a:p>
              </p:txBody>
            </p:sp>
          </p:grpSp>
          <p:grpSp>
            <p:nvGrpSpPr>
              <p:cNvPr id="8247" name="Group 40"/>
              <p:cNvGrpSpPr>
                <a:grpSpLocks/>
              </p:cNvGrpSpPr>
              <p:nvPr/>
            </p:nvGrpSpPr>
            <p:grpSpPr bwMode="auto">
              <a:xfrm>
                <a:off x="2112" y="3072"/>
                <a:ext cx="720" cy="384"/>
                <a:chOff x="1488" y="1715"/>
                <a:chExt cx="576" cy="384"/>
              </a:xfrm>
            </p:grpSpPr>
            <p:sp>
              <p:nvSpPr>
                <p:cNvPr id="8249" name="Oval 41"/>
                <p:cNvSpPr>
                  <a:spLocks noChangeArrowheads="1"/>
                </p:cNvSpPr>
                <p:nvPr/>
              </p:nvSpPr>
              <p:spPr bwMode="auto">
                <a:xfrm>
                  <a:off x="1488" y="1715"/>
                  <a:ext cx="576" cy="38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IN"/>
                </a:p>
              </p:txBody>
            </p:sp>
            <p:sp>
              <p:nvSpPr>
                <p:cNvPr id="8250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1529" y="1783"/>
                  <a:ext cx="4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/>
                    <a:t>Abort</a:t>
                  </a:r>
                </a:p>
              </p:txBody>
            </p:sp>
          </p:grpSp>
          <p:sp>
            <p:nvSpPr>
              <p:cNvPr id="8248" name="Text Box 43"/>
              <p:cNvSpPr txBox="1">
                <a:spLocks noChangeArrowheads="1"/>
              </p:cNvSpPr>
              <p:nvPr/>
            </p:nvSpPr>
            <p:spPr bwMode="auto">
              <a:xfrm>
                <a:off x="1488" y="1440"/>
                <a:ext cx="864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Coordinator</a:t>
                </a:r>
              </a:p>
            </p:txBody>
          </p:sp>
        </p:grpSp>
        <p:grpSp>
          <p:nvGrpSpPr>
            <p:cNvPr id="8230" name="Group 44"/>
            <p:cNvGrpSpPr>
              <a:grpSpLocks/>
            </p:cNvGrpSpPr>
            <p:nvPr/>
          </p:nvGrpSpPr>
          <p:grpSpPr bwMode="auto">
            <a:xfrm>
              <a:off x="3408" y="960"/>
              <a:ext cx="2016" cy="2016"/>
              <a:chOff x="3168" y="1440"/>
              <a:chExt cx="2016" cy="2016"/>
            </a:xfrm>
          </p:grpSpPr>
          <p:grpSp>
            <p:nvGrpSpPr>
              <p:cNvPr id="8231" name="Group 45"/>
              <p:cNvGrpSpPr>
                <a:grpSpLocks/>
              </p:cNvGrpSpPr>
              <p:nvPr/>
            </p:nvGrpSpPr>
            <p:grpSpPr bwMode="auto">
              <a:xfrm>
                <a:off x="3984" y="1632"/>
                <a:ext cx="576" cy="384"/>
                <a:chOff x="1488" y="1715"/>
                <a:chExt cx="576" cy="384"/>
              </a:xfrm>
            </p:grpSpPr>
            <p:sp>
              <p:nvSpPr>
                <p:cNvPr id="8242" name="Oval 46"/>
                <p:cNvSpPr>
                  <a:spLocks noChangeArrowheads="1"/>
                </p:cNvSpPr>
                <p:nvPr/>
              </p:nvSpPr>
              <p:spPr bwMode="auto">
                <a:xfrm>
                  <a:off x="1488" y="1715"/>
                  <a:ext cx="576" cy="38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IN"/>
                </a:p>
              </p:txBody>
            </p:sp>
            <p:sp>
              <p:nvSpPr>
                <p:cNvPr id="8243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1529" y="1783"/>
                  <a:ext cx="4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/>
                    <a:t>Init</a:t>
                  </a:r>
                </a:p>
              </p:txBody>
            </p:sp>
          </p:grpSp>
          <p:grpSp>
            <p:nvGrpSpPr>
              <p:cNvPr id="8232" name="Group 48"/>
              <p:cNvGrpSpPr>
                <a:grpSpLocks/>
              </p:cNvGrpSpPr>
              <p:nvPr/>
            </p:nvGrpSpPr>
            <p:grpSpPr bwMode="auto">
              <a:xfrm>
                <a:off x="3264" y="2352"/>
                <a:ext cx="576" cy="384"/>
                <a:chOff x="1488" y="1715"/>
                <a:chExt cx="576" cy="384"/>
              </a:xfrm>
            </p:grpSpPr>
            <p:sp>
              <p:nvSpPr>
                <p:cNvPr id="8240" name="Oval 49"/>
                <p:cNvSpPr>
                  <a:spLocks noChangeArrowheads="1"/>
                </p:cNvSpPr>
                <p:nvPr/>
              </p:nvSpPr>
              <p:spPr bwMode="auto">
                <a:xfrm>
                  <a:off x="1488" y="1715"/>
                  <a:ext cx="576" cy="38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IN"/>
                </a:p>
              </p:txBody>
            </p:sp>
            <p:sp>
              <p:nvSpPr>
                <p:cNvPr id="8241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1529" y="1783"/>
                  <a:ext cx="4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/>
                    <a:t>Wait</a:t>
                  </a:r>
                </a:p>
              </p:txBody>
            </p:sp>
          </p:grpSp>
          <p:grpSp>
            <p:nvGrpSpPr>
              <p:cNvPr id="8233" name="Group 51"/>
              <p:cNvGrpSpPr>
                <a:grpSpLocks/>
              </p:cNvGrpSpPr>
              <p:nvPr/>
            </p:nvGrpSpPr>
            <p:grpSpPr bwMode="auto">
              <a:xfrm>
                <a:off x="3168" y="3072"/>
                <a:ext cx="720" cy="384"/>
                <a:chOff x="1488" y="1715"/>
                <a:chExt cx="576" cy="384"/>
              </a:xfrm>
            </p:grpSpPr>
            <p:sp>
              <p:nvSpPr>
                <p:cNvPr id="8238" name="Oval 52"/>
                <p:cNvSpPr>
                  <a:spLocks noChangeArrowheads="1"/>
                </p:cNvSpPr>
                <p:nvPr/>
              </p:nvSpPr>
              <p:spPr bwMode="auto">
                <a:xfrm>
                  <a:off x="1488" y="1715"/>
                  <a:ext cx="576" cy="38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IN"/>
                </a:p>
              </p:txBody>
            </p:sp>
            <p:sp>
              <p:nvSpPr>
                <p:cNvPr id="8239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1529" y="1783"/>
                  <a:ext cx="4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/>
                    <a:t>Commit</a:t>
                  </a:r>
                </a:p>
              </p:txBody>
            </p:sp>
          </p:grpSp>
          <p:grpSp>
            <p:nvGrpSpPr>
              <p:cNvPr id="8234" name="Group 54"/>
              <p:cNvGrpSpPr>
                <a:grpSpLocks/>
              </p:cNvGrpSpPr>
              <p:nvPr/>
            </p:nvGrpSpPr>
            <p:grpSpPr bwMode="auto">
              <a:xfrm>
                <a:off x="4464" y="2352"/>
                <a:ext cx="720" cy="384"/>
                <a:chOff x="1488" y="1715"/>
                <a:chExt cx="576" cy="384"/>
              </a:xfrm>
            </p:grpSpPr>
            <p:sp>
              <p:nvSpPr>
                <p:cNvPr id="8236" name="Oval 55"/>
                <p:cNvSpPr>
                  <a:spLocks noChangeArrowheads="1"/>
                </p:cNvSpPr>
                <p:nvPr/>
              </p:nvSpPr>
              <p:spPr bwMode="auto">
                <a:xfrm>
                  <a:off x="1488" y="1715"/>
                  <a:ext cx="576" cy="38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IN"/>
                </a:p>
              </p:txBody>
            </p:sp>
            <p:sp>
              <p:nvSpPr>
                <p:cNvPr id="8237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1529" y="1783"/>
                  <a:ext cx="4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/>
                    <a:t>Abort</a:t>
                  </a:r>
                </a:p>
              </p:txBody>
            </p:sp>
          </p:grpSp>
          <p:sp>
            <p:nvSpPr>
              <p:cNvPr id="8235" name="Text Box 57"/>
              <p:cNvSpPr txBox="1">
                <a:spLocks noChangeArrowheads="1"/>
              </p:cNvSpPr>
              <p:nvPr/>
            </p:nvSpPr>
            <p:spPr bwMode="auto">
              <a:xfrm>
                <a:off x="3792" y="1440"/>
                <a:ext cx="864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Participant</a:t>
                </a:r>
              </a:p>
            </p:txBody>
          </p:sp>
        </p:grpSp>
      </p:grpSp>
      <p:grpSp>
        <p:nvGrpSpPr>
          <p:cNvPr id="20" name="Group 58"/>
          <p:cNvGrpSpPr>
            <a:grpSpLocks/>
          </p:cNvGrpSpPr>
          <p:nvPr/>
        </p:nvGrpSpPr>
        <p:grpSpPr bwMode="auto">
          <a:xfrm>
            <a:off x="3276600" y="3787552"/>
            <a:ext cx="6934200" cy="1828800"/>
            <a:chOff x="1104" y="2592"/>
            <a:chExt cx="4368" cy="1152"/>
          </a:xfrm>
        </p:grpSpPr>
        <p:grpSp>
          <p:nvGrpSpPr>
            <p:cNvPr id="8223" name="Group 59"/>
            <p:cNvGrpSpPr>
              <a:grpSpLocks/>
            </p:cNvGrpSpPr>
            <p:nvPr/>
          </p:nvGrpSpPr>
          <p:grpSpPr bwMode="auto">
            <a:xfrm>
              <a:off x="1104" y="3312"/>
              <a:ext cx="816" cy="432"/>
              <a:chOff x="1146" y="3168"/>
              <a:chExt cx="816" cy="432"/>
            </a:xfrm>
          </p:grpSpPr>
          <p:sp>
            <p:nvSpPr>
              <p:cNvPr id="8227" name="Oval 60"/>
              <p:cNvSpPr>
                <a:spLocks noChangeArrowheads="1"/>
              </p:cNvSpPr>
              <p:nvPr/>
            </p:nvSpPr>
            <p:spPr bwMode="auto">
              <a:xfrm>
                <a:off x="1152" y="3168"/>
                <a:ext cx="768" cy="432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IN"/>
              </a:p>
            </p:txBody>
          </p:sp>
          <p:sp>
            <p:nvSpPr>
              <p:cNvPr id="8228" name="Text Box 61"/>
              <p:cNvSpPr txBox="1">
                <a:spLocks noChangeArrowheads="1"/>
              </p:cNvSpPr>
              <p:nvPr/>
            </p:nvSpPr>
            <p:spPr bwMode="auto">
              <a:xfrm>
                <a:off x="1146" y="3264"/>
                <a:ext cx="81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/>
                  <a:t>Completed</a:t>
                </a:r>
              </a:p>
            </p:txBody>
          </p:sp>
        </p:grpSp>
        <p:grpSp>
          <p:nvGrpSpPr>
            <p:cNvPr id="8224" name="Group 62"/>
            <p:cNvGrpSpPr>
              <a:grpSpLocks/>
            </p:cNvGrpSpPr>
            <p:nvPr/>
          </p:nvGrpSpPr>
          <p:grpSpPr bwMode="auto">
            <a:xfrm>
              <a:off x="4656" y="2592"/>
              <a:ext cx="816" cy="432"/>
              <a:chOff x="1146" y="3168"/>
              <a:chExt cx="816" cy="432"/>
            </a:xfrm>
          </p:grpSpPr>
          <p:sp>
            <p:nvSpPr>
              <p:cNvPr id="8225" name="Oval 63"/>
              <p:cNvSpPr>
                <a:spLocks noChangeArrowheads="1"/>
              </p:cNvSpPr>
              <p:nvPr/>
            </p:nvSpPr>
            <p:spPr bwMode="auto">
              <a:xfrm>
                <a:off x="1152" y="3168"/>
                <a:ext cx="768" cy="432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IN"/>
              </a:p>
            </p:txBody>
          </p:sp>
          <p:sp>
            <p:nvSpPr>
              <p:cNvPr id="8226" name="Text Box 64"/>
              <p:cNvSpPr txBox="1">
                <a:spLocks noChangeArrowheads="1"/>
              </p:cNvSpPr>
              <p:nvPr/>
            </p:nvSpPr>
            <p:spPr bwMode="auto">
              <a:xfrm>
                <a:off x="1146" y="3264"/>
                <a:ext cx="81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/>
                  <a:t>Completed</a:t>
                </a:r>
              </a:p>
            </p:txBody>
          </p:sp>
        </p:grpSp>
      </p:grpSp>
      <p:grpSp>
        <p:nvGrpSpPr>
          <p:cNvPr id="23" name="Group 65"/>
          <p:cNvGrpSpPr>
            <a:grpSpLocks/>
          </p:cNvGrpSpPr>
          <p:nvPr/>
        </p:nvGrpSpPr>
        <p:grpSpPr bwMode="auto">
          <a:xfrm>
            <a:off x="7805738" y="4092352"/>
            <a:ext cx="1371600" cy="319088"/>
            <a:chOff x="3957" y="2784"/>
            <a:chExt cx="864" cy="201"/>
          </a:xfrm>
        </p:grpSpPr>
        <p:sp>
          <p:nvSpPr>
            <p:cNvPr id="8221" name="Text Box 66"/>
            <p:cNvSpPr txBox="1">
              <a:spLocks noChangeArrowheads="1"/>
            </p:cNvSpPr>
            <p:nvPr/>
          </p:nvSpPr>
          <p:spPr bwMode="auto">
            <a:xfrm>
              <a:off x="3957" y="2812"/>
              <a:ext cx="8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200" i="1">
                  <a:latin typeface="Times New Roman" panose="02020603050405020304" pitchFamily="18" charset="0"/>
                </a:rPr>
                <a:t>Send &lt;ACK T&gt;</a:t>
              </a:r>
            </a:p>
          </p:txBody>
        </p:sp>
        <p:sp>
          <p:nvSpPr>
            <p:cNvPr id="8222" name="Line 67"/>
            <p:cNvSpPr>
              <a:spLocks noChangeShapeType="1"/>
            </p:cNvSpPr>
            <p:nvPr/>
          </p:nvSpPr>
          <p:spPr bwMode="auto">
            <a:xfrm>
              <a:off x="4128" y="27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" name="Group 68"/>
          <p:cNvGrpSpPr>
            <a:grpSpLocks/>
          </p:cNvGrpSpPr>
          <p:nvPr/>
        </p:nvGrpSpPr>
        <p:grpSpPr bwMode="auto">
          <a:xfrm>
            <a:off x="9067800" y="3254152"/>
            <a:ext cx="1371600" cy="533400"/>
            <a:chOff x="4752" y="2256"/>
            <a:chExt cx="864" cy="336"/>
          </a:xfrm>
        </p:grpSpPr>
        <p:sp>
          <p:nvSpPr>
            <p:cNvPr id="8219" name="Text Box 69"/>
            <p:cNvSpPr txBox="1">
              <a:spLocks noChangeArrowheads="1"/>
            </p:cNvSpPr>
            <p:nvPr/>
          </p:nvSpPr>
          <p:spPr bwMode="auto">
            <a:xfrm>
              <a:off x="4752" y="2323"/>
              <a:ext cx="8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200" i="1">
                  <a:latin typeface="Times New Roman" panose="02020603050405020304" pitchFamily="18" charset="0"/>
                </a:rPr>
                <a:t>Send &lt;ACK T&gt;</a:t>
              </a:r>
            </a:p>
          </p:txBody>
        </p:sp>
        <p:sp>
          <p:nvSpPr>
            <p:cNvPr id="8220" name="Line 70"/>
            <p:cNvSpPr>
              <a:spLocks noChangeShapeType="1"/>
            </p:cNvSpPr>
            <p:nvPr/>
          </p:nvSpPr>
          <p:spPr bwMode="auto">
            <a:xfrm>
              <a:off x="5088" y="2256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71"/>
          <p:cNvGrpSpPr>
            <a:grpSpLocks/>
          </p:cNvGrpSpPr>
          <p:nvPr/>
        </p:nvGrpSpPr>
        <p:grpSpPr bwMode="auto">
          <a:xfrm>
            <a:off x="2486025" y="4397152"/>
            <a:ext cx="1371600" cy="533400"/>
            <a:chOff x="606" y="2976"/>
            <a:chExt cx="864" cy="336"/>
          </a:xfrm>
        </p:grpSpPr>
        <p:sp>
          <p:nvSpPr>
            <p:cNvPr id="8217" name="Line 72"/>
            <p:cNvSpPr>
              <a:spLocks noChangeShapeType="1"/>
            </p:cNvSpPr>
            <p:nvPr/>
          </p:nvSpPr>
          <p:spPr bwMode="auto">
            <a:xfrm>
              <a:off x="1056" y="2976"/>
              <a:ext cx="28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18" name="Text Box 73"/>
            <p:cNvSpPr txBox="1">
              <a:spLocks noChangeArrowheads="1"/>
            </p:cNvSpPr>
            <p:nvPr/>
          </p:nvSpPr>
          <p:spPr bwMode="auto">
            <a:xfrm>
              <a:off x="606" y="3050"/>
              <a:ext cx="8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200" i="1">
                  <a:latin typeface="Times New Roman" panose="02020603050405020304" pitchFamily="18" charset="0"/>
                </a:rPr>
                <a:t>Receive &lt;ACK T&gt;</a:t>
              </a:r>
            </a:p>
          </p:txBody>
        </p:sp>
      </p:grpSp>
      <p:grpSp>
        <p:nvGrpSpPr>
          <p:cNvPr id="26" name="Group 74"/>
          <p:cNvGrpSpPr>
            <a:grpSpLocks/>
          </p:cNvGrpSpPr>
          <p:nvPr/>
        </p:nvGrpSpPr>
        <p:grpSpPr bwMode="auto">
          <a:xfrm>
            <a:off x="3962400" y="4397152"/>
            <a:ext cx="1371600" cy="533400"/>
            <a:chOff x="1536" y="2976"/>
            <a:chExt cx="864" cy="336"/>
          </a:xfrm>
        </p:grpSpPr>
        <p:sp>
          <p:nvSpPr>
            <p:cNvPr id="8215" name="Line 75"/>
            <p:cNvSpPr>
              <a:spLocks noChangeShapeType="1"/>
            </p:cNvSpPr>
            <p:nvPr/>
          </p:nvSpPr>
          <p:spPr bwMode="auto">
            <a:xfrm flipH="1">
              <a:off x="1632" y="2976"/>
              <a:ext cx="38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16" name="Text Box 76"/>
            <p:cNvSpPr txBox="1">
              <a:spLocks noChangeArrowheads="1"/>
            </p:cNvSpPr>
            <p:nvPr/>
          </p:nvSpPr>
          <p:spPr bwMode="auto">
            <a:xfrm>
              <a:off x="1536" y="3038"/>
              <a:ext cx="8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200" i="1">
                  <a:latin typeface="Times New Roman" panose="02020603050405020304" pitchFamily="18" charset="0"/>
                </a:rPr>
                <a:t>Receive &lt;ACK T&gt;</a:t>
              </a:r>
            </a:p>
          </p:txBody>
        </p:sp>
      </p:grpSp>
      <p:sp>
        <p:nvSpPr>
          <p:cNvPr id="84045" name="Text Box 77"/>
          <p:cNvSpPr txBox="1">
            <a:spLocks noChangeArrowheads="1"/>
          </p:cNvSpPr>
          <p:nvPr/>
        </p:nvSpPr>
        <p:spPr bwMode="auto">
          <a:xfrm>
            <a:off x="1828800" y="1272953"/>
            <a:ext cx="1295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i="1">
                <a:solidFill>
                  <a:srgbClr val="3333FF"/>
                </a:solidFill>
              </a:rPr>
              <a:t>Phase 1 Completed</a:t>
            </a:r>
          </a:p>
        </p:txBody>
      </p:sp>
      <p:sp>
        <p:nvSpPr>
          <p:cNvPr id="84046" name="Text Box 78"/>
          <p:cNvSpPr txBox="1">
            <a:spLocks noChangeArrowheads="1"/>
          </p:cNvSpPr>
          <p:nvPr/>
        </p:nvSpPr>
        <p:spPr bwMode="auto">
          <a:xfrm>
            <a:off x="1828800" y="1272953"/>
            <a:ext cx="1295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i="1">
                <a:solidFill>
                  <a:srgbClr val="3333FF"/>
                </a:solidFill>
              </a:rPr>
              <a:t>Phase 2 Completed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itle 1"/>
          <p:cNvSpPr txBox="1">
            <a:spLocks/>
          </p:cNvSpPr>
          <p:nvPr/>
        </p:nvSpPr>
        <p:spPr>
          <a:xfrm>
            <a:off x="152400" y="-596721"/>
            <a:ext cx="11056168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Two Phase Commit (2PC) </a:t>
            </a:r>
            <a:r>
              <a:rPr lang="en-US" sz="3600" dirty="0" smtClean="0"/>
              <a:t>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557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83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83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83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83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839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839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839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3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3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39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839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6" dur="500" fill="hold"/>
                                        <p:tgtEl>
                                          <p:spTgt spid="840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839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839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83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83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83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83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70" dur="500" fill="hold"/>
                                        <p:tgtEl>
                                          <p:spTgt spid="840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2" grpId="0" animBg="1"/>
      <p:bldP spid="83976" grpId="0"/>
      <p:bldP spid="83989" grpId="0"/>
      <p:bldP spid="83990" grpId="0"/>
      <p:bldP spid="84045" grpId="0"/>
      <p:bldP spid="84045" grpId="1"/>
      <p:bldP spid="84045" grpId="2"/>
      <p:bldP spid="84046" grpId="0"/>
      <p:bldP spid="8404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3352" y="980728"/>
            <a:ext cx="11809312" cy="53340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dirty="0"/>
              <a:t>When a participating site, </a:t>
            </a:r>
            <a:r>
              <a:rPr lang="en-US" dirty="0" err="1">
                <a:solidFill>
                  <a:srgbClr val="FF0000"/>
                </a:solidFill>
              </a:rPr>
              <a:t>S</a:t>
            </a:r>
            <a:r>
              <a:rPr lang="en-US" baseline="-25000" dirty="0" err="1">
                <a:solidFill>
                  <a:srgbClr val="FF0000"/>
                </a:solidFill>
              </a:rPr>
              <a:t>p</a:t>
            </a:r>
            <a:r>
              <a:rPr lang="en-US" dirty="0"/>
              <a:t> recovers from a failure, it examines its log to determine the fate of those transactions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dirty="0"/>
              <a:t> that were in the midst of execution during failure.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/>
              <a:t>If the log contains </a:t>
            </a:r>
            <a:r>
              <a:rPr lang="en-US" sz="2000" dirty="0">
                <a:solidFill>
                  <a:srgbClr val="3333FF"/>
                </a:solidFill>
              </a:rPr>
              <a:t>&lt;Commit T&gt;</a:t>
            </a:r>
            <a:r>
              <a:rPr lang="en-US" sz="2000" dirty="0"/>
              <a:t> record, the site executes </a:t>
            </a:r>
            <a:r>
              <a:rPr lang="en-US" sz="2000" dirty="0">
                <a:solidFill>
                  <a:srgbClr val="00CC00"/>
                </a:solidFill>
              </a:rPr>
              <a:t>Redo(T)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/>
              <a:t>If the log contains </a:t>
            </a:r>
            <a:r>
              <a:rPr lang="en-US" sz="2000" dirty="0">
                <a:solidFill>
                  <a:srgbClr val="3333FF"/>
                </a:solidFill>
              </a:rPr>
              <a:t>&lt;Abort T&gt;</a:t>
            </a:r>
            <a:r>
              <a:rPr lang="en-US" sz="2000" dirty="0"/>
              <a:t> record, the site executes </a:t>
            </a:r>
            <a:r>
              <a:rPr lang="en-US" sz="2000" dirty="0">
                <a:solidFill>
                  <a:srgbClr val="00CC00"/>
                </a:solidFill>
              </a:rPr>
              <a:t>Undo(T)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/>
              <a:t>If the log contains </a:t>
            </a:r>
            <a:r>
              <a:rPr lang="en-US" sz="2000" dirty="0">
                <a:solidFill>
                  <a:srgbClr val="3333FF"/>
                </a:solidFill>
              </a:rPr>
              <a:t>&lt;Ready T&gt;</a:t>
            </a:r>
            <a:r>
              <a:rPr lang="en-US" sz="2000" dirty="0"/>
              <a:t> record, the site must consult </a:t>
            </a:r>
            <a:r>
              <a:rPr lang="en-US" sz="2000" dirty="0" err="1">
                <a:solidFill>
                  <a:srgbClr val="FF0000"/>
                </a:solidFill>
              </a:rPr>
              <a:t>C</a:t>
            </a:r>
            <a:r>
              <a:rPr lang="en-US" sz="2000" baseline="-25000" dirty="0" err="1">
                <a:solidFill>
                  <a:srgbClr val="FF0000"/>
                </a:solidFill>
              </a:rPr>
              <a:t>i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/>
              <a:t>to determine the fate of </a:t>
            </a:r>
            <a:r>
              <a:rPr lang="en-US" sz="2000" dirty="0">
                <a:solidFill>
                  <a:srgbClr val="FF0000"/>
                </a:solidFill>
              </a:rPr>
              <a:t>T</a:t>
            </a:r>
            <a:r>
              <a:rPr lang="en-US" sz="2000" dirty="0"/>
              <a:t>:</a:t>
            </a:r>
          </a:p>
          <a:p>
            <a:pPr lvl="2" eaLnBrk="1" hangingPunct="1">
              <a:buClr>
                <a:schemeClr val="tx1"/>
              </a:buClr>
              <a:buFontTx/>
              <a:buChar char="o"/>
            </a:pPr>
            <a:r>
              <a:rPr lang="en-US" sz="2000" dirty="0"/>
              <a:t>If </a:t>
            </a:r>
            <a:r>
              <a:rPr lang="en-US" sz="2000" dirty="0" err="1">
                <a:solidFill>
                  <a:srgbClr val="FF0000"/>
                </a:solidFill>
              </a:rPr>
              <a:t>C</a:t>
            </a:r>
            <a:r>
              <a:rPr lang="en-US" sz="2000" baseline="-25000" dirty="0" err="1">
                <a:solidFill>
                  <a:srgbClr val="FF0000"/>
                </a:solidFill>
              </a:rPr>
              <a:t>i</a:t>
            </a:r>
            <a:r>
              <a:rPr lang="en-US" sz="2000" dirty="0"/>
              <a:t> is Up, it notifies </a:t>
            </a:r>
            <a:r>
              <a:rPr lang="en-US" sz="2000" dirty="0" err="1">
                <a:solidFill>
                  <a:srgbClr val="FF0000"/>
                </a:solidFill>
              </a:rPr>
              <a:t>S</a:t>
            </a:r>
            <a:r>
              <a:rPr lang="en-US" sz="2000" baseline="-25000" dirty="0" err="1">
                <a:solidFill>
                  <a:srgbClr val="FF0000"/>
                </a:solidFill>
              </a:rPr>
              <a:t>p</a:t>
            </a:r>
            <a:r>
              <a:rPr lang="en-US" sz="2000" dirty="0"/>
              <a:t> whether </a:t>
            </a:r>
            <a:r>
              <a:rPr lang="en-US" sz="2000" dirty="0">
                <a:solidFill>
                  <a:schemeClr val="accent2"/>
                </a:solidFill>
              </a:rPr>
              <a:t>T</a:t>
            </a:r>
            <a:r>
              <a:rPr lang="en-US" sz="2000" dirty="0"/>
              <a:t> has committed or aborted. Accordingly </a:t>
            </a:r>
            <a:r>
              <a:rPr lang="en-US" sz="2000" dirty="0" err="1">
                <a:solidFill>
                  <a:srgbClr val="FF0000"/>
                </a:solidFill>
              </a:rPr>
              <a:t>S</a:t>
            </a:r>
            <a:r>
              <a:rPr lang="en-US" sz="2000" baseline="-25000" dirty="0" err="1">
                <a:solidFill>
                  <a:srgbClr val="FF0000"/>
                </a:solidFill>
              </a:rPr>
              <a:t>p</a:t>
            </a:r>
            <a:r>
              <a:rPr lang="en-US" sz="2000" dirty="0"/>
              <a:t> executes </a:t>
            </a:r>
            <a:r>
              <a:rPr lang="en-US" sz="2000" dirty="0">
                <a:solidFill>
                  <a:srgbClr val="00CC00"/>
                </a:solidFill>
              </a:rPr>
              <a:t>Redo(T)</a:t>
            </a:r>
            <a:r>
              <a:rPr lang="en-US" sz="2000" dirty="0"/>
              <a:t> or </a:t>
            </a:r>
            <a:r>
              <a:rPr lang="en-US" sz="2000" dirty="0">
                <a:solidFill>
                  <a:srgbClr val="00CC00"/>
                </a:solidFill>
              </a:rPr>
              <a:t>Undo(T)</a:t>
            </a:r>
          </a:p>
          <a:p>
            <a:pPr lvl="2" eaLnBrk="1" hangingPunct="1">
              <a:buClr>
                <a:schemeClr val="tx1"/>
              </a:buClr>
              <a:buFontTx/>
              <a:buChar char="o"/>
            </a:pPr>
            <a:r>
              <a:rPr lang="en-US" sz="2000" dirty="0"/>
              <a:t>If </a:t>
            </a:r>
            <a:r>
              <a:rPr lang="en-US" sz="2000" dirty="0" err="1">
                <a:solidFill>
                  <a:srgbClr val="FF0000"/>
                </a:solidFill>
              </a:rPr>
              <a:t>C</a:t>
            </a:r>
            <a:r>
              <a:rPr lang="en-US" sz="2000" baseline="-25000" dirty="0" err="1">
                <a:solidFill>
                  <a:srgbClr val="FF0000"/>
                </a:solidFill>
              </a:rPr>
              <a:t>i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is Down, </a:t>
            </a:r>
            <a:r>
              <a:rPr lang="en-US" sz="2000" dirty="0" err="1">
                <a:solidFill>
                  <a:srgbClr val="FF0000"/>
                </a:solidFill>
              </a:rPr>
              <a:t>S</a:t>
            </a:r>
            <a:r>
              <a:rPr lang="en-US" sz="2000" baseline="-25000" dirty="0" err="1">
                <a:solidFill>
                  <a:srgbClr val="FF0000"/>
                </a:solidFill>
              </a:rPr>
              <a:t>p</a:t>
            </a:r>
            <a:r>
              <a:rPr lang="en-US" sz="2000" baseline="-25000" dirty="0"/>
              <a:t> </a:t>
            </a:r>
            <a:r>
              <a:rPr lang="en-US" sz="2000" dirty="0"/>
              <a:t>tries to know the fate of </a:t>
            </a:r>
            <a:r>
              <a:rPr lang="en-US" sz="2000" dirty="0">
                <a:solidFill>
                  <a:srgbClr val="FF0000"/>
                </a:solidFill>
              </a:rPr>
              <a:t>T </a:t>
            </a:r>
            <a:r>
              <a:rPr lang="en-US" sz="2000" dirty="0"/>
              <a:t>from other sites by sending a </a:t>
            </a:r>
            <a:r>
              <a:rPr lang="en-US" sz="2000" dirty="0">
                <a:solidFill>
                  <a:srgbClr val="3333FF"/>
                </a:solidFill>
              </a:rPr>
              <a:t>&lt;</a:t>
            </a:r>
            <a:r>
              <a:rPr lang="en-US" sz="2000" dirty="0" err="1">
                <a:solidFill>
                  <a:srgbClr val="3333FF"/>
                </a:solidFill>
              </a:rPr>
              <a:t>QueryStatus</a:t>
            </a:r>
            <a:r>
              <a:rPr lang="en-US" sz="2000" dirty="0">
                <a:solidFill>
                  <a:srgbClr val="3333FF"/>
                </a:solidFill>
              </a:rPr>
              <a:t> T&gt;</a:t>
            </a:r>
            <a:r>
              <a:rPr lang="en-US" sz="2000" dirty="0"/>
              <a:t> message to all the sites.</a:t>
            </a:r>
          </a:p>
          <a:p>
            <a:pPr lvl="3" eaLnBrk="1" hangingPunct="1"/>
            <a:r>
              <a:rPr lang="en-US" sz="2000" dirty="0"/>
              <a:t>On receiving such a message, a Site consults its log to find out whether </a:t>
            </a:r>
            <a:r>
              <a:rPr lang="en-US" sz="2000" dirty="0">
                <a:solidFill>
                  <a:schemeClr val="accent2"/>
                </a:solidFill>
              </a:rPr>
              <a:t>T</a:t>
            </a:r>
            <a:r>
              <a:rPr lang="en-US" sz="2000" dirty="0"/>
              <a:t> has been committed or aborted. The site notifies </a:t>
            </a:r>
            <a:r>
              <a:rPr lang="en-US" sz="2000" dirty="0" err="1">
                <a:solidFill>
                  <a:srgbClr val="FF0000"/>
                </a:solidFill>
              </a:rPr>
              <a:t>S</a:t>
            </a:r>
            <a:r>
              <a:rPr lang="en-US" sz="2000" baseline="-25000" dirty="0" err="1">
                <a:solidFill>
                  <a:srgbClr val="FF0000"/>
                </a:solidFill>
              </a:rPr>
              <a:t>p</a:t>
            </a:r>
            <a:r>
              <a:rPr lang="en-US" sz="2000" baseline="-25000" dirty="0"/>
              <a:t> </a:t>
            </a:r>
            <a:r>
              <a:rPr lang="en-US" sz="2000" dirty="0"/>
              <a:t>accordingly.</a:t>
            </a:r>
          </a:p>
          <a:p>
            <a:pPr lvl="3" eaLnBrk="1" hangingPunct="1"/>
            <a:r>
              <a:rPr lang="en-US" sz="2000" dirty="0"/>
              <a:t>If no site has appropriate information at that time, </a:t>
            </a:r>
            <a:r>
              <a:rPr lang="en-US" sz="2000" dirty="0" err="1">
                <a:solidFill>
                  <a:srgbClr val="FF0000"/>
                </a:solidFill>
              </a:rPr>
              <a:t>S</a:t>
            </a:r>
            <a:r>
              <a:rPr lang="en-US" sz="2000" baseline="-25000" dirty="0" err="1">
                <a:solidFill>
                  <a:srgbClr val="FF0000"/>
                </a:solidFill>
              </a:rPr>
              <a:t>p</a:t>
            </a:r>
            <a:r>
              <a:rPr lang="en-US" sz="2000" dirty="0"/>
              <a:t> must periodically resent the </a:t>
            </a:r>
            <a:r>
              <a:rPr lang="en-US" sz="2000" dirty="0">
                <a:solidFill>
                  <a:srgbClr val="3333FF"/>
                </a:solidFill>
              </a:rPr>
              <a:t>&lt;</a:t>
            </a:r>
            <a:r>
              <a:rPr lang="en-US" sz="2000" dirty="0" err="1">
                <a:solidFill>
                  <a:srgbClr val="3333FF"/>
                </a:solidFill>
              </a:rPr>
              <a:t>QueryStatus</a:t>
            </a:r>
            <a:r>
              <a:rPr lang="en-US" sz="2000" dirty="0">
                <a:solidFill>
                  <a:srgbClr val="3333FF"/>
                </a:solidFill>
              </a:rPr>
              <a:t> T&gt;</a:t>
            </a:r>
            <a:r>
              <a:rPr lang="en-US" sz="2000" dirty="0"/>
              <a:t> message to other sites until it gets the desired information.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/>
              <a:t>If the log contains no control information (</a:t>
            </a:r>
            <a:r>
              <a:rPr lang="en-US" sz="2000" dirty="0">
                <a:solidFill>
                  <a:srgbClr val="3333FF"/>
                </a:solidFill>
              </a:rPr>
              <a:t>&lt;Commit T&gt;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3333FF"/>
                </a:solidFill>
              </a:rPr>
              <a:t>&lt;Abort T&gt;</a:t>
            </a:r>
            <a:r>
              <a:rPr lang="en-US" sz="2000" dirty="0"/>
              <a:t> or </a:t>
            </a:r>
            <a:r>
              <a:rPr lang="en-US" sz="2000" dirty="0">
                <a:solidFill>
                  <a:srgbClr val="3333FF"/>
                </a:solidFill>
              </a:rPr>
              <a:t>&lt;Ready T&gt;</a:t>
            </a:r>
            <a:r>
              <a:rPr lang="en-US" sz="2000" dirty="0"/>
              <a:t>), then </a:t>
            </a:r>
            <a:r>
              <a:rPr lang="en-US" sz="2000" dirty="0" err="1">
                <a:solidFill>
                  <a:srgbClr val="FF0000"/>
                </a:solidFill>
              </a:rPr>
              <a:t>S</a:t>
            </a:r>
            <a:r>
              <a:rPr lang="en-US" sz="2000" baseline="-25000" dirty="0" err="1">
                <a:solidFill>
                  <a:srgbClr val="FF0000"/>
                </a:solidFill>
              </a:rPr>
              <a:t>p</a:t>
            </a:r>
            <a:r>
              <a:rPr lang="en-US" sz="2000" dirty="0"/>
              <a:t> failed before responding to </a:t>
            </a:r>
            <a:r>
              <a:rPr lang="en-US" sz="2000" dirty="0">
                <a:solidFill>
                  <a:srgbClr val="3333FF"/>
                </a:solidFill>
              </a:rPr>
              <a:t>&lt;Prepare T&gt;</a:t>
            </a:r>
            <a:r>
              <a:rPr lang="en-US" sz="2000" dirty="0"/>
              <a:t> message. So </a:t>
            </a:r>
            <a:r>
              <a:rPr lang="en-US" sz="2000" dirty="0" err="1">
                <a:solidFill>
                  <a:srgbClr val="FF0000"/>
                </a:solidFill>
              </a:rPr>
              <a:t>C</a:t>
            </a:r>
            <a:r>
              <a:rPr lang="en-US" sz="2000" baseline="-25000" dirty="0" err="1">
                <a:solidFill>
                  <a:srgbClr val="FF0000"/>
                </a:solidFill>
              </a:rPr>
              <a:t>i</a:t>
            </a:r>
            <a:r>
              <a:rPr lang="en-US" sz="2000" baseline="-25000" dirty="0">
                <a:solidFill>
                  <a:schemeClr val="accent2"/>
                </a:solidFill>
              </a:rPr>
              <a:t> </a:t>
            </a:r>
            <a:r>
              <a:rPr lang="en-US" sz="2000" dirty="0"/>
              <a:t>must have aborted </a:t>
            </a:r>
            <a:r>
              <a:rPr lang="en-US" sz="2000" dirty="0">
                <a:solidFill>
                  <a:srgbClr val="FF0000"/>
                </a:solidFill>
              </a:rPr>
              <a:t>T</a:t>
            </a:r>
            <a:r>
              <a:rPr lang="en-US" sz="2000" dirty="0"/>
              <a:t>. Hence </a:t>
            </a:r>
            <a:r>
              <a:rPr lang="en-US" sz="2000" dirty="0" err="1">
                <a:solidFill>
                  <a:srgbClr val="FF0000"/>
                </a:solidFill>
              </a:rPr>
              <a:t>S</a:t>
            </a:r>
            <a:r>
              <a:rPr lang="en-US" sz="2000" baseline="-25000" dirty="0" err="1">
                <a:solidFill>
                  <a:srgbClr val="FF0000"/>
                </a:solidFill>
              </a:rPr>
              <a:t>p</a:t>
            </a:r>
            <a:r>
              <a:rPr lang="en-US" sz="2000" dirty="0"/>
              <a:t> must execute </a:t>
            </a:r>
            <a:r>
              <a:rPr lang="en-US" sz="2000" dirty="0">
                <a:solidFill>
                  <a:srgbClr val="00CC00"/>
                </a:solidFill>
              </a:rPr>
              <a:t>Undo(T)</a:t>
            </a:r>
            <a:r>
              <a:rPr lang="en-US" sz="2000" dirty="0"/>
              <a:t>.  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500" dirty="0"/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52400" y="-596721"/>
            <a:ext cx="11056168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Recovery : Failure of Participating Site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718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84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84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1344" y="975320"/>
            <a:ext cx="11809312" cy="5334000"/>
          </a:xfrm>
        </p:spPr>
        <p:txBody>
          <a:bodyPr>
            <a:noAutofit/>
          </a:bodyPr>
          <a:lstStyle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dirty="0"/>
              <a:t>If the Coordinator fails in the midst of execution of a transaction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dirty="0"/>
              <a:t>, then the participating site must decide the fate of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dirty="0" smtClean="0"/>
              <a:t>.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</a:pPr>
            <a:endParaRPr lang="en-US" sz="500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dirty="0" smtClean="0"/>
              <a:t>If </a:t>
            </a:r>
            <a:r>
              <a:rPr lang="en-US" dirty="0"/>
              <a:t>an active site contains </a:t>
            </a:r>
            <a:r>
              <a:rPr lang="en-US" dirty="0">
                <a:solidFill>
                  <a:srgbClr val="3333FF"/>
                </a:solidFill>
              </a:rPr>
              <a:t>&lt;Commit T&gt;</a:t>
            </a:r>
            <a:r>
              <a:rPr lang="en-US" dirty="0"/>
              <a:t> record in its log, then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dirty="0"/>
              <a:t> must be committed. The </a:t>
            </a:r>
            <a:r>
              <a:rPr lang="en-US" dirty="0">
                <a:solidFill>
                  <a:srgbClr val="3333FF"/>
                </a:solidFill>
              </a:rPr>
              <a:t>&lt;Commit T&gt;</a:t>
            </a:r>
            <a:r>
              <a:rPr lang="en-US" dirty="0"/>
              <a:t> message is then periodically sent to all participating sites until an </a:t>
            </a:r>
            <a:r>
              <a:rPr lang="en-US" dirty="0">
                <a:solidFill>
                  <a:srgbClr val="3333FF"/>
                </a:solidFill>
              </a:rPr>
              <a:t>&lt;ACK T&gt;</a:t>
            </a:r>
            <a:r>
              <a:rPr lang="en-US" dirty="0"/>
              <a:t> message is received from all of them. The coordinator then writes </a:t>
            </a:r>
            <a:r>
              <a:rPr lang="en-US" dirty="0">
                <a:solidFill>
                  <a:srgbClr val="3333FF"/>
                </a:solidFill>
              </a:rPr>
              <a:t>&lt;Complete T&gt;</a:t>
            </a:r>
            <a:r>
              <a:rPr lang="en-US" dirty="0"/>
              <a:t> record to its stable log</a:t>
            </a:r>
            <a:r>
              <a:rPr lang="en-US" dirty="0" smtClean="0"/>
              <a:t>.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</a:pPr>
            <a:endParaRPr lang="en-US" sz="500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dirty="0" smtClean="0"/>
              <a:t>If </a:t>
            </a:r>
            <a:r>
              <a:rPr lang="en-US" dirty="0"/>
              <a:t>an active site contains </a:t>
            </a:r>
            <a:r>
              <a:rPr lang="en-US" dirty="0">
                <a:solidFill>
                  <a:srgbClr val="3333FF"/>
                </a:solidFill>
              </a:rPr>
              <a:t>&lt;Abort T&gt;</a:t>
            </a:r>
            <a:r>
              <a:rPr lang="en-US" dirty="0"/>
              <a:t> record in its log, then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dirty="0"/>
              <a:t> must be aborted. The </a:t>
            </a:r>
            <a:r>
              <a:rPr lang="en-US" dirty="0">
                <a:solidFill>
                  <a:srgbClr val="3333FF"/>
                </a:solidFill>
              </a:rPr>
              <a:t>&lt;abort T&gt;</a:t>
            </a:r>
            <a:r>
              <a:rPr lang="en-US" dirty="0"/>
              <a:t> message is then periodically sent to all participating sites until an </a:t>
            </a:r>
            <a:r>
              <a:rPr lang="en-US" dirty="0">
                <a:solidFill>
                  <a:srgbClr val="3333FF"/>
                </a:solidFill>
              </a:rPr>
              <a:t>&lt;ACK T&gt;</a:t>
            </a:r>
            <a:r>
              <a:rPr lang="en-US" dirty="0"/>
              <a:t> message is received from all of them. The coordinator then writes </a:t>
            </a:r>
            <a:r>
              <a:rPr lang="en-US" dirty="0">
                <a:solidFill>
                  <a:srgbClr val="3333FF"/>
                </a:solidFill>
              </a:rPr>
              <a:t>&lt;Complete T&gt;</a:t>
            </a:r>
            <a:r>
              <a:rPr lang="en-US" dirty="0"/>
              <a:t> record to its stable log</a:t>
            </a:r>
            <a:r>
              <a:rPr lang="en-US" dirty="0" smtClean="0"/>
              <a:t>.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</a:pPr>
            <a:endParaRPr lang="en-US" sz="500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dirty="0" smtClean="0"/>
              <a:t>If </a:t>
            </a:r>
            <a:r>
              <a:rPr lang="en-US" dirty="0"/>
              <a:t>some active site doesn’t contain a </a:t>
            </a:r>
            <a:r>
              <a:rPr lang="en-US" dirty="0">
                <a:solidFill>
                  <a:srgbClr val="3333FF"/>
                </a:solidFill>
              </a:rPr>
              <a:t>&lt;Ready T&gt;</a:t>
            </a:r>
            <a:r>
              <a:rPr lang="en-US" dirty="0"/>
              <a:t> record in its log, then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dirty="0"/>
              <a:t> should be aborted</a:t>
            </a:r>
            <a:r>
              <a:rPr lang="en-US" dirty="0" smtClean="0"/>
              <a:t>.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</a:pPr>
            <a:endParaRPr lang="en-US" sz="500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dirty="0" smtClean="0"/>
              <a:t>Otherwise </a:t>
            </a:r>
            <a:r>
              <a:rPr lang="en-US" dirty="0"/>
              <a:t>all active sites must have a </a:t>
            </a:r>
            <a:r>
              <a:rPr lang="en-US" dirty="0">
                <a:solidFill>
                  <a:srgbClr val="3333FF"/>
                </a:solidFill>
              </a:rPr>
              <a:t>&lt;Ready T&gt;</a:t>
            </a:r>
            <a:r>
              <a:rPr lang="en-US" dirty="0"/>
              <a:t> record in their log. In such a situation, all participating sites wait for the decision from the coordinator.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52400" y="-596721"/>
            <a:ext cx="11056168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Recovery : Failure of Coordinator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135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6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60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60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60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Event Ordering using </a:t>
            </a:r>
            <a:r>
              <a:rPr lang="en-US" dirty="0" err="1" smtClean="0"/>
              <a:t>Lamport’s</a:t>
            </a:r>
            <a:r>
              <a:rPr lang="en-US" dirty="0" smtClean="0"/>
              <a:t> Logical Clock</a:t>
            </a:r>
            <a:endParaRPr lang="en-US" dirty="0"/>
          </a:p>
        </p:txBody>
      </p:sp>
      <p:pic>
        <p:nvPicPr>
          <p:cNvPr id="1026" name="Picture 2" descr="An example of Lamport's logical clock | Download Scientific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21" y="3140968"/>
            <a:ext cx="4968552" cy="1873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82205" y="989389"/>
            <a:ext cx="77768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latin typeface="MinionPro-It"/>
              </a:rPr>
              <a:t>LC1</a:t>
            </a:r>
            <a:r>
              <a:rPr lang="en-US" dirty="0">
                <a:latin typeface="MinionPro-Regular"/>
              </a:rPr>
              <a:t>: Each time a local event takes place, increment </a:t>
            </a:r>
            <a:r>
              <a:rPr lang="en-US" i="1" dirty="0">
                <a:latin typeface="MinionPro-It"/>
              </a:rPr>
              <a:t>LC </a:t>
            </a:r>
            <a:r>
              <a:rPr lang="en-US" dirty="0">
                <a:latin typeface="MinionPro-Regular"/>
              </a:rPr>
              <a:t>by 1.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82205" y="1586110"/>
            <a:ext cx="94330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latin typeface="MinionPro-It"/>
              </a:rPr>
              <a:t>LC2</a:t>
            </a:r>
            <a:r>
              <a:rPr lang="en-US" dirty="0">
                <a:latin typeface="MinionPro-Regular"/>
              </a:rPr>
              <a:t>: When sending a message, append the value of </a:t>
            </a:r>
            <a:r>
              <a:rPr lang="en-US" i="1" dirty="0">
                <a:latin typeface="MinionPro-It"/>
              </a:rPr>
              <a:t>LC </a:t>
            </a:r>
            <a:r>
              <a:rPr lang="en-US" dirty="0">
                <a:latin typeface="MinionPro-Regular"/>
              </a:rPr>
              <a:t>to the message.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197028" y="2155306"/>
            <a:ext cx="115957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latin typeface="MinionPro-It"/>
              </a:rPr>
              <a:t>LC3</a:t>
            </a:r>
            <a:r>
              <a:rPr lang="en-US" dirty="0">
                <a:latin typeface="MinionPro-Regular"/>
              </a:rPr>
              <a:t>: When receiving a message, set the value of </a:t>
            </a:r>
            <a:r>
              <a:rPr lang="en-US" i="1" dirty="0">
                <a:latin typeface="MinionPro-It"/>
              </a:rPr>
              <a:t>LC </a:t>
            </a:r>
            <a:r>
              <a:rPr lang="en-US" dirty="0">
                <a:latin typeface="MinionPro-Regular"/>
              </a:rPr>
              <a:t>to 1+ max (</a:t>
            </a:r>
            <a:r>
              <a:rPr lang="en-US" i="1" dirty="0">
                <a:latin typeface="MinionPro-It"/>
              </a:rPr>
              <a:t>local LC</a:t>
            </a:r>
            <a:r>
              <a:rPr lang="en-US" dirty="0">
                <a:latin typeface="MinionPro-Regular"/>
              </a:rPr>
              <a:t>, </a:t>
            </a:r>
            <a:r>
              <a:rPr lang="en-US" i="1" dirty="0">
                <a:latin typeface="MinionPro-It"/>
              </a:rPr>
              <a:t>message LC</a:t>
            </a:r>
            <a:r>
              <a:rPr lang="en-US" dirty="0" smtClean="0">
                <a:latin typeface="MinionPro-Regular"/>
              </a:rPr>
              <a:t>)</a:t>
            </a:r>
            <a:r>
              <a:rPr lang="en-IN" dirty="0" smtClean="0">
                <a:latin typeface="MinionPro-Regular"/>
              </a:rPr>
              <a:t>.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240" y="5373216"/>
            <a:ext cx="4934639" cy="94310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519936" y="3501008"/>
            <a:ext cx="64807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</a:rPr>
              <a:t>Ordering of Events: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</a:rPr>
              <a:t>When </a:t>
            </a:r>
            <a:r>
              <a:rPr lang="en-US" dirty="0">
                <a:latin typeface="Times New Roman" panose="02020603050405020304" pitchFamily="18" charset="0"/>
              </a:rPr>
              <a:t>a process receives a message, it is put into a local queue, ordered by its </a:t>
            </a:r>
            <a:r>
              <a:rPr lang="en-US" dirty="0" smtClean="0">
                <a:latin typeface="Times New Roman" panose="02020603050405020304" pitchFamily="18" charset="0"/>
              </a:rPr>
              <a:t>LC value.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</a:rPr>
              <a:t>process then multicasts </a:t>
            </a:r>
            <a:r>
              <a:rPr lang="en-US" dirty="0" smtClean="0">
                <a:latin typeface="Times New Roman" panose="02020603050405020304" pitchFamily="18" charset="0"/>
              </a:rPr>
              <a:t>this information to other processes.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</a:rPr>
              <a:t>Other processes acknowledge it if they don’t have any event with lower LC value.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</a:rPr>
              <a:t>A </a:t>
            </a:r>
            <a:r>
              <a:rPr lang="en-US" dirty="0">
                <a:latin typeface="Times New Roman" panose="02020603050405020304" pitchFamily="18" charset="0"/>
              </a:rPr>
              <a:t>message that is at the head of the queue &amp; has been acknowledged by all other processes can be </a:t>
            </a:r>
            <a:r>
              <a:rPr lang="en-US" dirty="0" smtClean="0">
                <a:latin typeface="Times New Roman" panose="02020603050405020304" pitchFamily="18" charset="0"/>
              </a:rPr>
              <a:t>processed.</a:t>
            </a:r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86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Popular Distributed Consensus Algorithms 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07368" y="987977"/>
            <a:ext cx="111063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/>
              <a:t>1. </a:t>
            </a:r>
            <a:r>
              <a:rPr lang="en-US" sz="2800" dirty="0" smtClean="0">
                <a:solidFill>
                  <a:srgbClr val="FF0000"/>
                </a:solidFill>
              </a:rPr>
              <a:t>Raft</a:t>
            </a:r>
            <a:r>
              <a:rPr lang="en-US" sz="2800" dirty="0" smtClean="0"/>
              <a:t> </a:t>
            </a:r>
            <a:r>
              <a:rPr lang="en-US" sz="2800" dirty="0"/>
              <a:t>— </a:t>
            </a:r>
            <a:r>
              <a:rPr lang="en-US" sz="2800" dirty="0" smtClean="0"/>
              <a:t>Most popular used in </a:t>
            </a:r>
            <a:r>
              <a:rPr lang="en-IN" sz="2800" dirty="0" err="1" smtClean="0"/>
              <a:t>Kubernetes</a:t>
            </a:r>
            <a:r>
              <a:rPr lang="en-IN" sz="2800" dirty="0"/>
              <a:t>, </a:t>
            </a:r>
            <a:r>
              <a:rPr lang="en-IN" sz="2800" dirty="0" err="1" smtClean="0"/>
              <a:t>CockroachDB</a:t>
            </a:r>
            <a:r>
              <a:rPr lang="en-IN" sz="2800" dirty="0"/>
              <a:t>, </a:t>
            </a:r>
            <a:r>
              <a:rPr lang="en-IN" sz="2800" dirty="0" err="1" smtClean="0"/>
              <a:t>HashiCorp</a:t>
            </a:r>
            <a:r>
              <a:rPr lang="en-IN" sz="2800" dirty="0" smtClean="0"/>
              <a:t> (</a:t>
            </a:r>
            <a:r>
              <a:rPr lang="en-IN" sz="2800" dirty="0" err="1" smtClean="0"/>
              <a:t>IaC</a:t>
            </a:r>
            <a:r>
              <a:rPr lang="en-IN" sz="2800" dirty="0" smtClean="0"/>
              <a:t>)</a:t>
            </a:r>
            <a:endParaRPr lang="en-IN" sz="2800" dirty="0"/>
          </a:p>
        </p:txBody>
      </p:sp>
      <p:sp>
        <p:nvSpPr>
          <p:cNvPr id="11" name="Rectangle 10"/>
          <p:cNvSpPr/>
          <p:nvPr/>
        </p:nvSpPr>
        <p:spPr>
          <a:xfrm>
            <a:off x="401851" y="2034468"/>
            <a:ext cx="93303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2</a:t>
            </a:r>
            <a:r>
              <a:rPr lang="en-US" sz="2800" dirty="0" smtClean="0"/>
              <a:t>. </a:t>
            </a:r>
            <a:r>
              <a:rPr lang="en-IN" sz="2800" dirty="0" err="1"/>
              <a:t>Paxos</a:t>
            </a:r>
            <a:r>
              <a:rPr lang="en-IN" sz="2800" dirty="0"/>
              <a:t> </a:t>
            </a:r>
            <a:r>
              <a:rPr lang="en-US" sz="2800" dirty="0" smtClean="0"/>
              <a:t>— Used in many Google </a:t>
            </a:r>
            <a:r>
              <a:rPr lang="en-US" sz="2800" dirty="0" smtClean="0"/>
              <a:t>Services </a:t>
            </a:r>
            <a:r>
              <a:rPr lang="en-US" sz="2800" dirty="0" smtClean="0"/>
              <a:t>and Microsoft Azure</a:t>
            </a:r>
            <a:endParaRPr lang="en-IN" sz="2800" dirty="0"/>
          </a:p>
        </p:txBody>
      </p:sp>
      <p:sp>
        <p:nvSpPr>
          <p:cNvPr id="12" name="Rectangle 11"/>
          <p:cNvSpPr/>
          <p:nvPr/>
        </p:nvSpPr>
        <p:spPr>
          <a:xfrm>
            <a:off x="401851" y="3090087"/>
            <a:ext cx="113701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/>
              <a:t>3. </a:t>
            </a:r>
            <a:r>
              <a:rPr lang="en-IN" sz="2800" dirty="0" err="1"/>
              <a:t>Zab</a:t>
            </a:r>
            <a:r>
              <a:rPr lang="en-IN" sz="2800" dirty="0"/>
              <a:t> </a:t>
            </a:r>
            <a:r>
              <a:rPr lang="en-US" sz="2800" dirty="0" smtClean="0"/>
              <a:t>— Used in apache </a:t>
            </a:r>
            <a:r>
              <a:rPr lang="en-US" sz="2800" dirty="0" err="1" smtClean="0">
                <a:solidFill>
                  <a:srgbClr val="FF0000"/>
                </a:solidFill>
              </a:rPr>
              <a:t>ZooKeeper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en-US" sz="2800" dirty="0" smtClean="0"/>
              <a:t>which is used in HDFS, Kafka streaming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30043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nded Design Blue 16x9">
  <a:themeElements>
    <a:clrScheme name="Banded_Design_Blue">
      <a:dk1>
        <a:srgbClr val="404040"/>
      </a:dk1>
      <a:lt1>
        <a:sysClr val="window" lastClr="FFFFFF"/>
      </a:lt1>
      <a:dk2>
        <a:srgbClr val="263050"/>
      </a:dk2>
      <a:lt2>
        <a:srgbClr val="E5E8E8"/>
      </a:lt2>
      <a:accent1>
        <a:srgbClr val="77B142"/>
      </a:accent1>
      <a:accent2>
        <a:srgbClr val="E3C01E"/>
      </a:accent2>
      <a:accent3>
        <a:srgbClr val="0070C0"/>
      </a:accent3>
      <a:accent4>
        <a:srgbClr val="7556A4"/>
      </a:accent4>
      <a:accent5>
        <a:srgbClr val="F08F1E"/>
      </a:accent5>
      <a:accent6>
        <a:srgbClr val="CB3E3A"/>
      </a:accent6>
      <a:hlink>
        <a:srgbClr val="0070C0"/>
      </a:hlink>
      <a:folHlink>
        <a:srgbClr val="7556A4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lumMod val="0"/>
                <a:lumOff val="100000"/>
              </a:schemeClr>
            </a:gs>
            <a:gs pos="72000">
              <a:schemeClr val="phClr"/>
            </a:gs>
            <a:gs pos="100000">
              <a:schemeClr val="phClr">
                <a:lumMod val="90000"/>
              </a:schemeClr>
            </a:gs>
          </a:gsLst>
          <a:lin ang="5400000" scaled="1"/>
        </a:gradFill>
        <a:gradFill flip="none" rotWithShape="1">
          <a:gsLst>
            <a:gs pos="32000">
              <a:schemeClr val="phClr"/>
            </a:gs>
            <a:gs pos="100000">
              <a:schemeClr val="phClr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3417271.potx" id="{FAD70E18-2F21-4BAE-983F-13051C6D1C17}" vid="{4B4DF9DC-15EC-4671-A52A-56A08B977F11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project plan presentation (widescreen)</Template>
  <TotalTime>29134</TotalTime>
  <Words>1299</Words>
  <Application>Microsoft Office PowerPoint</Application>
  <PresentationFormat>Widescreen</PresentationFormat>
  <Paragraphs>117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Corbel</vt:lpstr>
      <vt:lpstr>Euphemia</vt:lpstr>
      <vt:lpstr>MinionPro-It</vt:lpstr>
      <vt:lpstr>MinionPro-Regular</vt:lpstr>
      <vt:lpstr>Times New Roman</vt:lpstr>
      <vt:lpstr>Wingdings</vt:lpstr>
      <vt:lpstr>Banded Design Blue 16x9</vt:lpstr>
      <vt:lpstr>Dr. Sunirmal Khatua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Project Plan</dc:title>
  <dc:creator>Sunirmal Khatua</dc:creator>
  <cp:lastModifiedBy>Microsoft account</cp:lastModifiedBy>
  <cp:revision>379</cp:revision>
  <dcterms:created xsi:type="dcterms:W3CDTF">2018-05-13T16:49:43Z</dcterms:created>
  <dcterms:modified xsi:type="dcterms:W3CDTF">2026-02-24T14:08:08Z</dcterms:modified>
</cp:coreProperties>
</file>