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 id="270" r:id="rId15"/>
    <p:sldId id="269" r:id="rId16"/>
    <p:sldId id="276" r:id="rId17"/>
    <p:sldId id="277" r:id="rId18"/>
    <p:sldId id="279" r:id="rId19"/>
    <p:sldId id="280" r:id="rId20"/>
    <p:sldId id="281" r:id="rId21"/>
    <p:sldId id="282" r:id="rId22"/>
    <p:sldId id="284" r:id="rId23"/>
    <p:sldId id="285" r:id="rId24"/>
    <p:sldId id="283" r:id="rId25"/>
    <p:sldId id="286" r:id="rId26"/>
    <p:sldId id="287" r:id="rId27"/>
    <p:sldId id="288" r:id="rId28"/>
    <p:sldId id="289" r:id="rId29"/>
    <p:sldId id="290" r:id="rId30"/>
    <p:sldId id="291" r:id="rId31"/>
    <p:sldId id="292" r:id="rId32"/>
    <p:sldId id="293" r:id="rId33"/>
    <p:sldId id="294" r:id="rId34"/>
    <p:sldId id="295" r:id="rId35"/>
    <p:sldId id="297" r:id="rId36"/>
    <p:sldId id="271" r:id="rId37"/>
    <p:sldId id="272" r:id="rId38"/>
    <p:sldId id="273" r:id="rId39"/>
    <p:sldId id="274" r:id="rId40"/>
    <p:sldId id="275" r:id="rId41"/>
    <p:sldId id="298" r:id="rId42"/>
    <p:sldId id="299" r:id="rId43"/>
    <p:sldId id="301" r:id="rId44"/>
    <p:sldId id="300" r:id="rId45"/>
    <p:sldId id="302" r:id="rId46"/>
    <p:sldId id="303" r:id="rId47"/>
    <p:sldId id="304" r:id="rId48"/>
    <p:sldId id="305" r:id="rId49"/>
    <p:sldId id="308" r:id="rId50"/>
    <p:sldId id="306" r:id="rId51"/>
    <p:sldId id="307" r:id="rId52"/>
    <p:sldId id="309" r:id="rId53"/>
    <p:sldId id="310" r:id="rId54"/>
    <p:sldId id="311" r:id="rId55"/>
    <p:sldId id="312"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30" autoAdjust="0"/>
    <p:restoredTop sz="94616" autoAdjust="0"/>
  </p:normalViewPr>
  <p:slideViewPr>
    <p:cSldViewPr>
      <p:cViewPr varScale="1">
        <p:scale>
          <a:sx n="62" d="100"/>
          <a:sy n="62" d="100"/>
        </p:scale>
        <p:origin x="-1396" y="-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24C10F-859C-49D9-8794-10E8C4AA1C5F}" type="datetimeFigureOut">
              <a:rPr lang="en-US" smtClean="0"/>
              <a:pPr/>
              <a:t>7/7/2021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47F9E5-64C1-4B5F-864C-F4CC7904AB00}"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8"/>
          <p:cNvSpPr>
            <a:spLocks noGrp="1" noChangeArrowheads="1"/>
          </p:cNvSpPr>
          <p:nvPr>
            <p:ph type="sldNum" sz="quarter"/>
          </p:nvPr>
        </p:nvSpPr>
        <p:spPr>
          <a:noFill/>
        </p:spPr>
        <p:txBody>
          <a:bodyPr/>
          <a:lstStyle/>
          <a:p>
            <a:fld id="{70ED0C51-82C8-43F7-917C-39531DA8EDAE}" type="slidenum">
              <a:rPr lang="en-GB"/>
              <a:pPr/>
              <a:t>18</a:t>
            </a:fld>
            <a:endParaRPr lang="en-GB"/>
          </a:p>
        </p:txBody>
      </p:sp>
      <p:sp>
        <p:nvSpPr>
          <p:cNvPr id="76803" name="Text Box 1"/>
          <p:cNvSpPr txBox="1">
            <a:spLocks noChangeArrowheads="1"/>
          </p:cNvSpPr>
          <p:nvPr/>
        </p:nvSpPr>
        <p:spPr bwMode="auto">
          <a:xfrm>
            <a:off x="913969" y="685214"/>
            <a:ext cx="5031676" cy="3429000"/>
          </a:xfrm>
          <a:prstGeom prst="rect">
            <a:avLst/>
          </a:prstGeom>
          <a:solidFill>
            <a:srgbClr val="FFFFFF"/>
          </a:solidFill>
          <a:ln w="9360">
            <a:solidFill>
              <a:srgbClr val="000000"/>
            </a:solidFill>
            <a:miter lim="800000"/>
            <a:headEnd/>
            <a:tailEnd/>
          </a:ln>
        </p:spPr>
        <p:txBody>
          <a:bodyPr wrap="none" anchor="ctr"/>
          <a:lstStyle/>
          <a:p>
            <a:endParaRPr lang="en-IN"/>
          </a:p>
        </p:txBody>
      </p:sp>
      <p:sp>
        <p:nvSpPr>
          <p:cNvPr id="76804" name="Rectangle 2"/>
          <p:cNvSpPr txBox="1">
            <a:spLocks noGrp="1" noChangeArrowheads="1"/>
          </p:cNvSpPr>
          <p:nvPr>
            <p:ph type="body"/>
          </p:nvPr>
        </p:nvSpPr>
        <p:spPr>
          <a:xfrm>
            <a:off x="686286" y="4343106"/>
            <a:ext cx="5485430" cy="4115681"/>
          </a:xfrm>
          <a:noFill/>
          <a:ln/>
        </p:spPr>
        <p:txBody>
          <a:bodyPr wrap="none" anchor="ct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E98FFD6-8FA5-45BF-8766-8B2119D3A910}" type="datetime1">
              <a:rPr lang="en-US" smtClean="0"/>
              <a:pPr/>
              <a:t>7/7/2021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CEA0AD-AFF2-4CE2-9DDE-750909A6F4A7}"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CEA0AD-AFF2-4CE2-9DDE-750909A6F4A7}"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E19DE3A-9C90-4D5F-B645-9287D293ED9F}" type="datetime1">
              <a:rPr lang="en-US" smtClean="0"/>
              <a:pPr/>
              <a:t>7/7/2021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CEA0AD-AFF2-4CE2-9DDE-750909A6F4A7}"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64A41B9-95D2-4AD8-BF5D-7A68F3A097E2}" type="datetime1">
              <a:rPr lang="en-US" smtClean="0"/>
              <a:pPr/>
              <a:t>7/7/2021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9CEA0AD-AFF2-4CE2-9DDE-750909A6F4A7}"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0896B94-0DCA-4020-A415-50BE65A5A3AD}" type="datetime1">
              <a:rPr lang="en-US" smtClean="0"/>
              <a:pPr/>
              <a:t>7/7/2021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9CEA0AD-AFF2-4CE2-9DDE-750909A6F4A7}"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460DDF7-6FD0-46D9-AF25-7B87978AE5FF}" type="datetime1">
              <a:rPr lang="en-US" smtClean="0"/>
              <a:pPr/>
              <a:t>7/7/2021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A5503E-93A4-4367-B202-B850C4E57F10}" type="datetime1">
              <a:rPr lang="en-US" smtClean="0"/>
              <a:pPr/>
              <a:t>7/7/2021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9CEA0AD-AFF2-4CE2-9DDE-750909A6F4A7}"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854368-ED28-41A9-BEA3-D737974F401D}" type="datetime1">
              <a:rPr lang="en-US" smtClean="0"/>
              <a:pPr/>
              <a:t>7/7/2021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9CEA0AD-AFF2-4CE2-9DDE-750909A6F4A7}"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2A1BB7F-BBFC-42A5-974C-28FB0A156BC8}" type="datetime1">
              <a:rPr lang="en-US" smtClean="0"/>
              <a:pPr/>
              <a:t>7/7/2021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9CEA0AD-AFF2-4CE2-9DDE-750909A6F4A7}"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0A55C25-2B9A-430F-9E64-42A823998D55}" type="datetime1">
              <a:rPr lang="en-US" smtClean="0"/>
              <a:pPr/>
              <a:t>7/7/2021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CEA0AD-AFF2-4CE2-9DDE-750909A6F4A7}"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882B203-A6B4-41A3-8CEF-3BFDFF1D04A0}" type="datetime1">
              <a:rPr lang="en-US" smtClean="0"/>
              <a:pPr/>
              <a:t>7/7/2021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CEA0AD-AFF2-4CE2-9DDE-750909A6F4A7}"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9AE3A8-8B2F-4B3E-8118-B451707BED7B}" type="datetime1">
              <a:rPr lang="en-US" smtClean="0"/>
              <a:pPr/>
              <a:t>7/7/2021</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CEA0AD-AFF2-4CE2-9DDE-750909A6F4A7}"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655633"/>
          </a:xfrm>
        </p:spPr>
        <p:txBody>
          <a:bodyPr>
            <a:normAutofit fontScale="90000"/>
          </a:bodyPr>
          <a:lstStyle/>
          <a:p>
            <a:r>
              <a:rPr lang="en-IN" dirty="0" smtClean="0">
                <a:latin typeface="Times New Roman" pitchFamily="18" charset="0"/>
                <a:cs typeface="Times New Roman" pitchFamily="18" charset="0"/>
              </a:rPr>
              <a:t>Routing Protocols: An Overview</a:t>
            </a:r>
            <a:endParaRPr lang="en-IN"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r>
              <a:rPr lang="en-IN" dirty="0" err="1" smtClean="0">
                <a:latin typeface="Times New Roman" pitchFamily="18" charset="0"/>
                <a:cs typeface="Times New Roman" pitchFamily="18" charset="0"/>
              </a:rPr>
              <a:t>Sankhayan</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Choudhury</a:t>
            </a: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latin typeface="Times New Roman" pitchFamily="18" charset="0"/>
                <a:cs typeface="Times New Roman" pitchFamily="18" charset="0"/>
              </a:rPr>
              <a:t>Routing: Overview</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00108"/>
            <a:ext cx="8229600" cy="5643602"/>
          </a:xfrm>
        </p:spPr>
        <p:txBody>
          <a:bodyPr>
            <a:normAutofit/>
          </a:bodyPr>
          <a:lstStyle/>
          <a:p>
            <a:pPr algn="just"/>
            <a:r>
              <a:rPr lang="en-IN" sz="2400" dirty="0" smtClean="0">
                <a:latin typeface="Times New Roman" pitchFamily="18" charset="0"/>
                <a:cs typeface="Times New Roman" pitchFamily="18" charset="0"/>
              </a:rPr>
              <a:t>Routing is the most crucial design issue in layer 3.</a:t>
            </a:r>
          </a:p>
          <a:p>
            <a:pPr algn="just"/>
            <a:r>
              <a:rPr lang="en-IN" sz="2400" dirty="0" smtClean="0">
                <a:latin typeface="Times New Roman" pitchFamily="18" charset="0"/>
                <a:cs typeface="Times New Roman" pitchFamily="18" charset="0"/>
              </a:rPr>
              <a:t>Routing</a:t>
            </a:r>
            <a:r>
              <a:rPr lang="en-IN" sz="2400" dirty="0">
                <a:latin typeface="Times New Roman" pitchFamily="18" charset="0"/>
                <a:cs typeface="Times New Roman" pitchFamily="18" charset="0"/>
              </a:rPr>
              <a:t> is </a:t>
            </a:r>
            <a:r>
              <a:rPr lang="en-IN" sz="2400" dirty="0" smtClean="0">
                <a:latin typeface="Times New Roman" pitchFamily="18" charset="0"/>
                <a:cs typeface="Times New Roman" pitchFamily="18" charset="0"/>
              </a:rPr>
              <a:t>the process </a:t>
            </a:r>
            <a:r>
              <a:rPr lang="en-IN" sz="2400" dirty="0">
                <a:latin typeface="Times New Roman" pitchFamily="18" charset="0"/>
                <a:cs typeface="Times New Roman" pitchFamily="18" charset="0"/>
              </a:rPr>
              <a:t>of establishing the </a:t>
            </a:r>
            <a:r>
              <a:rPr lang="en-IN" sz="2400" dirty="0" smtClean="0">
                <a:latin typeface="Times New Roman" pitchFamily="18" charset="0"/>
                <a:cs typeface="Times New Roman" pitchFamily="18" charset="0"/>
              </a:rPr>
              <a:t>routes (Via intermediate nodes) </a:t>
            </a:r>
            <a:r>
              <a:rPr lang="en-IN" sz="2400" dirty="0">
                <a:latin typeface="Times New Roman" pitchFamily="18" charset="0"/>
                <a:cs typeface="Times New Roman" pitchFamily="18" charset="0"/>
              </a:rPr>
              <a:t>that data packets must follow to reach the destination.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Each node must contain a </a:t>
            </a:r>
            <a:r>
              <a:rPr lang="en-IN" sz="2400" dirty="0">
                <a:latin typeface="Times New Roman" pitchFamily="18" charset="0"/>
                <a:cs typeface="Times New Roman" pitchFamily="18" charset="0"/>
              </a:rPr>
              <a:t>routing table </a:t>
            </a:r>
            <a:r>
              <a:rPr lang="en-IN" sz="2400" dirty="0" smtClean="0">
                <a:latin typeface="Times New Roman" pitchFamily="18" charset="0"/>
                <a:cs typeface="Times New Roman" pitchFamily="18" charset="0"/>
              </a:rPr>
              <a:t>that holds the path to reach all possible destinations with the assigned cost.  </a:t>
            </a:r>
          </a:p>
          <a:p>
            <a:pPr algn="just"/>
            <a:r>
              <a:rPr lang="en-IN" sz="2400" dirty="0" smtClean="0">
                <a:latin typeface="Times New Roman" pitchFamily="18" charset="0"/>
                <a:cs typeface="Times New Roman" pitchFamily="18" charset="0"/>
              </a:rPr>
              <a:t>In a simplest form, the attributes could be Destination, Next hop and the cost for reaching the destination. The following could be the routing table of a node A.</a:t>
            </a:r>
            <a:endParaRPr lang="en-IN" sz="2400"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571604" y="4714883"/>
          <a:ext cx="6096000" cy="1737360"/>
        </p:xfrm>
        <a:graphic>
          <a:graphicData uri="http://schemas.openxmlformats.org/drawingml/2006/table">
            <a:tbl>
              <a:tblPr>
                <a:tableStyleId>{5C22544A-7EE6-4342-B048-85BDC9FD1C3A}</a:tableStyleId>
              </a:tblPr>
              <a:tblGrid>
                <a:gridCol w="2032000"/>
                <a:gridCol w="2032000"/>
                <a:gridCol w="2032000"/>
              </a:tblGrid>
              <a:tr h="631662">
                <a:tc>
                  <a:txBody>
                    <a:bodyPr/>
                    <a:lstStyle/>
                    <a:p>
                      <a:r>
                        <a:rPr lang="en-IN" dirty="0" smtClean="0">
                          <a:latin typeface="Times New Roman" pitchFamily="18" charset="0"/>
                          <a:cs typeface="Times New Roman" pitchFamily="18" charset="0"/>
                        </a:rPr>
                        <a:t>Destination</a:t>
                      </a:r>
                    </a:p>
                    <a:p>
                      <a:endParaRPr lang="en-IN" dirty="0"/>
                    </a:p>
                  </a:txBody>
                  <a:tcPr/>
                </a:tc>
                <a:tc>
                  <a:txBody>
                    <a:bodyPr/>
                    <a:lstStyle/>
                    <a:p>
                      <a:r>
                        <a:rPr lang="en-IN" dirty="0" smtClean="0"/>
                        <a:t>Next Hop</a:t>
                      </a:r>
                      <a:endParaRPr lang="en-IN" dirty="0"/>
                    </a:p>
                  </a:txBody>
                  <a:tcPr/>
                </a:tc>
                <a:tc>
                  <a:txBody>
                    <a:bodyPr/>
                    <a:lstStyle/>
                    <a:p>
                      <a:r>
                        <a:rPr lang="en-IN" dirty="0" smtClean="0"/>
                        <a:t>Cost (in hops)</a:t>
                      </a:r>
                    </a:p>
                    <a:p>
                      <a:endParaRPr lang="en-IN" dirty="0"/>
                    </a:p>
                  </a:txBody>
                  <a:tcPr/>
                </a:tc>
              </a:tr>
              <a:tr h="360950">
                <a:tc>
                  <a:txBody>
                    <a:bodyPr/>
                    <a:lstStyle/>
                    <a:p>
                      <a:r>
                        <a:rPr lang="en-IN" dirty="0" smtClean="0"/>
                        <a:t>A </a:t>
                      </a:r>
                      <a:endParaRPr lang="en-IN" dirty="0"/>
                    </a:p>
                  </a:txBody>
                  <a:tcPr/>
                </a:tc>
                <a:tc>
                  <a:txBody>
                    <a:bodyPr/>
                    <a:lstStyle/>
                    <a:p>
                      <a:r>
                        <a:rPr lang="en-IN" dirty="0" smtClean="0"/>
                        <a:t>-</a:t>
                      </a:r>
                      <a:endParaRPr lang="en-IN" dirty="0"/>
                    </a:p>
                  </a:txBody>
                  <a:tcPr/>
                </a:tc>
                <a:tc>
                  <a:txBody>
                    <a:bodyPr/>
                    <a:lstStyle/>
                    <a:p>
                      <a:r>
                        <a:rPr lang="en-IN" dirty="0" smtClean="0"/>
                        <a:t>-</a:t>
                      </a:r>
                      <a:endParaRPr lang="en-IN" dirty="0"/>
                    </a:p>
                  </a:txBody>
                  <a:tcPr/>
                </a:tc>
              </a:tr>
              <a:tr h="360950">
                <a:tc>
                  <a:txBody>
                    <a:bodyPr/>
                    <a:lstStyle/>
                    <a:p>
                      <a:r>
                        <a:rPr lang="en-IN" dirty="0" smtClean="0"/>
                        <a:t>B</a:t>
                      </a:r>
                      <a:endParaRPr lang="en-IN" dirty="0"/>
                    </a:p>
                  </a:txBody>
                  <a:tcPr/>
                </a:tc>
                <a:tc>
                  <a:txBody>
                    <a:bodyPr/>
                    <a:lstStyle/>
                    <a:p>
                      <a:r>
                        <a:rPr lang="en-IN" dirty="0" smtClean="0"/>
                        <a:t>C</a:t>
                      </a:r>
                      <a:endParaRPr lang="en-IN" dirty="0"/>
                    </a:p>
                  </a:txBody>
                  <a:tcPr/>
                </a:tc>
                <a:tc>
                  <a:txBody>
                    <a:bodyPr/>
                    <a:lstStyle/>
                    <a:p>
                      <a:r>
                        <a:rPr lang="en-IN" dirty="0" smtClean="0"/>
                        <a:t>5</a:t>
                      </a:r>
                      <a:endParaRPr lang="en-IN" dirty="0"/>
                    </a:p>
                  </a:txBody>
                  <a:tcPr/>
                </a:tc>
              </a:tr>
              <a:tr h="360950">
                <a:tc>
                  <a:txBody>
                    <a:bodyPr/>
                    <a:lstStyle/>
                    <a:p>
                      <a:r>
                        <a:rPr lang="en-IN" dirty="0" smtClean="0"/>
                        <a:t>D</a:t>
                      </a:r>
                      <a:endParaRPr lang="en-IN" dirty="0"/>
                    </a:p>
                  </a:txBody>
                  <a:tcPr/>
                </a:tc>
                <a:tc>
                  <a:txBody>
                    <a:bodyPr/>
                    <a:lstStyle/>
                    <a:p>
                      <a:r>
                        <a:rPr lang="en-IN" dirty="0" smtClean="0"/>
                        <a:t>B</a:t>
                      </a:r>
                      <a:endParaRPr lang="en-IN" dirty="0"/>
                    </a:p>
                  </a:txBody>
                  <a:tcPr/>
                </a:tc>
                <a:tc>
                  <a:txBody>
                    <a:bodyPr/>
                    <a:lstStyle/>
                    <a:p>
                      <a:r>
                        <a:rPr lang="en-IN" dirty="0" smtClean="0"/>
                        <a:t>4</a:t>
                      </a:r>
                      <a:endParaRPr lang="en-IN" dirty="0"/>
                    </a:p>
                  </a:txBody>
                  <a:tcPr/>
                </a:tc>
              </a:tr>
            </a:tbl>
          </a:graphicData>
        </a:graphic>
      </p:graphicFrame>
      <p:sp>
        <p:nvSpPr>
          <p:cNvPr id="5" name="Date Placeholder 4"/>
          <p:cNvSpPr>
            <a:spLocks noGrp="1"/>
          </p:cNvSpPr>
          <p:nvPr>
            <p:ph type="dt" sz="half" idx="10"/>
          </p:nvPr>
        </p:nvSpPr>
        <p:spPr/>
        <p:txBody>
          <a:bodyPr/>
          <a:lstStyle/>
          <a:p>
            <a:fld id="{314CAB42-F977-4CF4-A5E8-4F01E64BC365}" type="datetime1">
              <a:rPr lang="en-US" smtClean="0"/>
              <a:pPr/>
              <a:t>7/7/2021</a:t>
            </a:fld>
            <a:endParaRPr lang="en-IN"/>
          </a:p>
        </p:txBody>
      </p:sp>
      <p:sp>
        <p:nvSpPr>
          <p:cNvPr id="6" name="Slide Number Placeholder 5"/>
          <p:cNvSpPr>
            <a:spLocks noGrp="1"/>
          </p:cNvSpPr>
          <p:nvPr>
            <p:ph type="sldNum" sz="quarter" idx="12"/>
          </p:nvPr>
        </p:nvSpPr>
        <p:spPr/>
        <p:txBody>
          <a:bodyPr/>
          <a:lstStyle/>
          <a:p>
            <a:fld id="{49CEA0AD-AFF2-4CE2-9DDE-750909A6F4A7}" type="slidenum">
              <a:rPr lang="en-IN" smtClean="0"/>
              <a:pPr/>
              <a:t>2</a:t>
            </a:fld>
            <a:endParaRPr lang="en-I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latin typeface="Times New Roman" pitchFamily="18" charset="0"/>
                <a:cs typeface="Times New Roman" pitchFamily="18" charset="0"/>
              </a:rPr>
              <a:t>Routing: Classification</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28596" y="1142984"/>
            <a:ext cx="8229600" cy="5357850"/>
          </a:xfrm>
        </p:spPr>
        <p:txBody>
          <a:bodyPr>
            <a:normAutofit fontScale="92500" lnSpcReduction="20000"/>
          </a:bodyPr>
          <a:lstStyle/>
          <a:p>
            <a:pPr algn="just"/>
            <a:r>
              <a:rPr lang="en-IN" sz="2400" dirty="0" smtClean="0">
                <a:latin typeface="Times New Roman" pitchFamily="18" charset="0"/>
                <a:cs typeface="Times New Roman" pitchFamily="18" charset="0"/>
              </a:rPr>
              <a:t>Static: Contents of the routing table is fixed and entered manually</a:t>
            </a:r>
          </a:p>
          <a:p>
            <a:pPr algn="just"/>
            <a:r>
              <a:rPr lang="en-IN" sz="2400" dirty="0" smtClean="0">
                <a:latin typeface="Times New Roman" pitchFamily="18" charset="0"/>
                <a:cs typeface="Times New Roman" pitchFamily="18" charset="0"/>
              </a:rPr>
              <a:t>Adaptive: The routing decision changes with the </a:t>
            </a:r>
          </a:p>
          <a:p>
            <a:pPr lvl="1" algn="just"/>
            <a:r>
              <a:rPr lang="en-IN" sz="2000" dirty="0" smtClean="0">
                <a:latin typeface="Times New Roman" pitchFamily="18" charset="0"/>
                <a:cs typeface="Times New Roman" pitchFamily="18" charset="0"/>
              </a:rPr>
              <a:t>Changes in topology</a:t>
            </a:r>
          </a:p>
          <a:p>
            <a:pPr lvl="1" algn="just"/>
            <a:r>
              <a:rPr lang="en-IN" sz="2000" dirty="0" smtClean="0">
                <a:latin typeface="Times New Roman" pitchFamily="18" charset="0"/>
                <a:cs typeface="Times New Roman" pitchFamily="18" charset="0"/>
              </a:rPr>
              <a:t>Changes in traffic density</a:t>
            </a:r>
          </a:p>
          <a:p>
            <a:pPr lvl="1" algn="just">
              <a:buNone/>
            </a:pPr>
            <a:endParaRPr lang="en-IN" sz="20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Adaptive routing (s)</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Isolated : Table changes based on the information available in a specific node</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Centralized:  Routing Control centre (RCC); all nodes gather information and send to RCC; RCC computes the decision on behalf of all the nodes and transmit the routing table</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Distributed: All nodes are exchanging information with the neighbouring nodes (Nodes those are one-hop away) and updates the table accordingly</a:t>
            </a:r>
            <a:endParaRPr lang="en-IN" sz="1600" dirty="0" smtClean="0">
              <a:latin typeface="Times New Roman" pitchFamily="18" charset="0"/>
              <a:cs typeface="Times New Roman" pitchFamily="18" charset="0"/>
            </a:endParaRPr>
          </a:p>
          <a:p>
            <a:pPr lvl="3" algn="just">
              <a:buNone/>
            </a:pPr>
            <a:endParaRPr lang="en-IN" sz="1200" dirty="0" smtClean="0">
              <a:latin typeface="Times New Roman" pitchFamily="18" charset="0"/>
              <a:cs typeface="Times New Roman" pitchFamily="18" charset="0"/>
            </a:endParaRPr>
          </a:p>
          <a:p>
            <a:pPr lvl="3" algn="just">
              <a:buNone/>
            </a:pPr>
            <a:endParaRPr lang="en-IN" sz="1200" dirty="0">
              <a:latin typeface="Times New Roman" pitchFamily="18" charset="0"/>
              <a:cs typeface="Times New Roman" pitchFamily="18" charset="0"/>
            </a:endParaRPr>
          </a:p>
          <a:p>
            <a:pPr lvl="3">
              <a:buNone/>
            </a:pPr>
            <a:endParaRPr lang="en-IN" sz="1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8AC9C3E6-3DB3-4825-B873-5E8532F5EF1B}"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3</a:t>
            </a:fld>
            <a:endParaRPr lang="en-I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Autofit/>
          </a:bodyPr>
          <a:lstStyle/>
          <a:p>
            <a:pPr algn="l"/>
            <a:r>
              <a:rPr lang="en-IN" sz="3600" dirty="0" smtClean="0">
                <a:latin typeface="Times New Roman" pitchFamily="18" charset="0"/>
                <a:cs typeface="Times New Roman" pitchFamily="18" charset="0"/>
              </a:rPr>
              <a:t>Flooding: A simplest example of Routing</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57298"/>
            <a:ext cx="8229600" cy="5000660"/>
          </a:xfrm>
        </p:spPr>
        <p:txBody>
          <a:bodyPr>
            <a:noAutofit/>
          </a:bodyPr>
          <a:lstStyle/>
          <a:p>
            <a:pPr algn="just"/>
            <a:r>
              <a:rPr lang="en-IN" sz="2600" dirty="0" smtClean="0">
                <a:latin typeface="Times New Roman" pitchFamily="18" charset="0"/>
                <a:cs typeface="Times New Roman" pitchFamily="18" charset="0"/>
              </a:rPr>
              <a:t>Flooding is a simplest example of routing. (Broadcasting)</a:t>
            </a:r>
          </a:p>
          <a:p>
            <a:pPr algn="just"/>
            <a:r>
              <a:rPr lang="en-IN" sz="2600" dirty="0">
                <a:latin typeface="Times New Roman" pitchFamily="18" charset="0"/>
                <a:cs typeface="Times New Roman" pitchFamily="18" charset="0"/>
              </a:rPr>
              <a:t>This adapts the technique in which every incoming packet is sent on every outgoing line except from which it arrived. One problem with this is that packets may go in loop and as a </a:t>
            </a:r>
            <a:r>
              <a:rPr lang="en-IN" sz="2600" dirty="0" smtClean="0">
                <a:latin typeface="Times New Roman" pitchFamily="18" charset="0"/>
                <a:cs typeface="Times New Roman" pitchFamily="18" charset="0"/>
              </a:rPr>
              <a:t>result, a </a:t>
            </a:r>
            <a:r>
              <a:rPr lang="en-IN" sz="2600" dirty="0">
                <a:latin typeface="Times New Roman" pitchFamily="18" charset="0"/>
                <a:cs typeface="Times New Roman" pitchFamily="18" charset="0"/>
              </a:rPr>
              <a:t>node may receive duplicate packets</a:t>
            </a:r>
            <a:r>
              <a:rPr lang="en-IN" sz="2600" dirty="0" smtClean="0">
                <a:latin typeface="Times New Roman" pitchFamily="18" charset="0"/>
                <a:cs typeface="Times New Roman" pitchFamily="18" charset="0"/>
              </a:rPr>
              <a:t>.</a:t>
            </a:r>
          </a:p>
          <a:p>
            <a:pPr algn="just"/>
            <a:r>
              <a:rPr lang="en-IN" sz="2600" dirty="0" smtClean="0">
                <a:latin typeface="Times New Roman" pitchFamily="18" charset="0"/>
                <a:cs typeface="Times New Roman" pitchFamily="18" charset="0"/>
              </a:rPr>
              <a:t>This duplication wastes huge bandwidth, the most costly resource in the network.</a:t>
            </a:r>
          </a:p>
          <a:p>
            <a:pPr algn="just"/>
            <a:r>
              <a:rPr lang="en-IN" sz="2600" dirty="0" smtClean="0">
                <a:latin typeface="Times New Roman" pitchFamily="18" charset="0"/>
                <a:cs typeface="Times New Roman" pitchFamily="18" charset="0"/>
              </a:rPr>
              <a:t>The strength is simplicity; and the nodes are receiving the packets using best path, second best path and so on. Reliability is increased.</a:t>
            </a:r>
            <a:endParaRPr lang="en-IN" sz="2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7F55ADF6-1FA9-4FF7-A81B-CE83579F1A3C}"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4</a:t>
            </a:fld>
            <a:endParaRPr lang="en-I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latin typeface="Times New Roman" pitchFamily="18" charset="0"/>
                <a:cs typeface="Times New Roman" pitchFamily="18" charset="0"/>
              </a:rPr>
              <a:t>Flooding</a:t>
            </a:r>
            <a:endParaRPr lang="en-IN" dirty="0"/>
          </a:p>
        </p:txBody>
      </p:sp>
      <p:sp>
        <p:nvSpPr>
          <p:cNvPr id="3" name="Content Placeholder 2"/>
          <p:cNvSpPr>
            <a:spLocks noGrp="1"/>
          </p:cNvSpPr>
          <p:nvPr>
            <p:ph idx="1"/>
          </p:nvPr>
        </p:nvSpPr>
        <p:spPr/>
        <p:txBody>
          <a:bodyPr>
            <a:normAutofit/>
          </a:bodyPr>
          <a:lstStyle/>
          <a:p>
            <a:pPr algn="just"/>
            <a:r>
              <a:rPr lang="en-IN" sz="2600" dirty="0" smtClean="0">
                <a:latin typeface="Times New Roman" pitchFamily="18" charset="0"/>
                <a:cs typeface="Times New Roman" pitchFamily="18" charset="0"/>
              </a:rPr>
              <a:t>Duplications.....Major problem</a:t>
            </a:r>
          </a:p>
          <a:p>
            <a:pPr algn="just"/>
            <a:r>
              <a:rPr lang="en-IN" sz="2600" dirty="0" smtClean="0">
                <a:latin typeface="Times New Roman" pitchFamily="18" charset="0"/>
                <a:cs typeface="Times New Roman" pitchFamily="18" charset="0"/>
              </a:rPr>
              <a:t>Solution: </a:t>
            </a:r>
          </a:p>
          <a:p>
            <a:pPr algn="just"/>
            <a:r>
              <a:rPr lang="en-IN" sz="2600" dirty="0">
                <a:latin typeface="Times New Roman" pitchFamily="18" charset="0"/>
                <a:cs typeface="Times New Roman" pitchFamily="18" charset="0"/>
              </a:rPr>
              <a:t>One </a:t>
            </a:r>
            <a:r>
              <a:rPr lang="en-IN" sz="2600" dirty="0" smtClean="0">
                <a:latin typeface="Times New Roman" pitchFamily="18" charset="0"/>
                <a:cs typeface="Times New Roman" pitchFamily="18" charset="0"/>
              </a:rPr>
              <a:t>such measure </a:t>
            </a:r>
            <a:r>
              <a:rPr lang="en-IN" sz="2600" dirty="0">
                <a:latin typeface="Times New Roman" pitchFamily="18" charset="0"/>
                <a:cs typeface="Times New Roman" pitchFamily="18" charset="0"/>
              </a:rPr>
              <a:t>is to have a hop counter contained in the header of each packet that </a:t>
            </a:r>
            <a:r>
              <a:rPr lang="en-IN" sz="2600" dirty="0" smtClean="0">
                <a:latin typeface="Times New Roman" pitchFamily="18" charset="0"/>
                <a:cs typeface="Times New Roman" pitchFamily="18" charset="0"/>
              </a:rPr>
              <a:t>is decremented </a:t>
            </a:r>
            <a:r>
              <a:rPr lang="en-IN" sz="2600" dirty="0">
                <a:latin typeface="Times New Roman" pitchFamily="18" charset="0"/>
                <a:cs typeface="Times New Roman" pitchFamily="18" charset="0"/>
              </a:rPr>
              <a:t>at each hop, </a:t>
            </a:r>
            <a:r>
              <a:rPr lang="en-IN" sz="2600" dirty="0" smtClean="0">
                <a:latin typeface="Times New Roman" pitchFamily="18" charset="0"/>
                <a:cs typeface="Times New Roman" pitchFamily="18" charset="0"/>
              </a:rPr>
              <a:t>The packet is discarded </a:t>
            </a:r>
            <a:r>
              <a:rPr lang="en-IN" sz="2600" dirty="0">
                <a:latin typeface="Times New Roman" pitchFamily="18" charset="0"/>
                <a:cs typeface="Times New Roman" pitchFamily="18" charset="0"/>
              </a:rPr>
              <a:t>when the </a:t>
            </a:r>
            <a:r>
              <a:rPr lang="en-IN" sz="2600" dirty="0" smtClean="0">
                <a:latin typeface="Times New Roman" pitchFamily="18" charset="0"/>
                <a:cs typeface="Times New Roman" pitchFamily="18" charset="0"/>
              </a:rPr>
              <a:t>counter reaches </a:t>
            </a:r>
            <a:r>
              <a:rPr lang="en-IN" sz="2600" dirty="0">
                <a:latin typeface="Times New Roman" pitchFamily="18" charset="0"/>
                <a:cs typeface="Times New Roman" pitchFamily="18" charset="0"/>
              </a:rPr>
              <a:t>zero. </a:t>
            </a:r>
            <a:endParaRPr lang="en-IN" sz="2600" dirty="0" smtClean="0">
              <a:latin typeface="Times New Roman" pitchFamily="18" charset="0"/>
              <a:cs typeface="Times New Roman" pitchFamily="18" charset="0"/>
            </a:endParaRPr>
          </a:p>
          <a:p>
            <a:pPr algn="just"/>
            <a:r>
              <a:rPr lang="en-IN" sz="2600" dirty="0" smtClean="0">
                <a:latin typeface="Times New Roman" pitchFamily="18" charset="0"/>
                <a:cs typeface="Times New Roman" pitchFamily="18" charset="0"/>
              </a:rPr>
              <a:t>Ideally</a:t>
            </a:r>
            <a:r>
              <a:rPr lang="en-IN" sz="2600" dirty="0">
                <a:latin typeface="Times New Roman" pitchFamily="18" charset="0"/>
                <a:cs typeface="Times New Roman" pitchFamily="18" charset="0"/>
              </a:rPr>
              <a:t>, the hop counter </a:t>
            </a:r>
            <a:r>
              <a:rPr lang="en-IN" sz="2600" dirty="0" smtClean="0">
                <a:latin typeface="Times New Roman" pitchFamily="18" charset="0"/>
                <a:cs typeface="Times New Roman" pitchFamily="18" charset="0"/>
              </a:rPr>
              <a:t>could be initialized by the full diameter of the network i.e. the worst-case. </a:t>
            </a:r>
            <a:endParaRPr lang="en-IN" sz="2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787B6EB-3514-41BB-90A0-E15A3B9C356A}"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5</a:t>
            </a:fld>
            <a:endParaRPr lang="en-I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err="1" smtClean="0">
                <a:latin typeface="Times New Roman" pitchFamily="18" charset="0"/>
                <a:cs typeface="Times New Roman" pitchFamily="18" charset="0"/>
              </a:rPr>
              <a:t>Unicast</a:t>
            </a:r>
            <a:r>
              <a:rPr lang="en-IN" dirty="0" smtClean="0">
                <a:latin typeface="Times New Roman" pitchFamily="18" charset="0"/>
                <a:cs typeface="Times New Roman" pitchFamily="18" charset="0"/>
              </a:rPr>
              <a:t> Routing </a:t>
            </a:r>
            <a:endParaRPr lang="en-IN"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6</a:t>
            </a:fld>
            <a:endParaRPr lang="en-IN"/>
          </a:p>
        </p:txBody>
      </p:sp>
      <p:pic>
        <p:nvPicPr>
          <p:cNvPr id="1026" name="Picture 2"/>
          <p:cNvPicPr>
            <a:picLocks noGrp="1" noChangeAspect="1" noChangeArrowheads="1"/>
          </p:cNvPicPr>
          <p:nvPr>
            <p:ph idx="1"/>
          </p:nvPr>
        </p:nvPicPr>
        <p:blipFill>
          <a:blip r:embed="rId2"/>
          <a:srcRect/>
          <a:stretch>
            <a:fillRect/>
          </a:stretch>
        </p:blipFill>
        <p:spPr bwMode="auto">
          <a:xfrm>
            <a:off x="785786" y="2857496"/>
            <a:ext cx="7572428" cy="3714776"/>
          </a:xfrm>
          <a:prstGeom prst="rect">
            <a:avLst/>
          </a:prstGeom>
          <a:noFill/>
          <a:ln w="9525">
            <a:noFill/>
            <a:miter lim="800000"/>
            <a:headEnd/>
            <a:tailEnd/>
          </a:ln>
          <a:effectLst/>
        </p:spPr>
      </p:pic>
      <p:sp>
        <p:nvSpPr>
          <p:cNvPr id="7" name="TextBox 6"/>
          <p:cNvSpPr txBox="1"/>
          <p:nvPr/>
        </p:nvSpPr>
        <p:spPr>
          <a:xfrm>
            <a:off x="642910" y="1000108"/>
            <a:ext cx="7643866" cy="1785104"/>
          </a:xfrm>
          <a:prstGeom prst="rect">
            <a:avLst/>
          </a:prstGeom>
          <a:noFill/>
        </p:spPr>
        <p:txBody>
          <a:bodyPr wrap="square" rtlCol="0">
            <a:spAutoFit/>
          </a:bodyPr>
          <a:lstStyle/>
          <a:p>
            <a:pPr algn="just"/>
            <a:r>
              <a:rPr lang="en-IN" sz="2200" dirty="0" smtClean="0">
                <a:latin typeface="Times New Roman" pitchFamily="18" charset="0"/>
                <a:cs typeface="Times New Roman" pitchFamily="18" charset="0"/>
              </a:rPr>
              <a:t>A network can be modelled by a Graph;  Minimum Spanning Tree of a graph is a sub-graph having all the vertices and those vertices are connected by a route having minimum cost.  One of the these </a:t>
            </a:r>
            <a:r>
              <a:rPr lang="en-IN" sz="2200" dirty="0" err="1" smtClean="0">
                <a:latin typeface="Times New Roman" pitchFamily="18" charset="0"/>
                <a:cs typeface="Times New Roman" pitchFamily="18" charset="0"/>
              </a:rPr>
              <a:t>algos</a:t>
            </a:r>
            <a:r>
              <a:rPr lang="en-IN" sz="2200" dirty="0" smtClean="0">
                <a:latin typeface="Times New Roman" pitchFamily="18" charset="0"/>
                <a:cs typeface="Times New Roman" pitchFamily="18" charset="0"/>
              </a:rPr>
              <a:t> is </a:t>
            </a:r>
            <a:r>
              <a:rPr lang="en-IN" sz="2200" dirty="0" err="1" smtClean="0">
                <a:latin typeface="Times New Roman" pitchFamily="18" charset="0"/>
                <a:cs typeface="Times New Roman" pitchFamily="18" charset="0"/>
              </a:rPr>
              <a:t>Dijkstra</a:t>
            </a:r>
            <a:r>
              <a:rPr lang="en-IN" sz="2200" dirty="0" smtClean="0">
                <a:latin typeface="Times New Roman" pitchFamily="18" charset="0"/>
                <a:cs typeface="Times New Roman" pitchFamily="18" charset="0"/>
              </a:rPr>
              <a:t> algorithm and can be used as a </a:t>
            </a:r>
            <a:r>
              <a:rPr lang="en-IN" sz="2200" dirty="0" err="1" smtClean="0">
                <a:latin typeface="Times New Roman" pitchFamily="18" charset="0"/>
                <a:cs typeface="Times New Roman" pitchFamily="18" charset="0"/>
              </a:rPr>
              <a:t>unicast</a:t>
            </a:r>
            <a:r>
              <a:rPr lang="en-IN" sz="2200" dirty="0" smtClean="0">
                <a:latin typeface="Times New Roman" pitchFamily="18" charset="0"/>
                <a:cs typeface="Times New Roman" pitchFamily="18" charset="0"/>
              </a:rPr>
              <a:t> routing algorithm.</a:t>
            </a:r>
            <a:endParaRPr lang="en-IN"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Autofit/>
          </a:bodyPr>
          <a:lstStyle/>
          <a:p>
            <a:r>
              <a:rPr lang="en-IN" sz="3600" dirty="0" smtClean="0">
                <a:latin typeface="Times New Roman" pitchFamily="18" charset="0"/>
                <a:cs typeface="Times New Roman" pitchFamily="18" charset="0"/>
              </a:rPr>
              <a:t>Distance Vector (Bellman-Ford) Algorithm</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7</a:t>
            </a:fld>
            <a:endParaRPr lang="en-IN"/>
          </a:p>
        </p:txBody>
      </p:sp>
      <p:pic>
        <p:nvPicPr>
          <p:cNvPr id="2050" name="Picture 2"/>
          <p:cNvPicPr>
            <a:picLocks noGrp="1" noChangeAspect="1" noChangeArrowheads="1"/>
          </p:cNvPicPr>
          <p:nvPr>
            <p:ph idx="1"/>
          </p:nvPr>
        </p:nvPicPr>
        <p:blipFill>
          <a:blip r:embed="rId2"/>
          <a:srcRect/>
          <a:stretch>
            <a:fillRect/>
          </a:stretch>
        </p:blipFill>
        <p:spPr bwMode="auto">
          <a:xfrm>
            <a:off x="928662" y="2571744"/>
            <a:ext cx="7715304" cy="3286148"/>
          </a:xfrm>
          <a:prstGeom prst="rect">
            <a:avLst/>
          </a:prstGeom>
          <a:noFill/>
          <a:ln w="9525">
            <a:noFill/>
            <a:miter lim="800000"/>
            <a:headEnd/>
            <a:tailEnd/>
          </a:ln>
          <a:effectLst/>
        </p:spPr>
      </p:pic>
      <p:sp>
        <p:nvSpPr>
          <p:cNvPr id="7" name="TextBox 6"/>
          <p:cNvSpPr txBox="1"/>
          <p:nvPr/>
        </p:nvSpPr>
        <p:spPr>
          <a:xfrm>
            <a:off x="642910" y="785794"/>
            <a:ext cx="7786742" cy="1785104"/>
          </a:xfrm>
          <a:prstGeom prst="rect">
            <a:avLst/>
          </a:prstGeom>
          <a:noFill/>
        </p:spPr>
        <p:txBody>
          <a:bodyPr wrap="square" rtlCol="0">
            <a:spAutoFit/>
          </a:bodyPr>
          <a:lstStyle/>
          <a:p>
            <a:pPr algn="just"/>
            <a:r>
              <a:rPr lang="en-IN" sz="2200" dirty="0" smtClean="0">
                <a:latin typeface="Times New Roman" pitchFamily="18" charset="0"/>
                <a:cs typeface="Times New Roman" pitchFamily="18" charset="0"/>
              </a:rPr>
              <a:t>Adaptive; Distributed Routing</a:t>
            </a:r>
          </a:p>
          <a:p>
            <a:pPr algn="just"/>
            <a:r>
              <a:rPr lang="en-IN" sz="2200" dirty="0" smtClean="0">
                <a:latin typeface="Times New Roman" pitchFamily="18" charset="0"/>
                <a:cs typeface="Times New Roman" pitchFamily="18" charset="0"/>
              </a:rPr>
              <a:t>Each node is exchanging information with their neighbours</a:t>
            </a:r>
          </a:p>
          <a:p>
            <a:pPr algn="just"/>
            <a:r>
              <a:rPr lang="en-IN" sz="2200" dirty="0" smtClean="0">
                <a:latin typeface="Times New Roman" pitchFamily="18" charset="0"/>
                <a:cs typeface="Times New Roman" pitchFamily="18" charset="0"/>
              </a:rPr>
              <a:t>Information to be exchanged is the information about the entire network as captured by the specific neighbour node (Routing table)</a:t>
            </a:r>
          </a:p>
          <a:p>
            <a:pPr algn="just"/>
            <a:r>
              <a:rPr lang="en-IN" sz="2200" dirty="0" smtClean="0">
                <a:latin typeface="Times New Roman" pitchFamily="18" charset="0"/>
                <a:cs typeface="Times New Roman" pitchFamily="18" charset="0"/>
              </a:rPr>
              <a:t>Periodic updates; accordingly the routing tables are updated</a:t>
            </a:r>
            <a:endParaRPr lang="en-IN" sz="2200" dirty="0">
              <a:latin typeface="Times New Roman" pitchFamily="18" charset="0"/>
              <a:cs typeface="Times New Roman" pitchFamily="18" charset="0"/>
            </a:endParaRPr>
          </a:p>
        </p:txBody>
      </p:sp>
      <p:sp>
        <p:nvSpPr>
          <p:cNvPr id="8" name="TextBox 7"/>
          <p:cNvSpPr txBox="1"/>
          <p:nvPr/>
        </p:nvSpPr>
        <p:spPr>
          <a:xfrm>
            <a:off x="285720" y="5786454"/>
            <a:ext cx="8215370" cy="707886"/>
          </a:xfrm>
          <a:prstGeom prst="rect">
            <a:avLst/>
          </a:prstGeom>
          <a:noFill/>
        </p:spPr>
        <p:txBody>
          <a:bodyPr wrap="square" rtlCol="0">
            <a:spAutoFit/>
          </a:bodyPr>
          <a:lstStyle/>
          <a:p>
            <a:pPr algn="just"/>
            <a:r>
              <a:rPr lang="en-IN" sz="2000" dirty="0" smtClean="0">
                <a:solidFill>
                  <a:srgbClr val="C00000"/>
                </a:solidFill>
                <a:latin typeface="Times New Roman" pitchFamily="18" charset="0"/>
                <a:cs typeface="Times New Roman" pitchFamily="18" charset="0"/>
              </a:rPr>
              <a:t>Compute new route JG; JG = JA +AG/ JI+IG/ JH+HG/ JK+KG; 8+18/ 10+31/ 12+6/ 6+31; Minimum cost is 18, Next hop to reach G from J will be H.</a:t>
            </a:r>
            <a:endParaRPr lang="en-IN" sz="2000"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Autofit/>
          </a:bodyPr>
          <a:lstStyle/>
          <a:p>
            <a:pPr algn="l"/>
            <a:r>
              <a:rPr lang="en-IN" sz="3600" dirty="0" smtClean="0">
                <a:latin typeface="Times New Roman" pitchFamily="18" charset="0"/>
                <a:cs typeface="Times New Roman" pitchFamily="18" charset="0"/>
              </a:rPr>
              <a:t>Count-to-Infinity Problem</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8</a:t>
            </a:fld>
            <a:endParaRPr lang="en-IN"/>
          </a:p>
        </p:txBody>
      </p:sp>
      <p:pic>
        <p:nvPicPr>
          <p:cNvPr id="1026" name="Picture 2"/>
          <p:cNvPicPr>
            <a:picLocks noGrp="1" noChangeAspect="1" noChangeArrowheads="1"/>
          </p:cNvPicPr>
          <p:nvPr>
            <p:ph idx="1"/>
          </p:nvPr>
        </p:nvPicPr>
        <p:blipFill>
          <a:blip r:embed="rId2"/>
          <a:srcRect/>
          <a:stretch>
            <a:fillRect/>
          </a:stretch>
        </p:blipFill>
        <p:spPr bwMode="auto">
          <a:xfrm>
            <a:off x="571472" y="2571744"/>
            <a:ext cx="8143932" cy="2428893"/>
          </a:xfrm>
          <a:prstGeom prst="rect">
            <a:avLst/>
          </a:prstGeom>
          <a:noFill/>
          <a:ln w="9525">
            <a:noFill/>
            <a:miter lim="800000"/>
            <a:headEnd/>
            <a:tailEnd/>
          </a:ln>
          <a:effectLst/>
        </p:spPr>
      </p:pic>
      <p:sp>
        <p:nvSpPr>
          <p:cNvPr id="7" name="TextBox 6"/>
          <p:cNvSpPr txBox="1"/>
          <p:nvPr/>
        </p:nvSpPr>
        <p:spPr>
          <a:xfrm>
            <a:off x="642910" y="1071546"/>
            <a:ext cx="7643866" cy="830997"/>
          </a:xfrm>
          <a:prstGeom prst="rect">
            <a:avLst/>
          </a:prstGeom>
          <a:noFill/>
        </p:spPr>
        <p:txBody>
          <a:bodyPr wrap="square" rtlCol="0">
            <a:spAutoFit/>
          </a:bodyPr>
          <a:lstStyle/>
          <a:p>
            <a:r>
              <a:rPr lang="en-IN" sz="2400" dirty="0" smtClean="0">
                <a:latin typeface="Times New Roman" pitchFamily="18" charset="0"/>
                <a:cs typeface="Times New Roman" pitchFamily="18" charset="0"/>
              </a:rPr>
              <a:t>Good news propagate within a network in a satisfactory way</a:t>
            </a:r>
          </a:p>
          <a:p>
            <a:r>
              <a:rPr lang="en-IN" sz="2400" dirty="0" smtClean="0">
                <a:solidFill>
                  <a:srgbClr val="C00000"/>
                </a:solidFill>
                <a:latin typeface="Times New Roman" pitchFamily="18" charset="0"/>
                <a:cs typeface="Times New Roman" pitchFamily="18" charset="0"/>
              </a:rPr>
              <a:t>Bad news are  propagating  slowly; which is not desirable</a:t>
            </a:r>
            <a:endParaRPr lang="en-IN" sz="2400"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latin typeface="Times New Roman" pitchFamily="18" charset="0"/>
                <a:cs typeface="Times New Roman" pitchFamily="18" charset="0"/>
              </a:rPr>
              <a:t>Link-State Routing</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00108"/>
            <a:ext cx="8229600" cy="5357850"/>
          </a:xfrm>
        </p:spPr>
        <p:txBody>
          <a:bodyPr>
            <a:normAutofit/>
          </a:bodyPr>
          <a:lstStyle/>
          <a:p>
            <a:pPr algn="just"/>
            <a:r>
              <a:rPr lang="en-IN" sz="2400" dirty="0" smtClean="0">
                <a:latin typeface="Times New Roman" pitchFamily="18" charset="0"/>
                <a:cs typeface="Times New Roman" pitchFamily="18" charset="0"/>
              </a:rPr>
              <a:t>Adaptive; Distributed Routing</a:t>
            </a:r>
          </a:p>
          <a:p>
            <a:pPr algn="just"/>
            <a:r>
              <a:rPr lang="en-IN" sz="2400" dirty="0" smtClean="0">
                <a:latin typeface="Times New Roman" pitchFamily="18" charset="0"/>
                <a:cs typeface="Times New Roman" pitchFamily="18" charset="0"/>
              </a:rPr>
              <a:t>Each node is generating a packet that contains the </a:t>
            </a:r>
            <a:r>
              <a:rPr lang="en-IN" sz="2400" dirty="0" smtClean="0">
                <a:solidFill>
                  <a:srgbClr val="C00000"/>
                </a:solidFill>
                <a:latin typeface="Times New Roman" pitchFamily="18" charset="0"/>
                <a:cs typeface="Times New Roman" pitchFamily="18" charset="0"/>
              </a:rPr>
              <a:t>local information</a:t>
            </a:r>
            <a:r>
              <a:rPr lang="en-IN" sz="2400" dirty="0" smtClean="0">
                <a:latin typeface="Times New Roman" pitchFamily="18" charset="0"/>
                <a:cs typeface="Times New Roman" pitchFamily="18" charset="0"/>
              </a:rPr>
              <a:t> i.e. Information about the neighbours</a:t>
            </a:r>
          </a:p>
          <a:p>
            <a:pPr algn="just"/>
            <a:r>
              <a:rPr lang="en-IN" sz="2400" dirty="0" smtClean="0">
                <a:latin typeface="Times New Roman" pitchFamily="18" charset="0"/>
                <a:cs typeface="Times New Roman" pitchFamily="18" charset="0"/>
              </a:rPr>
              <a:t>Each node </a:t>
            </a:r>
            <a:r>
              <a:rPr lang="en-IN" sz="2400" dirty="0" smtClean="0">
                <a:solidFill>
                  <a:srgbClr val="C00000"/>
                </a:solidFill>
                <a:latin typeface="Times New Roman" pitchFamily="18" charset="0"/>
                <a:cs typeface="Times New Roman" pitchFamily="18" charset="0"/>
              </a:rPr>
              <a:t>floods</a:t>
            </a:r>
            <a:r>
              <a:rPr lang="en-IN" sz="2400" dirty="0" smtClean="0">
                <a:latin typeface="Times New Roman" pitchFamily="18" charset="0"/>
                <a:cs typeface="Times New Roman" pitchFamily="18" charset="0"/>
              </a:rPr>
              <a:t> the packet to all the nodes within the network</a:t>
            </a:r>
          </a:p>
          <a:p>
            <a:pPr algn="just"/>
            <a:r>
              <a:rPr lang="en-IN" sz="2400" dirty="0" smtClean="0">
                <a:latin typeface="Times New Roman" pitchFamily="18" charset="0"/>
                <a:cs typeface="Times New Roman" pitchFamily="18" charset="0"/>
              </a:rPr>
              <a:t>Each node have an accurate perception about the changed topology of the network; thus the </a:t>
            </a:r>
            <a:r>
              <a:rPr lang="en-IN" sz="2400" dirty="0" smtClean="0">
                <a:solidFill>
                  <a:srgbClr val="C00000"/>
                </a:solidFill>
                <a:latin typeface="Times New Roman" pitchFamily="18" charset="0"/>
                <a:cs typeface="Times New Roman" pitchFamily="18" charset="0"/>
              </a:rPr>
              <a:t>decision will be more accurate</a:t>
            </a:r>
            <a:r>
              <a:rPr lang="en-IN" sz="2400" dirty="0" smtClean="0">
                <a:latin typeface="Times New Roman" pitchFamily="18" charset="0"/>
                <a:cs typeface="Times New Roman" pitchFamily="18" charset="0"/>
              </a:rPr>
              <a:t> compared to Distance Vector.</a:t>
            </a:r>
          </a:p>
          <a:p>
            <a:pPr algn="just"/>
            <a:r>
              <a:rPr lang="en-IN" sz="2400" dirty="0" smtClean="0">
                <a:latin typeface="Times New Roman" pitchFamily="18" charset="0"/>
                <a:cs typeface="Times New Roman" pitchFamily="18" charset="0"/>
              </a:rPr>
              <a:t>Demands </a:t>
            </a:r>
            <a:r>
              <a:rPr lang="en-IN" sz="2400" dirty="0" smtClean="0">
                <a:solidFill>
                  <a:srgbClr val="C00000"/>
                </a:solidFill>
                <a:latin typeface="Times New Roman" pitchFamily="18" charset="0"/>
                <a:cs typeface="Times New Roman" pitchFamily="18" charset="0"/>
              </a:rPr>
              <a:t>huge bandwidth </a:t>
            </a:r>
            <a:r>
              <a:rPr lang="en-IN" sz="2400" dirty="0" smtClean="0">
                <a:latin typeface="Times New Roman" pitchFamily="18" charset="0"/>
                <a:cs typeface="Times New Roman" pitchFamily="18" charset="0"/>
              </a:rPr>
              <a:t>due to flooding</a:t>
            </a:r>
          </a:p>
          <a:p>
            <a:pPr algn="just"/>
            <a:r>
              <a:rPr lang="en-IN" sz="2400" dirty="0" smtClean="0">
                <a:latin typeface="Times New Roman" pitchFamily="18" charset="0"/>
                <a:cs typeface="Times New Roman" pitchFamily="18" charset="0"/>
              </a:rPr>
              <a:t>In general </a:t>
            </a:r>
            <a:r>
              <a:rPr lang="en-IN" sz="2400" dirty="0" smtClean="0">
                <a:solidFill>
                  <a:srgbClr val="C00000"/>
                </a:solidFill>
                <a:latin typeface="Times New Roman" pitchFamily="18" charset="0"/>
                <a:cs typeface="Times New Roman" pitchFamily="18" charset="0"/>
              </a:rPr>
              <a:t>No Periodic updates</a:t>
            </a:r>
            <a:r>
              <a:rPr lang="en-IN" sz="2400" dirty="0" smtClean="0">
                <a:latin typeface="Times New Roman" pitchFamily="18" charset="0"/>
                <a:cs typeface="Times New Roman" pitchFamily="18" charset="0"/>
              </a:rPr>
              <a:t>; triggers whenever needed</a:t>
            </a:r>
          </a:p>
          <a:p>
            <a:endParaRPr lang="en-IN"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9</a:t>
            </a:fld>
            <a:endParaRPr lang="en-I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latin typeface="Times New Roman" pitchFamily="18" charset="0"/>
                <a:cs typeface="Times New Roman" pitchFamily="18" charset="0"/>
              </a:rPr>
              <a:t>Link-State Routing</a:t>
            </a:r>
            <a:endParaRPr lang="en-IN" dirty="0"/>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10</a:t>
            </a:fld>
            <a:endParaRPr lang="en-IN"/>
          </a:p>
        </p:txBody>
      </p:sp>
      <p:pic>
        <p:nvPicPr>
          <p:cNvPr id="2050" name="Picture 2"/>
          <p:cNvPicPr>
            <a:picLocks noGrp="1" noChangeAspect="1" noChangeArrowheads="1"/>
          </p:cNvPicPr>
          <p:nvPr>
            <p:ph idx="1"/>
          </p:nvPr>
        </p:nvPicPr>
        <p:blipFill>
          <a:blip r:embed="rId2"/>
          <a:srcRect/>
          <a:stretch>
            <a:fillRect/>
          </a:stretch>
        </p:blipFill>
        <p:spPr bwMode="auto">
          <a:xfrm>
            <a:off x="428596" y="1071546"/>
            <a:ext cx="8286808" cy="2214578"/>
          </a:xfrm>
          <a:prstGeom prst="rect">
            <a:avLst/>
          </a:prstGeom>
          <a:noFill/>
          <a:ln w="9525">
            <a:noFill/>
            <a:miter lim="800000"/>
            <a:headEnd/>
            <a:tailEnd/>
          </a:ln>
          <a:effectLst/>
        </p:spPr>
      </p:pic>
      <p:sp>
        <p:nvSpPr>
          <p:cNvPr id="7" name="TextBox 6"/>
          <p:cNvSpPr txBox="1"/>
          <p:nvPr/>
        </p:nvSpPr>
        <p:spPr>
          <a:xfrm>
            <a:off x="500034" y="3929066"/>
            <a:ext cx="8001056" cy="2462213"/>
          </a:xfrm>
          <a:prstGeom prst="rect">
            <a:avLst/>
          </a:prstGeom>
          <a:noFill/>
        </p:spPr>
        <p:txBody>
          <a:bodyPr wrap="square" rtlCol="0">
            <a:spAutoFit/>
          </a:bodyPr>
          <a:lstStyle/>
          <a:p>
            <a:pPr algn="just"/>
            <a:r>
              <a:rPr lang="en-IN" sz="2200" dirty="0" smtClean="0">
                <a:latin typeface="Times New Roman" pitchFamily="18" charset="0"/>
                <a:cs typeface="Times New Roman" pitchFamily="18" charset="0"/>
              </a:rPr>
              <a:t>Sequence Number:  used for distinguishing between fresh and stale Information ; e.g. A,1..(the Link State Packet generated by A with Sequence Number 1) is the old information compared to (A,2)</a:t>
            </a:r>
          </a:p>
          <a:p>
            <a:pPr algn="just"/>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Age: Counter that ensures that a packet must exist a finite time within network; Chances of congestion will be reduced</a:t>
            </a:r>
          </a:p>
          <a:p>
            <a:pPr algn="just"/>
            <a:r>
              <a:rPr lang="en-IN" sz="2200" dirty="0" smtClean="0">
                <a:latin typeface="Times New Roman" pitchFamily="18" charset="0"/>
                <a:cs typeface="Times New Roman" pitchFamily="18" charset="0"/>
              </a:rPr>
              <a:t>:</a:t>
            </a:r>
            <a:endParaRPr lang="en-IN"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latin typeface="Times New Roman" pitchFamily="18" charset="0"/>
                <a:cs typeface="Times New Roman" pitchFamily="18" charset="0"/>
              </a:rPr>
              <a:t>Link-State Routing</a:t>
            </a:r>
            <a:endParaRPr lang="en-IN" dirty="0"/>
          </a:p>
        </p:txBody>
      </p:sp>
      <p:sp>
        <p:nvSpPr>
          <p:cNvPr id="3" name="Content Placeholder 2"/>
          <p:cNvSpPr>
            <a:spLocks noGrp="1"/>
          </p:cNvSpPr>
          <p:nvPr>
            <p:ph idx="1"/>
          </p:nvPr>
        </p:nvSpPr>
        <p:spPr>
          <a:xfrm>
            <a:off x="457200" y="1000108"/>
            <a:ext cx="8229600" cy="5126055"/>
          </a:xfrm>
        </p:spPr>
        <p:txBody>
          <a:bodyPr>
            <a:normAutofit/>
          </a:bodyPr>
          <a:lstStyle/>
          <a:p>
            <a:pPr algn="just"/>
            <a:r>
              <a:rPr lang="en-IN" sz="2800" dirty="0" smtClean="0">
                <a:latin typeface="Times New Roman" pitchFamily="18" charset="0"/>
                <a:cs typeface="Times New Roman" pitchFamily="18" charset="0"/>
              </a:rPr>
              <a:t>Discover its neighbours and learn their network addresses.</a:t>
            </a:r>
          </a:p>
          <a:p>
            <a:pPr algn="just"/>
            <a:r>
              <a:rPr lang="en-IN" sz="2800" dirty="0" smtClean="0">
                <a:latin typeface="Times New Roman" pitchFamily="18" charset="0"/>
                <a:cs typeface="Times New Roman" pitchFamily="18" charset="0"/>
              </a:rPr>
              <a:t>Set the distance or cost metric to each of its neighbours.</a:t>
            </a:r>
          </a:p>
          <a:p>
            <a:pPr algn="just"/>
            <a:r>
              <a:rPr lang="en-IN" sz="2800" dirty="0" smtClean="0">
                <a:latin typeface="Times New Roman" pitchFamily="18" charset="0"/>
                <a:cs typeface="Times New Roman" pitchFamily="18" charset="0"/>
              </a:rPr>
              <a:t>Construct a packet telling all it has just learned.</a:t>
            </a:r>
          </a:p>
          <a:p>
            <a:pPr algn="just"/>
            <a:r>
              <a:rPr lang="en-IN" sz="2800" dirty="0" smtClean="0">
                <a:latin typeface="Times New Roman" pitchFamily="18" charset="0"/>
                <a:cs typeface="Times New Roman" pitchFamily="18" charset="0"/>
              </a:rPr>
              <a:t>Send this packet to and receive packets from all other routers.</a:t>
            </a:r>
          </a:p>
          <a:p>
            <a:pPr algn="just"/>
            <a:r>
              <a:rPr lang="en-IN" sz="2800" dirty="0" smtClean="0">
                <a:latin typeface="Times New Roman" pitchFamily="18" charset="0"/>
                <a:cs typeface="Times New Roman" pitchFamily="18" charset="0"/>
              </a:rPr>
              <a:t>Compute the shortest path to every other router.</a:t>
            </a:r>
            <a:endParaRPr lang="en-IN"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11</a:t>
            </a:fld>
            <a:endParaRPr lang="en-I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pPr algn="l"/>
            <a:r>
              <a:rPr lang="en-IN" sz="3600" dirty="0" smtClean="0">
                <a:latin typeface="Times New Roman" pitchFamily="18" charset="0"/>
                <a:cs typeface="Times New Roman" pitchFamily="18" charset="0"/>
              </a:rPr>
              <a:t>Hierarchical Routing</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12</a:t>
            </a:fld>
            <a:endParaRPr lang="en-IN"/>
          </a:p>
        </p:txBody>
      </p:sp>
      <p:pic>
        <p:nvPicPr>
          <p:cNvPr id="3074" name="Picture 2"/>
          <p:cNvPicPr>
            <a:picLocks noGrp="1" noChangeAspect="1" noChangeArrowheads="1"/>
          </p:cNvPicPr>
          <p:nvPr>
            <p:ph idx="1"/>
          </p:nvPr>
        </p:nvPicPr>
        <p:blipFill>
          <a:blip r:embed="rId2"/>
          <a:srcRect/>
          <a:stretch>
            <a:fillRect/>
          </a:stretch>
        </p:blipFill>
        <p:spPr bwMode="auto">
          <a:xfrm>
            <a:off x="500034" y="2296319"/>
            <a:ext cx="8286808" cy="2990069"/>
          </a:xfrm>
          <a:prstGeom prst="rect">
            <a:avLst/>
          </a:prstGeom>
          <a:noFill/>
          <a:ln w="9525">
            <a:noFill/>
            <a:miter lim="800000"/>
            <a:headEnd/>
            <a:tailEnd/>
          </a:ln>
          <a:effectLst/>
        </p:spPr>
      </p:pic>
      <p:sp>
        <p:nvSpPr>
          <p:cNvPr id="7" name="TextBox 6"/>
          <p:cNvSpPr txBox="1"/>
          <p:nvPr/>
        </p:nvSpPr>
        <p:spPr>
          <a:xfrm>
            <a:off x="500034" y="928670"/>
            <a:ext cx="7929618" cy="1446550"/>
          </a:xfrm>
          <a:prstGeom prst="rect">
            <a:avLst/>
          </a:prstGeom>
          <a:noFill/>
        </p:spPr>
        <p:txBody>
          <a:bodyPr wrap="square" rtlCol="0">
            <a:spAutoFit/>
          </a:bodyPr>
          <a:lstStyle/>
          <a:p>
            <a:pPr algn="just"/>
            <a:r>
              <a:rPr lang="en-IN" sz="2200" dirty="0" smtClean="0">
                <a:latin typeface="Times New Roman" pitchFamily="18" charset="0"/>
                <a:cs typeface="Times New Roman" pitchFamily="18" charset="0"/>
              </a:rPr>
              <a:t>Routing table becomes large (more entries); More CPU time will be needed to scan them and for subsequent routing decision; chances of congestion will be more.......Solution : Hierarchical routing;  No of entries are less </a:t>
            </a:r>
            <a:endParaRPr lang="en-IN" sz="2200" dirty="0">
              <a:latin typeface="Times New Roman" pitchFamily="18" charset="0"/>
              <a:cs typeface="Times New Roman" pitchFamily="18" charset="0"/>
            </a:endParaRPr>
          </a:p>
        </p:txBody>
      </p:sp>
      <p:sp>
        <p:nvSpPr>
          <p:cNvPr id="8" name="TextBox 7"/>
          <p:cNvSpPr txBox="1"/>
          <p:nvPr/>
        </p:nvSpPr>
        <p:spPr>
          <a:xfrm>
            <a:off x="428596" y="5357826"/>
            <a:ext cx="8358246" cy="1107996"/>
          </a:xfrm>
          <a:prstGeom prst="rect">
            <a:avLst/>
          </a:prstGeom>
          <a:noFill/>
        </p:spPr>
        <p:txBody>
          <a:bodyPr wrap="square" rtlCol="0">
            <a:spAutoFit/>
          </a:bodyPr>
          <a:lstStyle/>
          <a:p>
            <a:pPr algn="just"/>
            <a:r>
              <a:rPr lang="en-IN" sz="2200" dirty="0" smtClean="0">
                <a:solidFill>
                  <a:srgbClr val="C00000"/>
                </a:solidFill>
                <a:latin typeface="Times New Roman" pitchFamily="18" charset="0"/>
                <a:cs typeface="Times New Roman" pitchFamily="18" charset="0"/>
              </a:rPr>
              <a:t>The best route from </a:t>
            </a:r>
            <a:r>
              <a:rPr lang="en-IN" sz="2200" i="1" dirty="0" smtClean="0">
                <a:solidFill>
                  <a:srgbClr val="C00000"/>
                </a:solidFill>
                <a:latin typeface="Times New Roman" pitchFamily="18" charset="0"/>
                <a:cs typeface="Times New Roman" pitchFamily="18" charset="0"/>
              </a:rPr>
              <a:t>1A to 5C is via region 2, </a:t>
            </a:r>
            <a:r>
              <a:rPr lang="en-IN" sz="2200" dirty="0" smtClean="0">
                <a:solidFill>
                  <a:srgbClr val="C00000"/>
                </a:solidFill>
                <a:latin typeface="Times New Roman" pitchFamily="18" charset="0"/>
                <a:cs typeface="Times New Roman" pitchFamily="18" charset="0"/>
              </a:rPr>
              <a:t>but with hierarchical routing all traffic to region 5 goes via region 3, because that is better for most destinations in region 5.</a:t>
            </a:r>
            <a:endParaRPr lang="en-IN" sz="2200"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a:bodyPr>
          <a:lstStyle/>
          <a:p>
            <a:pPr algn="l"/>
            <a:r>
              <a:rPr lang="en-IN" sz="3600" dirty="0" smtClean="0">
                <a:latin typeface="Times New Roman" pitchFamily="18" charset="0"/>
                <a:cs typeface="Times New Roman" pitchFamily="18" charset="0"/>
              </a:rPr>
              <a:t>Broadcast Routing: Sink Tree Broadcasting</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85860"/>
            <a:ext cx="8229600" cy="4840303"/>
          </a:xfrm>
        </p:spPr>
        <p:txBody>
          <a:bodyPr>
            <a:normAutofit/>
          </a:bodyPr>
          <a:lstStyle/>
          <a:p>
            <a:pPr algn="just"/>
            <a:r>
              <a:rPr lang="en-IN" sz="2600" dirty="0" smtClean="0">
                <a:latin typeface="Times New Roman" pitchFamily="18" charset="0"/>
                <a:cs typeface="Times New Roman" pitchFamily="18" charset="0"/>
              </a:rPr>
              <a:t>A spanning tree is a subset of the network that includes all the routers but contains no loops. Sink trees are spanning trees. If each router knows which of its lines belong to the spanning tree, it can copy an incoming broadcast packet onto all the spanning tree lines except the one it arrived on. This method makes excellent use of bandwidth, generating the absolute minimum number of packets necessary to do the job.</a:t>
            </a:r>
          </a:p>
          <a:p>
            <a:pPr algn="just"/>
            <a:r>
              <a:rPr lang="en-IN" sz="2600" dirty="0" smtClean="0">
                <a:latin typeface="Times New Roman" pitchFamily="18" charset="0"/>
                <a:cs typeface="Times New Roman" pitchFamily="18" charset="0"/>
              </a:rPr>
              <a:t>Sink Tree knowledge is essential for each node.</a:t>
            </a:r>
          </a:p>
          <a:p>
            <a:pPr algn="just"/>
            <a:endParaRPr lang="en-IN" sz="22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13</a:t>
            </a:fld>
            <a:endParaRPr lang="en-IN"/>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latin typeface="Times New Roman" pitchFamily="18" charset="0"/>
                <a:cs typeface="Times New Roman" pitchFamily="18" charset="0"/>
              </a:rPr>
              <a:t>Broadcast : Reverse Path Forwarding</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71546"/>
            <a:ext cx="8229600" cy="5054617"/>
          </a:xfrm>
        </p:spPr>
        <p:txBody>
          <a:bodyPr>
            <a:normAutofit fontScale="85000" lnSpcReduction="10000"/>
          </a:bodyPr>
          <a:lstStyle/>
          <a:p>
            <a:pPr algn="just"/>
            <a:r>
              <a:rPr lang="en-IN" dirty="0" smtClean="0">
                <a:latin typeface="Times New Roman" pitchFamily="18" charset="0"/>
                <a:cs typeface="Times New Roman" pitchFamily="18" charset="0"/>
              </a:rPr>
              <a:t>When a broadcast packet arrives at a router, the router checks to see if the packet arrived on the link that is normally used (</a:t>
            </a:r>
            <a:r>
              <a:rPr lang="en-IN" dirty="0" smtClean="0">
                <a:solidFill>
                  <a:srgbClr val="C00000"/>
                </a:solidFill>
                <a:latin typeface="Times New Roman" pitchFamily="18" charset="0"/>
                <a:cs typeface="Times New Roman" pitchFamily="18" charset="0"/>
              </a:rPr>
              <a:t>link within Sink Tree</a:t>
            </a:r>
            <a:r>
              <a:rPr lang="en-IN" dirty="0" smtClean="0">
                <a:latin typeface="Times New Roman" pitchFamily="18" charset="0"/>
                <a:cs typeface="Times New Roman" pitchFamily="18" charset="0"/>
              </a:rPr>
              <a:t>) for sending packets toward the source of the broadcast. (</a:t>
            </a:r>
            <a:r>
              <a:rPr lang="en-IN" dirty="0" err="1" smtClean="0">
                <a:solidFill>
                  <a:srgbClr val="C00000"/>
                </a:solidFill>
                <a:latin typeface="Times New Roman" pitchFamily="18" charset="0"/>
                <a:cs typeface="Times New Roman" pitchFamily="18" charset="0"/>
              </a:rPr>
              <a:t>Unicast</a:t>
            </a:r>
            <a:r>
              <a:rPr lang="en-IN" dirty="0" smtClean="0">
                <a:solidFill>
                  <a:srgbClr val="C00000"/>
                </a:solidFill>
                <a:latin typeface="Times New Roman" pitchFamily="18" charset="0"/>
                <a:cs typeface="Times New Roman" pitchFamily="18" charset="0"/>
              </a:rPr>
              <a:t> Routing table can be used for this purpose</a:t>
            </a:r>
            <a:r>
              <a:rPr lang="en-IN" dirty="0" smtClean="0">
                <a:latin typeface="Times New Roman" pitchFamily="18" charset="0"/>
                <a:cs typeface="Times New Roman" pitchFamily="18" charset="0"/>
              </a:rPr>
              <a:t>)</a:t>
            </a:r>
            <a:endParaRPr lang="en-IN" i="1" dirty="0" smtClean="0">
              <a:latin typeface="Times New Roman" pitchFamily="18" charset="0"/>
              <a:cs typeface="Times New Roman" pitchFamily="18" charset="0"/>
            </a:endParaRPr>
          </a:p>
          <a:p>
            <a:pPr algn="just"/>
            <a:r>
              <a:rPr lang="en-IN" dirty="0" smtClean="0">
                <a:latin typeface="Times New Roman" pitchFamily="18" charset="0"/>
                <a:cs typeface="Times New Roman" pitchFamily="18" charset="0"/>
              </a:rPr>
              <a:t>There is an excellent chance that the broadcast packet itself followed the best route from the router and is therefore the first copy to arrive at the router. This being the case, the router forwards copies of it onto all links except the one it arrived on. If, however, the broadcast packet arrived on a link other than the preferred one for reaching the source, the packet is discarded as a likely duplicate.</a:t>
            </a:r>
          </a:p>
          <a:p>
            <a:endParaRPr lang="en-IN" dirty="0"/>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14</a:t>
            </a:fld>
            <a:endParaRPr lang="en-I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pPr algn="l"/>
            <a:r>
              <a:rPr lang="en-IN" sz="3600" dirty="0" smtClean="0">
                <a:latin typeface="Times New Roman" pitchFamily="18" charset="0"/>
                <a:cs typeface="Times New Roman" pitchFamily="18" charset="0"/>
              </a:rPr>
              <a:t>Broadcast Routing</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15</a:t>
            </a:fld>
            <a:endParaRPr lang="en-IN"/>
          </a:p>
        </p:txBody>
      </p:sp>
      <p:pic>
        <p:nvPicPr>
          <p:cNvPr id="4098" name="Picture 2"/>
          <p:cNvPicPr>
            <a:picLocks noGrp="1" noChangeAspect="1" noChangeArrowheads="1"/>
          </p:cNvPicPr>
          <p:nvPr>
            <p:ph idx="1"/>
          </p:nvPr>
        </p:nvPicPr>
        <p:blipFill>
          <a:blip r:embed="rId2"/>
          <a:srcRect/>
          <a:stretch>
            <a:fillRect/>
          </a:stretch>
        </p:blipFill>
        <p:spPr bwMode="auto">
          <a:xfrm>
            <a:off x="357158" y="857232"/>
            <a:ext cx="8501122" cy="4000528"/>
          </a:xfrm>
          <a:prstGeom prst="rect">
            <a:avLst/>
          </a:prstGeom>
          <a:noFill/>
          <a:ln w="9525">
            <a:noFill/>
            <a:miter lim="800000"/>
            <a:headEnd/>
            <a:tailEnd/>
          </a:ln>
          <a:effectLst/>
        </p:spPr>
      </p:pic>
      <p:sp>
        <p:nvSpPr>
          <p:cNvPr id="7" name="TextBox 6"/>
          <p:cNvSpPr txBox="1"/>
          <p:nvPr/>
        </p:nvSpPr>
        <p:spPr>
          <a:xfrm>
            <a:off x="500034" y="4786322"/>
            <a:ext cx="8143932" cy="830997"/>
          </a:xfrm>
          <a:prstGeom prst="rect">
            <a:avLst/>
          </a:prstGeom>
          <a:noFill/>
        </p:spPr>
        <p:txBody>
          <a:bodyPr wrap="square" rtlCol="0">
            <a:spAutoFit/>
          </a:bodyPr>
          <a:lstStyle/>
          <a:p>
            <a:r>
              <a:rPr lang="en-IN" sz="2400" dirty="0" smtClean="0">
                <a:solidFill>
                  <a:srgbClr val="C00000"/>
                </a:solidFill>
                <a:latin typeface="Times New Roman" pitchFamily="18" charset="0"/>
                <a:cs typeface="Times New Roman" pitchFamily="18" charset="0"/>
              </a:rPr>
              <a:t>Number of packet generation in Sink Tree = 14</a:t>
            </a:r>
          </a:p>
          <a:p>
            <a:r>
              <a:rPr lang="en-IN" sz="2400" dirty="0" smtClean="0">
                <a:solidFill>
                  <a:srgbClr val="C00000"/>
                </a:solidFill>
                <a:latin typeface="Times New Roman" pitchFamily="18" charset="0"/>
                <a:cs typeface="Times New Roman" pitchFamily="18" charset="0"/>
              </a:rPr>
              <a:t>Number of Packet generation in Reverse Path Forwarding =  24</a:t>
            </a:r>
            <a:endParaRPr lang="en-IN" sz="2400"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16</a:t>
            </a:fld>
            <a:endParaRPr lang="en-IN"/>
          </a:p>
        </p:txBody>
      </p:sp>
      <p:pic>
        <p:nvPicPr>
          <p:cNvPr id="1026" name="Picture 2"/>
          <p:cNvPicPr>
            <a:picLocks noGrp="1" noChangeAspect="1" noChangeArrowheads="1"/>
          </p:cNvPicPr>
          <p:nvPr>
            <p:ph idx="1"/>
          </p:nvPr>
        </p:nvPicPr>
        <p:blipFill>
          <a:blip r:embed="rId2"/>
          <a:srcRect/>
          <a:stretch>
            <a:fillRect/>
          </a:stretch>
        </p:blipFill>
        <p:spPr bwMode="auto">
          <a:xfrm>
            <a:off x="857224" y="1214422"/>
            <a:ext cx="7286676" cy="54292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Autofit/>
          </a:bodyPr>
          <a:lstStyle/>
          <a:p>
            <a:pPr algn="l"/>
            <a:r>
              <a:rPr lang="en-IN" sz="3600" dirty="0" smtClean="0">
                <a:latin typeface="Times New Roman" pitchFamily="18" charset="0"/>
                <a:cs typeface="Times New Roman" pitchFamily="18" charset="0"/>
              </a:rPr>
              <a:t>IP (Logical) Addressing</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71546"/>
            <a:ext cx="8229600" cy="5054617"/>
          </a:xfrm>
        </p:spPr>
        <p:txBody>
          <a:bodyPr>
            <a:normAutofit/>
          </a:bodyPr>
          <a:lstStyle/>
          <a:p>
            <a:pPr algn="just"/>
            <a:r>
              <a:rPr lang="en-IN" sz="2800" dirty="0" smtClean="0">
                <a:latin typeface="Times New Roman" pitchFamily="18" charset="0"/>
                <a:cs typeface="Times New Roman" pitchFamily="18" charset="0"/>
              </a:rPr>
              <a:t>Identifier used to uniquely identify each device connected to the Internet</a:t>
            </a:r>
          </a:p>
          <a:p>
            <a:pPr algn="just"/>
            <a:r>
              <a:rPr lang="en-IN" sz="2800" dirty="0" smtClean="0">
                <a:latin typeface="Times New Roman" pitchFamily="18" charset="0"/>
                <a:cs typeface="Times New Roman" pitchFamily="18" charset="0"/>
              </a:rPr>
              <a:t>Two devices in Internet never have one IP at a time instant; but one device may have more than one IP addresses (Multi-homed devices) provided the device has two connections in the Internet via two networks</a:t>
            </a:r>
          </a:p>
          <a:p>
            <a:pPr algn="just"/>
            <a:r>
              <a:rPr lang="en-IN" sz="2800" dirty="0" smtClean="0">
                <a:latin typeface="Times New Roman" pitchFamily="18" charset="0"/>
                <a:cs typeface="Times New Roman" pitchFamily="18" charset="0"/>
              </a:rPr>
              <a:t>32 bit address expressed in dotted decimal format e.g. 241.132.40.19</a:t>
            </a:r>
          </a:p>
          <a:p>
            <a:pPr algn="just"/>
            <a:r>
              <a:rPr lang="en-IN" sz="2800" dirty="0" smtClean="0">
                <a:latin typeface="Times New Roman" pitchFamily="18" charset="0"/>
                <a:cs typeface="Times New Roman" pitchFamily="18" charset="0"/>
              </a:rPr>
              <a:t>Universal means all the nodes, interested to connect in Internet, must accept it </a:t>
            </a:r>
            <a:endParaRPr lang="en-IN"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17</a:t>
            </a:fld>
            <a:endParaRPr lang="en-I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ChangeArrowheads="1"/>
          </p:cNvSpPr>
          <p:nvPr/>
        </p:nvSpPr>
        <p:spPr bwMode="auto">
          <a:xfrm>
            <a:off x="1662113" y="4862513"/>
            <a:ext cx="4581525" cy="333375"/>
          </a:xfrm>
          <a:prstGeom prst="rect">
            <a:avLst/>
          </a:prstGeom>
          <a:solidFill>
            <a:srgbClr val="247C41"/>
          </a:solidFill>
          <a:ln w="9525">
            <a:noFill/>
            <a:round/>
            <a:headEnd/>
            <a:tailEnd/>
          </a:ln>
        </p:spPr>
        <p:txBody>
          <a:bodyPr wrap="none" anchor="ctr"/>
          <a:lstStyle/>
          <a:p>
            <a:endParaRPr lang="en-IN"/>
          </a:p>
        </p:txBody>
      </p:sp>
      <p:sp>
        <p:nvSpPr>
          <p:cNvPr id="30723" name="Rectangle 2"/>
          <p:cNvSpPr>
            <a:spLocks noChangeArrowheads="1"/>
          </p:cNvSpPr>
          <p:nvPr/>
        </p:nvSpPr>
        <p:spPr bwMode="auto">
          <a:xfrm>
            <a:off x="1643063" y="4224338"/>
            <a:ext cx="4581525" cy="333375"/>
          </a:xfrm>
          <a:prstGeom prst="rect">
            <a:avLst/>
          </a:prstGeom>
          <a:solidFill>
            <a:srgbClr val="247C41"/>
          </a:solidFill>
          <a:ln w="9525">
            <a:noFill/>
            <a:round/>
            <a:headEnd/>
            <a:tailEnd/>
          </a:ln>
        </p:spPr>
        <p:txBody>
          <a:bodyPr wrap="none" anchor="ctr"/>
          <a:lstStyle/>
          <a:p>
            <a:endParaRPr lang="en-IN"/>
          </a:p>
        </p:txBody>
      </p:sp>
      <p:sp>
        <p:nvSpPr>
          <p:cNvPr id="30724" name="Rectangle 3"/>
          <p:cNvSpPr>
            <a:spLocks noChangeArrowheads="1"/>
          </p:cNvSpPr>
          <p:nvPr/>
        </p:nvSpPr>
        <p:spPr bwMode="auto">
          <a:xfrm>
            <a:off x="1643063" y="3614738"/>
            <a:ext cx="4581525" cy="333375"/>
          </a:xfrm>
          <a:prstGeom prst="rect">
            <a:avLst/>
          </a:prstGeom>
          <a:solidFill>
            <a:srgbClr val="247C41"/>
          </a:solidFill>
          <a:ln w="9525">
            <a:noFill/>
            <a:round/>
            <a:headEnd/>
            <a:tailEnd/>
          </a:ln>
        </p:spPr>
        <p:txBody>
          <a:bodyPr wrap="none" anchor="ctr"/>
          <a:lstStyle/>
          <a:p>
            <a:endParaRPr lang="en-IN"/>
          </a:p>
        </p:txBody>
      </p:sp>
      <p:sp>
        <p:nvSpPr>
          <p:cNvPr id="30725" name="Rectangle 4"/>
          <p:cNvSpPr>
            <a:spLocks noChangeArrowheads="1"/>
          </p:cNvSpPr>
          <p:nvPr/>
        </p:nvSpPr>
        <p:spPr bwMode="auto">
          <a:xfrm>
            <a:off x="1652588" y="3014663"/>
            <a:ext cx="4581525" cy="333375"/>
          </a:xfrm>
          <a:prstGeom prst="rect">
            <a:avLst/>
          </a:prstGeom>
          <a:solidFill>
            <a:srgbClr val="247C41"/>
          </a:solidFill>
          <a:ln w="9525">
            <a:noFill/>
            <a:round/>
            <a:headEnd/>
            <a:tailEnd/>
          </a:ln>
        </p:spPr>
        <p:txBody>
          <a:bodyPr wrap="none" anchor="ctr"/>
          <a:lstStyle/>
          <a:p>
            <a:endParaRPr lang="en-IN"/>
          </a:p>
        </p:txBody>
      </p:sp>
      <p:sp>
        <p:nvSpPr>
          <p:cNvPr id="30726" name="Rectangle 5"/>
          <p:cNvSpPr>
            <a:spLocks noGrp="1" noChangeArrowheads="1"/>
          </p:cNvSpPr>
          <p:nvPr>
            <p:ph type="title" idx="4294967295"/>
          </p:nvPr>
        </p:nvSpPr>
        <p:spPr>
          <a:xfrm>
            <a:off x="457200" y="274638"/>
            <a:ext cx="8229600" cy="646331"/>
          </a:xfrm>
        </p:spPr>
        <p:txBody>
          <a:bodyPr>
            <a:spAutoFit/>
          </a:bodyPr>
          <a:lstStyle/>
          <a:p>
            <a:pPr algn="l" eaLnBrk="1" hangingPunct="1">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3600" dirty="0" err="1" smtClean="0">
                <a:latin typeface="Times New Roman" pitchFamily="18" charset="0"/>
                <a:cs typeface="Times New Roman" pitchFamily="18" charset="0"/>
              </a:rPr>
              <a:t>Classful</a:t>
            </a:r>
            <a:r>
              <a:rPr lang="en-GB" sz="3600" dirty="0" smtClean="0">
                <a:latin typeface="Times New Roman" pitchFamily="18" charset="0"/>
                <a:cs typeface="Times New Roman" pitchFamily="18" charset="0"/>
              </a:rPr>
              <a:t> IP Addressing</a:t>
            </a:r>
          </a:p>
        </p:txBody>
      </p:sp>
      <p:sp>
        <p:nvSpPr>
          <p:cNvPr id="30727" name="Rectangle 6"/>
          <p:cNvSpPr>
            <a:spLocks noChangeArrowheads="1"/>
          </p:cNvSpPr>
          <p:nvPr/>
        </p:nvSpPr>
        <p:spPr bwMode="auto">
          <a:xfrm>
            <a:off x="1604963" y="3071813"/>
            <a:ext cx="4581525" cy="333375"/>
          </a:xfrm>
          <a:prstGeom prst="rect">
            <a:avLst/>
          </a:prstGeom>
          <a:solidFill>
            <a:srgbClr val="FFFFBF"/>
          </a:solidFill>
          <a:ln w="19080">
            <a:solidFill>
              <a:srgbClr val="000000"/>
            </a:solidFill>
            <a:miter lim="800000"/>
            <a:headEnd/>
            <a:tailEnd/>
          </a:ln>
        </p:spPr>
        <p:txBody>
          <a:bodyPr wrap="none" anchor="ctr"/>
          <a:lstStyle/>
          <a:p>
            <a:endParaRPr lang="en-IN"/>
          </a:p>
        </p:txBody>
      </p:sp>
      <p:sp>
        <p:nvSpPr>
          <p:cNvPr id="30728" name="Text Box 7"/>
          <p:cNvSpPr txBox="1">
            <a:spLocks noChangeArrowheads="1"/>
          </p:cNvSpPr>
          <p:nvPr/>
        </p:nvSpPr>
        <p:spPr bwMode="auto">
          <a:xfrm>
            <a:off x="1589088" y="3065463"/>
            <a:ext cx="325437" cy="368300"/>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solidFill>
                  <a:srgbClr val="000000"/>
                </a:solidFill>
                <a:latin typeface="Comic Sans MS" pitchFamily="66" charset="0"/>
              </a:rPr>
              <a:t>0</a:t>
            </a:r>
          </a:p>
        </p:txBody>
      </p:sp>
      <p:sp>
        <p:nvSpPr>
          <p:cNvPr id="30729" name="Text Box 8"/>
          <p:cNvSpPr txBox="1">
            <a:spLocks noChangeArrowheads="1"/>
          </p:cNvSpPr>
          <p:nvPr/>
        </p:nvSpPr>
        <p:spPr bwMode="auto">
          <a:xfrm>
            <a:off x="1751013" y="3036888"/>
            <a:ext cx="1111250" cy="368300"/>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solidFill>
                  <a:srgbClr val="000000"/>
                </a:solidFill>
                <a:latin typeface="Comic Sans MS" pitchFamily="66" charset="0"/>
              </a:rPr>
              <a:t>network</a:t>
            </a:r>
          </a:p>
        </p:txBody>
      </p:sp>
      <p:sp>
        <p:nvSpPr>
          <p:cNvPr id="30730" name="Text Box 9"/>
          <p:cNvSpPr txBox="1">
            <a:spLocks noChangeArrowheads="1"/>
          </p:cNvSpPr>
          <p:nvPr/>
        </p:nvSpPr>
        <p:spPr bwMode="auto">
          <a:xfrm>
            <a:off x="4075113" y="3065463"/>
            <a:ext cx="674687" cy="368300"/>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solidFill>
                  <a:srgbClr val="000000"/>
                </a:solidFill>
                <a:latin typeface="Comic Sans MS" pitchFamily="66" charset="0"/>
              </a:rPr>
              <a:t>host</a:t>
            </a:r>
          </a:p>
        </p:txBody>
      </p:sp>
      <p:sp>
        <p:nvSpPr>
          <p:cNvPr id="30731" name="Line 10"/>
          <p:cNvSpPr>
            <a:spLocks noChangeShapeType="1"/>
          </p:cNvSpPr>
          <p:nvPr/>
        </p:nvSpPr>
        <p:spPr bwMode="auto">
          <a:xfrm>
            <a:off x="2757488" y="3071813"/>
            <a:ext cx="1587" cy="342900"/>
          </a:xfrm>
          <a:prstGeom prst="line">
            <a:avLst/>
          </a:prstGeom>
          <a:noFill/>
          <a:ln w="9360">
            <a:solidFill>
              <a:srgbClr val="000000"/>
            </a:solidFill>
            <a:miter lim="800000"/>
            <a:headEnd/>
            <a:tailEnd/>
          </a:ln>
        </p:spPr>
        <p:txBody>
          <a:bodyPr/>
          <a:lstStyle/>
          <a:p>
            <a:endParaRPr lang="en-IN"/>
          </a:p>
        </p:txBody>
      </p:sp>
      <p:grpSp>
        <p:nvGrpSpPr>
          <p:cNvPr id="2" name="Group 11"/>
          <p:cNvGrpSpPr>
            <a:grpSpLocks/>
          </p:cNvGrpSpPr>
          <p:nvPr/>
        </p:nvGrpSpPr>
        <p:grpSpPr bwMode="auto">
          <a:xfrm>
            <a:off x="3852863" y="3071813"/>
            <a:ext cx="93662" cy="341312"/>
            <a:chOff x="2427" y="1935"/>
            <a:chExt cx="59" cy="215"/>
          </a:xfrm>
        </p:grpSpPr>
        <p:sp>
          <p:nvSpPr>
            <p:cNvPr id="30787" name="Line 12"/>
            <p:cNvSpPr>
              <a:spLocks noChangeShapeType="1"/>
            </p:cNvSpPr>
            <p:nvPr/>
          </p:nvSpPr>
          <p:spPr bwMode="auto">
            <a:xfrm>
              <a:off x="2457" y="1935"/>
              <a:ext cx="1" cy="216"/>
            </a:xfrm>
            <a:prstGeom prst="line">
              <a:avLst/>
            </a:prstGeom>
            <a:noFill/>
            <a:ln w="9360">
              <a:solidFill>
                <a:srgbClr val="000000"/>
              </a:solidFill>
              <a:miter lim="800000"/>
              <a:headEnd/>
              <a:tailEnd/>
            </a:ln>
          </p:spPr>
          <p:txBody>
            <a:bodyPr/>
            <a:lstStyle/>
            <a:p>
              <a:endParaRPr lang="en-IN"/>
            </a:p>
          </p:txBody>
        </p:sp>
        <p:sp>
          <p:nvSpPr>
            <p:cNvPr id="30788" name="Rectangle 13"/>
            <p:cNvSpPr>
              <a:spLocks noChangeArrowheads="1"/>
            </p:cNvSpPr>
            <p:nvPr/>
          </p:nvSpPr>
          <p:spPr bwMode="auto">
            <a:xfrm>
              <a:off x="2427" y="1977"/>
              <a:ext cx="60" cy="120"/>
            </a:xfrm>
            <a:prstGeom prst="rect">
              <a:avLst/>
            </a:prstGeom>
            <a:solidFill>
              <a:srgbClr val="FFFFBF"/>
            </a:solidFill>
            <a:ln w="9525">
              <a:noFill/>
              <a:round/>
              <a:headEnd/>
              <a:tailEnd/>
            </a:ln>
          </p:spPr>
          <p:txBody>
            <a:bodyPr wrap="none" anchor="ctr"/>
            <a:lstStyle/>
            <a:p>
              <a:endParaRPr lang="en-IN"/>
            </a:p>
          </p:txBody>
        </p:sp>
      </p:grpSp>
      <p:grpSp>
        <p:nvGrpSpPr>
          <p:cNvPr id="3" name="Group 14"/>
          <p:cNvGrpSpPr>
            <a:grpSpLocks/>
          </p:cNvGrpSpPr>
          <p:nvPr/>
        </p:nvGrpSpPr>
        <p:grpSpPr bwMode="auto">
          <a:xfrm>
            <a:off x="4938713" y="3071813"/>
            <a:ext cx="93662" cy="341312"/>
            <a:chOff x="3111" y="1935"/>
            <a:chExt cx="59" cy="215"/>
          </a:xfrm>
        </p:grpSpPr>
        <p:sp>
          <p:nvSpPr>
            <p:cNvPr id="30785" name="Line 15"/>
            <p:cNvSpPr>
              <a:spLocks noChangeShapeType="1"/>
            </p:cNvSpPr>
            <p:nvPr/>
          </p:nvSpPr>
          <p:spPr bwMode="auto">
            <a:xfrm>
              <a:off x="3141" y="1935"/>
              <a:ext cx="1" cy="216"/>
            </a:xfrm>
            <a:prstGeom prst="line">
              <a:avLst/>
            </a:prstGeom>
            <a:noFill/>
            <a:ln w="9360">
              <a:solidFill>
                <a:srgbClr val="000000"/>
              </a:solidFill>
              <a:miter lim="800000"/>
              <a:headEnd/>
              <a:tailEnd/>
            </a:ln>
          </p:spPr>
          <p:txBody>
            <a:bodyPr/>
            <a:lstStyle/>
            <a:p>
              <a:endParaRPr lang="en-IN"/>
            </a:p>
          </p:txBody>
        </p:sp>
        <p:sp>
          <p:nvSpPr>
            <p:cNvPr id="30786" name="Rectangle 16"/>
            <p:cNvSpPr>
              <a:spLocks noChangeArrowheads="1"/>
            </p:cNvSpPr>
            <p:nvPr/>
          </p:nvSpPr>
          <p:spPr bwMode="auto">
            <a:xfrm>
              <a:off x="3111" y="1977"/>
              <a:ext cx="60" cy="120"/>
            </a:xfrm>
            <a:prstGeom prst="rect">
              <a:avLst/>
            </a:prstGeom>
            <a:solidFill>
              <a:srgbClr val="FFFFBF"/>
            </a:solidFill>
            <a:ln w="9525">
              <a:noFill/>
              <a:round/>
              <a:headEnd/>
              <a:tailEnd/>
            </a:ln>
          </p:spPr>
          <p:txBody>
            <a:bodyPr wrap="none" anchor="ctr"/>
            <a:lstStyle/>
            <a:p>
              <a:endParaRPr lang="en-IN"/>
            </a:p>
          </p:txBody>
        </p:sp>
      </p:grpSp>
      <p:grpSp>
        <p:nvGrpSpPr>
          <p:cNvPr id="4" name="Group 17"/>
          <p:cNvGrpSpPr>
            <a:grpSpLocks/>
          </p:cNvGrpSpPr>
          <p:nvPr/>
        </p:nvGrpSpPr>
        <p:grpSpPr bwMode="auto">
          <a:xfrm>
            <a:off x="1598613" y="3627438"/>
            <a:ext cx="4595812" cy="395287"/>
            <a:chOff x="1007" y="2285"/>
            <a:chExt cx="2895" cy="249"/>
          </a:xfrm>
        </p:grpSpPr>
        <p:sp>
          <p:nvSpPr>
            <p:cNvPr id="30774" name="Rectangle 18"/>
            <p:cNvSpPr>
              <a:spLocks noChangeArrowheads="1"/>
            </p:cNvSpPr>
            <p:nvPr/>
          </p:nvSpPr>
          <p:spPr bwMode="auto">
            <a:xfrm>
              <a:off x="1017" y="2307"/>
              <a:ext cx="2886" cy="210"/>
            </a:xfrm>
            <a:prstGeom prst="rect">
              <a:avLst/>
            </a:prstGeom>
            <a:solidFill>
              <a:srgbClr val="FFFFBF"/>
            </a:solidFill>
            <a:ln w="19080">
              <a:solidFill>
                <a:srgbClr val="000000"/>
              </a:solidFill>
              <a:miter lim="800000"/>
              <a:headEnd/>
              <a:tailEnd/>
            </a:ln>
          </p:spPr>
          <p:txBody>
            <a:bodyPr wrap="none" anchor="ctr"/>
            <a:lstStyle/>
            <a:p>
              <a:endParaRPr lang="en-IN"/>
            </a:p>
          </p:txBody>
        </p:sp>
        <p:sp>
          <p:nvSpPr>
            <p:cNvPr id="30775" name="Text Box 19"/>
            <p:cNvSpPr txBox="1">
              <a:spLocks noChangeArrowheads="1"/>
            </p:cNvSpPr>
            <p:nvPr/>
          </p:nvSpPr>
          <p:spPr bwMode="auto">
            <a:xfrm>
              <a:off x="1007" y="2303"/>
              <a:ext cx="296" cy="232"/>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solidFill>
                    <a:srgbClr val="000000"/>
                  </a:solidFill>
                  <a:latin typeface="Comic Sans MS" pitchFamily="66" charset="0"/>
                </a:rPr>
                <a:t>10</a:t>
              </a:r>
            </a:p>
          </p:txBody>
        </p:sp>
        <p:sp>
          <p:nvSpPr>
            <p:cNvPr id="30776" name="Line 20"/>
            <p:cNvSpPr>
              <a:spLocks noChangeShapeType="1"/>
            </p:cNvSpPr>
            <p:nvPr/>
          </p:nvSpPr>
          <p:spPr bwMode="auto">
            <a:xfrm>
              <a:off x="2463" y="2307"/>
              <a:ext cx="1" cy="216"/>
            </a:xfrm>
            <a:prstGeom prst="line">
              <a:avLst/>
            </a:prstGeom>
            <a:noFill/>
            <a:ln w="9360">
              <a:solidFill>
                <a:srgbClr val="000000"/>
              </a:solidFill>
              <a:miter lim="800000"/>
              <a:headEnd/>
              <a:tailEnd/>
            </a:ln>
          </p:spPr>
          <p:txBody>
            <a:bodyPr/>
            <a:lstStyle/>
            <a:p>
              <a:endParaRPr lang="en-IN"/>
            </a:p>
          </p:txBody>
        </p:sp>
        <p:grpSp>
          <p:nvGrpSpPr>
            <p:cNvPr id="5" name="Group 21"/>
            <p:cNvGrpSpPr>
              <a:grpSpLocks/>
            </p:cNvGrpSpPr>
            <p:nvPr/>
          </p:nvGrpSpPr>
          <p:grpSpPr bwMode="auto">
            <a:xfrm>
              <a:off x="1713" y="2307"/>
              <a:ext cx="59" cy="215"/>
              <a:chOff x="1713" y="2307"/>
              <a:chExt cx="59" cy="215"/>
            </a:xfrm>
          </p:grpSpPr>
          <p:sp>
            <p:nvSpPr>
              <p:cNvPr id="30783" name="Line 22"/>
              <p:cNvSpPr>
                <a:spLocks noChangeShapeType="1"/>
              </p:cNvSpPr>
              <p:nvPr/>
            </p:nvSpPr>
            <p:spPr bwMode="auto">
              <a:xfrm>
                <a:off x="1743" y="2307"/>
                <a:ext cx="1" cy="216"/>
              </a:xfrm>
              <a:prstGeom prst="line">
                <a:avLst/>
              </a:prstGeom>
              <a:noFill/>
              <a:ln w="9360">
                <a:solidFill>
                  <a:srgbClr val="000000"/>
                </a:solidFill>
                <a:miter lim="800000"/>
                <a:headEnd/>
                <a:tailEnd/>
              </a:ln>
            </p:spPr>
            <p:txBody>
              <a:bodyPr/>
              <a:lstStyle/>
              <a:p>
                <a:endParaRPr lang="en-IN"/>
              </a:p>
            </p:txBody>
          </p:sp>
          <p:sp>
            <p:nvSpPr>
              <p:cNvPr id="30784" name="Rectangle 23"/>
              <p:cNvSpPr>
                <a:spLocks noChangeArrowheads="1"/>
              </p:cNvSpPr>
              <p:nvPr/>
            </p:nvSpPr>
            <p:spPr bwMode="auto">
              <a:xfrm>
                <a:off x="1713" y="2349"/>
                <a:ext cx="60" cy="120"/>
              </a:xfrm>
              <a:prstGeom prst="rect">
                <a:avLst/>
              </a:prstGeom>
              <a:solidFill>
                <a:srgbClr val="FFFFBF"/>
              </a:solidFill>
              <a:ln w="9525">
                <a:noFill/>
                <a:round/>
                <a:headEnd/>
                <a:tailEnd/>
              </a:ln>
            </p:spPr>
            <p:txBody>
              <a:bodyPr wrap="none" anchor="ctr"/>
              <a:lstStyle/>
              <a:p>
                <a:endParaRPr lang="en-IN"/>
              </a:p>
            </p:txBody>
          </p:sp>
        </p:grpSp>
        <p:grpSp>
          <p:nvGrpSpPr>
            <p:cNvPr id="6" name="Group 24"/>
            <p:cNvGrpSpPr>
              <a:grpSpLocks/>
            </p:cNvGrpSpPr>
            <p:nvPr/>
          </p:nvGrpSpPr>
          <p:grpSpPr bwMode="auto">
            <a:xfrm>
              <a:off x="3117" y="2307"/>
              <a:ext cx="59" cy="215"/>
              <a:chOff x="3117" y="2307"/>
              <a:chExt cx="59" cy="215"/>
            </a:xfrm>
          </p:grpSpPr>
          <p:sp>
            <p:nvSpPr>
              <p:cNvPr id="30781" name="Line 25"/>
              <p:cNvSpPr>
                <a:spLocks noChangeShapeType="1"/>
              </p:cNvSpPr>
              <p:nvPr/>
            </p:nvSpPr>
            <p:spPr bwMode="auto">
              <a:xfrm>
                <a:off x="3147" y="2307"/>
                <a:ext cx="1" cy="216"/>
              </a:xfrm>
              <a:prstGeom prst="line">
                <a:avLst/>
              </a:prstGeom>
              <a:noFill/>
              <a:ln w="9360">
                <a:solidFill>
                  <a:srgbClr val="000000"/>
                </a:solidFill>
                <a:miter lim="800000"/>
                <a:headEnd/>
                <a:tailEnd/>
              </a:ln>
            </p:spPr>
            <p:txBody>
              <a:bodyPr/>
              <a:lstStyle/>
              <a:p>
                <a:endParaRPr lang="en-IN"/>
              </a:p>
            </p:txBody>
          </p:sp>
          <p:sp>
            <p:nvSpPr>
              <p:cNvPr id="30782" name="Rectangle 26"/>
              <p:cNvSpPr>
                <a:spLocks noChangeArrowheads="1"/>
              </p:cNvSpPr>
              <p:nvPr/>
            </p:nvSpPr>
            <p:spPr bwMode="auto">
              <a:xfrm>
                <a:off x="3117" y="2349"/>
                <a:ext cx="60" cy="120"/>
              </a:xfrm>
              <a:prstGeom prst="rect">
                <a:avLst/>
              </a:prstGeom>
              <a:solidFill>
                <a:srgbClr val="FFFFBF"/>
              </a:solidFill>
              <a:ln w="9525">
                <a:noFill/>
                <a:round/>
                <a:headEnd/>
                <a:tailEnd/>
              </a:ln>
            </p:spPr>
            <p:txBody>
              <a:bodyPr wrap="none" anchor="ctr"/>
              <a:lstStyle/>
              <a:p>
                <a:endParaRPr lang="en-IN"/>
              </a:p>
            </p:txBody>
          </p:sp>
        </p:grpSp>
        <p:sp>
          <p:nvSpPr>
            <p:cNvPr id="30779" name="Text Box 27"/>
            <p:cNvSpPr txBox="1">
              <a:spLocks noChangeArrowheads="1"/>
            </p:cNvSpPr>
            <p:nvPr/>
          </p:nvSpPr>
          <p:spPr bwMode="auto">
            <a:xfrm>
              <a:off x="1571" y="2285"/>
              <a:ext cx="700" cy="232"/>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solidFill>
                    <a:srgbClr val="000000"/>
                  </a:solidFill>
                  <a:latin typeface="Comic Sans MS" pitchFamily="66" charset="0"/>
                </a:rPr>
                <a:t>network</a:t>
              </a:r>
            </a:p>
          </p:txBody>
        </p:sp>
        <p:sp>
          <p:nvSpPr>
            <p:cNvPr id="30780" name="Text Box 28"/>
            <p:cNvSpPr txBox="1">
              <a:spLocks noChangeArrowheads="1"/>
            </p:cNvSpPr>
            <p:nvPr/>
          </p:nvSpPr>
          <p:spPr bwMode="auto">
            <a:xfrm>
              <a:off x="2927" y="2303"/>
              <a:ext cx="425" cy="232"/>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solidFill>
                    <a:srgbClr val="000000"/>
                  </a:solidFill>
                  <a:latin typeface="Comic Sans MS" pitchFamily="66" charset="0"/>
                </a:rPr>
                <a:t>host</a:t>
              </a:r>
            </a:p>
          </p:txBody>
        </p:sp>
      </p:grpSp>
      <p:grpSp>
        <p:nvGrpSpPr>
          <p:cNvPr id="7" name="Group 29"/>
          <p:cNvGrpSpPr>
            <a:grpSpLocks/>
          </p:cNvGrpSpPr>
          <p:nvPr/>
        </p:nvGrpSpPr>
        <p:grpSpPr bwMode="auto">
          <a:xfrm>
            <a:off x="1589088" y="4252913"/>
            <a:ext cx="4595812" cy="379412"/>
            <a:chOff x="1001" y="2679"/>
            <a:chExt cx="2895" cy="239"/>
          </a:xfrm>
        </p:grpSpPr>
        <p:sp>
          <p:nvSpPr>
            <p:cNvPr id="30763" name="Rectangle 30"/>
            <p:cNvSpPr>
              <a:spLocks noChangeArrowheads="1"/>
            </p:cNvSpPr>
            <p:nvPr/>
          </p:nvSpPr>
          <p:spPr bwMode="auto">
            <a:xfrm>
              <a:off x="1011" y="2691"/>
              <a:ext cx="2886" cy="210"/>
            </a:xfrm>
            <a:prstGeom prst="rect">
              <a:avLst/>
            </a:prstGeom>
            <a:solidFill>
              <a:srgbClr val="FFFFBF"/>
            </a:solidFill>
            <a:ln w="19080">
              <a:solidFill>
                <a:srgbClr val="000000"/>
              </a:solidFill>
              <a:miter lim="800000"/>
              <a:headEnd/>
              <a:tailEnd/>
            </a:ln>
          </p:spPr>
          <p:txBody>
            <a:bodyPr wrap="none" anchor="ctr"/>
            <a:lstStyle/>
            <a:p>
              <a:endParaRPr lang="en-IN"/>
            </a:p>
          </p:txBody>
        </p:sp>
        <p:sp>
          <p:nvSpPr>
            <p:cNvPr id="30764" name="Text Box 31"/>
            <p:cNvSpPr txBox="1">
              <a:spLocks noChangeArrowheads="1"/>
            </p:cNvSpPr>
            <p:nvPr/>
          </p:nvSpPr>
          <p:spPr bwMode="auto">
            <a:xfrm>
              <a:off x="1001" y="2687"/>
              <a:ext cx="388" cy="232"/>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solidFill>
                    <a:srgbClr val="000000"/>
                  </a:solidFill>
                  <a:latin typeface="Comic Sans MS" pitchFamily="66" charset="0"/>
                </a:rPr>
                <a:t>110</a:t>
              </a:r>
            </a:p>
          </p:txBody>
        </p:sp>
        <p:sp>
          <p:nvSpPr>
            <p:cNvPr id="30765" name="Line 32"/>
            <p:cNvSpPr>
              <a:spLocks noChangeShapeType="1"/>
            </p:cNvSpPr>
            <p:nvPr/>
          </p:nvSpPr>
          <p:spPr bwMode="auto">
            <a:xfrm>
              <a:off x="3135" y="2691"/>
              <a:ext cx="1" cy="216"/>
            </a:xfrm>
            <a:prstGeom prst="line">
              <a:avLst/>
            </a:prstGeom>
            <a:noFill/>
            <a:ln w="9360">
              <a:solidFill>
                <a:srgbClr val="000000"/>
              </a:solidFill>
              <a:miter lim="800000"/>
              <a:headEnd/>
              <a:tailEnd/>
            </a:ln>
          </p:spPr>
          <p:txBody>
            <a:bodyPr/>
            <a:lstStyle/>
            <a:p>
              <a:endParaRPr lang="en-IN"/>
            </a:p>
          </p:txBody>
        </p:sp>
        <p:grpSp>
          <p:nvGrpSpPr>
            <p:cNvPr id="8" name="Group 33"/>
            <p:cNvGrpSpPr>
              <a:grpSpLocks/>
            </p:cNvGrpSpPr>
            <p:nvPr/>
          </p:nvGrpSpPr>
          <p:grpSpPr bwMode="auto">
            <a:xfrm>
              <a:off x="1707" y="2691"/>
              <a:ext cx="59" cy="215"/>
              <a:chOff x="1707" y="2691"/>
              <a:chExt cx="59" cy="215"/>
            </a:xfrm>
          </p:grpSpPr>
          <p:sp>
            <p:nvSpPr>
              <p:cNvPr id="30772" name="Line 34"/>
              <p:cNvSpPr>
                <a:spLocks noChangeShapeType="1"/>
              </p:cNvSpPr>
              <p:nvPr/>
            </p:nvSpPr>
            <p:spPr bwMode="auto">
              <a:xfrm>
                <a:off x="1737" y="2691"/>
                <a:ext cx="1" cy="216"/>
              </a:xfrm>
              <a:prstGeom prst="line">
                <a:avLst/>
              </a:prstGeom>
              <a:noFill/>
              <a:ln w="9360">
                <a:solidFill>
                  <a:srgbClr val="000000"/>
                </a:solidFill>
                <a:miter lim="800000"/>
                <a:headEnd/>
                <a:tailEnd/>
              </a:ln>
            </p:spPr>
            <p:txBody>
              <a:bodyPr/>
              <a:lstStyle/>
              <a:p>
                <a:endParaRPr lang="en-IN"/>
              </a:p>
            </p:txBody>
          </p:sp>
          <p:sp>
            <p:nvSpPr>
              <p:cNvPr id="30773" name="Rectangle 35"/>
              <p:cNvSpPr>
                <a:spLocks noChangeArrowheads="1"/>
              </p:cNvSpPr>
              <p:nvPr/>
            </p:nvSpPr>
            <p:spPr bwMode="auto">
              <a:xfrm>
                <a:off x="1707" y="2733"/>
                <a:ext cx="60" cy="120"/>
              </a:xfrm>
              <a:prstGeom prst="rect">
                <a:avLst/>
              </a:prstGeom>
              <a:solidFill>
                <a:srgbClr val="FFFFBF"/>
              </a:solidFill>
              <a:ln w="9525">
                <a:noFill/>
                <a:round/>
                <a:headEnd/>
                <a:tailEnd/>
              </a:ln>
            </p:spPr>
            <p:txBody>
              <a:bodyPr wrap="none" anchor="ctr"/>
              <a:lstStyle/>
              <a:p>
                <a:endParaRPr lang="en-IN"/>
              </a:p>
            </p:txBody>
          </p:sp>
        </p:grpSp>
        <p:grpSp>
          <p:nvGrpSpPr>
            <p:cNvPr id="9" name="Group 36"/>
            <p:cNvGrpSpPr>
              <a:grpSpLocks/>
            </p:cNvGrpSpPr>
            <p:nvPr/>
          </p:nvGrpSpPr>
          <p:grpSpPr bwMode="auto">
            <a:xfrm>
              <a:off x="2427" y="2679"/>
              <a:ext cx="59" cy="215"/>
              <a:chOff x="2427" y="2679"/>
              <a:chExt cx="59" cy="215"/>
            </a:xfrm>
          </p:grpSpPr>
          <p:sp>
            <p:nvSpPr>
              <p:cNvPr id="30770" name="Line 37"/>
              <p:cNvSpPr>
                <a:spLocks noChangeShapeType="1"/>
              </p:cNvSpPr>
              <p:nvPr/>
            </p:nvSpPr>
            <p:spPr bwMode="auto">
              <a:xfrm>
                <a:off x="2457" y="2679"/>
                <a:ext cx="1" cy="216"/>
              </a:xfrm>
              <a:prstGeom prst="line">
                <a:avLst/>
              </a:prstGeom>
              <a:noFill/>
              <a:ln w="9360">
                <a:solidFill>
                  <a:srgbClr val="000000"/>
                </a:solidFill>
                <a:miter lim="800000"/>
                <a:headEnd/>
                <a:tailEnd/>
              </a:ln>
            </p:spPr>
            <p:txBody>
              <a:bodyPr/>
              <a:lstStyle/>
              <a:p>
                <a:endParaRPr lang="en-IN"/>
              </a:p>
            </p:txBody>
          </p:sp>
          <p:sp>
            <p:nvSpPr>
              <p:cNvPr id="30771" name="Rectangle 38"/>
              <p:cNvSpPr>
                <a:spLocks noChangeArrowheads="1"/>
              </p:cNvSpPr>
              <p:nvPr/>
            </p:nvSpPr>
            <p:spPr bwMode="auto">
              <a:xfrm>
                <a:off x="2427" y="2721"/>
                <a:ext cx="60" cy="120"/>
              </a:xfrm>
              <a:prstGeom prst="rect">
                <a:avLst/>
              </a:prstGeom>
              <a:solidFill>
                <a:srgbClr val="FFFFBF"/>
              </a:solidFill>
              <a:ln w="9525">
                <a:noFill/>
                <a:round/>
                <a:headEnd/>
                <a:tailEnd/>
              </a:ln>
            </p:spPr>
            <p:txBody>
              <a:bodyPr wrap="none" anchor="ctr"/>
              <a:lstStyle/>
              <a:p>
                <a:endParaRPr lang="en-IN"/>
              </a:p>
            </p:txBody>
          </p:sp>
        </p:grpSp>
        <p:sp>
          <p:nvSpPr>
            <p:cNvPr id="30768" name="Text Box 39"/>
            <p:cNvSpPr txBox="1">
              <a:spLocks noChangeArrowheads="1"/>
            </p:cNvSpPr>
            <p:nvPr/>
          </p:nvSpPr>
          <p:spPr bwMode="auto">
            <a:xfrm>
              <a:off x="1757" y="2681"/>
              <a:ext cx="700" cy="232"/>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solidFill>
                    <a:srgbClr val="000000"/>
                  </a:solidFill>
                  <a:latin typeface="Comic Sans MS" pitchFamily="66" charset="0"/>
                </a:rPr>
                <a:t>network</a:t>
              </a:r>
            </a:p>
          </p:txBody>
        </p:sp>
        <p:sp>
          <p:nvSpPr>
            <p:cNvPr id="30769" name="Text Box 40"/>
            <p:cNvSpPr txBox="1">
              <a:spLocks noChangeArrowheads="1"/>
            </p:cNvSpPr>
            <p:nvPr/>
          </p:nvSpPr>
          <p:spPr bwMode="auto">
            <a:xfrm>
              <a:off x="3305" y="2681"/>
              <a:ext cx="425" cy="232"/>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solidFill>
                    <a:srgbClr val="000000"/>
                  </a:solidFill>
                  <a:latin typeface="Comic Sans MS" pitchFamily="66" charset="0"/>
                </a:rPr>
                <a:t>host</a:t>
              </a:r>
            </a:p>
          </p:txBody>
        </p:sp>
      </p:grpSp>
      <p:grpSp>
        <p:nvGrpSpPr>
          <p:cNvPr id="10" name="Group 41"/>
          <p:cNvGrpSpPr>
            <a:grpSpLocks/>
          </p:cNvGrpSpPr>
          <p:nvPr/>
        </p:nvGrpSpPr>
        <p:grpSpPr bwMode="auto">
          <a:xfrm>
            <a:off x="1589088" y="4884738"/>
            <a:ext cx="4595812" cy="395287"/>
            <a:chOff x="1001" y="3077"/>
            <a:chExt cx="2895" cy="249"/>
          </a:xfrm>
        </p:grpSpPr>
        <p:sp>
          <p:nvSpPr>
            <p:cNvPr id="30751" name="Rectangle 42"/>
            <p:cNvSpPr>
              <a:spLocks noChangeArrowheads="1"/>
            </p:cNvSpPr>
            <p:nvPr/>
          </p:nvSpPr>
          <p:spPr bwMode="auto">
            <a:xfrm>
              <a:off x="1011" y="3099"/>
              <a:ext cx="2886" cy="210"/>
            </a:xfrm>
            <a:prstGeom prst="rect">
              <a:avLst/>
            </a:prstGeom>
            <a:solidFill>
              <a:srgbClr val="FFFFBF"/>
            </a:solidFill>
            <a:ln w="19080">
              <a:solidFill>
                <a:srgbClr val="000000"/>
              </a:solidFill>
              <a:miter lim="800000"/>
              <a:headEnd/>
              <a:tailEnd/>
            </a:ln>
          </p:spPr>
          <p:txBody>
            <a:bodyPr wrap="none" anchor="ctr"/>
            <a:lstStyle/>
            <a:p>
              <a:endParaRPr lang="en-IN"/>
            </a:p>
          </p:txBody>
        </p:sp>
        <p:sp>
          <p:nvSpPr>
            <p:cNvPr id="30752" name="Text Box 43"/>
            <p:cNvSpPr txBox="1">
              <a:spLocks noChangeArrowheads="1"/>
            </p:cNvSpPr>
            <p:nvPr/>
          </p:nvSpPr>
          <p:spPr bwMode="auto">
            <a:xfrm>
              <a:off x="1001" y="3095"/>
              <a:ext cx="479" cy="232"/>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solidFill>
                    <a:srgbClr val="000000"/>
                  </a:solidFill>
                  <a:latin typeface="Comic Sans MS" pitchFamily="66" charset="0"/>
                </a:rPr>
                <a:t>1110</a:t>
              </a:r>
            </a:p>
          </p:txBody>
        </p:sp>
        <p:grpSp>
          <p:nvGrpSpPr>
            <p:cNvPr id="11" name="Group 44"/>
            <p:cNvGrpSpPr>
              <a:grpSpLocks/>
            </p:cNvGrpSpPr>
            <p:nvPr/>
          </p:nvGrpSpPr>
          <p:grpSpPr bwMode="auto">
            <a:xfrm>
              <a:off x="1707" y="3099"/>
              <a:ext cx="59" cy="215"/>
              <a:chOff x="1707" y="3099"/>
              <a:chExt cx="59" cy="215"/>
            </a:xfrm>
          </p:grpSpPr>
          <p:sp>
            <p:nvSpPr>
              <p:cNvPr id="30761" name="Line 45"/>
              <p:cNvSpPr>
                <a:spLocks noChangeShapeType="1"/>
              </p:cNvSpPr>
              <p:nvPr/>
            </p:nvSpPr>
            <p:spPr bwMode="auto">
              <a:xfrm>
                <a:off x="1737" y="3099"/>
                <a:ext cx="1" cy="216"/>
              </a:xfrm>
              <a:prstGeom prst="line">
                <a:avLst/>
              </a:prstGeom>
              <a:noFill/>
              <a:ln w="9360">
                <a:solidFill>
                  <a:srgbClr val="000000"/>
                </a:solidFill>
                <a:miter lim="800000"/>
                <a:headEnd/>
                <a:tailEnd/>
              </a:ln>
            </p:spPr>
            <p:txBody>
              <a:bodyPr/>
              <a:lstStyle/>
              <a:p>
                <a:endParaRPr lang="en-IN"/>
              </a:p>
            </p:txBody>
          </p:sp>
          <p:sp>
            <p:nvSpPr>
              <p:cNvPr id="30762" name="Rectangle 46"/>
              <p:cNvSpPr>
                <a:spLocks noChangeArrowheads="1"/>
              </p:cNvSpPr>
              <p:nvPr/>
            </p:nvSpPr>
            <p:spPr bwMode="auto">
              <a:xfrm>
                <a:off x="1707" y="3141"/>
                <a:ext cx="60" cy="120"/>
              </a:xfrm>
              <a:prstGeom prst="rect">
                <a:avLst/>
              </a:prstGeom>
              <a:solidFill>
                <a:srgbClr val="FFFFBF"/>
              </a:solidFill>
              <a:ln w="9525">
                <a:noFill/>
                <a:round/>
                <a:headEnd/>
                <a:tailEnd/>
              </a:ln>
            </p:spPr>
            <p:txBody>
              <a:bodyPr wrap="none" anchor="ctr"/>
              <a:lstStyle/>
              <a:p>
                <a:endParaRPr lang="en-IN"/>
              </a:p>
            </p:txBody>
          </p:sp>
        </p:grpSp>
        <p:grpSp>
          <p:nvGrpSpPr>
            <p:cNvPr id="12" name="Group 47"/>
            <p:cNvGrpSpPr>
              <a:grpSpLocks/>
            </p:cNvGrpSpPr>
            <p:nvPr/>
          </p:nvGrpSpPr>
          <p:grpSpPr bwMode="auto">
            <a:xfrm>
              <a:off x="2427" y="3099"/>
              <a:ext cx="59" cy="215"/>
              <a:chOff x="2427" y="3099"/>
              <a:chExt cx="59" cy="215"/>
            </a:xfrm>
          </p:grpSpPr>
          <p:sp>
            <p:nvSpPr>
              <p:cNvPr id="30759" name="Line 48"/>
              <p:cNvSpPr>
                <a:spLocks noChangeShapeType="1"/>
              </p:cNvSpPr>
              <p:nvPr/>
            </p:nvSpPr>
            <p:spPr bwMode="auto">
              <a:xfrm>
                <a:off x="2457" y="3099"/>
                <a:ext cx="1" cy="216"/>
              </a:xfrm>
              <a:prstGeom prst="line">
                <a:avLst/>
              </a:prstGeom>
              <a:noFill/>
              <a:ln w="9360">
                <a:solidFill>
                  <a:srgbClr val="000000"/>
                </a:solidFill>
                <a:miter lim="800000"/>
                <a:headEnd/>
                <a:tailEnd/>
              </a:ln>
            </p:spPr>
            <p:txBody>
              <a:bodyPr/>
              <a:lstStyle/>
              <a:p>
                <a:endParaRPr lang="en-IN"/>
              </a:p>
            </p:txBody>
          </p:sp>
          <p:sp>
            <p:nvSpPr>
              <p:cNvPr id="30760" name="Rectangle 49"/>
              <p:cNvSpPr>
                <a:spLocks noChangeArrowheads="1"/>
              </p:cNvSpPr>
              <p:nvPr/>
            </p:nvSpPr>
            <p:spPr bwMode="auto">
              <a:xfrm>
                <a:off x="2427" y="3141"/>
                <a:ext cx="60" cy="120"/>
              </a:xfrm>
              <a:prstGeom prst="rect">
                <a:avLst/>
              </a:prstGeom>
              <a:solidFill>
                <a:srgbClr val="FFFFBF"/>
              </a:solidFill>
              <a:ln w="9525">
                <a:noFill/>
                <a:round/>
                <a:headEnd/>
                <a:tailEnd/>
              </a:ln>
            </p:spPr>
            <p:txBody>
              <a:bodyPr wrap="none" anchor="ctr"/>
              <a:lstStyle/>
              <a:p>
                <a:endParaRPr lang="en-IN"/>
              </a:p>
            </p:txBody>
          </p:sp>
        </p:grpSp>
        <p:grpSp>
          <p:nvGrpSpPr>
            <p:cNvPr id="13" name="Group 50"/>
            <p:cNvGrpSpPr>
              <a:grpSpLocks/>
            </p:cNvGrpSpPr>
            <p:nvPr/>
          </p:nvGrpSpPr>
          <p:grpSpPr bwMode="auto">
            <a:xfrm>
              <a:off x="3099" y="3099"/>
              <a:ext cx="59" cy="215"/>
              <a:chOff x="3099" y="3099"/>
              <a:chExt cx="59" cy="215"/>
            </a:xfrm>
          </p:grpSpPr>
          <p:sp>
            <p:nvSpPr>
              <p:cNvPr id="30757" name="Line 51"/>
              <p:cNvSpPr>
                <a:spLocks noChangeShapeType="1"/>
              </p:cNvSpPr>
              <p:nvPr/>
            </p:nvSpPr>
            <p:spPr bwMode="auto">
              <a:xfrm>
                <a:off x="3129" y="3099"/>
                <a:ext cx="1" cy="216"/>
              </a:xfrm>
              <a:prstGeom prst="line">
                <a:avLst/>
              </a:prstGeom>
              <a:noFill/>
              <a:ln w="9360">
                <a:solidFill>
                  <a:srgbClr val="000000"/>
                </a:solidFill>
                <a:miter lim="800000"/>
                <a:headEnd/>
                <a:tailEnd/>
              </a:ln>
            </p:spPr>
            <p:txBody>
              <a:bodyPr/>
              <a:lstStyle/>
              <a:p>
                <a:endParaRPr lang="en-IN"/>
              </a:p>
            </p:txBody>
          </p:sp>
          <p:sp>
            <p:nvSpPr>
              <p:cNvPr id="30758" name="Rectangle 52"/>
              <p:cNvSpPr>
                <a:spLocks noChangeArrowheads="1"/>
              </p:cNvSpPr>
              <p:nvPr/>
            </p:nvSpPr>
            <p:spPr bwMode="auto">
              <a:xfrm>
                <a:off x="3099" y="3141"/>
                <a:ext cx="60" cy="120"/>
              </a:xfrm>
              <a:prstGeom prst="rect">
                <a:avLst/>
              </a:prstGeom>
              <a:solidFill>
                <a:srgbClr val="FFFFBF"/>
              </a:solidFill>
              <a:ln w="9525">
                <a:noFill/>
                <a:round/>
                <a:headEnd/>
                <a:tailEnd/>
              </a:ln>
            </p:spPr>
            <p:txBody>
              <a:bodyPr wrap="none" anchor="ctr"/>
              <a:lstStyle/>
              <a:p>
                <a:endParaRPr lang="en-IN"/>
              </a:p>
            </p:txBody>
          </p:sp>
        </p:grpSp>
        <p:sp>
          <p:nvSpPr>
            <p:cNvPr id="30756" name="Text Box 53"/>
            <p:cNvSpPr txBox="1">
              <a:spLocks noChangeArrowheads="1"/>
            </p:cNvSpPr>
            <p:nvPr/>
          </p:nvSpPr>
          <p:spPr bwMode="auto">
            <a:xfrm>
              <a:off x="1883" y="3077"/>
              <a:ext cx="1396" cy="232"/>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solidFill>
                    <a:srgbClr val="000000"/>
                  </a:solidFill>
                  <a:latin typeface="Comic Sans MS" pitchFamily="66" charset="0"/>
                </a:rPr>
                <a:t>multicast address</a:t>
              </a:r>
            </a:p>
          </p:txBody>
        </p:sp>
      </p:grpSp>
      <p:sp>
        <p:nvSpPr>
          <p:cNvPr id="30737" name="Text Box 54"/>
          <p:cNvSpPr txBox="1">
            <a:spLocks noChangeArrowheads="1"/>
          </p:cNvSpPr>
          <p:nvPr/>
        </p:nvSpPr>
        <p:spPr bwMode="auto">
          <a:xfrm>
            <a:off x="1103313" y="3013075"/>
            <a:ext cx="355600" cy="398463"/>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a:solidFill>
                  <a:srgbClr val="000000"/>
                </a:solidFill>
                <a:latin typeface="Comic Sans MS" pitchFamily="66" charset="0"/>
              </a:rPr>
              <a:t>A</a:t>
            </a:r>
          </a:p>
        </p:txBody>
      </p:sp>
      <p:sp>
        <p:nvSpPr>
          <p:cNvPr id="30738" name="Text Box 55"/>
          <p:cNvSpPr txBox="1">
            <a:spLocks noChangeArrowheads="1"/>
          </p:cNvSpPr>
          <p:nvPr/>
        </p:nvSpPr>
        <p:spPr bwMode="auto">
          <a:xfrm>
            <a:off x="1122363" y="3603625"/>
            <a:ext cx="357187" cy="398463"/>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a:solidFill>
                  <a:srgbClr val="000000"/>
                </a:solidFill>
                <a:latin typeface="Comic Sans MS" pitchFamily="66" charset="0"/>
              </a:rPr>
              <a:t>B</a:t>
            </a:r>
          </a:p>
        </p:txBody>
      </p:sp>
      <p:sp>
        <p:nvSpPr>
          <p:cNvPr id="30739" name="Text Box 56"/>
          <p:cNvSpPr txBox="1">
            <a:spLocks noChangeArrowheads="1"/>
          </p:cNvSpPr>
          <p:nvPr/>
        </p:nvSpPr>
        <p:spPr bwMode="auto">
          <a:xfrm>
            <a:off x="1141413" y="4222750"/>
            <a:ext cx="358775" cy="398463"/>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a:solidFill>
                  <a:srgbClr val="000000"/>
                </a:solidFill>
                <a:latin typeface="Comic Sans MS" pitchFamily="66" charset="0"/>
              </a:rPr>
              <a:t>C</a:t>
            </a:r>
          </a:p>
        </p:txBody>
      </p:sp>
      <p:sp>
        <p:nvSpPr>
          <p:cNvPr id="30740" name="Text Box 57"/>
          <p:cNvSpPr txBox="1">
            <a:spLocks noChangeArrowheads="1"/>
          </p:cNvSpPr>
          <p:nvPr/>
        </p:nvSpPr>
        <p:spPr bwMode="auto">
          <a:xfrm>
            <a:off x="1131888" y="4879975"/>
            <a:ext cx="377825" cy="398463"/>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a:solidFill>
                  <a:srgbClr val="000000"/>
                </a:solidFill>
                <a:latin typeface="Comic Sans MS" pitchFamily="66" charset="0"/>
              </a:rPr>
              <a:t>D</a:t>
            </a:r>
          </a:p>
        </p:txBody>
      </p:sp>
      <p:sp>
        <p:nvSpPr>
          <p:cNvPr id="30741" name="Text Box 58"/>
          <p:cNvSpPr txBox="1">
            <a:spLocks noChangeArrowheads="1"/>
          </p:cNvSpPr>
          <p:nvPr/>
        </p:nvSpPr>
        <p:spPr bwMode="auto">
          <a:xfrm>
            <a:off x="960438" y="2560638"/>
            <a:ext cx="812800" cy="398462"/>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a:solidFill>
                  <a:srgbClr val="000000"/>
                </a:solidFill>
                <a:latin typeface="Comic Sans MS" pitchFamily="66" charset="0"/>
              </a:rPr>
              <a:t>class</a:t>
            </a:r>
          </a:p>
        </p:txBody>
      </p:sp>
      <p:sp>
        <p:nvSpPr>
          <p:cNvPr id="30742" name="Text Box 59"/>
          <p:cNvSpPr txBox="1">
            <a:spLocks noChangeArrowheads="1"/>
          </p:cNvSpPr>
          <p:nvPr/>
        </p:nvSpPr>
        <p:spPr bwMode="auto">
          <a:xfrm>
            <a:off x="6427788" y="2955925"/>
            <a:ext cx="1927225" cy="581025"/>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a:solidFill>
                  <a:srgbClr val="000000"/>
                </a:solidFill>
                <a:latin typeface="Comic Sans MS" pitchFamily="66" charset="0"/>
              </a:rPr>
              <a:t>1.0.0.0 to</a:t>
            </a:r>
          </a:p>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a:solidFill>
                  <a:srgbClr val="000000"/>
                </a:solidFill>
                <a:latin typeface="Comic Sans MS" pitchFamily="66" charset="0"/>
              </a:rPr>
              <a:t>127.255.255.255</a:t>
            </a:r>
          </a:p>
        </p:txBody>
      </p:sp>
      <p:sp>
        <p:nvSpPr>
          <p:cNvPr id="30743" name="Text Box 60"/>
          <p:cNvSpPr txBox="1">
            <a:spLocks noChangeArrowheads="1"/>
          </p:cNvSpPr>
          <p:nvPr/>
        </p:nvSpPr>
        <p:spPr bwMode="auto">
          <a:xfrm>
            <a:off x="6427788" y="3556000"/>
            <a:ext cx="1927225" cy="581025"/>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a:solidFill>
                  <a:srgbClr val="000000"/>
                </a:solidFill>
                <a:latin typeface="Comic Sans MS" pitchFamily="66" charset="0"/>
              </a:rPr>
              <a:t>128.0.0.0 to</a:t>
            </a:r>
          </a:p>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a:solidFill>
                  <a:srgbClr val="000000"/>
                </a:solidFill>
                <a:latin typeface="Comic Sans MS" pitchFamily="66" charset="0"/>
              </a:rPr>
              <a:t>191.255.255.255</a:t>
            </a:r>
          </a:p>
        </p:txBody>
      </p:sp>
      <p:sp>
        <p:nvSpPr>
          <p:cNvPr id="30744" name="Text Box 61"/>
          <p:cNvSpPr txBox="1">
            <a:spLocks noChangeArrowheads="1"/>
          </p:cNvSpPr>
          <p:nvPr/>
        </p:nvSpPr>
        <p:spPr bwMode="auto">
          <a:xfrm>
            <a:off x="6418263" y="4156075"/>
            <a:ext cx="1927225" cy="581025"/>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a:solidFill>
                  <a:srgbClr val="000000"/>
                </a:solidFill>
                <a:latin typeface="Comic Sans MS" pitchFamily="66" charset="0"/>
              </a:rPr>
              <a:t>192.0.0.0 to</a:t>
            </a:r>
          </a:p>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a:solidFill>
                  <a:srgbClr val="000000"/>
                </a:solidFill>
                <a:latin typeface="Comic Sans MS" pitchFamily="66" charset="0"/>
              </a:rPr>
              <a:t>223.255.255.255</a:t>
            </a:r>
          </a:p>
        </p:txBody>
      </p:sp>
      <p:sp>
        <p:nvSpPr>
          <p:cNvPr id="30745" name="Text Box 62"/>
          <p:cNvSpPr txBox="1">
            <a:spLocks noChangeArrowheads="1"/>
          </p:cNvSpPr>
          <p:nvPr/>
        </p:nvSpPr>
        <p:spPr bwMode="auto">
          <a:xfrm>
            <a:off x="6446838" y="4794250"/>
            <a:ext cx="1927225" cy="581025"/>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a:solidFill>
                  <a:srgbClr val="000000"/>
                </a:solidFill>
                <a:latin typeface="Comic Sans MS" pitchFamily="66" charset="0"/>
              </a:rPr>
              <a:t>224.0.0.0 to</a:t>
            </a:r>
          </a:p>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a:solidFill>
                  <a:srgbClr val="000000"/>
                </a:solidFill>
                <a:latin typeface="Comic Sans MS" pitchFamily="66" charset="0"/>
              </a:rPr>
              <a:t>239.255.255.255</a:t>
            </a:r>
          </a:p>
        </p:txBody>
      </p:sp>
      <p:sp>
        <p:nvSpPr>
          <p:cNvPr id="30746" name="Text Box 63"/>
          <p:cNvSpPr txBox="1">
            <a:spLocks noChangeArrowheads="1"/>
          </p:cNvSpPr>
          <p:nvPr/>
        </p:nvSpPr>
        <p:spPr bwMode="auto">
          <a:xfrm>
            <a:off x="3360738" y="5499100"/>
            <a:ext cx="1047750" cy="398463"/>
          </a:xfrm>
          <a:prstGeom prst="rect">
            <a:avLst/>
          </a:prstGeom>
          <a:noFill/>
          <a:ln w="9525">
            <a:noFill/>
            <a:round/>
            <a:headEnd/>
            <a:tailEnd/>
          </a:ln>
        </p:spPr>
        <p:txBody>
          <a:bodyPr wrap="none" lIns="90000" tIns="46800" rIns="90000" bIns="46800">
            <a:spAutoFit/>
          </a:bodyPr>
          <a:lstStyle/>
          <a:p>
            <a:pPr>
              <a:lnSpc>
                <a:spcPct val="100000"/>
              </a:lnSpc>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a:solidFill>
                  <a:srgbClr val="000000"/>
                </a:solidFill>
                <a:latin typeface="Comic Sans MS" pitchFamily="66" charset="0"/>
              </a:rPr>
              <a:t>32 bits</a:t>
            </a:r>
          </a:p>
        </p:txBody>
      </p:sp>
      <p:sp>
        <p:nvSpPr>
          <p:cNvPr id="30747" name="Line 64"/>
          <p:cNvSpPr>
            <a:spLocks noChangeShapeType="1"/>
          </p:cNvSpPr>
          <p:nvPr/>
        </p:nvSpPr>
        <p:spPr bwMode="auto">
          <a:xfrm>
            <a:off x="4414838" y="5691188"/>
            <a:ext cx="1743075" cy="1587"/>
          </a:xfrm>
          <a:prstGeom prst="line">
            <a:avLst/>
          </a:prstGeom>
          <a:noFill/>
          <a:ln w="19080">
            <a:solidFill>
              <a:srgbClr val="000000"/>
            </a:solidFill>
            <a:miter lim="800000"/>
            <a:headEnd/>
            <a:tailEnd type="triangle" w="med" len="med"/>
          </a:ln>
        </p:spPr>
        <p:txBody>
          <a:bodyPr/>
          <a:lstStyle/>
          <a:p>
            <a:endParaRPr lang="en-IN"/>
          </a:p>
        </p:txBody>
      </p:sp>
      <p:sp>
        <p:nvSpPr>
          <p:cNvPr id="30748" name="Line 65"/>
          <p:cNvSpPr>
            <a:spLocks noChangeShapeType="1"/>
          </p:cNvSpPr>
          <p:nvPr/>
        </p:nvSpPr>
        <p:spPr bwMode="auto">
          <a:xfrm flipH="1">
            <a:off x="1582738" y="5681663"/>
            <a:ext cx="1749425" cy="1587"/>
          </a:xfrm>
          <a:prstGeom prst="line">
            <a:avLst/>
          </a:prstGeom>
          <a:noFill/>
          <a:ln w="19080">
            <a:solidFill>
              <a:srgbClr val="000000"/>
            </a:solidFill>
            <a:miter lim="800000"/>
            <a:headEnd/>
            <a:tailEnd type="triangle" w="med" len="med"/>
          </a:ln>
        </p:spPr>
        <p:txBody>
          <a:bodyPr/>
          <a:lstStyle/>
          <a:p>
            <a:endParaRPr lang="en-IN"/>
          </a:p>
        </p:txBody>
      </p:sp>
      <p:sp>
        <p:nvSpPr>
          <p:cNvPr id="30749" name="Rectangle 66"/>
          <p:cNvSpPr>
            <a:spLocks noGrp="1" noChangeArrowheads="1"/>
          </p:cNvSpPr>
          <p:nvPr>
            <p:ph type="body" idx="4294967295"/>
          </p:nvPr>
        </p:nvSpPr>
        <p:spPr>
          <a:xfrm>
            <a:off x="554038" y="1276350"/>
            <a:ext cx="8296275" cy="492443"/>
          </a:xfrm>
        </p:spPr>
        <p:txBody>
          <a:bodyPr>
            <a:spAutoFit/>
          </a:bodyPr>
          <a:lstStyle/>
          <a:p>
            <a:pPr eaLnBrk="1" hangingPunct="1">
              <a:lnSpc>
                <a:spcPct val="100000"/>
              </a:lnSpc>
              <a:spcBef>
                <a:spcPts val="650"/>
              </a:spcBef>
              <a:buFont typeface="Wingdings" pitchFamily="2" charset="2"/>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GB" sz="2600" dirty="0" smtClean="0"/>
          </a:p>
        </p:txBody>
      </p:sp>
      <p:sp>
        <p:nvSpPr>
          <p:cNvPr id="30750" name="Text Box 67"/>
          <p:cNvSpPr txBox="1">
            <a:spLocks noChangeArrowheads="1"/>
          </p:cNvSpPr>
          <p:nvPr/>
        </p:nvSpPr>
        <p:spPr bwMode="auto">
          <a:xfrm>
            <a:off x="527050" y="2179638"/>
            <a:ext cx="4168775" cy="460375"/>
          </a:xfrm>
          <a:prstGeom prst="rect">
            <a:avLst/>
          </a:prstGeom>
          <a:noFill/>
          <a:ln w="9525">
            <a:noFill/>
            <a:round/>
            <a:headEnd/>
            <a:tailEnd/>
          </a:ln>
        </p:spPr>
        <p:txBody>
          <a:bodyPr lIns="90000" tIns="46800" rIns="90000" bIns="46800">
            <a:spAutoFit/>
          </a:bodyPr>
          <a:lstStyle/>
          <a:p>
            <a:pPr>
              <a:lnSpc>
                <a:spcPct val="100000"/>
              </a:lnSpc>
              <a:buClr>
                <a:srgbClr val="FF0000"/>
              </a:buClr>
              <a:buFont typeface="Comic Sans MS" pitchFamily="6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400">
                <a:solidFill>
                  <a:srgbClr val="FF0000"/>
                </a:solidFill>
                <a:latin typeface="Comic Sans MS" pitchFamily="66" charset="0"/>
              </a:rPr>
              <a:t>“class-full” addressing:</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err="1" smtClean="0">
                <a:latin typeface="Times New Roman" pitchFamily="18" charset="0"/>
                <a:cs typeface="Times New Roman" pitchFamily="18" charset="0"/>
              </a:rPr>
              <a:t>Classful</a:t>
            </a:r>
            <a:r>
              <a:rPr lang="en-IN" dirty="0" smtClean="0">
                <a:latin typeface="Times New Roman" pitchFamily="18" charset="0"/>
                <a:cs typeface="Times New Roman" pitchFamily="18" charset="0"/>
              </a:rPr>
              <a:t> Addressing</a:t>
            </a:r>
            <a:endParaRPr lang="en-IN"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19</a:t>
            </a:fld>
            <a:endParaRPr lang="en-IN"/>
          </a:p>
        </p:txBody>
      </p:sp>
      <p:pic>
        <p:nvPicPr>
          <p:cNvPr id="1026" name="Picture 2"/>
          <p:cNvPicPr>
            <a:picLocks noGrp="1" noChangeAspect="1" noChangeArrowheads="1"/>
          </p:cNvPicPr>
          <p:nvPr>
            <p:ph idx="1"/>
          </p:nvPr>
        </p:nvPicPr>
        <p:blipFill>
          <a:blip r:embed="rId2"/>
          <a:srcRect/>
          <a:stretch>
            <a:fillRect/>
          </a:stretch>
        </p:blipFill>
        <p:spPr bwMode="auto">
          <a:xfrm>
            <a:off x="928662" y="1785926"/>
            <a:ext cx="7643866" cy="414340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err="1" smtClean="0">
                <a:latin typeface="Times New Roman" pitchFamily="18" charset="0"/>
                <a:cs typeface="Times New Roman" pitchFamily="18" charset="0"/>
              </a:rPr>
              <a:t>Classful</a:t>
            </a:r>
            <a:r>
              <a:rPr lang="en-IN" dirty="0" smtClean="0">
                <a:latin typeface="Times New Roman" pitchFamily="18" charset="0"/>
                <a:cs typeface="Times New Roman" pitchFamily="18" charset="0"/>
              </a:rPr>
              <a:t> Addressing</a:t>
            </a:r>
            <a:endParaRPr lang="en-IN" dirty="0"/>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20</a:t>
            </a:fld>
            <a:endParaRPr lang="en-IN"/>
          </a:p>
        </p:txBody>
      </p:sp>
      <p:pic>
        <p:nvPicPr>
          <p:cNvPr id="2050" name="Picture 2"/>
          <p:cNvPicPr>
            <a:picLocks noGrp="1" noChangeAspect="1" noChangeArrowheads="1"/>
          </p:cNvPicPr>
          <p:nvPr>
            <p:ph idx="1"/>
          </p:nvPr>
        </p:nvPicPr>
        <p:blipFill>
          <a:blip r:embed="rId2"/>
          <a:srcRect/>
          <a:stretch>
            <a:fillRect/>
          </a:stretch>
        </p:blipFill>
        <p:spPr bwMode="auto">
          <a:xfrm>
            <a:off x="500034" y="1571612"/>
            <a:ext cx="8143932" cy="471490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latin typeface="Times New Roman" pitchFamily="18" charset="0"/>
                <a:cs typeface="Times New Roman" pitchFamily="18" charset="0"/>
              </a:rPr>
              <a:t>Masking</a:t>
            </a:r>
            <a:endParaRPr lang="en-IN" dirty="0"/>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21</a:t>
            </a:fld>
            <a:endParaRPr lang="en-IN"/>
          </a:p>
        </p:txBody>
      </p:sp>
      <p:pic>
        <p:nvPicPr>
          <p:cNvPr id="4098" name="Picture 2"/>
          <p:cNvPicPr>
            <a:picLocks noGrp="1" noChangeAspect="1" noChangeArrowheads="1"/>
          </p:cNvPicPr>
          <p:nvPr>
            <p:ph idx="1"/>
          </p:nvPr>
        </p:nvPicPr>
        <p:blipFill>
          <a:blip r:embed="rId2"/>
          <a:srcRect/>
          <a:stretch>
            <a:fillRect/>
          </a:stretch>
        </p:blipFill>
        <p:spPr bwMode="auto">
          <a:xfrm>
            <a:off x="928662" y="3857628"/>
            <a:ext cx="7215238" cy="2428892"/>
          </a:xfrm>
          <a:prstGeom prst="rect">
            <a:avLst/>
          </a:prstGeom>
          <a:noFill/>
          <a:ln w="9525">
            <a:noFill/>
            <a:miter lim="800000"/>
            <a:headEnd/>
            <a:tailEnd/>
          </a:ln>
          <a:effectLst/>
        </p:spPr>
      </p:pic>
      <p:sp>
        <p:nvSpPr>
          <p:cNvPr id="8" name="TextBox 7"/>
          <p:cNvSpPr txBox="1"/>
          <p:nvPr/>
        </p:nvSpPr>
        <p:spPr>
          <a:xfrm>
            <a:off x="285720" y="1285860"/>
            <a:ext cx="8555244" cy="2585323"/>
          </a:xfrm>
          <a:prstGeom prst="rect">
            <a:avLst/>
          </a:prstGeom>
          <a:noFill/>
        </p:spPr>
        <p:txBody>
          <a:bodyPr wrap="square" rtlCol="0">
            <a:spAutoFit/>
          </a:bodyPr>
          <a:lstStyle/>
          <a:p>
            <a:pPr algn="just"/>
            <a:r>
              <a:rPr lang="en-IN" sz="2400" dirty="0" smtClean="0">
                <a:latin typeface="Times New Roman" pitchFamily="18" charset="0"/>
                <a:cs typeface="Times New Roman" pitchFamily="18" charset="0"/>
              </a:rPr>
              <a:t>Masking is a process to find the </a:t>
            </a:r>
            <a:r>
              <a:rPr lang="en-IN" sz="2400" dirty="0" err="1" smtClean="0">
                <a:latin typeface="Times New Roman" pitchFamily="18" charset="0"/>
                <a:cs typeface="Times New Roman" pitchFamily="18" charset="0"/>
              </a:rPr>
              <a:t>netid</a:t>
            </a:r>
            <a:r>
              <a:rPr lang="en-IN" sz="2400" dirty="0" smtClean="0">
                <a:latin typeface="Times New Roman" pitchFamily="18" charset="0"/>
                <a:cs typeface="Times New Roman" pitchFamily="18" charset="0"/>
              </a:rPr>
              <a:t>  from the given IP address. </a:t>
            </a:r>
          </a:p>
          <a:p>
            <a:pPr algn="just"/>
            <a:r>
              <a:rPr lang="en-IN" sz="2400" dirty="0" smtClean="0">
                <a:latin typeface="Times New Roman" pitchFamily="18" charset="0"/>
                <a:cs typeface="Times New Roman" pitchFamily="18" charset="0"/>
              </a:rPr>
              <a:t>For example, the mask for a  class A address has eight 1s, which means the first 8 bits of any address in class A define the </a:t>
            </a:r>
            <a:r>
              <a:rPr lang="en-IN" sz="2400" dirty="0" err="1" smtClean="0">
                <a:latin typeface="Times New Roman" pitchFamily="18" charset="0"/>
                <a:cs typeface="Times New Roman" pitchFamily="18" charset="0"/>
              </a:rPr>
              <a:t>netid</a:t>
            </a:r>
            <a:r>
              <a:rPr lang="en-IN" sz="2400" dirty="0" smtClean="0">
                <a:latin typeface="Times New Roman" pitchFamily="18" charset="0"/>
                <a:cs typeface="Times New Roman" pitchFamily="18" charset="0"/>
              </a:rPr>
              <a:t>; the next 24 bits define the </a:t>
            </a:r>
            <a:r>
              <a:rPr lang="en-IN" sz="2400" dirty="0" err="1" smtClean="0">
                <a:latin typeface="Times New Roman" pitchFamily="18" charset="0"/>
                <a:cs typeface="Times New Roman" pitchFamily="18" charset="0"/>
              </a:rPr>
              <a:t>hostid</a:t>
            </a:r>
            <a:r>
              <a:rPr lang="en-IN" sz="2400" dirty="0" smtClean="0">
                <a:latin typeface="Times New Roman" pitchFamily="18" charset="0"/>
                <a:cs typeface="Times New Roman" pitchFamily="18" charset="0"/>
              </a:rPr>
              <a:t>.</a:t>
            </a:r>
          </a:p>
          <a:p>
            <a:pPr algn="just"/>
            <a:r>
              <a:rPr lang="en-IN" sz="2400" dirty="0" smtClean="0">
                <a:latin typeface="Times New Roman" pitchFamily="18" charset="0"/>
                <a:cs typeface="Times New Roman" pitchFamily="18" charset="0"/>
              </a:rPr>
              <a:t>Mask address of class A will be 11111111.0.0.0 and execute the bit by bit  AND </a:t>
            </a:r>
            <a:r>
              <a:rPr lang="en-IN" sz="2400" dirty="0" err="1" smtClean="0">
                <a:latin typeface="Times New Roman" pitchFamily="18" charset="0"/>
                <a:cs typeface="Times New Roman" pitchFamily="18" charset="0"/>
              </a:rPr>
              <a:t>ing</a:t>
            </a:r>
            <a:r>
              <a:rPr lang="en-IN" sz="2400" dirty="0" smtClean="0">
                <a:latin typeface="Times New Roman" pitchFamily="18" charset="0"/>
                <a:cs typeface="Times New Roman" pitchFamily="18" charset="0"/>
              </a:rPr>
              <a:t> with the given IP; you will get the network address.</a:t>
            </a:r>
          </a:p>
          <a:p>
            <a:endParaRPr lang="en-IN"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solidFill>
                  <a:srgbClr val="C00000"/>
                </a:solidFill>
                <a:latin typeface="Times New Roman" pitchFamily="18" charset="0"/>
                <a:cs typeface="Times New Roman" pitchFamily="18" charset="0"/>
              </a:rPr>
              <a:t>Classless Addressing</a:t>
            </a:r>
            <a:endParaRPr lang="en-IN"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00108"/>
            <a:ext cx="8229600" cy="5357850"/>
          </a:xfrm>
        </p:spPr>
        <p:txBody>
          <a:bodyPr>
            <a:normAutofit/>
          </a:bodyPr>
          <a:lstStyle/>
          <a:p>
            <a:pPr algn="just"/>
            <a:r>
              <a:rPr lang="en-IN" sz="2400" dirty="0" smtClean="0">
                <a:latin typeface="Times New Roman" pitchFamily="18" charset="0"/>
                <a:cs typeface="Times New Roman" pitchFamily="18" charset="0"/>
              </a:rPr>
              <a:t>The no of devices on Internet are still less than 2</a:t>
            </a:r>
            <a:r>
              <a:rPr lang="en-IN" sz="2400" baseline="30000" dirty="0" smtClean="0">
                <a:latin typeface="Times New Roman" pitchFamily="18" charset="0"/>
                <a:cs typeface="Times New Roman" pitchFamily="18" charset="0"/>
              </a:rPr>
              <a:t>32 </a:t>
            </a:r>
            <a:r>
              <a:rPr lang="en-IN" sz="2400" dirty="0" smtClean="0">
                <a:latin typeface="Times New Roman" pitchFamily="18" charset="0"/>
                <a:cs typeface="Times New Roman" pitchFamily="18" charset="0"/>
              </a:rPr>
              <a:t> but we have run out of class A and B add, class C block is too small for most midsize organizations.</a:t>
            </a:r>
          </a:p>
          <a:p>
            <a:pPr algn="just"/>
            <a:r>
              <a:rPr lang="en-IN" sz="2400" dirty="0" smtClean="0">
                <a:latin typeface="Times New Roman" pitchFamily="18" charset="0"/>
                <a:cs typeface="Times New Roman" pitchFamily="18" charset="0"/>
              </a:rPr>
              <a:t>If an organization was granted a large block in class A or B, it could divide the addresses into several contiguous groups and assign each group to smaller networks, called subnets.</a:t>
            </a:r>
          </a:p>
          <a:p>
            <a:pPr algn="just"/>
            <a:r>
              <a:rPr lang="en-IN" sz="2400" dirty="0" smtClean="0">
                <a:latin typeface="Times New Roman" pitchFamily="18" charset="0"/>
                <a:cs typeface="Times New Roman" pitchFamily="18" charset="0"/>
              </a:rPr>
              <a:t>The size of a class C block with a maximum number of 256 addresses did not satisfy the needs of most organizations. Even a midsize organization needed more addresses. One solution is to combine several class C blocks to create a </a:t>
            </a:r>
            <a:r>
              <a:rPr lang="en-IN" sz="2400" dirty="0" err="1" smtClean="0">
                <a:latin typeface="Times New Roman" pitchFamily="18" charset="0"/>
                <a:cs typeface="Times New Roman" pitchFamily="18" charset="0"/>
              </a:rPr>
              <a:t>largerrange</a:t>
            </a:r>
            <a:r>
              <a:rPr lang="en-IN" sz="2400" dirty="0" smtClean="0">
                <a:latin typeface="Times New Roman" pitchFamily="18" charset="0"/>
                <a:cs typeface="Times New Roman" pitchFamily="18" charset="0"/>
              </a:rPr>
              <a:t> of addresses, called </a:t>
            </a:r>
            <a:r>
              <a:rPr lang="en-IN" sz="2400" dirty="0" err="1" smtClean="0">
                <a:latin typeface="Times New Roman" pitchFamily="18" charset="0"/>
                <a:cs typeface="Times New Roman" pitchFamily="18" charset="0"/>
              </a:rPr>
              <a:t>supernetting</a:t>
            </a:r>
            <a:r>
              <a:rPr lang="en-IN" sz="2400" dirty="0" smtClean="0">
                <a:latin typeface="Times New Roman" pitchFamily="18" charset="0"/>
                <a:cs typeface="Times New Roman" pitchFamily="18" charset="0"/>
              </a:rPr>
              <a:t>.</a:t>
            </a:r>
          </a:p>
          <a:p>
            <a:pPr algn="just"/>
            <a:r>
              <a:rPr lang="en-IN" sz="2400" dirty="0" smtClean="0">
                <a:solidFill>
                  <a:srgbClr val="C00000"/>
                </a:solidFill>
                <a:latin typeface="Times New Roman" pitchFamily="18" charset="0"/>
                <a:cs typeface="Times New Roman" pitchFamily="18" charset="0"/>
              </a:rPr>
              <a:t>Classless addressing addresses all the above said issues and provides a single solution</a:t>
            </a:r>
            <a:r>
              <a:rPr lang="en-IN" sz="2400" dirty="0" smtClean="0">
                <a:latin typeface="Times New Roman" pitchFamily="18" charset="0"/>
                <a:cs typeface="Times New Roman" pitchFamily="18" charset="0"/>
              </a:rPr>
              <a:t>.</a:t>
            </a:r>
            <a:endParaRPr lang="en-IN"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22</a:t>
            </a:fld>
            <a:endParaRPr lang="en-IN"/>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latin typeface="Times New Roman" pitchFamily="18" charset="0"/>
                <a:cs typeface="Times New Roman" pitchFamily="18" charset="0"/>
              </a:rPr>
              <a:t>Why Classless?</a:t>
            </a:r>
            <a:endParaRPr lang="en-IN"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23</a:t>
            </a:fld>
            <a:endParaRPr lang="en-IN"/>
          </a:p>
        </p:txBody>
      </p:sp>
      <p:sp>
        <p:nvSpPr>
          <p:cNvPr id="7" name="Content Placeholder 6"/>
          <p:cNvSpPr>
            <a:spLocks noGrp="1"/>
          </p:cNvSpPr>
          <p:nvPr>
            <p:ph idx="1"/>
          </p:nvPr>
        </p:nvSpPr>
        <p:spPr>
          <a:xfrm>
            <a:off x="457200" y="1000108"/>
            <a:ext cx="8229600" cy="5126055"/>
          </a:xfrm>
        </p:spPr>
        <p:txBody>
          <a:bodyPr>
            <a:normAutofit lnSpcReduction="10000"/>
          </a:bodyPr>
          <a:lstStyle/>
          <a:p>
            <a:pPr algn="just"/>
            <a:r>
              <a:rPr lang="en-IN" sz="2600" dirty="0" smtClean="0">
                <a:solidFill>
                  <a:srgbClr val="C00000"/>
                </a:solidFill>
                <a:latin typeface="Times New Roman" pitchFamily="18" charset="0"/>
                <a:cs typeface="Times New Roman" pitchFamily="18" charset="0"/>
              </a:rPr>
              <a:t>What about a small Business House that requires only 16 address or a household that needed only 2 addresses?</a:t>
            </a:r>
          </a:p>
          <a:p>
            <a:pPr algn="just"/>
            <a:endParaRPr lang="en-IN" sz="2600" dirty="0" smtClean="0">
              <a:solidFill>
                <a:srgbClr val="C00000"/>
              </a:solidFill>
              <a:latin typeface="Times New Roman" pitchFamily="18" charset="0"/>
              <a:cs typeface="Times New Roman" pitchFamily="18" charset="0"/>
            </a:endParaRPr>
          </a:p>
          <a:p>
            <a:pPr algn="just"/>
            <a:r>
              <a:rPr lang="en-IN" sz="2600" dirty="0" smtClean="0">
                <a:latin typeface="Times New Roman" pitchFamily="18" charset="0"/>
                <a:cs typeface="Times New Roman" pitchFamily="18" charset="0"/>
              </a:rPr>
              <a:t>To overcome address depletion</a:t>
            </a:r>
          </a:p>
          <a:p>
            <a:pPr algn="just"/>
            <a:r>
              <a:rPr lang="en-IN" sz="2600" dirty="0" smtClean="0">
                <a:latin typeface="Times New Roman" pitchFamily="18" charset="0"/>
                <a:cs typeface="Times New Roman" pitchFamily="18" charset="0"/>
              </a:rPr>
              <a:t>Addresses are granted in blocks.</a:t>
            </a:r>
          </a:p>
          <a:p>
            <a:pPr algn="just"/>
            <a:r>
              <a:rPr lang="en-IN" sz="2600" dirty="0" smtClean="0">
                <a:latin typeface="Times New Roman" pitchFamily="18" charset="0"/>
                <a:cs typeface="Times New Roman" pitchFamily="18" charset="0"/>
              </a:rPr>
              <a:t>The size of the address block (the number of addresses) varies based on the nature and size of the entity.</a:t>
            </a:r>
          </a:p>
          <a:p>
            <a:pPr algn="just"/>
            <a:r>
              <a:rPr lang="en-IN" sz="2400" dirty="0" smtClean="0">
                <a:latin typeface="Times New Roman" pitchFamily="18" charset="0"/>
                <a:cs typeface="Times New Roman" pitchFamily="18" charset="0"/>
              </a:rPr>
              <a:t>The addresses in a block must be contiguous, one after another.</a:t>
            </a:r>
          </a:p>
          <a:p>
            <a:pPr algn="just"/>
            <a:r>
              <a:rPr lang="en-IN" sz="2400" dirty="0" smtClean="0">
                <a:latin typeface="Times New Roman" pitchFamily="18" charset="0"/>
                <a:cs typeface="Times New Roman" pitchFamily="18" charset="0"/>
              </a:rPr>
              <a:t> The number of addresses in a block must be a power of 2</a:t>
            </a:r>
          </a:p>
          <a:p>
            <a:pPr algn="just"/>
            <a:r>
              <a:rPr lang="en-IN" sz="2400" dirty="0" smtClean="0">
                <a:latin typeface="Times New Roman" pitchFamily="18" charset="0"/>
                <a:cs typeface="Times New Roman" pitchFamily="18" charset="0"/>
              </a:rPr>
              <a:t> The first address must be evenly divisible by the number of addresses.</a:t>
            </a:r>
            <a:endParaRPr lang="en-IN" sz="2400" dirty="0" smtClean="0">
              <a:solidFill>
                <a:srgbClr val="C00000"/>
              </a:solidFill>
              <a:latin typeface="Times New Roman" pitchFamily="18" charset="0"/>
              <a:cs typeface="Times New Roman" pitchFamily="18" charset="0"/>
            </a:endParaRPr>
          </a:p>
          <a:p>
            <a:pPr algn="just"/>
            <a:endParaRPr lang="en-IN" sz="2600" dirty="0" smtClean="0">
              <a:latin typeface="Times New Roman" pitchFamily="18" charset="0"/>
              <a:cs typeface="Times New Roman" pitchFamily="18" charset="0"/>
            </a:endParaRPr>
          </a:p>
          <a:p>
            <a:pPr algn="just"/>
            <a:endParaRPr lang="en-IN" sz="2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latin typeface="Times New Roman" pitchFamily="18" charset="0"/>
                <a:cs typeface="Times New Roman" pitchFamily="18" charset="0"/>
              </a:rPr>
              <a:t>Masking</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928670"/>
            <a:ext cx="8229600" cy="5500726"/>
          </a:xfrm>
        </p:spPr>
        <p:txBody>
          <a:bodyPr>
            <a:normAutofit fontScale="92500" lnSpcReduction="10000"/>
          </a:bodyPr>
          <a:lstStyle/>
          <a:p>
            <a:pPr algn="just"/>
            <a:r>
              <a:rPr lang="en-IN" sz="2400" dirty="0" smtClean="0">
                <a:latin typeface="Times New Roman" pitchFamily="18" charset="0"/>
                <a:cs typeface="Times New Roman" pitchFamily="18" charset="0"/>
              </a:rPr>
              <a:t>A better way to define a block of addresses is to select any address in the block and the mask.</a:t>
            </a:r>
          </a:p>
          <a:p>
            <a:pPr algn="just"/>
            <a:r>
              <a:rPr lang="en-IN" sz="2400" dirty="0" smtClean="0">
                <a:latin typeface="Times New Roman" pitchFamily="18" charset="0"/>
                <a:cs typeface="Times New Roman" pitchFamily="18" charset="0"/>
              </a:rPr>
              <a:t>In IPv4 addressing, a block of addresses can be defined as </a:t>
            </a:r>
            <a:r>
              <a:rPr lang="en-IN" sz="2400" dirty="0" err="1" smtClean="0">
                <a:latin typeface="Times New Roman" pitchFamily="18" charset="0"/>
                <a:cs typeface="Times New Roman" pitchFamily="18" charset="0"/>
              </a:rPr>
              <a:t>x.y.z.t</a:t>
            </a:r>
            <a:r>
              <a:rPr lang="en-IN" sz="2400" dirty="0" smtClean="0">
                <a:latin typeface="Times New Roman" pitchFamily="18" charset="0"/>
                <a:cs typeface="Times New Roman" pitchFamily="18" charset="0"/>
              </a:rPr>
              <a:t>/n in which </a:t>
            </a:r>
            <a:r>
              <a:rPr lang="en-IN" sz="2400" dirty="0" err="1" smtClean="0">
                <a:latin typeface="Times New Roman" pitchFamily="18" charset="0"/>
                <a:cs typeface="Times New Roman" pitchFamily="18" charset="0"/>
              </a:rPr>
              <a:t>x.y.z.t</a:t>
            </a:r>
            <a:r>
              <a:rPr lang="en-IN" sz="2400" dirty="0" smtClean="0">
                <a:latin typeface="Times New Roman" pitchFamily="18" charset="0"/>
                <a:cs typeface="Times New Roman" pitchFamily="18" charset="0"/>
              </a:rPr>
              <a:t> defines one of the addresses and the </a:t>
            </a:r>
            <a:r>
              <a:rPr lang="en-IN" sz="2400" i="1" dirty="0" smtClean="0">
                <a:latin typeface="Times New Roman" pitchFamily="18" charset="0"/>
                <a:cs typeface="Times New Roman" pitchFamily="18" charset="0"/>
              </a:rPr>
              <a:t>In defines the mask.</a:t>
            </a:r>
            <a:endParaRPr lang="en-IN" sz="2400" dirty="0" smtClean="0">
              <a:solidFill>
                <a:srgbClr val="C00000"/>
              </a:solidFill>
              <a:latin typeface="Times New Roman" pitchFamily="18" charset="0"/>
              <a:cs typeface="Times New Roman" pitchFamily="18" charset="0"/>
            </a:endParaRPr>
          </a:p>
          <a:p>
            <a:pPr algn="just"/>
            <a:endParaRPr lang="en-IN" sz="2400" dirty="0" smtClean="0">
              <a:solidFill>
                <a:srgbClr val="C00000"/>
              </a:solidFill>
              <a:latin typeface="Times New Roman" pitchFamily="18" charset="0"/>
              <a:cs typeface="Times New Roman" pitchFamily="18" charset="0"/>
            </a:endParaRPr>
          </a:p>
          <a:p>
            <a:pPr algn="just"/>
            <a:r>
              <a:rPr lang="en-IN" sz="2400" dirty="0" smtClean="0">
                <a:solidFill>
                  <a:srgbClr val="C00000"/>
                </a:solidFill>
                <a:latin typeface="Times New Roman" pitchFamily="18" charset="0"/>
                <a:cs typeface="Times New Roman" pitchFamily="18" charset="0"/>
              </a:rPr>
              <a:t>A block of addresses is granted to a small organization. We know that one of the addresses is 205.16.37.39/28. What is the first address in the block? What is the last address?</a:t>
            </a:r>
          </a:p>
          <a:p>
            <a:r>
              <a:rPr lang="en-IN" sz="2400" dirty="0" smtClean="0"/>
              <a:t>Address: 11001101 00010000 00100101 00100111 [Class C]</a:t>
            </a:r>
          </a:p>
          <a:p>
            <a:pPr>
              <a:buNone/>
            </a:pPr>
            <a:r>
              <a:rPr lang="en-IN" sz="2400" dirty="0" smtClean="0"/>
              <a:t>	Mask:      11111111 11111111 11111111 11110000</a:t>
            </a:r>
          </a:p>
          <a:p>
            <a:pPr>
              <a:buNone/>
            </a:pPr>
            <a:r>
              <a:rPr lang="en-IN" sz="2400" dirty="0" smtClean="0"/>
              <a:t>	First add: 11001101 00010000 00100101 00100000 [205.16.37.32]</a:t>
            </a:r>
          </a:p>
          <a:p>
            <a:pPr algn="just"/>
            <a:r>
              <a:rPr lang="en-IN" sz="2400" dirty="0" smtClean="0">
                <a:latin typeface="Times New Roman" pitchFamily="18" charset="0"/>
                <a:cs typeface="Times New Roman" pitchFamily="18" charset="0"/>
              </a:rPr>
              <a:t>[32-28] 4 bits are there for  addressing no of hosts within a network. Thus the number of host will be 2</a:t>
            </a:r>
            <a:r>
              <a:rPr lang="en-IN" sz="2400" baseline="30000" dirty="0" smtClean="0">
                <a:latin typeface="Times New Roman" pitchFamily="18" charset="0"/>
                <a:cs typeface="Times New Roman" pitchFamily="18" charset="0"/>
              </a:rPr>
              <a:t>4</a:t>
            </a:r>
            <a:r>
              <a:rPr lang="en-IN" sz="2400" dirty="0" smtClean="0">
                <a:latin typeface="Times New Roman" pitchFamily="18" charset="0"/>
                <a:cs typeface="Times New Roman" pitchFamily="18" charset="0"/>
              </a:rPr>
              <a:t> = 16. The last address within the block will be 205.16.37. 47</a:t>
            </a:r>
          </a:p>
          <a:p>
            <a:pPr>
              <a:buNone/>
            </a:pPr>
            <a:endParaRPr lang="en-IN" sz="2400" dirty="0" smtClean="0"/>
          </a:p>
          <a:p>
            <a:pPr algn="just"/>
            <a:endParaRPr lang="en-IN" sz="2400" dirty="0" smtClean="0">
              <a:latin typeface="Times New Roman" pitchFamily="18" charset="0"/>
              <a:cs typeface="Times New Roman" pitchFamily="18" charset="0"/>
            </a:endParaRPr>
          </a:p>
          <a:p>
            <a:pPr algn="just"/>
            <a:endParaRPr lang="en-IN"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24</a:t>
            </a:fld>
            <a:endParaRPr lang="en-IN"/>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latin typeface="Times New Roman" pitchFamily="18" charset="0"/>
                <a:cs typeface="Times New Roman" pitchFamily="18" charset="0"/>
              </a:rPr>
              <a:t>Subnet</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r>
              <a:rPr lang="en-IN" sz="2400" dirty="0" smtClean="0">
                <a:latin typeface="Times New Roman" pitchFamily="18" charset="0"/>
                <a:cs typeface="Times New Roman" pitchFamily="18" charset="0"/>
              </a:rPr>
              <a:t>An organization that is granted a large block of addresses may want to create clusters of networks (called subnets) and divide the addresses between the different subnets. </a:t>
            </a:r>
          </a:p>
          <a:p>
            <a:pPr algn="just"/>
            <a:r>
              <a:rPr lang="en-IN" sz="2400" dirty="0" smtClean="0">
                <a:latin typeface="Times New Roman" pitchFamily="18" charset="0"/>
                <a:cs typeface="Times New Roman" pitchFamily="18" charset="0"/>
              </a:rPr>
              <a:t>The rest of the world still sees the organization as one entity; however, internally there are several subnets. </a:t>
            </a:r>
          </a:p>
          <a:p>
            <a:pPr algn="just"/>
            <a:r>
              <a:rPr lang="en-IN" sz="2400" dirty="0" smtClean="0">
                <a:latin typeface="Times New Roman" pitchFamily="18" charset="0"/>
                <a:cs typeface="Times New Roman" pitchFamily="18" charset="0"/>
              </a:rPr>
              <a:t>All messages are sent to the router address that connects the organization to the rest of the Internet; the router routes the message to the appropriate subnets. </a:t>
            </a:r>
          </a:p>
          <a:p>
            <a:pPr algn="just"/>
            <a:r>
              <a:rPr lang="en-IN" sz="2400" dirty="0" smtClean="0">
                <a:latin typeface="Times New Roman" pitchFamily="18" charset="0"/>
                <a:cs typeface="Times New Roman" pitchFamily="18" charset="0"/>
              </a:rPr>
              <a:t>The organization, however, needs to create small </a:t>
            </a:r>
            <a:r>
              <a:rPr lang="en-IN" sz="2400" dirty="0" err="1" smtClean="0">
                <a:latin typeface="Times New Roman" pitchFamily="18" charset="0"/>
                <a:cs typeface="Times New Roman" pitchFamily="18" charset="0"/>
              </a:rPr>
              <a:t>subblocks</a:t>
            </a:r>
            <a:r>
              <a:rPr lang="en-IN" sz="2400" dirty="0" smtClean="0">
                <a:latin typeface="Times New Roman" pitchFamily="18" charset="0"/>
                <a:cs typeface="Times New Roman" pitchFamily="18" charset="0"/>
              </a:rPr>
              <a:t> of addresses, each assigned to specific subnets. </a:t>
            </a:r>
          </a:p>
          <a:p>
            <a:pPr algn="just"/>
            <a:r>
              <a:rPr lang="en-IN" sz="2400" dirty="0" smtClean="0">
                <a:latin typeface="Times New Roman" pitchFamily="18" charset="0"/>
                <a:cs typeface="Times New Roman" pitchFamily="18" charset="0"/>
              </a:rPr>
              <a:t>The organization has its own mask; each subnet must also have its own.</a:t>
            </a:r>
            <a:endParaRPr lang="en-IN"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25</a:t>
            </a:fld>
            <a:endParaRPr lang="en-IN"/>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latin typeface="Times New Roman" pitchFamily="18" charset="0"/>
                <a:cs typeface="Times New Roman" pitchFamily="18" charset="0"/>
              </a:rPr>
              <a:t>An Illustration of </a:t>
            </a:r>
            <a:r>
              <a:rPr lang="en-IN" dirty="0" err="1" smtClean="0">
                <a:latin typeface="Times New Roman" pitchFamily="18" charset="0"/>
                <a:cs typeface="Times New Roman" pitchFamily="18" charset="0"/>
              </a:rPr>
              <a:t>Subnetting</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85860"/>
            <a:ext cx="8229600" cy="4840303"/>
          </a:xfrm>
        </p:spPr>
        <p:txBody>
          <a:bodyPr>
            <a:normAutofit lnSpcReduction="10000"/>
          </a:bodyPr>
          <a:lstStyle/>
          <a:p>
            <a:pPr algn="just"/>
            <a:r>
              <a:rPr lang="en-IN" sz="2400" dirty="0" smtClean="0">
                <a:solidFill>
                  <a:srgbClr val="C00000"/>
                </a:solidFill>
                <a:latin typeface="Times New Roman" pitchFamily="18" charset="0"/>
                <a:cs typeface="Times New Roman" pitchFamily="18" charset="0"/>
              </a:rPr>
              <a:t>Suppose an organization is given the block 17.12.40.0/26, which contains 64 addresses. The organization has three offices and needs to divide the addresses into three </a:t>
            </a:r>
            <a:r>
              <a:rPr lang="en-IN" sz="2400" dirty="0" err="1" smtClean="0">
                <a:solidFill>
                  <a:srgbClr val="C00000"/>
                </a:solidFill>
                <a:latin typeface="Times New Roman" pitchFamily="18" charset="0"/>
                <a:cs typeface="Times New Roman" pitchFamily="18" charset="0"/>
              </a:rPr>
              <a:t>subblocks</a:t>
            </a:r>
            <a:r>
              <a:rPr lang="en-IN" sz="2400" dirty="0" smtClean="0">
                <a:solidFill>
                  <a:srgbClr val="C00000"/>
                </a:solidFill>
                <a:latin typeface="Times New Roman" pitchFamily="18" charset="0"/>
                <a:cs typeface="Times New Roman" pitchFamily="18" charset="0"/>
              </a:rPr>
              <a:t> of 32, 16, and 16 addresses.</a:t>
            </a:r>
          </a:p>
          <a:p>
            <a:pPr algn="just"/>
            <a:endParaRPr lang="en-IN" sz="2400" dirty="0" smtClean="0">
              <a:solidFill>
                <a:srgbClr val="C00000"/>
              </a:solidFill>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Suppose the mask for the first subnet is n1, then 2</a:t>
            </a:r>
            <a:r>
              <a:rPr lang="en-IN" sz="2400" baseline="30000" dirty="0" smtClean="0">
                <a:latin typeface="Times New Roman" pitchFamily="18" charset="0"/>
                <a:cs typeface="Times New Roman" pitchFamily="18" charset="0"/>
              </a:rPr>
              <a:t>32- n1</a:t>
            </a:r>
            <a:r>
              <a:rPr lang="en-IN" sz="2400" dirty="0" smtClean="0">
                <a:latin typeface="Times New Roman" pitchFamily="18" charset="0"/>
                <a:cs typeface="Times New Roman" pitchFamily="18" charset="0"/>
              </a:rPr>
              <a:t> must be 32, which means that n1 =27.</a:t>
            </a:r>
          </a:p>
          <a:p>
            <a:pPr algn="just"/>
            <a:r>
              <a:rPr lang="en-IN" sz="2400" dirty="0" smtClean="0">
                <a:latin typeface="Times New Roman" pitchFamily="18" charset="0"/>
                <a:cs typeface="Times New Roman" pitchFamily="18" charset="0"/>
              </a:rPr>
              <a:t>Suppose the mask for the second subnet is n2, then 2</a:t>
            </a:r>
            <a:r>
              <a:rPr lang="en-IN" sz="2400" baseline="30000" dirty="0" smtClean="0">
                <a:latin typeface="Times New Roman" pitchFamily="18" charset="0"/>
                <a:cs typeface="Times New Roman" pitchFamily="18" charset="0"/>
              </a:rPr>
              <a:t>32- n2</a:t>
            </a:r>
            <a:r>
              <a:rPr lang="en-IN" sz="2400" dirty="0" smtClean="0">
                <a:latin typeface="Times New Roman" pitchFamily="18" charset="0"/>
                <a:cs typeface="Times New Roman" pitchFamily="18" charset="0"/>
              </a:rPr>
              <a:t> must be 16, </a:t>
            </a:r>
            <a:r>
              <a:rPr lang="en-IN" sz="2400" dirty="0" err="1" smtClean="0">
                <a:latin typeface="Times New Roman" pitchFamily="18" charset="0"/>
                <a:cs typeface="Times New Roman" pitchFamily="18" charset="0"/>
              </a:rPr>
              <a:t>whichmeans</a:t>
            </a:r>
            <a:r>
              <a:rPr lang="en-IN" sz="2400" dirty="0" smtClean="0">
                <a:latin typeface="Times New Roman" pitchFamily="18" charset="0"/>
                <a:cs typeface="Times New Roman" pitchFamily="18" charset="0"/>
              </a:rPr>
              <a:t> that n2 = 28.</a:t>
            </a:r>
          </a:p>
          <a:p>
            <a:pPr algn="just"/>
            <a:r>
              <a:rPr lang="en-IN" sz="2400" dirty="0" smtClean="0">
                <a:latin typeface="Times New Roman" pitchFamily="18" charset="0"/>
                <a:cs typeface="Times New Roman" pitchFamily="18" charset="0"/>
              </a:rPr>
              <a:t>Suppose the mask for the third subnet is n3, then 2</a:t>
            </a:r>
            <a:r>
              <a:rPr lang="en-IN" sz="2400" baseline="30000" dirty="0" smtClean="0">
                <a:latin typeface="Times New Roman" pitchFamily="18" charset="0"/>
                <a:cs typeface="Times New Roman" pitchFamily="18" charset="0"/>
              </a:rPr>
              <a:t>32- n3</a:t>
            </a:r>
            <a:r>
              <a:rPr lang="en-IN" sz="2400" dirty="0" smtClean="0">
                <a:latin typeface="Times New Roman" pitchFamily="18" charset="0"/>
                <a:cs typeface="Times New Roman" pitchFamily="18" charset="0"/>
              </a:rPr>
              <a:t> must be 16, which means that n3 =28.</a:t>
            </a:r>
          </a:p>
          <a:p>
            <a:pPr algn="just"/>
            <a:r>
              <a:rPr lang="en-IN" sz="2400" dirty="0" smtClean="0">
                <a:latin typeface="Times New Roman" pitchFamily="18" charset="0"/>
                <a:cs typeface="Times New Roman" pitchFamily="18" charset="0"/>
              </a:rPr>
              <a:t>This means that we have the masks 27, 28, 28 with the  organization mask being 26.</a:t>
            </a:r>
            <a:endParaRPr lang="en-IN" sz="2400" dirty="0" smtClean="0">
              <a:solidFill>
                <a:srgbClr val="C00000"/>
              </a:solidFill>
              <a:latin typeface="Times New Roman" pitchFamily="18" charset="0"/>
              <a:cs typeface="Times New Roman" pitchFamily="18" charset="0"/>
            </a:endParaRPr>
          </a:p>
          <a:p>
            <a:pPr algn="just"/>
            <a:endParaRPr lang="en-IN" sz="2400" dirty="0" smtClean="0">
              <a:solidFill>
                <a:srgbClr val="C00000"/>
              </a:solidFill>
              <a:latin typeface="Times New Roman" pitchFamily="18" charset="0"/>
              <a:cs typeface="Times New Roman" pitchFamily="18" charset="0"/>
            </a:endParaRPr>
          </a:p>
          <a:p>
            <a:pPr algn="just"/>
            <a:endParaRPr lang="en-IN" sz="2400" dirty="0">
              <a:solidFill>
                <a:srgbClr val="C0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26</a:t>
            </a:fld>
            <a:endParaRPr lang="en-IN"/>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96842"/>
          </a:xfrm>
        </p:spPr>
        <p:txBody>
          <a:bodyPr>
            <a:normAutofit fontScale="90000"/>
          </a:bodyPr>
          <a:lstStyle/>
          <a:p>
            <a:endParaRPr lang="en-IN" dirty="0"/>
          </a:p>
        </p:txBody>
      </p:sp>
      <p:sp>
        <p:nvSpPr>
          <p:cNvPr id="3" name="Content Placeholder 2"/>
          <p:cNvSpPr>
            <a:spLocks noGrp="1"/>
          </p:cNvSpPr>
          <p:nvPr>
            <p:ph idx="1"/>
          </p:nvPr>
        </p:nvSpPr>
        <p:spPr>
          <a:xfrm>
            <a:off x="457200" y="571480"/>
            <a:ext cx="8229600" cy="5554683"/>
          </a:xfrm>
        </p:spPr>
        <p:txBody>
          <a:bodyPr/>
          <a:lstStyle/>
          <a:p>
            <a:endParaRPr lang="en-IN" dirty="0"/>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27</a:t>
            </a:fld>
            <a:endParaRPr lang="en-IN"/>
          </a:p>
        </p:txBody>
      </p:sp>
      <p:pic>
        <p:nvPicPr>
          <p:cNvPr id="1026" name="Picture 2"/>
          <p:cNvPicPr>
            <a:picLocks noChangeAspect="1" noChangeArrowheads="1"/>
          </p:cNvPicPr>
          <p:nvPr/>
        </p:nvPicPr>
        <p:blipFill>
          <a:blip r:embed="rId2"/>
          <a:srcRect/>
          <a:stretch>
            <a:fillRect/>
          </a:stretch>
        </p:blipFill>
        <p:spPr bwMode="auto">
          <a:xfrm>
            <a:off x="500034" y="-142900"/>
            <a:ext cx="8072494" cy="67866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t>An Example</a:t>
            </a:r>
            <a:endParaRPr lang="en-IN" dirty="0"/>
          </a:p>
        </p:txBody>
      </p:sp>
      <p:sp>
        <p:nvSpPr>
          <p:cNvPr id="3" name="Content Placeholder 2"/>
          <p:cNvSpPr>
            <a:spLocks noGrp="1"/>
          </p:cNvSpPr>
          <p:nvPr>
            <p:ph idx="1"/>
          </p:nvPr>
        </p:nvSpPr>
        <p:spPr/>
        <p:txBody>
          <a:bodyPr>
            <a:normAutofit/>
          </a:bodyPr>
          <a:lstStyle/>
          <a:p>
            <a:pPr algn="just"/>
            <a:r>
              <a:rPr lang="en-IN" sz="2400" dirty="0" smtClean="0">
                <a:latin typeface="Times New Roman" pitchFamily="18" charset="0"/>
                <a:cs typeface="Times New Roman" pitchFamily="18" charset="0"/>
              </a:rPr>
              <a:t>An ISP is granted a block of addresses starting with 190.100.0.0/16 (65,536 addresses). The ISP needs to distribute these addresses to three groups of  customers as follows:</a:t>
            </a:r>
          </a:p>
          <a:p>
            <a:pPr algn="just"/>
            <a:r>
              <a:rPr lang="en-IN" sz="2400" dirty="0" smtClean="0">
                <a:latin typeface="Times New Roman" pitchFamily="18" charset="0"/>
                <a:cs typeface="Times New Roman" pitchFamily="18" charset="0"/>
              </a:rPr>
              <a:t>a. The first group has 64 customers; each needs 256 addresses.</a:t>
            </a:r>
          </a:p>
          <a:p>
            <a:pPr algn="just"/>
            <a:r>
              <a:rPr lang="en-IN" sz="2400" dirty="0" smtClean="0">
                <a:latin typeface="Times New Roman" pitchFamily="18" charset="0"/>
                <a:cs typeface="Times New Roman" pitchFamily="18" charset="0"/>
              </a:rPr>
              <a:t>b. The second group has 128 customers; each needs 128 addresses.</a:t>
            </a:r>
          </a:p>
          <a:p>
            <a:pPr algn="just"/>
            <a:r>
              <a:rPr lang="en-IN" sz="2400" dirty="0" smtClean="0">
                <a:latin typeface="Times New Roman" pitchFamily="18" charset="0"/>
                <a:cs typeface="Times New Roman" pitchFamily="18" charset="0"/>
              </a:rPr>
              <a:t>c. The third group has 128 customers; each needs 64 addresses.</a:t>
            </a:r>
          </a:p>
          <a:p>
            <a:pPr algn="just">
              <a:buNone/>
            </a:pPr>
            <a:r>
              <a:rPr lang="en-IN" sz="2400" dirty="0" smtClean="0">
                <a:latin typeface="Times New Roman" pitchFamily="18" charset="0"/>
                <a:cs typeface="Times New Roman" pitchFamily="18" charset="0"/>
              </a:rPr>
              <a:t>	Design the sub-blocks and find out how many addresses are still available after these allocations.</a:t>
            </a:r>
            <a:endParaRPr lang="en-IN"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28</a:t>
            </a:fld>
            <a:endParaRPr lang="en-IN"/>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pPr algn="l"/>
            <a:r>
              <a:rPr lang="en-IN" dirty="0" smtClean="0">
                <a:latin typeface="Times New Roman" pitchFamily="18" charset="0"/>
                <a:cs typeface="Times New Roman" pitchFamily="18" charset="0"/>
              </a:rPr>
              <a:t>An Example</a:t>
            </a:r>
            <a:endParaRPr lang="en-IN"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29</a:t>
            </a:fld>
            <a:endParaRPr lang="en-IN"/>
          </a:p>
        </p:txBody>
      </p:sp>
      <p:pic>
        <p:nvPicPr>
          <p:cNvPr id="1026" name="Picture 2"/>
          <p:cNvPicPr>
            <a:picLocks noGrp="1" noChangeAspect="1" noChangeArrowheads="1"/>
          </p:cNvPicPr>
          <p:nvPr>
            <p:ph idx="1"/>
          </p:nvPr>
        </p:nvPicPr>
        <p:blipFill>
          <a:blip r:embed="rId2"/>
          <a:srcRect/>
          <a:stretch>
            <a:fillRect/>
          </a:stretch>
        </p:blipFill>
        <p:spPr bwMode="auto">
          <a:xfrm>
            <a:off x="571472" y="785794"/>
            <a:ext cx="8215370" cy="578647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t>An Example</a:t>
            </a:r>
            <a:endParaRPr lang="en-IN" dirty="0"/>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30</a:t>
            </a:fld>
            <a:endParaRPr lang="en-IN"/>
          </a:p>
        </p:txBody>
      </p:sp>
      <p:pic>
        <p:nvPicPr>
          <p:cNvPr id="2050" name="Picture 2"/>
          <p:cNvPicPr>
            <a:picLocks noGrp="1" noChangeAspect="1" noChangeArrowheads="1"/>
          </p:cNvPicPr>
          <p:nvPr>
            <p:ph idx="1"/>
          </p:nvPr>
        </p:nvPicPr>
        <p:blipFill>
          <a:blip r:embed="rId2"/>
          <a:srcRect/>
          <a:stretch>
            <a:fillRect/>
          </a:stretch>
        </p:blipFill>
        <p:spPr bwMode="auto">
          <a:xfrm>
            <a:off x="785786" y="1714488"/>
            <a:ext cx="8001056" cy="310754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latin typeface="Times New Roman" pitchFamily="18" charset="0"/>
                <a:cs typeface="Times New Roman" pitchFamily="18" charset="0"/>
              </a:rPr>
              <a:t>NAT</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71546"/>
            <a:ext cx="8229600" cy="5054617"/>
          </a:xfrm>
        </p:spPr>
        <p:txBody>
          <a:bodyPr>
            <a:normAutofit lnSpcReduction="10000"/>
          </a:bodyPr>
          <a:lstStyle/>
          <a:p>
            <a:pPr algn="just"/>
            <a:r>
              <a:rPr lang="en-IN" sz="2800" dirty="0" smtClean="0">
                <a:solidFill>
                  <a:srgbClr val="C00000"/>
                </a:solidFill>
                <a:latin typeface="Times New Roman" pitchFamily="18" charset="0"/>
                <a:cs typeface="Times New Roman" pitchFamily="18" charset="0"/>
              </a:rPr>
              <a:t>Consumers want to create small networks with several hosts and need an IP address for each host. With the shortage of addresses, this is a serious problem.</a:t>
            </a:r>
          </a:p>
          <a:p>
            <a:pPr algn="just"/>
            <a:r>
              <a:rPr lang="en-IN" sz="2400" dirty="0" smtClean="0">
                <a:latin typeface="Times New Roman" pitchFamily="18" charset="0"/>
                <a:cs typeface="Times New Roman" pitchFamily="18" charset="0"/>
              </a:rPr>
              <a:t>NAT (Network Address Translation)  enables a user to have a large set of addresses internally and one address, or a small set of addresses, externally. </a:t>
            </a:r>
          </a:p>
          <a:p>
            <a:pPr algn="just"/>
            <a:r>
              <a:rPr lang="en-IN" sz="2400" dirty="0" smtClean="0">
                <a:latin typeface="Times New Roman" pitchFamily="18" charset="0"/>
                <a:cs typeface="Times New Roman" pitchFamily="18" charset="0"/>
              </a:rPr>
              <a:t>Private IP (e.g. 172.16.0.0 to 172.31.255.255) and Public IP concepts help to offer a solution.</a:t>
            </a:r>
          </a:p>
          <a:p>
            <a:pPr algn="just"/>
            <a:r>
              <a:rPr lang="en-IN" sz="2400" dirty="0" smtClean="0">
                <a:latin typeface="Times New Roman" pitchFamily="18" charset="0"/>
                <a:cs typeface="Times New Roman" pitchFamily="18" charset="0"/>
              </a:rPr>
              <a:t>The site must have only one single connection to the global Internet through a router that runs the NAT software. The private network is transparent to the rest of the Internet; the rest of the Internet sees only the NAT router</a:t>
            </a:r>
            <a:endParaRPr lang="en-IN"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31</a:t>
            </a:fld>
            <a:endParaRPr lang="en-IN"/>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pPr algn="l"/>
            <a:r>
              <a:rPr lang="en-IN" sz="3600" dirty="0" smtClean="0">
                <a:latin typeface="Times New Roman" pitchFamily="18" charset="0"/>
                <a:cs typeface="Times New Roman" pitchFamily="18" charset="0"/>
              </a:rPr>
              <a:t>NAT</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32</a:t>
            </a:fld>
            <a:endParaRPr lang="en-IN"/>
          </a:p>
        </p:txBody>
      </p:sp>
      <p:pic>
        <p:nvPicPr>
          <p:cNvPr id="3074" name="Picture 2"/>
          <p:cNvPicPr>
            <a:picLocks noGrp="1" noChangeAspect="1" noChangeArrowheads="1"/>
          </p:cNvPicPr>
          <p:nvPr>
            <p:ph idx="1"/>
          </p:nvPr>
        </p:nvPicPr>
        <p:blipFill>
          <a:blip r:embed="rId2"/>
          <a:srcRect/>
          <a:stretch>
            <a:fillRect/>
          </a:stretch>
        </p:blipFill>
        <p:spPr bwMode="auto">
          <a:xfrm>
            <a:off x="500034" y="928670"/>
            <a:ext cx="7072362" cy="1714512"/>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509588" y="2928934"/>
            <a:ext cx="8124825" cy="15716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Autofit/>
          </a:bodyPr>
          <a:lstStyle/>
          <a:p>
            <a:pPr algn="l"/>
            <a:r>
              <a:rPr lang="en-IN" sz="3600" dirty="0" smtClean="0">
                <a:latin typeface="Times New Roman" pitchFamily="18" charset="0"/>
                <a:cs typeface="Times New Roman" pitchFamily="18" charset="0"/>
              </a:rPr>
              <a:t>NAT</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33</a:t>
            </a:fld>
            <a:endParaRPr lang="en-IN"/>
          </a:p>
        </p:txBody>
      </p:sp>
      <p:pic>
        <p:nvPicPr>
          <p:cNvPr id="4098" name="Picture 2"/>
          <p:cNvPicPr>
            <a:picLocks noGrp="1" noChangeAspect="1" noChangeArrowheads="1"/>
          </p:cNvPicPr>
          <p:nvPr>
            <p:ph idx="1"/>
          </p:nvPr>
        </p:nvPicPr>
        <p:blipFill>
          <a:blip r:embed="rId2"/>
          <a:srcRect/>
          <a:stretch>
            <a:fillRect/>
          </a:stretch>
        </p:blipFill>
        <p:spPr bwMode="auto">
          <a:xfrm>
            <a:off x="428596" y="1071546"/>
            <a:ext cx="8358246" cy="2714644"/>
          </a:xfrm>
          <a:prstGeom prst="rect">
            <a:avLst/>
          </a:prstGeom>
          <a:noFill/>
          <a:ln w="9525">
            <a:noFill/>
            <a:miter lim="800000"/>
            <a:headEnd/>
            <a:tailEnd/>
          </a:ln>
          <a:effectLst/>
        </p:spPr>
      </p:pic>
      <p:sp>
        <p:nvSpPr>
          <p:cNvPr id="7" name="TextBox 6"/>
          <p:cNvSpPr txBox="1"/>
          <p:nvPr/>
        </p:nvSpPr>
        <p:spPr>
          <a:xfrm>
            <a:off x="928662" y="5000636"/>
            <a:ext cx="7786742" cy="892552"/>
          </a:xfrm>
          <a:prstGeom prst="rect">
            <a:avLst/>
          </a:prstGeom>
          <a:noFill/>
        </p:spPr>
        <p:txBody>
          <a:bodyPr wrap="square" rtlCol="0">
            <a:spAutoFit/>
          </a:bodyPr>
          <a:lstStyle/>
          <a:p>
            <a:pPr algn="just"/>
            <a:r>
              <a:rPr lang="en-IN" sz="2600" dirty="0" smtClean="0">
                <a:solidFill>
                  <a:srgbClr val="C00000"/>
                </a:solidFill>
                <a:latin typeface="Times New Roman" pitchFamily="18" charset="0"/>
                <a:cs typeface="Times New Roman" pitchFamily="18" charset="0"/>
              </a:rPr>
              <a:t>communication must always be initiated by the private network.</a:t>
            </a:r>
            <a:endParaRPr lang="en-IN" sz="2600"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latin typeface="Times New Roman" pitchFamily="18" charset="0"/>
                <a:cs typeface="Times New Roman" pitchFamily="18" charset="0"/>
              </a:rPr>
              <a:t>NAT</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00108"/>
            <a:ext cx="8229600" cy="5126055"/>
          </a:xfrm>
        </p:spPr>
        <p:txBody>
          <a:bodyPr>
            <a:normAutofit/>
          </a:bodyPr>
          <a:lstStyle/>
          <a:p>
            <a:pPr algn="just"/>
            <a:r>
              <a:rPr lang="en-IN" sz="2800" dirty="0" smtClean="0">
                <a:latin typeface="Times New Roman" pitchFamily="18" charset="0"/>
                <a:cs typeface="Times New Roman" pitchFamily="18" charset="0"/>
              </a:rPr>
              <a:t>The NAT router may </a:t>
            </a:r>
            <a:r>
              <a:rPr lang="en-IN" sz="2800" dirty="0" smtClean="0">
                <a:solidFill>
                  <a:srgbClr val="C00000"/>
                </a:solidFill>
                <a:latin typeface="Times New Roman" pitchFamily="18" charset="0"/>
                <a:cs typeface="Times New Roman" pitchFamily="18" charset="0"/>
              </a:rPr>
              <a:t>use a pool of global addresses</a:t>
            </a:r>
            <a:r>
              <a:rPr lang="en-IN" sz="2800" dirty="0" smtClean="0">
                <a:latin typeface="Times New Roman" pitchFamily="18" charset="0"/>
                <a:cs typeface="Times New Roman" pitchFamily="18" charset="0"/>
              </a:rPr>
              <a:t>.</a:t>
            </a:r>
          </a:p>
          <a:p>
            <a:pPr algn="just"/>
            <a:r>
              <a:rPr lang="en-IN" sz="2800" dirty="0" smtClean="0">
                <a:latin typeface="Times New Roman" pitchFamily="18" charset="0"/>
                <a:cs typeface="Times New Roman" pitchFamily="18" charset="0"/>
              </a:rPr>
              <a:t> For example, instead of using only one global address (200.24.5.8), the NAT router can use four addresses (200.24.5.8, 200.24.5.9, 200.24.5.10, and 200.24.5.11) i.e. </a:t>
            </a:r>
            <a:r>
              <a:rPr lang="en-IN" sz="2800" dirty="0" smtClean="0">
                <a:solidFill>
                  <a:srgbClr val="C00000"/>
                </a:solidFill>
                <a:latin typeface="Times New Roman" pitchFamily="18" charset="0"/>
                <a:cs typeface="Times New Roman" pitchFamily="18" charset="0"/>
              </a:rPr>
              <a:t>Four private network hosts can  communicate with the same external host at the same time </a:t>
            </a:r>
            <a:r>
              <a:rPr lang="en-IN" sz="2800" dirty="0" smtClean="0">
                <a:latin typeface="Times New Roman" pitchFamily="18" charset="0"/>
                <a:cs typeface="Times New Roman" pitchFamily="18" charset="0"/>
              </a:rPr>
              <a:t>because each pair of addresses defines a connection. </a:t>
            </a:r>
          </a:p>
          <a:p>
            <a:pPr algn="just"/>
            <a:r>
              <a:rPr lang="en-IN" sz="2800" dirty="0" smtClean="0">
                <a:latin typeface="Times New Roman" pitchFamily="18" charset="0"/>
                <a:cs typeface="Times New Roman" pitchFamily="18" charset="0"/>
              </a:rPr>
              <a:t>No private-network host can access two external server programs (e.g., HTTP and FTP) at the same time.</a:t>
            </a:r>
            <a:endParaRPr lang="en-IN"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34</a:t>
            </a:fld>
            <a:endParaRPr lang="en-IN"/>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latin typeface="Times New Roman" pitchFamily="18" charset="0"/>
                <a:cs typeface="Times New Roman" pitchFamily="18" charset="0"/>
              </a:rPr>
              <a:t>NAT</a:t>
            </a:r>
            <a:endParaRPr lang="en-IN"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35</a:t>
            </a:fld>
            <a:endParaRPr lang="en-IN"/>
          </a:p>
        </p:txBody>
      </p:sp>
      <p:pic>
        <p:nvPicPr>
          <p:cNvPr id="1026" name="Picture 2"/>
          <p:cNvPicPr>
            <a:picLocks noGrp="1" noChangeAspect="1" noChangeArrowheads="1"/>
          </p:cNvPicPr>
          <p:nvPr>
            <p:ph idx="1"/>
          </p:nvPr>
        </p:nvPicPr>
        <p:blipFill>
          <a:blip r:embed="rId2"/>
          <a:srcRect/>
          <a:stretch>
            <a:fillRect/>
          </a:stretch>
        </p:blipFill>
        <p:spPr bwMode="auto">
          <a:xfrm>
            <a:off x="642910" y="2428868"/>
            <a:ext cx="8215370" cy="3286148"/>
          </a:xfrm>
          <a:prstGeom prst="rect">
            <a:avLst/>
          </a:prstGeom>
          <a:noFill/>
          <a:ln w="9525">
            <a:noFill/>
            <a:miter lim="800000"/>
            <a:headEnd/>
            <a:tailEnd/>
          </a:ln>
          <a:effectLst/>
        </p:spPr>
      </p:pic>
      <p:sp>
        <p:nvSpPr>
          <p:cNvPr id="9" name="TextBox 8"/>
          <p:cNvSpPr txBox="1"/>
          <p:nvPr/>
        </p:nvSpPr>
        <p:spPr>
          <a:xfrm>
            <a:off x="714348" y="1142984"/>
            <a:ext cx="8001056" cy="1292662"/>
          </a:xfrm>
          <a:prstGeom prst="rect">
            <a:avLst/>
          </a:prstGeom>
          <a:noFill/>
        </p:spPr>
        <p:txBody>
          <a:bodyPr wrap="square" rtlCol="0">
            <a:spAutoFit/>
          </a:bodyPr>
          <a:lstStyle/>
          <a:p>
            <a:pPr algn="just"/>
            <a:r>
              <a:rPr lang="en-IN" sz="2600" dirty="0" smtClean="0">
                <a:solidFill>
                  <a:srgbClr val="C00000"/>
                </a:solidFill>
                <a:latin typeface="Times New Roman" pitchFamily="18" charset="0"/>
                <a:cs typeface="Times New Roman" pitchFamily="18" charset="0"/>
              </a:rPr>
              <a:t>Suppose two hosts with addresses 172.18.3.1 and 172.18.3.2 inside a private network need to access the HTTP server on external host 25.8.3.2.</a:t>
            </a:r>
            <a:endParaRPr lang="en-IN" sz="2600"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a:bodyPr>
          <a:lstStyle/>
          <a:p>
            <a:pPr algn="l"/>
            <a:r>
              <a:rPr lang="en-IN" sz="3600" dirty="0" smtClean="0">
                <a:latin typeface="Times New Roman" pitchFamily="18" charset="0"/>
                <a:cs typeface="Times New Roman" pitchFamily="18" charset="0"/>
              </a:rPr>
              <a:t>Intra &amp; Inter Domain Routing</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36</a:t>
            </a:fld>
            <a:endParaRPr lang="en-IN"/>
          </a:p>
        </p:txBody>
      </p:sp>
      <p:pic>
        <p:nvPicPr>
          <p:cNvPr id="1026" name="Picture 2"/>
          <p:cNvPicPr>
            <a:picLocks noGrp="1" noChangeAspect="1" noChangeArrowheads="1"/>
          </p:cNvPicPr>
          <p:nvPr>
            <p:ph idx="1"/>
          </p:nvPr>
        </p:nvPicPr>
        <p:blipFill>
          <a:blip r:embed="rId2"/>
          <a:srcRect/>
          <a:stretch>
            <a:fillRect/>
          </a:stretch>
        </p:blipFill>
        <p:spPr bwMode="auto">
          <a:xfrm>
            <a:off x="1142976" y="3714752"/>
            <a:ext cx="7143800" cy="2714644"/>
          </a:xfrm>
          <a:prstGeom prst="rect">
            <a:avLst/>
          </a:prstGeom>
          <a:noFill/>
          <a:ln w="9525">
            <a:noFill/>
            <a:miter lim="800000"/>
            <a:headEnd/>
            <a:tailEnd/>
          </a:ln>
          <a:effectLst/>
        </p:spPr>
      </p:pic>
      <p:sp>
        <p:nvSpPr>
          <p:cNvPr id="7" name="TextBox 6"/>
          <p:cNvSpPr txBox="1"/>
          <p:nvPr/>
        </p:nvSpPr>
        <p:spPr>
          <a:xfrm>
            <a:off x="571472" y="928670"/>
            <a:ext cx="7643866" cy="3046988"/>
          </a:xfrm>
          <a:prstGeom prst="rect">
            <a:avLst/>
          </a:prstGeom>
          <a:noFill/>
        </p:spPr>
        <p:txBody>
          <a:bodyPr wrap="square" rtlCol="0">
            <a:spAutoFit/>
          </a:bodyPr>
          <a:lstStyle/>
          <a:p>
            <a:pPr algn="just"/>
            <a:r>
              <a:rPr lang="en-IN" sz="2400" dirty="0" smtClean="0">
                <a:latin typeface="Times New Roman" pitchFamily="18" charset="0"/>
                <a:cs typeface="Times New Roman" pitchFamily="18" charset="0"/>
              </a:rPr>
              <a:t>Internetwork is divided into smaller regions, called </a:t>
            </a:r>
            <a:r>
              <a:rPr lang="en-IN" sz="2400" dirty="0" smtClean="0">
                <a:solidFill>
                  <a:srgbClr val="C00000"/>
                </a:solidFill>
                <a:latin typeface="Times New Roman" pitchFamily="18" charset="0"/>
                <a:cs typeface="Times New Roman" pitchFamily="18" charset="0"/>
              </a:rPr>
              <a:t>Autonomous Systems </a:t>
            </a:r>
            <a:r>
              <a:rPr lang="en-IN" sz="2400" dirty="0" smtClean="0">
                <a:latin typeface="Times New Roman" pitchFamily="18" charset="0"/>
                <a:cs typeface="Times New Roman" pitchFamily="18" charset="0"/>
              </a:rPr>
              <a:t>(AS, as suggested in Hierarchical Routing) for better </a:t>
            </a:r>
            <a:r>
              <a:rPr lang="en-IN" sz="2400" dirty="0" smtClean="0">
                <a:solidFill>
                  <a:srgbClr val="C00000"/>
                </a:solidFill>
                <a:latin typeface="Times New Roman" pitchFamily="18" charset="0"/>
                <a:cs typeface="Times New Roman" pitchFamily="18" charset="0"/>
              </a:rPr>
              <a:t>scalability</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Routing within an AS:  Intra-domain Routing , </a:t>
            </a:r>
            <a:r>
              <a:rPr lang="en-IN" sz="2400" dirty="0" smtClean="0">
                <a:solidFill>
                  <a:srgbClr val="C00000"/>
                </a:solidFill>
                <a:latin typeface="Times New Roman" pitchFamily="18" charset="0"/>
                <a:cs typeface="Times New Roman" pitchFamily="18" charset="0"/>
              </a:rPr>
              <a:t>Interior</a:t>
            </a:r>
            <a:r>
              <a:rPr lang="en-IN" sz="2400" dirty="0" smtClean="0">
                <a:latin typeface="Times New Roman" pitchFamily="18" charset="0"/>
                <a:cs typeface="Times New Roman" pitchFamily="18" charset="0"/>
              </a:rPr>
              <a:t> Routing </a:t>
            </a:r>
            <a:r>
              <a:rPr lang="en-IN" sz="2400" dirty="0" err="1" smtClean="0">
                <a:latin typeface="Times New Roman" pitchFamily="18" charset="0"/>
                <a:cs typeface="Times New Roman" pitchFamily="18" charset="0"/>
              </a:rPr>
              <a:t>e.g</a:t>
            </a:r>
            <a:r>
              <a:rPr lang="en-IN" sz="2400" dirty="0" smtClean="0">
                <a:latin typeface="Times New Roman" pitchFamily="18" charset="0"/>
                <a:cs typeface="Times New Roman" pitchFamily="18" charset="0"/>
              </a:rPr>
              <a:t> RIP/ OSPF</a:t>
            </a:r>
          </a:p>
          <a:p>
            <a:pPr algn="just"/>
            <a:r>
              <a:rPr lang="en-IN" sz="2400" dirty="0" smtClean="0">
                <a:latin typeface="Times New Roman" pitchFamily="18" charset="0"/>
                <a:cs typeface="Times New Roman" pitchFamily="18" charset="0"/>
              </a:rPr>
              <a:t>Routing between AS: Inter domain Routing, </a:t>
            </a:r>
            <a:r>
              <a:rPr lang="en-IN" sz="2400" dirty="0" smtClean="0">
                <a:solidFill>
                  <a:srgbClr val="C00000"/>
                </a:solidFill>
                <a:latin typeface="Times New Roman" pitchFamily="18" charset="0"/>
                <a:cs typeface="Times New Roman" pitchFamily="18" charset="0"/>
              </a:rPr>
              <a:t>Exterior</a:t>
            </a:r>
            <a:r>
              <a:rPr lang="en-IN" sz="2400" dirty="0" smtClean="0">
                <a:latin typeface="Times New Roman" pitchFamily="18" charset="0"/>
                <a:cs typeface="Times New Roman" pitchFamily="18" charset="0"/>
              </a:rPr>
              <a:t> </a:t>
            </a:r>
            <a:r>
              <a:rPr lang="en-IN" sz="2400" dirty="0" err="1" smtClean="0">
                <a:latin typeface="Times New Roman" pitchFamily="18" charset="0"/>
                <a:cs typeface="Times New Roman" pitchFamily="18" charset="0"/>
              </a:rPr>
              <a:t>e.g</a:t>
            </a:r>
            <a:r>
              <a:rPr lang="en-IN" sz="2400" dirty="0" smtClean="0">
                <a:latin typeface="Times New Roman" pitchFamily="18" charset="0"/>
                <a:cs typeface="Times New Roman" pitchFamily="18" charset="0"/>
              </a:rPr>
              <a:t> BGP</a:t>
            </a: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latin typeface="Times New Roman" pitchFamily="18" charset="0"/>
                <a:cs typeface="Times New Roman" pitchFamily="18" charset="0"/>
              </a:rPr>
              <a:t>Routing Information Protocol</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71546"/>
            <a:ext cx="8229600" cy="5054617"/>
          </a:xfrm>
        </p:spPr>
        <p:txBody>
          <a:bodyPr>
            <a:noAutofit/>
          </a:bodyPr>
          <a:lstStyle/>
          <a:p>
            <a:pPr algn="just"/>
            <a:r>
              <a:rPr lang="en-IN" sz="2200" dirty="0" smtClean="0">
                <a:latin typeface="Times New Roman" pitchFamily="18" charset="0"/>
                <a:cs typeface="Times New Roman" pitchFamily="18" charset="0"/>
              </a:rPr>
              <a:t>Interior , Intra-AS routing; Working principle is  Distance vector Routing (Bellman–Ford Routing)</a:t>
            </a:r>
          </a:p>
          <a:p>
            <a:pPr algn="just"/>
            <a:r>
              <a:rPr lang="en-IN" sz="2200" dirty="0" smtClean="0">
                <a:latin typeface="Times New Roman" pitchFamily="18" charset="0"/>
                <a:cs typeface="Times New Roman" pitchFamily="18" charset="0"/>
              </a:rPr>
              <a:t>In an AS, Only routers and networks (links) are considered. The routers have routing tables; networks do not.</a:t>
            </a:r>
          </a:p>
          <a:p>
            <a:pPr algn="just"/>
            <a:r>
              <a:rPr lang="en-IN" sz="2200" dirty="0" smtClean="0">
                <a:latin typeface="Times New Roman" pitchFamily="18" charset="0"/>
                <a:cs typeface="Times New Roman" pitchFamily="18" charset="0"/>
              </a:rPr>
              <a:t>The destination in a routing table is a network</a:t>
            </a:r>
          </a:p>
          <a:p>
            <a:pPr algn="just"/>
            <a:r>
              <a:rPr lang="en-IN" sz="2200" dirty="0" smtClean="0">
                <a:latin typeface="Times New Roman" pitchFamily="18" charset="0"/>
                <a:cs typeface="Times New Roman" pitchFamily="18" charset="0"/>
              </a:rPr>
              <a:t>The metric used by RIP is very simple; the distance is defined as the  number of links (networks) to reach the destination.  Thus the metric is hop count.</a:t>
            </a:r>
          </a:p>
          <a:p>
            <a:pPr algn="just"/>
            <a:r>
              <a:rPr lang="en-IN" sz="2200" dirty="0" smtClean="0">
                <a:latin typeface="Times New Roman" pitchFamily="18" charset="0"/>
                <a:cs typeface="Times New Roman" pitchFamily="18" charset="0"/>
              </a:rPr>
              <a:t>Infinity is defined as 16, which means that any route in an autonomous system using RIP cannot have more than 15 hops.</a:t>
            </a:r>
          </a:p>
          <a:p>
            <a:pPr algn="just"/>
            <a:r>
              <a:rPr lang="en-IN" sz="2200" dirty="0" smtClean="0">
                <a:latin typeface="Times New Roman" pitchFamily="18" charset="0"/>
                <a:cs typeface="Times New Roman" pitchFamily="18" charset="0"/>
              </a:rPr>
              <a:t>The next-node column defines the address of the router to which the packet is to be sent to reach its destination.</a:t>
            </a:r>
            <a:endParaRPr lang="en-IN"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37</a:t>
            </a:fld>
            <a:endParaRPr lang="en-IN"/>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pPr algn="l"/>
            <a:r>
              <a:rPr lang="en-IN" sz="3600" dirty="0" smtClean="0">
                <a:latin typeface="Times New Roman" pitchFamily="18" charset="0"/>
                <a:cs typeface="Times New Roman" pitchFamily="18" charset="0"/>
              </a:rPr>
              <a:t>Open Shortest Path First - OSPF</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38</a:t>
            </a:fld>
            <a:endParaRPr lang="en-IN"/>
          </a:p>
        </p:txBody>
      </p:sp>
      <p:pic>
        <p:nvPicPr>
          <p:cNvPr id="2050" name="Picture 2"/>
          <p:cNvPicPr>
            <a:picLocks noGrp="1" noChangeAspect="1" noChangeArrowheads="1"/>
          </p:cNvPicPr>
          <p:nvPr>
            <p:ph idx="1"/>
          </p:nvPr>
        </p:nvPicPr>
        <p:blipFill>
          <a:blip r:embed="rId2"/>
          <a:srcRect/>
          <a:stretch>
            <a:fillRect/>
          </a:stretch>
        </p:blipFill>
        <p:spPr bwMode="auto">
          <a:xfrm>
            <a:off x="500034" y="857232"/>
            <a:ext cx="8072494" cy="3429025"/>
          </a:xfrm>
          <a:prstGeom prst="rect">
            <a:avLst/>
          </a:prstGeom>
          <a:noFill/>
          <a:ln w="9525">
            <a:noFill/>
            <a:miter lim="800000"/>
            <a:headEnd/>
            <a:tailEnd/>
          </a:ln>
          <a:effectLst/>
        </p:spPr>
      </p:pic>
      <p:sp>
        <p:nvSpPr>
          <p:cNvPr id="7" name="TextBox 6"/>
          <p:cNvSpPr txBox="1"/>
          <p:nvPr/>
        </p:nvSpPr>
        <p:spPr>
          <a:xfrm>
            <a:off x="642910" y="4357694"/>
            <a:ext cx="7786742" cy="2585323"/>
          </a:xfrm>
          <a:prstGeom prst="rect">
            <a:avLst/>
          </a:prstGeom>
          <a:noFill/>
        </p:spPr>
        <p:txBody>
          <a:bodyPr wrap="square" rtlCol="0">
            <a:spAutoFit/>
          </a:bodyPr>
          <a:lstStyle/>
          <a:p>
            <a:pPr algn="just"/>
            <a:r>
              <a:rPr lang="en-IN" sz="2400" dirty="0" err="1" smtClean="0">
                <a:latin typeface="Times New Roman" pitchFamily="18" charset="0"/>
                <a:cs typeface="Times New Roman" pitchFamily="18" charset="0"/>
              </a:rPr>
              <a:t>Inerior</a:t>
            </a:r>
            <a:r>
              <a:rPr lang="en-IN" sz="2400" dirty="0" smtClean="0">
                <a:latin typeface="Times New Roman" pitchFamily="18" charset="0"/>
                <a:cs typeface="Times New Roman" pitchFamily="18" charset="0"/>
              </a:rPr>
              <a:t>/ Intra-AS routing; </a:t>
            </a:r>
            <a:r>
              <a:rPr lang="en-IN" sz="2400" dirty="0" smtClean="0">
                <a:solidFill>
                  <a:srgbClr val="C00000"/>
                </a:solidFill>
                <a:latin typeface="Times New Roman" pitchFamily="18" charset="0"/>
                <a:cs typeface="Times New Roman" pitchFamily="18" charset="0"/>
              </a:rPr>
              <a:t>working Principle: Link-state Routing</a:t>
            </a:r>
          </a:p>
          <a:p>
            <a:pPr algn="just"/>
            <a:r>
              <a:rPr lang="en-IN" sz="2400" dirty="0" smtClean="0">
                <a:latin typeface="Times New Roman" pitchFamily="18" charset="0"/>
                <a:cs typeface="Times New Roman" pitchFamily="18" charset="0"/>
              </a:rPr>
              <a:t>Flooding becomes the key issue for offering a global view (of the network) to each node; </a:t>
            </a:r>
            <a:r>
              <a:rPr lang="en-IN" sz="2400" dirty="0" smtClean="0">
                <a:solidFill>
                  <a:srgbClr val="C00000"/>
                </a:solidFill>
                <a:latin typeface="Times New Roman" pitchFamily="18" charset="0"/>
                <a:cs typeface="Times New Roman" pitchFamily="18" charset="0"/>
              </a:rPr>
              <a:t>Accuracy high </a:t>
            </a:r>
            <a:r>
              <a:rPr lang="en-IN" sz="2400" dirty="0" smtClean="0">
                <a:latin typeface="Times New Roman" pitchFamily="18" charset="0"/>
                <a:cs typeface="Times New Roman" pitchFamily="18" charset="0"/>
              </a:rPr>
              <a:t>than RIP</a:t>
            </a:r>
          </a:p>
          <a:p>
            <a:pPr algn="just"/>
            <a:r>
              <a:rPr lang="en-IN" sz="2400" dirty="0" smtClean="0">
                <a:solidFill>
                  <a:srgbClr val="C00000"/>
                </a:solidFill>
                <a:latin typeface="Times New Roman" pitchFamily="18" charset="0"/>
                <a:cs typeface="Times New Roman" pitchFamily="18" charset="0"/>
              </a:rPr>
              <a:t>Bandwidth requirement </a:t>
            </a:r>
            <a:r>
              <a:rPr lang="en-IN" sz="2400" dirty="0" smtClean="0">
                <a:latin typeface="Times New Roman" pitchFamily="18" charset="0"/>
                <a:cs typeface="Times New Roman" pitchFamily="18" charset="0"/>
              </a:rPr>
              <a:t>is </a:t>
            </a:r>
            <a:r>
              <a:rPr lang="en-IN" sz="2400" dirty="0" smtClean="0">
                <a:solidFill>
                  <a:srgbClr val="C00000"/>
                </a:solidFill>
                <a:latin typeface="Times New Roman" pitchFamily="18" charset="0"/>
                <a:cs typeface="Times New Roman" pitchFamily="18" charset="0"/>
              </a:rPr>
              <a:t>too high </a:t>
            </a:r>
            <a:r>
              <a:rPr lang="en-IN" sz="2400" dirty="0" smtClean="0">
                <a:latin typeface="Times New Roman" pitchFamily="18" charset="0"/>
                <a:cs typeface="Times New Roman" pitchFamily="18" charset="0"/>
              </a:rPr>
              <a:t>compared to RIP; As a result an Autonomous System is also </a:t>
            </a:r>
            <a:r>
              <a:rPr lang="en-IN" sz="2400" dirty="0" smtClean="0">
                <a:solidFill>
                  <a:srgbClr val="C00000"/>
                </a:solidFill>
                <a:latin typeface="Times New Roman" pitchFamily="18" charset="0"/>
                <a:cs typeface="Times New Roman" pitchFamily="18" charset="0"/>
              </a:rPr>
              <a:t>divided into Areas</a:t>
            </a:r>
          </a:p>
          <a:p>
            <a:endParaRPr lang="en-IN"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pPr algn="l"/>
            <a:r>
              <a:rPr lang="en-IN" sz="3600" dirty="0" smtClean="0">
                <a:latin typeface="Times New Roman" pitchFamily="18" charset="0"/>
                <a:cs typeface="Times New Roman" pitchFamily="18" charset="0"/>
              </a:rPr>
              <a:t>Link Classifications in OSPF</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39</a:t>
            </a:fld>
            <a:endParaRPr lang="en-IN"/>
          </a:p>
        </p:txBody>
      </p:sp>
      <p:pic>
        <p:nvPicPr>
          <p:cNvPr id="3076" name="Picture 4"/>
          <p:cNvPicPr>
            <a:picLocks noChangeAspect="1" noChangeArrowheads="1"/>
          </p:cNvPicPr>
          <p:nvPr/>
        </p:nvPicPr>
        <p:blipFill>
          <a:blip r:embed="rId2"/>
          <a:srcRect/>
          <a:stretch>
            <a:fillRect/>
          </a:stretch>
        </p:blipFill>
        <p:spPr bwMode="auto">
          <a:xfrm>
            <a:off x="857224" y="5214950"/>
            <a:ext cx="5500726" cy="928694"/>
          </a:xfrm>
          <a:prstGeom prst="rect">
            <a:avLst/>
          </a:prstGeom>
          <a:noFill/>
          <a:ln w="9525">
            <a:noFill/>
            <a:miter lim="800000"/>
            <a:headEnd/>
            <a:tailEnd/>
          </a:ln>
          <a:effectLst/>
        </p:spPr>
      </p:pic>
      <p:sp>
        <p:nvSpPr>
          <p:cNvPr id="7" name="TextBox 6"/>
          <p:cNvSpPr txBox="1"/>
          <p:nvPr/>
        </p:nvSpPr>
        <p:spPr>
          <a:xfrm>
            <a:off x="714348" y="1928802"/>
            <a:ext cx="7572428" cy="2893100"/>
          </a:xfrm>
          <a:prstGeom prst="rect">
            <a:avLst/>
          </a:prstGeom>
          <a:noFill/>
        </p:spPr>
        <p:txBody>
          <a:bodyPr wrap="square" rtlCol="0">
            <a:spAutoFit/>
          </a:bodyPr>
          <a:lstStyle/>
          <a:p>
            <a:pPr algn="just"/>
            <a:r>
              <a:rPr lang="en-IN" sz="2600" dirty="0" smtClean="0">
                <a:latin typeface="Times New Roman" pitchFamily="18" charset="0"/>
                <a:cs typeface="Times New Roman" pitchFamily="18" charset="0"/>
              </a:rPr>
              <a:t>A point-to-point link connects two routers without any other host or router in between An example of this type of link is two routers connected by a telephone line. Graphically, the routers are represented by nodes, and the link is represented by a bidirectional edge connecting the nodes. The metrics, which are usually the same, are shown at the two ends</a:t>
            </a:r>
            <a:endParaRPr lang="en-IN" sz="2600" dirty="0">
              <a:latin typeface="Times New Roman" pitchFamily="18" charset="0"/>
              <a:cs typeface="Times New Roman" pitchFamily="18" charset="0"/>
            </a:endParaRPr>
          </a:p>
        </p:txBody>
      </p:sp>
      <p:sp>
        <p:nvSpPr>
          <p:cNvPr id="10" name="Content Placeholder 9"/>
          <p:cNvSpPr>
            <a:spLocks noGrp="1"/>
          </p:cNvSpPr>
          <p:nvPr>
            <p:ph idx="1"/>
          </p:nvPr>
        </p:nvSpPr>
        <p:spPr>
          <a:xfrm>
            <a:off x="457200" y="1600201"/>
            <a:ext cx="8229600" cy="3328998"/>
          </a:xfrm>
        </p:spPr>
        <p:txBody>
          <a:bodyPr/>
          <a:lstStyle/>
          <a:p>
            <a:endParaRPr lang="en-IN"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Autofit/>
          </a:bodyPr>
          <a:lstStyle/>
          <a:p>
            <a:pPr algn="l"/>
            <a:r>
              <a:rPr lang="en-IN" sz="3600" dirty="0" smtClean="0">
                <a:latin typeface="Times New Roman" pitchFamily="18" charset="0"/>
                <a:cs typeface="Times New Roman" pitchFamily="18" charset="0"/>
              </a:rPr>
              <a:t>Transient Link</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40</a:t>
            </a:fld>
            <a:endParaRPr lang="en-IN"/>
          </a:p>
        </p:txBody>
      </p:sp>
      <p:pic>
        <p:nvPicPr>
          <p:cNvPr id="6" name="Picture 2"/>
          <p:cNvPicPr>
            <a:picLocks noGrp="1" noChangeAspect="1" noChangeArrowheads="1"/>
          </p:cNvPicPr>
          <p:nvPr>
            <p:ph idx="1"/>
          </p:nvPr>
        </p:nvPicPr>
        <p:blipFill>
          <a:blip r:embed="rId2"/>
          <a:srcRect/>
          <a:stretch>
            <a:fillRect/>
          </a:stretch>
        </p:blipFill>
        <p:spPr bwMode="auto">
          <a:xfrm>
            <a:off x="500034" y="928670"/>
            <a:ext cx="7929618" cy="2357454"/>
          </a:xfrm>
          <a:prstGeom prst="rect">
            <a:avLst/>
          </a:prstGeom>
          <a:noFill/>
          <a:ln w="9525">
            <a:noFill/>
            <a:miter lim="800000"/>
            <a:headEnd/>
            <a:tailEnd/>
          </a:ln>
          <a:effectLst/>
        </p:spPr>
      </p:pic>
      <p:sp>
        <p:nvSpPr>
          <p:cNvPr id="7" name="TextBox 6"/>
          <p:cNvSpPr txBox="1"/>
          <p:nvPr/>
        </p:nvSpPr>
        <p:spPr>
          <a:xfrm>
            <a:off x="714348" y="3071810"/>
            <a:ext cx="7643866" cy="3887867"/>
          </a:xfrm>
          <a:prstGeom prst="rect">
            <a:avLst/>
          </a:prstGeom>
          <a:noFill/>
        </p:spPr>
        <p:txBody>
          <a:bodyPr wrap="square" rtlCol="0">
            <a:spAutoFit/>
          </a:bodyPr>
          <a:lstStyle/>
          <a:p>
            <a:pPr algn="just"/>
            <a:r>
              <a:rPr lang="en-IN" sz="2200" dirty="0" smtClean="0">
                <a:latin typeface="Times New Roman" pitchFamily="18" charset="0"/>
                <a:cs typeface="Times New Roman" pitchFamily="18" charset="0"/>
              </a:rPr>
              <a:t>A transient link is a network with several routers attached to it. The data can enter through any of the routers and leave through any router. Each router has many neighbours.</a:t>
            </a:r>
          </a:p>
          <a:p>
            <a:r>
              <a:rPr lang="en-IN" sz="2200" dirty="0" smtClean="0">
                <a:latin typeface="Times New Roman" pitchFamily="18" charset="0"/>
                <a:cs typeface="Times New Roman" pitchFamily="18" charset="0"/>
              </a:rPr>
              <a:t>Router A has routers B, C, D, and E as neighbours.</a:t>
            </a:r>
          </a:p>
          <a:p>
            <a:pPr algn="just"/>
            <a:r>
              <a:rPr lang="en-IN" sz="2200" dirty="0" smtClean="0">
                <a:latin typeface="Times New Roman" pitchFamily="18" charset="0"/>
                <a:cs typeface="Times New Roman" pitchFamily="18" charset="0"/>
              </a:rPr>
              <a:t>The representation in (b) is not efficient because each router needs to advertise the neighbourhood to four other routers, for a total of 20 advertisements</a:t>
            </a:r>
          </a:p>
          <a:p>
            <a:pPr algn="just"/>
            <a:r>
              <a:rPr lang="en-IN" sz="2200" dirty="0" smtClean="0">
                <a:latin typeface="Times New Roman" pitchFamily="18" charset="0"/>
                <a:cs typeface="Times New Roman" pitchFamily="18" charset="0"/>
              </a:rPr>
              <a:t>Each router is connected to every other router through one single network, the network itself is represented by a node (designated router); Thus the adv for neighbourhood estimation goes down to 10.</a:t>
            </a:r>
            <a:endParaRPr lang="en-IN"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latin typeface="Times New Roman" pitchFamily="18" charset="0"/>
                <a:cs typeface="Times New Roman" pitchFamily="18" charset="0"/>
              </a:rPr>
              <a:t>Stub and Virtual Link</a:t>
            </a:r>
            <a:endParaRPr lang="en-IN"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41</a:t>
            </a:fld>
            <a:endParaRPr lang="en-IN"/>
          </a:p>
        </p:txBody>
      </p:sp>
      <p:pic>
        <p:nvPicPr>
          <p:cNvPr id="2050" name="Picture 2"/>
          <p:cNvPicPr>
            <a:picLocks noGrp="1" noChangeAspect="1" noChangeArrowheads="1"/>
          </p:cNvPicPr>
          <p:nvPr>
            <p:ph idx="1"/>
          </p:nvPr>
        </p:nvPicPr>
        <p:blipFill>
          <a:blip r:embed="rId2"/>
          <a:srcRect/>
          <a:stretch>
            <a:fillRect/>
          </a:stretch>
        </p:blipFill>
        <p:spPr bwMode="auto">
          <a:xfrm>
            <a:off x="1285852" y="1142984"/>
            <a:ext cx="4392622" cy="1500198"/>
          </a:xfrm>
          <a:prstGeom prst="rect">
            <a:avLst/>
          </a:prstGeom>
          <a:noFill/>
          <a:ln w="9525">
            <a:noFill/>
            <a:miter lim="800000"/>
            <a:headEnd/>
            <a:tailEnd/>
          </a:ln>
          <a:effectLst/>
        </p:spPr>
      </p:pic>
      <p:sp>
        <p:nvSpPr>
          <p:cNvPr id="7" name="TextBox 6"/>
          <p:cNvSpPr txBox="1"/>
          <p:nvPr/>
        </p:nvSpPr>
        <p:spPr>
          <a:xfrm>
            <a:off x="928662" y="3143249"/>
            <a:ext cx="7786742" cy="1569660"/>
          </a:xfrm>
          <a:prstGeom prst="rect">
            <a:avLst/>
          </a:prstGeom>
          <a:noFill/>
        </p:spPr>
        <p:txBody>
          <a:bodyPr wrap="square" rtlCol="0">
            <a:spAutoFit/>
          </a:bodyPr>
          <a:lstStyle/>
          <a:p>
            <a:pPr algn="just"/>
            <a:r>
              <a:rPr lang="en-IN" sz="2400" dirty="0" smtClean="0"/>
              <a:t>A </a:t>
            </a:r>
            <a:r>
              <a:rPr lang="en-IN" sz="2400" dirty="0" smtClean="0">
                <a:solidFill>
                  <a:srgbClr val="C00000"/>
                </a:solidFill>
              </a:rPr>
              <a:t>stub link is a network that is connected to only one router. </a:t>
            </a:r>
            <a:r>
              <a:rPr lang="en-IN" sz="2400" dirty="0" smtClean="0"/>
              <a:t>The data packets enter the network through this single router and leave the network through this same router. This is a special case of the transient network.</a:t>
            </a:r>
            <a:endParaRPr lang="en-IN" sz="2400" dirty="0"/>
          </a:p>
        </p:txBody>
      </p:sp>
      <p:sp>
        <p:nvSpPr>
          <p:cNvPr id="8" name="TextBox 7"/>
          <p:cNvSpPr txBox="1"/>
          <p:nvPr/>
        </p:nvSpPr>
        <p:spPr>
          <a:xfrm>
            <a:off x="857224" y="5000636"/>
            <a:ext cx="7929618" cy="1200329"/>
          </a:xfrm>
          <a:prstGeom prst="rect">
            <a:avLst/>
          </a:prstGeom>
          <a:noFill/>
        </p:spPr>
        <p:txBody>
          <a:bodyPr wrap="square" rtlCol="0">
            <a:spAutoFit/>
          </a:bodyPr>
          <a:lstStyle/>
          <a:p>
            <a:pPr algn="just"/>
            <a:r>
              <a:rPr lang="en-IN" sz="2400" dirty="0" smtClean="0">
                <a:latin typeface="Times New Roman" pitchFamily="18" charset="0"/>
                <a:cs typeface="Times New Roman" pitchFamily="18" charset="0"/>
              </a:rPr>
              <a:t>When the </a:t>
            </a:r>
            <a:r>
              <a:rPr lang="en-IN" sz="2400" dirty="0" smtClean="0">
                <a:solidFill>
                  <a:srgbClr val="C00000"/>
                </a:solidFill>
                <a:latin typeface="Times New Roman" pitchFamily="18" charset="0"/>
                <a:cs typeface="Times New Roman" pitchFamily="18" charset="0"/>
              </a:rPr>
              <a:t>link between two routers is broken</a:t>
            </a:r>
            <a:r>
              <a:rPr lang="en-IN" sz="2400" dirty="0" smtClean="0">
                <a:latin typeface="Times New Roman" pitchFamily="18" charset="0"/>
                <a:cs typeface="Times New Roman" pitchFamily="18" charset="0"/>
              </a:rPr>
              <a:t>, the administration may create a virtual link between them, using a longer path that probably goes through several routers.</a:t>
            </a: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Autofit/>
          </a:bodyPr>
          <a:lstStyle/>
          <a:p>
            <a:pPr algn="l"/>
            <a:r>
              <a:rPr lang="en-IN" sz="3600" dirty="0" smtClean="0">
                <a:latin typeface="Times New Roman" pitchFamily="18" charset="0"/>
                <a:cs typeface="Times New Roman" pitchFamily="18" charset="0"/>
              </a:rPr>
              <a:t>Graphical Representation of the Network</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42</a:t>
            </a:fld>
            <a:endParaRPr lang="en-IN"/>
          </a:p>
        </p:txBody>
      </p:sp>
      <p:pic>
        <p:nvPicPr>
          <p:cNvPr id="3074" name="Picture 2"/>
          <p:cNvPicPr>
            <a:picLocks noGrp="1" noChangeAspect="1" noChangeArrowheads="1"/>
          </p:cNvPicPr>
          <p:nvPr>
            <p:ph idx="1"/>
          </p:nvPr>
        </p:nvPicPr>
        <p:blipFill>
          <a:blip r:embed="rId2"/>
          <a:srcRect/>
          <a:stretch>
            <a:fillRect/>
          </a:stretch>
        </p:blipFill>
        <p:spPr bwMode="auto">
          <a:xfrm>
            <a:off x="428596" y="1357298"/>
            <a:ext cx="8501122" cy="500065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Autofit/>
          </a:bodyPr>
          <a:lstStyle/>
          <a:p>
            <a:pPr algn="l"/>
            <a:r>
              <a:rPr lang="en-IN" sz="3600" dirty="0" smtClean="0">
                <a:latin typeface="Times New Roman" pitchFamily="18" charset="0"/>
                <a:cs typeface="Times New Roman" pitchFamily="18" charset="0"/>
              </a:rPr>
              <a:t>Shortest Path Routing</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43</a:t>
            </a:fld>
            <a:endParaRPr lang="en-IN"/>
          </a:p>
        </p:txBody>
      </p:sp>
      <p:pic>
        <p:nvPicPr>
          <p:cNvPr id="5122" name="Picture 2"/>
          <p:cNvPicPr>
            <a:picLocks noGrp="1" noChangeAspect="1" noChangeArrowheads="1"/>
          </p:cNvPicPr>
          <p:nvPr>
            <p:ph idx="1"/>
          </p:nvPr>
        </p:nvPicPr>
        <p:blipFill>
          <a:blip r:embed="rId2"/>
          <a:srcRect/>
          <a:stretch>
            <a:fillRect/>
          </a:stretch>
        </p:blipFill>
        <p:spPr bwMode="auto">
          <a:xfrm>
            <a:off x="428596" y="857250"/>
            <a:ext cx="8501121" cy="52689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Autofit/>
          </a:bodyPr>
          <a:lstStyle/>
          <a:p>
            <a:pPr algn="l"/>
            <a:r>
              <a:rPr lang="en-IN" sz="3600" dirty="0" smtClean="0">
                <a:latin typeface="Times New Roman" pitchFamily="18" charset="0"/>
                <a:cs typeface="Times New Roman" pitchFamily="18" charset="0"/>
              </a:rPr>
              <a:t>Link State Advertisement</a:t>
            </a:r>
            <a:endParaRPr lang="en-IN" sz="3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44</a:t>
            </a:fld>
            <a:endParaRPr lang="en-IN"/>
          </a:p>
        </p:txBody>
      </p:sp>
      <p:pic>
        <p:nvPicPr>
          <p:cNvPr id="4098" name="Picture 2"/>
          <p:cNvPicPr>
            <a:picLocks noGrp="1" noChangeAspect="1" noChangeArrowheads="1"/>
          </p:cNvPicPr>
          <p:nvPr>
            <p:ph idx="1"/>
          </p:nvPr>
        </p:nvPicPr>
        <p:blipFill>
          <a:blip r:embed="rId2"/>
          <a:srcRect/>
          <a:stretch>
            <a:fillRect/>
          </a:stretch>
        </p:blipFill>
        <p:spPr bwMode="auto">
          <a:xfrm>
            <a:off x="785786" y="857233"/>
            <a:ext cx="8001056" cy="1214446"/>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642909" y="2143116"/>
            <a:ext cx="7500991" cy="1857388"/>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a:stretch>
            <a:fillRect/>
          </a:stretch>
        </p:blipFill>
        <p:spPr bwMode="auto">
          <a:xfrm>
            <a:off x="1223963" y="4143380"/>
            <a:ext cx="6696075" cy="257176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latin typeface="Times New Roman" pitchFamily="18" charset="0"/>
                <a:cs typeface="Times New Roman" pitchFamily="18" charset="0"/>
              </a:rPr>
              <a:t>Path Vector Routing</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71546"/>
            <a:ext cx="8229600" cy="5054617"/>
          </a:xfrm>
        </p:spPr>
        <p:txBody>
          <a:bodyPr>
            <a:normAutofit/>
          </a:bodyPr>
          <a:lstStyle/>
          <a:p>
            <a:pPr algn="just"/>
            <a:r>
              <a:rPr lang="en-IN" sz="2600" dirty="0" smtClean="0">
                <a:latin typeface="Times New Roman" pitchFamily="18" charset="0"/>
                <a:cs typeface="Times New Roman" pitchFamily="18" charset="0"/>
              </a:rPr>
              <a:t>Inter AS routing</a:t>
            </a:r>
          </a:p>
          <a:p>
            <a:pPr algn="just"/>
            <a:r>
              <a:rPr lang="en-IN" sz="2600" dirty="0" smtClean="0">
                <a:latin typeface="Times New Roman" pitchFamily="18" charset="0"/>
                <a:cs typeface="Times New Roman" pitchFamily="18" charset="0"/>
              </a:rPr>
              <a:t>Distance Vector &amp; Link State are not used for Inter AS routing</a:t>
            </a:r>
          </a:p>
          <a:p>
            <a:pPr algn="just"/>
            <a:r>
              <a:rPr lang="en-IN" sz="2600" dirty="0" smtClean="0">
                <a:latin typeface="Times New Roman" pitchFamily="18" charset="0"/>
                <a:cs typeface="Times New Roman" pitchFamily="18" charset="0"/>
              </a:rPr>
              <a:t>The principle of path vector routing is similar to that of distance vector routing.</a:t>
            </a:r>
          </a:p>
          <a:p>
            <a:pPr algn="just"/>
            <a:r>
              <a:rPr lang="en-IN" sz="2600" dirty="0" smtClean="0">
                <a:latin typeface="Times New Roman" pitchFamily="18" charset="0"/>
                <a:cs typeface="Times New Roman" pitchFamily="18" charset="0"/>
              </a:rPr>
              <a:t>Speaker node is a special node within each AS that acts on behalf of the entire autonomous system. </a:t>
            </a:r>
          </a:p>
          <a:p>
            <a:pPr algn="just"/>
            <a:r>
              <a:rPr lang="en-IN" sz="2600" dirty="0" smtClean="0">
                <a:latin typeface="Times New Roman" pitchFamily="18" charset="0"/>
                <a:cs typeface="Times New Roman" pitchFamily="18" charset="0"/>
              </a:rPr>
              <a:t>The speaker node in an AS creates a routing table and advertises it to speaker nodes in the neighbouring ASs.</a:t>
            </a:r>
          </a:p>
          <a:p>
            <a:pPr algn="just"/>
            <a:r>
              <a:rPr lang="en-IN" sz="2600" dirty="0" smtClean="0">
                <a:latin typeface="Times New Roman" pitchFamily="18" charset="0"/>
                <a:cs typeface="Times New Roman" pitchFamily="18" charset="0"/>
              </a:rPr>
              <a:t>A speaker node advertises the path, not the metric of the nodes.</a:t>
            </a:r>
            <a:endParaRPr lang="en-IN" sz="2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45</a:t>
            </a:fld>
            <a:endParaRPr lang="en-IN"/>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latin typeface="Times New Roman" pitchFamily="18" charset="0"/>
                <a:cs typeface="Times New Roman" pitchFamily="18" charset="0"/>
              </a:rPr>
              <a:t>Path Vector Routing: Initialization</a:t>
            </a:r>
            <a:endParaRPr lang="en-IN"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46</a:t>
            </a:fld>
            <a:endParaRPr lang="en-IN"/>
          </a:p>
        </p:txBody>
      </p:sp>
      <p:pic>
        <p:nvPicPr>
          <p:cNvPr id="1026" name="Picture 2"/>
          <p:cNvPicPr>
            <a:picLocks noGrp="1" noChangeAspect="1" noChangeArrowheads="1"/>
          </p:cNvPicPr>
          <p:nvPr>
            <p:ph idx="1"/>
          </p:nvPr>
        </p:nvPicPr>
        <p:blipFill>
          <a:blip r:embed="rId2"/>
          <a:srcRect/>
          <a:stretch>
            <a:fillRect/>
          </a:stretch>
        </p:blipFill>
        <p:spPr bwMode="auto">
          <a:xfrm>
            <a:off x="357158" y="1000108"/>
            <a:ext cx="8215370" cy="550072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latin typeface="Times New Roman" pitchFamily="18" charset="0"/>
                <a:cs typeface="Times New Roman" pitchFamily="18" charset="0"/>
              </a:rPr>
              <a:t>Path Vector Routing: Sharing</a:t>
            </a:r>
            <a:endParaRPr lang="en-IN"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47</a:t>
            </a:fld>
            <a:endParaRPr lang="en-IN"/>
          </a:p>
        </p:txBody>
      </p:sp>
      <p:pic>
        <p:nvPicPr>
          <p:cNvPr id="2050" name="Picture 2"/>
          <p:cNvPicPr>
            <a:picLocks noGrp="1" noChangeAspect="1" noChangeArrowheads="1"/>
          </p:cNvPicPr>
          <p:nvPr>
            <p:ph idx="1"/>
          </p:nvPr>
        </p:nvPicPr>
        <p:blipFill>
          <a:blip r:embed="rId2"/>
          <a:srcRect/>
          <a:stretch>
            <a:fillRect/>
          </a:stretch>
        </p:blipFill>
        <p:spPr bwMode="auto">
          <a:xfrm>
            <a:off x="857224" y="1214422"/>
            <a:ext cx="7786742" cy="4071966"/>
          </a:xfrm>
          <a:prstGeom prst="rect">
            <a:avLst/>
          </a:prstGeom>
          <a:noFill/>
          <a:ln w="9525">
            <a:noFill/>
            <a:miter lim="800000"/>
            <a:headEnd/>
            <a:tailEnd/>
          </a:ln>
          <a:effectLst/>
        </p:spPr>
      </p:pic>
      <p:sp>
        <p:nvSpPr>
          <p:cNvPr id="7" name="TextBox 6"/>
          <p:cNvSpPr txBox="1"/>
          <p:nvPr/>
        </p:nvSpPr>
        <p:spPr>
          <a:xfrm>
            <a:off x="642910" y="5786454"/>
            <a:ext cx="7353231" cy="523220"/>
          </a:xfrm>
          <a:prstGeom prst="rect">
            <a:avLst/>
          </a:prstGeom>
          <a:noFill/>
        </p:spPr>
        <p:txBody>
          <a:bodyPr wrap="none" rtlCol="0">
            <a:spAutoFit/>
          </a:bodyPr>
          <a:lstStyle/>
          <a:p>
            <a:r>
              <a:rPr lang="en-IN" sz="2800" b="1" dirty="0" smtClean="0">
                <a:solidFill>
                  <a:srgbClr val="C00000"/>
                </a:solidFill>
                <a:latin typeface="Times New Roman" pitchFamily="18" charset="0"/>
                <a:cs typeface="Times New Roman" pitchFamily="18" charset="0"/>
              </a:rPr>
              <a:t>Policy Routing; Optimum Path? .....Loop Free </a:t>
            </a:r>
            <a:endParaRPr lang="en-IN" sz="2800" b="1"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err="1" smtClean="0">
                <a:latin typeface="Times New Roman" pitchFamily="18" charset="0"/>
                <a:cs typeface="Times New Roman" pitchFamily="18" charset="0"/>
              </a:rPr>
              <a:t>Unicast</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vs</a:t>
            </a:r>
            <a:r>
              <a:rPr lang="en-IN" dirty="0" smtClean="0">
                <a:latin typeface="Times New Roman" pitchFamily="18" charset="0"/>
                <a:cs typeface="Times New Roman" pitchFamily="18" charset="0"/>
              </a:rPr>
              <a:t> Multicast Routing</a:t>
            </a:r>
            <a:endParaRPr lang="en-IN"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48</a:t>
            </a:fld>
            <a:endParaRPr lang="en-IN"/>
          </a:p>
        </p:txBody>
      </p:sp>
      <p:pic>
        <p:nvPicPr>
          <p:cNvPr id="3074" name="Picture 2"/>
          <p:cNvPicPr>
            <a:picLocks noGrp="1" noChangeAspect="1" noChangeArrowheads="1"/>
          </p:cNvPicPr>
          <p:nvPr>
            <p:ph idx="1"/>
          </p:nvPr>
        </p:nvPicPr>
        <p:blipFill>
          <a:blip r:embed="rId2"/>
          <a:srcRect/>
          <a:stretch>
            <a:fillRect/>
          </a:stretch>
        </p:blipFill>
        <p:spPr bwMode="auto">
          <a:xfrm>
            <a:off x="4572000" y="928671"/>
            <a:ext cx="4143403" cy="4143404"/>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357159" y="1142984"/>
            <a:ext cx="4000527" cy="340044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pPr algn="l"/>
            <a:r>
              <a:rPr lang="en-IN" dirty="0" smtClean="0">
                <a:latin typeface="Times New Roman" pitchFamily="18" charset="0"/>
                <a:cs typeface="Times New Roman" pitchFamily="18" charset="0"/>
              </a:rPr>
              <a:t>Multicasting vs. Multiple Unicasting</a:t>
            </a:r>
            <a:endParaRPr lang="en-IN"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49</a:t>
            </a:fld>
            <a:endParaRPr lang="en-IN"/>
          </a:p>
        </p:txBody>
      </p:sp>
      <p:pic>
        <p:nvPicPr>
          <p:cNvPr id="1026" name="Picture 2"/>
          <p:cNvPicPr>
            <a:picLocks noGrp="1" noChangeAspect="1" noChangeArrowheads="1"/>
          </p:cNvPicPr>
          <p:nvPr>
            <p:ph idx="1"/>
          </p:nvPr>
        </p:nvPicPr>
        <p:blipFill>
          <a:blip r:embed="rId2"/>
          <a:srcRect/>
          <a:stretch>
            <a:fillRect/>
          </a:stretch>
        </p:blipFill>
        <p:spPr bwMode="auto">
          <a:xfrm>
            <a:off x="357158" y="928671"/>
            <a:ext cx="8286808" cy="4071966"/>
          </a:xfrm>
          <a:prstGeom prst="rect">
            <a:avLst/>
          </a:prstGeom>
          <a:noFill/>
          <a:ln w="9525">
            <a:noFill/>
            <a:miter lim="800000"/>
            <a:headEnd/>
            <a:tailEnd/>
          </a:ln>
          <a:effectLst/>
        </p:spPr>
      </p:pic>
      <p:sp>
        <p:nvSpPr>
          <p:cNvPr id="7" name="TextBox 6"/>
          <p:cNvSpPr txBox="1"/>
          <p:nvPr/>
        </p:nvSpPr>
        <p:spPr>
          <a:xfrm>
            <a:off x="785786" y="5000636"/>
            <a:ext cx="7929618" cy="1569660"/>
          </a:xfrm>
          <a:prstGeom prst="rect">
            <a:avLst/>
          </a:prstGeom>
          <a:noFill/>
        </p:spPr>
        <p:txBody>
          <a:bodyPr wrap="square" rtlCol="0">
            <a:spAutoFit/>
          </a:bodyPr>
          <a:lstStyle/>
          <a:p>
            <a:pPr algn="just"/>
            <a:r>
              <a:rPr lang="en-IN" sz="2400" dirty="0" smtClean="0">
                <a:latin typeface="Times New Roman" pitchFamily="18" charset="0"/>
                <a:cs typeface="Times New Roman" pitchFamily="18" charset="0"/>
              </a:rPr>
              <a:t>Multicasting requires less bandwidth than Multiple Unicasting</a:t>
            </a:r>
          </a:p>
          <a:p>
            <a:pPr algn="just"/>
            <a:r>
              <a:rPr lang="en-IN" sz="2400" dirty="0" smtClean="0">
                <a:latin typeface="Times New Roman" pitchFamily="18" charset="0"/>
                <a:cs typeface="Times New Roman" pitchFamily="18" charset="0"/>
              </a:rPr>
              <a:t>In Multiple Unicasting, Packets are created with a specific delay. Thus for a large no of </a:t>
            </a:r>
            <a:r>
              <a:rPr lang="en-IN" sz="2400" dirty="0" err="1" smtClean="0">
                <a:latin typeface="Times New Roman" pitchFamily="18" charset="0"/>
                <a:cs typeface="Times New Roman" pitchFamily="18" charset="0"/>
              </a:rPr>
              <a:t>pkts</a:t>
            </a:r>
            <a:r>
              <a:rPr lang="en-IN" sz="2400" dirty="0" smtClean="0">
                <a:latin typeface="Times New Roman" pitchFamily="18" charset="0"/>
                <a:cs typeface="Times New Roman" pitchFamily="18" charset="0"/>
              </a:rPr>
              <a:t>, the solution is not acceptable.</a:t>
            </a:r>
            <a:endParaRPr lang="en-IN" sz="2400" dirty="0">
              <a:latin typeface="Times New Roman" pitchFamily="18" charset="0"/>
              <a:cs typeface="Times New Roman"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pPr algn="l"/>
            <a:r>
              <a:rPr lang="en-IN" dirty="0" smtClean="0">
                <a:latin typeface="Times New Roman" pitchFamily="18" charset="0"/>
                <a:cs typeface="Times New Roman" pitchFamily="18" charset="0"/>
              </a:rPr>
              <a:t>Source Based Tree Approach</a:t>
            </a:r>
            <a:endParaRPr lang="en-IN"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50</a:t>
            </a:fld>
            <a:endParaRPr lang="en-IN"/>
          </a:p>
        </p:txBody>
      </p:sp>
      <p:pic>
        <p:nvPicPr>
          <p:cNvPr id="4098" name="Picture 2"/>
          <p:cNvPicPr>
            <a:picLocks noGrp="1" noChangeAspect="1" noChangeArrowheads="1"/>
          </p:cNvPicPr>
          <p:nvPr>
            <p:ph idx="1"/>
          </p:nvPr>
        </p:nvPicPr>
        <p:blipFill>
          <a:blip r:embed="rId2"/>
          <a:srcRect/>
          <a:stretch>
            <a:fillRect/>
          </a:stretch>
        </p:blipFill>
        <p:spPr bwMode="auto">
          <a:xfrm>
            <a:off x="428596" y="1500174"/>
            <a:ext cx="8143932" cy="2357454"/>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500034" y="4071943"/>
            <a:ext cx="8358245" cy="2214578"/>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en-IN" dirty="0" smtClean="0">
                <a:latin typeface="Times New Roman" pitchFamily="18" charset="0"/>
                <a:cs typeface="Times New Roman" pitchFamily="18" charset="0"/>
              </a:rPr>
              <a:t>Group Shared </a:t>
            </a:r>
            <a:r>
              <a:rPr lang="en-IN" smtClean="0">
                <a:latin typeface="Times New Roman" pitchFamily="18" charset="0"/>
                <a:cs typeface="Times New Roman" pitchFamily="18" charset="0"/>
              </a:rPr>
              <a:t>Tree Approach</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endParaRPr lang="en-IN"/>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51</a:t>
            </a:fld>
            <a:endParaRPr lang="en-IN"/>
          </a:p>
        </p:txBody>
      </p:sp>
      <p:pic>
        <p:nvPicPr>
          <p:cNvPr id="1026" name="Picture 2"/>
          <p:cNvPicPr>
            <a:picLocks noChangeAspect="1" noChangeArrowheads="1"/>
          </p:cNvPicPr>
          <p:nvPr/>
        </p:nvPicPr>
        <p:blipFill>
          <a:blip r:embed="rId2"/>
          <a:srcRect/>
          <a:stretch>
            <a:fillRect/>
          </a:stretch>
        </p:blipFill>
        <p:spPr bwMode="auto">
          <a:xfrm>
            <a:off x="642910" y="1785926"/>
            <a:ext cx="7629525" cy="4505325"/>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latin typeface="Times New Roman" pitchFamily="18" charset="0"/>
                <a:cs typeface="Times New Roman" pitchFamily="18" charset="0"/>
              </a:rPr>
              <a:t>DVMRP</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928670"/>
            <a:ext cx="8229600" cy="5197493"/>
          </a:xfrm>
        </p:spPr>
        <p:txBody>
          <a:bodyPr>
            <a:normAutofit fontScale="92500"/>
          </a:bodyPr>
          <a:lstStyle/>
          <a:p>
            <a:pPr algn="just"/>
            <a:r>
              <a:rPr lang="en-IN" sz="2800" dirty="0" smtClean="0">
                <a:latin typeface="Times New Roman" pitchFamily="18" charset="0"/>
                <a:cs typeface="Times New Roman" pitchFamily="18" charset="0"/>
              </a:rPr>
              <a:t>Multicast distance vector algorithm uses a process based on four decision-making strategies.</a:t>
            </a:r>
          </a:p>
          <a:p>
            <a:pPr algn="just"/>
            <a:r>
              <a:rPr lang="en-IN" sz="2800" dirty="0" smtClean="0">
                <a:latin typeface="Times New Roman" pitchFamily="18" charset="0"/>
                <a:cs typeface="Times New Roman" pitchFamily="18" charset="0"/>
              </a:rPr>
              <a:t>Flooding</a:t>
            </a:r>
          </a:p>
          <a:p>
            <a:pPr algn="just"/>
            <a:r>
              <a:rPr lang="en-IN" sz="2800" dirty="0" smtClean="0">
                <a:latin typeface="Times New Roman" pitchFamily="18" charset="0"/>
                <a:cs typeface="Times New Roman" pitchFamily="18" charset="0"/>
              </a:rPr>
              <a:t>Reverse Path Forwarding: </a:t>
            </a:r>
            <a:r>
              <a:rPr lang="en-IN" sz="2800" dirty="0" smtClean="0">
                <a:solidFill>
                  <a:srgbClr val="C00000"/>
                </a:solidFill>
                <a:latin typeface="Times New Roman" pitchFamily="18" charset="0"/>
                <a:cs typeface="Times New Roman" pitchFamily="18" charset="0"/>
              </a:rPr>
              <a:t>RPF eliminates the loop </a:t>
            </a:r>
            <a:r>
              <a:rPr lang="en-IN" sz="2800" dirty="0" smtClean="0">
                <a:latin typeface="Times New Roman" pitchFamily="18" charset="0"/>
                <a:cs typeface="Times New Roman" pitchFamily="18" charset="0"/>
              </a:rPr>
              <a:t>in the flooding process. RPF guarantees that each network receives a copy of the multicast packet without  formation of loops. </a:t>
            </a:r>
          </a:p>
          <a:p>
            <a:pPr algn="just"/>
            <a:r>
              <a:rPr lang="en-IN" sz="2800" dirty="0" smtClean="0">
                <a:solidFill>
                  <a:srgbClr val="C00000"/>
                </a:solidFill>
                <a:latin typeface="Times New Roman" pitchFamily="18" charset="0"/>
                <a:cs typeface="Times New Roman" pitchFamily="18" charset="0"/>
              </a:rPr>
              <a:t>RPF does not guarantee that each network receives only one copy; a network may receive two or more copies. </a:t>
            </a:r>
          </a:p>
          <a:p>
            <a:pPr algn="just"/>
            <a:r>
              <a:rPr lang="en-IN" sz="2800" dirty="0" smtClean="0">
                <a:latin typeface="Times New Roman" pitchFamily="18" charset="0"/>
                <a:cs typeface="Times New Roman" pitchFamily="18" charset="0"/>
              </a:rPr>
              <a:t>The reason is that </a:t>
            </a:r>
            <a:r>
              <a:rPr lang="en-IN" sz="2800" dirty="0" smtClean="0">
                <a:solidFill>
                  <a:srgbClr val="C00000"/>
                </a:solidFill>
                <a:latin typeface="Times New Roman" pitchFamily="18" charset="0"/>
                <a:cs typeface="Times New Roman" pitchFamily="18" charset="0"/>
              </a:rPr>
              <a:t>RPF is not based on the destination address </a:t>
            </a:r>
            <a:r>
              <a:rPr lang="en-IN" sz="2800" dirty="0" smtClean="0">
                <a:latin typeface="Times New Roman" pitchFamily="18" charset="0"/>
                <a:cs typeface="Times New Roman" pitchFamily="18" charset="0"/>
              </a:rPr>
              <a:t>(a group address); forwarding is based on the source address.</a:t>
            </a:r>
            <a:endParaRPr lang="en-IN"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52</a:t>
            </a:fld>
            <a:endParaRPr lang="en-I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latin typeface="Times New Roman" pitchFamily="18" charset="0"/>
                <a:cs typeface="Times New Roman" pitchFamily="18" charset="0"/>
              </a:rPr>
              <a:t>DVMRP</a:t>
            </a:r>
            <a:endParaRPr lang="en-IN" dirty="0"/>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53</a:t>
            </a:fld>
            <a:endParaRPr lang="en-IN"/>
          </a:p>
        </p:txBody>
      </p:sp>
      <p:pic>
        <p:nvPicPr>
          <p:cNvPr id="2050" name="Picture 2"/>
          <p:cNvPicPr>
            <a:picLocks noGrp="1" noChangeAspect="1" noChangeArrowheads="1"/>
          </p:cNvPicPr>
          <p:nvPr>
            <p:ph idx="1"/>
          </p:nvPr>
        </p:nvPicPr>
        <p:blipFill>
          <a:blip r:embed="rId2"/>
          <a:srcRect/>
          <a:stretch>
            <a:fillRect/>
          </a:stretch>
        </p:blipFill>
        <p:spPr bwMode="auto">
          <a:xfrm>
            <a:off x="428596" y="1142984"/>
            <a:ext cx="4214842" cy="300039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4786314" y="785795"/>
            <a:ext cx="3929090" cy="3071834"/>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latin typeface="Times New Roman" pitchFamily="18" charset="0"/>
                <a:cs typeface="Times New Roman" pitchFamily="18" charset="0"/>
              </a:rPr>
              <a:t>Reverse Path Broadcasting</a:t>
            </a:r>
            <a:endParaRPr lang="en-IN"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54</a:t>
            </a:fld>
            <a:endParaRPr lang="en-IN"/>
          </a:p>
        </p:txBody>
      </p:sp>
      <p:pic>
        <p:nvPicPr>
          <p:cNvPr id="6" name="Picture 4"/>
          <p:cNvPicPr>
            <a:picLocks noGrp="1" noChangeAspect="1" noChangeArrowheads="1"/>
          </p:cNvPicPr>
          <p:nvPr>
            <p:ph idx="1"/>
          </p:nvPr>
        </p:nvPicPr>
        <p:blipFill>
          <a:blip r:embed="rId2"/>
          <a:srcRect/>
          <a:stretch>
            <a:fillRect/>
          </a:stretch>
        </p:blipFill>
        <p:spPr bwMode="auto">
          <a:xfrm>
            <a:off x="428596" y="1643050"/>
            <a:ext cx="8501122" cy="3058331"/>
          </a:xfrm>
          <a:prstGeom prst="rect">
            <a:avLst/>
          </a:prstGeom>
          <a:noFill/>
          <a:ln w="9525">
            <a:noFill/>
            <a:miter lim="800000"/>
            <a:headEnd/>
            <a:tailEnd/>
          </a:ln>
          <a:effectLst/>
        </p:spPr>
      </p:pic>
      <p:sp>
        <p:nvSpPr>
          <p:cNvPr id="7" name="TextBox 6"/>
          <p:cNvSpPr txBox="1"/>
          <p:nvPr/>
        </p:nvSpPr>
        <p:spPr>
          <a:xfrm>
            <a:off x="642910" y="4643446"/>
            <a:ext cx="8501090" cy="2185214"/>
          </a:xfrm>
          <a:prstGeom prst="rect">
            <a:avLst/>
          </a:prstGeom>
          <a:noFill/>
        </p:spPr>
        <p:txBody>
          <a:bodyPr wrap="square" rtlCol="0">
            <a:spAutoFit/>
          </a:bodyPr>
          <a:lstStyle/>
          <a:p>
            <a:pPr algn="just"/>
            <a:r>
              <a:rPr lang="en-IN" sz="2200" dirty="0" smtClean="0">
                <a:latin typeface="Times New Roman" pitchFamily="18" charset="0"/>
                <a:cs typeface="Times New Roman" pitchFamily="18" charset="0"/>
              </a:rPr>
              <a:t>Preventing duplication, only one parent router for each network is needed.</a:t>
            </a:r>
          </a:p>
          <a:p>
            <a:pPr algn="just"/>
            <a:r>
              <a:rPr lang="en-IN" sz="2200" dirty="0" smtClean="0">
                <a:latin typeface="Times New Roman" pitchFamily="18" charset="0"/>
                <a:cs typeface="Times New Roman" pitchFamily="18" charset="0"/>
              </a:rPr>
              <a:t>A network can receive a multicast packet from a particular source only through a designated parent router.</a:t>
            </a:r>
          </a:p>
          <a:p>
            <a:pPr algn="just"/>
            <a:r>
              <a:rPr lang="en-IN" sz="2200" dirty="0" smtClean="0">
                <a:solidFill>
                  <a:srgbClr val="C00000"/>
                </a:solidFill>
                <a:latin typeface="Times New Roman" pitchFamily="18" charset="0"/>
                <a:cs typeface="Times New Roman" pitchFamily="18" charset="0"/>
              </a:rPr>
              <a:t>RPB guarantees that the packet reaches every network and that every network receives only one copy.</a:t>
            </a:r>
          </a:p>
          <a:p>
            <a:pPr algn="just"/>
            <a:endParaRPr lang="en-IN" sz="2200" dirty="0">
              <a:latin typeface="Times New Roman" pitchFamily="18" charset="0"/>
              <a:cs typeface="Times New Roman"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pPr algn="l"/>
            <a:r>
              <a:rPr lang="en-IN" dirty="0" smtClean="0">
                <a:latin typeface="Times New Roman" pitchFamily="18" charset="0"/>
                <a:cs typeface="Times New Roman" pitchFamily="18" charset="0"/>
              </a:rPr>
              <a:t>Reverse Path  Multicasting</a:t>
            </a:r>
            <a:endParaRPr lang="en-IN" dirty="0"/>
          </a:p>
        </p:txBody>
      </p:sp>
      <p:sp>
        <p:nvSpPr>
          <p:cNvPr id="4" name="Date Placeholder 3"/>
          <p:cNvSpPr>
            <a:spLocks noGrp="1"/>
          </p:cNvSpPr>
          <p:nvPr>
            <p:ph type="dt" sz="half" idx="10"/>
          </p:nvPr>
        </p:nvSpPr>
        <p:spPr/>
        <p:txBody>
          <a:bodyPr/>
          <a:lstStyle/>
          <a:p>
            <a:fld id="{E9477F03-47EA-4576-8359-F7BDB2E7B4C0}" type="datetime1">
              <a:rPr lang="en-US" smtClean="0"/>
              <a:pPr/>
              <a:t>7/7/2021</a:t>
            </a:fld>
            <a:endParaRPr lang="en-IN"/>
          </a:p>
        </p:txBody>
      </p:sp>
      <p:sp>
        <p:nvSpPr>
          <p:cNvPr id="5" name="Slide Number Placeholder 4"/>
          <p:cNvSpPr>
            <a:spLocks noGrp="1"/>
          </p:cNvSpPr>
          <p:nvPr>
            <p:ph type="sldNum" sz="quarter" idx="12"/>
          </p:nvPr>
        </p:nvSpPr>
        <p:spPr/>
        <p:txBody>
          <a:bodyPr/>
          <a:lstStyle/>
          <a:p>
            <a:fld id="{49CEA0AD-AFF2-4CE2-9DDE-750909A6F4A7}" type="slidenum">
              <a:rPr lang="en-IN" smtClean="0"/>
              <a:pPr/>
              <a:t>55</a:t>
            </a:fld>
            <a:endParaRPr lang="en-IN"/>
          </a:p>
        </p:txBody>
      </p:sp>
      <p:pic>
        <p:nvPicPr>
          <p:cNvPr id="3074" name="Picture 2"/>
          <p:cNvPicPr>
            <a:picLocks noGrp="1" noChangeAspect="1" noChangeArrowheads="1"/>
          </p:cNvPicPr>
          <p:nvPr>
            <p:ph idx="1"/>
          </p:nvPr>
        </p:nvPicPr>
        <p:blipFill>
          <a:blip r:embed="rId2"/>
          <a:srcRect/>
          <a:stretch>
            <a:fillRect/>
          </a:stretch>
        </p:blipFill>
        <p:spPr bwMode="auto">
          <a:xfrm>
            <a:off x="642910" y="1000108"/>
            <a:ext cx="7786742" cy="4714908"/>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1474</TotalTime>
  <Words>3024</Words>
  <Application>Microsoft Office PowerPoint</Application>
  <PresentationFormat>On-screen Show (4:3)</PresentationFormat>
  <Paragraphs>345</Paragraphs>
  <Slides>55</Slides>
  <Notes>1</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Office Theme</vt:lpstr>
      <vt:lpstr>Routing Protocols: An Overview</vt:lpstr>
      <vt:lpstr>Routing: Overview</vt:lpstr>
      <vt:lpstr>Routing: Classification</vt:lpstr>
      <vt:lpstr>Flooding: A simplest example of Routing</vt:lpstr>
      <vt:lpstr>Flooding</vt:lpstr>
      <vt:lpstr>Unicast Routing </vt:lpstr>
      <vt:lpstr>Distance Vector (Bellman-Ford) Algorithm</vt:lpstr>
      <vt:lpstr>Count-to-Infinity Problem</vt:lpstr>
      <vt:lpstr>Link-State Routing</vt:lpstr>
      <vt:lpstr>Link-State Routing</vt:lpstr>
      <vt:lpstr>Link-State Routing</vt:lpstr>
      <vt:lpstr>Hierarchical Routing</vt:lpstr>
      <vt:lpstr>Broadcast Routing: Sink Tree Broadcasting</vt:lpstr>
      <vt:lpstr>Broadcast : Reverse Path Forwarding</vt:lpstr>
      <vt:lpstr>Broadcast Routing</vt:lpstr>
      <vt:lpstr>Slide 16</vt:lpstr>
      <vt:lpstr>IP (Logical) Addressing</vt:lpstr>
      <vt:lpstr>Classful IP Addressing</vt:lpstr>
      <vt:lpstr>Classful Addressing</vt:lpstr>
      <vt:lpstr>Classful Addressing</vt:lpstr>
      <vt:lpstr>Masking</vt:lpstr>
      <vt:lpstr>Classless Addressing</vt:lpstr>
      <vt:lpstr>Why Classless?</vt:lpstr>
      <vt:lpstr>Masking</vt:lpstr>
      <vt:lpstr>Subnet</vt:lpstr>
      <vt:lpstr>An Illustration of Subnetting</vt:lpstr>
      <vt:lpstr>Slide 27</vt:lpstr>
      <vt:lpstr>An Example</vt:lpstr>
      <vt:lpstr>An Example</vt:lpstr>
      <vt:lpstr>An Example</vt:lpstr>
      <vt:lpstr>NAT</vt:lpstr>
      <vt:lpstr>NAT</vt:lpstr>
      <vt:lpstr>NAT</vt:lpstr>
      <vt:lpstr>NAT</vt:lpstr>
      <vt:lpstr>NAT</vt:lpstr>
      <vt:lpstr>Intra &amp; Inter Domain Routing</vt:lpstr>
      <vt:lpstr>Routing Information Protocol</vt:lpstr>
      <vt:lpstr>Open Shortest Path First - OSPF</vt:lpstr>
      <vt:lpstr>Link Classifications in OSPF</vt:lpstr>
      <vt:lpstr>Transient Link</vt:lpstr>
      <vt:lpstr>Stub and Virtual Link</vt:lpstr>
      <vt:lpstr>Graphical Representation of the Network</vt:lpstr>
      <vt:lpstr>Shortest Path Routing</vt:lpstr>
      <vt:lpstr>Link State Advertisement</vt:lpstr>
      <vt:lpstr>Path Vector Routing</vt:lpstr>
      <vt:lpstr>Path Vector Routing: Initialization</vt:lpstr>
      <vt:lpstr>Path Vector Routing: Sharing</vt:lpstr>
      <vt:lpstr>Unicast vs Multicast Routing</vt:lpstr>
      <vt:lpstr>Multicasting vs. Multiple Unicasting</vt:lpstr>
      <vt:lpstr>Source Based Tree Approach</vt:lpstr>
      <vt:lpstr>Group Shared Tree Approach</vt:lpstr>
      <vt:lpstr>DVMRP</vt:lpstr>
      <vt:lpstr>DVMRP</vt:lpstr>
      <vt:lpstr>Reverse Path Broadcasting</vt:lpstr>
      <vt:lpstr>Reverse Path  Multicasting</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Routing Protocols: An Overview</dc:title>
  <dc:creator>HP</dc:creator>
  <cp:lastModifiedBy>HP</cp:lastModifiedBy>
  <cp:revision>82</cp:revision>
  <dcterms:created xsi:type="dcterms:W3CDTF">2020-04-04T01:23:09Z</dcterms:created>
  <dcterms:modified xsi:type="dcterms:W3CDTF">2021-07-07T11:15:12Z</dcterms:modified>
</cp:coreProperties>
</file>