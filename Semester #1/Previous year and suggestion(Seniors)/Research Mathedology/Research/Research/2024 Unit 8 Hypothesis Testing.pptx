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1"/>
  </p:notesMasterIdLst>
  <p:handoutMasterIdLst>
    <p:handoutMasterId r:id="rId32"/>
  </p:handoutMasterIdLst>
  <p:sldIdLst>
    <p:sldId id="577" r:id="rId2"/>
    <p:sldId id="735" r:id="rId3"/>
    <p:sldId id="578" r:id="rId4"/>
    <p:sldId id="579" r:id="rId5"/>
    <p:sldId id="770" r:id="rId6"/>
    <p:sldId id="580" r:id="rId7"/>
    <p:sldId id="769" r:id="rId8"/>
    <p:sldId id="583" r:id="rId9"/>
    <p:sldId id="736" r:id="rId10"/>
    <p:sldId id="764" r:id="rId11"/>
    <p:sldId id="771" r:id="rId12"/>
    <p:sldId id="772" r:id="rId13"/>
    <p:sldId id="773" r:id="rId14"/>
    <p:sldId id="774" r:id="rId15"/>
    <p:sldId id="775" r:id="rId16"/>
    <p:sldId id="753" r:id="rId17"/>
    <p:sldId id="754" r:id="rId18"/>
    <p:sldId id="755" r:id="rId19"/>
    <p:sldId id="757" r:id="rId20"/>
    <p:sldId id="758" r:id="rId21"/>
    <p:sldId id="762" r:id="rId22"/>
    <p:sldId id="759" r:id="rId23"/>
    <p:sldId id="760" r:id="rId24"/>
    <p:sldId id="763" r:id="rId25"/>
    <p:sldId id="765" r:id="rId26"/>
    <p:sldId id="766" r:id="rId27"/>
    <p:sldId id="767" r:id="rId28"/>
    <p:sldId id="768" r:id="rId29"/>
    <p:sldId id="761" r:id="rId30"/>
  </p:sldIdLst>
  <p:sldSz cx="9144000" cy="6858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FF00"/>
    <a:srgbClr val="FFFFCC"/>
    <a:srgbClr val="FF0000"/>
    <a:srgbClr val="DDDDDD"/>
    <a:srgbClr val="EAEAEA"/>
    <a:srgbClr val="FF9900"/>
    <a:srgbClr val="FF99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37" autoAdjust="0"/>
    <p:restoredTop sz="87571" autoAdjust="0"/>
  </p:normalViewPr>
  <p:slideViewPr>
    <p:cSldViewPr>
      <p:cViewPr varScale="1">
        <p:scale>
          <a:sx n="71" d="100"/>
          <a:sy n="71" d="100"/>
        </p:scale>
        <p:origin x="-888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07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6913D8E9-D068-45F0-A41A-057460E27C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579386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49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6425"/>
            <a:ext cx="54864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29675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AB7DB0B8-1F1A-426D-A8E6-8D331275B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768519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0766BD-E44F-4F28-9640-838DFFF2036C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229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noFill/>
          <a:ln/>
        </p:spPr>
        <p:txBody>
          <a:bodyPr/>
          <a:lstStyle/>
          <a:p>
            <a:pPr eaLnBrk="1" hangingPunct="1"/>
            <a:endParaRPr lang="nl-NL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7DB0B8-1F1A-426D-A8E6-8D331275BBC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cxnSp>
        <p:nvCxnSpPr>
          <p:cNvPr id="9" name="Straight Connector 8"/>
          <p:cNvCxnSpPr/>
          <p:nvPr userDrawn="1"/>
        </p:nvCxnSpPr>
        <p:spPr bwMode="auto">
          <a:xfrm>
            <a:off x="533400" y="533400"/>
            <a:ext cx="861060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838200"/>
            <a:ext cx="8058150" cy="5400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268413"/>
            <a:ext cx="3952875" cy="54006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7275" y="1268413"/>
            <a:ext cx="3952875" cy="54006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1752600" cy="365125"/>
          </a:xfrm>
          <a:prstGeom prst="rect">
            <a:avLst/>
          </a:prstGeom>
        </p:spPr>
        <p:txBody>
          <a:bodyPr/>
          <a:lstStyle/>
          <a:p>
            <a:fld id="{6916CCBD-2897-4454-85D5-FC1E8F107543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800" y="6492875"/>
            <a:ext cx="32004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Prof. A. K. Datta   University of Calcutta</a:t>
            </a:r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1752600" cy="365125"/>
          </a:xfrm>
          <a:prstGeom prst="rect">
            <a:avLst/>
          </a:prstGeom>
        </p:spPr>
        <p:txBody>
          <a:bodyPr/>
          <a:lstStyle/>
          <a:p>
            <a:fld id="{6916CCBD-2897-4454-85D5-FC1E8F107543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92875"/>
            <a:ext cx="32004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Prof. A. K. Datta   University of Calcutta</a:t>
            </a:r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1752600" cy="365125"/>
          </a:xfrm>
          <a:prstGeom prst="rect">
            <a:avLst/>
          </a:prstGeom>
        </p:spPr>
        <p:txBody>
          <a:bodyPr/>
          <a:lstStyle/>
          <a:p>
            <a:fld id="{6916CCBD-2897-4454-85D5-FC1E8F107543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92875"/>
            <a:ext cx="32004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Prof. A. K. Datta   University of Calcutta</a:t>
            </a:r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1752600" cy="365125"/>
          </a:xfrm>
          <a:prstGeom prst="rect">
            <a:avLst/>
          </a:prstGeom>
        </p:spPr>
        <p:txBody>
          <a:bodyPr/>
          <a:lstStyle/>
          <a:p>
            <a:fld id="{6916CCBD-2897-4454-85D5-FC1E8F107543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4800" y="6492875"/>
            <a:ext cx="32004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Prof. A. K. Datta   University of Calcutta</a:t>
            </a:r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4800" y="6492875"/>
            <a:ext cx="32004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Prof. A. K. Datta   University of Calcutta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6492875"/>
            <a:ext cx="1752600" cy="365125"/>
          </a:xfrm>
          <a:prstGeom prst="rect">
            <a:avLst/>
          </a:prstGeom>
        </p:spPr>
        <p:txBody>
          <a:bodyPr/>
          <a:lstStyle/>
          <a:p>
            <a:fld id="{6916CCBD-2897-4454-85D5-FC1E8F107543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1752600" cy="365125"/>
          </a:xfrm>
          <a:prstGeom prst="rect">
            <a:avLst/>
          </a:prstGeom>
        </p:spPr>
        <p:txBody>
          <a:bodyPr/>
          <a:lstStyle/>
          <a:p>
            <a:fld id="{6916CCBD-2897-4454-85D5-FC1E8F107543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800" y="6492875"/>
            <a:ext cx="32004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Prof. A. K. Datta   University of Calcutta</a:t>
            </a:r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1752600" cy="365125"/>
          </a:xfrm>
          <a:prstGeom prst="rect">
            <a:avLst/>
          </a:prstGeom>
        </p:spPr>
        <p:txBody>
          <a:bodyPr/>
          <a:lstStyle/>
          <a:p>
            <a:fld id="{6916CCBD-2897-4454-85D5-FC1E8F107543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800" y="6492875"/>
            <a:ext cx="32004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Prof. A. K. Datta   University of Calcutta</a:t>
            </a:r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838200"/>
            <a:ext cx="8058150" cy="5400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1752600" cy="365125"/>
          </a:xfrm>
          <a:prstGeom prst="rect">
            <a:avLst/>
          </a:prstGeom>
        </p:spPr>
        <p:txBody>
          <a:bodyPr/>
          <a:lstStyle/>
          <a:p>
            <a:fld id="{6916CCBD-2897-4454-85D5-FC1E8F107543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92875"/>
            <a:ext cx="32004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Prof. A. K. Datta   University of Calcutta</a:t>
            </a:r>
            <a:endParaRPr lang="en-I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260350"/>
            <a:ext cx="5891213" cy="64087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1752600" cy="365125"/>
          </a:xfrm>
          <a:prstGeom prst="rect">
            <a:avLst/>
          </a:prstGeom>
        </p:spPr>
        <p:txBody>
          <a:bodyPr/>
          <a:lstStyle/>
          <a:p>
            <a:fld id="{6916CCBD-2897-4454-85D5-FC1E8F107543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92875"/>
            <a:ext cx="32004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Prof. A. K. Datta   University of Calcutta</a:t>
            </a:r>
            <a:endParaRPr lang="en-I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62000" y="1268413"/>
            <a:ext cx="8058150" cy="5400675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1752600" cy="365125"/>
          </a:xfrm>
          <a:prstGeom prst="rect">
            <a:avLst/>
          </a:prstGeom>
        </p:spPr>
        <p:txBody>
          <a:bodyPr/>
          <a:lstStyle/>
          <a:p>
            <a:fld id="{6916CCBD-2897-4454-85D5-FC1E8F107543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92875"/>
            <a:ext cx="32004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Prof. A. K. Datta   University of Calcutta</a:t>
            </a:r>
            <a:endParaRPr lang="en-I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2000" y="1268413"/>
            <a:ext cx="3952875" cy="5400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7275" y="1268413"/>
            <a:ext cx="3952875" cy="5400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1752600" cy="365125"/>
          </a:xfrm>
          <a:prstGeom prst="rect">
            <a:avLst/>
          </a:prstGeom>
        </p:spPr>
        <p:txBody>
          <a:bodyPr/>
          <a:lstStyle/>
          <a:p>
            <a:fld id="{6916CCBD-2897-4454-85D5-FC1E8F107543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800" y="6492875"/>
            <a:ext cx="32004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Prof. A. K. Datta   University of Calcutta</a:t>
            </a:r>
            <a:endParaRPr lang="en-IN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2000" y="1268413"/>
            <a:ext cx="3952875" cy="5400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67275" y="1268413"/>
            <a:ext cx="3952875" cy="26241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867275" y="4044950"/>
            <a:ext cx="3952875" cy="26241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1752600" cy="365125"/>
          </a:xfrm>
          <a:prstGeom prst="rect">
            <a:avLst/>
          </a:prstGeom>
        </p:spPr>
        <p:txBody>
          <a:bodyPr/>
          <a:lstStyle/>
          <a:p>
            <a:fld id="{6916CCBD-2897-4454-85D5-FC1E8F107543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04800" y="6492875"/>
            <a:ext cx="32004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Prof. A. K. Datta   University of Calcutta</a:t>
            </a:r>
            <a:endParaRPr lang="en-I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00" y="914400"/>
            <a:ext cx="8902700" cy="548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92875"/>
            <a:ext cx="31242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Prof. A. K. Datta     University of Calcutta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458200" y="6492875"/>
            <a:ext cx="457200" cy="365125"/>
          </a:xfrm>
          <a:prstGeom prst="rect">
            <a:avLst/>
          </a:prstGeom>
        </p:spPr>
        <p:txBody>
          <a:bodyPr/>
          <a:lstStyle/>
          <a:p>
            <a:fld id="{BF2D74FB-8EB9-4DEE-8258-980F8375AF4A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124200" y="6492875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Ph.D Course Work on Research Methodology</a:t>
            </a:r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99107" name="Text Box 3"/>
          <p:cNvSpPr txBox="1">
            <a:spLocks noChangeArrowheads="1"/>
          </p:cNvSpPr>
          <p:nvPr/>
        </p:nvSpPr>
        <p:spPr bwMode="auto">
          <a:xfrm>
            <a:off x="179388" y="260350"/>
            <a:ext cx="18415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endParaRPr lang="nl-NL" sz="480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1199109" name="AutoShape 5"/>
          <p:cNvSpPr>
            <a:spLocks noChangeArrowheads="1"/>
          </p:cNvSpPr>
          <p:nvPr/>
        </p:nvSpPr>
        <p:spPr bwMode="auto">
          <a:xfrm rot="5400000">
            <a:off x="0" y="0"/>
            <a:ext cx="914400" cy="91440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nl-NL"/>
          </a:p>
        </p:txBody>
      </p:sp>
      <p:sp>
        <p:nvSpPr>
          <p:cNvPr id="1199110" name="Text Box 6"/>
          <p:cNvSpPr txBox="1">
            <a:spLocks noChangeArrowheads="1"/>
          </p:cNvSpPr>
          <p:nvPr userDrawn="1"/>
        </p:nvSpPr>
        <p:spPr bwMode="auto">
          <a:xfrm>
            <a:off x="179388" y="260350"/>
            <a:ext cx="18415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endParaRPr lang="nl-NL" sz="480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1199111" name="AutoShape 7"/>
          <p:cNvSpPr>
            <a:spLocks noChangeArrowheads="1"/>
          </p:cNvSpPr>
          <p:nvPr userDrawn="1"/>
        </p:nvSpPr>
        <p:spPr bwMode="auto">
          <a:xfrm rot="5400000">
            <a:off x="0" y="0"/>
            <a:ext cx="914400" cy="9144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nl-NL"/>
          </a:p>
        </p:txBody>
      </p:sp>
      <p:cxnSp>
        <p:nvCxnSpPr>
          <p:cNvPr id="11" name="Straight Connector 10"/>
          <p:cNvCxnSpPr/>
          <p:nvPr userDrawn="1"/>
        </p:nvCxnSpPr>
        <p:spPr bwMode="auto">
          <a:xfrm>
            <a:off x="533400" y="609600"/>
            <a:ext cx="861060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 userDrawn="1"/>
        </p:nvCxnSpPr>
        <p:spPr bwMode="auto">
          <a:xfrm>
            <a:off x="533400" y="533400"/>
            <a:ext cx="861060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8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9" r:id="rId16"/>
    <p:sldLayoutId id="2147483670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4.bin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7.v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21.bin"/><Relationship Id="rId4" Type="http://schemas.openxmlformats.org/officeDocument/2006/relationships/oleObject" Target="../embeddings/oleObject2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2438400"/>
            <a:ext cx="6400800" cy="1752600"/>
          </a:xfrm>
        </p:spPr>
        <p:txBody>
          <a:bodyPr/>
          <a:lstStyle/>
          <a:p>
            <a:pPr eaLnBrk="1" hangingPunct="1"/>
            <a:r>
              <a:rPr lang="en-US" sz="3200" b="1" dirty="0" smtClean="0"/>
              <a:t> </a:t>
            </a:r>
            <a:r>
              <a:rPr lang="en-US" sz="4000" dirty="0" smtClean="0"/>
              <a:t>Hypothesis Testing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57200" y="838200"/>
            <a:ext cx="8362950" cy="5400675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Hypothesis testing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a procedure for making inferences about a population.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Hypothesis testing allows us to determine whether enough statistical evidence exists to conclude that a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belief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(i.e. </a:t>
            </a:r>
            <a:r>
              <a:rPr kumimoji="0" lang="en-US" sz="24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hypothesis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about a parameter is </a:t>
            </a:r>
            <a:r>
              <a:rPr kumimoji="0" lang="en-US" sz="2400" b="0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supported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by the data.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752600"/>
            <a:ext cx="6481763" cy="257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8058150" cy="92233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400" dirty="0" smtClean="0"/>
              <a:t>Non statistical Hypothesis Testing…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8610600" cy="5400675"/>
          </a:xfrm>
        </p:spPr>
        <p:txBody>
          <a:bodyPr/>
          <a:lstStyle/>
          <a:p>
            <a:pPr eaLnBrk="1" hangingPunct="1"/>
            <a:r>
              <a:rPr lang="en-US" dirty="0" smtClean="0"/>
              <a:t>A criminal trial is an example of hypothesis testing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without</a:t>
            </a:r>
            <a:r>
              <a:rPr lang="en-US" dirty="0" smtClean="0"/>
              <a:t> the statistics. </a:t>
            </a:r>
          </a:p>
          <a:p>
            <a:pPr eaLnBrk="1" hangingPunct="1"/>
            <a:r>
              <a:rPr lang="en-US" dirty="0" smtClean="0"/>
              <a:t>In a trial a jury must decide between two hypotheses. The null hypothesis is</a:t>
            </a:r>
          </a:p>
          <a:p>
            <a:pPr eaLnBrk="1" hangingPunct="1">
              <a:buFontTx/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chemeClr val="accent2"/>
                </a:solidFill>
              </a:rPr>
              <a:t>H</a:t>
            </a:r>
            <a:r>
              <a:rPr lang="en-US" baseline="-25000" dirty="0" smtClean="0">
                <a:solidFill>
                  <a:schemeClr val="accent2"/>
                </a:solidFill>
              </a:rPr>
              <a:t>0</a:t>
            </a:r>
            <a:r>
              <a:rPr lang="en-US" dirty="0" smtClean="0">
                <a:solidFill>
                  <a:schemeClr val="accent2"/>
                </a:solidFill>
              </a:rPr>
              <a:t>: The defendant is innocent</a:t>
            </a:r>
          </a:p>
          <a:p>
            <a:pPr eaLnBrk="1" hangingPunct="1"/>
            <a:r>
              <a:rPr lang="en-US" dirty="0" smtClean="0"/>
              <a:t>The alternative hypothesis or research hypothesis is</a:t>
            </a:r>
          </a:p>
          <a:p>
            <a:pPr eaLnBrk="1" hangingPunct="1">
              <a:buFontTx/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chemeClr val="accent2"/>
                </a:solidFill>
              </a:rPr>
              <a:t>H</a:t>
            </a:r>
            <a:r>
              <a:rPr lang="en-US" baseline="-25000" dirty="0" smtClean="0">
                <a:solidFill>
                  <a:schemeClr val="accent2"/>
                </a:solidFill>
              </a:rPr>
              <a:t>a</a:t>
            </a:r>
            <a:r>
              <a:rPr lang="en-US" dirty="0" smtClean="0">
                <a:solidFill>
                  <a:schemeClr val="accent2"/>
                </a:solidFill>
              </a:rPr>
              <a:t>: The defendant is guilty</a:t>
            </a:r>
          </a:p>
          <a:p>
            <a:pPr eaLnBrk="1" hangingPunct="1"/>
            <a:r>
              <a:rPr lang="en-US" dirty="0" smtClean="0"/>
              <a:t>The jury does not know which hypothesis is true. They must make a decision on the basis of evidence presented.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0"/>
            <a:ext cx="8058150" cy="92233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400" dirty="0" smtClean="0"/>
              <a:t>Non statistical Hypothesis Testing…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85794"/>
            <a:ext cx="8686800" cy="578647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In the language of statistics convicting the defendant is called </a:t>
            </a:r>
            <a:r>
              <a:rPr lang="en-US" b="1" dirty="0" smtClean="0">
                <a:solidFill>
                  <a:schemeClr val="accent2"/>
                </a:solidFill>
              </a:rPr>
              <a:t>rejecting the null hypothesis (H</a:t>
            </a:r>
            <a:r>
              <a:rPr lang="en-US" b="1" baseline="-25000" dirty="0" smtClean="0">
                <a:solidFill>
                  <a:schemeClr val="accent2"/>
                </a:solidFill>
              </a:rPr>
              <a:t>0</a:t>
            </a:r>
            <a:r>
              <a:rPr lang="en-US" b="1" dirty="0" smtClean="0">
                <a:solidFill>
                  <a:schemeClr val="accent2"/>
                </a:solidFill>
              </a:rPr>
              <a:t>) in favor of the alternative hypothesis (H</a:t>
            </a:r>
            <a:r>
              <a:rPr lang="en-US" b="1" baseline="-25000" dirty="0" smtClean="0">
                <a:solidFill>
                  <a:schemeClr val="accent2"/>
                </a:solidFill>
              </a:rPr>
              <a:t>a</a:t>
            </a:r>
            <a:r>
              <a:rPr lang="en-US" b="1" dirty="0" smtClean="0">
                <a:solidFill>
                  <a:schemeClr val="accent2"/>
                </a:solidFill>
              </a:rPr>
              <a:t>) </a:t>
            </a:r>
            <a:r>
              <a:rPr lang="en-US" dirty="0" smtClean="0"/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That is, the jury is saying that there is enough evidence to conclude that the defendant is guilty (i.e., there is enough evidence to support the alternative hypothesis). 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If the jury acquits it is stating that </a:t>
            </a:r>
            <a:r>
              <a:rPr lang="en-US" b="1" dirty="0" smtClean="0">
                <a:solidFill>
                  <a:schemeClr val="accent2"/>
                </a:solidFill>
              </a:rPr>
              <a:t>there is not enough evidence to support the alternative hypothesis</a:t>
            </a:r>
            <a:r>
              <a:rPr lang="en-US" dirty="0" smtClean="0"/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Notice that the jury is not saying that the defendant is innocent, only that there is not enough evidence to support the alternative hypothesis.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That is why we never say that we accept the null hypothesis.</a:t>
            </a:r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r>
              <a:rPr lang="en-IN" dirty="0" smtClean="0"/>
              <a:t>Generally, in hypothesis testing, one proceeds to collect evidence in support of null hypothesis H</a:t>
            </a:r>
            <a:r>
              <a:rPr lang="en-IN" baseline="-25000" dirty="0" smtClean="0"/>
              <a:t>o</a:t>
            </a:r>
            <a:r>
              <a:rPr lang="en-IN" dirty="0" smtClean="0"/>
              <a:t>, on the assumption that the null hypothesis is true, keeping the alternative hypothesis H</a:t>
            </a:r>
            <a:r>
              <a:rPr lang="en-IN" baseline="-25000" dirty="0" smtClean="0"/>
              <a:t>a</a:t>
            </a:r>
            <a:r>
              <a:rPr lang="en-IN" dirty="0" smtClean="0"/>
              <a:t> in view.</a:t>
            </a:r>
            <a:endParaRPr lang="en-US" dirty="0" smtClean="0"/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5720" y="642918"/>
            <a:ext cx="8715436" cy="5400675"/>
          </a:xfrm>
        </p:spPr>
        <p:txBody>
          <a:bodyPr/>
          <a:lstStyle/>
          <a:p>
            <a:r>
              <a:rPr lang="en-IN" dirty="0" smtClean="0"/>
              <a:t>For example, to test a hypothesis that the population mean </a:t>
            </a:r>
            <a:r>
              <a:rPr lang="el-GR" dirty="0" smtClean="0"/>
              <a:t>μ</a:t>
            </a:r>
            <a:r>
              <a:rPr lang="en-IN" dirty="0" smtClean="0"/>
              <a:t> is equal to the assumed mean </a:t>
            </a:r>
            <a:r>
              <a:rPr lang="el-GR" dirty="0" smtClean="0"/>
              <a:t>μ </a:t>
            </a:r>
            <a:r>
              <a:rPr lang="en-IN" dirty="0" smtClean="0"/>
              <a:t>H</a:t>
            </a:r>
            <a:r>
              <a:rPr lang="en-IN" baseline="-25000" dirty="0" smtClean="0"/>
              <a:t>o</a:t>
            </a:r>
            <a:r>
              <a:rPr lang="en-IN" dirty="0" smtClean="0"/>
              <a:t> = k, the statement for the null hypothesis is an expression given by,</a:t>
            </a:r>
          </a:p>
          <a:p>
            <a:pPr>
              <a:buNone/>
            </a:pPr>
            <a:r>
              <a:rPr lang="en-US" dirty="0" smtClean="0"/>
              <a:t>	H</a:t>
            </a:r>
            <a:r>
              <a:rPr lang="en-US" baseline="-25000" dirty="0" smtClean="0"/>
              <a:t>o</a:t>
            </a:r>
            <a:r>
              <a:rPr lang="en-US" dirty="0" smtClean="0"/>
              <a:t> : </a:t>
            </a:r>
            <a:r>
              <a:rPr lang="el-GR" dirty="0" smtClean="0"/>
              <a:t>μ</a:t>
            </a:r>
            <a:r>
              <a:rPr lang="en-US" dirty="0" smtClean="0"/>
              <a:t> = </a:t>
            </a:r>
            <a:r>
              <a:rPr lang="el-GR" dirty="0" smtClean="0"/>
              <a:t>μ </a:t>
            </a:r>
            <a:r>
              <a:rPr lang="en-US" dirty="0" smtClean="0"/>
              <a:t>H</a:t>
            </a:r>
            <a:r>
              <a:rPr lang="en-US" baseline="-25000" dirty="0" smtClean="0"/>
              <a:t>o</a:t>
            </a:r>
            <a:r>
              <a:rPr lang="en-US" dirty="0" smtClean="0"/>
              <a:t> = k</a:t>
            </a:r>
          </a:p>
          <a:p>
            <a:r>
              <a:rPr lang="en-IN" dirty="0" smtClean="0"/>
              <a:t>In case of alternative hypothesis H</a:t>
            </a:r>
            <a:r>
              <a:rPr lang="en-IN" baseline="-25000" dirty="0" smtClean="0"/>
              <a:t>a</a:t>
            </a:r>
            <a:r>
              <a:rPr lang="en-IN" dirty="0" smtClean="0"/>
              <a:t> is supported, three general situations may arise during testing of the hypothesis. For example, for population mean </a:t>
            </a:r>
            <a:r>
              <a:rPr lang="el-GR" dirty="0" smtClean="0"/>
              <a:t>μ</a:t>
            </a:r>
            <a:r>
              <a:rPr lang="en-IN" dirty="0" smtClean="0"/>
              <a:t>, the following statements can be arrived.</a:t>
            </a:r>
          </a:p>
          <a:p>
            <a:pPr>
              <a:buNone/>
            </a:pPr>
            <a:r>
              <a:rPr lang="en-IN" dirty="0" smtClean="0"/>
              <a:t>	(</a:t>
            </a:r>
            <a:r>
              <a:rPr lang="en-IN" dirty="0" err="1" smtClean="0"/>
              <a:t>i</a:t>
            </a:r>
            <a:r>
              <a:rPr lang="en-IN" dirty="0" smtClean="0"/>
              <a:t>) H</a:t>
            </a:r>
            <a:r>
              <a:rPr lang="en-IN" baseline="-25000" dirty="0" smtClean="0"/>
              <a:t>a</a:t>
            </a:r>
            <a:r>
              <a:rPr lang="en-IN" dirty="0" smtClean="0"/>
              <a:t> : </a:t>
            </a:r>
            <a:r>
              <a:rPr lang="el-GR" dirty="0" smtClean="0"/>
              <a:t>μ</a:t>
            </a:r>
            <a:r>
              <a:rPr lang="en-IN" dirty="0" smtClean="0"/>
              <a:t> ≠ H</a:t>
            </a:r>
            <a:r>
              <a:rPr lang="en-IN" baseline="-25000" dirty="0" smtClean="0"/>
              <a:t>o</a:t>
            </a:r>
            <a:r>
              <a:rPr lang="en-IN" dirty="0" smtClean="0"/>
              <a:t> . The alternative hypothesis suggests that the</a:t>
            </a:r>
          </a:p>
          <a:p>
            <a:pPr>
              <a:buNone/>
            </a:pPr>
            <a:r>
              <a:rPr lang="en-IN" dirty="0" smtClean="0"/>
              <a:t>	population mean is not equal to k (some assumed value), it may be more than or less than k.</a:t>
            </a:r>
          </a:p>
          <a:p>
            <a:pPr>
              <a:buNone/>
            </a:pPr>
            <a:r>
              <a:rPr lang="en-IN" dirty="0" smtClean="0"/>
              <a:t>	(ii) H</a:t>
            </a:r>
            <a:r>
              <a:rPr lang="en-IN" baseline="-25000" dirty="0" smtClean="0"/>
              <a:t>a</a:t>
            </a:r>
            <a:r>
              <a:rPr lang="en-IN" dirty="0" smtClean="0"/>
              <a:t> : </a:t>
            </a:r>
            <a:r>
              <a:rPr lang="el-GR" dirty="0" smtClean="0"/>
              <a:t>μ</a:t>
            </a:r>
            <a:r>
              <a:rPr lang="en-IN" dirty="0" smtClean="0"/>
              <a:t> &gt; H</a:t>
            </a:r>
            <a:r>
              <a:rPr lang="en-IN" baseline="-25000" dirty="0" smtClean="0"/>
              <a:t>o</a:t>
            </a:r>
            <a:r>
              <a:rPr lang="en-IN" dirty="0" smtClean="0"/>
              <a:t> . The alternative hypothesis indicates that the</a:t>
            </a:r>
          </a:p>
          <a:p>
            <a:pPr>
              <a:buNone/>
            </a:pPr>
            <a:r>
              <a:rPr lang="en-IN" dirty="0" smtClean="0"/>
              <a:t>	population mean is greater than k.</a:t>
            </a:r>
          </a:p>
          <a:p>
            <a:pPr>
              <a:buNone/>
            </a:pPr>
            <a:r>
              <a:rPr lang="en-IN" dirty="0" smtClean="0"/>
              <a:t>	(iii) H</a:t>
            </a:r>
            <a:r>
              <a:rPr lang="en-IN" baseline="-25000" dirty="0" smtClean="0"/>
              <a:t>a</a:t>
            </a:r>
            <a:r>
              <a:rPr lang="en-IN" dirty="0" smtClean="0"/>
              <a:t> : </a:t>
            </a:r>
            <a:r>
              <a:rPr lang="el-GR" dirty="0" smtClean="0"/>
              <a:t>μ</a:t>
            </a:r>
            <a:r>
              <a:rPr lang="en-IN" dirty="0" smtClean="0"/>
              <a:t> &lt; H</a:t>
            </a:r>
            <a:r>
              <a:rPr lang="en-IN" baseline="-25000" dirty="0" smtClean="0"/>
              <a:t>o</a:t>
            </a:r>
            <a:r>
              <a:rPr lang="en-IN" dirty="0" smtClean="0"/>
              <a:t> . The alternative hypothesis states that the</a:t>
            </a:r>
          </a:p>
          <a:p>
            <a:pPr>
              <a:buNone/>
            </a:pPr>
            <a:r>
              <a:rPr lang="en-IN" dirty="0" smtClean="0"/>
              <a:t>	population mean is less than 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0"/>
            <a:ext cx="8058150" cy="92233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400" dirty="0" smtClean="0"/>
              <a:t>Non statistical Hypothesis Testing…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838201"/>
            <a:ext cx="8058150" cy="2590800"/>
          </a:xfrm>
        </p:spPr>
        <p:txBody>
          <a:bodyPr/>
          <a:lstStyle/>
          <a:p>
            <a:pPr eaLnBrk="1" hangingPunct="1">
              <a:buNone/>
            </a:pPr>
            <a:r>
              <a:rPr lang="en-US" dirty="0" smtClean="0"/>
              <a:t>There are two possible errors.</a:t>
            </a:r>
          </a:p>
          <a:p>
            <a:pPr algn="just" eaLnBrk="1" hangingPunct="1"/>
            <a:r>
              <a:rPr lang="en-US" dirty="0" smtClean="0"/>
              <a:t>A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Type I error </a:t>
            </a:r>
            <a:r>
              <a:rPr lang="en-US" dirty="0" smtClean="0"/>
              <a:t>occurs when we reject a </a:t>
            </a:r>
            <a:r>
              <a:rPr lang="en-US" b="1" dirty="0" smtClean="0">
                <a:solidFill>
                  <a:srgbClr val="FF0000"/>
                </a:solidFill>
              </a:rPr>
              <a:t>true</a:t>
            </a:r>
            <a:r>
              <a:rPr lang="en-US" dirty="0" smtClean="0"/>
              <a:t> null hypothesis. That is, a Type I error occurs when the jury convicts an innocent person.</a:t>
            </a:r>
          </a:p>
          <a:p>
            <a:pPr algn="just" eaLnBrk="1" hangingPunct="1"/>
            <a:r>
              <a:rPr lang="en-US" dirty="0" smtClean="0"/>
              <a:t>A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Type II error </a:t>
            </a:r>
            <a:r>
              <a:rPr lang="en-US" dirty="0" smtClean="0"/>
              <a:t>occurs when we don’t reject a </a:t>
            </a:r>
            <a:r>
              <a:rPr lang="en-US" b="1" dirty="0" smtClean="0">
                <a:solidFill>
                  <a:srgbClr val="FF0000"/>
                </a:solidFill>
              </a:rPr>
              <a:t>false</a:t>
            </a:r>
            <a:r>
              <a:rPr lang="en-US" dirty="0" smtClean="0"/>
              <a:t> null hypothesis. That occurs when a guilty defendant is acquitted.</a:t>
            </a:r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85800" y="3429000"/>
            <a:ext cx="8458200" cy="2667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probability of a Type I error is denoted as </a:t>
            </a:r>
            <a:r>
              <a:rPr kumimoji="0" lang="el-G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α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(reject a true null)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probability of a type II error is </a:t>
            </a:r>
            <a:r>
              <a:rPr kumimoji="0" lang="el-G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β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(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do’nt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reject a false null)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two probabilities are inversely related. Decreasing one increases the other.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l-GR" sz="2400" b="0" i="1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5310" y="785794"/>
            <a:ext cx="8782970" cy="5126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0"/>
            <a:ext cx="8058150" cy="92233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400" dirty="0" smtClean="0"/>
              <a:t>Non statistical Hypothesis Testing…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762000"/>
            <a:ext cx="8839200" cy="5602288"/>
          </a:xfrm>
        </p:spPr>
        <p:txBody>
          <a:bodyPr/>
          <a:lstStyle/>
          <a:p>
            <a:pPr marL="533400" indent="-533400" eaLnBrk="1" hangingPunct="1">
              <a:buFontTx/>
              <a:buNone/>
            </a:pPr>
            <a:r>
              <a:rPr lang="en-US" b="1" dirty="0" smtClean="0">
                <a:solidFill>
                  <a:schemeClr val="accent2"/>
                </a:solidFill>
              </a:rPr>
              <a:t>The critical concepts are these</a:t>
            </a:r>
            <a:endParaRPr lang="en-US" b="1" dirty="0" smtClean="0"/>
          </a:p>
          <a:p>
            <a:pPr marL="533400" indent="-533400" eaLnBrk="1" hangingPunct="1">
              <a:buFontTx/>
              <a:buAutoNum type="arabicPeriod"/>
            </a:pPr>
            <a:r>
              <a:rPr lang="en-US" dirty="0" smtClean="0"/>
              <a:t>There are two hypotheses, the null and the alternative hypotheses.</a:t>
            </a:r>
          </a:p>
          <a:p>
            <a:pPr marL="533400" indent="-533400" eaLnBrk="1" hangingPunct="1">
              <a:buFontTx/>
              <a:buAutoNum type="arabicPeriod" startAt="2"/>
            </a:pPr>
            <a:r>
              <a:rPr lang="en-US" dirty="0" smtClean="0"/>
              <a:t>The procedure begins with the assumption that the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null hypothesis is true.</a:t>
            </a:r>
          </a:p>
          <a:p>
            <a:pPr marL="533400" indent="-533400" eaLnBrk="1" hangingPunct="1">
              <a:buFontTx/>
              <a:buAutoNum type="arabicPeriod" startAt="2"/>
            </a:pPr>
            <a:r>
              <a:rPr lang="en-US" dirty="0" smtClean="0"/>
              <a:t>The null hypothesis (H</a:t>
            </a:r>
            <a:r>
              <a:rPr lang="en-US" baseline="-25000" dirty="0" smtClean="0"/>
              <a:t>0</a:t>
            </a:r>
            <a:r>
              <a:rPr lang="en-US" dirty="0" smtClean="0"/>
              <a:t>) will always state that the </a:t>
            </a:r>
            <a:r>
              <a:rPr lang="en-US" b="1" i="1" dirty="0" smtClean="0">
                <a:solidFill>
                  <a:schemeClr val="accent1">
                    <a:lumMod val="50000"/>
                  </a:schemeClr>
                </a:solidFill>
              </a:rPr>
              <a:t>parameter </a:t>
            </a:r>
            <a:r>
              <a:rPr lang="en-US" b="1" i="1" u="sng" dirty="0" smtClean="0">
                <a:solidFill>
                  <a:schemeClr val="accent1">
                    <a:lumMod val="50000"/>
                  </a:schemeClr>
                </a:solidFill>
              </a:rPr>
              <a:t>equals</a:t>
            </a:r>
            <a:r>
              <a:rPr lang="en-US" b="1" i="1" dirty="0" smtClean="0">
                <a:solidFill>
                  <a:schemeClr val="accent1">
                    <a:lumMod val="50000"/>
                  </a:schemeClr>
                </a:solidFill>
              </a:rPr>
              <a:t> the value</a:t>
            </a:r>
            <a:r>
              <a:rPr lang="en-US" dirty="0" smtClean="0"/>
              <a:t> specified in the alternative hypothesis (H</a:t>
            </a:r>
            <a:r>
              <a:rPr lang="en-US" baseline="-25000" dirty="0" smtClean="0"/>
              <a:t>a</a:t>
            </a:r>
            <a:r>
              <a:rPr lang="en-US" dirty="0" smtClean="0"/>
              <a:t>)</a:t>
            </a:r>
          </a:p>
          <a:p>
            <a:pPr marL="533400" indent="-533400" eaLnBrk="1" hangingPunct="1">
              <a:buFontTx/>
              <a:buAutoNum type="arabicPeriod" startAt="3"/>
            </a:pPr>
            <a:r>
              <a:rPr lang="en-US" dirty="0" smtClean="0"/>
              <a:t>The goal is to determine whether there is enough evidence to infer that the alternative hypothesis is true.</a:t>
            </a:r>
          </a:p>
          <a:p>
            <a:pPr marL="533400" indent="-533400" eaLnBrk="1" hangingPunct="1">
              <a:buFontTx/>
              <a:buAutoNum type="arabicPeriod" startAt="3"/>
            </a:pPr>
            <a:r>
              <a:rPr lang="en-US" dirty="0" smtClean="0"/>
              <a:t>There are two possible decisions:</a:t>
            </a:r>
          </a:p>
          <a:p>
            <a:pPr marL="838200" lvl="1" indent="-381000" eaLnBrk="1" hangingPunct="1"/>
            <a:r>
              <a:rPr lang="en-US" sz="2400" dirty="0" smtClean="0"/>
              <a:t>Conclude that there is enough evidence to support the alternative hypothesis.</a:t>
            </a:r>
          </a:p>
          <a:p>
            <a:pPr marL="838200" lvl="1" indent="-381000" eaLnBrk="1" hangingPunct="1"/>
            <a:r>
              <a:rPr lang="en-US" sz="2400" dirty="0" smtClean="0"/>
              <a:t>Conclude that there is </a:t>
            </a:r>
            <a:r>
              <a:rPr lang="en-US" sz="2400" i="1" dirty="0" smtClean="0"/>
              <a:t>not </a:t>
            </a:r>
            <a:r>
              <a:rPr lang="en-US" sz="2400" dirty="0" smtClean="0"/>
              <a:t>enough evidence to support the alternative hypothesis.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4000" y="1397000"/>
          <a:ext cx="6096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Decision</a:t>
                      </a:r>
                      <a:endParaRPr lang="en-IN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Accept  H</a:t>
                      </a:r>
                      <a:r>
                        <a:rPr lang="en-IN" sz="2400" baseline="-25000" dirty="0" smtClean="0"/>
                        <a:t>0</a:t>
                      </a:r>
                      <a:r>
                        <a:rPr lang="en-IN" sz="2400" dirty="0" smtClean="0"/>
                        <a:t> 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 Reject H</a:t>
                      </a:r>
                      <a:r>
                        <a:rPr lang="en-IN" sz="2400" baseline="-25000" dirty="0" smtClean="0"/>
                        <a:t>0</a:t>
                      </a:r>
                      <a:r>
                        <a:rPr lang="en-IN" sz="2400" dirty="0" smtClean="0"/>
                        <a:t> </a:t>
                      </a:r>
                      <a:endParaRPr lang="en-IN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H</a:t>
                      </a:r>
                      <a:r>
                        <a:rPr lang="en-IN" sz="2400" baseline="-25000" dirty="0" smtClean="0"/>
                        <a:t>0</a:t>
                      </a:r>
                      <a:r>
                        <a:rPr lang="en-IN" sz="2400" dirty="0" smtClean="0"/>
                        <a:t>         (True)</a:t>
                      </a:r>
                      <a:r>
                        <a:rPr lang="en-IN" sz="2400" baseline="-25000" dirty="0" smtClean="0"/>
                        <a:t>                      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Correct Decision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Type I error</a:t>
                      </a:r>
                    </a:p>
                    <a:p>
                      <a:r>
                        <a:rPr lang="en-IN" sz="2400" dirty="0" smtClean="0">
                          <a:sym typeface="Symbol"/>
                        </a:rPr>
                        <a:t>  error</a:t>
                      </a:r>
                      <a:endParaRPr lang="en-IN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H</a:t>
                      </a:r>
                      <a:r>
                        <a:rPr lang="en-IN" sz="2400" baseline="-25000" dirty="0" smtClean="0"/>
                        <a:t>0</a:t>
                      </a:r>
                      <a:r>
                        <a:rPr lang="en-IN" sz="2400" dirty="0" smtClean="0"/>
                        <a:t>        (False)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Type II error</a:t>
                      </a:r>
                    </a:p>
                    <a:p>
                      <a:r>
                        <a:rPr lang="en-IN" sz="2400" dirty="0" smtClean="0">
                          <a:sym typeface="Symbol"/>
                        </a:rPr>
                        <a:t> error</a:t>
                      </a:r>
                      <a:endParaRPr lang="en-IN" sz="2400" dirty="0" smtClean="0"/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Correct Decision</a:t>
                      </a:r>
                      <a:endParaRPr lang="en-IN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90600" y="0"/>
            <a:ext cx="8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+mj-lt"/>
              </a:rPr>
              <a:t>Statement of Hypothesis testing in the context of Statistics</a:t>
            </a:r>
            <a:endParaRPr lang="en-US" sz="2400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7158" y="785794"/>
            <a:ext cx="8501122" cy="15020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IN" sz="2000" dirty="0" smtClean="0">
                <a:latin typeface="Bookman Old Style" pitchFamily="18" charset="0"/>
              </a:rPr>
              <a:t>Generally, in hypothesis testing, one proceeds to collect evidence in support of null hypothesis Ho, on the assumption that the null hypothesis </a:t>
            </a:r>
            <a:r>
              <a:rPr lang="en-US" sz="2000" dirty="0" smtClean="0">
                <a:latin typeface="Bookman Old Style" pitchFamily="18" charset="0"/>
              </a:rPr>
              <a:t>is true. Then, one </a:t>
            </a:r>
            <a:r>
              <a:rPr lang="en-IN" sz="2000" dirty="0" smtClean="0">
                <a:latin typeface="Bookman Old Style" pitchFamily="18" charset="0"/>
              </a:rPr>
              <a:t>can assign the probabilities to different possible results.</a:t>
            </a:r>
            <a:endParaRPr lang="en-US" sz="2000" dirty="0">
              <a:latin typeface="Bookman Old Style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7158" y="2357430"/>
            <a:ext cx="30588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The level of significance.</a:t>
            </a:r>
            <a:r>
              <a:rPr lang="el-GR" b="1" dirty="0" smtClean="0">
                <a:solidFill>
                  <a:srgbClr val="002060"/>
                </a:solidFill>
              </a:rPr>
              <a:t>α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8596" y="2714620"/>
            <a:ext cx="8358246" cy="2938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IN" sz="2000" dirty="0" smtClean="0">
                <a:latin typeface="Bookman Old Style" pitchFamily="18" charset="0"/>
              </a:rPr>
              <a:t>The level of significance is a criterion for judging and deciding a statement of null hypothesis, based on the probability of obtaining a measurement of samples, usually denoted by some percentage. </a:t>
            </a:r>
            <a:r>
              <a:rPr lang="en-US" sz="2000" dirty="0" smtClean="0">
                <a:latin typeface="Bookman Old Style" pitchFamily="18" charset="0"/>
              </a:rPr>
              <a:t>For example, </a:t>
            </a:r>
            <a:r>
              <a:rPr lang="en-IN" sz="2000" dirty="0" smtClean="0">
                <a:latin typeface="Bookman Old Style" pitchFamily="18" charset="0"/>
              </a:rPr>
              <a:t>a significance level at 5% or less implies that H</a:t>
            </a:r>
            <a:r>
              <a:rPr lang="en-IN" sz="2000" baseline="-25000" dirty="0" smtClean="0">
                <a:latin typeface="Bookman Old Style" pitchFamily="18" charset="0"/>
              </a:rPr>
              <a:t>o</a:t>
            </a:r>
            <a:r>
              <a:rPr lang="en-IN" sz="2000" dirty="0" smtClean="0">
                <a:latin typeface="Bookman Old Style" pitchFamily="18" charset="0"/>
              </a:rPr>
              <a:t> when assumed </a:t>
            </a:r>
            <a:r>
              <a:rPr lang="en-US" sz="2000" dirty="0" smtClean="0">
                <a:latin typeface="Bookman Old Style" pitchFamily="18" charset="0"/>
              </a:rPr>
              <a:t>as true, is rejected.</a:t>
            </a:r>
            <a:r>
              <a:rPr lang="en-IN" sz="2000" dirty="0" smtClean="0">
                <a:latin typeface="Bookman Old Style" pitchFamily="18" charset="0"/>
              </a:rPr>
              <a:t> This is because the experimental evidence has a less than 0.05 probability of occurrence. As the significance level is the maximum value of the probability of rejecting H</a:t>
            </a:r>
            <a:r>
              <a:rPr lang="en-IN" sz="2000" baseline="-25000" dirty="0" smtClean="0">
                <a:latin typeface="Bookman Old Style" pitchFamily="18" charset="0"/>
              </a:rPr>
              <a:t>o</a:t>
            </a:r>
            <a:r>
              <a:rPr lang="en-IN" sz="2000" dirty="0" smtClean="0">
                <a:latin typeface="Bookman Old Style" pitchFamily="18" charset="0"/>
              </a:rPr>
              <a:t>, it is set by users </a:t>
            </a:r>
            <a:r>
              <a:rPr lang="en-US" sz="2000" dirty="0" smtClean="0">
                <a:latin typeface="Bookman Old Style" pitchFamily="18" charset="0"/>
              </a:rPr>
              <a:t>in advance</a:t>
            </a:r>
            <a:endParaRPr lang="en-US" sz="2000" dirty="0"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73507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838200"/>
            <a:ext cx="8820150" cy="5400675"/>
          </a:xfrm>
        </p:spPr>
        <p:txBody>
          <a:bodyPr/>
          <a:lstStyle/>
          <a:p>
            <a:r>
              <a:rPr lang="en-IN" b="1" dirty="0" smtClean="0">
                <a:solidFill>
                  <a:srgbClr val="002060"/>
                </a:solidFill>
                <a:latin typeface="Bookman Old Style" pitchFamily="18" charset="0"/>
              </a:rPr>
              <a:t>Decision rule or test of hypothesis</a:t>
            </a:r>
            <a:r>
              <a:rPr lang="en-IN" dirty="0" smtClean="0">
                <a:latin typeface="Bookman Old Style" pitchFamily="18" charset="0"/>
              </a:rPr>
              <a:t>:</a:t>
            </a:r>
          </a:p>
          <a:p>
            <a:pPr>
              <a:lnSpc>
                <a:spcPts val="2800"/>
              </a:lnSpc>
              <a:buNone/>
            </a:pPr>
            <a:r>
              <a:rPr lang="en-IN" dirty="0" smtClean="0">
                <a:latin typeface="Bookman Old Style" pitchFamily="18" charset="0"/>
              </a:rPr>
              <a:t>	</a:t>
            </a:r>
            <a:r>
              <a:rPr lang="en-IN" sz="2000" dirty="0" smtClean="0">
                <a:latin typeface="Bookman Old Style" pitchFamily="18" charset="0"/>
              </a:rPr>
              <a:t>The decision rule is a rule of the test according to which either Ho is accepted or rejected. Acceptance of H</a:t>
            </a:r>
            <a:r>
              <a:rPr lang="en-IN" sz="2000" baseline="-25000" dirty="0" smtClean="0">
                <a:latin typeface="Bookman Old Style" pitchFamily="18" charset="0"/>
              </a:rPr>
              <a:t>o</a:t>
            </a:r>
            <a:r>
              <a:rPr lang="en-IN" sz="2000" dirty="0" smtClean="0">
                <a:latin typeface="Bookman Old Style" pitchFamily="18" charset="0"/>
              </a:rPr>
              <a:t> is the rejection of Ha and rejection of Ho is the acceptance of H</a:t>
            </a:r>
            <a:r>
              <a:rPr lang="en-IN" sz="2000" baseline="-25000" dirty="0" smtClean="0">
                <a:latin typeface="Bookman Old Style" pitchFamily="18" charset="0"/>
              </a:rPr>
              <a:t>a</a:t>
            </a:r>
            <a:r>
              <a:rPr lang="en-IN" sz="2000" dirty="0" smtClean="0">
                <a:latin typeface="Bookman Old Style" pitchFamily="18" charset="0"/>
              </a:rPr>
              <a:t>. In the hypothesis testing, the probability P of obtaining an outcome is considered assuming that the null hypothesis is true. Usually, if the probability of obtaining the parameter is less than 5% when the null hypothesis is true, the decision is to reject the null hypothesis.</a:t>
            </a:r>
            <a:endParaRPr lang="en-US" dirty="0">
              <a:latin typeface="Bookman Old Style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1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635916"/>
            <a:ext cx="9144000" cy="5722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7158" y="838200"/>
            <a:ext cx="8462992" cy="5400675"/>
          </a:xfrm>
        </p:spPr>
        <p:txBody>
          <a:bodyPr/>
          <a:lstStyle/>
          <a:p>
            <a:r>
              <a:rPr lang="en-IN" dirty="0" smtClean="0"/>
              <a:t>A two-tailed test is a hypothesis testing where the null hypothesis is rejected and usually denoted by the symbol ≠.  In a two-tailed test, two rejection regions, one on each tail of the distribution curve, is possible. Symbolically, the two-tailed test is appropriately described by a set of equations given by,</a:t>
            </a:r>
          </a:p>
          <a:p>
            <a:pPr>
              <a:buNone/>
            </a:pPr>
            <a:r>
              <a:rPr lang="en-US" dirty="0" smtClean="0"/>
              <a:t>H</a:t>
            </a:r>
            <a:r>
              <a:rPr lang="en-US" baseline="-25000" dirty="0" smtClean="0"/>
              <a:t>o</a:t>
            </a:r>
            <a:r>
              <a:rPr lang="en-US" dirty="0" smtClean="0"/>
              <a:t> : </a:t>
            </a:r>
            <a:r>
              <a:rPr lang="el-GR" dirty="0" smtClean="0"/>
              <a:t>μ</a:t>
            </a:r>
            <a:r>
              <a:rPr lang="en-US" dirty="0" smtClean="0"/>
              <a:t> = </a:t>
            </a:r>
            <a:r>
              <a:rPr lang="el-GR" dirty="0" smtClean="0"/>
              <a:t>μ </a:t>
            </a:r>
            <a:r>
              <a:rPr lang="en-US" dirty="0" smtClean="0"/>
              <a:t>H</a:t>
            </a:r>
            <a:r>
              <a:rPr lang="en-US" baseline="-25000" dirty="0" smtClean="0"/>
              <a:t>o  </a:t>
            </a:r>
          </a:p>
          <a:p>
            <a:pPr>
              <a:buNone/>
            </a:pPr>
            <a:r>
              <a:rPr lang="en-US" dirty="0" smtClean="0"/>
              <a:t>H</a:t>
            </a:r>
            <a:r>
              <a:rPr lang="en-US" baseline="-25000" dirty="0" smtClean="0"/>
              <a:t>a</a:t>
            </a:r>
            <a:r>
              <a:rPr lang="en-US" dirty="0" smtClean="0"/>
              <a:t> : </a:t>
            </a:r>
            <a:r>
              <a:rPr lang="el-GR" dirty="0" smtClean="0"/>
              <a:t>μ </a:t>
            </a:r>
            <a:r>
              <a:rPr lang="en-IN" dirty="0" smtClean="0"/>
              <a:t>≠ </a:t>
            </a:r>
            <a:r>
              <a:rPr lang="el-GR" dirty="0" smtClean="0"/>
              <a:t>μ</a:t>
            </a:r>
            <a:r>
              <a:rPr lang="en-US" dirty="0" smtClean="0"/>
              <a:t> H</a:t>
            </a:r>
            <a:r>
              <a:rPr lang="en-US" baseline="-25000" dirty="0" smtClean="0"/>
              <a:t>o</a:t>
            </a:r>
          </a:p>
          <a:p>
            <a:pPr>
              <a:buNone/>
            </a:pPr>
            <a:r>
              <a:rPr lang="en-US" dirty="0" smtClean="0"/>
              <a:t>In term of </a:t>
            </a:r>
            <a:r>
              <a:rPr lang="en-IN" dirty="0" smtClean="0"/>
              <a:t>standardised normal distribution, the acceptance region A : |z| ≤  1:96 and rejection region R : |z| ≥  1:96, where </a:t>
            </a:r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428728" y="59272"/>
            <a:ext cx="67533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latin typeface="Bookman Old Style" pitchFamily="18" charset="0"/>
              </a:rPr>
              <a:t>Two-tailed and one-tailed test</a:t>
            </a:r>
          </a:p>
        </p:txBody>
      </p:sp>
      <p:graphicFrame>
        <p:nvGraphicFramePr>
          <p:cNvPr id="222212" name="Object 4"/>
          <p:cNvGraphicFramePr>
            <a:graphicFrameLocks noChangeAspect="1"/>
          </p:cNvGraphicFramePr>
          <p:nvPr/>
        </p:nvGraphicFramePr>
        <p:xfrm>
          <a:off x="3714744" y="4572008"/>
          <a:ext cx="1549400" cy="990600"/>
        </p:xfrm>
        <a:graphic>
          <a:graphicData uri="http://schemas.openxmlformats.org/presentationml/2006/ole">
            <p:oleObj spid="_x0000_s222212" name="Equation" r:id="rId3" imgW="800100" imgH="508000" progId="Equation.3">
              <p:embed/>
            </p:oleObj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2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28728" y="857232"/>
            <a:ext cx="6643733" cy="4163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428596" y="4929198"/>
            <a:ext cx="835824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smtClean="0">
                <a:latin typeface="Bookman Old Style" pitchFamily="18" charset="0"/>
              </a:rPr>
              <a:t>If the significance level is 5% and the two-tailed test is applied, the probability of the rejection area is </a:t>
            </a:r>
            <a:r>
              <a:rPr lang="el-GR" sz="2000" dirty="0" smtClean="0">
                <a:latin typeface="Bookman Old Style" pitchFamily="18" charset="0"/>
              </a:rPr>
              <a:t>α</a:t>
            </a:r>
            <a:r>
              <a:rPr lang="en-US" sz="2000" dirty="0" smtClean="0">
                <a:latin typeface="Bookman Old Style" pitchFamily="18" charset="0"/>
              </a:rPr>
              <a:t>/</a:t>
            </a:r>
            <a:r>
              <a:rPr lang="en-IN" sz="2000" dirty="0" smtClean="0">
                <a:latin typeface="Bookman Old Style" pitchFamily="18" charset="0"/>
              </a:rPr>
              <a:t>2, that is, 0.05 is equally split on both tails of the curve as 0.05/2 = 0.025</a:t>
            </a:r>
            <a:r>
              <a:rPr lang="en-IN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6" y="838200"/>
            <a:ext cx="8501122" cy="5400675"/>
          </a:xfrm>
        </p:spPr>
        <p:txBody>
          <a:bodyPr/>
          <a:lstStyle/>
          <a:p>
            <a:pPr>
              <a:buNone/>
            </a:pPr>
            <a:r>
              <a:rPr lang="en-IN" dirty="0" smtClean="0"/>
              <a:t>The schematic diagram of one-tailed test with a tail in the </a:t>
            </a:r>
            <a:r>
              <a:rPr lang="en-IN" dirty="0" smtClean="0"/>
              <a:t>right hand </a:t>
            </a:r>
            <a:r>
              <a:rPr lang="en-IN" dirty="0" smtClean="0"/>
              <a:t>direction. Similarly the tail can be on the left </a:t>
            </a:r>
            <a:r>
              <a:rPr lang="en-US" dirty="0" smtClean="0"/>
              <a:t>hand direction.</a:t>
            </a:r>
            <a:endParaRPr lang="en-US" dirty="0"/>
          </a:p>
        </p:txBody>
      </p:sp>
      <p:pic>
        <p:nvPicPr>
          <p:cNvPr id="2242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1928802"/>
            <a:ext cx="4929222" cy="426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714480" y="0"/>
            <a:ext cx="5929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Bookman Old Style" pitchFamily="18" charset="0"/>
              </a:rPr>
              <a:t>One tailed test</a:t>
            </a:r>
            <a:endParaRPr lang="en-US" sz="2800" dirty="0">
              <a:latin typeface="Bookman Old Style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714348" y="3896875"/>
            <a:ext cx="79248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577850" indent="-57785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z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z-score = a critical factor representing probability in terms of Standard Deviation (for sampling Standard Error) (valid for normal distribution) (critical value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77850" indent="-577850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577850" indent="-57785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 = t-score = a factor representing probability in terms of standard deviation (or Std. Error) (valid for t distribution) (critical value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77850" indent="-57785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α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(100% - confidence level)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28596" y="3000372"/>
            <a:ext cx="8077200" cy="424732"/>
          </a:xfrm>
          <a:prstGeom prst="rect">
            <a:avLst/>
          </a:prstGeom>
          <a:noFill/>
          <a:ln w="444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2400" dirty="0" smtClean="0">
                <a:latin typeface="Bookman Old Style" pitchFamily="18" charset="0"/>
                <a:cs typeface="Times New Roman" pitchFamily="18" charset="0"/>
              </a:rPr>
              <a:t>Parametric tests : z or t test or chi-test</a:t>
            </a:r>
            <a:endParaRPr lang="en-US" sz="3200" dirty="0">
              <a:solidFill>
                <a:srgbClr val="FF0000"/>
              </a:solidFill>
              <a:latin typeface="Bookman Old Style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0034" y="785794"/>
            <a:ext cx="8358246" cy="2220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IN" sz="2000" dirty="0" smtClean="0">
                <a:latin typeface="Bookman Old Style" pitchFamily="18" charset="0"/>
              </a:rPr>
              <a:t>In parametric statistics, the information about the distribution of the population is known and is based on a fixed set of parameters. In nonparametric statistics, the information about the distribution of a population is unknown, and the parameters are not fixed, which makes is necessary to test the hypothesis for the population</a:t>
            </a:r>
            <a:r>
              <a:rPr lang="en-IN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1143000"/>
          </a:xfrm>
          <a:ln/>
        </p:spPr>
        <p:txBody>
          <a:bodyPr/>
          <a:lstStyle/>
          <a:p>
            <a:r>
              <a:rPr lang="en-US" dirty="0"/>
              <a:t>Z-score</a:t>
            </a:r>
            <a:endParaRPr lang="en-US" sz="4000" dirty="0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229600" cy="4525963"/>
          </a:xfrm>
        </p:spPr>
        <p:txBody>
          <a:bodyPr/>
          <a:lstStyle/>
          <a:p>
            <a:pPr marL="52388" indent="466725" algn="just">
              <a:buFontTx/>
              <a:buNone/>
            </a:pPr>
            <a:r>
              <a:rPr lang="en-US" dirty="0"/>
              <a:t>A </a:t>
            </a:r>
            <a:r>
              <a:rPr lang="en-US" b="1" u="sng" dirty="0">
                <a:solidFill>
                  <a:schemeClr val="tx2"/>
                </a:solidFill>
              </a:rPr>
              <a:t>z-score</a:t>
            </a:r>
            <a:r>
              <a:rPr lang="en-US" dirty="0"/>
              <a:t> is a critical factor, indicating how many standard deviation (standard error for sampling) away from the mean a value should be to observe a </a:t>
            </a:r>
            <a:r>
              <a:rPr lang="en-US" b="1" dirty="0">
                <a:solidFill>
                  <a:schemeClr val="accent2"/>
                </a:solidFill>
              </a:rPr>
              <a:t>particular</a:t>
            </a:r>
            <a:r>
              <a:rPr lang="en-US" b="1" dirty="0">
                <a:solidFill>
                  <a:srgbClr val="000066"/>
                </a:solidFill>
              </a:rPr>
              <a:t> </a:t>
            </a:r>
            <a:r>
              <a:rPr lang="en-US" dirty="0"/>
              <a:t>(cumulative) probability.</a:t>
            </a:r>
          </a:p>
          <a:p>
            <a:pPr marL="52388" indent="466725" algn="just">
              <a:buFontTx/>
              <a:buNone/>
            </a:pPr>
            <a:r>
              <a:rPr lang="en-US" dirty="0" smtClean="0"/>
              <a:t>There </a:t>
            </a:r>
            <a:r>
              <a:rPr lang="en-US" dirty="0"/>
              <a:t>is a relationship between z-score and the value of the random variable over </a:t>
            </a:r>
            <a:endParaRPr lang="en-US" dirty="0" smtClean="0"/>
          </a:p>
          <a:p>
            <a:pPr marL="52388" indent="466725"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Since the </a:t>
            </a: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z-score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8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measure of distance from the mean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terms of Standard Deviation (Standard Error for sampling), it provides us with information that a cumulative probability could not. For example, the larger </a:t>
            </a:r>
            <a:r>
              <a:rPr lang="en-US" sz="2800" b="1" u="sng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z-score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unusual is the observation. </a:t>
            </a:r>
          </a:p>
          <a:p>
            <a:pPr marL="52388" indent="466725" algn="just">
              <a:buFontTx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143000" y="0"/>
            <a:ext cx="7010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dirty="0" smtClean="0">
                <a:latin typeface="+mj-lt"/>
              </a:rPr>
              <a:t>Z- Score: General definition</a:t>
            </a:r>
            <a:endParaRPr lang="en-US" sz="2800" dirty="0">
              <a:latin typeface="+mj-lt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F2D74FB-8EB9-4DEE-8258-980F8375AF4A}" type="slidenum">
              <a:rPr lang="en-IN" smtClean="0"/>
              <a:pPr/>
              <a:t>18</a:t>
            </a:fld>
            <a:endParaRPr lang="en-IN" dirty="0"/>
          </a:p>
        </p:txBody>
      </p:sp>
      <p:grpSp>
        <p:nvGrpSpPr>
          <p:cNvPr id="2" name="Group 27"/>
          <p:cNvGrpSpPr/>
          <p:nvPr/>
        </p:nvGrpSpPr>
        <p:grpSpPr>
          <a:xfrm>
            <a:off x="533400" y="990600"/>
            <a:ext cx="8610600" cy="3009905"/>
            <a:chOff x="533400" y="990600"/>
            <a:chExt cx="8610600" cy="3009905"/>
          </a:xfrm>
        </p:grpSpPr>
        <p:sp>
          <p:nvSpPr>
            <p:cNvPr id="19459" name="Text Box 3"/>
            <p:cNvSpPr txBox="1">
              <a:spLocks noChangeArrowheads="1"/>
            </p:cNvSpPr>
            <p:nvPr/>
          </p:nvSpPr>
          <p:spPr bwMode="auto">
            <a:xfrm>
              <a:off x="533400" y="990600"/>
              <a:ext cx="830580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+mj-lt"/>
                </a:rPr>
                <a:t>A </a:t>
              </a:r>
              <a:r>
                <a:rPr lang="en-US" sz="2400" dirty="0" smtClean="0">
                  <a:latin typeface="+mj-lt"/>
                </a:rPr>
                <a:t> z-score </a:t>
              </a:r>
              <a:r>
                <a:rPr lang="en-US" sz="2400" dirty="0">
                  <a:latin typeface="+mj-lt"/>
                </a:rPr>
                <a:t>is the number of standard deviations that a raw </a:t>
              </a:r>
              <a:r>
                <a:rPr lang="en-US" sz="2400" dirty="0" smtClean="0">
                  <a:latin typeface="+mj-lt"/>
                </a:rPr>
                <a:t>score </a:t>
              </a:r>
              <a:r>
                <a:rPr lang="en-US" sz="2400" dirty="0">
                  <a:latin typeface="+mj-lt"/>
                </a:rPr>
                <a:t>x, is above or below the </a:t>
              </a:r>
              <a:r>
                <a:rPr lang="en-US" sz="2400" dirty="0" smtClean="0">
                  <a:latin typeface="+mj-lt"/>
                </a:rPr>
                <a:t>mean </a:t>
              </a:r>
              <a:r>
                <a:rPr lang="en-US" sz="2400" dirty="0" smtClean="0"/>
                <a:t>.</a:t>
              </a:r>
              <a:endParaRPr lang="en-US" sz="2400" dirty="0"/>
            </a:p>
          </p:txBody>
        </p:sp>
        <p:sp>
          <p:nvSpPr>
            <p:cNvPr id="19460" name="Text Box 4"/>
            <p:cNvSpPr txBox="1">
              <a:spLocks noChangeArrowheads="1"/>
            </p:cNvSpPr>
            <p:nvPr/>
          </p:nvSpPr>
          <p:spPr bwMode="auto">
            <a:xfrm>
              <a:off x="533400" y="1905000"/>
              <a:ext cx="861060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+mj-lt"/>
                </a:rPr>
                <a:t>A raw score x taken from a population is converted to a standardized </a:t>
              </a:r>
              <a:r>
                <a:rPr lang="en-US" sz="2400" i="1" dirty="0" smtClean="0">
                  <a:latin typeface="+mj-lt"/>
                </a:rPr>
                <a:t>z</a:t>
              </a:r>
              <a:r>
                <a:rPr lang="en-US" sz="2400" dirty="0" smtClean="0">
                  <a:latin typeface="+mj-lt"/>
                </a:rPr>
                <a:t>-score </a:t>
              </a:r>
              <a:r>
                <a:rPr lang="en-US" sz="2400" dirty="0">
                  <a:latin typeface="+mj-lt"/>
                </a:rPr>
                <a:t>by the formula</a:t>
              </a:r>
            </a:p>
          </p:txBody>
        </p:sp>
        <p:graphicFrame>
          <p:nvGraphicFramePr>
            <p:cNvPr id="8" name="Object 7"/>
            <p:cNvGraphicFramePr>
              <a:graphicFrameLocks noChangeAspect="1"/>
            </p:cNvGraphicFramePr>
            <p:nvPr/>
          </p:nvGraphicFramePr>
          <p:xfrm>
            <a:off x="3286117" y="2571745"/>
            <a:ext cx="1799180" cy="1428760"/>
          </p:xfrm>
          <a:graphic>
            <a:graphicData uri="http://schemas.openxmlformats.org/presentationml/2006/ole">
              <p:oleObj spid="_x0000_s175107" name="Equation" r:id="rId3" imgW="1117440" imgH="88884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47800" y="0"/>
            <a:ext cx="655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>
                <a:latin typeface="+mj-lt"/>
              </a:rPr>
              <a:t>Hypothesis test of </a:t>
            </a:r>
            <a:r>
              <a:rPr lang="en-GB" sz="2800" dirty="0" smtClean="0">
                <a:latin typeface="+mj-lt"/>
              </a:rPr>
              <a:t>mean</a:t>
            </a:r>
            <a:r>
              <a:rPr lang="en-GB" sz="2400" dirty="0" smtClean="0">
                <a:latin typeface="+mj-lt"/>
              </a:rPr>
              <a:t>: Procedure</a:t>
            </a:r>
            <a:endParaRPr lang="en-GB" sz="2400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838200"/>
            <a:ext cx="845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+mj-lt"/>
              </a:rPr>
              <a:t>(1) Population normal, population infinite, sample size may be large or small but variance of population is known,   H</a:t>
            </a:r>
            <a:r>
              <a:rPr lang="en-GB" sz="2400" baseline="-25000" dirty="0" smtClean="0">
                <a:latin typeface="+mj-lt"/>
              </a:rPr>
              <a:t>a</a:t>
            </a:r>
            <a:r>
              <a:rPr lang="en-GB" sz="2400" dirty="0" smtClean="0">
                <a:latin typeface="+mj-lt"/>
              </a:rPr>
              <a:t> may be one sided or two sided. In such situation z-test is used as,</a:t>
            </a:r>
            <a:endParaRPr lang="en-GB" sz="2400" dirty="0">
              <a:latin typeface="+mj-lt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114799" y="2133600"/>
          <a:ext cx="1560195" cy="990600"/>
        </p:xfrm>
        <a:graphic>
          <a:graphicData uri="http://schemas.openxmlformats.org/presentationml/2006/ole">
            <p:oleObj spid="_x0000_s176133" name="Equation" r:id="rId3" imgW="800100" imgH="508000" progId="Equation.3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1000" y="3124200"/>
            <a:ext cx="845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+mj-lt"/>
              </a:rPr>
              <a:t>(2) Population normal, population finite, sample size may be large or small but variance of population is known,   H</a:t>
            </a:r>
            <a:r>
              <a:rPr lang="en-GB" sz="2400" baseline="-25000" dirty="0" smtClean="0">
                <a:latin typeface="+mj-lt"/>
              </a:rPr>
              <a:t>a</a:t>
            </a:r>
            <a:r>
              <a:rPr lang="en-GB" sz="2400" dirty="0" smtClean="0">
                <a:latin typeface="+mj-lt"/>
              </a:rPr>
              <a:t> may be one sided or two sided. In such situation z-test is used as,</a:t>
            </a:r>
            <a:endParaRPr lang="en-GB" sz="2400" dirty="0">
              <a:latin typeface="+mj-lt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643042" y="4324350"/>
          <a:ext cx="5941876" cy="890600"/>
        </p:xfrm>
        <a:graphic>
          <a:graphicData uri="http://schemas.openxmlformats.org/presentationml/2006/ole">
            <p:oleObj spid="_x0000_s176134" name="Equation" r:id="rId4" imgW="3136900" imgH="469900" progId="Equation.3">
              <p:embed/>
            </p:oleObj>
          </a:graphicData>
        </a:graphic>
      </p:graphicFrame>
      <p:graphicFrame>
        <p:nvGraphicFramePr>
          <p:cNvPr id="176132" name="Object 4"/>
          <p:cNvGraphicFramePr>
            <a:graphicFrameLocks noChangeAspect="1"/>
          </p:cNvGraphicFramePr>
          <p:nvPr/>
        </p:nvGraphicFramePr>
        <p:xfrm>
          <a:off x="2667000" y="5257800"/>
          <a:ext cx="3740150" cy="990600"/>
        </p:xfrm>
        <a:graphic>
          <a:graphicData uri="http://schemas.openxmlformats.org/presentationml/2006/ole">
            <p:oleObj spid="_x0000_s176135" name="Equation" r:id="rId5" imgW="1917700" imgH="508000" progId="Equation.3">
              <p:embed/>
            </p:oleObj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" y="762000"/>
            <a:ext cx="845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+mj-lt"/>
              </a:rPr>
              <a:t>(3) Population normal, population infinite, sample size small but variance of population is unknown,   H</a:t>
            </a:r>
            <a:r>
              <a:rPr lang="en-GB" sz="2400" baseline="-25000" dirty="0" smtClean="0">
                <a:latin typeface="+mj-lt"/>
              </a:rPr>
              <a:t>a</a:t>
            </a:r>
            <a:r>
              <a:rPr lang="en-GB" sz="2400" dirty="0" smtClean="0">
                <a:latin typeface="+mj-lt"/>
              </a:rPr>
              <a:t> may be one sided or two sided. In such situation t-test is used as,</a:t>
            </a:r>
            <a:endParaRPr lang="en-GB" sz="2400" dirty="0">
              <a:latin typeface="+mj-lt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590800" y="1981200"/>
          <a:ext cx="3962400" cy="936625"/>
        </p:xfrm>
        <a:graphic>
          <a:graphicData uri="http://schemas.openxmlformats.org/presentationml/2006/ole">
            <p:oleObj spid="_x0000_s177156" name="Equation" r:id="rId3" imgW="2311400" imgH="546100" progId="Equation.3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" y="3048000"/>
            <a:ext cx="8458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+mj-lt"/>
              </a:rPr>
              <a:t>(4) Population normal, population finite, sample size small but variance of population is unknown,   H</a:t>
            </a:r>
            <a:r>
              <a:rPr lang="en-GB" sz="2400" baseline="-25000" dirty="0" smtClean="0">
                <a:latin typeface="+mj-lt"/>
              </a:rPr>
              <a:t>a</a:t>
            </a:r>
            <a:r>
              <a:rPr lang="en-GB" sz="2400" dirty="0" smtClean="0">
                <a:latin typeface="+mj-lt"/>
              </a:rPr>
              <a:t> may be one sided or two sided. In such situation t-test is used  with a finite population multiplier</a:t>
            </a:r>
            <a:endParaRPr lang="en-GB" sz="2400" dirty="0">
              <a:latin typeface="+mj-lt"/>
            </a:endParaRPr>
          </a:p>
        </p:txBody>
      </p:sp>
      <p:graphicFrame>
        <p:nvGraphicFramePr>
          <p:cNvPr id="177155" name="Object 3"/>
          <p:cNvGraphicFramePr>
            <a:graphicFrameLocks noChangeAspect="1"/>
          </p:cNvGraphicFramePr>
          <p:nvPr/>
        </p:nvGraphicFramePr>
        <p:xfrm>
          <a:off x="2743200" y="4876800"/>
          <a:ext cx="3352800" cy="892175"/>
        </p:xfrm>
        <a:graphic>
          <a:graphicData uri="http://schemas.openxmlformats.org/presentationml/2006/ole">
            <p:oleObj spid="_x0000_s177157" name="Equation" r:id="rId4" imgW="1955800" imgH="520700" progId="Equation.3">
              <p:embed/>
            </p:oleObj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1066800"/>
            <a:ext cx="8458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+mj-lt"/>
              </a:rPr>
              <a:t>(5) Population  is not normal, sample size large but variance of population is unknown or known,   H</a:t>
            </a:r>
            <a:r>
              <a:rPr lang="en-GB" sz="2400" baseline="-25000" dirty="0" smtClean="0">
                <a:latin typeface="+mj-lt"/>
              </a:rPr>
              <a:t>a</a:t>
            </a:r>
            <a:r>
              <a:rPr lang="en-GB" sz="2400" dirty="0" smtClean="0">
                <a:latin typeface="+mj-lt"/>
              </a:rPr>
              <a:t> may be one sided or two sided. In such situation z-test is used as, ( can be corrected with the population multiplier if population is finite as in (2))</a:t>
            </a:r>
            <a:endParaRPr lang="en-GB" sz="2400" dirty="0">
              <a:latin typeface="+mj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83820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+mj-lt"/>
              </a:rPr>
              <a:t>Mean height of 400 students=67.47 inch. Can it be regarded as a sample of large population with mean 67.39 inch with standard deviation 1.30 inch? Test at 5% significance level.</a:t>
            </a:r>
            <a:endParaRPr lang="en-GB" sz="2400" dirty="0">
              <a:latin typeface="+mj-lt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514600" y="2133600"/>
          <a:ext cx="1997242" cy="914400"/>
        </p:xfrm>
        <a:graphic>
          <a:graphicData uri="http://schemas.openxmlformats.org/presentationml/2006/ole">
            <p:oleObj spid="_x0000_s178181" name="Equation" r:id="rId3" imgW="1054100" imgH="482600" progId="Equation.3">
              <p:embed/>
            </p:oleObj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0" y="3124200"/>
          <a:ext cx="3479800" cy="533400"/>
        </p:xfrm>
        <a:graphic>
          <a:graphicData uri="http://schemas.openxmlformats.org/presentationml/2006/ole">
            <p:oleObj spid="_x0000_s178182" name="Equation" r:id="rId4" imgW="1739900" imgH="266700" progId="Equation.3">
              <p:embed/>
            </p:oleObj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038600" y="312420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+mj-lt"/>
              </a:rPr>
              <a:t>Calculate </a:t>
            </a:r>
            <a:r>
              <a:rPr lang="en-GB" sz="2400" i="1" dirty="0" smtClean="0">
                <a:latin typeface="+mj-lt"/>
              </a:rPr>
              <a:t>z</a:t>
            </a:r>
            <a:endParaRPr lang="en-GB" sz="2400" i="1" dirty="0"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19799" y="2971800"/>
          <a:ext cx="2717801" cy="838200"/>
        </p:xfrm>
        <a:graphic>
          <a:graphicData uri="http://schemas.openxmlformats.org/presentationml/2006/ole">
            <p:oleObj spid="_x0000_s178183" name="Equation" r:id="rId5" imgW="1358900" imgH="419100" progId="Equation.3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28600" y="3886200"/>
            <a:ext cx="8915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+mj-lt"/>
              </a:rPr>
              <a:t>For normal distribution, Rejection regions at 5% level of significance</a:t>
            </a:r>
          </a:p>
          <a:p>
            <a:r>
              <a:rPr lang="en-GB" sz="2400" dirty="0" smtClean="0">
                <a:latin typeface="+mj-lt"/>
              </a:rPr>
              <a:t>R:z = 1.96 (given). As the observed value of 1.231 is less than 1.96, H</a:t>
            </a:r>
            <a:r>
              <a:rPr lang="en-GB" sz="2400" baseline="-25000" dirty="0" smtClean="0">
                <a:latin typeface="+mj-lt"/>
              </a:rPr>
              <a:t>0</a:t>
            </a:r>
            <a:r>
              <a:rPr lang="en-GB" sz="2400" dirty="0" smtClean="0">
                <a:latin typeface="+mj-lt"/>
              </a:rPr>
              <a:t> is accepted.</a:t>
            </a:r>
            <a:endParaRPr lang="en-GB" sz="2400" dirty="0">
              <a:latin typeface="+mj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762000"/>
            <a:ext cx="8763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A tea stall has sales average 500 cups/day. Now a bus stand has come up nearby and sales for next 12 days are 550,570,490,615,505,580,570,460,600,580,530,526.</a:t>
            </a:r>
          </a:p>
          <a:p>
            <a:r>
              <a:rPr lang="en-US" sz="2000" dirty="0" smtClean="0">
                <a:latin typeface="+mj-lt"/>
              </a:rPr>
              <a:t>Can we conclude that the sales have increased. Given 5% significance level, REJECTION R:t&gt;1.79 </a:t>
            </a:r>
            <a:endParaRPr lang="en-IN" sz="2000" dirty="0">
              <a:latin typeface="+mj-lt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057400" y="1981200"/>
          <a:ext cx="1422400" cy="457200"/>
        </p:xfrm>
        <a:graphic>
          <a:graphicData uri="http://schemas.openxmlformats.org/presentationml/2006/ole">
            <p:oleObj spid="_x0000_s179208" name="Equation" r:id="rId3" imgW="711200" imgH="228600" progId="Equation.3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600" y="1981200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Null hypothesis</a:t>
            </a:r>
            <a:endParaRPr lang="en-IN" sz="2000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86200" y="1981200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Alternate hypothesis</a:t>
            </a:r>
            <a:endParaRPr lang="en-IN" sz="2000" dirty="0">
              <a:latin typeface="+mj-lt"/>
            </a:endParaRPr>
          </a:p>
        </p:txBody>
      </p:sp>
      <p:graphicFrame>
        <p:nvGraphicFramePr>
          <p:cNvPr id="179203" name="Object 3"/>
          <p:cNvGraphicFramePr>
            <a:graphicFrameLocks noChangeAspect="1"/>
          </p:cNvGraphicFramePr>
          <p:nvPr/>
        </p:nvGraphicFramePr>
        <p:xfrm>
          <a:off x="6172200" y="1981200"/>
          <a:ext cx="1422400" cy="457200"/>
        </p:xfrm>
        <a:graphic>
          <a:graphicData uri="http://schemas.openxmlformats.org/presentationml/2006/ole">
            <p:oleObj spid="_x0000_s179209" name="Equation" r:id="rId4" imgW="711200" imgH="228600" progId="Equation.3">
              <p:embed/>
            </p:oleObj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28600" y="2438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Population standard deviation is not known and the sample size is small, therefore we apply t –test.</a:t>
            </a:r>
            <a:endParaRPr lang="en-IN" sz="2000" dirty="0"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533400" y="3200400"/>
          <a:ext cx="1383957" cy="914400"/>
        </p:xfrm>
        <a:graphic>
          <a:graphicData uri="http://schemas.openxmlformats.org/presentationml/2006/ole">
            <p:oleObj spid="_x0000_s179210" name="Equation" r:id="rId5" imgW="710891" imgH="469696" progId="Equation.3">
              <p:embed/>
            </p:oleObj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286000" y="3276600"/>
          <a:ext cx="2577353" cy="762000"/>
        </p:xfrm>
        <a:graphic>
          <a:graphicData uri="http://schemas.openxmlformats.org/presentationml/2006/ole">
            <p:oleObj spid="_x0000_s179211" name="Equation" r:id="rId6" imgW="1459866" imgH="431613" progId="Equation.3">
              <p:embed/>
            </p:oleObj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5181600" y="3124200"/>
          <a:ext cx="3692072" cy="838200"/>
        </p:xfrm>
        <a:graphic>
          <a:graphicData uri="http://schemas.openxmlformats.org/presentationml/2006/ole">
            <p:oleObj spid="_x0000_s179212" name="Equation" r:id="rId7" imgW="2349500" imgH="533400" progId="Equation.3">
              <p:embed/>
            </p:oleObj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304800" y="4343400"/>
          <a:ext cx="2446338" cy="747713"/>
        </p:xfrm>
        <a:graphic>
          <a:graphicData uri="http://schemas.openxmlformats.org/presentationml/2006/ole">
            <p:oleObj spid="_x0000_s179213" name="Equation" r:id="rId8" imgW="1371600" imgH="419100" progId="Equation.3">
              <p:embed/>
            </p:oleObj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81000" y="5334000"/>
            <a:ext cx="807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Therefore at t=3.55, H</a:t>
            </a:r>
            <a:r>
              <a:rPr lang="en-US" sz="2000" baseline="-25000" dirty="0" smtClean="0">
                <a:latin typeface="+mj-lt"/>
              </a:rPr>
              <a:t>0</a:t>
            </a:r>
            <a:r>
              <a:rPr lang="en-US" sz="2000" dirty="0" smtClean="0">
                <a:latin typeface="+mj-lt"/>
              </a:rPr>
              <a:t> is rejected and  H</a:t>
            </a:r>
            <a:r>
              <a:rPr lang="en-US" sz="2000" baseline="-25000" dirty="0" smtClean="0">
                <a:latin typeface="+mj-lt"/>
              </a:rPr>
              <a:t>a</a:t>
            </a:r>
            <a:r>
              <a:rPr lang="en-US" sz="2000" dirty="0" smtClean="0">
                <a:latin typeface="+mj-lt"/>
              </a:rPr>
              <a:t> stands or the sales have increased</a:t>
            </a:r>
            <a:endParaRPr lang="en-IN" sz="2000" dirty="0">
              <a:latin typeface="+mj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Hypothesis testing for difference between means</a:t>
            </a:r>
          </a:p>
          <a:p>
            <a:pPr>
              <a:buNone/>
            </a:pPr>
            <a:r>
              <a:rPr lang="en-US" dirty="0" smtClean="0"/>
              <a:t>Applied to know whether two populations are alike or not (example: whether female workers earn less than men worker?</a:t>
            </a:r>
          </a:p>
          <a:p>
            <a:pPr>
              <a:buNone/>
            </a:pPr>
            <a:r>
              <a:rPr lang="en-US" dirty="0" smtClean="0"/>
              <a:t>Case 1: Population variances are known or sample are large</a:t>
            </a:r>
          </a:p>
          <a:p>
            <a:pPr>
              <a:buNone/>
            </a:pPr>
            <a:endParaRPr lang="en-IN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3276600" y="2819400"/>
          <a:ext cx="2329841" cy="1828800"/>
        </p:xfrm>
        <a:graphic>
          <a:graphicData uri="http://schemas.openxmlformats.org/presentationml/2006/ole">
            <p:oleObj spid="_x0000_s211970" name="Equation" r:id="rId3" imgW="1181100" imgH="927100" progId="Equation.3">
              <p:embed/>
            </p:oleObj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0100" y="0"/>
            <a:ext cx="7929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Hypothesis testing of proportion</a:t>
            </a:r>
            <a:endParaRPr lang="en-US" sz="2400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857232"/>
            <a:ext cx="8501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Sampling distribution takes the form of binomial probability distribution whose mean is </a:t>
            </a:r>
            <a:r>
              <a:rPr lang="en-US" sz="2000" i="1" dirty="0" err="1" smtClean="0">
                <a:latin typeface="+mj-lt"/>
              </a:rPr>
              <a:t>n.p</a:t>
            </a:r>
            <a:r>
              <a:rPr lang="en-US" sz="2000" i="1" dirty="0" smtClean="0">
                <a:latin typeface="+mj-lt"/>
              </a:rPr>
              <a:t> </a:t>
            </a:r>
            <a:r>
              <a:rPr lang="en-US" sz="2000" dirty="0" smtClean="0">
                <a:latin typeface="+mj-lt"/>
              </a:rPr>
              <a:t>and standard deviation is </a:t>
            </a:r>
            <a:endParaRPr lang="en-US" sz="2000" dirty="0">
              <a:latin typeface="+mj-lt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357686" y="1214422"/>
          <a:ext cx="609600" cy="304800"/>
        </p:xfrm>
        <a:graphic>
          <a:graphicData uri="http://schemas.openxmlformats.org/presentationml/2006/ole">
            <p:oleObj spid="_x0000_s215042" name="Equation" r:id="rId3" imgW="609480" imgH="304560" progId="Equation.3">
              <p:embed/>
            </p:oleObj>
          </a:graphicData>
        </a:graphic>
      </p:graphicFrame>
      <p:pic>
        <p:nvPicPr>
          <p:cNvPr id="215045" name="Picture 5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" y="1714488"/>
            <a:ext cx="9020528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66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42844" y="837749"/>
            <a:ext cx="9001155" cy="5500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0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785794"/>
            <a:ext cx="9143999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428728" y="71414"/>
            <a:ext cx="6000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Bookman Old Style" pitchFamily="18" charset="0"/>
              </a:rPr>
              <a:t>Chi square test</a:t>
            </a:r>
            <a:endParaRPr lang="en-US" sz="2800" dirty="0">
              <a:latin typeface="Bookman Old Style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114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666780"/>
            <a:ext cx="9144000" cy="5834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7224" y="0"/>
            <a:ext cx="8286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+mj-lt"/>
              </a:rPr>
              <a:t>chi square non </a:t>
            </a:r>
            <a:r>
              <a:rPr lang="en-US" sz="3200" smtClean="0">
                <a:latin typeface="+mj-lt"/>
              </a:rPr>
              <a:t>parametric test</a:t>
            </a:r>
            <a:endParaRPr lang="en-US" sz="3200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458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A die is thrown 60 time with the following results</a:t>
            </a:r>
            <a:endParaRPr lang="en-US" sz="2000" dirty="0">
              <a:latin typeface="+mj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066800"/>
          <a:ext cx="746760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081"/>
                <a:gridCol w="885217"/>
                <a:gridCol w="885217"/>
                <a:gridCol w="885217"/>
                <a:gridCol w="885217"/>
                <a:gridCol w="885217"/>
                <a:gridCol w="885217"/>
                <a:gridCol w="88521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Face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6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8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12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60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1828800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Are the data consistent with the hypothesis that the die is unbiased?</a:t>
            </a:r>
          </a:p>
          <a:p>
            <a:r>
              <a:rPr lang="en-US" sz="2000" dirty="0" smtClean="0">
                <a:latin typeface="+mj-lt"/>
              </a:rPr>
              <a:t>Given for 5 degree of freedom at 1% confidence level, </a:t>
            </a:r>
            <a:endParaRPr lang="en-US" sz="2000" dirty="0">
              <a:latin typeface="+mj-lt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943600" y="2057400"/>
          <a:ext cx="1461053" cy="533400"/>
        </p:xfrm>
        <a:graphic>
          <a:graphicData uri="http://schemas.openxmlformats.org/presentationml/2006/ole">
            <p:oleObj spid="_x0000_s210949" name="Equation" r:id="rId3" imgW="622030" imgH="291973" progId="Equation.3">
              <p:embed/>
            </p:oleObj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04800" y="2590800"/>
            <a:ext cx="815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Null hypothesis is “die is unbiased”. Then the probability of each face is 1/6, and the expected frequencies is 60x1/6= 10 each. </a:t>
            </a:r>
            <a:endParaRPr lang="en-US" sz="2000" dirty="0">
              <a:latin typeface="+mj-lt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3400" y="3276600"/>
          <a:ext cx="74676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081"/>
                <a:gridCol w="885217"/>
                <a:gridCol w="885217"/>
                <a:gridCol w="885217"/>
                <a:gridCol w="885217"/>
                <a:gridCol w="885217"/>
                <a:gridCol w="885217"/>
                <a:gridCol w="88521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Expected frequency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Observed Frequency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60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16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685800" y="4572000"/>
          <a:ext cx="914400" cy="426720"/>
        </p:xfrm>
        <a:graphic>
          <a:graphicData uri="http://schemas.openxmlformats.org/presentationml/2006/ole">
            <p:oleObj spid="_x0000_s210950" name="Equation" r:id="rId4" imgW="571252" imgH="266584" progId="Equation.3">
              <p:embed/>
            </p:oleObj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685800" y="4953000"/>
          <a:ext cx="4191000" cy="609600"/>
        </p:xfrm>
        <a:graphic>
          <a:graphicData uri="http://schemas.openxmlformats.org/presentationml/2006/ole">
            <p:oleObj spid="_x0000_s210951" name="Equation" r:id="rId5" imgW="1790700" imgH="393700" progId="Equation.3">
              <p:embed/>
            </p:oleObj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04800" y="5534561"/>
            <a:ext cx="8686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Since the observed data 3.4 is less than given value 15.09 at ( 0.01 for 5 degree of freedom) we cannot reject the null hypothesis at 1% level of significant. So the conclusion is that the data is in agreement with the hypothesis of a unbiased die </a:t>
            </a:r>
            <a:endParaRPr lang="en-US" sz="2000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19530</TotalTime>
  <Words>1712</Words>
  <Application>Microsoft Office PowerPoint</Application>
  <PresentationFormat>On-screen Show (4:3)</PresentationFormat>
  <Paragraphs>159</Paragraphs>
  <Slides>29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1" baseType="lpstr">
      <vt:lpstr>1_Default Design</vt:lpstr>
      <vt:lpstr>Equation</vt:lpstr>
      <vt:lpstr>Slide 1</vt:lpstr>
      <vt:lpstr>Slide 2</vt:lpstr>
      <vt:lpstr>Non statistical Hypothesis Testing…</vt:lpstr>
      <vt:lpstr>Non statistical Hypothesis Testing…</vt:lpstr>
      <vt:lpstr>Slide 5</vt:lpstr>
      <vt:lpstr>Non statistical Hypothesis Testing…</vt:lpstr>
      <vt:lpstr>Slide 7</vt:lpstr>
      <vt:lpstr>Non statistical Hypothesis Testing…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Z-score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MIT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Descriptive Statistics</dc:title>
  <dc:creator>A K Datta</dc:creator>
  <cp:lastModifiedBy>Asit Datta</cp:lastModifiedBy>
  <cp:revision>350</cp:revision>
  <dcterms:created xsi:type="dcterms:W3CDTF">2001-02-22T14:35:59Z</dcterms:created>
  <dcterms:modified xsi:type="dcterms:W3CDTF">2023-12-27T03:24:36Z</dcterms:modified>
</cp:coreProperties>
</file>