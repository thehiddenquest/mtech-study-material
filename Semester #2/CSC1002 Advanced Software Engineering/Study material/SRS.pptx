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8"/>
  </p:notesMasterIdLst>
  <p:sldIdLst>
    <p:sldId id="256" r:id="rId2"/>
    <p:sldId id="257" r:id="rId3"/>
    <p:sldId id="258" r:id="rId4"/>
    <p:sldId id="259" r:id="rId5"/>
    <p:sldId id="260" r:id="rId6"/>
    <p:sldId id="261" r:id="rId7"/>
    <p:sldId id="262" r:id="rId8"/>
    <p:sldId id="263" r:id="rId9"/>
    <p:sldId id="338"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E4A61C-6C37-43E9-8576-B6A9ABAFFB9E}">
  <a:tblStyle styleId="{97E4A61C-6C37-43E9-8576-B6A9ABAFFB9E}" styleName="Table_0">
    <a:wholeTbl>
      <a:tcTxStyle b="off" i="off">
        <a:font>
          <a:latin typeface="Calibri"/>
          <a:ea typeface="Calibri"/>
          <a:cs typeface="Calibri"/>
        </a:font>
        <a:schemeClr val="dk1"/>
      </a:tcTxStyle>
      <a:tcStyle>
        <a:tcBdr>
          <a:left>
            <a:ln w="12700" cap="flat" cmpd="sng">
              <a:solidFill>
                <a:schemeClr val="accent1"/>
              </a:solidFill>
              <a:prstDash val="solid"/>
              <a:round/>
              <a:headEnd type="none" w="sm" len="sm"/>
              <a:tailEnd type="none" w="sm" len="sm"/>
            </a:ln>
          </a:left>
          <a:right>
            <a:ln w="12700" cap="flat" cmpd="sng">
              <a:solidFill>
                <a:schemeClr val="accent1"/>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12700" cap="flat" cmpd="sng">
              <a:solidFill>
                <a:schemeClr val="accent1"/>
              </a:solidFill>
              <a:prstDash val="solid"/>
              <a:round/>
              <a:headEnd type="none" w="sm" len="sm"/>
              <a:tailEnd type="none" w="sm" len="sm"/>
            </a:ln>
          </a:insideH>
          <a:insideV>
            <a:ln w="12700" cap="flat" cmpd="sng">
              <a:solidFill>
                <a:schemeClr val="accen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1"/>
              </a:solidFill>
              <a:prstDash val="solid"/>
              <a:round/>
              <a:headEnd type="none" w="sm" len="sm"/>
              <a:tailEnd type="none" w="sm" len="sm"/>
            </a:ln>
          </a:top>
        </a:tcBdr>
        <a:fill>
          <a:solidFill>
            <a:srgbClr val="E8ECF4"/>
          </a:solidFill>
        </a:fill>
      </a:tcStyle>
    </a:lastRow>
    <a:seCell>
      <a:tcTxStyle/>
      <a:tcStyle>
        <a:tcBdr/>
      </a:tcStyle>
    </a:seCell>
    <a:swCell>
      <a:tcTxStyle/>
      <a:tcStyle>
        <a:tcBdr/>
      </a:tcStyle>
    </a:swCell>
    <a:firstRow>
      <a:tcTxStyle b="on" i="off"/>
      <a:tcStyle>
        <a:tcBdr/>
        <a:fill>
          <a:solidFill>
            <a:srgbClr val="E8ECF4"/>
          </a:solidFill>
        </a:fill>
      </a:tcStyle>
    </a:firstRow>
    <a:neCell>
      <a:tcTxStyle/>
      <a:tcStyle>
        <a:tcBdr/>
      </a:tcStyle>
    </a:neCell>
    <a:nwCell>
      <a:tcTxStyle/>
      <a:tcStyle>
        <a:tcBdr/>
      </a:tcStyle>
    </a:nwCell>
  </a:tblStyle>
  <a:tblStyle styleId="{28B39C51-5C02-4F05-B3DF-5B42D8DC3CAC}"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1068E81-88AB-4FB5-A8C8-9D47E4D06A6E}"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7" name="Google Shape;8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5" name="Google Shape;9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3" name="Google Shape;10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1" name="Google Shape;11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9" name="Google Shape;11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7" name="Google Shape;12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5" name="Google Shape;13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3" name="Google Shape;143;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1" name="Google Shape;15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9" name="Google Shape;15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7" name="Google Shape;16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5" name="Google Shape;175;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3" name="Google Shape;183;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1" name="Google Shape;19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9" name="Google Shape;19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7" name="Google Shape;207;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5" name="Google Shape;215;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3" name="Google Shape;223;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1" name="Google Shape;231;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9" name="Google Shape;239;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7" name="Google Shape;247;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5" name="Google Shape;25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3" name="Google Shape;263;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1" name="Google Shape;271;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9" name="Google Shape;279;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7" name="Google Shape;287;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5" name="Google Shape;295;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3" name="Google Shape;303;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1" name="Google Shape;311;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9" name="Google Shape;319;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7" name="Google Shape;327;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5" name="Google Shape;335;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3" name="Google Shape;343;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1" name="Google Shape;351;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9" name="Google Shape;359;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5" name="Google Shape;365;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3" name="Google Shape;373;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9" name="Google Shape;379;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5" name="Google Shape;385;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3" name="Google Shape;393;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1" name="Google Shape;401;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7" name="Google Shape;407;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5" name="Google Shape;415;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3" name="Google Shape;423;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9" name="Google Shape;429;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 name="Google Shape;18;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marR="0" lvl="0" algn="ctr" rtl="0">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9" name="Google Shape;1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600"/>
              </a:spcBef>
              <a:spcAft>
                <a:spcPts val="0"/>
              </a:spcAft>
              <a:buClr>
                <a:srgbClr val="46424D"/>
              </a:buClr>
              <a:buSzPts val="2400"/>
              <a:buFont typeface="Noto Sans Symbols"/>
              <a:buChar char="✧"/>
              <a:defRPr sz="2400" b="0" i="0" u="none" strike="noStrike" cap="none">
                <a:solidFill>
                  <a:srgbClr val="46424D"/>
                </a:solidFill>
                <a:latin typeface="Arial"/>
                <a:ea typeface="Arial"/>
                <a:cs typeface="Arial"/>
                <a:sym typeface="Arial"/>
              </a:defRPr>
            </a:lvl1pPr>
            <a:lvl2pPr marL="914400" marR="0" lvl="1" indent="-355600" algn="l" rtl="0">
              <a:spcBef>
                <a:spcPts val="600"/>
              </a:spcBef>
              <a:spcAft>
                <a:spcPts val="0"/>
              </a:spcAft>
              <a:buClr>
                <a:srgbClr val="46424D"/>
              </a:buClr>
              <a:buSzPts val="2000"/>
              <a:buFont typeface="Noto Sans Symbols"/>
              <a:buChar char="▪"/>
              <a:defRPr sz="2000" b="0" i="0" u="none" strike="noStrike" cap="none">
                <a:solidFill>
                  <a:srgbClr val="46424D"/>
                </a:solidFill>
                <a:latin typeface="Arial"/>
                <a:ea typeface="Arial"/>
                <a:cs typeface="Arial"/>
                <a:sym typeface="Arial"/>
              </a:defRPr>
            </a:lvl2pPr>
            <a:lvl3pPr marL="1371600" marR="0" lvl="2" indent="-342900" algn="l" rtl="0">
              <a:spcBef>
                <a:spcPts val="360"/>
              </a:spcBef>
              <a:spcAft>
                <a:spcPts val="0"/>
              </a:spcAft>
              <a:buClr>
                <a:srgbClr val="46424D"/>
              </a:buClr>
              <a:buSzPts val="1800"/>
              <a:buFont typeface="Arial"/>
              <a:buChar char="•"/>
              <a:defRPr sz="1800" b="0" i="0" u="none" strike="noStrike" cap="none">
                <a:solidFill>
                  <a:srgbClr val="46424D"/>
                </a:solidFill>
                <a:latin typeface="Arial"/>
                <a:ea typeface="Arial"/>
                <a:cs typeface="Arial"/>
                <a:sym typeface="Arial"/>
              </a:defRPr>
            </a:lvl3pPr>
            <a:lvl4pPr marL="1828800" marR="0" lvl="3" indent="-342900" algn="l" rtl="0">
              <a:spcBef>
                <a:spcPts val="360"/>
              </a:spcBef>
              <a:spcAft>
                <a:spcPts val="0"/>
              </a:spcAft>
              <a:buClr>
                <a:srgbClr val="46424D"/>
              </a:buClr>
              <a:buSzPts val="1800"/>
              <a:buFont typeface="Arial"/>
              <a:buChar char="–"/>
              <a:defRPr sz="1800" b="0" i="0" u="none" strike="noStrike" cap="none">
                <a:solidFill>
                  <a:srgbClr val="46424D"/>
                </a:solidFill>
                <a:latin typeface="Arial"/>
                <a:ea typeface="Arial"/>
                <a:cs typeface="Arial"/>
                <a:sym typeface="Arial"/>
              </a:defRPr>
            </a:lvl4pPr>
            <a:lvl5pPr marL="2286000" marR="0" lvl="4" indent="-342900" algn="l" rtl="0">
              <a:spcBef>
                <a:spcPts val="360"/>
              </a:spcBef>
              <a:spcAft>
                <a:spcPts val="0"/>
              </a:spcAft>
              <a:buClr>
                <a:srgbClr val="46424D"/>
              </a:buClr>
              <a:buSzPts val="1800"/>
              <a:buFont typeface="Arial"/>
              <a:buChar char="»"/>
              <a:defRPr sz="1800" b="0" i="0" u="none" strike="noStrike" cap="none">
                <a:solidFill>
                  <a:srgbClr val="46424D"/>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0" name="Google Shape;30;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31" name="Google Shape;31;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228600" algn="l" rtl="0">
              <a:spcBef>
                <a:spcPts val="480"/>
              </a:spcBef>
              <a:spcAft>
                <a:spcPts val="0"/>
              </a:spcAft>
              <a:buSzPts val="1400"/>
              <a:buNone/>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228600" algn="l" rtl="0">
              <a:spcBef>
                <a:spcPts val="480"/>
              </a:spcBef>
              <a:spcAft>
                <a:spcPts val="0"/>
              </a:spcAft>
              <a:buSzPts val="1400"/>
              <a:buNone/>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SzPts val="1400"/>
              <a:buNone/>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SzPts val="1400"/>
              <a:buNone/>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2" name="Google Shape;5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1" name="Google Shape;61;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228600" algn="l" rtl="0">
              <a:spcBef>
                <a:spcPts val="560"/>
              </a:spcBef>
              <a:spcAft>
                <a:spcPts val="0"/>
              </a:spcAft>
              <a:buSzPts val="1400"/>
              <a:buNone/>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10"/>
          <p:cNvSpPr>
            <a:spLocks noGrp="1"/>
          </p:cNvSpPr>
          <p:nvPr>
            <p:ph type="pic" idx="2"/>
          </p:nvPr>
        </p:nvSpPr>
        <p:spPr>
          <a:xfrm>
            <a:off x="1792288" y="612775"/>
            <a:ext cx="5486400" cy="4114800"/>
          </a:xfrm>
          <a:prstGeom prst="rect">
            <a:avLst/>
          </a:prstGeom>
          <a:noFill/>
          <a:ln>
            <a:noFill/>
          </a:ln>
        </p:spPr>
      </p:sp>
      <p:sp>
        <p:nvSpPr>
          <p:cNvPr id="69" name="Google Shape;69;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5" name="Google Shape;75;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228600" algn="l" rtl="0">
              <a:spcBef>
                <a:spcPts val="560"/>
              </a:spcBef>
              <a:spcAft>
                <a:spcPts val="0"/>
              </a:spcAft>
              <a:buSzPts val="1400"/>
              <a:buNone/>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228600" algn="l" rtl="0">
              <a:spcBef>
                <a:spcPts val="560"/>
              </a:spcBef>
              <a:spcAft>
                <a:spcPts val="0"/>
              </a:spcAft>
              <a:buSzPts val="1400"/>
              <a:buNone/>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400" b="1" i="0" u="none" strike="noStrike" cap="none">
                <a:solidFill>
                  <a:srgbClr val="46424D"/>
                </a:solidFill>
                <a:latin typeface="Arial"/>
                <a:ea typeface="Arial"/>
                <a:cs typeface="Arial"/>
                <a:sym typeface="Arial"/>
              </a:defRPr>
            </a:lvl1pPr>
            <a:lvl2pPr marR="0" lvl="1"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 name="Google Shape;11;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4" name="Google Shape;14;p1" descr="Cover.jpg"/>
          <p:cNvPicPr preferRelativeResize="0"/>
          <p:nvPr/>
        </p:nvPicPr>
        <p:blipFill rotWithShape="1">
          <a:blip r:embed="rId13">
            <a:alphaModFix/>
          </a:blip>
          <a:srcRect/>
          <a:stretch/>
        </p:blipFill>
        <p:spPr>
          <a:xfrm>
            <a:off x="7750432" y="287213"/>
            <a:ext cx="923795" cy="1143000"/>
          </a:xfrm>
          <a:prstGeom prst="rect">
            <a:avLst/>
          </a:prstGeom>
          <a:noFill/>
          <a:ln>
            <a:noFill/>
          </a:ln>
        </p:spPr>
      </p:pic>
      <p:cxnSp>
        <p:nvCxnSpPr>
          <p:cNvPr id="15" name="Google Shape;15;p1"/>
          <p:cNvCxnSpPr/>
          <p:nvPr/>
        </p:nvCxnSpPr>
        <p:spPr>
          <a:xfrm>
            <a:off x="457200" y="1419226"/>
            <a:ext cx="7305805" cy="1588"/>
          </a:xfrm>
          <a:prstGeom prst="straightConnector1">
            <a:avLst/>
          </a:prstGeom>
          <a:noFill/>
          <a:ln w="25400" cap="flat" cmpd="sng">
            <a:solidFill>
              <a:srgbClr val="3F3F3F"/>
            </a:solidFill>
            <a:prstDash val="solid"/>
            <a:round/>
            <a:headEnd type="none" w="sm" len="sm"/>
            <a:tailEnd type="none" w="sm" len="sm"/>
          </a:ln>
          <a:effectLst>
            <a:outerShdw blurRad="40000" dist="20000" dir="5400000" rotWithShape="0">
              <a:srgbClr val="000000">
                <a:alpha val="38039"/>
              </a:srgbClr>
            </a:outerShdw>
          </a:effectLst>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Chapter 4 – Requirements Engineering</a:t>
            </a:r>
            <a:endParaRPr/>
          </a:p>
        </p:txBody>
      </p:sp>
      <p:sp>
        <p:nvSpPr>
          <p:cNvPr id="90" name="Google Shape;90;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Font typeface="Arial"/>
              <a:buNone/>
            </a:pPr>
            <a:r>
              <a:rPr lang="en-US"/>
              <a:t>Lecture 1</a:t>
            </a:r>
            <a:endParaRPr/>
          </a:p>
        </p:txBody>
      </p:sp>
      <p:sp>
        <p:nvSpPr>
          <p:cNvPr id="91" name="Google Shape;91;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92" name="Google Shape;92;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4"/>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Topics covered</a:t>
            </a:r>
            <a:endParaRPr/>
          </a:p>
        </p:txBody>
      </p:sp>
      <p:sp>
        <p:nvSpPr>
          <p:cNvPr id="98" name="Google Shape;98;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Functional and non-functional requirements</a:t>
            </a:r>
            <a:endParaRPr/>
          </a:p>
          <a:p>
            <a:pPr marL="342900" lvl="0" indent="-342900" algn="l" rtl="0">
              <a:spcBef>
                <a:spcPts val="1200"/>
              </a:spcBef>
              <a:spcAft>
                <a:spcPts val="0"/>
              </a:spcAft>
              <a:buClr>
                <a:srgbClr val="46424D"/>
              </a:buClr>
              <a:buSzPts val="2400"/>
              <a:buFont typeface="Noto Sans Symbols"/>
              <a:buChar char="✧"/>
            </a:pPr>
            <a:r>
              <a:rPr lang="en-US"/>
              <a:t>The software requirements document </a:t>
            </a:r>
            <a:endParaRPr/>
          </a:p>
          <a:p>
            <a:pPr marL="342900" lvl="0" indent="-342900" algn="l" rtl="0">
              <a:spcBef>
                <a:spcPts val="1200"/>
              </a:spcBef>
              <a:spcAft>
                <a:spcPts val="0"/>
              </a:spcAft>
              <a:buClr>
                <a:srgbClr val="46424D"/>
              </a:buClr>
              <a:buSzPts val="2400"/>
              <a:buFont typeface="Noto Sans Symbols"/>
              <a:buChar char="✧"/>
            </a:pPr>
            <a:r>
              <a:rPr lang="en-US"/>
              <a:t>Requirements specification</a:t>
            </a:r>
            <a:endParaRPr/>
          </a:p>
          <a:p>
            <a:pPr marL="342900" lvl="0" indent="-342900" algn="l" rtl="0">
              <a:spcBef>
                <a:spcPts val="1200"/>
              </a:spcBef>
              <a:spcAft>
                <a:spcPts val="0"/>
              </a:spcAft>
              <a:buClr>
                <a:srgbClr val="46424D"/>
              </a:buClr>
              <a:buSzPts val="2400"/>
              <a:buFont typeface="Noto Sans Symbols"/>
              <a:buChar char="✧"/>
            </a:pPr>
            <a:r>
              <a:rPr lang="en-US"/>
              <a:t>Requirements engineering processes</a:t>
            </a:r>
            <a:endParaRPr/>
          </a:p>
          <a:p>
            <a:pPr marL="342900" lvl="0" indent="-342900" algn="l" rtl="0">
              <a:spcBef>
                <a:spcPts val="1200"/>
              </a:spcBef>
              <a:spcAft>
                <a:spcPts val="0"/>
              </a:spcAft>
              <a:buClr>
                <a:srgbClr val="46424D"/>
              </a:buClr>
              <a:buSzPts val="2400"/>
              <a:buFont typeface="Noto Sans Symbols"/>
              <a:buChar char="✧"/>
            </a:pPr>
            <a:r>
              <a:rPr lang="en-US"/>
              <a:t>Requirements elicitation and analysis</a:t>
            </a:r>
            <a:endParaRPr/>
          </a:p>
          <a:p>
            <a:pPr marL="342900" lvl="0" indent="-342900" algn="l" rtl="0">
              <a:spcBef>
                <a:spcPts val="1200"/>
              </a:spcBef>
              <a:spcAft>
                <a:spcPts val="0"/>
              </a:spcAft>
              <a:buClr>
                <a:srgbClr val="46424D"/>
              </a:buClr>
              <a:buSzPts val="2400"/>
              <a:buFont typeface="Noto Sans Symbols"/>
              <a:buChar char="✧"/>
            </a:pPr>
            <a:r>
              <a:rPr lang="en-US"/>
              <a:t>Requirements validation</a:t>
            </a:r>
            <a:endParaRPr/>
          </a:p>
          <a:p>
            <a:pPr marL="342900" lvl="0" indent="-342900" algn="l" rtl="0">
              <a:spcBef>
                <a:spcPts val="1200"/>
              </a:spcBef>
              <a:spcAft>
                <a:spcPts val="0"/>
              </a:spcAft>
              <a:buClr>
                <a:srgbClr val="46424D"/>
              </a:buClr>
              <a:buSzPts val="2400"/>
              <a:buFont typeface="Noto Sans Symbols"/>
              <a:buChar char="✧"/>
            </a:pPr>
            <a:r>
              <a:rPr lang="en-US"/>
              <a:t>Requirements management</a:t>
            </a:r>
            <a:endParaRPr/>
          </a:p>
          <a:p>
            <a:pPr marL="342900" lvl="0" indent="-190500" algn="l" rtl="0">
              <a:spcBef>
                <a:spcPts val="1200"/>
              </a:spcBef>
              <a:spcAft>
                <a:spcPts val="0"/>
              </a:spcAft>
              <a:buClr>
                <a:srgbClr val="46424D"/>
              </a:buClr>
              <a:buSzPts val="2400"/>
              <a:buFont typeface="Noto Sans Symbols"/>
              <a:buNone/>
            </a:pPr>
            <a:endParaRPr/>
          </a:p>
        </p:txBody>
      </p:sp>
      <p:sp>
        <p:nvSpPr>
          <p:cNvPr id="99" name="Google Shape;99;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100" name="Google Shape;100;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5"/>
          <p:cNvSpPr txBox="1">
            <a:spLocks noGrp="1"/>
          </p:cNvSpPr>
          <p:nvPr>
            <p:ph type="title"/>
          </p:nvPr>
        </p:nvSpPr>
        <p:spPr>
          <a:xfrm>
            <a:off x="457200" y="274638"/>
            <a:ext cx="7293232"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Requirements engineering</a:t>
            </a:r>
            <a:endParaRPr/>
          </a:p>
        </p:txBody>
      </p:sp>
      <p:sp>
        <p:nvSpPr>
          <p:cNvPr id="106" name="Google Shape;106;p15"/>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spcBef>
                <a:spcPts val="0"/>
              </a:spcBef>
              <a:spcAft>
                <a:spcPts val="0"/>
              </a:spcAft>
              <a:buClr>
                <a:srgbClr val="46424D"/>
              </a:buClr>
              <a:buSzPts val="2400"/>
              <a:buFont typeface="Noto Sans Symbols"/>
              <a:buChar char="✧"/>
            </a:pPr>
            <a:r>
              <a:rPr lang="en-US"/>
              <a:t>The process of establishing the services that the customer requires from a system and the constraints under which it operates and is developed.</a:t>
            </a:r>
            <a:endParaRPr/>
          </a:p>
          <a:p>
            <a:pPr marL="342900" lvl="0" indent="-342900" algn="l" rtl="0">
              <a:spcBef>
                <a:spcPts val="1200"/>
              </a:spcBef>
              <a:spcAft>
                <a:spcPts val="0"/>
              </a:spcAft>
              <a:buClr>
                <a:srgbClr val="46424D"/>
              </a:buClr>
              <a:buSzPts val="2400"/>
              <a:buFont typeface="Noto Sans Symbols"/>
              <a:buChar char="✧"/>
            </a:pPr>
            <a:r>
              <a:rPr lang="en-US"/>
              <a:t>The requirements themselves are the descriptions of the system services and constraints that are generated during the requirements engineering process.</a:t>
            </a:r>
            <a:endParaRPr/>
          </a:p>
        </p:txBody>
      </p:sp>
      <p:sp>
        <p:nvSpPr>
          <p:cNvPr id="107" name="Google Shape;107;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108" name="Google Shape;108;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title"/>
          </p:nvPr>
        </p:nvSpPr>
        <p:spPr>
          <a:xfrm>
            <a:off x="457200" y="274638"/>
            <a:ext cx="7293232"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What is a requirement?</a:t>
            </a:r>
            <a:endParaRPr/>
          </a:p>
        </p:txBody>
      </p:sp>
      <p:sp>
        <p:nvSpPr>
          <p:cNvPr id="114" name="Google Shape;114;p16"/>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lnSpc>
                <a:spcPct val="90000"/>
              </a:lnSpc>
              <a:spcBef>
                <a:spcPts val="0"/>
              </a:spcBef>
              <a:spcAft>
                <a:spcPts val="0"/>
              </a:spcAft>
              <a:buClr>
                <a:srgbClr val="46424D"/>
              </a:buClr>
              <a:buSzPts val="2400"/>
              <a:buChar char="✧"/>
            </a:pPr>
            <a:r>
              <a:rPr lang="en-US"/>
              <a:t>It may range from a high-level abstract statement of a service or of a system constraint to a detailed mathematical functional specification.</a:t>
            </a:r>
            <a:endParaRPr/>
          </a:p>
          <a:p>
            <a:pPr marL="342900" lvl="0" indent="-342900" algn="l" rtl="0">
              <a:lnSpc>
                <a:spcPct val="90000"/>
              </a:lnSpc>
              <a:spcBef>
                <a:spcPts val="1200"/>
              </a:spcBef>
              <a:spcAft>
                <a:spcPts val="0"/>
              </a:spcAft>
              <a:buClr>
                <a:srgbClr val="46424D"/>
              </a:buClr>
              <a:buSzPts val="2400"/>
              <a:buChar char="✧"/>
            </a:pPr>
            <a:r>
              <a:rPr lang="en-US"/>
              <a:t>This is inevitable as requirements may serve a dual function</a:t>
            </a:r>
            <a:endParaRPr/>
          </a:p>
          <a:p>
            <a:pPr marL="742950" lvl="1" indent="-285750" algn="l" rtl="0">
              <a:lnSpc>
                <a:spcPct val="90000"/>
              </a:lnSpc>
              <a:spcBef>
                <a:spcPts val="900"/>
              </a:spcBef>
              <a:spcAft>
                <a:spcPts val="0"/>
              </a:spcAft>
              <a:buClr>
                <a:srgbClr val="46424D"/>
              </a:buClr>
              <a:buSzPts val="2000"/>
              <a:buChar char="▪"/>
            </a:pPr>
            <a:r>
              <a:rPr lang="en-US"/>
              <a:t>May be the basis for a bid for a contract - therefore must be open to interpretation;</a:t>
            </a:r>
            <a:endParaRPr/>
          </a:p>
          <a:p>
            <a:pPr marL="742950" lvl="1" indent="-285750" algn="l" rtl="0">
              <a:lnSpc>
                <a:spcPct val="90000"/>
              </a:lnSpc>
              <a:spcBef>
                <a:spcPts val="600"/>
              </a:spcBef>
              <a:spcAft>
                <a:spcPts val="0"/>
              </a:spcAft>
              <a:buClr>
                <a:srgbClr val="46424D"/>
              </a:buClr>
              <a:buSzPts val="2000"/>
              <a:buChar char="▪"/>
            </a:pPr>
            <a:r>
              <a:rPr lang="en-US"/>
              <a:t>May be the basis for the contract itself - therefore must be defined in detail;</a:t>
            </a:r>
            <a:endParaRPr/>
          </a:p>
          <a:p>
            <a:pPr marL="742950" lvl="1" indent="-285750" algn="l" rtl="0">
              <a:lnSpc>
                <a:spcPct val="90000"/>
              </a:lnSpc>
              <a:spcBef>
                <a:spcPts val="600"/>
              </a:spcBef>
              <a:spcAft>
                <a:spcPts val="0"/>
              </a:spcAft>
              <a:buClr>
                <a:srgbClr val="46424D"/>
              </a:buClr>
              <a:buSzPts val="2000"/>
              <a:buChar char="▪"/>
            </a:pPr>
            <a:r>
              <a:rPr lang="en-US"/>
              <a:t>Both these statements may be called requirements.</a:t>
            </a:r>
            <a:endParaRPr/>
          </a:p>
        </p:txBody>
      </p:sp>
      <p:sp>
        <p:nvSpPr>
          <p:cNvPr id="115" name="Google Shape;115;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116" name="Google Shape;116;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Requirements abstraction (Davis)</a:t>
            </a:r>
            <a:endParaRPr/>
          </a:p>
        </p:txBody>
      </p:sp>
      <p:sp>
        <p:nvSpPr>
          <p:cNvPr id="122" name="Google Shape;122;p17"/>
          <p:cNvSpPr/>
          <p:nvPr/>
        </p:nvSpPr>
        <p:spPr>
          <a:xfrm>
            <a:off x="457200" y="1951673"/>
            <a:ext cx="8305800" cy="286232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0" i="0" u="none" strike="noStrike" cap="none">
                <a:solidFill>
                  <a:srgbClr val="000000"/>
                </a:solidFill>
                <a:latin typeface="Arial"/>
                <a:ea typeface="Arial"/>
                <a:cs typeface="Arial"/>
                <a:sym typeface="Arial"/>
              </a:rPr>
              <a:t>“If a company wishes to let a contract for a large software development project, it must define its needs in a sufficiently abstract way that a solution is not pre-defined. The requirements must be written so that several contractors can bid for the contract, offering, perhaps, different ways of meeting the client organization’s needs. Once a contract has been awarded, the contractor must write a system definition for the client in more detail so that the client understands and can validate what the software will do. Both of these documents may be called the requirements document for the system.”</a:t>
            </a:r>
            <a:endParaRPr sz="2000">
              <a:solidFill>
                <a:schemeClr val="dk1"/>
              </a:solidFill>
              <a:latin typeface="Arial"/>
              <a:ea typeface="Arial"/>
              <a:cs typeface="Arial"/>
              <a:sym typeface="Arial"/>
            </a:endParaRPr>
          </a:p>
        </p:txBody>
      </p:sp>
      <p:sp>
        <p:nvSpPr>
          <p:cNvPr id="123" name="Google Shape;12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24" name="Google Shape;124;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8"/>
          <p:cNvSpPr txBox="1">
            <a:spLocks noGrp="1"/>
          </p:cNvSpPr>
          <p:nvPr>
            <p:ph type="title"/>
          </p:nvPr>
        </p:nvSpPr>
        <p:spPr>
          <a:xfrm>
            <a:off x="533400" y="304800"/>
            <a:ext cx="8915400" cy="11049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Types of requirement</a:t>
            </a:r>
            <a:endParaRPr/>
          </a:p>
        </p:txBody>
      </p:sp>
      <p:sp>
        <p:nvSpPr>
          <p:cNvPr id="130" name="Google Shape;130;p18"/>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spcBef>
                <a:spcPts val="0"/>
              </a:spcBef>
              <a:spcAft>
                <a:spcPts val="0"/>
              </a:spcAft>
              <a:buClr>
                <a:srgbClr val="46424D"/>
              </a:buClr>
              <a:buSzPts val="2400"/>
              <a:buFont typeface="Noto Sans Symbols"/>
              <a:buChar char="✧"/>
            </a:pPr>
            <a:r>
              <a:rPr lang="en-US" dirty="0"/>
              <a:t>User requirements</a:t>
            </a:r>
            <a:endParaRPr dirty="0"/>
          </a:p>
          <a:p>
            <a:pPr marL="742950" lvl="1" indent="-285750" algn="l" rtl="0">
              <a:spcBef>
                <a:spcPts val="900"/>
              </a:spcBef>
              <a:spcAft>
                <a:spcPts val="0"/>
              </a:spcAft>
              <a:buClr>
                <a:srgbClr val="46424D"/>
              </a:buClr>
              <a:buSzPts val="2000"/>
              <a:buChar char="▪"/>
            </a:pPr>
            <a:r>
              <a:rPr lang="en-US" dirty="0"/>
              <a:t>Statements in natural language plus diagrams of the services the system provides and its operational constraints. Written for customers.</a:t>
            </a:r>
            <a:endParaRPr dirty="0"/>
          </a:p>
          <a:p>
            <a:pPr marL="342900" lvl="0" indent="-342900" algn="l" rtl="0">
              <a:spcBef>
                <a:spcPts val="900"/>
              </a:spcBef>
              <a:spcAft>
                <a:spcPts val="0"/>
              </a:spcAft>
              <a:buClr>
                <a:srgbClr val="46424D"/>
              </a:buClr>
              <a:buSzPts val="2400"/>
              <a:buFont typeface="Noto Sans Symbols"/>
              <a:buChar char="✧"/>
            </a:pPr>
            <a:r>
              <a:rPr lang="en-US" dirty="0"/>
              <a:t>System requirements</a:t>
            </a:r>
            <a:endParaRPr dirty="0"/>
          </a:p>
          <a:p>
            <a:pPr marL="742950" lvl="1" indent="-285750" algn="l" rtl="0">
              <a:spcBef>
                <a:spcPts val="900"/>
              </a:spcBef>
              <a:spcAft>
                <a:spcPts val="0"/>
              </a:spcAft>
              <a:buClr>
                <a:srgbClr val="46424D"/>
              </a:buClr>
              <a:buSzPts val="2000"/>
              <a:buChar char="▪"/>
            </a:pPr>
            <a:r>
              <a:rPr lang="en-US" dirty="0"/>
              <a:t>A structured document setting out detailed descriptions of the </a:t>
            </a:r>
            <a:r>
              <a:rPr lang="en-US" b="1" dirty="0"/>
              <a:t>system’s functions, services and operational constraints</a:t>
            </a:r>
            <a:r>
              <a:rPr lang="en-US" dirty="0"/>
              <a:t>. Defines what should be implemented so may be part of a contract between client and contractor.</a:t>
            </a:r>
            <a:endParaRPr dirty="0"/>
          </a:p>
        </p:txBody>
      </p:sp>
      <p:sp>
        <p:nvSpPr>
          <p:cNvPr id="131" name="Google Shape;131;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132" name="Google Shape;132;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9"/>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User and system requirements </a:t>
            </a:r>
            <a:endParaRPr/>
          </a:p>
        </p:txBody>
      </p:sp>
      <p:pic>
        <p:nvPicPr>
          <p:cNvPr id="138" name="Google Shape;138;p19" descr="4.1 UserSysReqs.eps"/>
          <p:cNvPicPr preferRelativeResize="0"/>
          <p:nvPr/>
        </p:nvPicPr>
        <p:blipFill rotWithShape="1">
          <a:blip r:embed="rId3">
            <a:alphaModFix/>
          </a:blip>
          <a:srcRect/>
          <a:stretch/>
        </p:blipFill>
        <p:spPr>
          <a:xfrm>
            <a:off x="1143000" y="1626233"/>
            <a:ext cx="6553200" cy="4850767"/>
          </a:xfrm>
          <a:prstGeom prst="rect">
            <a:avLst/>
          </a:prstGeom>
          <a:noFill/>
          <a:ln>
            <a:noFill/>
          </a:ln>
        </p:spPr>
      </p:pic>
      <p:sp>
        <p:nvSpPr>
          <p:cNvPr id="139" name="Google Shape;139;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140" name="Google Shape;140;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0"/>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Readers of different types of requirements specification </a:t>
            </a:r>
            <a:endParaRPr/>
          </a:p>
        </p:txBody>
      </p:sp>
      <p:pic>
        <p:nvPicPr>
          <p:cNvPr id="146" name="Google Shape;146;p20" descr="4.2 ReqReaders.eps"/>
          <p:cNvPicPr preferRelativeResize="0"/>
          <p:nvPr/>
        </p:nvPicPr>
        <p:blipFill rotWithShape="1">
          <a:blip r:embed="rId3">
            <a:alphaModFix/>
          </a:blip>
          <a:srcRect/>
          <a:stretch/>
        </p:blipFill>
        <p:spPr>
          <a:xfrm>
            <a:off x="1219200" y="2057400"/>
            <a:ext cx="6531232" cy="3651553"/>
          </a:xfrm>
          <a:prstGeom prst="rect">
            <a:avLst/>
          </a:prstGeom>
          <a:noFill/>
          <a:ln>
            <a:noFill/>
          </a:ln>
        </p:spPr>
      </p:pic>
      <p:sp>
        <p:nvSpPr>
          <p:cNvPr id="147" name="Google Shape;14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148" name="Google Shape;14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836CA9-3B3A-21DA-9495-14F33AD6A2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5" name="AutoShape 2" descr="Functional and Non Functional Requirements - GeeksforGeeks">
            <a:extLst>
              <a:ext uri="{FF2B5EF4-FFF2-40B4-BE49-F238E27FC236}">
                <a16:creationId xmlns:a16="http://schemas.microsoft.com/office/drawing/2014/main" id="{158B863B-ABEB-C98A-8EF7-77636FA17C7A}"/>
              </a:ext>
            </a:extLst>
          </p:cNvPr>
          <p:cNvSpPr>
            <a:spLocks noChangeAspect="1" noChangeArrowheads="1"/>
          </p:cNvSpPr>
          <p:nvPr/>
        </p:nvSpPr>
        <p:spPr bwMode="auto">
          <a:xfrm>
            <a:off x="4419599" y="3276599"/>
            <a:ext cx="3603523" cy="360352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39A328F8-8F8B-3546-660B-EDDBBAD875D4}"/>
              </a:ext>
            </a:extLst>
          </p:cNvPr>
          <p:cNvPicPr>
            <a:picLocks noChangeAspect="1"/>
          </p:cNvPicPr>
          <p:nvPr/>
        </p:nvPicPr>
        <p:blipFill>
          <a:blip r:embed="rId2"/>
          <a:stretch>
            <a:fillRect/>
          </a:stretch>
        </p:blipFill>
        <p:spPr>
          <a:xfrm>
            <a:off x="762000" y="1524000"/>
            <a:ext cx="7620000" cy="3810000"/>
          </a:xfrm>
          <a:prstGeom prst="rect">
            <a:avLst/>
          </a:prstGeom>
        </p:spPr>
      </p:pic>
    </p:spTree>
    <p:extLst>
      <p:ext uri="{BB962C8B-B14F-4D97-AF65-F5344CB8AC3E}">
        <p14:creationId xmlns:p14="http://schemas.microsoft.com/office/powerpoint/2010/main" val="1407557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1"/>
          <p:cNvSpPr txBox="1">
            <a:spLocks noGrp="1"/>
          </p:cNvSpPr>
          <p:nvPr>
            <p:ph type="title"/>
          </p:nvPr>
        </p:nvSpPr>
        <p:spPr>
          <a:xfrm>
            <a:off x="381000" y="266700"/>
            <a:ext cx="8382000" cy="1104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Functional and non-functional requirements</a:t>
            </a:r>
            <a:endParaRPr/>
          </a:p>
        </p:txBody>
      </p:sp>
      <p:sp>
        <p:nvSpPr>
          <p:cNvPr id="154" name="Google Shape;154;p21"/>
          <p:cNvSpPr txBox="1">
            <a:spLocks noGrp="1"/>
          </p:cNvSpPr>
          <p:nvPr>
            <p:ph type="body" idx="1"/>
          </p:nvPr>
        </p:nvSpPr>
        <p:spPr>
          <a:xfrm>
            <a:off x="457200" y="1798637"/>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rgbClr val="46424D"/>
              </a:buClr>
              <a:buSzPts val="2400"/>
              <a:buChar char="✧"/>
            </a:pPr>
            <a:r>
              <a:rPr lang="en-US" sz="2400" dirty="0"/>
              <a:t>Functional requirements</a:t>
            </a:r>
            <a:endParaRPr dirty="0"/>
          </a:p>
          <a:p>
            <a:pPr marL="742950" lvl="1" indent="-285750" algn="l" rtl="0">
              <a:lnSpc>
                <a:spcPct val="90000"/>
              </a:lnSpc>
              <a:spcBef>
                <a:spcPts val="900"/>
              </a:spcBef>
              <a:spcAft>
                <a:spcPts val="0"/>
              </a:spcAft>
              <a:buClr>
                <a:srgbClr val="46424D"/>
              </a:buClr>
              <a:buSzPts val="2000"/>
              <a:buChar char="▪"/>
            </a:pPr>
            <a:r>
              <a:rPr lang="en-US" sz="2000" dirty="0"/>
              <a:t>Statements of services the system should provide, how the system should </a:t>
            </a:r>
            <a:r>
              <a:rPr lang="en-US" sz="2000" b="1" dirty="0"/>
              <a:t>react to particular inputs </a:t>
            </a:r>
            <a:r>
              <a:rPr lang="en-US" sz="2000" dirty="0"/>
              <a:t>and how the system should behave in particular situations.</a:t>
            </a:r>
            <a:endParaRPr dirty="0"/>
          </a:p>
          <a:p>
            <a:pPr marL="742950" lvl="1" indent="-285750" algn="l" rtl="0">
              <a:lnSpc>
                <a:spcPct val="90000"/>
              </a:lnSpc>
              <a:spcBef>
                <a:spcPts val="600"/>
              </a:spcBef>
              <a:spcAft>
                <a:spcPts val="0"/>
              </a:spcAft>
              <a:buClr>
                <a:srgbClr val="46424D"/>
              </a:buClr>
              <a:buSzPts val="2000"/>
              <a:buChar char="▪"/>
            </a:pPr>
            <a:r>
              <a:rPr lang="en-US" dirty="0">
                <a:solidFill>
                  <a:srgbClr val="FF0000"/>
                </a:solidFill>
              </a:rPr>
              <a:t>May state what the system should not do.</a:t>
            </a:r>
            <a:endParaRPr sz="2000" dirty="0">
              <a:solidFill>
                <a:srgbClr val="FF0000"/>
              </a:solidFill>
            </a:endParaRPr>
          </a:p>
          <a:p>
            <a:pPr marL="342900" lvl="0" indent="-342900" algn="l" rtl="0">
              <a:lnSpc>
                <a:spcPct val="90000"/>
              </a:lnSpc>
              <a:spcBef>
                <a:spcPts val="900"/>
              </a:spcBef>
              <a:spcAft>
                <a:spcPts val="0"/>
              </a:spcAft>
              <a:buClr>
                <a:srgbClr val="46424D"/>
              </a:buClr>
              <a:buSzPts val="2400"/>
              <a:buChar char="✧"/>
            </a:pPr>
            <a:r>
              <a:rPr lang="en-US" sz="2400" dirty="0"/>
              <a:t>Non-functional requirements</a:t>
            </a:r>
            <a:endParaRPr sz="2400" dirty="0"/>
          </a:p>
          <a:p>
            <a:pPr marL="742950" lvl="1" indent="-285750" algn="l" rtl="0">
              <a:lnSpc>
                <a:spcPct val="90000"/>
              </a:lnSpc>
              <a:spcBef>
                <a:spcPts val="900"/>
              </a:spcBef>
              <a:spcAft>
                <a:spcPts val="0"/>
              </a:spcAft>
              <a:buClr>
                <a:srgbClr val="46424D"/>
              </a:buClr>
              <a:buSzPts val="2000"/>
              <a:buChar char="▪"/>
            </a:pPr>
            <a:r>
              <a:rPr lang="en-US" dirty="0"/>
              <a:t>C</a:t>
            </a:r>
            <a:r>
              <a:rPr lang="en-US" sz="2000" dirty="0"/>
              <a:t>onstraints on the services or functions offered by the system such as timing constraints, constraints on the development process, standards, etc.</a:t>
            </a:r>
            <a:endParaRPr dirty="0"/>
          </a:p>
          <a:p>
            <a:pPr marL="742950" lvl="1" indent="-285750" algn="l" rtl="0">
              <a:lnSpc>
                <a:spcPct val="90000"/>
              </a:lnSpc>
              <a:spcBef>
                <a:spcPts val="600"/>
              </a:spcBef>
              <a:spcAft>
                <a:spcPts val="0"/>
              </a:spcAft>
              <a:buClr>
                <a:srgbClr val="46424D"/>
              </a:buClr>
              <a:buSzPts val="2000"/>
              <a:buChar char="▪"/>
            </a:pPr>
            <a:r>
              <a:rPr lang="en-US" dirty="0"/>
              <a:t>Often apply to the system as a whole rather than individual features or services.</a:t>
            </a:r>
            <a:endParaRPr dirty="0"/>
          </a:p>
          <a:p>
            <a:pPr marL="342900" lvl="0" indent="-342900" algn="l" rtl="0">
              <a:lnSpc>
                <a:spcPct val="90000"/>
              </a:lnSpc>
              <a:spcBef>
                <a:spcPts val="900"/>
              </a:spcBef>
              <a:spcAft>
                <a:spcPts val="0"/>
              </a:spcAft>
              <a:buClr>
                <a:srgbClr val="46424D"/>
              </a:buClr>
              <a:buSzPts val="2400"/>
              <a:buChar char="✧"/>
            </a:pPr>
            <a:r>
              <a:rPr lang="en-US" sz="2400" dirty="0"/>
              <a:t>Domain requirements</a:t>
            </a:r>
            <a:endParaRPr dirty="0"/>
          </a:p>
          <a:p>
            <a:pPr marL="742950" lvl="1" indent="-285750" algn="l" rtl="0">
              <a:lnSpc>
                <a:spcPct val="90000"/>
              </a:lnSpc>
              <a:spcBef>
                <a:spcPts val="900"/>
              </a:spcBef>
              <a:spcAft>
                <a:spcPts val="0"/>
              </a:spcAft>
              <a:buClr>
                <a:srgbClr val="46424D"/>
              </a:buClr>
              <a:buSzPts val="2000"/>
              <a:buChar char="▪"/>
            </a:pPr>
            <a:r>
              <a:rPr lang="en-US" sz="2000" dirty="0"/>
              <a:t>Constraints on the system from the domain </a:t>
            </a:r>
            <a:r>
              <a:rPr lang="en-US" dirty="0"/>
              <a:t>of operation</a:t>
            </a:r>
            <a:endParaRPr sz="2000" dirty="0"/>
          </a:p>
        </p:txBody>
      </p:sp>
      <p:sp>
        <p:nvSpPr>
          <p:cNvPr id="155" name="Google Shape;155;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156" name="Google Shape;156;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2"/>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Functional requirements</a:t>
            </a:r>
            <a:endParaRPr/>
          </a:p>
        </p:txBody>
      </p:sp>
      <p:sp>
        <p:nvSpPr>
          <p:cNvPr id="162" name="Google Shape;162;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Describe functionality or system services.</a:t>
            </a:r>
            <a:endParaRPr/>
          </a:p>
          <a:p>
            <a:pPr marL="342900" lvl="0" indent="-342900" algn="l" rtl="0">
              <a:spcBef>
                <a:spcPts val="1200"/>
              </a:spcBef>
              <a:spcAft>
                <a:spcPts val="0"/>
              </a:spcAft>
              <a:buClr>
                <a:srgbClr val="46424D"/>
              </a:buClr>
              <a:buSzPts val="2400"/>
              <a:buFont typeface="Noto Sans Symbols"/>
              <a:buChar char="✧"/>
            </a:pPr>
            <a:r>
              <a:rPr lang="en-US"/>
              <a:t>Depend on the type of software, expected users and the type of system where the software is used.</a:t>
            </a:r>
            <a:endParaRPr/>
          </a:p>
          <a:p>
            <a:pPr marL="342900" lvl="0" indent="-342900" algn="l" rtl="0">
              <a:spcBef>
                <a:spcPts val="1200"/>
              </a:spcBef>
              <a:spcAft>
                <a:spcPts val="0"/>
              </a:spcAft>
              <a:buClr>
                <a:srgbClr val="46424D"/>
              </a:buClr>
              <a:buSzPts val="2400"/>
              <a:buFont typeface="Noto Sans Symbols"/>
              <a:buChar char="✧"/>
            </a:pPr>
            <a:r>
              <a:rPr lang="en-US"/>
              <a:t>Functional user requirements may be high-level statements of what the system should do.</a:t>
            </a:r>
            <a:endParaRPr/>
          </a:p>
          <a:p>
            <a:pPr marL="342900" lvl="0" indent="-342900" algn="l" rtl="0">
              <a:spcBef>
                <a:spcPts val="1200"/>
              </a:spcBef>
              <a:spcAft>
                <a:spcPts val="0"/>
              </a:spcAft>
              <a:buClr>
                <a:srgbClr val="46424D"/>
              </a:buClr>
              <a:buSzPts val="2400"/>
              <a:buFont typeface="Noto Sans Symbols"/>
              <a:buChar char="✧"/>
            </a:pPr>
            <a:r>
              <a:rPr lang="en-US"/>
              <a:t>Functional system requirements should describe the system services in detail.</a:t>
            </a:r>
            <a:endParaRPr/>
          </a:p>
        </p:txBody>
      </p:sp>
      <p:sp>
        <p:nvSpPr>
          <p:cNvPr id="163" name="Google Shape;16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164" name="Google Shape;164;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3"/>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Functional requirements for the MHC-PMS</a:t>
            </a:r>
            <a:endParaRPr/>
          </a:p>
        </p:txBody>
      </p:sp>
      <p:sp>
        <p:nvSpPr>
          <p:cNvPr id="170" name="Google Shape;170;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A user shall be able to search the appointments lists for all clinics.</a:t>
            </a:r>
            <a:endParaRPr/>
          </a:p>
          <a:p>
            <a:pPr marL="342900" lvl="0" indent="-342900" algn="l" rtl="0">
              <a:spcBef>
                <a:spcPts val="1200"/>
              </a:spcBef>
              <a:spcAft>
                <a:spcPts val="0"/>
              </a:spcAft>
              <a:buClr>
                <a:srgbClr val="46424D"/>
              </a:buClr>
              <a:buSzPts val="2400"/>
              <a:buFont typeface="Noto Sans Symbols"/>
              <a:buChar char="✧"/>
            </a:pPr>
            <a:r>
              <a:rPr lang="en-US"/>
              <a:t>The system shall generate each day, for each clinic, a list of patients who are expected to attend appointments that day. </a:t>
            </a:r>
            <a:endParaRPr/>
          </a:p>
          <a:p>
            <a:pPr marL="342900" lvl="0" indent="-342900" algn="l" rtl="0">
              <a:spcBef>
                <a:spcPts val="1200"/>
              </a:spcBef>
              <a:spcAft>
                <a:spcPts val="0"/>
              </a:spcAft>
              <a:buClr>
                <a:srgbClr val="46424D"/>
              </a:buClr>
              <a:buSzPts val="2400"/>
              <a:buFont typeface="Noto Sans Symbols"/>
              <a:buChar char="✧"/>
            </a:pPr>
            <a:r>
              <a:rPr lang="en-US"/>
              <a:t>Each staff member using the system shall be uniquely identified by his or her 8-digit employee number. </a:t>
            </a:r>
            <a:endParaRPr/>
          </a:p>
        </p:txBody>
      </p:sp>
      <p:sp>
        <p:nvSpPr>
          <p:cNvPr id="171" name="Google Shape;171;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172" name="Google Shape;172;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4"/>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Requirements imprecision</a:t>
            </a:r>
            <a:endParaRPr/>
          </a:p>
        </p:txBody>
      </p:sp>
      <p:sp>
        <p:nvSpPr>
          <p:cNvPr id="178" name="Google Shape;178;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dirty="0"/>
              <a:t>Problems arise when requirements are not precisely stated.</a:t>
            </a:r>
            <a:endParaRPr dirty="0"/>
          </a:p>
          <a:p>
            <a:pPr marL="342900" lvl="0" indent="-342900" algn="l" rtl="0">
              <a:spcBef>
                <a:spcPts val="1200"/>
              </a:spcBef>
              <a:spcAft>
                <a:spcPts val="0"/>
              </a:spcAft>
              <a:buClr>
                <a:srgbClr val="46424D"/>
              </a:buClr>
              <a:buSzPts val="2400"/>
              <a:buFont typeface="Noto Sans Symbols"/>
              <a:buChar char="✧"/>
            </a:pPr>
            <a:r>
              <a:rPr lang="en-US" dirty="0"/>
              <a:t>Ambiguous requirements may be interpreted in different ways by developers and users.</a:t>
            </a:r>
            <a:endParaRPr dirty="0"/>
          </a:p>
          <a:p>
            <a:pPr marL="342900" lvl="0" indent="-342900" algn="l" rtl="0">
              <a:spcBef>
                <a:spcPts val="1200"/>
              </a:spcBef>
              <a:spcAft>
                <a:spcPts val="0"/>
              </a:spcAft>
              <a:buClr>
                <a:srgbClr val="46424D"/>
              </a:buClr>
              <a:buSzPts val="2400"/>
              <a:buFont typeface="Noto Sans Symbols"/>
              <a:buChar char="✧"/>
            </a:pPr>
            <a:r>
              <a:rPr lang="en-US" dirty="0"/>
              <a:t>Consider the term ‘search’ in requirement 1</a:t>
            </a:r>
            <a:endParaRPr dirty="0"/>
          </a:p>
          <a:p>
            <a:pPr marL="742950" lvl="1" indent="-285750" algn="l" rtl="0">
              <a:spcBef>
                <a:spcPts val="900"/>
              </a:spcBef>
              <a:spcAft>
                <a:spcPts val="0"/>
              </a:spcAft>
              <a:buClr>
                <a:srgbClr val="46424D"/>
              </a:buClr>
              <a:buSzPts val="2000"/>
              <a:buChar char="▪"/>
            </a:pPr>
            <a:r>
              <a:rPr lang="en-US" dirty="0"/>
              <a:t>User intention – search for a patient name across all appointments in all clinics;</a:t>
            </a:r>
            <a:endParaRPr dirty="0"/>
          </a:p>
          <a:p>
            <a:pPr marL="742950" lvl="1" indent="-285750" algn="l" rtl="0">
              <a:spcBef>
                <a:spcPts val="600"/>
              </a:spcBef>
              <a:spcAft>
                <a:spcPts val="0"/>
              </a:spcAft>
              <a:buClr>
                <a:srgbClr val="46424D"/>
              </a:buClr>
              <a:buSzPts val="2000"/>
              <a:buChar char="▪"/>
            </a:pPr>
            <a:r>
              <a:rPr lang="en-US" dirty="0"/>
              <a:t>Developer interpretation – search for a patient name in an individual clinic. </a:t>
            </a:r>
            <a:r>
              <a:rPr lang="en-US" b="1" dirty="0"/>
              <a:t>User chooses clinic then search</a:t>
            </a:r>
            <a:r>
              <a:rPr lang="en-US" dirty="0"/>
              <a:t>.</a:t>
            </a:r>
            <a:endParaRPr dirty="0"/>
          </a:p>
        </p:txBody>
      </p:sp>
      <p:sp>
        <p:nvSpPr>
          <p:cNvPr id="179" name="Google Shape;179;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180" name="Google Shape;180;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5"/>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Requirements completeness and consistency</a:t>
            </a:r>
            <a:endParaRPr/>
          </a:p>
        </p:txBody>
      </p:sp>
      <p:sp>
        <p:nvSpPr>
          <p:cNvPr id="186" name="Google Shape;186;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sz="2400" dirty="0"/>
              <a:t>In principle, requirements should be both complete and consistent.</a:t>
            </a:r>
            <a:endParaRPr dirty="0"/>
          </a:p>
          <a:p>
            <a:pPr marL="342900" lvl="0" indent="-342900" algn="l" rtl="0">
              <a:spcBef>
                <a:spcPts val="1200"/>
              </a:spcBef>
              <a:spcAft>
                <a:spcPts val="0"/>
              </a:spcAft>
              <a:buClr>
                <a:srgbClr val="46424D"/>
              </a:buClr>
              <a:buSzPts val="2400"/>
              <a:buFont typeface="Noto Sans Symbols"/>
              <a:buChar char="✧"/>
            </a:pPr>
            <a:r>
              <a:rPr lang="en-US" sz="2400" dirty="0"/>
              <a:t>Complete</a:t>
            </a:r>
            <a:endParaRPr dirty="0"/>
          </a:p>
          <a:p>
            <a:pPr marL="742950" lvl="1" indent="-285750" algn="l" rtl="0">
              <a:spcBef>
                <a:spcPts val="900"/>
              </a:spcBef>
              <a:spcAft>
                <a:spcPts val="0"/>
              </a:spcAft>
              <a:buClr>
                <a:srgbClr val="46424D"/>
              </a:buClr>
              <a:buSzPts val="2000"/>
              <a:buChar char="▪"/>
            </a:pPr>
            <a:r>
              <a:rPr lang="en-US" dirty="0"/>
              <a:t>They should include descriptions of all facilities required.</a:t>
            </a:r>
            <a:endParaRPr dirty="0"/>
          </a:p>
          <a:p>
            <a:pPr marL="342900" lvl="0" indent="-342900" algn="l" rtl="0">
              <a:spcBef>
                <a:spcPts val="900"/>
              </a:spcBef>
              <a:spcAft>
                <a:spcPts val="0"/>
              </a:spcAft>
              <a:buClr>
                <a:srgbClr val="46424D"/>
              </a:buClr>
              <a:buSzPts val="2400"/>
              <a:buFont typeface="Noto Sans Symbols"/>
              <a:buChar char="✧"/>
            </a:pPr>
            <a:r>
              <a:rPr lang="en-US" sz="2400" dirty="0"/>
              <a:t>Consistent</a:t>
            </a:r>
            <a:endParaRPr dirty="0"/>
          </a:p>
          <a:p>
            <a:pPr marL="742950" lvl="1" indent="-285750" algn="l" rtl="0">
              <a:spcBef>
                <a:spcPts val="900"/>
              </a:spcBef>
              <a:spcAft>
                <a:spcPts val="0"/>
              </a:spcAft>
              <a:buClr>
                <a:srgbClr val="46424D"/>
              </a:buClr>
              <a:buSzPts val="2000"/>
              <a:buChar char="▪"/>
            </a:pPr>
            <a:r>
              <a:rPr lang="en-US" dirty="0"/>
              <a:t>There should be no conflicts or contradictions in the descriptions of the system facilities.</a:t>
            </a:r>
            <a:endParaRPr dirty="0"/>
          </a:p>
          <a:p>
            <a:pPr marL="342900" lvl="0" indent="-342900" algn="l" rtl="0">
              <a:spcBef>
                <a:spcPts val="900"/>
              </a:spcBef>
              <a:spcAft>
                <a:spcPts val="0"/>
              </a:spcAft>
              <a:buClr>
                <a:srgbClr val="46424D"/>
              </a:buClr>
              <a:buSzPts val="2400"/>
              <a:buFont typeface="Noto Sans Symbols"/>
              <a:buChar char="✧"/>
            </a:pPr>
            <a:r>
              <a:rPr lang="en-US" sz="2400" b="1" dirty="0">
                <a:solidFill>
                  <a:srgbClr val="FF0000"/>
                </a:solidFill>
              </a:rPr>
              <a:t>In practice, it is impossible to produce a complete and consistent requirements document.</a:t>
            </a:r>
            <a:endParaRPr b="1" dirty="0">
              <a:solidFill>
                <a:srgbClr val="FF0000"/>
              </a:solidFill>
            </a:endParaRPr>
          </a:p>
        </p:txBody>
      </p:sp>
      <p:sp>
        <p:nvSpPr>
          <p:cNvPr id="187" name="Google Shape;187;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188" name="Google Shape;188;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6"/>
          <p:cNvSpPr txBox="1">
            <a:spLocks noGrp="1"/>
          </p:cNvSpPr>
          <p:nvPr>
            <p:ph type="title"/>
          </p:nvPr>
        </p:nvSpPr>
        <p:spPr>
          <a:xfrm>
            <a:off x="457200" y="274638"/>
            <a:ext cx="7293232"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Non-functional requirements</a:t>
            </a:r>
            <a:endParaRPr/>
          </a:p>
        </p:txBody>
      </p:sp>
      <p:sp>
        <p:nvSpPr>
          <p:cNvPr id="194" name="Google Shape;194;p26"/>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lnSpc>
                <a:spcPct val="90000"/>
              </a:lnSpc>
              <a:spcBef>
                <a:spcPts val="0"/>
              </a:spcBef>
              <a:spcAft>
                <a:spcPts val="0"/>
              </a:spcAft>
              <a:buClr>
                <a:srgbClr val="46424D"/>
              </a:buClr>
              <a:buSzPts val="2400"/>
              <a:buChar char="✧"/>
            </a:pPr>
            <a:r>
              <a:rPr lang="en-US" dirty="0"/>
              <a:t>These define system properties and constraints e.g. </a:t>
            </a:r>
            <a:r>
              <a:rPr lang="en-US" b="1" dirty="0">
                <a:solidFill>
                  <a:srgbClr val="FF0000"/>
                </a:solidFill>
              </a:rPr>
              <a:t>reliability, response time and storage requirements. </a:t>
            </a:r>
            <a:r>
              <a:rPr lang="en-US" dirty="0"/>
              <a:t>Constraints are I/O device capability, system representations, etc.</a:t>
            </a:r>
            <a:endParaRPr dirty="0"/>
          </a:p>
          <a:p>
            <a:pPr marL="342900" lvl="0" indent="-342900" algn="l" rtl="0">
              <a:lnSpc>
                <a:spcPct val="90000"/>
              </a:lnSpc>
              <a:spcBef>
                <a:spcPts val="1200"/>
              </a:spcBef>
              <a:spcAft>
                <a:spcPts val="0"/>
              </a:spcAft>
              <a:buClr>
                <a:srgbClr val="46424D"/>
              </a:buClr>
              <a:buSzPts val="2400"/>
              <a:buChar char="✧"/>
            </a:pPr>
            <a:r>
              <a:rPr lang="en-US" dirty="0"/>
              <a:t>Process requirements may also be specified mandating a particular IDE, programming language or development method.</a:t>
            </a:r>
            <a:endParaRPr dirty="0"/>
          </a:p>
          <a:p>
            <a:pPr marL="342900" lvl="0" indent="-342900" algn="l" rtl="0">
              <a:lnSpc>
                <a:spcPct val="90000"/>
              </a:lnSpc>
              <a:spcBef>
                <a:spcPts val="1200"/>
              </a:spcBef>
              <a:spcAft>
                <a:spcPts val="0"/>
              </a:spcAft>
              <a:buClr>
                <a:srgbClr val="46424D"/>
              </a:buClr>
              <a:buSzPts val="2400"/>
              <a:buChar char="✧"/>
            </a:pPr>
            <a:r>
              <a:rPr lang="en-US" dirty="0"/>
              <a:t>Non-functional requirements may be more critical than functional requirements. If these are not met, the system may be useless.</a:t>
            </a:r>
            <a:endParaRPr dirty="0"/>
          </a:p>
        </p:txBody>
      </p:sp>
      <p:sp>
        <p:nvSpPr>
          <p:cNvPr id="195" name="Google Shape;195;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196" name="Google Shape;196;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7"/>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Types of nonfunctional requirement </a:t>
            </a:r>
            <a:endParaRPr/>
          </a:p>
        </p:txBody>
      </p:sp>
      <p:pic>
        <p:nvPicPr>
          <p:cNvPr id="202" name="Google Shape;202;p27" descr="4.3 Non-functionalReq.eps"/>
          <p:cNvPicPr preferRelativeResize="0"/>
          <p:nvPr/>
        </p:nvPicPr>
        <p:blipFill rotWithShape="1">
          <a:blip r:embed="rId3">
            <a:alphaModFix/>
          </a:blip>
          <a:srcRect/>
          <a:stretch/>
        </p:blipFill>
        <p:spPr>
          <a:xfrm>
            <a:off x="619433" y="1931835"/>
            <a:ext cx="7905134" cy="4424515"/>
          </a:xfrm>
          <a:prstGeom prst="rect">
            <a:avLst/>
          </a:prstGeom>
          <a:noFill/>
          <a:ln>
            <a:noFill/>
          </a:ln>
        </p:spPr>
      </p:pic>
      <p:sp>
        <p:nvSpPr>
          <p:cNvPr id="203" name="Google Shape;203;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
        <p:nvSpPr>
          <p:cNvPr id="204" name="Google Shape;204;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8"/>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Non-functional requirements implementation</a:t>
            </a:r>
            <a:endParaRPr/>
          </a:p>
        </p:txBody>
      </p:sp>
      <p:sp>
        <p:nvSpPr>
          <p:cNvPr id="210" name="Google Shape;210;p2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Non-functional requirements may affect the overall architecture of a system rather than the individual components. </a:t>
            </a:r>
            <a:endParaRPr/>
          </a:p>
          <a:p>
            <a:pPr marL="742950" lvl="1" indent="-285750" algn="l" rtl="0">
              <a:spcBef>
                <a:spcPts val="900"/>
              </a:spcBef>
              <a:spcAft>
                <a:spcPts val="0"/>
              </a:spcAft>
              <a:buClr>
                <a:srgbClr val="46424D"/>
              </a:buClr>
              <a:buSzPts val="2000"/>
              <a:buChar char="▪"/>
            </a:pPr>
            <a:r>
              <a:rPr lang="en-US"/>
              <a:t>For example, to ensure that performance requirements are met, you may have to organize the system to minimize communications between components.</a:t>
            </a:r>
            <a:endParaRPr/>
          </a:p>
          <a:p>
            <a:pPr marL="342900" lvl="0" indent="-342900" algn="l" rtl="0">
              <a:spcBef>
                <a:spcPts val="900"/>
              </a:spcBef>
              <a:spcAft>
                <a:spcPts val="0"/>
              </a:spcAft>
              <a:buClr>
                <a:srgbClr val="46424D"/>
              </a:buClr>
              <a:buSzPts val="2400"/>
              <a:buFont typeface="Noto Sans Symbols"/>
              <a:buChar char="✧"/>
            </a:pPr>
            <a:r>
              <a:rPr lang="en-US"/>
              <a:t>A single non-functional requirement, such as a security requirement, may generate a number of related functional requirements that define system services that are required. </a:t>
            </a:r>
            <a:endParaRPr/>
          </a:p>
          <a:p>
            <a:pPr marL="742950" lvl="1" indent="-285750" algn="l" rtl="0">
              <a:spcBef>
                <a:spcPts val="900"/>
              </a:spcBef>
              <a:spcAft>
                <a:spcPts val="0"/>
              </a:spcAft>
              <a:buClr>
                <a:srgbClr val="46424D"/>
              </a:buClr>
              <a:buSzPts val="2000"/>
              <a:buChar char="▪"/>
            </a:pPr>
            <a:r>
              <a:rPr lang="en-US"/>
              <a:t>It may also generate requirements that restrict existing requirements. </a:t>
            </a:r>
            <a:endParaRPr/>
          </a:p>
        </p:txBody>
      </p:sp>
      <p:sp>
        <p:nvSpPr>
          <p:cNvPr id="211" name="Google Shape;211;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
        <p:nvSpPr>
          <p:cNvPr id="212" name="Google Shape;212;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9"/>
          <p:cNvSpPr txBox="1">
            <a:spLocks noGrp="1"/>
          </p:cNvSpPr>
          <p:nvPr>
            <p:ph type="title"/>
          </p:nvPr>
        </p:nvSpPr>
        <p:spPr>
          <a:xfrm>
            <a:off x="457200" y="274638"/>
            <a:ext cx="7293232"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Non-functional classifications</a:t>
            </a:r>
            <a:endParaRPr/>
          </a:p>
        </p:txBody>
      </p:sp>
      <p:sp>
        <p:nvSpPr>
          <p:cNvPr id="218" name="Google Shape;218;p29"/>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spcBef>
                <a:spcPts val="0"/>
              </a:spcBef>
              <a:spcAft>
                <a:spcPts val="0"/>
              </a:spcAft>
              <a:buClr>
                <a:srgbClr val="46424D"/>
              </a:buClr>
              <a:buSzPts val="2400"/>
              <a:buFont typeface="Noto Sans Symbols"/>
              <a:buChar char="✧"/>
            </a:pPr>
            <a:r>
              <a:rPr lang="en-US" sz="2400"/>
              <a:t>Product requirements</a:t>
            </a:r>
            <a:endParaRPr/>
          </a:p>
          <a:p>
            <a:pPr marL="742950" lvl="1" indent="-285750" algn="l" rtl="0">
              <a:spcBef>
                <a:spcPts val="900"/>
              </a:spcBef>
              <a:spcAft>
                <a:spcPts val="0"/>
              </a:spcAft>
              <a:buClr>
                <a:srgbClr val="46424D"/>
              </a:buClr>
              <a:buSzPts val="2000"/>
              <a:buChar char="▪"/>
            </a:pPr>
            <a:r>
              <a:rPr lang="en-US" sz="2000"/>
              <a:t>Requirements which specify that the delivered product must behave in a particular way e.g. execution speed, reliability, etc.</a:t>
            </a:r>
            <a:endParaRPr/>
          </a:p>
          <a:p>
            <a:pPr marL="342900" lvl="0" indent="-342900" algn="l" rtl="0">
              <a:spcBef>
                <a:spcPts val="900"/>
              </a:spcBef>
              <a:spcAft>
                <a:spcPts val="0"/>
              </a:spcAft>
              <a:buClr>
                <a:srgbClr val="46424D"/>
              </a:buClr>
              <a:buSzPts val="2400"/>
              <a:buFont typeface="Noto Sans Symbols"/>
              <a:buChar char="✧"/>
            </a:pPr>
            <a:r>
              <a:rPr lang="en-US" sz="2400"/>
              <a:t>Organisational requirements</a:t>
            </a:r>
            <a:endParaRPr/>
          </a:p>
          <a:p>
            <a:pPr marL="742950" lvl="1" indent="-285750" algn="l" rtl="0">
              <a:spcBef>
                <a:spcPts val="900"/>
              </a:spcBef>
              <a:spcAft>
                <a:spcPts val="0"/>
              </a:spcAft>
              <a:buClr>
                <a:srgbClr val="46424D"/>
              </a:buClr>
              <a:buSzPts val="2000"/>
              <a:buChar char="▪"/>
            </a:pPr>
            <a:r>
              <a:rPr lang="en-US" sz="2000"/>
              <a:t>Requirements which are a consequence of organisational policies and procedures e.g. process standards used, implementation requirements, etc.</a:t>
            </a:r>
            <a:endParaRPr/>
          </a:p>
          <a:p>
            <a:pPr marL="342900" lvl="0" indent="-342900" algn="l" rtl="0">
              <a:spcBef>
                <a:spcPts val="900"/>
              </a:spcBef>
              <a:spcAft>
                <a:spcPts val="0"/>
              </a:spcAft>
              <a:buClr>
                <a:srgbClr val="46424D"/>
              </a:buClr>
              <a:buSzPts val="2400"/>
              <a:buFont typeface="Noto Sans Symbols"/>
              <a:buChar char="✧"/>
            </a:pPr>
            <a:r>
              <a:rPr lang="en-US" sz="2400"/>
              <a:t>External requirements</a:t>
            </a:r>
            <a:endParaRPr/>
          </a:p>
          <a:p>
            <a:pPr marL="742950" lvl="1" indent="-285750" algn="l" rtl="0">
              <a:spcBef>
                <a:spcPts val="900"/>
              </a:spcBef>
              <a:spcAft>
                <a:spcPts val="0"/>
              </a:spcAft>
              <a:buClr>
                <a:srgbClr val="46424D"/>
              </a:buClr>
              <a:buSzPts val="2000"/>
              <a:buChar char="▪"/>
            </a:pPr>
            <a:r>
              <a:rPr lang="en-US" sz="2000"/>
              <a:t>Requirements which arise from factors which are external to the system and its development process e.g. interoperability requirements, legislative requirements, etc.</a:t>
            </a:r>
            <a:endParaRPr/>
          </a:p>
        </p:txBody>
      </p:sp>
      <p:sp>
        <p:nvSpPr>
          <p:cNvPr id="219" name="Google Shape;219;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
        <p:nvSpPr>
          <p:cNvPr id="220" name="Google Shape;220;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0"/>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Examples of nonfunctional requirements in the MHC-PMS </a:t>
            </a:r>
            <a:endParaRPr/>
          </a:p>
        </p:txBody>
      </p:sp>
      <p:graphicFrame>
        <p:nvGraphicFramePr>
          <p:cNvPr id="226" name="Google Shape;226;p30"/>
          <p:cNvGraphicFramePr/>
          <p:nvPr/>
        </p:nvGraphicFramePr>
        <p:xfrm>
          <a:off x="968632" y="1905000"/>
          <a:ext cx="6781800" cy="4495800"/>
        </p:xfrm>
        <a:graphic>
          <a:graphicData uri="http://schemas.openxmlformats.org/drawingml/2006/table">
            <a:tbl>
              <a:tblPr firstRow="1" bandRow="1">
                <a:noFill/>
                <a:tableStyleId>{97E4A61C-6C37-43E9-8576-B6A9ABAFFB9E}</a:tableStyleId>
              </a:tblPr>
              <a:tblGrid>
                <a:gridCol w="6781800">
                  <a:extLst>
                    <a:ext uri="{9D8B030D-6E8A-4147-A177-3AD203B41FA5}">
                      <a16:colId xmlns:a16="http://schemas.microsoft.com/office/drawing/2014/main" val="20000"/>
                    </a:ext>
                  </a:extLst>
                </a:gridCol>
              </a:tblGrid>
              <a:tr h="4495800">
                <a:tc>
                  <a:txBody>
                    <a:bodyPr/>
                    <a:lstStyle/>
                    <a:p>
                      <a:pPr marL="0" marR="0" lvl="0" indent="0" algn="l" rtl="0">
                        <a:spcBef>
                          <a:spcPts val="0"/>
                        </a:spcBef>
                        <a:spcAft>
                          <a:spcPts val="0"/>
                        </a:spcAft>
                        <a:buNone/>
                      </a:pPr>
                      <a:r>
                        <a:rPr lang="en-US" sz="1800" b="1" u="none" strike="noStrike" cap="none"/>
                        <a:t>Product requirement</a:t>
                      </a:r>
                      <a:endParaRPr/>
                    </a:p>
                    <a:p>
                      <a:pPr marL="0" marR="0" lvl="0" indent="0" algn="l" rtl="0">
                        <a:spcBef>
                          <a:spcPts val="0"/>
                        </a:spcBef>
                        <a:spcAft>
                          <a:spcPts val="0"/>
                        </a:spcAft>
                        <a:buNone/>
                      </a:pPr>
                      <a:r>
                        <a:rPr lang="en-US" sz="1800" b="0"/>
                        <a:t>The MHC-PMS shall be available to all clinics during normal working hours (Mon–Fri, 0830–17.30). Downtime within normal working hours shall not exceed five seconds in any one day.</a:t>
                      </a:r>
                      <a:endParaRPr/>
                    </a:p>
                    <a:p>
                      <a:pPr marL="0" marR="0" lvl="0" indent="0" algn="l" rtl="0">
                        <a:spcBef>
                          <a:spcPts val="0"/>
                        </a:spcBef>
                        <a:spcAft>
                          <a:spcPts val="0"/>
                        </a:spcAft>
                        <a:buNone/>
                      </a:pPr>
                      <a:endParaRPr sz="1800" b="0"/>
                    </a:p>
                    <a:p>
                      <a:pPr marL="0" marR="0" lvl="0" indent="0" algn="l" rtl="0">
                        <a:spcBef>
                          <a:spcPts val="0"/>
                        </a:spcBef>
                        <a:spcAft>
                          <a:spcPts val="0"/>
                        </a:spcAft>
                        <a:buNone/>
                      </a:pPr>
                      <a:r>
                        <a:rPr lang="en-US" sz="1800" b="1"/>
                        <a:t>Organizational requirement</a:t>
                      </a:r>
                      <a:br>
                        <a:rPr lang="en-US" sz="1800" b="0"/>
                      </a:br>
                      <a:r>
                        <a:rPr lang="en-US" sz="1800" b="0"/>
                        <a:t>Users of the MHC-PMS system shall authenticate themselves using their health authority identity card.</a:t>
                      </a:r>
                      <a:endParaRPr/>
                    </a:p>
                    <a:p>
                      <a:pPr marL="0" marR="0" lvl="0" indent="0" algn="l" rtl="0">
                        <a:spcBef>
                          <a:spcPts val="0"/>
                        </a:spcBef>
                        <a:spcAft>
                          <a:spcPts val="0"/>
                        </a:spcAft>
                        <a:buNone/>
                      </a:pPr>
                      <a:endParaRPr sz="1800" b="0"/>
                    </a:p>
                    <a:p>
                      <a:pPr marL="0" marR="0" lvl="0" indent="0" algn="l" rtl="0">
                        <a:spcBef>
                          <a:spcPts val="0"/>
                        </a:spcBef>
                        <a:spcAft>
                          <a:spcPts val="0"/>
                        </a:spcAft>
                        <a:buNone/>
                      </a:pPr>
                      <a:r>
                        <a:rPr lang="en-US" sz="1800" b="1"/>
                        <a:t>External requirement</a:t>
                      </a:r>
                      <a:br>
                        <a:rPr lang="en-US" sz="1800" b="0"/>
                      </a:br>
                      <a:r>
                        <a:rPr lang="en-US" sz="1800" b="0"/>
                        <a:t>The system shall implement patient privacy provisions as set out in HStan-03-2006-priv. </a:t>
                      </a:r>
                      <a:endParaRPr/>
                    </a:p>
                    <a:p>
                      <a:pPr marL="0" marR="0" lvl="0" indent="0" algn="l" rtl="0">
                        <a:spcBef>
                          <a:spcPts val="0"/>
                        </a:spcBef>
                        <a:spcAft>
                          <a:spcPts val="0"/>
                        </a:spcAft>
                        <a:buNone/>
                      </a:pPr>
                      <a:endParaRPr sz="1800" b="0"/>
                    </a:p>
                  </a:txBody>
                  <a:tcPr marL="91450" marR="91450" marT="45725" marB="45725"/>
                </a:tc>
                <a:extLst>
                  <a:ext uri="{0D108BD9-81ED-4DB2-BD59-A6C34878D82A}">
                    <a16:rowId xmlns:a16="http://schemas.microsoft.com/office/drawing/2014/main" val="10000"/>
                  </a:ext>
                </a:extLst>
              </a:tr>
            </a:tbl>
          </a:graphicData>
        </a:graphic>
      </p:graphicFrame>
      <p:sp>
        <p:nvSpPr>
          <p:cNvPr id="227" name="Google Shape;227;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
        <p:nvSpPr>
          <p:cNvPr id="228" name="Google Shape;228;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1"/>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Goals and requirements</a:t>
            </a:r>
            <a:endParaRPr/>
          </a:p>
        </p:txBody>
      </p:sp>
      <p:sp>
        <p:nvSpPr>
          <p:cNvPr id="234" name="Google Shape;234;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sz="2400" dirty="0"/>
              <a:t>Non-functional requirements may be very difficult to state precisely, and imprecise requirements may be difficult to verify. </a:t>
            </a:r>
            <a:endParaRPr dirty="0"/>
          </a:p>
          <a:p>
            <a:pPr marL="342900" lvl="0" indent="-342900" algn="l" rtl="0">
              <a:spcBef>
                <a:spcPts val="1200"/>
              </a:spcBef>
              <a:spcAft>
                <a:spcPts val="0"/>
              </a:spcAft>
              <a:buClr>
                <a:srgbClr val="46424D"/>
              </a:buClr>
              <a:buSzPts val="2400"/>
              <a:buFont typeface="Noto Sans Symbols"/>
              <a:buChar char="✧"/>
            </a:pPr>
            <a:r>
              <a:rPr lang="en-US" sz="2400" dirty="0"/>
              <a:t>Goal</a:t>
            </a:r>
            <a:endParaRPr dirty="0"/>
          </a:p>
          <a:p>
            <a:pPr marL="742950" lvl="1" indent="-285750" algn="l" rtl="0">
              <a:spcBef>
                <a:spcPts val="900"/>
              </a:spcBef>
              <a:spcAft>
                <a:spcPts val="0"/>
              </a:spcAft>
              <a:buClr>
                <a:srgbClr val="46424D"/>
              </a:buClr>
              <a:buSzPts val="2000"/>
              <a:buChar char="▪"/>
            </a:pPr>
            <a:r>
              <a:rPr lang="en-US" sz="2000" dirty="0"/>
              <a:t>A general intention of the user such as ease of use.</a:t>
            </a:r>
            <a:endParaRPr dirty="0"/>
          </a:p>
          <a:p>
            <a:pPr marL="342900" lvl="0" indent="-342900" algn="l" rtl="0">
              <a:spcBef>
                <a:spcPts val="900"/>
              </a:spcBef>
              <a:spcAft>
                <a:spcPts val="0"/>
              </a:spcAft>
              <a:buClr>
                <a:srgbClr val="46424D"/>
              </a:buClr>
              <a:buSzPts val="2400"/>
              <a:buFont typeface="Noto Sans Symbols"/>
              <a:buChar char="✧"/>
            </a:pPr>
            <a:r>
              <a:rPr lang="en-US" sz="2400" dirty="0"/>
              <a:t>Verifiable non-functional requirement</a:t>
            </a:r>
            <a:endParaRPr dirty="0"/>
          </a:p>
          <a:p>
            <a:pPr marL="742950" lvl="1" indent="-285750" algn="l" rtl="0">
              <a:spcBef>
                <a:spcPts val="900"/>
              </a:spcBef>
              <a:spcAft>
                <a:spcPts val="0"/>
              </a:spcAft>
              <a:buClr>
                <a:srgbClr val="46424D"/>
              </a:buClr>
              <a:buSzPts val="2000"/>
              <a:buChar char="▪"/>
            </a:pPr>
            <a:r>
              <a:rPr lang="en-US" sz="2000" dirty="0"/>
              <a:t>A statement using some measure that can be objectively tested.</a:t>
            </a:r>
            <a:endParaRPr dirty="0"/>
          </a:p>
          <a:p>
            <a:pPr marL="342900" lvl="0" indent="-342900" algn="l" rtl="0">
              <a:spcBef>
                <a:spcPts val="900"/>
              </a:spcBef>
              <a:spcAft>
                <a:spcPts val="0"/>
              </a:spcAft>
              <a:buClr>
                <a:srgbClr val="46424D"/>
              </a:buClr>
              <a:buSzPts val="2400"/>
              <a:buFont typeface="Noto Sans Symbols"/>
              <a:buChar char="✧"/>
            </a:pPr>
            <a:r>
              <a:rPr lang="en-US" sz="2400" dirty="0"/>
              <a:t>Goals are helpful to developers as they convey the intentions of the system users.</a:t>
            </a:r>
            <a:endParaRPr dirty="0"/>
          </a:p>
        </p:txBody>
      </p:sp>
      <p:sp>
        <p:nvSpPr>
          <p:cNvPr id="235" name="Google Shape;235;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
        <p:nvSpPr>
          <p:cNvPr id="236" name="Google Shape;236;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2"/>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Usability requirements</a:t>
            </a:r>
            <a:endParaRPr/>
          </a:p>
        </p:txBody>
      </p:sp>
      <p:sp>
        <p:nvSpPr>
          <p:cNvPr id="242" name="Google Shape;242;p3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The system should be easy to use by medical staff and should be organized in such a way that user errors are minimized. (Goal)</a:t>
            </a:r>
            <a:endParaRPr/>
          </a:p>
          <a:p>
            <a:pPr marL="342900" lvl="0" indent="-342900" algn="l" rtl="0">
              <a:spcBef>
                <a:spcPts val="1200"/>
              </a:spcBef>
              <a:spcAft>
                <a:spcPts val="0"/>
              </a:spcAft>
              <a:buClr>
                <a:srgbClr val="46424D"/>
              </a:buClr>
              <a:buSzPts val="2400"/>
              <a:buFont typeface="Noto Sans Symbols"/>
              <a:buChar char="✧"/>
            </a:pPr>
            <a:r>
              <a:rPr lang="en-US"/>
              <a:t>Medical staff shall be able to use all the system functions after four hours of training. After this training, the average number of errors made by experienced users shall not exceed two per hour of system use. (Testable non-functional requirement)</a:t>
            </a:r>
            <a:endParaRPr/>
          </a:p>
          <a:p>
            <a:pPr marL="342900" lvl="0" indent="-190500" algn="l" rtl="0">
              <a:spcBef>
                <a:spcPts val="1200"/>
              </a:spcBef>
              <a:spcAft>
                <a:spcPts val="0"/>
              </a:spcAft>
              <a:buClr>
                <a:srgbClr val="46424D"/>
              </a:buClr>
              <a:buSzPts val="2400"/>
              <a:buFont typeface="Noto Sans Symbols"/>
              <a:buNone/>
            </a:pPr>
            <a:endParaRPr/>
          </a:p>
          <a:p>
            <a:pPr marL="342900" lvl="0" indent="-190500" algn="l" rtl="0">
              <a:spcBef>
                <a:spcPts val="1200"/>
              </a:spcBef>
              <a:spcAft>
                <a:spcPts val="0"/>
              </a:spcAft>
              <a:buClr>
                <a:srgbClr val="46424D"/>
              </a:buClr>
              <a:buSzPts val="2400"/>
              <a:buFont typeface="Noto Sans Symbols"/>
              <a:buNone/>
            </a:pPr>
            <a:endParaRPr/>
          </a:p>
        </p:txBody>
      </p:sp>
      <p:sp>
        <p:nvSpPr>
          <p:cNvPr id="243" name="Google Shape;243;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
        <p:nvSpPr>
          <p:cNvPr id="244" name="Google Shape;244;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3"/>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Metrics for specifying nonfunctional requirements</a:t>
            </a:r>
            <a:endParaRPr/>
          </a:p>
        </p:txBody>
      </p:sp>
      <p:graphicFrame>
        <p:nvGraphicFramePr>
          <p:cNvPr id="250" name="Google Shape;250;p33"/>
          <p:cNvGraphicFramePr/>
          <p:nvPr/>
        </p:nvGraphicFramePr>
        <p:xfrm>
          <a:off x="990600" y="1600200"/>
          <a:ext cx="7620000" cy="4876880"/>
        </p:xfrm>
        <a:graphic>
          <a:graphicData uri="http://schemas.openxmlformats.org/drawingml/2006/table">
            <a:tbl>
              <a:tblPr>
                <a:noFill/>
                <a:tableStyleId>{28B39C51-5C02-4F05-B3DF-5B42D8DC3CAC}</a:tableStyleId>
              </a:tblPr>
              <a:tblGrid>
                <a:gridCol w="295275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397425">
                <a:tc>
                  <a:txBody>
                    <a:bodyPr/>
                    <a:lstStyle/>
                    <a:p>
                      <a:pPr marL="0" marR="0" lvl="0" indent="0" algn="just"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Property</a:t>
                      </a:r>
                      <a:endParaRPr/>
                    </a:p>
                  </a:txBody>
                  <a:tcPr marL="73025" marR="73025" marT="9145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Measure</a:t>
                      </a:r>
                      <a:endParaRPr/>
                    </a:p>
                  </a:txBody>
                  <a:tcPr marL="73025" marR="73025" marT="9145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684775">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Speed</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Processed transactions/second</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User/event response time</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Screen refresh time</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1"/>
                  </a:ext>
                </a:extLst>
              </a:tr>
              <a:tr h="489125">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Size</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Mbytes</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Number of ROM chips</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489125">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Ease of use</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Training time</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Number of help frames</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3"/>
                  </a:ext>
                </a:extLst>
              </a:tr>
              <a:tr h="880425">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Reliability</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Mean time to failure</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Probability of unavailability</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Rate of failure occurrence</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Availability</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4"/>
                  </a:ext>
                </a:extLst>
              </a:tr>
              <a:tr h="684775">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Robustness</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Time to restart after failure</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Percentage of events causing failure</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Probability of data corruption on failure</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5"/>
                  </a:ext>
                </a:extLst>
              </a:tr>
              <a:tr h="489125">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Portability</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Percentage of target dependent statements</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Number of target systems</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6"/>
                  </a:ext>
                </a:extLst>
              </a:tr>
            </a:tbl>
          </a:graphicData>
        </a:graphic>
      </p:graphicFrame>
      <p:sp>
        <p:nvSpPr>
          <p:cNvPr id="251" name="Google Shape;251;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
        <p:nvSpPr>
          <p:cNvPr id="252" name="Google Shape;252;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4"/>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Domain requirements</a:t>
            </a:r>
            <a:endParaRPr/>
          </a:p>
        </p:txBody>
      </p:sp>
      <p:sp>
        <p:nvSpPr>
          <p:cNvPr id="258" name="Google Shape;258;p3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The system’s operational domain imposes requirements on the system.</a:t>
            </a:r>
            <a:endParaRPr/>
          </a:p>
          <a:p>
            <a:pPr marL="742950" lvl="1" indent="-285750" algn="l" rtl="0">
              <a:spcBef>
                <a:spcPts val="900"/>
              </a:spcBef>
              <a:spcAft>
                <a:spcPts val="0"/>
              </a:spcAft>
              <a:buClr>
                <a:srgbClr val="46424D"/>
              </a:buClr>
              <a:buSzPts val="2000"/>
              <a:buChar char="▪"/>
            </a:pPr>
            <a:r>
              <a:rPr lang="en-US"/>
              <a:t>For example, a train control system has to take into account the braking characteristics in different weather conditions.</a:t>
            </a:r>
            <a:endParaRPr/>
          </a:p>
          <a:p>
            <a:pPr marL="342900" lvl="0" indent="-342900" algn="l" rtl="0">
              <a:spcBef>
                <a:spcPts val="900"/>
              </a:spcBef>
              <a:spcAft>
                <a:spcPts val="0"/>
              </a:spcAft>
              <a:buClr>
                <a:srgbClr val="46424D"/>
              </a:buClr>
              <a:buSzPts val="2400"/>
              <a:buFont typeface="Noto Sans Symbols"/>
              <a:buChar char="✧"/>
            </a:pPr>
            <a:r>
              <a:rPr lang="en-US"/>
              <a:t>Domain requirements be new functional requirements, constraints on existing requirements or define specific computations.</a:t>
            </a:r>
            <a:endParaRPr/>
          </a:p>
          <a:p>
            <a:pPr marL="342900" lvl="0" indent="-342900" algn="l" rtl="0">
              <a:spcBef>
                <a:spcPts val="1200"/>
              </a:spcBef>
              <a:spcAft>
                <a:spcPts val="0"/>
              </a:spcAft>
              <a:buClr>
                <a:srgbClr val="46424D"/>
              </a:buClr>
              <a:buSzPts val="2400"/>
              <a:buFont typeface="Noto Sans Symbols"/>
              <a:buChar char="✧"/>
            </a:pPr>
            <a:r>
              <a:rPr lang="en-US"/>
              <a:t>If domain requirements are not satisfied, the system may be unworkable.</a:t>
            </a:r>
            <a:endParaRPr/>
          </a:p>
        </p:txBody>
      </p:sp>
      <p:sp>
        <p:nvSpPr>
          <p:cNvPr id="259" name="Google Shape;259;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
        <p:nvSpPr>
          <p:cNvPr id="260" name="Google Shape;260;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5"/>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Train protection system</a:t>
            </a:r>
            <a:endParaRPr/>
          </a:p>
        </p:txBody>
      </p:sp>
      <p:sp>
        <p:nvSpPr>
          <p:cNvPr id="266" name="Google Shape;266;p3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This is a domain requirement for a train protection system:</a:t>
            </a:r>
            <a:endParaRPr/>
          </a:p>
          <a:p>
            <a:pPr marL="342900" lvl="0" indent="-342900" algn="l" rtl="0">
              <a:spcBef>
                <a:spcPts val="1200"/>
              </a:spcBef>
              <a:spcAft>
                <a:spcPts val="0"/>
              </a:spcAft>
              <a:buClr>
                <a:srgbClr val="46424D"/>
              </a:buClr>
              <a:buSzPts val="2400"/>
              <a:buFont typeface="Noto Sans Symbols"/>
              <a:buChar char="✧"/>
            </a:pPr>
            <a:r>
              <a:rPr lang="en-US"/>
              <a:t>The deceleration of the train shall be computed as:</a:t>
            </a:r>
            <a:endParaRPr/>
          </a:p>
          <a:p>
            <a:pPr marL="742950" lvl="1" indent="-285750" algn="l" rtl="0">
              <a:spcBef>
                <a:spcPts val="900"/>
              </a:spcBef>
              <a:spcAft>
                <a:spcPts val="0"/>
              </a:spcAft>
              <a:buClr>
                <a:srgbClr val="46424D"/>
              </a:buClr>
              <a:buSzPts val="2000"/>
              <a:buChar char="▪"/>
            </a:pPr>
            <a:r>
              <a:rPr lang="en-US"/>
              <a:t>Dtrain = Dcontrol + Dgradient </a:t>
            </a:r>
            <a:endParaRPr/>
          </a:p>
          <a:p>
            <a:pPr marL="742950" lvl="1" indent="-158750" algn="l" rtl="0">
              <a:spcBef>
                <a:spcPts val="600"/>
              </a:spcBef>
              <a:spcAft>
                <a:spcPts val="0"/>
              </a:spcAft>
              <a:buClr>
                <a:srgbClr val="46424D"/>
              </a:buClr>
              <a:buSzPts val="2000"/>
              <a:buNone/>
            </a:pPr>
            <a:endParaRPr/>
          </a:p>
          <a:p>
            <a:pPr marL="742950" lvl="1" indent="-285750" algn="l" rtl="0">
              <a:spcBef>
                <a:spcPts val="600"/>
              </a:spcBef>
              <a:spcAft>
                <a:spcPts val="0"/>
              </a:spcAft>
              <a:buClr>
                <a:srgbClr val="46424D"/>
              </a:buClr>
              <a:buSzPts val="2000"/>
              <a:buChar char="▪"/>
            </a:pPr>
            <a:r>
              <a:rPr lang="en-US"/>
              <a:t>where Dgradient is 9.81ms2 * compensated gradient/alpha and where the values of 9.81ms2 /alpha are known for different types of train.</a:t>
            </a:r>
            <a:endParaRPr/>
          </a:p>
          <a:p>
            <a:pPr marL="342900" lvl="0" indent="-342900" algn="l" rtl="0">
              <a:spcBef>
                <a:spcPts val="900"/>
              </a:spcBef>
              <a:spcAft>
                <a:spcPts val="0"/>
              </a:spcAft>
              <a:buClr>
                <a:srgbClr val="46424D"/>
              </a:buClr>
              <a:buSzPts val="2400"/>
              <a:buFont typeface="Noto Sans Symbols"/>
              <a:buChar char="✧"/>
            </a:pPr>
            <a:r>
              <a:rPr lang="en-US"/>
              <a:t>It is difficult for a non-specialist to understand the implications of this and how it interacts with other requirements.</a:t>
            </a:r>
            <a:endParaRPr/>
          </a:p>
        </p:txBody>
      </p:sp>
      <p:sp>
        <p:nvSpPr>
          <p:cNvPr id="267" name="Google Shape;267;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
        <p:nvSpPr>
          <p:cNvPr id="268" name="Google Shape;268;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6"/>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Domain requirements problems</a:t>
            </a:r>
            <a:endParaRPr/>
          </a:p>
        </p:txBody>
      </p:sp>
      <p:sp>
        <p:nvSpPr>
          <p:cNvPr id="274" name="Google Shape;274;p3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Understandability</a:t>
            </a:r>
            <a:endParaRPr/>
          </a:p>
          <a:p>
            <a:pPr marL="742950" lvl="1" indent="-285750" algn="l" rtl="0">
              <a:spcBef>
                <a:spcPts val="900"/>
              </a:spcBef>
              <a:spcAft>
                <a:spcPts val="0"/>
              </a:spcAft>
              <a:buClr>
                <a:srgbClr val="46424D"/>
              </a:buClr>
              <a:buSzPts val="2000"/>
              <a:buChar char="▪"/>
            </a:pPr>
            <a:r>
              <a:rPr lang="en-US"/>
              <a:t>Requirements are expressed in the language of the application domain;</a:t>
            </a:r>
            <a:endParaRPr/>
          </a:p>
          <a:p>
            <a:pPr marL="742950" lvl="1" indent="-285750" algn="l" rtl="0">
              <a:spcBef>
                <a:spcPts val="600"/>
              </a:spcBef>
              <a:spcAft>
                <a:spcPts val="0"/>
              </a:spcAft>
              <a:buClr>
                <a:srgbClr val="46424D"/>
              </a:buClr>
              <a:buSzPts val="2000"/>
              <a:buChar char="▪"/>
            </a:pPr>
            <a:r>
              <a:rPr lang="en-US"/>
              <a:t>This is often not understood by software engineers developing the system.</a:t>
            </a:r>
            <a:endParaRPr/>
          </a:p>
          <a:p>
            <a:pPr marL="342900" lvl="0" indent="-342900" algn="l" rtl="0">
              <a:spcBef>
                <a:spcPts val="900"/>
              </a:spcBef>
              <a:spcAft>
                <a:spcPts val="0"/>
              </a:spcAft>
              <a:buClr>
                <a:srgbClr val="46424D"/>
              </a:buClr>
              <a:buSzPts val="2400"/>
              <a:buFont typeface="Noto Sans Symbols"/>
              <a:buChar char="✧"/>
            </a:pPr>
            <a:r>
              <a:rPr lang="en-US"/>
              <a:t>Implicitness</a:t>
            </a:r>
            <a:endParaRPr/>
          </a:p>
          <a:p>
            <a:pPr marL="742950" lvl="1" indent="-285750" algn="l" rtl="0">
              <a:spcBef>
                <a:spcPts val="900"/>
              </a:spcBef>
              <a:spcAft>
                <a:spcPts val="0"/>
              </a:spcAft>
              <a:buClr>
                <a:srgbClr val="46424D"/>
              </a:buClr>
              <a:buSzPts val="2000"/>
              <a:buChar char="▪"/>
            </a:pPr>
            <a:r>
              <a:rPr lang="en-US"/>
              <a:t>Domain specialists understand the area so well that they do not think of making the domain requirements explicit.</a:t>
            </a:r>
            <a:endParaRPr/>
          </a:p>
        </p:txBody>
      </p:sp>
      <p:sp>
        <p:nvSpPr>
          <p:cNvPr id="275" name="Google Shape;275;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
        <p:nvSpPr>
          <p:cNvPr id="276" name="Google Shape;276;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280"/>
        <p:cNvGrpSpPr/>
        <p:nvPr/>
      </p:nvGrpSpPr>
      <p:grpSpPr>
        <a:xfrm>
          <a:off x="0" y="0"/>
          <a:ext cx="0" cy="0"/>
          <a:chOff x="0" y="0"/>
          <a:chExt cx="0" cy="0"/>
        </a:xfrm>
      </p:grpSpPr>
      <p:sp>
        <p:nvSpPr>
          <p:cNvPr id="281" name="Google Shape;281;p37"/>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Key points</a:t>
            </a:r>
            <a:endParaRPr/>
          </a:p>
        </p:txBody>
      </p:sp>
      <p:sp>
        <p:nvSpPr>
          <p:cNvPr id="282" name="Google Shape;282;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Requirements for a software system set out what the system should do and define constraints on its operation and implementation.</a:t>
            </a:r>
            <a:endParaRPr/>
          </a:p>
          <a:p>
            <a:pPr marL="342900" lvl="0" indent="-342900" algn="l" rtl="0">
              <a:spcBef>
                <a:spcPts val="1200"/>
              </a:spcBef>
              <a:spcAft>
                <a:spcPts val="0"/>
              </a:spcAft>
              <a:buClr>
                <a:srgbClr val="46424D"/>
              </a:buClr>
              <a:buSzPts val="2400"/>
              <a:buFont typeface="Noto Sans Symbols"/>
              <a:buChar char="✧"/>
            </a:pPr>
            <a:r>
              <a:rPr lang="en-US"/>
              <a:t>Functional requirements are statements of the services that the system must provide or are descriptions of how some computations must be carried out. </a:t>
            </a:r>
            <a:endParaRPr/>
          </a:p>
          <a:p>
            <a:pPr marL="342900" lvl="0" indent="-342900" algn="l" rtl="0">
              <a:spcBef>
                <a:spcPts val="1200"/>
              </a:spcBef>
              <a:spcAft>
                <a:spcPts val="0"/>
              </a:spcAft>
              <a:buClr>
                <a:srgbClr val="46424D"/>
              </a:buClr>
              <a:buSzPts val="2400"/>
              <a:buFont typeface="Noto Sans Symbols"/>
              <a:buChar char="✧"/>
            </a:pPr>
            <a:r>
              <a:rPr lang="en-US"/>
              <a:t>Non-functional requirements often constrain the system being developed and the development process being used. </a:t>
            </a:r>
            <a:endParaRPr/>
          </a:p>
          <a:p>
            <a:pPr marL="342900" lvl="0" indent="-342900" algn="l" rtl="0">
              <a:spcBef>
                <a:spcPts val="1200"/>
              </a:spcBef>
              <a:spcAft>
                <a:spcPts val="0"/>
              </a:spcAft>
              <a:buClr>
                <a:srgbClr val="46424D"/>
              </a:buClr>
              <a:buSzPts val="2400"/>
              <a:buFont typeface="Noto Sans Symbols"/>
              <a:buChar char="✧"/>
            </a:pPr>
            <a:r>
              <a:rPr lang="en-US"/>
              <a:t>They often relate to the emergent properties of the system and therefore apply to the system as a whole.</a:t>
            </a:r>
            <a:endParaRPr/>
          </a:p>
          <a:p>
            <a:pPr marL="342900" lvl="0" indent="-190500" algn="l" rtl="0">
              <a:spcBef>
                <a:spcPts val="1200"/>
              </a:spcBef>
              <a:spcAft>
                <a:spcPts val="0"/>
              </a:spcAft>
              <a:buClr>
                <a:srgbClr val="46424D"/>
              </a:buClr>
              <a:buSzPts val="2400"/>
              <a:buFont typeface="Noto Sans Symbols"/>
              <a:buNone/>
            </a:pPr>
            <a:endParaRPr/>
          </a:p>
        </p:txBody>
      </p:sp>
      <p:sp>
        <p:nvSpPr>
          <p:cNvPr id="283" name="Google Shape;283;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
        <p:nvSpPr>
          <p:cNvPr id="284" name="Google Shape;284;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SRS(Software Requirement Specification) document</a:t>
            </a:r>
            <a:endParaRPr dirty="0"/>
          </a:p>
        </p:txBody>
      </p:sp>
      <p:sp>
        <p:nvSpPr>
          <p:cNvPr id="290" name="Google Shape;290;p3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Font typeface="Arial"/>
              <a:buNone/>
            </a:pPr>
            <a:r>
              <a:rPr lang="en-US" dirty="0"/>
              <a:t>Lecture 2</a:t>
            </a:r>
            <a:endParaRPr dirty="0"/>
          </a:p>
        </p:txBody>
      </p:sp>
      <p:sp>
        <p:nvSpPr>
          <p:cNvPr id="291" name="Google Shape;291;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
        <p:nvSpPr>
          <p:cNvPr id="292" name="Google Shape;292;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9"/>
          <p:cNvSpPr txBox="1">
            <a:spLocks noGrp="1"/>
          </p:cNvSpPr>
          <p:nvPr>
            <p:ph type="title"/>
          </p:nvPr>
        </p:nvSpPr>
        <p:spPr>
          <a:xfrm>
            <a:off x="457200" y="274638"/>
            <a:ext cx="7293232"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The software requirements document</a:t>
            </a:r>
            <a:endParaRPr/>
          </a:p>
        </p:txBody>
      </p:sp>
      <p:sp>
        <p:nvSpPr>
          <p:cNvPr id="298" name="Google Shape;298;p39"/>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spcBef>
                <a:spcPts val="0"/>
              </a:spcBef>
              <a:spcAft>
                <a:spcPts val="0"/>
              </a:spcAft>
              <a:buClr>
                <a:srgbClr val="46424D"/>
              </a:buClr>
              <a:buSzPts val="2400"/>
              <a:buFont typeface="Noto Sans Symbols"/>
              <a:buChar char="✧"/>
            </a:pPr>
            <a:r>
              <a:rPr lang="en-US"/>
              <a:t>The software requirements document is the official statement of what is required of the system developers.</a:t>
            </a:r>
            <a:endParaRPr/>
          </a:p>
          <a:p>
            <a:pPr marL="342900" lvl="0" indent="-342900" algn="l" rtl="0">
              <a:spcBef>
                <a:spcPts val="1200"/>
              </a:spcBef>
              <a:spcAft>
                <a:spcPts val="0"/>
              </a:spcAft>
              <a:buClr>
                <a:srgbClr val="46424D"/>
              </a:buClr>
              <a:buSzPts val="2400"/>
              <a:buFont typeface="Noto Sans Symbols"/>
              <a:buChar char="✧"/>
            </a:pPr>
            <a:r>
              <a:rPr lang="en-US"/>
              <a:t>Should include both a definition of user requirements and a specification of the system requirements.</a:t>
            </a:r>
            <a:endParaRPr/>
          </a:p>
          <a:p>
            <a:pPr marL="342900" lvl="0" indent="-342900" algn="l" rtl="0">
              <a:spcBef>
                <a:spcPts val="1200"/>
              </a:spcBef>
              <a:spcAft>
                <a:spcPts val="0"/>
              </a:spcAft>
              <a:buClr>
                <a:srgbClr val="46424D"/>
              </a:buClr>
              <a:buSzPts val="2400"/>
              <a:buFont typeface="Noto Sans Symbols"/>
              <a:buChar char="✧"/>
            </a:pPr>
            <a:r>
              <a:rPr lang="en-US"/>
              <a:t>It is NOT a design document. As far as possible, it should set of WHAT the system should do rather than HOW it should do it.</a:t>
            </a:r>
            <a:endParaRPr/>
          </a:p>
        </p:txBody>
      </p:sp>
      <p:sp>
        <p:nvSpPr>
          <p:cNvPr id="299" name="Google Shape;299;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
        <p:nvSpPr>
          <p:cNvPr id="300" name="Google Shape;300;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304"/>
        <p:cNvGrpSpPr/>
        <p:nvPr/>
      </p:nvGrpSpPr>
      <p:grpSpPr>
        <a:xfrm>
          <a:off x="0" y="0"/>
          <a:ext cx="0" cy="0"/>
          <a:chOff x="0" y="0"/>
          <a:chExt cx="0" cy="0"/>
        </a:xfrm>
      </p:grpSpPr>
      <p:sp>
        <p:nvSpPr>
          <p:cNvPr id="305" name="Google Shape;305;p40"/>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Agile methods and requirements</a:t>
            </a:r>
            <a:endParaRPr/>
          </a:p>
        </p:txBody>
      </p:sp>
      <p:sp>
        <p:nvSpPr>
          <p:cNvPr id="306" name="Google Shape;306;p4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dirty="0"/>
              <a:t>Many agile methods argue that producing a requirements document is a waste of time as requirements change so quickly.</a:t>
            </a:r>
            <a:endParaRPr dirty="0"/>
          </a:p>
          <a:p>
            <a:pPr marL="342900" lvl="0" indent="-342900" algn="l" rtl="0">
              <a:spcBef>
                <a:spcPts val="1200"/>
              </a:spcBef>
              <a:spcAft>
                <a:spcPts val="0"/>
              </a:spcAft>
              <a:buClr>
                <a:srgbClr val="46424D"/>
              </a:buClr>
              <a:buSzPts val="2400"/>
              <a:buFont typeface="Noto Sans Symbols"/>
              <a:buChar char="✧"/>
            </a:pPr>
            <a:r>
              <a:rPr lang="en-US" dirty="0"/>
              <a:t>The document is therefore always out of date.</a:t>
            </a:r>
            <a:endParaRPr dirty="0"/>
          </a:p>
          <a:p>
            <a:pPr marL="342900" lvl="0" indent="-342900" algn="l" rtl="0">
              <a:spcBef>
                <a:spcPts val="1200"/>
              </a:spcBef>
              <a:spcAft>
                <a:spcPts val="0"/>
              </a:spcAft>
              <a:buClr>
                <a:srgbClr val="46424D"/>
              </a:buClr>
              <a:buSzPts val="2400"/>
              <a:buFont typeface="Noto Sans Symbols"/>
              <a:buChar char="✧"/>
            </a:pPr>
            <a:r>
              <a:rPr lang="en-US" dirty="0"/>
              <a:t>Methods such as XP use incremental requirements engineering and express requirements as .</a:t>
            </a:r>
            <a:endParaRPr dirty="0"/>
          </a:p>
          <a:p>
            <a:pPr marL="342900" lvl="0" indent="-342900" algn="l" rtl="0">
              <a:spcBef>
                <a:spcPts val="1200"/>
              </a:spcBef>
              <a:spcAft>
                <a:spcPts val="0"/>
              </a:spcAft>
              <a:buClr>
                <a:srgbClr val="46424D"/>
              </a:buClr>
              <a:buSzPts val="2400"/>
              <a:buFont typeface="Noto Sans Symbols"/>
              <a:buChar char="✧"/>
            </a:pPr>
            <a:r>
              <a:rPr lang="en-US" dirty="0"/>
              <a:t>This is practical for business systems but problematic for systems that require a lot of pre-delivery analysis (e.g. critical systems) or systems developed by several teams.</a:t>
            </a:r>
            <a:endParaRPr dirty="0"/>
          </a:p>
        </p:txBody>
      </p:sp>
      <p:sp>
        <p:nvSpPr>
          <p:cNvPr id="307" name="Google Shape;307;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
        <p:nvSpPr>
          <p:cNvPr id="308" name="Google Shape;308;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Chapter 4 Requirements engineering</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1"/>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Users of a requirements document </a:t>
            </a:r>
            <a:endParaRPr/>
          </a:p>
        </p:txBody>
      </p:sp>
      <p:pic>
        <p:nvPicPr>
          <p:cNvPr id="314" name="Google Shape;314;p41" descr="4.6 ReqDocUsers.eps"/>
          <p:cNvPicPr preferRelativeResize="0"/>
          <p:nvPr/>
        </p:nvPicPr>
        <p:blipFill rotWithShape="1">
          <a:blip r:embed="rId3">
            <a:alphaModFix/>
          </a:blip>
          <a:srcRect/>
          <a:stretch/>
        </p:blipFill>
        <p:spPr>
          <a:xfrm>
            <a:off x="2514600" y="1486176"/>
            <a:ext cx="3810000" cy="4870174"/>
          </a:xfrm>
          <a:prstGeom prst="rect">
            <a:avLst/>
          </a:prstGeom>
          <a:noFill/>
          <a:ln>
            <a:noFill/>
          </a:ln>
        </p:spPr>
      </p:pic>
      <p:sp>
        <p:nvSpPr>
          <p:cNvPr id="315" name="Google Shape;315;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
        <p:nvSpPr>
          <p:cNvPr id="316" name="Google Shape;316;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2"/>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Requirements document variability</a:t>
            </a:r>
            <a:endParaRPr/>
          </a:p>
        </p:txBody>
      </p:sp>
      <p:sp>
        <p:nvSpPr>
          <p:cNvPr id="322" name="Google Shape;322;p4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Information in requirements document depends on type of system and the approach to development used.</a:t>
            </a:r>
            <a:endParaRPr/>
          </a:p>
          <a:p>
            <a:pPr marL="342900" lvl="0" indent="-342900" algn="l" rtl="0">
              <a:spcBef>
                <a:spcPts val="1200"/>
              </a:spcBef>
              <a:spcAft>
                <a:spcPts val="0"/>
              </a:spcAft>
              <a:buClr>
                <a:srgbClr val="46424D"/>
              </a:buClr>
              <a:buSzPts val="2400"/>
              <a:buFont typeface="Noto Sans Symbols"/>
              <a:buChar char="✧"/>
            </a:pPr>
            <a:r>
              <a:rPr lang="en-US"/>
              <a:t>Systems developed incrementally will, typically, have less detail in the requirements document.</a:t>
            </a:r>
            <a:endParaRPr/>
          </a:p>
          <a:p>
            <a:pPr marL="342900" lvl="0" indent="-342900" algn="l" rtl="0">
              <a:spcBef>
                <a:spcPts val="1200"/>
              </a:spcBef>
              <a:spcAft>
                <a:spcPts val="0"/>
              </a:spcAft>
              <a:buClr>
                <a:srgbClr val="46424D"/>
              </a:buClr>
              <a:buSzPts val="2400"/>
              <a:buFont typeface="Noto Sans Symbols"/>
              <a:buChar char="✧"/>
            </a:pPr>
            <a:r>
              <a:rPr lang="en-US"/>
              <a:t>Requirements documents standards have been designed e.g. IEEE standard. These are mostly applicable to the requirements for large systems engineering projects.</a:t>
            </a:r>
            <a:endParaRPr/>
          </a:p>
        </p:txBody>
      </p:sp>
      <p:sp>
        <p:nvSpPr>
          <p:cNvPr id="323" name="Google Shape;323;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
        <p:nvSpPr>
          <p:cNvPr id="324" name="Google Shape;324;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3"/>
          <p:cNvSpPr txBox="1">
            <a:spLocks noGrp="1"/>
          </p:cNvSpPr>
          <p:nvPr>
            <p:ph type="title"/>
          </p:nvPr>
        </p:nvSpPr>
        <p:spPr>
          <a:xfrm>
            <a:off x="176213" y="206375"/>
            <a:ext cx="7367587" cy="10890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The structure of a requirements</a:t>
            </a:r>
            <a:r>
              <a:rPr lang="en-US" b="1"/>
              <a:t> </a:t>
            </a:r>
            <a:r>
              <a:rPr lang="en-US"/>
              <a:t>document </a:t>
            </a:r>
            <a:endParaRPr/>
          </a:p>
        </p:txBody>
      </p:sp>
      <p:graphicFrame>
        <p:nvGraphicFramePr>
          <p:cNvPr id="330" name="Google Shape;330;p43"/>
          <p:cNvGraphicFramePr/>
          <p:nvPr/>
        </p:nvGraphicFramePr>
        <p:xfrm>
          <a:off x="762000" y="1828800"/>
          <a:ext cx="7924800" cy="4480630"/>
        </p:xfrm>
        <a:graphic>
          <a:graphicData uri="http://schemas.openxmlformats.org/drawingml/2006/table">
            <a:tbl>
              <a:tblPr>
                <a:noFill/>
                <a:tableStyleId>{28B39C51-5C02-4F05-B3DF-5B42D8DC3CAC}</a:tableStyleId>
              </a:tblPr>
              <a:tblGrid>
                <a:gridCol w="19050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14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Chapter</a:t>
                      </a:r>
                      <a:endParaRPr sz="1400" b="1" i="0" u="none" strike="noStrike" cap="none">
                        <a:solidFill>
                          <a:srgbClr val="000000"/>
                        </a:solidFill>
                        <a:latin typeface="Arial"/>
                        <a:ea typeface="Arial"/>
                        <a:cs typeface="Arial"/>
                        <a:sym typeface="Arial"/>
                      </a:endParaRPr>
                    </a:p>
                  </a:txBody>
                  <a:tcPr marL="54600" marR="54600" marT="9145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Description</a:t>
                      </a:r>
                      <a:endParaRPr sz="1400" b="1" i="0" u="none" strike="noStrike" cap="none">
                        <a:solidFill>
                          <a:srgbClr val="000000"/>
                        </a:solidFill>
                        <a:latin typeface="Arial"/>
                        <a:ea typeface="Arial"/>
                        <a:cs typeface="Arial"/>
                        <a:sym typeface="Arial"/>
                      </a:endParaRPr>
                    </a:p>
                  </a:txBody>
                  <a:tcPr marL="54600" marR="54600" marT="9145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714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Preface</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This should define the expected readership of the document and describe its version history, including a rationale for the creation of a new version and a summary of the changes made in each version. </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1"/>
                  </a:ext>
                </a:extLst>
              </a:tr>
              <a:tr h="3714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Introduction</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This should describe the need for the system. It should briefly describe the system’s functions and explain how it will work with other systems. It should also describe how the system fits into the overall business or strategic objectives of the organization commissioning the software.</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3714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Glossary</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This should define the technical terms used in the document. You should not make assumptions about the experience or expertise of the reader.</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3"/>
                  </a:ext>
                </a:extLst>
              </a:tr>
              <a:tr h="3714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User requirements definition</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Here, you describe the services provided for the user. The nonfunctional system requirements should also be described in this section. This description may use natural language, diagrams, or other notations that are understandable to customers. Product and process standards that must be followed should be specified.</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4"/>
                  </a:ext>
                </a:extLst>
              </a:tr>
              <a:tr h="3714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System architecture</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This chapter should present a high-level overview of the anticipated system architecture, showing the distribution of functions across system modules. Architectural components that are reused should be highlighted.</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5"/>
                  </a:ext>
                </a:extLst>
              </a:tr>
            </a:tbl>
          </a:graphicData>
        </a:graphic>
      </p:graphicFrame>
      <p:sp>
        <p:nvSpPr>
          <p:cNvPr id="331" name="Google Shape;331;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
        <p:nvSpPr>
          <p:cNvPr id="332" name="Google Shape;332;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4"/>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The structure of a requirements document </a:t>
            </a:r>
            <a:endParaRPr/>
          </a:p>
        </p:txBody>
      </p:sp>
      <p:graphicFrame>
        <p:nvGraphicFramePr>
          <p:cNvPr id="338" name="Google Shape;338;p44"/>
          <p:cNvGraphicFramePr/>
          <p:nvPr/>
        </p:nvGraphicFramePr>
        <p:xfrm>
          <a:off x="457200" y="1676400"/>
          <a:ext cx="8229600" cy="4680805"/>
        </p:xfrm>
        <a:graphic>
          <a:graphicData uri="http://schemas.openxmlformats.org/drawingml/2006/table">
            <a:tbl>
              <a:tblPr firstRow="1" bandRow="1">
                <a:noFill/>
                <a:tableStyleId>{51068E81-88AB-4FB5-A8C8-9D47E4D06A6E}</a:tableStyleId>
              </a:tblPr>
              <a:tblGrid>
                <a:gridCol w="1676400">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19975">
                <a:tc>
                  <a:txBody>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Chapter</a:t>
                      </a:r>
                      <a:endParaRPr sz="1400">
                        <a:solidFill>
                          <a:schemeClr val="dk1"/>
                        </a:solidFill>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Description</a:t>
                      </a:r>
                      <a:endParaRPr sz="1400">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698900">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System requirements specification</a:t>
                      </a:r>
                      <a:endParaRPr sz="1400" b="0" i="0" u="none" strike="noStrike" cap="none">
                        <a:solidFill>
                          <a:srgbClr val="000000"/>
                        </a:solidFill>
                        <a:latin typeface="Arial"/>
                        <a:ea typeface="Arial"/>
                        <a:cs typeface="Arial"/>
                        <a:sym typeface="Arial"/>
                      </a:endParaRPr>
                    </a:p>
                  </a:txBody>
                  <a:tcPr marL="54600" marR="54600" marT="0" marB="91450"/>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This should describe the functional and nonfunctional requirements in more detail. If necessary, further detail may also be added to the nonfunctional requirements. Interfaces to other systems may be defined.</a:t>
                      </a:r>
                      <a:endParaRPr sz="1400" b="0" i="0" u="none" strike="noStrike" cap="none">
                        <a:solidFill>
                          <a:srgbClr val="000000"/>
                        </a:solidFill>
                        <a:latin typeface="Arial"/>
                        <a:ea typeface="Arial"/>
                        <a:cs typeface="Arial"/>
                        <a:sym typeface="Arial"/>
                      </a:endParaRPr>
                    </a:p>
                  </a:txBody>
                  <a:tcPr marL="54600" marR="54600" marT="0" marB="91450"/>
                </a:tc>
                <a:extLst>
                  <a:ext uri="{0D108BD9-81ED-4DB2-BD59-A6C34878D82A}">
                    <a16:rowId xmlns:a16="http://schemas.microsoft.com/office/drawing/2014/main" val="10001"/>
                  </a:ext>
                </a:extLst>
              </a:tr>
              <a:tr h="8152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System models</a:t>
                      </a:r>
                      <a:endParaRPr sz="1400" b="0" i="0" u="none" strike="noStrike" cap="none">
                        <a:solidFill>
                          <a:srgbClr val="000000"/>
                        </a:solidFill>
                        <a:latin typeface="Arial"/>
                        <a:ea typeface="Arial"/>
                        <a:cs typeface="Arial"/>
                        <a:sym typeface="Arial"/>
                      </a:endParaRPr>
                    </a:p>
                  </a:txBody>
                  <a:tcPr marL="54600" marR="54600" marT="0" marB="91450"/>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This might include graphical system models showing the relationships between the system components and the system and its environment. Examples of possible models are object models, data-flow models, or semantic data models. </a:t>
                      </a:r>
                      <a:endParaRPr sz="1400" b="0" i="0" u="none" strike="noStrike" cap="none">
                        <a:solidFill>
                          <a:srgbClr val="000000"/>
                        </a:solidFill>
                        <a:latin typeface="Arial"/>
                        <a:ea typeface="Arial"/>
                        <a:cs typeface="Arial"/>
                        <a:sym typeface="Arial"/>
                      </a:endParaRPr>
                    </a:p>
                  </a:txBody>
                  <a:tcPr marL="54600" marR="54600" marT="0" marB="91450"/>
                </a:tc>
                <a:extLst>
                  <a:ext uri="{0D108BD9-81ED-4DB2-BD59-A6C34878D82A}">
                    <a16:rowId xmlns:a16="http://schemas.microsoft.com/office/drawing/2014/main" val="10002"/>
                  </a:ext>
                </a:extLst>
              </a:tr>
              <a:tr h="9993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System evolution</a:t>
                      </a:r>
                      <a:endParaRPr sz="1400" b="0" i="0" u="none" strike="noStrike" cap="none">
                        <a:solidFill>
                          <a:srgbClr val="000000"/>
                        </a:solidFill>
                        <a:latin typeface="Arial"/>
                        <a:ea typeface="Arial"/>
                        <a:cs typeface="Arial"/>
                        <a:sym typeface="Arial"/>
                      </a:endParaRPr>
                    </a:p>
                  </a:txBody>
                  <a:tcPr marL="54600" marR="54600" marT="0" marB="91450"/>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This should describe the fundamental assumptions on which the system is based, and any anticipated changes due to hardware evolution, changing user needs, and so on. This section is useful for system designers as it may help them avoid design decisions that would constrain likely future changes to the system.</a:t>
                      </a:r>
                      <a:endParaRPr sz="1400" b="0" i="0" u="none" strike="noStrike" cap="none">
                        <a:solidFill>
                          <a:srgbClr val="000000"/>
                        </a:solidFill>
                        <a:latin typeface="Arial"/>
                        <a:ea typeface="Arial"/>
                        <a:cs typeface="Arial"/>
                        <a:sym typeface="Arial"/>
                      </a:endParaRPr>
                    </a:p>
                  </a:txBody>
                  <a:tcPr marL="54600" marR="54600" marT="0" marB="91450"/>
                </a:tc>
                <a:extLst>
                  <a:ext uri="{0D108BD9-81ED-4DB2-BD59-A6C34878D82A}">
                    <a16:rowId xmlns:a16="http://schemas.microsoft.com/office/drawing/2014/main" val="10003"/>
                  </a:ext>
                </a:extLst>
              </a:tr>
              <a:tr h="11834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Appendices</a:t>
                      </a:r>
                      <a:endParaRPr sz="1400" b="0" i="0" u="none" strike="noStrike" cap="none">
                        <a:solidFill>
                          <a:srgbClr val="000000"/>
                        </a:solidFill>
                        <a:latin typeface="Arial"/>
                        <a:ea typeface="Arial"/>
                        <a:cs typeface="Arial"/>
                        <a:sym typeface="Arial"/>
                      </a:endParaRPr>
                    </a:p>
                  </a:txBody>
                  <a:tcPr marL="54600" marR="54600" marT="0" marB="91450"/>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These should provide detailed, specific information that is related to the application being developed; for example, hardware and database descriptions. Hardware requirements define the minimal and optimal configurations for the system. Database requirements define the logical organization of the data used by the system and the relationships between data. </a:t>
                      </a:r>
                      <a:endParaRPr sz="1400" b="0" i="0" u="none" strike="noStrike" cap="none">
                        <a:solidFill>
                          <a:srgbClr val="000000"/>
                        </a:solidFill>
                        <a:latin typeface="Arial"/>
                        <a:ea typeface="Arial"/>
                        <a:cs typeface="Arial"/>
                        <a:sym typeface="Arial"/>
                      </a:endParaRPr>
                    </a:p>
                  </a:txBody>
                  <a:tcPr marL="54600" marR="54600" marT="0" marB="91450"/>
                </a:tc>
                <a:extLst>
                  <a:ext uri="{0D108BD9-81ED-4DB2-BD59-A6C34878D82A}">
                    <a16:rowId xmlns:a16="http://schemas.microsoft.com/office/drawing/2014/main" val="10004"/>
                  </a:ext>
                </a:extLst>
              </a:tr>
              <a:tr h="6311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Index</a:t>
                      </a:r>
                      <a:endParaRPr sz="1400" b="0" i="0" u="none" strike="noStrike" cap="none">
                        <a:solidFill>
                          <a:srgbClr val="000000"/>
                        </a:solidFill>
                        <a:latin typeface="Arial"/>
                        <a:ea typeface="Arial"/>
                        <a:cs typeface="Arial"/>
                        <a:sym typeface="Arial"/>
                      </a:endParaRPr>
                    </a:p>
                  </a:txBody>
                  <a:tcPr marL="54600" marR="54600" marT="0" marB="91450"/>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Several indexes to the document may be included. As well as a normal alphabetic index, there may be an index of diagrams, an index of functions, and so on.</a:t>
                      </a:r>
                      <a:endParaRPr sz="1400" b="0" i="0" u="none" strike="noStrike" cap="none">
                        <a:solidFill>
                          <a:srgbClr val="000000"/>
                        </a:solidFill>
                        <a:latin typeface="Arial"/>
                        <a:ea typeface="Arial"/>
                        <a:cs typeface="Arial"/>
                        <a:sym typeface="Arial"/>
                      </a:endParaRPr>
                    </a:p>
                  </a:txBody>
                  <a:tcPr marL="54600" marR="54600" marT="0" marB="91450"/>
                </a:tc>
                <a:extLst>
                  <a:ext uri="{0D108BD9-81ED-4DB2-BD59-A6C34878D82A}">
                    <a16:rowId xmlns:a16="http://schemas.microsoft.com/office/drawing/2014/main" val="10005"/>
                  </a:ext>
                </a:extLst>
              </a:tr>
            </a:tbl>
          </a:graphicData>
        </a:graphic>
      </p:graphicFrame>
      <p:sp>
        <p:nvSpPr>
          <p:cNvPr id="339" name="Google Shape;339;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
        <p:nvSpPr>
          <p:cNvPr id="340" name="Google Shape;340;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45"/>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Requirements specification</a:t>
            </a:r>
            <a:endParaRPr/>
          </a:p>
        </p:txBody>
      </p:sp>
      <p:sp>
        <p:nvSpPr>
          <p:cNvPr id="346" name="Google Shape;346;p4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dirty="0"/>
              <a:t>The process of writing the user and system requirements in a requirements document.</a:t>
            </a:r>
            <a:endParaRPr dirty="0"/>
          </a:p>
          <a:p>
            <a:pPr marL="342900" lvl="0" indent="-342900" algn="l" rtl="0">
              <a:spcBef>
                <a:spcPts val="1200"/>
              </a:spcBef>
              <a:spcAft>
                <a:spcPts val="0"/>
              </a:spcAft>
              <a:buClr>
                <a:srgbClr val="46424D"/>
              </a:buClr>
              <a:buSzPts val="2400"/>
              <a:buFont typeface="Noto Sans Symbols"/>
              <a:buChar char="✧"/>
            </a:pPr>
            <a:r>
              <a:rPr lang="en-US" dirty="0"/>
              <a:t>User requirements have to be understandable by end-users and customers who do not have a technical background.</a:t>
            </a:r>
            <a:endParaRPr dirty="0"/>
          </a:p>
          <a:p>
            <a:pPr marL="342900" lvl="0" indent="-342900" algn="l" rtl="0">
              <a:spcBef>
                <a:spcPts val="1200"/>
              </a:spcBef>
              <a:spcAft>
                <a:spcPts val="0"/>
              </a:spcAft>
              <a:buClr>
                <a:srgbClr val="46424D"/>
              </a:buClr>
              <a:buSzPts val="2400"/>
              <a:buFont typeface="Noto Sans Symbols"/>
              <a:buChar char="✧"/>
            </a:pPr>
            <a:r>
              <a:rPr lang="en-US" dirty="0"/>
              <a:t>System requirements are more detailed requirements and may include more technical information.</a:t>
            </a:r>
            <a:endParaRPr dirty="0"/>
          </a:p>
          <a:p>
            <a:pPr marL="342900" lvl="0" indent="-342900" algn="l" rtl="0">
              <a:spcBef>
                <a:spcPts val="1200"/>
              </a:spcBef>
              <a:spcAft>
                <a:spcPts val="0"/>
              </a:spcAft>
              <a:buClr>
                <a:srgbClr val="46424D"/>
              </a:buClr>
              <a:buSzPts val="2400"/>
              <a:buFont typeface="Noto Sans Symbols"/>
              <a:buChar char="✧"/>
            </a:pPr>
            <a:r>
              <a:rPr lang="en-US" dirty="0"/>
              <a:t>The requirements may be part of a contract for the system development</a:t>
            </a:r>
            <a:endParaRPr dirty="0"/>
          </a:p>
          <a:p>
            <a:pPr marL="742950" lvl="1" indent="-285750" algn="l" rtl="0">
              <a:spcBef>
                <a:spcPts val="900"/>
              </a:spcBef>
              <a:spcAft>
                <a:spcPts val="0"/>
              </a:spcAft>
              <a:buClr>
                <a:srgbClr val="46424D"/>
              </a:buClr>
              <a:buSzPts val="2000"/>
              <a:buChar char="▪"/>
            </a:pPr>
            <a:r>
              <a:rPr lang="en-US" dirty="0"/>
              <a:t>It is therefore important that these are as complete as possible.</a:t>
            </a:r>
            <a:endParaRPr dirty="0"/>
          </a:p>
        </p:txBody>
      </p:sp>
      <p:sp>
        <p:nvSpPr>
          <p:cNvPr id="347" name="Google Shape;347;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
        <p:nvSpPr>
          <p:cNvPr id="348" name="Google Shape;348;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6"/>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Ways of writing a system requirements specification </a:t>
            </a:r>
            <a:endParaRPr/>
          </a:p>
        </p:txBody>
      </p:sp>
      <p:graphicFrame>
        <p:nvGraphicFramePr>
          <p:cNvPr id="354" name="Google Shape;354;p46"/>
          <p:cNvGraphicFramePr/>
          <p:nvPr/>
        </p:nvGraphicFramePr>
        <p:xfrm>
          <a:off x="685800" y="1595479"/>
          <a:ext cx="7924800" cy="4805370"/>
        </p:xfrm>
        <a:graphic>
          <a:graphicData uri="http://schemas.openxmlformats.org/drawingml/2006/table">
            <a:tbl>
              <a:tblPr>
                <a:noFill/>
                <a:tableStyleId>{28B39C51-5C02-4F05-B3DF-5B42D8DC3CAC}</a:tableStyleId>
              </a:tblPr>
              <a:tblGrid>
                <a:gridCol w="1733550">
                  <a:extLst>
                    <a:ext uri="{9D8B030D-6E8A-4147-A177-3AD203B41FA5}">
                      <a16:colId xmlns:a16="http://schemas.microsoft.com/office/drawing/2014/main" val="20000"/>
                    </a:ext>
                  </a:extLst>
                </a:gridCol>
                <a:gridCol w="6191250">
                  <a:extLst>
                    <a:ext uri="{9D8B030D-6E8A-4147-A177-3AD203B41FA5}">
                      <a16:colId xmlns:a16="http://schemas.microsoft.com/office/drawing/2014/main" val="20001"/>
                    </a:ext>
                  </a:extLst>
                </a:gridCol>
              </a:tblGrid>
              <a:tr h="370275">
                <a:tc>
                  <a:txBody>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Notation</a:t>
                      </a:r>
                      <a:endParaRPr sz="1400" b="1" i="0" u="none" strike="noStrike" cap="none">
                        <a:solidFill>
                          <a:srgbClr val="FFFFFF"/>
                        </a:solidFill>
                        <a:latin typeface="Arial"/>
                        <a:ea typeface="Arial"/>
                        <a:cs typeface="Arial"/>
                        <a:sym typeface="Arial"/>
                      </a:endParaRPr>
                    </a:p>
                  </a:txBody>
                  <a:tcPr marL="73025" marR="73025" marT="9145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Description</a:t>
                      </a:r>
                      <a:endParaRPr/>
                    </a:p>
                  </a:txBody>
                  <a:tcPr marL="73025" marR="73025" marT="9145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627850">
                <a:tc>
                  <a:txBody>
                    <a:bodyPr/>
                    <a:lstStyle/>
                    <a:p>
                      <a:pPr marL="0" marR="0" lvl="0" indent="0" algn="just"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Natural language</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The requirements are written using numbered sentences in natural language. Each sentence should express one requirement.</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1"/>
                  </a:ext>
                </a:extLst>
              </a:tr>
              <a:tr h="627850">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Structured natural language </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The requirements are written in natural language on a standard form or template. Each field provides information about an aspect of the requirement.</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98202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Design description languages</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This approach uses a language like a programming language, but with more abstract features to specify the requirements by defining an operational model of the system. This approach is now rarely used although it can be useful for interface specifications.</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3"/>
                  </a:ext>
                </a:extLst>
              </a:tr>
              <a:tr h="627850">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Graphical notations</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Graphical models, supplemented by text annotations, are used to define the functional requirements for the system; UML use case and sequence diagrams are commonly used.</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4"/>
                  </a:ext>
                </a:extLst>
              </a:tr>
              <a:tr h="13361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Mathematical specifications</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5"/>
                  </a:ext>
                </a:extLst>
              </a:tr>
            </a:tbl>
          </a:graphicData>
        </a:graphic>
      </p:graphicFrame>
      <p:sp>
        <p:nvSpPr>
          <p:cNvPr id="355" name="Google Shape;355;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
        <p:nvSpPr>
          <p:cNvPr id="356" name="Google Shape;356;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47"/>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Requirements and design</a:t>
            </a:r>
            <a:endParaRPr/>
          </a:p>
        </p:txBody>
      </p:sp>
      <p:sp>
        <p:nvSpPr>
          <p:cNvPr id="362" name="Google Shape;362;p4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rgbClr val="46424D"/>
              </a:buClr>
              <a:buSzPts val="2400"/>
              <a:buChar char="✧"/>
            </a:pPr>
            <a:r>
              <a:rPr lang="en-US"/>
              <a:t>In principle, requirements should state what the system should do and the design should describe how it does this.</a:t>
            </a:r>
            <a:endParaRPr/>
          </a:p>
          <a:p>
            <a:pPr marL="342900" lvl="0" indent="-342900" algn="l" rtl="0">
              <a:lnSpc>
                <a:spcPct val="90000"/>
              </a:lnSpc>
              <a:spcBef>
                <a:spcPts val="1200"/>
              </a:spcBef>
              <a:spcAft>
                <a:spcPts val="0"/>
              </a:spcAft>
              <a:buClr>
                <a:srgbClr val="46424D"/>
              </a:buClr>
              <a:buSzPts val="2400"/>
              <a:buChar char="✧"/>
            </a:pPr>
            <a:r>
              <a:rPr lang="en-US"/>
              <a:t>In practice, requirements and design are inseparable</a:t>
            </a:r>
            <a:endParaRPr/>
          </a:p>
          <a:p>
            <a:pPr marL="742950" lvl="1" indent="-285750" algn="l" rtl="0">
              <a:lnSpc>
                <a:spcPct val="90000"/>
              </a:lnSpc>
              <a:spcBef>
                <a:spcPts val="900"/>
              </a:spcBef>
              <a:spcAft>
                <a:spcPts val="0"/>
              </a:spcAft>
              <a:buClr>
                <a:srgbClr val="46424D"/>
              </a:buClr>
              <a:buSzPts val="2000"/>
              <a:buChar char="▪"/>
            </a:pPr>
            <a:r>
              <a:rPr lang="en-US"/>
              <a:t>A system architecture may be designed to structure the requirements;</a:t>
            </a:r>
            <a:endParaRPr/>
          </a:p>
          <a:p>
            <a:pPr marL="742950" lvl="1" indent="-285750" algn="l" rtl="0">
              <a:lnSpc>
                <a:spcPct val="90000"/>
              </a:lnSpc>
              <a:spcBef>
                <a:spcPts val="600"/>
              </a:spcBef>
              <a:spcAft>
                <a:spcPts val="0"/>
              </a:spcAft>
              <a:buClr>
                <a:srgbClr val="46424D"/>
              </a:buClr>
              <a:buSzPts val="2000"/>
              <a:buChar char="▪"/>
            </a:pPr>
            <a:r>
              <a:rPr lang="en-US"/>
              <a:t>The system may inter-operate with other systems that generate design requirements;</a:t>
            </a:r>
            <a:endParaRPr/>
          </a:p>
          <a:p>
            <a:pPr marL="742950" lvl="1" indent="-285750" algn="l" rtl="0">
              <a:lnSpc>
                <a:spcPct val="90000"/>
              </a:lnSpc>
              <a:spcBef>
                <a:spcPts val="600"/>
              </a:spcBef>
              <a:spcAft>
                <a:spcPts val="0"/>
              </a:spcAft>
              <a:buClr>
                <a:srgbClr val="46424D"/>
              </a:buClr>
              <a:buSzPts val="2000"/>
              <a:buChar char="▪"/>
            </a:pPr>
            <a:r>
              <a:rPr lang="en-US"/>
              <a:t>The use of a specific architecture to satisfy non-functional requirements may be a domain requirement.</a:t>
            </a:r>
            <a:endParaRPr sz="1800"/>
          </a:p>
          <a:p>
            <a:pPr marL="742950" lvl="1" indent="-285750" algn="l" rtl="0">
              <a:lnSpc>
                <a:spcPct val="90000"/>
              </a:lnSpc>
              <a:spcBef>
                <a:spcPts val="600"/>
              </a:spcBef>
              <a:spcAft>
                <a:spcPts val="0"/>
              </a:spcAft>
              <a:buClr>
                <a:srgbClr val="46424D"/>
              </a:buClr>
              <a:buSzPts val="1800"/>
              <a:buChar char="▪"/>
            </a:pPr>
            <a:r>
              <a:rPr lang="en-US" sz="1800"/>
              <a:t>This may be the consequence of a regulatory requirement.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48"/>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Natural language specification</a:t>
            </a:r>
            <a:endParaRPr/>
          </a:p>
        </p:txBody>
      </p:sp>
      <p:sp>
        <p:nvSpPr>
          <p:cNvPr id="368" name="Google Shape;368;p4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Requirements are written as natural language sentences supplemented by diagrams and tables.</a:t>
            </a:r>
            <a:endParaRPr/>
          </a:p>
          <a:p>
            <a:pPr marL="342900" lvl="0" indent="-342900" algn="l" rtl="0">
              <a:spcBef>
                <a:spcPts val="1200"/>
              </a:spcBef>
              <a:spcAft>
                <a:spcPts val="0"/>
              </a:spcAft>
              <a:buClr>
                <a:srgbClr val="46424D"/>
              </a:buClr>
              <a:buSzPts val="2400"/>
              <a:buFont typeface="Noto Sans Symbols"/>
              <a:buChar char="✧"/>
            </a:pPr>
            <a:r>
              <a:rPr lang="en-US"/>
              <a:t>Used for writing requirements because it is expressive, intuitive and universal. This means that the requirements  can be understood by users and customers.</a:t>
            </a:r>
            <a:endParaRPr/>
          </a:p>
        </p:txBody>
      </p:sp>
      <p:sp>
        <p:nvSpPr>
          <p:cNvPr id="369" name="Google Shape;369;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
        <p:nvSpPr>
          <p:cNvPr id="370" name="Google Shape;370;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49"/>
          <p:cNvSpPr txBox="1">
            <a:spLocks noGrp="1"/>
          </p:cNvSpPr>
          <p:nvPr>
            <p:ph type="title"/>
          </p:nvPr>
        </p:nvSpPr>
        <p:spPr>
          <a:xfrm>
            <a:off x="381000" y="266700"/>
            <a:ext cx="8229600" cy="1104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Guidelines for writing requirements</a:t>
            </a:r>
            <a:endParaRPr/>
          </a:p>
        </p:txBody>
      </p:sp>
      <p:sp>
        <p:nvSpPr>
          <p:cNvPr id="376" name="Google Shape;376;p4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Invent a standard format and use it for all requirements.</a:t>
            </a:r>
            <a:endParaRPr/>
          </a:p>
          <a:p>
            <a:pPr marL="342900" lvl="0" indent="-342900" algn="l" rtl="0">
              <a:spcBef>
                <a:spcPts val="1200"/>
              </a:spcBef>
              <a:spcAft>
                <a:spcPts val="0"/>
              </a:spcAft>
              <a:buClr>
                <a:srgbClr val="46424D"/>
              </a:buClr>
              <a:buSzPts val="2400"/>
              <a:buFont typeface="Noto Sans Symbols"/>
              <a:buChar char="✧"/>
            </a:pPr>
            <a:r>
              <a:rPr lang="en-US"/>
              <a:t>Use language in a consistent way. Use shall for mandatory requirements, should for desirable requirements.</a:t>
            </a:r>
            <a:endParaRPr/>
          </a:p>
          <a:p>
            <a:pPr marL="342900" lvl="0" indent="-342900" algn="l" rtl="0">
              <a:spcBef>
                <a:spcPts val="1200"/>
              </a:spcBef>
              <a:spcAft>
                <a:spcPts val="0"/>
              </a:spcAft>
              <a:buClr>
                <a:srgbClr val="46424D"/>
              </a:buClr>
              <a:buSzPts val="2400"/>
              <a:buFont typeface="Noto Sans Symbols"/>
              <a:buChar char="✧"/>
            </a:pPr>
            <a:r>
              <a:rPr lang="en-US"/>
              <a:t>Use text highlighting to identify key parts of the requirement.</a:t>
            </a:r>
            <a:endParaRPr/>
          </a:p>
          <a:p>
            <a:pPr marL="342900" lvl="0" indent="-342900" algn="l" rtl="0">
              <a:spcBef>
                <a:spcPts val="1200"/>
              </a:spcBef>
              <a:spcAft>
                <a:spcPts val="0"/>
              </a:spcAft>
              <a:buClr>
                <a:srgbClr val="46424D"/>
              </a:buClr>
              <a:buSzPts val="2400"/>
              <a:buFont typeface="Noto Sans Symbols"/>
              <a:buChar char="✧"/>
            </a:pPr>
            <a:r>
              <a:rPr lang="en-US"/>
              <a:t>Avoid the use of computer jargon.</a:t>
            </a:r>
            <a:endParaRPr/>
          </a:p>
          <a:p>
            <a:pPr marL="342900" lvl="0" indent="-342900" algn="l" rtl="0">
              <a:spcBef>
                <a:spcPts val="1200"/>
              </a:spcBef>
              <a:spcAft>
                <a:spcPts val="0"/>
              </a:spcAft>
              <a:buClr>
                <a:srgbClr val="46424D"/>
              </a:buClr>
              <a:buSzPts val="2400"/>
              <a:buFont typeface="Noto Sans Symbols"/>
              <a:buChar char="✧"/>
            </a:pPr>
            <a:r>
              <a:rPr lang="en-US"/>
              <a:t>Include an explanation (rationale) of why a requirement is necessary.</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50"/>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Problems with natural language</a:t>
            </a:r>
            <a:endParaRPr/>
          </a:p>
        </p:txBody>
      </p:sp>
      <p:sp>
        <p:nvSpPr>
          <p:cNvPr id="382" name="Google Shape;382;p5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Lack of clarity </a:t>
            </a:r>
            <a:endParaRPr/>
          </a:p>
          <a:p>
            <a:pPr marL="742950" lvl="1" indent="-285750" algn="l" rtl="0">
              <a:spcBef>
                <a:spcPts val="900"/>
              </a:spcBef>
              <a:spcAft>
                <a:spcPts val="0"/>
              </a:spcAft>
              <a:buClr>
                <a:srgbClr val="46424D"/>
              </a:buClr>
              <a:buSzPts val="2000"/>
              <a:buChar char="▪"/>
            </a:pPr>
            <a:r>
              <a:rPr lang="en-US"/>
              <a:t>Precision is difficult without making the document difficult to read.</a:t>
            </a:r>
            <a:endParaRPr/>
          </a:p>
          <a:p>
            <a:pPr marL="342900" lvl="0" indent="-342900" algn="l" rtl="0">
              <a:spcBef>
                <a:spcPts val="900"/>
              </a:spcBef>
              <a:spcAft>
                <a:spcPts val="0"/>
              </a:spcAft>
              <a:buClr>
                <a:srgbClr val="46424D"/>
              </a:buClr>
              <a:buSzPts val="2400"/>
              <a:buFont typeface="Noto Sans Symbols"/>
              <a:buChar char="✧"/>
            </a:pPr>
            <a:r>
              <a:rPr lang="en-US"/>
              <a:t>Requirements confusion</a:t>
            </a:r>
            <a:endParaRPr/>
          </a:p>
          <a:p>
            <a:pPr marL="742950" lvl="1" indent="-285750" algn="l" rtl="0">
              <a:spcBef>
                <a:spcPts val="900"/>
              </a:spcBef>
              <a:spcAft>
                <a:spcPts val="0"/>
              </a:spcAft>
              <a:buClr>
                <a:srgbClr val="46424D"/>
              </a:buClr>
              <a:buSzPts val="2000"/>
              <a:buChar char="▪"/>
            </a:pPr>
            <a:r>
              <a:rPr lang="en-US"/>
              <a:t>Functional and non-functional requirements tend to be mixed-up.</a:t>
            </a:r>
            <a:endParaRPr/>
          </a:p>
          <a:p>
            <a:pPr marL="342900" lvl="0" indent="-342900" algn="l" rtl="0">
              <a:spcBef>
                <a:spcPts val="900"/>
              </a:spcBef>
              <a:spcAft>
                <a:spcPts val="0"/>
              </a:spcAft>
              <a:buClr>
                <a:srgbClr val="46424D"/>
              </a:buClr>
              <a:buSzPts val="2400"/>
              <a:buFont typeface="Noto Sans Symbols"/>
              <a:buChar char="✧"/>
            </a:pPr>
            <a:r>
              <a:rPr lang="en-US"/>
              <a:t>Requirements amalgamation</a:t>
            </a:r>
            <a:endParaRPr/>
          </a:p>
          <a:p>
            <a:pPr marL="742950" lvl="1" indent="-285750" algn="l" rtl="0">
              <a:spcBef>
                <a:spcPts val="900"/>
              </a:spcBef>
              <a:spcAft>
                <a:spcPts val="0"/>
              </a:spcAft>
              <a:buClr>
                <a:srgbClr val="46424D"/>
              </a:buClr>
              <a:buSzPts val="2000"/>
              <a:buChar char="▪"/>
            </a:pPr>
            <a:r>
              <a:rPr lang="en-US"/>
              <a:t>Several different requirements may be expressed together.</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51"/>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Example requirements for the insulin pump software system </a:t>
            </a:r>
            <a:endParaRPr/>
          </a:p>
        </p:txBody>
      </p:sp>
      <p:graphicFrame>
        <p:nvGraphicFramePr>
          <p:cNvPr id="388" name="Google Shape;388;p51"/>
          <p:cNvGraphicFramePr/>
          <p:nvPr/>
        </p:nvGraphicFramePr>
        <p:xfrm>
          <a:off x="1524000" y="2209800"/>
          <a:ext cx="6096000" cy="3383290"/>
        </p:xfrm>
        <a:graphic>
          <a:graphicData uri="http://schemas.openxmlformats.org/drawingml/2006/table">
            <a:tbl>
              <a:tblPr firstRow="1" bandRow="1">
                <a:noFill/>
                <a:tableStyleId>{97E4A61C-6C37-43E9-8576-B6A9ABAFFB9E}</a:tableStyleId>
              </a:tblPr>
              <a:tblGrid>
                <a:gridCol w="6096000">
                  <a:extLst>
                    <a:ext uri="{9D8B030D-6E8A-4147-A177-3AD203B41FA5}">
                      <a16:colId xmlns:a16="http://schemas.microsoft.com/office/drawing/2014/main" val="20000"/>
                    </a:ext>
                  </a:extLst>
                </a:gridCol>
              </a:tblGrid>
              <a:tr h="370850">
                <a:tc>
                  <a:txBody>
                    <a:bodyPr/>
                    <a:lstStyle/>
                    <a:p>
                      <a:pPr marL="0" marR="0" lvl="0" indent="0" algn="l" rtl="0">
                        <a:spcBef>
                          <a:spcPts val="0"/>
                        </a:spcBef>
                        <a:spcAft>
                          <a:spcPts val="0"/>
                        </a:spcAft>
                        <a:buNone/>
                      </a:pPr>
                      <a:r>
                        <a:rPr lang="en-US" sz="1800" b="0"/>
                        <a:t>3.2 The system shall measure the blood sugar and deliver insulin, if required, every 10 minutes.</a:t>
                      </a:r>
                      <a:r>
                        <a:rPr lang="en-US" sz="1800" b="0" i="1"/>
                        <a:t> (Changes in blood sugar are relatively slow so more frequent measurement is unnecessary; less frequent measurement could lead to unnecessarily high sugar levels.)</a:t>
                      </a:r>
                      <a:endParaRPr/>
                    </a:p>
                    <a:p>
                      <a:pPr marL="0" marR="0" lvl="0" indent="0" algn="l" rtl="0">
                        <a:spcBef>
                          <a:spcPts val="0"/>
                        </a:spcBef>
                        <a:spcAft>
                          <a:spcPts val="0"/>
                        </a:spcAft>
                        <a:buNone/>
                      </a:pPr>
                      <a:endParaRPr sz="1800" b="0"/>
                    </a:p>
                    <a:p>
                      <a:pPr marL="0" marR="0" lvl="0" indent="0" algn="l" rtl="0">
                        <a:spcBef>
                          <a:spcPts val="0"/>
                        </a:spcBef>
                        <a:spcAft>
                          <a:spcPts val="0"/>
                        </a:spcAft>
                        <a:buNone/>
                      </a:pPr>
                      <a:r>
                        <a:rPr lang="en-US" sz="1800" b="0"/>
                        <a:t>3.6 The system shall run a self-test routine every minute with the conditions to be tested and the associated actions defined in Table 1.</a:t>
                      </a:r>
                      <a:r>
                        <a:rPr lang="en-US" sz="1800" b="0" i="1"/>
                        <a:t> (A self-test routine can discover hardware and software problems and alert the user to the fact the normal operation may be impossible.)</a:t>
                      </a:r>
                      <a:endParaRPr/>
                    </a:p>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0"/>
                  </a:ext>
                </a:extLst>
              </a:tr>
            </a:tbl>
          </a:graphicData>
        </a:graphic>
      </p:graphicFrame>
      <p:sp>
        <p:nvSpPr>
          <p:cNvPr id="389" name="Google Shape;389;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
        <p:nvSpPr>
          <p:cNvPr id="390" name="Google Shape;390;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52"/>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Structured specifications</a:t>
            </a:r>
            <a:endParaRPr/>
          </a:p>
        </p:txBody>
      </p:sp>
      <p:sp>
        <p:nvSpPr>
          <p:cNvPr id="396" name="Google Shape;396;p5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An approach to writing requirements where the freedom of the requirements writer is limited and requirements are written in a standard way.</a:t>
            </a:r>
            <a:endParaRPr/>
          </a:p>
          <a:p>
            <a:pPr marL="342900" lvl="0" indent="-342900" algn="l" rtl="0">
              <a:spcBef>
                <a:spcPts val="1200"/>
              </a:spcBef>
              <a:spcAft>
                <a:spcPts val="0"/>
              </a:spcAft>
              <a:buClr>
                <a:srgbClr val="46424D"/>
              </a:buClr>
              <a:buSzPts val="2400"/>
              <a:buFont typeface="Noto Sans Symbols"/>
              <a:buChar char="✧"/>
            </a:pPr>
            <a:r>
              <a:rPr lang="en-US"/>
              <a:t>This works well for some types of requirements e.g. requirements for embedded control system but is sometimes too rigid for writing business system requirements.</a:t>
            </a:r>
            <a:endParaRPr/>
          </a:p>
        </p:txBody>
      </p:sp>
      <p:sp>
        <p:nvSpPr>
          <p:cNvPr id="397" name="Google Shape;397;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
        <p:nvSpPr>
          <p:cNvPr id="398" name="Google Shape;398;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3"/>
          <p:cNvSpPr txBox="1">
            <a:spLocks noGrp="1"/>
          </p:cNvSpPr>
          <p:nvPr>
            <p:ph type="title"/>
          </p:nvPr>
        </p:nvSpPr>
        <p:spPr>
          <a:xfrm>
            <a:off x="457200" y="274638"/>
            <a:ext cx="7293232"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Form-based specifications</a:t>
            </a:r>
            <a:endParaRPr/>
          </a:p>
        </p:txBody>
      </p:sp>
      <p:sp>
        <p:nvSpPr>
          <p:cNvPr id="404" name="Google Shape;404;p53"/>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spcBef>
                <a:spcPts val="0"/>
              </a:spcBef>
              <a:spcAft>
                <a:spcPts val="0"/>
              </a:spcAft>
              <a:buClr>
                <a:srgbClr val="46424D"/>
              </a:buClr>
              <a:buSzPts val="2400"/>
              <a:buFont typeface="Noto Sans Symbols"/>
              <a:buChar char="✧"/>
            </a:pPr>
            <a:r>
              <a:rPr lang="en-US"/>
              <a:t>Definition of the function or entity.</a:t>
            </a:r>
            <a:endParaRPr/>
          </a:p>
          <a:p>
            <a:pPr marL="342900" lvl="0" indent="-342900" algn="l" rtl="0">
              <a:spcBef>
                <a:spcPts val="1200"/>
              </a:spcBef>
              <a:spcAft>
                <a:spcPts val="0"/>
              </a:spcAft>
              <a:buClr>
                <a:srgbClr val="46424D"/>
              </a:buClr>
              <a:buSzPts val="2400"/>
              <a:buFont typeface="Noto Sans Symbols"/>
              <a:buChar char="✧"/>
            </a:pPr>
            <a:r>
              <a:rPr lang="en-US"/>
              <a:t>Description of inputs and where they come from.</a:t>
            </a:r>
            <a:endParaRPr/>
          </a:p>
          <a:p>
            <a:pPr marL="342900" lvl="0" indent="-342900" algn="l" rtl="0">
              <a:spcBef>
                <a:spcPts val="1200"/>
              </a:spcBef>
              <a:spcAft>
                <a:spcPts val="0"/>
              </a:spcAft>
              <a:buClr>
                <a:srgbClr val="46424D"/>
              </a:buClr>
              <a:buSzPts val="2400"/>
              <a:buFont typeface="Noto Sans Symbols"/>
              <a:buChar char="✧"/>
            </a:pPr>
            <a:r>
              <a:rPr lang="en-US"/>
              <a:t>Description of outputs and where they go to.</a:t>
            </a:r>
            <a:endParaRPr/>
          </a:p>
          <a:p>
            <a:pPr marL="342900" lvl="0" indent="-342900" algn="l" rtl="0">
              <a:spcBef>
                <a:spcPts val="1200"/>
              </a:spcBef>
              <a:spcAft>
                <a:spcPts val="0"/>
              </a:spcAft>
              <a:buClr>
                <a:srgbClr val="46424D"/>
              </a:buClr>
              <a:buSzPts val="2400"/>
              <a:buFont typeface="Noto Sans Symbols"/>
              <a:buChar char="✧"/>
            </a:pPr>
            <a:r>
              <a:rPr lang="en-US"/>
              <a:t>Information about the information needed for the computation and other entities used.</a:t>
            </a:r>
            <a:endParaRPr/>
          </a:p>
          <a:p>
            <a:pPr marL="342900" lvl="0" indent="-342900" algn="l" rtl="0">
              <a:spcBef>
                <a:spcPts val="1200"/>
              </a:spcBef>
              <a:spcAft>
                <a:spcPts val="0"/>
              </a:spcAft>
              <a:buClr>
                <a:srgbClr val="46424D"/>
              </a:buClr>
              <a:buSzPts val="2400"/>
              <a:buFont typeface="Noto Sans Symbols"/>
              <a:buChar char="✧"/>
            </a:pPr>
            <a:r>
              <a:rPr lang="en-US"/>
              <a:t>Description of the action to be taken.</a:t>
            </a:r>
            <a:endParaRPr/>
          </a:p>
          <a:p>
            <a:pPr marL="342900" lvl="0" indent="-342900" algn="l" rtl="0">
              <a:spcBef>
                <a:spcPts val="1200"/>
              </a:spcBef>
              <a:spcAft>
                <a:spcPts val="0"/>
              </a:spcAft>
              <a:buClr>
                <a:srgbClr val="46424D"/>
              </a:buClr>
              <a:buSzPts val="2400"/>
              <a:buFont typeface="Noto Sans Symbols"/>
              <a:buChar char="✧"/>
            </a:pPr>
            <a:r>
              <a:rPr lang="en-US"/>
              <a:t>Pre and post conditions (if appropriate).</a:t>
            </a:r>
            <a:endParaRPr/>
          </a:p>
          <a:p>
            <a:pPr marL="342900" lvl="0" indent="-342900" algn="l" rtl="0">
              <a:spcBef>
                <a:spcPts val="1200"/>
              </a:spcBef>
              <a:spcAft>
                <a:spcPts val="0"/>
              </a:spcAft>
              <a:buClr>
                <a:srgbClr val="46424D"/>
              </a:buClr>
              <a:buSzPts val="2400"/>
              <a:buFont typeface="Noto Sans Symbols"/>
              <a:buChar char="✧"/>
            </a:pPr>
            <a:r>
              <a:rPr lang="en-US"/>
              <a:t>The side effects (if any) of the function.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54"/>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A structured specification of a requirement for an insulin pump </a:t>
            </a:r>
            <a:endParaRPr/>
          </a:p>
        </p:txBody>
      </p:sp>
      <p:pic>
        <p:nvPicPr>
          <p:cNvPr id="410" name="Google Shape;410;p54"/>
          <p:cNvPicPr preferRelativeResize="0"/>
          <p:nvPr/>
        </p:nvPicPr>
        <p:blipFill rotWithShape="1">
          <a:blip r:embed="rId3">
            <a:alphaModFix/>
          </a:blip>
          <a:srcRect/>
          <a:stretch/>
        </p:blipFill>
        <p:spPr>
          <a:xfrm>
            <a:off x="1143000" y="2057400"/>
            <a:ext cx="5943600" cy="3314700"/>
          </a:xfrm>
          <a:prstGeom prst="rect">
            <a:avLst/>
          </a:prstGeom>
          <a:noFill/>
          <a:ln>
            <a:noFill/>
          </a:ln>
        </p:spPr>
      </p:pic>
      <p:sp>
        <p:nvSpPr>
          <p:cNvPr id="411" name="Google Shape;411;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sp>
        <p:nvSpPr>
          <p:cNvPr id="412" name="Google Shape;412;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55"/>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A structured specification of a requirement for an insulin pump </a:t>
            </a:r>
            <a:endParaRPr/>
          </a:p>
        </p:txBody>
      </p:sp>
      <p:pic>
        <p:nvPicPr>
          <p:cNvPr id="418" name="Google Shape;418;p55"/>
          <p:cNvPicPr preferRelativeResize="0"/>
          <p:nvPr/>
        </p:nvPicPr>
        <p:blipFill rotWithShape="1">
          <a:blip r:embed="rId3">
            <a:alphaModFix/>
          </a:blip>
          <a:srcRect/>
          <a:stretch/>
        </p:blipFill>
        <p:spPr>
          <a:xfrm>
            <a:off x="1295400" y="1690688"/>
            <a:ext cx="5943600" cy="4445000"/>
          </a:xfrm>
          <a:prstGeom prst="rect">
            <a:avLst/>
          </a:prstGeom>
          <a:noFill/>
          <a:ln>
            <a:noFill/>
          </a:ln>
        </p:spPr>
      </p:pic>
      <p:sp>
        <p:nvSpPr>
          <p:cNvPr id="419" name="Google Shape;419;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sp>
        <p:nvSpPr>
          <p:cNvPr id="420" name="Google Shape;420;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56"/>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Tabular specification</a:t>
            </a:r>
            <a:endParaRPr/>
          </a:p>
        </p:txBody>
      </p:sp>
      <p:sp>
        <p:nvSpPr>
          <p:cNvPr id="426" name="Google Shape;426;p5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Used to supplement natural language.</a:t>
            </a:r>
            <a:endParaRPr/>
          </a:p>
          <a:p>
            <a:pPr marL="342900" lvl="0" indent="-342900" algn="l" rtl="0">
              <a:spcBef>
                <a:spcPts val="1200"/>
              </a:spcBef>
              <a:spcAft>
                <a:spcPts val="0"/>
              </a:spcAft>
              <a:buClr>
                <a:srgbClr val="46424D"/>
              </a:buClr>
              <a:buSzPts val="2400"/>
              <a:buFont typeface="Noto Sans Symbols"/>
              <a:buChar char="✧"/>
            </a:pPr>
            <a:r>
              <a:rPr lang="en-US"/>
              <a:t>Particularly useful when you have to define a number of possible alternative courses of action.</a:t>
            </a:r>
            <a:endParaRPr/>
          </a:p>
          <a:p>
            <a:pPr marL="342900" lvl="0" indent="-342900" algn="l" rtl="0">
              <a:spcBef>
                <a:spcPts val="1200"/>
              </a:spcBef>
              <a:spcAft>
                <a:spcPts val="0"/>
              </a:spcAft>
              <a:buClr>
                <a:srgbClr val="46424D"/>
              </a:buClr>
              <a:buSzPts val="2400"/>
              <a:buFont typeface="Noto Sans Symbols"/>
              <a:buChar char="✧"/>
            </a:pPr>
            <a:r>
              <a:rPr lang="en-US"/>
              <a:t>For example, the insulin pump systems bases its computations on the rate of change of blood sugar level and the tabular specification explains how to calculate the insulin requirement for different scenarios.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57"/>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Tabular specification of computation for an insulin pump </a:t>
            </a:r>
            <a:endParaRPr/>
          </a:p>
        </p:txBody>
      </p:sp>
      <p:graphicFrame>
        <p:nvGraphicFramePr>
          <p:cNvPr id="432" name="Google Shape;432;p57"/>
          <p:cNvGraphicFramePr/>
          <p:nvPr/>
        </p:nvGraphicFramePr>
        <p:xfrm>
          <a:off x="685800" y="1981200"/>
          <a:ext cx="6461125" cy="3481445"/>
        </p:xfrm>
        <a:graphic>
          <a:graphicData uri="http://schemas.openxmlformats.org/drawingml/2006/table">
            <a:tbl>
              <a:tblPr>
                <a:noFill/>
                <a:tableStyleId>{28B39C51-5C02-4F05-B3DF-5B42D8DC3CAC}</a:tableStyleId>
              </a:tblPr>
              <a:tblGrid>
                <a:gridCol w="3810000">
                  <a:extLst>
                    <a:ext uri="{9D8B030D-6E8A-4147-A177-3AD203B41FA5}">
                      <a16:colId xmlns:a16="http://schemas.microsoft.com/office/drawing/2014/main" val="20000"/>
                    </a:ext>
                  </a:extLst>
                </a:gridCol>
                <a:gridCol w="2651125">
                  <a:extLst>
                    <a:ext uri="{9D8B030D-6E8A-4147-A177-3AD203B41FA5}">
                      <a16:colId xmlns:a16="http://schemas.microsoft.com/office/drawing/2014/main" val="20001"/>
                    </a:ext>
                  </a:extLst>
                </a:gridCol>
              </a:tblGrid>
              <a:tr h="449275">
                <a:tc>
                  <a:txBody>
                    <a:bodyPr/>
                    <a:lstStyle/>
                    <a:p>
                      <a:pPr marL="0" marR="0" lvl="0" indent="0" algn="just"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Condition</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Action</a:t>
                      </a:r>
                      <a:endParaRPr sz="1600" b="1" i="0" u="none" strike="noStrike" cap="none">
                        <a:solidFill>
                          <a:srgbClr val="000000"/>
                        </a:solidFill>
                        <a:latin typeface="Arial"/>
                        <a:ea typeface="Arial"/>
                        <a:cs typeface="Arial"/>
                        <a:sym typeface="Arial"/>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449275">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Sugar level falling (r2 &lt; r1)</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CompDose = 0</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1"/>
                  </a:ext>
                </a:extLst>
              </a:tr>
              <a:tr h="449275">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Sugar level stable (r2 = r1)</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CompDose = 0</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449275">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Sugar level increasing and rate of increase decreasing </a:t>
                      </a:r>
                      <a:br>
                        <a:rPr lang="en-US" sz="1600" b="0" i="0" u="none" strike="noStrike" cap="none">
                          <a:solidFill>
                            <a:srgbClr val="000000"/>
                          </a:solidFill>
                          <a:latin typeface="Arial"/>
                          <a:ea typeface="Arial"/>
                          <a:cs typeface="Arial"/>
                          <a:sym typeface="Arial"/>
                        </a:rPr>
                      </a:br>
                      <a:r>
                        <a:rPr lang="en-US" sz="1600" b="0" i="0" u="none" strike="noStrike" cap="none">
                          <a:solidFill>
                            <a:srgbClr val="000000"/>
                          </a:solidFill>
                          <a:latin typeface="Arial"/>
                          <a:ea typeface="Arial"/>
                          <a:cs typeface="Arial"/>
                          <a:sym typeface="Arial"/>
                        </a:rPr>
                        <a:t>((r2 – r1) &lt; (r1 – r0))</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CompDose = 0</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3"/>
                  </a:ext>
                </a:extLst>
              </a:tr>
              <a:tr h="609600">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Sugar level increasing and rate of increase stable or increasing </a:t>
                      </a:r>
                      <a:br>
                        <a:rPr lang="en-US" sz="1600" b="0" i="0" u="none" strike="noStrike" cap="none">
                          <a:solidFill>
                            <a:srgbClr val="000000"/>
                          </a:solidFill>
                          <a:latin typeface="Arial"/>
                          <a:ea typeface="Arial"/>
                          <a:cs typeface="Arial"/>
                          <a:sym typeface="Arial"/>
                        </a:rPr>
                      </a:br>
                      <a:r>
                        <a:rPr lang="en-US" sz="1600" b="0" i="0" u="none" strike="noStrike" cap="none">
                          <a:solidFill>
                            <a:srgbClr val="000000"/>
                          </a:solidFill>
                          <a:latin typeface="Arial"/>
                          <a:ea typeface="Arial"/>
                          <a:cs typeface="Arial"/>
                          <a:sym typeface="Arial"/>
                        </a:rPr>
                        <a:t>((r2 – r1) ≥ (r1 – r0))</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CompDose = </a:t>
                      </a:r>
                      <a:br>
                        <a:rPr lang="en-US" sz="1600" b="0" i="0" u="none" strike="noStrike" cap="none">
                          <a:solidFill>
                            <a:srgbClr val="000000"/>
                          </a:solidFill>
                          <a:latin typeface="Arial"/>
                          <a:ea typeface="Arial"/>
                          <a:cs typeface="Arial"/>
                          <a:sym typeface="Arial"/>
                        </a:rPr>
                      </a:br>
                      <a:r>
                        <a:rPr lang="en-US" sz="1600" b="0" i="0" u="none" strike="noStrike" cap="none">
                          <a:solidFill>
                            <a:srgbClr val="000000"/>
                          </a:solidFill>
                          <a:latin typeface="Arial"/>
                          <a:ea typeface="Arial"/>
                          <a:cs typeface="Arial"/>
                          <a:sym typeface="Arial"/>
                        </a:rPr>
                        <a:t>      round ((r2 – r1)/4)</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If rounded result = 0 then </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CompDose = MinimumDose</a:t>
                      </a:r>
                      <a:endParaRPr sz="1600" b="0" i="0" u="none" strike="noStrike" cap="none">
                        <a:solidFill>
                          <a:srgbClr val="000000"/>
                        </a:solidFill>
                        <a:latin typeface="Arial"/>
                        <a:ea typeface="Arial"/>
                        <a:cs typeface="Arial"/>
                        <a:sym typeface="Arial"/>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4"/>
                  </a:ext>
                </a:extLst>
              </a:tr>
            </a:tbl>
          </a:graphicData>
        </a:graphic>
      </p:graphicFrame>
      <p:sp>
        <p:nvSpPr>
          <p:cNvPr id="433" name="Google Shape;433;p5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sp>
        <p:nvSpPr>
          <p:cNvPr id="434" name="Google Shape;434;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theme/theme1.xml><?xml version="1.0" encoding="utf-8"?>
<a:theme xmlns:a="http://schemas.openxmlformats.org/drawingml/2006/main" name="SE9">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1519</TotalTime>
  <Words>3211</Words>
  <Application>Microsoft Office PowerPoint</Application>
  <PresentationFormat>On-screen Show (4:3)</PresentationFormat>
  <Paragraphs>340</Paragraphs>
  <Slides>46</Slides>
  <Notes>45</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Noto Sans Symbols</vt:lpstr>
      <vt:lpstr>SE9</vt:lpstr>
      <vt:lpstr>Chapter 4 – Requirements Engineering</vt:lpstr>
      <vt:lpstr>Topics covered</vt:lpstr>
      <vt:lpstr>Requirements engineering</vt:lpstr>
      <vt:lpstr>What is a requirement?</vt:lpstr>
      <vt:lpstr>Requirements abstraction (Davis)</vt:lpstr>
      <vt:lpstr>Types of requirement</vt:lpstr>
      <vt:lpstr>User and system requirements </vt:lpstr>
      <vt:lpstr>Readers of different types of requirements specification </vt:lpstr>
      <vt:lpstr>PowerPoint Presentation</vt:lpstr>
      <vt:lpstr>Functional and non-functional requirements</vt:lpstr>
      <vt:lpstr>Functional requirements</vt:lpstr>
      <vt:lpstr>Functional requirements for the MHC-PMS</vt:lpstr>
      <vt:lpstr>Requirements imprecision</vt:lpstr>
      <vt:lpstr>Requirements completeness and consistency</vt:lpstr>
      <vt:lpstr>Non-functional requirements</vt:lpstr>
      <vt:lpstr>Types of nonfunctional requirement </vt:lpstr>
      <vt:lpstr>Non-functional requirements implementation</vt:lpstr>
      <vt:lpstr>Non-functional classifications</vt:lpstr>
      <vt:lpstr>Examples of nonfunctional requirements in the MHC-PMS </vt:lpstr>
      <vt:lpstr>Goals and requirements</vt:lpstr>
      <vt:lpstr>Usability requirements</vt:lpstr>
      <vt:lpstr>Metrics for specifying nonfunctional requirements</vt:lpstr>
      <vt:lpstr>Domain requirements</vt:lpstr>
      <vt:lpstr>Train protection system</vt:lpstr>
      <vt:lpstr>Domain requirements problems</vt:lpstr>
      <vt:lpstr>Key points</vt:lpstr>
      <vt:lpstr>SRS(Software Requirement Specification) document</vt:lpstr>
      <vt:lpstr>The software requirements document</vt:lpstr>
      <vt:lpstr>Agile methods and requirements</vt:lpstr>
      <vt:lpstr>Users of a requirements document </vt:lpstr>
      <vt:lpstr>Requirements document variability</vt:lpstr>
      <vt:lpstr>The structure of a requirements document </vt:lpstr>
      <vt:lpstr>The structure of a requirements document </vt:lpstr>
      <vt:lpstr>Requirements specification</vt:lpstr>
      <vt:lpstr>Ways of writing a system requirements specification </vt:lpstr>
      <vt:lpstr>Requirements and design</vt:lpstr>
      <vt:lpstr>Natural language specification</vt:lpstr>
      <vt:lpstr>Guidelines for writing requirements</vt:lpstr>
      <vt:lpstr>Problems with natural language</vt:lpstr>
      <vt:lpstr>Example requirements for the insulin pump software system </vt:lpstr>
      <vt:lpstr>Structured specifications</vt:lpstr>
      <vt:lpstr>Form-based specifications</vt:lpstr>
      <vt:lpstr>A structured specification of a requirement for an insulin pump </vt:lpstr>
      <vt:lpstr>A structured specification of a requirement for an insulin pump </vt:lpstr>
      <vt:lpstr>Tabular specification</vt:lpstr>
      <vt:lpstr>Tabular specification of computation for an insulin pump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Tirthankar Ghosh</cp:lastModifiedBy>
  <cp:revision>10</cp:revision>
  <dcterms:modified xsi:type="dcterms:W3CDTF">2026-03-24T16:15:26Z</dcterms:modified>
</cp:coreProperties>
</file>