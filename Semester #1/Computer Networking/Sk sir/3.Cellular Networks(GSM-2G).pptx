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65" r:id="rId2"/>
    <p:sldId id="425" r:id="rId3"/>
    <p:sldId id="492" r:id="rId4"/>
    <p:sldId id="493" r:id="rId5"/>
    <p:sldId id="494" r:id="rId6"/>
    <p:sldId id="501" r:id="rId7"/>
    <p:sldId id="502" r:id="rId8"/>
    <p:sldId id="503" r:id="rId9"/>
    <p:sldId id="504" r:id="rId10"/>
    <p:sldId id="495" r:id="rId11"/>
    <p:sldId id="510" r:id="rId12"/>
    <p:sldId id="506" r:id="rId13"/>
    <p:sldId id="507" r:id="rId14"/>
    <p:sldId id="508" r:id="rId15"/>
    <p:sldId id="509" r:id="rId16"/>
    <p:sldId id="511" r:id="rId17"/>
    <p:sldId id="512" r:id="rId18"/>
    <p:sldId id="513" r:id="rId19"/>
    <p:sldId id="514" r:id="rId20"/>
    <p:sldId id="515" r:id="rId21"/>
    <p:sldId id="516" r:id="rId22"/>
    <p:sldId id="41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816" userDrawn="1">
          <p15:clr>
            <a:srgbClr val="A4A3A4"/>
          </p15:clr>
        </p15:guide>
        <p15:guide id="3" pos="816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932" autoAdjust="0"/>
    <p:restoredTop sz="79589" autoAdjust="0"/>
  </p:normalViewPr>
  <p:slideViewPr>
    <p:cSldViewPr>
      <p:cViewPr>
        <p:scale>
          <a:sx n="66" d="100"/>
          <a:sy n="66" d="100"/>
        </p:scale>
        <p:origin x="40" y="80"/>
      </p:cViewPr>
      <p:guideLst>
        <p:guide pos="3840"/>
        <p:guide pos="6816"/>
        <p:guide pos="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357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pPr/>
              <a:t>9/22/2025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pPr/>
              <a:t>9/22/2025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We celebrate Christmas to remember the birth of </a:t>
            </a:r>
            <a:r>
              <a:rPr lang="en-IN" smtClean="0"/>
              <a:t>Jesus Christ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612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429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330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608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147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490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80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045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015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6869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17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280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4717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1745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6974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16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3566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17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4915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18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2529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19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1791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20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4732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21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5758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22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055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un rising over grassy hill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" y="0"/>
            <a:ext cx="12188699" cy="4799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ltGray">
          <a:xfrm>
            <a:off x="-2" y="4754880"/>
            <a:ext cx="12192002" cy="21031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white">
          <a:xfrm>
            <a:off x="-127" y="4724400"/>
            <a:ext cx="12188826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800600"/>
            <a:ext cx="9144002" cy="11430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6pPr>
              <a:defRPr/>
            </a:lvl6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9/22/2025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88826" cy="4572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-1" y="4114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9/22/2025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ernat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9/22/2025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32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D43D-6574-4C7B-808D-C6C12215A4D4}" type="datetimeFigureOut">
              <a:rPr lang="en-US"/>
              <a:pPr/>
              <a:t>9/22/2025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E5F2-81AA-4605-B028-6FBA391056A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707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9/22/2025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9/22/2025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9/22/2025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4212" y="685800"/>
            <a:ext cx="7239001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9/22/2025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lternat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892" y="685800"/>
            <a:ext cx="63703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9/22/2025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3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731520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2362200"/>
            <a:ext cx="3200400" cy="1993392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0" y="0"/>
            <a:ext cx="73152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4355592"/>
            <a:ext cx="3200400" cy="16446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9/22/2025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9/22/2025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9/22/2025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1587" y="6583680"/>
            <a:ext cx="12188826" cy="2743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587" y="65836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9E583DDF-CA54-461A-A486-592D2374C532}" type="datetimeFigureOut">
              <a:rPr lang="en-US" smtClean="0"/>
              <a:pPr/>
              <a:t>9/22/2025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1" r:id="rId5"/>
    <p:sldLayoutId id="2147483653" r:id="rId6"/>
    <p:sldLayoutId id="2147483654" r:id="rId7"/>
    <p:sldLayoutId id="2147483655" r:id="rId8"/>
    <p:sldLayoutId id="2147483656" r:id="rId9"/>
    <p:sldLayoutId id="2147483663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80000"/>
        <a:buFont typeface="Wingdings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360">
          <p15:clr>
            <a:srgbClr val="F26B43"/>
          </p15:clr>
        </p15:guide>
        <p15:guide id="2" pos="40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941168"/>
            <a:ext cx="9144002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Dr. Sunirmal Khatua</a:t>
            </a:r>
            <a:endParaRPr lang="en-US" sz="28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2413" y="6094286"/>
            <a:ext cx="9144002" cy="762000"/>
          </a:xfrm>
        </p:spPr>
        <p:txBody>
          <a:bodyPr>
            <a:normAutofit/>
          </a:bodyPr>
          <a:lstStyle/>
          <a:p>
            <a:r>
              <a:rPr lang="en-US" sz="1600" i="1" dirty="0" err="1" smtClean="0">
                <a:latin typeface="Times New Roman" pitchFamily="18" charset="0"/>
                <a:cs typeface="Times New Roman" pitchFamily="18" charset="0"/>
              </a:rPr>
              <a:t>Visvesvaraya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 Young Faculty Fellow, Govt. of India</a:t>
            </a:r>
          </a:p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Assistant Professor, University of Calcutta</a:t>
            </a:r>
            <a:endParaRPr lang="en-US" sz="16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ubtitle 3"/>
          <p:cNvSpPr txBox="1">
            <a:spLocks/>
          </p:cNvSpPr>
          <p:nvPr/>
        </p:nvSpPr>
        <p:spPr>
          <a:xfrm>
            <a:off x="1523968" y="5187280"/>
            <a:ext cx="9144002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Presented</a:t>
            </a:r>
            <a:r>
              <a:rPr kumimoji="0" lang="en-US" b="0" i="1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By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392" y="764704"/>
            <a:ext cx="11914264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en-US" sz="4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Cellular Networks :  GSM(2G)</a:t>
            </a:r>
            <a:endParaRPr lang="en-IN" sz="4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r"/>
            <a:endParaRPr lang="en-IN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880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Useful Spectrum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680" y="980728"/>
            <a:ext cx="12181868" cy="5400600"/>
          </a:xfrm>
          <a:prstGeom prst="rect">
            <a:avLst/>
          </a:prstGeom>
        </p:spPr>
      </p:pic>
      <p:pic>
        <p:nvPicPr>
          <p:cNvPr id="9" name="Picture 4" descr="Audio Sound Frequency Spectrum Stock Vector (Royalty Free) 1257938065 |  Shuttersto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080" y="3426296"/>
            <a:ext cx="4810125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4" y="2708920"/>
            <a:ext cx="5085027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7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Radio Spectrum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472" y="764704"/>
            <a:ext cx="8856984" cy="268264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488" y="3701911"/>
            <a:ext cx="8364117" cy="289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1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Constraint of Frequency in a Spectrum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848" y="836712"/>
            <a:ext cx="7488832" cy="2493480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4517479" y="3284984"/>
            <a:ext cx="7699201" cy="942975"/>
            <a:chOff x="4517479" y="3284984"/>
            <a:chExt cx="7699201" cy="942975"/>
          </a:xfrm>
        </p:grpSpPr>
        <p:pic>
          <p:nvPicPr>
            <p:cNvPr id="295" name="Picture 1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06755" y="3284984"/>
              <a:ext cx="3209925" cy="942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6" name="Picture 1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7479" y="3523109"/>
              <a:ext cx="3876675" cy="295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97" name="Group 296"/>
            <p:cNvGrpSpPr/>
            <p:nvPr/>
          </p:nvGrpSpPr>
          <p:grpSpPr>
            <a:xfrm>
              <a:off x="4593679" y="3818384"/>
              <a:ext cx="4238625" cy="382588"/>
              <a:chOff x="685800" y="4419600"/>
              <a:chExt cx="4238625" cy="382588"/>
            </a:xfrm>
          </p:grpSpPr>
          <p:pic>
            <p:nvPicPr>
              <p:cNvPr id="298" name="Picture 16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5800" y="4419600"/>
                <a:ext cx="4238625" cy="3714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9" name="Rectangle 298"/>
              <p:cNvSpPr/>
              <p:nvPr/>
            </p:nvSpPr>
            <p:spPr>
              <a:xfrm>
                <a:off x="1219200" y="4419600"/>
                <a:ext cx="228600" cy="382588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5" name="Group 4"/>
          <p:cNvGrpSpPr/>
          <p:nvPr/>
        </p:nvGrpSpPr>
        <p:grpSpPr>
          <a:xfrm>
            <a:off x="4122762" y="4365104"/>
            <a:ext cx="8046293" cy="1979612"/>
            <a:chOff x="4122762" y="4365104"/>
            <a:chExt cx="8046293" cy="1979612"/>
          </a:xfrm>
        </p:grpSpPr>
        <p:grpSp>
          <p:nvGrpSpPr>
            <p:cNvPr id="3" name="Group 2"/>
            <p:cNvGrpSpPr/>
            <p:nvPr/>
          </p:nvGrpSpPr>
          <p:grpSpPr>
            <a:xfrm>
              <a:off x="4122762" y="4365104"/>
              <a:ext cx="4781550" cy="1979612"/>
              <a:chOff x="590550" y="4365104"/>
              <a:chExt cx="4781550" cy="1979612"/>
            </a:xfrm>
          </p:grpSpPr>
          <p:pic>
            <p:nvPicPr>
              <p:cNvPr id="300" name="Picture 12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2300" y="4365104"/>
                <a:ext cx="4714875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1" name="Picture 13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9600" y="4734991"/>
                <a:ext cx="4762500" cy="466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2" name="Picture 14"/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0550" y="5220766"/>
                <a:ext cx="4667250" cy="361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3" name="Picture 15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9600" y="5630341"/>
                <a:ext cx="4705350" cy="714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305" name="Picture 11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63880" y="4695825"/>
              <a:ext cx="3305175" cy="942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6" name="Picture 12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25880" y="5562600"/>
              <a:ext cx="2343150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07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36" y="1052736"/>
            <a:ext cx="35814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" name="Picture 29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6" y="5192936"/>
            <a:ext cx="24098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" name="Picture 29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36" y="2805336"/>
            <a:ext cx="3581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0" name="Group 40"/>
          <p:cNvGrpSpPr>
            <a:grpSpLocks/>
          </p:cNvGrpSpPr>
          <p:nvPr/>
        </p:nvGrpSpPr>
        <p:grpSpPr bwMode="auto">
          <a:xfrm>
            <a:off x="119336" y="3567336"/>
            <a:ext cx="1895475" cy="1123950"/>
            <a:chOff x="152400" y="4572000"/>
            <a:chExt cx="1895475" cy="1123950"/>
          </a:xfrm>
        </p:grpSpPr>
        <p:pic>
          <p:nvPicPr>
            <p:cNvPr id="311" name="Picture 30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5105400"/>
              <a:ext cx="1895475" cy="590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12" name="Straight Arrow Connector 311"/>
            <p:cNvCxnSpPr/>
            <p:nvPr/>
          </p:nvCxnSpPr>
          <p:spPr>
            <a:xfrm rot="5400000" flipH="1" flipV="1">
              <a:off x="1371600" y="4572000"/>
              <a:ext cx="533400" cy="533400"/>
            </a:xfrm>
            <a:prstGeom prst="straightConnector1">
              <a:avLst/>
            </a:prstGeom>
            <a:ln w="12700">
              <a:solidFill>
                <a:srgbClr val="0033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8597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Frequency Allocation in Cellular Networks</a:t>
            </a:r>
            <a:endParaRPr lang="en-US" dirty="0"/>
          </a:p>
        </p:txBody>
      </p:sp>
      <p:pic>
        <p:nvPicPr>
          <p:cNvPr id="28" name="Picture 10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446"/>
          <a:stretch>
            <a:fillRect/>
          </a:stretch>
        </p:blipFill>
        <p:spPr bwMode="auto">
          <a:xfrm>
            <a:off x="263352" y="1052736"/>
            <a:ext cx="6934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152400" y="4581128"/>
            <a:ext cx="11632232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1800" dirty="0"/>
              <a:t> GSM 900 uses 2 Frequency Bands of 25MHz.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 </a:t>
            </a:r>
            <a:r>
              <a:rPr lang="en-US" altLang="en-US" sz="2000" dirty="0" smtClean="0">
                <a:solidFill>
                  <a:srgbClr val="FF0000"/>
                </a:solidFill>
              </a:rPr>
              <a:t>890-915MHz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for UPLINK and </a:t>
            </a:r>
            <a:r>
              <a:rPr lang="en-US" altLang="en-US" sz="2000" dirty="0">
                <a:solidFill>
                  <a:srgbClr val="FF0000"/>
                </a:solidFill>
              </a:rPr>
              <a:t>935-960 MHz </a:t>
            </a:r>
            <a:r>
              <a:rPr lang="en-US" altLang="en-US" sz="2000" dirty="0"/>
              <a:t>for DOWNLINK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 Each </a:t>
            </a:r>
            <a:r>
              <a:rPr lang="en-US" altLang="en-US" sz="2000" dirty="0"/>
              <a:t>Band provides </a:t>
            </a:r>
            <a:r>
              <a:rPr lang="en-US" altLang="en-US" sz="2000" dirty="0">
                <a:solidFill>
                  <a:srgbClr val="FF0000"/>
                </a:solidFill>
              </a:rPr>
              <a:t>125 Carrier of 200KHz each</a:t>
            </a:r>
            <a:r>
              <a:rPr lang="en-US" altLang="en-US" sz="2000" dirty="0"/>
              <a:t>. 1 Carrier is </a:t>
            </a:r>
            <a:r>
              <a:rPr lang="en-US" altLang="en-US" sz="2000" dirty="0" smtClean="0"/>
              <a:t>provided </a:t>
            </a:r>
            <a:r>
              <a:rPr lang="en-US" altLang="en-US" sz="2000" dirty="0"/>
              <a:t>as a Guard </a:t>
            </a:r>
            <a:r>
              <a:rPr lang="en-US" altLang="en-US" sz="2000" dirty="0" smtClean="0"/>
              <a:t>Channel</a:t>
            </a:r>
          </a:p>
          <a:p>
            <a:pPr lvl="1">
              <a:spcBef>
                <a:spcPct val="0"/>
              </a:spcBef>
              <a:buClrTx/>
              <a:buSzTx/>
              <a:buNone/>
            </a:pPr>
            <a:r>
              <a:rPr lang="en-US" altLang="en-US" sz="2000" dirty="0" smtClean="0"/>
              <a:t>   </a:t>
            </a:r>
            <a:r>
              <a:rPr lang="en-US" altLang="en-US" sz="2000" dirty="0"/>
              <a:t>between GSM and Other Bands. </a:t>
            </a:r>
          </a:p>
        </p:txBody>
      </p:sp>
    </p:spTree>
    <p:extLst>
      <p:ext uri="{BB962C8B-B14F-4D97-AF65-F5344CB8AC3E}">
        <p14:creationId xmlns:p14="http://schemas.microsoft.com/office/powerpoint/2010/main" val="41811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Reuse the Frequencies</a:t>
            </a:r>
            <a:endParaRPr lang="en-US" dirty="0"/>
          </a:p>
        </p:txBody>
      </p:sp>
      <p:pic>
        <p:nvPicPr>
          <p:cNvPr id="28" name="Picture 10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446"/>
          <a:stretch>
            <a:fillRect/>
          </a:stretch>
        </p:blipFill>
        <p:spPr bwMode="auto">
          <a:xfrm>
            <a:off x="263352" y="1052736"/>
            <a:ext cx="6934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152400" y="4581128"/>
            <a:ext cx="11632232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1800" dirty="0"/>
              <a:t> GSM 900 uses 2 Frequency Bands of 25MHz</a:t>
            </a:r>
            <a:r>
              <a:rPr lang="en-US" altLang="en-US" sz="1800" dirty="0" smtClean="0"/>
              <a:t>.</a:t>
            </a:r>
            <a:endParaRPr lang="en-US" altLang="en-US" sz="1800" dirty="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 </a:t>
            </a:r>
            <a:r>
              <a:rPr lang="en-US" altLang="en-US" sz="2000" dirty="0" smtClean="0">
                <a:solidFill>
                  <a:srgbClr val="FF0000"/>
                </a:solidFill>
              </a:rPr>
              <a:t>890-915MHz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for UPLINK and </a:t>
            </a:r>
            <a:r>
              <a:rPr lang="en-US" altLang="en-US" sz="2000" dirty="0">
                <a:solidFill>
                  <a:srgbClr val="FF0000"/>
                </a:solidFill>
              </a:rPr>
              <a:t>935-960 MHz </a:t>
            </a:r>
            <a:r>
              <a:rPr lang="en-US" altLang="en-US" sz="2000" dirty="0"/>
              <a:t>for DOWNLINK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 Each </a:t>
            </a:r>
            <a:r>
              <a:rPr lang="en-US" altLang="en-US" sz="2000" dirty="0"/>
              <a:t>Band provides </a:t>
            </a:r>
            <a:r>
              <a:rPr lang="en-US" altLang="en-US" sz="2000" dirty="0">
                <a:solidFill>
                  <a:srgbClr val="FF0000"/>
                </a:solidFill>
              </a:rPr>
              <a:t>125 Carrier of 200KHz each</a:t>
            </a:r>
            <a:r>
              <a:rPr lang="en-US" altLang="en-US" sz="2000" dirty="0"/>
              <a:t>. 1 Carrier is </a:t>
            </a:r>
            <a:r>
              <a:rPr lang="en-US" altLang="en-US" sz="2000" dirty="0" smtClean="0"/>
              <a:t>provided </a:t>
            </a:r>
            <a:r>
              <a:rPr lang="en-US" altLang="en-US" sz="2000" dirty="0"/>
              <a:t>as a Guard </a:t>
            </a:r>
            <a:r>
              <a:rPr lang="en-US" altLang="en-US" sz="2000" dirty="0" smtClean="0"/>
              <a:t>Channel</a:t>
            </a:r>
          </a:p>
          <a:p>
            <a:pPr lvl="1">
              <a:spcBef>
                <a:spcPct val="0"/>
              </a:spcBef>
              <a:buClrTx/>
              <a:buSzTx/>
              <a:buNone/>
            </a:pPr>
            <a:r>
              <a:rPr lang="en-US" altLang="en-US" sz="2000" dirty="0" smtClean="0"/>
              <a:t>   </a:t>
            </a:r>
            <a:r>
              <a:rPr lang="en-US" altLang="en-US" sz="2000" dirty="0"/>
              <a:t>between GSM and Other Bands. 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0138" y="876641"/>
            <a:ext cx="4741862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8400256" y="2910897"/>
            <a:ext cx="2423477" cy="1638002"/>
            <a:chOff x="8400256" y="2910897"/>
            <a:chExt cx="2423477" cy="1638002"/>
          </a:xfrm>
        </p:grpSpPr>
        <p:sp>
          <p:nvSpPr>
            <p:cNvPr id="8" name="Rectangle 7"/>
            <p:cNvSpPr/>
            <p:nvPr/>
          </p:nvSpPr>
          <p:spPr>
            <a:xfrm>
              <a:off x="8400256" y="4179567"/>
              <a:ext cx="8595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 smtClean="0">
                  <a:solidFill>
                    <a:srgbClr val="FF0000"/>
                  </a:solidFill>
                </a:rPr>
                <a:t>Cluster</a:t>
              </a:r>
              <a:endParaRPr lang="en-IN" dirty="0"/>
            </a:p>
          </p:txBody>
        </p:sp>
        <p:sp>
          <p:nvSpPr>
            <p:cNvPr id="3" name="Oval 2"/>
            <p:cNvSpPr/>
            <p:nvPr/>
          </p:nvSpPr>
          <p:spPr>
            <a:xfrm>
              <a:off x="9671605" y="2910897"/>
              <a:ext cx="1152128" cy="1123196"/>
            </a:xfrm>
            <a:prstGeom prst="ellipse">
              <a:avLst/>
            </a:prstGeom>
            <a:solidFill>
              <a:srgbClr val="FF0000">
                <a:alpha val="23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Arrow Connector 4"/>
            <p:cNvCxnSpPr>
              <a:endCxn id="3" idx="3"/>
            </p:cNvCxnSpPr>
            <p:nvPr/>
          </p:nvCxnSpPr>
          <p:spPr>
            <a:xfrm flipV="1">
              <a:off x="9120336" y="3869605"/>
              <a:ext cx="719994" cy="395609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9872898" y="3556893"/>
            <a:ext cx="2063385" cy="1282808"/>
            <a:chOff x="9872898" y="3556893"/>
            <a:chExt cx="2063385" cy="1282808"/>
          </a:xfrm>
        </p:grpSpPr>
        <p:sp>
          <p:nvSpPr>
            <p:cNvPr id="2" name="Rectangle 1"/>
            <p:cNvSpPr/>
            <p:nvPr/>
          </p:nvSpPr>
          <p:spPr>
            <a:xfrm>
              <a:off x="9872898" y="4470369"/>
              <a:ext cx="206338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 smtClean="0">
                  <a:solidFill>
                    <a:srgbClr val="FF0000"/>
                  </a:solidFill>
                </a:rPr>
                <a:t>1 set of Frequencies</a:t>
              </a:r>
              <a:endParaRPr lang="en-IN" dirty="0"/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H="1" flipV="1">
              <a:off x="10328978" y="3556893"/>
              <a:ext cx="619154" cy="995207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77540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Reuse the Frequencies</a:t>
            </a:r>
            <a:endParaRPr lang="en-US" dirty="0"/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152400" y="4581128"/>
            <a:ext cx="11632232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1800" dirty="0"/>
              <a:t> GSM 900 uses 2 Frequency Bands of 25MHz</a:t>
            </a:r>
            <a:r>
              <a:rPr lang="en-US" altLang="en-US" sz="1800" dirty="0" smtClean="0"/>
              <a:t>.</a:t>
            </a:r>
            <a:endParaRPr lang="en-US" altLang="en-US" sz="1800" dirty="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 </a:t>
            </a:r>
            <a:r>
              <a:rPr lang="en-US" altLang="en-US" sz="2000" dirty="0" smtClean="0">
                <a:solidFill>
                  <a:srgbClr val="FF0000"/>
                </a:solidFill>
              </a:rPr>
              <a:t>890-915MHz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for UPLINK and </a:t>
            </a:r>
            <a:r>
              <a:rPr lang="en-US" altLang="en-US" sz="2000" dirty="0">
                <a:solidFill>
                  <a:srgbClr val="FF0000"/>
                </a:solidFill>
              </a:rPr>
              <a:t>935-960 MHz </a:t>
            </a:r>
            <a:r>
              <a:rPr lang="en-US" altLang="en-US" sz="2000" dirty="0"/>
              <a:t>for DOWNLINK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 Each </a:t>
            </a:r>
            <a:r>
              <a:rPr lang="en-US" altLang="en-US" sz="2000" dirty="0"/>
              <a:t>Band provides </a:t>
            </a:r>
            <a:r>
              <a:rPr lang="en-US" altLang="en-US" sz="2000" dirty="0">
                <a:solidFill>
                  <a:srgbClr val="FF0000"/>
                </a:solidFill>
              </a:rPr>
              <a:t>125 Carrier of 200KHz each</a:t>
            </a:r>
            <a:r>
              <a:rPr lang="en-US" altLang="en-US" sz="2000" dirty="0"/>
              <a:t>. 1 Carrier is </a:t>
            </a:r>
            <a:r>
              <a:rPr lang="en-US" altLang="en-US" sz="2000" dirty="0" smtClean="0"/>
              <a:t>provided </a:t>
            </a:r>
            <a:r>
              <a:rPr lang="en-US" altLang="en-US" sz="2000" dirty="0"/>
              <a:t>as a Guard </a:t>
            </a:r>
            <a:r>
              <a:rPr lang="en-US" altLang="en-US" sz="2000" dirty="0" smtClean="0"/>
              <a:t>Channel</a:t>
            </a:r>
          </a:p>
          <a:p>
            <a:pPr lvl="1">
              <a:spcBef>
                <a:spcPct val="0"/>
              </a:spcBef>
              <a:buClrTx/>
              <a:buSzTx/>
              <a:buNone/>
            </a:pPr>
            <a:r>
              <a:rPr lang="en-US" altLang="en-US" sz="2000" dirty="0" smtClean="0"/>
              <a:t>   </a:t>
            </a:r>
            <a:r>
              <a:rPr lang="en-US" altLang="en-US" sz="2000" dirty="0"/>
              <a:t>between GSM and Other Bands. 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0138" y="876641"/>
            <a:ext cx="4741862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8400256" y="2910897"/>
            <a:ext cx="2423477" cy="1638002"/>
            <a:chOff x="8400256" y="2910897"/>
            <a:chExt cx="2423477" cy="1638002"/>
          </a:xfrm>
        </p:grpSpPr>
        <p:sp>
          <p:nvSpPr>
            <p:cNvPr id="8" name="Rectangle 7"/>
            <p:cNvSpPr/>
            <p:nvPr/>
          </p:nvSpPr>
          <p:spPr>
            <a:xfrm>
              <a:off x="8400256" y="4179567"/>
              <a:ext cx="8595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 smtClean="0">
                  <a:solidFill>
                    <a:srgbClr val="FF0000"/>
                  </a:solidFill>
                </a:rPr>
                <a:t>Cluster</a:t>
              </a:r>
              <a:endParaRPr lang="en-IN" dirty="0"/>
            </a:p>
          </p:txBody>
        </p:sp>
        <p:sp>
          <p:nvSpPr>
            <p:cNvPr id="3" name="Oval 2"/>
            <p:cNvSpPr/>
            <p:nvPr/>
          </p:nvSpPr>
          <p:spPr>
            <a:xfrm>
              <a:off x="9671605" y="2910897"/>
              <a:ext cx="1152128" cy="1123196"/>
            </a:xfrm>
            <a:prstGeom prst="ellipse">
              <a:avLst/>
            </a:prstGeom>
            <a:solidFill>
              <a:srgbClr val="FF0000">
                <a:alpha val="23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Arrow Connector 4"/>
            <p:cNvCxnSpPr>
              <a:endCxn id="3" idx="3"/>
            </p:cNvCxnSpPr>
            <p:nvPr/>
          </p:nvCxnSpPr>
          <p:spPr>
            <a:xfrm flipV="1">
              <a:off x="9120336" y="3869605"/>
              <a:ext cx="719994" cy="395609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9872898" y="3556893"/>
            <a:ext cx="2063385" cy="1282808"/>
            <a:chOff x="9872898" y="3556893"/>
            <a:chExt cx="2063385" cy="1282808"/>
          </a:xfrm>
        </p:grpSpPr>
        <p:sp>
          <p:nvSpPr>
            <p:cNvPr id="2" name="Rectangle 1"/>
            <p:cNvSpPr/>
            <p:nvPr/>
          </p:nvSpPr>
          <p:spPr>
            <a:xfrm>
              <a:off x="9872898" y="4470369"/>
              <a:ext cx="206338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 smtClean="0">
                  <a:solidFill>
                    <a:srgbClr val="FF0000"/>
                  </a:solidFill>
                </a:rPr>
                <a:t>1 set of Frequencies</a:t>
              </a:r>
              <a:endParaRPr lang="en-IN" dirty="0"/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H="1" flipV="1">
              <a:off x="10328978" y="3556893"/>
              <a:ext cx="619154" cy="995207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239166" y="932314"/>
            <a:ext cx="7945065" cy="2640702"/>
            <a:chOff x="239166" y="932314"/>
            <a:chExt cx="7945065" cy="2640702"/>
          </a:xfrm>
        </p:grpSpPr>
        <p:sp>
          <p:nvSpPr>
            <p:cNvPr id="7" name="Rectangle 6"/>
            <p:cNvSpPr/>
            <p:nvPr/>
          </p:nvSpPr>
          <p:spPr>
            <a:xfrm>
              <a:off x="243404" y="1541691"/>
              <a:ext cx="7940827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buClrTx/>
                <a:buFont typeface="+mj-lt"/>
                <a:buAutoNum type="arabicPeriod"/>
              </a:pPr>
              <a:r>
                <a:rPr lang="en-US" altLang="en-US" dirty="0" smtClean="0">
                  <a:sym typeface="Wingdings" panose="05000000000000000000" pitchFamily="2" charset="2"/>
                </a:rPr>
                <a:t>  Starting </a:t>
              </a:r>
              <a:r>
                <a:rPr lang="en-US" altLang="en-US" dirty="0">
                  <a:sym typeface="Wingdings" panose="05000000000000000000" pitchFamily="2" charset="2"/>
                </a:rPr>
                <a:t>from any cell A, move </a:t>
              </a:r>
              <a:r>
                <a:rPr lang="en-US" altLang="en-US" dirty="0" err="1">
                  <a:sym typeface="Wingdings" panose="05000000000000000000" pitchFamily="2" charset="2"/>
                </a:rPr>
                <a:t>i</a:t>
              </a:r>
              <a:r>
                <a:rPr lang="en-US" altLang="en-US" dirty="0">
                  <a:sym typeface="Wingdings" panose="05000000000000000000" pitchFamily="2" charset="2"/>
                </a:rPr>
                <a:t> cells </a:t>
              </a:r>
              <a:r>
                <a:rPr lang="en-US" altLang="en-US" dirty="0" smtClean="0">
                  <a:sym typeface="Wingdings" panose="05000000000000000000" pitchFamily="2" charset="2"/>
                </a:rPr>
                <a:t>along </a:t>
              </a:r>
              <a:r>
                <a:rPr lang="en-US" altLang="en-US" dirty="0">
                  <a:sym typeface="Wingdings" panose="05000000000000000000" pitchFamily="2" charset="2"/>
                </a:rPr>
                <a:t>one direction.</a:t>
              </a:r>
            </a:p>
            <a:p>
              <a:pPr marL="342900" indent="-342900">
                <a:buClrTx/>
                <a:buFont typeface="+mj-lt"/>
                <a:buAutoNum type="arabicPeriod"/>
              </a:pPr>
              <a:endParaRPr lang="en-US" altLang="en-US" dirty="0">
                <a:sym typeface="Wingdings" panose="05000000000000000000" pitchFamily="2" charset="2"/>
              </a:endParaRPr>
            </a:p>
            <a:p>
              <a:pPr marL="342900" indent="-342900">
                <a:buClrTx/>
                <a:buFont typeface="+mj-lt"/>
                <a:buAutoNum type="arabicPeriod"/>
              </a:pPr>
              <a:r>
                <a:rPr lang="en-IN" altLang="en-US" dirty="0" smtClean="0"/>
                <a:t>  Turn </a:t>
              </a:r>
              <a:r>
                <a:rPr lang="en-IN" altLang="en-US" dirty="0"/>
                <a:t>anticlockwise 60 degrees, then move j cells in the direction </a:t>
              </a:r>
            </a:p>
            <a:p>
              <a:pPr marL="342900" indent="-342900">
                <a:buClrTx/>
                <a:buFont typeface="+mj-lt"/>
                <a:buAutoNum type="arabicPeriod"/>
              </a:pPr>
              <a:endParaRPr lang="en-IN" altLang="en-US" dirty="0"/>
            </a:p>
            <a:p>
              <a:pPr marL="342900" indent="-342900">
                <a:buClrTx/>
                <a:buFont typeface="+mj-lt"/>
                <a:buAutoNum type="arabicPeriod"/>
              </a:pPr>
              <a:r>
                <a:rPr lang="en-IN" altLang="en-US" dirty="0" smtClean="0"/>
                <a:t>  Assign </a:t>
              </a:r>
              <a:r>
                <a:rPr lang="en-IN" altLang="en-US" dirty="0"/>
                <a:t>the  same  frequency to this cell </a:t>
              </a:r>
            </a:p>
            <a:p>
              <a:pPr marL="342900" indent="-342900">
                <a:buClrTx/>
                <a:buFont typeface="+mj-lt"/>
                <a:buAutoNum type="arabicPeriod"/>
              </a:pPr>
              <a:endParaRPr lang="en-IN" altLang="en-US" dirty="0"/>
            </a:p>
            <a:p>
              <a:pPr marL="342900" indent="-342900">
                <a:buClrTx/>
                <a:buFont typeface="+mj-lt"/>
                <a:buAutoNum type="arabicPeriod"/>
              </a:pPr>
              <a:r>
                <a:rPr lang="en-IN" altLang="en-US" dirty="0" smtClean="0"/>
                <a:t>  Starting </a:t>
              </a:r>
              <a:r>
                <a:rPr lang="en-IN" altLang="en-US" dirty="0"/>
                <a:t>from A , repeat for another direction, until all directions are covered. 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39166" y="932314"/>
              <a:ext cx="28101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 smtClean="0">
                  <a:solidFill>
                    <a:srgbClr val="FF0000"/>
                  </a:solidFill>
                </a:rPr>
                <a:t>Frequency Reuse Algorithm</a:t>
              </a:r>
              <a:endParaRPr lang="en-IN" dirty="0"/>
            </a:p>
          </p:txBody>
        </p:sp>
      </p:grpSp>
      <p:sp>
        <p:nvSpPr>
          <p:cNvPr id="15" name="Rectangle 14"/>
          <p:cNvSpPr/>
          <p:nvPr/>
        </p:nvSpPr>
        <p:spPr>
          <a:xfrm>
            <a:off x="243404" y="378663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dirty="0"/>
              <a:t>Note : </a:t>
            </a:r>
            <a:r>
              <a:rPr lang="en-US" altLang="en-US" i="1" dirty="0" err="1"/>
              <a:t>i</a:t>
            </a:r>
            <a:r>
              <a:rPr lang="en-US" altLang="en-US" i="1" dirty="0"/>
              <a:t> and j determines the cluster size, 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 dirty="0"/>
              <a:t>           here N = 7, </a:t>
            </a:r>
            <a:r>
              <a:rPr lang="en-US" altLang="en-US" i="1" dirty="0" err="1"/>
              <a:t>i</a:t>
            </a:r>
            <a:r>
              <a:rPr lang="en-US" altLang="en-US" i="1" dirty="0"/>
              <a:t> = 2, j = 1</a:t>
            </a:r>
          </a:p>
        </p:txBody>
      </p:sp>
    </p:spTree>
    <p:extLst>
      <p:ext uri="{BB962C8B-B14F-4D97-AF65-F5344CB8AC3E}">
        <p14:creationId xmlns:p14="http://schemas.microsoft.com/office/powerpoint/2010/main" val="1239932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Reuse the Frequencies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243404" y="961466"/>
            <a:ext cx="7940827" cy="2611550"/>
            <a:chOff x="243404" y="961466"/>
            <a:chExt cx="7940827" cy="2611550"/>
          </a:xfrm>
        </p:grpSpPr>
        <p:sp>
          <p:nvSpPr>
            <p:cNvPr id="7" name="Rectangle 6"/>
            <p:cNvSpPr/>
            <p:nvPr/>
          </p:nvSpPr>
          <p:spPr>
            <a:xfrm>
              <a:off x="243404" y="1541691"/>
              <a:ext cx="7940827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buClrTx/>
                <a:buFont typeface="+mj-lt"/>
                <a:buAutoNum type="arabicPeriod"/>
              </a:pPr>
              <a:r>
                <a:rPr lang="en-US" altLang="en-US" dirty="0" smtClean="0">
                  <a:sym typeface="Wingdings" panose="05000000000000000000" pitchFamily="2" charset="2"/>
                </a:rPr>
                <a:t>  Starting </a:t>
              </a:r>
              <a:r>
                <a:rPr lang="en-US" altLang="en-US" dirty="0">
                  <a:sym typeface="Wingdings" panose="05000000000000000000" pitchFamily="2" charset="2"/>
                </a:rPr>
                <a:t>from any cell A, move </a:t>
              </a:r>
              <a:r>
                <a:rPr lang="en-US" altLang="en-US" dirty="0" err="1">
                  <a:sym typeface="Wingdings" panose="05000000000000000000" pitchFamily="2" charset="2"/>
                </a:rPr>
                <a:t>i</a:t>
              </a:r>
              <a:r>
                <a:rPr lang="en-US" altLang="en-US" dirty="0">
                  <a:sym typeface="Wingdings" panose="05000000000000000000" pitchFamily="2" charset="2"/>
                </a:rPr>
                <a:t> cells </a:t>
              </a:r>
              <a:r>
                <a:rPr lang="en-US" altLang="en-US" dirty="0" smtClean="0">
                  <a:sym typeface="Wingdings" panose="05000000000000000000" pitchFamily="2" charset="2"/>
                </a:rPr>
                <a:t>along </a:t>
              </a:r>
              <a:r>
                <a:rPr lang="en-US" altLang="en-US" dirty="0">
                  <a:sym typeface="Wingdings" panose="05000000000000000000" pitchFamily="2" charset="2"/>
                </a:rPr>
                <a:t>one direction.</a:t>
              </a:r>
            </a:p>
            <a:p>
              <a:pPr marL="342900" indent="-342900">
                <a:buClrTx/>
                <a:buFont typeface="+mj-lt"/>
                <a:buAutoNum type="arabicPeriod"/>
              </a:pPr>
              <a:endParaRPr lang="en-US" altLang="en-US" dirty="0">
                <a:sym typeface="Wingdings" panose="05000000000000000000" pitchFamily="2" charset="2"/>
              </a:endParaRPr>
            </a:p>
            <a:p>
              <a:pPr marL="342900" indent="-342900">
                <a:buClrTx/>
                <a:buFont typeface="+mj-lt"/>
                <a:buAutoNum type="arabicPeriod"/>
              </a:pPr>
              <a:r>
                <a:rPr lang="en-IN" altLang="en-US" dirty="0" smtClean="0"/>
                <a:t>  Turn </a:t>
              </a:r>
              <a:r>
                <a:rPr lang="en-IN" altLang="en-US" dirty="0"/>
                <a:t>anticlockwise 60 degrees, then move j cells in the direction </a:t>
              </a:r>
            </a:p>
            <a:p>
              <a:pPr marL="342900" indent="-342900">
                <a:buClrTx/>
                <a:buFont typeface="+mj-lt"/>
                <a:buAutoNum type="arabicPeriod"/>
              </a:pPr>
              <a:endParaRPr lang="en-IN" altLang="en-US" dirty="0"/>
            </a:p>
            <a:p>
              <a:pPr marL="342900" indent="-342900">
                <a:buClrTx/>
                <a:buFont typeface="+mj-lt"/>
                <a:buAutoNum type="arabicPeriod"/>
              </a:pPr>
              <a:r>
                <a:rPr lang="en-IN" altLang="en-US" dirty="0" smtClean="0"/>
                <a:t>  Assign </a:t>
              </a:r>
              <a:r>
                <a:rPr lang="en-IN" altLang="en-US" dirty="0"/>
                <a:t>the  same  frequency to this cell </a:t>
              </a:r>
            </a:p>
            <a:p>
              <a:pPr marL="342900" indent="-342900">
                <a:buClrTx/>
                <a:buFont typeface="+mj-lt"/>
                <a:buAutoNum type="arabicPeriod"/>
              </a:pPr>
              <a:endParaRPr lang="en-IN" altLang="en-US" dirty="0"/>
            </a:p>
            <a:p>
              <a:pPr marL="342900" indent="-342900">
                <a:buClrTx/>
                <a:buFont typeface="+mj-lt"/>
                <a:buAutoNum type="arabicPeriod"/>
              </a:pPr>
              <a:r>
                <a:rPr lang="en-IN" altLang="en-US" dirty="0" smtClean="0"/>
                <a:t>  Starting </a:t>
              </a:r>
              <a:r>
                <a:rPr lang="en-IN" altLang="en-US" dirty="0"/>
                <a:t>from A , repeat for another direction, until all directions are covered. 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43404" y="961466"/>
              <a:ext cx="28101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 smtClean="0">
                  <a:solidFill>
                    <a:srgbClr val="FF0000"/>
                  </a:solidFill>
                </a:rPr>
                <a:t>Frequency Reuse Algorithm</a:t>
              </a:r>
              <a:endParaRPr lang="en-IN" dirty="0"/>
            </a:p>
          </p:txBody>
        </p:sp>
      </p:grpSp>
      <p:sp>
        <p:nvSpPr>
          <p:cNvPr id="15" name="Rectangle 14"/>
          <p:cNvSpPr/>
          <p:nvPr/>
        </p:nvSpPr>
        <p:spPr>
          <a:xfrm>
            <a:off x="243404" y="378663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dirty="0"/>
              <a:t>Note : </a:t>
            </a:r>
            <a:r>
              <a:rPr lang="en-US" altLang="en-US" i="1" dirty="0" err="1"/>
              <a:t>i</a:t>
            </a:r>
            <a:r>
              <a:rPr lang="en-US" altLang="en-US" i="1" dirty="0"/>
              <a:t> and j determines the cluster size, 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 dirty="0"/>
              <a:t>           here N = 7, </a:t>
            </a:r>
            <a:r>
              <a:rPr lang="en-US" altLang="en-US" i="1" dirty="0" err="1"/>
              <a:t>i</a:t>
            </a:r>
            <a:r>
              <a:rPr lang="en-US" altLang="en-US" i="1" dirty="0"/>
              <a:t> = 2, j = 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3444" y="933401"/>
            <a:ext cx="3640133" cy="3868305"/>
          </a:xfrm>
          <a:prstGeom prst="rect">
            <a:avLst/>
          </a:prstGeom>
        </p:spPr>
      </p:pic>
      <p:sp>
        <p:nvSpPr>
          <p:cNvPr id="111" name="TextBox 144"/>
          <p:cNvSpPr txBox="1">
            <a:spLocks noChangeArrowheads="1"/>
          </p:cNvSpPr>
          <p:nvPr/>
        </p:nvSpPr>
        <p:spPr bwMode="auto">
          <a:xfrm>
            <a:off x="9004810" y="5589240"/>
            <a:ext cx="205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N = 4, </a:t>
            </a:r>
            <a:r>
              <a:rPr lang="en-US" altLang="en-US" sz="1800" dirty="0" err="1"/>
              <a:t>i</a:t>
            </a:r>
            <a:r>
              <a:rPr lang="en-US" altLang="en-US" sz="1800" dirty="0"/>
              <a:t> = 2, j = 0</a:t>
            </a:r>
            <a:endParaRPr lang="en-I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33699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Relation among </a:t>
            </a:r>
            <a:r>
              <a:rPr lang="en-US" sz="3600" dirty="0" err="1" smtClean="0"/>
              <a:t>i</a:t>
            </a:r>
            <a:r>
              <a:rPr lang="en-US" sz="3600" dirty="0" smtClean="0"/>
              <a:t>, j and 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13" y="906646"/>
            <a:ext cx="6127011" cy="5474682"/>
          </a:xfrm>
          <a:prstGeom prst="rect">
            <a:avLst/>
          </a:prstGeom>
        </p:spPr>
      </p:pic>
      <p:sp>
        <p:nvSpPr>
          <p:cNvPr id="338" name="TextBox 337"/>
          <p:cNvSpPr txBox="1">
            <a:spLocks noChangeArrowheads="1"/>
          </p:cNvSpPr>
          <p:nvPr/>
        </p:nvSpPr>
        <p:spPr bwMode="auto">
          <a:xfrm>
            <a:off x="6716216" y="908720"/>
            <a:ext cx="5428456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Reuse Distance </a:t>
            </a:r>
            <a:r>
              <a:rPr lang="en-US" altLang="en-US" sz="1800" dirty="0" smtClean="0"/>
              <a:t>:   D</a:t>
            </a:r>
            <a:r>
              <a:rPr lang="en-US" altLang="en-US" sz="1800" baseline="30000" dirty="0" smtClean="0"/>
              <a:t>2</a:t>
            </a:r>
            <a:r>
              <a:rPr lang="en-US" altLang="en-US" sz="1800" dirty="0"/>
              <a:t>= 3R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(i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 + j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 + </a:t>
            </a:r>
            <a:r>
              <a:rPr lang="en-US" altLang="en-US" sz="1800" dirty="0" err="1"/>
              <a:t>ij</a:t>
            </a:r>
            <a:r>
              <a:rPr lang="en-US" altLang="en-US" sz="1800" dirty="0"/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0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Cell </a:t>
            </a:r>
            <a:r>
              <a:rPr lang="en-US" altLang="en-US" sz="1800" dirty="0" smtClean="0"/>
              <a:t>Area :    3 </a:t>
            </a:r>
            <a:r>
              <a:rPr lang="en-US" altLang="en-US" sz="1800" dirty="0"/>
              <a:t>√ 3/2 R</a:t>
            </a:r>
            <a:r>
              <a:rPr lang="en-US" altLang="en-US" sz="1800" baseline="30000" dirty="0"/>
              <a:t>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aseline="300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Cluster </a:t>
            </a:r>
            <a:r>
              <a:rPr lang="en-US" altLang="en-US" sz="1800" dirty="0" smtClean="0"/>
              <a:t>Area :  √</a:t>
            </a:r>
            <a:r>
              <a:rPr lang="en-US" altLang="en-US" sz="1800" dirty="0"/>
              <a:t>3/2 D</a:t>
            </a:r>
            <a:r>
              <a:rPr lang="en-US" altLang="en-US" sz="1800" baseline="30000" dirty="0"/>
              <a:t>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aseline="300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Cluster Size </a:t>
            </a:r>
            <a:r>
              <a:rPr lang="en-US" altLang="en-US" sz="1800" dirty="0" smtClean="0"/>
              <a:t> </a:t>
            </a:r>
            <a:r>
              <a:rPr lang="en-US" altLang="en-US" sz="1800" dirty="0"/>
              <a:t>N=Cluster Area / Cell </a:t>
            </a:r>
            <a:r>
              <a:rPr lang="en-US" altLang="en-US" sz="1800" dirty="0" smtClean="0"/>
              <a:t>Area: </a:t>
            </a: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 </a:t>
            </a:r>
            <a:r>
              <a:rPr lang="en-US" altLang="en-US" sz="1800" dirty="0" smtClean="0"/>
              <a:t>         N=i</a:t>
            </a:r>
            <a:r>
              <a:rPr lang="en-US" altLang="en-US" sz="1800" baseline="30000" dirty="0" smtClean="0"/>
              <a:t>2</a:t>
            </a:r>
            <a:r>
              <a:rPr lang="en-US" altLang="en-US" sz="1800" dirty="0" smtClean="0"/>
              <a:t> </a:t>
            </a:r>
            <a:r>
              <a:rPr lang="en-US" altLang="en-US" sz="1800" dirty="0"/>
              <a:t>+ j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 + </a:t>
            </a:r>
            <a:r>
              <a:rPr lang="en-US" altLang="en-US" sz="1800" dirty="0" err="1" smtClean="0"/>
              <a:t>ij</a:t>
            </a:r>
            <a:r>
              <a:rPr lang="en-US" altLang="en-US" sz="1800" dirty="0" smtClean="0"/>
              <a:t>,       valid </a:t>
            </a:r>
            <a:r>
              <a:rPr lang="en-US" altLang="en-US" sz="1800" dirty="0"/>
              <a:t>N = 1,3,4,7,12,…</a:t>
            </a:r>
          </a:p>
        </p:txBody>
      </p:sp>
      <p:grpSp>
        <p:nvGrpSpPr>
          <p:cNvPr id="339" name="Group 229"/>
          <p:cNvGrpSpPr>
            <a:grpSpLocks/>
          </p:cNvGrpSpPr>
          <p:nvPr/>
        </p:nvGrpSpPr>
        <p:grpSpPr bwMode="auto">
          <a:xfrm>
            <a:off x="7891726" y="3144484"/>
            <a:ext cx="2346325" cy="1679575"/>
            <a:chOff x="7254240" y="5254752"/>
            <a:chExt cx="2346960" cy="1679448"/>
          </a:xfrm>
        </p:grpSpPr>
        <p:grpSp>
          <p:nvGrpSpPr>
            <p:cNvPr id="340" name="Group 196"/>
            <p:cNvGrpSpPr>
              <a:grpSpLocks/>
            </p:cNvGrpSpPr>
            <p:nvPr/>
          </p:nvGrpSpPr>
          <p:grpSpPr bwMode="auto">
            <a:xfrm>
              <a:off x="7254240" y="5254752"/>
              <a:ext cx="1524000" cy="1295400"/>
              <a:chOff x="6553200" y="3904488"/>
              <a:chExt cx="2057400" cy="1810512"/>
            </a:xfrm>
          </p:grpSpPr>
          <p:grpSp>
            <p:nvGrpSpPr>
              <p:cNvPr id="342" name="Group 182"/>
              <p:cNvGrpSpPr/>
              <p:nvPr/>
            </p:nvGrpSpPr>
            <p:grpSpPr>
              <a:xfrm>
                <a:off x="6553200" y="3919728"/>
                <a:ext cx="2057400" cy="1795272"/>
                <a:chOff x="1600200" y="2286000"/>
                <a:chExt cx="838200" cy="685800"/>
              </a:xfrm>
              <a:solidFill>
                <a:srgbClr val="DDDDDD"/>
              </a:solidFill>
            </p:grpSpPr>
            <p:sp>
              <p:nvSpPr>
                <p:cNvPr id="347" name="Hexagon 346"/>
                <p:cNvSpPr/>
                <p:nvPr/>
              </p:nvSpPr>
              <p:spPr>
                <a:xfrm>
                  <a:off x="1600200" y="2286000"/>
                  <a:ext cx="838200" cy="685800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en-IN"/>
                </a:p>
              </p:txBody>
            </p:sp>
            <p:sp>
              <p:nvSpPr>
                <p:cNvPr id="348" name="TextBox 347"/>
                <p:cNvSpPr txBox="1"/>
                <p:nvPr/>
              </p:nvSpPr>
              <p:spPr>
                <a:xfrm>
                  <a:off x="1792224" y="2456688"/>
                  <a:ext cx="457200" cy="381000"/>
                </a:xfrm>
                <a:prstGeom prst="rect">
                  <a:avLst/>
                </a:prstGeom>
                <a:grpFill/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defRPr/>
                  </a:pPr>
                  <a:endParaRPr lang="en-IN" dirty="0">
                    <a:latin typeface="Arial" charset="0"/>
                  </a:endParaRPr>
                </a:p>
              </p:txBody>
            </p:sp>
          </p:grpSp>
          <p:cxnSp>
            <p:nvCxnSpPr>
              <p:cNvPr id="343" name="Straight Connector 342"/>
              <p:cNvCxnSpPr/>
              <p:nvPr/>
            </p:nvCxnSpPr>
            <p:spPr>
              <a:xfrm rot="5400000" flipH="1" flipV="1">
                <a:off x="7394744" y="4069466"/>
                <a:ext cx="880782" cy="6173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Straight Connector 343"/>
              <p:cNvCxnSpPr/>
              <p:nvPr/>
            </p:nvCxnSpPr>
            <p:spPr>
              <a:xfrm rot="5400000" flipH="1" flipV="1">
                <a:off x="7104782" y="4360447"/>
                <a:ext cx="914062" cy="214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5" name="TextBox 193"/>
              <p:cNvSpPr txBox="1">
                <a:spLocks noChangeArrowheads="1"/>
              </p:cNvSpPr>
              <p:nvPr/>
            </p:nvSpPr>
            <p:spPr bwMode="auto">
              <a:xfrm>
                <a:off x="7848600" y="4343400"/>
                <a:ext cx="4572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R</a:t>
                </a:r>
                <a:endParaRPr lang="en-IN" altLang="en-US" sz="1800"/>
              </a:p>
            </p:txBody>
          </p:sp>
          <p:sp>
            <p:nvSpPr>
              <p:cNvPr id="346" name="TextBox 194"/>
              <p:cNvSpPr txBox="1">
                <a:spLocks noChangeArrowheads="1"/>
              </p:cNvSpPr>
              <p:nvPr/>
            </p:nvSpPr>
            <p:spPr bwMode="auto">
              <a:xfrm>
                <a:off x="7170725" y="4110575"/>
                <a:ext cx="4572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L</a:t>
                </a:r>
                <a:endParaRPr lang="en-IN" altLang="en-US" sz="1800"/>
              </a:p>
            </p:txBody>
          </p:sp>
        </p:grpSp>
        <p:sp>
          <p:nvSpPr>
            <p:cNvPr id="341" name="TextBox 195"/>
            <p:cNvSpPr txBox="1">
              <a:spLocks noChangeArrowheads="1"/>
            </p:cNvSpPr>
            <p:nvPr/>
          </p:nvSpPr>
          <p:spPr bwMode="auto">
            <a:xfrm>
              <a:off x="7543800" y="6564868"/>
              <a:ext cx="2057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L = √3/2 . R</a:t>
              </a:r>
              <a:endParaRPr lang="en-IN" altLang="en-US" sz="1800"/>
            </a:p>
          </p:txBody>
        </p:sp>
      </p:grpSp>
      <p:grpSp>
        <p:nvGrpSpPr>
          <p:cNvPr id="349" name="Group 214"/>
          <p:cNvGrpSpPr>
            <a:grpSpLocks/>
          </p:cNvGrpSpPr>
          <p:nvPr/>
        </p:nvGrpSpPr>
        <p:grpSpPr bwMode="auto">
          <a:xfrm>
            <a:off x="3292331" y="2306284"/>
            <a:ext cx="1533525" cy="1371600"/>
            <a:chOff x="3288792" y="2743200"/>
            <a:chExt cx="1533144" cy="1371600"/>
          </a:xfrm>
        </p:grpSpPr>
        <p:sp>
          <p:nvSpPr>
            <p:cNvPr id="350" name="TextBox 215"/>
            <p:cNvSpPr txBox="1">
              <a:spLocks noChangeArrowheads="1"/>
            </p:cNvSpPr>
            <p:nvPr/>
          </p:nvSpPr>
          <p:spPr bwMode="auto">
            <a:xfrm>
              <a:off x="4593336" y="3108960"/>
              <a:ext cx="228600" cy="307777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/>
                <a:t>j</a:t>
              </a:r>
              <a:endParaRPr lang="en-IN" altLang="en-US" sz="1400"/>
            </a:p>
          </p:txBody>
        </p:sp>
        <p:cxnSp>
          <p:nvCxnSpPr>
            <p:cNvPr id="351" name="Straight Connector 350"/>
            <p:cNvCxnSpPr/>
            <p:nvPr/>
          </p:nvCxnSpPr>
          <p:spPr>
            <a:xfrm rot="5400000" flipH="1" flipV="1">
              <a:off x="3250531" y="2781461"/>
              <a:ext cx="1371600" cy="12950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Arrow Connector 351"/>
            <p:cNvCxnSpPr/>
            <p:nvPr/>
          </p:nvCxnSpPr>
          <p:spPr>
            <a:xfrm rot="5400000" flipH="1" flipV="1">
              <a:off x="4279864" y="3124994"/>
              <a:ext cx="609600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3" name="Group 211"/>
            <p:cNvGrpSpPr>
              <a:grpSpLocks/>
            </p:cNvGrpSpPr>
            <p:nvPr/>
          </p:nvGrpSpPr>
          <p:grpSpPr bwMode="auto">
            <a:xfrm>
              <a:off x="3288792" y="3429000"/>
              <a:ext cx="1295400" cy="685800"/>
              <a:chOff x="3288792" y="3429000"/>
              <a:chExt cx="1295400" cy="685800"/>
            </a:xfrm>
          </p:grpSpPr>
          <p:sp>
            <p:nvSpPr>
              <p:cNvPr id="355" name="TextBox 354"/>
              <p:cNvSpPr txBox="1"/>
              <p:nvPr/>
            </p:nvSpPr>
            <p:spPr>
              <a:xfrm>
                <a:off x="3755401" y="3733800"/>
                <a:ext cx="457086" cy="30797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 eaLnBrk="1" hangingPunct="1">
                  <a:defRPr/>
                </a:pPr>
                <a:r>
                  <a:rPr lang="en-US" sz="1400" dirty="0" err="1">
                    <a:latin typeface="Arial" charset="0"/>
                  </a:rPr>
                  <a:t>i</a:t>
                </a:r>
                <a:endParaRPr lang="en-IN" sz="1400" dirty="0">
                  <a:latin typeface="Arial" charset="0"/>
                </a:endParaRPr>
              </a:p>
            </p:txBody>
          </p:sp>
          <p:cxnSp>
            <p:nvCxnSpPr>
              <p:cNvPr id="356" name="Straight Arrow Connector 355"/>
              <p:cNvCxnSpPr/>
              <p:nvPr/>
            </p:nvCxnSpPr>
            <p:spPr>
              <a:xfrm flipV="1">
                <a:off x="3288792" y="3429000"/>
                <a:ext cx="1295078" cy="6858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4" name="TextBox 219"/>
            <p:cNvSpPr txBox="1">
              <a:spLocks noChangeArrowheads="1"/>
            </p:cNvSpPr>
            <p:nvPr/>
          </p:nvSpPr>
          <p:spPr bwMode="auto">
            <a:xfrm>
              <a:off x="3886200" y="2895600"/>
              <a:ext cx="228600" cy="307777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/>
                <a:t>D</a:t>
              </a:r>
              <a:endParaRPr lang="en-IN" altLang="en-US" sz="1400"/>
            </a:p>
          </p:txBody>
        </p:sp>
      </p:grpSp>
      <p:grpSp>
        <p:nvGrpSpPr>
          <p:cNvPr id="357" name="Group 222"/>
          <p:cNvGrpSpPr>
            <a:grpSpLocks/>
          </p:cNvGrpSpPr>
          <p:nvPr/>
        </p:nvGrpSpPr>
        <p:grpSpPr bwMode="auto">
          <a:xfrm>
            <a:off x="2206481" y="2646009"/>
            <a:ext cx="2138362" cy="2039938"/>
            <a:chOff x="3196590" y="3084576"/>
            <a:chExt cx="2138172" cy="2039112"/>
          </a:xfrm>
        </p:grpSpPr>
        <p:cxnSp>
          <p:nvCxnSpPr>
            <p:cNvPr id="358" name="Straight Connector 357"/>
            <p:cNvCxnSpPr/>
            <p:nvPr/>
          </p:nvCxnSpPr>
          <p:spPr>
            <a:xfrm flipV="1">
              <a:off x="3352151" y="3084576"/>
              <a:ext cx="1166708" cy="32213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/>
            <p:cNvCxnSpPr/>
            <p:nvPr/>
          </p:nvCxnSpPr>
          <p:spPr>
            <a:xfrm rot="16200000" flipH="1">
              <a:off x="4584050" y="3019385"/>
              <a:ext cx="685522" cy="81590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/>
            <p:cNvCxnSpPr/>
            <p:nvPr/>
          </p:nvCxnSpPr>
          <p:spPr>
            <a:xfrm rot="16200000" flipH="1" flipV="1">
              <a:off x="4736487" y="4184239"/>
              <a:ext cx="1012415" cy="1841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/>
            <p:cNvCxnSpPr/>
            <p:nvPr/>
          </p:nvCxnSpPr>
          <p:spPr>
            <a:xfrm rot="16200000" flipH="1" flipV="1">
              <a:off x="4399861" y="4372922"/>
              <a:ext cx="341175" cy="116035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/>
            <p:cNvCxnSpPr/>
            <p:nvPr/>
          </p:nvCxnSpPr>
          <p:spPr>
            <a:xfrm flipH="1" flipV="1">
              <a:off x="3196590" y="4422297"/>
              <a:ext cx="796854" cy="69980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/>
            <p:cNvCxnSpPr/>
            <p:nvPr/>
          </p:nvCxnSpPr>
          <p:spPr>
            <a:xfrm rot="5400000" flipH="1" flipV="1">
              <a:off x="2766577" y="3836722"/>
              <a:ext cx="1015589" cy="1555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62508" y="5099177"/>
            <a:ext cx="3566140" cy="1270054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5735960" y="5549538"/>
            <a:ext cx="23597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smtClean="0">
                <a:solidFill>
                  <a:srgbClr val="FF0000"/>
                </a:solidFill>
              </a:rPr>
              <a:t>MDR = B . Log(1+SNR)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825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Other Approaches to Increase Capacity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52400" y="1124744"/>
            <a:ext cx="5105400" cy="4876800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q"/>
            </a:pPr>
            <a:r>
              <a:rPr lang="en-US" altLang="en-US" dirty="0" smtClean="0"/>
              <a:t>Adding new channels</a:t>
            </a: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altLang="en-US" dirty="0" smtClean="0"/>
              <a:t>Frequency borrowing</a:t>
            </a: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altLang="en-US" dirty="0" smtClean="0"/>
              <a:t>Cell Splitting</a:t>
            </a: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altLang="en-US" dirty="0" smtClean="0"/>
              <a:t>Cell Sectoring</a:t>
            </a:r>
            <a:endParaRPr lang="en-IN" altLang="en-US" dirty="0" smtClean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005" y="1306577"/>
            <a:ext cx="2438400" cy="212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oup 33"/>
          <p:cNvGrpSpPr>
            <a:grpSpLocks/>
          </p:cNvGrpSpPr>
          <p:nvPr/>
        </p:nvGrpSpPr>
        <p:grpSpPr bwMode="auto">
          <a:xfrm>
            <a:off x="3775498" y="3925094"/>
            <a:ext cx="2157413" cy="2076450"/>
            <a:chOff x="2895600" y="4248912"/>
            <a:chExt cx="2157984" cy="2075688"/>
          </a:xfrm>
        </p:grpSpPr>
        <p:grpSp>
          <p:nvGrpSpPr>
            <p:cNvPr id="15" name="Group 5"/>
            <p:cNvGrpSpPr/>
            <p:nvPr/>
          </p:nvGrpSpPr>
          <p:grpSpPr>
            <a:xfrm>
              <a:off x="3572256" y="4248912"/>
              <a:ext cx="838200" cy="685800"/>
              <a:chOff x="1600200" y="2286000"/>
              <a:chExt cx="838200" cy="685800"/>
            </a:xfrm>
            <a:solidFill>
              <a:srgbClr val="DDDDDD"/>
            </a:solidFill>
          </p:grpSpPr>
          <p:sp>
            <p:nvSpPr>
              <p:cNvPr id="41" name="Hexagon 40"/>
              <p:cNvSpPr/>
              <p:nvPr/>
            </p:nvSpPr>
            <p:spPr>
              <a:xfrm>
                <a:off x="1600200" y="2286000"/>
                <a:ext cx="838200" cy="685800"/>
              </a:xfrm>
              <a:prstGeom prst="hexagon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IN"/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1792224" y="2456688"/>
                <a:ext cx="457200" cy="381000"/>
              </a:xfrm>
              <a:prstGeom prst="rect">
                <a:avLst/>
              </a:prstGeom>
              <a:grpFill/>
            </p:spPr>
            <p:txBody>
              <a:bodyPr>
                <a:spAutoFit/>
              </a:bodyPr>
              <a:lstStyle/>
              <a:p>
                <a:pPr algn="ctr" eaLnBrk="1" hangingPunct="1">
                  <a:defRPr/>
                </a:pPr>
                <a:endParaRPr lang="en-IN" dirty="0">
                  <a:latin typeface="Arial" charset="0"/>
                </a:endParaRPr>
              </a:p>
            </p:txBody>
          </p:sp>
        </p:grpSp>
        <p:grpSp>
          <p:nvGrpSpPr>
            <p:cNvPr id="16" name="Group 11"/>
            <p:cNvGrpSpPr/>
            <p:nvPr/>
          </p:nvGrpSpPr>
          <p:grpSpPr>
            <a:xfrm>
              <a:off x="4215384" y="4605528"/>
              <a:ext cx="838200" cy="685800"/>
              <a:chOff x="1600200" y="2286000"/>
              <a:chExt cx="838200" cy="685800"/>
            </a:xfrm>
            <a:solidFill>
              <a:srgbClr val="DDDDDD"/>
            </a:solidFill>
          </p:grpSpPr>
          <p:sp>
            <p:nvSpPr>
              <p:cNvPr id="39" name="Hexagon 38"/>
              <p:cNvSpPr/>
              <p:nvPr/>
            </p:nvSpPr>
            <p:spPr>
              <a:xfrm>
                <a:off x="1600200" y="2286000"/>
                <a:ext cx="838200" cy="685800"/>
              </a:xfrm>
              <a:prstGeom prst="hexagon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IN"/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1792224" y="2456688"/>
                <a:ext cx="457200" cy="381000"/>
              </a:xfrm>
              <a:prstGeom prst="rect">
                <a:avLst/>
              </a:prstGeom>
              <a:grpFill/>
            </p:spPr>
            <p:txBody>
              <a:bodyPr>
                <a:spAutoFit/>
              </a:bodyPr>
              <a:lstStyle/>
              <a:p>
                <a:pPr algn="ctr" eaLnBrk="1" hangingPunct="1">
                  <a:defRPr/>
                </a:pPr>
                <a:endParaRPr lang="en-IN" dirty="0">
                  <a:latin typeface="Arial" charset="0"/>
                </a:endParaRPr>
              </a:p>
            </p:txBody>
          </p:sp>
        </p:grpSp>
        <p:grpSp>
          <p:nvGrpSpPr>
            <p:cNvPr id="17" name="Group 14"/>
            <p:cNvGrpSpPr/>
            <p:nvPr/>
          </p:nvGrpSpPr>
          <p:grpSpPr>
            <a:xfrm>
              <a:off x="4203192" y="5276088"/>
              <a:ext cx="838200" cy="685800"/>
              <a:chOff x="1600200" y="2286000"/>
              <a:chExt cx="838200" cy="685800"/>
            </a:xfrm>
            <a:solidFill>
              <a:srgbClr val="DDDDDD"/>
            </a:solidFill>
          </p:grpSpPr>
          <p:sp>
            <p:nvSpPr>
              <p:cNvPr id="37" name="Hexagon 36"/>
              <p:cNvSpPr/>
              <p:nvPr/>
            </p:nvSpPr>
            <p:spPr>
              <a:xfrm>
                <a:off x="1600200" y="2286000"/>
                <a:ext cx="838200" cy="685800"/>
              </a:xfrm>
              <a:prstGeom prst="hexagon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IN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1792224" y="2456688"/>
                <a:ext cx="457200" cy="381000"/>
              </a:xfrm>
              <a:prstGeom prst="rect">
                <a:avLst/>
              </a:prstGeom>
              <a:grpFill/>
            </p:spPr>
            <p:txBody>
              <a:bodyPr>
                <a:spAutoFit/>
              </a:bodyPr>
              <a:lstStyle/>
              <a:p>
                <a:pPr algn="ctr" eaLnBrk="1" hangingPunct="1">
                  <a:defRPr/>
                </a:pPr>
                <a:endParaRPr lang="en-IN" dirty="0">
                  <a:latin typeface="Arial" charset="0"/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2895600" y="4572000"/>
              <a:ext cx="838200" cy="685800"/>
              <a:chOff x="1600200" y="2286000"/>
              <a:chExt cx="838200" cy="685800"/>
            </a:xfrm>
            <a:solidFill>
              <a:srgbClr val="DDDDDD"/>
            </a:solidFill>
          </p:grpSpPr>
          <p:sp>
            <p:nvSpPr>
              <p:cNvPr id="35" name="Hexagon 34"/>
              <p:cNvSpPr/>
              <p:nvPr/>
            </p:nvSpPr>
            <p:spPr>
              <a:xfrm>
                <a:off x="1600200" y="2286000"/>
                <a:ext cx="838200" cy="685800"/>
              </a:xfrm>
              <a:prstGeom prst="hexagon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IN"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1792224" y="2456688"/>
                <a:ext cx="457200" cy="381000"/>
              </a:xfrm>
              <a:prstGeom prst="rect">
                <a:avLst/>
              </a:prstGeom>
              <a:grpFill/>
            </p:spPr>
            <p:txBody>
              <a:bodyPr>
                <a:spAutoFit/>
              </a:bodyPr>
              <a:lstStyle/>
              <a:p>
                <a:pPr algn="ctr" eaLnBrk="1" hangingPunct="1">
                  <a:defRPr/>
                </a:pPr>
                <a:endParaRPr lang="en-IN" dirty="0">
                  <a:latin typeface="Arial" charset="0"/>
                </a:endParaRPr>
              </a:p>
            </p:txBody>
          </p:sp>
        </p:grpSp>
        <p:grpSp>
          <p:nvGrpSpPr>
            <p:cNvPr id="19" name="Group 20"/>
            <p:cNvGrpSpPr/>
            <p:nvPr/>
          </p:nvGrpSpPr>
          <p:grpSpPr>
            <a:xfrm>
              <a:off x="2895600" y="5279136"/>
              <a:ext cx="838200" cy="685800"/>
              <a:chOff x="1600200" y="2267712"/>
              <a:chExt cx="838200" cy="685800"/>
            </a:xfrm>
            <a:solidFill>
              <a:srgbClr val="DDDDDD"/>
            </a:solidFill>
          </p:grpSpPr>
          <p:sp>
            <p:nvSpPr>
              <p:cNvPr id="33" name="Hexagon 32"/>
              <p:cNvSpPr/>
              <p:nvPr/>
            </p:nvSpPr>
            <p:spPr>
              <a:xfrm>
                <a:off x="1600200" y="2267712"/>
                <a:ext cx="838200" cy="685800"/>
              </a:xfrm>
              <a:prstGeom prst="hexagon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IN"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1792224" y="2456688"/>
                <a:ext cx="457200" cy="381000"/>
              </a:xfrm>
              <a:prstGeom prst="rect">
                <a:avLst/>
              </a:prstGeom>
              <a:grpFill/>
            </p:spPr>
            <p:txBody>
              <a:bodyPr>
                <a:spAutoFit/>
              </a:bodyPr>
              <a:lstStyle/>
              <a:p>
                <a:pPr algn="ctr" eaLnBrk="1" hangingPunct="1">
                  <a:defRPr/>
                </a:pPr>
                <a:endParaRPr lang="en-IN" dirty="0">
                  <a:latin typeface="Arial" charset="0"/>
                </a:endParaRPr>
              </a:p>
            </p:txBody>
          </p:sp>
        </p:grpSp>
        <p:grpSp>
          <p:nvGrpSpPr>
            <p:cNvPr id="20" name="Group 23"/>
            <p:cNvGrpSpPr/>
            <p:nvPr/>
          </p:nvGrpSpPr>
          <p:grpSpPr>
            <a:xfrm>
              <a:off x="3541776" y="5638800"/>
              <a:ext cx="838200" cy="685800"/>
              <a:chOff x="1600200" y="2286000"/>
              <a:chExt cx="838200" cy="685800"/>
            </a:xfrm>
            <a:solidFill>
              <a:srgbClr val="DDDDDD"/>
            </a:solidFill>
          </p:grpSpPr>
          <p:sp>
            <p:nvSpPr>
              <p:cNvPr id="28" name="Hexagon 27"/>
              <p:cNvSpPr/>
              <p:nvPr/>
            </p:nvSpPr>
            <p:spPr>
              <a:xfrm>
                <a:off x="1600200" y="2286000"/>
                <a:ext cx="838200" cy="685800"/>
              </a:xfrm>
              <a:prstGeom prst="hexagon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IN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1792224" y="2456688"/>
                <a:ext cx="457200" cy="381000"/>
              </a:xfrm>
              <a:prstGeom prst="rect">
                <a:avLst/>
              </a:prstGeom>
              <a:grpFill/>
            </p:spPr>
            <p:txBody>
              <a:bodyPr>
                <a:spAutoFit/>
              </a:bodyPr>
              <a:lstStyle/>
              <a:p>
                <a:pPr algn="ctr" eaLnBrk="1" hangingPunct="1">
                  <a:defRPr/>
                </a:pPr>
                <a:endParaRPr lang="en-IN" dirty="0">
                  <a:latin typeface="Arial" charset="0"/>
                </a:endParaRPr>
              </a:p>
            </p:txBody>
          </p:sp>
        </p:grpSp>
        <p:grpSp>
          <p:nvGrpSpPr>
            <p:cNvPr id="21" name="Group 32"/>
            <p:cNvGrpSpPr>
              <a:grpSpLocks/>
            </p:cNvGrpSpPr>
            <p:nvPr/>
          </p:nvGrpSpPr>
          <p:grpSpPr bwMode="auto">
            <a:xfrm>
              <a:off x="3544824" y="4934712"/>
              <a:ext cx="838200" cy="685800"/>
              <a:chOff x="6553200" y="4876800"/>
              <a:chExt cx="838200" cy="685800"/>
            </a:xfrm>
          </p:grpSpPr>
          <p:sp>
            <p:nvSpPr>
              <p:cNvPr id="22" name="Hexagon 21"/>
              <p:cNvSpPr/>
              <p:nvPr/>
            </p:nvSpPr>
            <p:spPr>
              <a:xfrm>
                <a:off x="6553436" y="4876548"/>
                <a:ext cx="838422" cy="685548"/>
              </a:xfrm>
              <a:prstGeom prst="hexagon">
                <a:avLst/>
              </a:prstGeom>
              <a:solidFill>
                <a:srgbClr val="DDDDD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IN"/>
              </a:p>
            </p:txBody>
          </p:sp>
          <p:cxnSp>
            <p:nvCxnSpPr>
              <p:cNvPr id="23" name="Straight Connector 22"/>
              <p:cNvCxnSpPr>
                <a:stCxn id="22" idx="2"/>
                <a:endCxn id="22" idx="2"/>
              </p:cNvCxnSpPr>
              <p:nvPr/>
            </p:nvCxnSpPr>
            <p:spPr>
              <a:xfrm rot="16200000" flipH="1">
                <a:off x="6629873" y="4971607"/>
                <a:ext cx="685548" cy="4954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>
                <a:stCxn id="22" idx="2"/>
                <a:endCxn id="22" idx="2"/>
              </p:cNvCxnSpPr>
              <p:nvPr/>
            </p:nvCxnSpPr>
            <p:spPr>
              <a:xfrm rot="16200000" flipH="1" flipV="1">
                <a:off x="6629873" y="4971607"/>
                <a:ext cx="685548" cy="4954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>
                <a:stCxn id="22" idx="2"/>
                <a:endCxn id="22" idx="2"/>
              </p:cNvCxnSpPr>
              <p:nvPr/>
            </p:nvCxnSpPr>
            <p:spPr>
              <a:xfrm rot="10800000" flipH="1">
                <a:off x="6553436" y="5219322"/>
                <a:ext cx="838422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144" y="2882351"/>
            <a:ext cx="3486637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433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/>
              <a:t>Second Generation Cellular Networks : 2G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083" y="945618"/>
            <a:ext cx="5130477" cy="5507717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407368" y="1052736"/>
            <a:ext cx="7772400" cy="5562600"/>
          </a:xfrm>
        </p:spPr>
        <p:txBody>
          <a:bodyPr/>
          <a:lstStyle/>
          <a:p>
            <a:pPr marL="379413" indent="-379413" defTabSz="1014413">
              <a:buClr>
                <a:schemeClr val="tx1"/>
              </a:buClr>
            </a:pPr>
            <a:r>
              <a:rPr lang="en-US" sz="2400" b="1" dirty="0" smtClean="0"/>
              <a:t>Mobile Station (MS)</a:t>
            </a:r>
          </a:p>
          <a:p>
            <a:pPr marL="1266825" lvl="2" indent="-252413" defTabSz="1014413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dirty="0" smtClean="0"/>
              <a:t>Mobile Equipment (ME)</a:t>
            </a:r>
          </a:p>
          <a:p>
            <a:pPr marL="1266825" lvl="2" indent="-252413" defTabSz="1014413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dirty="0" smtClean="0"/>
              <a:t>Subscriber Identity Module (SIM)</a:t>
            </a:r>
          </a:p>
          <a:p>
            <a:pPr marL="379413" indent="-379413" defTabSz="1014413">
              <a:buClr>
                <a:schemeClr val="tx1"/>
              </a:buClr>
            </a:pPr>
            <a:r>
              <a:rPr lang="en-US" sz="2400" b="1" dirty="0" smtClean="0"/>
              <a:t>Base Station Subsystem (BSS)</a:t>
            </a:r>
          </a:p>
          <a:p>
            <a:pPr marL="1266825" lvl="2" indent="-252413" defTabSz="1014413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dirty="0" smtClean="0"/>
              <a:t>Base Transceiver Station (BTS)</a:t>
            </a:r>
          </a:p>
          <a:p>
            <a:pPr marL="1266825" lvl="2" indent="-252413" defTabSz="1014413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dirty="0" smtClean="0"/>
              <a:t>Base Station Controller (BSC)</a:t>
            </a:r>
          </a:p>
          <a:p>
            <a:pPr marL="379413" indent="-379413" defTabSz="1014413">
              <a:buClr>
                <a:schemeClr val="tx1"/>
              </a:buClr>
            </a:pPr>
            <a:r>
              <a:rPr lang="en-US" sz="2400" b="1" dirty="0" smtClean="0"/>
              <a:t>Network Switching Subsystem(NSS)</a:t>
            </a:r>
          </a:p>
          <a:p>
            <a:pPr marL="1266825" lvl="2" indent="-252413" defTabSz="1014413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dirty="0" smtClean="0"/>
              <a:t>Mobile Switching Center (MSC)</a:t>
            </a:r>
          </a:p>
          <a:p>
            <a:pPr marL="1266825" lvl="2" indent="-252413" defTabSz="1014413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dirty="0" smtClean="0"/>
              <a:t>Home Location Register (HLR)</a:t>
            </a:r>
          </a:p>
          <a:p>
            <a:pPr marL="1266825" lvl="2" indent="-252413" defTabSz="1014413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dirty="0" smtClean="0"/>
              <a:t>Visitor Location Register (VLR)</a:t>
            </a:r>
          </a:p>
          <a:p>
            <a:pPr marL="1266825" lvl="2" indent="-252413" defTabSz="1014413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dirty="0" smtClean="0"/>
              <a:t>Authentication Center (AUC)</a:t>
            </a:r>
          </a:p>
          <a:p>
            <a:pPr marL="1266825" lvl="2" indent="-252413" defTabSz="1014413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dirty="0" smtClean="0"/>
              <a:t>Equipment Identity Register (EIR)</a:t>
            </a:r>
            <a:endParaRPr lang="en-US" sz="1800" dirty="0" smtClean="0"/>
          </a:p>
        </p:txBody>
      </p:sp>
      <p:grpSp>
        <p:nvGrpSpPr>
          <p:cNvPr id="3" name="Group 2"/>
          <p:cNvGrpSpPr/>
          <p:nvPr/>
        </p:nvGrpSpPr>
        <p:grpSpPr>
          <a:xfrm>
            <a:off x="191344" y="834092"/>
            <a:ext cx="4741862" cy="3963060"/>
            <a:chOff x="551384" y="1626180"/>
            <a:chExt cx="4741862" cy="3963060"/>
          </a:xfrm>
        </p:grpSpPr>
        <p:pic>
          <p:nvPicPr>
            <p:cNvPr id="9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384" y="1626180"/>
              <a:ext cx="4741862" cy="327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" name="Group 9"/>
            <p:cNvGrpSpPr/>
            <p:nvPr/>
          </p:nvGrpSpPr>
          <p:grpSpPr>
            <a:xfrm>
              <a:off x="1501502" y="3660436"/>
              <a:ext cx="2423477" cy="1638002"/>
              <a:chOff x="8400256" y="2910897"/>
              <a:chExt cx="2423477" cy="1638002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8400256" y="4179567"/>
                <a:ext cx="8595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dirty="0" smtClean="0">
                    <a:solidFill>
                      <a:srgbClr val="FF0000"/>
                    </a:solidFill>
                  </a:rPr>
                  <a:t>Cluster</a:t>
                </a:r>
                <a:endParaRPr lang="en-IN" dirty="0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9671605" y="2910897"/>
                <a:ext cx="1152128" cy="1123196"/>
              </a:xfrm>
              <a:prstGeom prst="ellipse">
                <a:avLst/>
              </a:prstGeom>
              <a:solidFill>
                <a:srgbClr val="FF0000">
                  <a:alpha val="23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3" name="Straight Arrow Connector 12"/>
              <p:cNvCxnSpPr>
                <a:endCxn id="12" idx="3"/>
              </p:cNvCxnSpPr>
              <p:nvPr/>
            </p:nvCxnSpPr>
            <p:spPr>
              <a:xfrm flipV="1">
                <a:off x="9120336" y="3869605"/>
                <a:ext cx="719994" cy="395609"/>
              </a:xfrm>
              <a:prstGeom prst="straightConnector1">
                <a:avLst/>
              </a:prstGeom>
              <a:ln w="22225">
                <a:solidFill>
                  <a:srgbClr val="FF0000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/>
            <p:cNvGrpSpPr/>
            <p:nvPr/>
          </p:nvGrpSpPr>
          <p:grpSpPr>
            <a:xfrm>
              <a:off x="2974144" y="4306432"/>
              <a:ext cx="2063385" cy="1282808"/>
              <a:chOff x="9872898" y="3556893"/>
              <a:chExt cx="2063385" cy="1282808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9872898" y="4470369"/>
                <a:ext cx="20633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dirty="0" smtClean="0">
                    <a:solidFill>
                      <a:srgbClr val="FF0000"/>
                    </a:solidFill>
                  </a:rPr>
                  <a:t>1 set of Frequencies</a:t>
                </a:r>
                <a:endParaRPr lang="en-IN" dirty="0"/>
              </a:p>
            </p:txBody>
          </p:sp>
          <p:cxnSp>
            <p:nvCxnSpPr>
              <p:cNvPr id="16" name="Straight Arrow Connector 15"/>
              <p:cNvCxnSpPr/>
              <p:nvPr/>
            </p:nvCxnSpPr>
            <p:spPr>
              <a:xfrm flipH="1" flipV="1">
                <a:off x="10328978" y="3556893"/>
                <a:ext cx="619154" cy="995207"/>
              </a:xfrm>
              <a:prstGeom prst="straightConnector1">
                <a:avLst/>
              </a:prstGeom>
              <a:ln w="22225">
                <a:solidFill>
                  <a:srgbClr val="FF0000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" name="Group 4"/>
          <p:cNvGrpSpPr/>
          <p:nvPr/>
        </p:nvGrpSpPr>
        <p:grpSpPr>
          <a:xfrm>
            <a:off x="1199456" y="4850576"/>
            <a:ext cx="2474481" cy="1674768"/>
            <a:chOff x="5421721" y="1619508"/>
            <a:chExt cx="2474481" cy="1674768"/>
          </a:xfrm>
        </p:grpSpPr>
        <p:sp>
          <p:nvSpPr>
            <p:cNvPr id="18" name="Rectangle 17"/>
            <p:cNvSpPr/>
            <p:nvPr/>
          </p:nvSpPr>
          <p:spPr>
            <a:xfrm>
              <a:off x="5421721" y="2924944"/>
              <a:ext cx="235974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 smtClean="0"/>
                <a:t>MDR = B . Log(1+SNR) </a:t>
              </a:r>
              <a:endParaRPr lang="en-IN" dirty="0"/>
            </a:p>
          </p:txBody>
        </p:sp>
        <p:pic>
          <p:nvPicPr>
            <p:cNvPr id="19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473442" y="2005500"/>
              <a:ext cx="2422760" cy="862848"/>
            </a:xfrm>
            <a:prstGeom prst="rect">
              <a:avLst/>
            </a:prstGeom>
            <a:noFill/>
            <a:ln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4" name="Rectangle 3"/>
            <p:cNvSpPr/>
            <p:nvPr/>
          </p:nvSpPr>
          <p:spPr>
            <a:xfrm>
              <a:off x="5454110" y="1619508"/>
              <a:ext cx="10631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en-US" dirty="0"/>
                <a:t>D</a:t>
              </a:r>
              <a:r>
                <a:rPr lang="en-US" altLang="en-US" baseline="30000" dirty="0"/>
                <a:t>2</a:t>
              </a:r>
              <a:r>
                <a:rPr lang="en-US" altLang="en-US" dirty="0"/>
                <a:t>= </a:t>
              </a:r>
              <a:r>
                <a:rPr lang="en-US" altLang="en-US" dirty="0" smtClean="0"/>
                <a:t>3R</a:t>
              </a:r>
              <a:r>
                <a:rPr lang="en-US" altLang="en-US" baseline="30000" dirty="0" smtClean="0"/>
                <a:t>2</a:t>
              </a:r>
              <a:r>
                <a:rPr lang="en-US" altLang="en-US" dirty="0" smtClean="0"/>
                <a:t>N</a:t>
              </a:r>
              <a:endParaRPr lang="en-US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51049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Call Setup in 2G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119336" y="854873"/>
            <a:ext cx="7701880" cy="5598463"/>
            <a:chOff x="119336" y="854873"/>
            <a:chExt cx="7701880" cy="5598463"/>
          </a:xfrm>
        </p:grpSpPr>
        <p:grpSp>
          <p:nvGrpSpPr>
            <p:cNvPr id="4" name="Group 3"/>
            <p:cNvGrpSpPr/>
            <p:nvPr/>
          </p:nvGrpSpPr>
          <p:grpSpPr>
            <a:xfrm>
              <a:off x="2639616" y="2706836"/>
              <a:ext cx="5181600" cy="3746500"/>
              <a:chOff x="3548336" y="1934245"/>
              <a:chExt cx="5181600" cy="3746500"/>
            </a:xfrm>
          </p:grpSpPr>
          <p:grpSp>
            <p:nvGrpSpPr>
              <p:cNvPr id="43" name="Group 3"/>
              <p:cNvGrpSpPr>
                <a:grpSpLocks/>
              </p:cNvGrpSpPr>
              <p:nvPr/>
            </p:nvGrpSpPr>
            <p:grpSpPr bwMode="auto">
              <a:xfrm>
                <a:off x="4462736" y="2848645"/>
                <a:ext cx="1365250" cy="763588"/>
                <a:chOff x="1392" y="2976"/>
                <a:chExt cx="860" cy="481"/>
              </a:xfrm>
            </p:grpSpPr>
            <p:graphicFrame>
              <p:nvGraphicFramePr>
                <p:cNvPr id="44" name="Object 2"/>
                <p:cNvGraphicFramePr>
                  <a:graphicFrameLocks/>
                </p:cNvGraphicFramePr>
                <p:nvPr/>
              </p:nvGraphicFramePr>
              <p:xfrm>
                <a:off x="1392" y="2976"/>
                <a:ext cx="860" cy="48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54" name="ClipArt" r:id="rId4" imgW="5761038" imgH="3224213" progId="MS_ClipArt_Gallery.2">
                        <p:embed/>
                      </p:oleObj>
                    </mc:Choice>
                    <mc:Fallback>
                      <p:oleObj name="ClipArt" r:id="rId4" imgW="5761038" imgH="3224213" progId="MS_ClipArt_Gallery.2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392" y="2976"/>
                              <a:ext cx="860" cy="48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5" name="Rectangle 5"/>
                <p:cNvSpPr>
                  <a:spLocks noChangeArrowheads="1"/>
                </p:cNvSpPr>
                <p:nvPr/>
              </p:nvSpPr>
              <p:spPr bwMode="auto">
                <a:xfrm>
                  <a:off x="1584" y="3120"/>
                  <a:ext cx="422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de-DE" altLang="en-US" sz="1400"/>
                    <a:t>PSTN</a:t>
                  </a:r>
                </a:p>
              </p:txBody>
            </p:sp>
          </p:grpSp>
          <p:sp>
            <p:nvSpPr>
              <p:cNvPr id="46" name="Rectangle 6"/>
              <p:cNvSpPr>
                <a:spLocks noChangeArrowheads="1"/>
              </p:cNvSpPr>
              <p:nvPr/>
            </p:nvSpPr>
            <p:spPr bwMode="auto">
              <a:xfrm>
                <a:off x="3548336" y="3013745"/>
                <a:ext cx="696913" cy="444500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en-US" sz="1400"/>
                  <a:t>calling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en-US" sz="1400"/>
                  <a:t>station</a:t>
                </a:r>
              </a:p>
            </p:txBody>
          </p:sp>
          <p:sp>
            <p:nvSpPr>
              <p:cNvPr id="47" name="Rectangle 7"/>
              <p:cNvSpPr>
                <a:spLocks noChangeArrowheads="1"/>
              </p:cNvSpPr>
              <p:nvPr/>
            </p:nvSpPr>
            <p:spPr bwMode="auto">
              <a:xfrm>
                <a:off x="6062936" y="3077245"/>
                <a:ext cx="685800" cy="317500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en-US" sz="1400"/>
                  <a:t>GMSC</a:t>
                </a:r>
              </a:p>
            </p:txBody>
          </p:sp>
          <p:sp>
            <p:nvSpPr>
              <p:cNvPr id="48" name="Rectangle 8"/>
              <p:cNvSpPr>
                <a:spLocks noChangeArrowheads="1"/>
              </p:cNvSpPr>
              <p:nvPr/>
            </p:nvSpPr>
            <p:spPr bwMode="auto">
              <a:xfrm>
                <a:off x="6062936" y="2086645"/>
                <a:ext cx="685800" cy="317500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en-US" sz="1400"/>
                  <a:t>HLR</a:t>
                </a:r>
              </a:p>
            </p:txBody>
          </p:sp>
          <p:sp>
            <p:nvSpPr>
              <p:cNvPr id="49" name="Rectangle 9"/>
              <p:cNvSpPr>
                <a:spLocks noChangeArrowheads="1"/>
              </p:cNvSpPr>
              <p:nvPr/>
            </p:nvSpPr>
            <p:spPr bwMode="auto">
              <a:xfrm>
                <a:off x="7129736" y="2086645"/>
                <a:ext cx="609600" cy="304800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en-US" sz="1400"/>
                  <a:t>VLR</a:t>
                </a:r>
              </a:p>
            </p:txBody>
          </p:sp>
          <p:sp>
            <p:nvSpPr>
              <p:cNvPr id="50" name="Rectangle 10"/>
              <p:cNvSpPr>
                <a:spLocks noChangeArrowheads="1"/>
              </p:cNvSpPr>
              <p:nvPr/>
            </p:nvSpPr>
            <p:spPr bwMode="auto">
              <a:xfrm>
                <a:off x="8147324" y="4067845"/>
                <a:ext cx="554037" cy="317500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en-US" sz="1400" dirty="0"/>
                  <a:t>BSC</a:t>
                </a:r>
              </a:p>
            </p:txBody>
          </p:sp>
          <p:sp>
            <p:nvSpPr>
              <p:cNvPr id="51" name="Rectangle 11"/>
              <p:cNvSpPr>
                <a:spLocks noChangeArrowheads="1"/>
              </p:cNvSpPr>
              <p:nvPr/>
            </p:nvSpPr>
            <p:spPr bwMode="auto">
              <a:xfrm>
                <a:off x="6977336" y="4067845"/>
                <a:ext cx="554038" cy="317500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en-US" sz="1400" dirty="0"/>
                  <a:t>BSC</a:t>
                </a:r>
              </a:p>
            </p:txBody>
          </p:sp>
          <p:sp>
            <p:nvSpPr>
              <p:cNvPr id="52" name="Rectangle 12"/>
              <p:cNvSpPr>
                <a:spLocks noChangeArrowheads="1"/>
              </p:cNvSpPr>
              <p:nvPr/>
            </p:nvSpPr>
            <p:spPr bwMode="auto">
              <a:xfrm>
                <a:off x="5834336" y="4067845"/>
                <a:ext cx="554038" cy="317500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en-US" sz="1400"/>
                  <a:t>BSC</a:t>
                </a:r>
              </a:p>
            </p:txBody>
          </p:sp>
          <p:sp>
            <p:nvSpPr>
              <p:cNvPr id="53" name="Rectangle 13"/>
              <p:cNvSpPr>
                <a:spLocks noChangeArrowheads="1"/>
              </p:cNvSpPr>
              <p:nvPr/>
            </p:nvSpPr>
            <p:spPr bwMode="auto">
              <a:xfrm>
                <a:off x="7129736" y="3077245"/>
                <a:ext cx="609600" cy="317500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en-US" sz="1400"/>
                  <a:t>MSC</a:t>
                </a:r>
              </a:p>
            </p:txBody>
          </p:sp>
          <p:grpSp>
            <p:nvGrpSpPr>
              <p:cNvPr id="54" name="Group 14"/>
              <p:cNvGrpSpPr>
                <a:grpSpLocks/>
              </p:cNvGrpSpPr>
              <p:nvPr/>
            </p:nvGrpSpPr>
            <p:grpSpPr bwMode="auto">
              <a:xfrm rot="5400000">
                <a:off x="8268767" y="4300414"/>
                <a:ext cx="312738" cy="609600"/>
                <a:chOff x="3599" y="2103"/>
                <a:chExt cx="197" cy="384"/>
              </a:xfrm>
            </p:grpSpPr>
            <p:sp>
              <p:nvSpPr>
                <p:cNvPr id="55" name="Arc 15"/>
                <p:cNvSpPr>
                  <a:spLocks/>
                </p:cNvSpPr>
                <p:nvPr/>
              </p:nvSpPr>
              <p:spPr bwMode="auto">
                <a:xfrm>
                  <a:off x="3601" y="2103"/>
                  <a:ext cx="195" cy="384"/>
                </a:xfrm>
                <a:custGeom>
                  <a:avLst/>
                  <a:gdLst>
                    <a:gd name="T0" fmla="*/ 0 w 22017"/>
                    <a:gd name="T1" fmla="*/ 0 h 43200"/>
                    <a:gd name="T2" fmla="*/ 0 w 22017"/>
                    <a:gd name="T3" fmla="*/ 0 h 43200"/>
                    <a:gd name="T4" fmla="*/ 0 w 22017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2017"/>
                    <a:gd name="T10" fmla="*/ 0 h 43200"/>
                    <a:gd name="T11" fmla="*/ 22017 w 22017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017" h="43200" fill="none" extrusionOk="0">
                      <a:moveTo>
                        <a:pt x="313" y="0"/>
                      </a:moveTo>
                      <a:cubicBezTo>
                        <a:pt x="347" y="0"/>
                        <a:pt x="382" y="-1"/>
                        <a:pt x="417" y="0"/>
                      </a:cubicBezTo>
                      <a:cubicBezTo>
                        <a:pt x="12346" y="0"/>
                        <a:pt x="22017" y="9670"/>
                        <a:pt x="22017" y="21600"/>
                      </a:cubicBezTo>
                      <a:cubicBezTo>
                        <a:pt x="22017" y="33529"/>
                        <a:pt x="12346" y="43200"/>
                        <a:pt x="417" y="43200"/>
                      </a:cubicBezTo>
                      <a:cubicBezTo>
                        <a:pt x="277" y="43200"/>
                        <a:pt x="138" y="43198"/>
                        <a:pt x="0" y="43195"/>
                      </a:cubicBezTo>
                    </a:path>
                    <a:path w="22017" h="43200" stroke="0" extrusionOk="0">
                      <a:moveTo>
                        <a:pt x="313" y="0"/>
                      </a:moveTo>
                      <a:cubicBezTo>
                        <a:pt x="347" y="0"/>
                        <a:pt x="382" y="-1"/>
                        <a:pt x="417" y="0"/>
                      </a:cubicBezTo>
                      <a:cubicBezTo>
                        <a:pt x="12346" y="0"/>
                        <a:pt x="22017" y="9670"/>
                        <a:pt x="22017" y="21600"/>
                      </a:cubicBezTo>
                      <a:cubicBezTo>
                        <a:pt x="22017" y="33529"/>
                        <a:pt x="12346" y="43200"/>
                        <a:pt x="417" y="43200"/>
                      </a:cubicBezTo>
                      <a:cubicBezTo>
                        <a:pt x="277" y="43200"/>
                        <a:pt x="138" y="43198"/>
                        <a:pt x="0" y="43195"/>
                      </a:cubicBezTo>
                      <a:lnTo>
                        <a:pt x="417" y="21600"/>
                      </a:lnTo>
                      <a:lnTo>
                        <a:pt x="313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56" name="Arc 16"/>
                <p:cNvSpPr>
                  <a:spLocks/>
                </p:cNvSpPr>
                <p:nvPr/>
              </p:nvSpPr>
              <p:spPr bwMode="auto">
                <a:xfrm>
                  <a:off x="3600" y="2151"/>
                  <a:ext cx="149" cy="288"/>
                </a:xfrm>
                <a:custGeom>
                  <a:avLst/>
                  <a:gdLst>
                    <a:gd name="T0" fmla="*/ 0 w 22152"/>
                    <a:gd name="T1" fmla="*/ 0 h 43200"/>
                    <a:gd name="T2" fmla="*/ 0 w 22152"/>
                    <a:gd name="T3" fmla="*/ 0 h 43200"/>
                    <a:gd name="T4" fmla="*/ 0 w 22152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2152"/>
                    <a:gd name="T10" fmla="*/ 0 h 43200"/>
                    <a:gd name="T11" fmla="*/ 22152 w 22152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152" h="43200" fill="none" extrusionOk="0">
                      <a:moveTo>
                        <a:pt x="415" y="0"/>
                      </a:moveTo>
                      <a:cubicBezTo>
                        <a:pt x="460" y="0"/>
                        <a:pt x="506" y="-1"/>
                        <a:pt x="552" y="0"/>
                      </a:cubicBezTo>
                      <a:cubicBezTo>
                        <a:pt x="12481" y="0"/>
                        <a:pt x="22152" y="9670"/>
                        <a:pt x="22152" y="21600"/>
                      </a:cubicBezTo>
                      <a:cubicBezTo>
                        <a:pt x="22152" y="33529"/>
                        <a:pt x="12481" y="43200"/>
                        <a:pt x="552" y="43200"/>
                      </a:cubicBezTo>
                      <a:cubicBezTo>
                        <a:pt x="367" y="43200"/>
                        <a:pt x="183" y="43197"/>
                        <a:pt x="0" y="43192"/>
                      </a:cubicBezTo>
                    </a:path>
                    <a:path w="22152" h="43200" stroke="0" extrusionOk="0">
                      <a:moveTo>
                        <a:pt x="415" y="0"/>
                      </a:moveTo>
                      <a:cubicBezTo>
                        <a:pt x="460" y="0"/>
                        <a:pt x="506" y="-1"/>
                        <a:pt x="552" y="0"/>
                      </a:cubicBezTo>
                      <a:cubicBezTo>
                        <a:pt x="12481" y="0"/>
                        <a:pt x="22152" y="9670"/>
                        <a:pt x="22152" y="21600"/>
                      </a:cubicBezTo>
                      <a:cubicBezTo>
                        <a:pt x="22152" y="33529"/>
                        <a:pt x="12481" y="43200"/>
                        <a:pt x="552" y="43200"/>
                      </a:cubicBezTo>
                      <a:cubicBezTo>
                        <a:pt x="367" y="43200"/>
                        <a:pt x="183" y="43197"/>
                        <a:pt x="0" y="43192"/>
                      </a:cubicBezTo>
                      <a:lnTo>
                        <a:pt x="552" y="21600"/>
                      </a:lnTo>
                      <a:lnTo>
                        <a:pt x="415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57" name="Arc 17"/>
                <p:cNvSpPr>
                  <a:spLocks/>
                </p:cNvSpPr>
                <p:nvPr/>
              </p:nvSpPr>
              <p:spPr bwMode="auto">
                <a:xfrm>
                  <a:off x="3599" y="2199"/>
                  <a:ext cx="101" cy="192"/>
                </a:xfrm>
                <a:custGeom>
                  <a:avLst/>
                  <a:gdLst>
                    <a:gd name="T0" fmla="*/ 0 w 22215"/>
                    <a:gd name="T1" fmla="*/ 0 h 43200"/>
                    <a:gd name="T2" fmla="*/ 0 w 22215"/>
                    <a:gd name="T3" fmla="*/ 0 h 43200"/>
                    <a:gd name="T4" fmla="*/ 0 w 22215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2215"/>
                    <a:gd name="T10" fmla="*/ 0 h 43200"/>
                    <a:gd name="T11" fmla="*/ 22215 w 22215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215" h="43200" fill="none" extrusionOk="0">
                      <a:moveTo>
                        <a:pt x="411" y="0"/>
                      </a:moveTo>
                      <a:cubicBezTo>
                        <a:pt x="479" y="0"/>
                        <a:pt x="547" y="-1"/>
                        <a:pt x="615" y="0"/>
                      </a:cubicBezTo>
                      <a:cubicBezTo>
                        <a:pt x="12544" y="0"/>
                        <a:pt x="22215" y="9670"/>
                        <a:pt x="22215" y="21600"/>
                      </a:cubicBezTo>
                      <a:cubicBezTo>
                        <a:pt x="22215" y="33529"/>
                        <a:pt x="12544" y="43200"/>
                        <a:pt x="615" y="43200"/>
                      </a:cubicBezTo>
                      <a:cubicBezTo>
                        <a:pt x="409" y="43200"/>
                        <a:pt x="204" y="43197"/>
                        <a:pt x="-1" y="43191"/>
                      </a:cubicBezTo>
                    </a:path>
                    <a:path w="22215" h="43200" stroke="0" extrusionOk="0">
                      <a:moveTo>
                        <a:pt x="411" y="0"/>
                      </a:moveTo>
                      <a:cubicBezTo>
                        <a:pt x="479" y="0"/>
                        <a:pt x="547" y="-1"/>
                        <a:pt x="615" y="0"/>
                      </a:cubicBezTo>
                      <a:cubicBezTo>
                        <a:pt x="12544" y="0"/>
                        <a:pt x="22215" y="9670"/>
                        <a:pt x="22215" y="21600"/>
                      </a:cubicBezTo>
                      <a:cubicBezTo>
                        <a:pt x="22215" y="33529"/>
                        <a:pt x="12544" y="43200"/>
                        <a:pt x="615" y="43200"/>
                      </a:cubicBezTo>
                      <a:cubicBezTo>
                        <a:pt x="409" y="43200"/>
                        <a:pt x="204" y="43197"/>
                        <a:pt x="-1" y="43191"/>
                      </a:cubicBezTo>
                      <a:lnTo>
                        <a:pt x="615" y="21600"/>
                      </a:lnTo>
                      <a:lnTo>
                        <a:pt x="411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58" name="Rectangle 18"/>
              <p:cNvSpPr>
                <a:spLocks noChangeArrowheads="1"/>
              </p:cNvSpPr>
              <p:nvPr/>
            </p:nvSpPr>
            <p:spPr bwMode="auto">
              <a:xfrm>
                <a:off x="7053536" y="5363245"/>
                <a:ext cx="463550" cy="317500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en-US" sz="1400"/>
                  <a:t>MS</a:t>
                </a:r>
              </a:p>
            </p:txBody>
          </p:sp>
          <p:cxnSp>
            <p:nvCxnSpPr>
              <p:cNvPr id="59" name="AutoShape 19"/>
              <p:cNvCxnSpPr>
                <a:cxnSpLocks noChangeShapeType="1"/>
                <a:endCxn id="46" idx="3"/>
              </p:cNvCxnSpPr>
              <p:nvPr/>
            </p:nvCxnSpPr>
            <p:spPr bwMode="auto">
              <a:xfrm flipH="1">
                <a:off x="4245249" y="3231233"/>
                <a:ext cx="217487" cy="47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0" name="AutoShape 20"/>
              <p:cNvCxnSpPr>
                <a:cxnSpLocks noChangeShapeType="1"/>
                <a:endCxn id="47" idx="1"/>
              </p:cNvCxnSpPr>
              <p:nvPr/>
            </p:nvCxnSpPr>
            <p:spPr bwMode="auto">
              <a:xfrm>
                <a:off x="5827986" y="3231233"/>
                <a:ext cx="234950" cy="47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1" name="AutoShape 21"/>
              <p:cNvCxnSpPr>
                <a:cxnSpLocks noChangeShapeType="1"/>
                <a:stCxn id="53" idx="2"/>
                <a:endCxn id="52" idx="0"/>
              </p:cNvCxnSpPr>
              <p:nvPr/>
            </p:nvCxnSpPr>
            <p:spPr bwMode="auto">
              <a:xfrm flipH="1">
                <a:off x="6112149" y="3394745"/>
                <a:ext cx="1322387" cy="67310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" name="AutoShape 22"/>
              <p:cNvCxnSpPr>
                <a:cxnSpLocks noChangeShapeType="1"/>
                <a:stCxn id="53" idx="2"/>
                <a:endCxn id="50" idx="0"/>
              </p:cNvCxnSpPr>
              <p:nvPr/>
            </p:nvCxnSpPr>
            <p:spPr bwMode="auto">
              <a:xfrm>
                <a:off x="7434536" y="3394745"/>
                <a:ext cx="990600" cy="67310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3" name="AutoShape 23"/>
              <p:cNvCxnSpPr>
                <a:cxnSpLocks noChangeShapeType="1"/>
                <a:stCxn id="53" idx="2"/>
                <a:endCxn id="51" idx="0"/>
              </p:cNvCxnSpPr>
              <p:nvPr/>
            </p:nvCxnSpPr>
            <p:spPr bwMode="auto">
              <a:xfrm flipH="1">
                <a:off x="7255149" y="3394745"/>
                <a:ext cx="179387" cy="67310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4" name="AutoShape 24"/>
              <p:cNvCxnSpPr>
                <a:cxnSpLocks noChangeShapeType="1"/>
                <a:stCxn id="49" idx="2"/>
                <a:endCxn id="53" idx="0"/>
              </p:cNvCxnSpPr>
              <p:nvPr/>
            </p:nvCxnSpPr>
            <p:spPr bwMode="auto">
              <a:xfrm>
                <a:off x="7434536" y="2391445"/>
                <a:ext cx="0" cy="68580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5" name="AutoShape 25"/>
              <p:cNvCxnSpPr>
                <a:cxnSpLocks noChangeShapeType="1"/>
                <a:stCxn id="47" idx="3"/>
                <a:endCxn id="53" idx="1"/>
              </p:cNvCxnSpPr>
              <p:nvPr/>
            </p:nvCxnSpPr>
            <p:spPr bwMode="auto">
              <a:xfrm>
                <a:off x="6748736" y="3235995"/>
                <a:ext cx="381000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6" name="AutoShape 26"/>
              <p:cNvCxnSpPr>
                <a:cxnSpLocks noChangeShapeType="1"/>
                <a:stCxn id="47" idx="0"/>
                <a:endCxn id="48" idx="2"/>
              </p:cNvCxnSpPr>
              <p:nvPr/>
            </p:nvCxnSpPr>
            <p:spPr bwMode="auto">
              <a:xfrm flipV="1">
                <a:off x="6405836" y="2404145"/>
                <a:ext cx="0" cy="67310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7" name="AutoShape 27"/>
              <p:cNvCxnSpPr>
                <a:cxnSpLocks noChangeShapeType="1"/>
                <a:stCxn id="48" idx="3"/>
                <a:endCxn id="49" idx="1"/>
              </p:cNvCxnSpPr>
              <p:nvPr/>
            </p:nvCxnSpPr>
            <p:spPr bwMode="auto">
              <a:xfrm flipV="1">
                <a:off x="6748736" y="2239045"/>
                <a:ext cx="381000" cy="635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68" name="Group 28"/>
              <p:cNvGrpSpPr>
                <a:grpSpLocks/>
              </p:cNvGrpSpPr>
              <p:nvPr/>
            </p:nvGrpSpPr>
            <p:grpSpPr bwMode="auto">
              <a:xfrm rot="5400000">
                <a:off x="7125767" y="4300414"/>
                <a:ext cx="312738" cy="609600"/>
                <a:chOff x="3599" y="2103"/>
                <a:chExt cx="197" cy="384"/>
              </a:xfrm>
            </p:grpSpPr>
            <p:sp>
              <p:nvSpPr>
                <p:cNvPr id="69" name="Arc 29"/>
                <p:cNvSpPr>
                  <a:spLocks/>
                </p:cNvSpPr>
                <p:nvPr/>
              </p:nvSpPr>
              <p:spPr bwMode="auto">
                <a:xfrm>
                  <a:off x="3601" y="2103"/>
                  <a:ext cx="195" cy="384"/>
                </a:xfrm>
                <a:custGeom>
                  <a:avLst/>
                  <a:gdLst>
                    <a:gd name="T0" fmla="*/ 0 w 22017"/>
                    <a:gd name="T1" fmla="*/ 0 h 43200"/>
                    <a:gd name="T2" fmla="*/ 0 w 22017"/>
                    <a:gd name="T3" fmla="*/ 0 h 43200"/>
                    <a:gd name="T4" fmla="*/ 0 w 22017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2017"/>
                    <a:gd name="T10" fmla="*/ 0 h 43200"/>
                    <a:gd name="T11" fmla="*/ 22017 w 22017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017" h="43200" fill="none" extrusionOk="0">
                      <a:moveTo>
                        <a:pt x="313" y="0"/>
                      </a:moveTo>
                      <a:cubicBezTo>
                        <a:pt x="347" y="0"/>
                        <a:pt x="382" y="-1"/>
                        <a:pt x="417" y="0"/>
                      </a:cubicBezTo>
                      <a:cubicBezTo>
                        <a:pt x="12346" y="0"/>
                        <a:pt x="22017" y="9670"/>
                        <a:pt x="22017" y="21600"/>
                      </a:cubicBezTo>
                      <a:cubicBezTo>
                        <a:pt x="22017" y="33529"/>
                        <a:pt x="12346" y="43200"/>
                        <a:pt x="417" y="43200"/>
                      </a:cubicBezTo>
                      <a:cubicBezTo>
                        <a:pt x="277" y="43200"/>
                        <a:pt x="138" y="43198"/>
                        <a:pt x="0" y="43195"/>
                      </a:cubicBezTo>
                    </a:path>
                    <a:path w="22017" h="43200" stroke="0" extrusionOk="0">
                      <a:moveTo>
                        <a:pt x="313" y="0"/>
                      </a:moveTo>
                      <a:cubicBezTo>
                        <a:pt x="347" y="0"/>
                        <a:pt x="382" y="-1"/>
                        <a:pt x="417" y="0"/>
                      </a:cubicBezTo>
                      <a:cubicBezTo>
                        <a:pt x="12346" y="0"/>
                        <a:pt x="22017" y="9670"/>
                        <a:pt x="22017" y="21600"/>
                      </a:cubicBezTo>
                      <a:cubicBezTo>
                        <a:pt x="22017" y="33529"/>
                        <a:pt x="12346" y="43200"/>
                        <a:pt x="417" y="43200"/>
                      </a:cubicBezTo>
                      <a:cubicBezTo>
                        <a:pt x="277" y="43200"/>
                        <a:pt x="138" y="43198"/>
                        <a:pt x="0" y="43195"/>
                      </a:cubicBezTo>
                      <a:lnTo>
                        <a:pt x="417" y="21600"/>
                      </a:lnTo>
                      <a:lnTo>
                        <a:pt x="313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70" name="Arc 30"/>
                <p:cNvSpPr>
                  <a:spLocks/>
                </p:cNvSpPr>
                <p:nvPr/>
              </p:nvSpPr>
              <p:spPr bwMode="auto">
                <a:xfrm>
                  <a:off x="3600" y="2151"/>
                  <a:ext cx="149" cy="288"/>
                </a:xfrm>
                <a:custGeom>
                  <a:avLst/>
                  <a:gdLst>
                    <a:gd name="T0" fmla="*/ 0 w 22152"/>
                    <a:gd name="T1" fmla="*/ 0 h 43200"/>
                    <a:gd name="T2" fmla="*/ 0 w 22152"/>
                    <a:gd name="T3" fmla="*/ 0 h 43200"/>
                    <a:gd name="T4" fmla="*/ 0 w 22152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2152"/>
                    <a:gd name="T10" fmla="*/ 0 h 43200"/>
                    <a:gd name="T11" fmla="*/ 22152 w 22152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152" h="43200" fill="none" extrusionOk="0">
                      <a:moveTo>
                        <a:pt x="415" y="0"/>
                      </a:moveTo>
                      <a:cubicBezTo>
                        <a:pt x="460" y="0"/>
                        <a:pt x="506" y="-1"/>
                        <a:pt x="552" y="0"/>
                      </a:cubicBezTo>
                      <a:cubicBezTo>
                        <a:pt x="12481" y="0"/>
                        <a:pt x="22152" y="9670"/>
                        <a:pt x="22152" y="21600"/>
                      </a:cubicBezTo>
                      <a:cubicBezTo>
                        <a:pt x="22152" y="33529"/>
                        <a:pt x="12481" y="43200"/>
                        <a:pt x="552" y="43200"/>
                      </a:cubicBezTo>
                      <a:cubicBezTo>
                        <a:pt x="367" y="43200"/>
                        <a:pt x="183" y="43197"/>
                        <a:pt x="0" y="43192"/>
                      </a:cubicBezTo>
                    </a:path>
                    <a:path w="22152" h="43200" stroke="0" extrusionOk="0">
                      <a:moveTo>
                        <a:pt x="415" y="0"/>
                      </a:moveTo>
                      <a:cubicBezTo>
                        <a:pt x="460" y="0"/>
                        <a:pt x="506" y="-1"/>
                        <a:pt x="552" y="0"/>
                      </a:cubicBezTo>
                      <a:cubicBezTo>
                        <a:pt x="12481" y="0"/>
                        <a:pt x="22152" y="9670"/>
                        <a:pt x="22152" y="21600"/>
                      </a:cubicBezTo>
                      <a:cubicBezTo>
                        <a:pt x="22152" y="33529"/>
                        <a:pt x="12481" y="43200"/>
                        <a:pt x="552" y="43200"/>
                      </a:cubicBezTo>
                      <a:cubicBezTo>
                        <a:pt x="367" y="43200"/>
                        <a:pt x="183" y="43197"/>
                        <a:pt x="0" y="43192"/>
                      </a:cubicBezTo>
                      <a:lnTo>
                        <a:pt x="552" y="21600"/>
                      </a:lnTo>
                      <a:lnTo>
                        <a:pt x="415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71" name="Arc 31"/>
                <p:cNvSpPr>
                  <a:spLocks/>
                </p:cNvSpPr>
                <p:nvPr/>
              </p:nvSpPr>
              <p:spPr bwMode="auto">
                <a:xfrm>
                  <a:off x="3599" y="2199"/>
                  <a:ext cx="101" cy="192"/>
                </a:xfrm>
                <a:custGeom>
                  <a:avLst/>
                  <a:gdLst>
                    <a:gd name="T0" fmla="*/ 0 w 22215"/>
                    <a:gd name="T1" fmla="*/ 0 h 43200"/>
                    <a:gd name="T2" fmla="*/ 0 w 22215"/>
                    <a:gd name="T3" fmla="*/ 0 h 43200"/>
                    <a:gd name="T4" fmla="*/ 0 w 22215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2215"/>
                    <a:gd name="T10" fmla="*/ 0 h 43200"/>
                    <a:gd name="T11" fmla="*/ 22215 w 22215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215" h="43200" fill="none" extrusionOk="0">
                      <a:moveTo>
                        <a:pt x="411" y="0"/>
                      </a:moveTo>
                      <a:cubicBezTo>
                        <a:pt x="479" y="0"/>
                        <a:pt x="547" y="-1"/>
                        <a:pt x="615" y="0"/>
                      </a:cubicBezTo>
                      <a:cubicBezTo>
                        <a:pt x="12544" y="0"/>
                        <a:pt x="22215" y="9670"/>
                        <a:pt x="22215" y="21600"/>
                      </a:cubicBezTo>
                      <a:cubicBezTo>
                        <a:pt x="22215" y="33529"/>
                        <a:pt x="12544" y="43200"/>
                        <a:pt x="615" y="43200"/>
                      </a:cubicBezTo>
                      <a:cubicBezTo>
                        <a:pt x="409" y="43200"/>
                        <a:pt x="204" y="43197"/>
                        <a:pt x="-1" y="43191"/>
                      </a:cubicBezTo>
                    </a:path>
                    <a:path w="22215" h="43200" stroke="0" extrusionOk="0">
                      <a:moveTo>
                        <a:pt x="411" y="0"/>
                      </a:moveTo>
                      <a:cubicBezTo>
                        <a:pt x="479" y="0"/>
                        <a:pt x="547" y="-1"/>
                        <a:pt x="615" y="0"/>
                      </a:cubicBezTo>
                      <a:cubicBezTo>
                        <a:pt x="12544" y="0"/>
                        <a:pt x="22215" y="9670"/>
                        <a:pt x="22215" y="21600"/>
                      </a:cubicBezTo>
                      <a:cubicBezTo>
                        <a:pt x="22215" y="33529"/>
                        <a:pt x="12544" y="43200"/>
                        <a:pt x="615" y="43200"/>
                      </a:cubicBezTo>
                      <a:cubicBezTo>
                        <a:pt x="409" y="43200"/>
                        <a:pt x="204" y="43197"/>
                        <a:pt x="-1" y="43191"/>
                      </a:cubicBezTo>
                      <a:lnTo>
                        <a:pt x="615" y="21600"/>
                      </a:lnTo>
                      <a:lnTo>
                        <a:pt x="411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72" name="Group 32"/>
              <p:cNvGrpSpPr>
                <a:grpSpLocks/>
              </p:cNvGrpSpPr>
              <p:nvPr/>
            </p:nvGrpSpPr>
            <p:grpSpPr bwMode="auto">
              <a:xfrm rot="5400000">
                <a:off x="5982767" y="4300414"/>
                <a:ext cx="312738" cy="609600"/>
                <a:chOff x="3599" y="2103"/>
                <a:chExt cx="197" cy="384"/>
              </a:xfrm>
            </p:grpSpPr>
            <p:sp>
              <p:nvSpPr>
                <p:cNvPr id="73" name="Arc 33"/>
                <p:cNvSpPr>
                  <a:spLocks/>
                </p:cNvSpPr>
                <p:nvPr/>
              </p:nvSpPr>
              <p:spPr bwMode="auto">
                <a:xfrm>
                  <a:off x="3601" y="2103"/>
                  <a:ext cx="195" cy="384"/>
                </a:xfrm>
                <a:custGeom>
                  <a:avLst/>
                  <a:gdLst>
                    <a:gd name="T0" fmla="*/ 0 w 22017"/>
                    <a:gd name="T1" fmla="*/ 0 h 43200"/>
                    <a:gd name="T2" fmla="*/ 0 w 22017"/>
                    <a:gd name="T3" fmla="*/ 0 h 43200"/>
                    <a:gd name="T4" fmla="*/ 0 w 22017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2017"/>
                    <a:gd name="T10" fmla="*/ 0 h 43200"/>
                    <a:gd name="T11" fmla="*/ 22017 w 22017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017" h="43200" fill="none" extrusionOk="0">
                      <a:moveTo>
                        <a:pt x="313" y="0"/>
                      </a:moveTo>
                      <a:cubicBezTo>
                        <a:pt x="347" y="0"/>
                        <a:pt x="382" y="-1"/>
                        <a:pt x="417" y="0"/>
                      </a:cubicBezTo>
                      <a:cubicBezTo>
                        <a:pt x="12346" y="0"/>
                        <a:pt x="22017" y="9670"/>
                        <a:pt x="22017" y="21600"/>
                      </a:cubicBezTo>
                      <a:cubicBezTo>
                        <a:pt x="22017" y="33529"/>
                        <a:pt x="12346" y="43200"/>
                        <a:pt x="417" y="43200"/>
                      </a:cubicBezTo>
                      <a:cubicBezTo>
                        <a:pt x="277" y="43200"/>
                        <a:pt x="138" y="43198"/>
                        <a:pt x="0" y="43195"/>
                      </a:cubicBezTo>
                    </a:path>
                    <a:path w="22017" h="43200" stroke="0" extrusionOk="0">
                      <a:moveTo>
                        <a:pt x="313" y="0"/>
                      </a:moveTo>
                      <a:cubicBezTo>
                        <a:pt x="347" y="0"/>
                        <a:pt x="382" y="-1"/>
                        <a:pt x="417" y="0"/>
                      </a:cubicBezTo>
                      <a:cubicBezTo>
                        <a:pt x="12346" y="0"/>
                        <a:pt x="22017" y="9670"/>
                        <a:pt x="22017" y="21600"/>
                      </a:cubicBezTo>
                      <a:cubicBezTo>
                        <a:pt x="22017" y="33529"/>
                        <a:pt x="12346" y="43200"/>
                        <a:pt x="417" y="43200"/>
                      </a:cubicBezTo>
                      <a:cubicBezTo>
                        <a:pt x="277" y="43200"/>
                        <a:pt x="138" y="43198"/>
                        <a:pt x="0" y="43195"/>
                      </a:cubicBezTo>
                      <a:lnTo>
                        <a:pt x="417" y="21600"/>
                      </a:lnTo>
                      <a:lnTo>
                        <a:pt x="313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74" name="Arc 34"/>
                <p:cNvSpPr>
                  <a:spLocks/>
                </p:cNvSpPr>
                <p:nvPr/>
              </p:nvSpPr>
              <p:spPr bwMode="auto">
                <a:xfrm>
                  <a:off x="3600" y="2151"/>
                  <a:ext cx="149" cy="288"/>
                </a:xfrm>
                <a:custGeom>
                  <a:avLst/>
                  <a:gdLst>
                    <a:gd name="T0" fmla="*/ 0 w 22152"/>
                    <a:gd name="T1" fmla="*/ 0 h 43200"/>
                    <a:gd name="T2" fmla="*/ 0 w 22152"/>
                    <a:gd name="T3" fmla="*/ 0 h 43200"/>
                    <a:gd name="T4" fmla="*/ 0 w 22152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2152"/>
                    <a:gd name="T10" fmla="*/ 0 h 43200"/>
                    <a:gd name="T11" fmla="*/ 22152 w 22152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152" h="43200" fill="none" extrusionOk="0">
                      <a:moveTo>
                        <a:pt x="415" y="0"/>
                      </a:moveTo>
                      <a:cubicBezTo>
                        <a:pt x="460" y="0"/>
                        <a:pt x="506" y="-1"/>
                        <a:pt x="552" y="0"/>
                      </a:cubicBezTo>
                      <a:cubicBezTo>
                        <a:pt x="12481" y="0"/>
                        <a:pt x="22152" y="9670"/>
                        <a:pt x="22152" y="21600"/>
                      </a:cubicBezTo>
                      <a:cubicBezTo>
                        <a:pt x="22152" y="33529"/>
                        <a:pt x="12481" y="43200"/>
                        <a:pt x="552" y="43200"/>
                      </a:cubicBezTo>
                      <a:cubicBezTo>
                        <a:pt x="367" y="43200"/>
                        <a:pt x="183" y="43197"/>
                        <a:pt x="0" y="43192"/>
                      </a:cubicBezTo>
                    </a:path>
                    <a:path w="22152" h="43200" stroke="0" extrusionOk="0">
                      <a:moveTo>
                        <a:pt x="415" y="0"/>
                      </a:moveTo>
                      <a:cubicBezTo>
                        <a:pt x="460" y="0"/>
                        <a:pt x="506" y="-1"/>
                        <a:pt x="552" y="0"/>
                      </a:cubicBezTo>
                      <a:cubicBezTo>
                        <a:pt x="12481" y="0"/>
                        <a:pt x="22152" y="9670"/>
                        <a:pt x="22152" y="21600"/>
                      </a:cubicBezTo>
                      <a:cubicBezTo>
                        <a:pt x="22152" y="33529"/>
                        <a:pt x="12481" y="43200"/>
                        <a:pt x="552" y="43200"/>
                      </a:cubicBezTo>
                      <a:cubicBezTo>
                        <a:pt x="367" y="43200"/>
                        <a:pt x="183" y="43197"/>
                        <a:pt x="0" y="43192"/>
                      </a:cubicBezTo>
                      <a:lnTo>
                        <a:pt x="552" y="21600"/>
                      </a:lnTo>
                      <a:lnTo>
                        <a:pt x="415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75" name="Arc 35"/>
                <p:cNvSpPr>
                  <a:spLocks/>
                </p:cNvSpPr>
                <p:nvPr/>
              </p:nvSpPr>
              <p:spPr bwMode="auto">
                <a:xfrm>
                  <a:off x="3599" y="2199"/>
                  <a:ext cx="101" cy="192"/>
                </a:xfrm>
                <a:custGeom>
                  <a:avLst/>
                  <a:gdLst>
                    <a:gd name="T0" fmla="*/ 0 w 22215"/>
                    <a:gd name="T1" fmla="*/ 0 h 43200"/>
                    <a:gd name="T2" fmla="*/ 0 w 22215"/>
                    <a:gd name="T3" fmla="*/ 0 h 43200"/>
                    <a:gd name="T4" fmla="*/ 0 w 22215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2215"/>
                    <a:gd name="T10" fmla="*/ 0 h 43200"/>
                    <a:gd name="T11" fmla="*/ 22215 w 22215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215" h="43200" fill="none" extrusionOk="0">
                      <a:moveTo>
                        <a:pt x="411" y="0"/>
                      </a:moveTo>
                      <a:cubicBezTo>
                        <a:pt x="479" y="0"/>
                        <a:pt x="547" y="-1"/>
                        <a:pt x="615" y="0"/>
                      </a:cubicBezTo>
                      <a:cubicBezTo>
                        <a:pt x="12544" y="0"/>
                        <a:pt x="22215" y="9670"/>
                        <a:pt x="22215" y="21600"/>
                      </a:cubicBezTo>
                      <a:cubicBezTo>
                        <a:pt x="22215" y="33529"/>
                        <a:pt x="12544" y="43200"/>
                        <a:pt x="615" y="43200"/>
                      </a:cubicBezTo>
                      <a:cubicBezTo>
                        <a:pt x="409" y="43200"/>
                        <a:pt x="204" y="43197"/>
                        <a:pt x="-1" y="43191"/>
                      </a:cubicBezTo>
                    </a:path>
                    <a:path w="22215" h="43200" stroke="0" extrusionOk="0">
                      <a:moveTo>
                        <a:pt x="411" y="0"/>
                      </a:moveTo>
                      <a:cubicBezTo>
                        <a:pt x="479" y="0"/>
                        <a:pt x="547" y="-1"/>
                        <a:pt x="615" y="0"/>
                      </a:cubicBezTo>
                      <a:cubicBezTo>
                        <a:pt x="12544" y="0"/>
                        <a:pt x="22215" y="9670"/>
                        <a:pt x="22215" y="21600"/>
                      </a:cubicBezTo>
                      <a:cubicBezTo>
                        <a:pt x="22215" y="33529"/>
                        <a:pt x="12544" y="43200"/>
                        <a:pt x="615" y="43200"/>
                      </a:cubicBezTo>
                      <a:cubicBezTo>
                        <a:pt x="409" y="43200"/>
                        <a:pt x="204" y="43197"/>
                        <a:pt x="-1" y="43191"/>
                      </a:cubicBezTo>
                      <a:lnTo>
                        <a:pt x="615" y="21600"/>
                      </a:lnTo>
                      <a:lnTo>
                        <a:pt x="411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cxnSp>
            <p:nvCxnSpPr>
              <p:cNvPr id="76" name="AutoShape 36"/>
              <p:cNvCxnSpPr>
                <a:cxnSpLocks noChangeShapeType="1"/>
                <a:stCxn id="58" idx="0"/>
              </p:cNvCxnSpPr>
              <p:nvPr/>
            </p:nvCxnSpPr>
            <p:spPr bwMode="auto">
              <a:xfrm flipV="1">
                <a:off x="7285311" y="4763170"/>
                <a:ext cx="0" cy="600075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7" name="Text Box 37"/>
              <p:cNvSpPr txBox="1">
                <a:spLocks noChangeArrowheads="1"/>
              </p:cNvSpPr>
              <p:nvPr/>
            </p:nvSpPr>
            <p:spPr bwMode="auto">
              <a:xfrm>
                <a:off x="4234136" y="3229645"/>
                <a:ext cx="296863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/>
                  <a:t>1</a:t>
                </a:r>
                <a:endParaRPr lang="en-US" altLang="en-US" sz="1600"/>
              </a:p>
            </p:txBody>
          </p:sp>
          <p:sp>
            <p:nvSpPr>
              <p:cNvPr id="78" name="Text Box 38"/>
              <p:cNvSpPr txBox="1">
                <a:spLocks noChangeArrowheads="1"/>
              </p:cNvSpPr>
              <p:nvPr/>
            </p:nvSpPr>
            <p:spPr bwMode="auto">
              <a:xfrm>
                <a:off x="5758136" y="3229645"/>
                <a:ext cx="296863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/>
                  <a:t>2</a:t>
                </a:r>
              </a:p>
            </p:txBody>
          </p:sp>
          <p:sp>
            <p:nvSpPr>
              <p:cNvPr id="79" name="Text Box 39"/>
              <p:cNvSpPr txBox="1">
                <a:spLocks noChangeArrowheads="1"/>
              </p:cNvSpPr>
              <p:nvPr/>
            </p:nvSpPr>
            <p:spPr bwMode="auto">
              <a:xfrm>
                <a:off x="6139136" y="2543845"/>
                <a:ext cx="296863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/>
                  <a:t>3</a:t>
                </a:r>
              </a:p>
            </p:txBody>
          </p:sp>
          <p:sp>
            <p:nvSpPr>
              <p:cNvPr id="80" name="Text Box 40"/>
              <p:cNvSpPr txBox="1">
                <a:spLocks noChangeArrowheads="1"/>
              </p:cNvSpPr>
              <p:nvPr/>
            </p:nvSpPr>
            <p:spPr bwMode="auto">
              <a:xfrm>
                <a:off x="6824936" y="1934245"/>
                <a:ext cx="296863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/>
                  <a:t>4</a:t>
                </a:r>
              </a:p>
            </p:txBody>
          </p:sp>
          <p:sp>
            <p:nvSpPr>
              <p:cNvPr id="81" name="Text Box 41"/>
              <p:cNvSpPr txBox="1">
                <a:spLocks noChangeArrowheads="1"/>
              </p:cNvSpPr>
              <p:nvPr/>
            </p:nvSpPr>
            <p:spPr bwMode="auto">
              <a:xfrm>
                <a:off x="6824936" y="2239045"/>
                <a:ext cx="296863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/>
                  <a:t>5</a:t>
                </a:r>
              </a:p>
            </p:txBody>
          </p:sp>
          <p:sp>
            <p:nvSpPr>
              <p:cNvPr id="82" name="Text Box 42"/>
              <p:cNvSpPr txBox="1">
                <a:spLocks noChangeArrowheads="1"/>
              </p:cNvSpPr>
              <p:nvPr/>
            </p:nvSpPr>
            <p:spPr bwMode="auto">
              <a:xfrm>
                <a:off x="6367736" y="2543845"/>
                <a:ext cx="296863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/>
                  <a:t>6</a:t>
                </a:r>
              </a:p>
            </p:txBody>
          </p:sp>
          <p:sp>
            <p:nvSpPr>
              <p:cNvPr id="83" name="Text Box 43"/>
              <p:cNvSpPr txBox="1">
                <a:spLocks noChangeArrowheads="1"/>
              </p:cNvSpPr>
              <p:nvPr/>
            </p:nvSpPr>
            <p:spPr bwMode="auto">
              <a:xfrm>
                <a:off x="6748736" y="2924845"/>
                <a:ext cx="296863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 dirty="0"/>
                  <a:t>7</a:t>
                </a:r>
              </a:p>
            </p:txBody>
          </p:sp>
          <p:sp>
            <p:nvSpPr>
              <p:cNvPr id="84" name="Text Box 44"/>
              <p:cNvSpPr txBox="1">
                <a:spLocks noChangeArrowheads="1"/>
              </p:cNvSpPr>
              <p:nvPr/>
            </p:nvSpPr>
            <p:spPr bwMode="auto">
              <a:xfrm>
                <a:off x="7129736" y="2391445"/>
                <a:ext cx="296863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/>
                  <a:t>8</a:t>
                </a:r>
              </a:p>
            </p:txBody>
          </p:sp>
          <p:sp>
            <p:nvSpPr>
              <p:cNvPr id="85" name="Text Box 45"/>
              <p:cNvSpPr txBox="1">
                <a:spLocks noChangeArrowheads="1"/>
              </p:cNvSpPr>
              <p:nvPr/>
            </p:nvSpPr>
            <p:spPr bwMode="auto">
              <a:xfrm>
                <a:off x="7434536" y="2391445"/>
                <a:ext cx="296863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/>
                  <a:t>9</a:t>
                </a:r>
              </a:p>
            </p:txBody>
          </p:sp>
          <p:sp>
            <p:nvSpPr>
              <p:cNvPr id="86" name="Text Box 46"/>
              <p:cNvSpPr txBox="1">
                <a:spLocks noChangeArrowheads="1"/>
              </p:cNvSpPr>
              <p:nvPr/>
            </p:nvSpPr>
            <p:spPr bwMode="auto">
              <a:xfrm>
                <a:off x="6367736" y="3534445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/>
                  <a:t>10</a:t>
                </a:r>
              </a:p>
            </p:txBody>
          </p:sp>
          <p:sp>
            <p:nvSpPr>
              <p:cNvPr id="87" name="Text Box 47"/>
              <p:cNvSpPr txBox="1">
                <a:spLocks noChangeArrowheads="1"/>
              </p:cNvSpPr>
              <p:nvPr/>
            </p:nvSpPr>
            <p:spPr bwMode="auto">
              <a:xfrm>
                <a:off x="6901136" y="4829845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/>
                  <a:t>11</a:t>
                </a:r>
              </a:p>
            </p:txBody>
          </p:sp>
          <p:sp>
            <p:nvSpPr>
              <p:cNvPr id="88" name="Text Box 48"/>
              <p:cNvSpPr txBox="1">
                <a:spLocks noChangeArrowheads="1"/>
              </p:cNvSpPr>
              <p:nvPr/>
            </p:nvSpPr>
            <p:spPr bwMode="auto">
              <a:xfrm>
                <a:off x="7282136" y="4829845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/>
                  <a:t>12</a:t>
                </a:r>
              </a:p>
            </p:txBody>
          </p:sp>
          <p:sp>
            <p:nvSpPr>
              <p:cNvPr id="89" name="Text Box 49"/>
              <p:cNvSpPr txBox="1">
                <a:spLocks noChangeArrowheads="1"/>
              </p:cNvSpPr>
              <p:nvPr/>
            </p:nvSpPr>
            <p:spPr bwMode="auto">
              <a:xfrm>
                <a:off x="7282136" y="3534445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 dirty="0"/>
                  <a:t>13</a:t>
                </a:r>
              </a:p>
            </p:txBody>
          </p:sp>
          <p:sp>
            <p:nvSpPr>
              <p:cNvPr id="90" name="Text Box 50"/>
              <p:cNvSpPr txBox="1">
                <a:spLocks noChangeArrowheads="1"/>
              </p:cNvSpPr>
              <p:nvPr/>
            </p:nvSpPr>
            <p:spPr bwMode="auto">
              <a:xfrm>
                <a:off x="7282136" y="3763045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/>
                  <a:t>16</a:t>
                </a:r>
              </a:p>
            </p:txBody>
          </p:sp>
          <p:sp>
            <p:nvSpPr>
              <p:cNvPr id="91" name="Text Box 51"/>
              <p:cNvSpPr txBox="1">
                <a:spLocks noChangeArrowheads="1"/>
              </p:cNvSpPr>
              <p:nvPr/>
            </p:nvSpPr>
            <p:spPr bwMode="auto">
              <a:xfrm>
                <a:off x="6977336" y="3610645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/>
                  <a:t>10</a:t>
                </a:r>
              </a:p>
            </p:txBody>
          </p:sp>
          <p:sp>
            <p:nvSpPr>
              <p:cNvPr id="92" name="Text Box 52"/>
              <p:cNvSpPr txBox="1">
                <a:spLocks noChangeArrowheads="1"/>
              </p:cNvSpPr>
              <p:nvPr/>
            </p:nvSpPr>
            <p:spPr bwMode="auto">
              <a:xfrm>
                <a:off x="7891736" y="3534445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/>
                  <a:t>10</a:t>
                </a:r>
              </a:p>
            </p:txBody>
          </p:sp>
          <p:sp>
            <p:nvSpPr>
              <p:cNvPr id="93" name="Text Box 53"/>
              <p:cNvSpPr txBox="1">
                <a:spLocks noChangeArrowheads="1"/>
              </p:cNvSpPr>
              <p:nvPr/>
            </p:nvSpPr>
            <p:spPr bwMode="auto">
              <a:xfrm>
                <a:off x="5910536" y="4296445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/>
                  <a:t>11</a:t>
                </a:r>
              </a:p>
            </p:txBody>
          </p:sp>
          <p:sp>
            <p:nvSpPr>
              <p:cNvPr id="94" name="Text Box 54"/>
              <p:cNvSpPr txBox="1">
                <a:spLocks noChangeArrowheads="1"/>
              </p:cNvSpPr>
              <p:nvPr/>
            </p:nvSpPr>
            <p:spPr bwMode="auto">
              <a:xfrm>
                <a:off x="7053536" y="4296445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/>
                  <a:t>11</a:t>
                </a:r>
              </a:p>
            </p:txBody>
          </p:sp>
          <p:sp>
            <p:nvSpPr>
              <p:cNvPr id="95" name="Text Box 55"/>
              <p:cNvSpPr txBox="1">
                <a:spLocks noChangeArrowheads="1"/>
              </p:cNvSpPr>
              <p:nvPr/>
            </p:nvSpPr>
            <p:spPr bwMode="auto">
              <a:xfrm>
                <a:off x="8196536" y="4296445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/>
                  <a:t>11</a:t>
                </a:r>
              </a:p>
            </p:txBody>
          </p:sp>
          <p:sp>
            <p:nvSpPr>
              <p:cNvPr id="96" name="Text Box 56"/>
              <p:cNvSpPr txBox="1">
                <a:spLocks noChangeArrowheads="1"/>
              </p:cNvSpPr>
              <p:nvPr/>
            </p:nvSpPr>
            <p:spPr bwMode="auto">
              <a:xfrm>
                <a:off x="7053536" y="2620045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/>
                  <a:t>14</a:t>
                </a:r>
              </a:p>
            </p:txBody>
          </p:sp>
          <p:sp>
            <p:nvSpPr>
              <p:cNvPr id="97" name="Text Box 57"/>
              <p:cNvSpPr txBox="1">
                <a:spLocks noChangeArrowheads="1"/>
              </p:cNvSpPr>
              <p:nvPr/>
            </p:nvSpPr>
            <p:spPr bwMode="auto">
              <a:xfrm>
                <a:off x="7434536" y="2620045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/>
                  <a:t>15</a:t>
                </a:r>
              </a:p>
            </p:txBody>
          </p:sp>
          <p:sp>
            <p:nvSpPr>
              <p:cNvPr id="98" name="Text Box 58"/>
              <p:cNvSpPr txBox="1">
                <a:spLocks noChangeArrowheads="1"/>
              </p:cNvSpPr>
              <p:nvPr/>
            </p:nvSpPr>
            <p:spPr bwMode="auto">
              <a:xfrm>
                <a:off x="7282136" y="5058445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1"/>
                  <a:t>17</a:t>
                </a:r>
              </a:p>
            </p:txBody>
          </p:sp>
        </p:grpSp>
        <p:sp>
          <p:nvSpPr>
            <p:cNvPr id="99" name="Rectangle 59"/>
            <p:cNvSpPr txBox="1">
              <a:spLocks noChangeArrowheads="1"/>
            </p:cNvSpPr>
            <p:nvPr/>
          </p:nvSpPr>
          <p:spPr bwMode="auto">
            <a:xfrm>
              <a:off x="119336" y="1317079"/>
              <a:ext cx="3978275" cy="4848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r>
                <a:rPr lang="en-US" kern="0" dirty="0">
                  <a:latin typeface="+mn-lt"/>
                </a:rPr>
                <a:t>1: Calling a GSM subscriber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endParaRPr lang="en-US" sz="500" kern="0" dirty="0">
                <a:latin typeface="+mn-lt"/>
              </a:endParaRP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r>
                <a:rPr lang="en-US" kern="0" dirty="0">
                  <a:latin typeface="+mn-lt"/>
                </a:rPr>
                <a:t>2: Forwarding call to GMSC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endParaRPr lang="en-US" sz="500" kern="0" dirty="0">
                <a:latin typeface="+mn-lt"/>
              </a:endParaRP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r>
                <a:rPr lang="en-US" kern="0" dirty="0">
                  <a:latin typeface="+mn-lt"/>
                </a:rPr>
                <a:t>3: Signal call setup to HLR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endParaRPr lang="en-US" sz="500" kern="0" dirty="0">
                <a:latin typeface="+mn-lt"/>
              </a:endParaRP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r>
                <a:rPr lang="en-US" kern="0" dirty="0">
                  <a:latin typeface="+mn-lt"/>
                </a:rPr>
                <a:t>4, 5: Connect with current VLR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endParaRPr lang="en-US" sz="500" kern="0" dirty="0">
                <a:latin typeface="+mn-lt"/>
              </a:endParaRP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r>
                <a:rPr lang="en-US" kern="0" dirty="0">
                  <a:latin typeface="+mn-lt"/>
                </a:rPr>
                <a:t>6,7: Forward to responsible MSC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endParaRPr lang="en-US" sz="500" kern="0" dirty="0">
                <a:latin typeface="+mn-lt"/>
              </a:endParaRP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r>
                <a:rPr lang="en-US" kern="0" dirty="0">
                  <a:latin typeface="+mn-lt"/>
                </a:rPr>
                <a:t>8, 9: get current status of MS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endParaRPr lang="en-US" sz="500" kern="0" dirty="0">
                <a:latin typeface="+mn-lt"/>
              </a:endParaRP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r>
                <a:rPr lang="en-US" kern="0" dirty="0">
                  <a:latin typeface="+mn-lt"/>
                </a:rPr>
                <a:t>10, 11: paging of MS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endParaRPr lang="en-US" sz="500" kern="0" dirty="0">
                <a:latin typeface="+mn-lt"/>
              </a:endParaRP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r>
                <a:rPr lang="en-US" kern="0" dirty="0">
                  <a:latin typeface="+mn-lt"/>
                </a:rPr>
                <a:t>12, 13: MS answers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endParaRPr lang="en-US" sz="500" kern="0" dirty="0">
                <a:latin typeface="+mn-lt"/>
              </a:endParaRP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r>
                <a:rPr lang="en-US" kern="0" dirty="0">
                  <a:latin typeface="+mn-lt"/>
                </a:rPr>
                <a:t>14, 15: Security checks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endParaRPr lang="en-US" sz="500" kern="0" dirty="0">
                <a:latin typeface="+mn-lt"/>
              </a:endParaRP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r>
                <a:rPr lang="en-US" kern="0" dirty="0">
                  <a:latin typeface="+mn-lt"/>
                </a:rPr>
                <a:t>16, 17: Set up connection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Char char="n"/>
                <a:defRPr/>
              </a:pPr>
              <a:endParaRPr lang="en-US" kern="0" dirty="0">
                <a:latin typeface="+mn-lt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81314" y="854873"/>
              <a:ext cx="245830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 smtClean="0">
                  <a:solidFill>
                    <a:srgbClr val="FF0000"/>
                  </a:solidFill>
                </a:rPr>
                <a:t>Mobile Terminated Call</a:t>
              </a:r>
              <a:endParaRPr lang="en-IN" b="1" dirty="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8292008" y="850145"/>
            <a:ext cx="3276600" cy="2002791"/>
            <a:chOff x="8147992" y="2406650"/>
            <a:chExt cx="3276600" cy="2470150"/>
          </a:xfrm>
        </p:grpSpPr>
        <p:grpSp>
          <p:nvGrpSpPr>
            <p:cNvPr id="100" name="Group 3"/>
            <p:cNvGrpSpPr>
              <a:grpSpLocks/>
            </p:cNvGrpSpPr>
            <p:nvPr/>
          </p:nvGrpSpPr>
          <p:grpSpPr bwMode="auto">
            <a:xfrm>
              <a:off x="8147992" y="3168650"/>
              <a:ext cx="1365250" cy="763588"/>
              <a:chOff x="1392" y="2976"/>
              <a:chExt cx="860" cy="481"/>
            </a:xfrm>
          </p:grpSpPr>
          <p:graphicFrame>
            <p:nvGraphicFramePr>
              <p:cNvPr id="101" name="Object 3"/>
              <p:cNvGraphicFramePr>
                <a:graphicFrameLocks/>
              </p:cNvGraphicFramePr>
              <p:nvPr/>
            </p:nvGraphicFramePr>
            <p:xfrm>
              <a:off x="1392" y="2976"/>
              <a:ext cx="860" cy="4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55" name="ClipArt" r:id="rId6" imgW="5761038" imgH="3224213" progId="MS_ClipArt_Gallery.2">
                      <p:embed/>
                    </p:oleObj>
                  </mc:Choice>
                  <mc:Fallback>
                    <p:oleObj name="ClipArt" r:id="rId6" imgW="5761038" imgH="3224213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92" y="2976"/>
                            <a:ext cx="860" cy="4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" name="Rectangle 5"/>
              <p:cNvSpPr>
                <a:spLocks noChangeArrowheads="1"/>
              </p:cNvSpPr>
              <p:nvPr/>
            </p:nvSpPr>
            <p:spPr bwMode="auto">
              <a:xfrm>
                <a:off x="1584" y="3120"/>
                <a:ext cx="42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de-DE" altLang="en-US" sz="1400" dirty="0"/>
                  <a:t>PSTN</a:t>
                </a:r>
              </a:p>
            </p:txBody>
          </p:sp>
        </p:grpSp>
        <p:sp>
          <p:nvSpPr>
            <p:cNvPr id="103" name="Rectangle 6"/>
            <p:cNvSpPr>
              <a:spLocks noChangeArrowheads="1"/>
            </p:cNvSpPr>
            <p:nvPr/>
          </p:nvSpPr>
          <p:spPr bwMode="auto">
            <a:xfrm>
              <a:off x="9748192" y="3397250"/>
              <a:ext cx="685800" cy="3175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en-US" sz="1400"/>
                <a:t>GMSC</a:t>
              </a:r>
            </a:p>
          </p:txBody>
        </p:sp>
        <p:sp>
          <p:nvSpPr>
            <p:cNvPr id="104" name="Rectangle 7"/>
            <p:cNvSpPr>
              <a:spLocks noChangeArrowheads="1"/>
            </p:cNvSpPr>
            <p:nvPr/>
          </p:nvSpPr>
          <p:spPr bwMode="auto">
            <a:xfrm>
              <a:off x="10814992" y="2406650"/>
              <a:ext cx="609600" cy="3048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en-US" sz="1400"/>
                <a:t>VLR</a:t>
              </a:r>
            </a:p>
          </p:txBody>
        </p:sp>
        <p:sp>
          <p:nvSpPr>
            <p:cNvPr id="105" name="Rectangle 8"/>
            <p:cNvSpPr>
              <a:spLocks noChangeArrowheads="1"/>
            </p:cNvSpPr>
            <p:nvPr/>
          </p:nvSpPr>
          <p:spPr bwMode="auto">
            <a:xfrm>
              <a:off x="10814992" y="4387850"/>
              <a:ext cx="609600" cy="3175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en-US" sz="1400"/>
                <a:t>BSC</a:t>
              </a:r>
            </a:p>
          </p:txBody>
        </p:sp>
        <p:sp>
          <p:nvSpPr>
            <p:cNvPr id="106" name="Rectangle 9"/>
            <p:cNvSpPr>
              <a:spLocks noChangeArrowheads="1"/>
            </p:cNvSpPr>
            <p:nvPr/>
          </p:nvSpPr>
          <p:spPr bwMode="auto">
            <a:xfrm>
              <a:off x="10814992" y="3397250"/>
              <a:ext cx="609600" cy="3175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en-US" sz="1400" dirty="0"/>
                <a:t>MSC</a:t>
              </a:r>
            </a:p>
          </p:txBody>
        </p:sp>
        <p:sp>
          <p:nvSpPr>
            <p:cNvPr id="107" name="Rectangle 10"/>
            <p:cNvSpPr>
              <a:spLocks noChangeArrowheads="1"/>
            </p:cNvSpPr>
            <p:nvPr/>
          </p:nvSpPr>
          <p:spPr bwMode="auto">
            <a:xfrm>
              <a:off x="9748192" y="4387850"/>
              <a:ext cx="463550" cy="3175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en-US" sz="1400"/>
                <a:t>MS</a:t>
              </a:r>
            </a:p>
          </p:txBody>
        </p:sp>
        <p:cxnSp>
          <p:nvCxnSpPr>
            <p:cNvPr id="108" name="AutoShape 11"/>
            <p:cNvCxnSpPr>
              <a:cxnSpLocks noChangeShapeType="1"/>
              <a:endCxn id="103" idx="1"/>
            </p:cNvCxnSpPr>
            <p:nvPr/>
          </p:nvCxnSpPr>
          <p:spPr bwMode="auto">
            <a:xfrm>
              <a:off x="9513242" y="3551238"/>
              <a:ext cx="234950" cy="4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9" name="AutoShape 12"/>
            <p:cNvCxnSpPr>
              <a:cxnSpLocks noChangeShapeType="1"/>
              <a:stCxn id="106" idx="2"/>
              <a:endCxn id="105" idx="0"/>
            </p:cNvCxnSpPr>
            <p:nvPr/>
          </p:nvCxnSpPr>
          <p:spPr bwMode="auto">
            <a:xfrm>
              <a:off x="11119792" y="3714750"/>
              <a:ext cx="0" cy="673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0" name="AutoShape 13"/>
            <p:cNvCxnSpPr>
              <a:cxnSpLocks noChangeShapeType="1"/>
              <a:stCxn id="104" idx="2"/>
              <a:endCxn id="106" idx="0"/>
            </p:cNvCxnSpPr>
            <p:nvPr/>
          </p:nvCxnSpPr>
          <p:spPr bwMode="auto">
            <a:xfrm>
              <a:off x="11119792" y="2711450"/>
              <a:ext cx="0" cy="6858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1" name="AutoShape 14"/>
            <p:cNvCxnSpPr>
              <a:cxnSpLocks noChangeShapeType="1"/>
              <a:stCxn id="103" idx="3"/>
              <a:endCxn id="106" idx="1"/>
            </p:cNvCxnSpPr>
            <p:nvPr/>
          </p:nvCxnSpPr>
          <p:spPr bwMode="auto">
            <a:xfrm>
              <a:off x="10433992" y="35560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" name="AutoShape 15"/>
            <p:cNvCxnSpPr>
              <a:cxnSpLocks noChangeShapeType="1"/>
              <a:stCxn id="107" idx="3"/>
              <a:endCxn id="105" idx="1"/>
            </p:cNvCxnSpPr>
            <p:nvPr/>
          </p:nvCxnSpPr>
          <p:spPr bwMode="auto">
            <a:xfrm>
              <a:off x="10211742" y="4546600"/>
              <a:ext cx="6032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" name="Text Box 16"/>
            <p:cNvSpPr txBox="1">
              <a:spLocks noChangeArrowheads="1"/>
            </p:cNvSpPr>
            <p:nvPr/>
          </p:nvSpPr>
          <p:spPr bwMode="auto">
            <a:xfrm>
              <a:off x="10357792" y="4235450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/>
                <a:t>1</a:t>
              </a:r>
              <a:endParaRPr lang="en-US" altLang="en-US" sz="1600"/>
            </a:p>
          </p:txBody>
        </p:sp>
        <p:sp>
          <p:nvSpPr>
            <p:cNvPr id="114" name="Text Box 17"/>
            <p:cNvSpPr txBox="1">
              <a:spLocks noChangeArrowheads="1"/>
            </p:cNvSpPr>
            <p:nvPr/>
          </p:nvSpPr>
          <p:spPr bwMode="auto">
            <a:xfrm>
              <a:off x="10814992" y="3854450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/>
                <a:t>2</a:t>
              </a:r>
            </a:p>
          </p:txBody>
        </p:sp>
        <p:sp>
          <p:nvSpPr>
            <p:cNvPr id="115" name="Text Box 18"/>
            <p:cNvSpPr txBox="1">
              <a:spLocks noChangeArrowheads="1"/>
            </p:cNvSpPr>
            <p:nvPr/>
          </p:nvSpPr>
          <p:spPr bwMode="auto">
            <a:xfrm>
              <a:off x="9443392" y="3168650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/>
                <a:t>6</a:t>
              </a:r>
            </a:p>
          </p:txBody>
        </p:sp>
        <p:sp>
          <p:nvSpPr>
            <p:cNvPr id="116" name="Text Box 19"/>
            <p:cNvSpPr txBox="1">
              <a:spLocks noChangeArrowheads="1"/>
            </p:cNvSpPr>
            <p:nvPr/>
          </p:nvSpPr>
          <p:spPr bwMode="auto">
            <a:xfrm>
              <a:off x="10433992" y="3168650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/>
                <a:t>5</a:t>
              </a:r>
            </a:p>
          </p:txBody>
        </p:sp>
        <p:sp>
          <p:nvSpPr>
            <p:cNvPr id="117" name="Text Box 20"/>
            <p:cNvSpPr txBox="1">
              <a:spLocks noChangeArrowheads="1"/>
            </p:cNvSpPr>
            <p:nvPr/>
          </p:nvSpPr>
          <p:spPr bwMode="auto">
            <a:xfrm>
              <a:off x="10814992" y="2863850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/>
                <a:t>3</a:t>
              </a:r>
            </a:p>
          </p:txBody>
        </p:sp>
        <p:sp>
          <p:nvSpPr>
            <p:cNvPr id="118" name="Text Box 21"/>
            <p:cNvSpPr txBox="1">
              <a:spLocks noChangeArrowheads="1"/>
            </p:cNvSpPr>
            <p:nvPr/>
          </p:nvSpPr>
          <p:spPr bwMode="auto">
            <a:xfrm>
              <a:off x="11119792" y="2863850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/>
                <a:t>4</a:t>
              </a:r>
            </a:p>
          </p:txBody>
        </p:sp>
        <p:sp>
          <p:nvSpPr>
            <p:cNvPr id="119" name="Text Box 22"/>
            <p:cNvSpPr txBox="1">
              <a:spLocks noChangeArrowheads="1"/>
            </p:cNvSpPr>
            <p:nvPr/>
          </p:nvSpPr>
          <p:spPr bwMode="auto">
            <a:xfrm>
              <a:off x="11119792" y="3854450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/>
                <a:t>9</a:t>
              </a:r>
            </a:p>
          </p:txBody>
        </p:sp>
        <p:sp>
          <p:nvSpPr>
            <p:cNvPr id="120" name="Text Box 23"/>
            <p:cNvSpPr txBox="1">
              <a:spLocks noChangeArrowheads="1"/>
            </p:cNvSpPr>
            <p:nvPr/>
          </p:nvSpPr>
          <p:spPr bwMode="auto">
            <a:xfrm>
              <a:off x="10281592" y="4540250"/>
              <a:ext cx="4095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/>
                <a:t>10</a:t>
              </a:r>
            </a:p>
          </p:txBody>
        </p:sp>
        <p:sp>
          <p:nvSpPr>
            <p:cNvPr id="121" name="Text Box 24"/>
            <p:cNvSpPr txBox="1">
              <a:spLocks noChangeArrowheads="1"/>
            </p:cNvSpPr>
            <p:nvPr/>
          </p:nvSpPr>
          <p:spPr bwMode="auto">
            <a:xfrm>
              <a:off x="9443392" y="3625850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/>
                <a:t>7</a:t>
              </a:r>
            </a:p>
          </p:txBody>
        </p:sp>
        <p:sp>
          <p:nvSpPr>
            <p:cNvPr id="122" name="Text Box 25"/>
            <p:cNvSpPr txBox="1">
              <a:spLocks noChangeArrowheads="1"/>
            </p:cNvSpPr>
            <p:nvPr/>
          </p:nvSpPr>
          <p:spPr bwMode="auto">
            <a:xfrm>
              <a:off x="10433992" y="3625850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/>
                <a:t>8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924189" y="837059"/>
            <a:ext cx="4124139" cy="2735957"/>
            <a:chOff x="4167647" y="837059"/>
            <a:chExt cx="4124139" cy="2735957"/>
          </a:xfrm>
        </p:grpSpPr>
        <p:sp>
          <p:nvSpPr>
            <p:cNvPr id="123" name="Rectangle 26"/>
            <p:cNvSpPr txBox="1">
              <a:spLocks noChangeArrowheads="1"/>
            </p:cNvSpPr>
            <p:nvPr/>
          </p:nvSpPr>
          <p:spPr bwMode="auto">
            <a:xfrm>
              <a:off x="4221436" y="1229866"/>
              <a:ext cx="4070350" cy="2343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r>
                <a:rPr lang="en-US" kern="0" dirty="0">
                  <a:latin typeface="+mn-lt"/>
                </a:rPr>
                <a:t>1, 2: Connection request</a:t>
              </a:r>
            </a:p>
            <a:p>
              <a:pPr marL="342900" indent="-3429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r>
                <a:rPr lang="en-US" kern="0" dirty="0">
                  <a:latin typeface="+mn-lt"/>
                </a:rPr>
                <a:t>3, 4: Security check</a:t>
              </a:r>
            </a:p>
            <a:p>
              <a:pPr marL="342900" indent="-3429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r>
                <a:rPr lang="en-US" kern="0" dirty="0">
                  <a:latin typeface="+mn-lt"/>
                </a:rPr>
                <a:t>5-8: Check resources (free circuit)</a:t>
              </a:r>
            </a:p>
            <a:p>
              <a:pPr marL="342900" indent="-3429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  <a:defRPr/>
              </a:pPr>
              <a:r>
                <a:rPr lang="en-US" kern="0" dirty="0">
                  <a:latin typeface="+mn-lt"/>
                </a:rPr>
                <a:t>9-10: Set up call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167647" y="837059"/>
              <a:ext cx="2386744" cy="33575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Mobile </a:t>
              </a:r>
              <a:r>
                <a:rPr lang="en-US" altLang="en-US" b="1" dirty="0" smtClean="0">
                  <a:solidFill>
                    <a:srgbClr val="FF0000"/>
                  </a:solidFill>
                </a:rPr>
                <a:t>Originated Call</a:t>
              </a:r>
              <a:endParaRPr lang="en-IN" b="1" dirty="0"/>
            </a:p>
          </p:txBody>
        </p:sp>
      </p:grpSp>
      <p:pic>
        <p:nvPicPr>
          <p:cNvPr id="124" name="Picture 1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50" y="3068960"/>
            <a:ext cx="3489890" cy="351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919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GSM Authentication</a:t>
            </a:r>
            <a:endParaRPr lang="en-US" dirty="0"/>
          </a:p>
        </p:txBody>
      </p:sp>
      <p:grpSp>
        <p:nvGrpSpPr>
          <p:cNvPr id="124" name="Group 3"/>
          <p:cNvGrpSpPr>
            <a:grpSpLocks/>
          </p:cNvGrpSpPr>
          <p:nvPr/>
        </p:nvGrpSpPr>
        <p:grpSpPr bwMode="auto">
          <a:xfrm>
            <a:off x="6403975" y="1195611"/>
            <a:ext cx="404813" cy="487362"/>
            <a:chOff x="3898" y="691"/>
            <a:chExt cx="255" cy="307"/>
          </a:xfrm>
        </p:grpSpPr>
        <p:sp>
          <p:nvSpPr>
            <p:cNvPr id="125" name="Freeform 4"/>
            <p:cNvSpPr>
              <a:spLocks/>
            </p:cNvSpPr>
            <p:nvPr/>
          </p:nvSpPr>
          <p:spPr bwMode="auto">
            <a:xfrm>
              <a:off x="3898" y="691"/>
              <a:ext cx="255" cy="307"/>
            </a:xfrm>
            <a:custGeom>
              <a:avLst/>
              <a:gdLst>
                <a:gd name="T0" fmla="*/ 0 w 2039"/>
                <a:gd name="T1" fmla="*/ 0 h 2458"/>
                <a:gd name="T2" fmla="*/ 0 w 2039"/>
                <a:gd name="T3" fmla="*/ 0 h 2458"/>
                <a:gd name="T4" fmla="*/ 0 w 2039"/>
                <a:gd name="T5" fmla="*/ 0 h 2458"/>
                <a:gd name="T6" fmla="*/ 0 w 2039"/>
                <a:gd name="T7" fmla="*/ 0 h 2458"/>
                <a:gd name="T8" fmla="*/ 0 w 2039"/>
                <a:gd name="T9" fmla="*/ 0 h 2458"/>
                <a:gd name="T10" fmla="*/ 0 w 2039"/>
                <a:gd name="T11" fmla="*/ 0 h 2458"/>
                <a:gd name="T12" fmla="*/ 0 w 2039"/>
                <a:gd name="T13" fmla="*/ 0 h 2458"/>
                <a:gd name="T14" fmla="*/ 0 w 2039"/>
                <a:gd name="T15" fmla="*/ 0 h 2458"/>
                <a:gd name="T16" fmla="*/ 0 w 2039"/>
                <a:gd name="T17" fmla="*/ 0 h 2458"/>
                <a:gd name="T18" fmla="*/ 0 w 2039"/>
                <a:gd name="T19" fmla="*/ 0 h 2458"/>
                <a:gd name="T20" fmla="*/ 0 w 2039"/>
                <a:gd name="T21" fmla="*/ 0 h 2458"/>
                <a:gd name="T22" fmla="*/ 0 w 2039"/>
                <a:gd name="T23" fmla="*/ 0 h 2458"/>
                <a:gd name="T24" fmla="*/ 0 w 2039"/>
                <a:gd name="T25" fmla="*/ 0 h 2458"/>
                <a:gd name="T26" fmla="*/ 0 w 2039"/>
                <a:gd name="T27" fmla="*/ 0 h 2458"/>
                <a:gd name="T28" fmla="*/ 0 w 2039"/>
                <a:gd name="T29" fmla="*/ 0 h 2458"/>
                <a:gd name="T30" fmla="*/ 0 w 2039"/>
                <a:gd name="T31" fmla="*/ 0 h 2458"/>
                <a:gd name="T32" fmla="*/ 0 w 2039"/>
                <a:gd name="T33" fmla="*/ 0 h 2458"/>
                <a:gd name="T34" fmla="*/ 0 w 2039"/>
                <a:gd name="T35" fmla="*/ 0 h 2458"/>
                <a:gd name="T36" fmla="*/ 0 w 2039"/>
                <a:gd name="T37" fmla="*/ 0 h 2458"/>
                <a:gd name="T38" fmla="*/ 0 w 2039"/>
                <a:gd name="T39" fmla="*/ 0 h 2458"/>
                <a:gd name="T40" fmla="*/ 0 w 2039"/>
                <a:gd name="T41" fmla="*/ 0 h 2458"/>
                <a:gd name="T42" fmla="*/ 0 w 2039"/>
                <a:gd name="T43" fmla="*/ 0 h 2458"/>
                <a:gd name="T44" fmla="*/ 0 w 2039"/>
                <a:gd name="T45" fmla="*/ 0 h 2458"/>
                <a:gd name="T46" fmla="*/ 0 w 2039"/>
                <a:gd name="T47" fmla="*/ 0 h 2458"/>
                <a:gd name="T48" fmla="*/ 0 w 2039"/>
                <a:gd name="T49" fmla="*/ 0 h 2458"/>
                <a:gd name="T50" fmla="*/ 0 w 2039"/>
                <a:gd name="T51" fmla="*/ 0 h 2458"/>
                <a:gd name="T52" fmla="*/ 0 w 2039"/>
                <a:gd name="T53" fmla="*/ 0 h 2458"/>
                <a:gd name="T54" fmla="*/ 0 w 2039"/>
                <a:gd name="T55" fmla="*/ 0 h 2458"/>
                <a:gd name="T56" fmla="*/ 0 w 2039"/>
                <a:gd name="T57" fmla="*/ 0 h 2458"/>
                <a:gd name="T58" fmla="*/ 0 w 2039"/>
                <a:gd name="T59" fmla="*/ 0 h 2458"/>
                <a:gd name="T60" fmla="*/ 0 w 2039"/>
                <a:gd name="T61" fmla="*/ 0 h 2458"/>
                <a:gd name="T62" fmla="*/ 0 w 2039"/>
                <a:gd name="T63" fmla="*/ 0 h 2458"/>
                <a:gd name="T64" fmla="*/ 0 w 2039"/>
                <a:gd name="T65" fmla="*/ 0 h 2458"/>
                <a:gd name="T66" fmla="*/ 0 w 2039"/>
                <a:gd name="T67" fmla="*/ 0 h 2458"/>
                <a:gd name="T68" fmla="*/ 0 w 2039"/>
                <a:gd name="T69" fmla="*/ 0 h 2458"/>
                <a:gd name="T70" fmla="*/ 0 w 2039"/>
                <a:gd name="T71" fmla="*/ 0 h 2458"/>
                <a:gd name="T72" fmla="*/ 0 w 2039"/>
                <a:gd name="T73" fmla="*/ 0 h 2458"/>
                <a:gd name="T74" fmla="*/ 0 w 2039"/>
                <a:gd name="T75" fmla="*/ 0 h 2458"/>
                <a:gd name="T76" fmla="*/ 0 w 2039"/>
                <a:gd name="T77" fmla="*/ 0 h 2458"/>
                <a:gd name="T78" fmla="*/ 0 w 2039"/>
                <a:gd name="T79" fmla="*/ 0 h 2458"/>
                <a:gd name="T80" fmla="*/ 0 w 2039"/>
                <a:gd name="T81" fmla="*/ 0 h 2458"/>
                <a:gd name="T82" fmla="*/ 0 w 2039"/>
                <a:gd name="T83" fmla="*/ 0 h 2458"/>
                <a:gd name="T84" fmla="*/ 0 w 2039"/>
                <a:gd name="T85" fmla="*/ 0 h 2458"/>
                <a:gd name="T86" fmla="*/ 0 w 2039"/>
                <a:gd name="T87" fmla="*/ 0 h 2458"/>
                <a:gd name="T88" fmla="*/ 0 w 2039"/>
                <a:gd name="T89" fmla="*/ 0 h 2458"/>
                <a:gd name="T90" fmla="*/ 0 w 2039"/>
                <a:gd name="T91" fmla="*/ 0 h 2458"/>
                <a:gd name="T92" fmla="*/ 0 w 2039"/>
                <a:gd name="T93" fmla="*/ 0 h 2458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2039"/>
                <a:gd name="T142" fmla="*/ 0 h 2458"/>
                <a:gd name="T143" fmla="*/ 2039 w 2039"/>
                <a:gd name="T144" fmla="*/ 2458 h 2458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2039" h="2458">
                  <a:moveTo>
                    <a:pt x="616" y="2458"/>
                  </a:moveTo>
                  <a:lnTo>
                    <a:pt x="616" y="2392"/>
                  </a:lnTo>
                  <a:lnTo>
                    <a:pt x="597" y="2261"/>
                  </a:lnTo>
                  <a:lnTo>
                    <a:pt x="558" y="2130"/>
                  </a:lnTo>
                  <a:lnTo>
                    <a:pt x="520" y="2021"/>
                  </a:lnTo>
                  <a:lnTo>
                    <a:pt x="510" y="1999"/>
                  </a:lnTo>
                  <a:lnTo>
                    <a:pt x="482" y="1956"/>
                  </a:lnTo>
                  <a:lnTo>
                    <a:pt x="434" y="1899"/>
                  </a:lnTo>
                  <a:lnTo>
                    <a:pt x="368" y="1824"/>
                  </a:lnTo>
                  <a:lnTo>
                    <a:pt x="320" y="1759"/>
                  </a:lnTo>
                  <a:lnTo>
                    <a:pt x="281" y="1704"/>
                  </a:lnTo>
                  <a:lnTo>
                    <a:pt x="234" y="1649"/>
                  </a:lnTo>
                  <a:lnTo>
                    <a:pt x="206" y="1583"/>
                  </a:lnTo>
                  <a:lnTo>
                    <a:pt x="167" y="1517"/>
                  </a:lnTo>
                  <a:lnTo>
                    <a:pt x="158" y="1496"/>
                  </a:lnTo>
                  <a:lnTo>
                    <a:pt x="130" y="1431"/>
                  </a:lnTo>
                  <a:lnTo>
                    <a:pt x="120" y="1387"/>
                  </a:lnTo>
                  <a:lnTo>
                    <a:pt x="110" y="1343"/>
                  </a:lnTo>
                  <a:lnTo>
                    <a:pt x="91" y="1278"/>
                  </a:lnTo>
                  <a:lnTo>
                    <a:pt x="72" y="1235"/>
                  </a:lnTo>
                  <a:lnTo>
                    <a:pt x="43" y="1168"/>
                  </a:lnTo>
                  <a:lnTo>
                    <a:pt x="23" y="1103"/>
                  </a:lnTo>
                  <a:lnTo>
                    <a:pt x="17" y="1063"/>
                  </a:lnTo>
                  <a:lnTo>
                    <a:pt x="4" y="972"/>
                  </a:lnTo>
                  <a:lnTo>
                    <a:pt x="1" y="907"/>
                  </a:lnTo>
                  <a:lnTo>
                    <a:pt x="0" y="824"/>
                  </a:lnTo>
                  <a:lnTo>
                    <a:pt x="14" y="753"/>
                  </a:lnTo>
                  <a:lnTo>
                    <a:pt x="33" y="721"/>
                  </a:lnTo>
                  <a:lnTo>
                    <a:pt x="52" y="704"/>
                  </a:lnTo>
                  <a:lnTo>
                    <a:pt x="70" y="695"/>
                  </a:lnTo>
                  <a:lnTo>
                    <a:pt x="91" y="688"/>
                  </a:lnTo>
                  <a:lnTo>
                    <a:pt x="110" y="688"/>
                  </a:lnTo>
                  <a:lnTo>
                    <a:pt x="110" y="638"/>
                  </a:lnTo>
                  <a:lnTo>
                    <a:pt x="104" y="615"/>
                  </a:lnTo>
                  <a:lnTo>
                    <a:pt x="101" y="577"/>
                  </a:lnTo>
                  <a:lnTo>
                    <a:pt x="108" y="556"/>
                  </a:lnTo>
                  <a:lnTo>
                    <a:pt x="110" y="536"/>
                  </a:lnTo>
                  <a:lnTo>
                    <a:pt x="124" y="496"/>
                  </a:lnTo>
                  <a:lnTo>
                    <a:pt x="138" y="469"/>
                  </a:lnTo>
                  <a:lnTo>
                    <a:pt x="161" y="436"/>
                  </a:lnTo>
                  <a:lnTo>
                    <a:pt x="190" y="404"/>
                  </a:lnTo>
                  <a:lnTo>
                    <a:pt x="224" y="375"/>
                  </a:lnTo>
                  <a:lnTo>
                    <a:pt x="252" y="350"/>
                  </a:lnTo>
                  <a:lnTo>
                    <a:pt x="288" y="339"/>
                  </a:lnTo>
                  <a:lnTo>
                    <a:pt x="322" y="333"/>
                  </a:lnTo>
                  <a:lnTo>
                    <a:pt x="355" y="339"/>
                  </a:lnTo>
                  <a:lnTo>
                    <a:pt x="386" y="350"/>
                  </a:lnTo>
                  <a:lnTo>
                    <a:pt x="424" y="360"/>
                  </a:lnTo>
                  <a:lnTo>
                    <a:pt x="434" y="339"/>
                  </a:lnTo>
                  <a:lnTo>
                    <a:pt x="441" y="279"/>
                  </a:lnTo>
                  <a:lnTo>
                    <a:pt x="453" y="229"/>
                  </a:lnTo>
                  <a:lnTo>
                    <a:pt x="476" y="191"/>
                  </a:lnTo>
                  <a:lnTo>
                    <a:pt x="503" y="167"/>
                  </a:lnTo>
                  <a:lnTo>
                    <a:pt x="539" y="154"/>
                  </a:lnTo>
                  <a:lnTo>
                    <a:pt x="578" y="142"/>
                  </a:lnTo>
                  <a:lnTo>
                    <a:pt x="636" y="130"/>
                  </a:lnTo>
                  <a:lnTo>
                    <a:pt x="672" y="130"/>
                  </a:lnTo>
                  <a:lnTo>
                    <a:pt x="682" y="108"/>
                  </a:lnTo>
                  <a:lnTo>
                    <a:pt x="701" y="65"/>
                  </a:lnTo>
                  <a:lnTo>
                    <a:pt x="730" y="32"/>
                  </a:lnTo>
                  <a:lnTo>
                    <a:pt x="769" y="11"/>
                  </a:lnTo>
                  <a:lnTo>
                    <a:pt x="826" y="0"/>
                  </a:lnTo>
                  <a:lnTo>
                    <a:pt x="883" y="0"/>
                  </a:lnTo>
                  <a:lnTo>
                    <a:pt x="958" y="4"/>
                  </a:lnTo>
                  <a:lnTo>
                    <a:pt x="999" y="6"/>
                  </a:lnTo>
                  <a:lnTo>
                    <a:pt x="1027" y="11"/>
                  </a:lnTo>
                  <a:lnTo>
                    <a:pt x="1052" y="17"/>
                  </a:lnTo>
                  <a:lnTo>
                    <a:pt x="1073" y="36"/>
                  </a:lnTo>
                  <a:lnTo>
                    <a:pt x="1086" y="60"/>
                  </a:lnTo>
                  <a:lnTo>
                    <a:pt x="1096" y="89"/>
                  </a:lnTo>
                  <a:lnTo>
                    <a:pt x="1102" y="142"/>
                  </a:lnTo>
                  <a:lnTo>
                    <a:pt x="1097" y="187"/>
                  </a:lnTo>
                  <a:lnTo>
                    <a:pt x="1081" y="227"/>
                  </a:lnTo>
                  <a:lnTo>
                    <a:pt x="1061" y="249"/>
                  </a:lnTo>
                  <a:lnTo>
                    <a:pt x="1035" y="262"/>
                  </a:lnTo>
                  <a:lnTo>
                    <a:pt x="1005" y="270"/>
                  </a:lnTo>
                  <a:lnTo>
                    <a:pt x="953" y="269"/>
                  </a:lnTo>
                  <a:lnTo>
                    <a:pt x="970" y="292"/>
                  </a:lnTo>
                  <a:lnTo>
                    <a:pt x="993" y="336"/>
                  </a:lnTo>
                  <a:lnTo>
                    <a:pt x="1012" y="371"/>
                  </a:lnTo>
                  <a:lnTo>
                    <a:pt x="1028" y="415"/>
                  </a:lnTo>
                  <a:lnTo>
                    <a:pt x="1038" y="452"/>
                  </a:lnTo>
                  <a:lnTo>
                    <a:pt x="1033" y="475"/>
                  </a:lnTo>
                  <a:lnTo>
                    <a:pt x="1012" y="502"/>
                  </a:lnTo>
                  <a:lnTo>
                    <a:pt x="1035" y="547"/>
                  </a:lnTo>
                  <a:lnTo>
                    <a:pt x="1063" y="590"/>
                  </a:lnTo>
                  <a:lnTo>
                    <a:pt x="1095" y="643"/>
                  </a:lnTo>
                  <a:lnTo>
                    <a:pt x="1145" y="693"/>
                  </a:lnTo>
                  <a:lnTo>
                    <a:pt x="1221" y="768"/>
                  </a:lnTo>
                  <a:lnTo>
                    <a:pt x="1292" y="855"/>
                  </a:lnTo>
                  <a:lnTo>
                    <a:pt x="1360" y="967"/>
                  </a:lnTo>
                  <a:lnTo>
                    <a:pt x="1417" y="1070"/>
                  </a:lnTo>
                  <a:lnTo>
                    <a:pt x="1465" y="1157"/>
                  </a:lnTo>
                  <a:lnTo>
                    <a:pt x="1479" y="1189"/>
                  </a:lnTo>
                  <a:lnTo>
                    <a:pt x="1483" y="1246"/>
                  </a:lnTo>
                  <a:lnTo>
                    <a:pt x="1498" y="1289"/>
                  </a:lnTo>
                  <a:lnTo>
                    <a:pt x="1522" y="1251"/>
                  </a:lnTo>
                  <a:lnTo>
                    <a:pt x="1567" y="1193"/>
                  </a:lnTo>
                  <a:lnTo>
                    <a:pt x="1627" y="1103"/>
                  </a:lnTo>
                  <a:lnTo>
                    <a:pt x="1666" y="1049"/>
                  </a:lnTo>
                  <a:lnTo>
                    <a:pt x="1683" y="1016"/>
                  </a:lnTo>
                  <a:lnTo>
                    <a:pt x="1703" y="961"/>
                  </a:lnTo>
                  <a:lnTo>
                    <a:pt x="1721" y="925"/>
                  </a:lnTo>
                  <a:lnTo>
                    <a:pt x="1736" y="896"/>
                  </a:lnTo>
                  <a:lnTo>
                    <a:pt x="1757" y="866"/>
                  </a:lnTo>
                  <a:lnTo>
                    <a:pt x="1780" y="840"/>
                  </a:lnTo>
                  <a:lnTo>
                    <a:pt x="1822" y="797"/>
                  </a:lnTo>
                  <a:lnTo>
                    <a:pt x="1867" y="763"/>
                  </a:lnTo>
                  <a:lnTo>
                    <a:pt x="1912" y="742"/>
                  </a:lnTo>
                  <a:lnTo>
                    <a:pt x="1951" y="742"/>
                  </a:lnTo>
                  <a:lnTo>
                    <a:pt x="1987" y="745"/>
                  </a:lnTo>
                  <a:lnTo>
                    <a:pt x="2018" y="764"/>
                  </a:lnTo>
                  <a:lnTo>
                    <a:pt x="2039" y="805"/>
                  </a:lnTo>
                  <a:lnTo>
                    <a:pt x="2038" y="852"/>
                  </a:lnTo>
                  <a:lnTo>
                    <a:pt x="2038" y="873"/>
                  </a:lnTo>
                  <a:lnTo>
                    <a:pt x="2028" y="918"/>
                  </a:lnTo>
                  <a:lnTo>
                    <a:pt x="2009" y="939"/>
                  </a:lnTo>
                  <a:lnTo>
                    <a:pt x="1999" y="983"/>
                  </a:lnTo>
                  <a:lnTo>
                    <a:pt x="1980" y="1049"/>
                  </a:lnTo>
                  <a:lnTo>
                    <a:pt x="1980" y="1114"/>
                  </a:lnTo>
                  <a:lnTo>
                    <a:pt x="1970" y="1179"/>
                  </a:lnTo>
                  <a:lnTo>
                    <a:pt x="1967" y="1214"/>
                  </a:lnTo>
                  <a:lnTo>
                    <a:pt x="1958" y="1248"/>
                  </a:lnTo>
                  <a:lnTo>
                    <a:pt x="1938" y="1287"/>
                  </a:lnTo>
                  <a:lnTo>
                    <a:pt x="1912" y="1321"/>
                  </a:lnTo>
                  <a:lnTo>
                    <a:pt x="1895" y="1387"/>
                  </a:lnTo>
                  <a:lnTo>
                    <a:pt x="1866" y="1452"/>
                  </a:lnTo>
                  <a:lnTo>
                    <a:pt x="1780" y="1606"/>
                  </a:lnTo>
                  <a:lnTo>
                    <a:pt x="1703" y="1714"/>
                  </a:lnTo>
                  <a:lnTo>
                    <a:pt x="1647" y="1791"/>
                  </a:lnTo>
                  <a:lnTo>
                    <a:pt x="1637" y="1834"/>
                  </a:lnTo>
                  <a:lnTo>
                    <a:pt x="1627" y="1878"/>
                  </a:lnTo>
                  <a:lnTo>
                    <a:pt x="1609" y="1927"/>
                  </a:lnTo>
                  <a:lnTo>
                    <a:pt x="1596" y="1988"/>
                  </a:lnTo>
                  <a:lnTo>
                    <a:pt x="1569" y="2053"/>
                  </a:lnTo>
                  <a:lnTo>
                    <a:pt x="1522" y="2141"/>
                  </a:lnTo>
                  <a:lnTo>
                    <a:pt x="1475" y="2206"/>
                  </a:lnTo>
                  <a:lnTo>
                    <a:pt x="1446" y="2249"/>
                  </a:lnTo>
                  <a:lnTo>
                    <a:pt x="1426" y="2316"/>
                  </a:lnTo>
                  <a:lnTo>
                    <a:pt x="1407" y="2359"/>
                  </a:lnTo>
                  <a:lnTo>
                    <a:pt x="1376" y="2458"/>
                  </a:lnTo>
                  <a:lnTo>
                    <a:pt x="616" y="2458"/>
                  </a:lnTo>
                  <a:close/>
                </a:path>
              </a:pathLst>
            </a:custGeom>
            <a:solidFill>
              <a:srgbClr val="FFC0C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26" name="Group 5"/>
            <p:cNvGrpSpPr>
              <a:grpSpLocks/>
            </p:cNvGrpSpPr>
            <p:nvPr/>
          </p:nvGrpSpPr>
          <p:grpSpPr bwMode="auto">
            <a:xfrm>
              <a:off x="3916" y="775"/>
              <a:ext cx="214" cy="70"/>
              <a:chOff x="3916" y="775"/>
              <a:chExt cx="214" cy="70"/>
            </a:xfrm>
          </p:grpSpPr>
          <p:sp>
            <p:nvSpPr>
              <p:cNvPr id="131" name="Freeform 6"/>
              <p:cNvSpPr>
                <a:spLocks/>
              </p:cNvSpPr>
              <p:nvPr/>
            </p:nvSpPr>
            <p:spPr bwMode="auto">
              <a:xfrm>
                <a:off x="4106" y="833"/>
                <a:ext cx="24" cy="12"/>
              </a:xfrm>
              <a:custGeom>
                <a:avLst/>
                <a:gdLst>
                  <a:gd name="T0" fmla="*/ 0 w 190"/>
                  <a:gd name="T1" fmla="*/ 0 h 100"/>
                  <a:gd name="T2" fmla="*/ 0 w 190"/>
                  <a:gd name="T3" fmla="*/ 0 h 100"/>
                  <a:gd name="T4" fmla="*/ 0 w 190"/>
                  <a:gd name="T5" fmla="*/ 0 h 100"/>
                  <a:gd name="T6" fmla="*/ 0 w 190"/>
                  <a:gd name="T7" fmla="*/ 0 h 100"/>
                  <a:gd name="T8" fmla="*/ 0 w 190"/>
                  <a:gd name="T9" fmla="*/ 0 h 100"/>
                  <a:gd name="T10" fmla="*/ 0 w 190"/>
                  <a:gd name="T11" fmla="*/ 0 h 100"/>
                  <a:gd name="T12" fmla="*/ 0 w 190"/>
                  <a:gd name="T13" fmla="*/ 0 h 1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0"/>
                  <a:gd name="T22" fmla="*/ 0 h 100"/>
                  <a:gd name="T23" fmla="*/ 190 w 190"/>
                  <a:gd name="T24" fmla="*/ 100 h 1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0" h="100">
                    <a:moveTo>
                      <a:pt x="0" y="0"/>
                    </a:moveTo>
                    <a:lnTo>
                      <a:pt x="38" y="22"/>
                    </a:lnTo>
                    <a:lnTo>
                      <a:pt x="67" y="54"/>
                    </a:lnTo>
                    <a:lnTo>
                      <a:pt x="104" y="89"/>
                    </a:lnTo>
                    <a:lnTo>
                      <a:pt x="132" y="100"/>
                    </a:lnTo>
                    <a:lnTo>
                      <a:pt x="142" y="100"/>
                    </a:lnTo>
                    <a:lnTo>
                      <a:pt x="190" y="8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2" name="Freeform 7"/>
              <p:cNvSpPr>
                <a:spLocks/>
              </p:cNvSpPr>
              <p:nvPr/>
            </p:nvSpPr>
            <p:spPr bwMode="auto">
              <a:xfrm>
                <a:off x="3916" y="816"/>
                <a:ext cx="11" cy="7"/>
              </a:xfrm>
              <a:custGeom>
                <a:avLst/>
                <a:gdLst>
                  <a:gd name="T0" fmla="*/ 0 w 91"/>
                  <a:gd name="T1" fmla="*/ 0 h 51"/>
                  <a:gd name="T2" fmla="*/ 0 w 91"/>
                  <a:gd name="T3" fmla="*/ 0 h 51"/>
                  <a:gd name="T4" fmla="*/ 0 w 91"/>
                  <a:gd name="T5" fmla="*/ 0 h 51"/>
                  <a:gd name="T6" fmla="*/ 0 w 91"/>
                  <a:gd name="T7" fmla="*/ 0 h 51"/>
                  <a:gd name="T8" fmla="*/ 0 w 91"/>
                  <a:gd name="T9" fmla="*/ 0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"/>
                  <a:gd name="T16" fmla="*/ 0 h 51"/>
                  <a:gd name="T17" fmla="*/ 91 w 91"/>
                  <a:gd name="T18" fmla="*/ 51 h 5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" h="51">
                    <a:moveTo>
                      <a:pt x="91" y="0"/>
                    </a:moveTo>
                    <a:lnTo>
                      <a:pt x="57" y="34"/>
                    </a:lnTo>
                    <a:lnTo>
                      <a:pt x="30" y="44"/>
                    </a:lnTo>
                    <a:lnTo>
                      <a:pt x="10" y="51"/>
                    </a:lnTo>
                    <a:lnTo>
                      <a:pt x="0" y="5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3" name="Freeform 8"/>
              <p:cNvSpPr>
                <a:spLocks/>
              </p:cNvSpPr>
              <p:nvPr/>
            </p:nvSpPr>
            <p:spPr bwMode="auto">
              <a:xfrm>
                <a:off x="3953" y="778"/>
                <a:ext cx="2" cy="6"/>
              </a:xfrm>
              <a:custGeom>
                <a:avLst/>
                <a:gdLst>
                  <a:gd name="T0" fmla="*/ 0 w 19"/>
                  <a:gd name="T1" fmla="*/ 0 h 45"/>
                  <a:gd name="T2" fmla="*/ 0 w 19"/>
                  <a:gd name="T3" fmla="*/ 0 h 45"/>
                  <a:gd name="T4" fmla="*/ 0 w 19"/>
                  <a:gd name="T5" fmla="*/ 0 h 45"/>
                  <a:gd name="T6" fmla="*/ 0 w 19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45"/>
                  <a:gd name="T14" fmla="*/ 19 w 19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45">
                    <a:moveTo>
                      <a:pt x="0" y="0"/>
                    </a:moveTo>
                    <a:lnTo>
                      <a:pt x="19" y="19"/>
                    </a:lnTo>
                    <a:lnTo>
                      <a:pt x="17" y="30"/>
                    </a:lnTo>
                    <a:lnTo>
                      <a:pt x="19" y="45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4" name="Freeform 9"/>
              <p:cNvSpPr>
                <a:spLocks/>
              </p:cNvSpPr>
              <p:nvPr/>
            </p:nvSpPr>
            <p:spPr bwMode="auto">
              <a:xfrm>
                <a:off x="3943" y="775"/>
                <a:ext cx="23" cy="3"/>
              </a:xfrm>
              <a:custGeom>
                <a:avLst/>
                <a:gdLst>
                  <a:gd name="T0" fmla="*/ 0 w 185"/>
                  <a:gd name="T1" fmla="*/ 0 h 24"/>
                  <a:gd name="T2" fmla="*/ 0 w 185"/>
                  <a:gd name="T3" fmla="*/ 0 h 24"/>
                  <a:gd name="T4" fmla="*/ 0 w 185"/>
                  <a:gd name="T5" fmla="*/ 0 h 24"/>
                  <a:gd name="T6" fmla="*/ 0 w 185"/>
                  <a:gd name="T7" fmla="*/ 0 h 24"/>
                  <a:gd name="T8" fmla="*/ 0 w 185"/>
                  <a:gd name="T9" fmla="*/ 0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24"/>
                  <a:gd name="T17" fmla="*/ 185 w 185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24">
                    <a:moveTo>
                      <a:pt x="185" y="13"/>
                    </a:moveTo>
                    <a:lnTo>
                      <a:pt x="156" y="24"/>
                    </a:lnTo>
                    <a:lnTo>
                      <a:pt x="41" y="24"/>
                    </a:lnTo>
                    <a:lnTo>
                      <a:pt x="19" y="12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27" name="Group 10"/>
            <p:cNvGrpSpPr>
              <a:grpSpLocks/>
            </p:cNvGrpSpPr>
            <p:nvPr/>
          </p:nvGrpSpPr>
          <p:grpSpPr bwMode="auto">
            <a:xfrm>
              <a:off x="3939" y="761"/>
              <a:ext cx="147" cy="142"/>
              <a:chOff x="3939" y="761"/>
              <a:chExt cx="147" cy="142"/>
            </a:xfrm>
          </p:grpSpPr>
          <p:sp>
            <p:nvSpPr>
              <p:cNvPr id="128" name="Freeform 11"/>
              <p:cNvSpPr>
                <a:spLocks/>
              </p:cNvSpPr>
              <p:nvPr/>
            </p:nvSpPr>
            <p:spPr bwMode="auto">
              <a:xfrm>
                <a:off x="3949" y="787"/>
                <a:ext cx="137" cy="116"/>
              </a:xfrm>
              <a:custGeom>
                <a:avLst/>
                <a:gdLst>
                  <a:gd name="T0" fmla="*/ 0 w 1096"/>
                  <a:gd name="T1" fmla="*/ 0 h 929"/>
                  <a:gd name="T2" fmla="*/ 0 w 1096"/>
                  <a:gd name="T3" fmla="*/ 0 h 929"/>
                  <a:gd name="T4" fmla="*/ 0 w 1096"/>
                  <a:gd name="T5" fmla="*/ 0 h 929"/>
                  <a:gd name="T6" fmla="*/ 0 w 1096"/>
                  <a:gd name="T7" fmla="*/ 0 h 929"/>
                  <a:gd name="T8" fmla="*/ 0 w 1096"/>
                  <a:gd name="T9" fmla="*/ 0 h 929"/>
                  <a:gd name="T10" fmla="*/ 0 w 1096"/>
                  <a:gd name="T11" fmla="*/ 0 h 929"/>
                  <a:gd name="T12" fmla="*/ 0 w 1096"/>
                  <a:gd name="T13" fmla="*/ 0 h 929"/>
                  <a:gd name="T14" fmla="*/ 0 w 1096"/>
                  <a:gd name="T15" fmla="*/ 0 h 929"/>
                  <a:gd name="T16" fmla="*/ 0 w 1096"/>
                  <a:gd name="T17" fmla="*/ 0 h 929"/>
                  <a:gd name="T18" fmla="*/ 0 w 1096"/>
                  <a:gd name="T19" fmla="*/ 0 h 929"/>
                  <a:gd name="T20" fmla="*/ 0 w 1096"/>
                  <a:gd name="T21" fmla="*/ 0 h 929"/>
                  <a:gd name="T22" fmla="*/ 0 w 1096"/>
                  <a:gd name="T23" fmla="*/ 0 h 929"/>
                  <a:gd name="T24" fmla="*/ 0 w 1096"/>
                  <a:gd name="T25" fmla="*/ 0 h 929"/>
                  <a:gd name="T26" fmla="*/ 0 w 1096"/>
                  <a:gd name="T27" fmla="*/ 0 h 929"/>
                  <a:gd name="T28" fmla="*/ 0 w 1096"/>
                  <a:gd name="T29" fmla="*/ 0 h 929"/>
                  <a:gd name="T30" fmla="*/ 0 w 1096"/>
                  <a:gd name="T31" fmla="*/ 0 h 929"/>
                  <a:gd name="T32" fmla="*/ 0 w 1096"/>
                  <a:gd name="T33" fmla="*/ 0 h 929"/>
                  <a:gd name="T34" fmla="*/ 0 w 1096"/>
                  <a:gd name="T35" fmla="*/ 0 h 929"/>
                  <a:gd name="T36" fmla="*/ 0 w 1096"/>
                  <a:gd name="T37" fmla="*/ 0 h 929"/>
                  <a:gd name="T38" fmla="*/ 0 w 1096"/>
                  <a:gd name="T39" fmla="*/ 0 h 929"/>
                  <a:gd name="T40" fmla="*/ 0 w 1096"/>
                  <a:gd name="T41" fmla="*/ 0 h 929"/>
                  <a:gd name="T42" fmla="*/ 0 w 1096"/>
                  <a:gd name="T43" fmla="*/ 0 h 929"/>
                  <a:gd name="T44" fmla="*/ 0 w 1096"/>
                  <a:gd name="T45" fmla="*/ 0 h 929"/>
                  <a:gd name="T46" fmla="*/ 0 w 1096"/>
                  <a:gd name="T47" fmla="*/ 0 h 929"/>
                  <a:gd name="T48" fmla="*/ 0 w 1096"/>
                  <a:gd name="T49" fmla="*/ 0 h 929"/>
                  <a:gd name="T50" fmla="*/ 0 w 1096"/>
                  <a:gd name="T51" fmla="*/ 0 h 929"/>
                  <a:gd name="T52" fmla="*/ 0 w 1096"/>
                  <a:gd name="T53" fmla="*/ 0 h 929"/>
                  <a:gd name="T54" fmla="*/ 0 w 1096"/>
                  <a:gd name="T55" fmla="*/ 0 h 929"/>
                  <a:gd name="T56" fmla="*/ 0 w 1096"/>
                  <a:gd name="T57" fmla="*/ 0 h 929"/>
                  <a:gd name="T58" fmla="*/ 0 w 1096"/>
                  <a:gd name="T59" fmla="*/ 0 h 929"/>
                  <a:gd name="T60" fmla="*/ 0 w 1096"/>
                  <a:gd name="T61" fmla="*/ 0 h 929"/>
                  <a:gd name="T62" fmla="*/ 0 w 1096"/>
                  <a:gd name="T63" fmla="*/ 0 h 929"/>
                  <a:gd name="T64" fmla="*/ 0 w 1096"/>
                  <a:gd name="T65" fmla="*/ 0 h 929"/>
                  <a:gd name="T66" fmla="*/ 0 w 1096"/>
                  <a:gd name="T67" fmla="*/ 0 h 929"/>
                  <a:gd name="T68" fmla="*/ 0 w 1096"/>
                  <a:gd name="T69" fmla="*/ 0 h 929"/>
                  <a:gd name="T70" fmla="*/ 0 w 1096"/>
                  <a:gd name="T71" fmla="*/ 0 h 929"/>
                  <a:gd name="T72" fmla="*/ 0 w 1096"/>
                  <a:gd name="T73" fmla="*/ 0 h 929"/>
                  <a:gd name="T74" fmla="*/ 0 w 1096"/>
                  <a:gd name="T75" fmla="*/ 0 h 929"/>
                  <a:gd name="T76" fmla="*/ 0 w 1096"/>
                  <a:gd name="T77" fmla="*/ 0 h 929"/>
                  <a:gd name="T78" fmla="*/ 0 w 1096"/>
                  <a:gd name="T79" fmla="*/ 0 h 929"/>
                  <a:gd name="T80" fmla="*/ 0 w 1096"/>
                  <a:gd name="T81" fmla="*/ 0 h 929"/>
                  <a:gd name="T82" fmla="*/ 0 w 1096"/>
                  <a:gd name="T83" fmla="*/ 0 h 929"/>
                  <a:gd name="T84" fmla="*/ 0 w 1096"/>
                  <a:gd name="T85" fmla="*/ 0 h 929"/>
                  <a:gd name="T86" fmla="*/ 0 w 1096"/>
                  <a:gd name="T87" fmla="*/ 0 h 929"/>
                  <a:gd name="T88" fmla="*/ 0 w 1096"/>
                  <a:gd name="T89" fmla="*/ 0 h 929"/>
                  <a:gd name="T90" fmla="*/ 0 w 1096"/>
                  <a:gd name="T91" fmla="*/ 0 h 929"/>
                  <a:gd name="T92" fmla="*/ 0 w 1096"/>
                  <a:gd name="T93" fmla="*/ 0 h 929"/>
                  <a:gd name="T94" fmla="*/ 0 w 1096"/>
                  <a:gd name="T95" fmla="*/ 0 h 929"/>
                  <a:gd name="T96" fmla="*/ 0 w 1096"/>
                  <a:gd name="T97" fmla="*/ 0 h 929"/>
                  <a:gd name="T98" fmla="*/ 0 w 1096"/>
                  <a:gd name="T99" fmla="*/ 0 h 929"/>
                  <a:gd name="T100" fmla="*/ 0 w 1096"/>
                  <a:gd name="T101" fmla="*/ 0 h 929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096"/>
                  <a:gd name="T154" fmla="*/ 0 h 929"/>
                  <a:gd name="T155" fmla="*/ 1096 w 1096"/>
                  <a:gd name="T156" fmla="*/ 929 h 929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096" h="929">
                    <a:moveTo>
                      <a:pt x="1096" y="506"/>
                    </a:moveTo>
                    <a:lnTo>
                      <a:pt x="1015" y="537"/>
                    </a:lnTo>
                    <a:lnTo>
                      <a:pt x="915" y="577"/>
                    </a:lnTo>
                    <a:lnTo>
                      <a:pt x="854" y="617"/>
                    </a:lnTo>
                    <a:lnTo>
                      <a:pt x="804" y="678"/>
                    </a:lnTo>
                    <a:lnTo>
                      <a:pt x="775" y="768"/>
                    </a:lnTo>
                    <a:lnTo>
                      <a:pt x="755" y="838"/>
                    </a:lnTo>
                    <a:lnTo>
                      <a:pt x="694" y="909"/>
                    </a:lnTo>
                    <a:lnTo>
                      <a:pt x="593" y="929"/>
                    </a:lnTo>
                    <a:lnTo>
                      <a:pt x="523" y="899"/>
                    </a:lnTo>
                    <a:lnTo>
                      <a:pt x="472" y="858"/>
                    </a:lnTo>
                    <a:lnTo>
                      <a:pt x="469" y="815"/>
                    </a:lnTo>
                    <a:lnTo>
                      <a:pt x="462" y="778"/>
                    </a:lnTo>
                    <a:lnTo>
                      <a:pt x="422" y="717"/>
                    </a:lnTo>
                    <a:lnTo>
                      <a:pt x="332" y="687"/>
                    </a:lnTo>
                    <a:lnTo>
                      <a:pt x="402" y="641"/>
                    </a:lnTo>
                    <a:lnTo>
                      <a:pt x="476" y="627"/>
                    </a:lnTo>
                    <a:lnTo>
                      <a:pt x="510" y="607"/>
                    </a:lnTo>
                    <a:lnTo>
                      <a:pt x="446" y="603"/>
                    </a:lnTo>
                    <a:lnTo>
                      <a:pt x="373" y="627"/>
                    </a:lnTo>
                    <a:lnTo>
                      <a:pt x="292" y="658"/>
                    </a:lnTo>
                    <a:lnTo>
                      <a:pt x="255" y="627"/>
                    </a:lnTo>
                    <a:lnTo>
                      <a:pt x="249" y="587"/>
                    </a:lnTo>
                    <a:lnTo>
                      <a:pt x="245" y="540"/>
                    </a:lnTo>
                    <a:lnTo>
                      <a:pt x="232" y="496"/>
                    </a:lnTo>
                    <a:lnTo>
                      <a:pt x="181" y="486"/>
                    </a:lnTo>
                    <a:lnTo>
                      <a:pt x="141" y="502"/>
                    </a:lnTo>
                    <a:lnTo>
                      <a:pt x="108" y="534"/>
                    </a:lnTo>
                    <a:lnTo>
                      <a:pt x="60" y="563"/>
                    </a:lnTo>
                    <a:lnTo>
                      <a:pt x="0" y="617"/>
                    </a:lnTo>
                    <a:lnTo>
                      <a:pt x="60" y="527"/>
                    </a:lnTo>
                    <a:lnTo>
                      <a:pt x="171" y="436"/>
                    </a:lnTo>
                    <a:lnTo>
                      <a:pt x="242" y="395"/>
                    </a:lnTo>
                    <a:lnTo>
                      <a:pt x="305" y="378"/>
                    </a:lnTo>
                    <a:lnTo>
                      <a:pt x="359" y="382"/>
                    </a:lnTo>
                    <a:lnTo>
                      <a:pt x="416" y="368"/>
                    </a:lnTo>
                    <a:lnTo>
                      <a:pt x="503" y="345"/>
                    </a:lnTo>
                    <a:lnTo>
                      <a:pt x="613" y="299"/>
                    </a:lnTo>
                    <a:lnTo>
                      <a:pt x="717" y="248"/>
                    </a:lnTo>
                    <a:lnTo>
                      <a:pt x="778" y="218"/>
                    </a:lnTo>
                    <a:lnTo>
                      <a:pt x="811" y="175"/>
                    </a:lnTo>
                    <a:lnTo>
                      <a:pt x="828" y="120"/>
                    </a:lnTo>
                    <a:lnTo>
                      <a:pt x="824" y="64"/>
                    </a:lnTo>
                    <a:lnTo>
                      <a:pt x="811" y="0"/>
                    </a:lnTo>
                    <a:lnTo>
                      <a:pt x="874" y="70"/>
                    </a:lnTo>
                    <a:lnTo>
                      <a:pt x="925" y="150"/>
                    </a:lnTo>
                    <a:lnTo>
                      <a:pt x="985" y="254"/>
                    </a:lnTo>
                    <a:lnTo>
                      <a:pt x="1012" y="312"/>
                    </a:lnTo>
                    <a:lnTo>
                      <a:pt x="1039" y="362"/>
                    </a:lnTo>
                    <a:lnTo>
                      <a:pt x="1076" y="416"/>
                    </a:lnTo>
                    <a:lnTo>
                      <a:pt x="1096" y="506"/>
                    </a:lnTo>
                    <a:close/>
                  </a:path>
                </a:pathLst>
              </a:custGeom>
              <a:solidFill>
                <a:srgbClr val="DF9F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9" name="Freeform 12"/>
              <p:cNvSpPr>
                <a:spLocks/>
              </p:cNvSpPr>
              <p:nvPr/>
            </p:nvSpPr>
            <p:spPr bwMode="auto">
              <a:xfrm>
                <a:off x="3939" y="823"/>
                <a:ext cx="37" cy="24"/>
              </a:xfrm>
              <a:custGeom>
                <a:avLst/>
                <a:gdLst>
                  <a:gd name="T0" fmla="*/ 0 w 298"/>
                  <a:gd name="T1" fmla="*/ 0 h 188"/>
                  <a:gd name="T2" fmla="*/ 0 w 298"/>
                  <a:gd name="T3" fmla="*/ 0 h 188"/>
                  <a:gd name="T4" fmla="*/ 0 w 298"/>
                  <a:gd name="T5" fmla="*/ 0 h 188"/>
                  <a:gd name="T6" fmla="*/ 0 w 298"/>
                  <a:gd name="T7" fmla="*/ 0 h 188"/>
                  <a:gd name="T8" fmla="*/ 0 w 298"/>
                  <a:gd name="T9" fmla="*/ 0 h 188"/>
                  <a:gd name="T10" fmla="*/ 0 w 298"/>
                  <a:gd name="T11" fmla="*/ 0 h 188"/>
                  <a:gd name="T12" fmla="*/ 0 w 298"/>
                  <a:gd name="T13" fmla="*/ 0 h 188"/>
                  <a:gd name="T14" fmla="*/ 0 w 298"/>
                  <a:gd name="T15" fmla="*/ 0 h 188"/>
                  <a:gd name="T16" fmla="*/ 0 w 298"/>
                  <a:gd name="T17" fmla="*/ 0 h 188"/>
                  <a:gd name="T18" fmla="*/ 0 w 298"/>
                  <a:gd name="T19" fmla="*/ 0 h 188"/>
                  <a:gd name="T20" fmla="*/ 0 w 298"/>
                  <a:gd name="T21" fmla="*/ 0 h 188"/>
                  <a:gd name="T22" fmla="*/ 0 w 298"/>
                  <a:gd name="T23" fmla="*/ 0 h 188"/>
                  <a:gd name="T24" fmla="*/ 0 w 298"/>
                  <a:gd name="T25" fmla="*/ 0 h 188"/>
                  <a:gd name="T26" fmla="*/ 0 w 298"/>
                  <a:gd name="T27" fmla="*/ 0 h 188"/>
                  <a:gd name="T28" fmla="*/ 0 w 298"/>
                  <a:gd name="T29" fmla="*/ 0 h 188"/>
                  <a:gd name="T30" fmla="*/ 0 w 298"/>
                  <a:gd name="T31" fmla="*/ 0 h 188"/>
                  <a:gd name="T32" fmla="*/ 0 w 298"/>
                  <a:gd name="T33" fmla="*/ 0 h 188"/>
                  <a:gd name="T34" fmla="*/ 0 w 298"/>
                  <a:gd name="T35" fmla="*/ 0 h 18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98"/>
                  <a:gd name="T55" fmla="*/ 0 h 188"/>
                  <a:gd name="T56" fmla="*/ 298 w 298"/>
                  <a:gd name="T57" fmla="*/ 188 h 18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98" h="188">
                    <a:moveTo>
                      <a:pt x="181" y="10"/>
                    </a:moveTo>
                    <a:lnTo>
                      <a:pt x="216" y="21"/>
                    </a:lnTo>
                    <a:lnTo>
                      <a:pt x="253" y="34"/>
                    </a:lnTo>
                    <a:lnTo>
                      <a:pt x="298" y="55"/>
                    </a:lnTo>
                    <a:lnTo>
                      <a:pt x="267" y="69"/>
                    </a:lnTo>
                    <a:lnTo>
                      <a:pt x="209" y="94"/>
                    </a:lnTo>
                    <a:lnTo>
                      <a:pt x="147" y="128"/>
                    </a:lnTo>
                    <a:lnTo>
                      <a:pt x="106" y="167"/>
                    </a:lnTo>
                    <a:lnTo>
                      <a:pt x="82" y="188"/>
                    </a:lnTo>
                    <a:lnTo>
                      <a:pt x="109" y="125"/>
                    </a:lnTo>
                    <a:lnTo>
                      <a:pt x="119" y="79"/>
                    </a:lnTo>
                    <a:lnTo>
                      <a:pt x="119" y="52"/>
                    </a:lnTo>
                    <a:lnTo>
                      <a:pt x="88" y="45"/>
                    </a:lnTo>
                    <a:lnTo>
                      <a:pt x="0" y="87"/>
                    </a:lnTo>
                    <a:lnTo>
                      <a:pt x="72" y="34"/>
                    </a:lnTo>
                    <a:lnTo>
                      <a:pt x="116" y="0"/>
                    </a:lnTo>
                    <a:lnTo>
                      <a:pt x="147" y="3"/>
                    </a:lnTo>
                    <a:lnTo>
                      <a:pt x="181" y="10"/>
                    </a:lnTo>
                    <a:close/>
                  </a:path>
                </a:pathLst>
              </a:custGeom>
              <a:solidFill>
                <a:srgbClr val="DF9F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0" name="Freeform 13"/>
              <p:cNvSpPr>
                <a:spLocks/>
              </p:cNvSpPr>
              <p:nvPr/>
            </p:nvSpPr>
            <p:spPr bwMode="auto">
              <a:xfrm>
                <a:off x="3973" y="761"/>
                <a:ext cx="69" cy="57"/>
              </a:xfrm>
              <a:custGeom>
                <a:avLst/>
                <a:gdLst>
                  <a:gd name="T0" fmla="*/ 0 w 554"/>
                  <a:gd name="T1" fmla="*/ 0 h 450"/>
                  <a:gd name="T2" fmla="*/ 0 w 554"/>
                  <a:gd name="T3" fmla="*/ 0 h 450"/>
                  <a:gd name="T4" fmla="*/ 0 w 554"/>
                  <a:gd name="T5" fmla="*/ 0 h 450"/>
                  <a:gd name="T6" fmla="*/ 0 w 554"/>
                  <a:gd name="T7" fmla="*/ 0 h 450"/>
                  <a:gd name="T8" fmla="*/ 0 w 554"/>
                  <a:gd name="T9" fmla="*/ 0 h 450"/>
                  <a:gd name="T10" fmla="*/ 0 w 554"/>
                  <a:gd name="T11" fmla="*/ 0 h 450"/>
                  <a:gd name="T12" fmla="*/ 0 w 554"/>
                  <a:gd name="T13" fmla="*/ 0 h 450"/>
                  <a:gd name="T14" fmla="*/ 0 w 554"/>
                  <a:gd name="T15" fmla="*/ 0 h 450"/>
                  <a:gd name="T16" fmla="*/ 0 w 554"/>
                  <a:gd name="T17" fmla="*/ 0 h 450"/>
                  <a:gd name="T18" fmla="*/ 0 w 554"/>
                  <a:gd name="T19" fmla="*/ 0 h 450"/>
                  <a:gd name="T20" fmla="*/ 0 w 554"/>
                  <a:gd name="T21" fmla="*/ 0 h 450"/>
                  <a:gd name="T22" fmla="*/ 0 w 554"/>
                  <a:gd name="T23" fmla="*/ 0 h 450"/>
                  <a:gd name="T24" fmla="*/ 0 w 554"/>
                  <a:gd name="T25" fmla="*/ 0 h 450"/>
                  <a:gd name="T26" fmla="*/ 0 w 554"/>
                  <a:gd name="T27" fmla="*/ 0 h 450"/>
                  <a:gd name="T28" fmla="*/ 0 w 554"/>
                  <a:gd name="T29" fmla="*/ 0 h 450"/>
                  <a:gd name="T30" fmla="*/ 0 w 554"/>
                  <a:gd name="T31" fmla="*/ 0 h 450"/>
                  <a:gd name="T32" fmla="*/ 0 w 554"/>
                  <a:gd name="T33" fmla="*/ 0 h 450"/>
                  <a:gd name="T34" fmla="*/ 0 w 554"/>
                  <a:gd name="T35" fmla="*/ 0 h 450"/>
                  <a:gd name="T36" fmla="*/ 0 w 554"/>
                  <a:gd name="T37" fmla="*/ 0 h 450"/>
                  <a:gd name="T38" fmla="*/ 0 w 554"/>
                  <a:gd name="T39" fmla="*/ 0 h 450"/>
                  <a:gd name="T40" fmla="*/ 0 w 554"/>
                  <a:gd name="T41" fmla="*/ 0 h 450"/>
                  <a:gd name="T42" fmla="*/ 0 w 554"/>
                  <a:gd name="T43" fmla="*/ 0 h 450"/>
                  <a:gd name="T44" fmla="*/ 0 w 554"/>
                  <a:gd name="T45" fmla="*/ 0 h 450"/>
                  <a:gd name="T46" fmla="*/ 0 w 554"/>
                  <a:gd name="T47" fmla="*/ 0 h 450"/>
                  <a:gd name="T48" fmla="*/ 0 w 554"/>
                  <a:gd name="T49" fmla="*/ 0 h 450"/>
                  <a:gd name="T50" fmla="*/ 0 w 554"/>
                  <a:gd name="T51" fmla="*/ 0 h 450"/>
                  <a:gd name="T52" fmla="*/ 0 w 554"/>
                  <a:gd name="T53" fmla="*/ 0 h 450"/>
                  <a:gd name="T54" fmla="*/ 0 w 554"/>
                  <a:gd name="T55" fmla="*/ 0 h 450"/>
                  <a:gd name="T56" fmla="*/ 0 w 554"/>
                  <a:gd name="T57" fmla="*/ 0 h 450"/>
                  <a:gd name="T58" fmla="*/ 0 w 554"/>
                  <a:gd name="T59" fmla="*/ 0 h 450"/>
                  <a:gd name="T60" fmla="*/ 0 w 554"/>
                  <a:gd name="T61" fmla="*/ 0 h 45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554"/>
                  <a:gd name="T94" fmla="*/ 0 h 450"/>
                  <a:gd name="T95" fmla="*/ 554 w 554"/>
                  <a:gd name="T96" fmla="*/ 450 h 450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554" h="450">
                    <a:moveTo>
                      <a:pt x="554" y="142"/>
                    </a:moveTo>
                    <a:lnTo>
                      <a:pt x="489" y="152"/>
                    </a:lnTo>
                    <a:lnTo>
                      <a:pt x="438" y="172"/>
                    </a:lnTo>
                    <a:lnTo>
                      <a:pt x="377" y="213"/>
                    </a:lnTo>
                    <a:lnTo>
                      <a:pt x="324" y="264"/>
                    </a:lnTo>
                    <a:lnTo>
                      <a:pt x="273" y="345"/>
                    </a:lnTo>
                    <a:lnTo>
                      <a:pt x="250" y="399"/>
                    </a:lnTo>
                    <a:lnTo>
                      <a:pt x="267" y="450"/>
                    </a:lnTo>
                    <a:lnTo>
                      <a:pt x="199" y="403"/>
                    </a:lnTo>
                    <a:lnTo>
                      <a:pt x="135" y="380"/>
                    </a:lnTo>
                    <a:lnTo>
                      <a:pt x="84" y="358"/>
                    </a:lnTo>
                    <a:lnTo>
                      <a:pt x="33" y="342"/>
                    </a:lnTo>
                    <a:lnTo>
                      <a:pt x="0" y="325"/>
                    </a:lnTo>
                    <a:lnTo>
                      <a:pt x="44" y="264"/>
                    </a:lnTo>
                    <a:lnTo>
                      <a:pt x="84" y="294"/>
                    </a:lnTo>
                    <a:lnTo>
                      <a:pt x="148" y="325"/>
                    </a:lnTo>
                    <a:lnTo>
                      <a:pt x="203" y="325"/>
                    </a:lnTo>
                    <a:lnTo>
                      <a:pt x="253" y="315"/>
                    </a:lnTo>
                    <a:lnTo>
                      <a:pt x="283" y="304"/>
                    </a:lnTo>
                    <a:lnTo>
                      <a:pt x="314" y="284"/>
                    </a:lnTo>
                    <a:lnTo>
                      <a:pt x="324" y="220"/>
                    </a:lnTo>
                    <a:lnTo>
                      <a:pt x="314" y="172"/>
                    </a:lnTo>
                    <a:lnTo>
                      <a:pt x="283" y="111"/>
                    </a:lnTo>
                    <a:lnTo>
                      <a:pt x="273" y="80"/>
                    </a:lnTo>
                    <a:lnTo>
                      <a:pt x="318" y="70"/>
                    </a:lnTo>
                    <a:lnTo>
                      <a:pt x="374" y="54"/>
                    </a:lnTo>
                    <a:lnTo>
                      <a:pt x="412" y="10"/>
                    </a:lnTo>
                    <a:lnTo>
                      <a:pt x="445" y="0"/>
                    </a:lnTo>
                    <a:lnTo>
                      <a:pt x="483" y="57"/>
                    </a:lnTo>
                    <a:lnTo>
                      <a:pt x="516" y="105"/>
                    </a:lnTo>
                    <a:lnTo>
                      <a:pt x="554" y="142"/>
                    </a:lnTo>
                    <a:close/>
                  </a:path>
                </a:pathLst>
              </a:custGeom>
              <a:solidFill>
                <a:srgbClr val="DF9F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135" name="Group 14"/>
          <p:cNvGrpSpPr>
            <a:grpSpLocks/>
          </p:cNvGrpSpPr>
          <p:nvPr/>
        </p:nvGrpSpPr>
        <p:grpSpPr bwMode="auto">
          <a:xfrm>
            <a:off x="6527800" y="1052736"/>
            <a:ext cx="344488" cy="681037"/>
            <a:chOff x="3976" y="601"/>
            <a:chExt cx="217" cy="429"/>
          </a:xfrm>
        </p:grpSpPr>
        <p:sp>
          <p:nvSpPr>
            <p:cNvPr id="136" name="Freeform 15"/>
            <p:cNvSpPr>
              <a:spLocks/>
            </p:cNvSpPr>
            <p:nvPr/>
          </p:nvSpPr>
          <p:spPr bwMode="auto">
            <a:xfrm>
              <a:off x="3991" y="908"/>
              <a:ext cx="198" cy="98"/>
            </a:xfrm>
            <a:custGeom>
              <a:avLst/>
              <a:gdLst>
                <a:gd name="T0" fmla="*/ 0 w 1590"/>
                <a:gd name="T1" fmla="*/ 0 h 788"/>
                <a:gd name="T2" fmla="*/ 0 w 1590"/>
                <a:gd name="T3" fmla="*/ 0 h 788"/>
                <a:gd name="T4" fmla="*/ 0 w 1590"/>
                <a:gd name="T5" fmla="*/ 0 h 788"/>
                <a:gd name="T6" fmla="*/ 0 w 1590"/>
                <a:gd name="T7" fmla="*/ 0 h 788"/>
                <a:gd name="T8" fmla="*/ 0 w 1590"/>
                <a:gd name="T9" fmla="*/ 0 h 788"/>
                <a:gd name="T10" fmla="*/ 0 w 1590"/>
                <a:gd name="T11" fmla="*/ 0 h 7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0"/>
                <a:gd name="T19" fmla="*/ 0 h 788"/>
                <a:gd name="T20" fmla="*/ 1590 w 1590"/>
                <a:gd name="T21" fmla="*/ 788 h 7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0" h="788">
                  <a:moveTo>
                    <a:pt x="1590" y="788"/>
                  </a:moveTo>
                  <a:lnTo>
                    <a:pt x="779" y="287"/>
                  </a:lnTo>
                  <a:lnTo>
                    <a:pt x="0" y="0"/>
                  </a:lnTo>
                  <a:lnTo>
                    <a:pt x="79" y="228"/>
                  </a:lnTo>
                  <a:lnTo>
                    <a:pt x="762" y="593"/>
                  </a:lnTo>
                  <a:lnTo>
                    <a:pt x="1590" y="788"/>
                  </a:lnTo>
                  <a:close/>
                </a:path>
              </a:pathLst>
            </a:custGeom>
            <a:solidFill>
              <a:srgbClr val="80808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7" name="Freeform 16"/>
            <p:cNvSpPr>
              <a:spLocks/>
            </p:cNvSpPr>
            <p:nvPr/>
          </p:nvSpPr>
          <p:spPr bwMode="auto">
            <a:xfrm>
              <a:off x="4060" y="961"/>
              <a:ext cx="133" cy="69"/>
            </a:xfrm>
            <a:custGeom>
              <a:avLst/>
              <a:gdLst>
                <a:gd name="T0" fmla="*/ 0 w 1061"/>
                <a:gd name="T1" fmla="*/ 0 h 548"/>
                <a:gd name="T2" fmla="*/ 0 w 1061"/>
                <a:gd name="T3" fmla="*/ 0 h 548"/>
                <a:gd name="T4" fmla="*/ 0 w 1061"/>
                <a:gd name="T5" fmla="*/ 0 h 548"/>
                <a:gd name="T6" fmla="*/ 0 w 1061"/>
                <a:gd name="T7" fmla="*/ 0 h 548"/>
                <a:gd name="T8" fmla="*/ 0 w 1061"/>
                <a:gd name="T9" fmla="*/ 0 h 548"/>
                <a:gd name="T10" fmla="*/ 0 w 1061"/>
                <a:gd name="T11" fmla="*/ 0 h 548"/>
                <a:gd name="T12" fmla="*/ 0 w 1061"/>
                <a:gd name="T13" fmla="*/ 0 h 548"/>
                <a:gd name="T14" fmla="*/ 0 w 1061"/>
                <a:gd name="T15" fmla="*/ 0 h 548"/>
                <a:gd name="T16" fmla="*/ 0 w 1061"/>
                <a:gd name="T17" fmla="*/ 0 h 548"/>
                <a:gd name="T18" fmla="*/ 0 w 1061"/>
                <a:gd name="T19" fmla="*/ 0 h 548"/>
                <a:gd name="T20" fmla="*/ 0 w 1061"/>
                <a:gd name="T21" fmla="*/ 0 h 548"/>
                <a:gd name="T22" fmla="*/ 0 w 1061"/>
                <a:gd name="T23" fmla="*/ 0 h 548"/>
                <a:gd name="T24" fmla="*/ 0 w 1061"/>
                <a:gd name="T25" fmla="*/ 0 h 548"/>
                <a:gd name="T26" fmla="*/ 0 w 1061"/>
                <a:gd name="T27" fmla="*/ 0 h 54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061"/>
                <a:gd name="T43" fmla="*/ 0 h 548"/>
                <a:gd name="T44" fmla="*/ 1061 w 1061"/>
                <a:gd name="T45" fmla="*/ 548 h 54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061" h="548">
                  <a:moveTo>
                    <a:pt x="124" y="0"/>
                  </a:moveTo>
                  <a:lnTo>
                    <a:pt x="0" y="11"/>
                  </a:lnTo>
                  <a:lnTo>
                    <a:pt x="0" y="86"/>
                  </a:lnTo>
                  <a:lnTo>
                    <a:pt x="67" y="186"/>
                  </a:lnTo>
                  <a:lnTo>
                    <a:pt x="974" y="544"/>
                  </a:lnTo>
                  <a:lnTo>
                    <a:pt x="994" y="548"/>
                  </a:lnTo>
                  <a:lnTo>
                    <a:pt x="1012" y="544"/>
                  </a:lnTo>
                  <a:lnTo>
                    <a:pt x="1028" y="525"/>
                  </a:lnTo>
                  <a:lnTo>
                    <a:pt x="1046" y="479"/>
                  </a:lnTo>
                  <a:lnTo>
                    <a:pt x="1056" y="445"/>
                  </a:lnTo>
                  <a:lnTo>
                    <a:pt x="1061" y="413"/>
                  </a:lnTo>
                  <a:lnTo>
                    <a:pt x="1052" y="380"/>
                  </a:lnTo>
                  <a:lnTo>
                    <a:pt x="1031" y="359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60606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8" name="Freeform 17"/>
            <p:cNvSpPr>
              <a:spLocks/>
            </p:cNvSpPr>
            <p:nvPr/>
          </p:nvSpPr>
          <p:spPr bwMode="auto">
            <a:xfrm>
              <a:off x="3976" y="601"/>
              <a:ext cx="191" cy="383"/>
            </a:xfrm>
            <a:custGeom>
              <a:avLst/>
              <a:gdLst>
                <a:gd name="T0" fmla="*/ 0 w 1528"/>
                <a:gd name="T1" fmla="*/ 0 h 3065"/>
                <a:gd name="T2" fmla="*/ 0 w 1528"/>
                <a:gd name="T3" fmla="*/ 0 h 3065"/>
                <a:gd name="T4" fmla="*/ 0 w 1528"/>
                <a:gd name="T5" fmla="*/ 0 h 3065"/>
                <a:gd name="T6" fmla="*/ 0 w 1528"/>
                <a:gd name="T7" fmla="*/ 0 h 3065"/>
                <a:gd name="T8" fmla="*/ 0 w 1528"/>
                <a:gd name="T9" fmla="*/ 0 h 3065"/>
                <a:gd name="T10" fmla="*/ 0 w 1528"/>
                <a:gd name="T11" fmla="*/ 0 h 3065"/>
                <a:gd name="T12" fmla="*/ 0 w 1528"/>
                <a:gd name="T13" fmla="*/ 0 h 3065"/>
                <a:gd name="T14" fmla="*/ 0 w 1528"/>
                <a:gd name="T15" fmla="*/ 0 h 3065"/>
                <a:gd name="T16" fmla="*/ 0 w 1528"/>
                <a:gd name="T17" fmla="*/ 0 h 3065"/>
                <a:gd name="T18" fmla="*/ 0 w 1528"/>
                <a:gd name="T19" fmla="*/ 0 h 3065"/>
                <a:gd name="T20" fmla="*/ 0 w 1528"/>
                <a:gd name="T21" fmla="*/ 0 h 3065"/>
                <a:gd name="T22" fmla="*/ 0 w 1528"/>
                <a:gd name="T23" fmla="*/ 0 h 3065"/>
                <a:gd name="T24" fmla="*/ 0 w 1528"/>
                <a:gd name="T25" fmla="*/ 0 h 3065"/>
                <a:gd name="T26" fmla="*/ 0 w 1528"/>
                <a:gd name="T27" fmla="*/ 0 h 3065"/>
                <a:gd name="T28" fmla="*/ 0 w 1528"/>
                <a:gd name="T29" fmla="*/ 0 h 3065"/>
                <a:gd name="T30" fmla="*/ 0 w 1528"/>
                <a:gd name="T31" fmla="*/ 0 h 3065"/>
                <a:gd name="T32" fmla="*/ 0 w 1528"/>
                <a:gd name="T33" fmla="*/ 0 h 3065"/>
                <a:gd name="T34" fmla="*/ 0 w 1528"/>
                <a:gd name="T35" fmla="*/ 0 h 3065"/>
                <a:gd name="T36" fmla="*/ 0 w 1528"/>
                <a:gd name="T37" fmla="*/ 0 h 3065"/>
                <a:gd name="T38" fmla="*/ 0 w 1528"/>
                <a:gd name="T39" fmla="*/ 0 h 3065"/>
                <a:gd name="T40" fmla="*/ 0 w 1528"/>
                <a:gd name="T41" fmla="*/ 0 h 3065"/>
                <a:gd name="T42" fmla="*/ 0 w 1528"/>
                <a:gd name="T43" fmla="*/ 0 h 3065"/>
                <a:gd name="T44" fmla="*/ 0 w 1528"/>
                <a:gd name="T45" fmla="*/ 0 h 3065"/>
                <a:gd name="T46" fmla="*/ 0 w 1528"/>
                <a:gd name="T47" fmla="*/ 0 h 3065"/>
                <a:gd name="T48" fmla="*/ 0 w 1528"/>
                <a:gd name="T49" fmla="*/ 0 h 3065"/>
                <a:gd name="T50" fmla="*/ 0 w 1528"/>
                <a:gd name="T51" fmla="*/ 0 h 3065"/>
                <a:gd name="T52" fmla="*/ 0 w 1528"/>
                <a:gd name="T53" fmla="*/ 0 h 3065"/>
                <a:gd name="T54" fmla="*/ 0 w 1528"/>
                <a:gd name="T55" fmla="*/ 0 h 3065"/>
                <a:gd name="T56" fmla="*/ 0 w 1528"/>
                <a:gd name="T57" fmla="*/ 0 h 3065"/>
                <a:gd name="T58" fmla="*/ 0 w 1528"/>
                <a:gd name="T59" fmla="*/ 0 h 3065"/>
                <a:gd name="T60" fmla="*/ 0 w 1528"/>
                <a:gd name="T61" fmla="*/ 0 h 3065"/>
                <a:gd name="T62" fmla="*/ 0 w 1528"/>
                <a:gd name="T63" fmla="*/ 0 h 3065"/>
                <a:gd name="T64" fmla="*/ 0 w 1528"/>
                <a:gd name="T65" fmla="*/ 0 h 3065"/>
                <a:gd name="T66" fmla="*/ 0 w 1528"/>
                <a:gd name="T67" fmla="*/ 0 h 3065"/>
                <a:gd name="T68" fmla="*/ 0 w 1528"/>
                <a:gd name="T69" fmla="*/ 0 h 3065"/>
                <a:gd name="T70" fmla="*/ 0 w 1528"/>
                <a:gd name="T71" fmla="*/ 0 h 3065"/>
                <a:gd name="T72" fmla="*/ 0 w 1528"/>
                <a:gd name="T73" fmla="*/ 0 h 3065"/>
                <a:gd name="T74" fmla="*/ 0 w 1528"/>
                <a:gd name="T75" fmla="*/ 0 h 3065"/>
                <a:gd name="T76" fmla="*/ 0 w 1528"/>
                <a:gd name="T77" fmla="*/ 0 h 3065"/>
                <a:gd name="T78" fmla="*/ 0 w 1528"/>
                <a:gd name="T79" fmla="*/ 0 h 3065"/>
                <a:gd name="T80" fmla="*/ 0 w 1528"/>
                <a:gd name="T81" fmla="*/ 0 h 3065"/>
                <a:gd name="T82" fmla="*/ 0 w 1528"/>
                <a:gd name="T83" fmla="*/ 0 h 3065"/>
                <a:gd name="T84" fmla="*/ 0 w 1528"/>
                <a:gd name="T85" fmla="*/ 0 h 3065"/>
                <a:gd name="T86" fmla="*/ 0 w 1528"/>
                <a:gd name="T87" fmla="*/ 0 h 3065"/>
                <a:gd name="T88" fmla="*/ 0 w 1528"/>
                <a:gd name="T89" fmla="*/ 0 h 3065"/>
                <a:gd name="T90" fmla="*/ 0 w 1528"/>
                <a:gd name="T91" fmla="*/ 0 h 3065"/>
                <a:gd name="T92" fmla="*/ 0 w 1528"/>
                <a:gd name="T93" fmla="*/ 0 h 3065"/>
                <a:gd name="T94" fmla="*/ 0 w 1528"/>
                <a:gd name="T95" fmla="*/ 0 h 3065"/>
                <a:gd name="T96" fmla="*/ 0 w 1528"/>
                <a:gd name="T97" fmla="*/ 0 h 3065"/>
                <a:gd name="T98" fmla="*/ 0 w 1528"/>
                <a:gd name="T99" fmla="*/ 0 h 3065"/>
                <a:gd name="T100" fmla="*/ 0 w 1528"/>
                <a:gd name="T101" fmla="*/ 0 h 3065"/>
                <a:gd name="T102" fmla="*/ 0 w 1528"/>
                <a:gd name="T103" fmla="*/ 0 h 3065"/>
                <a:gd name="T104" fmla="*/ 0 w 1528"/>
                <a:gd name="T105" fmla="*/ 0 h 3065"/>
                <a:gd name="T106" fmla="*/ 0 w 1528"/>
                <a:gd name="T107" fmla="*/ 0 h 3065"/>
                <a:gd name="T108" fmla="*/ 0 w 1528"/>
                <a:gd name="T109" fmla="*/ 0 h 3065"/>
                <a:gd name="T110" fmla="*/ 0 w 1528"/>
                <a:gd name="T111" fmla="*/ 0 h 3065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528"/>
                <a:gd name="T169" fmla="*/ 0 h 3065"/>
                <a:gd name="T170" fmla="*/ 1528 w 1528"/>
                <a:gd name="T171" fmla="*/ 3065 h 3065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528" h="3065">
                  <a:moveTo>
                    <a:pt x="1528" y="399"/>
                  </a:moveTo>
                  <a:lnTo>
                    <a:pt x="1524" y="367"/>
                  </a:lnTo>
                  <a:lnTo>
                    <a:pt x="1509" y="344"/>
                  </a:lnTo>
                  <a:lnTo>
                    <a:pt x="1485" y="318"/>
                  </a:lnTo>
                  <a:lnTo>
                    <a:pt x="1405" y="265"/>
                  </a:lnTo>
                  <a:lnTo>
                    <a:pt x="1041" y="63"/>
                  </a:lnTo>
                  <a:lnTo>
                    <a:pt x="989" y="39"/>
                  </a:lnTo>
                  <a:lnTo>
                    <a:pt x="956" y="23"/>
                  </a:lnTo>
                  <a:lnTo>
                    <a:pt x="915" y="10"/>
                  </a:lnTo>
                  <a:lnTo>
                    <a:pt x="890" y="3"/>
                  </a:lnTo>
                  <a:lnTo>
                    <a:pt x="852" y="0"/>
                  </a:lnTo>
                  <a:lnTo>
                    <a:pt x="818" y="3"/>
                  </a:lnTo>
                  <a:lnTo>
                    <a:pt x="792" y="6"/>
                  </a:lnTo>
                  <a:lnTo>
                    <a:pt x="755" y="17"/>
                  </a:lnTo>
                  <a:lnTo>
                    <a:pt x="718" y="33"/>
                  </a:lnTo>
                  <a:lnTo>
                    <a:pt x="685" y="55"/>
                  </a:lnTo>
                  <a:lnTo>
                    <a:pt x="650" y="76"/>
                  </a:lnTo>
                  <a:lnTo>
                    <a:pt x="617" y="99"/>
                  </a:lnTo>
                  <a:lnTo>
                    <a:pt x="581" y="125"/>
                  </a:lnTo>
                  <a:lnTo>
                    <a:pt x="545" y="159"/>
                  </a:lnTo>
                  <a:lnTo>
                    <a:pt x="525" y="182"/>
                  </a:lnTo>
                  <a:lnTo>
                    <a:pt x="509" y="208"/>
                  </a:lnTo>
                  <a:lnTo>
                    <a:pt x="497" y="247"/>
                  </a:lnTo>
                  <a:lnTo>
                    <a:pt x="10" y="2398"/>
                  </a:lnTo>
                  <a:lnTo>
                    <a:pt x="0" y="2442"/>
                  </a:lnTo>
                  <a:lnTo>
                    <a:pt x="0" y="2463"/>
                  </a:lnTo>
                  <a:lnTo>
                    <a:pt x="0" y="2491"/>
                  </a:lnTo>
                  <a:lnTo>
                    <a:pt x="2" y="2518"/>
                  </a:lnTo>
                  <a:lnTo>
                    <a:pt x="12" y="2563"/>
                  </a:lnTo>
                  <a:lnTo>
                    <a:pt x="19" y="2583"/>
                  </a:lnTo>
                  <a:lnTo>
                    <a:pt x="39" y="2617"/>
                  </a:lnTo>
                  <a:lnTo>
                    <a:pt x="52" y="2641"/>
                  </a:lnTo>
                  <a:lnTo>
                    <a:pt x="81" y="2673"/>
                  </a:lnTo>
                  <a:lnTo>
                    <a:pt x="115" y="2701"/>
                  </a:lnTo>
                  <a:lnTo>
                    <a:pt x="160" y="2732"/>
                  </a:lnTo>
                  <a:lnTo>
                    <a:pt x="196" y="2755"/>
                  </a:lnTo>
                  <a:lnTo>
                    <a:pt x="740" y="3065"/>
                  </a:lnTo>
                  <a:lnTo>
                    <a:pt x="731" y="3032"/>
                  </a:lnTo>
                  <a:lnTo>
                    <a:pt x="730" y="3000"/>
                  </a:lnTo>
                  <a:lnTo>
                    <a:pt x="736" y="2974"/>
                  </a:lnTo>
                  <a:lnTo>
                    <a:pt x="745" y="2945"/>
                  </a:lnTo>
                  <a:lnTo>
                    <a:pt x="759" y="2917"/>
                  </a:lnTo>
                  <a:lnTo>
                    <a:pt x="778" y="2893"/>
                  </a:lnTo>
                  <a:lnTo>
                    <a:pt x="803" y="2879"/>
                  </a:lnTo>
                  <a:lnTo>
                    <a:pt x="201" y="2529"/>
                  </a:lnTo>
                  <a:lnTo>
                    <a:pt x="181" y="2512"/>
                  </a:lnTo>
                  <a:lnTo>
                    <a:pt x="173" y="2502"/>
                  </a:lnTo>
                  <a:lnTo>
                    <a:pt x="168" y="2486"/>
                  </a:lnTo>
                  <a:lnTo>
                    <a:pt x="162" y="2452"/>
                  </a:lnTo>
                  <a:lnTo>
                    <a:pt x="162" y="2431"/>
                  </a:lnTo>
                  <a:lnTo>
                    <a:pt x="459" y="1154"/>
                  </a:lnTo>
                  <a:lnTo>
                    <a:pt x="489" y="1097"/>
                  </a:lnTo>
                  <a:lnTo>
                    <a:pt x="518" y="1064"/>
                  </a:lnTo>
                  <a:lnTo>
                    <a:pt x="565" y="1015"/>
                  </a:lnTo>
                  <a:lnTo>
                    <a:pt x="602" y="978"/>
                  </a:lnTo>
                  <a:lnTo>
                    <a:pt x="1528" y="399"/>
                  </a:lnTo>
                  <a:close/>
                </a:path>
              </a:pathLst>
            </a:custGeom>
            <a:solidFill>
              <a:srgbClr val="80808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9" name="Freeform 18"/>
            <p:cNvSpPr>
              <a:spLocks/>
            </p:cNvSpPr>
            <p:nvPr/>
          </p:nvSpPr>
          <p:spPr bwMode="auto">
            <a:xfrm>
              <a:off x="4052" y="608"/>
              <a:ext cx="120" cy="170"/>
            </a:xfrm>
            <a:custGeom>
              <a:avLst/>
              <a:gdLst>
                <a:gd name="T0" fmla="*/ 0 w 958"/>
                <a:gd name="T1" fmla="*/ 0 h 1355"/>
                <a:gd name="T2" fmla="*/ 0 w 958"/>
                <a:gd name="T3" fmla="*/ 0 h 1355"/>
                <a:gd name="T4" fmla="*/ 0 w 958"/>
                <a:gd name="T5" fmla="*/ 0 h 1355"/>
                <a:gd name="T6" fmla="*/ 0 w 958"/>
                <a:gd name="T7" fmla="*/ 0 h 1355"/>
                <a:gd name="T8" fmla="*/ 0 w 958"/>
                <a:gd name="T9" fmla="*/ 0 h 1355"/>
                <a:gd name="T10" fmla="*/ 0 w 958"/>
                <a:gd name="T11" fmla="*/ 0 h 1355"/>
                <a:gd name="T12" fmla="*/ 0 w 958"/>
                <a:gd name="T13" fmla="*/ 0 h 1355"/>
                <a:gd name="T14" fmla="*/ 0 w 958"/>
                <a:gd name="T15" fmla="*/ 0 h 1355"/>
                <a:gd name="T16" fmla="*/ 0 w 958"/>
                <a:gd name="T17" fmla="*/ 0 h 1355"/>
                <a:gd name="T18" fmla="*/ 0 w 958"/>
                <a:gd name="T19" fmla="*/ 0 h 1355"/>
                <a:gd name="T20" fmla="*/ 0 w 958"/>
                <a:gd name="T21" fmla="*/ 0 h 1355"/>
                <a:gd name="T22" fmla="*/ 0 w 958"/>
                <a:gd name="T23" fmla="*/ 0 h 1355"/>
                <a:gd name="T24" fmla="*/ 0 w 958"/>
                <a:gd name="T25" fmla="*/ 0 h 1355"/>
                <a:gd name="T26" fmla="*/ 0 w 958"/>
                <a:gd name="T27" fmla="*/ 0 h 1355"/>
                <a:gd name="T28" fmla="*/ 0 w 958"/>
                <a:gd name="T29" fmla="*/ 0 h 1355"/>
                <a:gd name="T30" fmla="*/ 0 w 958"/>
                <a:gd name="T31" fmla="*/ 0 h 1355"/>
                <a:gd name="T32" fmla="*/ 0 w 958"/>
                <a:gd name="T33" fmla="*/ 0 h 1355"/>
                <a:gd name="T34" fmla="*/ 0 w 958"/>
                <a:gd name="T35" fmla="*/ 0 h 1355"/>
                <a:gd name="T36" fmla="*/ 0 w 958"/>
                <a:gd name="T37" fmla="*/ 0 h 1355"/>
                <a:gd name="T38" fmla="*/ 0 w 958"/>
                <a:gd name="T39" fmla="*/ 0 h 1355"/>
                <a:gd name="T40" fmla="*/ 0 w 958"/>
                <a:gd name="T41" fmla="*/ 0 h 1355"/>
                <a:gd name="T42" fmla="*/ 0 w 958"/>
                <a:gd name="T43" fmla="*/ 0 h 1355"/>
                <a:gd name="T44" fmla="*/ 0 w 958"/>
                <a:gd name="T45" fmla="*/ 0 h 1355"/>
                <a:gd name="T46" fmla="*/ 0 w 958"/>
                <a:gd name="T47" fmla="*/ 0 h 1355"/>
                <a:gd name="T48" fmla="*/ 0 w 958"/>
                <a:gd name="T49" fmla="*/ 0 h 1355"/>
                <a:gd name="T50" fmla="*/ 0 w 958"/>
                <a:gd name="T51" fmla="*/ 0 h 1355"/>
                <a:gd name="T52" fmla="*/ 0 w 958"/>
                <a:gd name="T53" fmla="*/ 0 h 1355"/>
                <a:gd name="T54" fmla="*/ 0 w 958"/>
                <a:gd name="T55" fmla="*/ 0 h 1355"/>
                <a:gd name="T56" fmla="*/ 0 w 958"/>
                <a:gd name="T57" fmla="*/ 0 h 1355"/>
                <a:gd name="T58" fmla="*/ 0 w 958"/>
                <a:gd name="T59" fmla="*/ 0 h 1355"/>
                <a:gd name="T60" fmla="*/ 0 w 958"/>
                <a:gd name="T61" fmla="*/ 0 h 1355"/>
                <a:gd name="T62" fmla="*/ 0 w 958"/>
                <a:gd name="T63" fmla="*/ 0 h 1355"/>
                <a:gd name="T64" fmla="*/ 0 w 958"/>
                <a:gd name="T65" fmla="*/ 0 h 1355"/>
                <a:gd name="T66" fmla="*/ 0 w 958"/>
                <a:gd name="T67" fmla="*/ 0 h 1355"/>
                <a:gd name="T68" fmla="*/ 0 w 958"/>
                <a:gd name="T69" fmla="*/ 0 h 1355"/>
                <a:gd name="T70" fmla="*/ 0 w 958"/>
                <a:gd name="T71" fmla="*/ 0 h 1355"/>
                <a:gd name="T72" fmla="*/ 0 w 958"/>
                <a:gd name="T73" fmla="*/ 0 h 1355"/>
                <a:gd name="T74" fmla="*/ 0 w 958"/>
                <a:gd name="T75" fmla="*/ 0 h 135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958"/>
                <a:gd name="T115" fmla="*/ 0 h 1355"/>
                <a:gd name="T116" fmla="*/ 958 w 958"/>
                <a:gd name="T117" fmla="*/ 1355 h 1355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958" h="1355">
                  <a:moveTo>
                    <a:pt x="927" y="365"/>
                  </a:moveTo>
                  <a:lnTo>
                    <a:pt x="896" y="327"/>
                  </a:lnTo>
                  <a:lnTo>
                    <a:pt x="848" y="289"/>
                  </a:lnTo>
                  <a:lnTo>
                    <a:pt x="779" y="251"/>
                  </a:lnTo>
                  <a:lnTo>
                    <a:pt x="604" y="154"/>
                  </a:lnTo>
                  <a:lnTo>
                    <a:pt x="413" y="55"/>
                  </a:lnTo>
                  <a:lnTo>
                    <a:pt x="345" y="22"/>
                  </a:lnTo>
                  <a:lnTo>
                    <a:pt x="299" y="6"/>
                  </a:lnTo>
                  <a:lnTo>
                    <a:pt x="263" y="0"/>
                  </a:lnTo>
                  <a:lnTo>
                    <a:pt x="235" y="0"/>
                  </a:lnTo>
                  <a:lnTo>
                    <a:pt x="211" y="5"/>
                  </a:lnTo>
                  <a:lnTo>
                    <a:pt x="188" y="22"/>
                  </a:lnTo>
                  <a:lnTo>
                    <a:pt x="169" y="43"/>
                  </a:lnTo>
                  <a:lnTo>
                    <a:pt x="152" y="79"/>
                  </a:lnTo>
                  <a:lnTo>
                    <a:pt x="0" y="866"/>
                  </a:lnTo>
                  <a:lnTo>
                    <a:pt x="0" y="899"/>
                  </a:lnTo>
                  <a:lnTo>
                    <a:pt x="0" y="942"/>
                  </a:lnTo>
                  <a:lnTo>
                    <a:pt x="6" y="973"/>
                  </a:lnTo>
                  <a:lnTo>
                    <a:pt x="16" y="995"/>
                  </a:lnTo>
                  <a:lnTo>
                    <a:pt x="30" y="1016"/>
                  </a:lnTo>
                  <a:lnTo>
                    <a:pt x="58" y="1044"/>
                  </a:lnTo>
                  <a:lnTo>
                    <a:pt x="87" y="1063"/>
                  </a:lnTo>
                  <a:lnTo>
                    <a:pt x="121" y="1082"/>
                  </a:lnTo>
                  <a:lnTo>
                    <a:pt x="575" y="1318"/>
                  </a:lnTo>
                  <a:lnTo>
                    <a:pt x="619" y="1335"/>
                  </a:lnTo>
                  <a:lnTo>
                    <a:pt x="656" y="1347"/>
                  </a:lnTo>
                  <a:lnTo>
                    <a:pt x="700" y="1355"/>
                  </a:lnTo>
                  <a:lnTo>
                    <a:pt x="728" y="1355"/>
                  </a:lnTo>
                  <a:lnTo>
                    <a:pt x="757" y="1347"/>
                  </a:lnTo>
                  <a:lnTo>
                    <a:pt x="779" y="1319"/>
                  </a:lnTo>
                  <a:lnTo>
                    <a:pt x="791" y="1270"/>
                  </a:lnTo>
                  <a:lnTo>
                    <a:pt x="809" y="1208"/>
                  </a:lnTo>
                  <a:lnTo>
                    <a:pt x="888" y="866"/>
                  </a:lnTo>
                  <a:lnTo>
                    <a:pt x="945" y="527"/>
                  </a:lnTo>
                  <a:lnTo>
                    <a:pt x="958" y="448"/>
                  </a:lnTo>
                  <a:lnTo>
                    <a:pt x="955" y="419"/>
                  </a:lnTo>
                  <a:lnTo>
                    <a:pt x="946" y="394"/>
                  </a:lnTo>
                  <a:lnTo>
                    <a:pt x="927" y="365"/>
                  </a:lnTo>
                  <a:close/>
                </a:path>
              </a:pathLst>
            </a:custGeom>
            <a:solidFill>
              <a:srgbClr val="60606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0" name="Freeform 19"/>
            <p:cNvSpPr>
              <a:spLocks/>
            </p:cNvSpPr>
            <p:nvPr/>
          </p:nvSpPr>
          <p:spPr bwMode="auto">
            <a:xfrm>
              <a:off x="3990" y="722"/>
              <a:ext cx="157" cy="222"/>
            </a:xfrm>
            <a:custGeom>
              <a:avLst/>
              <a:gdLst>
                <a:gd name="T0" fmla="*/ 0 w 1255"/>
                <a:gd name="T1" fmla="*/ 0 h 1769"/>
                <a:gd name="T2" fmla="*/ 0 w 1255"/>
                <a:gd name="T3" fmla="*/ 0 h 1769"/>
                <a:gd name="T4" fmla="*/ 0 w 1255"/>
                <a:gd name="T5" fmla="*/ 0 h 1769"/>
                <a:gd name="T6" fmla="*/ 0 w 1255"/>
                <a:gd name="T7" fmla="*/ 0 h 1769"/>
                <a:gd name="T8" fmla="*/ 0 w 1255"/>
                <a:gd name="T9" fmla="*/ 0 h 1769"/>
                <a:gd name="T10" fmla="*/ 0 w 1255"/>
                <a:gd name="T11" fmla="*/ 0 h 1769"/>
                <a:gd name="T12" fmla="*/ 0 w 1255"/>
                <a:gd name="T13" fmla="*/ 0 h 1769"/>
                <a:gd name="T14" fmla="*/ 0 w 1255"/>
                <a:gd name="T15" fmla="*/ 0 h 1769"/>
                <a:gd name="T16" fmla="*/ 0 w 1255"/>
                <a:gd name="T17" fmla="*/ 0 h 1769"/>
                <a:gd name="T18" fmla="*/ 0 w 1255"/>
                <a:gd name="T19" fmla="*/ 0 h 1769"/>
                <a:gd name="T20" fmla="*/ 0 w 1255"/>
                <a:gd name="T21" fmla="*/ 0 h 1769"/>
                <a:gd name="T22" fmla="*/ 0 w 1255"/>
                <a:gd name="T23" fmla="*/ 0 h 176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55"/>
                <a:gd name="T37" fmla="*/ 0 h 1769"/>
                <a:gd name="T38" fmla="*/ 1255 w 1255"/>
                <a:gd name="T39" fmla="*/ 1769 h 176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55" h="1769">
                  <a:moveTo>
                    <a:pt x="1249" y="448"/>
                  </a:moveTo>
                  <a:lnTo>
                    <a:pt x="1255" y="442"/>
                  </a:lnTo>
                  <a:lnTo>
                    <a:pt x="1194" y="469"/>
                  </a:lnTo>
                  <a:lnTo>
                    <a:pt x="1155" y="485"/>
                  </a:lnTo>
                  <a:lnTo>
                    <a:pt x="1136" y="496"/>
                  </a:lnTo>
                  <a:lnTo>
                    <a:pt x="1107" y="531"/>
                  </a:lnTo>
                  <a:lnTo>
                    <a:pt x="1088" y="574"/>
                  </a:lnTo>
                  <a:lnTo>
                    <a:pt x="797" y="1769"/>
                  </a:lnTo>
                  <a:lnTo>
                    <a:pt x="0" y="1486"/>
                  </a:lnTo>
                  <a:lnTo>
                    <a:pt x="325" y="32"/>
                  </a:lnTo>
                  <a:lnTo>
                    <a:pt x="496" y="0"/>
                  </a:lnTo>
                  <a:lnTo>
                    <a:pt x="1249" y="448"/>
                  </a:lnTo>
                  <a:close/>
                </a:path>
              </a:pathLst>
            </a:custGeom>
            <a:solidFill>
              <a:srgbClr val="60606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41" name="Group 20"/>
            <p:cNvGrpSpPr>
              <a:grpSpLocks/>
            </p:cNvGrpSpPr>
            <p:nvPr/>
          </p:nvGrpSpPr>
          <p:grpSpPr bwMode="auto">
            <a:xfrm>
              <a:off x="4078" y="644"/>
              <a:ext cx="81" cy="93"/>
              <a:chOff x="4078" y="644"/>
              <a:chExt cx="81" cy="93"/>
            </a:xfrm>
          </p:grpSpPr>
          <p:sp>
            <p:nvSpPr>
              <p:cNvPr id="161" name="Oval 21"/>
              <p:cNvSpPr>
                <a:spLocks noChangeArrowheads="1"/>
              </p:cNvSpPr>
              <p:nvPr/>
            </p:nvSpPr>
            <p:spPr bwMode="auto">
              <a:xfrm>
                <a:off x="4078" y="644"/>
                <a:ext cx="81" cy="93"/>
              </a:xfrm>
              <a:prstGeom prst="ellipse">
                <a:avLst/>
              </a:prstGeom>
              <a:solidFill>
                <a:srgbClr val="40404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altLang="en-US" sz="1800"/>
              </a:p>
            </p:txBody>
          </p:sp>
          <p:grpSp>
            <p:nvGrpSpPr>
              <p:cNvPr id="162" name="Group 22"/>
              <p:cNvGrpSpPr>
                <a:grpSpLocks/>
              </p:cNvGrpSpPr>
              <p:nvPr/>
            </p:nvGrpSpPr>
            <p:grpSpPr bwMode="auto">
              <a:xfrm>
                <a:off x="4098" y="660"/>
                <a:ext cx="44" cy="61"/>
                <a:chOff x="4098" y="660"/>
                <a:chExt cx="44" cy="61"/>
              </a:xfrm>
            </p:grpSpPr>
            <p:sp>
              <p:nvSpPr>
                <p:cNvPr id="163" name="Oval 23"/>
                <p:cNvSpPr>
                  <a:spLocks noChangeArrowheads="1"/>
                </p:cNvSpPr>
                <p:nvPr/>
              </p:nvSpPr>
              <p:spPr bwMode="auto">
                <a:xfrm>
                  <a:off x="4118" y="687"/>
                  <a:ext cx="4" cy="5"/>
                </a:xfrm>
                <a:prstGeom prst="ellipse">
                  <a:avLst/>
                </a:pr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IN" altLang="en-US" sz="1800"/>
                </a:p>
              </p:txBody>
            </p:sp>
            <p:sp>
              <p:nvSpPr>
                <p:cNvPr id="164" name="Oval 24"/>
                <p:cNvSpPr>
                  <a:spLocks noChangeArrowheads="1"/>
                </p:cNvSpPr>
                <p:nvPr/>
              </p:nvSpPr>
              <p:spPr bwMode="auto">
                <a:xfrm>
                  <a:off x="4133" y="694"/>
                  <a:ext cx="5" cy="5"/>
                </a:xfrm>
                <a:prstGeom prst="ellipse">
                  <a:avLst/>
                </a:pr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IN" altLang="en-US" sz="1800"/>
                </a:p>
              </p:txBody>
            </p:sp>
            <p:sp>
              <p:nvSpPr>
                <p:cNvPr id="165" name="Oval 25"/>
                <p:cNvSpPr>
                  <a:spLocks noChangeArrowheads="1"/>
                </p:cNvSpPr>
                <p:nvPr/>
              </p:nvSpPr>
              <p:spPr bwMode="auto">
                <a:xfrm>
                  <a:off x="4098" y="704"/>
                  <a:ext cx="4" cy="5"/>
                </a:xfrm>
                <a:prstGeom prst="ellipse">
                  <a:avLst/>
                </a:pr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IN" altLang="en-US" sz="1800"/>
                </a:p>
              </p:txBody>
            </p:sp>
            <p:sp>
              <p:nvSpPr>
                <p:cNvPr id="166" name="Oval 26"/>
                <p:cNvSpPr>
                  <a:spLocks noChangeArrowheads="1"/>
                </p:cNvSpPr>
                <p:nvPr/>
              </p:nvSpPr>
              <p:spPr bwMode="auto">
                <a:xfrm>
                  <a:off x="4113" y="710"/>
                  <a:ext cx="4" cy="5"/>
                </a:xfrm>
                <a:prstGeom prst="ellipse">
                  <a:avLst/>
                </a:pr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IN" altLang="en-US" sz="1800"/>
                </a:p>
              </p:txBody>
            </p:sp>
            <p:sp>
              <p:nvSpPr>
                <p:cNvPr id="167" name="Oval 27"/>
                <p:cNvSpPr>
                  <a:spLocks noChangeArrowheads="1"/>
                </p:cNvSpPr>
                <p:nvPr/>
              </p:nvSpPr>
              <p:spPr bwMode="auto">
                <a:xfrm>
                  <a:off x="4129" y="716"/>
                  <a:ext cx="4" cy="5"/>
                </a:xfrm>
                <a:prstGeom prst="ellipse">
                  <a:avLst/>
                </a:pr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IN" altLang="en-US" sz="1800"/>
                </a:p>
              </p:txBody>
            </p:sp>
            <p:sp>
              <p:nvSpPr>
                <p:cNvPr id="168" name="Oval 28"/>
                <p:cNvSpPr>
                  <a:spLocks noChangeArrowheads="1"/>
                </p:cNvSpPr>
                <p:nvPr/>
              </p:nvSpPr>
              <p:spPr bwMode="auto">
                <a:xfrm>
                  <a:off x="4107" y="694"/>
                  <a:ext cx="5" cy="5"/>
                </a:xfrm>
                <a:prstGeom prst="ellipse">
                  <a:avLst/>
                </a:pr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IN" altLang="en-US" sz="1800"/>
                </a:p>
              </p:txBody>
            </p:sp>
            <p:sp>
              <p:nvSpPr>
                <p:cNvPr id="169" name="Oval 29"/>
                <p:cNvSpPr>
                  <a:spLocks noChangeArrowheads="1"/>
                </p:cNvSpPr>
                <p:nvPr/>
              </p:nvSpPr>
              <p:spPr bwMode="auto">
                <a:xfrm>
                  <a:off x="4122" y="701"/>
                  <a:ext cx="5" cy="5"/>
                </a:xfrm>
                <a:prstGeom prst="ellipse">
                  <a:avLst/>
                </a:pr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IN" altLang="en-US" sz="1800"/>
                </a:p>
              </p:txBody>
            </p:sp>
            <p:sp>
              <p:nvSpPr>
                <p:cNvPr id="170" name="Oval 30"/>
                <p:cNvSpPr>
                  <a:spLocks noChangeArrowheads="1"/>
                </p:cNvSpPr>
                <p:nvPr/>
              </p:nvSpPr>
              <p:spPr bwMode="auto">
                <a:xfrm>
                  <a:off x="4106" y="660"/>
                  <a:ext cx="4" cy="5"/>
                </a:xfrm>
                <a:prstGeom prst="ellipse">
                  <a:avLst/>
                </a:pr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IN" altLang="en-US" sz="1800"/>
                </a:p>
              </p:txBody>
            </p:sp>
            <p:sp>
              <p:nvSpPr>
                <p:cNvPr id="171" name="Oval 31"/>
                <p:cNvSpPr>
                  <a:spLocks noChangeArrowheads="1"/>
                </p:cNvSpPr>
                <p:nvPr/>
              </p:nvSpPr>
              <p:spPr bwMode="auto">
                <a:xfrm>
                  <a:off x="4122" y="666"/>
                  <a:ext cx="4" cy="5"/>
                </a:xfrm>
                <a:prstGeom prst="ellipse">
                  <a:avLst/>
                </a:pr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IN" altLang="en-US" sz="1800"/>
                </a:p>
              </p:txBody>
            </p:sp>
            <p:sp>
              <p:nvSpPr>
                <p:cNvPr id="172" name="Oval 32"/>
                <p:cNvSpPr>
                  <a:spLocks noChangeArrowheads="1"/>
                </p:cNvSpPr>
                <p:nvPr/>
              </p:nvSpPr>
              <p:spPr bwMode="auto">
                <a:xfrm>
                  <a:off x="4137" y="673"/>
                  <a:ext cx="5" cy="5"/>
                </a:xfrm>
                <a:prstGeom prst="ellipse">
                  <a:avLst/>
                </a:pr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IN" altLang="en-US" sz="1800"/>
                </a:p>
              </p:txBody>
            </p:sp>
            <p:sp>
              <p:nvSpPr>
                <p:cNvPr id="173" name="Oval 33"/>
                <p:cNvSpPr>
                  <a:spLocks noChangeArrowheads="1"/>
                </p:cNvSpPr>
                <p:nvPr/>
              </p:nvSpPr>
              <p:spPr bwMode="auto">
                <a:xfrm>
                  <a:off x="4101" y="682"/>
                  <a:ext cx="4" cy="5"/>
                </a:xfrm>
                <a:prstGeom prst="ellipse">
                  <a:avLst/>
                </a:pr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IN" altLang="en-US" sz="1800"/>
                </a:p>
              </p:txBody>
            </p:sp>
            <p:sp>
              <p:nvSpPr>
                <p:cNvPr id="174" name="Oval 34"/>
                <p:cNvSpPr>
                  <a:spLocks noChangeArrowheads="1"/>
                </p:cNvSpPr>
                <p:nvPr/>
              </p:nvSpPr>
              <p:spPr bwMode="auto">
                <a:xfrm>
                  <a:off x="4111" y="673"/>
                  <a:ext cx="5" cy="5"/>
                </a:xfrm>
                <a:prstGeom prst="ellipse">
                  <a:avLst/>
                </a:pr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IN" altLang="en-US" sz="1800"/>
                </a:p>
              </p:txBody>
            </p:sp>
            <p:sp>
              <p:nvSpPr>
                <p:cNvPr id="175" name="Oval 35"/>
                <p:cNvSpPr>
                  <a:spLocks noChangeArrowheads="1"/>
                </p:cNvSpPr>
                <p:nvPr/>
              </p:nvSpPr>
              <p:spPr bwMode="auto">
                <a:xfrm>
                  <a:off x="4127" y="679"/>
                  <a:ext cx="5" cy="5"/>
                </a:xfrm>
                <a:prstGeom prst="ellipse">
                  <a:avLst/>
                </a:pr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IN" altLang="en-US" sz="1800"/>
                </a:p>
              </p:txBody>
            </p:sp>
          </p:grpSp>
        </p:grpSp>
        <p:grpSp>
          <p:nvGrpSpPr>
            <p:cNvPr id="142" name="Group 36"/>
            <p:cNvGrpSpPr>
              <a:grpSpLocks/>
            </p:cNvGrpSpPr>
            <p:nvPr/>
          </p:nvGrpSpPr>
          <p:grpSpPr bwMode="auto">
            <a:xfrm>
              <a:off x="4015" y="755"/>
              <a:ext cx="106" cy="173"/>
              <a:chOff x="4015" y="755"/>
              <a:chExt cx="106" cy="173"/>
            </a:xfrm>
          </p:grpSpPr>
          <p:sp>
            <p:nvSpPr>
              <p:cNvPr id="143" name="Oval 37"/>
              <p:cNvSpPr>
                <a:spLocks noChangeArrowheads="1"/>
              </p:cNvSpPr>
              <p:nvPr/>
            </p:nvSpPr>
            <p:spPr bwMode="auto">
              <a:xfrm>
                <a:off x="4068" y="903"/>
                <a:ext cx="22" cy="25"/>
              </a:xfrm>
              <a:prstGeom prst="ellipse">
                <a:avLst/>
              </a:prstGeom>
              <a:solidFill>
                <a:srgbClr val="A0A0A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altLang="en-US" sz="1800"/>
              </a:p>
            </p:txBody>
          </p:sp>
          <p:sp>
            <p:nvSpPr>
              <p:cNvPr id="144" name="Oval 38"/>
              <p:cNvSpPr>
                <a:spLocks noChangeArrowheads="1"/>
              </p:cNvSpPr>
              <p:nvPr/>
            </p:nvSpPr>
            <p:spPr bwMode="auto">
              <a:xfrm>
                <a:off x="4047" y="755"/>
                <a:ext cx="21" cy="25"/>
              </a:xfrm>
              <a:prstGeom prst="ellipse">
                <a:avLst/>
              </a:prstGeom>
              <a:solidFill>
                <a:srgbClr val="A0A0A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altLang="en-US" sz="1800"/>
              </a:p>
            </p:txBody>
          </p:sp>
          <p:sp>
            <p:nvSpPr>
              <p:cNvPr id="145" name="Oval 39"/>
              <p:cNvSpPr>
                <a:spLocks noChangeArrowheads="1"/>
              </p:cNvSpPr>
              <p:nvPr/>
            </p:nvSpPr>
            <p:spPr bwMode="auto">
              <a:xfrm>
                <a:off x="4073" y="766"/>
                <a:ext cx="22" cy="25"/>
              </a:xfrm>
              <a:prstGeom prst="ellipse">
                <a:avLst/>
              </a:prstGeom>
              <a:solidFill>
                <a:srgbClr val="A0A0A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altLang="en-US" sz="1800"/>
              </a:p>
            </p:txBody>
          </p:sp>
          <p:sp>
            <p:nvSpPr>
              <p:cNvPr id="146" name="Oval 40"/>
              <p:cNvSpPr>
                <a:spLocks noChangeArrowheads="1"/>
              </p:cNvSpPr>
              <p:nvPr/>
            </p:nvSpPr>
            <p:spPr bwMode="auto">
              <a:xfrm>
                <a:off x="4099" y="778"/>
                <a:ext cx="22" cy="25"/>
              </a:xfrm>
              <a:prstGeom prst="ellipse">
                <a:avLst/>
              </a:prstGeom>
              <a:solidFill>
                <a:srgbClr val="A0A0A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altLang="en-US" sz="1800"/>
              </a:p>
            </p:txBody>
          </p:sp>
          <p:sp>
            <p:nvSpPr>
              <p:cNvPr id="147" name="Oval 41"/>
              <p:cNvSpPr>
                <a:spLocks noChangeArrowheads="1"/>
              </p:cNvSpPr>
              <p:nvPr/>
            </p:nvSpPr>
            <p:spPr bwMode="auto">
              <a:xfrm>
                <a:off x="4040" y="781"/>
                <a:ext cx="22" cy="24"/>
              </a:xfrm>
              <a:prstGeom prst="ellipse">
                <a:avLst/>
              </a:prstGeom>
              <a:solidFill>
                <a:srgbClr val="A0A0A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altLang="en-US" sz="1800"/>
              </a:p>
            </p:txBody>
          </p:sp>
          <p:sp>
            <p:nvSpPr>
              <p:cNvPr id="148" name="Oval 42"/>
              <p:cNvSpPr>
                <a:spLocks noChangeArrowheads="1"/>
              </p:cNvSpPr>
              <p:nvPr/>
            </p:nvSpPr>
            <p:spPr bwMode="auto">
              <a:xfrm>
                <a:off x="4067" y="791"/>
                <a:ext cx="22" cy="25"/>
              </a:xfrm>
              <a:prstGeom prst="ellipse">
                <a:avLst/>
              </a:prstGeom>
              <a:solidFill>
                <a:srgbClr val="A0A0A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altLang="en-US" sz="1800"/>
              </a:p>
            </p:txBody>
          </p:sp>
          <p:sp>
            <p:nvSpPr>
              <p:cNvPr id="149" name="Oval 43"/>
              <p:cNvSpPr>
                <a:spLocks noChangeArrowheads="1"/>
              </p:cNvSpPr>
              <p:nvPr/>
            </p:nvSpPr>
            <p:spPr bwMode="auto">
              <a:xfrm>
                <a:off x="4093" y="803"/>
                <a:ext cx="21" cy="25"/>
              </a:xfrm>
              <a:prstGeom prst="ellipse">
                <a:avLst/>
              </a:prstGeom>
              <a:solidFill>
                <a:srgbClr val="A0A0A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altLang="en-US" sz="1800"/>
              </a:p>
            </p:txBody>
          </p:sp>
          <p:sp>
            <p:nvSpPr>
              <p:cNvPr id="150" name="Oval 44"/>
              <p:cNvSpPr>
                <a:spLocks noChangeArrowheads="1"/>
              </p:cNvSpPr>
              <p:nvPr/>
            </p:nvSpPr>
            <p:spPr bwMode="auto">
              <a:xfrm>
                <a:off x="4033" y="805"/>
                <a:ext cx="22" cy="25"/>
              </a:xfrm>
              <a:prstGeom prst="ellipse">
                <a:avLst/>
              </a:prstGeom>
              <a:solidFill>
                <a:srgbClr val="A0A0A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altLang="en-US" sz="1800"/>
              </a:p>
            </p:txBody>
          </p:sp>
          <p:sp>
            <p:nvSpPr>
              <p:cNvPr id="151" name="Oval 45"/>
              <p:cNvSpPr>
                <a:spLocks noChangeArrowheads="1"/>
              </p:cNvSpPr>
              <p:nvPr/>
            </p:nvSpPr>
            <p:spPr bwMode="auto">
              <a:xfrm>
                <a:off x="4060" y="816"/>
                <a:ext cx="22" cy="25"/>
              </a:xfrm>
              <a:prstGeom prst="ellipse">
                <a:avLst/>
              </a:prstGeom>
              <a:solidFill>
                <a:srgbClr val="A0A0A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altLang="en-US" sz="1800"/>
              </a:p>
            </p:txBody>
          </p:sp>
          <p:sp>
            <p:nvSpPr>
              <p:cNvPr id="152" name="Oval 46"/>
              <p:cNvSpPr>
                <a:spLocks noChangeArrowheads="1"/>
              </p:cNvSpPr>
              <p:nvPr/>
            </p:nvSpPr>
            <p:spPr bwMode="auto">
              <a:xfrm>
                <a:off x="4086" y="828"/>
                <a:ext cx="22" cy="25"/>
              </a:xfrm>
              <a:prstGeom prst="ellipse">
                <a:avLst/>
              </a:prstGeom>
              <a:solidFill>
                <a:srgbClr val="A0A0A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altLang="en-US" sz="1800"/>
              </a:p>
            </p:txBody>
          </p:sp>
          <p:sp>
            <p:nvSpPr>
              <p:cNvPr id="153" name="Oval 47"/>
              <p:cNvSpPr>
                <a:spLocks noChangeArrowheads="1"/>
              </p:cNvSpPr>
              <p:nvPr/>
            </p:nvSpPr>
            <p:spPr bwMode="auto">
              <a:xfrm>
                <a:off x="4027" y="831"/>
                <a:ext cx="21" cy="24"/>
              </a:xfrm>
              <a:prstGeom prst="ellipse">
                <a:avLst/>
              </a:prstGeom>
              <a:solidFill>
                <a:srgbClr val="A0A0A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altLang="en-US" sz="1800"/>
              </a:p>
            </p:txBody>
          </p:sp>
          <p:sp>
            <p:nvSpPr>
              <p:cNvPr id="154" name="Oval 48"/>
              <p:cNvSpPr>
                <a:spLocks noChangeArrowheads="1"/>
              </p:cNvSpPr>
              <p:nvPr/>
            </p:nvSpPr>
            <p:spPr bwMode="auto">
              <a:xfrm>
                <a:off x="4054" y="841"/>
                <a:ext cx="21" cy="25"/>
              </a:xfrm>
              <a:prstGeom prst="ellipse">
                <a:avLst/>
              </a:prstGeom>
              <a:solidFill>
                <a:srgbClr val="A0A0A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altLang="en-US" sz="1800"/>
              </a:p>
            </p:txBody>
          </p:sp>
          <p:sp>
            <p:nvSpPr>
              <p:cNvPr id="155" name="Oval 49"/>
              <p:cNvSpPr>
                <a:spLocks noChangeArrowheads="1"/>
              </p:cNvSpPr>
              <p:nvPr/>
            </p:nvSpPr>
            <p:spPr bwMode="auto">
              <a:xfrm>
                <a:off x="4079" y="853"/>
                <a:ext cx="22" cy="25"/>
              </a:xfrm>
              <a:prstGeom prst="ellipse">
                <a:avLst/>
              </a:prstGeom>
              <a:solidFill>
                <a:srgbClr val="A0A0A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altLang="en-US" sz="1800"/>
              </a:p>
            </p:txBody>
          </p:sp>
          <p:sp>
            <p:nvSpPr>
              <p:cNvPr id="156" name="Oval 50"/>
              <p:cNvSpPr>
                <a:spLocks noChangeArrowheads="1"/>
              </p:cNvSpPr>
              <p:nvPr/>
            </p:nvSpPr>
            <p:spPr bwMode="auto">
              <a:xfrm>
                <a:off x="4021" y="856"/>
                <a:ext cx="22" cy="25"/>
              </a:xfrm>
              <a:prstGeom prst="ellipse">
                <a:avLst/>
              </a:prstGeom>
              <a:solidFill>
                <a:srgbClr val="A0A0A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altLang="en-US" sz="1800"/>
              </a:p>
            </p:txBody>
          </p:sp>
          <p:sp>
            <p:nvSpPr>
              <p:cNvPr id="157" name="Oval 51"/>
              <p:cNvSpPr>
                <a:spLocks noChangeArrowheads="1"/>
              </p:cNvSpPr>
              <p:nvPr/>
            </p:nvSpPr>
            <p:spPr bwMode="auto">
              <a:xfrm>
                <a:off x="4047" y="867"/>
                <a:ext cx="22" cy="25"/>
              </a:xfrm>
              <a:prstGeom prst="ellipse">
                <a:avLst/>
              </a:prstGeom>
              <a:solidFill>
                <a:srgbClr val="A0A0A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altLang="en-US" sz="1800"/>
              </a:p>
            </p:txBody>
          </p:sp>
          <p:sp>
            <p:nvSpPr>
              <p:cNvPr id="158" name="Oval 52"/>
              <p:cNvSpPr>
                <a:spLocks noChangeArrowheads="1"/>
              </p:cNvSpPr>
              <p:nvPr/>
            </p:nvSpPr>
            <p:spPr bwMode="auto">
              <a:xfrm>
                <a:off x="4073" y="878"/>
                <a:ext cx="22" cy="25"/>
              </a:xfrm>
              <a:prstGeom prst="ellipse">
                <a:avLst/>
              </a:prstGeom>
              <a:solidFill>
                <a:srgbClr val="A0A0A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altLang="en-US" sz="1800"/>
              </a:p>
            </p:txBody>
          </p:sp>
          <p:sp>
            <p:nvSpPr>
              <p:cNvPr id="159" name="Oval 53"/>
              <p:cNvSpPr>
                <a:spLocks noChangeArrowheads="1"/>
              </p:cNvSpPr>
              <p:nvPr/>
            </p:nvSpPr>
            <p:spPr bwMode="auto">
              <a:xfrm>
                <a:off x="4015" y="881"/>
                <a:ext cx="22" cy="24"/>
              </a:xfrm>
              <a:prstGeom prst="ellipse">
                <a:avLst/>
              </a:prstGeom>
              <a:solidFill>
                <a:srgbClr val="A0A0A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altLang="en-US" sz="1800"/>
              </a:p>
            </p:txBody>
          </p:sp>
          <p:sp>
            <p:nvSpPr>
              <p:cNvPr id="160" name="Oval 54"/>
              <p:cNvSpPr>
                <a:spLocks noChangeArrowheads="1"/>
              </p:cNvSpPr>
              <p:nvPr/>
            </p:nvSpPr>
            <p:spPr bwMode="auto">
              <a:xfrm>
                <a:off x="4042" y="891"/>
                <a:ext cx="22" cy="25"/>
              </a:xfrm>
              <a:prstGeom prst="ellipse">
                <a:avLst/>
              </a:prstGeom>
              <a:solidFill>
                <a:srgbClr val="A0A0A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altLang="en-US" sz="1800"/>
              </a:p>
            </p:txBody>
          </p:sp>
        </p:grpSp>
      </p:grpSp>
      <p:grpSp>
        <p:nvGrpSpPr>
          <p:cNvPr id="176" name="Group 55"/>
          <p:cNvGrpSpPr>
            <a:grpSpLocks/>
          </p:cNvGrpSpPr>
          <p:nvPr/>
        </p:nvGrpSpPr>
        <p:grpSpPr bwMode="auto">
          <a:xfrm>
            <a:off x="6424613" y="1195611"/>
            <a:ext cx="198437" cy="227012"/>
            <a:chOff x="3911" y="691"/>
            <a:chExt cx="125" cy="143"/>
          </a:xfrm>
        </p:grpSpPr>
        <p:grpSp>
          <p:nvGrpSpPr>
            <p:cNvPr id="177" name="Group 56"/>
            <p:cNvGrpSpPr>
              <a:grpSpLocks/>
            </p:cNvGrpSpPr>
            <p:nvPr/>
          </p:nvGrpSpPr>
          <p:grpSpPr bwMode="auto">
            <a:xfrm>
              <a:off x="3951" y="736"/>
              <a:ext cx="61" cy="65"/>
              <a:chOff x="3951" y="736"/>
              <a:chExt cx="61" cy="65"/>
            </a:xfrm>
          </p:grpSpPr>
          <p:sp>
            <p:nvSpPr>
              <p:cNvPr id="185" name="Freeform 57"/>
              <p:cNvSpPr>
                <a:spLocks/>
              </p:cNvSpPr>
              <p:nvPr/>
            </p:nvSpPr>
            <p:spPr bwMode="auto">
              <a:xfrm>
                <a:off x="3951" y="736"/>
                <a:ext cx="61" cy="65"/>
              </a:xfrm>
              <a:custGeom>
                <a:avLst/>
                <a:gdLst>
                  <a:gd name="T0" fmla="*/ 0 w 490"/>
                  <a:gd name="T1" fmla="*/ 0 h 516"/>
                  <a:gd name="T2" fmla="*/ 0 w 490"/>
                  <a:gd name="T3" fmla="*/ 0 h 516"/>
                  <a:gd name="T4" fmla="*/ 0 w 490"/>
                  <a:gd name="T5" fmla="*/ 0 h 516"/>
                  <a:gd name="T6" fmla="*/ 0 w 490"/>
                  <a:gd name="T7" fmla="*/ 0 h 516"/>
                  <a:gd name="T8" fmla="*/ 0 w 490"/>
                  <a:gd name="T9" fmla="*/ 0 h 516"/>
                  <a:gd name="T10" fmla="*/ 0 w 490"/>
                  <a:gd name="T11" fmla="*/ 0 h 516"/>
                  <a:gd name="T12" fmla="*/ 0 w 490"/>
                  <a:gd name="T13" fmla="*/ 0 h 516"/>
                  <a:gd name="T14" fmla="*/ 0 w 490"/>
                  <a:gd name="T15" fmla="*/ 0 h 516"/>
                  <a:gd name="T16" fmla="*/ 0 w 490"/>
                  <a:gd name="T17" fmla="*/ 0 h 516"/>
                  <a:gd name="T18" fmla="*/ 0 w 490"/>
                  <a:gd name="T19" fmla="*/ 0 h 516"/>
                  <a:gd name="T20" fmla="*/ 0 w 490"/>
                  <a:gd name="T21" fmla="*/ 0 h 516"/>
                  <a:gd name="T22" fmla="*/ 0 w 490"/>
                  <a:gd name="T23" fmla="*/ 0 h 516"/>
                  <a:gd name="T24" fmla="*/ 0 w 490"/>
                  <a:gd name="T25" fmla="*/ 0 h 516"/>
                  <a:gd name="T26" fmla="*/ 0 w 490"/>
                  <a:gd name="T27" fmla="*/ 0 h 516"/>
                  <a:gd name="T28" fmla="*/ 0 w 490"/>
                  <a:gd name="T29" fmla="*/ 0 h 516"/>
                  <a:gd name="T30" fmla="*/ 0 w 490"/>
                  <a:gd name="T31" fmla="*/ 0 h 516"/>
                  <a:gd name="T32" fmla="*/ 0 w 490"/>
                  <a:gd name="T33" fmla="*/ 0 h 516"/>
                  <a:gd name="T34" fmla="*/ 0 w 490"/>
                  <a:gd name="T35" fmla="*/ 0 h 516"/>
                  <a:gd name="T36" fmla="*/ 0 w 490"/>
                  <a:gd name="T37" fmla="*/ 0 h 516"/>
                  <a:gd name="T38" fmla="*/ 0 w 490"/>
                  <a:gd name="T39" fmla="*/ 0 h 516"/>
                  <a:gd name="T40" fmla="*/ 0 w 490"/>
                  <a:gd name="T41" fmla="*/ 0 h 516"/>
                  <a:gd name="T42" fmla="*/ 0 w 490"/>
                  <a:gd name="T43" fmla="*/ 0 h 516"/>
                  <a:gd name="T44" fmla="*/ 0 w 490"/>
                  <a:gd name="T45" fmla="*/ 0 h 516"/>
                  <a:gd name="T46" fmla="*/ 0 w 490"/>
                  <a:gd name="T47" fmla="*/ 0 h 516"/>
                  <a:gd name="T48" fmla="*/ 0 w 490"/>
                  <a:gd name="T49" fmla="*/ 0 h 516"/>
                  <a:gd name="T50" fmla="*/ 0 w 490"/>
                  <a:gd name="T51" fmla="*/ 0 h 516"/>
                  <a:gd name="T52" fmla="*/ 0 w 490"/>
                  <a:gd name="T53" fmla="*/ 0 h 516"/>
                  <a:gd name="T54" fmla="*/ 0 w 490"/>
                  <a:gd name="T55" fmla="*/ 0 h 516"/>
                  <a:gd name="T56" fmla="*/ 0 w 490"/>
                  <a:gd name="T57" fmla="*/ 0 h 51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490"/>
                  <a:gd name="T88" fmla="*/ 0 h 516"/>
                  <a:gd name="T89" fmla="*/ 490 w 490"/>
                  <a:gd name="T90" fmla="*/ 516 h 51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490" h="516">
                    <a:moveTo>
                      <a:pt x="0" y="0"/>
                    </a:moveTo>
                    <a:lnTo>
                      <a:pt x="94" y="27"/>
                    </a:lnTo>
                    <a:lnTo>
                      <a:pt x="180" y="54"/>
                    </a:lnTo>
                    <a:lnTo>
                      <a:pt x="252" y="77"/>
                    </a:lnTo>
                    <a:lnTo>
                      <a:pt x="347" y="140"/>
                    </a:lnTo>
                    <a:lnTo>
                      <a:pt x="374" y="173"/>
                    </a:lnTo>
                    <a:lnTo>
                      <a:pt x="403" y="227"/>
                    </a:lnTo>
                    <a:lnTo>
                      <a:pt x="440" y="289"/>
                    </a:lnTo>
                    <a:lnTo>
                      <a:pt x="472" y="355"/>
                    </a:lnTo>
                    <a:lnTo>
                      <a:pt x="487" y="393"/>
                    </a:lnTo>
                    <a:lnTo>
                      <a:pt x="490" y="420"/>
                    </a:lnTo>
                    <a:lnTo>
                      <a:pt x="490" y="444"/>
                    </a:lnTo>
                    <a:lnTo>
                      <a:pt x="483" y="463"/>
                    </a:lnTo>
                    <a:lnTo>
                      <a:pt x="462" y="485"/>
                    </a:lnTo>
                    <a:lnTo>
                      <a:pt x="443" y="502"/>
                    </a:lnTo>
                    <a:lnTo>
                      <a:pt x="400" y="513"/>
                    </a:lnTo>
                    <a:lnTo>
                      <a:pt x="369" y="516"/>
                    </a:lnTo>
                    <a:lnTo>
                      <a:pt x="329" y="516"/>
                    </a:lnTo>
                    <a:lnTo>
                      <a:pt x="300" y="507"/>
                    </a:lnTo>
                    <a:lnTo>
                      <a:pt x="270" y="490"/>
                    </a:lnTo>
                    <a:lnTo>
                      <a:pt x="250" y="479"/>
                    </a:lnTo>
                    <a:lnTo>
                      <a:pt x="228" y="459"/>
                    </a:lnTo>
                    <a:lnTo>
                      <a:pt x="213" y="435"/>
                    </a:lnTo>
                    <a:lnTo>
                      <a:pt x="193" y="402"/>
                    </a:lnTo>
                    <a:lnTo>
                      <a:pt x="174" y="370"/>
                    </a:lnTo>
                    <a:lnTo>
                      <a:pt x="167" y="355"/>
                    </a:lnTo>
                    <a:lnTo>
                      <a:pt x="153" y="333"/>
                    </a:lnTo>
                    <a:lnTo>
                      <a:pt x="138" y="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6" name="Freeform 58"/>
              <p:cNvSpPr>
                <a:spLocks/>
              </p:cNvSpPr>
              <p:nvPr/>
            </p:nvSpPr>
            <p:spPr bwMode="auto">
              <a:xfrm>
                <a:off x="3951" y="736"/>
                <a:ext cx="61" cy="65"/>
              </a:xfrm>
              <a:custGeom>
                <a:avLst/>
                <a:gdLst>
                  <a:gd name="T0" fmla="*/ 0 w 490"/>
                  <a:gd name="T1" fmla="*/ 0 h 516"/>
                  <a:gd name="T2" fmla="*/ 0 w 490"/>
                  <a:gd name="T3" fmla="*/ 0 h 516"/>
                  <a:gd name="T4" fmla="*/ 0 w 490"/>
                  <a:gd name="T5" fmla="*/ 0 h 516"/>
                  <a:gd name="T6" fmla="*/ 0 w 490"/>
                  <a:gd name="T7" fmla="*/ 0 h 516"/>
                  <a:gd name="T8" fmla="*/ 0 w 490"/>
                  <a:gd name="T9" fmla="*/ 0 h 516"/>
                  <a:gd name="T10" fmla="*/ 0 w 490"/>
                  <a:gd name="T11" fmla="*/ 0 h 516"/>
                  <a:gd name="T12" fmla="*/ 0 w 490"/>
                  <a:gd name="T13" fmla="*/ 0 h 516"/>
                  <a:gd name="T14" fmla="*/ 0 w 490"/>
                  <a:gd name="T15" fmla="*/ 0 h 516"/>
                  <a:gd name="T16" fmla="*/ 0 w 490"/>
                  <a:gd name="T17" fmla="*/ 0 h 516"/>
                  <a:gd name="T18" fmla="*/ 0 w 490"/>
                  <a:gd name="T19" fmla="*/ 0 h 516"/>
                  <a:gd name="T20" fmla="*/ 0 w 490"/>
                  <a:gd name="T21" fmla="*/ 0 h 516"/>
                  <a:gd name="T22" fmla="*/ 0 w 490"/>
                  <a:gd name="T23" fmla="*/ 0 h 516"/>
                  <a:gd name="T24" fmla="*/ 0 w 490"/>
                  <a:gd name="T25" fmla="*/ 0 h 516"/>
                  <a:gd name="T26" fmla="*/ 0 w 490"/>
                  <a:gd name="T27" fmla="*/ 0 h 516"/>
                  <a:gd name="T28" fmla="*/ 0 w 490"/>
                  <a:gd name="T29" fmla="*/ 0 h 516"/>
                  <a:gd name="T30" fmla="*/ 0 w 490"/>
                  <a:gd name="T31" fmla="*/ 0 h 516"/>
                  <a:gd name="T32" fmla="*/ 0 w 490"/>
                  <a:gd name="T33" fmla="*/ 0 h 516"/>
                  <a:gd name="T34" fmla="*/ 0 w 490"/>
                  <a:gd name="T35" fmla="*/ 0 h 516"/>
                  <a:gd name="T36" fmla="*/ 0 w 490"/>
                  <a:gd name="T37" fmla="*/ 0 h 516"/>
                  <a:gd name="T38" fmla="*/ 0 w 490"/>
                  <a:gd name="T39" fmla="*/ 0 h 516"/>
                  <a:gd name="T40" fmla="*/ 0 w 490"/>
                  <a:gd name="T41" fmla="*/ 0 h 516"/>
                  <a:gd name="T42" fmla="*/ 0 w 490"/>
                  <a:gd name="T43" fmla="*/ 0 h 516"/>
                  <a:gd name="T44" fmla="*/ 0 w 490"/>
                  <a:gd name="T45" fmla="*/ 0 h 516"/>
                  <a:gd name="T46" fmla="*/ 0 w 490"/>
                  <a:gd name="T47" fmla="*/ 0 h 516"/>
                  <a:gd name="T48" fmla="*/ 0 w 490"/>
                  <a:gd name="T49" fmla="*/ 0 h 516"/>
                  <a:gd name="T50" fmla="*/ 0 w 490"/>
                  <a:gd name="T51" fmla="*/ 0 h 516"/>
                  <a:gd name="T52" fmla="*/ 0 w 490"/>
                  <a:gd name="T53" fmla="*/ 0 h 516"/>
                  <a:gd name="T54" fmla="*/ 0 w 490"/>
                  <a:gd name="T55" fmla="*/ 0 h 51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490"/>
                  <a:gd name="T85" fmla="*/ 0 h 516"/>
                  <a:gd name="T86" fmla="*/ 490 w 490"/>
                  <a:gd name="T87" fmla="*/ 516 h 51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490" h="516">
                    <a:moveTo>
                      <a:pt x="0" y="0"/>
                    </a:moveTo>
                    <a:lnTo>
                      <a:pt x="94" y="27"/>
                    </a:lnTo>
                    <a:lnTo>
                      <a:pt x="180" y="54"/>
                    </a:lnTo>
                    <a:lnTo>
                      <a:pt x="252" y="77"/>
                    </a:lnTo>
                    <a:lnTo>
                      <a:pt x="347" y="140"/>
                    </a:lnTo>
                    <a:lnTo>
                      <a:pt x="374" y="173"/>
                    </a:lnTo>
                    <a:lnTo>
                      <a:pt x="403" y="227"/>
                    </a:lnTo>
                    <a:lnTo>
                      <a:pt x="440" y="289"/>
                    </a:lnTo>
                    <a:lnTo>
                      <a:pt x="472" y="355"/>
                    </a:lnTo>
                    <a:lnTo>
                      <a:pt x="487" y="393"/>
                    </a:lnTo>
                    <a:lnTo>
                      <a:pt x="490" y="420"/>
                    </a:lnTo>
                    <a:lnTo>
                      <a:pt x="490" y="444"/>
                    </a:lnTo>
                    <a:lnTo>
                      <a:pt x="483" y="463"/>
                    </a:lnTo>
                    <a:lnTo>
                      <a:pt x="462" y="485"/>
                    </a:lnTo>
                    <a:lnTo>
                      <a:pt x="443" y="502"/>
                    </a:lnTo>
                    <a:lnTo>
                      <a:pt x="400" y="513"/>
                    </a:lnTo>
                    <a:lnTo>
                      <a:pt x="369" y="516"/>
                    </a:lnTo>
                    <a:lnTo>
                      <a:pt x="329" y="516"/>
                    </a:lnTo>
                    <a:lnTo>
                      <a:pt x="300" y="507"/>
                    </a:lnTo>
                    <a:lnTo>
                      <a:pt x="270" y="490"/>
                    </a:lnTo>
                    <a:lnTo>
                      <a:pt x="250" y="479"/>
                    </a:lnTo>
                    <a:lnTo>
                      <a:pt x="228" y="459"/>
                    </a:lnTo>
                    <a:lnTo>
                      <a:pt x="213" y="435"/>
                    </a:lnTo>
                    <a:lnTo>
                      <a:pt x="193" y="402"/>
                    </a:lnTo>
                    <a:lnTo>
                      <a:pt x="174" y="370"/>
                    </a:lnTo>
                    <a:lnTo>
                      <a:pt x="167" y="355"/>
                    </a:lnTo>
                    <a:lnTo>
                      <a:pt x="153" y="333"/>
                    </a:lnTo>
                    <a:lnTo>
                      <a:pt x="138" y="295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78" name="Group 59"/>
            <p:cNvGrpSpPr>
              <a:grpSpLocks/>
            </p:cNvGrpSpPr>
            <p:nvPr/>
          </p:nvGrpSpPr>
          <p:grpSpPr bwMode="auto">
            <a:xfrm>
              <a:off x="3983" y="707"/>
              <a:ext cx="45" cy="51"/>
              <a:chOff x="3983" y="707"/>
              <a:chExt cx="45" cy="51"/>
            </a:xfrm>
          </p:grpSpPr>
          <p:sp>
            <p:nvSpPr>
              <p:cNvPr id="183" name="Freeform 60"/>
              <p:cNvSpPr>
                <a:spLocks/>
              </p:cNvSpPr>
              <p:nvPr/>
            </p:nvSpPr>
            <p:spPr bwMode="auto">
              <a:xfrm>
                <a:off x="3983" y="707"/>
                <a:ext cx="45" cy="51"/>
              </a:xfrm>
              <a:custGeom>
                <a:avLst/>
                <a:gdLst>
                  <a:gd name="T0" fmla="*/ 0 w 364"/>
                  <a:gd name="T1" fmla="*/ 0 h 405"/>
                  <a:gd name="T2" fmla="*/ 0 w 364"/>
                  <a:gd name="T3" fmla="*/ 0 h 405"/>
                  <a:gd name="T4" fmla="*/ 0 w 364"/>
                  <a:gd name="T5" fmla="*/ 0 h 405"/>
                  <a:gd name="T6" fmla="*/ 0 w 364"/>
                  <a:gd name="T7" fmla="*/ 0 h 405"/>
                  <a:gd name="T8" fmla="*/ 0 w 364"/>
                  <a:gd name="T9" fmla="*/ 0 h 405"/>
                  <a:gd name="T10" fmla="*/ 0 w 364"/>
                  <a:gd name="T11" fmla="*/ 0 h 405"/>
                  <a:gd name="T12" fmla="*/ 0 w 364"/>
                  <a:gd name="T13" fmla="*/ 0 h 405"/>
                  <a:gd name="T14" fmla="*/ 0 w 364"/>
                  <a:gd name="T15" fmla="*/ 0 h 405"/>
                  <a:gd name="T16" fmla="*/ 0 w 364"/>
                  <a:gd name="T17" fmla="*/ 0 h 405"/>
                  <a:gd name="T18" fmla="*/ 0 w 364"/>
                  <a:gd name="T19" fmla="*/ 0 h 405"/>
                  <a:gd name="T20" fmla="*/ 0 w 364"/>
                  <a:gd name="T21" fmla="*/ 0 h 405"/>
                  <a:gd name="T22" fmla="*/ 0 w 364"/>
                  <a:gd name="T23" fmla="*/ 0 h 405"/>
                  <a:gd name="T24" fmla="*/ 0 w 364"/>
                  <a:gd name="T25" fmla="*/ 0 h 405"/>
                  <a:gd name="T26" fmla="*/ 0 w 364"/>
                  <a:gd name="T27" fmla="*/ 0 h 405"/>
                  <a:gd name="T28" fmla="*/ 0 w 364"/>
                  <a:gd name="T29" fmla="*/ 0 h 405"/>
                  <a:gd name="T30" fmla="*/ 0 w 364"/>
                  <a:gd name="T31" fmla="*/ 0 h 405"/>
                  <a:gd name="T32" fmla="*/ 0 w 364"/>
                  <a:gd name="T33" fmla="*/ 0 h 405"/>
                  <a:gd name="T34" fmla="*/ 0 w 364"/>
                  <a:gd name="T35" fmla="*/ 0 h 405"/>
                  <a:gd name="T36" fmla="*/ 0 w 364"/>
                  <a:gd name="T37" fmla="*/ 0 h 405"/>
                  <a:gd name="T38" fmla="*/ 0 w 364"/>
                  <a:gd name="T39" fmla="*/ 0 h 405"/>
                  <a:gd name="T40" fmla="*/ 0 w 364"/>
                  <a:gd name="T41" fmla="*/ 0 h 405"/>
                  <a:gd name="T42" fmla="*/ 0 w 364"/>
                  <a:gd name="T43" fmla="*/ 0 h 405"/>
                  <a:gd name="T44" fmla="*/ 0 w 364"/>
                  <a:gd name="T45" fmla="*/ 0 h 405"/>
                  <a:gd name="T46" fmla="*/ 0 w 364"/>
                  <a:gd name="T47" fmla="*/ 0 h 405"/>
                  <a:gd name="T48" fmla="*/ 0 w 364"/>
                  <a:gd name="T49" fmla="*/ 0 h 405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364"/>
                  <a:gd name="T76" fmla="*/ 0 h 405"/>
                  <a:gd name="T77" fmla="*/ 364 w 364"/>
                  <a:gd name="T78" fmla="*/ 405 h 405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364" h="405">
                    <a:moveTo>
                      <a:pt x="0" y="0"/>
                    </a:moveTo>
                    <a:lnTo>
                      <a:pt x="86" y="8"/>
                    </a:lnTo>
                    <a:lnTo>
                      <a:pt x="139" y="25"/>
                    </a:lnTo>
                    <a:lnTo>
                      <a:pt x="183" y="53"/>
                    </a:lnTo>
                    <a:lnTo>
                      <a:pt x="225" y="79"/>
                    </a:lnTo>
                    <a:lnTo>
                      <a:pt x="248" y="107"/>
                    </a:lnTo>
                    <a:lnTo>
                      <a:pt x="277" y="135"/>
                    </a:lnTo>
                    <a:lnTo>
                      <a:pt x="307" y="185"/>
                    </a:lnTo>
                    <a:lnTo>
                      <a:pt x="331" y="231"/>
                    </a:lnTo>
                    <a:lnTo>
                      <a:pt x="348" y="267"/>
                    </a:lnTo>
                    <a:lnTo>
                      <a:pt x="364" y="298"/>
                    </a:lnTo>
                    <a:lnTo>
                      <a:pt x="364" y="335"/>
                    </a:lnTo>
                    <a:lnTo>
                      <a:pt x="344" y="368"/>
                    </a:lnTo>
                    <a:lnTo>
                      <a:pt x="303" y="387"/>
                    </a:lnTo>
                    <a:lnTo>
                      <a:pt x="254" y="401"/>
                    </a:lnTo>
                    <a:lnTo>
                      <a:pt x="215" y="405"/>
                    </a:lnTo>
                    <a:lnTo>
                      <a:pt x="171" y="391"/>
                    </a:lnTo>
                    <a:lnTo>
                      <a:pt x="130" y="374"/>
                    </a:lnTo>
                    <a:lnTo>
                      <a:pt x="90" y="340"/>
                    </a:lnTo>
                    <a:lnTo>
                      <a:pt x="61" y="323"/>
                    </a:lnTo>
                    <a:lnTo>
                      <a:pt x="30" y="302"/>
                    </a:lnTo>
                    <a:lnTo>
                      <a:pt x="14" y="275"/>
                    </a:lnTo>
                    <a:lnTo>
                      <a:pt x="1" y="243"/>
                    </a:lnTo>
                    <a:lnTo>
                      <a:pt x="0" y="2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4" name="Freeform 61"/>
              <p:cNvSpPr>
                <a:spLocks/>
              </p:cNvSpPr>
              <p:nvPr/>
            </p:nvSpPr>
            <p:spPr bwMode="auto">
              <a:xfrm>
                <a:off x="3983" y="707"/>
                <a:ext cx="45" cy="51"/>
              </a:xfrm>
              <a:custGeom>
                <a:avLst/>
                <a:gdLst>
                  <a:gd name="T0" fmla="*/ 0 w 364"/>
                  <a:gd name="T1" fmla="*/ 0 h 405"/>
                  <a:gd name="T2" fmla="*/ 0 w 364"/>
                  <a:gd name="T3" fmla="*/ 0 h 405"/>
                  <a:gd name="T4" fmla="*/ 0 w 364"/>
                  <a:gd name="T5" fmla="*/ 0 h 405"/>
                  <a:gd name="T6" fmla="*/ 0 w 364"/>
                  <a:gd name="T7" fmla="*/ 0 h 405"/>
                  <a:gd name="T8" fmla="*/ 0 w 364"/>
                  <a:gd name="T9" fmla="*/ 0 h 405"/>
                  <a:gd name="T10" fmla="*/ 0 w 364"/>
                  <a:gd name="T11" fmla="*/ 0 h 405"/>
                  <a:gd name="T12" fmla="*/ 0 w 364"/>
                  <a:gd name="T13" fmla="*/ 0 h 405"/>
                  <a:gd name="T14" fmla="*/ 0 w 364"/>
                  <a:gd name="T15" fmla="*/ 0 h 405"/>
                  <a:gd name="T16" fmla="*/ 0 w 364"/>
                  <a:gd name="T17" fmla="*/ 0 h 405"/>
                  <a:gd name="T18" fmla="*/ 0 w 364"/>
                  <a:gd name="T19" fmla="*/ 0 h 405"/>
                  <a:gd name="T20" fmla="*/ 0 w 364"/>
                  <a:gd name="T21" fmla="*/ 0 h 405"/>
                  <a:gd name="T22" fmla="*/ 0 w 364"/>
                  <a:gd name="T23" fmla="*/ 0 h 405"/>
                  <a:gd name="T24" fmla="*/ 0 w 364"/>
                  <a:gd name="T25" fmla="*/ 0 h 405"/>
                  <a:gd name="T26" fmla="*/ 0 w 364"/>
                  <a:gd name="T27" fmla="*/ 0 h 405"/>
                  <a:gd name="T28" fmla="*/ 0 w 364"/>
                  <a:gd name="T29" fmla="*/ 0 h 405"/>
                  <a:gd name="T30" fmla="*/ 0 w 364"/>
                  <a:gd name="T31" fmla="*/ 0 h 405"/>
                  <a:gd name="T32" fmla="*/ 0 w 364"/>
                  <a:gd name="T33" fmla="*/ 0 h 405"/>
                  <a:gd name="T34" fmla="*/ 0 w 364"/>
                  <a:gd name="T35" fmla="*/ 0 h 405"/>
                  <a:gd name="T36" fmla="*/ 0 w 364"/>
                  <a:gd name="T37" fmla="*/ 0 h 405"/>
                  <a:gd name="T38" fmla="*/ 0 w 364"/>
                  <a:gd name="T39" fmla="*/ 0 h 405"/>
                  <a:gd name="T40" fmla="*/ 0 w 364"/>
                  <a:gd name="T41" fmla="*/ 0 h 405"/>
                  <a:gd name="T42" fmla="*/ 0 w 364"/>
                  <a:gd name="T43" fmla="*/ 0 h 405"/>
                  <a:gd name="T44" fmla="*/ 0 w 364"/>
                  <a:gd name="T45" fmla="*/ 0 h 405"/>
                  <a:gd name="T46" fmla="*/ 0 w 364"/>
                  <a:gd name="T47" fmla="*/ 0 h 405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364"/>
                  <a:gd name="T73" fmla="*/ 0 h 405"/>
                  <a:gd name="T74" fmla="*/ 364 w 364"/>
                  <a:gd name="T75" fmla="*/ 405 h 405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364" h="405">
                    <a:moveTo>
                      <a:pt x="0" y="0"/>
                    </a:moveTo>
                    <a:lnTo>
                      <a:pt x="86" y="8"/>
                    </a:lnTo>
                    <a:lnTo>
                      <a:pt x="139" y="25"/>
                    </a:lnTo>
                    <a:lnTo>
                      <a:pt x="183" y="53"/>
                    </a:lnTo>
                    <a:lnTo>
                      <a:pt x="225" y="79"/>
                    </a:lnTo>
                    <a:lnTo>
                      <a:pt x="248" y="107"/>
                    </a:lnTo>
                    <a:lnTo>
                      <a:pt x="277" y="135"/>
                    </a:lnTo>
                    <a:lnTo>
                      <a:pt x="307" y="185"/>
                    </a:lnTo>
                    <a:lnTo>
                      <a:pt x="331" y="231"/>
                    </a:lnTo>
                    <a:lnTo>
                      <a:pt x="348" y="267"/>
                    </a:lnTo>
                    <a:lnTo>
                      <a:pt x="364" y="298"/>
                    </a:lnTo>
                    <a:lnTo>
                      <a:pt x="364" y="335"/>
                    </a:lnTo>
                    <a:lnTo>
                      <a:pt x="344" y="368"/>
                    </a:lnTo>
                    <a:lnTo>
                      <a:pt x="303" y="387"/>
                    </a:lnTo>
                    <a:lnTo>
                      <a:pt x="254" y="401"/>
                    </a:lnTo>
                    <a:lnTo>
                      <a:pt x="215" y="405"/>
                    </a:lnTo>
                    <a:lnTo>
                      <a:pt x="171" y="391"/>
                    </a:lnTo>
                    <a:lnTo>
                      <a:pt x="130" y="374"/>
                    </a:lnTo>
                    <a:lnTo>
                      <a:pt x="90" y="340"/>
                    </a:lnTo>
                    <a:lnTo>
                      <a:pt x="61" y="323"/>
                    </a:lnTo>
                    <a:lnTo>
                      <a:pt x="30" y="302"/>
                    </a:lnTo>
                    <a:lnTo>
                      <a:pt x="14" y="275"/>
                    </a:lnTo>
                    <a:lnTo>
                      <a:pt x="1" y="243"/>
                    </a:lnTo>
                    <a:lnTo>
                      <a:pt x="0" y="20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79" name="Group 62"/>
            <p:cNvGrpSpPr>
              <a:grpSpLocks/>
            </p:cNvGrpSpPr>
            <p:nvPr/>
          </p:nvGrpSpPr>
          <p:grpSpPr bwMode="auto">
            <a:xfrm>
              <a:off x="3911" y="778"/>
              <a:ext cx="96" cy="56"/>
              <a:chOff x="3911" y="778"/>
              <a:chExt cx="96" cy="56"/>
            </a:xfrm>
          </p:grpSpPr>
          <p:sp>
            <p:nvSpPr>
              <p:cNvPr id="181" name="Freeform 63"/>
              <p:cNvSpPr>
                <a:spLocks/>
              </p:cNvSpPr>
              <p:nvPr/>
            </p:nvSpPr>
            <p:spPr bwMode="auto">
              <a:xfrm>
                <a:off x="3911" y="778"/>
                <a:ext cx="96" cy="56"/>
              </a:xfrm>
              <a:custGeom>
                <a:avLst/>
                <a:gdLst>
                  <a:gd name="T0" fmla="*/ 0 w 766"/>
                  <a:gd name="T1" fmla="*/ 0 h 449"/>
                  <a:gd name="T2" fmla="*/ 0 w 766"/>
                  <a:gd name="T3" fmla="*/ 0 h 449"/>
                  <a:gd name="T4" fmla="*/ 0 w 766"/>
                  <a:gd name="T5" fmla="*/ 0 h 449"/>
                  <a:gd name="T6" fmla="*/ 0 w 766"/>
                  <a:gd name="T7" fmla="*/ 0 h 449"/>
                  <a:gd name="T8" fmla="*/ 0 w 766"/>
                  <a:gd name="T9" fmla="*/ 0 h 449"/>
                  <a:gd name="T10" fmla="*/ 0 w 766"/>
                  <a:gd name="T11" fmla="*/ 0 h 449"/>
                  <a:gd name="T12" fmla="*/ 0 w 766"/>
                  <a:gd name="T13" fmla="*/ 0 h 449"/>
                  <a:gd name="T14" fmla="*/ 0 w 766"/>
                  <a:gd name="T15" fmla="*/ 0 h 449"/>
                  <a:gd name="T16" fmla="*/ 0 w 766"/>
                  <a:gd name="T17" fmla="*/ 0 h 449"/>
                  <a:gd name="T18" fmla="*/ 0 w 766"/>
                  <a:gd name="T19" fmla="*/ 0 h 449"/>
                  <a:gd name="T20" fmla="*/ 0 w 766"/>
                  <a:gd name="T21" fmla="*/ 0 h 449"/>
                  <a:gd name="T22" fmla="*/ 0 w 766"/>
                  <a:gd name="T23" fmla="*/ 0 h 449"/>
                  <a:gd name="T24" fmla="*/ 0 w 766"/>
                  <a:gd name="T25" fmla="*/ 0 h 449"/>
                  <a:gd name="T26" fmla="*/ 0 w 766"/>
                  <a:gd name="T27" fmla="*/ 0 h 449"/>
                  <a:gd name="T28" fmla="*/ 0 w 766"/>
                  <a:gd name="T29" fmla="*/ 0 h 449"/>
                  <a:gd name="T30" fmla="*/ 0 w 766"/>
                  <a:gd name="T31" fmla="*/ 0 h 449"/>
                  <a:gd name="T32" fmla="*/ 0 w 766"/>
                  <a:gd name="T33" fmla="*/ 0 h 449"/>
                  <a:gd name="T34" fmla="*/ 0 w 766"/>
                  <a:gd name="T35" fmla="*/ 0 h 449"/>
                  <a:gd name="T36" fmla="*/ 0 w 766"/>
                  <a:gd name="T37" fmla="*/ 0 h 449"/>
                  <a:gd name="T38" fmla="*/ 0 w 766"/>
                  <a:gd name="T39" fmla="*/ 0 h 449"/>
                  <a:gd name="T40" fmla="*/ 0 w 766"/>
                  <a:gd name="T41" fmla="*/ 0 h 449"/>
                  <a:gd name="T42" fmla="*/ 0 w 766"/>
                  <a:gd name="T43" fmla="*/ 0 h 449"/>
                  <a:gd name="T44" fmla="*/ 0 w 766"/>
                  <a:gd name="T45" fmla="*/ 0 h 449"/>
                  <a:gd name="T46" fmla="*/ 0 w 766"/>
                  <a:gd name="T47" fmla="*/ 0 h 449"/>
                  <a:gd name="T48" fmla="*/ 0 w 766"/>
                  <a:gd name="T49" fmla="*/ 0 h 449"/>
                  <a:gd name="T50" fmla="*/ 0 w 766"/>
                  <a:gd name="T51" fmla="*/ 0 h 449"/>
                  <a:gd name="T52" fmla="*/ 0 w 766"/>
                  <a:gd name="T53" fmla="*/ 0 h 449"/>
                  <a:gd name="T54" fmla="*/ 0 w 766"/>
                  <a:gd name="T55" fmla="*/ 0 h 449"/>
                  <a:gd name="T56" fmla="*/ 0 w 766"/>
                  <a:gd name="T57" fmla="*/ 0 h 449"/>
                  <a:gd name="T58" fmla="*/ 0 w 766"/>
                  <a:gd name="T59" fmla="*/ 0 h 449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766"/>
                  <a:gd name="T91" fmla="*/ 0 h 449"/>
                  <a:gd name="T92" fmla="*/ 766 w 766"/>
                  <a:gd name="T93" fmla="*/ 449 h 449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766" h="449">
                    <a:moveTo>
                      <a:pt x="0" y="0"/>
                    </a:moveTo>
                    <a:lnTo>
                      <a:pt x="141" y="17"/>
                    </a:lnTo>
                    <a:lnTo>
                      <a:pt x="232" y="29"/>
                    </a:lnTo>
                    <a:lnTo>
                      <a:pt x="281" y="43"/>
                    </a:lnTo>
                    <a:lnTo>
                      <a:pt x="338" y="71"/>
                    </a:lnTo>
                    <a:lnTo>
                      <a:pt x="418" y="153"/>
                    </a:lnTo>
                    <a:lnTo>
                      <a:pt x="522" y="213"/>
                    </a:lnTo>
                    <a:lnTo>
                      <a:pt x="600" y="239"/>
                    </a:lnTo>
                    <a:lnTo>
                      <a:pt x="659" y="261"/>
                    </a:lnTo>
                    <a:lnTo>
                      <a:pt x="709" y="285"/>
                    </a:lnTo>
                    <a:lnTo>
                      <a:pt x="738" y="307"/>
                    </a:lnTo>
                    <a:lnTo>
                      <a:pt x="766" y="329"/>
                    </a:lnTo>
                    <a:lnTo>
                      <a:pt x="766" y="362"/>
                    </a:lnTo>
                    <a:lnTo>
                      <a:pt x="756" y="396"/>
                    </a:lnTo>
                    <a:lnTo>
                      <a:pt x="738" y="418"/>
                    </a:lnTo>
                    <a:lnTo>
                      <a:pt x="718" y="429"/>
                    </a:lnTo>
                    <a:lnTo>
                      <a:pt x="691" y="442"/>
                    </a:lnTo>
                    <a:lnTo>
                      <a:pt x="655" y="449"/>
                    </a:lnTo>
                    <a:lnTo>
                      <a:pt x="624" y="449"/>
                    </a:lnTo>
                    <a:lnTo>
                      <a:pt x="585" y="436"/>
                    </a:lnTo>
                    <a:lnTo>
                      <a:pt x="552" y="429"/>
                    </a:lnTo>
                    <a:lnTo>
                      <a:pt x="446" y="383"/>
                    </a:lnTo>
                    <a:lnTo>
                      <a:pt x="367" y="362"/>
                    </a:lnTo>
                    <a:lnTo>
                      <a:pt x="319" y="353"/>
                    </a:lnTo>
                    <a:lnTo>
                      <a:pt x="269" y="340"/>
                    </a:lnTo>
                    <a:lnTo>
                      <a:pt x="217" y="318"/>
                    </a:lnTo>
                    <a:lnTo>
                      <a:pt x="178" y="297"/>
                    </a:lnTo>
                    <a:lnTo>
                      <a:pt x="160" y="279"/>
                    </a:lnTo>
                    <a:lnTo>
                      <a:pt x="136" y="2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2" name="Freeform 64"/>
              <p:cNvSpPr>
                <a:spLocks/>
              </p:cNvSpPr>
              <p:nvPr/>
            </p:nvSpPr>
            <p:spPr bwMode="auto">
              <a:xfrm>
                <a:off x="3911" y="778"/>
                <a:ext cx="96" cy="56"/>
              </a:xfrm>
              <a:custGeom>
                <a:avLst/>
                <a:gdLst>
                  <a:gd name="T0" fmla="*/ 0 w 766"/>
                  <a:gd name="T1" fmla="*/ 0 h 449"/>
                  <a:gd name="T2" fmla="*/ 0 w 766"/>
                  <a:gd name="T3" fmla="*/ 0 h 449"/>
                  <a:gd name="T4" fmla="*/ 0 w 766"/>
                  <a:gd name="T5" fmla="*/ 0 h 449"/>
                  <a:gd name="T6" fmla="*/ 0 w 766"/>
                  <a:gd name="T7" fmla="*/ 0 h 449"/>
                  <a:gd name="T8" fmla="*/ 0 w 766"/>
                  <a:gd name="T9" fmla="*/ 0 h 449"/>
                  <a:gd name="T10" fmla="*/ 0 w 766"/>
                  <a:gd name="T11" fmla="*/ 0 h 449"/>
                  <a:gd name="T12" fmla="*/ 0 w 766"/>
                  <a:gd name="T13" fmla="*/ 0 h 449"/>
                  <a:gd name="T14" fmla="*/ 0 w 766"/>
                  <a:gd name="T15" fmla="*/ 0 h 449"/>
                  <a:gd name="T16" fmla="*/ 0 w 766"/>
                  <a:gd name="T17" fmla="*/ 0 h 449"/>
                  <a:gd name="T18" fmla="*/ 0 w 766"/>
                  <a:gd name="T19" fmla="*/ 0 h 449"/>
                  <a:gd name="T20" fmla="*/ 0 w 766"/>
                  <a:gd name="T21" fmla="*/ 0 h 449"/>
                  <a:gd name="T22" fmla="*/ 0 w 766"/>
                  <a:gd name="T23" fmla="*/ 0 h 449"/>
                  <a:gd name="T24" fmla="*/ 0 w 766"/>
                  <a:gd name="T25" fmla="*/ 0 h 449"/>
                  <a:gd name="T26" fmla="*/ 0 w 766"/>
                  <a:gd name="T27" fmla="*/ 0 h 449"/>
                  <a:gd name="T28" fmla="*/ 0 w 766"/>
                  <a:gd name="T29" fmla="*/ 0 h 449"/>
                  <a:gd name="T30" fmla="*/ 0 w 766"/>
                  <a:gd name="T31" fmla="*/ 0 h 449"/>
                  <a:gd name="T32" fmla="*/ 0 w 766"/>
                  <a:gd name="T33" fmla="*/ 0 h 449"/>
                  <a:gd name="T34" fmla="*/ 0 w 766"/>
                  <a:gd name="T35" fmla="*/ 0 h 449"/>
                  <a:gd name="T36" fmla="*/ 0 w 766"/>
                  <a:gd name="T37" fmla="*/ 0 h 449"/>
                  <a:gd name="T38" fmla="*/ 0 w 766"/>
                  <a:gd name="T39" fmla="*/ 0 h 449"/>
                  <a:gd name="T40" fmla="*/ 0 w 766"/>
                  <a:gd name="T41" fmla="*/ 0 h 449"/>
                  <a:gd name="T42" fmla="*/ 0 w 766"/>
                  <a:gd name="T43" fmla="*/ 0 h 449"/>
                  <a:gd name="T44" fmla="*/ 0 w 766"/>
                  <a:gd name="T45" fmla="*/ 0 h 449"/>
                  <a:gd name="T46" fmla="*/ 0 w 766"/>
                  <a:gd name="T47" fmla="*/ 0 h 449"/>
                  <a:gd name="T48" fmla="*/ 0 w 766"/>
                  <a:gd name="T49" fmla="*/ 0 h 449"/>
                  <a:gd name="T50" fmla="*/ 0 w 766"/>
                  <a:gd name="T51" fmla="*/ 0 h 449"/>
                  <a:gd name="T52" fmla="*/ 0 w 766"/>
                  <a:gd name="T53" fmla="*/ 0 h 449"/>
                  <a:gd name="T54" fmla="*/ 0 w 766"/>
                  <a:gd name="T55" fmla="*/ 0 h 449"/>
                  <a:gd name="T56" fmla="*/ 0 w 766"/>
                  <a:gd name="T57" fmla="*/ 0 h 449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66"/>
                  <a:gd name="T88" fmla="*/ 0 h 449"/>
                  <a:gd name="T89" fmla="*/ 766 w 766"/>
                  <a:gd name="T90" fmla="*/ 449 h 449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66" h="449">
                    <a:moveTo>
                      <a:pt x="0" y="0"/>
                    </a:moveTo>
                    <a:lnTo>
                      <a:pt x="141" y="17"/>
                    </a:lnTo>
                    <a:lnTo>
                      <a:pt x="232" y="29"/>
                    </a:lnTo>
                    <a:lnTo>
                      <a:pt x="281" y="43"/>
                    </a:lnTo>
                    <a:lnTo>
                      <a:pt x="338" y="71"/>
                    </a:lnTo>
                    <a:lnTo>
                      <a:pt x="418" y="153"/>
                    </a:lnTo>
                    <a:lnTo>
                      <a:pt x="522" y="213"/>
                    </a:lnTo>
                    <a:lnTo>
                      <a:pt x="600" y="239"/>
                    </a:lnTo>
                    <a:lnTo>
                      <a:pt x="659" y="261"/>
                    </a:lnTo>
                    <a:lnTo>
                      <a:pt x="709" y="285"/>
                    </a:lnTo>
                    <a:lnTo>
                      <a:pt x="738" y="307"/>
                    </a:lnTo>
                    <a:lnTo>
                      <a:pt x="766" y="329"/>
                    </a:lnTo>
                    <a:lnTo>
                      <a:pt x="766" y="362"/>
                    </a:lnTo>
                    <a:lnTo>
                      <a:pt x="756" y="396"/>
                    </a:lnTo>
                    <a:lnTo>
                      <a:pt x="738" y="418"/>
                    </a:lnTo>
                    <a:lnTo>
                      <a:pt x="718" y="429"/>
                    </a:lnTo>
                    <a:lnTo>
                      <a:pt x="691" y="442"/>
                    </a:lnTo>
                    <a:lnTo>
                      <a:pt x="655" y="449"/>
                    </a:lnTo>
                    <a:lnTo>
                      <a:pt x="624" y="449"/>
                    </a:lnTo>
                    <a:lnTo>
                      <a:pt x="585" y="436"/>
                    </a:lnTo>
                    <a:lnTo>
                      <a:pt x="552" y="429"/>
                    </a:lnTo>
                    <a:lnTo>
                      <a:pt x="446" y="383"/>
                    </a:lnTo>
                    <a:lnTo>
                      <a:pt x="367" y="362"/>
                    </a:lnTo>
                    <a:lnTo>
                      <a:pt x="319" y="353"/>
                    </a:lnTo>
                    <a:lnTo>
                      <a:pt x="269" y="340"/>
                    </a:lnTo>
                    <a:lnTo>
                      <a:pt x="217" y="318"/>
                    </a:lnTo>
                    <a:lnTo>
                      <a:pt x="178" y="297"/>
                    </a:lnTo>
                    <a:lnTo>
                      <a:pt x="160" y="279"/>
                    </a:lnTo>
                    <a:lnTo>
                      <a:pt x="136" y="24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80" name="Freeform 65"/>
            <p:cNvSpPr>
              <a:spLocks/>
            </p:cNvSpPr>
            <p:nvPr/>
          </p:nvSpPr>
          <p:spPr bwMode="auto">
            <a:xfrm>
              <a:off x="3983" y="691"/>
              <a:ext cx="53" cy="34"/>
            </a:xfrm>
            <a:custGeom>
              <a:avLst/>
              <a:gdLst>
                <a:gd name="T0" fmla="*/ 0 w 428"/>
                <a:gd name="T1" fmla="*/ 0 h 272"/>
                <a:gd name="T2" fmla="*/ 0 w 428"/>
                <a:gd name="T3" fmla="*/ 0 h 272"/>
                <a:gd name="T4" fmla="*/ 0 w 428"/>
                <a:gd name="T5" fmla="*/ 0 h 272"/>
                <a:gd name="T6" fmla="*/ 0 w 428"/>
                <a:gd name="T7" fmla="*/ 0 h 272"/>
                <a:gd name="T8" fmla="*/ 0 w 428"/>
                <a:gd name="T9" fmla="*/ 0 h 272"/>
                <a:gd name="T10" fmla="*/ 0 w 428"/>
                <a:gd name="T11" fmla="*/ 0 h 272"/>
                <a:gd name="T12" fmla="*/ 0 w 428"/>
                <a:gd name="T13" fmla="*/ 0 h 272"/>
                <a:gd name="T14" fmla="*/ 0 w 428"/>
                <a:gd name="T15" fmla="*/ 0 h 272"/>
                <a:gd name="T16" fmla="*/ 0 w 428"/>
                <a:gd name="T17" fmla="*/ 0 h 272"/>
                <a:gd name="T18" fmla="*/ 0 w 428"/>
                <a:gd name="T19" fmla="*/ 0 h 272"/>
                <a:gd name="T20" fmla="*/ 0 w 428"/>
                <a:gd name="T21" fmla="*/ 0 h 272"/>
                <a:gd name="T22" fmla="*/ 0 w 428"/>
                <a:gd name="T23" fmla="*/ 0 h 272"/>
                <a:gd name="T24" fmla="*/ 0 w 428"/>
                <a:gd name="T25" fmla="*/ 0 h 272"/>
                <a:gd name="T26" fmla="*/ 0 w 428"/>
                <a:gd name="T27" fmla="*/ 0 h 272"/>
                <a:gd name="T28" fmla="*/ 0 w 428"/>
                <a:gd name="T29" fmla="*/ 0 h 272"/>
                <a:gd name="T30" fmla="*/ 0 w 428"/>
                <a:gd name="T31" fmla="*/ 0 h 272"/>
                <a:gd name="T32" fmla="*/ 0 w 428"/>
                <a:gd name="T33" fmla="*/ 0 h 272"/>
                <a:gd name="T34" fmla="*/ 0 w 428"/>
                <a:gd name="T35" fmla="*/ 0 h 272"/>
                <a:gd name="T36" fmla="*/ 0 w 428"/>
                <a:gd name="T37" fmla="*/ 0 h 272"/>
                <a:gd name="T38" fmla="*/ 0 w 428"/>
                <a:gd name="T39" fmla="*/ 0 h 272"/>
                <a:gd name="T40" fmla="*/ 0 w 428"/>
                <a:gd name="T41" fmla="*/ 0 h 272"/>
                <a:gd name="T42" fmla="*/ 0 w 428"/>
                <a:gd name="T43" fmla="*/ 0 h 272"/>
                <a:gd name="T44" fmla="*/ 0 w 428"/>
                <a:gd name="T45" fmla="*/ 0 h 272"/>
                <a:gd name="T46" fmla="*/ 0 w 428"/>
                <a:gd name="T47" fmla="*/ 0 h 272"/>
                <a:gd name="T48" fmla="*/ 0 w 428"/>
                <a:gd name="T49" fmla="*/ 0 h 272"/>
                <a:gd name="T50" fmla="*/ 0 w 428"/>
                <a:gd name="T51" fmla="*/ 0 h 272"/>
                <a:gd name="T52" fmla="*/ 0 w 428"/>
                <a:gd name="T53" fmla="*/ 0 h 272"/>
                <a:gd name="T54" fmla="*/ 0 w 428"/>
                <a:gd name="T55" fmla="*/ 0 h 272"/>
                <a:gd name="T56" fmla="*/ 0 w 428"/>
                <a:gd name="T57" fmla="*/ 0 h 272"/>
                <a:gd name="T58" fmla="*/ 0 w 428"/>
                <a:gd name="T59" fmla="*/ 0 h 272"/>
                <a:gd name="T60" fmla="*/ 0 w 428"/>
                <a:gd name="T61" fmla="*/ 0 h 272"/>
                <a:gd name="T62" fmla="*/ 0 w 428"/>
                <a:gd name="T63" fmla="*/ 0 h 272"/>
                <a:gd name="T64" fmla="*/ 0 w 428"/>
                <a:gd name="T65" fmla="*/ 0 h 272"/>
                <a:gd name="T66" fmla="*/ 0 w 428"/>
                <a:gd name="T67" fmla="*/ 0 h 27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28"/>
                <a:gd name="T103" fmla="*/ 0 h 272"/>
                <a:gd name="T104" fmla="*/ 428 w 428"/>
                <a:gd name="T105" fmla="*/ 272 h 27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28" h="272">
                  <a:moveTo>
                    <a:pt x="0" y="127"/>
                  </a:moveTo>
                  <a:lnTo>
                    <a:pt x="14" y="99"/>
                  </a:lnTo>
                  <a:lnTo>
                    <a:pt x="30" y="64"/>
                  </a:lnTo>
                  <a:lnTo>
                    <a:pt x="50" y="40"/>
                  </a:lnTo>
                  <a:lnTo>
                    <a:pt x="76" y="21"/>
                  </a:lnTo>
                  <a:lnTo>
                    <a:pt x="107" y="7"/>
                  </a:lnTo>
                  <a:lnTo>
                    <a:pt x="140" y="3"/>
                  </a:lnTo>
                  <a:lnTo>
                    <a:pt x="173" y="0"/>
                  </a:lnTo>
                  <a:lnTo>
                    <a:pt x="215" y="1"/>
                  </a:lnTo>
                  <a:lnTo>
                    <a:pt x="258" y="4"/>
                  </a:lnTo>
                  <a:lnTo>
                    <a:pt x="303" y="6"/>
                  </a:lnTo>
                  <a:lnTo>
                    <a:pt x="351" y="11"/>
                  </a:lnTo>
                  <a:lnTo>
                    <a:pt x="385" y="21"/>
                  </a:lnTo>
                  <a:lnTo>
                    <a:pt x="399" y="36"/>
                  </a:lnTo>
                  <a:lnTo>
                    <a:pt x="412" y="59"/>
                  </a:lnTo>
                  <a:lnTo>
                    <a:pt x="421" y="86"/>
                  </a:lnTo>
                  <a:lnTo>
                    <a:pt x="426" y="120"/>
                  </a:lnTo>
                  <a:lnTo>
                    <a:pt x="428" y="160"/>
                  </a:lnTo>
                  <a:lnTo>
                    <a:pt x="421" y="199"/>
                  </a:lnTo>
                  <a:lnTo>
                    <a:pt x="408" y="230"/>
                  </a:lnTo>
                  <a:lnTo>
                    <a:pt x="388" y="250"/>
                  </a:lnTo>
                  <a:lnTo>
                    <a:pt x="368" y="262"/>
                  </a:lnTo>
                  <a:lnTo>
                    <a:pt x="338" y="270"/>
                  </a:lnTo>
                  <a:lnTo>
                    <a:pt x="309" y="272"/>
                  </a:lnTo>
                  <a:lnTo>
                    <a:pt x="282" y="270"/>
                  </a:lnTo>
                  <a:lnTo>
                    <a:pt x="252" y="242"/>
                  </a:lnTo>
                  <a:lnTo>
                    <a:pt x="232" y="219"/>
                  </a:lnTo>
                  <a:lnTo>
                    <a:pt x="202" y="197"/>
                  </a:lnTo>
                  <a:lnTo>
                    <a:pt x="173" y="179"/>
                  </a:lnTo>
                  <a:lnTo>
                    <a:pt x="140" y="159"/>
                  </a:lnTo>
                  <a:lnTo>
                    <a:pt x="109" y="147"/>
                  </a:lnTo>
                  <a:lnTo>
                    <a:pt x="83" y="139"/>
                  </a:lnTo>
                  <a:lnTo>
                    <a:pt x="59" y="137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FFC0C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7" name="AutoShape 66"/>
          <p:cNvSpPr>
            <a:spLocks noChangeArrowheads="1"/>
          </p:cNvSpPr>
          <p:nvPr/>
        </p:nvSpPr>
        <p:spPr bwMode="auto">
          <a:xfrm>
            <a:off x="2698750" y="1241648"/>
            <a:ext cx="914400" cy="685800"/>
          </a:xfrm>
          <a:prstGeom prst="hexagon">
            <a:avLst>
              <a:gd name="adj" fmla="val 33333"/>
              <a:gd name="vf" fmla="val 115470"/>
            </a:avLst>
          </a:prstGeom>
          <a:solidFill>
            <a:srgbClr val="DADAF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IN" altLang="en-US" sz="1800"/>
          </a:p>
        </p:txBody>
      </p:sp>
      <p:grpSp>
        <p:nvGrpSpPr>
          <p:cNvPr id="188" name="Group 67"/>
          <p:cNvGrpSpPr>
            <a:grpSpLocks/>
          </p:cNvGrpSpPr>
          <p:nvPr/>
        </p:nvGrpSpPr>
        <p:grpSpPr bwMode="auto">
          <a:xfrm>
            <a:off x="3059113" y="1167036"/>
            <a:ext cx="184150" cy="493712"/>
            <a:chOff x="1791" y="673"/>
            <a:chExt cx="116" cy="311"/>
          </a:xfrm>
        </p:grpSpPr>
        <p:grpSp>
          <p:nvGrpSpPr>
            <p:cNvPr id="189" name="Group 68"/>
            <p:cNvGrpSpPr>
              <a:grpSpLocks/>
            </p:cNvGrpSpPr>
            <p:nvPr/>
          </p:nvGrpSpPr>
          <p:grpSpPr bwMode="auto">
            <a:xfrm>
              <a:off x="1793" y="780"/>
              <a:ext cx="114" cy="204"/>
              <a:chOff x="1793" y="780"/>
              <a:chExt cx="114" cy="204"/>
            </a:xfrm>
          </p:grpSpPr>
          <p:grpSp>
            <p:nvGrpSpPr>
              <p:cNvPr id="197" name="Group 69"/>
              <p:cNvGrpSpPr>
                <a:grpSpLocks/>
              </p:cNvGrpSpPr>
              <p:nvPr/>
            </p:nvGrpSpPr>
            <p:grpSpPr bwMode="auto">
              <a:xfrm>
                <a:off x="1793" y="786"/>
                <a:ext cx="73" cy="196"/>
                <a:chOff x="1793" y="786"/>
                <a:chExt cx="73" cy="196"/>
              </a:xfrm>
            </p:grpSpPr>
            <p:sp>
              <p:nvSpPr>
                <p:cNvPr id="205" name="Line 70"/>
                <p:cNvSpPr>
                  <a:spLocks noChangeShapeType="1"/>
                </p:cNvSpPr>
                <p:nvPr/>
              </p:nvSpPr>
              <p:spPr bwMode="auto">
                <a:xfrm>
                  <a:off x="1822" y="786"/>
                  <a:ext cx="27" cy="1"/>
                </a:xfrm>
                <a:prstGeom prst="line">
                  <a:avLst/>
                </a:prstGeom>
                <a:noFill/>
                <a:ln w="4763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6" name="Line 71"/>
                <p:cNvSpPr>
                  <a:spLocks noChangeShapeType="1"/>
                </p:cNvSpPr>
                <p:nvPr/>
              </p:nvSpPr>
              <p:spPr bwMode="auto">
                <a:xfrm flipV="1">
                  <a:off x="1814" y="788"/>
                  <a:ext cx="33" cy="41"/>
                </a:xfrm>
                <a:prstGeom prst="line">
                  <a:avLst/>
                </a:prstGeom>
                <a:noFill/>
                <a:ln w="4763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7" name="Line 72"/>
                <p:cNvSpPr>
                  <a:spLocks noChangeShapeType="1"/>
                </p:cNvSpPr>
                <p:nvPr/>
              </p:nvSpPr>
              <p:spPr bwMode="auto">
                <a:xfrm>
                  <a:off x="1813" y="829"/>
                  <a:ext cx="46" cy="88"/>
                </a:xfrm>
                <a:prstGeom prst="line">
                  <a:avLst/>
                </a:prstGeom>
                <a:noFill/>
                <a:ln w="4763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8" name="Line 73"/>
                <p:cNvSpPr>
                  <a:spLocks noChangeShapeType="1"/>
                </p:cNvSpPr>
                <p:nvPr/>
              </p:nvSpPr>
              <p:spPr bwMode="auto">
                <a:xfrm flipV="1">
                  <a:off x="1793" y="915"/>
                  <a:ext cx="67" cy="67"/>
                </a:xfrm>
                <a:prstGeom prst="line">
                  <a:avLst/>
                </a:prstGeom>
                <a:noFill/>
                <a:ln w="4763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9" name="Line 74"/>
                <p:cNvSpPr>
                  <a:spLocks noChangeShapeType="1"/>
                </p:cNvSpPr>
                <p:nvPr/>
              </p:nvSpPr>
              <p:spPr bwMode="auto">
                <a:xfrm>
                  <a:off x="1802" y="916"/>
                  <a:ext cx="64" cy="66"/>
                </a:xfrm>
                <a:prstGeom prst="line">
                  <a:avLst/>
                </a:prstGeom>
                <a:noFill/>
                <a:ln w="4763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10" name="Line 75"/>
                <p:cNvSpPr>
                  <a:spLocks noChangeShapeType="1"/>
                </p:cNvSpPr>
                <p:nvPr/>
              </p:nvSpPr>
              <p:spPr bwMode="auto">
                <a:xfrm flipV="1">
                  <a:off x="1801" y="829"/>
                  <a:ext cx="51" cy="86"/>
                </a:xfrm>
                <a:prstGeom prst="line">
                  <a:avLst/>
                </a:prstGeom>
                <a:noFill/>
                <a:ln w="4763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11" name="Line 76"/>
                <p:cNvSpPr>
                  <a:spLocks noChangeShapeType="1"/>
                </p:cNvSpPr>
                <p:nvPr/>
              </p:nvSpPr>
              <p:spPr bwMode="auto">
                <a:xfrm>
                  <a:off x="1823" y="786"/>
                  <a:ext cx="31" cy="46"/>
                </a:xfrm>
                <a:prstGeom prst="line">
                  <a:avLst/>
                </a:prstGeom>
                <a:noFill/>
                <a:ln w="4763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198" name="Line 77"/>
              <p:cNvSpPr>
                <a:spLocks noChangeShapeType="1"/>
              </p:cNvSpPr>
              <p:nvPr/>
            </p:nvSpPr>
            <p:spPr bwMode="auto">
              <a:xfrm flipV="1">
                <a:off x="1865" y="903"/>
                <a:ext cx="27" cy="81"/>
              </a:xfrm>
              <a:prstGeom prst="line">
                <a:avLst/>
              </a:prstGeom>
              <a:noFill/>
              <a:ln w="4763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9" name="Line 78"/>
              <p:cNvSpPr>
                <a:spLocks noChangeShapeType="1"/>
              </p:cNvSpPr>
              <p:nvPr/>
            </p:nvSpPr>
            <p:spPr bwMode="auto">
              <a:xfrm>
                <a:off x="1854" y="831"/>
                <a:ext cx="38" cy="73"/>
              </a:xfrm>
              <a:prstGeom prst="line">
                <a:avLst/>
              </a:prstGeom>
              <a:noFill/>
              <a:ln w="4763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0" name="Line 79"/>
              <p:cNvSpPr>
                <a:spLocks noChangeShapeType="1"/>
              </p:cNvSpPr>
              <p:nvPr/>
            </p:nvSpPr>
            <p:spPr bwMode="auto">
              <a:xfrm flipV="1">
                <a:off x="1854" y="781"/>
                <a:ext cx="9" cy="50"/>
              </a:xfrm>
              <a:prstGeom prst="line">
                <a:avLst/>
              </a:prstGeom>
              <a:noFill/>
              <a:ln w="4763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" name="Line 80"/>
              <p:cNvSpPr>
                <a:spLocks noChangeShapeType="1"/>
              </p:cNvSpPr>
              <p:nvPr/>
            </p:nvSpPr>
            <p:spPr bwMode="auto">
              <a:xfrm flipV="1">
                <a:off x="1849" y="780"/>
                <a:ext cx="16" cy="7"/>
              </a:xfrm>
              <a:prstGeom prst="line">
                <a:avLst/>
              </a:prstGeom>
              <a:noFill/>
              <a:ln w="4763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2" name="Line 81"/>
              <p:cNvSpPr>
                <a:spLocks noChangeShapeType="1"/>
              </p:cNvSpPr>
              <p:nvPr/>
            </p:nvSpPr>
            <p:spPr bwMode="auto">
              <a:xfrm>
                <a:off x="1850" y="786"/>
                <a:ext cx="24" cy="37"/>
              </a:xfrm>
              <a:prstGeom prst="line">
                <a:avLst/>
              </a:prstGeom>
              <a:noFill/>
              <a:ln w="4763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3" name="Line 82"/>
              <p:cNvSpPr>
                <a:spLocks noChangeShapeType="1"/>
              </p:cNvSpPr>
              <p:nvPr/>
            </p:nvSpPr>
            <p:spPr bwMode="auto">
              <a:xfrm flipV="1">
                <a:off x="1861" y="823"/>
                <a:ext cx="10" cy="93"/>
              </a:xfrm>
              <a:prstGeom prst="line">
                <a:avLst/>
              </a:prstGeom>
              <a:noFill/>
              <a:ln w="4763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4" name="Line 83"/>
              <p:cNvSpPr>
                <a:spLocks noChangeShapeType="1"/>
              </p:cNvSpPr>
              <p:nvPr/>
            </p:nvSpPr>
            <p:spPr bwMode="auto">
              <a:xfrm>
                <a:off x="1862" y="916"/>
                <a:ext cx="45" cy="43"/>
              </a:xfrm>
              <a:prstGeom prst="line">
                <a:avLst/>
              </a:prstGeom>
              <a:noFill/>
              <a:ln w="4763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90" name="Group 84"/>
            <p:cNvGrpSpPr>
              <a:grpSpLocks/>
            </p:cNvGrpSpPr>
            <p:nvPr/>
          </p:nvGrpSpPr>
          <p:grpSpPr bwMode="auto">
            <a:xfrm>
              <a:off x="1791" y="683"/>
              <a:ext cx="112" cy="299"/>
              <a:chOff x="1791" y="683"/>
              <a:chExt cx="112" cy="299"/>
            </a:xfrm>
          </p:grpSpPr>
          <p:sp>
            <p:nvSpPr>
              <p:cNvPr id="192" name="Line 85"/>
              <p:cNvSpPr>
                <a:spLocks noChangeShapeType="1"/>
              </p:cNvSpPr>
              <p:nvPr/>
            </p:nvSpPr>
            <p:spPr bwMode="auto">
              <a:xfrm flipV="1">
                <a:off x="1791" y="683"/>
                <a:ext cx="44" cy="297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3" name="Line 86"/>
              <p:cNvSpPr>
                <a:spLocks noChangeShapeType="1"/>
              </p:cNvSpPr>
              <p:nvPr/>
            </p:nvSpPr>
            <p:spPr bwMode="auto">
              <a:xfrm>
                <a:off x="1837" y="692"/>
                <a:ext cx="28" cy="29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4" name="Line 87"/>
              <p:cNvSpPr>
                <a:spLocks noChangeShapeType="1"/>
              </p:cNvSpPr>
              <p:nvPr/>
            </p:nvSpPr>
            <p:spPr bwMode="auto">
              <a:xfrm flipV="1">
                <a:off x="1865" y="957"/>
                <a:ext cx="38" cy="24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5" name="Line 88"/>
              <p:cNvSpPr>
                <a:spLocks noChangeShapeType="1"/>
              </p:cNvSpPr>
              <p:nvPr/>
            </p:nvSpPr>
            <p:spPr bwMode="auto">
              <a:xfrm>
                <a:off x="1842" y="689"/>
                <a:ext cx="61" cy="27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6" name="Line 89"/>
              <p:cNvSpPr>
                <a:spLocks noChangeShapeType="1"/>
              </p:cNvSpPr>
              <p:nvPr/>
            </p:nvSpPr>
            <p:spPr bwMode="auto">
              <a:xfrm>
                <a:off x="1792" y="980"/>
                <a:ext cx="74" cy="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91" name="Oval 90"/>
            <p:cNvSpPr>
              <a:spLocks noChangeArrowheads="1"/>
            </p:cNvSpPr>
            <p:nvPr/>
          </p:nvSpPr>
          <p:spPr bwMode="auto">
            <a:xfrm>
              <a:off x="1825" y="673"/>
              <a:ext cx="32" cy="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altLang="en-US" sz="1800"/>
            </a:p>
          </p:txBody>
        </p:sp>
      </p:grpSp>
      <p:sp>
        <p:nvSpPr>
          <p:cNvPr id="212" name="AutoShape 104"/>
          <p:cNvSpPr>
            <a:spLocks noChangeArrowheads="1"/>
          </p:cNvSpPr>
          <p:nvPr/>
        </p:nvSpPr>
        <p:spPr bwMode="auto">
          <a:xfrm>
            <a:off x="1892300" y="4670648"/>
            <a:ext cx="2057400" cy="990600"/>
          </a:xfrm>
          <a:prstGeom prst="roundRect">
            <a:avLst>
              <a:gd name="adj" fmla="val 16667"/>
            </a:avLst>
          </a:prstGeom>
          <a:solidFill>
            <a:srgbClr val="DADAF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IN" altLang="en-US" sz="1800"/>
          </a:p>
        </p:txBody>
      </p:sp>
      <p:sp>
        <p:nvSpPr>
          <p:cNvPr id="213" name="AutoShape 105"/>
          <p:cNvSpPr>
            <a:spLocks noChangeArrowheads="1"/>
          </p:cNvSpPr>
          <p:nvPr/>
        </p:nvSpPr>
        <p:spPr bwMode="auto">
          <a:xfrm>
            <a:off x="1892300" y="2460848"/>
            <a:ext cx="2057400" cy="1676400"/>
          </a:xfrm>
          <a:prstGeom prst="roundRect">
            <a:avLst>
              <a:gd name="adj" fmla="val 16667"/>
            </a:avLst>
          </a:prstGeom>
          <a:solidFill>
            <a:srgbClr val="DADAF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/>
          </a:p>
        </p:txBody>
      </p:sp>
      <p:sp>
        <p:nvSpPr>
          <p:cNvPr id="214" name="Rectangle 106"/>
          <p:cNvSpPr>
            <a:spLocks noChangeArrowheads="1"/>
          </p:cNvSpPr>
          <p:nvPr/>
        </p:nvSpPr>
        <p:spPr bwMode="auto">
          <a:xfrm>
            <a:off x="2425700" y="3451448"/>
            <a:ext cx="990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Encrypt</a:t>
            </a:r>
          </a:p>
        </p:txBody>
      </p:sp>
      <p:sp>
        <p:nvSpPr>
          <p:cNvPr id="215" name="Line 107"/>
          <p:cNvSpPr>
            <a:spLocks noChangeShapeType="1"/>
          </p:cNvSpPr>
          <p:nvPr/>
        </p:nvSpPr>
        <p:spPr bwMode="auto">
          <a:xfrm>
            <a:off x="3187700" y="291804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6" name="Line 108"/>
          <p:cNvSpPr>
            <a:spLocks noChangeShapeType="1"/>
          </p:cNvSpPr>
          <p:nvPr/>
        </p:nvSpPr>
        <p:spPr bwMode="auto">
          <a:xfrm>
            <a:off x="2654300" y="291804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7" name="Text Box 109"/>
          <p:cNvSpPr txBox="1">
            <a:spLocks noChangeArrowheads="1"/>
          </p:cNvSpPr>
          <p:nvPr/>
        </p:nvSpPr>
        <p:spPr bwMode="auto">
          <a:xfrm>
            <a:off x="2882900" y="2537048"/>
            <a:ext cx="760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RAND</a:t>
            </a:r>
          </a:p>
        </p:txBody>
      </p:sp>
      <p:sp>
        <p:nvSpPr>
          <p:cNvPr id="218" name="Text Box 110"/>
          <p:cNvSpPr txBox="1">
            <a:spLocks noChangeArrowheads="1"/>
          </p:cNvSpPr>
          <p:nvPr/>
        </p:nvSpPr>
        <p:spPr bwMode="auto">
          <a:xfrm>
            <a:off x="2425700" y="2537048"/>
            <a:ext cx="3508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K</a:t>
            </a:r>
            <a:r>
              <a:rPr lang="en-US" altLang="en-US" sz="1600" baseline="-25000"/>
              <a:t>i</a:t>
            </a:r>
            <a:endParaRPr lang="en-US" altLang="en-US" sz="1600"/>
          </a:p>
        </p:txBody>
      </p:sp>
      <p:sp>
        <p:nvSpPr>
          <p:cNvPr id="219" name="Text Box 111"/>
          <p:cNvSpPr txBox="1">
            <a:spLocks noChangeArrowheads="1"/>
          </p:cNvSpPr>
          <p:nvPr/>
        </p:nvSpPr>
        <p:spPr bwMode="auto">
          <a:xfrm>
            <a:off x="1914525" y="2994248"/>
            <a:ext cx="793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128 bit</a:t>
            </a:r>
          </a:p>
        </p:txBody>
      </p:sp>
      <p:sp>
        <p:nvSpPr>
          <p:cNvPr id="220" name="Text Box 112"/>
          <p:cNvSpPr txBox="1">
            <a:spLocks noChangeArrowheads="1"/>
          </p:cNvSpPr>
          <p:nvPr/>
        </p:nvSpPr>
        <p:spPr bwMode="auto">
          <a:xfrm>
            <a:off x="3111500" y="2994248"/>
            <a:ext cx="793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128 bit</a:t>
            </a:r>
          </a:p>
        </p:txBody>
      </p:sp>
      <p:sp>
        <p:nvSpPr>
          <p:cNvPr id="221" name="Line 113"/>
          <p:cNvSpPr>
            <a:spLocks noChangeShapeType="1"/>
          </p:cNvSpPr>
          <p:nvPr/>
        </p:nvSpPr>
        <p:spPr bwMode="auto">
          <a:xfrm>
            <a:off x="2921000" y="3984848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2" name="Text Box 114"/>
          <p:cNvSpPr txBox="1">
            <a:spLocks noChangeArrowheads="1"/>
          </p:cNvSpPr>
          <p:nvPr/>
        </p:nvSpPr>
        <p:spPr bwMode="auto">
          <a:xfrm>
            <a:off x="2120900" y="4137248"/>
            <a:ext cx="14271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SRES*  32 bit</a:t>
            </a:r>
          </a:p>
        </p:txBody>
      </p:sp>
      <p:sp>
        <p:nvSpPr>
          <p:cNvPr id="223" name="AutoShape 115"/>
          <p:cNvSpPr>
            <a:spLocks noChangeArrowheads="1"/>
          </p:cNvSpPr>
          <p:nvPr/>
        </p:nvSpPr>
        <p:spPr bwMode="auto">
          <a:xfrm>
            <a:off x="5702300" y="2460848"/>
            <a:ext cx="2057400" cy="3124200"/>
          </a:xfrm>
          <a:prstGeom prst="roundRect">
            <a:avLst>
              <a:gd name="adj" fmla="val 16667"/>
            </a:avLst>
          </a:prstGeom>
          <a:solidFill>
            <a:srgbClr val="DADAF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/>
          </a:p>
        </p:txBody>
      </p:sp>
      <p:sp>
        <p:nvSpPr>
          <p:cNvPr id="224" name="Rectangle 116"/>
          <p:cNvSpPr>
            <a:spLocks noChangeArrowheads="1"/>
          </p:cNvSpPr>
          <p:nvPr/>
        </p:nvSpPr>
        <p:spPr bwMode="auto">
          <a:xfrm>
            <a:off x="6235700" y="3451448"/>
            <a:ext cx="990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Encrypt</a:t>
            </a:r>
          </a:p>
        </p:txBody>
      </p:sp>
      <p:sp>
        <p:nvSpPr>
          <p:cNvPr id="225" name="Line 117"/>
          <p:cNvSpPr>
            <a:spLocks noChangeShapeType="1"/>
          </p:cNvSpPr>
          <p:nvPr/>
        </p:nvSpPr>
        <p:spPr bwMode="auto">
          <a:xfrm>
            <a:off x="6997700" y="291804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6" name="Line 118"/>
          <p:cNvSpPr>
            <a:spLocks noChangeShapeType="1"/>
          </p:cNvSpPr>
          <p:nvPr/>
        </p:nvSpPr>
        <p:spPr bwMode="auto">
          <a:xfrm>
            <a:off x="6464300" y="291804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7" name="Text Box 119"/>
          <p:cNvSpPr txBox="1">
            <a:spLocks noChangeArrowheads="1"/>
          </p:cNvSpPr>
          <p:nvPr/>
        </p:nvSpPr>
        <p:spPr bwMode="auto">
          <a:xfrm>
            <a:off x="6007100" y="2537048"/>
            <a:ext cx="760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RAND</a:t>
            </a:r>
          </a:p>
        </p:txBody>
      </p:sp>
      <p:sp>
        <p:nvSpPr>
          <p:cNvPr id="228" name="Text Box 120"/>
          <p:cNvSpPr txBox="1">
            <a:spLocks noChangeArrowheads="1"/>
          </p:cNvSpPr>
          <p:nvPr/>
        </p:nvSpPr>
        <p:spPr bwMode="auto">
          <a:xfrm>
            <a:off x="6845300" y="2537048"/>
            <a:ext cx="3508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K</a:t>
            </a:r>
            <a:r>
              <a:rPr lang="en-US" altLang="en-US" sz="1600" baseline="-25000"/>
              <a:t>i</a:t>
            </a:r>
            <a:endParaRPr lang="en-US" altLang="en-US" sz="1600"/>
          </a:p>
        </p:txBody>
      </p:sp>
      <p:sp>
        <p:nvSpPr>
          <p:cNvPr id="229" name="Text Box 121"/>
          <p:cNvSpPr txBox="1">
            <a:spLocks noChangeArrowheads="1"/>
          </p:cNvSpPr>
          <p:nvPr/>
        </p:nvSpPr>
        <p:spPr bwMode="auto">
          <a:xfrm>
            <a:off x="5724525" y="2994248"/>
            <a:ext cx="793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128 bit</a:t>
            </a:r>
          </a:p>
        </p:txBody>
      </p:sp>
      <p:sp>
        <p:nvSpPr>
          <p:cNvPr id="230" name="Text Box 122"/>
          <p:cNvSpPr txBox="1">
            <a:spLocks noChangeArrowheads="1"/>
          </p:cNvSpPr>
          <p:nvPr/>
        </p:nvSpPr>
        <p:spPr bwMode="auto">
          <a:xfrm>
            <a:off x="6921500" y="2994248"/>
            <a:ext cx="793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128 bit</a:t>
            </a:r>
          </a:p>
        </p:txBody>
      </p:sp>
      <p:sp>
        <p:nvSpPr>
          <p:cNvPr id="231" name="Line 123"/>
          <p:cNvSpPr>
            <a:spLocks noChangeShapeType="1"/>
          </p:cNvSpPr>
          <p:nvPr/>
        </p:nvSpPr>
        <p:spPr bwMode="auto">
          <a:xfrm>
            <a:off x="6731000" y="3984848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2" name="Text Box 124"/>
          <p:cNvSpPr txBox="1">
            <a:spLocks noChangeArrowheads="1"/>
          </p:cNvSpPr>
          <p:nvPr/>
        </p:nvSpPr>
        <p:spPr bwMode="auto">
          <a:xfrm>
            <a:off x="5930900" y="4137248"/>
            <a:ext cx="14605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SRES    32 bit</a:t>
            </a:r>
          </a:p>
        </p:txBody>
      </p:sp>
      <p:sp>
        <p:nvSpPr>
          <p:cNvPr id="233" name="Line 125"/>
          <p:cNvSpPr>
            <a:spLocks noChangeShapeType="1"/>
          </p:cNvSpPr>
          <p:nvPr/>
        </p:nvSpPr>
        <p:spPr bwMode="auto">
          <a:xfrm>
            <a:off x="3568700" y="2689448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4" name="Rectangle 126"/>
          <p:cNvSpPr>
            <a:spLocks noChangeArrowheads="1"/>
          </p:cNvSpPr>
          <p:nvPr/>
        </p:nvSpPr>
        <p:spPr bwMode="auto">
          <a:xfrm>
            <a:off x="2120900" y="4899248"/>
            <a:ext cx="16383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SRES* =? SRES</a:t>
            </a:r>
          </a:p>
        </p:txBody>
      </p:sp>
      <p:sp>
        <p:nvSpPr>
          <p:cNvPr id="235" name="Text Box 127"/>
          <p:cNvSpPr txBox="1">
            <a:spLocks noChangeArrowheads="1"/>
          </p:cNvSpPr>
          <p:nvPr/>
        </p:nvSpPr>
        <p:spPr bwMode="auto">
          <a:xfrm>
            <a:off x="6388100" y="5019898"/>
            <a:ext cx="7381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SRES</a:t>
            </a:r>
          </a:p>
        </p:txBody>
      </p:sp>
      <p:sp>
        <p:nvSpPr>
          <p:cNvPr id="236" name="Line 128"/>
          <p:cNvSpPr>
            <a:spLocks noChangeShapeType="1"/>
          </p:cNvSpPr>
          <p:nvPr/>
        </p:nvSpPr>
        <p:spPr bwMode="auto">
          <a:xfrm flipH="1">
            <a:off x="3797300" y="5172298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7" name="Text Box 129"/>
          <p:cNvSpPr txBox="1">
            <a:spLocks noChangeArrowheads="1"/>
          </p:cNvSpPr>
          <p:nvPr/>
        </p:nvSpPr>
        <p:spPr bwMode="auto">
          <a:xfrm>
            <a:off x="4467225" y="2368773"/>
            <a:ext cx="760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RAND</a:t>
            </a:r>
          </a:p>
        </p:txBody>
      </p:sp>
      <p:sp>
        <p:nvSpPr>
          <p:cNvPr id="238" name="Text Box 130"/>
          <p:cNvSpPr txBox="1">
            <a:spLocks noChangeArrowheads="1"/>
          </p:cNvSpPr>
          <p:nvPr/>
        </p:nvSpPr>
        <p:spPr bwMode="auto">
          <a:xfrm>
            <a:off x="4483100" y="4867498"/>
            <a:ext cx="7381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SRES</a:t>
            </a:r>
          </a:p>
        </p:txBody>
      </p:sp>
      <p:sp>
        <p:nvSpPr>
          <p:cNvPr id="239" name="Text Box 131"/>
          <p:cNvSpPr txBox="1">
            <a:spLocks noChangeArrowheads="1"/>
          </p:cNvSpPr>
          <p:nvPr/>
        </p:nvSpPr>
        <p:spPr bwMode="auto">
          <a:xfrm>
            <a:off x="4483100" y="5127848"/>
            <a:ext cx="6810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32 bit</a:t>
            </a:r>
          </a:p>
        </p:txBody>
      </p:sp>
      <p:sp>
        <p:nvSpPr>
          <p:cNvPr id="240" name="Text Box 132"/>
          <p:cNvSpPr txBox="1">
            <a:spLocks noChangeArrowheads="1"/>
          </p:cNvSpPr>
          <p:nvPr/>
        </p:nvSpPr>
        <p:spPr bwMode="auto">
          <a:xfrm>
            <a:off x="2425700" y="1927448"/>
            <a:ext cx="1550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mobile network</a:t>
            </a:r>
          </a:p>
        </p:txBody>
      </p:sp>
      <p:sp>
        <p:nvSpPr>
          <p:cNvPr id="241" name="Text Box 133"/>
          <p:cNvSpPr txBox="1">
            <a:spLocks noChangeArrowheads="1"/>
          </p:cNvSpPr>
          <p:nvPr/>
        </p:nvSpPr>
        <p:spPr bwMode="auto">
          <a:xfrm>
            <a:off x="6464300" y="1851248"/>
            <a:ext cx="5461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SIM</a:t>
            </a:r>
          </a:p>
        </p:txBody>
      </p:sp>
      <p:sp>
        <p:nvSpPr>
          <p:cNvPr id="242" name="Text Box 134"/>
          <p:cNvSpPr txBox="1">
            <a:spLocks noChangeArrowheads="1"/>
          </p:cNvSpPr>
          <p:nvPr/>
        </p:nvSpPr>
        <p:spPr bwMode="auto">
          <a:xfrm>
            <a:off x="1054100" y="3070448"/>
            <a:ext cx="4778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AC</a:t>
            </a:r>
            <a:endParaRPr lang="en-US" altLang="en-US" sz="1600"/>
          </a:p>
        </p:txBody>
      </p:sp>
      <p:sp>
        <p:nvSpPr>
          <p:cNvPr id="243" name="Text Box 135"/>
          <p:cNvSpPr txBox="1">
            <a:spLocks noChangeArrowheads="1"/>
          </p:cNvSpPr>
          <p:nvPr/>
        </p:nvSpPr>
        <p:spPr bwMode="auto">
          <a:xfrm>
            <a:off x="909638" y="4975448"/>
            <a:ext cx="635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MSC</a:t>
            </a:r>
            <a:endParaRPr lang="en-US" altLang="en-US" sz="1600"/>
          </a:p>
        </p:txBody>
      </p:sp>
      <p:sp>
        <p:nvSpPr>
          <p:cNvPr id="244" name="Text Box 136"/>
          <p:cNvSpPr txBox="1">
            <a:spLocks noChangeArrowheads="1"/>
          </p:cNvSpPr>
          <p:nvPr/>
        </p:nvSpPr>
        <p:spPr bwMode="auto">
          <a:xfrm>
            <a:off x="7835900" y="3832448"/>
            <a:ext cx="5461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SIM</a:t>
            </a:r>
            <a:endParaRPr lang="en-US" altLang="en-US" sz="1600"/>
          </a:p>
        </p:txBody>
      </p:sp>
      <p:sp>
        <p:nvSpPr>
          <p:cNvPr id="245" name="Text Box 137"/>
          <p:cNvSpPr txBox="1">
            <a:spLocks noChangeArrowheads="1"/>
          </p:cNvSpPr>
          <p:nvPr/>
        </p:nvSpPr>
        <p:spPr bwMode="auto">
          <a:xfrm>
            <a:off x="1358900" y="5813648"/>
            <a:ext cx="5729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K</a:t>
            </a:r>
            <a:r>
              <a:rPr lang="en-US" altLang="en-US" sz="1400" baseline="-25000"/>
              <a:t>i</a:t>
            </a:r>
            <a:r>
              <a:rPr lang="en-US" altLang="en-US" sz="1400"/>
              <a:t>: individual subscriber authentication key	SRES: signed response</a:t>
            </a:r>
          </a:p>
        </p:txBody>
      </p:sp>
    </p:spTree>
    <p:extLst>
      <p:ext uri="{BB962C8B-B14F-4D97-AF65-F5344CB8AC3E}">
        <p14:creationId xmlns:p14="http://schemas.microsoft.com/office/powerpoint/2010/main" val="84618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GSM Physical Channel</a:t>
            </a:r>
            <a:endParaRPr lang="en-US" dirty="0"/>
          </a:p>
        </p:txBody>
      </p:sp>
      <p:sp>
        <p:nvSpPr>
          <p:cNvPr id="246" name="Content Placeholder 2"/>
          <p:cNvSpPr>
            <a:spLocks noGrp="1"/>
          </p:cNvSpPr>
          <p:nvPr>
            <p:ph idx="1"/>
          </p:nvPr>
        </p:nvSpPr>
        <p:spPr>
          <a:xfrm>
            <a:off x="0" y="2642691"/>
            <a:ext cx="11712624" cy="4530725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q"/>
            </a:pPr>
            <a:r>
              <a:rPr lang="en-US" altLang="en-US" dirty="0" smtClean="0"/>
              <a:t>GSM = FDMA + TDMA</a:t>
            </a: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altLang="en-US" dirty="0" smtClean="0"/>
              <a:t>GSM 900 uses 2 Frequency Bands of 25MHz</a:t>
            </a:r>
            <a:r>
              <a:rPr lang="en-US" altLang="en-US" dirty="0" smtClean="0"/>
              <a:t>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rgbClr val="FF0000"/>
                </a:solidFill>
              </a:rPr>
              <a:t>890-915MHz</a:t>
            </a:r>
            <a:r>
              <a:rPr lang="en-US" altLang="en-US" sz="2000" dirty="0"/>
              <a:t> for UPLINK and </a:t>
            </a:r>
            <a:r>
              <a:rPr lang="en-US" altLang="en-US" sz="2000" dirty="0">
                <a:solidFill>
                  <a:srgbClr val="FF0000"/>
                </a:solidFill>
              </a:rPr>
              <a:t>935-960 MHz </a:t>
            </a:r>
            <a:r>
              <a:rPr lang="en-US" altLang="en-US" sz="2000" dirty="0"/>
              <a:t>for DOWNLINK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/>
              <a:t> Each Band provides </a:t>
            </a:r>
            <a:r>
              <a:rPr lang="en-US" altLang="en-US" sz="2000" dirty="0">
                <a:solidFill>
                  <a:srgbClr val="FF0000"/>
                </a:solidFill>
              </a:rPr>
              <a:t>125 Carrier of 200KHz each</a:t>
            </a:r>
            <a:r>
              <a:rPr lang="en-US" altLang="en-US" sz="2000" dirty="0"/>
              <a:t>. 1 Carrier is provided as a Guard </a:t>
            </a:r>
            <a:r>
              <a:rPr lang="en-US" altLang="en-US" sz="2000" dirty="0" smtClean="0"/>
              <a:t>Channel </a:t>
            </a:r>
            <a:r>
              <a:rPr lang="en-US" altLang="en-US" sz="2000" dirty="0"/>
              <a:t>between GSM and Other Bands. </a:t>
            </a:r>
            <a:endParaRPr lang="en-US" altLang="en-US" dirty="0" smtClean="0"/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altLang="en-US" dirty="0" smtClean="0"/>
              <a:t>Each Carrier uses 8 Time Slots (TS) TDMA</a:t>
            </a: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altLang="en-US" dirty="0" smtClean="0"/>
              <a:t>Thus </a:t>
            </a:r>
            <a:r>
              <a:rPr lang="en-US" altLang="en-US" dirty="0" smtClean="0"/>
              <a:t>GSM provides 8 * 124 Full Duplex Channel.</a:t>
            </a: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altLang="en-US" dirty="0" smtClean="0"/>
              <a:t>Each such Channel (Carrier + TS) is called a </a:t>
            </a:r>
            <a:r>
              <a:rPr lang="en-US" altLang="en-US" dirty="0" smtClean="0">
                <a:solidFill>
                  <a:srgbClr val="FF0000"/>
                </a:solidFill>
              </a:rPr>
              <a:t>Physical Channel</a:t>
            </a:r>
            <a:r>
              <a:rPr lang="en-US" altLang="en-US" dirty="0" smtClean="0"/>
              <a:t>.</a:t>
            </a:r>
          </a:p>
          <a:p>
            <a:pPr lvl="1"/>
            <a:endParaRPr lang="en-US" altLang="en-US" sz="2000" dirty="0" smtClean="0"/>
          </a:p>
        </p:txBody>
      </p:sp>
      <p:pic>
        <p:nvPicPr>
          <p:cNvPr id="248" name="Picture 24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831354"/>
            <a:ext cx="464820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9" name="Rectangle 248"/>
          <p:cNvSpPr/>
          <p:nvPr/>
        </p:nvSpPr>
        <p:spPr>
          <a:xfrm>
            <a:off x="4079776" y="1898154"/>
            <a:ext cx="1204886" cy="457200"/>
          </a:xfrm>
          <a:prstGeom prst="rect">
            <a:avLst/>
          </a:prstGeom>
          <a:solidFill>
            <a:schemeClr val="accent6">
              <a:lumMod val="60000"/>
              <a:lumOff val="40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141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GSM Frame Structure</a:t>
            </a:r>
            <a:endParaRPr lang="en-US" dirty="0"/>
          </a:p>
        </p:txBody>
      </p:sp>
      <p:pic>
        <p:nvPicPr>
          <p:cNvPr id="6" name="Picture 2" descr="Image result for GSM Frame Hierarch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834008"/>
            <a:ext cx="10513168" cy="5691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3239563" y="3429000"/>
            <a:ext cx="264149" cy="288032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4295800" y="4509120"/>
            <a:ext cx="3456384" cy="288032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3791744" y="4499495"/>
            <a:ext cx="504056" cy="288032"/>
          </a:xfrm>
          <a:prstGeom prst="rect">
            <a:avLst/>
          </a:prstGeom>
          <a:solidFill>
            <a:schemeClr val="accent3">
              <a:lumMod val="40000"/>
              <a:lumOff val="60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655840" y="3429000"/>
            <a:ext cx="225649" cy="264070"/>
          </a:xfrm>
          <a:prstGeom prst="rect">
            <a:avLst/>
          </a:prstGeom>
          <a:solidFill>
            <a:schemeClr val="accent3">
              <a:lumMod val="40000"/>
              <a:lumOff val="60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849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GSM Logical Channel</a:t>
            </a:r>
            <a:endParaRPr lang="en-US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688" y="1556792"/>
            <a:ext cx="6696744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424" y="4458692"/>
            <a:ext cx="464820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-197325" y="1943254"/>
            <a:ext cx="6787756" cy="4608512"/>
            <a:chOff x="-197325" y="1943254"/>
            <a:chExt cx="6787756" cy="4608512"/>
          </a:xfrm>
        </p:grpSpPr>
        <p:grpSp>
          <p:nvGrpSpPr>
            <p:cNvPr id="5" name="Group 4"/>
            <p:cNvGrpSpPr/>
            <p:nvPr/>
          </p:nvGrpSpPr>
          <p:grpSpPr>
            <a:xfrm>
              <a:off x="-197325" y="3130178"/>
              <a:ext cx="4373925" cy="3413750"/>
              <a:chOff x="-197325" y="3130178"/>
              <a:chExt cx="4373925" cy="3413750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435267" y="3130178"/>
                <a:ext cx="1741333" cy="1728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-197325" y="3727232"/>
                <a:ext cx="3951143" cy="28166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8" name="Rectangle 17"/>
            <p:cNvSpPr/>
            <p:nvPr/>
          </p:nvSpPr>
          <p:spPr>
            <a:xfrm>
              <a:off x="2639288" y="1943254"/>
              <a:ext cx="3951143" cy="46085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21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848" y="902896"/>
            <a:ext cx="7376054" cy="3125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6"/>
          <p:cNvSpPr txBox="1">
            <a:spLocks noChangeArrowheads="1"/>
          </p:cNvSpPr>
          <p:nvPr/>
        </p:nvSpPr>
        <p:spPr bwMode="auto">
          <a:xfrm>
            <a:off x="1199456" y="5157192"/>
            <a:ext cx="1394693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 smtClean="0"/>
              <a:t>Speed of TCH/F = 24x2x57 bits in 120ms = 22.8kbps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 smtClean="0"/>
              <a:t>Effective Speed = 13kbps after  channel encoding with FEC</a:t>
            </a:r>
            <a:endParaRPr lang="en-US" altLang="en-US" sz="1400" dirty="0"/>
          </a:p>
        </p:txBody>
      </p:sp>
      <p:sp>
        <p:nvSpPr>
          <p:cNvPr id="23" name="TextBox 13"/>
          <p:cNvSpPr txBox="1">
            <a:spLocks noChangeArrowheads="1"/>
          </p:cNvSpPr>
          <p:nvPr/>
        </p:nvSpPr>
        <p:spPr bwMode="auto">
          <a:xfrm>
            <a:off x="1220002" y="5929535"/>
            <a:ext cx="106366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 smtClean="0"/>
              <a:t>For </a:t>
            </a:r>
            <a:r>
              <a:rPr lang="en-US" altLang="en-US" sz="1400" dirty="0"/>
              <a:t>Half rate TCH, FN 12 is signaling and FN 25 is idle for first User while FN 25 is signaling and FN 12 is idle for second User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99456" y="4758824"/>
            <a:ext cx="1000818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 Full Rate TCH, FN 12 will be used for signaling while FN 25 is idle</a:t>
            </a:r>
          </a:p>
        </p:txBody>
      </p:sp>
    </p:spTree>
    <p:extLst>
      <p:ext uri="{BB962C8B-B14F-4D97-AF65-F5344CB8AC3E}">
        <p14:creationId xmlns:p14="http://schemas.microsoft.com/office/powerpoint/2010/main" val="174663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GSM Logical Channel</a:t>
            </a:r>
            <a:endParaRPr lang="en-US" sz="3600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688" y="1556792"/>
            <a:ext cx="6696744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630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GSM Logical Channel</a:t>
            </a:r>
            <a:endParaRPr lang="en-US" sz="36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240" y="1052736"/>
            <a:ext cx="464820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912" y="1178149"/>
            <a:ext cx="2400300" cy="155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96688" y="3374990"/>
            <a:ext cx="11377264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u="sng" dirty="0"/>
              <a:t>Slow Associated Control Channel (SACCH)</a:t>
            </a:r>
            <a:r>
              <a:rPr lang="en-US" altLang="en-US" sz="2000" dirty="0"/>
              <a:t> – power control and timing information in the downlink while received signal strength and link quality reports in the uplink.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/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u="sng" dirty="0"/>
              <a:t>Fast Associated Control Channel (FACCH)</a:t>
            </a:r>
            <a:r>
              <a:rPr lang="en-US" altLang="en-US" sz="2000" dirty="0"/>
              <a:t> – used to transmit urgent messages e.g. handover. It is sent by steeling 57 bits within a TCH slot.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/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u="sng" dirty="0"/>
              <a:t>Standalone Dedicated Control Channel (SDCCH)</a:t>
            </a:r>
            <a:r>
              <a:rPr lang="en-US" altLang="en-US" sz="2000" dirty="0"/>
              <a:t> – used along with SACCH to send and receive messages.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/>
          </a:p>
        </p:txBody>
      </p:sp>
      <p:pic>
        <p:nvPicPr>
          <p:cNvPr id="8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940" y="1967136"/>
            <a:ext cx="4724400" cy="95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3410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GSM Logical Channel</a:t>
            </a:r>
            <a:endParaRPr lang="en-US" sz="3600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688" y="1556792"/>
            <a:ext cx="6696744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492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GSM Logical Channel</a:t>
            </a:r>
            <a:endParaRPr lang="en-US" sz="3600" dirty="0"/>
          </a:p>
        </p:txBody>
      </p:sp>
      <p:pic>
        <p:nvPicPr>
          <p:cNvPr id="6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0202" y="836712"/>
            <a:ext cx="7878150" cy="1168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0202" y="2006787"/>
            <a:ext cx="7838292" cy="1214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4050202" y="5733256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Communicated in TS 0 of each of the 51 </a:t>
            </a:r>
            <a:r>
              <a:rPr lang="en-US" altLang="en-US" sz="2000" dirty="0" err="1"/>
              <a:t>Multiframe</a:t>
            </a:r>
            <a:endParaRPr lang="en-US" altLang="en-US" sz="2000" dirty="0"/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76" y="1196752"/>
            <a:ext cx="2934109" cy="35914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376" y="5085184"/>
            <a:ext cx="3143689" cy="95263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5760" y="3730414"/>
            <a:ext cx="7950454" cy="193384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1984" y="3284984"/>
            <a:ext cx="4656157" cy="332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56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GSM Logical Channel</a:t>
            </a:r>
            <a:endParaRPr lang="en-US" sz="3600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771672"/>
            <a:ext cx="8208912" cy="5825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4413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Questions?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3863752" y="2852936"/>
            <a:ext cx="414049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 smtClean="0">
                <a:solidFill>
                  <a:srgbClr val="FF0000"/>
                </a:solidFill>
              </a:rPr>
              <a:t>Thank  You</a:t>
            </a:r>
            <a:endParaRPr lang="en-IN" sz="6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34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nded Design Blue 16x9">
  <a:themeElements>
    <a:clrScheme name="Banded_Design_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lumMod val="0"/>
                <a:lumOff val="100000"/>
              </a:schemeClr>
            </a:gs>
            <a:gs pos="72000">
              <a:schemeClr val="phClr"/>
            </a:gs>
            <a:gs pos="100000">
              <a:schemeClr val="phClr">
                <a:lumMod val="90000"/>
              </a:schemeClr>
            </a:gs>
          </a:gsLst>
          <a:lin ang="5400000" scaled="1"/>
        </a:gradFill>
        <a:gradFill flip="none" rotWithShape="1">
          <a:gsLst>
            <a:gs pos="32000">
              <a:schemeClr val="phClr"/>
            </a:gs>
            <a:gs pos="100000">
              <a:schemeClr val="phClr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17271.potx" id="{FAD70E18-2F21-4BAE-983F-13051C6D1C17}" vid="{4B4DF9DC-15EC-4671-A52A-56A08B977F11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project plan presentation (widescreen)</Template>
  <TotalTime>26610</TotalTime>
  <Words>1016</Words>
  <Application>Microsoft Office PowerPoint</Application>
  <PresentationFormat>Widescreen</PresentationFormat>
  <Paragraphs>236</Paragraphs>
  <Slides>22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Corbel</vt:lpstr>
      <vt:lpstr>Euphemia</vt:lpstr>
      <vt:lpstr>Times New Roman</vt:lpstr>
      <vt:lpstr>Wingdings</vt:lpstr>
      <vt:lpstr>Banded Design Blue 16x9</vt:lpstr>
      <vt:lpstr>ClipArt</vt:lpstr>
      <vt:lpstr>Dr. Sunirmal Khatua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Project Plan</dc:title>
  <dc:creator>Sunirmal Khatua</dc:creator>
  <cp:lastModifiedBy>Microsoft account</cp:lastModifiedBy>
  <cp:revision>368</cp:revision>
  <dcterms:created xsi:type="dcterms:W3CDTF">2018-05-13T16:49:43Z</dcterms:created>
  <dcterms:modified xsi:type="dcterms:W3CDTF">2025-09-23T05:20:43Z</dcterms:modified>
</cp:coreProperties>
</file>