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1"/>
  </p:notesMasterIdLst>
  <p:sldIdLst>
    <p:sldId id="256" r:id="rId2"/>
    <p:sldId id="308" r:id="rId3"/>
    <p:sldId id="267" r:id="rId4"/>
    <p:sldId id="268" r:id="rId5"/>
    <p:sldId id="269" r:id="rId6"/>
    <p:sldId id="270" r:id="rId7"/>
    <p:sldId id="271" r:id="rId8"/>
    <p:sldId id="273" r:id="rId9"/>
    <p:sldId id="272" r:id="rId10"/>
    <p:sldId id="274" r:id="rId11"/>
    <p:sldId id="275" r:id="rId12"/>
    <p:sldId id="276" r:id="rId13"/>
    <p:sldId id="305" r:id="rId14"/>
    <p:sldId id="306" r:id="rId15"/>
    <p:sldId id="278" r:id="rId16"/>
    <p:sldId id="281" r:id="rId17"/>
    <p:sldId id="282" r:id="rId18"/>
    <p:sldId id="277" r:id="rId19"/>
    <p:sldId id="279" r:id="rId20"/>
    <p:sldId id="280" r:id="rId21"/>
    <p:sldId id="283" r:id="rId22"/>
    <p:sldId id="284" r:id="rId23"/>
    <p:sldId id="285" r:id="rId24"/>
    <p:sldId id="286" r:id="rId25"/>
    <p:sldId id="288" r:id="rId26"/>
    <p:sldId id="287" r:id="rId27"/>
    <p:sldId id="289" r:id="rId28"/>
    <p:sldId id="291" r:id="rId29"/>
    <p:sldId id="307" r:id="rId30"/>
    <p:sldId id="290" r:id="rId31"/>
    <p:sldId id="292" r:id="rId32"/>
    <p:sldId id="293" r:id="rId33"/>
    <p:sldId id="294" r:id="rId34"/>
    <p:sldId id="295" r:id="rId35"/>
    <p:sldId id="296" r:id="rId36"/>
    <p:sldId id="297" r:id="rId37"/>
    <p:sldId id="260" r:id="rId38"/>
    <p:sldId id="261" r:id="rId39"/>
    <p:sldId id="298" r:id="rId40"/>
    <p:sldId id="262" r:id="rId41"/>
    <p:sldId id="264" r:id="rId42"/>
    <p:sldId id="266" r:id="rId43"/>
    <p:sldId id="265" r:id="rId44"/>
    <p:sldId id="263" r:id="rId45"/>
    <p:sldId id="299" r:id="rId46"/>
    <p:sldId id="300" r:id="rId47"/>
    <p:sldId id="301" r:id="rId48"/>
    <p:sldId id="302" r:id="rId49"/>
    <p:sldId id="303" r:id="rId50"/>
    <p:sldId id="304" r:id="rId51"/>
    <p:sldId id="309" r:id="rId52"/>
    <p:sldId id="310" r:id="rId53"/>
    <p:sldId id="311" r:id="rId54"/>
    <p:sldId id="312" r:id="rId55"/>
    <p:sldId id="313" r:id="rId56"/>
    <p:sldId id="314" r:id="rId57"/>
    <p:sldId id="315" r:id="rId58"/>
    <p:sldId id="316"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18"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1" d="100"/>
          <a:sy n="61" d="100"/>
        </p:scale>
        <p:origin x="-1416"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F9C45-A694-4C09-8852-9FA331ACB92E}" type="datetimeFigureOut">
              <a:rPr lang="en-US" smtClean="0"/>
              <a:pPr/>
              <a:t>11/25/2024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831F6-7058-4936-9E29-47EB38EDF902}"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3D5831F6-7058-4936-9E29-47EB38EDF902}" type="slidenum">
              <a:rPr lang="en-IN" smtClean="0"/>
              <a:pPr/>
              <a:t>36</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225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18</a:t>
            </a:r>
          </a:p>
        </p:txBody>
      </p:sp>
      <p:sp>
        <p:nvSpPr>
          <p:cNvPr id="225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225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22534" name="Rectangle 6"/>
          <p:cNvSpPr>
            <a:spLocks noGrp="1" noRot="1" noChangeAspect="1" noChangeArrowheads="1" noTextEdit="1"/>
          </p:cNvSpPr>
          <p:nvPr>
            <p:ph type="sldImg"/>
          </p:nvPr>
        </p:nvSpPr>
        <p:spPr>
          <a:xfrm>
            <a:off x="1150938" y="692150"/>
            <a:ext cx="4556125" cy="3416300"/>
          </a:xfrm>
          <a:ln cap="flat"/>
        </p:spPr>
      </p:sp>
      <p:sp>
        <p:nvSpPr>
          <p:cNvPr id="22535" name="Rectangle 7"/>
          <p:cNvSpPr>
            <a:spLocks noGrp="1" noChangeArrowheads="1"/>
          </p:cNvSpPr>
          <p:nvPr>
            <p:ph type="body" idx="1"/>
          </p:nvPr>
        </p:nvSpPr>
        <p:spPr>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245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19</a:t>
            </a:r>
          </a:p>
        </p:txBody>
      </p:sp>
      <p:sp>
        <p:nvSpPr>
          <p:cNvPr id="245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245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24582" name="Rectangle 6"/>
          <p:cNvSpPr>
            <a:spLocks noGrp="1" noRot="1" noChangeAspect="1" noChangeArrowheads="1" noTextEdit="1"/>
          </p:cNvSpPr>
          <p:nvPr>
            <p:ph type="sldImg"/>
          </p:nvPr>
        </p:nvSpPr>
        <p:spPr>
          <a:xfrm>
            <a:off x="1150938" y="692150"/>
            <a:ext cx="4556125" cy="3416300"/>
          </a:xfrm>
          <a:ln cap="flat"/>
        </p:spPr>
      </p:sp>
      <p:sp>
        <p:nvSpPr>
          <p:cNvPr id="24583" name="Rectangle 7"/>
          <p:cNvSpPr>
            <a:spLocks noGrp="1" noChangeArrowheads="1"/>
          </p:cNvSpPr>
          <p:nvPr>
            <p:ph type="body" idx="1"/>
          </p:nvPr>
        </p:nvSpPr>
        <p:spPr>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266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20</a:t>
            </a:r>
          </a:p>
        </p:txBody>
      </p:sp>
      <p:sp>
        <p:nvSpPr>
          <p:cNvPr id="266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266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26630" name="Rectangle 6"/>
          <p:cNvSpPr>
            <a:spLocks noGrp="1" noRot="1" noChangeAspect="1" noChangeArrowheads="1" noTextEdit="1"/>
          </p:cNvSpPr>
          <p:nvPr>
            <p:ph type="sldImg"/>
          </p:nvPr>
        </p:nvSpPr>
        <p:spPr>
          <a:xfrm>
            <a:off x="1150938" y="692150"/>
            <a:ext cx="4556125" cy="3416300"/>
          </a:xfrm>
          <a:ln cap="flat"/>
        </p:spPr>
      </p:sp>
      <p:sp>
        <p:nvSpPr>
          <p:cNvPr id="26631" name="Rectangle 7"/>
          <p:cNvSpPr>
            <a:spLocks noGrp="1" noChangeArrowheads="1"/>
          </p:cNvSpPr>
          <p:nvPr>
            <p:ph type="body" idx="1"/>
          </p:nvPr>
        </p:nvSpPr>
        <p:spPr>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2867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21</a:t>
            </a:r>
          </a:p>
        </p:txBody>
      </p:sp>
      <p:sp>
        <p:nvSpPr>
          <p:cNvPr id="2867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2867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28678" name="Rectangle 6"/>
          <p:cNvSpPr>
            <a:spLocks noGrp="1" noRot="1" noChangeAspect="1" noChangeArrowheads="1" noTextEdit="1"/>
          </p:cNvSpPr>
          <p:nvPr>
            <p:ph type="sldImg"/>
          </p:nvPr>
        </p:nvSpPr>
        <p:spPr>
          <a:xfrm>
            <a:off x="1150938" y="692150"/>
            <a:ext cx="4556125" cy="3416300"/>
          </a:xfrm>
          <a:ln cap="flat"/>
        </p:spPr>
      </p:sp>
      <p:sp>
        <p:nvSpPr>
          <p:cNvPr id="28679" name="Rectangle 7"/>
          <p:cNvSpPr>
            <a:spLocks noGrp="1" noChangeArrowheads="1"/>
          </p:cNvSpPr>
          <p:nvPr>
            <p:ph type="body" idx="1"/>
          </p:nvPr>
        </p:nvSpPr>
        <p:spPr>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378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23</a:t>
            </a:r>
          </a:p>
        </p:txBody>
      </p:sp>
      <p:sp>
        <p:nvSpPr>
          <p:cNvPr id="378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378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37894"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37895"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24</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39942"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39943"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25</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41990"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41991"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440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26</a:t>
            </a:r>
          </a:p>
        </p:txBody>
      </p:sp>
      <p:sp>
        <p:nvSpPr>
          <p:cNvPr id="440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440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44038"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44039"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27</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46086"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46087"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IN"/>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19050" tIns="0" rIns="19050" bIns="0" anchor="b"/>
          <a:lstStyle/>
          <a:p>
            <a:pPr algn="r"/>
            <a:r>
              <a:rPr lang="en-US" sz="1000" i="1"/>
              <a:t>28</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IN"/>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IN"/>
          </a:p>
        </p:txBody>
      </p:sp>
      <p:sp>
        <p:nvSpPr>
          <p:cNvPr id="48134"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48135" name="Rectangle 7"/>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50179"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14</a:t>
            </a:r>
          </a:p>
        </p:txBody>
      </p:sp>
      <p:sp>
        <p:nvSpPr>
          <p:cNvPr id="50180"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50181"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50182"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50183"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52227"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15</a:t>
            </a:r>
          </a:p>
        </p:txBody>
      </p:sp>
      <p:sp>
        <p:nvSpPr>
          <p:cNvPr id="52228"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52229"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52230"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52231"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54275"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16</a:t>
            </a:r>
          </a:p>
        </p:txBody>
      </p:sp>
      <p:sp>
        <p:nvSpPr>
          <p:cNvPr id="54276"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54277"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54278"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54279"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56323"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17</a:t>
            </a:r>
          </a:p>
        </p:txBody>
      </p:sp>
      <p:sp>
        <p:nvSpPr>
          <p:cNvPr id="56324"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56325"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56326"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56327"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58371"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18</a:t>
            </a:r>
          </a:p>
        </p:txBody>
      </p:sp>
      <p:sp>
        <p:nvSpPr>
          <p:cNvPr id="58372"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58373"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58374"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58375"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
        <p:nvSpPr>
          <p:cNvPr id="60419" name="Rectangle 3"/>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
        <p:nvSpPr>
          <p:cNvPr id="62467" name="Rectangle 3"/>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body" idx="1"/>
          </p:nvPr>
        </p:nvSpPr>
        <p:spPr bwMode="auto">
          <a:xfrm>
            <a:off x="914400" y="4343400"/>
            <a:ext cx="5029200" cy="4114800"/>
          </a:xfrm>
          <a:prstGeom prst="rect">
            <a:avLst/>
          </a:prstGeom>
          <a:noFill/>
          <a:ln w="12700">
            <a:miter lim="800000"/>
            <a:headEnd/>
            <a:tailEnd/>
          </a:ln>
        </p:spPr>
        <p:txBody>
          <a:bodyPr lIns="90488" tIns="44450" rIns="90488" bIns="44450"/>
          <a:lstStyle/>
          <a:p>
            <a:endParaRPr lang="en-US"/>
          </a:p>
        </p:txBody>
      </p:sp>
      <p:sp>
        <p:nvSpPr>
          <p:cNvPr id="64515" name="Rectangle 3"/>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66563"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19</a:t>
            </a:r>
          </a:p>
        </p:txBody>
      </p:sp>
      <p:sp>
        <p:nvSpPr>
          <p:cNvPr id="66564"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66565"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66566"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66567"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3886200" y="19050"/>
            <a:ext cx="2971800" cy="461963"/>
          </a:xfrm>
          <a:prstGeom prst="rect">
            <a:avLst/>
          </a:prstGeom>
          <a:noFill/>
          <a:ln w="12700">
            <a:noFill/>
            <a:miter lim="800000"/>
            <a:headEnd/>
            <a:tailEnd/>
          </a:ln>
          <a:effectLst/>
        </p:spPr>
        <p:txBody>
          <a:bodyPr wrap="none" anchor="ctr"/>
          <a:lstStyle/>
          <a:p>
            <a:endParaRPr lang="en-IN"/>
          </a:p>
        </p:txBody>
      </p:sp>
      <p:sp>
        <p:nvSpPr>
          <p:cNvPr id="68611" name="Rectangle 3"/>
          <p:cNvSpPr>
            <a:spLocks noChangeArrowheads="1"/>
          </p:cNvSpPr>
          <p:nvPr/>
        </p:nvSpPr>
        <p:spPr bwMode="auto">
          <a:xfrm>
            <a:off x="3886200" y="8661400"/>
            <a:ext cx="2971800" cy="461963"/>
          </a:xfrm>
          <a:prstGeom prst="rect">
            <a:avLst/>
          </a:prstGeom>
          <a:noFill/>
          <a:ln w="12700">
            <a:noFill/>
            <a:miter lim="800000"/>
            <a:headEnd/>
            <a:tailEnd/>
          </a:ln>
          <a:effectLst/>
        </p:spPr>
        <p:txBody>
          <a:bodyPr lIns="19050" tIns="0" rIns="19050" bIns="0" anchor="b"/>
          <a:lstStyle/>
          <a:p>
            <a:pPr algn="r"/>
            <a:r>
              <a:rPr lang="en-US" sz="1000" i="1">
                <a:solidFill>
                  <a:schemeClr val="tx2"/>
                </a:solidFill>
                <a:latin typeface="Book Antiqua" pitchFamily="18" charset="0"/>
              </a:rPr>
              <a:t>20</a:t>
            </a:r>
          </a:p>
        </p:txBody>
      </p:sp>
      <p:sp>
        <p:nvSpPr>
          <p:cNvPr id="68612" name="Rectangle 4"/>
          <p:cNvSpPr>
            <a:spLocks noChangeArrowheads="1"/>
          </p:cNvSpPr>
          <p:nvPr/>
        </p:nvSpPr>
        <p:spPr bwMode="auto">
          <a:xfrm>
            <a:off x="0" y="8661400"/>
            <a:ext cx="2971800" cy="461963"/>
          </a:xfrm>
          <a:prstGeom prst="rect">
            <a:avLst/>
          </a:prstGeom>
          <a:noFill/>
          <a:ln w="12700">
            <a:noFill/>
            <a:miter lim="800000"/>
            <a:headEnd/>
            <a:tailEnd/>
          </a:ln>
          <a:effectLst/>
        </p:spPr>
        <p:txBody>
          <a:bodyPr wrap="none" anchor="ctr"/>
          <a:lstStyle/>
          <a:p>
            <a:endParaRPr lang="en-IN"/>
          </a:p>
        </p:txBody>
      </p:sp>
      <p:sp>
        <p:nvSpPr>
          <p:cNvPr id="68613" name="Rectangle 5"/>
          <p:cNvSpPr>
            <a:spLocks noChangeArrowheads="1"/>
          </p:cNvSpPr>
          <p:nvPr/>
        </p:nvSpPr>
        <p:spPr bwMode="auto">
          <a:xfrm>
            <a:off x="0" y="19050"/>
            <a:ext cx="2971800" cy="461963"/>
          </a:xfrm>
          <a:prstGeom prst="rect">
            <a:avLst/>
          </a:prstGeom>
          <a:noFill/>
          <a:ln w="12700">
            <a:noFill/>
            <a:miter lim="800000"/>
            <a:headEnd/>
            <a:tailEnd/>
          </a:ln>
          <a:effectLst/>
        </p:spPr>
        <p:txBody>
          <a:bodyPr wrap="none" anchor="ctr"/>
          <a:lstStyle/>
          <a:p>
            <a:endParaRPr lang="en-IN"/>
          </a:p>
        </p:txBody>
      </p:sp>
      <p:sp>
        <p:nvSpPr>
          <p:cNvPr id="68614" name="Rectangle 6"/>
          <p:cNvSpPr>
            <a:spLocks noGrp="1" noRot="1" noChangeAspect="1"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p:spPr>
      </p:sp>
      <p:sp>
        <p:nvSpPr>
          <p:cNvPr id="68615" name="Rectangle 7"/>
          <p:cNvSpPr>
            <a:spLocks noGrp="1" noChangeArrowheads="1"/>
          </p:cNvSpPr>
          <p:nvPr>
            <p:ph type="body" idx="1"/>
          </p:nvPr>
        </p:nvSpPr>
        <p:spPr bwMode="auto">
          <a:xfrm>
            <a:off x="914400" y="4343400"/>
            <a:ext cx="5029200" cy="4113213"/>
          </a:xfrm>
          <a:prstGeom prst="rect">
            <a:avLst/>
          </a:prstGeom>
          <a:noFill/>
          <a:ln w="12700">
            <a:miter lim="800000"/>
            <a:headEnd/>
            <a:tailEnd/>
          </a:ln>
        </p:spPr>
        <p:txBody>
          <a:bodyPr lIns="93663" tIns="46038" rIns="93663" bIns="46038"/>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33422C6-2D69-4CD1-A397-1A8393CBAC27}" type="datetime1">
              <a:rPr lang="en-US" smtClean="0"/>
              <a:pPr/>
              <a:t>11/25/2024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
        <p:nvSpPr>
          <p:cNvPr id="6" name="Slide Number Placeholder 5"/>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8FEF66F-873C-445F-89BB-F312BCE53F44}" type="datetime1">
              <a:rPr lang="en-US" smtClean="0"/>
              <a:pPr/>
              <a:t>11/25/2024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
        <p:nvSpPr>
          <p:cNvPr id="6" name="Slide Number Placeholder 5"/>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18C27C-72A7-47AC-A90B-584AB411749A}" type="datetime1">
              <a:rPr lang="en-US" smtClean="0"/>
              <a:pPr/>
              <a:t>11/25/2024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
        <p:nvSpPr>
          <p:cNvPr id="6" name="Slide Number Placeholder 5"/>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FC20AED-C5A2-48CC-8225-960D55F1B05A}" type="datetime1">
              <a:rPr lang="en-US" smtClean="0"/>
              <a:pPr/>
              <a:t>11/25/2024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
        <p:nvSpPr>
          <p:cNvPr id="7" name="Slide Number Placeholder 6"/>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CE4F966-8A4F-45DE-9AAA-BF803FB1BF03}" type="datetime1">
              <a:rPr lang="en-US" smtClean="0"/>
              <a:pPr/>
              <a:t>11/25/2024</a:t>
            </a:fld>
            <a:endParaRPr lang="en-IN"/>
          </a:p>
        </p:txBody>
      </p:sp>
      <p:sp>
        <p:nvSpPr>
          <p:cNvPr id="8" name="Footer Placeholder 7"/>
          <p:cNvSpPr>
            <a:spLocks noGrp="1"/>
          </p:cNvSpPr>
          <p:nvPr>
            <p:ph type="ftr" sz="quarter" idx="11"/>
          </p:nvPr>
        </p:nvSpPr>
        <p:spPr/>
        <p:txBody>
          <a:bodyPr/>
          <a:lstStyle/>
          <a:p>
            <a:r>
              <a:rPr lang="en-IN" smtClean="0"/>
              <a:t>sankhayan@gmail.com</a:t>
            </a:r>
            <a:endParaRPr lang="en-IN"/>
          </a:p>
        </p:txBody>
      </p:sp>
      <p:sp>
        <p:nvSpPr>
          <p:cNvPr id="9" name="Slide Number Placeholder 8"/>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9904E5C-4CD3-4A2C-A7D5-1D2831A609C6}" type="datetime1">
              <a:rPr lang="en-US" smtClean="0"/>
              <a:pPr/>
              <a:t>11/25/2024</a:t>
            </a:fld>
            <a:endParaRPr lang="en-IN"/>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DC0532-6F28-4DFC-A0C1-6734F6C59742}" type="datetime1">
              <a:rPr lang="en-US" smtClean="0"/>
              <a:pPr/>
              <a:t>11/25/2024</a:t>
            </a:fld>
            <a:endParaRPr lang="en-IN"/>
          </a:p>
        </p:txBody>
      </p:sp>
      <p:sp>
        <p:nvSpPr>
          <p:cNvPr id="3" name="Footer Placeholder 2"/>
          <p:cNvSpPr>
            <a:spLocks noGrp="1"/>
          </p:cNvSpPr>
          <p:nvPr>
            <p:ph type="ftr" sz="quarter" idx="11"/>
          </p:nvPr>
        </p:nvSpPr>
        <p:spPr/>
        <p:txBody>
          <a:bodyPr/>
          <a:lstStyle/>
          <a:p>
            <a:r>
              <a:rPr lang="en-IN" smtClean="0"/>
              <a:t>sankhayan@gmail.com</a:t>
            </a:r>
            <a:endParaRPr lang="en-IN"/>
          </a:p>
        </p:txBody>
      </p:sp>
      <p:sp>
        <p:nvSpPr>
          <p:cNvPr id="4" name="Slide Number Placeholder 3"/>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26B37E-9EB5-41DB-AC9B-7E6CDE46F30E}" type="datetime1">
              <a:rPr lang="en-US" smtClean="0"/>
              <a:pPr/>
              <a:t>11/25/2024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
        <p:nvSpPr>
          <p:cNvPr id="7" name="Slide Number Placeholder 6"/>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8C1549-2E48-4914-8F69-BA0D48E3B871}" type="datetime1">
              <a:rPr lang="en-US" smtClean="0"/>
              <a:pPr/>
              <a:t>11/25/2024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
        <p:nvSpPr>
          <p:cNvPr id="7" name="Slide Number Placeholder 6"/>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75B0A6E-32B2-4881-AC78-AC5639971A80}" type="datetime1">
              <a:rPr lang="en-US" smtClean="0"/>
              <a:pPr/>
              <a:t>11/25/2024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
        <p:nvSpPr>
          <p:cNvPr id="6" name="Slide Number Placeholder 5"/>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8F89EF4-E812-4742-97B5-1832B8B76D3C}" type="datetime1">
              <a:rPr lang="en-US" smtClean="0"/>
              <a:pPr/>
              <a:t>11/25/2024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
        <p:nvSpPr>
          <p:cNvPr id="6" name="Slide Number Placeholder 5"/>
          <p:cNvSpPr>
            <a:spLocks noGrp="1"/>
          </p:cNvSpPr>
          <p:nvPr>
            <p:ph type="sldNum" sz="quarter" idx="12"/>
          </p:nvPr>
        </p:nvSpPr>
        <p:spPr/>
        <p:txBody>
          <a:bodyPr/>
          <a:lstStyle/>
          <a:p>
            <a:fld id="{49155C66-EA02-4C64-A9CC-743997C7925E}"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49DFBD-EE83-4297-9184-503482C6628F}" type="datetime1">
              <a:rPr lang="en-US" smtClean="0"/>
              <a:pPr/>
              <a:t>11/25/2024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sankhayan@gmail.com</a:t>
            </a: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155C66-EA02-4C64-A9CC-743997C7925E}"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IN" sz="4000" dirty="0" smtClean="0"/>
              <a:t>Query Optimization: Cost Estimation </a:t>
            </a:r>
            <a:endParaRPr lang="en-IN" sz="4000" dirty="0"/>
          </a:p>
        </p:txBody>
      </p:sp>
      <p:sp>
        <p:nvSpPr>
          <p:cNvPr id="3" name="Subtitle 2"/>
          <p:cNvSpPr>
            <a:spLocks noGrp="1"/>
          </p:cNvSpPr>
          <p:nvPr>
            <p:ph type="subTitle" idx="1"/>
          </p:nvPr>
        </p:nvSpPr>
        <p:spPr/>
        <p:txBody>
          <a:bodyPr/>
          <a:lstStyle/>
          <a:p>
            <a:r>
              <a:rPr lang="en-IN" dirty="0" err="1" smtClean="0">
                <a:solidFill>
                  <a:srgbClr val="FF0000"/>
                </a:solidFill>
              </a:rPr>
              <a:t>Sankhayan</a:t>
            </a:r>
            <a:r>
              <a:rPr lang="en-IN" dirty="0" smtClean="0">
                <a:solidFill>
                  <a:srgbClr val="FF0000"/>
                </a:solidFill>
              </a:rPr>
              <a:t> </a:t>
            </a:r>
            <a:r>
              <a:rPr lang="en-IN" dirty="0" err="1" smtClean="0">
                <a:solidFill>
                  <a:srgbClr val="FF0000"/>
                </a:solidFill>
              </a:rPr>
              <a:t>Choudhury</a:t>
            </a:r>
            <a:endParaRPr lang="en-IN" dirty="0" smtClean="0">
              <a:solidFill>
                <a:srgbClr val="FF0000"/>
              </a:solidFill>
            </a:endParaRPr>
          </a:p>
          <a:p>
            <a:r>
              <a:rPr lang="en-IN" dirty="0" smtClean="0">
                <a:solidFill>
                  <a:srgbClr val="FF0000"/>
                </a:solidFill>
              </a:rPr>
              <a:t>University of Calcutta</a:t>
            </a:r>
            <a:endParaRPr lang="en-IN"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pPr algn="l"/>
            <a:r>
              <a:rPr lang="en-IN" dirty="0" smtClean="0">
                <a:solidFill>
                  <a:srgbClr val="C00000"/>
                </a:solidFill>
              </a:rPr>
              <a:t>Cost Estimation</a:t>
            </a:r>
            <a:endParaRPr lang="en-IN" dirty="0">
              <a:solidFill>
                <a:srgbClr val="C00000"/>
              </a:solidFill>
            </a:endParaRPr>
          </a:p>
        </p:txBody>
      </p:sp>
      <p:sp>
        <p:nvSpPr>
          <p:cNvPr id="3" name="Content Placeholder 2"/>
          <p:cNvSpPr>
            <a:spLocks noGrp="1"/>
          </p:cNvSpPr>
          <p:nvPr>
            <p:ph idx="1"/>
          </p:nvPr>
        </p:nvSpPr>
        <p:spPr/>
        <p:txBody>
          <a:bodyPr/>
          <a:lstStyle/>
          <a:p>
            <a:r>
              <a:rPr lang="en-IN" dirty="0" smtClean="0">
                <a:solidFill>
                  <a:srgbClr val="FF0000"/>
                </a:solidFill>
              </a:rPr>
              <a:t>Cost Estimation: Join Operator</a:t>
            </a:r>
          </a:p>
          <a:p>
            <a:endParaRPr lang="en-IN" dirty="0" smtClean="0">
              <a:solidFill>
                <a:srgbClr val="FF0000"/>
              </a:solidFill>
            </a:endParaRPr>
          </a:p>
          <a:p>
            <a:r>
              <a:rPr lang="en-IN" dirty="0" smtClean="0">
                <a:solidFill>
                  <a:srgbClr val="FF0000"/>
                </a:solidFill>
              </a:rPr>
              <a:t>Join is the most costly operation</a:t>
            </a:r>
          </a:p>
          <a:p>
            <a:endParaRPr lang="en-IN" dirty="0" smtClean="0">
              <a:solidFill>
                <a:srgbClr val="FF0000"/>
              </a:solidFill>
            </a:endParaRPr>
          </a:p>
          <a:p>
            <a:r>
              <a:rPr lang="en-IN" dirty="0" smtClean="0">
                <a:solidFill>
                  <a:srgbClr val="FF0000"/>
                </a:solidFill>
              </a:rPr>
              <a:t>Cost estimation highly depends on </a:t>
            </a:r>
            <a:r>
              <a:rPr lang="en-IN" b="1" dirty="0" smtClean="0"/>
              <a:t>Low level access paths. (e.g. Algorithm, Indexing etc.)</a:t>
            </a:r>
            <a:endParaRPr lang="en-IN" b="1" dirty="0"/>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pPr algn="l"/>
            <a:r>
              <a:rPr lang="en-IN" dirty="0" smtClean="0">
                <a:solidFill>
                  <a:srgbClr val="C00000"/>
                </a:solidFill>
              </a:rPr>
              <a:t>A typical example</a:t>
            </a:r>
            <a:endParaRPr lang="en-IN" dirty="0">
              <a:solidFill>
                <a:srgbClr val="C00000"/>
              </a:solidFill>
            </a:endParaRPr>
          </a:p>
        </p:txBody>
      </p:sp>
      <p:sp>
        <p:nvSpPr>
          <p:cNvPr id="3" name="Content Placeholder 2"/>
          <p:cNvSpPr>
            <a:spLocks noGrp="1"/>
          </p:cNvSpPr>
          <p:nvPr>
            <p:ph idx="1"/>
          </p:nvPr>
        </p:nvSpPr>
        <p:spPr/>
        <p:txBody>
          <a:bodyPr>
            <a:normAutofit/>
          </a:bodyPr>
          <a:lstStyle/>
          <a:p>
            <a:pPr algn="just"/>
            <a:r>
              <a:rPr lang="en-IN" dirty="0" smtClean="0"/>
              <a:t>Sailors (Sid, </a:t>
            </a:r>
            <a:r>
              <a:rPr lang="en-IN" dirty="0" err="1" smtClean="0"/>
              <a:t>Sname</a:t>
            </a:r>
            <a:r>
              <a:rPr lang="en-IN" dirty="0" smtClean="0"/>
              <a:t>, Rating, Age)</a:t>
            </a:r>
          </a:p>
          <a:p>
            <a:pPr algn="just"/>
            <a:r>
              <a:rPr lang="en-IN" dirty="0" err="1" smtClean="0"/>
              <a:t>Reservers</a:t>
            </a:r>
            <a:r>
              <a:rPr lang="en-IN" dirty="0" smtClean="0"/>
              <a:t> (Sid, bid, Day, </a:t>
            </a:r>
            <a:r>
              <a:rPr lang="en-IN" dirty="0" err="1" smtClean="0"/>
              <a:t>Rname</a:t>
            </a:r>
            <a:r>
              <a:rPr lang="en-IN" dirty="0" smtClean="0"/>
              <a:t>)</a:t>
            </a:r>
          </a:p>
          <a:p>
            <a:pPr algn="just"/>
            <a:r>
              <a:rPr lang="en-IN" dirty="0" smtClean="0">
                <a:solidFill>
                  <a:srgbClr val="C00000"/>
                </a:solidFill>
              </a:rPr>
              <a:t>Select *</a:t>
            </a:r>
          </a:p>
          <a:p>
            <a:pPr algn="just">
              <a:buNone/>
            </a:pPr>
            <a:r>
              <a:rPr lang="en-IN" dirty="0" smtClean="0">
                <a:solidFill>
                  <a:srgbClr val="C00000"/>
                </a:solidFill>
              </a:rPr>
              <a:t>	From Reserves R, Sailors S</a:t>
            </a:r>
          </a:p>
          <a:p>
            <a:pPr algn="just">
              <a:buNone/>
            </a:pPr>
            <a:r>
              <a:rPr lang="en-IN" dirty="0" smtClean="0">
                <a:solidFill>
                  <a:srgbClr val="C00000"/>
                </a:solidFill>
              </a:rPr>
              <a:t>	Where </a:t>
            </a:r>
            <a:r>
              <a:rPr lang="en-IN" dirty="0" err="1" smtClean="0">
                <a:solidFill>
                  <a:srgbClr val="C00000"/>
                </a:solidFill>
              </a:rPr>
              <a:t>R.Sid</a:t>
            </a:r>
            <a:r>
              <a:rPr lang="en-IN" dirty="0" smtClean="0">
                <a:solidFill>
                  <a:srgbClr val="C00000"/>
                </a:solidFill>
              </a:rPr>
              <a:t> = </a:t>
            </a:r>
            <a:r>
              <a:rPr lang="en-IN" dirty="0" err="1" smtClean="0">
                <a:solidFill>
                  <a:srgbClr val="C00000"/>
                </a:solidFill>
              </a:rPr>
              <a:t>S.Sid</a:t>
            </a:r>
            <a:endParaRPr lang="en-IN" dirty="0" smtClean="0">
              <a:solidFill>
                <a:srgbClr val="C00000"/>
              </a:solidFill>
            </a:endParaRPr>
          </a:p>
          <a:p>
            <a:pPr algn="just"/>
            <a:r>
              <a:rPr lang="en-IN" dirty="0" smtClean="0"/>
              <a:t>Assumption for R: M pages, P</a:t>
            </a:r>
            <a:r>
              <a:rPr lang="en-IN" baseline="-25000" dirty="0" smtClean="0"/>
              <a:t>R</a:t>
            </a:r>
            <a:r>
              <a:rPr lang="en-IN" dirty="0" smtClean="0"/>
              <a:t> tuples/ Page</a:t>
            </a:r>
          </a:p>
          <a:p>
            <a:pPr algn="just"/>
            <a:r>
              <a:rPr lang="en-IN" dirty="0" smtClean="0"/>
              <a:t>Assumption for S: N pages, P</a:t>
            </a:r>
            <a:r>
              <a:rPr lang="en-IN" baseline="-25000" dirty="0" smtClean="0"/>
              <a:t>S</a:t>
            </a:r>
            <a:r>
              <a:rPr lang="en-IN" dirty="0" smtClean="0"/>
              <a:t> tuples/ Page</a:t>
            </a:r>
          </a:p>
          <a:p>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3</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Approaches</a:t>
            </a:r>
            <a:endParaRPr lang="en-IN" dirty="0">
              <a:solidFill>
                <a:srgbClr val="C00000"/>
              </a:solidFill>
            </a:endParaRPr>
          </a:p>
        </p:txBody>
      </p:sp>
      <p:sp>
        <p:nvSpPr>
          <p:cNvPr id="3" name="Content Placeholder 2"/>
          <p:cNvSpPr>
            <a:spLocks noGrp="1"/>
          </p:cNvSpPr>
          <p:nvPr>
            <p:ph idx="1"/>
          </p:nvPr>
        </p:nvSpPr>
        <p:spPr/>
        <p:txBody>
          <a:bodyPr/>
          <a:lstStyle/>
          <a:p>
            <a:r>
              <a:rPr lang="en-IN" dirty="0" smtClean="0"/>
              <a:t>Enumerate all tuples in the cross product and discard those do not meet the join conditions</a:t>
            </a:r>
          </a:p>
          <a:p>
            <a:pPr>
              <a:buNone/>
            </a:pPr>
            <a:r>
              <a:rPr lang="en-IN" dirty="0" smtClean="0"/>
              <a:t>	</a:t>
            </a:r>
            <a:r>
              <a:rPr lang="en-IN" sz="2800" dirty="0" smtClean="0">
                <a:solidFill>
                  <a:srgbClr val="C00000"/>
                </a:solidFill>
              </a:rPr>
              <a:t>[Nested loop join, Block Nested loop join]</a:t>
            </a:r>
          </a:p>
          <a:p>
            <a:endParaRPr lang="en-IN" dirty="0" smtClean="0"/>
          </a:p>
          <a:p>
            <a:r>
              <a:rPr lang="en-IN" dirty="0" smtClean="0"/>
              <a:t>Avoid enumeration of all tuples </a:t>
            </a:r>
            <a:r>
              <a:rPr lang="en-IN" dirty="0" smtClean="0">
                <a:solidFill>
                  <a:srgbClr val="C00000"/>
                </a:solidFill>
              </a:rPr>
              <a:t>using indexing or partitioning</a:t>
            </a:r>
          </a:p>
          <a:p>
            <a:pPr>
              <a:buNone/>
            </a:pPr>
            <a:r>
              <a:rPr lang="en-IN" dirty="0" smtClean="0">
                <a:solidFill>
                  <a:srgbClr val="C00000"/>
                </a:solidFill>
              </a:rPr>
              <a:t>	</a:t>
            </a:r>
            <a:r>
              <a:rPr lang="en-IN" sz="2800" dirty="0" smtClean="0">
                <a:solidFill>
                  <a:srgbClr val="C00000"/>
                </a:solidFill>
              </a:rPr>
              <a:t>[Indexed Nested loop Join, Sort-Join, Hash-join]</a:t>
            </a:r>
            <a:endParaRPr lang="en-IN" sz="2800" dirty="0">
              <a:solidFill>
                <a:srgbClr val="C00000"/>
              </a:solidFill>
            </a:endParaRPr>
          </a:p>
        </p:txBody>
      </p:sp>
      <p:sp>
        <p:nvSpPr>
          <p:cNvPr id="4" name="Slide Number Placeholder 3"/>
          <p:cNvSpPr>
            <a:spLocks noGrp="1"/>
          </p:cNvSpPr>
          <p:nvPr>
            <p:ph type="sldNum" sz="quarter" idx="12"/>
          </p:nvPr>
        </p:nvSpPr>
        <p:spPr/>
        <p:txBody>
          <a:bodyPr/>
          <a:lstStyle/>
          <a:p>
            <a:fld id="{49155C66-EA02-4C64-A9CC-743997C7925E}" type="slidenum">
              <a:rPr lang="en-IN" smtClean="0"/>
              <a:pPr/>
              <a:t>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Nested loop join</a:t>
            </a:r>
            <a:endParaRPr lang="en-IN" dirty="0">
              <a:solidFill>
                <a:srgbClr val="C0000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357158" y="1071546"/>
            <a:ext cx="5700742" cy="1571636"/>
          </a:xfrm>
          <a:prstGeom prst="rect">
            <a:avLst/>
          </a:prstGeom>
          <a:noFill/>
          <a:ln w="9525">
            <a:noFill/>
            <a:miter lim="800000"/>
            <a:headEnd/>
            <a:tailEnd/>
          </a:ln>
          <a:effectLst/>
        </p:spPr>
      </p:pic>
      <p:sp>
        <p:nvSpPr>
          <p:cNvPr id="5" name="TextBox 4"/>
          <p:cNvSpPr txBox="1"/>
          <p:nvPr/>
        </p:nvSpPr>
        <p:spPr>
          <a:xfrm>
            <a:off x="928662" y="2500307"/>
            <a:ext cx="7143800" cy="4431983"/>
          </a:xfrm>
          <a:prstGeom prst="rect">
            <a:avLst/>
          </a:prstGeom>
          <a:noFill/>
        </p:spPr>
        <p:txBody>
          <a:bodyPr wrap="square" rtlCol="0">
            <a:spAutoFit/>
          </a:bodyPr>
          <a:lstStyle/>
          <a:p>
            <a:r>
              <a:rPr lang="en-IN" sz="2400" dirty="0" err="1" smtClean="0">
                <a:solidFill>
                  <a:srgbClr val="C00000"/>
                </a:solidFill>
              </a:rPr>
              <a:t>Tuple</a:t>
            </a:r>
            <a:r>
              <a:rPr lang="en-IN" sz="2400" dirty="0" smtClean="0">
                <a:solidFill>
                  <a:srgbClr val="C00000"/>
                </a:solidFill>
              </a:rPr>
              <a:t> at a time</a:t>
            </a:r>
          </a:p>
          <a:p>
            <a:endParaRPr lang="en-IN" sz="2400" dirty="0" smtClean="0"/>
          </a:p>
          <a:p>
            <a:r>
              <a:rPr lang="en-IN" sz="2400" dirty="0" smtClean="0"/>
              <a:t>Cost for join </a:t>
            </a:r>
          </a:p>
          <a:p>
            <a:r>
              <a:rPr lang="en-IN" sz="2400" dirty="0" smtClean="0"/>
              <a:t>=  Cost of Scanning entire outer relation R + Cost of scanning the relation S for r times</a:t>
            </a:r>
          </a:p>
          <a:p>
            <a:r>
              <a:rPr lang="en-IN" sz="2400" dirty="0" smtClean="0"/>
              <a:t> =  M pages + [ (P</a:t>
            </a:r>
            <a:r>
              <a:rPr lang="en-IN" sz="2400" baseline="-25000" dirty="0" smtClean="0"/>
              <a:t>R*</a:t>
            </a:r>
            <a:r>
              <a:rPr lang="en-IN" sz="2400" dirty="0" smtClean="0"/>
              <a:t>M) * N] I/Os </a:t>
            </a:r>
          </a:p>
          <a:p>
            <a:r>
              <a:rPr lang="en-IN" sz="2400" dirty="0" smtClean="0"/>
              <a:t>If P</a:t>
            </a:r>
            <a:r>
              <a:rPr lang="en-IN" sz="2400" baseline="-25000" dirty="0" smtClean="0"/>
              <a:t>R </a:t>
            </a:r>
            <a:r>
              <a:rPr lang="en-IN" sz="2400" dirty="0" smtClean="0"/>
              <a:t>= 100 &amp; M =1000, N =500</a:t>
            </a:r>
          </a:p>
          <a:p>
            <a:endParaRPr lang="en-IN" sz="2400" dirty="0" smtClean="0"/>
          </a:p>
          <a:p>
            <a:pPr algn="just"/>
            <a:r>
              <a:rPr lang="en-IN" sz="2400" dirty="0" smtClean="0">
                <a:solidFill>
                  <a:srgbClr val="C00000"/>
                </a:solidFill>
              </a:rPr>
              <a:t>Cost = 1000 + (100 * 500) * 1000 = 1000 + 5 * 10</a:t>
            </a:r>
            <a:r>
              <a:rPr lang="en-IN" sz="2400" baseline="30000" dirty="0" smtClean="0">
                <a:solidFill>
                  <a:srgbClr val="C00000"/>
                </a:solidFill>
              </a:rPr>
              <a:t>7</a:t>
            </a:r>
            <a:r>
              <a:rPr lang="en-IN" sz="2400" dirty="0" smtClean="0">
                <a:solidFill>
                  <a:srgbClr val="C00000"/>
                </a:solidFill>
              </a:rPr>
              <a:t> I/Os  and in a standard configured machine it will take 140 hours [considering 10 ms for each I/O cost]</a:t>
            </a:r>
          </a:p>
          <a:p>
            <a:endParaRPr lang="en-IN" dirty="0"/>
          </a:p>
        </p:txBody>
      </p:sp>
      <p:sp>
        <p:nvSpPr>
          <p:cNvPr id="6" name="Slide Number Placeholder 5"/>
          <p:cNvSpPr>
            <a:spLocks noGrp="1"/>
          </p:cNvSpPr>
          <p:nvPr>
            <p:ph type="sldNum" sz="quarter" idx="12"/>
          </p:nvPr>
        </p:nvSpPr>
        <p:spPr/>
        <p:txBody>
          <a:bodyPr/>
          <a:lstStyle/>
          <a:p>
            <a:fld id="{49155C66-EA02-4C64-A9CC-743997C7925E}" type="slidenum">
              <a:rPr lang="en-IN" smtClean="0"/>
              <a:pPr/>
              <a:t>5</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Page at a time: A Refinement</a:t>
            </a:r>
            <a:endParaRPr lang="en-IN" dirty="0">
              <a:solidFill>
                <a:srgbClr val="C00000"/>
              </a:solidFill>
            </a:endParaRPr>
          </a:p>
        </p:txBody>
      </p:sp>
      <p:sp>
        <p:nvSpPr>
          <p:cNvPr id="3" name="Content Placeholder 2"/>
          <p:cNvSpPr>
            <a:spLocks noGrp="1"/>
          </p:cNvSpPr>
          <p:nvPr>
            <p:ph idx="1"/>
          </p:nvPr>
        </p:nvSpPr>
        <p:spPr>
          <a:xfrm>
            <a:off x="457200" y="928670"/>
            <a:ext cx="8229600" cy="5643602"/>
          </a:xfrm>
        </p:spPr>
        <p:txBody>
          <a:bodyPr>
            <a:normAutofit fontScale="92500"/>
          </a:bodyPr>
          <a:lstStyle/>
          <a:p>
            <a:r>
              <a:rPr lang="en-IN" dirty="0" smtClean="0"/>
              <a:t>Uses the page oriented operation to reduce I/O cost.</a:t>
            </a:r>
          </a:p>
          <a:p>
            <a:r>
              <a:rPr lang="en-IN" dirty="0" smtClean="0"/>
              <a:t>For each page of R, we can retrieve each page of S and write out tuples (</a:t>
            </a:r>
            <a:r>
              <a:rPr lang="en-IN" dirty="0" err="1" smtClean="0"/>
              <a:t>r,s</a:t>
            </a:r>
            <a:r>
              <a:rPr lang="en-IN" dirty="0" smtClean="0"/>
              <a:t>) for all qualifying tuples  r belongs to R pages and s belongs to S pages</a:t>
            </a:r>
          </a:p>
          <a:p>
            <a:r>
              <a:rPr lang="en-IN" dirty="0" smtClean="0">
                <a:solidFill>
                  <a:srgbClr val="C00000"/>
                </a:solidFill>
              </a:rPr>
              <a:t>Total cost = Scan Cost for relation R + Scan Cost for relation S = M + M.N = 1000 + 1000 * 500 = 501,000</a:t>
            </a:r>
          </a:p>
          <a:p>
            <a:r>
              <a:rPr lang="en-IN" dirty="0" smtClean="0">
                <a:solidFill>
                  <a:srgbClr val="C00000"/>
                </a:solidFill>
              </a:rPr>
              <a:t>Time needed will be 1.4 hours</a:t>
            </a:r>
          </a:p>
          <a:p>
            <a:r>
              <a:rPr lang="en-IN" dirty="0" smtClean="0"/>
              <a:t>Outer relation should be chosen as a smaller one.</a:t>
            </a:r>
          </a:p>
          <a:p>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6</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Block Nested Loop Join</a:t>
            </a:r>
            <a:endParaRPr lang="en-IN" dirty="0">
              <a:solidFill>
                <a:srgbClr val="C00000"/>
              </a:solidFill>
            </a:endParaRPr>
          </a:p>
        </p:txBody>
      </p:sp>
      <p:sp>
        <p:nvSpPr>
          <p:cNvPr id="3" name="Content Placeholder 2"/>
          <p:cNvSpPr>
            <a:spLocks noGrp="1"/>
          </p:cNvSpPr>
          <p:nvPr>
            <p:ph idx="1"/>
          </p:nvPr>
        </p:nvSpPr>
        <p:spPr>
          <a:xfrm>
            <a:off x="457200" y="1071546"/>
            <a:ext cx="8229600" cy="5429288"/>
          </a:xfrm>
        </p:spPr>
        <p:txBody>
          <a:bodyPr/>
          <a:lstStyle/>
          <a:p>
            <a:pPr algn="just"/>
            <a:r>
              <a:rPr lang="en-IN" dirty="0" smtClean="0"/>
              <a:t>Page at a time approach is not using buffer pages in an effective way</a:t>
            </a:r>
          </a:p>
          <a:p>
            <a:pPr algn="just"/>
            <a:r>
              <a:rPr lang="en-IN" dirty="0" smtClean="0"/>
              <a:t>Let we assume that we have </a:t>
            </a:r>
            <a:r>
              <a:rPr lang="en-IN" dirty="0" smtClean="0">
                <a:solidFill>
                  <a:srgbClr val="C00000"/>
                </a:solidFill>
              </a:rPr>
              <a:t>sufficient memory to hold the smaller relation (R) with at least 2 extra buffer pages left over.</a:t>
            </a:r>
          </a:p>
          <a:p>
            <a:pPr algn="just"/>
            <a:r>
              <a:rPr lang="en-IN" dirty="0" smtClean="0"/>
              <a:t>One buffer page is for scanning the larger relation S</a:t>
            </a:r>
          </a:p>
          <a:p>
            <a:pPr algn="just"/>
            <a:r>
              <a:rPr lang="en-IN" dirty="0" smtClean="0"/>
              <a:t>Another is used for output</a:t>
            </a:r>
          </a:p>
          <a:p>
            <a:pPr algn="just"/>
            <a:r>
              <a:rPr lang="en-IN" dirty="0" smtClean="0">
                <a:solidFill>
                  <a:srgbClr val="C00000"/>
                </a:solidFill>
              </a:rPr>
              <a:t>Total Cost = M + N I/Os = 1500 I/O s</a:t>
            </a:r>
            <a:endParaRPr lang="en-IN" dirty="0">
              <a:solidFill>
                <a:srgbClr val="C00000"/>
              </a:solidFill>
            </a:endParaRPr>
          </a:p>
        </p:txBody>
      </p:sp>
      <p:sp>
        <p:nvSpPr>
          <p:cNvPr id="4" name="Slide Number Placeholder 3"/>
          <p:cNvSpPr>
            <a:spLocks noGrp="1"/>
          </p:cNvSpPr>
          <p:nvPr>
            <p:ph type="sldNum" sz="quarter" idx="12"/>
          </p:nvPr>
        </p:nvSpPr>
        <p:spPr/>
        <p:txBody>
          <a:bodyPr/>
          <a:lstStyle/>
          <a:p>
            <a:fld id="{49155C66-EA02-4C64-A9CC-743997C7925E}" type="slidenum">
              <a:rPr lang="en-IN" smtClean="0"/>
              <a:pPr/>
              <a:t>7</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Block Nested Loop Join</a:t>
            </a:r>
            <a:endParaRPr lang="en-IN" dirty="0">
              <a:solidFill>
                <a:srgbClr val="C00000"/>
              </a:solidFill>
            </a:endParaRPr>
          </a:p>
        </p:txBody>
      </p:sp>
      <p:sp>
        <p:nvSpPr>
          <p:cNvPr id="3" name="Content Placeholder 2"/>
          <p:cNvSpPr>
            <a:spLocks noGrp="1"/>
          </p:cNvSpPr>
          <p:nvPr>
            <p:ph idx="1"/>
          </p:nvPr>
        </p:nvSpPr>
        <p:spPr>
          <a:xfrm>
            <a:off x="457200" y="1000108"/>
            <a:ext cx="8229600" cy="5126055"/>
          </a:xfrm>
        </p:spPr>
        <p:txBody>
          <a:bodyPr/>
          <a:lstStyle/>
          <a:p>
            <a:pPr algn="just"/>
            <a:r>
              <a:rPr lang="en-IN" dirty="0" smtClean="0">
                <a:solidFill>
                  <a:srgbClr val="C00000"/>
                </a:solidFill>
              </a:rPr>
              <a:t>What will be the case where we don’t have sufficient memory to hold the entire smaller relation , say R ?</a:t>
            </a:r>
          </a:p>
          <a:p>
            <a:pPr algn="just">
              <a:buNone/>
            </a:pPr>
            <a:r>
              <a:rPr lang="en-IN" dirty="0" smtClean="0">
                <a:solidFill>
                  <a:srgbClr val="C00000"/>
                </a:solidFill>
              </a:rPr>
              <a:t>Solution: </a:t>
            </a:r>
          </a:p>
          <a:p>
            <a:pPr algn="just">
              <a:buNone/>
            </a:pPr>
            <a:r>
              <a:rPr lang="en-IN" dirty="0" smtClean="0">
                <a:solidFill>
                  <a:srgbClr val="C00000"/>
                </a:solidFill>
              </a:rPr>
              <a:t>	</a:t>
            </a:r>
            <a:r>
              <a:rPr lang="en-IN" dirty="0" smtClean="0"/>
              <a:t>Let we have B Buffer Page</a:t>
            </a:r>
          </a:p>
          <a:p>
            <a:pPr algn="just">
              <a:buNone/>
            </a:pPr>
            <a:r>
              <a:rPr lang="en-IN" dirty="0" smtClean="0"/>
              <a:t>	We can use (B-2) buffer pages for outer relation R</a:t>
            </a:r>
          </a:p>
          <a:p>
            <a:pPr algn="just">
              <a:buNone/>
            </a:pPr>
            <a:r>
              <a:rPr lang="en-IN" dirty="0" smtClean="0"/>
              <a:t>	1 buffer page for scanning S</a:t>
            </a:r>
          </a:p>
          <a:p>
            <a:pPr algn="just">
              <a:buNone/>
            </a:pPr>
            <a:r>
              <a:rPr lang="en-IN" dirty="0" smtClean="0"/>
              <a:t>	1 buffer page for output</a:t>
            </a:r>
          </a:p>
          <a:p>
            <a:pPr algn="just">
              <a:buNone/>
            </a:pPr>
            <a:endParaRPr lang="en-IN" dirty="0">
              <a:solidFill>
                <a:srgbClr val="C00000"/>
              </a:solidFill>
            </a:endParaRPr>
          </a:p>
        </p:txBody>
      </p:sp>
      <p:sp>
        <p:nvSpPr>
          <p:cNvPr id="4" name="Slide Number Placeholder 3"/>
          <p:cNvSpPr>
            <a:spLocks noGrp="1"/>
          </p:cNvSpPr>
          <p:nvPr>
            <p:ph type="sldNum" sz="quarter" idx="12"/>
          </p:nvPr>
        </p:nvSpPr>
        <p:spPr/>
        <p:txBody>
          <a:bodyPr/>
          <a:lstStyle/>
          <a:p>
            <a:fld id="{49155C66-EA02-4C64-A9CC-743997C7925E}" type="slidenum">
              <a:rPr lang="en-IN" smtClean="0"/>
              <a:pPr/>
              <a:t>8</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Block Nested loop Join</a:t>
            </a:r>
            <a:endParaRPr lang="en-IN" dirty="0">
              <a:solidFill>
                <a:srgbClr val="C00000"/>
              </a:solidFill>
            </a:endParaRPr>
          </a:p>
        </p:txBody>
      </p:sp>
      <p:pic>
        <p:nvPicPr>
          <p:cNvPr id="2050" name="Picture 2"/>
          <p:cNvPicPr>
            <a:picLocks noGrp="1" noChangeAspect="1" noChangeArrowheads="1"/>
          </p:cNvPicPr>
          <p:nvPr>
            <p:ph idx="1"/>
          </p:nvPr>
        </p:nvPicPr>
        <p:blipFill>
          <a:blip r:embed="rId2"/>
          <a:srcRect/>
          <a:stretch>
            <a:fillRect/>
          </a:stretch>
        </p:blipFill>
        <p:spPr bwMode="auto">
          <a:xfrm>
            <a:off x="214282" y="1000108"/>
            <a:ext cx="7858180" cy="450059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9</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Block Nested Loop Join</a:t>
            </a:r>
            <a:endParaRPr lang="en-IN" dirty="0">
              <a:solidFill>
                <a:srgbClr val="C00000"/>
              </a:solidFill>
            </a:endParaRPr>
          </a:p>
        </p:txBody>
      </p:sp>
      <p:pic>
        <p:nvPicPr>
          <p:cNvPr id="3074" name="Picture 2"/>
          <p:cNvPicPr>
            <a:picLocks noGrp="1" noChangeAspect="1" noChangeArrowheads="1"/>
          </p:cNvPicPr>
          <p:nvPr>
            <p:ph idx="1"/>
          </p:nvPr>
        </p:nvPicPr>
        <p:blipFill>
          <a:blip r:embed="rId2"/>
          <a:srcRect/>
          <a:stretch>
            <a:fillRect/>
          </a:stretch>
        </p:blipFill>
        <p:spPr bwMode="auto">
          <a:xfrm>
            <a:off x="857224" y="1142984"/>
            <a:ext cx="7715304" cy="2643206"/>
          </a:xfrm>
          <a:prstGeom prst="rect">
            <a:avLst/>
          </a:prstGeom>
          <a:noFill/>
          <a:ln w="9525">
            <a:noFill/>
            <a:miter lim="800000"/>
            <a:headEnd/>
            <a:tailEnd/>
          </a:ln>
          <a:effectLst/>
        </p:spPr>
      </p:pic>
      <p:sp>
        <p:nvSpPr>
          <p:cNvPr id="5" name="TextBox 4"/>
          <p:cNvSpPr txBox="1"/>
          <p:nvPr/>
        </p:nvSpPr>
        <p:spPr>
          <a:xfrm>
            <a:off x="1285852" y="4000504"/>
            <a:ext cx="6929486" cy="2246769"/>
          </a:xfrm>
          <a:prstGeom prst="rect">
            <a:avLst/>
          </a:prstGeom>
          <a:noFill/>
        </p:spPr>
        <p:txBody>
          <a:bodyPr wrap="square" rtlCol="0">
            <a:spAutoFit/>
          </a:bodyPr>
          <a:lstStyle/>
          <a:p>
            <a:r>
              <a:rPr lang="en-IN" sz="2800" dirty="0" smtClean="0">
                <a:solidFill>
                  <a:srgbClr val="C00000"/>
                </a:solidFill>
              </a:rPr>
              <a:t>Total Cost = M + (M/(B-2)) * N</a:t>
            </a:r>
          </a:p>
          <a:p>
            <a:r>
              <a:rPr lang="en-IN" sz="2800" dirty="0" smtClean="0">
                <a:solidFill>
                  <a:srgbClr val="C00000"/>
                </a:solidFill>
              </a:rPr>
              <a:t>Suppose we have 102 </a:t>
            </a:r>
            <a:r>
              <a:rPr lang="en-IN" sz="2800" dirty="0" err="1" smtClean="0">
                <a:solidFill>
                  <a:srgbClr val="C00000"/>
                </a:solidFill>
              </a:rPr>
              <a:t>Bufferes</a:t>
            </a:r>
            <a:r>
              <a:rPr lang="en-IN" sz="2800" dirty="0" smtClean="0">
                <a:solidFill>
                  <a:srgbClr val="C00000"/>
                </a:solidFill>
              </a:rPr>
              <a:t> then </a:t>
            </a:r>
          </a:p>
          <a:p>
            <a:r>
              <a:rPr lang="en-IN" sz="2800" b="1" dirty="0" smtClean="0">
                <a:solidFill>
                  <a:srgbClr val="C00000"/>
                </a:solidFill>
              </a:rPr>
              <a:t>cost = 1000 + (1000/100) * 500 = 6000 I/O s</a:t>
            </a:r>
          </a:p>
          <a:p>
            <a:r>
              <a:rPr lang="en-IN" sz="2800" dirty="0" smtClean="0">
                <a:solidFill>
                  <a:srgbClr val="C00000"/>
                </a:solidFill>
              </a:rPr>
              <a:t>If Sailor will be the outer relation,</a:t>
            </a:r>
          </a:p>
          <a:p>
            <a:r>
              <a:rPr lang="en-IN" sz="2800" dirty="0" smtClean="0">
                <a:solidFill>
                  <a:srgbClr val="C00000"/>
                </a:solidFill>
              </a:rPr>
              <a:t> </a:t>
            </a:r>
            <a:r>
              <a:rPr lang="en-IN" sz="2800" b="1" dirty="0" smtClean="0">
                <a:solidFill>
                  <a:srgbClr val="C00000"/>
                </a:solidFill>
              </a:rPr>
              <a:t>cost = 500 + 5* 1000 = 5500 I/Os </a:t>
            </a:r>
            <a:endParaRPr lang="en-IN" sz="2800" b="1" dirty="0">
              <a:solidFill>
                <a:srgbClr val="C00000"/>
              </a:solidFill>
            </a:endParaRPr>
          </a:p>
        </p:txBody>
      </p:sp>
      <p:sp>
        <p:nvSpPr>
          <p:cNvPr id="6" name="Slide Number Placeholder 5"/>
          <p:cNvSpPr>
            <a:spLocks noGrp="1"/>
          </p:cNvSpPr>
          <p:nvPr>
            <p:ph type="sldNum" sz="quarter" idx="12"/>
          </p:nvPr>
        </p:nvSpPr>
        <p:spPr/>
        <p:txBody>
          <a:bodyPr/>
          <a:lstStyle/>
          <a:p>
            <a:fld id="{49155C66-EA02-4C64-A9CC-743997C7925E}" type="slidenum">
              <a:rPr lang="en-IN" smtClean="0"/>
              <a:pPr/>
              <a:t>10</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Indexed Nested Loop Join</a:t>
            </a:r>
            <a:endParaRPr lang="en-IN" dirty="0">
              <a:solidFill>
                <a:srgbClr val="C00000"/>
              </a:solidFill>
            </a:endParaRPr>
          </a:p>
        </p:txBody>
      </p:sp>
      <p:sp>
        <p:nvSpPr>
          <p:cNvPr id="3" name="Content Placeholder 2"/>
          <p:cNvSpPr>
            <a:spLocks noGrp="1"/>
          </p:cNvSpPr>
          <p:nvPr>
            <p:ph idx="1"/>
          </p:nvPr>
        </p:nvSpPr>
        <p:spPr>
          <a:xfrm>
            <a:off x="457200" y="1071546"/>
            <a:ext cx="8229600" cy="5429288"/>
          </a:xfrm>
        </p:spPr>
        <p:txBody>
          <a:bodyPr>
            <a:normAutofit/>
          </a:bodyPr>
          <a:lstStyle/>
          <a:p>
            <a:r>
              <a:rPr lang="en-IN" sz="2200" dirty="0" smtClean="0"/>
              <a:t>Indexed relation will be in inner loop</a:t>
            </a:r>
          </a:p>
          <a:p>
            <a:r>
              <a:rPr lang="en-IN" sz="2200" dirty="0" smtClean="0">
                <a:solidFill>
                  <a:srgbClr val="FF0000"/>
                </a:solidFill>
              </a:rPr>
              <a:t>No need of enumerate the cross product</a:t>
            </a:r>
          </a:p>
          <a:p>
            <a:r>
              <a:rPr lang="en-IN" sz="2200" dirty="0" smtClean="0"/>
              <a:t>Cost of scanning R is M I/Os</a:t>
            </a:r>
          </a:p>
          <a:p>
            <a:r>
              <a:rPr lang="en-IN" sz="2200" dirty="0" smtClean="0"/>
              <a:t>Cost of scanning S depends on the type of index [B+ tree typically 2 to 4 I/Os, Hash Index typically 1-2 I/Os]</a:t>
            </a:r>
          </a:p>
          <a:p>
            <a:r>
              <a:rPr lang="en-IN" sz="2200" dirty="0" smtClean="0"/>
              <a:t>Moreover cost of retrieving matching tuples in S depends on the nature of index (Clustered or Non-clustered</a:t>
            </a:r>
            <a:r>
              <a:rPr lang="en-IN" sz="2200" dirty="0" smtClean="0"/>
              <a:t>)</a:t>
            </a:r>
          </a:p>
          <a:p>
            <a:endParaRPr lang="en-IN" sz="2000" dirty="0" smtClean="0"/>
          </a:p>
          <a:p>
            <a:pPr algn="just">
              <a:buNone/>
            </a:pPr>
            <a:r>
              <a:rPr lang="en-IN" sz="2000" dirty="0" smtClean="0"/>
              <a:t>	</a:t>
            </a:r>
            <a:r>
              <a:rPr lang="en-IN" sz="1800" dirty="0" smtClean="0"/>
              <a:t>Sailors </a:t>
            </a:r>
            <a:r>
              <a:rPr lang="en-IN" sz="1800" dirty="0" smtClean="0"/>
              <a:t>(Sid, </a:t>
            </a:r>
            <a:r>
              <a:rPr lang="en-IN" sz="1800" dirty="0" err="1" smtClean="0"/>
              <a:t>Sname</a:t>
            </a:r>
            <a:r>
              <a:rPr lang="en-IN" sz="1800" dirty="0" smtClean="0"/>
              <a:t>, Rating, Age)</a:t>
            </a:r>
          </a:p>
          <a:p>
            <a:pPr algn="just">
              <a:buNone/>
            </a:pPr>
            <a:r>
              <a:rPr lang="en-IN" sz="1800" dirty="0" smtClean="0"/>
              <a:t>	</a:t>
            </a:r>
            <a:r>
              <a:rPr lang="en-IN" sz="1800" dirty="0" err="1" smtClean="0"/>
              <a:t>Reservers</a:t>
            </a:r>
            <a:r>
              <a:rPr lang="en-IN" sz="1800" dirty="0" smtClean="0"/>
              <a:t> </a:t>
            </a:r>
            <a:r>
              <a:rPr lang="en-IN" sz="1800" dirty="0" smtClean="0"/>
              <a:t>(Sid, bid, Day, </a:t>
            </a:r>
            <a:r>
              <a:rPr lang="en-IN" sz="1800" dirty="0" err="1" smtClean="0"/>
              <a:t>Rname</a:t>
            </a:r>
            <a:r>
              <a:rPr lang="en-IN" sz="1800" dirty="0" smtClean="0"/>
              <a:t>)</a:t>
            </a:r>
          </a:p>
          <a:p>
            <a:pPr algn="just">
              <a:buNone/>
            </a:pPr>
            <a:r>
              <a:rPr lang="en-IN" sz="1800" dirty="0" smtClean="0">
                <a:solidFill>
                  <a:srgbClr val="C00000"/>
                </a:solidFill>
              </a:rPr>
              <a:t>	Select </a:t>
            </a:r>
            <a:r>
              <a:rPr lang="en-IN" sz="1800" dirty="0" smtClean="0">
                <a:solidFill>
                  <a:srgbClr val="C00000"/>
                </a:solidFill>
              </a:rPr>
              <a:t>*</a:t>
            </a:r>
          </a:p>
          <a:p>
            <a:pPr algn="just">
              <a:buNone/>
            </a:pPr>
            <a:r>
              <a:rPr lang="en-IN" sz="1800" dirty="0" smtClean="0">
                <a:solidFill>
                  <a:srgbClr val="C00000"/>
                </a:solidFill>
              </a:rPr>
              <a:t>	From Reserves R, Sailors S</a:t>
            </a:r>
          </a:p>
          <a:p>
            <a:pPr algn="just">
              <a:buNone/>
            </a:pPr>
            <a:r>
              <a:rPr lang="en-IN" sz="1800" dirty="0" smtClean="0">
                <a:solidFill>
                  <a:srgbClr val="C00000"/>
                </a:solidFill>
              </a:rPr>
              <a:t>	Where </a:t>
            </a:r>
            <a:r>
              <a:rPr lang="en-IN" sz="1800" dirty="0" err="1" smtClean="0">
                <a:solidFill>
                  <a:srgbClr val="C00000"/>
                </a:solidFill>
              </a:rPr>
              <a:t>R.Sid</a:t>
            </a:r>
            <a:r>
              <a:rPr lang="en-IN" sz="1800" dirty="0" smtClean="0">
                <a:solidFill>
                  <a:srgbClr val="C00000"/>
                </a:solidFill>
              </a:rPr>
              <a:t> = </a:t>
            </a:r>
            <a:r>
              <a:rPr lang="en-IN" sz="1800" dirty="0" err="1" smtClean="0">
                <a:solidFill>
                  <a:srgbClr val="C00000"/>
                </a:solidFill>
              </a:rPr>
              <a:t>S.Sid</a:t>
            </a:r>
            <a:endParaRPr lang="en-IN" sz="1800" dirty="0" smtClean="0">
              <a:solidFill>
                <a:srgbClr val="C00000"/>
              </a:solidFill>
            </a:endParaRPr>
          </a:p>
          <a:p>
            <a:pPr algn="just">
              <a:buNone/>
            </a:pPr>
            <a:r>
              <a:rPr lang="en-IN" sz="1800" dirty="0" smtClean="0"/>
              <a:t>	</a:t>
            </a:r>
            <a:r>
              <a:rPr lang="en-IN" sz="1800" b="1" dirty="0" smtClean="0"/>
              <a:t>Assumption </a:t>
            </a:r>
            <a:r>
              <a:rPr lang="en-IN" sz="1800" b="1" dirty="0" smtClean="0"/>
              <a:t>for R: M pages, P</a:t>
            </a:r>
            <a:r>
              <a:rPr lang="en-IN" sz="1800" b="1" baseline="-25000" dirty="0" smtClean="0"/>
              <a:t>R</a:t>
            </a:r>
            <a:r>
              <a:rPr lang="en-IN" sz="1800" b="1" dirty="0" smtClean="0"/>
              <a:t> tuples/ </a:t>
            </a:r>
            <a:r>
              <a:rPr lang="en-IN" sz="1800" b="1" dirty="0" smtClean="0"/>
              <a:t>Page </a:t>
            </a:r>
            <a:r>
              <a:rPr lang="en-IN" sz="1800" b="1" dirty="0" smtClean="0">
                <a:solidFill>
                  <a:srgbClr val="FF0000"/>
                </a:solidFill>
              </a:rPr>
              <a:t>       P</a:t>
            </a:r>
            <a:r>
              <a:rPr lang="en-IN" sz="1800" b="1" baseline="-25000" dirty="0" smtClean="0">
                <a:solidFill>
                  <a:srgbClr val="FF0000"/>
                </a:solidFill>
              </a:rPr>
              <a:t>R </a:t>
            </a:r>
            <a:r>
              <a:rPr lang="en-IN" sz="1800" b="1" dirty="0" smtClean="0">
                <a:solidFill>
                  <a:srgbClr val="FF0000"/>
                </a:solidFill>
              </a:rPr>
              <a:t>= 100 &amp; M =1000, N =500</a:t>
            </a:r>
          </a:p>
          <a:p>
            <a:pPr algn="just">
              <a:buNone/>
            </a:pPr>
            <a:r>
              <a:rPr lang="en-IN" sz="1800" b="1" dirty="0" smtClean="0"/>
              <a:t>	Assumption </a:t>
            </a:r>
            <a:r>
              <a:rPr lang="en-IN" sz="1800" b="1" dirty="0" smtClean="0"/>
              <a:t>for S: N pages, P</a:t>
            </a:r>
            <a:r>
              <a:rPr lang="en-IN" sz="1800" b="1" baseline="-25000" dirty="0" smtClean="0"/>
              <a:t>S</a:t>
            </a:r>
            <a:r>
              <a:rPr lang="en-IN" sz="1800" b="1" dirty="0" smtClean="0"/>
              <a:t> tuples/ Page</a:t>
            </a:r>
          </a:p>
          <a:p>
            <a:endParaRPr lang="en-IN" sz="1600"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11</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Cost Estimation: Indexed Nested Loop</a:t>
            </a:r>
            <a:endParaRPr lang="en-IN" dirty="0">
              <a:solidFill>
                <a:srgbClr val="C00000"/>
              </a:solidFill>
            </a:endParaRPr>
          </a:p>
        </p:txBody>
      </p:sp>
      <p:sp>
        <p:nvSpPr>
          <p:cNvPr id="3" name="Content Placeholder 2"/>
          <p:cNvSpPr>
            <a:spLocks noGrp="1"/>
          </p:cNvSpPr>
          <p:nvPr>
            <p:ph idx="1"/>
          </p:nvPr>
        </p:nvSpPr>
        <p:spPr>
          <a:xfrm>
            <a:off x="457200" y="1142984"/>
            <a:ext cx="8229600" cy="4983179"/>
          </a:xfrm>
        </p:spPr>
        <p:txBody>
          <a:bodyPr/>
          <a:lstStyle/>
          <a:p>
            <a:r>
              <a:rPr lang="en-IN" dirty="0" smtClean="0"/>
              <a:t>Let we have hash based index on </a:t>
            </a:r>
            <a:r>
              <a:rPr lang="en-IN" dirty="0" err="1" smtClean="0"/>
              <a:t>s_id</a:t>
            </a:r>
            <a:r>
              <a:rPr lang="en-IN" dirty="0" smtClean="0"/>
              <a:t> in sailors</a:t>
            </a:r>
          </a:p>
          <a:p>
            <a:r>
              <a:rPr lang="en-IN" dirty="0" smtClean="0"/>
              <a:t>On an average 1. 2 I/O may be needed</a:t>
            </a:r>
          </a:p>
          <a:p>
            <a:r>
              <a:rPr lang="en-IN" dirty="0" smtClean="0"/>
              <a:t>Sid = Key of Sailors, No. of Matching </a:t>
            </a:r>
            <a:r>
              <a:rPr lang="en-IN" dirty="0" err="1" smtClean="0"/>
              <a:t>tuple</a:t>
            </a:r>
            <a:r>
              <a:rPr lang="en-IN" dirty="0" smtClean="0"/>
              <a:t> = 1</a:t>
            </a:r>
          </a:p>
          <a:p>
            <a:r>
              <a:rPr lang="en-IN" dirty="0" smtClean="0"/>
              <a:t>Sid is a Foreign key in Reserves; There must be one matching Sailor </a:t>
            </a:r>
            <a:r>
              <a:rPr lang="en-IN" dirty="0" err="1" smtClean="0"/>
              <a:t>tuple</a:t>
            </a:r>
            <a:r>
              <a:rPr lang="en-IN" dirty="0" smtClean="0"/>
              <a:t> for each R </a:t>
            </a:r>
            <a:r>
              <a:rPr lang="en-IN" dirty="0" err="1" smtClean="0"/>
              <a:t>tuple</a:t>
            </a:r>
            <a:r>
              <a:rPr lang="en-IN" dirty="0" smtClean="0"/>
              <a:t>.</a:t>
            </a:r>
          </a:p>
          <a:p>
            <a:r>
              <a:rPr lang="en-IN" dirty="0" smtClean="0"/>
              <a:t>Cost of scanning R = 1000 </a:t>
            </a:r>
          </a:p>
          <a:p>
            <a:r>
              <a:rPr lang="en-IN" dirty="0" smtClean="0"/>
              <a:t>Total cost =  1000 + 1000* 100 * (1.2 +1) = 221,000 I/Os</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12</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8229600" cy="642942"/>
          </a:xfrm>
        </p:spPr>
        <p:txBody>
          <a:bodyPr>
            <a:normAutofit fontScale="90000"/>
          </a:bodyPr>
          <a:lstStyle/>
          <a:p>
            <a:r>
              <a:rPr lang="en-IN" dirty="0" smtClean="0">
                <a:solidFill>
                  <a:srgbClr val="C00000"/>
                </a:solidFill>
              </a:rPr>
              <a:t>Cost Estimation: Indexed Nested Loop</a:t>
            </a:r>
            <a:endParaRPr lang="en-IN" dirty="0"/>
          </a:p>
        </p:txBody>
      </p:sp>
      <p:sp>
        <p:nvSpPr>
          <p:cNvPr id="3" name="Content Placeholder 2"/>
          <p:cNvSpPr>
            <a:spLocks noGrp="1"/>
          </p:cNvSpPr>
          <p:nvPr>
            <p:ph idx="1"/>
          </p:nvPr>
        </p:nvSpPr>
        <p:spPr>
          <a:xfrm>
            <a:off x="457200" y="1214422"/>
            <a:ext cx="8229600" cy="4911741"/>
          </a:xfrm>
        </p:spPr>
        <p:txBody>
          <a:bodyPr>
            <a:normAutofit lnSpcReduction="10000"/>
          </a:bodyPr>
          <a:lstStyle/>
          <a:p>
            <a:pPr algn="just"/>
            <a:r>
              <a:rPr lang="en-IN" dirty="0" smtClean="0"/>
              <a:t>Let we have hash based index on </a:t>
            </a:r>
            <a:r>
              <a:rPr lang="en-IN" dirty="0" err="1" smtClean="0"/>
              <a:t>s_id</a:t>
            </a:r>
            <a:r>
              <a:rPr lang="en-IN" dirty="0" smtClean="0"/>
              <a:t> in R</a:t>
            </a:r>
          </a:p>
          <a:p>
            <a:pPr algn="just"/>
            <a:r>
              <a:rPr lang="en-IN" dirty="0" smtClean="0"/>
              <a:t>We have 80* 500 sailor tuples</a:t>
            </a:r>
          </a:p>
          <a:p>
            <a:pPr algn="just"/>
            <a:endParaRPr lang="en-IN" dirty="0" smtClean="0"/>
          </a:p>
          <a:p>
            <a:pPr algn="just"/>
            <a:r>
              <a:rPr lang="en-IN" dirty="0" smtClean="0"/>
              <a:t>A sailor may have no reservation or more than one.</a:t>
            </a:r>
          </a:p>
          <a:p>
            <a:r>
              <a:rPr lang="en-IN" dirty="0" smtClean="0"/>
              <a:t>On an average 1. 2 I/O may be needed</a:t>
            </a:r>
          </a:p>
          <a:p>
            <a:r>
              <a:rPr lang="en-IN" dirty="0" smtClean="0"/>
              <a:t>Cost of scanning S = 500 </a:t>
            </a:r>
          </a:p>
          <a:p>
            <a:r>
              <a:rPr lang="en-IN" dirty="0" smtClean="0"/>
              <a:t>Total cost =  500 + (500* 80 * (1.2)) =  48500 I/Os</a:t>
            </a:r>
          </a:p>
          <a:p>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13</a:t>
            </a:fld>
            <a:endParaRPr lang="en-IN"/>
          </a:p>
        </p:txBody>
      </p:sp>
      <p:sp>
        <p:nvSpPr>
          <p:cNvPr id="5" name="Footer Placeholder 4"/>
          <p:cNvSpPr>
            <a:spLocks noGrp="1"/>
          </p:cNvSpPr>
          <p:nvPr>
            <p:ph type="ftr" sz="quarter" idx="11"/>
          </p:nvPr>
        </p:nvSpPr>
        <p:spPr/>
        <p:txBody>
          <a:bodyPr/>
          <a:lstStyle/>
          <a:p>
            <a:r>
              <a:rPr lang="en-IN" dirty="0" smtClean="0"/>
              <a:t>sankhayan@gmail.com</a:t>
            </a:r>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solidFill>
                  <a:srgbClr val="C00000"/>
                </a:solidFill>
              </a:rPr>
              <a:t>Cost Estimation: Indexed Nested Loop</a:t>
            </a:r>
            <a:endParaRPr lang="en-IN" dirty="0"/>
          </a:p>
        </p:txBody>
      </p:sp>
      <p:sp>
        <p:nvSpPr>
          <p:cNvPr id="3" name="Content Placeholder 2"/>
          <p:cNvSpPr>
            <a:spLocks noGrp="1"/>
          </p:cNvSpPr>
          <p:nvPr>
            <p:ph idx="1"/>
          </p:nvPr>
        </p:nvSpPr>
        <p:spPr>
          <a:xfrm>
            <a:off x="457200" y="1142984"/>
            <a:ext cx="8229600" cy="5286412"/>
          </a:xfrm>
        </p:spPr>
        <p:txBody>
          <a:bodyPr>
            <a:normAutofit fontScale="92500" lnSpcReduction="20000"/>
          </a:bodyPr>
          <a:lstStyle/>
          <a:p>
            <a:pPr algn="just"/>
            <a:r>
              <a:rPr lang="en-IN" dirty="0" smtClean="0"/>
              <a:t>Assume there are 100000 reservations for 40,000 sailors</a:t>
            </a:r>
          </a:p>
          <a:p>
            <a:pPr algn="just"/>
            <a:r>
              <a:rPr lang="en-IN" dirty="0" smtClean="0"/>
              <a:t>Assuming uniform distribution, each sailor </a:t>
            </a:r>
            <a:r>
              <a:rPr lang="en-IN" dirty="0" err="1" smtClean="0"/>
              <a:t>tuple</a:t>
            </a:r>
            <a:r>
              <a:rPr lang="en-IN" dirty="0" smtClean="0"/>
              <a:t> match with 2.5 R tuples.</a:t>
            </a:r>
          </a:p>
          <a:p>
            <a:pPr algn="just"/>
            <a:r>
              <a:rPr lang="en-IN" dirty="0" smtClean="0"/>
              <a:t>Assume Index of R is clustered.</a:t>
            </a:r>
          </a:p>
          <a:p>
            <a:pPr algn="just"/>
            <a:r>
              <a:rPr lang="en-IN" dirty="0" smtClean="0"/>
              <a:t>Matching tuples of R will be in same page for a given sailor.</a:t>
            </a:r>
          </a:p>
          <a:p>
            <a:pPr algn="just"/>
            <a:r>
              <a:rPr lang="en-IN" dirty="0" smtClean="0"/>
              <a:t>40,000 extra I/O access will be needed.</a:t>
            </a:r>
          </a:p>
          <a:p>
            <a:pPr algn="just"/>
            <a:r>
              <a:rPr lang="en-IN" dirty="0" smtClean="0"/>
              <a:t>If it is not clustered, in worst case it may be 2.5 * 40000</a:t>
            </a:r>
          </a:p>
          <a:p>
            <a:pPr algn="just"/>
            <a:r>
              <a:rPr lang="en-IN" dirty="0" smtClean="0"/>
              <a:t>Total Cost may vary between 88, 500 and 1,48,500 I/Os.</a:t>
            </a:r>
          </a:p>
          <a:p>
            <a:pPr algn="just"/>
            <a:endParaRPr lang="en-IN" dirty="0" smtClean="0"/>
          </a:p>
          <a:p>
            <a:pPr algn="just"/>
            <a:endParaRPr lang="en-IN" dirty="0" smtClean="0"/>
          </a:p>
          <a:p>
            <a:pPr algn="just"/>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14</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External Sorting</a:t>
            </a:r>
            <a:endParaRPr lang="en-IN" dirty="0">
              <a:solidFill>
                <a:srgbClr val="C00000"/>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571472" y="1071546"/>
            <a:ext cx="8001056" cy="464347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15</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External Sorting Example</a:t>
            </a:r>
            <a:endParaRPr lang="en-IN" dirty="0">
              <a:solidFill>
                <a:srgbClr val="C00000"/>
              </a:solidFill>
            </a:endParaRPr>
          </a:p>
        </p:txBody>
      </p:sp>
      <p:pic>
        <p:nvPicPr>
          <p:cNvPr id="8194" name="Picture 2"/>
          <p:cNvPicPr>
            <a:picLocks noGrp="1" noChangeAspect="1" noChangeArrowheads="1"/>
          </p:cNvPicPr>
          <p:nvPr>
            <p:ph idx="1"/>
          </p:nvPr>
        </p:nvPicPr>
        <p:blipFill>
          <a:blip r:embed="rId2"/>
          <a:srcRect/>
          <a:stretch>
            <a:fillRect/>
          </a:stretch>
        </p:blipFill>
        <p:spPr bwMode="auto">
          <a:xfrm>
            <a:off x="571472" y="1714488"/>
            <a:ext cx="7929618" cy="464347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16</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Objective: External Sorting</a:t>
            </a:r>
            <a:endParaRPr lang="en-IN" dirty="0">
              <a:solidFill>
                <a:srgbClr val="C00000"/>
              </a:solidFill>
            </a:endParaRPr>
          </a:p>
        </p:txBody>
      </p:sp>
      <p:pic>
        <p:nvPicPr>
          <p:cNvPr id="9218" name="Picture 2"/>
          <p:cNvPicPr>
            <a:picLocks noGrp="1" noChangeAspect="1" noChangeArrowheads="1"/>
          </p:cNvPicPr>
          <p:nvPr>
            <p:ph idx="1"/>
          </p:nvPr>
        </p:nvPicPr>
        <p:blipFill>
          <a:blip r:embed="rId2"/>
          <a:srcRect/>
          <a:stretch>
            <a:fillRect/>
          </a:stretch>
        </p:blipFill>
        <p:spPr bwMode="auto">
          <a:xfrm>
            <a:off x="642910" y="1643050"/>
            <a:ext cx="8215370" cy="328614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17</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Autofit/>
          </a:bodyPr>
          <a:lstStyle/>
          <a:p>
            <a:pPr algn="l"/>
            <a:r>
              <a:rPr lang="en-IN" sz="3600" dirty="0" smtClean="0">
                <a:solidFill>
                  <a:srgbClr val="C00000"/>
                </a:solidFill>
              </a:rPr>
              <a:t>External Sorting: A two way Merge Sort</a:t>
            </a:r>
            <a:endParaRPr lang="en-IN" sz="3600" dirty="0">
              <a:solidFill>
                <a:srgbClr val="C00000"/>
              </a:solidFill>
            </a:endParaRPr>
          </a:p>
        </p:txBody>
      </p:sp>
      <p:pic>
        <p:nvPicPr>
          <p:cNvPr id="4098" name="Picture 2"/>
          <p:cNvPicPr>
            <a:picLocks noGrp="1" noChangeAspect="1" noChangeArrowheads="1"/>
          </p:cNvPicPr>
          <p:nvPr>
            <p:ph idx="1"/>
          </p:nvPr>
        </p:nvPicPr>
        <p:blipFill>
          <a:blip r:embed="rId2"/>
          <a:srcRect/>
          <a:stretch>
            <a:fillRect/>
          </a:stretch>
        </p:blipFill>
        <p:spPr bwMode="auto">
          <a:xfrm>
            <a:off x="714348" y="1643050"/>
            <a:ext cx="7358114" cy="428628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18</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Autofit/>
          </a:bodyPr>
          <a:lstStyle/>
          <a:p>
            <a:pPr algn="l"/>
            <a:r>
              <a:rPr lang="en-IN" sz="3600" dirty="0" smtClean="0">
                <a:solidFill>
                  <a:srgbClr val="C00000"/>
                </a:solidFill>
              </a:rPr>
              <a:t>Example: Two way Merge sort of a 7 page file</a:t>
            </a:r>
            <a:endParaRPr lang="en-IN" sz="3600" dirty="0">
              <a:solidFill>
                <a:srgbClr val="C00000"/>
              </a:solidFill>
            </a:endParaRPr>
          </a:p>
        </p:txBody>
      </p:sp>
      <p:pic>
        <p:nvPicPr>
          <p:cNvPr id="6146" name="Picture 2"/>
          <p:cNvPicPr>
            <a:picLocks noGrp="1" noChangeAspect="1" noChangeArrowheads="1"/>
          </p:cNvPicPr>
          <p:nvPr>
            <p:ph idx="1"/>
          </p:nvPr>
        </p:nvPicPr>
        <p:blipFill>
          <a:blip r:embed="rId2"/>
          <a:srcRect/>
          <a:stretch>
            <a:fillRect/>
          </a:stretch>
        </p:blipFill>
        <p:spPr bwMode="auto">
          <a:xfrm>
            <a:off x="1000100" y="1428736"/>
            <a:ext cx="7429552" cy="485778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19</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External Sorting</a:t>
            </a:r>
            <a:endParaRPr lang="en-IN" dirty="0">
              <a:solidFill>
                <a:srgbClr val="C00000"/>
              </a:solidFill>
            </a:endParaRPr>
          </a:p>
        </p:txBody>
      </p:sp>
      <p:pic>
        <p:nvPicPr>
          <p:cNvPr id="7170" name="Picture 2"/>
          <p:cNvPicPr>
            <a:picLocks noGrp="1" noChangeAspect="1" noChangeArrowheads="1"/>
          </p:cNvPicPr>
          <p:nvPr>
            <p:ph idx="1"/>
          </p:nvPr>
        </p:nvPicPr>
        <p:blipFill>
          <a:blip r:embed="rId2"/>
          <a:srcRect/>
          <a:stretch>
            <a:fillRect/>
          </a:stretch>
        </p:blipFill>
        <p:spPr bwMode="auto">
          <a:xfrm>
            <a:off x="857224" y="1500174"/>
            <a:ext cx="7786742" cy="471490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20</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Two Way Merge Sort</a:t>
            </a:r>
            <a:endParaRPr lang="en-IN" dirty="0">
              <a:solidFill>
                <a:srgbClr val="C00000"/>
              </a:solidFill>
            </a:endParaRPr>
          </a:p>
        </p:txBody>
      </p:sp>
      <p:pic>
        <p:nvPicPr>
          <p:cNvPr id="10242" name="Picture 2"/>
          <p:cNvPicPr>
            <a:picLocks noGrp="1" noChangeAspect="1" noChangeArrowheads="1"/>
          </p:cNvPicPr>
          <p:nvPr>
            <p:ph idx="1"/>
          </p:nvPr>
        </p:nvPicPr>
        <p:blipFill>
          <a:blip r:embed="rId2"/>
          <a:srcRect/>
          <a:stretch>
            <a:fillRect/>
          </a:stretch>
        </p:blipFill>
        <p:spPr bwMode="auto">
          <a:xfrm>
            <a:off x="714348" y="1571612"/>
            <a:ext cx="8001056" cy="435771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21</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Cost: External Sorting</a:t>
            </a:r>
            <a:endParaRPr lang="en-IN" dirty="0">
              <a:solidFill>
                <a:srgbClr val="C00000"/>
              </a:solidFill>
            </a:endParaRPr>
          </a:p>
        </p:txBody>
      </p:sp>
      <p:sp>
        <p:nvSpPr>
          <p:cNvPr id="3" name="Content Placeholder 2"/>
          <p:cNvSpPr>
            <a:spLocks noGrp="1"/>
          </p:cNvSpPr>
          <p:nvPr>
            <p:ph idx="1"/>
          </p:nvPr>
        </p:nvSpPr>
        <p:spPr>
          <a:xfrm>
            <a:off x="457200" y="1142984"/>
            <a:ext cx="8229600" cy="4983179"/>
          </a:xfrm>
        </p:spPr>
        <p:txBody>
          <a:bodyPr>
            <a:normAutofit fontScale="85000" lnSpcReduction="10000"/>
          </a:bodyPr>
          <a:lstStyle/>
          <a:p>
            <a:r>
              <a:rPr lang="en-IN" sz="2800" dirty="0" smtClean="0"/>
              <a:t>Pass 0: produces 2</a:t>
            </a:r>
            <a:r>
              <a:rPr lang="en-IN" sz="2800" baseline="30000" dirty="0" smtClean="0"/>
              <a:t>K </a:t>
            </a:r>
            <a:r>
              <a:rPr lang="en-IN" sz="2800" dirty="0" smtClean="0"/>
              <a:t>sorted runs of 1 Pages each</a:t>
            </a:r>
          </a:p>
          <a:p>
            <a:r>
              <a:rPr lang="en-IN" sz="2800" dirty="0" smtClean="0"/>
              <a:t>Pass 1: produces 2</a:t>
            </a:r>
            <a:r>
              <a:rPr lang="en-IN" sz="2800" baseline="30000" dirty="0" smtClean="0"/>
              <a:t>K-1</a:t>
            </a:r>
            <a:r>
              <a:rPr lang="en-IN" sz="2800" dirty="0" smtClean="0"/>
              <a:t> sorted runs of 2 Pages each</a:t>
            </a:r>
          </a:p>
          <a:p>
            <a:r>
              <a:rPr lang="en-IN" sz="2800" dirty="0" smtClean="0"/>
              <a:t>Pass 2: produces 2</a:t>
            </a:r>
            <a:r>
              <a:rPr lang="en-IN" sz="2800" baseline="30000" dirty="0" smtClean="0"/>
              <a:t>K-2</a:t>
            </a:r>
            <a:r>
              <a:rPr lang="en-IN" sz="2800" dirty="0" smtClean="0"/>
              <a:t> sorted runs of 4 Pages each</a:t>
            </a:r>
          </a:p>
          <a:p>
            <a:r>
              <a:rPr lang="en-IN" sz="2800" dirty="0" smtClean="0"/>
              <a:t>Pass  K: produces 1  sorted runs of  2</a:t>
            </a:r>
            <a:r>
              <a:rPr lang="en-IN" sz="2800" baseline="30000" dirty="0" smtClean="0"/>
              <a:t>K</a:t>
            </a:r>
            <a:r>
              <a:rPr lang="en-IN" sz="2800" dirty="0" smtClean="0"/>
              <a:t> Pages each</a:t>
            </a:r>
          </a:p>
          <a:p>
            <a:endParaRPr lang="en-IN" sz="2800" dirty="0" smtClean="0"/>
          </a:p>
          <a:p>
            <a:r>
              <a:rPr lang="en-IN" sz="2800" dirty="0" smtClean="0"/>
              <a:t>2 disk I/O s per Page per Pass</a:t>
            </a:r>
          </a:p>
          <a:p>
            <a:r>
              <a:rPr lang="en-IN" sz="2800" dirty="0" smtClean="0"/>
              <a:t>Number of Passes = log </a:t>
            </a:r>
            <a:r>
              <a:rPr lang="en-IN" sz="2800" baseline="-25000" dirty="0" smtClean="0"/>
              <a:t>2</a:t>
            </a:r>
            <a:r>
              <a:rPr lang="en-IN" sz="2800" dirty="0" smtClean="0"/>
              <a:t> N + 1, N = No. of Page</a:t>
            </a:r>
          </a:p>
          <a:p>
            <a:r>
              <a:rPr lang="en-IN" sz="2800" dirty="0" smtClean="0"/>
              <a:t>Cost = 2N [(log</a:t>
            </a:r>
            <a:r>
              <a:rPr lang="en-IN" sz="2800" baseline="-25000" dirty="0" smtClean="0"/>
              <a:t>2</a:t>
            </a:r>
            <a:r>
              <a:rPr lang="en-IN" sz="2800" dirty="0" smtClean="0"/>
              <a:t> N) + 1] disk I/Os </a:t>
            </a:r>
          </a:p>
          <a:p>
            <a:endParaRPr lang="en-IN" sz="2800" dirty="0" smtClean="0"/>
          </a:p>
          <a:p>
            <a:r>
              <a:rPr lang="en-IN" sz="2800" dirty="0" smtClean="0">
                <a:solidFill>
                  <a:srgbClr val="C00000"/>
                </a:solidFill>
              </a:rPr>
              <a:t>For the given example, Cost  = 2* 8 [(log</a:t>
            </a:r>
            <a:r>
              <a:rPr lang="en-IN" sz="2800" baseline="-25000" dirty="0" smtClean="0">
                <a:solidFill>
                  <a:srgbClr val="C00000"/>
                </a:solidFill>
              </a:rPr>
              <a:t>2</a:t>
            </a:r>
            <a:r>
              <a:rPr lang="en-IN" sz="2800" dirty="0" smtClean="0">
                <a:solidFill>
                  <a:srgbClr val="C00000"/>
                </a:solidFill>
              </a:rPr>
              <a:t> 8) + 1] =  64 I/Os</a:t>
            </a:r>
          </a:p>
          <a:p>
            <a:endParaRPr lang="en-IN" sz="2800" dirty="0" smtClean="0"/>
          </a:p>
          <a:p>
            <a:pPr>
              <a:buNone/>
            </a:pPr>
            <a:r>
              <a:rPr lang="en-IN" sz="2800" dirty="0" smtClean="0"/>
              <a:t> </a:t>
            </a:r>
          </a:p>
          <a:p>
            <a:endParaRPr lang="en-IN" sz="2800" dirty="0" smtClean="0"/>
          </a:p>
          <a:p>
            <a:endParaRPr lang="en-IN" sz="2800" dirty="0" smtClean="0"/>
          </a:p>
          <a:p>
            <a:endParaRPr lang="en-IN" sz="2800" dirty="0" smtClean="0"/>
          </a:p>
          <a:p>
            <a:endParaRPr lang="en-IN" sz="2800"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22</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smtClean="0">
                <a:solidFill>
                  <a:srgbClr val="C00000"/>
                </a:solidFill>
              </a:rPr>
              <a:t>How can we improve the performance if B buffer pages are available ?</a:t>
            </a:r>
            <a:endParaRPr lang="en-IN" dirty="0">
              <a:solidFill>
                <a:srgbClr val="C00000"/>
              </a:solidFill>
            </a:endParaRPr>
          </a:p>
        </p:txBody>
      </p:sp>
      <p:sp>
        <p:nvSpPr>
          <p:cNvPr id="4" name="Slide Number Placeholder 3"/>
          <p:cNvSpPr>
            <a:spLocks noGrp="1"/>
          </p:cNvSpPr>
          <p:nvPr>
            <p:ph type="sldNum" sz="quarter" idx="12"/>
          </p:nvPr>
        </p:nvSpPr>
        <p:spPr/>
        <p:txBody>
          <a:bodyPr/>
          <a:lstStyle/>
          <a:p>
            <a:fld id="{49155C66-EA02-4C64-A9CC-743997C7925E}" type="slidenum">
              <a:rPr lang="en-IN" smtClean="0"/>
              <a:pPr/>
              <a:t>23</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External Merge Sort</a:t>
            </a:r>
            <a:endParaRPr lang="en-IN" dirty="0">
              <a:solidFill>
                <a:srgbClr val="C00000"/>
              </a:solidFill>
            </a:endParaRPr>
          </a:p>
        </p:txBody>
      </p:sp>
      <p:pic>
        <p:nvPicPr>
          <p:cNvPr id="11266" name="Picture 2"/>
          <p:cNvPicPr>
            <a:picLocks noGrp="1" noChangeAspect="1" noChangeArrowheads="1"/>
          </p:cNvPicPr>
          <p:nvPr>
            <p:ph idx="1"/>
          </p:nvPr>
        </p:nvPicPr>
        <p:blipFill>
          <a:blip r:embed="rId2"/>
          <a:srcRect/>
          <a:stretch>
            <a:fillRect/>
          </a:stretch>
        </p:blipFill>
        <p:spPr bwMode="auto">
          <a:xfrm>
            <a:off x="785786" y="1643050"/>
            <a:ext cx="7786742" cy="407196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Upgradation</a:t>
            </a:r>
            <a:endParaRPr lang="en-IN" dirty="0">
              <a:solidFill>
                <a:srgbClr val="C00000"/>
              </a:solidFill>
            </a:endParaRPr>
          </a:p>
        </p:txBody>
      </p:sp>
      <p:pic>
        <p:nvPicPr>
          <p:cNvPr id="13314" name="Picture 2"/>
          <p:cNvPicPr>
            <a:picLocks noGrp="1" noChangeAspect="1" noChangeArrowheads="1"/>
          </p:cNvPicPr>
          <p:nvPr>
            <p:ph idx="1"/>
          </p:nvPr>
        </p:nvPicPr>
        <p:blipFill>
          <a:blip r:embed="rId2"/>
          <a:srcRect/>
          <a:stretch>
            <a:fillRect/>
          </a:stretch>
        </p:blipFill>
        <p:spPr bwMode="auto">
          <a:xfrm>
            <a:off x="571472" y="1357298"/>
            <a:ext cx="7858180" cy="371477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25</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pPr algn="l"/>
            <a:r>
              <a:rPr lang="en-IN" dirty="0" smtClean="0">
                <a:solidFill>
                  <a:srgbClr val="C00000"/>
                </a:solidFill>
              </a:rPr>
              <a:t>External Merge Sort: Pass 0</a:t>
            </a:r>
            <a:endParaRPr lang="en-IN" dirty="0"/>
          </a:p>
        </p:txBody>
      </p:sp>
      <p:pic>
        <p:nvPicPr>
          <p:cNvPr id="12290" name="Picture 2"/>
          <p:cNvPicPr>
            <a:picLocks noGrp="1" noChangeAspect="1" noChangeArrowheads="1"/>
          </p:cNvPicPr>
          <p:nvPr>
            <p:ph idx="1"/>
          </p:nvPr>
        </p:nvPicPr>
        <p:blipFill>
          <a:blip r:embed="rId2"/>
          <a:srcRect/>
          <a:stretch>
            <a:fillRect/>
          </a:stretch>
        </p:blipFill>
        <p:spPr bwMode="auto">
          <a:xfrm>
            <a:off x="642910" y="1214422"/>
            <a:ext cx="5980140" cy="471490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26</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Cost Calculation</a:t>
            </a:r>
            <a:endParaRPr lang="en-IN" dirty="0">
              <a:solidFill>
                <a:srgbClr val="C00000"/>
              </a:solidFill>
            </a:endParaRPr>
          </a:p>
        </p:txBody>
      </p:sp>
      <p:pic>
        <p:nvPicPr>
          <p:cNvPr id="14339" name="Picture 3"/>
          <p:cNvPicPr>
            <a:picLocks noGrp="1" noChangeAspect="1" noChangeArrowheads="1"/>
          </p:cNvPicPr>
          <p:nvPr>
            <p:ph idx="1"/>
          </p:nvPr>
        </p:nvPicPr>
        <p:blipFill>
          <a:blip r:embed="rId2"/>
          <a:srcRect/>
          <a:stretch>
            <a:fillRect/>
          </a:stretch>
        </p:blipFill>
        <p:spPr bwMode="auto">
          <a:xfrm>
            <a:off x="500034" y="1643050"/>
            <a:ext cx="8001056" cy="428628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49155C66-EA02-4C64-A9CC-743997C7925E}" type="slidenum">
              <a:rPr lang="en-IN" smtClean="0"/>
              <a:pPr/>
              <a:t>27</a:t>
            </a:fld>
            <a:endParaRPr lang="en-IN"/>
          </a:p>
        </p:txBody>
      </p:sp>
      <p:sp>
        <p:nvSpPr>
          <p:cNvPr id="8" name="Footer Placeholder 7"/>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Number of Passes</a:t>
            </a:r>
            <a:endParaRPr lang="en-IN" dirty="0">
              <a:solidFill>
                <a:srgbClr val="C00000"/>
              </a:solidFill>
            </a:endParaRPr>
          </a:p>
        </p:txBody>
      </p:sp>
      <p:pic>
        <p:nvPicPr>
          <p:cNvPr id="15362" name="Picture 2"/>
          <p:cNvPicPr>
            <a:picLocks noGrp="1" noChangeAspect="1" noChangeArrowheads="1"/>
          </p:cNvPicPr>
          <p:nvPr>
            <p:ph idx="1"/>
          </p:nvPr>
        </p:nvPicPr>
        <p:blipFill>
          <a:blip r:embed="rId2"/>
          <a:srcRect/>
          <a:stretch>
            <a:fillRect/>
          </a:stretch>
        </p:blipFill>
        <p:spPr bwMode="auto">
          <a:xfrm>
            <a:off x="785786" y="1714488"/>
            <a:ext cx="8001056" cy="421484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28</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Double Buffering</a:t>
            </a:r>
            <a:endParaRPr lang="en-IN" dirty="0">
              <a:solidFill>
                <a:srgbClr val="C00000"/>
              </a:solidFill>
            </a:endParaRPr>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29</a:t>
            </a:fld>
            <a:endParaRPr lang="en-IN"/>
          </a:p>
        </p:txBody>
      </p:sp>
      <p:pic>
        <p:nvPicPr>
          <p:cNvPr id="23554" name="Picture 2"/>
          <p:cNvPicPr>
            <a:picLocks noGrp="1" noChangeAspect="1" noChangeArrowheads="1"/>
          </p:cNvPicPr>
          <p:nvPr>
            <p:ph idx="1"/>
          </p:nvPr>
        </p:nvPicPr>
        <p:blipFill>
          <a:blip r:embed="rId2"/>
          <a:srcRect/>
          <a:stretch>
            <a:fillRect/>
          </a:stretch>
        </p:blipFill>
        <p:spPr bwMode="auto">
          <a:xfrm>
            <a:off x="1142976" y="1785926"/>
            <a:ext cx="7429552" cy="37862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Sort Merge Join</a:t>
            </a:r>
            <a:endParaRPr lang="en-IN" dirty="0">
              <a:solidFill>
                <a:srgbClr val="C00000"/>
              </a:solidFill>
            </a:endParaRPr>
          </a:p>
        </p:txBody>
      </p:sp>
      <p:pic>
        <p:nvPicPr>
          <p:cNvPr id="16386" name="Picture 2"/>
          <p:cNvPicPr>
            <a:picLocks noGrp="1" noChangeAspect="1" noChangeArrowheads="1"/>
          </p:cNvPicPr>
          <p:nvPr>
            <p:ph idx="1"/>
          </p:nvPr>
        </p:nvPicPr>
        <p:blipFill>
          <a:blip r:embed="rId2"/>
          <a:srcRect/>
          <a:stretch>
            <a:fillRect/>
          </a:stretch>
        </p:blipFill>
        <p:spPr bwMode="auto">
          <a:xfrm>
            <a:off x="571472" y="1571612"/>
            <a:ext cx="6197628" cy="294879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30</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C00000"/>
                </a:solidFill>
              </a:rPr>
              <a:t>Algorithm</a:t>
            </a:r>
            <a:endParaRPr lang="en-IN" dirty="0">
              <a:solidFill>
                <a:srgbClr val="C00000"/>
              </a:solidFill>
            </a:endParaRPr>
          </a:p>
        </p:txBody>
      </p:sp>
      <p:pic>
        <p:nvPicPr>
          <p:cNvPr id="17410" name="Picture 2"/>
          <p:cNvPicPr>
            <a:picLocks noGrp="1" noChangeAspect="1" noChangeArrowheads="1"/>
          </p:cNvPicPr>
          <p:nvPr>
            <p:ph idx="1"/>
          </p:nvPr>
        </p:nvPicPr>
        <p:blipFill>
          <a:blip r:embed="rId2"/>
          <a:srcRect/>
          <a:stretch>
            <a:fillRect/>
          </a:stretch>
        </p:blipFill>
        <p:spPr bwMode="auto">
          <a:xfrm>
            <a:off x="1000100" y="1600200"/>
            <a:ext cx="6643734" cy="4525963"/>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31</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Cost Calculation</a:t>
            </a:r>
            <a:endParaRPr lang="en-IN" dirty="0">
              <a:solidFill>
                <a:srgbClr val="C00000"/>
              </a:solidFill>
            </a:endParaRPr>
          </a:p>
        </p:txBody>
      </p:sp>
      <p:sp>
        <p:nvSpPr>
          <p:cNvPr id="3" name="Content Placeholder 2"/>
          <p:cNvSpPr>
            <a:spLocks noGrp="1"/>
          </p:cNvSpPr>
          <p:nvPr>
            <p:ph idx="1"/>
          </p:nvPr>
        </p:nvSpPr>
        <p:spPr>
          <a:xfrm>
            <a:off x="457200" y="1000108"/>
            <a:ext cx="8229600" cy="5126055"/>
          </a:xfrm>
        </p:spPr>
        <p:txBody>
          <a:bodyPr>
            <a:normAutofit/>
          </a:bodyPr>
          <a:lstStyle/>
          <a:p>
            <a:pPr algn="just"/>
            <a:r>
              <a:rPr lang="en-IN" sz="3000" dirty="0" smtClean="0"/>
              <a:t>Sort Merge Join is effective if there is at least one relation sorted on join attribute</a:t>
            </a:r>
          </a:p>
          <a:p>
            <a:pPr algn="just"/>
            <a:r>
              <a:rPr lang="en-IN" sz="3000" dirty="0" smtClean="0"/>
              <a:t>The cost of sorting R = O(</a:t>
            </a:r>
            <a:r>
              <a:rPr lang="en-IN" sz="3000" dirty="0" err="1" smtClean="0"/>
              <a:t>Mlog</a:t>
            </a:r>
            <a:r>
              <a:rPr lang="en-IN" sz="3000" dirty="0" smtClean="0"/>
              <a:t> M), The Cost of Sorting S = O(N log N), Cost of merging = (M+N)</a:t>
            </a:r>
          </a:p>
          <a:p>
            <a:pPr algn="just"/>
            <a:r>
              <a:rPr lang="en-IN" sz="3000" dirty="0" smtClean="0"/>
              <a:t>For our example assuming B= 100 </a:t>
            </a:r>
          </a:p>
          <a:p>
            <a:pPr algn="just">
              <a:buNone/>
            </a:pPr>
            <a:r>
              <a:rPr lang="en-IN" sz="3000" dirty="0" smtClean="0"/>
              <a:t>	cost to sort R = 2* 1000* log</a:t>
            </a:r>
            <a:r>
              <a:rPr lang="en-IN" sz="3000" baseline="-25000" dirty="0" smtClean="0"/>
              <a:t>100 </a:t>
            </a:r>
            <a:r>
              <a:rPr lang="en-IN" sz="3000" dirty="0" smtClean="0"/>
              <a:t> 1000 = 4000</a:t>
            </a:r>
          </a:p>
          <a:p>
            <a:pPr algn="just">
              <a:buNone/>
            </a:pPr>
            <a:r>
              <a:rPr lang="en-IN" sz="3000" dirty="0" smtClean="0"/>
              <a:t>	cost to sort S = 2* 500 * log</a:t>
            </a:r>
            <a:r>
              <a:rPr lang="en-IN" sz="3000" baseline="-25000" dirty="0" smtClean="0"/>
              <a:t>100 </a:t>
            </a:r>
            <a:r>
              <a:rPr lang="en-IN" sz="3000" dirty="0" smtClean="0"/>
              <a:t> 500 = 2000</a:t>
            </a:r>
          </a:p>
          <a:p>
            <a:pPr algn="just">
              <a:buNone/>
            </a:pPr>
            <a:r>
              <a:rPr lang="en-IN" sz="3000" dirty="0" smtClean="0"/>
              <a:t>	Total cost = 4000 + 2000 + (1000 + 500) = 7500 I/Os </a:t>
            </a:r>
          </a:p>
          <a:p>
            <a:pPr algn="just">
              <a:buNone/>
            </a:pP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32</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Hash Join</a:t>
            </a:r>
            <a:endParaRPr lang="en-IN" dirty="0">
              <a:solidFill>
                <a:srgbClr val="C00000"/>
              </a:solidFill>
            </a:endParaRPr>
          </a:p>
        </p:txBody>
      </p:sp>
      <p:sp>
        <p:nvSpPr>
          <p:cNvPr id="3" name="Content Placeholder 2"/>
          <p:cNvSpPr>
            <a:spLocks noGrp="1"/>
          </p:cNvSpPr>
          <p:nvPr>
            <p:ph idx="1"/>
          </p:nvPr>
        </p:nvSpPr>
        <p:spPr>
          <a:xfrm>
            <a:off x="457200" y="1142984"/>
            <a:ext cx="8229600" cy="4983179"/>
          </a:xfrm>
        </p:spPr>
        <p:txBody>
          <a:bodyPr/>
          <a:lstStyle/>
          <a:p>
            <a:pPr algn="just"/>
            <a:r>
              <a:rPr lang="en-IN" dirty="0" smtClean="0"/>
              <a:t>Hash join uses hashing for doing partition (partitioning phase)</a:t>
            </a:r>
          </a:p>
          <a:p>
            <a:pPr algn="just"/>
            <a:r>
              <a:rPr lang="en-IN" dirty="0" smtClean="0"/>
              <a:t>In probing phase compare the tuples of a partition of R table to the corresponding partition of S table </a:t>
            </a:r>
          </a:p>
          <a:p>
            <a:pPr algn="just"/>
            <a:r>
              <a:rPr lang="en-IN" dirty="0" smtClean="0"/>
              <a:t>Avoid the enumeration</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33</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Hash based Join</a:t>
            </a:r>
            <a:endParaRPr lang="en-IN" dirty="0">
              <a:solidFill>
                <a:srgbClr val="C00000"/>
              </a:solidFill>
            </a:endParaRPr>
          </a:p>
        </p:txBody>
      </p:sp>
      <p:pic>
        <p:nvPicPr>
          <p:cNvPr id="18434" name="Picture 2"/>
          <p:cNvPicPr>
            <a:picLocks noGrp="1" noChangeAspect="1" noChangeArrowheads="1"/>
          </p:cNvPicPr>
          <p:nvPr>
            <p:ph idx="1"/>
          </p:nvPr>
        </p:nvPicPr>
        <p:blipFill>
          <a:blip r:embed="rId2"/>
          <a:srcRect/>
          <a:stretch>
            <a:fillRect/>
          </a:stretch>
        </p:blipFill>
        <p:spPr bwMode="auto">
          <a:xfrm>
            <a:off x="571472" y="1500174"/>
            <a:ext cx="7643866" cy="471490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34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Probing Phase</a:t>
            </a:r>
            <a:endParaRPr lang="en-IN" dirty="0">
              <a:solidFill>
                <a:srgbClr val="C00000"/>
              </a:solidFill>
            </a:endParaRPr>
          </a:p>
        </p:txBody>
      </p:sp>
      <p:pic>
        <p:nvPicPr>
          <p:cNvPr id="19458" name="Picture 2"/>
          <p:cNvPicPr>
            <a:picLocks noGrp="1" noChangeAspect="1" noChangeArrowheads="1"/>
          </p:cNvPicPr>
          <p:nvPr>
            <p:ph idx="1"/>
          </p:nvPr>
        </p:nvPicPr>
        <p:blipFill>
          <a:blip r:embed="rId2"/>
          <a:srcRect/>
          <a:stretch>
            <a:fillRect/>
          </a:stretch>
        </p:blipFill>
        <p:spPr bwMode="auto">
          <a:xfrm>
            <a:off x="571472" y="1785926"/>
            <a:ext cx="8001056" cy="385765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9155C66-EA02-4C64-A9CC-743997C7925E}" type="slidenum">
              <a:rPr lang="en-IN" smtClean="0"/>
              <a:pPr/>
              <a:t>35</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Cost : Hash based Join</a:t>
            </a:r>
            <a:endParaRPr lang="en-IN" dirty="0">
              <a:solidFill>
                <a:srgbClr val="C00000"/>
              </a:solidFill>
            </a:endParaRPr>
          </a:p>
        </p:txBody>
      </p:sp>
      <p:sp>
        <p:nvSpPr>
          <p:cNvPr id="3" name="Content Placeholder 2"/>
          <p:cNvSpPr>
            <a:spLocks noGrp="1"/>
          </p:cNvSpPr>
          <p:nvPr>
            <p:ph idx="1"/>
          </p:nvPr>
        </p:nvSpPr>
        <p:spPr/>
        <p:txBody>
          <a:bodyPr/>
          <a:lstStyle/>
          <a:p>
            <a:r>
              <a:rPr lang="en-IN" dirty="0" smtClean="0"/>
              <a:t>Partitioning Phase</a:t>
            </a:r>
          </a:p>
          <a:p>
            <a:pPr lvl="1"/>
            <a:r>
              <a:rPr lang="en-IN" dirty="0" smtClean="0"/>
              <a:t>Need to scan R &amp; S once and write them both; cost = 2 (M+N)</a:t>
            </a:r>
          </a:p>
          <a:p>
            <a:pPr lvl="1">
              <a:buNone/>
            </a:pPr>
            <a:endParaRPr lang="en-IN" dirty="0" smtClean="0"/>
          </a:p>
          <a:p>
            <a:pPr lvl="1"/>
            <a:r>
              <a:rPr lang="en-IN" dirty="0" smtClean="0">
                <a:solidFill>
                  <a:srgbClr val="C00000"/>
                </a:solidFill>
              </a:rPr>
              <a:t>For Probing Phase (assuming no overflow in partition) cost = M+N</a:t>
            </a:r>
          </a:p>
          <a:p>
            <a:pPr lvl="1"/>
            <a:r>
              <a:rPr lang="en-IN" dirty="0" smtClean="0">
                <a:solidFill>
                  <a:srgbClr val="C00000"/>
                </a:solidFill>
              </a:rPr>
              <a:t>Total cost = 3 (M+N)</a:t>
            </a:r>
          </a:p>
          <a:p>
            <a:pPr lvl="1"/>
            <a:r>
              <a:rPr lang="en-IN" dirty="0" smtClean="0">
                <a:solidFill>
                  <a:srgbClr val="C00000"/>
                </a:solidFill>
              </a:rPr>
              <a:t>For our example : 3(1000+500) = 4500 I/O that may take less than 1 min. </a:t>
            </a:r>
          </a:p>
        </p:txBody>
      </p:sp>
      <p:sp>
        <p:nvSpPr>
          <p:cNvPr id="4" name="Slide Number Placeholder 3"/>
          <p:cNvSpPr>
            <a:spLocks noGrp="1"/>
          </p:cNvSpPr>
          <p:nvPr>
            <p:ph type="sldNum" sz="quarter" idx="12"/>
          </p:nvPr>
        </p:nvSpPr>
        <p:spPr/>
        <p:txBody>
          <a:bodyPr/>
          <a:lstStyle/>
          <a:p>
            <a:fld id="{49155C66-EA02-4C64-A9CC-743997C7925E}" type="slidenum">
              <a:rPr lang="en-IN" smtClean="0"/>
              <a:pPr/>
              <a:t>36</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076"/>
            <a:ext cx="8229600" cy="654032"/>
          </a:xfrm>
        </p:spPr>
        <p:txBody>
          <a:bodyPr>
            <a:normAutofit fontScale="90000"/>
          </a:bodyPr>
          <a:lstStyle/>
          <a:p>
            <a:pPr algn="l"/>
            <a:r>
              <a:rPr lang="en-IN" dirty="0" smtClean="0">
                <a:solidFill>
                  <a:srgbClr val="C00000"/>
                </a:solidFill>
              </a:rPr>
              <a:t>A typical Query Optimizer</a:t>
            </a:r>
            <a:endParaRPr lang="en-IN" dirty="0">
              <a:solidFill>
                <a:srgbClr val="C00000"/>
              </a:solidFill>
            </a:endParaRPr>
          </a:p>
        </p:txBody>
      </p:sp>
      <p:pic>
        <p:nvPicPr>
          <p:cNvPr id="4098" name="Picture 2"/>
          <p:cNvPicPr>
            <a:picLocks noGrp="1" noChangeAspect="1" noChangeArrowheads="1"/>
          </p:cNvPicPr>
          <p:nvPr>
            <p:ph idx="1"/>
          </p:nvPr>
        </p:nvPicPr>
        <p:blipFill>
          <a:blip r:embed="rId2"/>
          <a:srcRect/>
          <a:stretch>
            <a:fillRect/>
          </a:stretch>
        </p:blipFill>
        <p:spPr bwMode="auto">
          <a:xfrm>
            <a:off x="1357290" y="1571612"/>
            <a:ext cx="5500726" cy="392909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9155C66-EA02-4C64-A9CC-743997C7925E}" type="slidenum">
              <a:rPr lang="en-IN" smtClean="0"/>
              <a:pPr/>
              <a:t>37</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Example</a:t>
            </a:r>
            <a:endParaRPr lang="en-IN" dirty="0">
              <a:solidFill>
                <a:srgbClr val="C00000"/>
              </a:solidFill>
            </a:endParaRPr>
          </a:p>
        </p:txBody>
      </p:sp>
      <p:sp>
        <p:nvSpPr>
          <p:cNvPr id="3" name="Content Placeholder 2"/>
          <p:cNvSpPr>
            <a:spLocks noGrp="1"/>
          </p:cNvSpPr>
          <p:nvPr>
            <p:ph idx="1"/>
          </p:nvPr>
        </p:nvSpPr>
        <p:spPr/>
        <p:txBody>
          <a:bodyPr/>
          <a:lstStyle/>
          <a:p>
            <a:pPr algn="just"/>
            <a:r>
              <a:rPr lang="en-IN" dirty="0" smtClean="0"/>
              <a:t>Sailors (Sid, </a:t>
            </a:r>
            <a:r>
              <a:rPr lang="en-IN" dirty="0" err="1" smtClean="0"/>
              <a:t>Sname</a:t>
            </a:r>
            <a:r>
              <a:rPr lang="en-IN" dirty="0" smtClean="0"/>
              <a:t>, Rating, Age)</a:t>
            </a:r>
          </a:p>
          <a:p>
            <a:pPr algn="just"/>
            <a:r>
              <a:rPr lang="en-IN" dirty="0" err="1" smtClean="0"/>
              <a:t>Reservers</a:t>
            </a:r>
            <a:r>
              <a:rPr lang="en-IN" dirty="0" smtClean="0"/>
              <a:t> (Sid, bid, Day, </a:t>
            </a:r>
            <a:r>
              <a:rPr lang="en-IN" dirty="0" err="1" smtClean="0"/>
              <a:t>Rname</a:t>
            </a:r>
            <a:r>
              <a:rPr lang="en-IN" dirty="0" smtClean="0"/>
              <a:t>)</a:t>
            </a:r>
          </a:p>
          <a:p>
            <a:pPr algn="just"/>
            <a:r>
              <a:rPr lang="en-IN" dirty="0" err="1" smtClean="0"/>
              <a:t>Legth</a:t>
            </a:r>
            <a:r>
              <a:rPr lang="en-IN" dirty="0" smtClean="0"/>
              <a:t> of each </a:t>
            </a:r>
            <a:r>
              <a:rPr lang="en-IN" dirty="0" err="1" smtClean="0"/>
              <a:t>tuple</a:t>
            </a:r>
            <a:r>
              <a:rPr lang="en-IN" dirty="0" smtClean="0"/>
              <a:t> in R &amp; S are 40 and 50 bytes respectively.</a:t>
            </a:r>
          </a:p>
          <a:p>
            <a:pPr algn="just"/>
            <a:r>
              <a:rPr lang="en-IN" dirty="0" smtClean="0"/>
              <a:t>One page contains 100 R / 80 S tuples</a:t>
            </a:r>
          </a:p>
          <a:p>
            <a:pPr algn="just"/>
            <a:r>
              <a:rPr lang="en-IN" dirty="0" smtClean="0"/>
              <a:t>We have 1000 pages of R and 500 pages of S tuples</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38</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Working principle: Optimizer</a:t>
            </a:r>
            <a:endParaRPr lang="en-IN" dirty="0">
              <a:solidFill>
                <a:srgbClr val="C00000"/>
              </a:solidFill>
            </a:endParaRPr>
          </a:p>
        </p:txBody>
      </p:sp>
      <p:sp>
        <p:nvSpPr>
          <p:cNvPr id="3" name="Content Placeholder 2"/>
          <p:cNvSpPr>
            <a:spLocks noGrp="1"/>
          </p:cNvSpPr>
          <p:nvPr>
            <p:ph idx="1"/>
          </p:nvPr>
        </p:nvSpPr>
        <p:spPr/>
        <p:txBody>
          <a:bodyPr>
            <a:normAutofit lnSpcReduction="10000"/>
          </a:bodyPr>
          <a:lstStyle/>
          <a:p>
            <a:pPr algn="just"/>
            <a:r>
              <a:rPr lang="en-IN" dirty="0" smtClean="0"/>
              <a:t>Enumerate a </a:t>
            </a:r>
            <a:r>
              <a:rPr lang="en-IN" dirty="0" smtClean="0">
                <a:solidFill>
                  <a:srgbClr val="C00000"/>
                </a:solidFill>
              </a:rPr>
              <a:t>subset </a:t>
            </a:r>
            <a:r>
              <a:rPr lang="en-IN" dirty="0" smtClean="0"/>
              <a:t>of all possible plans for enumerate the expression</a:t>
            </a:r>
          </a:p>
          <a:p>
            <a:pPr algn="just"/>
            <a:r>
              <a:rPr lang="en-IN" dirty="0" smtClean="0"/>
              <a:t>Estimate the cost of each enumerated plan</a:t>
            </a:r>
          </a:p>
          <a:p>
            <a:pPr algn="just"/>
            <a:r>
              <a:rPr lang="en-IN" dirty="0" smtClean="0"/>
              <a:t>Choose the cheapest one</a:t>
            </a:r>
          </a:p>
          <a:p>
            <a:pPr algn="just"/>
            <a:r>
              <a:rPr lang="en-IN" dirty="0" smtClean="0"/>
              <a:t>Practically a plan becomes a query tree (RA expression) </a:t>
            </a:r>
            <a:r>
              <a:rPr lang="en-IN" dirty="0" smtClean="0">
                <a:solidFill>
                  <a:srgbClr val="C00000"/>
                </a:solidFill>
              </a:rPr>
              <a:t>annotated</a:t>
            </a:r>
            <a:r>
              <a:rPr lang="en-IN" dirty="0" smtClean="0"/>
              <a:t> with the access path for each operation as well as the method of implementation for the corresponding operator</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39</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A Running Example</a:t>
            </a:r>
            <a:endParaRPr lang="en-IN" dirty="0">
              <a:solidFill>
                <a:srgbClr val="C00000"/>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571472" y="1785926"/>
            <a:ext cx="8215370" cy="35719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9155C66-EA02-4C64-A9CC-743997C7925E}" type="slidenum">
              <a:rPr lang="en-IN" smtClean="0"/>
              <a:pPr/>
              <a:t>40</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Pipelined Vs. Materialization</a:t>
            </a:r>
            <a:endParaRPr lang="en-IN" dirty="0">
              <a:solidFill>
                <a:srgbClr val="C00000"/>
              </a:solidFill>
            </a:endParaRPr>
          </a:p>
        </p:txBody>
      </p:sp>
      <p:pic>
        <p:nvPicPr>
          <p:cNvPr id="7170" name="Picture 2"/>
          <p:cNvPicPr>
            <a:picLocks noGrp="1" noChangeAspect="1" noChangeArrowheads="1"/>
          </p:cNvPicPr>
          <p:nvPr>
            <p:ph idx="1"/>
          </p:nvPr>
        </p:nvPicPr>
        <p:blipFill>
          <a:blip r:embed="rId2"/>
          <a:srcRect/>
          <a:stretch>
            <a:fillRect/>
          </a:stretch>
        </p:blipFill>
        <p:spPr bwMode="auto">
          <a:xfrm>
            <a:off x="1643042" y="1928802"/>
            <a:ext cx="6429420" cy="3000396"/>
          </a:xfrm>
          <a:prstGeom prst="rect">
            <a:avLst/>
          </a:prstGeom>
          <a:noFill/>
          <a:ln w="9525">
            <a:noFill/>
            <a:miter lim="800000"/>
            <a:headEnd/>
            <a:tailEnd/>
          </a:ln>
          <a:effectLst/>
        </p:spPr>
      </p:pic>
      <p:sp>
        <p:nvSpPr>
          <p:cNvPr id="5" name="TextBox 4"/>
          <p:cNvSpPr txBox="1"/>
          <p:nvPr/>
        </p:nvSpPr>
        <p:spPr>
          <a:xfrm>
            <a:off x="857224" y="5072074"/>
            <a:ext cx="7500990" cy="1200329"/>
          </a:xfrm>
          <a:prstGeom prst="rect">
            <a:avLst/>
          </a:prstGeom>
          <a:noFill/>
        </p:spPr>
        <p:txBody>
          <a:bodyPr wrap="square" rtlCol="0">
            <a:spAutoFit/>
          </a:bodyPr>
          <a:lstStyle/>
          <a:p>
            <a:pPr algn="just"/>
            <a:r>
              <a:rPr lang="en-IN" sz="2400" dirty="0" smtClean="0">
                <a:solidFill>
                  <a:srgbClr val="C00000"/>
                </a:solidFill>
              </a:rPr>
              <a:t>In materialization the output of an operation is stored in an intermediate table; the pipeline performs better in terms of overhead</a:t>
            </a:r>
            <a:endParaRPr lang="en-IN" sz="2400" dirty="0">
              <a:solidFill>
                <a:srgbClr val="C00000"/>
              </a:solidFill>
            </a:endParaRPr>
          </a:p>
        </p:txBody>
      </p:sp>
      <p:sp>
        <p:nvSpPr>
          <p:cNvPr id="6" name="Slide Number Placeholder 5"/>
          <p:cNvSpPr>
            <a:spLocks noGrp="1"/>
          </p:cNvSpPr>
          <p:nvPr>
            <p:ph type="sldNum" sz="quarter" idx="12"/>
          </p:nvPr>
        </p:nvSpPr>
        <p:spPr/>
        <p:txBody>
          <a:bodyPr/>
          <a:lstStyle/>
          <a:p>
            <a:fld id="{49155C66-EA02-4C64-A9CC-743997C7925E}" type="slidenum">
              <a:rPr lang="en-IN" smtClean="0"/>
              <a:pPr/>
              <a:t>41</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Linear &amp; Bushy trees</a:t>
            </a:r>
            <a:endParaRPr lang="en-IN" dirty="0">
              <a:solidFill>
                <a:srgbClr val="C00000"/>
              </a:solidFill>
            </a:endParaRPr>
          </a:p>
        </p:txBody>
      </p:sp>
      <p:pic>
        <p:nvPicPr>
          <p:cNvPr id="8195" name="Picture 3"/>
          <p:cNvPicPr>
            <a:picLocks noGrp="1" noChangeAspect="1" noChangeArrowheads="1"/>
          </p:cNvPicPr>
          <p:nvPr>
            <p:ph idx="1"/>
          </p:nvPr>
        </p:nvPicPr>
        <p:blipFill>
          <a:blip r:embed="rId2"/>
          <a:srcRect/>
          <a:stretch>
            <a:fillRect/>
          </a:stretch>
        </p:blipFill>
        <p:spPr bwMode="auto">
          <a:xfrm>
            <a:off x="1357290" y="1785926"/>
            <a:ext cx="6072230" cy="338853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9155C66-EA02-4C64-A9CC-743997C7925E}" type="slidenum">
              <a:rPr lang="en-IN" smtClean="0"/>
              <a:pPr/>
              <a:t>42</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Left Deep Plans</a:t>
            </a:r>
            <a:endParaRPr lang="en-IN"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a:buNone/>
            </a:pPr>
            <a:endParaRPr lang="en-US" sz="3600" b="1" u="sng" dirty="0" smtClean="0"/>
          </a:p>
          <a:p>
            <a:pPr algn="just">
              <a:buNone/>
            </a:pPr>
            <a:r>
              <a:rPr lang="en-US" dirty="0" smtClean="0">
                <a:solidFill>
                  <a:srgbClr val="C00000"/>
                </a:solidFill>
              </a:rPr>
              <a:t>In Linear Tree</a:t>
            </a:r>
            <a:r>
              <a:rPr lang="en-US" dirty="0" smtClean="0"/>
              <a:t>, at least one child of a join node will be a base table. </a:t>
            </a:r>
          </a:p>
          <a:p>
            <a:pPr algn="just">
              <a:buNone/>
            </a:pPr>
            <a:endParaRPr lang="en-US" dirty="0" smtClean="0">
              <a:solidFill>
                <a:srgbClr val="C00000"/>
              </a:solidFill>
            </a:endParaRPr>
          </a:p>
          <a:p>
            <a:pPr algn="just">
              <a:buNone/>
            </a:pPr>
            <a:r>
              <a:rPr lang="en-US" dirty="0" smtClean="0">
                <a:solidFill>
                  <a:srgbClr val="C00000"/>
                </a:solidFill>
              </a:rPr>
              <a:t>Optimizers typically use only left deep plans</a:t>
            </a:r>
          </a:p>
          <a:p>
            <a:pPr>
              <a:buNone/>
            </a:pPr>
            <a:endParaRPr lang="en-US" dirty="0" smtClean="0"/>
          </a:p>
          <a:p>
            <a:pPr algn="just"/>
            <a:r>
              <a:rPr lang="en-US" sz="2800" dirty="0" smtClean="0"/>
              <a:t>As the no of join increases, the no of alternative plans increases rapidly and it becomes necessary to prove the space of alternative plans.</a:t>
            </a:r>
          </a:p>
          <a:p>
            <a:pPr algn="just"/>
            <a:r>
              <a:rPr lang="en-US" sz="2800" dirty="0" smtClean="0"/>
              <a:t>Left deep trees allow us to generate all fully pipelined plans. (</a:t>
            </a:r>
            <a:r>
              <a:rPr lang="en-US" sz="2800" dirty="0" smtClean="0">
                <a:solidFill>
                  <a:srgbClr val="C00000"/>
                </a:solidFill>
              </a:rPr>
              <a:t>as inner relations are always base relations</a:t>
            </a:r>
            <a:r>
              <a:rPr lang="en-US" sz="2800" dirty="0" smtClean="0"/>
              <a:t>)</a:t>
            </a:r>
            <a:endParaRPr lang="en-IN" sz="2800" dirty="0" smtClean="0"/>
          </a:p>
          <a:p>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43</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A Running Example</a:t>
            </a:r>
            <a:r>
              <a:rPr lang="en-IN" dirty="0" smtClean="0"/>
              <a:t> </a:t>
            </a:r>
            <a:endParaRPr lang="en-IN" dirty="0"/>
          </a:p>
        </p:txBody>
      </p:sp>
      <p:pic>
        <p:nvPicPr>
          <p:cNvPr id="6146" name="Picture 2"/>
          <p:cNvPicPr>
            <a:picLocks noGrp="1" noChangeAspect="1" noChangeArrowheads="1"/>
          </p:cNvPicPr>
          <p:nvPr>
            <p:ph idx="1"/>
          </p:nvPr>
        </p:nvPicPr>
        <p:blipFill>
          <a:blip r:embed="rId2"/>
          <a:srcRect/>
          <a:stretch>
            <a:fillRect/>
          </a:stretch>
        </p:blipFill>
        <p:spPr bwMode="auto">
          <a:xfrm>
            <a:off x="857224" y="1643050"/>
            <a:ext cx="7715304" cy="4071966"/>
          </a:xfrm>
          <a:prstGeom prst="rect">
            <a:avLst/>
          </a:prstGeom>
          <a:noFill/>
          <a:ln w="9525">
            <a:noFill/>
            <a:miter lim="800000"/>
            <a:headEnd/>
            <a:tailEnd/>
          </a:ln>
          <a:effectLst/>
        </p:spPr>
      </p:pic>
      <p:sp>
        <p:nvSpPr>
          <p:cNvPr id="4" name="TextBox 3"/>
          <p:cNvSpPr txBox="1"/>
          <p:nvPr/>
        </p:nvSpPr>
        <p:spPr>
          <a:xfrm>
            <a:off x="1142976" y="6000768"/>
            <a:ext cx="7072362" cy="369332"/>
          </a:xfrm>
          <a:prstGeom prst="rect">
            <a:avLst/>
          </a:prstGeom>
          <a:noFill/>
        </p:spPr>
        <p:txBody>
          <a:bodyPr wrap="square" rtlCol="0">
            <a:spAutoFit/>
          </a:bodyPr>
          <a:lstStyle/>
          <a:p>
            <a:r>
              <a:rPr lang="en-IN" dirty="0" smtClean="0">
                <a:solidFill>
                  <a:srgbClr val="C00000"/>
                </a:solidFill>
              </a:rPr>
              <a:t>Outer relation is the left child of the join operator: convention used</a:t>
            </a:r>
            <a:endParaRPr lang="en-IN" dirty="0">
              <a:solidFill>
                <a:srgbClr val="C00000"/>
              </a:solidFill>
            </a:endParaRPr>
          </a:p>
        </p:txBody>
      </p:sp>
      <p:sp>
        <p:nvSpPr>
          <p:cNvPr id="5" name="Slide Number Placeholder 4"/>
          <p:cNvSpPr>
            <a:spLocks noGrp="1"/>
          </p:cNvSpPr>
          <p:nvPr>
            <p:ph type="sldNum" sz="quarter" idx="12"/>
          </p:nvPr>
        </p:nvSpPr>
        <p:spPr/>
        <p:txBody>
          <a:bodyPr/>
          <a:lstStyle/>
          <a:p>
            <a:fld id="{49155C66-EA02-4C64-A9CC-743997C7925E}" type="slidenum">
              <a:rPr lang="en-IN" smtClean="0"/>
              <a:pPr/>
              <a:t>44</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A Running Example</a:t>
            </a:r>
            <a:r>
              <a:rPr lang="en-IN" dirty="0" smtClean="0"/>
              <a:t> </a:t>
            </a:r>
            <a:endParaRPr lang="en-IN" dirty="0"/>
          </a:p>
        </p:txBody>
      </p:sp>
      <p:pic>
        <p:nvPicPr>
          <p:cNvPr id="6146" name="Picture 2"/>
          <p:cNvPicPr>
            <a:picLocks noGrp="1" noChangeAspect="1" noChangeArrowheads="1"/>
          </p:cNvPicPr>
          <p:nvPr>
            <p:ph idx="1"/>
          </p:nvPr>
        </p:nvPicPr>
        <p:blipFill>
          <a:blip r:embed="rId2"/>
          <a:srcRect/>
          <a:stretch>
            <a:fillRect/>
          </a:stretch>
        </p:blipFill>
        <p:spPr bwMode="auto">
          <a:xfrm>
            <a:off x="857224" y="1643050"/>
            <a:ext cx="7715304" cy="4071966"/>
          </a:xfrm>
          <a:prstGeom prst="rect">
            <a:avLst/>
          </a:prstGeom>
          <a:noFill/>
          <a:ln w="9525">
            <a:noFill/>
            <a:miter lim="800000"/>
            <a:headEnd/>
            <a:tailEnd/>
          </a:ln>
          <a:effectLst/>
        </p:spPr>
      </p:pic>
      <p:sp>
        <p:nvSpPr>
          <p:cNvPr id="4" name="TextBox 3"/>
          <p:cNvSpPr txBox="1"/>
          <p:nvPr/>
        </p:nvSpPr>
        <p:spPr>
          <a:xfrm>
            <a:off x="1142976" y="6000768"/>
            <a:ext cx="7072362" cy="646331"/>
          </a:xfrm>
          <a:prstGeom prst="rect">
            <a:avLst/>
          </a:prstGeom>
          <a:noFill/>
        </p:spPr>
        <p:txBody>
          <a:bodyPr wrap="square" rtlCol="0">
            <a:spAutoFit/>
          </a:bodyPr>
          <a:lstStyle/>
          <a:p>
            <a:r>
              <a:rPr lang="en-IN" dirty="0" smtClean="0">
                <a:solidFill>
                  <a:srgbClr val="C00000"/>
                </a:solidFill>
              </a:rPr>
              <a:t>Outer relation is the left child of the join operator: convention used  </a:t>
            </a:r>
          </a:p>
          <a:p>
            <a:r>
              <a:rPr lang="en-IN" dirty="0" smtClean="0">
                <a:solidFill>
                  <a:srgbClr val="C00000"/>
                </a:solidFill>
              </a:rPr>
              <a:t>Cost =  Cost of nested loop join = 1000 + 1000 * 500 = 5,01,000 I/O s</a:t>
            </a:r>
            <a:endParaRPr lang="en-IN" dirty="0">
              <a:solidFill>
                <a:srgbClr val="C00000"/>
              </a:solidFill>
            </a:endParaRPr>
          </a:p>
        </p:txBody>
      </p:sp>
      <p:sp>
        <p:nvSpPr>
          <p:cNvPr id="5" name="Slide Number Placeholder 4"/>
          <p:cNvSpPr>
            <a:spLocks noGrp="1"/>
          </p:cNvSpPr>
          <p:nvPr>
            <p:ph type="sldNum" sz="quarter" idx="12"/>
          </p:nvPr>
        </p:nvSpPr>
        <p:spPr/>
        <p:txBody>
          <a:bodyPr/>
          <a:lstStyle/>
          <a:p>
            <a:fld id="{49155C66-EA02-4C64-A9CC-743997C7925E}" type="slidenum">
              <a:rPr lang="en-IN" smtClean="0"/>
              <a:pPr/>
              <a:t>45</a:t>
            </a:fld>
            <a:endParaRPr lang="en-IN"/>
          </a:p>
        </p:txBody>
      </p:sp>
      <p:sp>
        <p:nvSpPr>
          <p:cNvPr id="6" name="Footer Placeholder 5"/>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An improved Tree</a:t>
            </a:r>
            <a:endParaRPr lang="en-IN" dirty="0">
              <a:solidFill>
                <a:srgbClr val="C00000"/>
              </a:solidFill>
            </a:endParaRPr>
          </a:p>
        </p:txBody>
      </p:sp>
      <p:pic>
        <p:nvPicPr>
          <p:cNvPr id="20482" name="Picture 2"/>
          <p:cNvPicPr>
            <a:picLocks noGrp="1" noChangeAspect="1" noChangeArrowheads="1"/>
          </p:cNvPicPr>
          <p:nvPr>
            <p:ph idx="1"/>
          </p:nvPr>
        </p:nvPicPr>
        <p:blipFill>
          <a:blip r:embed="rId2"/>
          <a:srcRect/>
          <a:stretch>
            <a:fillRect/>
          </a:stretch>
        </p:blipFill>
        <p:spPr bwMode="auto">
          <a:xfrm>
            <a:off x="500034" y="857232"/>
            <a:ext cx="8001056" cy="4000528"/>
          </a:xfrm>
          <a:prstGeom prst="rect">
            <a:avLst/>
          </a:prstGeom>
          <a:noFill/>
          <a:ln w="9525">
            <a:noFill/>
            <a:miter lim="800000"/>
            <a:headEnd/>
            <a:tailEnd/>
          </a:ln>
          <a:effectLst/>
        </p:spPr>
      </p:pic>
      <p:sp>
        <p:nvSpPr>
          <p:cNvPr id="5" name="TextBox 4"/>
          <p:cNvSpPr txBox="1"/>
          <p:nvPr/>
        </p:nvSpPr>
        <p:spPr>
          <a:xfrm>
            <a:off x="714348" y="5000636"/>
            <a:ext cx="7715304" cy="1477328"/>
          </a:xfrm>
          <a:prstGeom prst="rect">
            <a:avLst/>
          </a:prstGeom>
          <a:noFill/>
        </p:spPr>
        <p:txBody>
          <a:bodyPr wrap="square" rtlCol="0">
            <a:spAutoFit/>
          </a:bodyPr>
          <a:lstStyle/>
          <a:p>
            <a:pPr algn="just"/>
            <a:r>
              <a:rPr lang="en-IN" dirty="0" smtClean="0"/>
              <a:t>5 Buffer Pages are available;  Ratings are uniformly distributed over the range 1 to 10;  100 boats are there and Reservations are spread uniformly across all boats; T1 = 10; </a:t>
            </a:r>
            <a:r>
              <a:rPr lang="en-IN" dirty="0" smtClean="0"/>
              <a:t>T2=250</a:t>
            </a:r>
            <a:r>
              <a:rPr lang="en-IN" dirty="0" smtClean="0"/>
              <a:t>;  sort Merge = cost for sorting + cost for merging = (2*10*2) + (2*250*4) + (10+250) =  2300 ; Selection = 1000 +10+500+250 = 1760</a:t>
            </a:r>
          </a:p>
          <a:p>
            <a:pPr algn="just"/>
            <a:r>
              <a:rPr lang="en-IN" dirty="0" smtClean="0">
                <a:solidFill>
                  <a:srgbClr val="C00000"/>
                </a:solidFill>
              </a:rPr>
              <a:t>Total cost = 4060 I/Os</a:t>
            </a:r>
            <a:endParaRPr lang="en-IN" dirty="0">
              <a:solidFill>
                <a:srgbClr val="C00000"/>
              </a:solidFill>
            </a:endParaRPr>
          </a:p>
        </p:txBody>
      </p:sp>
      <p:sp>
        <p:nvSpPr>
          <p:cNvPr id="6" name="Slide Number Placeholder 5"/>
          <p:cNvSpPr>
            <a:spLocks noGrp="1"/>
          </p:cNvSpPr>
          <p:nvPr>
            <p:ph type="sldNum" sz="quarter" idx="12"/>
          </p:nvPr>
        </p:nvSpPr>
        <p:spPr/>
        <p:txBody>
          <a:bodyPr/>
          <a:lstStyle/>
          <a:p>
            <a:fld id="{49155C66-EA02-4C64-A9CC-743997C7925E}" type="slidenum">
              <a:rPr lang="en-IN" smtClean="0"/>
              <a:pPr/>
              <a:t>46</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Alternate Plans</a:t>
            </a:r>
            <a:endParaRPr lang="en-IN" dirty="0">
              <a:solidFill>
                <a:srgbClr val="C00000"/>
              </a:solidFill>
            </a:endParaRPr>
          </a:p>
        </p:txBody>
      </p:sp>
      <p:sp>
        <p:nvSpPr>
          <p:cNvPr id="3" name="Content Placeholder 2"/>
          <p:cNvSpPr>
            <a:spLocks noGrp="1"/>
          </p:cNvSpPr>
          <p:nvPr>
            <p:ph idx="1"/>
          </p:nvPr>
        </p:nvSpPr>
        <p:spPr>
          <a:xfrm>
            <a:off x="457200" y="1000108"/>
            <a:ext cx="8229600" cy="5126055"/>
          </a:xfrm>
        </p:spPr>
        <p:txBody>
          <a:bodyPr/>
          <a:lstStyle/>
          <a:p>
            <a:r>
              <a:rPr lang="en-IN" dirty="0" smtClean="0"/>
              <a:t>Alternate 1</a:t>
            </a:r>
          </a:p>
          <a:p>
            <a:pPr>
              <a:buNone/>
            </a:pPr>
            <a:r>
              <a:rPr lang="en-IN" dirty="0" smtClean="0"/>
              <a:t>	Use Block Nested loop instead of Sort Merge</a:t>
            </a:r>
          </a:p>
          <a:p>
            <a:pPr>
              <a:buNone/>
            </a:pPr>
            <a:r>
              <a:rPr lang="en-IN" dirty="0" smtClean="0"/>
              <a:t>	For every 3 page Block we scan T2</a:t>
            </a:r>
          </a:p>
          <a:p>
            <a:pPr>
              <a:buNone/>
            </a:pPr>
            <a:r>
              <a:rPr lang="en-IN" dirty="0" smtClean="0"/>
              <a:t>	T2 need to be scanned  4 times</a:t>
            </a:r>
          </a:p>
          <a:p>
            <a:pPr>
              <a:buNone/>
            </a:pPr>
            <a:r>
              <a:rPr lang="en-IN" dirty="0" smtClean="0"/>
              <a:t>	Join cost = 10 + 4 * 250 = 1010</a:t>
            </a:r>
          </a:p>
          <a:p>
            <a:pPr>
              <a:buNone/>
            </a:pPr>
            <a:r>
              <a:rPr lang="en-IN" dirty="0" smtClean="0"/>
              <a:t>	Total Cost = Selection cost + Join Cost = (1760) + (1010) = 2770 I/O s</a:t>
            </a:r>
          </a:p>
          <a:p>
            <a:pPr>
              <a:buNone/>
            </a:pPr>
            <a:r>
              <a:rPr lang="en-IN" dirty="0" smtClean="0"/>
              <a:t>				</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47</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rPr>
              <a:t>Alternate Plans</a:t>
            </a:r>
            <a:endParaRPr lang="en-IN" dirty="0"/>
          </a:p>
        </p:txBody>
      </p:sp>
      <p:sp>
        <p:nvSpPr>
          <p:cNvPr id="3" name="Content Placeholder 2"/>
          <p:cNvSpPr>
            <a:spLocks noGrp="1"/>
          </p:cNvSpPr>
          <p:nvPr>
            <p:ph idx="1"/>
          </p:nvPr>
        </p:nvSpPr>
        <p:spPr>
          <a:xfrm>
            <a:off x="457200" y="1071546"/>
            <a:ext cx="8229600" cy="5054617"/>
          </a:xfrm>
        </p:spPr>
        <p:txBody>
          <a:bodyPr/>
          <a:lstStyle/>
          <a:p>
            <a:r>
              <a:rPr lang="en-IN" dirty="0" smtClean="0"/>
              <a:t>Pushing Projection</a:t>
            </a:r>
          </a:p>
          <a:p>
            <a:r>
              <a:rPr lang="en-IN" dirty="0" smtClean="0"/>
              <a:t>Only </a:t>
            </a:r>
            <a:r>
              <a:rPr lang="en-IN" dirty="0" err="1" smtClean="0"/>
              <a:t>sid</a:t>
            </a:r>
            <a:r>
              <a:rPr lang="en-IN" dirty="0" smtClean="0"/>
              <a:t> from T1 and Sid, </a:t>
            </a:r>
            <a:r>
              <a:rPr lang="en-IN" dirty="0" err="1" smtClean="0"/>
              <a:t>Sname</a:t>
            </a:r>
            <a:r>
              <a:rPr lang="en-IN" dirty="0" smtClean="0"/>
              <a:t> from T2 will be needed</a:t>
            </a:r>
          </a:p>
          <a:p>
            <a:r>
              <a:rPr lang="en-IN" dirty="0" smtClean="0"/>
              <a:t>T1 may fit within 3 buffer pages</a:t>
            </a:r>
          </a:p>
          <a:p>
            <a:r>
              <a:rPr lang="en-IN" dirty="0" smtClean="0"/>
              <a:t>1 scan of T2 will be needed</a:t>
            </a:r>
          </a:p>
          <a:p>
            <a:r>
              <a:rPr lang="en-IN" dirty="0" smtClean="0"/>
              <a:t>Total cost = 1760 + 250 = 2010 I/Os </a:t>
            </a:r>
            <a:endParaRPr lang="en-IN" dirty="0"/>
          </a:p>
        </p:txBody>
      </p:sp>
      <p:sp>
        <p:nvSpPr>
          <p:cNvPr id="4" name="Slide Number Placeholder 3"/>
          <p:cNvSpPr>
            <a:spLocks noGrp="1"/>
          </p:cNvSpPr>
          <p:nvPr>
            <p:ph type="sldNum" sz="quarter" idx="12"/>
          </p:nvPr>
        </p:nvSpPr>
        <p:spPr/>
        <p:txBody>
          <a:bodyPr/>
          <a:lstStyle/>
          <a:p>
            <a:fld id="{49155C66-EA02-4C64-A9CC-743997C7925E}" type="slidenum">
              <a:rPr lang="en-IN" smtClean="0"/>
              <a:pPr/>
              <a:t>48</a:t>
            </a:fld>
            <a:endParaRPr lang="en-IN"/>
          </a:p>
        </p:txBody>
      </p:sp>
      <p:sp>
        <p:nvSpPr>
          <p:cNvPr id="5" name="Footer Placeholder 4"/>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solidFill>
                  <a:srgbClr val="C00000"/>
                </a:solidFill>
              </a:rPr>
              <a:t>Alternate plans</a:t>
            </a:r>
            <a:endParaRPr lang="en-IN" dirty="0">
              <a:solidFill>
                <a:srgbClr val="C00000"/>
              </a:solidFill>
            </a:endParaRPr>
          </a:p>
        </p:txBody>
      </p:sp>
      <p:pic>
        <p:nvPicPr>
          <p:cNvPr id="21506" name="Picture 2"/>
          <p:cNvPicPr>
            <a:picLocks noGrp="1" noChangeAspect="1" noChangeArrowheads="1"/>
          </p:cNvPicPr>
          <p:nvPr>
            <p:ph idx="1"/>
          </p:nvPr>
        </p:nvPicPr>
        <p:blipFill>
          <a:blip r:embed="rId2"/>
          <a:srcRect/>
          <a:stretch>
            <a:fillRect/>
          </a:stretch>
        </p:blipFill>
        <p:spPr bwMode="auto">
          <a:xfrm>
            <a:off x="1142976" y="1214422"/>
            <a:ext cx="6072230" cy="3714776"/>
          </a:xfrm>
          <a:prstGeom prst="rect">
            <a:avLst/>
          </a:prstGeom>
          <a:noFill/>
          <a:ln w="9525">
            <a:noFill/>
            <a:miter lim="800000"/>
            <a:headEnd/>
            <a:tailEnd/>
          </a:ln>
          <a:effectLst/>
        </p:spPr>
      </p:pic>
      <p:sp>
        <p:nvSpPr>
          <p:cNvPr id="5" name="TextBox 4"/>
          <p:cNvSpPr txBox="1"/>
          <p:nvPr/>
        </p:nvSpPr>
        <p:spPr>
          <a:xfrm>
            <a:off x="857224" y="5072074"/>
            <a:ext cx="7000924" cy="1200329"/>
          </a:xfrm>
          <a:prstGeom prst="rect">
            <a:avLst/>
          </a:prstGeom>
          <a:noFill/>
        </p:spPr>
        <p:txBody>
          <a:bodyPr wrap="square" rtlCol="0">
            <a:spAutoFit/>
          </a:bodyPr>
          <a:lstStyle/>
          <a:p>
            <a:pPr algn="just"/>
            <a:r>
              <a:rPr lang="en-IN" dirty="0" smtClean="0">
                <a:solidFill>
                  <a:srgbClr val="C00000"/>
                </a:solidFill>
              </a:rPr>
              <a:t>Clustered static hash index on bid, hash index on </a:t>
            </a:r>
            <a:r>
              <a:rPr lang="en-IN" dirty="0" err="1" smtClean="0">
                <a:solidFill>
                  <a:srgbClr val="C00000"/>
                </a:solidFill>
              </a:rPr>
              <a:t>sid</a:t>
            </a:r>
            <a:r>
              <a:rPr lang="en-IN" dirty="0" smtClean="0">
                <a:solidFill>
                  <a:srgbClr val="C00000"/>
                </a:solidFill>
              </a:rPr>
              <a:t>, to locate the selection 10 I/O needed as we </a:t>
            </a:r>
            <a:r>
              <a:rPr lang="en-IN" dirty="0" err="1" smtClean="0">
                <a:solidFill>
                  <a:srgbClr val="C00000"/>
                </a:solidFill>
              </a:rPr>
              <a:t>asume</a:t>
            </a:r>
            <a:r>
              <a:rPr lang="en-IN" dirty="0" smtClean="0">
                <a:solidFill>
                  <a:srgbClr val="C00000"/>
                </a:solidFill>
              </a:rPr>
              <a:t> there are 100 boats thus on an average each boat have 10 reservations, standard selection for hash index will be 1.2 Thus total cost = 10 + 1000 * 1.2 = 1210 I/O </a:t>
            </a:r>
            <a:endParaRPr lang="en-IN" dirty="0">
              <a:solidFill>
                <a:srgbClr val="C00000"/>
              </a:solidFill>
            </a:endParaRPr>
          </a:p>
        </p:txBody>
      </p:sp>
      <p:sp>
        <p:nvSpPr>
          <p:cNvPr id="6" name="Slide Number Placeholder 5"/>
          <p:cNvSpPr>
            <a:spLocks noGrp="1"/>
          </p:cNvSpPr>
          <p:nvPr>
            <p:ph type="sldNum" sz="quarter" idx="12"/>
          </p:nvPr>
        </p:nvSpPr>
        <p:spPr/>
        <p:txBody>
          <a:bodyPr/>
          <a:lstStyle/>
          <a:p>
            <a:fld id="{49155C66-EA02-4C64-A9CC-743997C7925E}" type="slidenum">
              <a:rPr lang="en-IN" smtClean="0"/>
              <a:pPr/>
              <a:t>49</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solidFill>
                  <a:srgbClr val="C00000"/>
                </a:solidFill>
              </a:rPr>
              <a:t>Alternative Plans</a:t>
            </a:r>
            <a:endParaRPr lang="en-IN" dirty="0">
              <a:solidFill>
                <a:srgbClr val="C00000"/>
              </a:solidFill>
            </a:endParaRPr>
          </a:p>
        </p:txBody>
      </p:sp>
      <p:pic>
        <p:nvPicPr>
          <p:cNvPr id="22530" name="Picture 2"/>
          <p:cNvPicPr>
            <a:picLocks noGrp="1" noChangeAspect="1" noChangeArrowheads="1"/>
          </p:cNvPicPr>
          <p:nvPr>
            <p:ph idx="1"/>
          </p:nvPr>
        </p:nvPicPr>
        <p:blipFill>
          <a:blip r:embed="rId2"/>
          <a:srcRect/>
          <a:stretch>
            <a:fillRect/>
          </a:stretch>
        </p:blipFill>
        <p:spPr bwMode="auto">
          <a:xfrm>
            <a:off x="785786" y="1643050"/>
            <a:ext cx="5786478" cy="3385356"/>
          </a:xfrm>
          <a:prstGeom prst="rect">
            <a:avLst/>
          </a:prstGeom>
          <a:noFill/>
          <a:ln w="9525">
            <a:noFill/>
            <a:miter lim="800000"/>
            <a:headEnd/>
            <a:tailEnd/>
          </a:ln>
          <a:effectLst/>
        </p:spPr>
      </p:pic>
      <p:sp>
        <p:nvSpPr>
          <p:cNvPr id="5" name="TextBox 4"/>
          <p:cNvSpPr txBox="1"/>
          <p:nvPr/>
        </p:nvSpPr>
        <p:spPr>
          <a:xfrm>
            <a:off x="1214414" y="5357826"/>
            <a:ext cx="7143800" cy="646331"/>
          </a:xfrm>
          <a:prstGeom prst="rect">
            <a:avLst/>
          </a:prstGeom>
          <a:noFill/>
        </p:spPr>
        <p:txBody>
          <a:bodyPr wrap="square" rtlCol="0">
            <a:spAutoFit/>
          </a:bodyPr>
          <a:lstStyle/>
          <a:p>
            <a:r>
              <a:rPr lang="en-IN" dirty="0" smtClean="0"/>
              <a:t>The clever use of pushing selection &amp; Indexing made the join trivial. Cost = 10 + 1.2 = 11.2 I/Os</a:t>
            </a:r>
            <a:endParaRPr lang="en-IN" dirty="0"/>
          </a:p>
        </p:txBody>
      </p:sp>
      <p:sp>
        <p:nvSpPr>
          <p:cNvPr id="6" name="Slide Number Placeholder 5"/>
          <p:cNvSpPr>
            <a:spLocks noGrp="1"/>
          </p:cNvSpPr>
          <p:nvPr>
            <p:ph type="sldNum" sz="quarter" idx="12"/>
          </p:nvPr>
        </p:nvSpPr>
        <p:spPr/>
        <p:txBody>
          <a:bodyPr/>
          <a:lstStyle/>
          <a:p>
            <a:fld id="{49155C66-EA02-4C64-A9CC-743997C7925E}" type="slidenum">
              <a:rPr lang="en-IN" smtClean="0"/>
              <a:pPr/>
              <a:t>50</a:t>
            </a:fld>
            <a:endParaRPr lang="en-IN"/>
          </a:p>
        </p:txBody>
      </p:sp>
      <p:sp>
        <p:nvSpPr>
          <p:cNvPr id="7" name="Footer Placeholder 6"/>
          <p:cNvSpPr>
            <a:spLocks noGrp="1"/>
          </p:cNvSpPr>
          <p:nvPr>
            <p:ph type="ftr" sz="quarter" idx="11"/>
          </p:nvPr>
        </p:nvSpPr>
        <p:spPr/>
        <p:txBody>
          <a:bodyPr/>
          <a:lstStyle/>
          <a:p>
            <a:r>
              <a:rPr lang="en-IN" smtClean="0"/>
              <a:t>sankhayan@gmail.com</a:t>
            </a:r>
            <a:endParaRPr lang="en-I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pPr algn="l"/>
            <a:r>
              <a:rPr lang="en-IN" dirty="0" smtClean="0"/>
              <a:t>Physical Database Tuning </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IN" dirty="0" smtClean="0">
                <a:latin typeface="Times New Roman" pitchFamily="18" charset="0"/>
                <a:cs typeface="Times New Roman" pitchFamily="18" charset="0"/>
              </a:rPr>
              <a:t>Depends on Database Workloads</a:t>
            </a:r>
          </a:p>
          <a:p>
            <a:pPr lvl="1" algn="just"/>
            <a:r>
              <a:rPr lang="en-IN" dirty="0" smtClean="0">
                <a:solidFill>
                  <a:srgbClr val="C00000"/>
                </a:solidFill>
                <a:latin typeface="Times New Roman" pitchFamily="18" charset="0"/>
                <a:cs typeface="Times New Roman" pitchFamily="18" charset="0"/>
              </a:rPr>
              <a:t>A list of queries and their frequencies, as a ratio of all queries and updates. </a:t>
            </a:r>
            <a:r>
              <a:rPr lang="en-IN" dirty="0" smtClean="0">
                <a:latin typeface="Times New Roman" pitchFamily="18" charset="0"/>
                <a:cs typeface="Times New Roman" pitchFamily="18" charset="0"/>
              </a:rPr>
              <a:t>(Which relations are accessed; Which attributes are retained (in the SELECT clause);Which attributes have selection or join conditions expressed on them (in the WHERE clause) and how selective these conditions are likely to be</a:t>
            </a:r>
          </a:p>
          <a:p>
            <a:pPr lvl="1" algn="just"/>
            <a:r>
              <a:rPr lang="en-IN" dirty="0" smtClean="0">
                <a:latin typeface="Times New Roman" pitchFamily="18" charset="0"/>
                <a:cs typeface="Times New Roman" pitchFamily="18" charset="0"/>
              </a:rPr>
              <a:t> </a:t>
            </a:r>
            <a:r>
              <a:rPr lang="en-IN" dirty="0" smtClean="0">
                <a:solidFill>
                  <a:srgbClr val="C00000"/>
                </a:solidFill>
                <a:latin typeface="Times New Roman" pitchFamily="18" charset="0"/>
                <a:cs typeface="Times New Roman" pitchFamily="18" charset="0"/>
              </a:rPr>
              <a:t>A list of updates and their frequencies</a:t>
            </a:r>
            <a:r>
              <a:rPr lang="en-IN" dirty="0" smtClean="0">
                <a:latin typeface="Times New Roman" pitchFamily="18" charset="0"/>
                <a:cs typeface="Times New Roman" pitchFamily="18" charset="0"/>
              </a:rPr>
              <a:t>. (The type of update (INSERT, DELETE, or UPDATE) and the updated relation. For UPDATE commands, the fields that are modified by the update)</a:t>
            </a:r>
          </a:p>
          <a:p>
            <a:pPr lvl="1" algn="just"/>
            <a:r>
              <a:rPr lang="en-IN" dirty="0" smtClean="0">
                <a:latin typeface="Times New Roman" pitchFamily="18" charset="0"/>
                <a:cs typeface="Times New Roman" pitchFamily="18" charset="0"/>
              </a:rPr>
              <a:t> </a:t>
            </a:r>
            <a:r>
              <a:rPr lang="en-IN" dirty="0" smtClean="0">
                <a:solidFill>
                  <a:srgbClr val="C00000"/>
                </a:solidFill>
                <a:latin typeface="Times New Roman" pitchFamily="18" charset="0"/>
                <a:cs typeface="Times New Roman" pitchFamily="18" charset="0"/>
              </a:rPr>
              <a:t>Performance goals for each type of query and update</a:t>
            </a:r>
            <a:endParaRPr lang="en-IN" dirty="0">
              <a:solidFill>
                <a:srgbClr val="C0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51</a:t>
            </a:fld>
            <a:endParaRPr lang="en-I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t>Tuning Decisions</a:t>
            </a:r>
            <a:endParaRPr lang="en-IN" dirty="0"/>
          </a:p>
        </p:txBody>
      </p:sp>
      <p:sp>
        <p:nvSpPr>
          <p:cNvPr id="3" name="Content Placeholder 2"/>
          <p:cNvSpPr>
            <a:spLocks noGrp="1"/>
          </p:cNvSpPr>
          <p:nvPr>
            <p:ph idx="1"/>
          </p:nvPr>
        </p:nvSpPr>
        <p:spPr>
          <a:xfrm>
            <a:off x="457200" y="1071546"/>
            <a:ext cx="8229600" cy="5286412"/>
          </a:xfrm>
        </p:spPr>
        <p:txBody>
          <a:bodyPr>
            <a:normAutofit fontScale="92500" lnSpcReduction="10000"/>
          </a:bodyPr>
          <a:lstStyle/>
          <a:p>
            <a:r>
              <a:rPr lang="en-IN" dirty="0" smtClean="0">
                <a:solidFill>
                  <a:srgbClr val="C00000"/>
                </a:solidFill>
              </a:rPr>
              <a:t>Which indexes to create?</a:t>
            </a:r>
          </a:p>
          <a:p>
            <a:pPr lvl="1" algn="just"/>
            <a:r>
              <a:rPr lang="en-IN" dirty="0" smtClean="0"/>
              <a:t> Which relations to index and which field or combination of fields to choose as index search keys. </a:t>
            </a:r>
          </a:p>
          <a:p>
            <a:pPr lvl="1" algn="just"/>
            <a:r>
              <a:rPr lang="en-IN" dirty="0" smtClean="0"/>
              <a:t>For each index, should it be clustered or </a:t>
            </a:r>
            <a:r>
              <a:rPr lang="en-IN" dirty="0" err="1" smtClean="0"/>
              <a:t>unclustered</a:t>
            </a:r>
            <a:r>
              <a:rPr lang="en-IN" dirty="0" smtClean="0"/>
              <a:t>? 	</a:t>
            </a:r>
          </a:p>
          <a:p>
            <a:pPr algn="just"/>
            <a:r>
              <a:rPr lang="en-IN" dirty="0" smtClean="0">
                <a:solidFill>
                  <a:srgbClr val="C00000"/>
                </a:solidFill>
              </a:rPr>
              <a:t>Whether we should make changes to the conceptual schema in order to enhance performance?</a:t>
            </a:r>
          </a:p>
          <a:p>
            <a:pPr lvl="1" algn="just"/>
            <a:r>
              <a:rPr lang="en-IN" dirty="0" smtClean="0"/>
              <a:t>Alternative conceptual Schema, De-normalization, Vertical partitioning, Views</a:t>
            </a:r>
          </a:p>
          <a:p>
            <a:pPr algn="just"/>
            <a:r>
              <a:rPr lang="en-IN" dirty="0" smtClean="0">
                <a:solidFill>
                  <a:srgbClr val="C00000"/>
                </a:solidFill>
              </a:rPr>
              <a:t>Frequently executed queries and transactions might be re-written to run faster</a:t>
            </a:r>
          </a:p>
          <a:p>
            <a:pPr lvl="1" algn="just"/>
            <a:endParaRPr lang="en-IN" dirty="0" smtClean="0"/>
          </a:p>
        </p:txBody>
      </p:sp>
      <p:sp>
        <p:nvSpPr>
          <p:cNvPr id="4" name="Footer Placeholder 3"/>
          <p:cNvSpPr>
            <a:spLocks noGrp="1"/>
          </p:cNvSpPr>
          <p:nvPr>
            <p:ph type="ftr" sz="quarter" idx="11"/>
          </p:nvPr>
        </p:nvSpPr>
        <p:spPr/>
        <p:txBody>
          <a:bodyPr/>
          <a:lstStyle/>
          <a:p>
            <a:r>
              <a:rPr lang="en-IN" dirty="0" smtClean="0"/>
              <a:t>sankhayan@gmail.com</a:t>
            </a:r>
            <a:endParaRPr lang="en-IN" dirty="0"/>
          </a:p>
        </p:txBody>
      </p:sp>
      <p:sp>
        <p:nvSpPr>
          <p:cNvPr id="5" name="Slide Number Placeholder 4"/>
          <p:cNvSpPr>
            <a:spLocks noGrp="1"/>
          </p:cNvSpPr>
          <p:nvPr>
            <p:ph type="sldNum" sz="quarter" idx="12"/>
          </p:nvPr>
        </p:nvSpPr>
        <p:spPr/>
        <p:txBody>
          <a:bodyPr/>
          <a:lstStyle/>
          <a:p>
            <a:fld id="{49155C66-EA02-4C64-A9CC-743997C7925E}" type="slidenum">
              <a:rPr lang="en-IN" smtClean="0"/>
              <a:pPr/>
              <a:t>52</a:t>
            </a:fld>
            <a:endParaRPr lang="en-IN"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t>Index Selection Guideline</a:t>
            </a:r>
            <a:endParaRPr lang="en-IN" dirty="0"/>
          </a:p>
        </p:txBody>
      </p:sp>
      <p:sp>
        <p:nvSpPr>
          <p:cNvPr id="3" name="Content Placeholder 2"/>
          <p:cNvSpPr>
            <a:spLocks noGrp="1"/>
          </p:cNvSpPr>
          <p:nvPr>
            <p:ph idx="1"/>
          </p:nvPr>
        </p:nvSpPr>
        <p:spPr>
          <a:xfrm>
            <a:off x="457200" y="1142984"/>
            <a:ext cx="8229600" cy="5286412"/>
          </a:xfrm>
        </p:spPr>
        <p:txBody>
          <a:bodyPr>
            <a:normAutofit/>
          </a:bodyPr>
          <a:lstStyle/>
          <a:p>
            <a:pPr algn="just"/>
            <a:r>
              <a:rPr lang="en-IN" sz="2600" dirty="0" smtClean="0">
                <a:solidFill>
                  <a:srgbClr val="C00000"/>
                </a:solidFill>
              </a:rPr>
              <a:t>Don’t build an index unless some query—including the query components of updates— will benefit from it</a:t>
            </a:r>
            <a:r>
              <a:rPr lang="en-IN" sz="2600" dirty="0" smtClean="0"/>
              <a:t>. Whenever possible, choose indexes that speed up more than one query.</a:t>
            </a:r>
          </a:p>
          <a:p>
            <a:pPr algn="just"/>
            <a:r>
              <a:rPr lang="en-IN" sz="2600" dirty="0" smtClean="0">
                <a:solidFill>
                  <a:srgbClr val="C00000"/>
                </a:solidFill>
              </a:rPr>
              <a:t>Attributes mentioned in a WHERE clause are candidates for indexing</a:t>
            </a:r>
          </a:p>
          <a:p>
            <a:pPr lvl="1" algn="just"/>
            <a:r>
              <a:rPr lang="en-IN" sz="2200" dirty="0" smtClean="0"/>
              <a:t>An exact-match selection condition suggests that we should consider an index on the selected attributes, ideally, a hash index.</a:t>
            </a:r>
          </a:p>
          <a:p>
            <a:pPr lvl="1" algn="just"/>
            <a:r>
              <a:rPr lang="en-IN" sz="2200" dirty="0" smtClean="0"/>
              <a:t>A range selection condition suggests that we should consider a B+ tree (or ISAM) index on the selected attributes</a:t>
            </a:r>
            <a:endParaRPr lang="en-IN" sz="2200" dirty="0"/>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53</a:t>
            </a:fld>
            <a:endParaRPr lang="en-I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t>Index Selection Guideline</a:t>
            </a:r>
            <a:endParaRPr lang="en-IN" dirty="0"/>
          </a:p>
        </p:txBody>
      </p:sp>
      <p:sp>
        <p:nvSpPr>
          <p:cNvPr id="3" name="Content Placeholder 2"/>
          <p:cNvSpPr>
            <a:spLocks noGrp="1"/>
          </p:cNvSpPr>
          <p:nvPr>
            <p:ph idx="1"/>
          </p:nvPr>
        </p:nvSpPr>
        <p:spPr>
          <a:xfrm>
            <a:off x="457200" y="1000108"/>
            <a:ext cx="8229600" cy="5357850"/>
          </a:xfrm>
        </p:spPr>
        <p:txBody>
          <a:bodyPr>
            <a:normAutofit fontScale="92500"/>
          </a:bodyPr>
          <a:lstStyle/>
          <a:p>
            <a:r>
              <a:rPr lang="en-IN" sz="2400" dirty="0" smtClean="0">
                <a:solidFill>
                  <a:srgbClr val="C00000"/>
                </a:solidFill>
              </a:rPr>
              <a:t>Multiple-attribute search keys: </a:t>
            </a:r>
          </a:p>
          <a:p>
            <a:pPr lvl="1" algn="just"/>
            <a:r>
              <a:rPr lang="en-IN" sz="2400" dirty="0" smtClean="0"/>
              <a:t>A WHERE clause includes conditions on more than one attribute of a relation</a:t>
            </a:r>
          </a:p>
          <a:p>
            <a:pPr lvl="1" algn="just"/>
            <a:r>
              <a:rPr lang="en-IN" sz="2400" dirty="0" smtClean="0"/>
              <a:t>They enable index-only evaluation strategies (i.e., accessing the relation can be avoided) for important queries. </a:t>
            </a:r>
          </a:p>
          <a:p>
            <a:pPr algn="just"/>
            <a:r>
              <a:rPr lang="en-IN" sz="2400" dirty="0" smtClean="0">
                <a:solidFill>
                  <a:srgbClr val="C00000"/>
                </a:solidFill>
              </a:rPr>
              <a:t>Whether to cluster</a:t>
            </a:r>
            <a:r>
              <a:rPr lang="en-IN" sz="2400" dirty="0" smtClean="0"/>
              <a:t>? At most one index on a given relation can be clustered, and clustering affects performance greatly; so the choice of clustered index is important</a:t>
            </a:r>
          </a:p>
          <a:p>
            <a:pPr lvl="1" algn="just"/>
            <a:r>
              <a:rPr lang="en-IN" sz="2400" dirty="0" smtClean="0"/>
              <a:t>range queries are likely to benefit the most from clustering. </a:t>
            </a:r>
          </a:p>
          <a:p>
            <a:pPr lvl="1" algn="just"/>
            <a:r>
              <a:rPr lang="en-IN" sz="2400" dirty="0" smtClean="0"/>
              <a:t>If an index enables an </a:t>
            </a:r>
            <a:r>
              <a:rPr lang="en-IN" sz="2400" dirty="0" smtClean="0">
                <a:solidFill>
                  <a:srgbClr val="C00000"/>
                </a:solidFill>
              </a:rPr>
              <a:t>index-only evaluation strategy </a:t>
            </a:r>
            <a:r>
              <a:rPr lang="en-IN" sz="2400" dirty="0" smtClean="0"/>
              <a:t>for the query it is intended to speed up, the index need not be clustered. Clustering matters only when the index is used to retrieve tuples from the underlying relation.</a:t>
            </a:r>
          </a:p>
          <a:p>
            <a:pPr lvl="1" algn="just"/>
            <a:endParaRPr lang="en-IN" sz="2200" dirty="0" smtClean="0"/>
          </a:p>
          <a:p>
            <a:pPr lvl="1" algn="just"/>
            <a:endParaRPr lang="en-IN" sz="2200" dirty="0"/>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54</a:t>
            </a:fld>
            <a:endParaRPr lang="en-I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t>Index Selection Guideline</a:t>
            </a:r>
            <a:endParaRPr lang="en-IN" dirty="0"/>
          </a:p>
        </p:txBody>
      </p:sp>
      <p:sp>
        <p:nvSpPr>
          <p:cNvPr id="3" name="Content Placeholder 2"/>
          <p:cNvSpPr>
            <a:spLocks noGrp="1"/>
          </p:cNvSpPr>
          <p:nvPr>
            <p:ph idx="1"/>
          </p:nvPr>
        </p:nvSpPr>
        <p:spPr>
          <a:xfrm>
            <a:off x="457200" y="1142984"/>
            <a:ext cx="8229600" cy="4983179"/>
          </a:xfrm>
        </p:spPr>
        <p:txBody>
          <a:bodyPr>
            <a:normAutofit/>
          </a:bodyPr>
          <a:lstStyle/>
          <a:p>
            <a:r>
              <a:rPr lang="en-IN" sz="2600" dirty="0" smtClean="0">
                <a:solidFill>
                  <a:srgbClr val="C00000"/>
                </a:solidFill>
              </a:rPr>
              <a:t>Balancing the cost of index maintenance</a:t>
            </a:r>
          </a:p>
          <a:p>
            <a:pPr lvl="1" algn="just"/>
            <a:r>
              <a:rPr lang="en-IN" sz="2400" dirty="0" smtClean="0"/>
              <a:t>If maintaining an index slows down frequent update operations, consider dropping the index. </a:t>
            </a:r>
          </a:p>
          <a:p>
            <a:pPr lvl="1" algn="just"/>
            <a:r>
              <a:rPr lang="en-IN" sz="2400" dirty="0" smtClean="0"/>
              <a:t>Adding an index may well speed up a given update operation. For example, an index on employee ids could speed up the operation of increasing the salary of a given employee (specified by id)</a:t>
            </a:r>
            <a:endParaRPr lang="en-IN" sz="2200" dirty="0"/>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55</a:t>
            </a:fld>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pPr algn="l"/>
            <a:r>
              <a:rPr lang="en-IN" dirty="0" smtClean="0"/>
              <a:t>Index Selection Guideline</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solidFill>
                  <a:srgbClr val="C00000"/>
                </a:solidFill>
              </a:rPr>
              <a:t>Hash versus tree index</a:t>
            </a:r>
          </a:p>
          <a:p>
            <a:pPr lvl="1" algn="just"/>
            <a:r>
              <a:rPr lang="en-IN" dirty="0" smtClean="0"/>
              <a:t>A B+ tree index is usually preferable because it supports range queries as well as equality queries.</a:t>
            </a:r>
          </a:p>
          <a:p>
            <a:pPr lvl="1" algn="just"/>
            <a:r>
              <a:rPr lang="en-IN" dirty="0" smtClean="0"/>
              <a:t> A hash index is better in the following situations: </a:t>
            </a:r>
          </a:p>
          <a:p>
            <a:pPr lvl="2" algn="just"/>
            <a:r>
              <a:rPr lang="en-IN" dirty="0" smtClean="0"/>
              <a:t>The index is intended to support index nested loops join; the indexed relation is the inner relation, and the search key includes the join columns. In this case, the slight improvement of a hash index over a B+ tree for equality selections is magnified, because an equality selection is generated for each tuple in the outer relation. </a:t>
            </a:r>
          </a:p>
          <a:p>
            <a:pPr lvl="1" algn="just"/>
            <a:r>
              <a:rPr lang="en-IN" dirty="0" smtClean="0"/>
              <a:t>There is a very important equality query, and there are no range queries, involving the search key attributes</a:t>
            </a:r>
            <a:endParaRPr lang="en-IN" dirty="0" smtClean="0">
              <a:solidFill>
                <a:srgbClr val="C00000"/>
              </a:solidFill>
            </a:endParaRPr>
          </a:p>
          <a:p>
            <a:pPr lvl="1"/>
            <a:endParaRPr lang="en-IN" dirty="0">
              <a:solidFill>
                <a:srgbClr val="C00000"/>
              </a:solidFill>
            </a:endParaRPr>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56</a:t>
            </a:fld>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t>Example </a:t>
            </a:r>
            <a:endParaRPr lang="en-IN" dirty="0"/>
          </a:p>
        </p:txBody>
      </p:sp>
      <p:sp>
        <p:nvSpPr>
          <p:cNvPr id="3" name="Content Placeholder 2"/>
          <p:cNvSpPr>
            <a:spLocks noGrp="1"/>
          </p:cNvSpPr>
          <p:nvPr>
            <p:ph idx="1"/>
          </p:nvPr>
        </p:nvSpPr>
        <p:spPr>
          <a:xfrm>
            <a:off x="457200" y="1071546"/>
            <a:ext cx="8229600" cy="5054617"/>
          </a:xfrm>
        </p:spPr>
        <p:txBody>
          <a:bodyPr/>
          <a:lstStyle/>
          <a:p>
            <a:r>
              <a:rPr lang="en-IN" dirty="0" smtClean="0"/>
              <a:t>SELECT </a:t>
            </a:r>
            <a:r>
              <a:rPr lang="en-IN" dirty="0" err="1" smtClean="0"/>
              <a:t>E.ename</a:t>
            </a:r>
            <a:r>
              <a:rPr lang="en-IN" dirty="0" smtClean="0"/>
              <a:t>, D.mgr </a:t>
            </a:r>
          </a:p>
          <a:p>
            <a:pPr>
              <a:buNone/>
            </a:pPr>
            <a:r>
              <a:rPr lang="en-IN" dirty="0" smtClean="0"/>
              <a:t>	FROM Employees E, Departments D </a:t>
            </a:r>
          </a:p>
          <a:p>
            <a:pPr>
              <a:buNone/>
            </a:pPr>
            <a:r>
              <a:rPr lang="en-IN" dirty="0" smtClean="0"/>
              <a:t>	WHERE </a:t>
            </a:r>
            <a:r>
              <a:rPr lang="en-IN" dirty="0" err="1" smtClean="0"/>
              <a:t>D.dname</a:t>
            </a:r>
            <a:r>
              <a:rPr lang="en-IN" dirty="0" smtClean="0"/>
              <a:t>=‘Toy’ AND E.dno=D.dno</a:t>
            </a:r>
          </a:p>
          <a:p>
            <a:pPr algn="just">
              <a:buNone/>
            </a:pPr>
            <a:r>
              <a:rPr lang="en-IN" sz="2600" dirty="0" smtClean="0"/>
              <a:t>	First predicate checks an equality condition; </a:t>
            </a:r>
          </a:p>
          <a:p>
            <a:pPr algn="just">
              <a:buNone/>
            </a:pPr>
            <a:r>
              <a:rPr lang="en-IN" sz="2600" dirty="0" smtClean="0"/>
              <a:t>	</a:t>
            </a:r>
            <a:r>
              <a:rPr lang="en-IN" sz="2600" dirty="0" smtClean="0">
                <a:solidFill>
                  <a:srgbClr val="C00000"/>
                </a:solidFill>
              </a:rPr>
              <a:t>Hash based index should be maintained on </a:t>
            </a:r>
            <a:r>
              <a:rPr lang="en-IN" sz="2600" dirty="0" err="1" smtClean="0">
                <a:solidFill>
                  <a:srgbClr val="C00000"/>
                </a:solidFill>
              </a:rPr>
              <a:t>dname</a:t>
            </a:r>
            <a:r>
              <a:rPr lang="en-IN" sz="2600" dirty="0" smtClean="0">
                <a:solidFill>
                  <a:srgbClr val="C00000"/>
                </a:solidFill>
              </a:rPr>
              <a:t> within Department relation</a:t>
            </a:r>
          </a:p>
          <a:p>
            <a:pPr algn="just">
              <a:buNone/>
            </a:pPr>
            <a:r>
              <a:rPr lang="en-IN" sz="2600" dirty="0" smtClean="0"/>
              <a:t>	For each qualifying Departments tuple, we find matching Employees tuples by using an index on the </a:t>
            </a:r>
            <a:r>
              <a:rPr lang="en-IN" sz="2600" dirty="0" err="1" smtClean="0"/>
              <a:t>dno</a:t>
            </a:r>
            <a:r>
              <a:rPr lang="en-IN" sz="2600" dirty="0" smtClean="0"/>
              <a:t> attribute of Employees. Thus, we should </a:t>
            </a:r>
            <a:r>
              <a:rPr lang="en-IN" sz="2600" dirty="0" smtClean="0">
                <a:solidFill>
                  <a:srgbClr val="C00000"/>
                </a:solidFill>
              </a:rPr>
              <a:t>build an index on the </a:t>
            </a:r>
            <a:r>
              <a:rPr lang="en-IN" sz="2600" dirty="0" err="1" smtClean="0">
                <a:solidFill>
                  <a:srgbClr val="C00000"/>
                </a:solidFill>
              </a:rPr>
              <a:t>dno</a:t>
            </a:r>
            <a:r>
              <a:rPr lang="en-IN" sz="2600" dirty="0" smtClean="0">
                <a:solidFill>
                  <a:srgbClr val="C00000"/>
                </a:solidFill>
              </a:rPr>
              <a:t> field of Employees</a:t>
            </a:r>
            <a:endParaRPr lang="en-IN" sz="2600" dirty="0">
              <a:solidFill>
                <a:srgbClr val="C00000"/>
              </a:solidFill>
            </a:endParaRPr>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57</a:t>
            </a:fld>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t>Example</a:t>
            </a:r>
            <a:endParaRPr lang="en-IN" dirty="0"/>
          </a:p>
        </p:txBody>
      </p:sp>
      <p:sp>
        <p:nvSpPr>
          <p:cNvPr id="3" name="Content Placeholder 2"/>
          <p:cNvSpPr>
            <a:spLocks noGrp="1"/>
          </p:cNvSpPr>
          <p:nvPr>
            <p:ph idx="1"/>
          </p:nvPr>
        </p:nvSpPr>
        <p:spPr>
          <a:xfrm>
            <a:off x="457200" y="1214422"/>
            <a:ext cx="8229600" cy="4911741"/>
          </a:xfrm>
        </p:spPr>
        <p:txBody>
          <a:bodyPr>
            <a:normAutofit fontScale="92500" lnSpcReduction="10000"/>
          </a:bodyPr>
          <a:lstStyle/>
          <a:p>
            <a:r>
              <a:rPr lang="en-IN" sz="2400" dirty="0" smtClean="0"/>
              <a:t>SELECT </a:t>
            </a:r>
            <a:r>
              <a:rPr lang="en-IN" sz="2400" dirty="0" err="1" smtClean="0"/>
              <a:t>E.ename</a:t>
            </a:r>
            <a:r>
              <a:rPr lang="en-IN" sz="2400" dirty="0" smtClean="0"/>
              <a:t>, D.mgr </a:t>
            </a:r>
          </a:p>
          <a:p>
            <a:pPr>
              <a:buNone/>
            </a:pPr>
            <a:r>
              <a:rPr lang="en-IN" sz="2400" dirty="0" smtClean="0"/>
              <a:t>	FROM Employees E, Departments D </a:t>
            </a:r>
          </a:p>
          <a:p>
            <a:pPr>
              <a:buNone/>
            </a:pPr>
            <a:r>
              <a:rPr lang="en-IN" sz="2400" dirty="0" smtClean="0"/>
              <a:t>	WHERE </a:t>
            </a:r>
            <a:r>
              <a:rPr lang="en-IN" sz="2400" dirty="0" err="1" smtClean="0"/>
              <a:t>D.dname</a:t>
            </a:r>
            <a:r>
              <a:rPr lang="en-IN" sz="2400" dirty="0" smtClean="0"/>
              <a:t>=‘Toy’ AND E.dno=D.dno AND </a:t>
            </a:r>
            <a:r>
              <a:rPr lang="en-IN" sz="2400" dirty="0" err="1" smtClean="0"/>
              <a:t>E.age</a:t>
            </a:r>
            <a:r>
              <a:rPr lang="en-IN" sz="2400" dirty="0" smtClean="0"/>
              <a:t> = 25</a:t>
            </a:r>
          </a:p>
          <a:p>
            <a:pPr algn="just"/>
            <a:r>
              <a:rPr lang="en-IN" sz="2400" dirty="0" smtClean="0"/>
              <a:t>plan is to retrieve Departments tuples that satisfy the selection on </a:t>
            </a:r>
            <a:r>
              <a:rPr lang="en-IN" sz="2400" dirty="0" err="1" smtClean="0"/>
              <a:t>dname</a:t>
            </a:r>
            <a:r>
              <a:rPr lang="en-IN" sz="2400" dirty="0" smtClean="0"/>
              <a:t> and to retrieve matching Employees tuples by using an index on the </a:t>
            </a:r>
            <a:r>
              <a:rPr lang="en-IN" sz="2400" dirty="0" err="1" smtClean="0"/>
              <a:t>dno</a:t>
            </a:r>
            <a:r>
              <a:rPr lang="en-IN" sz="2400" dirty="0" smtClean="0"/>
              <a:t> field; the selection on age is then applied on-the-fly.</a:t>
            </a:r>
          </a:p>
          <a:p>
            <a:pPr algn="just"/>
            <a:r>
              <a:rPr lang="en-IN" sz="2400" dirty="0" smtClean="0"/>
              <a:t>Alternative (assuming there is an index on age for Employee):  we can retrieve Departments tuples that satisfy the selection on </a:t>
            </a:r>
            <a:r>
              <a:rPr lang="en-IN" sz="2400" dirty="0" err="1" smtClean="0"/>
              <a:t>dname</a:t>
            </a:r>
            <a:r>
              <a:rPr lang="en-IN" sz="2400" dirty="0" smtClean="0"/>
              <a:t> (by using the index on </a:t>
            </a:r>
            <a:r>
              <a:rPr lang="en-IN" sz="2400" dirty="0" err="1" smtClean="0"/>
              <a:t>dname</a:t>
            </a:r>
            <a:r>
              <a:rPr lang="en-IN" sz="2400" dirty="0" smtClean="0"/>
              <a:t>, as before), retrieve Employees tuples that satisfy the selection on age by using the index on age, and join these sets of tuples. Since the sets of tuples we join are small, they fit in memory and the join method is not important.</a:t>
            </a:r>
          </a:p>
          <a:p>
            <a:pPr algn="just"/>
            <a:endParaRPr lang="en-IN" sz="2400" dirty="0"/>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58</a:t>
            </a:fld>
            <a:endParaRPr lang="en-I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2150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21508" name="Rectangle 4"/>
          <p:cNvSpPr>
            <a:spLocks noGrp="1" noChangeArrowheads="1"/>
          </p:cNvSpPr>
          <p:nvPr>
            <p:ph type="title"/>
          </p:nvPr>
        </p:nvSpPr>
        <p:spPr>
          <a:xfrm>
            <a:off x="76200" y="152400"/>
            <a:ext cx="7772400" cy="914400"/>
          </a:xfrm>
          <a:noFill/>
          <a:ln/>
        </p:spPr>
        <p:txBody>
          <a:bodyPr/>
          <a:lstStyle/>
          <a:p>
            <a:r>
              <a:rPr lang="en-US"/>
              <a:t>Examples of Clustering</a:t>
            </a:r>
          </a:p>
        </p:txBody>
      </p:sp>
      <p:sp>
        <p:nvSpPr>
          <p:cNvPr id="21509" name="Rectangle 5"/>
          <p:cNvSpPr>
            <a:spLocks noGrp="1" noChangeArrowheads="1"/>
          </p:cNvSpPr>
          <p:nvPr>
            <p:ph type="body" idx="1"/>
          </p:nvPr>
        </p:nvSpPr>
        <p:spPr>
          <a:xfrm>
            <a:off x="0" y="1447800"/>
            <a:ext cx="5410200" cy="5181600"/>
          </a:xfrm>
          <a:noFill/>
          <a:ln/>
        </p:spPr>
        <p:txBody>
          <a:bodyPr>
            <a:normAutofit fontScale="92500" lnSpcReduction="10000"/>
          </a:bodyPr>
          <a:lstStyle/>
          <a:p>
            <a:pPr>
              <a:lnSpc>
                <a:spcPct val="90000"/>
              </a:lnSpc>
            </a:pPr>
            <a:r>
              <a:rPr lang="en-US" dirty="0"/>
              <a:t>B+ tree index on </a:t>
            </a:r>
            <a:r>
              <a:rPr lang="en-US" dirty="0" err="1"/>
              <a:t>E.age</a:t>
            </a:r>
            <a:r>
              <a:rPr lang="en-US" dirty="0"/>
              <a:t> can be used to get qualifying tuples.</a:t>
            </a:r>
          </a:p>
          <a:p>
            <a:pPr lvl="1">
              <a:lnSpc>
                <a:spcPct val="90000"/>
              </a:lnSpc>
              <a:buSzPct val="75000"/>
            </a:pPr>
            <a:r>
              <a:rPr lang="en-US" dirty="0"/>
              <a:t>How selective is the condition?</a:t>
            </a:r>
          </a:p>
          <a:p>
            <a:pPr lvl="1">
              <a:lnSpc>
                <a:spcPct val="90000"/>
              </a:lnSpc>
              <a:buSzPct val="75000"/>
            </a:pPr>
            <a:r>
              <a:rPr lang="en-US" dirty="0"/>
              <a:t>Is the index clustered?</a:t>
            </a:r>
          </a:p>
          <a:p>
            <a:pPr>
              <a:lnSpc>
                <a:spcPct val="90000"/>
              </a:lnSpc>
            </a:pPr>
            <a:r>
              <a:rPr lang="en-US" dirty="0"/>
              <a:t>Consider the </a:t>
            </a:r>
            <a:r>
              <a:rPr lang="en-US" sz="2400" dirty="0"/>
              <a:t>GROUP BY </a:t>
            </a:r>
            <a:r>
              <a:rPr lang="en-US" dirty="0"/>
              <a:t>query.</a:t>
            </a:r>
          </a:p>
          <a:p>
            <a:pPr lvl="1">
              <a:lnSpc>
                <a:spcPct val="90000"/>
              </a:lnSpc>
              <a:buSzPct val="75000"/>
            </a:pPr>
            <a:r>
              <a:rPr lang="en-US" dirty="0"/>
              <a:t>If many tuples have </a:t>
            </a:r>
            <a:r>
              <a:rPr lang="en-US" i="1" dirty="0" err="1"/>
              <a:t>E.age</a:t>
            </a:r>
            <a:r>
              <a:rPr lang="en-US" dirty="0"/>
              <a:t> &gt; 10, using </a:t>
            </a:r>
            <a:r>
              <a:rPr lang="en-US" i="1" dirty="0" err="1"/>
              <a:t>E.age</a:t>
            </a:r>
            <a:r>
              <a:rPr lang="en-US" dirty="0"/>
              <a:t> index and sorting the retrieved tuples may be costly.</a:t>
            </a:r>
          </a:p>
          <a:p>
            <a:pPr lvl="1">
              <a:lnSpc>
                <a:spcPct val="90000"/>
              </a:lnSpc>
              <a:buSzPct val="75000"/>
            </a:pPr>
            <a:r>
              <a:rPr lang="en-US" dirty="0"/>
              <a:t>Clustered </a:t>
            </a:r>
            <a:r>
              <a:rPr lang="en-US" i="1" dirty="0"/>
              <a:t>E.dno</a:t>
            </a:r>
            <a:r>
              <a:rPr lang="en-US" dirty="0"/>
              <a:t> index may be better!</a:t>
            </a:r>
          </a:p>
          <a:p>
            <a:pPr>
              <a:lnSpc>
                <a:spcPct val="90000"/>
              </a:lnSpc>
            </a:pPr>
            <a:r>
              <a:rPr lang="en-US" dirty="0"/>
              <a:t>Equality queries and duplicates:</a:t>
            </a:r>
          </a:p>
          <a:p>
            <a:pPr lvl="1">
              <a:lnSpc>
                <a:spcPct val="90000"/>
              </a:lnSpc>
              <a:buSzPct val="75000"/>
            </a:pPr>
            <a:r>
              <a:rPr lang="en-US" dirty="0"/>
              <a:t>Clustering on </a:t>
            </a:r>
            <a:r>
              <a:rPr lang="en-US" i="1" dirty="0" err="1"/>
              <a:t>E.hobby</a:t>
            </a:r>
            <a:r>
              <a:rPr lang="en-US" dirty="0"/>
              <a:t> helps!</a:t>
            </a:r>
          </a:p>
        </p:txBody>
      </p:sp>
      <p:sp>
        <p:nvSpPr>
          <p:cNvPr id="21510" name="Rectangle 6"/>
          <p:cNvSpPr>
            <a:spLocks noChangeArrowheads="1"/>
          </p:cNvSpPr>
          <p:nvPr/>
        </p:nvSpPr>
        <p:spPr bwMode="auto">
          <a:xfrm>
            <a:off x="5641975" y="1546225"/>
            <a:ext cx="2511425"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a:t>
            </a:r>
          </a:p>
          <a:p>
            <a:r>
              <a:rPr lang="en-US" sz="2000">
                <a:latin typeface="Book Antiqua" pitchFamily="18" charset="0"/>
              </a:rPr>
              <a:t>FROM</a:t>
            </a:r>
            <a:r>
              <a:rPr lang="en-US">
                <a:latin typeface="Book Antiqua" pitchFamily="18" charset="0"/>
              </a:rPr>
              <a:t>  Emp E</a:t>
            </a:r>
          </a:p>
          <a:p>
            <a:r>
              <a:rPr lang="en-US" sz="2000">
                <a:latin typeface="Book Antiqua" pitchFamily="18" charset="0"/>
              </a:rPr>
              <a:t>WHERE</a:t>
            </a:r>
            <a:r>
              <a:rPr lang="en-US">
                <a:latin typeface="Book Antiqua" pitchFamily="18" charset="0"/>
              </a:rPr>
              <a:t>  E.age&gt;40</a:t>
            </a:r>
          </a:p>
        </p:txBody>
      </p:sp>
      <p:sp>
        <p:nvSpPr>
          <p:cNvPr id="21511" name="Rectangle 7"/>
          <p:cNvSpPr>
            <a:spLocks noChangeArrowheads="1"/>
          </p:cNvSpPr>
          <p:nvPr/>
        </p:nvSpPr>
        <p:spPr bwMode="auto">
          <a:xfrm>
            <a:off x="5468938" y="3314700"/>
            <a:ext cx="3630612" cy="1562100"/>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 </a:t>
            </a:r>
            <a:r>
              <a:rPr lang="en-US" sz="2000">
                <a:latin typeface="Book Antiqua" pitchFamily="18" charset="0"/>
              </a:rPr>
              <a:t> COUNT</a:t>
            </a:r>
            <a:r>
              <a:rPr lang="en-US">
                <a:latin typeface="Book Antiqua" pitchFamily="18" charset="0"/>
              </a:rPr>
              <a:t> (*)</a:t>
            </a:r>
          </a:p>
          <a:p>
            <a:r>
              <a:rPr lang="en-US" sz="2000">
                <a:latin typeface="Book Antiqua" pitchFamily="18" charset="0"/>
              </a:rPr>
              <a:t>FROM</a:t>
            </a:r>
            <a:r>
              <a:rPr lang="en-US">
                <a:latin typeface="Book Antiqua" pitchFamily="18" charset="0"/>
              </a:rPr>
              <a:t>  Emp E</a:t>
            </a:r>
          </a:p>
          <a:p>
            <a:r>
              <a:rPr lang="en-US" sz="2000">
                <a:latin typeface="Book Antiqua" pitchFamily="18" charset="0"/>
              </a:rPr>
              <a:t>WHERE</a:t>
            </a:r>
            <a:r>
              <a:rPr lang="en-US">
                <a:latin typeface="Book Antiqua" pitchFamily="18" charset="0"/>
              </a:rPr>
              <a:t>  E.age&gt;10</a:t>
            </a:r>
          </a:p>
          <a:p>
            <a:r>
              <a:rPr lang="en-US" sz="2000">
                <a:latin typeface="Book Antiqua" pitchFamily="18" charset="0"/>
              </a:rPr>
              <a:t>GROUP BY </a:t>
            </a:r>
            <a:r>
              <a:rPr lang="en-US">
                <a:latin typeface="Book Antiqua" pitchFamily="18" charset="0"/>
              </a:rPr>
              <a:t>E.dno</a:t>
            </a:r>
          </a:p>
        </p:txBody>
      </p:sp>
      <p:sp>
        <p:nvSpPr>
          <p:cNvPr id="21512" name="Rectangle 8"/>
          <p:cNvSpPr>
            <a:spLocks noChangeArrowheads="1"/>
          </p:cNvSpPr>
          <p:nvPr/>
        </p:nvSpPr>
        <p:spPr bwMode="auto">
          <a:xfrm>
            <a:off x="5545138" y="5392738"/>
            <a:ext cx="3582987"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a:t>
            </a:r>
          </a:p>
          <a:p>
            <a:r>
              <a:rPr lang="en-US" sz="2000">
                <a:latin typeface="Book Antiqua" pitchFamily="18" charset="0"/>
              </a:rPr>
              <a:t>FROM</a:t>
            </a:r>
            <a:r>
              <a:rPr lang="en-US">
                <a:latin typeface="Book Antiqua" pitchFamily="18" charset="0"/>
              </a:rPr>
              <a:t>  Emp E</a:t>
            </a:r>
          </a:p>
          <a:p>
            <a:r>
              <a:rPr lang="en-US" sz="2000">
                <a:latin typeface="Book Antiqua" pitchFamily="18" charset="0"/>
              </a:rPr>
              <a:t>WHERE</a:t>
            </a:r>
            <a:r>
              <a:rPr lang="en-US">
                <a:latin typeface="Book Antiqua" pitchFamily="18" charset="0"/>
              </a:rPr>
              <a:t>  E.hobby=Stamps</a:t>
            </a: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23555"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23556" name="Rectangle 4"/>
          <p:cNvSpPr>
            <a:spLocks noGrp="1" noChangeArrowheads="1"/>
          </p:cNvSpPr>
          <p:nvPr>
            <p:ph type="title"/>
          </p:nvPr>
        </p:nvSpPr>
        <p:spPr>
          <a:xfrm>
            <a:off x="76200" y="76200"/>
            <a:ext cx="7772400" cy="876300"/>
          </a:xfrm>
          <a:noFill/>
          <a:ln/>
        </p:spPr>
        <p:txBody>
          <a:bodyPr/>
          <a:lstStyle/>
          <a:p>
            <a:r>
              <a:rPr lang="en-US"/>
              <a:t>Clustering and Joins</a:t>
            </a:r>
          </a:p>
        </p:txBody>
      </p:sp>
      <p:sp>
        <p:nvSpPr>
          <p:cNvPr id="23557" name="Rectangle 5"/>
          <p:cNvSpPr>
            <a:spLocks noGrp="1" noChangeArrowheads="1"/>
          </p:cNvSpPr>
          <p:nvPr>
            <p:ph type="body" idx="1"/>
          </p:nvPr>
        </p:nvSpPr>
        <p:spPr>
          <a:xfrm>
            <a:off x="0" y="2438400"/>
            <a:ext cx="9067800" cy="3810000"/>
          </a:xfrm>
          <a:noFill/>
          <a:ln/>
        </p:spPr>
        <p:txBody>
          <a:bodyPr>
            <a:normAutofit fontScale="92500" lnSpcReduction="20000"/>
          </a:bodyPr>
          <a:lstStyle/>
          <a:p>
            <a:pPr algn="just">
              <a:lnSpc>
                <a:spcPct val="90000"/>
              </a:lnSpc>
            </a:pPr>
            <a:r>
              <a:rPr lang="en-US" dirty="0"/>
              <a:t>Clustering is especially important when accessing inner tuples in INL.</a:t>
            </a:r>
          </a:p>
          <a:p>
            <a:pPr lvl="1" algn="just">
              <a:lnSpc>
                <a:spcPct val="90000"/>
              </a:lnSpc>
              <a:buSzPct val="75000"/>
            </a:pPr>
            <a:r>
              <a:rPr lang="en-US" dirty="0"/>
              <a:t>Should make index on </a:t>
            </a:r>
            <a:r>
              <a:rPr lang="en-US" i="1" dirty="0"/>
              <a:t>E.dno</a:t>
            </a:r>
            <a:r>
              <a:rPr lang="en-US" dirty="0"/>
              <a:t> clustered.</a:t>
            </a:r>
          </a:p>
          <a:p>
            <a:pPr algn="just">
              <a:lnSpc>
                <a:spcPct val="90000"/>
              </a:lnSpc>
            </a:pPr>
            <a:r>
              <a:rPr lang="en-US" dirty="0"/>
              <a:t>Suppose that the </a:t>
            </a:r>
            <a:r>
              <a:rPr lang="en-US" sz="2400" dirty="0"/>
              <a:t>WHERE</a:t>
            </a:r>
            <a:r>
              <a:rPr lang="en-US" dirty="0"/>
              <a:t> clause is instead:</a:t>
            </a:r>
          </a:p>
          <a:p>
            <a:pPr lvl="1" algn="just">
              <a:lnSpc>
                <a:spcPct val="90000"/>
              </a:lnSpc>
              <a:buFontTx/>
              <a:buNone/>
            </a:pPr>
            <a:r>
              <a:rPr lang="en-US" sz="2000" dirty="0"/>
              <a:t>WHERE</a:t>
            </a:r>
            <a:r>
              <a:rPr lang="en-US" dirty="0"/>
              <a:t>  </a:t>
            </a:r>
            <a:r>
              <a:rPr lang="en-US" dirty="0" err="1"/>
              <a:t>E.hobby</a:t>
            </a:r>
            <a:r>
              <a:rPr lang="en-US" dirty="0"/>
              <a:t>=‘Stamps  </a:t>
            </a:r>
            <a:r>
              <a:rPr lang="en-US" sz="2000" dirty="0"/>
              <a:t>AND</a:t>
            </a:r>
            <a:r>
              <a:rPr lang="en-US" dirty="0"/>
              <a:t>  E.dno=D.dno</a:t>
            </a:r>
          </a:p>
          <a:p>
            <a:pPr lvl="1" algn="just">
              <a:lnSpc>
                <a:spcPct val="90000"/>
              </a:lnSpc>
              <a:buSzPct val="75000"/>
            </a:pPr>
            <a:r>
              <a:rPr lang="en-US" dirty="0"/>
              <a:t>If many employees collect stamps, Sort-Merge join may be worth considering.  A </a:t>
            </a:r>
            <a:r>
              <a:rPr lang="en-US" i="1" dirty="0"/>
              <a:t>clustered</a:t>
            </a:r>
            <a:r>
              <a:rPr lang="en-US" dirty="0"/>
              <a:t> </a:t>
            </a:r>
            <a:r>
              <a:rPr lang="en-US" dirty="0" smtClean="0"/>
              <a:t>B + tree index </a:t>
            </a:r>
            <a:r>
              <a:rPr lang="en-US" dirty="0"/>
              <a:t>on D.dno would help.</a:t>
            </a:r>
          </a:p>
          <a:p>
            <a:pPr algn="just">
              <a:lnSpc>
                <a:spcPct val="90000"/>
              </a:lnSpc>
            </a:pPr>
            <a:r>
              <a:rPr lang="en-US" i="1" dirty="0">
                <a:solidFill>
                  <a:schemeClr val="accent2"/>
                </a:solidFill>
              </a:rPr>
              <a:t>Summary</a:t>
            </a:r>
            <a:r>
              <a:rPr lang="en-US" dirty="0">
                <a:solidFill>
                  <a:schemeClr val="accent2"/>
                </a:solidFill>
              </a:rPr>
              <a:t>:  </a:t>
            </a:r>
            <a:r>
              <a:rPr lang="en-US" dirty="0">
                <a:solidFill>
                  <a:srgbClr val="C00000"/>
                </a:solidFill>
              </a:rPr>
              <a:t>Clustering is useful whenever many tuples are to be retrieved.</a:t>
            </a:r>
          </a:p>
        </p:txBody>
      </p:sp>
      <p:sp>
        <p:nvSpPr>
          <p:cNvPr id="23558" name="Rectangle 6"/>
          <p:cNvSpPr>
            <a:spLocks noChangeArrowheads="1"/>
          </p:cNvSpPr>
          <p:nvPr/>
        </p:nvSpPr>
        <p:spPr bwMode="auto">
          <a:xfrm>
            <a:off x="1887538" y="1066800"/>
            <a:ext cx="5988050"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E.ename, D.mgr</a:t>
            </a:r>
          </a:p>
          <a:p>
            <a:r>
              <a:rPr lang="en-US" sz="2000">
                <a:latin typeface="Book Antiqua" pitchFamily="18" charset="0"/>
              </a:rPr>
              <a:t>FROM</a:t>
            </a:r>
            <a:r>
              <a:rPr lang="en-US">
                <a:latin typeface="Book Antiqua" pitchFamily="18" charset="0"/>
              </a:rPr>
              <a:t>  Emp E, Dept D</a:t>
            </a:r>
          </a:p>
          <a:p>
            <a:r>
              <a:rPr lang="en-US" sz="2000">
                <a:latin typeface="Book Antiqua" pitchFamily="18" charset="0"/>
              </a:rPr>
              <a:t>WHERE</a:t>
            </a:r>
            <a:r>
              <a:rPr lang="en-US">
                <a:latin typeface="Book Antiqua" pitchFamily="18" charset="0"/>
              </a:rPr>
              <a:t>  D.dname=‘Toy’ </a:t>
            </a:r>
            <a:r>
              <a:rPr lang="en-US" sz="2000">
                <a:latin typeface="Book Antiqua" pitchFamily="18" charset="0"/>
              </a:rPr>
              <a:t>AND</a:t>
            </a:r>
            <a:r>
              <a:rPr lang="en-US">
                <a:latin typeface="Book Antiqua" pitchFamily="18" charset="0"/>
              </a:rPr>
              <a:t> E.dno=D.dno</a:t>
            </a: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2560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25604" name="Rectangle 4"/>
          <p:cNvSpPr>
            <a:spLocks noGrp="1" noChangeArrowheads="1"/>
          </p:cNvSpPr>
          <p:nvPr>
            <p:ph type="title"/>
          </p:nvPr>
        </p:nvSpPr>
        <p:spPr>
          <a:noFill/>
          <a:ln/>
        </p:spPr>
        <p:txBody>
          <a:bodyPr/>
          <a:lstStyle/>
          <a:p>
            <a:r>
              <a:rPr lang="en-US"/>
              <a:t>Multi-Attribute Index Keys</a:t>
            </a:r>
          </a:p>
        </p:txBody>
      </p:sp>
      <p:sp>
        <p:nvSpPr>
          <p:cNvPr id="25605" name="Rectangle 5"/>
          <p:cNvSpPr>
            <a:spLocks noGrp="1" noChangeArrowheads="1"/>
          </p:cNvSpPr>
          <p:nvPr>
            <p:ph type="body" idx="1"/>
          </p:nvPr>
        </p:nvSpPr>
        <p:spPr>
          <a:xfrm>
            <a:off x="0" y="1676400"/>
            <a:ext cx="9067800" cy="4800600"/>
          </a:xfrm>
          <a:noFill/>
          <a:ln/>
        </p:spPr>
        <p:txBody>
          <a:bodyPr>
            <a:normAutofit fontScale="92500" lnSpcReduction="10000"/>
          </a:bodyPr>
          <a:lstStyle/>
          <a:p>
            <a:r>
              <a:rPr lang="en-US"/>
              <a:t>To retrieve Emp records with </a:t>
            </a:r>
            <a:r>
              <a:rPr lang="en-US" i="1"/>
              <a:t>age</a:t>
            </a:r>
            <a:r>
              <a:rPr lang="en-US"/>
              <a:t>=30 </a:t>
            </a:r>
            <a:r>
              <a:rPr lang="en-US" sz="2400"/>
              <a:t>AND</a:t>
            </a:r>
            <a:r>
              <a:rPr lang="en-US"/>
              <a:t> </a:t>
            </a:r>
            <a:r>
              <a:rPr lang="en-US" i="1"/>
              <a:t>sal</a:t>
            </a:r>
            <a:r>
              <a:rPr lang="en-US"/>
              <a:t>=4000, an index on &lt;</a:t>
            </a:r>
            <a:r>
              <a:rPr lang="en-US" i="1"/>
              <a:t>age,sal</a:t>
            </a:r>
            <a:r>
              <a:rPr lang="en-US"/>
              <a:t>&gt; would be better than an index on </a:t>
            </a:r>
            <a:r>
              <a:rPr lang="en-US" i="1"/>
              <a:t>age</a:t>
            </a:r>
            <a:r>
              <a:rPr lang="en-US"/>
              <a:t> or an index on </a:t>
            </a:r>
            <a:r>
              <a:rPr lang="en-US" i="1"/>
              <a:t>sal</a:t>
            </a:r>
            <a:r>
              <a:rPr lang="en-US"/>
              <a:t>.</a:t>
            </a:r>
          </a:p>
          <a:p>
            <a:pPr lvl="1">
              <a:buSzPct val="75000"/>
            </a:pPr>
            <a:r>
              <a:rPr lang="en-US"/>
              <a:t>Such indexes also called </a:t>
            </a:r>
            <a:r>
              <a:rPr lang="en-US" i="1">
                <a:solidFill>
                  <a:schemeClr val="accent2"/>
                </a:solidFill>
              </a:rPr>
              <a:t>composite</a:t>
            </a:r>
            <a:r>
              <a:rPr lang="en-US"/>
              <a:t> or </a:t>
            </a:r>
            <a:r>
              <a:rPr lang="en-US" i="1">
                <a:solidFill>
                  <a:schemeClr val="accent2"/>
                </a:solidFill>
              </a:rPr>
              <a:t>concatenated</a:t>
            </a:r>
            <a:r>
              <a:rPr lang="en-US"/>
              <a:t> indexes.</a:t>
            </a:r>
          </a:p>
          <a:p>
            <a:pPr lvl="1">
              <a:buSzPct val="75000"/>
            </a:pPr>
            <a:r>
              <a:rPr lang="en-US"/>
              <a:t>Choice of index key orthogonal to clustering etc.</a:t>
            </a:r>
          </a:p>
          <a:p>
            <a:r>
              <a:rPr lang="en-US"/>
              <a:t>If condition is:  20&lt;</a:t>
            </a:r>
            <a:r>
              <a:rPr lang="en-US" i="1"/>
              <a:t>age</a:t>
            </a:r>
            <a:r>
              <a:rPr lang="en-US"/>
              <a:t>&lt;30  </a:t>
            </a:r>
            <a:r>
              <a:rPr lang="en-US" sz="2400"/>
              <a:t>AND</a:t>
            </a:r>
            <a:r>
              <a:rPr lang="en-US"/>
              <a:t>  3000&lt;</a:t>
            </a:r>
            <a:r>
              <a:rPr lang="en-US" i="1"/>
              <a:t>sal</a:t>
            </a:r>
            <a:r>
              <a:rPr lang="en-US"/>
              <a:t>&lt;5000: </a:t>
            </a:r>
          </a:p>
          <a:p>
            <a:pPr lvl="1">
              <a:buSzPct val="75000"/>
            </a:pPr>
            <a:r>
              <a:rPr lang="en-US"/>
              <a:t>Clustered tree index on &lt;</a:t>
            </a:r>
            <a:r>
              <a:rPr lang="en-US" i="1"/>
              <a:t>age,sal</a:t>
            </a:r>
            <a:r>
              <a:rPr lang="en-US"/>
              <a:t>&gt; or &lt;</a:t>
            </a:r>
            <a:r>
              <a:rPr lang="en-US" i="1"/>
              <a:t>sal,age</a:t>
            </a:r>
            <a:r>
              <a:rPr lang="en-US"/>
              <a:t>&gt; is best.</a:t>
            </a:r>
          </a:p>
          <a:p>
            <a:r>
              <a:rPr lang="en-US"/>
              <a:t>If condition is:  </a:t>
            </a:r>
            <a:r>
              <a:rPr lang="en-US" i="1"/>
              <a:t>age</a:t>
            </a:r>
            <a:r>
              <a:rPr lang="en-US"/>
              <a:t>=30  </a:t>
            </a:r>
            <a:r>
              <a:rPr lang="en-US" sz="2400"/>
              <a:t>AND</a:t>
            </a:r>
            <a:r>
              <a:rPr lang="en-US"/>
              <a:t>  3000&lt;</a:t>
            </a:r>
            <a:r>
              <a:rPr lang="en-US" i="1"/>
              <a:t>sal</a:t>
            </a:r>
            <a:r>
              <a:rPr lang="en-US"/>
              <a:t>&lt;5000: </a:t>
            </a:r>
          </a:p>
          <a:p>
            <a:pPr lvl="1">
              <a:buSzPct val="75000"/>
            </a:pPr>
            <a:r>
              <a:rPr lang="en-US"/>
              <a:t>Clustered &lt;</a:t>
            </a:r>
            <a:r>
              <a:rPr lang="en-US" i="1"/>
              <a:t>age,sal</a:t>
            </a:r>
            <a:r>
              <a:rPr lang="en-US"/>
              <a:t>&gt; index much better than &lt;</a:t>
            </a:r>
            <a:r>
              <a:rPr lang="en-US" i="1"/>
              <a:t>sal,age</a:t>
            </a:r>
            <a:r>
              <a:rPr lang="en-US"/>
              <a:t>&gt; index!</a:t>
            </a:r>
          </a:p>
          <a:p>
            <a:r>
              <a:rPr lang="en-US"/>
              <a:t>Composite indexes are larger, updated more often.</a:t>
            </a: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2765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27652" name="Rectangle 4"/>
          <p:cNvSpPr>
            <a:spLocks noGrp="1" noChangeArrowheads="1"/>
          </p:cNvSpPr>
          <p:nvPr>
            <p:ph type="title"/>
          </p:nvPr>
        </p:nvSpPr>
        <p:spPr>
          <a:xfrm>
            <a:off x="304800" y="38100"/>
            <a:ext cx="4114800" cy="1104900"/>
          </a:xfrm>
          <a:noFill/>
          <a:ln/>
        </p:spPr>
        <p:txBody>
          <a:bodyPr/>
          <a:lstStyle/>
          <a:p>
            <a:r>
              <a:rPr lang="en-US"/>
              <a:t>Index-Only Plans</a:t>
            </a:r>
          </a:p>
        </p:txBody>
      </p:sp>
      <p:sp>
        <p:nvSpPr>
          <p:cNvPr id="27653" name="Rectangle 5"/>
          <p:cNvSpPr>
            <a:spLocks noGrp="1" noChangeArrowheads="1"/>
          </p:cNvSpPr>
          <p:nvPr>
            <p:ph type="body" idx="1"/>
          </p:nvPr>
        </p:nvSpPr>
        <p:spPr>
          <a:xfrm>
            <a:off x="0" y="1600200"/>
            <a:ext cx="2819400" cy="5029200"/>
          </a:xfrm>
          <a:noFill/>
          <a:ln/>
        </p:spPr>
        <p:txBody>
          <a:bodyPr>
            <a:normAutofit lnSpcReduction="10000"/>
          </a:bodyPr>
          <a:lstStyle/>
          <a:p>
            <a:pPr>
              <a:lnSpc>
                <a:spcPct val="90000"/>
              </a:lnSpc>
            </a:pPr>
            <a:r>
              <a:rPr lang="en-US"/>
              <a:t>A number of queries can be answered without retrieving any tuples from one or more of the relations involved if a suitable index is available.</a:t>
            </a:r>
          </a:p>
        </p:txBody>
      </p:sp>
      <p:sp>
        <p:nvSpPr>
          <p:cNvPr id="27654" name="Rectangle 6"/>
          <p:cNvSpPr>
            <a:spLocks noChangeArrowheads="1"/>
          </p:cNvSpPr>
          <p:nvPr/>
        </p:nvSpPr>
        <p:spPr bwMode="auto">
          <a:xfrm>
            <a:off x="5943600" y="288925"/>
            <a:ext cx="3127375"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D.mgr</a:t>
            </a:r>
          </a:p>
          <a:p>
            <a:r>
              <a:rPr lang="en-US" sz="2000">
                <a:latin typeface="Book Antiqua" pitchFamily="18" charset="0"/>
              </a:rPr>
              <a:t>FROM</a:t>
            </a:r>
            <a:r>
              <a:rPr lang="en-US">
                <a:latin typeface="Book Antiqua" pitchFamily="18" charset="0"/>
              </a:rPr>
              <a:t>  Dept D, Emp E</a:t>
            </a:r>
          </a:p>
          <a:p>
            <a:r>
              <a:rPr lang="en-US" sz="2000">
                <a:latin typeface="Book Antiqua" pitchFamily="18" charset="0"/>
              </a:rPr>
              <a:t>WHERE</a:t>
            </a:r>
            <a:r>
              <a:rPr lang="en-US">
                <a:latin typeface="Book Antiqua" pitchFamily="18" charset="0"/>
              </a:rPr>
              <a:t>  D.dno=E.dno</a:t>
            </a:r>
          </a:p>
        </p:txBody>
      </p:sp>
      <p:sp>
        <p:nvSpPr>
          <p:cNvPr id="27655" name="Rectangle 7"/>
          <p:cNvSpPr>
            <a:spLocks noChangeArrowheads="1"/>
          </p:cNvSpPr>
          <p:nvPr/>
        </p:nvSpPr>
        <p:spPr bwMode="auto">
          <a:xfrm>
            <a:off x="5943600" y="1508125"/>
            <a:ext cx="3127375"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D.mgr, E.eid</a:t>
            </a:r>
          </a:p>
          <a:p>
            <a:r>
              <a:rPr lang="en-US" sz="2000">
                <a:latin typeface="Book Antiqua" pitchFamily="18" charset="0"/>
              </a:rPr>
              <a:t>FROM</a:t>
            </a:r>
            <a:r>
              <a:rPr lang="en-US">
                <a:latin typeface="Book Antiqua" pitchFamily="18" charset="0"/>
              </a:rPr>
              <a:t>  Dept D, Emp E</a:t>
            </a:r>
          </a:p>
          <a:p>
            <a:r>
              <a:rPr lang="en-US" sz="2000">
                <a:latin typeface="Book Antiqua" pitchFamily="18" charset="0"/>
              </a:rPr>
              <a:t>WHERE</a:t>
            </a:r>
            <a:r>
              <a:rPr lang="en-US">
                <a:latin typeface="Book Antiqua" pitchFamily="18" charset="0"/>
              </a:rPr>
              <a:t>  D.dno=E.dno</a:t>
            </a:r>
          </a:p>
        </p:txBody>
      </p:sp>
      <p:sp>
        <p:nvSpPr>
          <p:cNvPr id="27656" name="Rectangle 8"/>
          <p:cNvSpPr>
            <a:spLocks noChangeArrowheads="1"/>
          </p:cNvSpPr>
          <p:nvPr/>
        </p:nvSpPr>
        <p:spPr bwMode="auto">
          <a:xfrm>
            <a:off x="5562600" y="2727325"/>
            <a:ext cx="3490913"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 </a:t>
            </a:r>
            <a:r>
              <a:rPr lang="en-US" sz="2000">
                <a:latin typeface="Book Antiqua" pitchFamily="18" charset="0"/>
              </a:rPr>
              <a:t>COUNT</a:t>
            </a:r>
            <a:r>
              <a:rPr lang="en-US">
                <a:latin typeface="Book Antiqua" pitchFamily="18" charset="0"/>
              </a:rPr>
              <a:t>(*)</a:t>
            </a:r>
          </a:p>
          <a:p>
            <a:r>
              <a:rPr lang="en-US" sz="2000">
                <a:latin typeface="Book Antiqua" pitchFamily="18" charset="0"/>
              </a:rPr>
              <a:t>FROM</a:t>
            </a:r>
            <a:r>
              <a:rPr lang="en-US">
                <a:latin typeface="Book Antiqua" pitchFamily="18" charset="0"/>
              </a:rPr>
              <a:t>  Emp E</a:t>
            </a:r>
          </a:p>
          <a:p>
            <a:r>
              <a:rPr lang="en-US" sz="2000">
                <a:latin typeface="Book Antiqua" pitchFamily="18" charset="0"/>
              </a:rPr>
              <a:t>GROUP BY  </a:t>
            </a:r>
            <a:r>
              <a:rPr lang="en-US">
                <a:latin typeface="Book Antiqua" pitchFamily="18" charset="0"/>
              </a:rPr>
              <a:t>E.dno</a:t>
            </a:r>
          </a:p>
        </p:txBody>
      </p:sp>
      <p:sp>
        <p:nvSpPr>
          <p:cNvPr id="27657" name="Rectangle 9"/>
          <p:cNvSpPr>
            <a:spLocks noChangeArrowheads="1"/>
          </p:cNvSpPr>
          <p:nvPr/>
        </p:nvSpPr>
        <p:spPr bwMode="auto">
          <a:xfrm>
            <a:off x="5486400" y="3944938"/>
            <a:ext cx="3597275"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 </a:t>
            </a:r>
            <a:r>
              <a:rPr lang="en-US" sz="2000">
                <a:latin typeface="Book Antiqua" pitchFamily="18" charset="0"/>
              </a:rPr>
              <a:t>MIN</a:t>
            </a:r>
            <a:r>
              <a:rPr lang="en-US">
                <a:latin typeface="Book Antiqua" pitchFamily="18" charset="0"/>
              </a:rPr>
              <a:t>(E.sal)</a:t>
            </a:r>
          </a:p>
          <a:p>
            <a:r>
              <a:rPr lang="en-US" sz="2000">
                <a:latin typeface="Book Antiqua" pitchFamily="18" charset="0"/>
              </a:rPr>
              <a:t>FROM</a:t>
            </a:r>
            <a:r>
              <a:rPr lang="en-US">
                <a:latin typeface="Book Antiqua" pitchFamily="18" charset="0"/>
              </a:rPr>
              <a:t>  Emp E</a:t>
            </a:r>
          </a:p>
          <a:p>
            <a:r>
              <a:rPr lang="en-US" sz="2000">
                <a:latin typeface="Book Antiqua" pitchFamily="18" charset="0"/>
              </a:rPr>
              <a:t>GROUP BY  </a:t>
            </a:r>
            <a:r>
              <a:rPr lang="en-US">
                <a:latin typeface="Book Antiqua" pitchFamily="18" charset="0"/>
              </a:rPr>
              <a:t>E.dno</a:t>
            </a:r>
          </a:p>
        </p:txBody>
      </p:sp>
      <p:sp>
        <p:nvSpPr>
          <p:cNvPr id="27658" name="Rectangle 10"/>
          <p:cNvSpPr>
            <a:spLocks noChangeArrowheads="1"/>
          </p:cNvSpPr>
          <p:nvPr/>
        </p:nvSpPr>
        <p:spPr bwMode="auto">
          <a:xfrm>
            <a:off x="4800600" y="5164138"/>
            <a:ext cx="4298950" cy="1562100"/>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a:t>
            </a:r>
            <a:r>
              <a:rPr lang="en-US" sz="2000">
                <a:latin typeface="Book Antiqua" pitchFamily="18" charset="0"/>
              </a:rPr>
              <a:t>AVG</a:t>
            </a:r>
            <a:r>
              <a:rPr lang="en-US">
                <a:latin typeface="Book Antiqua" pitchFamily="18" charset="0"/>
              </a:rPr>
              <a:t>(E.sal)</a:t>
            </a:r>
          </a:p>
          <a:p>
            <a:r>
              <a:rPr lang="en-US" sz="2000">
                <a:latin typeface="Book Antiqua" pitchFamily="18" charset="0"/>
              </a:rPr>
              <a:t>FROM</a:t>
            </a:r>
            <a:r>
              <a:rPr lang="en-US">
                <a:latin typeface="Book Antiqua" pitchFamily="18" charset="0"/>
              </a:rPr>
              <a:t>  Emp E</a:t>
            </a:r>
          </a:p>
          <a:p>
            <a:r>
              <a:rPr lang="en-US" sz="2000">
                <a:latin typeface="Book Antiqua" pitchFamily="18" charset="0"/>
              </a:rPr>
              <a:t>WHERE  </a:t>
            </a:r>
            <a:r>
              <a:rPr lang="en-US">
                <a:latin typeface="Book Antiqua" pitchFamily="18" charset="0"/>
              </a:rPr>
              <a:t>E.age=25 </a:t>
            </a:r>
            <a:r>
              <a:rPr lang="en-US" sz="2000">
                <a:latin typeface="Book Antiqua" pitchFamily="18" charset="0"/>
              </a:rPr>
              <a:t>AND</a:t>
            </a:r>
          </a:p>
          <a:p>
            <a:r>
              <a:rPr lang="en-US" sz="2000">
                <a:latin typeface="Book Antiqua" pitchFamily="18" charset="0"/>
              </a:rPr>
              <a:t>  </a:t>
            </a:r>
            <a:r>
              <a:rPr lang="en-US">
                <a:latin typeface="Book Antiqua" pitchFamily="18" charset="0"/>
              </a:rPr>
              <a:t>E.sal</a:t>
            </a:r>
            <a:r>
              <a:rPr lang="en-US" sz="2000">
                <a:latin typeface="Book Antiqua" pitchFamily="18" charset="0"/>
              </a:rPr>
              <a:t> BETWEEN</a:t>
            </a:r>
            <a:r>
              <a:rPr lang="en-US">
                <a:latin typeface="Book Antiqua" pitchFamily="18" charset="0"/>
              </a:rPr>
              <a:t> 3000 </a:t>
            </a:r>
            <a:r>
              <a:rPr lang="en-US" sz="2000">
                <a:latin typeface="Book Antiqua" pitchFamily="18" charset="0"/>
              </a:rPr>
              <a:t>AND </a:t>
            </a:r>
            <a:r>
              <a:rPr lang="en-US">
                <a:latin typeface="Book Antiqua" pitchFamily="18" charset="0"/>
              </a:rPr>
              <a:t>5000</a:t>
            </a:r>
          </a:p>
        </p:txBody>
      </p:sp>
      <p:sp>
        <p:nvSpPr>
          <p:cNvPr id="27659" name="Rectangle 11"/>
          <p:cNvSpPr>
            <a:spLocks noChangeArrowheads="1"/>
          </p:cNvSpPr>
          <p:nvPr/>
        </p:nvSpPr>
        <p:spPr bwMode="auto">
          <a:xfrm>
            <a:off x="4521200" y="838200"/>
            <a:ext cx="1270000" cy="454025"/>
          </a:xfrm>
          <a:prstGeom prst="rect">
            <a:avLst/>
          </a:prstGeom>
          <a:noFill/>
          <a:ln w="12700">
            <a:noFill/>
            <a:miter lim="800000"/>
            <a:headEnd/>
            <a:tailEnd/>
          </a:ln>
          <a:effectLst/>
        </p:spPr>
        <p:txBody>
          <a:bodyPr wrap="none" lIns="90488" tIns="44450" rIns="90488" bIns="44450">
            <a:spAutoFit/>
          </a:bodyPr>
          <a:lstStyle/>
          <a:p>
            <a:r>
              <a:rPr lang="en-US">
                <a:latin typeface="Book Antiqua" pitchFamily="18" charset="0"/>
              </a:rPr>
              <a:t>&lt;</a:t>
            </a:r>
            <a:r>
              <a:rPr lang="en-US" i="1">
                <a:latin typeface="Book Antiqua" pitchFamily="18" charset="0"/>
              </a:rPr>
              <a:t>E.dno</a:t>
            </a:r>
            <a:r>
              <a:rPr lang="en-US">
                <a:latin typeface="Book Antiqua" pitchFamily="18" charset="0"/>
              </a:rPr>
              <a:t>&gt;</a:t>
            </a:r>
          </a:p>
        </p:txBody>
      </p:sp>
      <p:sp>
        <p:nvSpPr>
          <p:cNvPr id="27660" name="Rectangle 12"/>
          <p:cNvSpPr>
            <a:spLocks noChangeArrowheads="1"/>
          </p:cNvSpPr>
          <p:nvPr/>
        </p:nvSpPr>
        <p:spPr bwMode="auto">
          <a:xfrm>
            <a:off x="3751263" y="1663700"/>
            <a:ext cx="1963737" cy="454025"/>
          </a:xfrm>
          <a:prstGeom prst="rect">
            <a:avLst/>
          </a:prstGeom>
          <a:noFill/>
          <a:ln w="12700">
            <a:noFill/>
            <a:miter lim="800000"/>
            <a:headEnd/>
            <a:tailEnd/>
          </a:ln>
          <a:effectLst/>
        </p:spPr>
        <p:txBody>
          <a:bodyPr wrap="none" lIns="90488" tIns="44450" rIns="90488" bIns="44450">
            <a:spAutoFit/>
          </a:bodyPr>
          <a:lstStyle/>
          <a:p>
            <a:r>
              <a:rPr lang="en-US">
                <a:latin typeface="Book Antiqua" pitchFamily="18" charset="0"/>
              </a:rPr>
              <a:t>&lt;</a:t>
            </a:r>
            <a:r>
              <a:rPr lang="en-US" i="1">
                <a:latin typeface="Book Antiqua" pitchFamily="18" charset="0"/>
              </a:rPr>
              <a:t>E.dno,E.eid</a:t>
            </a:r>
            <a:r>
              <a:rPr lang="en-US">
                <a:latin typeface="Book Antiqua" pitchFamily="18" charset="0"/>
              </a:rPr>
              <a:t>&gt;</a:t>
            </a:r>
          </a:p>
        </p:txBody>
      </p:sp>
      <p:sp>
        <p:nvSpPr>
          <p:cNvPr id="27661" name="Rectangle 13"/>
          <p:cNvSpPr>
            <a:spLocks noChangeArrowheads="1"/>
          </p:cNvSpPr>
          <p:nvPr/>
        </p:nvSpPr>
        <p:spPr bwMode="auto">
          <a:xfrm>
            <a:off x="4132263" y="2044700"/>
            <a:ext cx="1577975" cy="454025"/>
          </a:xfrm>
          <a:prstGeom prst="rect">
            <a:avLst/>
          </a:prstGeom>
          <a:noFill/>
          <a:ln w="12700">
            <a:noFill/>
            <a:miter lim="800000"/>
            <a:headEnd/>
            <a:tailEnd/>
          </a:ln>
          <a:effectLst/>
        </p:spPr>
        <p:txBody>
          <a:bodyPr wrap="none" lIns="90488" tIns="44450" rIns="90488" bIns="44450">
            <a:spAutoFit/>
          </a:bodyPr>
          <a:lstStyle/>
          <a:p>
            <a:r>
              <a:rPr lang="en-US" i="1">
                <a:latin typeface="Book Antiqua" pitchFamily="18" charset="0"/>
              </a:rPr>
              <a:t>Tree index!</a:t>
            </a:r>
          </a:p>
        </p:txBody>
      </p:sp>
      <p:sp>
        <p:nvSpPr>
          <p:cNvPr id="27662" name="Rectangle 14"/>
          <p:cNvSpPr>
            <a:spLocks noChangeArrowheads="1"/>
          </p:cNvSpPr>
          <p:nvPr/>
        </p:nvSpPr>
        <p:spPr bwMode="auto">
          <a:xfrm>
            <a:off x="4140200" y="3035300"/>
            <a:ext cx="1270000" cy="454025"/>
          </a:xfrm>
          <a:prstGeom prst="rect">
            <a:avLst/>
          </a:prstGeom>
          <a:noFill/>
          <a:ln w="12700">
            <a:noFill/>
            <a:miter lim="800000"/>
            <a:headEnd/>
            <a:tailEnd/>
          </a:ln>
          <a:effectLst/>
        </p:spPr>
        <p:txBody>
          <a:bodyPr wrap="none" lIns="90488" tIns="44450" rIns="90488" bIns="44450">
            <a:spAutoFit/>
          </a:bodyPr>
          <a:lstStyle/>
          <a:p>
            <a:r>
              <a:rPr lang="en-US">
                <a:latin typeface="Book Antiqua" pitchFamily="18" charset="0"/>
              </a:rPr>
              <a:t>&lt;</a:t>
            </a:r>
            <a:r>
              <a:rPr lang="en-US" i="1">
                <a:latin typeface="Book Antiqua" pitchFamily="18" charset="0"/>
              </a:rPr>
              <a:t>E.dno</a:t>
            </a:r>
            <a:r>
              <a:rPr lang="en-US">
                <a:latin typeface="Book Antiqua" pitchFamily="18" charset="0"/>
              </a:rPr>
              <a:t>&gt;</a:t>
            </a:r>
          </a:p>
        </p:txBody>
      </p:sp>
      <p:sp>
        <p:nvSpPr>
          <p:cNvPr id="27663" name="Rectangle 15"/>
          <p:cNvSpPr>
            <a:spLocks noChangeArrowheads="1"/>
          </p:cNvSpPr>
          <p:nvPr/>
        </p:nvSpPr>
        <p:spPr bwMode="auto">
          <a:xfrm>
            <a:off x="3375025" y="4176713"/>
            <a:ext cx="1947863" cy="454025"/>
          </a:xfrm>
          <a:prstGeom prst="rect">
            <a:avLst/>
          </a:prstGeom>
          <a:noFill/>
          <a:ln w="12700">
            <a:noFill/>
            <a:miter lim="800000"/>
            <a:headEnd/>
            <a:tailEnd/>
          </a:ln>
          <a:effectLst/>
        </p:spPr>
        <p:txBody>
          <a:bodyPr wrap="none" lIns="90488" tIns="44450" rIns="90488" bIns="44450">
            <a:spAutoFit/>
          </a:bodyPr>
          <a:lstStyle/>
          <a:p>
            <a:r>
              <a:rPr lang="en-US">
                <a:latin typeface="Book Antiqua" pitchFamily="18" charset="0"/>
              </a:rPr>
              <a:t>&lt;</a:t>
            </a:r>
            <a:r>
              <a:rPr lang="en-US" i="1">
                <a:latin typeface="Book Antiqua" pitchFamily="18" charset="0"/>
              </a:rPr>
              <a:t>E.dno,E.sal</a:t>
            </a:r>
            <a:r>
              <a:rPr lang="en-US">
                <a:latin typeface="Book Antiqua" pitchFamily="18" charset="0"/>
              </a:rPr>
              <a:t>&gt;</a:t>
            </a:r>
          </a:p>
        </p:txBody>
      </p:sp>
      <p:sp>
        <p:nvSpPr>
          <p:cNvPr id="27664" name="Rectangle 16"/>
          <p:cNvSpPr>
            <a:spLocks noChangeArrowheads="1"/>
          </p:cNvSpPr>
          <p:nvPr/>
        </p:nvSpPr>
        <p:spPr bwMode="auto">
          <a:xfrm>
            <a:off x="3756025" y="4557713"/>
            <a:ext cx="1577975" cy="454025"/>
          </a:xfrm>
          <a:prstGeom prst="rect">
            <a:avLst/>
          </a:prstGeom>
          <a:noFill/>
          <a:ln w="12700">
            <a:noFill/>
            <a:miter lim="800000"/>
            <a:headEnd/>
            <a:tailEnd/>
          </a:ln>
          <a:effectLst/>
        </p:spPr>
        <p:txBody>
          <a:bodyPr wrap="none" lIns="90488" tIns="44450" rIns="90488" bIns="44450">
            <a:spAutoFit/>
          </a:bodyPr>
          <a:lstStyle/>
          <a:p>
            <a:r>
              <a:rPr lang="en-US" i="1">
                <a:latin typeface="Book Antiqua" pitchFamily="18" charset="0"/>
              </a:rPr>
              <a:t>Tree index!</a:t>
            </a:r>
          </a:p>
        </p:txBody>
      </p:sp>
      <p:sp>
        <p:nvSpPr>
          <p:cNvPr id="27665" name="Rectangle 17"/>
          <p:cNvSpPr>
            <a:spLocks noChangeArrowheads="1"/>
          </p:cNvSpPr>
          <p:nvPr/>
        </p:nvSpPr>
        <p:spPr bwMode="auto">
          <a:xfrm>
            <a:off x="2752725" y="5184775"/>
            <a:ext cx="1971675" cy="1184275"/>
          </a:xfrm>
          <a:prstGeom prst="rect">
            <a:avLst/>
          </a:prstGeom>
          <a:noFill/>
          <a:ln w="12700">
            <a:noFill/>
            <a:miter lim="800000"/>
            <a:headEnd/>
            <a:tailEnd/>
          </a:ln>
          <a:effectLst/>
        </p:spPr>
        <p:txBody>
          <a:bodyPr wrap="none" lIns="90488" tIns="44450" rIns="90488" bIns="44450">
            <a:spAutoFit/>
          </a:bodyPr>
          <a:lstStyle/>
          <a:p>
            <a:r>
              <a:rPr lang="en-US">
                <a:latin typeface="Book Antiqua" pitchFamily="18" charset="0"/>
              </a:rPr>
              <a:t>&lt;</a:t>
            </a:r>
            <a:r>
              <a:rPr lang="en-US" i="1">
                <a:latin typeface="Book Antiqua" pitchFamily="18" charset="0"/>
              </a:rPr>
              <a:t>E. age,E.sal</a:t>
            </a:r>
            <a:r>
              <a:rPr lang="en-US">
                <a:latin typeface="Book Antiqua" pitchFamily="18" charset="0"/>
              </a:rPr>
              <a:t>&gt;</a:t>
            </a:r>
          </a:p>
          <a:p>
            <a:r>
              <a:rPr lang="en-US">
                <a:latin typeface="Book Antiqua" pitchFamily="18" charset="0"/>
              </a:rPr>
              <a:t>          or</a:t>
            </a:r>
          </a:p>
          <a:p>
            <a:r>
              <a:rPr lang="en-US">
                <a:latin typeface="Book Antiqua" pitchFamily="18" charset="0"/>
              </a:rPr>
              <a:t>&lt;</a:t>
            </a:r>
            <a:r>
              <a:rPr lang="en-US" i="1">
                <a:latin typeface="Book Antiqua" pitchFamily="18" charset="0"/>
              </a:rPr>
              <a:t>E.sal, E.age</a:t>
            </a:r>
            <a:r>
              <a:rPr lang="en-US">
                <a:latin typeface="Book Antiqua" pitchFamily="18" charset="0"/>
              </a:rPr>
              <a:t>&gt;</a:t>
            </a:r>
          </a:p>
        </p:txBody>
      </p:sp>
      <p:sp>
        <p:nvSpPr>
          <p:cNvPr id="27666" name="Rectangle 18"/>
          <p:cNvSpPr>
            <a:spLocks noChangeArrowheads="1"/>
          </p:cNvSpPr>
          <p:nvPr/>
        </p:nvSpPr>
        <p:spPr bwMode="auto">
          <a:xfrm>
            <a:off x="3505200" y="6251575"/>
            <a:ext cx="823913" cy="454025"/>
          </a:xfrm>
          <a:prstGeom prst="rect">
            <a:avLst/>
          </a:prstGeom>
          <a:noFill/>
          <a:ln w="12700">
            <a:noFill/>
            <a:miter lim="800000"/>
            <a:headEnd/>
            <a:tailEnd/>
          </a:ln>
          <a:effectLst/>
        </p:spPr>
        <p:txBody>
          <a:bodyPr wrap="none" lIns="90488" tIns="44450" rIns="90488" bIns="44450">
            <a:spAutoFit/>
          </a:bodyPr>
          <a:lstStyle/>
          <a:p>
            <a:r>
              <a:rPr lang="en-US" i="1">
                <a:latin typeface="Book Antiqua" pitchFamily="18" charset="0"/>
              </a:rPr>
              <a:t>Tree!</a:t>
            </a: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3686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36868" name="Rectangle 4"/>
          <p:cNvSpPr>
            <a:spLocks noGrp="1" noChangeArrowheads="1"/>
          </p:cNvSpPr>
          <p:nvPr>
            <p:ph type="title"/>
          </p:nvPr>
        </p:nvSpPr>
        <p:spPr>
          <a:xfrm>
            <a:off x="76200" y="152400"/>
            <a:ext cx="7772400" cy="914400"/>
          </a:xfrm>
          <a:noFill/>
          <a:ln/>
        </p:spPr>
        <p:txBody>
          <a:bodyPr/>
          <a:lstStyle/>
          <a:p>
            <a:r>
              <a:rPr lang="en-US"/>
              <a:t>Tuning the Conceptual Schema</a:t>
            </a:r>
          </a:p>
        </p:txBody>
      </p:sp>
      <p:sp>
        <p:nvSpPr>
          <p:cNvPr id="36869" name="Rectangle 5"/>
          <p:cNvSpPr>
            <a:spLocks noGrp="1" noChangeArrowheads="1"/>
          </p:cNvSpPr>
          <p:nvPr>
            <p:ph type="body" idx="1"/>
          </p:nvPr>
        </p:nvSpPr>
        <p:spPr>
          <a:xfrm>
            <a:off x="0" y="1371600"/>
            <a:ext cx="9067800" cy="5181600"/>
          </a:xfrm>
          <a:noFill/>
          <a:ln/>
        </p:spPr>
        <p:txBody>
          <a:bodyPr>
            <a:normAutofit fontScale="92500"/>
          </a:bodyPr>
          <a:lstStyle/>
          <a:p>
            <a:pPr algn="just">
              <a:lnSpc>
                <a:spcPct val="90000"/>
              </a:lnSpc>
            </a:pPr>
            <a:r>
              <a:rPr lang="en-US" dirty="0"/>
              <a:t>The choice of conceptual schema should be guided by the workload, in addition to redundancy issues:</a:t>
            </a:r>
          </a:p>
          <a:p>
            <a:pPr lvl="1" algn="just">
              <a:lnSpc>
                <a:spcPct val="90000"/>
              </a:lnSpc>
              <a:buSzPct val="75000"/>
            </a:pPr>
            <a:r>
              <a:rPr lang="en-US" dirty="0"/>
              <a:t>We may settle for a 3NF schema rather than BCNF.</a:t>
            </a:r>
          </a:p>
          <a:p>
            <a:pPr lvl="1" algn="just">
              <a:lnSpc>
                <a:spcPct val="90000"/>
              </a:lnSpc>
              <a:buSzPct val="75000"/>
            </a:pPr>
            <a:r>
              <a:rPr lang="en-US" dirty="0"/>
              <a:t>Workload may influence the choice we make in decomposing a relation into 3NF or BCNF.</a:t>
            </a:r>
          </a:p>
          <a:p>
            <a:pPr lvl="1" algn="just">
              <a:lnSpc>
                <a:spcPct val="90000"/>
              </a:lnSpc>
              <a:buSzPct val="75000"/>
            </a:pPr>
            <a:r>
              <a:rPr lang="en-US" dirty="0"/>
              <a:t>We may further decompose a BCNF schema!</a:t>
            </a:r>
          </a:p>
          <a:p>
            <a:pPr lvl="1" algn="just">
              <a:lnSpc>
                <a:spcPct val="90000"/>
              </a:lnSpc>
              <a:buSzPct val="75000"/>
            </a:pPr>
            <a:r>
              <a:rPr lang="en-US" dirty="0"/>
              <a:t>We might </a:t>
            </a:r>
            <a:r>
              <a:rPr lang="en-US" i="1" dirty="0" err="1">
                <a:solidFill>
                  <a:schemeClr val="accent2"/>
                </a:solidFill>
              </a:rPr>
              <a:t>denormalize</a:t>
            </a:r>
            <a:r>
              <a:rPr lang="en-US" i="1" dirty="0">
                <a:solidFill>
                  <a:schemeClr val="accent2"/>
                </a:solidFill>
              </a:rPr>
              <a:t> </a:t>
            </a:r>
            <a:r>
              <a:rPr lang="en-US" dirty="0"/>
              <a:t>(i.e., undo a decomposition step), or we might add fields to a relation.</a:t>
            </a:r>
          </a:p>
          <a:p>
            <a:pPr lvl="1" algn="just">
              <a:lnSpc>
                <a:spcPct val="90000"/>
              </a:lnSpc>
              <a:buSzPct val="75000"/>
            </a:pPr>
            <a:r>
              <a:rPr lang="en-US" dirty="0"/>
              <a:t>We might consider </a:t>
            </a:r>
            <a:r>
              <a:rPr lang="en-US" i="1" dirty="0">
                <a:solidFill>
                  <a:schemeClr val="accent2"/>
                </a:solidFill>
              </a:rPr>
              <a:t>horizontal decompositions</a:t>
            </a:r>
            <a:r>
              <a:rPr lang="en-US" dirty="0">
                <a:solidFill>
                  <a:schemeClr val="accent2"/>
                </a:solidFill>
              </a:rPr>
              <a:t>.</a:t>
            </a:r>
          </a:p>
          <a:p>
            <a:pPr algn="just">
              <a:lnSpc>
                <a:spcPct val="90000"/>
              </a:lnSpc>
            </a:pPr>
            <a:r>
              <a:rPr lang="en-US" dirty="0"/>
              <a:t>If such changes are made after a database is in use, called </a:t>
            </a:r>
            <a:r>
              <a:rPr lang="en-US" i="1" dirty="0">
                <a:solidFill>
                  <a:schemeClr val="accent2"/>
                </a:solidFill>
              </a:rPr>
              <a:t>schema evolution</a:t>
            </a:r>
            <a:r>
              <a:rPr lang="en-US" dirty="0"/>
              <a:t>;  might want to mask some of these changes from applications by defining </a:t>
            </a:r>
            <a:r>
              <a:rPr lang="en-US" i="1" dirty="0">
                <a:solidFill>
                  <a:schemeClr val="accent2"/>
                </a:solidFill>
              </a:rPr>
              <a:t>views</a:t>
            </a:r>
            <a:r>
              <a:rPr lang="en-US" i="1" dirty="0"/>
              <a:t>.</a:t>
            </a: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38915"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38916" name="Rectangle 4"/>
          <p:cNvSpPr>
            <a:spLocks noGrp="1" noChangeArrowheads="1"/>
          </p:cNvSpPr>
          <p:nvPr>
            <p:ph type="title"/>
          </p:nvPr>
        </p:nvSpPr>
        <p:spPr>
          <a:xfrm>
            <a:off x="76200" y="152400"/>
            <a:ext cx="7772400" cy="914400"/>
          </a:xfrm>
          <a:noFill/>
          <a:ln/>
        </p:spPr>
        <p:txBody>
          <a:bodyPr/>
          <a:lstStyle/>
          <a:p>
            <a:r>
              <a:rPr lang="en-US"/>
              <a:t>Example Schemas</a:t>
            </a:r>
          </a:p>
        </p:txBody>
      </p:sp>
      <p:sp>
        <p:nvSpPr>
          <p:cNvPr id="38917" name="Rectangle 5"/>
          <p:cNvSpPr>
            <a:spLocks noGrp="1" noChangeArrowheads="1"/>
          </p:cNvSpPr>
          <p:nvPr>
            <p:ph type="body" idx="1"/>
          </p:nvPr>
        </p:nvSpPr>
        <p:spPr>
          <a:xfrm>
            <a:off x="228600" y="3733800"/>
            <a:ext cx="8839200" cy="2590800"/>
          </a:xfrm>
          <a:noFill/>
          <a:ln/>
        </p:spPr>
        <p:txBody>
          <a:bodyPr>
            <a:normAutofit lnSpcReduction="10000"/>
          </a:bodyPr>
          <a:lstStyle/>
          <a:p>
            <a:pPr>
              <a:lnSpc>
                <a:spcPct val="90000"/>
              </a:lnSpc>
            </a:pPr>
            <a:r>
              <a:rPr lang="en-US"/>
              <a:t>We will concentrate on </a:t>
            </a:r>
            <a:r>
              <a:rPr lang="en-US">
                <a:solidFill>
                  <a:schemeClr val="accent2"/>
                </a:solidFill>
              </a:rPr>
              <a:t>Contracts</a:t>
            </a:r>
            <a:r>
              <a:rPr lang="en-US"/>
              <a:t>, denoted as </a:t>
            </a:r>
            <a:r>
              <a:rPr lang="en-US">
                <a:solidFill>
                  <a:schemeClr val="accent2"/>
                </a:solidFill>
              </a:rPr>
              <a:t>CSJDPQV</a:t>
            </a:r>
            <a:r>
              <a:rPr lang="en-US"/>
              <a:t>.  The following integrity constraints are given to hold: </a:t>
            </a:r>
            <a:br>
              <a:rPr lang="en-US"/>
            </a:br>
            <a:r>
              <a:rPr lang="en-US"/>
              <a:t>	</a:t>
            </a:r>
            <a:r>
              <a:rPr lang="en-US">
                <a:solidFill>
                  <a:schemeClr val="accent2"/>
                </a:solidFill>
              </a:rPr>
              <a:t>JP </a:t>
            </a:r>
            <a:r>
              <a:rPr lang="en-US">
                <a:solidFill>
                  <a:schemeClr val="accent2"/>
                </a:solidFill>
                <a:ea typeface="Lucida Grande" pitchFamily="28" charset="0"/>
                <a:cs typeface="Lucida Grande" pitchFamily="28" charset="0"/>
              </a:rPr>
              <a:t>→</a:t>
            </a:r>
            <a:r>
              <a:rPr lang="en-US">
                <a:solidFill>
                  <a:schemeClr val="accent2"/>
                </a:solidFill>
              </a:rPr>
              <a:t> C,  SD </a:t>
            </a:r>
            <a:r>
              <a:rPr lang="en-US">
                <a:solidFill>
                  <a:schemeClr val="accent2"/>
                </a:solidFill>
                <a:ea typeface="Lucida Grande" pitchFamily="28" charset="0"/>
                <a:cs typeface="Lucida Grande" pitchFamily="28" charset="0"/>
              </a:rPr>
              <a:t>→</a:t>
            </a:r>
            <a:r>
              <a:rPr lang="en-US">
                <a:solidFill>
                  <a:schemeClr val="accent2"/>
                </a:solidFill>
              </a:rPr>
              <a:t> P,  C </a:t>
            </a:r>
            <a:r>
              <a:rPr lang="en-US"/>
              <a:t>is the </a:t>
            </a:r>
            <a:r>
              <a:rPr lang="en-US">
                <a:solidFill>
                  <a:schemeClr val="accent2"/>
                </a:solidFill>
              </a:rPr>
              <a:t>primary key</a:t>
            </a:r>
            <a:r>
              <a:rPr lang="en-US"/>
              <a:t>.</a:t>
            </a:r>
          </a:p>
          <a:p>
            <a:pPr lvl="1">
              <a:lnSpc>
                <a:spcPct val="90000"/>
              </a:lnSpc>
              <a:buSzPct val="75000"/>
            </a:pPr>
            <a:r>
              <a:rPr lang="en-US"/>
              <a:t>What are the candidate keys for CSJDPQV?  </a:t>
            </a:r>
          </a:p>
          <a:p>
            <a:pPr lvl="1">
              <a:lnSpc>
                <a:spcPct val="90000"/>
              </a:lnSpc>
              <a:buSzPct val="75000"/>
            </a:pPr>
            <a:r>
              <a:rPr lang="en-US"/>
              <a:t>What normal form is this relation schema in?</a:t>
            </a:r>
          </a:p>
        </p:txBody>
      </p:sp>
      <p:sp>
        <p:nvSpPr>
          <p:cNvPr id="38920" name="Rectangle 8"/>
          <p:cNvSpPr>
            <a:spLocks noChangeArrowheads="1"/>
          </p:cNvSpPr>
          <p:nvPr/>
        </p:nvSpPr>
        <p:spPr bwMode="auto">
          <a:xfrm>
            <a:off x="1295400" y="1219200"/>
            <a:ext cx="6880225" cy="2236788"/>
          </a:xfrm>
          <a:prstGeom prst="rect">
            <a:avLst/>
          </a:prstGeom>
          <a:noFill/>
          <a:ln w="12700">
            <a:solidFill>
              <a:schemeClr val="tx1"/>
            </a:solidFill>
            <a:miter lim="800000"/>
            <a:headEnd/>
            <a:tailEnd/>
          </a:ln>
          <a:effectLst/>
        </p:spPr>
        <p:txBody>
          <a:bodyPr wrap="none" lIns="90488" tIns="44450" rIns="90488" bIns="44450">
            <a:spAutoFit/>
          </a:bodyPr>
          <a:lstStyle/>
          <a:p>
            <a:r>
              <a:rPr lang="en-US" sz="2800">
                <a:solidFill>
                  <a:schemeClr val="accent2"/>
                </a:solidFill>
                <a:latin typeface="Book Antiqua" pitchFamily="18" charset="0"/>
              </a:rPr>
              <a:t>Contracts (</a:t>
            </a:r>
            <a:r>
              <a:rPr lang="en-US" sz="2800" u="sng">
                <a:solidFill>
                  <a:schemeClr val="accent2"/>
                </a:solidFill>
                <a:latin typeface="Book Antiqua" pitchFamily="18" charset="0"/>
              </a:rPr>
              <a:t>Cid</a:t>
            </a:r>
            <a:r>
              <a:rPr lang="en-US" sz="2800">
                <a:solidFill>
                  <a:schemeClr val="accent2"/>
                </a:solidFill>
                <a:latin typeface="Book Antiqua" pitchFamily="18" charset="0"/>
              </a:rPr>
              <a:t>, Sid, Jid, Did, Pid, Qty, Val)</a:t>
            </a:r>
          </a:p>
          <a:p>
            <a:r>
              <a:rPr lang="en-US" sz="2800">
                <a:latin typeface="Book Antiqua" pitchFamily="18" charset="0"/>
              </a:rPr>
              <a:t>Depts (</a:t>
            </a:r>
            <a:r>
              <a:rPr lang="en-US" sz="2800" u="sng">
                <a:latin typeface="Book Antiqua" pitchFamily="18" charset="0"/>
              </a:rPr>
              <a:t>Did</a:t>
            </a:r>
            <a:r>
              <a:rPr lang="en-US" sz="2800">
                <a:latin typeface="Book Antiqua" pitchFamily="18" charset="0"/>
              </a:rPr>
              <a:t>, Budget, Report)	</a:t>
            </a:r>
          </a:p>
          <a:p>
            <a:r>
              <a:rPr lang="en-US" sz="2800">
                <a:latin typeface="Book Antiqua" pitchFamily="18" charset="0"/>
              </a:rPr>
              <a:t>Suppliers (</a:t>
            </a:r>
            <a:r>
              <a:rPr lang="en-US" sz="2800" u="sng">
                <a:latin typeface="Book Antiqua" pitchFamily="18" charset="0"/>
              </a:rPr>
              <a:t>Sid</a:t>
            </a:r>
            <a:r>
              <a:rPr lang="en-US" sz="2800">
                <a:latin typeface="Book Antiqua" pitchFamily="18" charset="0"/>
              </a:rPr>
              <a:t>, Address)</a:t>
            </a:r>
          </a:p>
          <a:p>
            <a:r>
              <a:rPr lang="en-US" sz="2800">
                <a:latin typeface="Book Antiqua" pitchFamily="18" charset="0"/>
              </a:rPr>
              <a:t>Parts (</a:t>
            </a:r>
            <a:r>
              <a:rPr lang="en-US" sz="2800" u="sng">
                <a:latin typeface="Book Antiqua" pitchFamily="18" charset="0"/>
              </a:rPr>
              <a:t>Pid</a:t>
            </a:r>
            <a:r>
              <a:rPr lang="en-US" sz="2800">
                <a:latin typeface="Book Antiqua" pitchFamily="18" charset="0"/>
              </a:rPr>
              <a:t>, Cost)			</a:t>
            </a:r>
          </a:p>
          <a:p>
            <a:r>
              <a:rPr lang="en-US" sz="2800">
                <a:latin typeface="Book Antiqua" pitchFamily="18" charset="0"/>
              </a:rPr>
              <a:t>Projects (</a:t>
            </a:r>
            <a:r>
              <a:rPr lang="en-US" sz="2800" u="sng">
                <a:latin typeface="Book Antiqua" pitchFamily="18" charset="0"/>
              </a:rPr>
              <a:t>Jid</a:t>
            </a:r>
            <a:r>
              <a:rPr lang="en-US" sz="2800">
                <a:latin typeface="Book Antiqua" pitchFamily="18" charset="0"/>
              </a:rPr>
              <a:t>, Mgr)</a:t>
            </a: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685800" y="6329386"/>
            <a:ext cx="1905000" cy="457200"/>
          </a:xfrm>
          <a:prstGeom prst="rect">
            <a:avLst/>
          </a:prstGeom>
          <a:noFill/>
          <a:ln w="12700">
            <a:noFill/>
            <a:miter lim="800000"/>
            <a:headEnd/>
            <a:tailEnd/>
          </a:ln>
          <a:effectLst/>
        </p:spPr>
        <p:txBody>
          <a:bodyPr wrap="none" anchor="ctr"/>
          <a:lstStyle/>
          <a:p>
            <a:endParaRPr lang="en-IN"/>
          </a:p>
        </p:txBody>
      </p:sp>
      <p:sp>
        <p:nvSpPr>
          <p:cNvPr id="4096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40964" name="Rectangle 4"/>
          <p:cNvSpPr>
            <a:spLocks noGrp="1" noChangeArrowheads="1"/>
          </p:cNvSpPr>
          <p:nvPr>
            <p:ph type="title"/>
          </p:nvPr>
        </p:nvSpPr>
        <p:spPr>
          <a:noFill/>
          <a:ln/>
        </p:spPr>
        <p:txBody>
          <a:bodyPr/>
          <a:lstStyle/>
          <a:p>
            <a:r>
              <a:rPr lang="en-US"/>
              <a:t>Settling for 3NF vs BCNF</a:t>
            </a:r>
          </a:p>
        </p:txBody>
      </p:sp>
      <p:sp>
        <p:nvSpPr>
          <p:cNvPr id="40965" name="Rectangle 5"/>
          <p:cNvSpPr>
            <a:spLocks noGrp="1" noChangeArrowheads="1"/>
          </p:cNvSpPr>
          <p:nvPr>
            <p:ph type="body" idx="1"/>
          </p:nvPr>
        </p:nvSpPr>
        <p:spPr>
          <a:xfrm>
            <a:off x="0" y="1752600"/>
            <a:ext cx="9067800" cy="4724400"/>
          </a:xfrm>
          <a:noFill/>
          <a:ln/>
        </p:spPr>
        <p:txBody>
          <a:bodyPr>
            <a:normAutofit fontScale="92500" lnSpcReduction="10000"/>
          </a:bodyPr>
          <a:lstStyle/>
          <a:p>
            <a:pPr algn="just"/>
            <a:r>
              <a:rPr lang="en-US" dirty="0">
                <a:solidFill>
                  <a:schemeClr val="accent2"/>
                </a:solidFill>
              </a:rPr>
              <a:t>CSJDPQV</a:t>
            </a:r>
            <a:r>
              <a:rPr lang="en-US" dirty="0"/>
              <a:t> can be decomposed into</a:t>
            </a:r>
            <a:r>
              <a:rPr lang="en-US" dirty="0">
                <a:solidFill>
                  <a:schemeClr val="accent2"/>
                </a:solidFill>
              </a:rPr>
              <a:t> SDP </a:t>
            </a:r>
            <a:r>
              <a:rPr lang="en-US" dirty="0"/>
              <a:t>and </a:t>
            </a:r>
            <a:r>
              <a:rPr lang="en-US" dirty="0">
                <a:solidFill>
                  <a:schemeClr val="accent2"/>
                </a:solidFill>
              </a:rPr>
              <a:t>CSJDQV</a:t>
            </a:r>
            <a:r>
              <a:rPr lang="en-US" dirty="0"/>
              <a:t>,  and both relations are in </a:t>
            </a:r>
            <a:r>
              <a:rPr lang="en-US" dirty="0">
                <a:solidFill>
                  <a:schemeClr val="accent2"/>
                </a:solidFill>
              </a:rPr>
              <a:t>BCNF</a:t>
            </a:r>
            <a:r>
              <a:rPr lang="en-US" dirty="0"/>
              <a:t>.  (Which FD suggests that we do this?)</a:t>
            </a:r>
          </a:p>
          <a:p>
            <a:pPr lvl="1" algn="just">
              <a:buSzPct val="75000"/>
            </a:pPr>
            <a:r>
              <a:rPr lang="en-US" dirty="0">
                <a:solidFill>
                  <a:schemeClr val="accent2"/>
                </a:solidFill>
              </a:rPr>
              <a:t>Lossless decomposition</a:t>
            </a:r>
            <a:r>
              <a:rPr lang="en-US" dirty="0"/>
              <a:t>, but </a:t>
            </a:r>
            <a:r>
              <a:rPr lang="en-US" dirty="0">
                <a:solidFill>
                  <a:schemeClr val="accent2"/>
                </a:solidFill>
              </a:rPr>
              <a:t>not dependency-preserving</a:t>
            </a:r>
            <a:r>
              <a:rPr lang="en-US" dirty="0"/>
              <a:t>. </a:t>
            </a:r>
          </a:p>
          <a:p>
            <a:pPr lvl="1" algn="just">
              <a:buSzPct val="75000"/>
            </a:pPr>
            <a:r>
              <a:rPr lang="en-US" dirty="0"/>
              <a:t>Adding CJP makes it dependency-preserving as well.</a:t>
            </a:r>
          </a:p>
          <a:p>
            <a:pPr algn="just"/>
            <a:r>
              <a:rPr lang="en-US" dirty="0"/>
              <a:t>Suppose that this query is very important:</a:t>
            </a:r>
          </a:p>
          <a:p>
            <a:pPr lvl="1" algn="just">
              <a:buSzPct val="75000"/>
            </a:pPr>
            <a:r>
              <a:rPr lang="en-US" i="1" dirty="0">
                <a:solidFill>
                  <a:schemeClr val="accent2"/>
                </a:solidFill>
              </a:rPr>
              <a:t>Find the number of copies Q of part P ordered in contract C.</a:t>
            </a:r>
            <a:endParaRPr lang="en-US" i="1" dirty="0"/>
          </a:p>
          <a:p>
            <a:pPr lvl="1" algn="just">
              <a:buSzPct val="75000"/>
            </a:pPr>
            <a:r>
              <a:rPr lang="en-US" dirty="0">
                <a:solidFill>
                  <a:schemeClr val="accent2"/>
                </a:solidFill>
              </a:rPr>
              <a:t>Requires a join </a:t>
            </a:r>
            <a:r>
              <a:rPr lang="en-US" dirty="0"/>
              <a:t>on the decomposed </a:t>
            </a:r>
            <a:r>
              <a:rPr lang="en-US" dirty="0" smtClean="0"/>
              <a:t>schema CJP and CSJDQV, </a:t>
            </a:r>
            <a:r>
              <a:rPr lang="en-US" dirty="0"/>
              <a:t>but can be answered by a scan of the original relation CSJDPQV.</a:t>
            </a:r>
          </a:p>
          <a:p>
            <a:pPr lvl="1" algn="just">
              <a:buSzPct val="75000"/>
            </a:pPr>
            <a:r>
              <a:rPr lang="en-US" dirty="0"/>
              <a:t>Could lead us to settle for the 3NF schema CSJDPQV.</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4301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43012" name="Rectangle 4"/>
          <p:cNvSpPr>
            <a:spLocks noGrp="1" noChangeArrowheads="1"/>
          </p:cNvSpPr>
          <p:nvPr>
            <p:ph type="title"/>
          </p:nvPr>
        </p:nvSpPr>
        <p:spPr>
          <a:noFill/>
          <a:ln/>
        </p:spPr>
        <p:txBody>
          <a:bodyPr/>
          <a:lstStyle/>
          <a:p>
            <a:r>
              <a:rPr lang="en-US"/>
              <a:t>Denormalization</a:t>
            </a:r>
          </a:p>
        </p:txBody>
      </p:sp>
      <p:sp>
        <p:nvSpPr>
          <p:cNvPr id="43013" name="Rectangle 5"/>
          <p:cNvSpPr>
            <a:spLocks noGrp="1" noChangeArrowheads="1"/>
          </p:cNvSpPr>
          <p:nvPr>
            <p:ph type="body" idx="1"/>
          </p:nvPr>
        </p:nvSpPr>
        <p:spPr>
          <a:xfrm>
            <a:off x="0" y="1676400"/>
            <a:ext cx="9067800" cy="4724400"/>
          </a:xfrm>
          <a:noFill/>
          <a:ln/>
        </p:spPr>
        <p:txBody>
          <a:bodyPr>
            <a:normAutofit fontScale="92500" lnSpcReduction="10000"/>
          </a:bodyPr>
          <a:lstStyle/>
          <a:p>
            <a:pPr algn="just">
              <a:lnSpc>
                <a:spcPct val="90000"/>
              </a:lnSpc>
            </a:pPr>
            <a:r>
              <a:rPr lang="en-US" dirty="0"/>
              <a:t>Suppose that the following query is important:</a:t>
            </a:r>
          </a:p>
          <a:p>
            <a:pPr lvl="1" algn="just">
              <a:lnSpc>
                <a:spcPct val="90000"/>
              </a:lnSpc>
              <a:buSzPct val="75000"/>
            </a:pPr>
            <a:r>
              <a:rPr lang="en-US" i="1" dirty="0">
                <a:solidFill>
                  <a:schemeClr val="accent2"/>
                </a:solidFill>
              </a:rPr>
              <a:t>Is the value of a contract less than the budget of the departmen</a:t>
            </a:r>
            <a:r>
              <a:rPr lang="en-US" dirty="0">
                <a:solidFill>
                  <a:schemeClr val="accent2"/>
                </a:solidFill>
              </a:rPr>
              <a:t>t?</a:t>
            </a:r>
            <a:endParaRPr lang="en-US" dirty="0"/>
          </a:p>
          <a:p>
            <a:pPr algn="just">
              <a:lnSpc>
                <a:spcPct val="90000"/>
              </a:lnSpc>
            </a:pPr>
            <a:r>
              <a:rPr lang="en-US" dirty="0"/>
              <a:t>To speed up this query, we might add a field </a:t>
            </a:r>
            <a:r>
              <a:rPr lang="en-US" i="1" dirty="0"/>
              <a:t>budget</a:t>
            </a:r>
            <a:r>
              <a:rPr lang="en-US" dirty="0"/>
              <a:t> B to Contracts.  </a:t>
            </a:r>
          </a:p>
          <a:p>
            <a:pPr lvl="1" algn="just">
              <a:lnSpc>
                <a:spcPct val="90000"/>
              </a:lnSpc>
              <a:buSzPct val="75000"/>
            </a:pPr>
            <a:r>
              <a:rPr lang="en-US" dirty="0"/>
              <a:t>This introduces the FD  D </a:t>
            </a:r>
            <a:r>
              <a:rPr lang="en-US" dirty="0">
                <a:ea typeface="Lucida Grande" pitchFamily="28" charset="0"/>
                <a:cs typeface="Lucida Grande" pitchFamily="28" charset="0"/>
              </a:rPr>
              <a:t>→</a:t>
            </a:r>
            <a:r>
              <a:rPr lang="en-US" dirty="0"/>
              <a:t> B </a:t>
            </a:r>
            <a:r>
              <a:rPr lang="en-US" dirty="0" err="1"/>
              <a:t>wrt</a:t>
            </a:r>
            <a:r>
              <a:rPr lang="en-US" dirty="0"/>
              <a:t> Contracts.</a:t>
            </a:r>
          </a:p>
          <a:p>
            <a:pPr lvl="1" algn="just">
              <a:lnSpc>
                <a:spcPct val="90000"/>
              </a:lnSpc>
              <a:buSzPct val="75000"/>
            </a:pPr>
            <a:r>
              <a:rPr lang="en-US" dirty="0"/>
              <a:t>Thus, Contracts is no longer in 3NF.</a:t>
            </a:r>
          </a:p>
          <a:p>
            <a:pPr algn="just">
              <a:lnSpc>
                <a:spcPct val="90000"/>
              </a:lnSpc>
            </a:pPr>
            <a:r>
              <a:rPr lang="en-US" dirty="0"/>
              <a:t>We might choose to modify Contracts despite this if the query is sufficiently important, and we cannot obtain adequate performance otherwise (i.e., by adding indexes or by choosing an alternative 3NF schema.)</a:t>
            </a: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4505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45060" name="Rectangle 4"/>
          <p:cNvSpPr>
            <a:spLocks noGrp="1" noChangeArrowheads="1"/>
          </p:cNvSpPr>
          <p:nvPr>
            <p:ph type="title"/>
          </p:nvPr>
        </p:nvSpPr>
        <p:spPr>
          <a:noFill/>
          <a:ln/>
        </p:spPr>
        <p:txBody>
          <a:bodyPr/>
          <a:lstStyle/>
          <a:p>
            <a:r>
              <a:rPr lang="en-US"/>
              <a:t>Choice of Decompositions</a:t>
            </a:r>
          </a:p>
        </p:txBody>
      </p:sp>
      <p:sp>
        <p:nvSpPr>
          <p:cNvPr id="45061" name="Rectangle 5"/>
          <p:cNvSpPr>
            <a:spLocks noGrp="1" noChangeArrowheads="1"/>
          </p:cNvSpPr>
          <p:nvPr>
            <p:ph type="body" idx="1"/>
          </p:nvPr>
        </p:nvSpPr>
        <p:spPr>
          <a:xfrm>
            <a:off x="0" y="1676400"/>
            <a:ext cx="9067800" cy="2609856"/>
          </a:xfrm>
          <a:noFill/>
          <a:ln/>
        </p:spPr>
        <p:txBody>
          <a:bodyPr>
            <a:normAutofit fontScale="77500" lnSpcReduction="20000"/>
          </a:bodyPr>
          <a:lstStyle/>
          <a:p>
            <a:pPr algn="just"/>
            <a:r>
              <a:rPr lang="en-US" dirty="0"/>
              <a:t>There are 2 ways to decompose CSJDPQV into BCNF:</a:t>
            </a:r>
          </a:p>
          <a:p>
            <a:pPr lvl="1" algn="just">
              <a:buSzPct val="75000"/>
            </a:pPr>
            <a:r>
              <a:rPr lang="en-US" dirty="0">
                <a:solidFill>
                  <a:schemeClr val="accent2"/>
                </a:solidFill>
              </a:rPr>
              <a:t>SDP and CSJDQV</a:t>
            </a:r>
            <a:r>
              <a:rPr lang="en-US" dirty="0"/>
              <a:t>; lossless-join but not </a:t>
            </a:r>
            <a:r>
              <a:rPr lang="en-US" dirty="0" err="1"/>
              <a:t>dep</a:t>
            </a:r>
            <a:r>
              <a:rPr lang="en-US" dirty="0"/>
              <a:t>-preserving.</a:t>
            </a:r>
          </a:p>
          <a:p>
            <a:pPr lvl="1" algn="just">
              <a:buSzPct val="75000"/>
            </a:pPr>
            <a:r>
              <a:rPr lang="en-US" dirty="0">
                <a:solidFill>
                  <a:schemeClr val="accent2"/>
                </a:solidFill>
              </a:rPr>
              <a:t>SDP, CSJDQV and CJP</a:t>
            </a:r>
            <a:r>
              <a:rPr lang="en-US" dirty="0"/>
              <a:t>; </a:t>
            </a:r>
            <a:r>
              <a:rPr lang="en-US" dirty="0" err="1"/>
              <a:t>dep</a:t>
            </a:r>
            <a:r>
              <a:rPr lang="en-US" dirty="0"/>
              <a:t>-preserving as well.</a:t>
            </a:r>
          </a:p>
          <a:p>
            <a:pPr algn="just"/>
            <a:r>
              <a:rPr lang="en-US" dirty="0"/>
              <a:t>The </a:t>
            </a:r>
            <a:r>
              <a:rPr lang="en-US" dirty="0">
                <a:solidFill>
                  <a:schemeClr val="accent2"/>
                </a:solidFill>
              </a:rPr>
              <a:t>difference</a:t>
            </a:r>
            <a:r>
              <a:rPr lang="en-US" dirty="0"/>
              <a:t> between these is really the </a:t>
            </a:r>
            <a:r>
              <a:rPr lang="en-US" dirty="0">
                <a:solidFill>
                  <a:schemeClr val="accent2"/>
                </a:solidFill>
              </a:rPr>
              <a:t>cost of enforcing the FD JP </a:t>
            </a:r>
            <a:r>
              <a:rPr lang="en-US" dirty="0">
                <a:solidFill>
                  <a:schemeClr val="accent2"/>
                </a:solidFill>
                <a:ea typeface="Lucida Grande" pitchFamily="28" charset="0"/>
                <a:cs typeface="Lucida Grande" pitchFamily="28" charset="0"/>
              </a:rPr>
              <a:t>→</a:t>
            </a:r>
            <a:r>
              <a:rPr lang="en-US" dirty="0">
                <a:solidFill>
                  <a:schemeClr val="accent2"/>
                </a:solidFill>
              </a:rPr>
              <a:t> C.</a:t>
            </a:r>
            <a:endParaRPr lang="en-US" dirty="0"/>
          </a:p>
          <a:p>
            <a:pPr lvl="1" algn="just">
              <a:buSzPct val="75000"/>
            </a:pPr>
            <a:r>
              <a:rPr lang="en-US" dirty="0"/>
              <a:t>2nd decomposition:  Index on JP on relation CJP.</a:t>
            </a:r>
          </a:p>
          <a:p>
            <a:pPr lvl="1" algn="just">
              <a:buSzPct val="75000"/>
            </a:pPr>
            <a:r>
              <a:rPr lang="en-US" dirty="0"/>
              <a:t>1st:</a:t>
            </a:r>
          </a:p>
        </p:txBody>
      </p:sp>
      <p:sp>
        <p:nvSpPr>
          <p:cNvPr id="45063" name="Rectangle 7"/>
          <p:cNvSpPr>
            <a:spLocks noChangeArrowheads="1"/>
          </p:cNvSpPr>
          <p:nvPr/>
        </p:nvSpPr>
        <p:spPr bwMode="auto">
          <a:xfrm>
            <a:off x="1905000" y="4419600"/>
            <a:ext cx="6781800" cy="2219325"/>
          </a:xfrm>
          <a:prstGeom prst="rect">
            <a:avLst/>
          </a:prstGeom>
          <a:noFill/>
          <a:ln w="12700">
            <a:noFill/>
            <a:miter lim="800000"/>
            <a:headEnd/>
            <a:tailEnd/>
          </a:ln>
          <a:effectLst/>
        </p:spPr>
        <p:txBody>
          <a:bodyPr lIns="90488" tIns="44450" rIns="90488" bIns="44450">
            <a:spAutoFit/>
          </a:bodyPr>
          <a:lstStyle/>
          <a:p>
            <a:r>
              <a:rPr lang="en-US" sz="2000" dirty="0">
                <a:latin typeface="Book Antiqua" pitchFamily="18" charset="0"/>
              </a:rPr>
              <a:t>CREATE ASSERTION  </a:t>
            </a:r>
            <a:r>
              <a:rPr lang="en-US" dirty="0" err="1">
                <a:latin typeface="Book Antiqua" pitchFamily="18" charset="0"/>
              </a:rPr>
              <a:t>CheckDep</a:t>
            </a:r>
            <a:r>
              <a:rPr lang="en-US" dirty="0">
                <a:latin typeface="Book Antiqua" pitchFamily="18" charset="0"/>
              </a:rPr>
              <a:t> </a:t>
            </a:r>
            <a:r>
              <a:rPr lang="en-US" sz="2000" dirty="0">
                <a:latin typeface="Book Antiqua" pitchFamily="18" charset="0"/>
              </a:rPr>
              <a:t>CHECK  </a:t>
            </a:r>
          </a:p>
          <a:p>
            <a:r>
              <a:rPr lang="en-US" sz="2000" dirty="0">
                <a:latin typeface="Book Antiqua" pitchFamily="18" charset="0"/>
              </a:rPr>
              <a:t>( NOT EXISTS  </a:t>
            </a:r>
            <a:br>
              <a:rPr lang="en-US" sz="2000" dirty="0">
                <a:latin typeface="Book Antiqua" pitchFamily="18" charset="0"/>
              </a:rPr>
            </a:br>
            <a:r>
              <a:rPr lang="en-US" sz="2000" dirty="0">
                <a:latin typeface="Book Antiqua" pitchFamily="18" charset="0"/>
              </a:rPr>
              <a:t>    ( SELECT  * FROM  </a:t>
            </a:r>
            <a:r>
              <a:rPr lang="en-US" dirty="0" err="1">
                <a:latin typeface="Book Antiqua" pitchFamily="18" charset="0"/>
              </a:rPr>
              <a:t>PartInfo</a:t>
            </a:r>
            <a:r>
              <a:rPr lang="en-US" dirty="0">
                <a:latin typeface="Book Antiqua" pitchFamily="18" charset="0"/>
              </a:rPr>
              <a:t> P, </a:t>
            </a:r>
            <a:r>
              <a:rPr lang="en-US" dirty="0" err="1">
                <a:latin typeface="Book Antiqua" pitchFamily="18" charset="0"/>
              </a:rPr>
              <a:t>ContractInfo</a:t>
            </a:r>
            <a:r>
              <a:rPr lang="en-US" dirty="0">
                <a:latin typeface="Book Antiqua" pitchFamily="18" charset="0"/>
              </a:rPr>
              <a:t> C</a:t>
            </a:r>
          </a:p>
          <a:p>
            <a:r>
              <a:rPr lang="en-US" sz="2000" dirty="0">
                <a:latin typeface="Book Antiqua" pitchFamily="18" charset="0"/>
              </a:rPr>
              <a:t>          WHERE</a:t>
            </a:r>
            <a:r>
              <a:rPr lang="en-US" dirty="0">
                <a:latin typeface="Book Antiqua" pitchFamily="18" charset="0"/>
              </a:rPr>
              <a:t>  P.sid=C.sid </a:t>
            </a:r>
            <a:r>
              <a:rPr lang="en-US" sz="2000" dirty="0">
                <a:latin typeface="Book Antiqua" pitchFamily="18" charset="0"/>
              </a:rPr>
              <a:t>AND</a:t>
            </a:r>
            <a:r>
              <a:rPr lang="en-US" dirty="0">
                <a:latin typeface="Book Antiqua" pitchFamily="18" charset="0"/>
              </a:rPr>
              <a:t> </a:t>
            </a:r>
            <a:r>
              <a:rPr lang="en-US" dirty="0" err="1">
                <a:latin typeface="Book Antiqua" pitchFamily="18" charset="0"/>
              </a:rPr>
              <a:t>P.did</a:t>
            </a:r>
            <a:r>
              <a:rPr lang="en-US" dirty="0">
                <a:latin typeface="Book Antiqua" pitchFamily="18" charset="0"/>
              </a:rPr>
              <a:t>=</a:t>
            </a:r>
            <a:r>
              <a:rPr lang="en-US" dirty="0" err="1">
                <a:latin typeface="Book Antiqua" pitchFamily="18" charset="0"/>
              </a:rPr>
              <a:t>C.did</a:t>
            </a:r>
            <a:endParaRPr lang="en-US" dirty="0">
              <a:latin typeface="Book Antiqua" pitchFamily="18" charset="0"/>
            </a:endParaRPr>
          </a:p>
          <a:p>
            <a:r>
              <a:rPr lang="en-US" sz="2000" dirty="0">
                <a:latin typeface="Book Antiqua" pitchFamily="18" charset="0"/>
              </a:rPr>
              <a:t>          GROUP BY</a:t>
            </a:r>
            <a:r>
              <a:rPr lang="en-US" dirty="0">
                <a:latin typeface="Book Antiqua" pitchFamily="18" charset="0"/>
              </a:rPr>
              <a:t>  C.jid, P.pid</a:t>
            </a:r>
          </a:p>
          <a:p>
            <a:r>
              <a:rPr lang="en-US" sz="2000" dirty="0">
                <a:latin typeface="Book Antiqua" pitchFamily="18" charset="0"/>
              </a:rPr>
              <a:t>          HAVING  COUNT </a:t>
            </a:r>
            <a:r>
              <a:rPr lang="en-US" dirty="0">
                <a:latin typeface="Book Antiqua" pitchFamily="18" charset="0"/>
              </a:rPr>
              <a:t>(C.cid) &gt; 1  ))</a:t>
            </a:r>
          </a:p>
        </p:txBody>
      </p:sp>
    </p:spTree>
  </p:cSld>
  <p:clrMapOvr>
    <a:masterClrMapping/>
  </p:clrMapOvr>
  <p:transition>
    <p:cu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4710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47108" name="Rectangle 4"/>
          <p:cNvSpPr>
            <a:spLocks noGrp="1" noChangeArrowheads="1"/>
          </p:cNvSpPr>
          <p:nvPr>
            <p:ph type="title"/>
          </p:nvPr>
        </p:nvSpPr>
        <p:spPr>
          <a:noFill/>
          <a:ln/>
        </p:spPr>
        <p:txBody>
          <a:bodyPr/>
          <a:lstStyle/>
          <a:p>
            <a:r>
              <a:rPr lang="en-US"/>
              <a:t>Choice of Decompositions (Contd.)</a:t>
            </a:r>
          </a:p>
        </p:txBody>
      </p:sp>
      <p:sp>
        <p:nvSpPr>
          <p:cNvPr id="47109" name="Rectangle 5"/>
          <p:cNvSpPr>
            <a:spLocks noGrp="1" noChangeArrowheads="1"/>
          </p:cNvSpPr>
          <p:nvPr>
            <p:ph type="body" idx="1"/>
          </p:nvPr>
        </p:nvSpPr>
        <p:spPr>
          <a:xfrm>
            <a:off x="0" y="1524000"/>
            <a:ext cx="9067800" cy="4876800"/>
          </a:xfrm>
          <a:noFill/>
          <a:ln/>
        </p:spPr>
        <p:txBody>
          <a:bodyPr>
            <a:normAutofit fontScale="92500" lnSpcReduction="10000"/>
          </a:bodyPr>
          <a:lstStyle/>
          <a:p>
            <a:pPr>
              <a:lnSpc>
                <a:spcPct val="90000"/>
              </a:lnSpc>
            </a:pPr>
            <a:r>
              <a:rPr lang="en-US"/>
              <a:t>The following FDs were given to hold:        	               	JP </a:t>
            </a:r>
            <a:r>
              <a:rPr lang="en-US">
                <a:ea typeface="Lucida Grande" pitchFamily="28" charset="0"/>
                <a:cs typeface="Lucida Grande" pitchFamily="28" charset="0"/>
              </a:rPr>
              <a:t>→</a:t>
            </a:r>
            <a:r>
              <a:rPr lang="en-US"/>
              <a:t> C,  SD </a:t>
            </a:r>
            <a:r>
              <a:rPr lang="en-US">
                <a:ea typeface="Lucida Grande" pitchFamily="28" charset="0"/>
                <a:cs typeface="Lucida Grande" pitchFamily="28" charset="0"/>
              </a:rPr>
              <a:t>→</a:t>
            </a:r>
            <a:r>
              <a:rPr lang="en-US"/>
              <a:t> P,  C is the primary key.  </a:t>
            </a:r>
          </a:p>
          <a:p>
            <a:pPr>
              <a:lnSpc>
                <a:spcPct val="90000"/>
              </a:lnSpc>
            </a:pPr>
            <a:r>
              <a:rPr lang="en-US"/>
              <a:t>Suppose that, in addition, a given supplier always charges the same price for a given part:  SPQ </a:t>
            </a:r>
            <a:r>
              <a:rPr lang="en-US">
                <a:ea typeface="Lucida Grande" pitchFamily="28" charset="0"/>
                <a:cs typeface="Lucida Grande" pitchFamily="28" charset="0"/>
              </a:rPr>
              <a:t>→</a:t>
            </a:r>
            <a:r>
              <a:rPr lang="en-US"/>
              <a:t> V.</a:t>
            </a:r>
          </a:p>
          <a:p>
            <a:pPr>
              <a:lnSpc>
                <a:spcPct val="90000"/>
              </a:lnSpc>
            </a:pPr>
            <a:r>
              <a:rPr lang="en-US"/>
              <a:t>If we decide that we want to decompose CSJDPQV into BCNF, we now have a third choice:</a:t>
            </a:r>
          </a:p>
          <a:p>
            <a:pPr lvl="1">
              <a:lnSpc>
                <a:spcPct val="90000"/>
              </a:lnSpc>
              <a:buSzPct val="75000"/>
            </a:pPr>
            <a:r>
              <a:rPr lang="en-US"/>
              <a:t>Begin by decomposing it into SPQV and CSJDPQ.</a:t>
            </a:r>
          </a:p>
          <a:p>
            <a:pPr lvl="1">
              <a:lnSpc>
                <a:spcPct val="90000"/>
              </a:lnSpc>
              <a:buSzPct val="75000"/>
            </a:pPr>
            <a:r>
              <a:rPr lang="en-US"/>
              <a:t>Then, decompose CSJDPQ  (not in 3NF) into SDP, CSJDQ.</a:t>
            </a:r>
          </a:p>
          <a:p>
            <a:pPr lvl="1">
              <a:lnSpc>
                <a:spcPct val="90000"/>
              </a:lnSpc>
              <a:buSzPct val="75000"/>
            </a:pPr>
            <a:r>
              <a:rPr lang="en-US"/>
              <a:t>This gives us the lossless-join decomp:  SPQV, SDP, CSJDQ.</a:t>
            </a:r>
          </a:p>
          <a:p>
            <a:pPr lvl="1">
              <a:lnSpc>
                <a:spcPct val="90000"/>
              </a:lnSpc>
              <a:buSzPct val="75000"/>
            </a:pPr>
            <a:r>
              <a:rPr lang="en-US"/>
              <a:t>To preserve JP </a:t>
            </a:r>
            <a:r>
              <a:rPr lang="en-US">
                <a:ea typeface="Lucida Grande" pitchFamily="28" charset="0"/>
                <a:cs typeface="Lucida Grande" pitchFamily="28" charset="0"/>
              </a:rPr>
              <a:t>→</a:t>
            </a:r>
            <a:r>
              <a:rPr lang="en-US"/>
              <a:t> C, we can add CJP, as before.</a:t>
            </a:r>
          </a:p>
          <a:p>
            <a:pPr>
              <a:lnSpc>
                <a:spcPct val="90000"/>
              </a:lnSpc>
            </a:pPr>
            <a:r>
              <a:rPr lang="en-US">
                <a:solidFill>
                  <a:schemeClr val="accent2"/>
                </a:solidFill>
              </a:rPr>
              <a:t>Choice:</a:t>
            </a:r>
            <a:r>
              <a:rPr lang="en-US">
                <a:solidFill>
                  <a:schemeClr val="accent1"/>
                </a:solidFill>
              </a:rPr>
              <a:t>  </a:t>
            </a:r>
            <a:r>
              <a:rPr lang="en-US"/>
              <a:t>{ SPQV, SDP, CSJDQ }</a:t>
            </a:r>
            <a:r>
              <a:rPr lang="en-US">
                <a:solidFill>
                  <a:schemeClr val="accent1"/>
                </a:solidFill>
              </a:rPr>
              <a:t> </a:t>
            </a:r>
            <a:r>
              <a:rPr lang="en-US">
                <a:solidFill>
                  <a:schemeClr val="accent2"/>
                </a:solidFill>
              </a:rPr>
              <a:t>or</a:t>
            </a:r>
            <a:r>
              <a:rPr lang="en-US">
                <a:solidFill>
                  <a:schemeClr val="accent1"/>
                </a:solidFill>
              </a:rPr>
              <a:t> </a:t>
            </a:r>
            <a:r>
              <a:rPr lang="en-US"/>
              <a:t>{ SDP, CSJDQV }</a:t>
            </a:r>
            <a:r>
              <a:rPr lang="en-US">
                <a:solidFill>
                  <a:schemeClr val="accent1"/>
                </a:solidFill>
              </a:rPr>
              <a:t>  </a:t>
            </a:r>
            <a:r>
              <a:rPr lang="en-US"/>
              <a:t>?</a:t>
            </a:r>
          </a:p>
        </p:txBody>
      </p:sp>
    </p:spTree>
  </p:cSld>
  <p:clrMapOvr>
    <a:masterClrMapping/>
  </p:clrMapOvr>
  <p:transition>
    <p:cut/>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49155"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49156" name="Rectangle 4"/>
          <p:cNvSpPr>
            <a:spLocks noGrp="1" noChangeArrowheads="1"/>
          </p:cNvSpPr>
          <p:nvPr>
            <p:ph type="title"/>
          </p:nvPr>
        </p:nvSpPr>
        <p:spPr>
          <a:noFill/>
          <a:ln/>
        </p:spPr>
        <p:txBody>
          <a:bodyPr/>
          <a:lstStyle/>
          <a:p>
            <a:r>
              <a:rPr lang="en-US"/>
              <a:t>Decomposition of a BCNF Relation</a:t>
            </a:r>
          </a:p>
        </p:txBody>
      </p:sp>
      <p:sp>
        <p:nvSpPr>
          <p:cNvPr id="49157" name="Rectangle 5"/>
          <p:cNvSpPr>
            <a:spLocks noGrp="1" noChangeArrowheads="1"/>
          </p:cNvSpPr>
          <p:nvPr>
            <p:ph type="body" idx="1"/>
          </p:nvPr>
        </p:nvSpPr>
        <p:spPr>
          <a:xfrm>
            <a:off x="76200" y="1600200"/>
            <a:ext cx="8991600" cy="4876800"/>
          </a:xfrm>
          <a:noFill/>
          <a:ln/>
        </p:spPr>
        <p:txBody>
          <a:bodyPr>
            <a:normAutofit fontScale="92500" lnSpcReduction="10000"/>
          </a:bodyPr>
          <a:lstStyle/>
          <a:p>
            <a:pPr>
              <a:lnSpc>
                <a:spcPct val="90000"/>
              </a:lnSpc>
            </a:pPr>
            <a:r>
              <a:rPr lang="en-US"/>
              <a:t>Suppose that we choose </a:t>
            </a:r>
            <a:r>
              <a:rPr lang="en-US">
                <a:solidFill>
                  <a:schemeClr val="accent2"/>
                </a:solidFill>
              </a:rPr>
              <a:t>{ SDP, CSJDQV }</a:t>
            </a:r>
            <a:r>
              <a:rPr lang="en-US"/>
              <a:t>.  This is in BCNF, and there is no reason to decompose further  (assuming that all known integrity constraints are FDs).</a:t>
            </a:r>
          </a:p>
          <a:p>
            <a:pPr>
              <a:lnSpc>
                <a:spcPct val="90000"/>
              </a:lnSpc>
            </a:pPr>
            <a:r>
              <a:rPr lang="en-US"/>
              <a:t>However, suppose that these queries are important:</a:t>
            </a:r>
          </a:p>
          <a:p>
            <a:pPr lvl="1">
              <a:lnSpc>
                <a:spcPct val="90000"/>
              </a:lnSpc>
              <a:buSzPct val="75000"/>
            </a:pPr>
            <a:r>
              <a:rPr lang="en-US" i="1">
                <a:solidFill>
                  <a:schemeClr val="accent2"/>
                </a:solidFill>
              </a:rPr>
              <a:t>Find the contracts held by supplier S.</a:t>
            </a:r>
          </a:p>
          <a:p>
            <a:pPr lvl="1">
              <a:lnSpc>
                <a:spcPct val="90000"/>
              </a:lnSpc>
              <a:buSzPct val="75000"/>
            </a:pPr>
            <a:r>
              <a:rPr lang="en-US" i="1">
                <a:solidFill>
                  <a:schemeClr val="accent2"/>
                </a:solidFill>
              </a:rPr>
              <a:t>Find the contracts that department D is involved in</a:t>
            </a:r>
            <a:r>
              <a:rPr lang="en-US" i="1"/>
              <a:t>.</a:t>
            </a:r>
          </a:p>
          <a:p>
            <a:pPr>
              <a:lnSpc>
                <a:spcPct val="90000"/>
              </a:lnSpc>
            </a:pPr>
            <a:r>
              <a:rPr lang="en-US"/>
              <a:t>Decomposing CSJDQV further into CS, CD and CJQV could speed up these queries.  (Why?)</a:t>
            </a:r>
          </a:p>
          <a:p>
            <a:pPr>
              <a:lnSpc>
                <a:spcPct val="90000"/>
              </a:lnSpc>
            </a:pPr>
            <a:r>
              <a:rPr lang="en-US"/>
              <a:t>On the other hand, the following query is slower:</a:t>
            </a:r>
          </a:p>
          <a:p>
            <a:pPr lvl="1">
              <a:lnSpc>
                <a:spcPct val="90000"/>
              </a:lnSpc>
              <a:buSzPct val="75000"/>
            </a:pPr>
            <a:r>
              <a:rPr lang="en-US" i="1">
                <a:solidFill>
                  <a:schemeClr val="accent2"/>
                </a:solidFill>
              </a:rPr>
              <a:t>Find the total value of all contracts held by supplier S.</a:t>
            </a:r>
          </a:p>
        </p:txBody>
      </p:sp>
    </p:spTree>
  </p:cSld>
  <p:clrMapOvr>
    <a:masterClrMapping/>
  </p:clrMapOvr>
  <p:transition>
    <p:cu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5120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51204" name="Rectangle 4"/>
          <p:cNvSpPr>
            <a:spLocks noGrp="1" noChangeArrowheads="1"/>
          </p:cNvSpPr>
          <p:nvPr>
            <p:ph type="title"/>
          </p:nvPr>
        </p:nvSpPr>
        <p:spPr>
          <a:noFill/>
          <a:ln/>
        </p:spPr>
        <p:txBody>
          <a:bodyPr/>
          <a:lstStyle/>
          <a:p>
            <a:r>
              <a:rPr lang="en-US"/>
              <a:t>Horizontal Decompositions</a:t>
            </a:r>
          </a:p>
        </p:txBody>
      </p:sp>
      <p:sp>
        <p:nvSpPr>
          <p:cNvPr id="51205" name="Rectangle 5"/>
          <p:cNvSpPr>
            <a:spLocks noGrp="1" noChangeArrowheads="1"/>
          </p:cNvSpPr>
          <p:nvPr>
            <p:ph type="body" idx="1"/>
          </p:nvPr>
        </p:nvSpPr>
        <p:spPr>
          <a:xfrm>
            <a:off x="0" y="1676400"/>
            <a:ext cx="9067800" cy="4800600"/>
          </a:xfrm>
          <a:noFill/>
          <a:ln/>
        </p:spPr>
        <p:txBody>
          <a:bodyPr>
            <a:normAutofit fontScale="92500" lnSpcReduction="10000"/>
          </a:bodyPr>
          <a:lstStyle/>
          <a:p>
            <a:r>
              <a:rPr lang="en-US"/>
              <a:t>Our definition of decomposition, so far:  Relation is replaced by a collection of relations that are </a:t>
            </a:r>
            <a:r>
              <a:rPr lang="en-US" i="1">
                <a:solidFill>
                  <a:schemeClr val="accent2"/>
                </a:solidFill>
              </a:rPr>
              <a:t>projections</a:t>
            </a:r>
            <a:r>
              <a:rPr lang="en-US"/>
              <a:t>.  This is </a:t>
            </a:r>
            <a:r>
              <a:rPr lang="en-US" i="1">
                <a:solidFill>
                  <a:schemeClr val="accent2"/>
                </a:solidFill>
              </a:rPr>
              <a:t>vertical</a:t>
            </a:r>
            <a:r>
              <a:rPr lang="en-US"/>
              <a:t> decomposition. Most important case.</a:t>
            </a:r>
          </a:p>
          <a:p>
            <a:r>
              <a:rPr lang="en-US"/>
              <a:t>Sometimes, might want to replace relation by a collection of relations that are </a:t>
            </a:r>
            <a:r>
              <a:rPr lang="en-US" i="1">
                <a:solidFill>
                  <a:schemeClr val="accent2"/>
                </a:solidFill>
              </a:rPr>
              <a:t>selections.</a:t>
            </a:r>
            <a:r>
              <a:rPr lang="en-US">
                <a:solidFill>
                  <a:schemeClr val="accent2"/>
                </a:solidFill>
              </a:rPr>
              <a:t> </a:t>
            </a:r>
            <a:r>
              <a:rPr lang="en-US"/>
              <a:t>This is </a:t>
            </a:r>
            <a:r>
              <a:rPr lang="en-US" i="1">
                <a:solidFill>
                  <a:schemeClr val="accent2"/>
                </a:solidFill>
              </a:rPr>
              <a:t>horizontal</a:t>
            </a:r>
            <a:r>
              <a:rPr lang="en-US"/>
              <a:t> decomposition.</a:t>
            </a:r>
            <a:endParaRPr lang="en-US">
              <a:solidFill>
                <a:schemeClr val="accent2"/>
              </a:solidFill>
            </a:endParaRPr>
          </a:p>
          <a:p>
            <a:pPr lvl="1">
              <a:buSzPct val="75000"/>
            </a:pPr>
            <a:r>
              <a:rPr lang="en-US"/>
              <a:t>Each new relation has same schema as the original, but a subset of the rows.</a:t>
            </a:r>
          </a:p>
          <a:p>
            <a:pPr lvl="1">
              <a:buSzPct val="75000"/>
            </a:pPr>
            <a:r>
              <a:rPr lang="en-US"/>
              <a:t>Collectively, new relations contain all rows of the original. Typically, the new relations are disjoint.</a:t>
            </a:r>
          </a:p>
        </p:txBody>
      </p:sp>
    </p:spTree>
  </p:cSld>
  <p:clrMapOvr>
    <a:masterClrMapping/>
  </p:clrMapOvr>
  <p:transition>
    <p:cu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5325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53252" name="Rectangle 4"/>
          <p:cNvSpPr>
            <a:spLocks noGrp="1" noChangeArrowheads="1"/>
          </p:cNvSpPr>
          <p:nvPr>
            <p:ph type="title"/>
          </p:nvPr>
        </p:nvSpPr>
        <p:spPr>
          <a:noFill/>
          <a:ln/>
        </p:spPr>
        <p:txBody>
          <a:bodyPr>
            <a:normAutofit fontScale="90000"/>
          </a:bodyPr>
          <a:lstStyle/>
          <a:p>
            <a:r>
              <a:rPr lang="en-US"/>
              <a:t>Horizontal Decompositions (Contd.)</a:t>
            </a:r>
          </a:p>
        </p:txBody>
      </p:sp>
      <p:sp>
        <p:nvSpPr>
          <p:cNvPr id="53253" name="Rectangle 5"/>
          <p:cNvSpPr>
            <a:spLocks noGrp="1" noChangeArrowheads="1"/>
          </p:cNvSpPr>
          <p:nvPr>
            <p:ph type="body" idx="1"/>
          </p:nvPr>
        </p:nvSpPr>
        <p:spPr>
          <a:xfrm>
            <a:off x="0" y="1676400"/>
            <a:ext cx="9067800" cy="4876800"/>
          </a:xfrm>
          <a:noFill/>
          <a:ln/>
        </p:spPr>
        <p:txBody>
          <a:bodyPr>
            <a:normAutofit fontScale="92500" lnSpcReduction="10000"/>
          </a:bodyPr>
          <a:lstStyle/>
          <a:p>
            <a:r>
              <a:rPr lang="en-US"/>
              <a:t>Suppose that contracts with value &gt; 10000 are subject to different rules.  This means that queries on Contracts will often contain the condition </a:t>
            </a:r>
            <a:r>
              <a:rPr lang="en-US" i="1"/>
              <a:t>val&gt;10000</a:t>
            </a:r>
            <a:r>
              <a:rPr lang="en-US"/>
              <a:t>.  </a:t>
            </a:r>
          </a:p>
          <a:p>
            <a:r>
              <a:rPr lang="en-US"/>
              <a:t>One way to deal with this is to build a clustered B+ tree index on the </a:t>
            </a:r>
            <a:r>
              <a:rPr lang="en-US" i="1"/>
              <a:t>val</a:t>
            </a:r>
            <a:r>
              <a:rPr lang="en-US"/>
              <a:t> field of Contracts.</a:t>
            </a:r>
          </a:p>
          <a:p>
            <a:r>
              <a:rPr lang="en-US"/>
              <a:t>A second approach is to replace contracts by two new relations:  LargeContracts and SmallContracts, with the same attributes (CSJDPQV).</a:t>
            </a:r>
          </a:p>
          <a:p>
            <a:pPr lvl="1">
              <a:buSzPct val="75000"/>
            </a:pPr>
            <a:r>
              <a:rPr lang="en-US"/>
              <a:t>Performs like index on such queries, but no index overhead.</a:t>
            </a:r>
          </a:p>
          <a:p>
            <a:pPr lvl="1">
              <a:buSzPct val="75000"/>
            </a:pPr>
            <a:r>
              <a:rPr lang="en-US"/>
              <a:t>Can build clustered indexes on other attributes, in addition!</a:t>
            </a:r>
          </a:p>
        </p:txBody>
      </p:sp>
    </p:spTree>
  </p:cSld>
  <p:clrMapOvr>
    <a:masterClrMapping/>
  </p:clrMapOvr>
  <p:transition>
    <p:cut/>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5529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55300" name="Rectangle 4"/>
          <p:cNvSpPr>
            <a:spLocks noGrp="1" noChangeArrowheads="1"/>
          </p:cNvSpPr>
          <p:nvPr>
            <p:ph type="title"/>
          </p:nvPr>
        </p:nvSpPr>
        <p:spPr>
          <a:xfrm>
            <a:off x="152400" y="152400"/>
            <a:ext cx="8153400" cy="1104900"/>
          </a:xfrm>
          <a:noFill/>
          <a:ln/>
        </p:spPr>
        <p:txBody>
          <a:bodyPr>
            <a:normAutofit fontScale="90000"/>
          </a:bodyPr>
          <a:lstStyle/>
          <a:p>
            <a:r>
              <a:rPr lang="en-US"/>
              <a:t>Masking Conceptual Schema Changes</a:t>
            </a:r>
          </a:p>
        </p:txBody>
      </p:sp>
      <p:sp>
        <p:nvSpPr>
          <p:cNvPr id="55301" name="Rectangle 5"/>
          <p:cNvSpPr>
            <a:spLocks noGrp="1" noChangeArrowheads="1"/>
          </p:cNvSpPr>
          <p:nvPr>
            <p:ph type="body" idx="1"/>
          </p:nvPr>
        </p:nvSpPr>
        <p:spPr>
          <a:xfrm>
            <a:off x="76200" y="3886200"/>
            <a:ext cx="8991600" cy="2552700"/>
          </a:xfrm>
          <a:noFill/>
          <a:ln/>
        </p:spPr>
        <p:txBody>
          <a:bodyPr>
            <a:normAutofit lnSpcReduction="10000"/>
          </a:bodyPr>
          <a:lstStyle/>
          <a:p>
            <a:pPr>
              <a:lnSpc>
                <a:spcPct val="90000"/>
              </a:lnSpc>
            </a:pPr>
            <a:r>
              <a:rPr lang="en-US"/>
              <a:t>The replacement of Contracts by LargeContracts and SmallContracts can be masked by the view.</a:t>
            </a:r>
          </a:p>
          <a:p>
            <a:pPr>
              <a:lnSpc>
                <a:spcPct val="90000"/>
              </a:lnSpc>
            </a:pPr>
            <a:r>
              <a:rPr lang="en-US"/>
              <a:t>However, queries with the condition </a:t>
            </a:r>
            <a:r>
              <a:rPr lang="en-US" i="1"/>
              <a:t>val&gt;10000</a:t>
            </a:r>
            <a:r>
              <a:rPr lang="en-US"/>
              <a:t> must be asked wrt LargeContracts for efficient execution:  so users concerned with performance have to be aware of the change.</a:t>
            </a:r>
          </a:p>
        </p:txBody>
      </p:sp>
      <p:sp>
        <p:nvSpPr>
          <p:cNvPr id="55302" name="Rectangle 6"/>
          <p:cNvSpPr>
            <a:spLocks noChangeArrowheads="1"/>
          </p:cNvSpPr>
          <p:nvPr/>
        </p:nvSpPr>
        <p:spPr bwMode="auto">
          <a:xfrm>
            <a:off x="914400" y="1371600"/>
            <a:ext cx="7446963" cy="2292350"/>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CREATE VIEW</a:t>
            </a:r>
            <a:r>
              <a:rPr lang="en-US">
                <a:latin typeface="Book Antiqua" pitchFamily="18" charset="0"/>
              </a:rPr>
              <a:t>  Contracts(cid, sid, jid, did, pid, qty, val)</a:t>
            </a:r>
          </a:p>
          <a:p>
            <a:r>
              <a:rPr lang="en-US">
                <a:latin typeface="Book Antiqua" pitchFamily="18" charset="0"/>
              </a:rPr>
              <a:t>	</a:t>
            </a:r>
            <a:r>
              <a:rPr lang="en-US" sz="2000">
                <a:latin typeface="Book Antiqua" pitchFamily="18" charset="0"/>
              </a:rPr>
              <a:t>AS  SELECT</a:t>
            </a:r>
            <a:r>
              <a:rPr lang="en-US">
                <a:latin typeface="Book Antiqua" pitchFamily="18" charset="0"/>
              </a:rPr>
              <a:t>  * </a:t>
            </a:r>
          </a:p>
          <a:p>
            <a:r>
              <a:rPr lang="en-US">
                <a:latin typeface="Book Antiqua" pitchFamily="18" charset="0"/>
              </a:rPr>
              <a:t>	</a:t>
            </a:r>
            <a:r>
              <a:rPr lang="en-US" sz="2000">
                <a:latin typeface="Book Antiqua" pitchFamily="18" charset="0"/>
              </a:rPr>
              <a:t>FROM</a:t>
            </a:r>
            <a:r>
              <a:rPr lang="en-US">
                <a:latin typeface="Book Antiqua" pitchFamily="18" charset="0"/>
              </a:rPr>
              <a:t>  LargeContracts</a:t>
            </a:r>
          </a:p>
          <a:p>
            <a:r>
              <a:rPr lang="en-US">
                <a:latin typeface="Book Antiqua" pitchFamily="18" charset="0"/>
              </a:rPr>
              <a:t>	</a:t>
            </a:r>
            <a:r>
              <a:rPr lang="en-US" sz="2000">
                <a:latin typeface="Book Antiqua" pitchFamily="18" charset="0"/>
              </a:rPr>
              <a:t>UNION</a:t>
            </a:r>
            <a:endParaRPr lang="en-US">
              <a:latin typeface="Book Antiqua" pitchFamily="18" charset="0"/>
            </a:endParaRPr>
          </a:p>
          <a:p>
            <a:r>
              <a:rPr lang="en-US">
                <a:latin typeface="Book Antiqua" pitchFamily="18" charset="0"/>
              </a:rPr>
              <a:t>	</a:t>
            </a:r>
            <a:r>
              <a:rPr lang="en-US" sz="2000">
                <a:latin typeface="Book Antiqua" pitchFamily="18" charset="0"/>
              </a:rPr>
              <a:t>SELECT</a:t>
            </a:r>
            <a:r>
              <a:rPr lang="en-US">
                <a:latin typeface="Book Antiqua" pitchFamily="18" charset="0"/>
              </a:rPr>
              <a:t>  *</a:t>
            </a:r>
          </a:p>
          <a:p>
            <a:r>
              <a:rPr lang="en-US">
                <a:latin typeface="Book Antiqua" pitchFamily="18" charset="0"/>
              </a:rPr>
              <a:t>	</a:t>
            </a:r>
            <a:r>
              <a:rPr lang="en-US" sz="2000">
                <a:latin typeface="Book Antiqua" pitchFamily="18" charset="0"/>
              </a:rPr>
              <a:t>FROM</a:t>
            </a:r>
            <a:r>
              <a:rPr lang="en-US">
                <a:latin typeface="Book Antiqua" pitchFamily="18" charset="0"/>
              </a:rPr>
              <a:t>  SmallContracts</a:t>
            </a:r>
          </a:p>
        </p:txBody>
      </p:sp>
    </p:spTree>
  </p:cSld>
  <p:clrMapOvr>
    <a:masterClrMapping/>
  </p:clrMapOvr>
  <p:transition>
    <p:cut/>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5734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57348" name="Rectangle 4"/>
          <p:cNvSpPr>
            <a:spLocks noGrp="1" noChangeArrowheads="1"/>
          </p:cNvSpPr>
          <p:nvPr>
            <p:ph type="title"/>
          </p:nvPr>
        </p:nvSpPr>
        <p:spPr>
          <a:noFill/>
          <a:ln/>
        </p:spPr>
        <p:txBody>
          <a:bodyPr/>
          <a:lstStyle/>
          <a:p>
            <a:r>
              <a:rPr lang="en-US"/>
              <a:t>Tuning Queries and Views</a:t>
            </a:r>
          </a:p>
        </p:txBody>
      </p:sp>
      <p:sp>
        <p:nvSpPr>
          <p:cNvPr id="57349" name="Rectangle 5"/>
          <p:cNvSpPr>
            <a:spLocks noGrp="1" noChangeArrowheads="1"/>
          </p:cNvSpPr>
          <p:nvPr>
            <p:ph type="body" idx="1"/>
          </p:nvPr>
        </p:nvSpPr>
        <p:spPr>
          <a:xfrm>
            <a:off x="0" y="1524000"/>
            <a:ext cx="9067800" cy="4876800"/>
          </a:xfrm>
          <a:noFill/>
          <a:ln/>
        </p:spPr>
        <p:txBody>
          <a:bodyPr>
            <a:normAutofit fontScale="92500"/>
          </a:bodyPr>
          <a:lstStyle/>
          <a:p>
            <a:pPr>
              <a:lnSpc>
                <a:spcPct val="90000"/>
              </a:lnSpc>
            </a:pPr>
            <a:r>
              <a:rPr lang="en-US"/>
              <a:t>If a query runs slower than expected, check if an index needs to be re-built, or if statistics are too old.</a:t>
            </a:r>
          </a:p>
          <a:p>
            <a:pPr>
              <a:lnSpc>
                <a:spcPct val="90000"/>
              </a:lnSpc>
            </a:pPr>
            <a:r>
              <a:rPr lang="en-US"/>
              <a:t>Sometimes, the DBMS may not be executing the plan you had in mind.  Common areas of weakness:</a:t>
            </a:r>
          </a:p>
          <a:p>
            <a:pPr lvl="1">
              <a:lnSpc>
                <a:spcPct val="90000"/>
              </a:lnSpc>
              <a:buSzPct val="75000"/>
            </a:pPr>
            <a:r>
              <a:rPr lang="en-US"/>
              <a:t>Selections involving </a:t>
            </a:r>
            <a:r>
              <a:rPr lang="en-US">
                <a:solidFill>
                  <a:schemeClr val="accent2"/>
                </a:solidFill>
              </a:rPr>
              <a:t>null values</a:t>
            </a:r>
            <a:r>
              <a:rPr lang="en-US"/>
              <a:t>.</a:t>
            </a:r>
          </a:p>
          <a:p>
            <a:pPr lvl="1">
              <a:lnSpc>
                <a:spcPct val="90000"/>
              </a:lnSpc>
              <a:buSzPct val="75000"/>
            </a:pPr>
            <a:r>
              <a:rPr lang="en-US"/>
              <a:t>Selections involving </a:t>
            </a:r>
            <a:r>
              <a:rPr lang="en-US">
                <a:solidFill>
                  <a:schemeClr val="accent2"/>
                </a:solidFill>
              </a:rPr>
              <a:t>arithmetic or string expressions</a:t>
            </a:r>
            <a:r>
              <a:rPr lang="en-US"/>
              <a:t>.</a:t>
            </a:r>
          </a:p>
          <a:p>
            <a:pPr lvl="1">
              <a:lnSpc>
                <a:spcPct val="90000"/>
              </a:lnSpc>
              <a:buSzPct val="75000"/>
            </a:pPr>
            <a:r>
              <a:rPr lang="en-US"/>
              <a:t>Selections involving </a:t>
            </a:r>
            <a:r>
              <a:rPr lang="en-US" sz="2000">
                <a:solidFill>
                  <a:schemeClr val="accent2"/>
                </a:solidFill>
              </a:rPr>
              <a:t>OR</a:t>
            </a:r>
            <a:r>
              <a:rPr lang="en-US"/>
              <a:t> conditions.</a:t>
            </a:r>
          </a:p>
          <a:p>
            <a:pPr lvl="1">
              <a:lnSpc>
                <a:spcPct val="90000"/>
              </a:lnSpc>
              <a:buSzPct val="75000"/>
            </a:pPr>
            <a:r>
              <a:rPr lang="en-US">
                <a:solidFill>
                  <a:schemeClr val="accent2"/>
                </a:solidFill>
              </a:rPr>
              <a:t>Lack of evaluation features </a:t>
            </a:r>
            <a:r>
              <a:rPr lang="en-US"/>
              <a:t>like index-only strategies or certain join methods or poor size estimation.</a:t>
            </a:r>
          </a:p>
          <a:p>
            <a:pPr>
              <a:lnSpc>
                <a:spcPct val="90000"/>
              </a:lnSpc>
            </a:pPr>
            <a:r>
              <a:rPr lang="en-US"/>
              <a:t>Check the plan that is being used!  Then adjust the choice of indexes or </a:t>
            </a:r>
            <a:r>
              <a:rPr lang="en-US">
                <a:solidFill>
                  <a:schemeClr val="accent2"/>
                </a:solidFill>
              </a:rPr>
              <a:t>rewrite the query/view</a:t>
            </a:r>
            <a:r>
              <a:rPr lang="en-US"/>
              <a:t>.</a:t>
            </a:r>
          </a:p>
        </p:txBody>
      </p:sp>
    </p:spTree>
  </p:cSld>
  <p:clrMapOvr>
    <a:masterClrMapping/>
  </p:clrMapOvr>
  <p:transition>
    <p:cut/>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59395"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59396" name="Rectangle 4"/>
          <p:cNvSpPr>
            <a:spLocks noGrp="1" noChangeArrowheads="1"/>
          </p:cNvSpPr>
          <p:nvPr>
            <p:ph type="title"/>
          </p:nvPr>
        </p:nvSpPr>
        <p:spPr>
          <a:xfrm>
            <a:off x="76200" y="76200"/>
            <a:ext cx="7772400" cy="914400"/>
          </a:xfrm>
          <a:noFill/>
          <a:ln/>
        </p:spPr>
        <p:txBody>
          <a:bodyPr/>
          <a:lstStyle/>
          <a:p>
            <a:r>
              <a:rPr lang="en-US"/>
              <a:t>Rewriting SQL Queries</a:t>
            </a:r>
          </a:p>
        </p:txBody>
      </p:sp>
      <p:sp>
        <p:nvSpPr>
          <p:cNvPr id="59397" name="Rectangle 5"/>
          <p:cNvSpPr>
            <a:spLocks noGrp="1" noChangeArrowheads="1"/>
          </p:cNvSpPr>
          <p:nvPr>
            <p:ph type="body" idx="1"/>
          </p:nvPr>
        </p:nvSpPr>
        <p:spPr>
          <a:xfrm>
            <a:off x="152400" y="1143000"/>
            <a:ext cx="8763000" cy="1071554"/>
          </a:xfrm>
          <a:noFill/>
          <a:ln/>
        </p:spPr>
        <p:txBody>
          <a:bodyPr>
            <a:normAutofit fontScale="70000" lnSpcReduction="20000"/>
          </a:bodyPr>
          <a:lstStyle/>
          <a:p>
            <a:r>
              <a:rPr lang="en-US" dirty="0"/>
              <a:t>Complicated by interaction of:</a:t>
            </a:r>
          </a:p>
          <a:p>
            <a:pPr lvl="1">
              <a:buSzPct val="75000"/>
            </a:pPr>
            <a:r>
              <a:rPr lang="en-US" sz="2000" dirty="0">
                <a:solidFill>
                  <a:schemeClr val="accent1"/>
                </a:solidFill>
              </a:rPr>
              <a:t>NULL</a:t>
            </a:r>
            <a:r>
              <a:rPr lang="en-US" dirty="0">
                <a:solidFill>
                  <a:schemeClr val="accent1"/>
                </a:solidFill>
              </a:rPr>
              <a:t>s, duplicates, aggregation, </a:t>
            </a:r>
            <a:r>
              <a:rPr lang="en-US" dirty="0" err="1">
                <a:solidFill>
                  <a:schemeClr val="accent1"/>
                </a:solidFill>
              </a:rPr>
              <a:t>subqueries</a:t>
            </a:r>
            <a:r>
              <a:rPr lang="en-US" dirty="0">
                <a:solidFill>
                  <a:schemeClr val="accent1"/>
                </a:solidFill>
              </a:rPr>
              <a:t>.</a:t>
            </a:r>
            <a:endParaRPr lang="en-US" dirty="0">
              <a:solidFill>
                <a:schemeClr val="accent2"/>
              </a:solidFill>
            </a:endParaRPr>
          </a:p>
          <a:p>
            <a:r>
              <a:rPr lang="en-US" b="1" i="1" u="sng" dirty="0">
                <a:solidFill>
                  <a:schemeClr val="accent2"/>
                </a:solidFill>
              </a:rPr>
              <a:t>Guideline</a:t>
            </a:r>
            <a:r>
              <a:rPr lang="en-US" b="1" i="1" dirty="0">
                <a:solidFill>
                  <a:schemeClr val="accent2"/>
                </a:solidFill>
              </a:rPr>
              <a:t>: Use only one “query block”, if possible.</a:t>
            </a:r>
          </a:p>
        </p:txBody>
      </p:sp>
      <p:sp>
        <p:nvSpPr>
          <p:cNvPr id="59398" name="Rectangle 6"/>
          <p:cNvSpPr>
            <a:spLocks noChangeArrowheads="1"/>
          </p:cNvSpPr>
          <p:nvPr/>
        </p:nvSpPr>
        <p:spPr bwMode="auto">
          <a:xfrm>
            <a:off x="146050" y="2663825"/>
            <a:ext cx="4600575" cy="1612900"/>
          </a:xfrm>
          <a:prstGeom prst="rect">
            <a:avLst/>
          </a:prstGeom>
          <a:noFill/>
          <a:ln w="12700">
            <a:noFill/>
            <a:miter lim="800000"/>
            <a:headEnd/>
            <a:tailEnd/>
          </a:ln>
          <a:effectLst/>
        </p:spPr>
        <p:txBody>
          <a:bodyPr wrap="none" lIns="90488" tIns="44450" rIns="90488" bIns="44450">
            <a:spAutoFit/>
          </a:bodyPr>
          <a:lstStyle/>
          <a:p>
            <a:r>
              <a:rPr lang="en-US" sz="2000" b="1" dirty="0">
                <a:latin typeface="Courier New" pitchFamily="49" charset="0"/>
              </a:rPr>
              <a:t>SELECT DISTINCT *</a:t>
            </a:r>
          </a:p>
          <a:p>
            <a:r>
              <a:rPr lang="en-US" sz="2000" b="1" dirty="0">
                <a:latin typeface="Courier New" pitchFamily="49" charset="0"/>
              </a:rPr>
              <a:t>  FROM Sailors S</a:t>
            </a:r>
          </a:p>
          <a:p>
            <a:r>
              <a:rPr lang="en-US" sz="2000" b="1" dirty="0">
                <a:latin typeface="Courier New" pitchFamily="49" charset="0"/>
              </a:rPr>
              <a:t> WHERE </a:t>
            </a:r>
            <a:r>
              <a:rPr lang="en-US" sz="2000" b="1" dirty="0" err="1">
                <a:latin typeface="Courier New" pitchFamily="49" charset="0"/>
              </a:rPr>
              <a:t>S.sname</a:t>
            </a:r>
            <a:r>
              <a:rPr lang="en-US" sz="2000" b="1" dirty="0">
                <a:latin typeface="Courier New" pitchFamily="49" charset="0"/>
              </a:rPr>
              <a:t> IN</a:t>
            </a:r>
          </a:p>
          <a:p>
            <a:r>
              <a:rPr lang="en-US" sz="2000" b="1" dirty="0">
                <a:latin typeface="Courier New" pitchFamily="49" charset="0"/>
              </a:rPr>
              <a:t>	(SELECT </a:t>
            </a:r>
            <a:r>
              <a:rPr lang="en-US" sz="2000" b="1" dirty="0" err="1">
                <a:latin typeface="Courier New" pitchFamily="49" charset="0"/>
              </a:rPr>
              <a:t>Y.sname</a:t>
            </a:r>
            <a:endParaRPr lang="en-US" sz="2000" b="1" dirty="0">
              <a:latin typeface="Courier New" pitchFamily="49" charset="0"/>
            </a:endParaRPr>
          </a:p>
          <a:p>
            <a:r>
              <a:rPr lang="en-US" sz="2000" b="1" dirty="0">
                <a:latin typeface="Courier New" pitchFamily="49" charset="0"/>
              </a:rPr>
              <a:t>	   FROM </a:t>
            </a:r>
            <a:r>
              <a:rPr lang="en-US" sz="2000" b="1" dirty="0" err="1">
                <a:latin typeface="Courier New" pitchFamily="49" charset="0"/>
              </a:rPr>
              <a:t>YoungSailors</a:t>
            </a:r>
            <a:r>
              <a:rPr lang="en-US" sz="2000" b="1" dirty="0">
                <a:latin typeface="Courier New" pitchFamily="49" charset="0"/>
              </a:rPr>
              <a:t> Y)</a:t>
            </a:r>
          </a:p>
        </p:txBody>
      </p:sp>
      <p:sp>
        <p:nvSpPr>
          <p:cNvPr id="59399" name="Rectangle 7"/>
          <p:cNvSpPr>
            <a:spLocks noChangeArrowheads="1"/>
          </p:cNvSpPr>
          <p:nvPr/>
        </p:nvSpPr>
        <p:spPr bwMode="auto">
          <a:xfrm>
            <a:off x="4868863" y="2741613"/>
            <a:ext cx="3838575" cy="1308100"/>
          </a:xfrm>
          <a:prstGeom prst="rect">
            <a:avLst/>
          </a:prstGeom>
          <a:noFill/>
          <a:ln w="12700">
            <a:noFill/>
            <a:miter lim="800000"/>
            <a:headEnd/>
            <a:tailEnd/>
          </a:ln>
          <a:effectLst/>
        </p:spPr>
        <p:txBody>
          <a:bodyPr wrap="none" lIns="90488" tIns="44450" rIns="90488" bIns="44450">
            <a:spAutoFit/>
          </a:bodyPr>
          <a:lstStyle/>
          <a:p>
            <a:r>
              <a:rPr lang="en-US" sz="2000" b="1">
                <a:latin typeface="Courier New" pitchFamily="49" charset="0"/>
              </a:rPr>
              <a:t>SELECT DISTINCT S.*</a:t>
            </a:r>
          </a:p>
          <a:p>
            <a:r>
              <a:rPr lang="en-US" sz="2000" b="1">
                <a:latin typeface="Courier New" pitchFamily="49" charset="0"/>
              </a:rPr>
              <a:t>  FROM Sailors S, </a:t>
            </a:r>
          </a:p>
          <a:p>
            <a:r>
              <a:rPr lang="en-US" sz="2000" b="1">
                <a:latin typeface="Courier New" pitchFamily="49" charset="0"/>
              </a:rPr>
              <a:t>       YoungSailors Y</a:t>
            </a:r>
          </a:p>
          <a:p>
            <a:r>
              <a:rPr lang="en-US" sz="2000" b="1">
                <a:latin typeface="Courier New" pitchFamily="49" charset="0"/>
              </a:rPr>
              <a:t> WHERE S.sname = Y.sname</a:t>
            </a:r>
          </a:p>
        </p:txBody>
      </p:sp>
      <p:sp>
        <p:nvSpPr>
          <p:cNvPr id="59400" name="Rectangle 8"/>
          <p:cNvSpPr>
            <a:spLocks noChangeArrowheads="1"/>
          </p:cNvSpPr>
          <p:nvPr/>
        </p:nvSpPr>
        <p:spPr bwMode="auto">
          <a:xfrm>
            <a:off x="222250" y="4873625"/>
            <a:ext cx="4752975" cy="1612900"/>
          </a:xfrm>
          <a:prstGeom prst="rect">
            <a:avLst/>
          </a:prstGeom>
          <a:noFill/>
          <a:ln w="12700">
            <a:noFill/>
            <a:miter lim="800000"/>
            <a:headEnd/>
            <a:tailEnd/>
          </a:ln>
          <a:effectLst/>
        </p:spPr>
        <p:txBody>
          <a:bodyPr wrap="none" lIns="90488" tIns="44450" rIns="90488" bIns="44450">
            <a:spAutoFit/>
          </a:bodyPr>
          <a:lstStyle/>
          <a:p>
            <a:r>
              <a:rPr lang="en-US" sz="2000" b="1">
                <a:latin typeface="Courier New" pitchFamily="49" charset="0"/>
              </a:rPr>
              <a:t>SELECT *</a:t>
            </a:r>
          </a:p>
          <a:p>
            <a:r>
              <a:rPr lang="en-US" sz="2000" b="1">
                <a:latin typeface="Courier New" pitchFamily="49" charset="0"/>
              </a:rPr>
              <a:t>  FROM Sailors S</a:t>
            </a:r>
          </a:p>
          <a:p>
            <a:r>
              <a:rPr lang="en-US" sz="2000" b="1">
                <a:latin typeface="Courier New" pitchFamily="49" charset="0"/>
              </a:rPr>
              <a:t> WHERE S.sname IN</a:t>
            </a:r>
          </a:p>
          <a:p>
            <a:r>
              <a:rPr lang="en-US" sz="2000" b="1">
                <a:latin typeface="Courier New" pitchFamily="49" charset="0"/>
              </a:rPr>
              <a:t>	(SELECT DISTINCT Y.sname</a:t>
            </a:r>
          </a:p>
          <a:p>
            <a:r>
              <a:rPr lang="en-US" sz="2000" b="1">
                <a:latin typeface="Courier New" pitchFamily="49" charset="0"/>
              </a:rPr>
              <a:t>	   FROM YoungSailors Y)</a:t>
            </a:r>
          </a:p>
        </p:txBody>
      </p:sp>
      <p:sp>
        <p:nvSpPr>
          <p:cNvPr id="59401" name="Rectangle 9"/>
          <p:cNvSpPr>
            <a:spLocks noChangeArrowheads="1"/>
          </p:cNvSpPr>
          <p:nvPr/>
        </p:nvSpPr>
        <p:spPr bwMode="auto">
          <a:xfrm>
            <a:off x="5097463" y="5027613"/>
            <a:ext cx="3838575" cy="1308100"/>
          </a:xfrm>
          <a:prstGeom prst="rect">
            <a:avLst/>
          </a:prstGeom>
          <a:noFill/>
          <a:ln w="12700">
            <a:noFill/>
            <a:miter lim="800000"/>
            <a:headEnd/>
            <a:tailEnd/>
          </a:ln>
          <a:effectLst/>
        </p:spPr>
        <p:txBody>
          <a:bodyPr wrap="none" lIns="90488" tIns="44450" rIns="90488" bIns="44450">
            <a:spAutoFit/>
          </a:bodyPr>
          <a:lstStyle/>
          <a:p>
            <a:r>
              <a:rPr lang="en-US" sz="2000" b="1">
                <a:latin typeface="Courier New" pitchFamily="49" charset="0"/>
              </a:rPr>
              <a:t>SELECT S.*</a:t>
            </a:r>
          </a:p>
          <a:p>
            <a:r>
              <a:rPr lang="en-US" sz="2000" b="1">
                <a:latin typeface="Courier New" pitchFamily="49" charset="0"/>
              </a:rPr>
              <a:t>  FROM Sailors S, </a:t>
            </a:r>
          </a:p>
          <a:p>
            <a:r>
              <a:rPr lang="en-US" sz="2000" b="1">
                <a:latin typeface="Courier New" pitchFamily="49" charset="0"/>
              </a:rPr>
              <a:t>       YoungSailors Y</a:t>
            </a:r>
          </a:p>
          <a:p>
            <a:r>
              <a:rPr lang="en-US" sz="2000" b="1">
                <a:latin typeface="Courier New" pitchFamily="49" charset="0"/>
              </a:rPr>
              <a:t> WHERE S.sname = Y.sname</a:t>
            </a:r>
          </a:p>
        </p:txBody>
      </p:sp>
      <p:sp>
        <p:nvSpPr>
          <p:cNvPr id="59402" name="Rectangle 10"/>
          <p:cNvSpPr>
            <a:spLocks noChangeArrowheads="1"/>
          </p:cNvSpPr>
          <p:nvPr/>
        </p:nvSpPr>
        <p:spPr bwMode="auto">
          <a:xfrm>
            <a:off x="0" y="4343400"/>
            <a:ext cx="8763000" cy="609600"/>
          </a:xfrm>
          <a:prstGeom prst="rect">
            <a:avLst/>
          </a:prstGeom>
          <a:noFill/>
          <a:ln w="12700">
            <a:noFill/>
            <a:miter lim="800000"/>
            <a:headEnd/>
            <a:tailEnd/>
          </a:ln>
          <a:effectLst/>
        </p:spPr>
        <p:txBody>
          <a:bodyPr lIns="90488" tIns="44450" rIns="90488" bIns="44450"/>
          <a:lstStyle/>
          <a:p>
            <a:pPr marL="742950" lvl="1" indent="-285750">
              <a:spcBef>
                <a:spcPct val="20000"/>
              </a:spcBef>
              <a:buClr>
                <a:schemeClr val="tx1"/>
              </a:buClr>
              <a:buSzPct val="75000"/>
              <a:buFont typeface="Monotype Sorts" charset="0"/>
              <a:buChar char="v"/>
            </a:pPr>
            <a:r>
              <a:rPr lang="en-US" sz="2800" i="1">
                <a:solidFill>
                  <a:schemeClr val="accent2"/>
                </a:solidFill>
                <a:latin typeface="Book Antiqua" pitchFamily="18" charset="0"/>
              </a:rPr>
              <a:t> Not always possible ...</a:t>
            </a:r>
          </a:p>
        </p:txBody>
      </p:sp>
      <p:sp>
        <p:nvSpPr>
          <p:cNvPr id="59403" name="Rectangle 11"/>
          <p:cNvSpPr>
            <a:spLocks noChangeArrowheads="1"/>
          </p:cNvSpPr>
          <p:nvPr/>
        </p:nvSpPr>
        <p:spPr bwMode="auto">
          <a:xfrm>
            <a:off x="3789363" y="2768600"/>
            <a:ext cx="642937" cy="1003300"/>
          </a:xfrm>
          <a:prstGeom prst="rect">
            <a:avLst/>
          </a:prstGeom>
          <a:noFill/>
          <a:ln w="12700">
            <a:noFill/>
            <a:miter lim="800000"/>
            <a:headEnd/>
            <a:tailEnd/>
          </a:ln>
          <a:effectLst/>
        </p:spPr>
        <p:txBody>
          <a:bodyPr wrap="none" lIns="90488" tIns="44450" rIns="90488" bIns="44450">
            <a:spAutoFit/>
          </a:bodyPr>
          <a:lstStyle/>
          <a:p>
            <a:r>
              <a:rPr lang="en-US" sz="6000" b="1">
                <a:solidFill>
                  <a:srgbClr val="CF0E30"/>
                </a:solidFill>
                <a:latin typeface="Book Antiqua" pitchFamily="18" charset="0"/>
              </a:rPr>
              <a:t>=</a:t>
            </a:r>
          </a:p>
        </p:txBody>
      </p:sp>
      <p:sp>
        <p:nvSpPr>
          <p:cNvPr id="59404" name="Rectangle 12"/>
          <p:cNvSpPr>
            <a:spLocks noChangeArrowheads="1"/>
          </p:cNvSpPr>
          <p:nvPr/>
        </p:nvSpPr>
        <p:spPr bwMode="auto">
          <a:xfrm>
            <a:off x="3941763" y="4902200"/>
            <a:ext cx="642937" cy="1003300"/>
          </a:xfrm>
          <a:prstGeom prst="rect">
            <a:avLst/>
          </a:prstGeom>
          <a:noFill/>
          <a:ln w="12700">
            <a:noFill/>
            <a:miter lim="800000"/>
            <a:headEnd/>
            <a:tailEnd/>
          </a:ln>
          <a:effectLst/>
        </p:spPr>
        <p:txBody>
          <a:bodyPr wrap="none" lIns="90488" tIns="44450" rIns="90488" bIns="44450">
            <a:spAutoFit/>
          </a:bodyPr>
          <a:lstStyle/>
          <a:p>
            <a:r>
              <a:rPr lang="en-US" sz="6000" b="1">
                <a:solidFill>
                  <a:srgbClr val="CF0E30"/>
                </a:solidFill>
                <a:latin typeface="Book Antiqua" pitchFamily="18" charset="0"/>
              </a:rPr>
              <a:t>=</a:t>
            </a:r>
          </a:p>
        </p:txBody>
      </p:sp>
      <p:sp>
        <p:nvSpPr>
          <p:cNvPr id="59405" name="Line 13"/>
          <p:cNvSpPr>
            <a:spLocks noChangeShapeType="1"/>
          </p:cNvSpPr>
          <p:nvPr/>
        </p:nvSpPr>
        <p:spPr bwMode="auto">
          <a:xfrm flipV="1">
            <a:off x="4127500" y="5092700"/>
            <a:ext cx="279400" cy="558800"/>
          </a:xfrm>
          <a:prstGeom prst="line">
            <a:avLst/>
          </a:prstGeom>
          <a:noFill/>
          <a:ln w="25400">
            <a:solidFill>
              <a:schemeClr val="folHlink"/>
            </a:solidFill>
            <a:round/>
            <a:headEnd/>
            <a:tailEnd/>
          </a:ln>
          <a:effectLst/>
        </p:spPr>
        <p:txBody>
          <a:bodyPr/>
          <a:lstStyle/>
          <a:p>
            <a:endParaRPr lang="en-IN"/>
          </a:p>
        </p:txBody>
      </p:sp>
    </p:spTree>
  </p:cSld>
  <p:clrMapOvr>
    <a:masterClrMapping/>
  </p:clrMapOvr>
  <p:transition spd="slow">
    <p:cut/>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6144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61444" name="Rectangle 4"/>
          <p:cNvSpPr>
            <a:spLocks noGrp="1" noChangeArrowheads="1"/>
          </p:cNvSpPr>
          <p:nvPr>
            <p:ph type="title"/>
          </p:nvPr>
        </p:nvSpPr>
        <p:spPr>
          <a:xfrm>
            <a:off x="76200" y="228600"/>
            <a:ext cx="7772400" cy="838200"/>
          </a:xfrm>
          <a:noFill/>
          <a:ln/>
        </p:spPr>
        <p:txBody>
          <a:bodyPr/>
          <a:lstStyle/>
          <a:p>
            <a:r>
              <a:rPr lang="en-US"/>
              <a:t>The Notorious COUNT Bug</a:t>
            </a:r>
          </a:p>
        </p:txBody>
      </p:sp>
      <p:sp>
        <p:nvSpPr>
          <p:cNvPr id="61445" name="Rectangle 5"/>
          <p:cNvSpPr>
            <a:spLocks noGrp="1" noChangeArrowheads="1"/>
          </p:cNvSpPr>
          <p:nvPr>
            <p:ph type="body" idx="1"/>
          </p:nvPr>
        </p:nvSpPr>
        <p:spPr>
          <a:xfrm>
            <a:off x="762000" y="6019800"/>
            <a:ext cx="7772400" cy="571500"/>
          </a:xfrm>
          <a:noFill/>
          <a:ln/>
        </p:spPr>
        <p:txBody>
          <a:bodyPr>
            <a:normAutofit lnSpcReduction="10000"/>
          </a:bodyPr>
          <a:lstStyle/>
          <a:p>
            <a:r>
              <a:rPr lang="en-US"/>
              <a:t>What happens when Employee is empty??</a:t>
            </a:r>
          </a:p>
        </p:txBody>
      </p:sp>
      <p:sp>
        <p:nvSpPr>
          <p:cNvPr id="61446" name="Arc 6"/>
          <p:cNvSpPr>
            <a:spLocks/>
          </p:cNvSpPr>
          <p:nvPr/>
        </p:nvSpPr>
        <p:spPr bwMode="auto">
          <a:xfrm>
            <a:off x="2063750" y="1876425"/>
            <a:ext cx="1574800" cy="835025"/>
          </a:xfrm>
          <a:custGeom>
            <a:avLst/>
            <a:gdLst>
              <a:gd name="G0" fmla="+- 21600 0 0"/>
              <a:gd name="G1" fmla="+- 6516 0 0"/>
              <a:gd name="G2" fmla="+- 21600 0 0"/>
              <a:gd name="T0" fmla="*/ 37590 w 37590"/>
              <a:gd name="T1" fmla="*/ 21038 h 28116"/>
              <a:gd name="T2" fmla="*/ 1006 w 37590"/>
              <a:gd name="T3" fmla="*/ 0 h 28116"/>
              <a:gd name="T4" fmla="*/ 21600 w 37590"/>
              <a:gd name="T5" fmla="*/ 6516 h 28116"/>
            </a:gdLst>
            <a:ahLst/>
            <a:cxnLst>
              <a:cxn ang="0">
                <a:pos x="T0" y="T1"/>
              </a:cxn>
              <a:cxn ang="0">
                <a:pos x="T2" y="T3"/>
              </a:cxn>
              <a:cxn ang="0">
                <a:pos x="T4" y="T5"/>
              </a:cxn>
            </a:cxnLst>
            <a:rect l="0" t="0" r="r" b="b"/>
            <a:pathLst>
              <a:path w="37590" h="28116" fill="none" extrusionOk="0">
                <a:moveTo>
                  <a:pt x="37589" y="21037"/>
                </a:moveTo>
                <a:cubicBezTo>
                  <a:pt x="33495" y="25545"/>
                  <a:pt x="27689" y="28115"/>
                  <a:pt x="21600" y="28116"/>
                </a:cubicBezTo>
                <a:cubicBezTo>
                  <a:pt x="9670" y="28116"/>
                  <a:pt x="0" y="18445"/>
                  <a:pt x="0" y="6516"/>
                </a:cubicBezTo>
                <a:cubicBezTo>
                  <a:pt x="-1" y="4305"/>
                  <a:pt x="339" y="2107"/>
                  <a:pt x="1006" y="0"/>
                </a:cubicBezTo>
              </a:path>
              <a:path w="37590" h="28116" stroke="0" extrusionOk="0">
                <a:moveTo>
                  <a:pt x="37589" y="21037"/>
                </a:moveTo>
                <a:cubicBezTo>
                  <a:pt x="33495" y="25545"/>
                  <a:pt x="27689" y="28115"/>
                  <a:pt x="21600" y="28116"/>
                </a:cubicBezTo>
                <a:cubicBezTo>
                  <a:pt x="9670" y="28116"/>
                  <a:pt x="0" y="18445"/>
                  <a:pt x="0" y="6516"/>
                </a:cubicBezTo>
                <a:cubicBezTo>
                  <a:pt x="-1" y="4305"/>
                  <a:pt x="339" y="2107"/>
                  <a:pt x="1006" y="0"/>
                </a:cubicBezTo>
                <a:lnTo>
                  <a:pt x="21600" y="6516"/>
                </a:lnTo>
                <a:close/>
              </a:path>
            </a:pathLst>
          </a:custGeom>
          <a:noFill/>
          <a:ln w="12700" cap="rnd">
            <a:solidFill>
              <a:schemeClr val="tx1"/>
            </a:solidFill>
            <a:round/>
            <a:headEnd/>
            <a:tailEnd/>
          </a:ln>
          <a:effectLst/>
        </p:spPr>
        <p:txBody>
          <a:bodyPr/>
          <a:lstStyle/>
          <a:p>
            <a:endParaRPr lang="en-IN"/>
          </a:p>
        </p:txBody>
      </p:sp>
      <p:sp>
        <p:nvSpPr>
          <p:cNvPr id="61448" name="Rectangle 8"/>
          <p:cNvSpPr>
            <a:spLocks noChangeArrowheads="1"/>
          </p:cNvSpPr>
          <p:nvPr/>
        </p:nvSpPr>
        <p:spPr bwMode="auto">
          <a:xfrm>
            <a:off x="1503363" y="1139825"/>
            <a:ext cx="6450012" cy="1327150"/>
          </a:xfrm>
          <a:prstGeom prst="rect">
            <a:avLst/>
          </a:prstGeom>
          <a:noFill/>
          <a:ln w="19050">
            <a:solidFill>
              <a:schemeClr val="tx1"/>
            </a:solidFill>
            <a:miter lim="800000"/>
            <a:headEnd/>
            <a:tailEnd/>
          </a:ln>
          <a:effectLst/>
        </p:spPr>
        <p:txBody>
          <a:bodyPr wrap="none" lIns="90488" tIns="44450" rIns="90488" bIns="44450">
            <a:spAutoFit/>
          </a:bodyPr>
          <a:lstStyle/>
          <a:p>
            <a:r>
              <a:rPr lang="en-US" sz="2000" b="1">
                <a:latin typeface="Courier New" pitchFamily="49" charset="0"/>
              </a:rPr>
              <a:t>SELECT dname FROM Department D</a:t>
            </a:r>
          </a:p>
          <a:p>
            <a:r>
              <a:rPr lang="en-US" sz="2000" b="1">
                <a:latin typeface="Courier New" pitchFamily="49" charset="0"/>
              </a:rPr>
              <a:t> WHERE D.num_emps  &gt;</a:t>
            </a:r>
          </a:p>
          <a:p>
            <a:r>
              <a:rPr lang="en-US" sz="2000" b="1">
                <a:latin typeface="Courier New" pitchFamily="49" charset="0"/>
              </a:rPr>
              <a:t>	   (SELECT COUNT(*) FROM Employee E</a:t>
            </a:r>
          </a:p>
          <a:p>
            <a:r>
              <a:rPr lang="en-US" sz="2000" b="1">
                <a:latin typeface="Courier New" pitchFamily="49" charset="0"/>
              </a:rPr>
              <a:t>	     WHERE D.building = E.building)</a:t>
            </a:r>
          </a:p>
        </p:txBody>
      </p:sp>
      <p:sp>
        <p:nvSpPr>
          <p:cNvPr id="61451" name="Rectangle 11"/>
          <p:cNvSpPr>
            <a:spLocks noChangeArrowheads="1"/>
          </p:cNvSpPr>
          <p:nvPr/>
        </p:nvSpPr>
        <p:spPr bwMode="auto">
          <a:xfrm>
            <a:off x="1524000" y="2940050"/>
            <a:ext cx="6297613" cy="2851150"/>
          </a:xfrm>
          <a:prstGeom prst="rect">
            <a:avLst/>
          </a:prstGeom>
          <a:noFill/>
          <a:ln w="19050">
            <a:solidFill>
              <a:schemeClr val="tx1"/>
            </a:solidFill>
            <a:miter lim="800000"/>
            <a:headEnd/>
            <a:tailEnd/>
          </a:ln>
          <a:effectLst/>
        </p:spPr>
        <p:txBody>
          <a:bodyPr wrap="none" lIns="90488" tIns="44450" rIns="90488" bIns="44450">
            <a:spAutoFit/>
          </a:bodyPr>
          <a:lstStyle/>
          <a:p>
            <a:r>
              <a:rPr lang="en-US" sz="2000" b="1">
                <a:latin typeface="Courier New" pitchFamily="49" charset="0"/>
              </a:rPr>
              <a:t>CREATE VIEW Temp (empcount, building) AS</a:t>
            </a:r>
          </a:p>
          <a:p>
            <a:r>
              <a:rPr lang="en-US" sz="2000" b="1">
                <a:latin typeface="Courier New" pitchFamily="49" charset="0"/>
              </a:rPr>
              <a:t>	SELECT COUNT(*), E.building</a:t>
            </a:r>
          </a:p>
          <a:p>
            <a:r>
              <a:rPr lang="en-US" sz="2000" b="1">
                <a:latin typeface="Courier New" pitchFamily="49" charset="0"/>
              </a:rPr>
              <a:t>	  FROM Employee E</a:t>
            </a:r>
          </a:p>
          <a:p>
            <a:r>
              <a:rPr lang="en-US" sz="2000" b="1">
                <a:latin typeface="Courier New" pitchFamily="49" charset="0"/>
              </a:rPr>
              <a:t>	GROUP BY E.building</a:t>
            </a:r>
          </a:p>
          <a:p>
            <a:endParaRPr lang="en-US" sz="2000" b="1">
              <a:latin typeface="Courier New" pitchFamily="49" charset="0"/>
            </a:endParaRPr>
          </a:p>
          <a:p>
            <a:r>
              <a:rPr lang="en-US" sz="2000" b="1">
                <a:latin typeface="Courier New" pitchFamily="49" charset="0"/>
              </a:rPr>
              <a:t>SELECT dname </a:t>
            </a:r>
          </a:p>
          <a:p>
            <a:r>
              <a:rPr lang="en-US" sz="2000" b="1">
                <a:latin typeface="Courier New" pitchFamily="49" charset="0"/>
              </a:rPr>
              <a:t>  FROM Department D,Temp</a:t>
            </a:r>
          </a:p>
          <a:p>
            <a:r>
              <a:rPr lang="en-US" sz="2000" b="1">
                <a:latin typeface="Courier New" pitchFamily="49" charset="0"/>
              </a:rPr>
              <a:t> WHERE D.building = Temp.building</a:t>
            </a:r>
          </a:p>
          <a:p>
            <a:r>
              <a:rPr lang="en-US" sz="2000" b="1">
                <a:latin typeface="Courier New" pitchFamily="49" charset="0"/>
              </a:rPr>
              <a:t>   AND D.num_emps &gt; Temp.empcount;</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1445">
                                            <p:txEl>
                                              <p:pRg st="0" end="0"/>
                                            </p:txEl>
                                          </p:spTgt>
                                        </p:tgtEl>
                                        <p:attrNameLst>
                                          <p:attrName>style.visibility</p:attrName>
                                        </p:attrNameLst>
                                      </p:cBhvr>
                                      <p:to>
                                        <p:strVal val="visible"/>
                                      </p:to>
                                    </p:set>
                                    <p:animEffect transition="in" filter="box(out)">
                                      <p:cBhvr>
                                        <p:cTn id="7" dur="500"/>
                                        <p:tgtEl>
                                          <p:spTgt spid="614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6349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63492" name="Rectangle 4"/>
          <p:cNvSpPr>
            <a:spLocks noGrp="1" noChangeArrowheads="1"/>
          </p:cNvSpPr>
          <p:nvPr>
            <p:ph type="title"/>
          </p:nvPr>
        </p:nvSpPr>
        <p:spPr>
          <a:noFill/>
          <a:ln/>
        </p:spPr>
        <p:txBody>
          <a:bodyPr/>
          <a:lstStyle/>
          <a:p>
            <a:r>
              <a:rPr lang="en-US"/>
              <a:t>Summary on Unnesting Queries</a:t>
            </a:r>
          </a:p>
        </p:txBody>
      </p:sp>
      <p:sp>
        <p:nvSpPr>
          <p:cNvPr id="63493" name="Rectangle 5"/>
          <p:cNvSpPr>
            <a:spLocks noGrp="1" noChangeArrowheads="1"/>
          </p:cNvSpPr>
          <p:nvPr>
            <p:ph type="body" idx="1"/>
          </p:nvPr>
        </p:nvSpPr>
        <p:spPr>
          <a:xfrm>
            <a:off x="762000" y="1371600"/>
            <a:ext cx="7772400" cy="4076700"/>
          </a:xfrm>
          <a:noFill/>
          <a:ln/>
        </p:spPr>
        <p:txBody>
          <a:bodyPr/>
          <a:lstStyle/>
          <a:p>
            <a:pPr>
              <a:lnSpc>
                <a:spcPct val="90000"/>
              </a:lnSpc>
            </a:pPr>
            <a:r>
              <a:rPr lang="en-US" sz="2000">
                <a:solidFill>
                  <a:schemeClr val="accent2"/>
                </a:solidFill>
              </a:rPr>
              <a:t>DISTINCT</a:t>
            </a:r>
            <a:r>
              <a:rPr lang="en-US" sz="2400">
                <a:solidFill>
                  <a:schemeClr val="accent2"/>
                </a:solidFill>
              </a:rPr>
              <a:t> at top level</a:t>
            </a:r>
            <a:r>
              <a:rPr lang="en-US" sz="2400"/>
              <a:t>: </a:t>
            </a:r>
            <a:r>
              <a:rPr lang="en-US" sz="2400" i="1">
                <a:solidFill>
                  <a:srgbClr val="FF6666"/>
                </a:solidFill>
              </a:rPr>
              <a:t>Can ignore duplicates</a:t>
            </a:r>
            <a:r>
              <a:rPr lang="en-US" sz="2400">
                <a:solidFill>
                  <a:srgbClr val="FF6666"/>
                </a:solidFill>
              </a:rPr>
              <a:t>.</a:t>
            </a:r>
            <a:endParaRPr lang="en-US" sz="2400"/>
          </a:p>
          <a:p>
            <a:pPr lvl="1">
              <a:lnSpc>
                <a:spcPct val="90000"/>
              </a:lnSpc>
              <a:buSzPct val="75000"/>
            </a:pPr>
            <a:r>
              <a:rPr lang="en-US" sz="2000"/>
              <a:t>Can sometimes infer DISTINCT at top level!  (e.g. subquery clause matches at most one tuple)</a:t>
            </a:r>
          </a:p>
          <a:p>
            <a:pPr>
              <a:lnSpc>
                <a:spcPct val="90000"/>
              </a:lnSpc>
            </a:pPr>
            <a:r>
              <a:rPr lang="en-US" sz="2000">
                <a:solidFill>
                  <a:schemeClr val="accent2"/>
                </a:solidFill>
              </a:rPr>
              <a:t>DISTINCT</a:t>
            </a:r>
            <a:r>
              <a:rPr lang="en-US" sz="2400">
                <a:solidFill>
                  <a:schemeClr val="accent2"/>
                </a:solidFill>
              </a:rPr>
              <a:t> in subquery </a:t>
            </a:r>
            <a:r>
              <a:rPr lang="en-US" sz="2400"/>
              <a:t>w/o </a:t>
            </a:r>
            <a:r>
              <a:rPr lang="en-US" sz="2000"/>
              <a:t>DISTINCT</a:t>
            </a:r>
            <a:r>
              <a:rPr lang="en-US" sz="2400"/>
              <a:t> at top: </a:t>
            </a:r>
            <a:r>
              <a:rPr lang="en-US" sz="2400" i="1">
                <a:solidFill>
                  <a:srgbClr val="FF6666"/>
                </a:solidFill>
              </a:rPr>
              <a:t>Hard to convert</a:t>
            </a:r>
            <a:r>
              <a:rPr lang="en-US" sz="2400">
                <a:solidFill>
                  <a:srgbClr val="FF6666"/>
                </a:solidFill>
              </a:rPr>
              <a:t>.</a:t>
            </a:r>
          </a:p>
          <a:p>
            <a:pPr>
              <a:lnSpc>
                <a:spcPct val="90000"/>
              </a:lnSpc>
            </a:pPr>
            <a:r>
              <a:rPr lang="en-US" sz="2400">
                <a:solidFill>
                  <a:schemeClr val="accent2"/>
                </a:solidFill>
              </a:rPr>
              <a:t>Subqueries inside OR</a:t>
            </a:r>
            <a:r>
              <a:rPr lang="en-US" sz="2400"/>
              <a:t>: </a:t>
            </a:r>
            <a:r>
              <a:rPr lang="en-US" sz="2400" i="1">
                <a:solidFill>
                  <a:srgbClr val="FF6666"/>
                </a:solidFill>
              </a:rPr>
              <a:t>Hard to convert</a:t>
            </a:r>
            <a:r>
              <a:rPr lang="en-US" sz="2400" i="1">
                <a:solidFill>
                  <a:schemeClr val="accent1"/>
                </a:solidFill>
              </a:rPr>
              <a:t>.</a:t>
            </a:r>
            <a:endParaRPr lang="en-US" sz="2400">
              <a:solidFill>
                <a:schemeClr val="accent1"/>
              </a:solidFill>
            </a:endParaRPr>
          </a:p>
          <a:p>
            <a:pPr>
              <a:lnSpc>
                <a:spcPct val="90000"/>
              </a:lnSpc>
            </a:pPr>
            <a:r>
              <a:rPr lang="en-US" sz="2000">
                <a:solidFill>
                  <a:schemeClr val="accent2"/>
                </a:solidFill>
              </a:rPr>
              <a:t>ALL</a:t>
            </a:r>
            <a:r>
              <a:rPr lang="en-US" sz="2400">
                <a:solidFill>
                  <a:schemeClr val="accent2"/>
                </a:solidFill>
              </a:rPr>
              <a:t> subqueries</a:t>
            </a:r>
            <a:r>
              <a:rPr lang="en-US" sz="2400"/>
              <a:t>: </a:t>
            </a:r>
            <a:r>
              <a:rPr lang="en-US" sz="2400" i="1">
                <a:solidFill>
                  <a:srgbClr val="FF6666"/>
                </a:solidFill>
              </a:rPr>
              <a:t>Hard to convert</a:t>
            </a:r>
            <a:r>
              <a:rPr lang="en-US" sz="2400" i="1">
                <a:solidFill>
                  <a:schemeClr val="accent1"/>
                </a:solidFill>
              </a:rPr>
              <a:t>.</a:t>
            </a:r>
            <a:endParaRPr lang="en-US" sz="2400">
              <a:solidFill>
                <a:schemeClr val="accent1"/>
              </a:solidFill>
            </a:endParaRPr>
          </a:p>
          <a:p>
            <a:pPr lvl="1">
              <a:lnSpc>
                <a:spcPct val="90000"/>
              </a:lnSpc>
              <a:buSzPct val="75000"/>
            </a:pPr>
            <a:r>
              <a:rPr lang="en-US" sz="2000"/>
              <a:t>EXISTS and ANY are just like IN.</a:t>
            </a:r>
          </a:p>
          <a:p>
            <a:pPr>
              <a:lnSpc>
                <a:spcPct val="90000"/>
              </a:lnSpc>
            </a:pPr>
            <a:r>
              <a:rPr lang="en-US" sz="2400">
                <a:solidFill>
                  <a:schemeClr val="accent2"/>
                </a:solidFill>
              </a:rPr>
              <a:t>Aggregates in subqueries</a:t>
            </a:r>
            <a:r>
              <a:rPr lang="en-US" sz="2400"/>
              <a:t>: </a:t>
            </a:r>
            <a:r>
              <a:rPr lang="en-US" sz="2400" i="1">
                <a:solidFill>
                  <a:srgbClr val="FF6666"/>
                </a:solidFill>
              </a:rPr>
              <a:t>Tricky</a:t>
            </a:r>
            <a:r>
              <a:rPr lang="en-US" sz="2400" i="1">
                <a:solidFill>
                  <a:schemeClr val="accent1"/>
                </a:solidFill>
              </a:rPr>
              <a:t>.</a:t>
            </a:r>
            <a:endParaRPr lang="en-US" sz="2400">
              <a:solidFill>
                <a:schemeClr val="accent1"/>
              </a:solidFill>
            </a:endParaRPr>
          </a:p>
          <a:p>
            <a:pPr>
              <a:lnSpc>
                <a:spcPct val="90000"/>
              </a:lnSpc>
            </a:pPr>
            <a:r>
              <a:rPr lang="en-US" sz="2400" u="sng">
                <a:solidFill>
                  <a:schemeClr val="accent2"/>
                </a:solidFill>
              </a:rPr>
              <a:t>Good news</a:t>
            </a:r>
            <a:r>
              <a:rPr lang="en-US" sz="2400">
                <a:solidFill>
                  <a:schemeClr val="accent2"/>
                </a:solidFill>
              </a:rPr>
              <a:t>: Some systems now rewrite under the covers (e.g. DB2).</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49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349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349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349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349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6349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349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349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655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65540" name="Rectangle 4"/>
          <p:cNvSpPr>
            <a:spLocks noGrp="1" noChangeArrowheads="1"/>
          </p:cNvSpPr>
          <p:nvPr>
            <p:ph type="title"/>
          </p:nvPr>
        </p:nvSpPr>
        <p:spPr>
          <a:xfrm>
            <a:off x="76200" y="152400"/>
            <a:ext cx="7772400" cy="914400"/>
          </a:xfrm>
          <a:noFill/>
          <a:ln/>
        </p:spPr>
        <p:txBody>
          <a:bodyPr>
            <a:normAutofit fontScale="90000"/>
          </a:bodyPr>
          <a:lstStyle/>
          <a:p>
            <a:r>
              <a:rPr lang="en-US"/>
              <a:t>More Guidelines for Query Tuning</a:t>
            </a:r>
          </a:p>
        </p:txBody>
      </p:sp>
      <p:sp>
        <p:nvSpPr>
          <p:cNvPr id="65541" name="Rectangle 5"/>
          <p:cNvSpPr>
            <a:spLocks noGrp="1" noChangeArrowheads="1"/>
          </p:cNvSpPr>
          <p:nvPr>
            <p:ph type="body" idx="1"/>
          </p:nvPr>
        </p:nvSpPr>
        <p:spPr>
          <a:xfrm>
            <a:off x="0" y="1447800"/>
            <a:ext cx="9067800" cy="1905000"/>
          </a:xfrm>
          <a:noFill/>
          <a:ln/>
        </p:spPr>
        <p:txBody>
          <a:bodyPr>
            <a:normAutofit fontScale="92500"/>
          </a:bodyPr>
          <a:lstStyle/>
          <a:p>
            <a:r>
              <a:rPr lang="en-US"/>
              <a:t>Minimize the use of </a:t>
            </a:r>
            <a:r>
              <a:rPr lang="en-US" sz="2400"/>
              <a:t>DISTINCT</a:t>
            </a:r>
            <a:r>
              <a:rPr lang="en-US"/>
              <a:t>:  don’t need it if duplicates are acceptable, or if answer contains a key. </a:t>
            </a:r>
          </a:p>
          <a:p>
            <a:r>
              <a:rPr lang="en-US"/>
              <a:t>Minimize the use of </a:t>
            </a:r>
            <a:r>
              <a:rPr lang="en-US" sz="2400"/>
              <a:t>GROUP BY </a:t>
            </a:r>
            <a:r>
              <a:rPr lang="en-US"/>
              <a:t>and </a:t>
            </a:r>
            <a:r>
              <a:rPr lang="en-US" sz="2400"/>
              <a:t>HAVING</a:t>
            </a:r>
            <a:r>
              <a:rPr lang="en-US"/>
              <a:t>:</a:t>
            </a:r>
          </a:p>
        </p:txBody>
      </p:sp>
      <p:sp>
        <p:nvSpPr>
          <p:cNvPr id="65542" name="Rectangle 6"/>
          <p:cNvSpPr>
            <a:spLocks noChangeArrowheads="1"/>
          </p:cNvSpPr>
          <p:nvPr/>
        </p:nvSpPr>
        <p:spPr bwMode="auto">
          <a:xfrm>
            <a:off x="593725" y="3106738"/>
            <a:ext cx="2863850" cy="1562100"/>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  MIN </a:t>
            </a:r>
            <a:r>
              <a:rPr lang="en-US">
                <a:latin typeface="Book Antiqua" pitchFamily="18" charset="0"/>
              </a:rPr>
              <a:t>(E.age)</a:t>
            </a:r>
          </a:p>
          <a:p>
            <a:r>
              <a:rPr lang="en-US" sz="2000">
                <a:latin typeface="Book Antiqua" pitchFamily="18" charset="0"/>
              </a:rPr>
              <a:t>FROM</a:t>
            </a:r>
            <a:r>
              <a:rPr lang="en-US">
                <a:latin typeface="Book Antiqua" pitchFamily="18" charset="0"/>
              </a:rPr>
              <a:t>  Employee E</a:t>
            </a:r>
          </a:p>
          <a:p>
            <a:r>
              <a:rPr lang="en-US" sz="2000">
                <a:latin typeface="Book Antiqua" pitchFamily="18" charset="0"/>
              </a:rPr>
              <a:t>GROUP BY  </a:t>
            </a:r>
            <a:r>
              <a:rPr lang="en-US">
                <a:latin typeface="Book Antiqua" pitchFamily="18" charset="0"/>
              </a:rPr>
              <a:t>E.dno</a:t>
            </a:r>
          </a:p>
          <a:p>
            <a:r>
              <a:rPr lang="en-US" sz="2000">
                <a:latin typeface="Book Antiqua" pitchFamily="18" charset="0"/>
              </a:rPr>
              <a:t>HAVING</a:t>
            </a:r>
            <a:r>
              <a:rPr lang="en-US">
                <a:latin typeface="Book Antiqua" pitchFamily="18" charset="0"/>
              </a:rPr>
              <a:t>  E.dno=102</a:t>
            </a:r>
          </a:p>
        </p:txBody>
      </p:sp>
      <p:sp>
        <p:nvSpPr>
          <p:cNvPr id="65543" name="Rectangle 7"/>
          <p:cNvSpPr>
            <a:spLocks noChangeArrowheads="1"/>
          </p:cNvSpPr>
          <p:nvPr/>
        </p:nvSpPr>
        <p:spPr bwMode="auto">
          <a:xfrm>
            <a:off x="4249738" y="3182938"/>
            <a:ext cx="2789237"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  MIN </a:t>
            </a:r>
            <a:r>
              <a:rPr lang="en-US">
                <a:latin typeface="Book Antiqua" pitchFamily="18" charset="0"/>
              </a:rPr>
              <a:t>(E.age)</a:t>
            </a:r>
          </a:p>
          <a:p>
            <a:r>
              <a:rPr lang="en-US" sz="2000">
                <a:latin typeface="Book Antiqua" pitchFamily="18" charset="0"/>
              </a:rPr>
              <a:t>FROM</a:t>
            </a:r>
            <a:r>
              <a:rPr lang="en-US">
                <a:latin typeface="Book Antiqua" pitchFamily="18" charset="0"/>
              </a:rPr>
              <a:t>  Employee E</a:t>
            </a:r>
          </a:p>
          <a:p>
            <a:r>
              <a:rPr lang="en-US" sz="2000">
                <a:latin typeface="Book Antiqua" pitchFamily="18" charset="0"/>
              </a:rPr>
              <a:t>WHERE  </a:t>
            </a:r>
            <a:r>
              <a:rPr lang="en-US">
                <a:latin typeface="Book Antiqua" pitchFamily="18" charset="0"/>
              </a:rPr>
              <a:t>E.dno=102</a:t>
            </a:r>
          </a:p>
        </p:txBody>
      </p:sp>
      <p:sp>
        <p:nvSpPr>
          <p:cNvPr id="65544" name="Rectangle 8"/>
          <p:cNvSpPr>
            <a:spLocks noChangeArrowheads="1"/>
          </p:cNvSpPr>
          <p:nvPr/>
        </p:nvSpPr>
        <p:spPr bwMode="auto">
          <a:xfrm>
            <a:off x="76200" y="4953000"/>
            <a:ext cx="9067800" cy="1371600"/>
          </a:xfrm>
          <a:prstGeom prst="rect">
            <a:avLst/>
          </a:prstGeom>
          <a:noFill/>
          <a:ln w="12700">
            <a:noFill/>
            <a:miter lim="800000"/>
            <a:headEnd/>
            <a:tailEnd/>
          </a:ln>
          <a:effectLst/>
        </p:spPr>
        <p:txBody>
          <a:bodyPr lIns="90488" tIns="44450" rIns="90488" bIns="44450"/>
          <a:lstStyle/>
          <a:p>
            <a:pPr marL="342900" indent="-342900">
              <a:spcBef>
                <a:spcPct val="20000"/>
              </a:spcBef>
              <a:buClr>
                <a:schemeClr val="tx1"/>
              </a:buClr>
              <a:buSzPct val="75000"/>
              <a:buFont typeface="Monotype Sorts" charset="0"/>
              <a:buChar char="v"/>
            </a:pPr>
            <a:r>
              <a:rPr lang="en-US" sz="2800">
                <a:latin typeface="Book Antiqua" pitchFamily="18" charset="0"/>
              </a:rPr>
              <a:t>Consider DBMS use of index when writing arithmetic expressions:  </a:t>
            </a:r>
            <a:r>
              <a:rPr lang="en-US" sz="2800" i="1">
                <a:solidFill>
                  <a:schemeClr val="accent2"/>
                </a:solidFill>
                <a:latin typeface="Book Antiqua" pitchFamily="18" charset="0"/>
              </a:rPr>
              <a:t>E.age=2*D.age</a:t>
            </a:r>
            <a:r>
              <a:rPr lang="en-US" sz="2800">
                <a:solidFill>
                  <a:schemeClr val="accent2"/>
                </a:solidFill>
                <a:latin typeface="Book Antiqua" pitchFamily="18" charset="0"/>
              </a:rPr>
              <a:t> </a:t>
            </a:r>
            <a:r>
              <a:rPr lang="en-US" sz="2800">
                <a:latin typeface="Book Antiqua" pitchFamily="18" charset="0"/>
              </a:rPr>
              <a:t>will benefit from index on </a:t>
            </a:r>
            <a:r>
              <a:rPr lang="en-US" sz="2800" i="1">
                <a:solidFill>
                  <a:schemeClr val="accent2"/>
                </a:solidFill>
                <a:latin typeface="Book Antiqua" pitchFamily="18" charset="0"/>
              </a:rPr>
              <a:t>E.age</a:t>
            </a:r>
            <a:r>
              <a:rPr lang="en-US" sz="2800">
                <a:latin typeface="Book Antiqua" pitchFamily="18" charset="0"/>
              </a:rPr>
              <a:t>, but might not benefit from index on </a:t>
            </a:r>
            <a:r>
              <a:rPr lang="en-US" sz="2800" i="1">
                <a:solidFill>
                  <a:schemeClr val="accent2"/>
                </a:solidFill>
                <a:latin typeface="Book Antiqua" pitchFamily="18" charset="0"/>
              </a:rPr>
              <a:t>D.age</a:t>
            </a:r>
            <a:r>
              <a:rPr lang="en-US" sz="2800">
                <a:latin typeface="Book Antiqua" pitchFamily="18" charset="0"/>
              </a:rPr>
              <a:t>!</a:t>
            </a:r>
          </a:p>
        </p:txBody>
      </p:sp>
    </p:spTree>
  </p:cSld>
  <p:clrMapOvr>
    <a:masterClrMapping/>
  </p:clrMapOvr>
  <p:transition>
    <p:cut/>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IN"/>
          </a:p>
        </p:txBody>
      </p:sp>
      <p:sp>
        <p:nvSpPr>
          <p:cNvPr id="6758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IN"/>
          </a:p>
        </p:txBody>
      </p:sp>
      <p:sp>
        <p:nvSpPr>
          <p:cNvPr id="67588" name="Rectangle 4"/>
          <p:cNvSpPr>
            <a:spLocks noGrp="1" noChangeArrowheads="1"/>
          </p:cNvSpPr>
          <p:nvPr>
            <p:ph type="title"/>
          </p:nvPr>
        </p:nvSpPr>
        <p:spPr>
          <a:xfrm>
            <a:off x="76200" y="152400"/>
            <a:ext cx="8229600" cy="838200"/>
          </a:xfrm>
          <a:noFill/>
          <a:ln/>
        </p:spPr>
        <p:txBody>
          <a:bodyPr>
            <a:normAutofit fontScale="90000"/>
          </a:bodyPr>
          <a:lstStyle/>
          <a:p>
            <a:r>
              <a:rPr lang="en-US"/>
              <a:t>Guidelines for Query Tuning (Contd.)</a:t>
            </a:r>
          </a:p>
        </p:txBody>
      </p:sp>
      <p:sp>
        <p:nvSpPr>
          <p:cNvPr id="67589" name="Rectangle 5"/>
          <p:cNvSpPr>
            <a:spLocks noGrp="1" noChangeArrowheads="1"/>
          </p:cNvSpPr>
          <p:nvPr>
            <p:ph type="body" idx="1"/>
          </p:nvPr>
        </p:nvSpPr>
        <p:spPr>
          <a:xfrm>
            <a:off x="0" y="1371600"/>
            <a:ext cx="4800600" cy="990600"/>
          </a:xfrm>
          <a:noFill/>
          <a:ln/>
        </p:spPr>
        <p:txBody>
          <a:bodyPr>
            <a:normAutofit lnSpcReduction="10000"/>
          </a:bodyPr>
          <a:lstStyle/>
          <a:p>
            <a:r>
              <a:rPr lang="en-US"/>
              <a:t>Avoid using intermediate                                           relations:</a:t>
            </a:r>
          </a:p>
        </p:txBody>
      </p:sp>
      <p:sp>
        <p:nvSpPr>
          <p:cNvPr id="67590" name="Rectangle 6"/>
          <p:cNvSpPr>
            <a:spLocks noChangeArrowheads="1"/>
          </p:cNvSpPr>
          <p:nvPr/>
        </p:nvSpPr>
        <p:spPr bwMode="auto">
          <a:xfrm>
            <a:off x="533400" y="3162300"/>
            <a:ext cx="4249738" cy="1562100"/>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  </a:t>
            </a:r>
            <a:r>
              <a:rPr lang="en-US" sz="2000">
                <a:latin typeface="Book Antiqua" pitchFamily="18" charset="0"/>
              </a:rPr>
              <a:t>INTO  </a:t>
            </a:r>
            <a:r>
              <a:rPr lang="en-US">
                <a:latin typeface="Book Antiqua" pitchFamily="18" charset="0"/>
              </a:rPr>
              <a:t>Temp</a:t>
            </a:r>
          </a:p>
          <a:p>
            <a:r>
              <a:rPr lang="en-US" sz="2000">
                <a:latin typeface="Book Antiqua" pitchFamily="18" charset="0"/>
              </a:rPr>
              <a:t>FROM</a:t>
            </a:r>
            <a:r>
              <a:rPr lang="en-US">
                <a:latin typeface="Book Antiqua" pitchFamily="18" charset="0"/>
              </a:rPr>
              <a:t>  Emp E, Dept D</a:t>
            </a:r>
          </a:p>
          <a:p>
            <a:r>
              <a:rPr lang="en-US" sz="2000">
                <a:latin typeface="Book Antiqua" pitchFamily="18" charset="0"/>
              </a:rPr>
              <a:t>WHERE</a:t>
            </a:r>
            <a:r>
              <a:rPr lang="en-US">
                <a:latin typeface="Book Antiqua" pitchFamily="18" charset="0"/>
              </a:rPr>
              <a:t>  E.dno=D.dno  </a:t>
            </a:r>
          </a:p>
          <a:p>
            <a:r>
              <a:rPr lang="en-US">
                <a:latin typeface="Book Antiqua" pitchFamily="18" charset="0"/>
              </a:rPr>
              <a:t>	</a:t>
            </a:r>
            <a:r>
              <a:rPr lang="en-US" sz="2000">
                <a:latin typeface="Book Antiqua" pitchFamily="18" charset="0"/>
              </a:rPr>
              <a:t>AND</a:t>
            </a:r>
            <a:r>
              <a:rPr lang="en-US">
                <a:latin typeface="Book Antiqua" pitchFamily="18" charset="0"/>
              </a:rPr>
              <a:t>  D.mgrname=‘Joe’</a:t>
            </a:r>
          </a:p>
        </p:txBody>
      </p:sp>
      <p:sp>
        <p:nvSpPr>
          <p:cNvPr id="67591" name="Rectangle 7"/>
          <p:cNvSpPr>
            <a:spLocks noChangeArrowheads="1"/>
          </p:cNvSpPr>
          <p:nvPr/>
        </p:nvSpPr>
        <p:spPr bwMode="auto">
          <a:xfrm>
            <a:off x="5430838" y="3335338"/>
            <a:ext cx="3636962" cy="119697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T.dno, </a:t>
            </a:r>
            <a:r>
              <a:rPr lang="en-US" sz="2000">
                <a:latin typeface="Book Antiqua" pitchFamily="18" charset="0"/>
              </a:rPr>
              <a:t>AVG</a:t>
            </a:r>
            <a:r>
              <a:rPr lang="en-US">
                <a:latin typeface="Book Antiqua" pitchFamily="18" charset="0"/>
              </a:rPr>
              <a:t>(T.sal)</a:t>
            </a:r>
          </a:p>
          <a:p>
            <a:r>
              <a:rPr lang="en-US" sz="2000">
                <a:latin typeface="Book Antiqua" pitchFamily="18" charset="0"/>
              </a:rPr>
              <a:t>FROM</a:t>
            </a:r>
            <a:r>
              <a:rPr lang="en-US">
                <a:latin typeface="Book Antiqua" pitchFamily="18" charset="0"/>
              </a:rPr>
              <a:t>  Temp T</a:t>
            </a:r>
          </a:p>
          <a:p>
            <a:r>
              <a:rPr lang="en-US" sz="2000">
                <a:latin typeface="Book Antiqua" pitchFamily="18" charset="0"/>
              </a:rPr>
              <a:t>GROUP BY  </a:t>
            </a:r>
            <a:r>
              <a:rPr lang="en-US">
                <a:latin typeface="Book Antiqua" pitchFamily="18" charset="0"/>
              </a:rPr>
              <a:t>T.dno</a:t>
            </a:r>
          </a:p>
        </p:txBody>
      </p:sp>
      <p:sp>
        <p:nvSpPr>
          <p:cNvPr id="67592" name="Rectangle 8"/>
          <p:cNvSpPr>
            <a:spLocks noChangeArrowheads="1"/>
          </p:cNvSpPr>
          <p:nvPr/>
        </p:nvSpPr>
        <p:spPr bwMode="auto">
          <a:xfrm>
            <a:off x="0" y="3560763"/>
            <a:ext cx="681038" cy="454025"/>
          </a:xfrm>
          <a:prstGeom prst="rect">
            <a:avLst/>
          </a:prstGeom>
          <a:noFill/>
          <a:ln w="12700">
            <a:noFill/>
            <a:miter lim="800000"/>
            <a:headEnd/>
            <a:tailEnd/>
          </a:ln>
          <a:effectLst/>
        </p:spPr>
        <p:txBody>
          <a:bodyPr wrap="none" lIns="90488" tIns="44450" rIns="90488" bIns="44450">
            <a:spAutoFit/>
          </a:bodyPr>
          <a:lstStyle/>
          <a:p>
            <a:r>
              <a:rPr lang="en-US" i="1" u="sng">
                <a:latin typeface="Book Antiqua" pitchFamily="18" charset="0"/>
              </a:rPr>
              <a:t>vs.</a:t>
            </a:r>
            <a:r>
              <a:rPr lang="en-US" i="1">
                <a:latin typeface="Book Antiqua" pitchFamily="18" charset="0"/>
              </a:rPr>
              <a:t>  </a:t>
            </a:r>
          </a:p>
        </p:txBody>
      </p:sp>
      <p:sp>
        <p:nvSpPr>
          <p:cNvPr id="67593" name="Rectangle 9"/>
          <p:cNvSpPr>
            <a:spLocks noChangeArrowheads="1"/>
          </p:cNvSpPr>
          <p:nvPr/>
        </p:nvSpPr>
        <p:spPr bwMode="auto">
          <a:xfrm>
            <a:off x="4724400" y="990600"/>
            <a:ext cx="4249738" cy="1927225"/>
          </a:xfrm>
          <a:prstGeom prst="rect">
            <a:avLst/>
          </a:prstGeom>
          <a:noFill/>
          <a:ln w="12700">
            <a:solidFill>
              <a:schemeClr val="tx1"/>
            </a:solidFill>
            <a:miter lim="800000"/>
            <a:headEnd/>
            <a:tailEnd/>
          </a:ln>
          <a:effectLst/>
        </p:spPr>
        <p:txBody>
          <a:bodyPr wrap="none" lIns="90488" tIns="44450" rIns="90488" bIns="44450">
            <a:spAutoFit/>
          </a:bodyPr>
          <a:lstStyle/>
          <a:p>
            <a:r>
              <a:rPr lang="en-US" sz="2000">
                <a:latin typeface="Book Antiqua" pitchFamily="18" charset="0"/>
              </a:rPr>
              <a:t>SELECT</a:t>
            </a:r>
            <a:r>
              <a:rPr lang="en-US">
                <a:latin typeface="Book Antiqua" pitchFamily="18" charset="0"/>
              </a:rPr>
              <a:t>  E.dno, </a:t>
            </a:r>
            <a:r>
              <a:rPr lang="en-US" sz="2000">
                <a:latin typeface="Book Antiqua" pitchFamily="18" charset="0"/>
              </a:rPr>
              <a:t>AVG</a:t>
            </a:r>
            <a:r>
              <a:rPr lang="en-US">
                <a:latin typeface="Book Antiqua" pitchFamily="18" charset="0"/>
              </a:rPr>
              <a:t>(E.sal)</a:t>
            </a:r>
          </a:p>
          <a:p>
            <a:r>
              <a:rPr lang="en-US" sz="2000">
                <a:latin typeface="Book Antiqua" pitchFamily="18" charset="0"/>
              </a:rPr>
              <a:t>FROM</a:t>
            </a:r>
            <a:r>
              <a:rPr lang="en-US">
                <a:latin typeface="Book Antiqua" pitchFamily="18" charset="0"/>
              </a:rPr>
              <a:t>  Emp E, Dept D</a:t>
            </a:r>
          </a:p>
          <a:p>
            <a:r>
              <a:rPr lang="en-US" sz="2000">
                <a:latin typeface="Book Antiqua" pitchFamily="18" charset="0"/>
              </a:rPr>
              <a:t>WHERE</a:t>
            </a:r>
            <a:r>
              <a:rPr lang="en-US">
                <a:latin typeface="Book Antiqua" pitchFamily="18" charset="0"/>
              </a:rPr>
              <a:t>  E.dno=D.dno  </a:t>
            </a:r>
          </a:p>
          <a:p>
            <a:r>
              <a:rPr lang="en-US" sz="2000">
                <a:latin typeface="Book Antiqua" pitchFamily="18" charset="0"/>
              </a:rPr>
              <a:t>	AND</a:t>
            </a:r>
            <a:r>
              <a:rPr lang="en-US">
                <a:latin typeface="Book Antiqua" pitchFamily="18" charset="0"/>
              </a:rPr>
              <a:t>  D.mgrname=‘Joe’</a:t>
            </a:r>
          </a:p>
          <a:p>
            <a:r>
              <a:rPr lang="en-US" sz="2000">
                <a:latin typeface="Book Antiqua" pitchFamily="18" charset="0"/>
              </a:rPr>
              <a:t>GROUP BY  </a:t>
            </a:r>
            <a:r>
              <a:rPr lang="en-US">
                <a:latin typeface="Book Antiqua" pitchFamily="18" charset="0"/>
              </a:rPr>
              <a:t>E.dno</a:t>
            </a:r>
          </a:p>
        </p:txBody>
      </p:sp>
      <p:sp>
        <p:nvSpPr>
          <p:cNvPr id="67594" name="Rectangle 10"/>
          <p:cNvSpPr>
            <a:spLocks noChangeArrowheads="1"/>
          </p:cNvSpPr>
          <p:nvPr/>
        </p:nvSpPr>
        <p:spPr bwMode="auto">
          <a:xfrm>
            <a:off x="4800600" y="3657600"/>
            <a:ext cx="638175" cy="454025"/>
          </a:xfrm>
          <a:prstGeom prst="rect">
            <a:avLst/>
          </a:prstGeom>
          <a:noFill/>
          <a:ln w="12700">
            <a:noFill/>
            <a:miter lim="800000"/>
            <a:headEnd/>
            <a:tailEnd/>
          </a:ln>
          <a:effectLst/>
        </p:spPr>
        <p:txBody>
          <a:bodyPr wrap="none" lIns="90488" tIns="44450" rIns="90488" bIns="44450">
            <a:spAutoFit/>
          </a:bodyPr>
          <a:lstStyle/>
          <a:p>
            <a:r>
              <a:rPr lang="en-US" i="1">
                <a:latin typeface="Book Antiqua" pitchFamily="18" charset="0"/>
              </a:rPr>
              <a:t>and</a:t>
            </a:r>
          </a:p>
        </p:txBody>
      </p:sp>
      <p:sp>
        <p:nvSpPr>
          <p:cNvPr id="67595" name="Rectangle 11"/>
          <p:cNvSpPr>
            <a:spLocks noChangeArrowheads="1"/>
          </p:cNvSpPr>
          <p:nvPr/>
        </p:nvSpPr>
        <p:spPr bwMode="auto">
          <a:xfrm>
            <a:off x="0" y="4876800"/>
            <a:ext cx="9067800" cy="1828800"/>
          </a:xfrm>
          <a:prstGeom prst="rect">
            <a:avLst/>
          </a:prstGeom>
          <a:noFill/>
          <a:ln w="12700">
            <a:noFill/>
            <a:miter lim="800000"/>
            <a:headEnd/>
            <a:tailEnd/>
          </a:ln>
          <a:effectLst/>
        </p:spPr>
        <p:txBody>
          <a:bodyPr lIns="90488" tIns="44450" rIns="90488" bIns="44450"/>
          <a:lstStyle/>
          <a:p>
            <a:pPr marL="342900" indent="-342900">
              <a:spcBef>
                <a:spcPct val="20000"/>
              </a:spcBef>
              <a:buClr>
                <a:schemeClr val="tx1"/>
              </a:buClr>
              <a:buSzPct val="75000"/>
              <a:buFont typeface="Monotype Sorts" charset="0"/>
              <a:buChar char="v"/>
            </a:pPr>
            <a:r>
              <a:rPr lang="en-US" sz="2800">
                <a:latin typeface="Book Antiqua" pitchFamily="18" charset="0"/>
              </a:rPr>
              <a:t>Does not materialize the intermediate reln Temp.</a:t>
            </a:r>
          </a:p>
          <a:p>
            <a:pPr marL="342900" indent="-342900">
              <a:spcBef>
                <a:spcPct val="20000"/>
              </a:spcBef>
              <a:buClr>
                <a:schemeClr val="tx1"/>
              </a:buClr>
              <a:buSzPct val="75000"/>
              <a:buFont typeface="Monotype Sorts" charset="0"/>
              <a:buChar char="v"/>
            </a:pPr>
            <a:r>
              <a:rPr lang="en-US" sz="2800">
                <a:latin typeface="Book Antiqua" pitchFamily="18" charset="0"/>
              </a:rPr>
              <a:t>If there is a dense B+ tree index on &lt;</a:t>
            </a:r>
            <a:r>
              <a:rPr lang="en-US" sz="2800" i="1">
                <a:latin typeface="Book Antiqua" pitchFamily="18" charset="0"/>
              </a:rPr>
              <a:t>dno, sal</a:t>
            </a:r>
            <a:r>
              <a:rPr lang="en-US" sz="2800">
                <a:latin typeface="Book Antiqua" pitchFamily="18" charset="0"/>
              </a:rPr>
              <a:t>&gt;, an index-only plan can be used to avoid retrieving Emp tuples in the first query!</a:t>
            </a:r>
          </a:p>
        </p:txBody>
      </p:sp>
    </p:spTree>
  </p:cSld>
  <p:clrMapOvr>
    <a:masterClrMapping/>
  </p:clrMapOvr>
  <p:transition>
    <p:cut/>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sankhayan@gmail.com</a:t>
            </a:r>
            <a:endParaRPr lang="en-IN"/>
          </a:p>
        </p:txBody>
      </p:sp>
      <p:sp>
        <p:nvSpPr>
          <p:cNvPr id="5" name="Slide Number Placeholder 4"/>
          <p:cNvSpPr>
            <a:spLocks noGrp="1"/>
          </p:cNvSpPr>
          <p:nvPr>
            <p:ph type="sldNum" sz="quarter" idx="12"/>
          </p:nvPr>
        </p:nvSpPr>
        <p:spPr/>
        <p:txBody>
          <a:bodyPr/>
          <a:lstStyle/>
          <a:p>
            <a:fld id="{49155C66-EA02-4C64-A9CC-743997C7925E}" type="slidenum">
              <a:rPr lang="en-IN" smtClean="0"/>
              <a:pPr/>
              <a:t>79</a:t>
            </a:fld>
            <a:endParaRPr lang="en-I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1722</TotalTime>
  <Words>3893</Words>
  <Application>Microsoft Office PowerPoint</Application>
  <PresentationFormat>On-screen Show (4:3)</PresentationFormat>
  <Paragraphs>611</Paragraphs>
  <Slides>79</Slides>
  <Notes>21</Notes>
  <HiddenSlides>0</HiddenSlides>
  <MMClips>0</MMClips>
  <ScaleCrop>false</ScaleCrop>
  <HeadingPairs>
    <vt:vector size="4" baseType="variant">
      <vt:variant>
        <vt:lpstr>Theme</vt:lpstr>
      </vt:variant>
      <vt:variant>
        <vt:i4>1</vt:i4>
      </vt:variant>
      <vt:variant>
        <vt:lpstr>Slide Titles</vt:lpstr>
      </vt:variant>
      <vt:variant>
        <vt:i4>79</vt:i4>
      </vt:variant>
    </vt:vector>
  </HeadingPairs>
  <TitlesOfParts>
    <vt:vector size="80" baseType="lpstr">
      <vt:lpstr>Office Theme</vt:lpstr>
      <vt:lpstr>Query Optimization: Cost Estimation </vt:lpstr>
      <vt:lpstr>Cost Estimation</vt:lpstr>
      <vt:lpstr>A typical example</vt:lpstr>
      <vt:lpstr>Approaches</vt:lpstr>
      <vt:lpstr>Nested loop join</vt:lpstr>
      <vt:lpstr>Page at a time: A Refinement</vt:lpstr>
      <vt:lpstr>Block Nested Loop Join</vt:lpstr>
      <vt:lpstr>Block Nested Loop Join</vt:lpstr>
      <vt:lpstr>Block Nested loop Join</vt:lpstr>
      <vt:lpstr>Block Nested Loop Join</vt:lpstr>
      <vt:lpstr>Indexed Nested Loop Join</vt:lpstr>
      <vt:lpstr>Cost Estimation: Indexed Nested Loop</vt:lpstr>
      <vt:lpstr>Cost Estimation: Indexed Nested Loop</vt:lpstr>
      <vt:lpstr>Cost Estimation: Indexed Nested Loop</vt:lpstr>
      <vt:lpstr>External Sorting</vt:lpstr>
      <vt:lpstr>External Sorting Example</vt:lpstr>
      <vt:lpstr>Objective: External Sorting</vt:lpstr>
      <vt:lpstr>External Sorting: A two way Merge Sort</vt:lpstr>
      <vt:lpstr>Example: Two way Merge sort of a 7 page file</vt:lpstr>
      <vt:lpstr>External Sorting</vt:lpstr>
      <vt:lpstr>Two Way Merge Sort</vt:lpstr>
      <vt:lpstr>Cost: External Sorting</vt:lpstr>
      <vt:lpstr>Slide 23</vt:lpstr>
      <vt:lpstr>External Merge Sort</vt:lpstr>
      <vt:lpstr>Upgradation</vt:lpstr>
      <vt:lpstr>External Merge Sort: Pass 0</vt:lpstr>
      <vt:lpstr>Cost Calculation</vt:lpstr>
      <vt:lpstr>Number of Passes</vt:lpstr>
      <vt:lpstr>Double Buffering</vt:lpstr>
      <vt:lpstr>Sort Merge Join</vt:lpstr>
      <vt:lpstr>Algorithm</vt:lpstr>
      <vt:lpstr>Cost Calculation</vt:lpstr>
      <vt:lpstr>Hash Join</vt:lpstr>
      <vt:lpstr>Hash based Join</vt:lpstr>
      <vt:lpstr>Probing Phase</vt:lpstr>
      <vt:lpstr>Cost : Hash based Join</vt:lpstr>
      <vt:lpstr>A typical Query Optimizer</vt:lpstr>
      <vt:lpstr>Example</vt:lpstr>
      <vt:lpstr>Working principle: Optimizer</vt:lpstr>
      <vt:lpstr>A Running Example</vt:lpstr>
      <vt:lpstr>Pipelined Vs. Materialization</vt:lpstr>
      <vt:lpstr>Linear &amp; Bushy trees</vt:lpstr>
      <vt:lpstr>Left Deep Plans</vt:lpstr>
      <vt:lpstr>A Running Example </vt:lpstr>
      <vt:lpstr>A Running Example </vt:lpstr>
      <vt:lpstr>An improved Tree</vt:lpstr>
      <vt:lpstr>Alternate Plans</vt:lpstr>
      <vt:lpstr>Alternate Plans</vt:lpstr>
      <vt:lpstr>Alternate plans</vt:lpstr>
      <vt:lpstr>Alternative Plans</vt:lpstr>
      <vt:lpstr>Physical Database Tuning </vt:lpstr>
      <vt:lpstr>Tuning Decisions</vt:lpstr>
      <vt:lpstr>Index Selection Guideline</vt:lpstr>
      <vt:lpstr>Index Selection Guideline</vt:lpstr>
      <vt:lpstr>Index Selection Guideline</vt:lpstr>
      <vt:lpstr>Index Selection Guideline</vt:lpstr>
      <vt:lpstr>Example </vt:lpstr>
      <vt:lpstr>Example</vt:lpstr>
      <vt:lpstr>Examples of Clustering</vt:lpstr>
      <vt:lpstr>Clustering and Joins</vt:lpstr>
      <vt:lpstr>Multi-Attribute Index Keys</vt:lpstr>
      <vt:lpstr>Index-Only Plans</vt:lpstr>
      <vt:lpstr>Tuning the Conceptual Schema</vt:lpstr>
      <vt:lpstr>Example Schemas</vt:lpstr>
      <vt:lpstr>Settling for 3NF vs BCNF</vt:lpstr>
      <vt:lpstr>Denormalization</vt:lpstr>
      <vt:lpstr>Choice of Decompositions</vt:lpstr>
      <vt:lpstr>Choice of Decompositions (Contd.)</vt:lpstr>
      <vt:lpstr>Decomposition of a BCNF Relation</vt:lpstr>
      <vt:lpstr>Horizontal Decompositions</vt:lpstr>
      <vt:lpstr>Horizontal Decompositions (Contd.)</vt:lpstr>
      <vt:lpstr>Masking Conceptual Schema Changes</vt:lpstr>
      <vt:lpstr>Tuning Queries and Views</vt:lpstr>
      <vt:lpstr>Rewriting SQL Queries</vt:lpstr>
      <vt:lpstr>The Notorious COUNT Bug</vt:lpstr>
      <vt:lpstr>Summary on Unnesting Queries</vt:lpstr>
      <vt:lpstr>More Guidelines for Query Tuning</vt:lpstr>
      <vt:lpstr>Guidelines for Query Tuning (Contd.)</vt:lpstr>
      <vt:lpstr>Slide 79</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ADMIN</cp:lastModifiedBy>
  <cp:revision>46</cp:revision>
  <dcterms:created xsi:type="dcterms:W3CDTF">2017-03-30T10:41:37Z</dcterms:created>
  <dcterms:modified xsi:type="dcterms:W3CDTF">2024-11-25T02:48:49Z</dcterms:modified>
</cp:coreProperties>
</file>