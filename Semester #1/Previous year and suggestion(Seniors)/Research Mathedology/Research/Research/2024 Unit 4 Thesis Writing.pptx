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Default Extension="docx" ContentType="application/vnd.openxmlformats-officedocument.wordprocessingml.document"/>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98" r:id="rId2"/>
    <p:sldId id="300" r:id="rId3"/>
    <p:sldId id="301" r:id="rId4"/>
    <p:sldId id="337" r:id="rId5"/>
    <p:sldId id="344" r:id="rId6"/>
    <p:sldId id="302" r:id="rId7"/>
    <p:sldId id="303" r:id="rId8"/>
    <p:sldId id="304" r:id="rId9"/>
    <p:sldId id="305" r:id="rId10"/>
    <p:sldId id="307" r:id="rId11"/>
    <p:sldId id="308" r:id="rId12"/>
    <p:sldId id="309" r:id="rId13"/>
    <p:sldId id="312" r:id="rId14"/>
    <p:sldId id="313" r:id="rId15"/>
    <p:sldId id="315" r:id="rId16"/>
    <p:sldId id="316" r:id="rId17"/>
    <p:sldId id="321" r:id="rId18"/>
    <p:sldId id="342" r:id="rId19"/>
    <p:sldId id="343" r:id="rId20"/>
    <p:sldId id="326" r:id="rId21"/>
    <p:sldId id="338" r:id="rId22"/>
    <p:sldId id="339" r:id="rId23"/>
    <p:sldId id="341" r:id="rId24"/>
    <p:sldId id="327" r:id="rId25"/>
    <p:sldId id="328"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FF3399"/>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77" d="100"/>
          <a:sy n="77" d="100"/>
        </p:scale>
        <p:origin x="-708" y="-12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CA50734-CF65-451A-9D6E-1FF9CFC4598D}" type="datetimeFigureOut">
              <a:rPr lang="en-US" smtClean="0"/>
              <a:pPr/>
              <a:t>12/26/2023</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B3D0851-AE41-4507-966D-59482AB6D52C}" type="slidenum">
              <a:rPr lang="en-IN" smtClean="0"/>
              <a:pPr/>
              <a:t>‹#›</a:t>
            </a:fld>
            <a:endParaRPr lang="en-IN"/>
          </a:p>
        </p:txBody>
      </p:sp>
    </p:spTree>
    <p:extLst>
      <p:ext uri="{BB962C8B-B14F-4D97-AF65-F5344CB8AC3E}">
        <p14:creationId xmlns:p14="http://schemas.microsoft.com/office/powerpoint/2010/main" xmlns="" val="1017410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a:spLocks noGrp="1" noChangeArrowheads="1"/>
          </p:cNvSpPr>
          <p:nvPr>
            <p:ph type="sldNum" sz="quarter" idx="5"/>
          </p:nvPr>
        </p:nvSpPr>
        <p:spPr>
          <a:noFill/>
        </p:spPr>
        <p:txBody>
          <a:bodyPr/>
          <a:lstStyle/>
          <a:p>
            <a:pPr defTabSz="912958"/>
            <a:fld id="{B8583892-A65B-4E2C-8CAC-6FA65FE03227}" type="slidenum">
              <a:rPr lang="en-US" smtClean="0"/>
              <a:pPr defTabSz="912958"/>
              <a:t>2</a:t>
            </a:fld>
            <a:endParaRPr lang="en-US" dirty="0" smtClean="0"/>
          </a:p>
        </p:txBody>
      </p:sp>
      <p:sp>
        <p:nvSpPr>
          <p:cNvPr id="105475" name="Rectangle 2"/>
          <p:cNvSpPr>
            <a:spLocks noGrp="1" noRot="1" noChangeAspect="1" noChangeArrowheads="1" noTextEdit="1"/>
          </p:cNvSpPr>
          <p:nvPr>
            <p:ph type="sldImg"/>
          </p:nvPr>
        </p:nvSpPr>
        <p:spPr>
          <a:xfrm>
            <a:off x="1144588" y="687388"/>
            <a:ext cx="4568825" cy="3425825"/>
          </a:xfrm>
          <a:solidFill>
            <a:srgbClr val="FFFFFF"/>
          </a:solidFill>
          <a:ln w="12700" cap="flat"/>
        </p:spPr>
      </p:sp>
      <p:sp>
        <p:nvSpPr>
          <p:cNvPr id="105476" name="Rectangle 3"/>
          <p:cNvSpPr>
            <a:spLocks noGrp="1" noChangeArrowheads="1"/>
          </p:cNvSpPr>
          <p:nvPr>
            <p:ph type="body" idx="1"/>
          </p:nvPr>
        </p:nvSpPr>
        <p:spPr>
          <a:xfrm>
            <a:off x="915525" y="4342939"/>
            <a:ext cx="5026951" cy="4114587"/>
          </a:xfrm>
          <a:noFill/>
          <a:ln/>
        </p:spPr>
        <p:txBody>
          <a:bodyPr lIns="92062" tIns="46031" rIns="92062" bIns="46031"/>
          <a:lstStyle/>
          <a:p>
            <a:endParaRPr lang="en-US"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7"/>
          <p:cNvSpPr>
            <a:spLocks noGrp="1" noChangeArrowheads="1"/>
          </p:cNvSpPr>
          <p:nvPr>
            <p:ph type="sldNum" sz="quarter" idx="5"/>
          </p:nvPr>
        </p:nvSpPr>
        <p:spPr>
          <a:noFill/>
        </p:spPr>
        <p:txBody>
          <a:bodyPr/>
          <a:lstStyle/>
          <a:p>
            <a:pPr defTabSz="912958"/>
            <a:fld id="{9CDB9517-052A-4B9D-B34F-0CD05C07D7F2}" type="slidenum">
              <a:rPr lang="en-US" smtClean="0"/>
              <a:pPr defTabSz="912958"/>
              <a:t>8</a:t>
            </a:fld>
            <a:endParaRPr lang="en-US" dirty="0" smtClean="0"/>
          </a:p>
        </p:txBody>
      </p:sp>
      <p:sp>
        <p:nvSpPr>
          <p:cNvPr id="106499" name="Rectangle 2"/>
          <p:cNvSpPr>
            <a:spLocks noGrp="1" noRot="1" noChangeAspect="1" noChangeArrowheads="1" noTextEdit="1"/>
          </p:cNvSpPr>
          <p:nvPr>
            <p:ph type="sldImg"/>
          </p:nvPr>
        </p:nvSpPr>
        <p:spPr>
          <a:xfrm>
            <a:off x="1144588" y="687388"/>
            <a:ext cx="4568825" cy="3425825"/>
          </a:xfrm>
          <a:solidFill>
            <a:srgbClr val="FFFFFF"/>
          </a:solidFill>
          <a:ln w="12700" cap="flat"/>
        </p:spPr>
      </p:sp>
      <p:sp>
        <p:nvSpPr>
          <p:cNvPr id="106500" name="Rectangle 3"/>
          <p:cNvSpPr>
            <a:spLocks noGrp="1" noChangeArrowheads="1"/>
          </p:cNvSpPr>
          <p:nvPr>
            <p:ph type="body" idx="1"/>
          </p:nvPr>
        </p:nvSpPr>
        <p:spPr>
          <a:xfrm>
            <a:off x="915525" y="4342939"/>
            <a:ext cx="5026951" cy="4114587"/>
          </a:xfrm>
          <a:noFill/>
          <a:ln/>
        </p:spPr>
        <p:txBody>
          <a:bodyPr lIns="92062" tIns="46031" rIns="92062" bIns="46031"/>
          <a:lstStyle/>
          <a:p>
            <a:endParaRPr lang="en-US"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body" idx="1"/>
          </p:nvPr>
        </p:nvSpPr>
        <p:spPr>
          <a:noFill/>
          <a:ln/>
        </p:spPr>
        <p:txBody>
          <a:bodyPr/>
          <a:lstStyle/>
          <a:p>
            <a:endParaRPr lang="en-US" smtClean="0"/>
          </a:p>
        </p:txBody>
      </p:sp>
      <p:sp>
        <p:nvSpPr>
          <p:cNvPr id="107523" name="Rectangle 3"/>
          <p:cNvSpPr>
            <a:spLocks noGrp="1" noRot="1" noChangeAspect="1" noChangeArrowheads="1" noTextEdit="1"/>
          </p:cNvSpPr>
          <p:nvPr>
            <p:ph type="sldImg"/>
          </p:nvPr>
        </p:nvSpPr>
        <p:spPr>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0594" name="Rectangle 7"/>
          <p:cNvSpPr>
            <a:spLocks noGrp="1" noChangeArrowheads="1"/>
          </p:cNvSpPr>
          <p:nvPr>
            <p:ph type="sldNum" sz="quarter" idx="5"/>
          </p:nvPr>
        </p:nvSpPr>
        <p:spPr>
          <a:noFill/>
        </p:spPr>
        <p:txBody>
          <a:bodyPr/>
          <a:lstStyle/>
          <a:p>
            <a:pPr defTabSz="912958"/>
            <a:fld id="{CCECBE07-153E-4B89-9B9B-EB8D24EB5DEE}" type="slidenum">
              <a:rPr lang="en-US" smtClean="0"/>
              <a:pPr defTabSz="912958"/>
              <a:t>25</a:t>
            </a:fld>
            <a:endParaRPr lang="en-US" dirty="0" smtClean="0"/>
          </a:p>
        </p:txBody>
      </p:sp>
      <p:sp>
        <p:nvSpPr>
          <p:cNvPr id="110595" name="Rectangle 1"/>
          <p:cNvSpPr>
            <a:spLocks noGrp="1" noRot="1" noChangeAspect="1" noChangeArrowheads="1" noTextEdit="1"/>
          </p:cNvSpPr>
          <p:nvPr>
            <p:ph type="sldImg"/>
          </p:nvPr>
        </p:nvSpPr>
        <p:spPr>
          <a:xfrm>
            <a:off x="1112838" y="685800"/>
            <a:ext cx="4508500" cy="3381375"/>
          </a:xfrm>
          <a:solidFill>
            <a:srgbClr val="FFFFFF"/>
          </a:solidFill>
          <a:ln/>
        </p:spPr>
      </p:sp>
      <p:sp>
        <p:nvSpPr>
          <p:cNvPr id="110596" name="Rectangle 2"/>
          <p:cNvSpPr>
            <a:spLocks noGrp="1" noChangeArrowheads="1"/>
          </p:cNvSpPr>
          <p:nvPr>
            <p:ph type="body" idx="1"/>
          </p:nvPr>
        </p:nvSpPr>
        <p:spPr>
          <a:xfrm>
            <a:off x="673226" y="4283369"/>
            <a:ext cx="5388867" cy="4060691"/>
          </a:xfrm>
          <a:noFill/>
          <a:ln/>
        </p:spPr>
        <p:txBody>
          <a:bodyPr wrap="none" anchor="ctr"/>
          <a:lstStyle/>
          <a:p>
            <a:endParaRPr lang="en-US"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a:prstGeom prst="rect">
            <a:avLst/>
          </a:prstGeo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Footer Placeholder 4"/>
          <p:cNvSpPr>
            <a:spLocks noGrp="1"/>
          </p:cNvSpPr>
          <p:nvPr>
            <p:ph type="ftr" sz="quarter" idx="11"/>
          </p:nvPr>
        </p:nvSpPr>
        <p:spPr/>
        <p:txBody>
          <a:bodyPr/>
          <a:lstStyle/>
          <a:p>
            <a:r>
              <a:rPr lang="en-IN" smtClean="0"/>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idx="1"/>
          </p:nvPr>
        </p:nvSpPr>
        <p:spPr>
          <a:xfrm>
            <a:off x="457200" y="1600200"/>
            <a:ext cx="8229600" cy="4525963"/>
          </a:xfrm>
          <a:prstGeom prst="rect">
            <a:avLst/>
          </a:prstGeo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Footer Placeholder 4"/>
          <p:cNvSpPr>
            <a:spLocks noGrp="1"/>
          </p:cNvSpPr>
          <p:nvPr>
            <p:ph type="ftr" sz="quarter" idx="11"/>
          </p:nvPr>
        </p:nvSpPr>
        <p:spPr/>
        <p:txBody>
          <a:bodyPr/>
          <a:lstStyle/>
          <a:p>
            <a:r>
              <a:rPr lang="en-IN" smtClean="0"/>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Footer Placeholder 4"/>
          <p:cNvSpPr>
            <a:spLocks noGrp="1"/>
          </p:cNvSpPr>
          <p:nvPr>
            <p:ph type="ftr" sz="quarter" idx="11"/>
          </p:nvPr>
        </p:nvSpPr>
        <p:spPr/>
        <p:txBody>
          <a:bodyPr/>
          <a:lstStyle/>
          <a:p>
            <a:r>
              <a:rPr lang="en-IN" smtClean="0"/>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Ph.D Course work on Research Methodology</a:t>
            </a:r>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Ph.D Course work on Research Methodology</a:t>
            </a:r>
            <a:endParaRPr lang="en-US"/>
          </a:p>
        </p:txBody>
      </p:sp>
      <p:sp>
        <p:nvSpPr>
          <p:cNvPr id="8" name="Footer Placeholder 7"/>
          <p:cNvSpPr>
            <a:spLocks noGrp="1"/>
          </p:cNvSpPr>
          <p:nvPr>
            <p:ph type="ftr" sz="quarter" idx="11"/>
          </p:nvPr>
        </p:nvSpPr>
        <p:spPr/>
        <p:txBody>
          <a:bodyPr/>
          <a:lstStyle/>
          <a:p>
            <a:r>
              <a:rPr lang="en-IN" smtClean="0"/>
              <a:t>Prof. A. K. Datta  University of Calcutta </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Ph.D Course work on Research Methodology</a:t>
            </a:r>
            <a:endParaRPr lang="en-US"/>
          </a:p>
        </p:txBody>
      </p:sp>
      <p:sp>
        <p:nvSpPr>
          <p:cNvPr id="4" name="Footer Placeholder 3"/>
          <p:cNvSpPr>
            <a:spLocks noGrp="1"/>
          </p:cNvSpPr>
          <p:nvPr>
            <p:ph type="ftr" sz="quarter" idx="11"/>
          </p:nvPr>
        </p:nvSpPr>
        <p:spPr/>
        <p:txBody>
          <a:bodyPr/>
          <a:lstStyle/>
          <a:p>
            <a:r>
              <a:rPr lang="en-IN" smtClean="0"/>
              <a:t>Prof. A. K. Datta  University of Calcutta </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Ph.D Course work on Research Methodology</a:t>
            </a:r>
            <a:endParaRPr lang="en-US"/>
          </a:p>
        </p:txBody>
      </p:sp>
      <p:sp>
        <p:nvSpPr>
          <p:cNvPr id="3" name="Footer Placeholder 2"/>
          <p:cNvSpPr>
            <a:spLocks noGrp="1"/>
          </p:cNvSpPr>
          <p:nvPr>
            <p:ph type="ftr" sz="quarter" idx="11"/>
          </p:nvPr>
        </p:nvSpPr>
        <p:spPr/>
        <p:txBody>
          <a:bodyPr/>
          <a:lstStyle/>
          <a:p>
            <a:r>
              <a:rPr lang="en-IN" smtClean="0"/>
              <a:t>Prof. A. K. Datta  University of Calcutta </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a:prstGeom prst="rect">
            <a:avLst/>
          </a:prstGeo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Ph.D Course work on Research Methodology</a:t>
            </a:r>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a:prstGeom prst="rect">
            <a:avLst/>
          </a:prstGeo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Ph.D Course work on Research Methodology</a:t>
            </a:r>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Footer Placeholder 4"/>
          <p:cNvSpPr>
            <a:spLocks noGrp="1"/>
          </p:cNvSpPr>
          <p:nvPr>
            <p:ph type="ftr" sz="quarter" idx="11"/>
          </p:nvPr>
        </p:nvSpPr>
        <p:spPr/>
        <p:txBody>
          <a:bodyPr/>
          <a:lstStyle/>
          <a:p>
            <a:r>
              <a:rPr lang="en-IN" smtClean="0"/>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a:prstGeom prst="rect">
            <a:avLst/>
          </a:prstGeo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Footer Placeholder 4"/>
          <p:cNvSpPr>
            <a:spLocks noGrp="1"/>
          </p:cNvSpPr>
          <p:nvPr>
            <p:ph type="ftr" sz="quarter" idx="11"/>
          </p:nvPr>
        </p:nvSpPr>
        <p:spPr/>
        <p:txBody>
          <a:bodyPr/>
          <a:lstStyle/>
          <a:p>
            <a:r>
              <a:rPr lang="en-IN" smtClean="0"/>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AutoShape 7"/>
          <p:cNvSpPr>
            <a:spLocks noChangeArrowheads="1"/>
          </p:cNvSpPr>
          <p:nvPr userDrawn="1"/>
        </p:nvSpPr>
        <p:spPr bwMode="auto">
          <a:xfrm rot="5400000">
            <a:off x="0" y="0"/>
            <a:ext cx="914400" cy="914400"/>
          </a:xfrm>
          <a:prstGeom prst="rtTriangle">
            <a:avLst/>
          </a:prstGeom>
          <a:solidFill>
            <a:schemeClr val="accent5">
              <a:lumMod val="75000"/>
            </a:schemeClr>
          </a:solidFill>
          <a:ln w="9525">
            <a:solidFill>
              <a:srgbClr val="000000"/>
            </a:solidFill>
            <a:miter lim="800000"/>
            <a:headEnd/>
            <a:tailEnd/>
          </a:ln>
          <a:effectLst>
            <a:outerShdw dist="107763" dir="2700000" algn="ctr" rotWithShape="0">
              <a:srgbClr val="808080">
                <a:alpha val="50000"/>
              </a:srgbClr>
            </a:outerShdw>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nl-NL" sz="1800" b="0" i="0" u="none" strike="noStrike" kern="0" cap="none" spc="0" normalizeH="0" baseline="0" noProof="0">
              <a:ln>
                <a:noFill/>
              </a:ln>
              <a:solidFill>
                <a:sysClr val="windowText" lastClr="000000"/>
              </a:solidFill>
              <a:effectLst/>
              <a:uLnTx/>
              <a:uFillTx/>
            </a:endParaRPr>
          </a:p>
        </p:txBody>
      </p:sp>
      <p:cxnSp>
        <p:nvCxnSpPr>
          <p:cNvPr id="9" name="Straight Connector 8"/>
          <p:cNvCxnSpPr/>
          <p:nvPr userDrawn="1"/>
        </p:nvCxnSpPr>
        <p:spPr bwMode="auto">
          <a:xfrm>
            <a:off x="533400" y="533400"/>
            <a:ext cx="8610600" cy="1588"/>
          </a:xfrm>
          <a:prstGeom prst="line">
            <a:avLst/>
          </a:prstGeom>
          <a:solidFill>
            <a:schemeClr val="accent1"/>
          </a:solidFill>
          <a:ln w="28575" cap="flat" cmpd="sng" algn="ctr">
            <a:solidFill>
              <a:schemeClr val="accent5">
                <a:lumMod val="75000"/>
              </a:schemeClr>
            </a:solidFill>
            <a:prstDash val="solid"/>
            <a:round/>
            <a:headEnd type="none" w="med" len="med"/>
            <a:tailEnd type="none" w="med" len="med"/>
          </a:ln>
          <a:effectLst/>
        </p:spPr>
      </p:cxnSp>
      <p:cxnSp>
        <p:nvCxnSpPr>
          <p:cNvPr id="10" name="Straight Connector 9"/>
          <p:cNvCxnSpPr/>
          <p:nvPr userDrawn="1"/>
        </p:nvCxnSpPr>
        <p:spPr bwMode="auto">
          <a:xfrm>
            <a:off x="533400" y="609600"/>
            <a:ext cx="8610600" cy="1588"/>
          </a:xfrm>
          <a:prstGeom prst="line">
            <a:avLst/>
          </a:prstGeom>
          <a:solidFill>
            <a:schemeClr val="accent1"/>
          </a:solidFill>
          <a:ln w="28575" cap="flat" cmpd="sng" algn="ctr">
            <a:solidFill>
              <a:schemeClr val="accent5">
                <a:lumMod val="75000"/>
              </a:schemeClr>
            </a:solidFill>
            <a:prstDash val="solid"/>
            <a:round/>
            <a:headEnd type="none" w="med" len="med"/>
            <a:tailEnd type="none" w="med" len="med"/>
          </a:ln>
          <a:effectLst/>
        </p:spPr>
      </p:cxnSp>
      <p:sp>
        <p:nvSpPr>
          <p:cNvPr id="12" name="Rectangle 11"/>
          <p:cNvSpPr/>
          <p:nvPr userDrawn="1"/>
        </p:nvSpPr>
        <p:spPr bwMode="auto">
          <a:xfrm>
            <a:off x="0" y="6553200"/>
            <a:ext cx="9144000" cy="304800"/>
          </a:xfrm>
          <a:prstGeom prst="rect">
            <a:avLst/>
          </a:prstGeom>
          <a:solidFill>
            <a:schemeClr val="accent5">
              <a:lumMod val="75000"/>
            </a:schemeClr>
          </a:solidFill>
          <a:ln w="9525" cap="flat" cmpd="sng" algn="ctr">
            <a:solidFill>
              <a:schemeClr val="tx1"/>
            </a:solidFill>
            <a:prstDash val="solid"/>
            <a:round/>
            <a:headEnd type="none" w="med" len="med"/>
            <a:tailEnd type="none" w="med" len="med"/>
          </a:ln>
          <a:effectLst>
            <a:outerShdw blurRad="50800" dist="38100" dir="18900000" algn="bl" rotWithShape="0">
              <a:prstClr val="black">
                <a:alpha val="40000"/>
              </a:prstClr>
            </a:outerShdw>
          </a:effectLst>
          <a:scene3d>
            <a:camera prst="orthographicFront"/>
            <a:lightRig rig="threePt" dir="t"/>
          </a:scene3d>
          <a:sp3d>
            <a:bevelT w="101600" prst="riblet"/>
          </a:sp3d>
        </p:spPr>
        <p:txBody>
          <a:bodyPr vert="horz" wrap="square" lIns="91440" tIns="45720" rIns="91440" bIns="45720" numCol="1" rtlCol="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IN" sz="1800" b="0" i="0" u="none" strike="noStrike" kern="0" cap="none" spc="0" normalizeH="0" baseline="0" noProof="0" smtClean="0">
              <a:ln>
                <a:noFill/>
              </a:ln>
              <a:solidFill>
                <a:srgbClr val="000000"/>
              </a:solidFill>
              <a:effectLst/>
              <a:uLnTx/>
              <a:uFillTx/>
              <a:latin typeface="Arial" charset="0"/>
            </a:endParaRPr>
          </a:p>
        </p:txBody>
      </p:sp>
      <p:sp>
        <p:nvSpPr>
          <p:cNvPr id="5" name="Footer Placeholder 4"/>
          <p:cNvSpPr>
            <a:spLocks noGrp="1"/>
          </p:cNvSpPr>
          <p:nvPr>
            <p:ph type="ftr" sz="quarter" idx="3"/>
          </p:nvPr>
        </p:nvSpPr>
        <p:spPr>
          <a:xfrm>
            <a:off x="3276600" y="6492875"/>
            <a:ext cx="3200400" cy="365125"/>
          </a:xfrm>
          <a:prstGeom prst="rect">
            <a:avLst/>
          </a:prstGeom>
        </p:spPr>
        <p:txBody>
          <a:bodyPr vert="horz" lIns="91440" tIns="45720" rIns="91440" bIns="45720" rtlCol="0" anchor="ctr"/>
          <a:lstStyle>
            <a:lvl1pPr algn="ctr">
              <a:defRPr sz="1200">
                <a:solidFill>
                  <a:schemeClr val="tx1"/>
                </a:solidFill>
              </a:defRPr>
            </a:lvl1pPr>
          </a:lstStyle>
          <a:p>
            <a:r>
              <a:rPr lang="en-IN" dirty="0" smtClean="0"/>
              <a:t>Prof. A. K. </a:t>
            </a:r>
            <a:r>
              <a:rPr lang="en-IN" dirty="0" err="1" smtClean="0"/>
              <a:t>Datta</a:t>
            </a:r>
            <a:r>
              <a:rPr lang="en-IN" dirty="0" smtClean="0"/>
              <a:t>  University of Calcutta </a:t>
            </a:r>
            <a:endParaRPr lang="en-US" dirty="0"/>
          </a:p>
        </p:txBody>
      </p:sp>
      <p:sp>
        <p:nvSpPr>
          <p:cNvPr id="4" name="Date Placeholder 3"/>
          <p:cNvSpPr>
            <a:spLocks noGrp="1"/>
          </p:cNvSpPr>
          <p:nvPr>
            <p:ph type="dt" sz="half" idx="2"/>
          </p:nvPr>
        </p:nvSpPr>
        <p:spPr>
          <a:xfrm>
            <a:off x="304800" y="6492875"/>
            <a:ext cx="3124200" cy="365125"/>
          </a:xfrm>
          <a:prstGeom prst="rect">
            <a:avLst/>
          </a:prstGeom>
        </p:spPr>
        <p:txBody>
          <a:bodyPr vert="horz" lIns="91440" tIns="45720" rIns="91440" bIns="45720" rtlCol="0" anchor="ctr"/>
          <a:lstStyle>
            <a:lvl1pPr algn="l">
              <a:defRPr sz="1200">
                <a:solidFill>
                  <a:schemeClr val="tx1"/>
                </a:solidFill>
              </a:defRPr>
            </a:lvl1pPr>
          </a:lstStyle>
          <a:p>
            <a:r>
              <a:rPr lang="en-US" smtClean="0"/>
              <a:t>Ph.D Course work on Research Methodology</a:t>
            </a:r>
            <a:endParaRPr lang="en-US" dirty="0"/>
          </a:p>
        </p:txBody>
      </p:sp>
      <p:sp>
        <p:nvSpPr>
          <p:cNvPr id="6" name="Slide Number Placeholder 5"/>
          <p:cNvSpPr>
            <a:spLocks noGrp="1"/>
          </p:cNvSpPr>
          <p:nvPr>
            <p:ph type="sldNum" sz="quarter" idx="4"/>
          </p:nvPr>
        </p:nvSpPr>
        <p:spPr>
          <a:xfrm>
            <a:off x="6705600" y="6492875"/>
            <a:ext cx="2133600" cy="365125"/>
          </a:xfrm>
          <a:prstGeom prst="rect">
            <a:avLst/>
          </a:prstGeom>
        </p:spPr>
        <p:txBody>
          <a:bodyPr vert="horz" lIns="91440" tIns="45720" rIns="91440" bIns="45720" rtlCol="0" anchor="ctr"/>
          <a:lstStyle>
            <a:lvl1pPr algn="r">
              <a:defRPr sz="1400">
                <a:solidFill>
                  <a:schemeClr val="tx1"/>
                </a:solidFill>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package" Target="../embeddings/Microsoft_Office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Grp="1" noChangeArrowheads="1"/>
          </p:cNvSpPr>
          <p:nvPr>
            <p:ph type="ctrTitle"/>
          </p:nvPr>
        </p:nvSpPr>
        <p:spPr>
          <a:xfrm>
            <a:off x="1357290" y="2590800"/>
            <a:ext cx="6715172" cy="1470025"/>
          </a:xfrm>
          <a:noFill/>
        </p:spPr>
        <p:txBody>
          <a:bodyPr/>
          <a:lstStyle/>
          <a:p>
            <a:pPr eaLnBrk="1" hangingPunct="1"/>
            <a:r>
              <a:rPr lang="en-US" dirty="0" smtClean="0">
                <a:latin typeface="Book Antiqua" pitchFamily="18" charset="0"/>
              </a:rPr>
              <a:t>THESIS  WRITING</a:t>
            </a: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a:t>
            </a:fld>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bwMode="auto">
          <a:xfrm>
            <a:off x="685800" y="0"/>
            <a:ext cx="7772400" cy="1143000"/>
          </a:xfrm>
          <a:noFill/>
          <a:ln>
            <a:miter lim="800000"/>
            <a:headEnd/>
            <a:tailEnd/>
          </a:ln>
        </p:spPr>
        <p:txBody>
          <a:bodyPr vert="horz" wrap="square" lIns="92075" tIns="46038" rIns="92075" bIns="46038" numCol="1" anchor="t" anchorCtr="0" compatLnSpc="1">
            <a:prstTxWarp prst="textNoShape">
              <a:avLst/>
            </a:prstTxWarp>
          </a:bodyPr>
          <a:lstStyle/>
          <a:p>
            <a:r>
              <a:rPr lang="en-US" sz="3200" dirty="0" smtClean="0">
                <a:latin typeface="Book Antiqua" pitchFamily="18" charset="0"/>
              </a:rPr>
              <a:t>RESEARCH REPORT</a:t>
            </a:r>
            <a:endParaRPr lang="en-US" sz="6000" dirty="0" smtClean="0">
              <a:latin typeface="Book Antiqua" pitchFamily="18" charset="0"/>
            </a:endParaRPr>
          </a:p>
        </p:txBody>
      </p:sp>
      <p:sp>
        <p:nvSpPr>
          <p:cNvPr id="51203" name="Rectangle 3"/>
          <p:cNvSpPr>
            <a:spLocks noGrp="1" noChangeArrowheads="1"/>
          </p:cNvSpPr>
          <p:nvPr>
            <p:ph type="body" idx="1"/>
          </p:nvPr>
        </p:nvSpPr>
        <p:spPr bwMode="auto">
          <a:xfrm>
            <a:off x="457200" y="609600"/>
            <a:ext cx="8401080" cy="5676920"/>
          </a:xfrm>
          <a:noFill/>
          <a:ln>
            <a:miter lim="800000"/>
            <a:headEnd/>
            <a:tailEnd/>
          </a:ln>
        </p:spPr>
        <p:txBody>
          <a:bodyPr vert="horz" wrap="square" lIns="92075" tIns="46038" rIns="92075" bIns="46038" numCol="1" anchor="t" anchorCtr="0" compatLnSpc="1">
            <a:prstTxWarp prst="textNoShape">
              <a:avLst/>
            </a:prstTxWarp>
          </a:bodyPr>
          <a:lstStyle/>
          <a:p>
            <a:pPr>
              <a:lnSpc>
                <a:spcPts val="3600"/>
              </a:lnSpc>
            </a:pPr>
            <a:r>
              <a:rPr lang="en-US" sz="2400" b="1" dirty="0" smtClean="0">
                <a:latin typeface="Book Antiqua" pitchFamily="18" charset="0"/>
              </a:rPr>
              <a:t> </a:t>
            </a:r>
            <a:r>
              <a:rPr lang="en-US" sz="2800" dirty="0" smtClean="0">
                <a:latin typeface="Book Antiqua" pitchFamily="18" charset="0"/>
              </a:rPr>
              <a:t>A research report (thesis) is:</a:t>
            </a:r>
          </a:p>
          <a:p>
            <a:pPr lvl="1" algn="just">
              <a:lnSpc>
                <a:spcPts val="3600"/>
              </a:lnSpc>
            </a:pPr>
            <a:r>
              <a:rPr lang="en-US" sz="2400" dirty="0" smtClean="0">
                <a:latin typeface="Book Antiqua" pitchFamily="18" charset="0"/>
              </a:rPr>
              <a:t> </a:t>
            </a:r>
            <a:r>
              <a:rPr lang="en-US" sz="2400" i="1" dirty="0" smtClean="0">
                <a:latin typeface="Book Antiqua" pitchFamily="18" charset="0"/>
              </a:rPr>
              <a:t>a written document or oral presentation based on a written document that communicates the purpose, scope, objective(s), hypotheses, methodology, findings, limitations and finally, recommendations of a research project to others.</a:t>
            </a:r>
            <a:r>
              <a:rPr lang="en-US" sz="2400" dirty="0" smtClean="0">
                <a:latin typeface="Book Antiqua" pitchFamily="18" charset="0"/>
              </a:rPr>
              <a:t> </a:t>
            </a:r>
          </a:p>
          <a:p>
            <a:pPr lvl="1">
              <a:lnSpc>
                <a:spcPts val="3600"/>
              </a:lnSpc>
            </a:pPr>
            <a:r>
              <a:rPr lang="en-US" sz="2400" dirty="0" smtClean="0">
                <a:latin typeface="Book Antiqua" pitchFamily="18" charset="0"/>
              </a:rPr>
              <a:t>The last stage of a marketing research process.;</a:t>
            </a:r>
          </a:p>
          <a:p>
            <a:pPr lvl="1">
              <a:lnSpc>
                <a:spcPts val="3600"/>
              </a:lnSpc>
            </a:pPr>
            <a:r>
              <a:rPr lang="en-US" sz="2400" dirty="0" smtClean="0">
                <a:latin typeface="Book Antiqua" pitchFamily="18" charset="0"/>
              </a:rPr>
              <a:t>It is more than a summary of findings; rather it is a record of the research process. </a:t>
            </a:r>
          </a:p>
          <a:p>
            <a:pPr algn="just">
              <a:lnSpc>
                <a:spcPts val="3600"/>
              </a:lnSpc>
            </a:pPr>
            <a:r>
              <a:rPr lang="en-US" sz="2800" dirty="0" smtClean="0">
                <a:latin typeface="Book Antiqua" pitchFamily="18" charset="0"/>
              </a:rPr>
              <a:t> </a:t>
            </a:r>
            <a:r>
              <a:rPr lang="en-US" sz="2400" dirty="0" smtClean="0">
                <a:latin typeface="Book Antiqua" pitchFamily="18" charset="0"/>
              </a:rPr>
              <a:t>The researcher has to convince the examiners [and others who may read the report] that the research findings can be acted on for their own benefit. </a:t>
            </a:r>
            <a:endParaRPr lang="en-US" sz="2800" dirty="0" smtClean="0">
              <a:latin typeface="Book Antiqua" pitchFamily="18" charset="0"/>
            </a:endParaRP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2</a:t>
            </a:fld>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57158" y="838200"/>
            <a:ext cx="8101042" cy="1798441"/>
          </a:xfrm>
          <a:prstGeom prst="rect">
            <a:avLst/>
          </a:prstGeom>
        </p:spPr>
        <p:txBody>
          <a:bodyPr wrap="square">
            <a:spAutoFit/>
          </a:bodyPr>
          <a:lstStyle/>
          <a:p>
            <a:pPr marL="228600" indent="-228600" algn="just" eaLnBrk="0" hangingPunct="0">
              <a:lnSpc>
                <a:spcPts val="4600"/>
              </a:lnSpc>
              <a:buClr>
                <a:srgbClr val="2DB6B3"/>
              </a:buClr>
              <a:defRPr/>
            </a:pPr>
            <a:r>
              <a:rPr lang="en-US" sz="2400" kern="0" dirty="0">
                <a:solidFill>
                  <a:srgbClr val="000000"/>
                </a:solidFill>
                <a:latin typeface="Book Antiqua" pitchFamily="18" charset="0"/>
                <a:cs typeface="Arial"/>
              </a:rPr>
              <a:t>  The research report </a:t>
            </a:r>
            <a:r>
              <a:rPr lang="en-US" sz="2400" kern="0" dirty="0" smtClean="0">
                <a:solidFill>
                  <a:srgbClr val="000000"/>
                </a:solidFill>
                <a:latin typeface="Book Antiqua" pitchFamily="18" charset="0"/>
                <a:cs typeface="Arial"/>
              </a:rPr>
              <a:t>(</a:t>
            </a:r>
            <a:r>
              <a:rPr lang="en-US" sz="2400" kern="0" dirty="0">
                <a:solidFill>
                  <a:srgbClr val="000000"/>
                </a:solidFill>
                <a:latin typeface="Book Antiqua" pitchFamily="18" charset="0"/>
                <a:cs typeface="Arial"/>
              </a:rPr>
              <a:t>thesis) is a means of communication that can be understood, believed, trusted by everyone who are likely to be affected by the research.  </a:t>
            </a:r>
            <a:endParaRPr lang="en-US" sz="3600" kern="0" dirty="0">
              <a:solidFill>
                <a:srgbClr val="000000"/>
              </a:solidFill>
              <a:latin typeface="Book Antiqua" pitchFamily="18" charset="0"/>
              <a:cs typeface="Arial"/>
            </a:endParaRPr>
          </a:p>
        </p:txBody>
      </p:sp>
      <p:sp>
        <p:nvSpPr>
          <p:cNvPr id="52227" name="Text Box 2"/>
          <p:cNvSpPr txBox="1">
            <a:spLocks noChangeArrowheads="1"/>
          </p:cNvSpPr>
          <p:nvPr/>
        </p:nvSpPr>
        <p:spPr bwMode="auto">
          <a:xfrm>
            <a:off x="685800" y="2971800"/>
            <a:ext cx="7848600" cy="2383088"/>
          </a:xfrm>
          <a:prstGeom prst="rect">
            <a:avLst/>
          </a:prstGeom>
          <a:noFill/>
          <a:ln w="12700">
            <a:noFill/>
            <a:miter lim="800000"/>
            <a:headEnd type="none" w="sm" len="sm"/>
            <a:tailEnd type="none" w="sm" len="sm"/>
          </a:ln>
        </p:spPr>
        <p:txBody>
          <a:bodyPr>
            <a:spAutoFit/>
          </a:bodyPr>
          <a:lstStyle/>
          <a:p>
            <a:pPr algn="just" eaLnBrk="0" hangingPunct="0">
              <a:lnSpc>
                <a:spcPts val="3600"/>
              </a:lnSpc>
            </a:pPr>
            <a:r>
              <a:rPr lang="en-AU" sz="2800" dirty="0">
                <a:latin typeface="Book Antiqua" pitchFamily="18" charset="0"/>
              </a:rPr>
              <a:t>The thesis is:</a:t>
            </a:r>
          </a:p>
          <a:p>
            <a:pPr algn="just" eaLnBrk="0" hangingPunct="0">
              <a:lnSpc>
                <a:spcPts val="3600"/>
              </a:lnSpc>
            </a:pPr>
            <a:r>
              <a:rPr lang="en-AU" sz="2800" dirty="0">
                <a:latin typeface="Book Antiqua" pitchFamily="18" charset="0"/>
              </a:rPr>
              <a:t>a balanced, carefully crafted, logical and cogent document,  which contains and is developed from your own research and the acknowledged research of others.</a:t>
            </a:r>
          </a:p>
        </p:txBody>
      </p:sp>
      <p:sp>
        <p:nvSpPr>
          <p:cNvPr id="5" name="Date Placeholder 4"/>
          <p:cNvSpPr>
            <a:spLocks noGrp="1"/>
          </p:cNvSpPr>
          <p:nvPr>
            <p:ph type="dt" sz="half" idx="10"/>
          </p:nvPr>
        </p:nvSpPr>
        <p:spPr/>
        <p:txBody>
          <a:bodyPr/>
          <a:lstStyle/>
          <a:p>
            <a:r>
              <a:rPr lang="en-US"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3</a:t>
            </a:fld>
            <a:endParaRPr lang="en-US"/>
          </a:p>
        </p:txBody>
      </p:sp>
      <p:sp>
        <p:nvSpPr>
          <p:cNvPr id="7" name="Footer Placeholder 6"/>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A K Datta</a:t>
            </a:r>
            <a:endParaRPr lang="en-US"/>
          </a:p>
        </p:txBody>
      </p:sp>
      <p:sp>
        <p:nvSpPr>
          <p:cNvPr id="5" name="Footer Placeholder 4"/>
          <p:cNvSpPr>
            <a:spLocks noGrp="1"/>
          </p:cNvSpPr>
          <p:nvPr>
            <p:ph type="ftr" sz="quarter" idx="11"/>
          </p:nvPr>
        </p:nvSpPr>
        <p:spPr/>
        <p:txBody>
          <a:bodyPr/>
          <a:lstStyle/>
          <a:p>
            <a:r>
              <a:rPr lang="en-IN" smtClean="0"/>
              <a:t>Ph.D course work on Research Methodology</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graphicFrame>
        <p:nvGraphicFramePr>
          <p:cNvPr id="1026" name="Object 2"/>
          <p:cNvGraphicFramePr>
            <a:graphicFrameLocks noChangeAspect="1"/>
          </p:cNvGraphicFramePr>
          <p:nvPr/>
        </p:nvGraphicFramePr>
        <p:xfrm>
          <a:off x="484544" y="381000"/>
          <a:ext cx="8659456" cy="5562600"/>
        </p:xfrm>
        <a:graphic>
          <a:graphicData uri="http://schemas.openxmlformats.org/presentationml/2006/ole">
            <p:oleObj spid="_x0000_s1026" name="Document" r:id="rId3" imgW="6632207" imgH="4211781" progId="Word.Document.12">
              <p:embed/>
            </p:oleObj>
          </a:graphicData>
        </a:graphic>
      </p:graphicFrame>
    </p:spTree>
    <p:extLst>
      <p:ext uri="{BB962C8B-B14F-4D97-AF65-F5344CB8AC3E}">
        <p14:creationId xmlns:p14="http://schemas.microsoft.com/office/powerpoint/2010/main" xmlns="" val="9946483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Footer Placeholder 4"/>
          <p:cNvSpPr>
            <a:spLocks noGrp="1"/>
          </p:cNvSpPr>
          <p:nvPr>
            <p:ph type="ftr" sz="quarter" idx="11"/>
          </p:nvPr>
        </p:nvSpPr>
        <p:spPr/>
        <p:txBody>
          <a:bodyPr/>
          <a:lstStyle/>
          <a:p>
            <a:r>
              <a:rPr lang="en-IN" smtClean="0"/>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Rectangle 6"/>
          <p:cNvSpPr/>
          <p:nvPr/>
        </p:nvSpPr>
        <p:spPr>
          <a:xfrm>
            <a:off x="357158" y="708141"/>
            <a:ext cx="8572560" cy="5324535"/>
          </a:xfrm>
          <a:prstGeom prst="rect">
            <a:avLst/>
          </a:prstGeom>
        </p:spPr>
        <p:txBody>
          <a:bodyPr wrap="square">
            <a:spAutoFit/>
          </a:bodyPr>
          <a:lstStyle/>
          <a:p>
            <a:r>
              <a:rPr lang="en-US" sz="2000" dirty="0" smtClean="0">
                <a:latin typeface="Bookman Old Style" pitchFamily="18" charset="0"/>
              </a:rPr>
              <a:t>A </a:t>
            </a:r>
            <a:r>
              <a:rPr lang="en-US" sz="2000" dirty="0" smtClean="0">
                <a:latin typeface="Bookman Old Style" pitchFamily="18" charset="0"/>
              </a:rPr>
              <a:t>doctoral </a:t>
            </a:r>
            <a:r>
              <a:rPr lang="en-US" sz="2000" dirty="0" smtClean="0">
                <a:latin typeface="Bookman Old Style" pitchFamily="18" charset="0"/>
              </a:rPr>
              <a:t>thesis consists </a:t>
            </a:r>
            <a:r>
              <a:rPr lang="en-US" sz="2000" dirty="0" smtClean="0">
                <a:latin typeface="Bookman Old Style" pitchFamily="18" charset="0"/>
              </a:rPr>
              <a:t>of three parts</a:t>
            </a:r>
            <a:r>
              <a:rPr lang="en-US" sz="2000" dirty="0" smtClean="0">
                <a:latin typeface="Bookman Old Style" pitchFamily="18" charset="0"/>
              </a:rPr>
              <a:t>:</a:t>
            </a:r>
          </a:p>
          <a:p>
            <a:endParaRPr lang="en-US" sz="2000" dirty="0" smtClean="0">
              <a:latin typeface="Bookman Old Style" pitchFamily="18" charset="0"/>
            </a:endParaRPr>
          </a:p>
          <a:p>
            <a:r>
              <a:rPr lang="en-IN" sz="2000" dirty="0" smtClean="0">
                <a:latin typeface="Bookman Old Style" pitchFamily="18" charset="0"/>
              </a:rPr>
              <a:t>(a) </a:t>
            </a:r>
            <a:r>
              <a:rPr lang="en-IN" sz="2000" b="1" dirty="0" smtClean="0">
                <a:solidFill>
                  <a:srgbClr val="0000CC"/>
                </a:solidFill>
                <a:latin typeface="Bookman Old Style" pitchFamily="18" charset="0"/>
              </a:rPr>
              <a:t>Front matter</a:t>
            </a:r>
            <a:r>
              <a:rPr lang="en-IN" sz="2000" dirty="0" smtClean="0">
                <a:latin typeface="Bookman Old Style" pitchFamily="18" charset="0"/>
              </a:rPr>
              <a:t>: </a:t>
            </a:r>
            <a:r>
              <a:rPr lang="en-IN" sz="2000" dirty="0" smtClean="0">
                <a:latin typeface="Bookman Old Style" pitchFamily="18" charset="0"/>
              </a:rPr>
              <a:t>The front matter usually consists of a Title page</a:t>
            </a:r>
            <a:r>
              <a:rPr lang="en-IN" sz="2000" dirty="0" smtClean="0">
                <a:latin typeface="Bookman Old Style" pitchFamily="18" charset="0"/>
              </a:rPr>
              <a:t>, an </a:t>
            </a:r>
            <a:r>
              <a:rPr lang="en-IN" sz="2000" dirty="0" smtClean="0">
                <a:latin typeface="Bookman Old Style" pitchFamily="18" charset="0"/>
              </a:rPr>
              <a:t>Abstract of about 100 words, an Acknowledgement page, a </a:t>
            </a:r>
            <a:r>
              <a:rPr lang="en-IN" sz="2000" dirty="0" smtClean="0">
                <a:latin typeface="Bookman Old Style" pitchFamily="18" charset="0"/>
              </a:rPr>
              <a:t>Table of </a:t>
            </a:r>
            <a:r>
              <a:rPr lang="en-IN" sz="2000" dirty="0" smtClean="0">
                <a:latin typeface="Bookman Old Style" pitchFamily="18" charset="0"/>
              </a:rPr>
              <a:t>contents, a List of </a:t>
            </a:r>
            <a:r>
              <a:rPr lang="en-IN" sz="2000" dirty="0" smtClean="0">
                <a:latin typeface="Bookman Old Style" pitchFamily="18" charset="0"/>
              </a:rPr>
              <a:t>figures</a:t>
            </a:r>
            <a:r>
              <a:rPr lang="en-IN" sz="2000" dirty="0" smtClean="0">
                <a:latin typeface="Bookman Old Style" pitchFamily="18" charset="0"/>
              </a:rPr>
              <a:t>, a List of Tables, and an optional List </a:t>
            </a:r>
            <a:r>
              <a:rPr lang="en-IN" sz="2000" dirty="0" smtClean="0">
                <a:latin typeface="Bookman Old Style" pitchFamily="18" charset="0"/>
              </a:rPr>
              <a:t>of nomenclature</a:t>
            </a:r>
            <a:r>
              <a:rPr lang="en-IN" sz="2000" dirty="0" smtClean="0">
                <a:latin typeface="Bookman Old Style" pitchFamily="18" charset="0"/>
              </a:rPr>
              <a:t>. </a:t>
            </a:r>
            <a:r>
              <a:rPr lang="en-IN" sz="2000" dirty="0" smtClean="0">
                <a:latin typeface="Bookman Old Style" pitchFamily="18" charset="0"/>
              </a:rPr>
              <a:t>Sometimes, </a:t>
            </a:r>
            <a:r>
              <a:rPr lang="en-IN" sz="2000" dirty="0" smtClean="0">
                <a:latin typeface="Bookman Old Style" pitchFamily="18" charset="0"/>
              </a:rPr>
              <a:t>a one-page summary </a:t>
            </a:r>
            <a:r>
              <a:rPr lang="en-IN" sz="2000" dirty="0" smtClean="0">
                <a:latin typeface="Bookman Old Style" pitchFamily="18" charset="0"/>
              </a:rPr>
              <a:t>is </a:t>
            </a:r>
            <a:r>
              <a:rPr lang="en-US" sz="2000" dirty="0" smtClean="0">
                <a:latin typeface="Bookman Old Style" pitchFamily="18" charset="0"/>
              </a:rPr>
              <a:t>also </a:t>
            </a:r>
            <a:r>
              <a:rPr lang="en-US" sz="2000" dirty="0" smtClean="0">
                <a:latin typeface="Bookman Old Style" pitchFamily="18" charset="0"/>
              </a:rPr>
              <a:t>needed.</a:t>
            </a:r>
          </a:p>
          <a:p>
            <a:endParaRPr lang="en-IN" sz="2000" dirty="0" smtClean="0">
              <a:latin typeface="Bookman Old Style" pitchFamily="18" charset="0"/>
            </a:endParaRPr>
          </a:p>
          <a:p>
            <a:r>
              <a:rPr lang="en-IN" sz="2000" dirty="0" smtClean="0">
                <a:latin typeface="Bookman Old Style" pitchFamily="18" charset="0"/>
              </a:rPr>
              <a:t>(</a:t>
            </a:r>
            <a:r>
              <a:rPr lang="en-IN" sz="2000" dirty="0" smtClean="0">
                <a:latin typeface="Bookman Old Style" pitchFamily="18" charset="0"/>
              </a:rPr>
              <a:t>b) </a:t>
            </a:r>
            <a:r>
              <a:rPr lang="en-IN" sz="2000" b="1" dirty="0" smtClean="0">
                <a:solidFill>
                  <a:srgbClr val="0000CC"/>
                </a:solidFill>
                <a:latin typeface="Bookman Old Style" pitchFamily="18" charset="0"/>
              </a:rPr>
              <a:t>Body</a:t>
            </a:r>
            <a:r>
              <a:rPr lang="en-IN" sz="2000" dirty="0" smtClean="0">
                <a:latin typeface="Bookman Old Style" pitchFamily="18" charset="0"/>
              </a:rPr>
              <a:t>: For science research, an Introduction should include </a:t>
            </a:r>
            <a:r>
              <a:rPr lang="en-IN" sz="2000" dirty="0" smtClean="0">
                <a:latin typeface="Bookman Old Style" pitchFamily="18" charset="0"/>
              </a:rPr>
              <a:t>the theoretical </a:t>
            </a:r>
            <a:r>
              <a:rPr lang="en-IN" sz="2000" dirty="0" smtClean="0">
                <a:latin typeface="Bookman Old Style" pitchFamily="18" charset="0"/>
              </a:rPr>
              <a:t>framework for the evolution of new theory, and </a:t>
            </a:r>
            <a:r>
              <a:rPr lang="en-IN" sz="2000" dirty="0" smtClean="0">
                <a:latin typeface="Bookman Old Style" pitchFamily="18" charset="0"/>
              </a:rPr>
              <a:t>necessarily supported </a:t>
            </a:r>
            <a:r>
              <a:rPr lang="en-IN" sz="2000" dirty="0" smtClean="0">
                <a:latin typeface="Bookman Old Style" pitchFamily="18" charset="0"/>
              </a:rPr>
              <a:t>by a proof-of-the-principle experiment</a:t>
            </a:r>
            <a:r>
              <a:rPr lang="en-IN" sz="2000" dirty="0" smtClean="0">
                <a:latin typeface="Bookman Old Style" pitchFamily="18" charset="0"/>
              </a:rPr>
              <a:t>. </a:t>
            </a:r>
            <a:r>
              <a:rPr lang="en-IN" sz="2000" dirty="0" smtClean="0">
                <a:latin typeface="Bookman Old Style" pitchFamily="18" charset="0"/>
              </a:rPr>
              <a:t>Materials and </a:t>
            </a:r>
            <a:r>
              <a:rPr lang="en-IN" sz="2000" dirty="0" smtClean="0">
                <a:latin typeface="Bookman Old Style" pitchFamily="18" charset="0"/>
              </a:rPr>
              <a:t>methods , followed by  </a:t>
            </a:r>
            <a:r>
              <a:rPr lang="en-IN" sz="2000" dirty="0" smtClean="0">
                <a:latin typeface="Bookman Old Style" pitchFamily="18" charset="0"/>
              </a:rPr>
              <a:t>Results, discussion,</a:t>
            </a:r>
          </a:p>
          <a:p>
            <a:r>
              <a:rPr lang="en-IN" sz="2000" dirty="0" smtClean="0">
                <a:latin typeface="Bookman Old Style" pitchFamily="18" charset="0"/>
              </a:rPr>
              <a:t>conclusions, and recommendations for future work </a:t>
            </a:r>
            <a:r>
              <a:rPr lang="en-IN" sz="2000" dirty="0" smtClean="0">
                <a:latin typeface="Bookman Old Style" pitchFamily="18" charset="0"/>
              </a:rPr>
              <a:t>. </a:t>
            </a:r>
          </a:p>
          <a:p>
            <a:endParaRPr lang="en-IN" sz="2000" dirty="0" smtClean="0">
              <a:latin typeface="Bookman Old Style" pitchFamily="18" charset="0"/>
            </a:endParaRPr>
          </a:p>
          <a:p>
            <a:r>
              <a:rPr lang="en-IN" sz="2000" dirty="0" smtClean="0">
                <a:latin typeface="Bookman Old Style" pitchFamily="18" charset="0"/>
              </a:rPr>
              <a:t>(c) </a:t>
            </a:r>
            <a:r>
              <a:rPr lang="en-IN" sz="2000" b="1" dirty="0" smtClean="0">
                <a:solidFill>
                  <a:srgbClr val="0000CC"/>
                </a:solidFill>
                <a:latin typeface="Bookman Old Style" pitchFamily="18" charset="0"/>
              </a:rPr>
              <a:t>End matter</a:t>
            </a:r>
            <a:r>
              <a:rPr lang="en-IN" sz="2000" dirty="0" smtClean="0">
                <a:latin typeface="Bookman Old Style" pitchFamily="18" charset="0"/>
              </a:rPr>
              <a:t>: The end matter consists of appendixes, if any, </a:t>
            </a:r>
            <a:r>
              <a:rPr lang="en-IN" sz="2000" dirty="0" smtClean="0">
                <a:latin typeface="Bookman Old Style" pitchFamily="18" charset="0"/>
              </a:rPr>
              <a:t>and a </a:t>
            </a:r>
            <a:r>
              <a:rPr lang="en-IN" sz="2000" dirty="0" smtClean="0">
                <a:latin typeface="Bookman Old Style" pitchFamily="18" charset="0"/>
              </a:rPr>
              <a:t>bibliography. A list of publications of the author may also be </a:t>
            </a:r>
            <a:r>
              <a:rPr lang="en-IN" sz="2000" dirty="0" smtClean="0">
                <a:latin typeface="Bookman Old Style" pitchFamily="18" charset="0"/>
              </a:rPr>
              <a:t>included </a:t>
            </a:r>
            <a:r>
              <a:rPr lang="en-US" sz="2000" dirty="0" smtClean="0">
                <a:latin typeface="Bookman Old Style" pitchFamily="18" charset="0"/>
              </a:rPr>
              <a:t>as </a:t>
            </a:r>
            <a:r>
              <a:rPr lang="en-US" sz="2000" dirty="0" smtClean="0">
                <a:latin typeface="Bookman Old Style" pitchFamily="18" charset="0"/>
              </a:rPr>
              <a:t>an end matter.</a:t>
            </a:r>
            <a:endParaRPr lang="en-US" sz="2000" dirty="0">
              <a:latin typeface="Bookman Old Style"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0" y="685800"/>
            <a:ext cx="8686800" cy="1938992"/>
          </a:xfrm>
          <a:prstGeom prst="rect">
            <a:avLst/>
          </a:prstGeom>
          <a:noFill/>
          <a:ln w="12700">
            <a:noFill/>
            <a:miter lim="800000"/>
            <a:headEnd type="none" w="sm" len="sm"/>
            <a:tailEnd type="none" w="sm" len="sm"/>
          </a:ln>
          <a:effectLst/>
        </p:spPr>
        <p:txBody>
          <a:bodyPr>
            <a:spAutoFit/>
          </a:bodyPr>
          <a:lstStyle/>
          <a:p>
            <a:pPr algn="ctr" eaLnBrk="0" hangingPunct="0">
              <a:tabLst>
                <a:tab pos="1428750" algn="l"/>
                <a:tab pos="2952750" algn="l"/>
                <a:tab pos="4476750" algn="l"/>
                <a:tab pos="6000750" algn="l"/>
                <a:tab pos="7524750" algn="l"/>
              </a:tabLst>
              <a:defRPr/>
            </a:pPr>
            <a:endParaRPr lang="en-AU" sz="2000" b="1" dirty="0"/>
          </a:p>
          <a:p>
            <a:pPr algn="just" eaLnBrk="0" hangingPunct="0">
              <a:tabLst>
                <a:tab pos="1428750" algn="l"/>
                <a:tab pos="2952750" algn="l"/>
                <a:tab pos="4476750" algn="l"/>
                <a:tab pos="6000750" algn="l"/>
                <a:tab pos="7524750" algn="l"/>
              </a:tabLst>
              <a:defRPr/>
            </a:pPr>
            <a:endParaRPr lang="en-AU" sz="1400" dirty="0">
              <a:solidFill>
                <a:schemeClr val="bg2">
                  <a:lumMod val="50000"/>
                </a:schemeClr>
              </a:solidFill>
              <a:latin typeface="Book Antiqua" pitchFamily="18" charset="0"/>
            </a:endParaRPr>
          </a:p>
          <a:p>
            <a:pPr algn="just" eaLnBrk="0" hangingPunct="0">
              <a:tabLst>
                <a:tab pos="1428750" algn="l"/>
                <a:tab pos="2952750" algn="l"/>
                <a:tab pos="4476750" algn="l"/>
                <a:tab pos="6000750" algn="l"/>
                <a:tab pos="7524750" algn="l"/>
              </a:tabLst>
              <a:defRPr/>
            </a:pPr>
            <a:endParaRPr lang="en-AU" sz="1400" dirty="0">
              <a:solidFill>
                <a:schemeClr val="bg2">
                  <a:lumMod val="50000"/>
                </a:schemeClr>
              </a:solidFill>
              <a:latin typeface="Book Antiqua" pitchFamily="18" charset="0"/>
            </a:endParaRPr>
          </a:p>
          <a:p>
            <a:pPr algn="just" eaLnBrk="0" hangingPunct="0">
              <a:tabLst>
                <a:tab pos="1428750" algn="l"/>
                <a:tab pos="2952750" algn="l"/>
                <a:tab pos="4476750" algn="l"/>
                <a:tab pos="6000750" algn="l"/>
                <a:tab pos="7524750" algn="l"/>
              </a:tabLst>
              <a:defRPr/>
            </a:pPr>
            <a:r>
              <a:rPr lang="en-AU" b="1" dirty="0">
                <a:latin typeface="Book Antiqua" pitchFamily="18" charset="0"/>
              </a:rPr>
              <a:t>Chapter 1	Chapter 2	Chapter 3	Chapter 4	Chapter 5       Chapter 6</a:t>
            </a:r>
          </a:p>
          <a:p>
            <a:pPr algn="just" eaLnBrk="0" hangingPunct="0">
              <a:tabLst>
                <a:tab pos="1428750" algn="l"/>
                <a:tab pos="2952750" algn="l"/>
                <a:tab pos="4476750" algn="l"/>
                <a:tab pos="6000750" algn="l"/>
                <a:tab pos="7524750" algn="l"/>
              </a:tabLst>
              <a:defRPr/>
            </a:pPr>
            <a:endParaRPr lang="en-AU" dirty="0">
              <a:latin typeface="Book Antiqua" pitchFamily="18" charset="0"/>
            </a:endParaRPr>
          </a:p>
          <a:p>
            <a:pPr algn="just" eaLnBrk="0" hangingPunct="0">
              <a:tabLst>
                <a:tab pos="1428750" algn="l"/>
                <a:tab pos="2952750" algn="l"/>
                <a:tab pos="4476750" algn="l"/>
                <a:tab pos="6000750" algn="l"/>
                <a:tab pos="7524750" algn="l"/>
              </a:tabLst>
              <a:defRPr/>
            </a:pPr>
            <a:r>
              <a:rPr lang="en-AU" dirty="0">
                <a:latin typeface="Book Antiqua" pitchFamily="18" charset="0"/>
              </a:rPr>
              <a:t>Introduction	Literature	Methods	Results	Discussion    Conclusion</a:t>
            </a:r>
          </a:p>
          <a:p>
            <a:pPr algn="just" eaLnBrk="0" hangingPunct="0">
              <a:tabLst>
                <a:tab pos="1428750" algn="l"/>
                <a:tab pos="2952750" algn="l"/>
                <a:tab pos="4476750" algn="l"/>
                <a:tab pos="6000750" algn="l"/>
                <a:tab pos="7524750" algn="l"/>
              </a:tabLst>
              <a:defRPr/>
            </a:pPr>
            <a:r>
              <a:rPr lang="en-AU" dirty="0">
                <a:latin typeface="Book Antiqua" pitchFamily="18" charset="0"/>
              </a:rPr>
              <a:t>	Review			of results</a:t>
            </a:r>
            <a:endParaRPr lang="en-AU" sz="3200" dirty="0">
              <a:latin typeface="Book Antiqua" pitchFamily="18" charset="0"/>
            </a:endParaRPr>
          </a:p>
        </p:txBody>
      </p:sp>
      <p:sp>
        <p:nvSpPr>
          <p:cNvPr id="43012" name="Freeform 4"/>
          <p:cNvSpPr>
            <a:spLocks/>
          </p:cNvSpPr>
          <p:nvPr/>
        </p:nvSpPr>
        <p:spPr bwMode="auto">
          <a:xfrm>
            <a:off x="3276600" y="2590800"/>
            <a:ext cx="2209800" cy="1123950"/>
          </a:xfrm>
          <a:custGeom>
            <a:avLst/>
            <a:gdLst>
              <a:gd name="T0" fmla="*/ 0 w 1392"/>
              <a:gd name="T1" fmla="*/ 0 h 708"/>
              <a:gd name="T2" fmla="*/ 2147483647 w 1392"/>
              <a:gd name="T3" fmla="*/ 2147483647 h 708"/>
              <a:gd name="T4" fmla="*/ 2147483647 w 1392"/>
              <a:gd name="T5" fmla="*/ 0 h 708"/>
              <a:gd name="T6" fmla="*/ 0 60000 65536"/>
              <a:gd name="T7" fmla="*/ 0 60000 65536"/>
              <a:gd name="T8" fmla="*/ 0 60000 65536"/>
              <a:gd name="T9" fmla="*/ 0 w 1392"/>
              <a:gd name="T10" fmla="*/ 0 h 708"/>
              <a:gd name="T11" fmla="*/ 1392 w 1392"/>
              <a:gd name="T12" fmla="*/ 708 h 708"/>
            </a:gdLst>
            <a:ahLst/>
            <a:cxnLst>
              <a:cxn ang="T6">
                <a:pos x="T0" y="T1"/>
              </a:cxn>
              <a:cxn ang="T7">
                <a:pos x="T2" y="T3"/>
              </a:cxn>
              <a:cxn ang="T8">
                <a:pos x="T4" y="T5"/>
              </a:cxn>
            </a:cxnLst>
            <a:rect l="T9" t="T10" r="T11" b="T12"/>
            <a:pathLst>
              <a:path w="1392" h="708">
                <a:moveTo>
                  <a:pt x="0" y="0"/>
                </a:moveTo>
                <a:cubicBezTo>
                  <a:pt x="122" y="118"/>
                  <a:pt x="500" y="708"/>
                  <a:pt x="732" y="708"/>
                </a:cubicBezTo>
                <a:cubicBezTo>
                  <a:pt x="964" y="708"/>
                  <a:pt x="1254" y="148"/>
                  <a:pt x="1392" y="0"/>
                </a:cubicBezTo>
              </a:path>
            </a:pathLst>
          </a:custGeom>
          <a:noFill/>
          <a:ln w="12700">
            <a:solidFill>
              <a:schemeClr val="tx1"/>
            </a:solidFill>
            <a:round/>
            <a:headEnd type="none" w="sm" len="sm"/>
            <a:tailEnd type="none" w="sm" len="sm"/>
          </a:ln>
        </p:spPr>
        <p:txBody>
          <a:bodyPr wrap="none" anchor="ctr"/>
          <a:lstStyle/>
          <a:p>
            <a:endParaRPr lang="en-IN"/>
          </a:p>
        </p:txBody>
      </p:sp>
      <p:sp>
        <p:nvSpPr>
          <p:cNvPr id="43014" name="Freeform 6"/>
          <p:cNvSpPr>
            <a:spLocks/>
          </p:cNvSpPr>
          <p:nvPr/>
        </p:nvSpPr>
        <p:spPr bwMode="auto">
          <a:xfrm>
            <a:off x="395288" y="2565400"/>
            <a:ext cx="8229600" cy="3600450"/>
          </a:xfrm>
          <a:custGeom>
            <a:avLst/>
            <a:gdLst>
              <a:gd name="T0" fmla="*/ 0 w 5184"/>
              <a:gd name="T1" fmla="*/ 0 h 2268"/>
              <a:gd name="T2" fmla="*/ 2147483647 w 5184"/>
              <a:gd name="T3" fmla="*/ 2147483647 h 2268"/>
              <a:gd name="T4" fmla="*/ 2147483647 w 5184"/>
              <a:gd name="T5" fmla="*/ 0 h 2268"/>
              <a:gd name="T6" fmla="*/ 0 60000 65536"/>
              <a:gd name="T7" fmla="*/ 0 60000 65536"/>
              <a:gd name="T8" fmla="*/ 0 60000 65536"/>
              <a:gd name="T9" fmla="*/ 0 w 5184"/>
              <a:gd name="T10" fmla="*/ 0 h 2268"/>
              <a:gd name="T11" fmla="*/ 5184 w 5184"/>
              <a:gd name="T12" fmla="*/ 2268 h 2268"/>
            </a:gdLst>
            <a:ahLst/>
            <a:cxnLst>
              <a:cxn ang="T6">
                <a:pos x="T0" y="T1"/>
              </a:cxn>
              <a:cxn ang="T7">
                <a:pos x="T2" y="T3"/>
              </a:cxn>
              <a:cxn ang="T8">
                <a:pos x="T4" y="T5"/>
              </a:cxn>
            </a:cxnLst>
            <a:rect l="T9" t="T10" r="T11" b="T12"/>
            <a:pathLst>
              <a:path w="5184" h="2268">
                <a:moveTo>
                  <a:pt x="0" y="0"/>
                </a:moveTo>
                <a:cubicBezTo>
                  <a:pt x="422" y="378"/>
                  <a:pt x="1668" y="2268"/>
                  <a:pt x="2532" y="2268"/>
                </a:cubicBezTo>
                <a:cubicBezTo>
                  <a:pt x="3396" y="2268"/>
                  <a:pt x="4631" y="473"/>
                  <a:pt x="5184" y="0"/>
                </a:cubicBezTo>
              </a:path>
            </a:pathLst>
          </a:custGeom>
          <a:noFill/>
          <a:ln w="12700">
            <a:solidFill>
              <a:schemeClr val="tx1"/>
            </a:solidFill>
            <a:round/>
            <a:headEnd type="none" w="sm" len="sm"/>
            <a:tailEnd type="none" w="sm" len="sm"/>
          </a:ln>
        </p:spPr>
        <p:txBody>
          <a:bodyPr wrap="none" anchor="ctr"/>
          <a:lstStyle/>
          <a:p>
            <a:endParaRPr lang="en-IN"/>
          </a:p>
        </p:txBody>
      </p:sp>
      <p:sp>
        <p:nvSpPr>
          <p:cNvPr id="43015" name="Freeform 7"/>
          <p:cNvSpPr>
            <a:spLocks/>
          </p:cNvSpPr>
          <p:nvPr/>
        </p:nvSpPr>
        <p:spPr bwMode="auto">
          <a:xfrm>
            <a:off x="1828800" y="2895600"/>
            <a:ext cx="5334000" cy="2286000"/>
          </a:xfrm>
          <a:custGeom>
            <a:avLst/>
            <a:gdLst>
              <a:gd name="T0" fmla="*/ 0 w 3360"/>
              <a:gd name="T1" fmla="*/ 0 h 1440"/>
              <a:gd name="T2" fmla="*/ 2147483647 w 3360"/>
              <a:gd name="T3" fmla="*/ 2147483647 h 1440"/>
              <a:gd name="T4" fmla="*/ 2147483647 w 3360"/>
              <a:gd name="T5" fmla="*/ 0 h 1440"/>
              <a:gd name="T6" fmla="*/ 0 60000 65536"/>
              <a:gd name="T7" fmla="*/ 0 60000 65536"/>
              <a:gd name="T8" fmla="*/ 0 60000 65536"/>
              <a:gd name="T9" fmla="*/ 0 w 3360"/>
              <a:gd name="T10" fmla="*/ 0 h 1440"/>
              <a:gd name="T11" fmla="*/ 3360 w 3360"/>
              <a:gd name="T12" fmla="*/ 1440 h 1440"/>
            </a:gdLst>
            <a:ahLst/>
            <a:cxnLst>
              <a:cxn ang="T6">
                <a:pos x="T0" y="T1"/>
              </a:cxn>
              <a:cxn ang="T7">
                <a:pos x="T2" y="T3"/>
              </a:cxn>
              <a:cxn ang="T8">
                <a:pos x="T4" y="T5"/>
              </a:cxn>
            </a:cxnLst>
            <a:rect l="T9" t="T10" r="T11" b="T12"/>
            <a:pathLst>
              <a:path w="3360" h="1440">
                <a:moveTo>
                  <a:pt x="0" y="0"/>
                </a:moveTo>
                <a:cubicBezTo>
                  <a:pt x="284" y="240"/>
                  <a:pt x="1144" y="1440"/>
                  <a:pt x="1704" y="1440"/>
                </a:cubicBezTo>
                <a:cubicBezTo>
                  <a:pt x="2264" y="1440"/>
                  <a:pt x="3015" y="300"/>
                  <a:pt x="3360" y="0"/>
                </a:cubicBezTo>
              </a:path>
            </a:pathLst>
          </a:custGeom>
          <a:noFill/>
          <a:ln w="12700">
            <a:solidFill>
              <a:schemeClr val="tx1"/>
            </a:solidFill>
            <a:round/>
            <a:headEnd type="none" w="sm" len="sm"/>
            <a:tailEnd type="none" w="sm" len="sm"/>
          </a:ln>
        </p:spPr>
        <p:txBody>
          <a:bodyPr wrap="none" anchor="ctr"/>
          <a:lstStyle/>
          <a:p>
            <a:endParaRPr lang="en-IN"/>
          </a:p>
        </p:txBody>
      </p:sp>
      <p:sp>
        <p:nvSpPr>
          <p:cNvPr id="6" name="Date Placeholder 5"/>
          <p:cNvSpPr>
            <a:spLocks noGrp="1"/>
          </p:cNvSpPr>
          <p:nvPr>
            <p:ph type="dt" sz="half" idx="10"/>
          </p:nvPr>
        </p:nvSpPr>
        <p:spPr/>
        <p:txBody>
          <a:bodyPr/>
          <a:lstStyle/>
          <a:p>
            <a:r>
              <a:rPr lang="en-US" smtClean="0"/>
              <a:t>Ph.D Course work on Research Methodology</a:t>
            </a:r>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6</a:t>
            </a:fld>
            <a:endParaRPr lang="en-US"/>
          </a:p>
        </p:txBody>
      </p:sp>
      <p:sp>
        <p:nvSpPr>
          <p:cNvPr id="8" name="Footer Placeholder 7"/>
          <p:cNvSpPr>
            <a:spLocks noGrp="1"/>
          </p:cNvSpPr>
          <p:nvPr>
            <p:ph type="ftr" sz="quarter" idx="11"/>
          </p:nvPr>
        </p:nvSpPr>
        <p:spPr/>
        <p:txBody>
          <a:bodyPr/>
          <a:lstStyle/>
          <a:p>
            <a:r>
              <a:rPr lang="en-IN" smtClean="0"/>
              <a:t>Prof. A. K. Datta  University of Calcutta </a:t>
            </a:r>
            <a:endParaRPr lang="en-US"/>
          </a:p>
        </p:txBody>
      </p:sp>
      <p:sp>
        <p:nvSpPr>
          <p:cNvPr id="9" name="Rectangle 8"/>
          <p:cNvSpPr/>
          <p:nvPr/>
        </p:nvSpPr>
        <p:spPr>
          <a:xfrm>
            <a:off x="914400" y="0"/>
            <a:ext cx="7772400" cy="523220"/>
          </a:xfrm>
          <a:prstGeom prst="rect">
            <a:avLst/>
          </a:prstGeom>
        </p:spPr>
        <p:txBody>
          <a:bodyPr wrap="square">
            <a:spAutoFit/>
          </a:bodyPr>
          <a:lstStyle/>
          <a:p>
            <a:pPr lvl="1" algn="ctr" eaLnBrk="0" hangingPunct="0">
              <a:tabLst>
                <a:tab pos="1428750" algn="l"/>
                <a:tab pos="2952750" algn="l"/>
                <a:tab pos="4476750" algn="l"/>
                <a:tab pos="6000750" algn="l"/>
                <a:tab pos="7524750" algn="l"/>
              </a:tabLst>
              <a:defRPr/>
            </a:pPr>
            <a:r>
              <a:rPr lang="en-AU" sz="2800" dirty="0" smtClean="0">
                <a:solidFill>
                  <a:srgbClr val="0000CC"/>
                </a:solidFill>
                <a:latin typeface="Book Antiqua" pitchFamily="18" charset="0"/>
              </a:rPr>
              <a:t>Traditional Structure of a Thesis</a:t>
            </a:r>
            <a:endParaRPr lang="en-AU" sz="2000" dirty="0">
              <a:solidFill>
                <a:srgbClr val="0000CC"/>
              </a:solidFill>
              <a:latin typeface="Book Antiqua"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3010">
                                            <p:txEl>
                                              <p:pRg st="3" end="3"/>
                                            </p:txEl>
                                          </p:spTgt>
                                        </p:tgtEl>
                                        <p:attrNameLst>
                                          <p:attrName>style.visibility</p:attrName>
                                        </p:attrNameLst>
                                      </p:cBhvr>
                                      <p:to>
                                        <p:strVal val="visible"/>
                                      </p:to>
                                    </p:set>
                                    <p:animEffect transition="in" filter="box(in)">
                                      <p:cBhvr>
                                        <p:cTn id="7" dur="500"/>
                                        <p:tgtEl>
                                          <p:spTgt spid="4301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43010">
                                            <p:txEl>
                                              <p:pRg st="5" end="5"/>
                                            </p:txEl>
                                          </p:spTgt>
                                        </p:tgtEl>
                                        <p:attrNameLst>
                                          <p:attrName>style.visibility</p:attrName>
                                        </p:attrNameLst>
                                      </p:cBhvr>
                                      <p:to>
                                        <p:strVal val="visible"/>
                                      </p:to>
                                    </p:set>
                                    <p:animEffect transition="in" filter="box(in)">
                                      <p:cBhvr>
                                        <p:cTn id="12" dur="500"/>
                                        <p:tgtEl>
                                          <p:spTgt spid="43010">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43012"/>
                                        </p:tgtEl>
                                        <p:attrNameLst>
                                          <p:attrName>style.visibility</p:attrName>
                                        </p:attrNameLst>
                                      </p:cBhvr>
                                      <p:to>
                                        <p:strVal val="visible"/>
                                      </p:to>
                                    </p:set>
                                    <p:animEffect transition="in" filter="box(in)">
                                      <p:cBhvr>
                                        <p:cTn id="17" dur="500"/>
                                        <p:tgtEl>
                                          <p:spTgt spid="43012"/>
                                        </p:tgtEl>
                                      </p:cBhvr>
                                    </p:animEffect>
                                  </p:childTnLst>
                                </p:cTn>
                              </p:par>
                              <p:par>
                                <p:cTn id="18" presetID="4" presetClass="entr" presetSubtype="16" fill="hold" nodeType="withEffect">
                                  <p:stCondLst>
                                    <p:cond delay="0"/>
                                  </p:stCondLst>
                                  <p:childTnLst>
                                    <p:set>
                                      <p:cBhvr>
                                        <p:cTn id="19" dur="1" fill="hold">
                                          <p:stCondLst>
                                            <p:cond delay="0"/>
                                          </p:stCondLst>
                                        </p:cTn>
                                        <p:tgtEl>
                                          <p:spTgt spid="43010">
                                            <p:txEl>
                                              <p:pRg st="6" end="6"/>
                                            </p:txEl>
                                          </p:spTgt>
                                        </p:tgtEl>
                                        <p:attrNameLst>
                                          <p:attrName>style.visibility</p:attrName>
                                        </p:attrNameLst>
                                      </p:cBhvr>
                                      <p:to>
                                        <p:strVal val="visible"/>
                                      </p:to>
                                    </p:set>
                                    <p:animEffect transition="in" filter="box(in)">
                                      <p:cBhvr>
                                        <p:cTn id="20" dur="500"/>
                                        <p:tgtEl>
                                          <p:spTgt spid="43010">
                                            <p:txEl>
                                              <p:pRg st="6" end="6"/>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43015"/>
                                        </p:tgtEl>
                                        <p:attrNameLst>
                                          <p:attrName>style.visibility</p:attrName>
                                        </p:attrNameLst>
                                      </p:cBhvr>
                                      <p:to>
                                        <p:strVal val="visible"/>
                                      </p:to>
                                    </p:set>
                                    <p:animEffect transition="in" filter="box(in)">
                                      <p:cBhvr>
                                        <p:cTn id="25" dur="500"/>
                                        <p:tgtEl>
                                          <p:spTgt spid="43015"/>
                                        </p:tgtEl>
                                      </p:cBhvr>
                                    </p:animEffect>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43014"/>
                                        </p:tgtEl>
                                        <p:attrNameLst>
                                          <p:attrName>style.visibility</p:attrName>
                                        </p:attrNameLst>
                                      </p:cBhvr>
                                      <p:to>
                                        <p:strVal val="visible"/>
                                      </p:to>
                                    </p:set>
                                    <p:anim calcmode="lin" valueType="num">
                                      <p:cBhvr additive="base">
                                        <p:cTn id="30" dur="500" fill="hold"/>
                                        <p:tgtEl>
                                          <p:spTgt spid="43014"/>
                                        </p:tgtEl>
                                        <p:attrNameLst>
                                          <p:attrName>ppt_x</p:attrName>
                                        </p:attrNameLst>
                                      </p:cBhvr>
                                      <p:tavLst>
                                        <p:tav tm="0">
                                          <p:val>
                                            <p:strVal val="#ppt_x"/>
                                          </p:val>
                                        </p:tav>
                                        <p:tav tm="100000">
                                          <p:val>
                                            <p:strVal val="#ppt_x"/>
                                          </p:val>
                                        </p:tav>
                                      </p:tavLst>
                                    </p:anim>
                                    <p:anim calcmode="lin" valueType="num">
                                      <p:cBhvr additive="base">
                                        <p:cTn id="31" dur="500" fill="hold"/>
                                        <p:tgtEl>
                                          <p:spTgt spid="430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animBg="1"/>
      <p:bldP spid="43014" grpId="0" animBg="1"/>
      <p:bldP spid="4301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p:cNvSpPr>
            <a:spLocks noGrp="1" noChangeArrowheads="1"/>
          </p:cNvSpPr>
          <p:nvPr>
            <p:ph type="title"/>
          </p:nvPr>
        </p:nvSpPr>
        <p:spPr>
          <a:xfrm>
            <a:off x="457200" y="0"/>
            <a:ext cx="8229600" cy="731838"/>
          </a:xfrm>
        </p:spPr>
        <p:txBody>
          <a:bodyPr/>
          <a:lstStyle/>
          <a:p>
            <a:pPr>
              <a:defRPr/>
            </a:pPr>
            <a:r>
              <a:rPr lang="en-US" sz="2800" dirty="0">
                <a:solidFill>
                  <a:srgbClr val="0000CC"/>
                </a:solidFill>
                <a:latin typeface="Bookman Old Style" pitchFamily="18" charset="0"/>
              </a:rPr>
              <a:t>CHAPTER SEQUENCE</a:t>
            </a:r>
          </a:p>
        </p:txBody>
      </p:sp>
      <p:sp>
        <p:nvSpPr>
          <p:cNvPr id="53251" name="Rectangle 3"/>
          <p:cNvSpPr>
            <a:spLocks noGrp="1" noChangeArrowheads="1"/>
          </p:cNvSpPr>
          <p:nvPr>
            <p:ph type="body" idx="1"/>
          </p:nvPr>
        </p:nvSpPr>
        <p:spPr bwMode="auto">
          <a:xfrm>
            <a:off x="304800" y="838200"/>
            <a:ext cx="8839200" cy="4953000"/>
          </a:xfrm>
          <a:ln>
            <a:miter lim="800000"/>
            <a:headEnd/>
            <a:tailEnd/>
          </a:ln>
        </p:spPr>
        <p:txBody>
          <a:bodyPr vert="horz" wrap="square" lIns="91440" tIns="45720" rIns="91440" bIns="45720" numCol="1" anchor="t" anchorCtr="0" compatLnSpc="1">
            <a:prstTxWarp prst="textNoShape">
              <a:avLst/>
            </a:prstTxWarp>
          </a:bodyPr>
          <a:lstStyle/>
          <a:p>
            <a:pPr>
              <a:defRPr/>
            </a:pPr>
            <a:r>
              <a:rPr lang="en-US" sz="2400" dirty="0" smtClean="0">
                <a:latin typeface="Book Antiqua" pitchFamily="18" charset="0"/>
              </a:rPr>
              <a:t>Acknowledgement page ( not recommended by </a:t>
            </a:r>
            <a:r>
              <a:rPr lang="en-US" sz="2400" dirty="0" smtClean="0">
                <a:latin typeface="Book Antiqua" pitchFamily="18" charset="0"/>
              </a:rPr>
              <a:t>CU ?) </a:t>
            </a:r>
            <a:endParaRPr lang="en-US" sz="2400" dirty="0" smtClean="0">
              <a:latin typeface="Book Antiqua" pitchFamily="18" charset="0"/>
            </a:endParaRPr>
          </a:p>
          <a:p>
            <a:pPr>
              <a:defRPr/>
            </a:pPr>
            <a:r>
              <a:rPr lang="en-US" sz="2400" dirty="0" smtClean="0">
                <a:latin typeface="Book Antiqua" pitchFamily="18" charset="0"/>
              </a:rPr>
              <a:t>Summary or long abstract ( usually 4 pages)</a:t>
            </a:r>
          </a:p>
          <a:p>
            <a:pPr>
              <a:defRPr/>
            </a:pPr>
            <a:r>
              <a:rPr lang="en-US" sz="2400" dirty="0" smtClean="0">
                <a:latin typeface="Book Antiqua" pitchFamily="18" charset="0"/>
              </a:rPr>
              <a:t>List of symbols used ( optional)</a:t>
            </a:r>
          </a:p>
          <a:p>
            <a:pPr>
              <a:defRPr/>
            </a:pPr>
            <a:r>
              <a:rPr lang="en-US" sz="2400" dirty="0" smtClean="0">
                <a:latin typeface="Book Antiqua" pitchFamily="18" charset="0"/>
              </a:rPr>
              <a:t>Ch 1  Problem Defined and context of study</a:t>
            </a:r>
          </a:p>
          <a:p>
            <a:pPr>
              <a:defRPr/>
            </a:pPr>
            <a:r>
              <a:rPr lang="en-US" sz="2400" dirty="0" smtClean="0">
                <a:latin typeface="Book Antiqua" pitchFamily="18" charset="0"/>
              </a:rPr>
              <a:t>Ch 2  Literature review</a:t>
            </a:r>
          </a:p>
          <a:p>
            <a:pPr>
              <a:defRPr/>
            </a:pPr>
            <a:r>
              <a:rPr lang="en-US" sz="2400" dirty="0" smtClean="0">
                <a:latin typeface="Book Antiqua" pitchFamily="18" charset="0"/>
              </a:rPr>
              <a:t>Ch 3  Theoretical Framework </a:t>
            </a:r>
          </a:p>
          <a:p>
            <a:pPr>
              <a:defRPr/>
            </a:pPr>
            <a:r>
              <a:rPr lang="en-US" sz="2400" dirty="0" smtClean="0">
                <a:latin typeface="Book Antiqua" pitchFamily="18" charset="0"/>
              </a:rPr>
              <a:t>Ch 4  Research work : presentation of result</a:t>
            </a:r>
          </a:p>
          <a:p>
            <a:pPr>
              <a:defRPr/>
            </a:pPr>
            <a:r>
              <a:rPr lang="en-US" sz="2400" dirty="0" smtClean="0">
                <a:latin typeface="Book Antiqua" pitchFamily="18" charset="0"/>
              </a:rPr>
              <a:t>Ch 5  Research  work : presentation of result</a:t>
            </a:r>
          </a:p>
          <a:p>
            <a:pPr>
              <a:defRPr/>
            </a:pPr>
            <a:r>
              <a:rPr lang="en-US" sz="2400" dirty="0" smtClean="0">
                <a:latin typeface="Book Antiqua" pitchFamily="18" charset="0"/>
              </a:rPr>
              <a:t>.. ……</a:t>
            </a:r>
          </a:p>
          <a:p>
            <a:pPr>
              <a:defRPr/>
            </a:pPr>
            <a:r>
              <a:rPr lang="en-US" sz="2400" dirty="0" smtClean="0">
                <a:latin typeface="Book Antiqua" pitchFamily="18" charset="0"/>
              </a:rPr>
              <a:t>Ch 6 Conclusions and discussions</a:t>
            </a:r>
          </a:p>
          <a:p>
            <a:pPr>
              <a:defRPr/>
            </a:pPr>
            <a:r>
              <a:rPr lang="en-US" sz="2400" dirty="0" smtClean="0">
                <a:latin typeface="Book Antiqua" pitchFamily="18" charset="0"/>
              </a:rPr>
              <a:t>Ch 7  Future scope of work</a:t>
            </a:r>
          </a:p>
          <a:p>
            <a:pPr>
              <a:defRPr/>
            </a:pPr>
            <a:r>
              <a:rPr lang="en-US" sz="2400" dirty="0" smtClean="0">
                <a:latin typeface="Book Antiqua" pitchFamily="18" charset="0"/>
              </a:rPr>
              <a:t>References</a:t>
            </a:r>
          </a:p>
          <a:p>
            <a:pPr>
              <a:defRPr/>
            </a:pPr>
            <a:endParaRPr lang="en-US" sz="2400" dirty="0" smtClean="0">
              <a:latin typeface="Book Antiqua" pitchFamily="18" charset="0"/>
            </a:endParaRP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7</a:t>
            </a:fld>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a:xfrm>
            <a:off x="928662" y="0"/>
            <a:ext cx="7772400" cy="990600"/>
          </a:xfrm>
        </p:spPr>
        <p:txBody>
          <a:bodyPr lIns="92075" tIns="46038" rIns="92075" bIns="46038"/>
          <a:lstStyle/>
          <a:p>
            <a:pPr>
              <a:defRPr/>
            </a:pPr>
            <a:r>
              <a:rPr lang="en-US" sz="2400" dirty="0">
                <a:latin typeface="Book Antiqua" pitchFamily="18" charset="0"/>
              </a:rPr>
              <a:t>CONTENTS OF RESEARCH REPORT</a:t>
            </a:r>
            <a:endParaRPr lang="en-US" sz="3600" dirty="0">
              <a:latin typeface="Book Antiqua" pitchFamily="18" charset="0"/>
            </a:endParaRPr>
          </a:p>
        </p:txBody>
      </p:sp>
      <p:sp>
        <p:nvSpPr>
          <p:cNvPr id="55299" name="Rectangle 3"/>
          <p:cNvSpPr>
            <a:spLocks noGrp="1" noChangeArrowheads="1"/>
          </p:cNvSpPr>
          <p:nvPr>
            <p:ph type="body" sz="half" idx="1"/>
          </p:nvPr>
        </p:nvSpPr>
        <p:spPr bwMode="auto">
          <a:xfrm>
            <a:off x="0" y="714356"/>
            <a:ext cx="4419600" cy="5572164"/>
          </a:xfrm>
          <a:noFill/>
          <a:ln>
            <a:miter lim="800000"/>
            <a:headEnd/>
            <a:tailEnd/>
          </a:ln>
        </p:spPr>
        <p:txBody>
          <a:bodyPr vert="horz" wrap="square" lIns="92075" tIns="46038" rIns="92075" bIns="46038" numCol="1" anchor="t" anchorCtr="0" compatLnSpc="1">
            <a:prstTxWarp prst="textNoShape">
              <a:avLst/>
            </a:prstTxWarp>
          </a:bodyPr>
          <a:lstStyle/>
          <a:p>
            <a:pPr>
              <a:lnSpc>
                <a:spcPct val="90000"/>
              </a:lnSpc>
              <a:buFont typeface="Wingdings" pitchFamily="2" charset="2"/>
              <a:buNone/>
            </a:pPr>
            <a:r>
              <a:rPr lang="en-US" sz="1800" b="1" dirty="0" smtClean="0">
                <a:latin typeface="Book Antiqua" pitchFamily="18" charset="0"/>
              </a:rPr>
              <a:t>	I. 	</a:t>
            </a:r>
            <a:r>
              <a:rPr lang="en-US" sz="2400" dirty="0" smtClean="0">
                <a:latin typeface="Book Antiqua" pitchFamily="18" charset="0"/>
              </a:rPr>
              <a:t>Title page</a:t>
            </a:r>
            <a:br>
              <a:rPr lang="en-US" sz="2400" dirty="0" smtClean="0">
                <a:latin typeface="Book Antiqua" pitchFamily="18" charset="0"/>
              </a:rPr>
            </a:br>
            <a:r>
              <a:rPr lang="en-US" sz="2400" dirty="0" smtClean="0">
                <a:latin typeface="Book Antiqua" pitchFamily="18" charset="0"/>
              </a:rPr>
              <a:t>II. 	Letter of transmittal</a:t>
            </a:r>
            <a:br>
              <a:rPr lang="en-US" sz="2400" dirty="0" smtClean="0">
                <a:latin typeface="Book Antiqua" pitchFamily="18" charset="0"/>
              </a:rPr>
            </a:br>
            <a:r>
              <a:rPr lang="en-US" sz="2400" dirty="0" smtClean="0">
                <a:latin typeface="Book Antiqua" pitchFamily="18" charset="0"/>
              </a:rPr>
              <a:t>III. 	Table of contents</a:t>
            </a:r>
            <a:br>
              <a:rPr lang="en-US" sz="2400" dirty="0" smtClean="0">
                <a:latin typeface="Book Antiqua" pitchFamily="18" charset="0"/>
              </a:rPr>
            </a:br>
            <a:r>
              <a:rPr lang="en-US" sz="2400" dirty="0" smtClean="0">
                <a:latin typeface="Book Antiqua" pitchFamily="18" charset="0"/>
              </a:rPr>
              <a:t>IV. 	List of tables</a:t>
            </a:r>
            <a:br>
              <a:rPr lang="en-US" sz="2400" dirty="0" smtClean="0">
                <a:latin typeface="Book Antiqua" pitchFamily="18" charset="0"/>
              </a:rPr>
            </a:br>
            <a:r>
              <a:rPr lang="en-US" sz="2400" dirty="0" smtClean="0">
                <a:latin typeface="Book Antiqua" pitchFamily="18" charset="0"/>
              </a:rPr>
              <a:t>V. 	List of graphs</a:t>
            </a:r>
            <a:br>
              <a:rPr lang="en-US" sz="2400" dirty="0" smtClean="0">
                <a:latin typeface="Book Antiqua" pitchFamily="18" charset="0"/>
              </a:rPr>
            </a:br>
            <a:r>
              <a:rPr lang="en-US" sz="2400" dirty="0" smtClean="0">
                <a:latin typeface="Book Antiqua" pitchFamily="18" charset="0"/>
              </a:rPr>
              <a:t>VI. 	List of appendices</a:t>
            </a:r>
            <a:br>
              <a:rPr lang="en-US" sz="2400" dirty="0" smtClean="0">
                <a:latin typeface="Book Antiqua" pitchFamily="18" charset="0"/>
              </a:rPr>
            </a:br>
            <a:r>
              <a:rPr lang="en-US" sz="2400" dirty="0" smtClean="0">
                <a:latin typeface="Book Antiqua" pitchFamily="18" charset="0"/>
              </a:rPr>
              <a:t/>
            </a:r>
            <a:br>
              <a:rPr lang="en-US" sz="2400" dirty="0" smtClean="0">
                <a:latin typeface="Book Antiqua" pitchFamily="18" charset="0"/>
              </a:rPr>
            </a:br>
            <a:r>
              <a:rPr lang="en-US" sz="2400" dirty="0" smtClean="0">
                <a:latin typeface="Book Antiqua" pitchFamily="18" charset="0"/>
              </a:rPr>
              <a:t>VII. Executive summary</a:t>
            </a:r>
            <a:r>
              <a:rPr lang="en-US" sz="2000" dirty="0" smtClean="0">
                <a:latin typeface="Book Antiqua" pitchFamily="18" charset="0"/>
              </a:rPr>
              <a:t/>
            </a:r>
            <a:br>
              <a:rPr lang="en-US" sz="2000" dirty="0" smtClean="0">
                <a:latin typeface="Book Antiqua" pitchFamily="18" charset="0"/>
              </a:rPr>
            </a:br>
            <a:r>
              <a:rPr lang="en-US" sz="2000" dirty="0" smtClean="0">
                <a:latin typeface="Book Antiqua" pitchFamily="18" charset="0"/>
              </a:rPr>
              <a:t>	a. Major findings</a:t>
            </a:r>
            <a:br>
              <a:rPr lang="en-US" sz="2000" dirty="0" smtClean="0">
                <a:latin typeface="Book Antiqua" pitchFamily="18" charset="0"/>
              </a:rPr>
            </a:br>
            <a:r>
              <a:rPr lang="en-US" sz="2000" dirty="0" smtClean="0">
                <a:latin typeface="Book Antiqua" pitchFamily="18" charset="0"/>
              </a:rPr>
              <a:t>	b. Conclusions</a:t>
            </a:r>
            <a:br>
              <a:rPr lang="en-US" sz="2000" dirty="0" smtClean="0">
                <a:latin typeface="Book Antiqua" pitchFamily="18" charset="0"/>
              </a:rPr>
            </a:br>
            <a:r>
              <a:rPr lang="en-US" sz="2000" dirty="0" smtClean="0">
                <a:latin typeface="Book Antiqua" pitchFamily="18" charset="0"/>
              </a:rPr>
              <a:t>	</a:t>
            </a:r>
            <a:br>
              <a:rPr lang="en-US" sz="2000" dirty="0" smtClean="0">
                <a:latin typeface="Book Antiqua" pitchFamily="18" charset="0"/>
              </a:rPr>
            </a:br>
            <a:r>
              <a:rPr lang="en-US" sz="2400" dirty="0" smtClean="0">
                <a:latin typeface="Book Antiqua" pitchFamily="18" charset="0"/>
              </a:rPr>
              <a:t>VIII. Introduction</a:t>
            </a:r>
            <a:br>
              <a:rPr lang="en-US" sz="2400" dirty="0" smtClean="0">
                <a:latin typeface="Book Antiqua" pitchFamily="18" charset="0"/>
              </a:rPr>
            </a:br>
            <a:r>
              <a:rPr lang="en-US" sz="2000" dirty="0" smtClean="0">
                <a:latin typeface="Book Antiqua" pitchFamily="18" charset="0"/>
              </a:rPr>
              <a:t>	a. Background to the  </a:t>
            </a:r>
          </a:p>
          <a:p>
            <a:pPr>
              <a:lnSpc>
                <a:spcPct val="90000"/>
              </a:lnSpc>
              <a:buFont typeface="Wingdings" pitchFamily="2" charset="2"/>
              <a:buNone/>
            </a:pPr>
            <a:r>
              <a:rPr lang="en-US" sz="2000" dirty="0" smtClean="0">
                <a:latin typeface="Book Antiqua" pitchFamily="18" charset="0"/>
              </a:rPr>
              <a:t>                  problem</a:t>
            </a:r>
            <a:br>
              <a:rPr lang="en-US" sz="2000" dirty="0" smtClean="0">
                <a:latin typeface="Book Antiqua" pitchFamily="18" charset="0"/>
              </a:rPr>
            </a:br>
            <a:r>
              <a:rPr lang="en-US" sz="2000" dirty="0" smtClean="0">
                <a:latin typeface="Book Antiqua" pitchFamily="18" charset="0"/>
              </a:rPr>
              <a:t>	b. Statement of the problem</a:t>
            </a:r>
            <a:br>
              <a:rPr lang="en-US" sz="2000" dirty="0" smtClean="0">
                <a:latin typeface="Book Antiqua" pitchFamily="18" charset="0"/>
              </a:rPr>
            </a:br>
            <a:r>
              <a:rPr lang="en-US" sz="2000" dirty="0" smtClean="0">
                <a:latin typeface="Book Antiqua" pitchFamily="18" charset="0"/>
              </a:rPr>
              <a:t>I</a:t>
            </a:r>
            <a:r>
              <a:rPr lang="en-US" sz="2400" dirty="0" smtClean="0">
                <a:latin typeface="Book Antiqua" pitchFamily="18" charset="0"/>
              </a:rPr>
              <a:t>X. 	Approach to the </a:t>
            </a:r>
          </a:p>
          <a:p>
            <a:pPr>
              <a:lnSpc>
                <a:spcPct val="90000"/>
              </a:lnSpc>
              <a:buFont typeface="Wingdings" pitchFamily="2" charset="2"/>
              <a:buNone/>
            </a:pPr>
            <a:r>
              <a:rPr lang="en-US" sz="2400" dirty="0" smtClean="0">
                <a:latin typeface="Book Antiqua" pitchFamily="18" charset="0"/>
              </a:rPr>
              <a:t>             problem</a:t>
            </a:r>
            <a:br>
              <a:rPr lang="en-US" sz="2400" dirty="0" smtClean="0">
                <a:latin typeface="Book Antiqua" pitchFamily="18" charset="0"/>
              </a:rPr>
            </a:br>
            <a:endParaRPr lang="en-US" sz="1800" dirty="0" smtClean="0">
              <a:latin typeface="Book Antiqua" pitchFamily="18" charset="0"/>
            </a:endParaRPr>
          </a:p>
        </p:txBody>
      </p:sp>
      <p:sp>
        <p:nvSpPr>
          <p:cNvPr id="55300" name="Rectangle 4"/>
          <p:cNvSpPr>
            <a:spLocks noGrp="1" noChangeArrowheads="1"/>
          </p:cNvSpPr>
          <p:nvPr>
            <p:ph type="body" sz="half" idx="2"/>
          </p:nvPr>
        </p:nvSpPr>
        <p:spPr bwMode="auto">
          <a:xfrm>
            <a:off x="4143372" y="571480"/>
            <a:ext cx="4714908" cy="6215082"/>
          </a:xfrm>
          <a:noFill/>
          <a:ln>
            <a:miter lim="800000"/>
            <a:headEnd/>
            <a:tailEnd/>
          </a:ln>
        </p:spPr>
        <p:txBody>
          <a:bodyPr vert="horz" wrap="square" lIns="92075" tIns="46038" rIns="92075" bIns="46038" numCol="1" anchor="t" anchorCtr="0" compatLnSpc="1">
            <a:prstTxWarp prst="textNoShape">
              <a:avLst/>
            </a:prstTxWarp>
          </a:bodyPr>
          <a:lstStyle/>
          <a:p>
            <a:pPr>
              <a:lnSpc>
                <a:spcPct val="90000"/>
              </a:lnSpc>
              <a:buFont typeface="Wingdings" pitchFamily="2" charset="2"/>
              <a:buNone/>
            </a:pPr>
            <a:r>
              <a:rPr lang="en-US" sz="2400" dirty="0" smtClean="0">
                <a:latin typeface="Book Antiqua" pitchFamily="18" charset="0"/>
              </a:rPr>
              <a:t>X.  Research work</a:t>
            </a:r>
          </a:p>
          <a:p>
            <a:pPr>
              <a:lnSpc>
                <a:spcPct val="90000"/>
              </a:lnSpc>
              <a:buFont typeface="Wingdings" pitchFamily="2" charset="2"/>
              <a:buNone/>
            </a:pPr>
            <a:r>
              <a:rPr lang="en-US" sz="2000" dirty="0" smtClean="0">
                <a:latin typeface="Book Antiqua" pitchFamily="18" charset="0"/>
              </a:rPr>
              <a:t>	</a:t>
            </a:r>
            <a:r>
              <a:rPr lang="en-US" sz="2400" dirty="0" smtClean="0">
                <a:latin typeface="Book Antiqua" pitchFamily="18" charset="0"/>
              </a:rPr>
              <a:t>a. </a:t>
            </a:r>
            <a:r>
              <a:rPr lang="en-US" sz="2000" dirty="0" smtClean="0">
                <a:latin typeface="Book Antiqua" pitchFamily="18" charset="0"/>
              </a:rPr>
              <a:t>Type of research </a:t>
            </a:r>
            <a:br>
              <a:rPr lang="en-US" sz="2000" dirty="0" smtClean="0">
                <a:latin typeface="Book Antiqua" pitchFamily="18" charset="0"/>
              </a:rPr>
            </a:br>
            <a:r>
              <a:rPr lang="en-US" sz="2000" dirty="0" smtClean="0">
                <a:latin typeface="Book Antiqua" pitchFamily="18" charset="0"/>
              </a:rPr>
              <a:t>b. Information needs</a:t>
            </a:r>
            <a:br>
              <a:rPr lang="en-US" sz="2000" dirty="0" smtClean="0">
                <a:latin typeface="Book Antiqua" pitchFamily="18" charset="0"/>
              </a:rPr>
            </a:br>
            <a:r>
              <a:rPr lang="en-US" sz="2000" dirty="0" smtClean="0">
                <a:latin typeface="Book Antiqua" pitchFamily="18" charset="0"/>
              </a:rPr>
              <a:t>c.  Theory proposed</a:t>
            </a:r>
            <a:br>
              <a:rPr lang="en-US" sz="2000" dirty="0" smtClean="0">
                <a:latin typeface="Book Antiqua" pitchFamily="18" charset="0"/>
              </a:rPr>
            </a:br>
            <a:r>
              <a:rPr lang="en-US" sz="2000" dirty="0" smtClean="0">
                <a:latin typeface="Book Antiqua" pitchFamily="18" charset="0"/>
              </a:rPr>
              <a:t>d. Design of experiment </a:t>
            </a:r>
          </a:p>
          <a:p>
            <a:pPr>
              <a:lnSpc>
                <a:spcPct val="90000"/>
              </a:lnSpc>
              <a:buFont typeface="Wingdings" pitchFamily="2" charset="2"/>
              <a:buNone/>
            </a:pPr>
            <a:r>
              <a:rPr lang="en-US" sz="2000" dirty="0" smtClean="0">
                <a:latin typeface="Book Antiqua" pitchFamily="18" charset="0"/>
              </a:rPr>
              <a:t>     e. Data collection from primary sources</a:t>
            </a:r>
            <a:r>
              <a:rPr lang="en-US" sz="2400" dirty="0" smtClean="0">
                <a:latin typeface="Book Antiqua" pitchFamily="18" charset="0"/>
              </a:rPr>
              <a:t/>
            </a:r>
            <a:br>
              <a:rPr lang="en-US" sz="2400" dirty="0" smtClean="0">
                <a:latin typeface="Book Antiqua" pitchFamily="18" charset="0"/>
              </a:rPr>
            </a:br>
            <a:r>
              <a:rPr lang="en-US" sz="2000" dirty="0" smtClean="0">
                <a:latin typeface="Book Antiqua" pitchFamily="18" charset="0"/>
              </a:rPr>
              <a:t>e. Scaling techniques</a:t>
            </a:r>
            <a:br>
              <a:rPr lang="en-US" sz="2000" dirty="0" smtClean="0">
                <a:latin typeface="Book Antiqua" pitchFamily="18" charset="0"/>
              </a:rPr>
            </a:br>
            <a:r>
              <a:rPr lang="en-US" sz="2000" dirty="0" smtClean="0">
                <a:latin typeface="Book Antiqua" pitchFamily="18" charset="0"/>
              </a:rPr>
              <a:t>f. Sampling techniques</a:t>
            </a:r>
            <a:br>
              <a:rPr lang="en-US" sz="2000" dirty="0" smtClean="0">
                <a:latin typeface="Book Antiqua" pitchFamily="18" charset="0"/>
              </a:rPr>
            </a:br>
            <a:r>
              <a:rPr lang="en-US" sz="2000" dirty="0" smtClean="0">
                <a:latin typeface="Book Antiqua" pitchFamily="18" charset="0"/>
              </a:rPr>
              <a:t>g. Field work</a:t>
            </a:r>
          </a:p>
          <a:p>
            <a:pPr>
              <a:lnSpc>
                <a:spcPct val="90000"/>
              </a:lnSpc>
              <a:buFont typeface="Wingdings" pitchFamily="2" charset="2"/>
              <a:buNone/>
            </a:pPr>
            <a:r>
              <a:rPr lang="en-US" sz="2400" dirty="0" smtClean="0">
                <a:latin typeface="Book Antiqua" pitchFamily="18" charset="0"/>
              </a:rPr>
              <a:t>XI.  Data analysis</a:t>
            </a:r>
            <a:br>
              <a:rPr lang="en-US" sz="2400" dirty="0" smtClean="0">
                <a:latin typeface="Book Antiqua" pitchFamily="18" charset="0"/>
              </a:rPr>
            </a:br>
            <a:r>
              <a:rPr lang="en-US" sz="2400" dirty="0" smtClean="0">
                <a:latin typeface="Book Antiqua" pitchFamily="18" charset="0"/>
              </a:rPr>
              <a:t>a. </a:t>
            </a:r>
            <a:r>
              <a:rPr lang="en-US" sz="2000" dirty="0" smtClean="0">
                <a:latin typeface="Book Antiqua" pitchFamily="18" charset="0"/>
              </a:rPr>
              <a:t>Methodology</a:t>
            </a:r>
            <a:br>
              <a:rPr lang="en-US" sz="2000" dirty="0" smtClean="0">
                <a:latin typeface="Book Antiqua" pitchFamily="18" charset="0"/>
              </a:rPr>
            </a:br>
            <a:r>
              <a:rPr lang="en-US" sz="2000" dirty="0" smtClean="0">
                <a:latin typeface="Book Antiqua" pitchFamily="18" charset="0"/>
              </a:rPr>
              <a:t>b. Plan of data analysis</a:t>
            </a:r>
            <a:endParaRPr lang="en-US" sz="2400" dirty="0" smtClean="0">
              <a:latin typeface="Book Antiqua" pitchFamily="18" charset="0"/>
            </a:endParaRPr>
          </a:p>
          <a:p>
            <a:pPr>
              <a:lnSpc>
                <a:spcPct val="90000"/>
              </a:lnSpc>
              <a:buFont typeface="Wingdings" pitchFamily="2" charset="2"/>
              <a:buNone/>
            </a:pPr>
            <a:r>
              <a:rPr lang="en-US" sz="2400" dirty="0" smtClean="0">
                <a:latin typeface="Book Antiqua" pitchFamily="18" charset="0"/>
              </a:rPr>
              <a:t>XII. Results: Limitations</a:t>
            </a:r>
          </a:p>
          <a:p>
            <a:pPr>
              <a:lnSpc>
                <a:spcPct val="90000"/>
              </a:lnSpc>
              <a:buFont typeface="Wingdings" pitchFamily="2" charset="2"/>
              <a:buNone/>
            </a:pPr>
            <a:r>
              <a:rPr lang="en-US" sz="2400" dirty="0" smtClean="0">
                <a:latin typeface="Book Antiqua" pitchFamily="18" charset="0"/>
              </a:rPr>
              <a:t>XIII. Conclusions </a:t>
            </a:r>
          </a:p>
          <a:p>
            <a:pPr>
              <a:lnSpc>
                <a:spcPct val="90000"/>
              </a:lnSpc>
              <a:buFont typeface="Wingdings" pitchFamily="2" charset="2"/>
              <a:buNone/>
            </a:pPr>
            <a:r>
              <a:rPr lang="en-US" sz="2400" dirty="0" smtClean="0">
                <a:latin typeface="Book Antiqua" pitchFamily="18" charset="0"/>
              </a:rPr>
              <a:t>XIV  Future scope of work</a:t>
            </a:r>
          </a:p>
          <a:p>
            <a:pPr>
              <a:lnSpc>
                <a:spcPct val="90000"/>
              </a:lnSpc>
              <a:buFont typeface="Wingdings" pitchFamily="2" charset="2"/>
              <a:buNone/>
            </a:pPr>
            <a:r>
              <a:rPr lang="en-US" sz="2400" dirty="0" smtClean="0">
                <a:latin typeface="Book Antiqua" pitchFamily="18" charset="0"/>
              </a:rPr>
              <a:t>XV  References</a:t>
            </a:r>
          </a:p>
          <a:p>
            <a:pPr>
              <a:lnSpc>
                <a:spcPct val="90000"/>
              </a:lnSpc>
              <a:buFont typeface="Wingdings" pitchFamily="2" charset="2"/>
              <a:buNone/>
            </a:pPr>
            <a:r>
              <a:rPr lang="en-US" sz="2400" dirty="0" smtClean="0">
                <a:latin typeface="Book Antiqua" pitchFamily="18" charset="0"/>
              </a:rPr>
              <a:t>XVI. Appendix (if any)</a:t>
            </a:r>
            <a:r>
              <a:rPr lang="en-US" dirty="0" smtClean="0">
                <a:latin typeface="Book Antiqua" pitchFamily="18" charset="0"/>
              </a:rPr>
              <a:t/>
            </a:r>
            <a:br>
              <a:rPr lang="en-US" dirty="0" smtClean="0">
                <a:latin typeface="Book Antiqua" pitchFamily="18" charset="0"/>
              </a:rPr>
            </a:br>
            <a:endParaRPr lang="en-US" sz="4000" dirty="0" smtClean="0">
              <a:latin typeface="Book Antiqua" pitchFamily="18" charset="0"/>
            </a:endParaRPr>
          </a:p>
        </p:txBody>
      </p:sp>
      <p:sp>
        <p:nvSpPr>
          <p:cNvPr id="5" name="Date Placeholder 4"/>
          <p:cNvSpPr>
            <a:spLocks noGrp="1"/>
          </p:cNvSpPr>
          <p:nvPr>
            <p:ph type="dt" sz="half" idx="10"/>
          </p:nvPr>
        </p:nvSpPr>
        <p:spPr/>
        <p:txBody>
          <a:bodyPr/>
          <a:lstStyle/>
          <a:p>
            <a:r>
              <a:rPr lang="en-US" smtClean="0"/>
              <a:t>Ph.D Course work on Research Methodology</a:t>
            </a:r>
            <a:endParaRPr lang="en-US"/>
          </a:p>
        </p:txBody>
      </p:sp>
      <p:sp>
        <p:nvSpPr>
          <p:cNvPr id="7" name="Footer Placeholder 6"/>
          <p:cNvSpPr>
            <a:spLocks noGrp="1"/>
          </p:cNvSpPr>
          <p:nvPr>
            <p:ph type="ftr" sz="quarter" idx="11"/>
          </p:nvPr>
        </p:nvSpPr>
        <p:spPr/>
        <p:txBody>
          <a:bodyPr/>
          <a:lstStyle/>
          <a:p>
            <a:r>
              <a:rPr lang="en-IN" dirty="0" smtClean="0"/>
              <a:t>Prof. A. K. </a:t>
            </a:r>
            <a:r>
              <a:rPr lang="en-IN" dirty="0" err="1" smtClean="0"/>
              <a:t>Datta</a:t>
            </a:r>
            <a:r>
              <a:rPr lang="en-IN" dirty="0" smtClean="0"/>
              <a:t>  University of Calcutta </a:t>
            </a:r>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838200" y="0"/>
            <a:ext cx="7772400" cy="609600"/>
          </a:xfrm>
        </p:spPr>
        <p:txBody>
          <a:bodyPr/>
          <a:lstStyle/>
          <a:p>
            <a:pPr>
              <a:defRPr/>
            </a:pPr>
            <a:r>
              <a:rPr lang="en-GB" altLang="zh-CN" sz="2000" b="1" dirty="0">
                <a:ea typeface="SimSun" pitchFamily="2" charset="-122"/>
              </a:rPr>
              <a:t> </a:t>
            </a:r>
            <a:r>
              <a:rPr lang="en-GB" altLang="zh-CN" sz="3600" dirty="0">
                <a:latin typeface="Book Antiqua" pitchFamily="18" charset="0"/>
                <a:ea typeface="SimSun" pitchFamily="2" charset="-122"/>
              </a:rPr>
              <a:t>Styles of </a:t>
            </a:r>
            <a:r>
              <a:rPr lang="en-GB" altLang="zh-CN" sz="3600" dirty="0" smtClean="0">
                <a:latin typeface="Book Antiqua" pitchFamily="18" charset="0"/>
                <a:ea typeface="SimSun" pitchFamily="2" charset="-122"/>
              </a:rPr>
              <a:t>the thesis</a:t>
            </a:r>
            <a:endParaRPr lang="en-US" altLang="zh-CN" sz="3600" dirty="0">
              <a:latin typeface="Book Antiqua" pitchFamily="18" charset="0"/>
              <a:ea typeface="SimSun" pitchFamily="2" charset="-122"/>
            </a:endParaRPr>
          </a:p>
        </p:txBody>
      </p:sp>
      <p:sp>
        <p:nvSpPr>
          <p:cNvPr id="52227" name="Rectangle 3"/>
          <p:cNvSpPr>
            <a:spLocks noGrp="1" noChangeArrowheads="1"/>
          </p:cNvSpPr>
          <p:nvPr>
            <p:ph type="body" idx="1"/>
          </p:nvPr>
        </p:nvSpPr>
        <p:spPr>
          <a:xfrm>
            <a:off x="685800" y="838200"/>
            <a:ext cx="8153400" cy="5181600"/>
          </a:xfrm>
        </p:spPr>
        <p:txBody>
          <a:bodyPr/>
          <a:lstStyle/>
          <a:p>
            <a:pPr marL="514350" indent="-514350">
              <a:lnSpc>
                <a:spcPct val="90000"/>
              </a:lnSpc>
              <a:buFont typeface="Wingdings" pitchFamily="2" charset="2"/>
              <a:buAutoNum type="arabicPeriod"/>
              <a:defRPr/>
            </a:pPr>
            <a:r>
              <a:rPr lang="en-GB" altLang="zh-CN" sz="2800" i="1" dirty="0" smtClean="0">
                <a:latin typeface="Book Antiqua" pitchFamily="18" charset="0"/>
                <a:ea typeface="SimSun" pitchFamily="2" charset="-122"/>
              </a:rPr>
              <a:t>Appropriate language</a:t>
            </a:r>
          </a:p>
          <a:p>
            <a:pPr>
              <a:lnSpc>
                <a:spcPct val="150000"/>
              </a:lnSpc>
              <a:defRPr/>
            </a:pPr>
            <a:r>
              <a:rPr lang="en-GB" altLang="zh-CN" sz="2400" dirty="0" smtClean="0">
                <a:latin typeface="Book Antiqua" pitchFamily="18" charset="0"/>
                <a:ea typeface="SimSun" pitchFamily="2" charset="-122"/>
              </a:rPr>
              <a:t>Precise</a:t>
            </a:r>
            <a:endParaRPr lang="en-GB" altLang="zh-CN" sz="2400" dirty="0">
              <a:latin typeface="Book Antiqua" pitchFamily="18" charset="0"/>
              <a:ea typeface="SimSun" pitchFamily="2" charset="-122"/>
            </a:endParaRPr>
          </a:p>
          <a:p>
            <a:pPr>
              <a:lnSpc>
                <a:spcPct val="150000"/>
              </a:lnSpc>
              <a:defRPr/>
            </a:pPr>
            <a:r>
              <a:rPr lang="en-GB" altLang="zh-CN" sz="2400" dirty="0">
                <a:latin typeface="Book Antiqua" pitchFamily="18" charset="0"/>
                <a:ea typeface="SimSun" pitchFamily="2" charset="-122"/>
              </a:rPr>
              <a:t>Concise</a:t>
            </a:r>
          </a:p>
          <a:p>
            <a:pPr>
              <a:lnSpc>
                <a:spcPct val="150000"/>
              </a:lnSpc>
              <a:defRPr/>
            </a:pPr>
            <a:r>
              <a:rPr lang="en-GB" altLang="zh-CN" sz="2400" dirty="0">
                <a:latin typeface="Book Antiqua" pitchFamily="18" charset="0"/>
                <a:ea typeface="SimSun" pitchFamily="2" charset="-122"/>
              </a:rPr>
              <a:t>Explain words/terms your reader may not understand</a:t>
            </a:r>
          </a:p>
          <a:p>
            <a:pPr>
              <a:lnSpc>
                <a:spcPct val="150000"/>
              </a:lnSpc>
              <a:defRPr/>
            </a:pPr>
            <a:r>
              <a:rPr lang="en-GB" altLang="zh-CN" sz="2400" dirty="0">
                <a:latin typeface="Book Antiqua" pitchFamily="18" charset="0"/>
                <a:ea typeface="SimSun" pitchFamily="2" charset="-122"/>
              </a:rPr>
              <a:t>Abbreviations should be written in full first with the abbreviation in brackets, after which the abbreviation can be used</a:t>
            </a:r>
          </a:p>
          <a:p>
            <a:pPr>
              <a:lnSpc>
                <a:spcPct val="150000"/>
              </a:lnSpc>
              <a:defRPr/>
            </a:pPr>
            <a:r>
              <a:rPr lang="en-GB" altLang="zh-CN" sz="2400" dirty="0">
                <a:latin typeface="Book Antiqua" pitchFamily="18" charset="0"/>
                <a:ea typeface="SimSun" pitchFamily="2" charset="-122"/>
              </a:rPr>
              <a:t>Short sentences</a:t>
            </a:r>
            <a:endParaRPr lang="en-US" altLang="zh-CN" sz="2400" dirty="0">
              <a:latin typeface="Book Antiqua" pitchFamily="18" charset="0"/>
              <a:ea typeface="SimSun" pitchFamily="2" charset="-122"/>
            </a:endParaRP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9</a:t>
            </a:fld>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42910" y="0"/>
            <a:ext cx="8229600" cy="563563"/>
          </a:xfrm>
        </p:spPr>
        <p:txBody>
          <a:bodyPr/>
          <a:lstStyle/>
          <a:p>
            <a:pPr>
              <a:defRPr/>
            </a:pPr>
            <a:r>
              <a:rPr lang="en-US" altLang="zh-CN" sz="3600" dirty="0">
                <a:latin typeface="Book Antiqua" pitchFamily="18" charset="0"/>
                <a:ea typeface="SimSun" pitchFamily="2" charset="-122"/>
              </a:rPr>
              <a:t>3. Use of images/visuals</a:t>
            </a:r>
          </a:p>
        </p:txBody>
      </p:sp>
      <p:sp>
        <p:nvSpPr>
          <p:cNvPr id="58371" name="Rectangle 3"/>
          <p:cNvSpPr>
            <a:spLocks noGrp="1" noChangeArrowheads="1"/>
          </p:cNvSpPr>
          <p:nvPr>
            <p:ph type="body" idx="1"/>
          </p:nvPr>
        </p:nvSpPr>
        <p:spPr bwMode="auto">
          <a:xfrm>
            <a:off x="500034" y="714356"/>
            <a:ext cx="8229600" cy="4525963"/>
          </a:xfrm>
          <a:noFill/>
          <a:ln>
            <a:miter lim="800000"/>
            <a:headEnd/>
            <a:tailEnd/>
          </a:ln>
        </p:spPr>
        <p:txBody>
          <a:bodyPr vert="horz" wrap="square" lIns="91440" tIns="45720" rIns="91440" bIns="45720" numCol="1" anchor="t" anchorCtr="0" compatLnSpc="1">
            <a:prstTxWarp prst="textNoShape">
              <a:avLst/>
            </a:prstTxWarp>
          </a:bodyPr>
          <a:lstStyle/>
          <a:p>
            <a:r>
              <a:rPr lang="en-US" altLang="zh-CN" sz="2400" dirty="0" smtClean="0">
                <a:latin typeface="Bookman Old Style" pitchFamily="18" charset="0"/>
                <a:ea typeface="SimSun" pitchFamily="2" charset="-122"/>
              </a:rPr>
              <a:t>To make something clearer rather than to pretty things up</a:t>
            </a:r>
          </a:p>
          <a:p>
            <a:r>
              <a:rPr lang="en-US" altLang="zh-CN" sz="2400" dirty="0" smtClean="0">
                <a:latin typeface="Bookman Old Style" pitchFamily="18" charset="0"/>
                <a:ea typeface="SimSun" pitchFamily="2" charset="-122"/>
              </a:rPr>
              <a:t>When something is difficult to describe in words or visual in nature</a:t>
            </a:r>
          </a:p>
          <a:p>
            <a:r>
              <a:rPr lang="en-US" altLang="zh-CN" sz="2400" dirty="0" smtClean="0">
                <a:latin typeface="Bookman Old Style" pitchFamily="18" charset="0"/>
                <a:ea typeface="SimSun" pitchFamily="2" charset="-122"/>
              </a:rPr>
              <a:t>To show how something works</a:t>
            </a:r>
          </a:p>
          <a:p>
            <a:r>
              <a:rPr lang="en-US" altLang="zh-CN" sz="2400" dirty="0" smtClean="0">
                <a:latin typeface="Bookman Old Style" pitchFamily="18" charset="0"/>
                <a:ea typeface="SimSun" pitchFamily="2" charset="-122"/>
              </a:rPr>
              <a:t>It is useful to use graphs instead of raw data</a:t>
            </a: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10</a:t>
            </a:fld>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571472" y="0"/>
            <a:ext cx="8229600" cy="639763"/>
          </a:xfrm>
        </p:spPr>
        <p:txBody>
          <a:bodyPr/>
          <a:lstStyle/>
          <a:p>
            <a:pPr>
              <a:defRPr/>
            </a:pPr>
            <a:r>
              <a:rPr lang="en-US" altLang="zh-CN" sz="3600" dirty="0" smtClean="0">
                <a:latin typeface="Book Antiqua" pitchFamily="18" charset="0"/>
                <a:ea typeface="SimSun" pitchFamily="2" charset="-122"/>
              </a:rPr>
              <a:t>4. Language</a:t>
            </a:r>
            <a:endParaRPr lang="en-US" altLang="zh-CN" sz="3600" dirty="0">
              <a:latin typeface="Book Antiqua" pitchFamily="18" charset="0"/>
              <a:ea typeface="SimSun" pitchFamily="2" charset="-122"/>
            </a:endParaRPr>
          </a:p>
        </p:txBody>
      </p:sp>
      <p:sp>
        <p:nvSpPr>
          <p:cNvPr id="59395" name="Rectangle 3"/>
          <p:cNvSpPr>
            <a:spLocks noGrp="1" noChangeArrowheads="1"/>
          </p:cNvSpPr>
          <p:nvPr>
            <p:ph type="body" idx="1"/>
          </p:nvPr>
        </p:nvSpPr>
        <p:spPr bwMode="auto">
          <a:xfrm>
            <a:off x="428596" y="714357"/>
            <a:ext cx="8229600" cy="2071702"/>
          </a:xfrm>
          <a:noFill/>
          <a:ln>
            <a:miter lim="800000"/>
            <a:headEnd/>
            <a:tailEnd/>
          </a:ln>
        </p:spPr>
        <p:txBody>
          <a:bodyPr vert="horz" wrap="square" lIns="91440" tIns="45720" rIns="91440" bIns="45720" numCol="1" anchor="t" anchorCtr="0" compatLnSpc="1">
            <a:prstTxWarp prst="textNoShape">
              <a:avLst/>
            </a:prstTxWarp>
          </a:bodyPr>
          <a:lstStyle/>
          <a:p>
            <a:pPr>
              <a:buFont typeface="Arial" charset="0"/>
              <a:buChar char="•"/>
            </a:pPr>
            <a:r>
              <a:rPr lang="en-US" altLang="zh-CN" sz="2000" dirty="0" smtClean="0">
                <a:latin typeface="Bookman Old Style" pitchFamily="18" charset="0"/>
                <a:ea typeface="SimSun" pitchFamily="2" charset="-122"/>
              </a:rPr>
              <a:t>Is it clear? Direct, easy to read?</a:t>
            </a:r>
          </a:p>
          <a:p>
            <a:pPr>
              <a:buFont typeface="Arial" charset="0"/>
              <a:buChar char="•"/>
            </a:pPr>
            <a:r>
              <a:rPr lang="en-US" altLang="zh-CN" sz="2000" dirty="0" smtClean="0">
                <a:latin typeface="Bookman Old Style" pitchFamily="18" charset="0"/>
                <a:ea typeface="SimSun" pitchFamily="2" charset="-122"/>
              </a:rPr>
              <a:t>Will the readers understand it?</a:t>
            </a:r>
          </a:p>
          <a:p>
            <a:pPr>
              <a:buFont typeface="Arial" charset="0"/>
              <a:buChar char="•"/>
            </a:pPr>
            <a:r>
              <a:rPr lang="en-US" altLang="zh-CN" sz="2000" dirty="0" smtClean="0">
                <a:latin typeface="Bookman Old Style" pitchFamily="18" charset="0"/>
                <a:ea typeface="SimSun" pitchFamily="2" charset="-122"/>
              </a:rPr>
              <a:t>Will its tone help you achieve the purpose?</a:t>
            </a:r>
          </a:p>
          <a:p>
            <a:pPr>
              <a:buFont typeface="Arial" charset="0"/>
              <a:buChar char="•"/>
            </a:pPr>
            <a:r>
              <a:rPr lang="en-US" altLang="zh-CN" sz="2000" dirty="0" smtClean="0">
                <a:latin typeface="Bookman Old Style" pitchFamily="18" charset="0"/>
                <a:ea typeface="SimSun" pitchFamily="2" charset="-122"/>
              </a:rPr>
              <a:t>Can unnecessary words/phrases be deleted?</a:t>
            </a:r>
          </a:p>
          <a:p>
            <a:pPr>
              <a:buFont typeface="Arial" charset="0"/>
              <a:buChar char="•"/>
            </a:pPr>
            <a:r>
              <a:rPr lang="en-US" altLang="zh-CN" sz="2000" dirty="0" smtClean="0">
                <a:latin typeface="Bookman Old Style" pitchFamily="18" charset="0"/>
                <a:ea typeface="SimSun" pitchFamily="2" charset="-122"/>
              </a:rPr>
              <a:t>Is there any repetitions?</a:t>
            </a: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11</a:t>
            </a:fld>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
        <p:nvSpPr>
          <p:cNvPr id="7" name="TextBox 6"/>
          <p:cNvSpPr txBox="1"/>
          <p:nvPr/>
        </p:nvSpPr>
        <p:spPr>
          <a:xfrm>
            <a:off x="357158" y="2786058"/>
            <a:ext cx="8501122" cy="3600986"/>
          </a:xfrm>
          <a:prstGeom prst="rect">
            <a:avLst/>
          </a:prstGeom>
          <a:noFill/>
        </p:spPr>
        <p:txBody>
          <a:bodyPr wrap="square" rtlCol="0">
            <a:spAutoFit/>
          </a:bodyPr>
          <a:lstStyle/>
          <a:p>
            <a:pPr>
              <a:lnSpc>
                <a:spcPts val="2800"/>
              </a:lnSpc>
            </a:pPr>
            <a:r>
              <a:rPr lang="en-IN" dirty="0" smtClean="0">
                <a:solidFill>
                  <a:srgbClr val="0000CC"/>
                </a:solidFill>
                <a:latin typeface="Bookman Old Style" pitchFamily="18" charset="0"/>
              </a:rPr>
              <a:t>I/We /Active/Passive controversy</a:t>
            </a:r>
            <a:r>
              <a:rPr lang="en-IN" dirty="0" smtClean="0">
                <a:latin typeface="Bookman Old Style" pitchFamily="18" charset="0"/>
              </a:rPr>
              <a:t>: It is a prevailing belief that scientific writing should be objective, and therefore the use of the first person singular pronoun `I' should be avoided. This belief leads to another conviction or myth that scientific writing must be in the passive voice, again in the interests of </a:t>
            </a:r>
            <a:r>
              <a:rPr lang="en-US" dirty="0" smtClean="0">
                <a:latin typeface="Bookman Old Style" pitchFamily="18" charset="0"/>
              </a:rPr>
              <a:t>objectivity.</a:t>
            </a:r>
          </a:p>
          <a:p>
            <a:endParaRPr lang="en-IN" dirty="0" smtClean="0">
              <a:latin typeface="Bookman Old Style" pitchFamily="18" charset="0"/>
            </a:endParaRPr>
          </a:p>
          <a:p>
            <a:pPr>
              <a:lnSpc>
                <a:spcPts val="2800"/>
              </a:lnSpc>
            </a:pPr>
            <a:r>
              <a:rPr lang="en-IN" dirty="0" smtClean="0">
                <a:latin typeface="Bookman Old Style" pitchFamily="18" charset="0"/>
              </a:rPr>
              <a:t>In scientific writing, particularly in doctoral thesis, the use of the first-person singular pronoun, `I' refers to his conjectures or beliefs. The first person plural pronoun, `we,' is used when stating facts, assumptions, or previously derived results, such </a:t>
            </a:r>
            <a:r>
              <a:rPr lang="en-US" dirty="0" smtClean="0">
                <a:latin typeface="Bookman Old Style" pitchFamily="18" charset="0"/>
              </a:rPr>
              <a:t>as in mathematical proofs.</a:t>
            </a:r>
            <a:endParaRPr lang="en-US" dirty="0">
              <a:latin typeface="Bookman Old Style"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a:xfrm>
            <a:off x="642910" y="0"/>
            <a:ext cx="8229600" cy="609600"/>
          </a:xfrm>
        </p:spPr>
        <p:txBody>
          <a:bodyPr/>
          <a:lstStyle/>
          <a:p>
            <a:pPr>
              <a:defRPr/>
            </a:pPr>
            <a:r>
              <a:rPr lang="en-US" altLang="zh-CN" sz="3200" dirty="0" smtClean="0">
                <a:latin typeface="Book Antiqua" pitchFamily="18" charset="0"/>
                <a:ea typeface="SimSun" pitchFamily="2" charset="-122"/>
              </a:rPr>
              <a:t>4. Editing</a:t>
            </a:r>
            <a:endParaRPr lang="en-US" altLang="zh-CN" sz="3200" dirty="0">
              <a:latin typeface="Book Antiqua" pitchFamily="18" charset="0"/>
              <a:ea typeface="SimSun" pitchFamily="2" charset="-122"/>
            </a:endParaRPr>
          </a:p>
        </p:txBody>
      </p:sp>
      <p:sp>
        <p:nvSpPr>
          <p:cNvPr id="60419" name="Rectangle 3"/>
          <p:cNvSpPr>
            <a:spLocks noGrp="1" noChangeArrowheads="1"/>
          </p:cNvSpPr>
          <p:nvPr>
            <p:ph type="body" idx="1"/>
          </p:nvPr>
        </p:nvSpPr>
        <p:spPr bwMode="auto">
          <a:xfrm>
            <a:off x="428596" y="714357"/>
            <a:ext cx="8229600" cy="3143272"/>
          </a:xfrm>
          <a:noFill/>
          <a:ln>
            <a:miter lim="800000"/>
            <a:headEnd/>
            <a:tailEnd/>
          </a:ln>
        </p:spPr>
        <p:txBody>
          <a:bodyPr vert="horz" wrap="square" lIns="91440" tIns="45720" rIns="91440" bIns="45720" numCol="1" anchor="t" anchorCtr="0" compatLnSpc="1">
            <a:prstTxWarp prst="textNoShape">
              <a:avLst/>
            </a:prstTxWarp>
          </a:bodyPr>
          <a:lstStyle/>
          <a:p>
            <a:pPr>
              <a:buFont typeface="Arial" charset="0"/>
              <a:buChar char="•"/>
            </a:pPr>
            <a:r>
              <a:rPr lang="en-US" altLang="zh-CN" sz="2400" dirty="0" smtClean="0">
                <a:latin typeface="Book Antiqua" pitchFamily="18" charset="0"/>
                <a:ea typeface="SimSun" pitchFamily="2" charset="-122"/>
              </a:rPr>
              <a:t>Are there any spelling mistakes</a:t>
            </a:r>
          </a:p>
          <a:p>
            <a:pPr>
              <a:buFont typeface="Arial" charset="0"/>
              <a:buChar char="•"/>
            </a:pPr>
            <a:r>
              <a:rPr lang="en-US" altLang="zh-CN" sz="2400" dirty="0" smtClean="0">
                <a:latin typeface="Book Antiqua" pitchFamily="18" charset="0"/>
                <a:ea typeface="SimSun" pitchFamily="2" charset="-122"/>
              </a:rPr>
              <a:t>Is the grammar/punctuation correct?</a:t>
            </a:r>
          </a:p>
          <a:p>
            <a:pPr>
              <a:buFont typeface="Arial" charset="0"/>
              <a:buChar char="•"/>
            </a:pPr>
            <a:r>
              <a:rPr lang="en-US" altLang="zh-CN" sz="2400" dirty="0" smtClean="0">
                <a:latin typeface="Book Antiqua" pitchFamily="18" charset="0"/>
                <a:ea typeface="SimSun" pitchFamily="2" charset="-122"/>
              </a:rPr>
              <a:t>Do figures add up?</a:t>
            </a:r>
          </a:p>
          <a:p>
            <a:pPr>
              <a:buFont typeface="Arial" charset="0"/>
              <a:buChar char="•"/>
            </a:pPr>
            <a:r>
              <a:rPr lang="en-US" altLang="zh-CN" sz="2400" dirty="0" smtClean="0">
                <a:latin typeface="Book Antiqua" pitchFamily="18" charset="0"/>
                <a:ea typeface="SimSun" pitchFamily="2" charset="-122"/>
              </a:rPr>
              <a:t>Are the reference correct, in the text and at the end?</a:t>
            </a:r>
          </a:p>
          <a:p>
            <a:pPr>
              <a:buFont typeface="Arial" charset="0"/>
              <a:buChar char="•"/>
            </a:pPr>
            <a:r>
              <a:rPr lang="en-US" altLang="zh-CN" sz="2400" dirty="0" smtClean="0">
                <a:latin typeface="Book Antiqua" pitchFamily="18" charset="0"/>
                <a:ea typeface="SimSun" pitchFamily="2" charset="-122"/>
              </a:rPr>
              <a:t>Are the reference of information listed in the reference sections?</a:t>
            </a:r>
          </a:p>
          <a:p>
            <a:pPr>
              <a:buFont typeface="Arial" charset="0"/>
              <a:buChar char="•"/>
            </a:pPr>
            <a:r>
              <a:rPr lang="en-US" altLang="zh-CN" sz="2400" dirty="0" smtClean="0">
                <a:latin typeface="Book Antiqua" pitchFamily="18" charset="0"/>
                <a:ea typeface="SimSun" pitchFamily="2" charset="-122"/>
              </a:rPr>
              <a:t>Are abbreviations consistent?</a:t>
            </a: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12</a:t>
            </a:fld>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
        <p:nvSpPr>
          <p:cNvPr id="7" name="TextBox 6"/>
          <p:cNvSpPr txBox="1"/>
          <p:nvPr/>
        </p:nvSpPr>
        <p:spPr>
          <a:xfrm>
            <a:off x="428596" y="3786190"/>
            <a:ext cx="8429684" cy="2605842"/>
          </a:xfrm>
          <a:prstGeom prst="rect">
            <a:avLst/>
          </a:prstGeom>
          <a:noFill/>
        </p:spPr>
        <p:txBody>
          <a:bodyPr wrap="square" rtlCol="0">
            <a:spAutoFit/>
          </a:bodyPr>
          <a:lstStyle/>
          <a:p>
            <a:pPr>
              <a:lnSpc>
                <a:spcPts val="2800"/>
              </a:lnSpc>
            </a:pPr>
            <a:r>
              <a:rPr lang="en-IN" dirty="0" smtClean="0">
                <a:latin typeface="Bookman Old Style" pitchFamily="18" charset="0"/>
              </a:rPr>
              <a:t>It is suggested to use British spelling consistently throughout. There is some confusion about which spelling is correct, such as, `organize' or `organise.' British usage allows both where appropriate. The only exceptions are words like `surmise' which are never spelled with a `z' at all. A researcher needs to be consistent once he/she has chosen British or American spellings. Therefore, it is necessary to set the spell checker in the word </a:t>
            </a:r>
            <a:r>
              <a:rPr lang="en-US" dirty="0" smtClean="0">
                <a:latin typeface="Bookman Old Style" pitchFamily="18" charset="0"/>
              </a:rPr>
              <a:t>processor accordingly.</a:t>
            </a:r>
            <a:endParaRPr lang="en-US" dirty="0">
              <a:latin typeface="Bookman Old Style"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609600" y="0"/>
            <a:ext cx="8229600" cy="639763"/>
          </a:xfrm>
        </p:spPr>
        <p:txBody>
          <a:bodyPr/>
          <a:lstStyle/>
          <a:p>
            <a:pPr>
              <a:defRPr/>
            </a:pPr>
            <a:r>
              <a:rPr lang="en-US" sz="3600" dirty="0" smtClean="0"/>
              <a:t>10 point  Thesis  </a:t>
            </a:r>
            <a:r>
              <a:rPr lang="en-US" sz="3600" dirty="0"/>
              <a:t>Writing Process</a:t>
            </a:r>
            <a:endParaRPr lang="en-AU" sz="3600" dirty="0"/>
          </a:p>
        </p:txBody>
      </p:sp>
      <p:sp>
        <p:nvSpPr>
          <p:cNvPr id="63491" name="Rectangle 3"/>
          <p:cNvSpPr>
            <a:spLocks noGrp="1" noChangeArrowheads="1"/>
          </p:cNvSpPr>
          <p:nvPr>
            <p:ph type="body" idx="1"/>
          </p:nvPr>
        </p:nvSpPr>
        <p:spPr bwMode="auto">
          <a:xfrm>
            <a:off x="457200" y="762000"/>
            <a:ext cx="8153400" cy="5524520"/>
          </a:xfrm>
          <a:noFill/>
          <a:ln>
            <a:miter lim="800000"/>
            <a:headEnd/>
            <a:tailEnd/>
          </a:ln>
        </p:spPr>
        <p:txBody>
          <a:bodyPr vert="horz" wrap="square" lIns="91440" tIns="45720" rIns="91440" bIns="45720" numCol="1" anchor="t" anchorCtr="0" compatLnSpc="1">
            <a:prstTxWarp prst="textNoShape">
              <a:avLst/>
            </a:prstTxWarp>
          </a:bodyPr>
          <a:lstStyle/>
          <a:p>
            <a:pPr marL="533400" indent="-533400" algn="just">
              <a:buFontTx/>
              <a:buAutoNum type="arabicPeriod"/>
            </a:pPr>
            <a:r>
              <a:rPr lang="en-US" sz="2400" dirty="0" smtClean="0">
                <a:latin typeface="Book Antiqua" pitchFamily="18" charset="0"/>
              </a:rPr>
              <a:t>Define a schedule with dates for writing every chapter of the thesis (This is important since it will push you to work continuously. It will also allow you to check whether more time is needed to complete the writing).</a:t>
            </a:r>
          </a:p>
          <a:p>
            <a:pPr marL="533400" indent="-533400" algn="just">
              <a:buFontTx/>
              <a:buAutoNum type="arabicPeriod"/>
            </a:pPr>
            <a:r>
              <a:rPr lang="en-US" sz="2400" dirty="0" smtClean="0">
                <a:latin typeface="Book Antiqua" pitchFamily="18" charset="0"/>
              </a:rPr>
              <a:t>Create (empty) pages for every chapter, section and subsection of the thesis.</a:t>
            </a:r>
          </a:p>
          <a:p>
            <a:pPr marL="533400" indent="-533400" algn="just">
              <a:buFontTx/>
              <a:buAutoNum type="arabicPeriod"/>
            </a:pPr>
            <a:r>
              <a:rPr lang="en-US" sz="2400" dirty="0" smtClean="0">
                <a:latin typeface="Book Antiqua" pitchFamily="18" charset="0"/>
              </a:rPr>
              <a:t>Insert the papers and slides that you wrote into the thesis.</a:t>
            </a:r>
          </a:p>
          <a:p>
            <a:pPr marL="533400" indent="-533400" algn="just">
              <a:buFontTx/>
              <a:buAutoNum type="arabicPeriod"/>
            </a:pPr>
            <a:r>
              <a:rPr lang="en-US" sz="2400" dirty="0" smtClean="0">
                <a:latin typeface="Book Antiqua" pitchFamily="18" charset="0"/>
              </a:rPr>
              <a:t>Start by writing your most recent work.</a:t>
            </a:r>
          </a:p>
          <a:p>
            <a:pPr marL="533400" indent="-533400" algn="just">
              <a:buFontTx/>
              <a:buAutoNum type="arabicPeriod"/>
            </a:pPr>
            <a:r>
              <a:rPr lang="en-US" sz="2400" dirty="0" smtClean="0">
                <a:latin typeface="Book Antiqua" pitchFamily="18" charset="0"/>
              </a:rPr>
              <a:t>Every time that you have a </a:t>
            </a:r>
            <a:r>
              <a:rPr lang="en-US" sz="2400" b="1" dirty="0" smtClean="0">
                <a:latin typeface="Book Antiqua" pitchFamily="18" charset="0"/>
              </a:rPr>
              <a:t>good idea</a:t>
            </a:r>
            <a:r>
              <a:rPr lang="en-US" sz="2400" dirty="0" smtClean="0">
                <a:latin typeface="Book Antiqua" pitchFamily="18" charset="0"/>
              </a:rPr>
              <a:t> for a section of the thesis that you are not working on at the moment, then </a:t>
            </a:r>
            <a:r>
              <a:rPr lang="en-US" sz="2400" b="1" dirty="0" smtClean="0">
                <a:latin typeface="Book Antiqua" pitchFamily="18" charset="0"/>
              </a:rPr>
              <a:t>write something quick</a:t>
            </a:r>
            <a:r>
              <a:rPr lang="en-US" sz="2400" dirty="0" smtClean="0">
                <a:latin typeface="Book Antiqua" pitchFamily="18" charset="0"/>
              </a:rPr>
              <a:t> about it in the appropriate page.</a:t>
            </a:r>
          </a:p>
          <a:p>
            <a:pPr marL="533400" indent="-533400" algn="just">
              <a:buFontTx/>
              <a:buAutoNum type="arabicPeriod"/>
            </a:pPr>
            <a:endParaRPr lang="en-US" sz="2400" dirty="0" smtClean="0">
              <a:latin typeface="Book Antiqua" pitchFamily="18" charset="0"/>
            </a:endParaRP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13</a:t>
            </a:fld>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3"/>
          <p:cNvSpPr>
            <a:spLocks noGrp="1" noChangeArrowheads="1"/>
          </p:cNvSpPr>
          <p:nvPr>
            <p:ph type="body" idx="1"/>
          </p:nvPr>
        </p:nvSpPr>
        <p:spPr bwMode="auto">
          <a:xfrm>
            <a:off x="762000" y="609600"/>
            <a:ext cx="7924800" cy="5715000"/>
          </a:xfrm>
          <a:noFill/>
          <a:ln>
            <a:miter lim="800000"/>
            <a:headEnd/>
            <a:tailEnd/>
          </a:ln>
        </p:spPr>
        <p:txBody>
          <a:bodyPr vert="horz" wrap="square" lIns="91440" tIns="45720" rIns="91440" bIns="45720" numCol="1" anchor="t" anchorCtr="0" compatLnSpc="1">
            <a:prstTxWarp prst="textNoShape">
              <a:avLst/>
            </a:prstTxWarp>
          </a:bodyPr>
          <a:lstStyle/>
          <a:p>
            <a:pPr marL="609600" indent="-609600" algn="just">
              <a:buFontTx/>
              <a:buAutoNum type="arabicPeriod" startAt="5"/>
            </a:pPr>
            <a:r>
              <a:rPr lang="en-US" sz="2400" dirty="0" smtClean="0">
                <a:latin typeface="Book Antiqua" pitchFamily="18" charset="0"/>
              </a:rPr>
              <a:t>If you are </a:t>
            </a:r>
            <a:r>
              <a:rPr lang="en-US" sz="2400" b="1" dirty="0" smtClean="0">
                <a:latin typeface="Book Antiqua" pitchFamily="18" charset="0"/>
              </a:rPr>
              <a:t>tired</a:t>
            </a:r>
            <a:r>
              <a:rPr lang="en-US" sz="2400" dirty="0" smtClean="0">
                <a:latin typeface="Book Antiqua" pitchFamily="18" charset="0"/>
              </a:rPr>
              <a:t> of writing a particular section, take a short break by </a:t>
            </a:r>
            <a:r>
              <a:rPr lang="en-US" sz="2400" b="1" dirty="0" smtClean="0">
                <a:latin typeface="Book Antiqua" pitchFamily="18" charset="0"/>
              </a:rPr>
              <a:t>writing easier and funnier sections</a:t>
            </a:r>
            <a:r>
              <a:rPr lang="en-US" sz="2400" dirty="0" smtClean="0">
                <a:latin typeface="Book Antiqua" pitchFamily="18" charset="0"/>
              </a:rPr>
              <a:t> ( acknowledgement, the dedication page, etc) . But be sure that you write a lot every day!</a:t>
            </a:r>
          </a:p>
          <a:p>
            <a:pPr marL="609600" indent="-609600" algn="just">
              <a:buFontTx/>
              <a:buAutoNum type="arabicPeriod" startAt="5"/>
            </a:pPr>
            <a:r>
              <a:rPr lang="en-US" sz="2400" dirty="0" smtClean="0">
                <a:latin typeface="Book Antiqua" pitchFamily="18" charset="0"/>
              </a:rPr>
              <a:t>Leave the conclusion, the abstract, and the appendices to the end of the writing (Revise Introduction portion as you progress).</a:t>
            </a:r>
          </a:p>
          <a:p>
            <a:pPr marL="609600" indent="-609600" algn="just">
              <a:buFontTx/>
              <a:buAutoNum type="arabicPeriod" startAt="8"/>
            </a:pPr>
            <a:r>
              <a:rPr lang="en-US" sz="2400" dirty="0" smtClean="0">
                <a:latin typeface="Book Antiqua" pitchFamily="18" charset="0"/>
              </a:rPr>
              <a:t>Leave time for revising the thesis. Ask at least 2 people to revise it. Do your own review afterwards.</a:t>
            </a:r>
          </a:p>
          <a:p>
            <a:pPr marL="609600" indent="-609600" algn="just">
              <a:buFontTx/>
              <a:buAutoNum type="arabicPeriod" startAt="8"/>
            </a:pPr>
            <a:r>
              <a:rPr lang="en-US" sz="2400" dirty="0" smtClean="0">
                <a:latin typeface="Book Antiqua" pitchFamily="18" charset="0"/>
              </a:rPr>
              <a:t>Print and bind the final version of thesis. This can take up to two days if a hardcover binding is demanded</a:t>
            </a:r>
            <a:endParaRPr lang="en-AU" sz="2400" dirty="0" smtClean="0">
              <a:latin typeface="Book Antiqua" pitchFamily="18" charset="0"/>
            </a:endParaRPr>
          </a:p>
        </p:txBody>
      </p:sp>
      <p:sp>
        <p:nvSpPr>
          <p:cNvPr id="3" name="Date Placeholder 2"/>
          <p:cNvSpPr>
            <a:spLocks noGrp="1"/>
          </p:cNvSpPr>
          <p:nvPr>
            <p:ph type="dt" sz="half" idx="10"/>
          </p:nvPr>
        </p:nvSpPr>
        <p:spPr/>
        <p:txBody>
          <a:bodyPr/>
          <a:lstStyle/>
          <a:p>
            <a:r>
              <a:rPr lang="en-US"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14</a:t>
            </a:fld>
            <a:endParaRPr lang="en-US"/>
          </a:p>
        </p:txBody>
      </p:sp>
      <p:sp>
        <p:nvSpPr>
          <p:cNvPr id="5" name="Footer Placeholder 4"/>
          <p:cNvSpPr>
            <a:spLocks noGrp="1"/>
          </p:cNvSpPr>
          <p:nvPr>
            <p:ph type="ftr" sz="quarter" idx="11"/>
          </p:nvPr>
        </p:nvSpPr>
        <p:spPr/>
        <p:txBody>
          <a:bodyPr/>
          <a:lstStyle/>
          <a:p>
            <a:r>
              <a:rPr lang="en-IN" smtClean="0"/>
              <a:t>Prof. A. K. Datta  University of Calcutta </a:t>
            </a:r>
            <a:endParaRPr lang="en-US"/>
          </a:p>
        </p:txBody>
      </p:sp>
      <p:sp>
        <p:nvSpPr>
          <p:cNvPr id="6" name="Rectangle 5"/>
          <p:cNvSpPr/>
          <p:nvPr/>
        </p:nvSpPr>
        <p:spPr>
          <a:xfrm>
            <a:off x="1285852" y="5288340"/>
            <a:ext cx="7500990" cy="830997"/>
          </a:xfrm>
          <a:prstGeom prst="rect">
            <a:avLst/>
          </a:prstGeom>
        </p:spPr>
        <p:txBody>
          <a:bodyPr wrap="square">
            <a:spAutoFit/>
          </a:bodyPr>
          <a:lstStyle/>
          <a:p>
            <a:pPr marL="990600" lvl="1" indent="-533400">
              <a:lnSpc>
                <a:spcPct val="150000"/>
              </a:lnSpc>
              <a:buFont typeface="Wingdings" pitchFamily="2" charset="2"/>
              <a:buChar char="Ø"/>
            </a:pPr>
            <a:r>
              <a:rPr lang="en-US" sz="3200" dirty="0" smtClean="0">
                <a:solidFill>
                  <a:srgbClr val="FF0000"/>
                </a:solidFill>
                <a:latin typeface="Book Antiqua" pitchFamily="18" charset="0"/>
              </a:rPr>
              <a:t>Backup the thesis regularly!</a:t>
            </a:r>
            <a:endParaRPr lang="en-AU" sz="2400" dirty="0" smtClean="0">
              <a:solidFill>
                <a:srgbClr val="FF0000"/>
              </a:solidFill>
              <a:latin typeface="Book Antiqua"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533400" y="0"/>
            <a:ext cx="8229600" cy="1143000"/>
          </a:xfrm>
        </p:spPr>
        <p:txBody>
          <a:bodyPr/>
          <a:lstStyle/>
          <a:p>
            <a:pPr>
              <a:defRPr/>
            </a:pPr>
            <a:r>
              <a:rPr lang="en-US" sz="3200" dirty="0"/>
              <a:t>Tools and Useful Links</a:t>
            </a:r>
            <a:endParaRPr lang="en-AU" sz="3200" dirty="0"/>
          </a:p>
        </p:txBody>
      </p:sp>
      <p:sp>
        <p:nvSpPr>
          <p:cNvPr id="11267" name="Rectangle 3"/>
          <p:cNvSpPr>
            <a:spLocks noGrp="1" noChangeArrowheads="1"/>
          </p:cNvSpPr>
          <p:nvPr>
            <p:ph type="body" idx="1"/>
          </p:nvPr>
        </p:nvSpPr>
        <p:spPr>
          <a:xfrm>
            <a:off x="228600" y="1143000"/>
            <a:ext cx="8915400" cy="5143520"/>
          </a:xfrm>
        </p:spPr>
        <p:txBody>
          <a:bodyPr/>
          <a:lstStyle/>
          <a:p>
            <a:pPr>
              <a:lnSpc>
                <a:spcPct val="90000"/>
              </a:lnSpc>
              <a:defRPr/>
            </a:pPr>
            <a:r>
              <a:rPr lang="en-US" sz="2800" dirty="0">
                <a:latin typeface="Book Antiqua" pitchFamily="18" charset="0"/>
              </a:rPr>
              <a:t>Software</a:t>
            </a:r>
          </a:p>
          <a:p>
            <a:pPr lvl="1">
              <a:lnSpc>
                <a:spcPts val="3200"/>
              </a:lnSpc>
              <a:defRPr/>
            </a:pPr>
            <a:r>
              <a:rPr lang="en-US" sz="2400" dirty="0" err="1">
                <a:latin typeface="Book Antiqua" pitchFamily="18" charset="0"/>
              </a:rPr>
              <a:t>MiKTEX</a:t>
            </a:r>
            <a:r>
              <a:rPr lang="en-US" sz="2400" dirty="0">
                <a:latin typeface="Book Antiqua" pitchFamily="18" charset="0"/>
              </a:rPr>
              <a:t> (</a:t>
            </a:r>
            <a:r>
              <a:rPr lang="en-AU" sz="2400" i="1" dirty="0">
                <a:latin typeface="Book Antiqua" pitchFamily="18" charset="0"/>
              </a:rPr>
              <a:t>http://www.miktex.org</a:t>
            </a:r>
            <a:r>
              <a:rPr lang="en-AU" sz="2400" dirty="0">
                <a:solidFill>
                  <a:schemeClr val="bg2">
                    <a:lumMod val="50000"/>
                  </a:schemeClr>
                </a:solidFill>
                <a:latin typeface="Book Antiqua" pitchFamily="18" charset="0"/>
              </a:rPr>
              <a:t>/</a:t>
            </a:r>
            <a:r>
              <a:rPr lang="en-US" sz="2400" dirty="0">
                <a:latin typeface="Book Antiqua" pitchFamily="18" charset="0"/>
              </a:rPr>
              <a:t>) - </a:t>
            </a:r>
            <a:r>
              <a:rPr lang="en-US" sz="2400" dirty="0" err="1">
                <a:latin typeface="Book Antiqua" pitchFamily="18" charset="0"/>
              </a:rPr>
              <a:t>LaTeX</a:t>
            </a:r>
            <a:r>
              <a:rPr lang="en-US" sz="2400" dirty="0">
                <a:latin typeface="Book Antiqua" pitchFamily="18" charset="0"/>
              </a:rPr>
              <a:t> for Windows/DOS.</a:t>
            </a:r>
          </a:p>
          <a:p>
            <a:pPr lvl="1">
              <a:lnSpc>
                <a:spcPts val="3200"/>
              </a:lnSpc>
              <a:defRPr/>
            </a:pPr>
            <a:r>
              <a:rPr lang="en-US" sz="2400" dirty="0" err="1">
                <a:latin typeface="Book Antiqua" pitchFamily="18" charset="0"/>
              </a:rPr>
              <a:t>Winedt</a:t>
            </a:r>
            <a:r>
              <a:rPr lang="en-US" sz="2400" dirty="0">
                <a:latin typeface="Book Antiqua" pitchFamily="18" charset="0"/>
              </a:rPr>
              <a:t> </a:t>
            </a:r>
            <a:r>
              <a:rPr lang="en-US" sz="2400" dirty="0">
                <a:solidFill>
                  <a:schemeClr val="bg2">
                    <a:lumMod val="50000"/>
                  </a:schemeClr>
                </a:solidFill>
                <a:latin typeface="Book Antiqua" pitchFamily="18" charset="0"/>
              </a:rPr>
              <a:t>(</a:t>
            </a:r>
            <a:r>
              <a:rPr lang="en-AU" sz="2400" i="1" dirty="0">
                <a:latin typeface="Book Antiqua" pitchFamily="18" charset="0"/>
              </a:rPr>
              <a:t>http://www.winedt.com/</a:t>
            </a:r>
            <a:r>
              <a:rPr lang="en-US" sz="2400" dirty="0">
                <a:latin typeface="Book Antiqua" pitchFamily="18" charset="0"/>
              </a:rPr>
              <a:t>) - text editor that works with </a:t>
            </a:r>
            <a:r>
              <a:rPr lang="en-US" sz="2400" dirty="0" err="1">
                <a:latin typeface="Book Antiqua" pitchFamily="18" charset="0"/>
              </a:rPr>
              <a:t>MiKTEX</a:t>
            </a:r>
            <a:r>
              <a:rPr lang="en-US" sz="2400" dirty="0">
                <a:latin typeface="Book Antiqua" pitchFamily="18" charset="0"/>
              </a:rPr>
              <a:t>. It needs a license.</a:t>
            </a:r>
          </a:p>
          <a:p>
            <a:pPr lvl="1">
              <a:lnSpc>
                <a:spcPts val="3200"/>
              </a:lnSpc>
              <a:defRPr/>
            </a:pPr>
            <a:r>
              <a:rPr lang="en-US" sz="2400" dirty="0">
                <a:latin typeface="Book Antiqua" pitchFamily="18" charset="0"/>
              </a:rPr>
              <a:t>GIMP (</a:t>
            </a:r>
            <a:r>
              <a:rPr lang="en-US" sz="2400" i="1" dirty="0">
                <a:latin typeface="Book Antiqua" pitchFamily="18" charset="0"/>
              </a:rPr>
              <a:t>http://www.gimp.org/</a:t>
            </a:r>
            <a:r>
              <a:rPr lang="en-US" sz="2400" dirty="0">
                <a:latin typeface="Book Antiqua" pitchFamily="18" charset="0"/>
              </a:rPr>
              <a:t>) - Image manipulator software.</a:t>
            </a:r>
          </a:p>
          <a:p>
            <a:pPr lvl="1">
              <a:lnSpc>
                <a:spcPts val="3200"/>
              </a:lnSpc>
              <a:defRPr/>
            </a:pPr>
            <a:r>
              <a:rPr lang="en-US" sz="2400" dirty="0">
                <a:latin typeface="Book Antiqua" pitchFamily="18" charset="0"/>
              </a:rPr>
              <a:t>Microsoft Word – used for writing some papers and for creating diagrams.</a:t>
            </a:r>
          </a:p>
          <a:p>
            <a:pPr lvl="1">
              <a:lnSpc>
                <a:spcPts val="3200"/>
              </a:lnSpc>
              <a:defRPr/>
            </a:pPr>
            <a:r>
              <a:rPr lang="en-US" sz="2400" dirty="0">
                <a:latin typeface="Book Antiqua" pitchFamily="18" charset="0"/>
              </a:rPr>
              <a:t>Adobe Acrobat – used for converting diagrams in Word to PDF. Adobe Acrobat requires a license. There is a </a:t>
            </a:r>
            <a:r>
              <a:rPr lang="en-US" sz="2400" i="1" dirty="0">
                <a:latin typeface="Book Antiqua" pitchFamily="18" charset="0"/>
              </a:rPr>
              <a:t>educational version</a:t>
            </a:r>
            <a:r>
              <a:rPr lang="en-US" sz="2400" dirty="0">
                <a:latin typeface="Book Antiqua" pitchFamily="18" charset="0"/>
              </a:rPr>
              <a:t> for students that is cheaper.</a:t>
            </a:r>
            <a:endParaRPr lang="en-AU" sz="2400" dirty="0">
              <a:latin typeface="Book Antiqua" pitchFamily="18" charset="0"/>
            </a:endParaRP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15</a:t>
            </a:fld>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p:cNvSpPr>
            <a:spLocks noGrp="1" noChangeArrowheads="1"/>
          </p:cNvSpPr>
          <p:nvPr>
            <p:ph type="ctrTitle"/>
          </p:nvPr>
        </p:nvSpPr>
        <p:spPr>
          <a:xfrm>
            <a:off x="457200" y="762000"/>
            <a:ext cx="8153400" cy="2286000"/>
          </a:xfrm>
          <a:noFill/>
        </p:spPr>
        <p:txBody>
          <a:bodyPr anchor="ctr"/>
          <a:lstStyle/>
          <a:p>
            <a:pPr>
              <a:lnSpc>
                <a:spcPct val="120000"/>
              </a:lnSpc>
            </a:pPr>
            <a:r>
              <a:rPr lang="en-AU" dirty="0" smtClean="0"/>
              <a:t/>
            </a:r>
            <a:br>
              <a:rPr lang="en-AU" dirty="0" smtClean="0"/>
            </a:br>
            <a:r>
              <a:rPr lang="en-AU" sz="2000" dirty="0" smtClean="0"/>
              <a:t/>
            </a:r>
            <a:br>
              <a:rPr lang="en-AU" sz="2000" dirty="0" smtClean="0"/>
            </a:br>
            <a:r>
              <a:rPr lang="en-AU" dirty="0" smtClean="0"/>
              <a:t> </a:t>
            </a:r>
            <a:r>
              <a:rPr lang="en-AU" dirty="0" smtClean="0">
                <a:latin typeface="Book Antiqua" pitchFamily="18" charset="0"/>
              </a:rPr>
              <a:t>ETHICAL ISSUES IN  RESEARCH</a:t>
            </a:r>
            <a:endParaRPr lang="en-AU" dirty="0" smtClean="0">
              <a:solidFill>
                <a:schemeClr val="tx1"/>
              </a:solidFill>
              <a:latin typeface="Book Antiqua" pitchFamily="18" charset="0"/>
            </a:endParaRPr>
          </a:p>
        </p:txBody>
      </p:sp>
      <p:sp>
        <p:nvSpPr>
          <p:cNvPr id="67587" name="Rectangle 3"/>
          <p:cNvSpPr>
            <a:spLocks noGrp="1" noChangeArrowheads="1"/>
          </p:cNvSpPr>
          <p:nvPr>
            <p:ph type="subTitle" idx="1"/>
          </p:nvPr>
        </p:nvSpPr>
        <p:spPr>
          <a:xfrm>
            <a:off x="2065338" y="4876800"/>
            <a:ext cx="5907087" cy="1752600"/>
          </a:xfrm>
          <a:noFill/>
        </p:spPr>
        <p:txBody>
          <a:bodyPr/>
          <a:lstStyle/>
          <a:p>
            <a:pPr marL="479425" indent="-479425"/>
            <a:r>
              <a:rPr lang="en-AU" smtClean="0"/>
              <a:t> </a:t>
            </a: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16</a:t>
            </a:fld>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bwMode="auto">
          <a:xfrm>
            <a:off x="838200" y="0"/>
            <a:ext cx="7772400" cy="762000"/>
          </a:xfrm>
          <a:ln>
            <a:miter lim="800000"/>
            <a:headEnd/>
            <a:tailEnd/>
          </a:ln>
        </p:spPr>
        <p:txBody>
          <a:bodyPr vert="horz" wrap="square" lIns="91440" tIns="45720" rIns="91440" bIns="45720" numCol="1" anchor="t" anchorCtr="0" compatLnSpc="1">
            <a:prstTxWarp prst="textNoShape">
              <a:avLst/>
            </a:prstTxWarp>
          </a:bodyPr>
          <a:lstStyle/>
          <a:p>
            <a:pPr>
              <a:defRPr/>
            </a:pPr>
            <a:r>
              <a:rPr lang="en-US" sz="3200" dirty="0" smtClean="0">
                <a:latin typeface="Book Antiqua" pitchFamily="18" charset="0"/>
              </a:rPr>
              <a:t>Plagiarism</a:t>
            </a:r>
          </a:p>
        </p:txBody>
      </p:sp>
      <p:sp>
        <p:nvSpPr>
          <p:cNvPr id="72707" name="Rectangle 3"/>
          <p:cNvSpPr>
            <a:spLocks noGrp="1" noChangeArrowheads="1"/>
          </p:cNvSpPr>
          <p:nvPr>
            <p:ph type="body" idx="1"/>
          </p:nvPr>
        </p:nvSpPr>
        <p:spPr bwMode="auto">
          <a:xfrm>
            <a:off x="357158" y="1000108"/>
            <a:ext cx="8458200" cy="5105400"/>
          </a:xfrm>
          <a:noFill/>
          <a:ln>
            <a:miter lim="800000"/>
            <a:headEnd/>
            <a:tailEnd/>
          </a:ln>
        </p:spPr>
        <p:txBody>
          <a:bodyPr vert="horz" wrap="square" lIns="91440" tIns="45720" rIns="91440" bIns="45720" numCol="1" anchor="t" anchorCtr="0" compatLnSpc="1">
            <a:prstTxWarp prst="textNoShape">
              <a:avLst/>
            </a:prstTxWarp>
          </a:bodyPr>
          <a:lstStyle/>
          <a:p>
            <a:pPr algn="just">
              <a:spcBef>
                <a:spcPts val="0"/>
              </a:spcBef>
            </a:pPr>
            <a:r>
              <a:rPr lang="en-US" sz="2400" dirty="0" smtClean="0">
                <a:latin typeface="Book Antiqua" pitchFamily="18" charset="0"/>
              </a:rPr>
              <a:t>Plagiarism is taking another’s work and passing it off as your own.  </a:t>
            </a:r>
          </a:p>
          <a:p>
            <a:pPr algn="just">
              <a:spcBef>
                <a:spcPts val="0"/>
              </a:spcBef>
            </a:pPr>
            <a:endParaRPr lang="en-US" sz="2400" dirty="0" smtClean="0">
              <a:latin typeface="Book Antiqua" pitchFamily="18" charset="0"/>
            </a:endParaRPr>
          </a:p>
          <a:p>
            <a:pPr algn="just">
              <a:spcBef>
                <a:spcPts val="0"/>
              </a:spcBef>
            </a:pPr>
            <a:r>
              <a:rPr lang="en-US" sz="2400" dirty="0" smtClean="0">
                <a:latin typeface="Book Antiqua" pitchFamily="18" charset="0"/>
              </a:rPr>
              <a:t>In broad sense, we often take ideas from others and don’t attribute them to their original source.  </a:t>
            </a:r>
          </a:p>
          <a:p>
            <a:pPr algn="just">
              <a:spcBef>
                <a:spcPts val="0"/>
              </a:spcBef>
            </a:pPr>
            <a:endParaRPr lang="en-US" sz="2400" dirty="0" smtClean="0">
              <a:latin typeface="Book Antiqua" pitchFamily="18" charset="0"/>
            </a:endParaRPr>
          </a:p>
          <a:p>
            <a:pPr algn="just">
              <a:spcBef>
                <a:spcPts val="0"/>
              </a:spcBef>
            </a:pPr>
            <a:r>
              <a:rPr lang="en-US" sz="2400" dirty="0" smtClean="0">
                <a:latin typeface="Book Antiqua" pitchFamily="18" charset="0"/>
              </a:rPr>
              <a:t>More often than not we don’t even know the original source! </a:t>
            </a:r>
          </a:p>
          <a:p>
            <a:pPr algn="just">
              <a:spcBef>
                <a:spcPts val="0"/>
              </a:spcBef>
            </a:pPr>
            <a:endParaRPr lang="en-US" sz="2400" dirty="0" smtClean="0">
              <a:latin typeface="Book Antiqua" pitchFamily="18" charset="0"/>
            </a:endParaRPr>
          </a:p>
          <a:p>
            <a:pPr algn="just">
              <a:spcBef>
                <a:spcPts val="0"/>
              </a:spcBef>
            </a:pPr>
            <a:r>
              <a:rPr lang="en-US" sz="2400" dirty="0" smtClean="0">
                <a:latin typeface="Book Antiqua" pitchFamily="18" charset="0"/>
              </a:rPr>
              <a:t>When we talk about the decline and fall of the Roman Empire or say, “To be or not to be, that is the question” in normal conversation, we rarely attribute the words to Gibbon and Shakespeare respectively. </a:t>
            </a: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17</a:t>
            </a:fld>
            <a:endParaRPr lang="en-US"/>
          </a:p>
        </p:txBody>
      </p:sp>
      <p:sp>
        <p:nvSpPr>
          <p:cNvPr id="6" name="Footer Placeholder 5"/>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Footer Placeholder 4"/>
          <p:cNvSpPr>
            <a:spLocks noGrp="1"/>
          </p:cNvSpPr>
          <p:nvPr>
            <p:ph type="ftr" sz="quarter" idx="11"/>
          </p:nvPr>
        </p:nvSpPr>
        <p:spPr/>
        <p:txBody>
          <a:bodyPr/>
          <a:lstStyle/>
          <a:p>
            <a:r>
              <a:rPr lang="en-IN" smtClean="0"/>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18</a:t>
            </a:fld>
            <a:endParaRPr lang="en-US"/>
          </a:p>
        </p:txBody>
      </p:sp>
      <p:sp>
        <p:nvSpPr>
          <p:cNvPr id="7" name="Rectangle 6"/>
          <p:cNvSpPr/>
          <p:nvPr/>
        </p:nvSpPr>
        <p:spPr>
          <a:xfrm>
            <a:off x="285720" y="785794"/>
            <a:ext cx="8643998" cy="5734903"/>
          </a:xfrm>
          <a:prstGeom prst="rect">
            <a:avLst/>
          </a:prstGeom>
        </p:spPr>
        <p:txBody>
          <a:bodyPr wrap="square">
            <a:spAutoFit/>
          </a:bodyPr>
          <a:lstStyle/>
          <a:p>
            <a:pPr>
              <a:lnSpc>
                <a:spcPts val="2800"/>
              </a:lnSpc>
            </a:pPr>
            <a:r>
              <a:rPr lang="en-IN" sz="2000" dirty="0" smtClean="0">
                <a:latin typeface="Bookman Old Style" pitchFamily="18" charset="0"/>
              </a:rPr>
              <a:t>(a) Direct plagiarism: Copying another researcher's work without any acknowledge or citation that the material is lifted from </a:t>
            </a:r>
            <a:r>
              <a:rPr lang="en-US" sz="2000" dirty="0" smtClean="0">
                <a:latin typeface="Bookman Old Style" pitchFamily="18" charset="0"/>
              </a:rPr>
              <a:t>another external source</a:t>
            </a:r>
          </a:p>
          <a:p>
            <a:pPr>
              <a:lnSpc>
                <a:spcPts val="2800"/>
              </a:lnSpc>
            </a:pPr>
            <a:endParaRPr lang="en-IN" sz="2000" dirty="0" smtClean="0">
              <a:latin typeface="Bookman Old Style" pitchFamily="18" charset="0"/>
            </a:endParaRPr>
          </a:p>
          <a:p>
            <a:pPr>
              <a:lnSpc>
                <a:spcPts val="2800"/>
              </a:lnSpc>
            </a:pPr>
            <a:r>
              <a:rPr lang="en-IN" sz="2000" dirty="0" smtClean="0">
                <a:latin typeface="Bookman Old Style" pitchFamily="18" charset="0"/>
              </a:rPr>
              <a:t>(b) Direct patchwork plagiarism: Copying material from several researchers and rearranging with citation. It is one of the common problems a researcher faces while writing a review </a:t>
            </a:r>
            <a:r>
              <a:rPr lang="en-US" sz="2000" dirty="0" smtClean="0">
                <a:latin typeface="Bookman Old Style" pitchFamily="18" charset="0"/>
              </a:rPr>
              <a:t>of past work.</a:t>
            </a:r>
          </a:p>
          <a:p>
            <a:pPr>
              <a:lnSpc>
                <a:spcPts val="2800"/>
              </a:lnSpc>
            </a:pPr>
            <a:endParaRPr lang="en-US" sz="2000" dirty="0" smtClean="0">
              <a:latin typeface="Bookman Old Style" pitchFamily="18" charset="0"/>
            </a:endParaRPr>
          </a:p>
          <a:p>
            <a:pPr>
              <a:lnSpc>
                <a:spcPts val="2800"/>
              </a:lnSpc>
            </a:pPr>
            <a:r>
              <a:rPr lang="en-IN" sz="2000" dirty="0" smtClean="0">
                <a:latin typeface="Bookman Old Style" pitchFamily="18" charset="0"/>
              </a:rPr>
              <a:t>(c) Insufficient citation and quotes: Incorporating another researcher's words or phrases within a larger paraphrase, without </a:t>
            </a:r>
            <a:r>
              <a:rPr lang="en-US" sz="2000" dirty="0" smtClean="0">
                <a:latin typeface="Bookman Old Style" pitchFamily="18" charset="0"/>
              </a:rPr>
              <a:t>quotation marks or citation.</a:t>
            </a:r>
          </a:p>
          <a:p>
            <a:pPr>
              <a:lnSpc>
                <a:spcPts val="2800"/>
              </a:lnSpc>
            </a:pPr>
            <a:endParaRPr lang="en-US" sz="2000" dirty="0" smtClean="0">
              <a:latin typeface="Bookman Old Style" pitchFamily="18" charset="0"/>
            </a:endParaRPr>
          </a:p>
          <a:p>
            <a:pPr>
              <a:lnSpc>
                <a:spcPts val="2800"/>
              </a:lnSpc>
            </a:pPr>
            <a:r>
              <a:rPr lang="en-IN" sz="2000" dirty="0" smtClean="0">
                <a:latin typeface="Bookman Old Style" pitchFamily="18" charset="0"/>
              </a:rPr>
              <a:t>(d) Paraphrasing without citing: Changing the words of a source and using the ideas without citing.</a:t>
            </a:r>
          </a:p>
          <a:p>
            <a:endParaRPr lang="en-IN" sz="2000" dirty="0" smtClean="0">
              <a:latin typeface="Bookman Old Style" pitchFamily="18" charset="0"/>
            </a:endParaRPr>
          </a:p>
          <a:p>
            <a:r>
              <a:rPr lang="en-IN" sz="2000" dirty="0" smtClean="0">
                <a:latin typeface="Bookman Old Style" pitchFamily="18" charset="0"/>
              </a:rPr>
              <a:t>.</a:t>
            </a:r>
            <a:endParaRPr lang="en-US" sz="2000" dirty="0">
              <a:latin typeface="Bookman Old Style"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Footer Placeholder 4"/>
          <p:cNvSpPr>
            <a:spLocks noGrp="1"/>
          </p:cNvSpPr>
          <p:nvPr>
            <p:ph type="ftr" sz="quarter" idx="11"/>
          </p:nvPr>
        </p:nvSpPr>
        <p:spPr/>
        <p:txBody>
          <a:bodyPr/>
          <a:lstStyle/>
          <a:p>
            <a:r>
              <a:rPr lang="en-IN" smtClean="0"/>
              <a:t>Prof. A. K. Datta  University of Calcutta </a:t>
            </a:r>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19</a:t>
            </a:fld>
            <a:endParaRPr lang="en-US"/>
          </a:p>
        </p:txBody>
      </p:sp>
      <p:sp>
        <p:nvSpPr>
          <p:cNvPr id="7" name="Rectangle 6"/>
          <p:cNvSpPr/>
          <p:nvPr/>
        </p:nvSpPr>
        <p:spPr>
          <a:xfrm>
            <a:off x="285720" y="928670"/>
            <a:ext cx="8643998" cy="3300968"/>
          </a:xfrm>
          <a:prstGeom prst="rect">
            <a:avLst/>
          </a:prstGeom>
        </p:spPr>
        <p:txBody>
          <a:bodyPr wrap="square">
            <a:spAutoFit/>
          </a:bodyPr>
          <a:lstStyle/>
          <a:p>
            <a:pPr>
              <a:lnSpc>
                <a:spcPts val="2800"/>
              </a:lnSpc>
            </a:pPr>
            <a:r>
              <a:rPr lang="en-IN" sz="2000" dirty="0" smtClean="0">
                <a:latin typeface="Bookman Old Style" pitchFamily="18" charset="0"/>
              </a:rPr>
              <a:t>(e) Insufficient citation of paraphrase: Changing the words of a source to suit the researcher's idea with acknowledge of the material's source(s), but without correctly citing word by </a:t>
            </a:r>
            <a:r>
              <a:rPr lang="en-US" sz="2000" dirty="0" smtClean="0">
                <a:latin typeface="Bookman Old Style" pitchFamily="18" charset="0"/>
              </a:rPr>
              <a:t>word.</a:t>
            </a:r>
          </a:p>
          <a:p>
            <a:pPr>
              <a:lnSpc>
                <a:spcPts val="2800"/>
              </a:lnSpc>
            </a:pPr>
            <a:endParaRPr lang="en-US" sz="2000" dirty="0" smtClean="0">
              <a:latin typeface="Bookman Old Style" pitchFamily="18" charset="0"/>
            </a:endParaRPr>
          </a:p>
          <a:p>
            <a:pPr>
              <a:lnSpc>
                <a:spcPts val="2800"/>
              </a:lnSpc>
            </a:pPr>
            <a:r>
              <a:rPr lang="en-IN" sz="2000" dirty="0" smtClean="0">
                <a:latin typeface="Bookman Old Style" pitchFamily="18" charset="0"/>
              </a:rPr>
              <a:t>(f) Plagiarism in graphs and figures: Using graphs, charts, figures, or images from another source without citing.</a:t>
            </a:r>
          </a:p>
          <a:p>
            <a:pPr>
              <a:lnSpc>
                <a:spcPts val="2800"/>
              </a:lnSpc>
            </a:pPr>
            <a:endParaRPr lang="en-IN" sz="2000" dirty="0" smtClean="0">
              <a:latin typeface="Bookman Old Style" pitchFamily="18" charset="0"/>
            </a:endParaRPr>
          </a:p>
          <a:p>
            <a:pPr>
              <a:lnSpc>
                <a:spcPts val="2800"/>
              </a:lnSpc>
            </a:pPr>
            <a:r>
              <a:rPr lang="en-IN" sz="2000" dirty="0" smtClean="0">
                <a:latin typeface="Bookman Old Style" pitchFamily="18" charset="0"/>
              </a:rPr>
              <a:t>(g) Misrepresentation of common knowledge: Failing to cite, believing that the information originated from common knowledge</a:t>
            </a:r>
            <a:endParaRPr lang="en-US" sz="2000" dirty="0"/>
          </a:p>
        </p:txBody>
      </p:sp>
      <p:sp>
        <p:nvSpPr>
          <p:cNvPr id="8" name="TextBox 7"/>
          <p:cNvSpPr txBox="1"/>
          <p:nvPr/>
        </p:nvSpPr>
        <p:spPr>
          <a:xfrm>
            <a:off x="571472" y="4500570"/>
            <a:ext cx="8077200" cy="954107"/>
          </a:xfrm>
          <a:prstGeom prst="rect">
            <a:avLst/>
          </a:prstGeom>
          <a:noFill/>
        </p:spPr>
        <p:txBody>
          <a:bodyPr wrap="square" rtlCol="0">
            <a:spAutoFit/>
          </a:bodyPr>
          <a:lstStyle/>
          <a:p>
            <a:r>
              <a:rPr lang="en-US" sz="2800" dirty="0" smtClean="0">
                <a:latin typeface="Book Antiqua" pitchFamily="18" charset="0"/>
              </a:rPr>
              <a:t>Software like </a:t>
            </a:r>
            <a:r>
              <a:rPr lang="en-US" sz="2800" dirty="0" err="1" smtClean="0">
                <a:latin typeface="Book Antiqua" pitchFamily="18" charset="0"/>
              </a:rPr>
              <a:t>iTHENTICATE</a:t>
            </a:r>
            <a:r>
              <a:rPr lang="en-US" sz="2800" dirty="0" smtClean="0">
                <a:latin typeface="Book Antiqua" pitchFamily="18" charset="0"/>
              </a:rPr>
              <a:t> can identify the lines copied and can grade your paper/thesis </a:t>
            </a:r>
            <a:endParaRPr lang="en-US" sz="2800" dirty="0">
              <a:latin typeface="Book Antiqua"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Number Placeholder 1"/>
          <p:cNvSpPr>
            <a:spLocks noGrp="1"/>
          </p:cNvSpPr>
          <p:nvPr>
            <p:ph type="sldNum" sz="quarter" idx="10"/>
          </p:nvPr>
        </p:nvSpPr>
        <p:spPr>
          <a:noFill/>
        </p:spPr>
        <p:txBody>
          <a:bodyPr/>
          <a:lstStyle/>
          <a:p>
            <a:fld id="{63626D97-0C5D-4EC9-BDE2-1CF59CC3D973}" type="slidenum">
              <a:rPr lang="en-US" smtClean="0"/>
              <a:pPr/>
              <a:t>20</a:t>
            </a:fld>
            <a:endParaRPr lang="en-US" smtClean="0"/>
          </a:p>
        </p:txBody>
      </p:sp>
      <p:sp>
        <p:nvSpPr>
          <p:cNvPr id="3" name="TextBox 2"/>
          <p:cNvSpPr txBox="1"/>
          <p:nvPr/>
        </p:nvSpPr>
        <p:spPr>
          <a:xfrm>
            <a:off x="609600" y="1981200"/>
            <a:ext cx="8001000" cy="2062163"/>
          </a:xfrm>
          <a:prstGeom prst="rect">
            <a:avLst/>
          </a:prstGeom>
          <a:noFill/>
        </p:spPr>
        <p:txBody>
          <a:bodyPr>
            <a:spAutoFit/>
          </a:bodyPr>
          <a:lstStyle/>
          <a:p>
            <a:pPr algn="just">
              <a:defRPr/>
            </a:pPr>
            <a:r>
              <a:rPr lang="en-IN" sz="3200" dirty="0">
                <a:solidFill>
                  <a:srgbClr val="FF0000"/>
                </a:solidFill>
                <a:latin typeface="Book Antiqua" pitchFamily="18" charset="0"/>
              </a:rPr>
              <a:t>If proved,  </a:t>
            </a:r>
            <a:r>
              <a:rPr lang="en-US" sz="3200" dirty="0">
                <a:solidFill>
                  <a:srgbClr val="FF0000"/>
                </a:solidFill>
                <a:latin typeface="Book Antiqua" pitchFamily="18" charset="0"/>
              </a:rPr>
              <a:t>Plagiarism  may cost research fellowship, demotion, loss of increments and even loss of job, </a:t>
            </a:r>
            <a:r>
              <a:rPr lang="en-US" sz="3200" dirty="0" smtClean="0">
                <a:solidFill>
                  <a:srgbClr val="FF0000"/>
                </a:solidFill>
                <a:latin typeface="Book Antiqua" pitchFamily="18" charset="0"/>
              </a:rPr>
              <a:t>along with the </a:t>
            </a:r>
            <a:r>
              <a:rPr lang="en-US" sz="3200" dirty="0">
                <a:solidFill>
                  <a:srgbClr val="FF0000"/>
                </a:solidFill>
                <a:latin typeface="Book Antiqua" pitchFamily="18" charset="0"/>
              </a:rPr>
              <a:t>loss of  social status and prestige</a:t>
            </a:r>
            <a:r>
              <a:rPr lang="en-US" dirty="0">
                <a:solidFill>
                  <a:srgbClr val="FF0000"/>
                </a:solidFill>
                <a:latin typeface="Book Antiqua" pitchFamily="18" charset="0"/>
              </a:rPr>
              <a:t>.</a:t>
            </a:r>
            <a:endParaRPr lang="en-IN" dirty="0">
              <a:solidFill>
                <a:srgbClr val="FF0000"/>
              </a:solidFill>
            </a:endParaRPr>
          </a:p>
        </p:txBody>
      </p:sp>
      <p:sp>
        <p:nvSpPr>
          <p:cNvPr id="4" name="Date Placeholder 3"/>
          <p:cNvSpPr>
            <a:spLocks noGrp="1"/>
          </p:cNvSpPr>
          <p:nvPr>
            <p:ph type="dt" sz="half" idx="10"/>
          </p:nvPr>
        </p:nvSpPr>
        <p:spPr/>
        <p:txBody>
          <a:bodyPr/>
          <a:lstStyle/>
          <a:p>
            <a:r>
              <a:rPr lang="en-US" smtClean="0"/>
              <a:t>Ph.D Course work on Research Methodology</a:t>
            </a:r>
            <a:endParaRPr lang="en-US"/>
          </a:p>
        </p:txBody>
      </p:sp>
      <p:sp>
        <p:nvSpPr>
          <p:cNvPr id="5" name="Footer Placeholder 4"/>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Ph.D Course work on Research Methodology</a:t>
            </a:r>
            <a:endParaRPr lang="en-US"/>
          </a:p>
        </p:txBody>
      </p:sp>
      <p:sp>
        <p:nvSpPr>
          <p:cNvPr id="3" name="Footer Placeholder 2"/>
          <p:cNvSpPr>
            <a:spLocks noGrp="1"/>
          </p:cNvSpPr>
          <p:nvPr>
            <p:ph type="ftr" sz="quarter" idx="11"/>
          </p:nvPr>
        </p:nvSpPr>
        <p:spPr/>
        <p:txBody>
          <a:bodyPr/>
          <a:lstStyle/>
          <a:p>
            <a:r>
              <a:rPr lang="en-IN" smtClean="0"/>
              <a:t>Prof. A. K. Datta  University of Calcutta </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21</a:t>
            </a:fld>
            <a:endParaRPr lang="en-US"/>
          </a:p>
        </p:txBody>
      </p:sp>
      <p:sp>
        <p:nvSpPr>
          <p:cNvPr id="5" name="TextBox 4"/>
          <p:cNvSpPr txBox="1"/>
          <p:nvPr/>
        </p:nvSpPr>
        <p:spPr>
          <a:xfrm>
            <a:off x="1214414" y="0"/>
            <a:ext cx="6858048" cy="584775"/>
          </a:xfrm>
          <a:prstGeom prst="rect">
            <a:avLst/>
          </a:prstGeom>
          <a:noFill/>
        </p:spPr>
        <p:txBody>
          <a:bodyPr wrap="square" rtlCol="0">
            <a:spAutoFit/>
          </a:bodyPr>
          <a:lstStyle/>
          <a:p>
            <a:pPr algn="ctr"/>
            <a:r>
              <a:rPr lang="en-US" sz="3200" dirty="0" smtClean="0">
                <a:latin typeface="Bookman Old Style" pitchFamily="18" charset="0"/>
              </a:rPr>
              <a:t>Thesis evaluation </a:t>
            </a:r>
            <a:endParaRPr lang="en-US" sz="3200" dirty="0">
              <a:latin typeface="Bookman Old Style" pitchFamily="18" charset="0"/>
            </a:endParaRPr>
          </a:p>
        </p:txBody>
      </p:sp>
      <p:sp>
        <p:nvSpPr>
          <p:cNvPr id="6" name="Rectangle 5"/>
          <p:cNvSpPr/>
          <p:nvPr/>
        </p:nvSpPr>
        <p:spPr>
          <a:xfrm>
            <a:off x="142844" y="785794"/>
            <a:ext cx="8786874" cy="5810950"/>
          </a:xfrm>
          <a:prstGeom prst="rect">
            <a:avLst/>
          </a:prstGeom>
        </p:spPr>
        <p:txBody>
          <a:bodyPr wrap="square">
            <a:spAutoFit/>
          </a:bodyPr>
          <a:lstStyle/>
          <a:p>
            <a:pPr>
              <a:lnSpc>
                <a:spcPts val="2800"/>
              </a:lnSpc>
            </a:pPr>
            <a:r>
              <a:rPr lang="en-IN" sz="2000" dirty="0" smtClean="0">
                <a:solidFill>
                  <a:srgbClr val="0000CC"/>
                </a:solidFill>
                <a:latin typeface="Bookman Old Style" pitchFamily="18" charset="0"/>
              </a:rPr>
              <a:t>Objectivity, reliability, and validity </a:t>
            </a:r>
            <a:r>
              <a:rPr lang="en-IN" sz="2000" dirty="0" smtClean="0">
                <a:latin typeface="Bookman Old Style" pitchFamily="18" charset="0"/>
              </a:rPr>
              <a:t>are the traditional criteria for evaluating </a:t>
            </a:r>
            <a:r>
              <a:rPr lang="en-US" sz="2000" dirty="0" smtClean="0">
                <a:latin typeface="Bookman Old Style" pitchFamily="18" charset="0"/>
              </a:rPr>
              <a:t>a doctoral thesis.</a:t>
            </a:r>
            <a:r>
              <a:rPr lang="en-IN" sz="2000" dirty="0" smtClean="0">
                <a:latin typeface="Bookman Old Style" pitchFamily="18" charset="0"/>
              </a:rPr>
              <a:t> Some of the parameters of research evaluation are</a:t>
            </a:r>
          </a:p>
          <a:p>
            <a:pPr>
              <a:lnSpc>
                <a:spcPts val="2800"/>
              </a:lnSpc>
            </a:pPr>
            <a:endParaRPr lang="en-IN" sz="2000" dirty="0" smtClean="0">
              <a:latin typeface="Bookman Old Style" pitchFamily="18" charset="0"/>
            </a:endParaRPr>
          </a:p>
          <a:p>
            <a:pPr>
              <a:lnSpc>
                <a:spcPts val="2800"/>
              </a:lnSpc>
            </a:pPr>
            <a:r>
              <a:rPr lang="en-IN" sz="2000" dirty="0" smtClean="0">
                <a:solidFill>
                  <a:srgbClr val="0000CC"/>
                </a:solidFill>
                <a:latin typeface="Bookman Old Style" pitchFamily="18" charset="0"/>
              </a:rPr>
              <a:t>Trustworthiness</a:t>
            </a:r>
            <a:r>
              <a:rPr lang="en-IN" sz="2000" dirty="0" smtClean="0">
                <a:latin typeface="Bookman Old Style" pitchFamily="18" charset="0"/>
              </a:rPr>
              <a:t> is one of the measures of the quality of research. It is worthwhile to establish beyond doubt that the data and data analysis </a:t>
            </a:r>
            <a:r>
              <a:rPr lang="en-US" sz="2000" dirty="0" smtClean="0">
                <a:latin typeface="Bookman Old Style" pitchFamily="18" charset="0"/>
              </a:rPr>
              <a:t>are believable and trustworthy.</a:t>
            </a:r>
            <a:r>
              <a:rPr lang="en-IN" sz="2000" dirty="0" smtClean="0">
                <a:latin typeface="Bookman Old Style" pitchFamily="18" charset="0"/>
              </a:rPr>
              <a:t> </a:t>
            </a:r>
          </a:p>
          <a:p>
            <a:pPr>
              <a:lnSpc>
                <a:spcPts val="2800"/>
              </a:lnSpc>
            </a:pPr>
            <a:endParaRPr lang="en-IN" sz="2000" dirty="0" smtClean="0">
              <a:latin typeface="Bookman Old Style" pitchFamily="18" charset="0"/>
            </a:endParaRPr>
          </a:p>
          <a:p>
            <a:pPr>
              <a:lnSpc>
                <a:spcPts val="2800"/>
              </a:lnSpc>
            </a:pPr>
            <a:r>
              <a:rPr lang="en-IN" sz="2000" dirty="0" smtClean="0">
                <a:solidFill>
                  <a:srgbClr val="0000CC"/>
                </a:solidFill>
                <a:latin typeface="Bookman Old Style" pitchFamily="18" charset="0"/>
              </a:rPr>
              <a:t>Credibility</a:t>
            </a:r>
            <a:r>
              <a:rPr lang="en-IN" sz="2000" dirty="0" smtClean="0">
                <a:latin typeface="Bookman Old Style" pitchFamily="18" charset="0"/>
              </a:rPr>
              <a:t> in research is similar to trustworthiness, but credibility is analogous to internal validity, that is, the goodwill of the research group and organization. </a:t>
            </a:r>
          </a:p>
          <a:p>
            <a:pPr>
              <a:lnSpc>
                <a:spcPts val="2800"/>
              </a:lnSpc>
            </a:pPr>
            <a:endParaRPr lang="en-IN" sz="2000" dirty="0" smtClean="0">
              <a:latin typeface="Bookman Old Style" pitchFamily="18" charset="0"/>
            </a:endParaRPr>
          </a:p>
          <a:p>
            <a:pPr>
              <a:lnSpc>
                <a:spcPts val="2800"/>
              </a:lnSpc>
            </a:pPr>
            <a:r>
              <a:rPr lang="en-IN" sz="2000" dirty="0" smtClean="0">
                <a:latin typeface="Bookman Old Style" pitchFamily="18" charset="0"/>
              </a:rPr>
              <a:t>Research findings are </a:t>
            </a:r>
            <a:r>
              <a:rPr lang="en-IN" sz="2000" dirty="0" smtClean="0">
                <a:solidFill>
                  <a:srgbClr val="0000CC"/>
                </a:solidFill>
                <a:latin typeface="Bookman Old Style" pitchFamily="18" charset="0"/>
              </a:rPr>
              <a:t>transferable </a:t>
            </a:r>
            <a:r>
              <a:rPr lang="en-IN" sz="2000" dirty="0" smtClean="0">
                <a:latin typeface="Bookman Old Style" pitchFamily="18" charset="0"/>
              </a:rPr>
              <a:t>only if they are tested into new contexts outside the context of the actual study. Transferability is thus analogous to external validity, the extent to which findings can be generalized beyond </a:t>
            </a:r>
            <a:r>
              <a:rPr lang="en-US" sz="2000" dirty="0" smtClean="0">
                <a:latin typeface="Bookman Old Style" pitchFamily="18" charset="0"/>
              </a:rPr>
              <a:t>the times or setting. </a:t>
            </a:r>
            <a:endParaRPr lang="en-US" sz="2000" dirty="0">
              <a:latin typeface="Bookman Old Style"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Ph.D Course work on Research Methodology</a:t>
            </a:r>
            <a:endParaRPr lang="en-US"/>
          </a:p>
        </p:txBody>
      </p:sp>
      <p:sp>
        <p:nvSpPr>
          <p:cNvPr id="3" name="Footer Placeholder 2"/>
          <p:cNvSpPr>
            <a:spLocks noGrp="1"/>
          </p:cNvSpPr>
          <p:nvPr>
            <p:ph type="ftr" sz="quarter" idx="11"/>
          </p:nvPr>
        </p:nvSpPr>
        <p:spPr/>
        <p:txBody>
          <a:bodyPr/>
          <a:lstStyle/>
          <a:p>
            <a:r>
              <a:rPr lang="en-IN" smtClean="0"/>
              <a:t>Prof. A. K. Datta  University of Calcutta </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22</a:t>
            </a:fld>
            <a:endParaRPr lang="en-US"/>
          </a:p>
        </p:txBody>
      </p:sp>
      <p:sp>
        <p:nvSpPr>
          <p:cNvPr id="5" name="Rectangle 4"/>
          <p:cNvSpPr/>
          <p:nvPr/>
        </p:nvSpPr>
        <p:spPr>
          <a:xfrm>
            <a:off x="285720" y="714356"/>
            <a:ext cx="8643998" cy="2964914"/>
          </a:xfrm>
          <a:prstGeom prst="rect">
            <a:avLst/>
          </a:prstGeom>
        </p:spPr>
        <p:txBody>
          <a:bodyPr wrap="square">
            <a:spAutoFit/>
          </a:bodyPr>
          <a:lstStyle/>
          <a:p>
            <a:pPr>
              <a:lnSpc>
                <a:spcPts val="2800"/>
              </a:lnSpc>
            </a:pPr>
            <a:r>
              <a:rPr lang="en-IN" sz="2000" dirty="0" smtClean="0">
                <a:solidFill>
                  <a:srgbClr val="0000CC"/>
                </a:solidFill>
                <a:latin typeface="Bookman Old Style" pitchFamily="18" charset="0"/>
              </a:rPr>
              <a:t>Dependability</a:t>
            </a:r>
            <a:r>
              <a:rPr lang="en-IN" sz="2000" dirty="0" smtClean="0">
                <a:latin typeface="Bookman Old Style" pitchFamily="18" charset="0"/>
              </a:rPr>
              <a:t> is analogous to reliability. The consistency of observing the same findings under similar circumstances makes findings dependable. Conformability for qualitative research is how others can conform or corroborate the research findings. </a:t>
            </a:r>
          </a:p>
          <a:p>
            <a:pPr>
              <a:lnSpc>
                <a:spcPts val="2800"/>
              </a:lnSpc>
            </a:pPr>
            <a:r>
              <a:rPr lang="en-IN" sz="2000" dirty="0" smtClean="0">
                <a:latin typeface="Bookman Old Style" pitchFamily="18" charset="0"/>
              </a:rPr>
              <a:t> </a:t>
            </a:r>
          </a:p>
          <a:p>
            <a:pPr>
              <a:lnSpc>
                <a:spcPts val="2800"/>
              </a:lnSpc>
            </a:pPr>
            <a:r>
              <a:rPr lang="en-IN" sz="2000" dirty="0" smtClean="0">
                <a:latin typeface="Bookman Old Style" pitchFamily="18" charset="0"/>
              </a:rPr>
              <a:t>The researcher needs to be </a:t>
            </a:r>
            <a:r>
              <a:rPr lang="en-IN" sz="2000" dirty="0" smtClean="0">
                <a:solidFill>
                  <a:srgbClr val="0000CC"/>
                </a:solidFill>
                <a:latin typeface="Bookman Old Style" pitchFamily="18" charset="0"/>
              </a:rPr>
              <a:t>free from bias </a:t>
            </a:r>
            <a:r>
              <a:rPr lang="en-IN" sz="2000" dirty="0" smtClean="0">
                <a:latin typeface="Bookman Old Style" pitchFamily="18" charset="0"/>
              </a:rPr>
              <a:t>in explaining his/her research. The researcher may provide a systematic self-critical account of how the research is done.</a:t>
            </a:r>
            <a:endParaRPr lang="en-US" dirty="0">
              <a:latin typeface="Bookman Old Style" pitchFamily="18" charset="0"/>
            </a:endParaRPr>
          </a:p>
        </p:txBody>
      </p:sp>
      <p:sp>
        <p:nvSpPr>
          <p:cNvPr id="6" name="Rectangle 5"/>
          <p:cNvSpPr/>
          <p:nvPr/>
        </p:nvSpPr>
        <p:spPr>
          <a:xfrm>
            <a:off x="214282" y="3786190"/>
            <a:ext cx="8715436" cy="1861151"/>
          </a:xfrm>
          <a:prstGeom prst="rect">
            <a:avLst/>
          </a:prstGeom>
        </p:spPr>
        <p:txBody>
          <a:bodyPr wrap="square">
            <a:spAutoFit/>
          </a:bodyPr>
          <a:lstStyle/>
          <a:p>
            <a:pPr>
              <a:lnSpc>
                <a:spcPts val="2800"/>
              </a:lnSpc>
            </a:pPr>
            <a:r>
              <a:rPr lang="en-IN" sz="2000" dirty="0" smtClean="0">
                <a:latin typeface="Bookman Old Style" pitchFamily="18" charset="0"/>
              </a:rPr>
              <a:t>Examiners do not read a thesis with an intention to disapprove the work unless the formulation is wrong and the theory tangentially supports the  experiments, raising </a:t>
            </a:r>
            <a:r>
              <a:rPr lang="en-US" sz="2000" dirty="0" smtClean="0">
                <a:latin typeface="Bookman Old Style" pitchFamily="18" charset="0"/>
              </a:rPr>
              <a:t>several questions.</a:t>
            </a:r>
            <a:r>
              <a:rPr lang="en-IN" sz="2000" dirty="0" smtClean="0"/>
              <a:t> </a:t>
            </a:r>
            <a:r>
              <a:rPr lang="en-IN" sz="2000" dirty="0" smtClean="0">
                <a:latin typeface="Bookman Old Style" pitchFamily="18" charset="0"/>
              </a:rPr>
              <a:t>The examiners' job becomes easy if the researcher has some publications in standard refereed journals.</a:t>
            </a:r>
            <a:endParaRPr lang="en-US" sz="2000" dirty="0">
              <a:latin typeface="Bookman Old Style"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Ph.D Course work on Research Methodology</a:t>
            </a:r>
            <a:endParaRPr lang="en-US"/>
          </a:p>
        </p:txBody>
      </p:sp>
      <p:sp>
        <p:nvSpPr>
          <p:cNvPr id="3" name="Footer Placeholder 2"/>
          <p:cNvSpPr>
            <a:spLocks noGrp="1"/>
          </p:cNvSpPr>
          <p:nvPr>
            <p:ph type="ftr" sz="quarter" idx="11"/>
          </p:nvPr>
        </p:nvSpPr>
        <p:spPr/>
        <p:txBody>
          <a:bodyPr/>
          <a:lstStyle/>
          <a:p>
            <a:r>
              <a:rPr lang="en-IN" smtClean="0"/>
              <a:t>Prof. A. K. Datta  University of Calcutta </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23</a:t>
            </a:fld>
            <a:endParaRPr lang="en-US"/>
          </a:p>
        </p:txBody>
      </p:sp>
      <p:pic>
        <p:nvPicPr>
          <p:cNvPr id="19458" name="Picture 2"/>
          <p:cNvPicPr>
            <a:picLocks noChangeAspect="1" noChangeArrowheads="1"/>
          </p:cNvPicPr>
          <p:nvPr/>
        </p:nvPicPr>
        <p:blipFill>
          <a:blip r:embed="rId2"/>
          <a:srcRect/>
          <a:stretch>
            <a:fillRect/>
          </a:stretch>
        </p:blipFill>
        <p:spPr bwMode="auto">
          <a:xfrm>
            <a:off x="7488" y="857232"/>
            <a:ext cx="9129025" cy="5143536"/>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81000" y="838200"/>
            <a:ext cx="8382000" cy="1384995"/>
          </a:xfrm>
          <a:prstGeom prst="rect">
            <a:avLst/>
          </a:prstGeom>
        </p:spPr>
        <p:txBody>
          <a:bodyPr>
            <a:spAutoFit/>
          </a:bodyPr>
          <a:lstStyle/>
          <a:p>
            <a:pPr>
              <a:defRPr/>
            </a:pPr>
            <a:r>
              <a:rPr lang="en-IN" sz="2800" dirty="0">
                <a:latin typeface="Book Antiqua" pitchFamily="18" charset="0"/>
              </a:rPr>
              <a:t>University of Calcutta (Regulation for the Degree of Doctor of Philosophy, </a:t>
            </a:r>
            <a:r>
              <a:rPr lang="en-IN" sz="2800" dirty="0" smtClean="0">
                <a:latin typeface="Book Antiqua" pitchFamily="18" charset="0"/>
              </a:rPr>
              <a:t>Ph.D</a:t>
            </a:r>
            <a:r>
              <a:rPr lang="en-IN" sz="2800" dirty="0">
                <a:latin typeface="Book Antiqua" pitchFamily="18" charset="0"/>
              </a:rPr>
              <a:t>.), Regulations </a:t>
            </a:r>
            <a:r>
              <a:rPr lang="en-IN" sz="2800" dirty="0" smtClean="0">
                <a:latin typeface="Book Antiqua" pitchFamily="18" charset="0"/>
              </a:rPr>
              <a:t>2021.</a:t>
            </a:r>
          </a:p>
          <a:p>
            <a:pPr>
              <a:defRPr/>
            </a:pPr>
            <a:r>
              <a:rPr lang="en-US" sz="2800" dirty="0" smtClean="0">
                <a:latin typeface="Book Antiqua" pitchFamily="18" charset="0"/>
              </a:rPr>
              <a:t>(submission and checklist)</a:t>
            </a:r>
            <a:endParaRPr lang="en-IN" sz="2800" dirty="0">
              <a:latin typeface="Book Antiqua" pitchFamily="18" charset="0"/>
            </a:endParaRPr>
          </a:p>
        </p:txBody>
      </p:sp>
      <p:pic>
        <p:nvPicPr>
          <p:cNvPr id="78851" name="Picture 1"/>
          <p:cNvPicPr>
            <a:picLocks noChangeAspect="1" noChangeArrowheads="1"/>
          </p:cNvPicPr>
          <p:nvPr/>
        </p:nvPicPr>
        <p:blipFill>
          <a:blip r:embed="rId2"/>
          <a:srcRect/>
          <a:stretch>
            <a:fillRect/>
          </a:stretch>
        </p:blipFill>
        <p:spPr bwMode="auto">
          <a:xfrm>
            <a:off x="2209800" y="2667000"/>
            <a:ext cx="1600200" cy="2971800"/>
          </a:xfrm>
          <a:prstGeom prst="rect">
            <a:avLst/>
          </a:prstGeom>
          <a:noFill/>
          <a:ln w="9525">
            <a:noFill/>
            <a:round/>
            <a:headEnd/>
            <a:tailEnd/>
          </a:ln>
        </p:spPr>
      </p:pic>
      <p:sp>
        <p:nvSpPr>
          <p:cNvPr id="7" name="TextBox 6"/>
          <p:cNvSpPr txBox="1"/>
          <p:nvPr/>
        </p:nvSpPr>
        <p:spPr>
          <a:xfrm>
            <a:off x="381000" y="3200400"/>
            <a:ext cx="1676400" cy="1446213"/>
          </a:xfrm>
          <a:prstGeom prst="rect">
            <a:avLst/>
          </a:prstGeom>
          <a:noFill/>
        </p:spPr>
        <p:txBody>
          <a:bodyPr>
            <a:spAutoFit/>
          </a:bodyPr>
          <a:lstStyle/>
          <a:p>
            <a:pPr>
              <a:defRPr/>
            </a:pPr>
            <a:r>
              <a:rPr lang="en-IN" sz="4400" dirty="0">
                <a:solidFill>
                  <a:schemeClr val="bg2">
                    <a:lumMod val="50000"/>
                  </a:schemeClr>
                </a:solidFill>
                <a:latin typeface="Book Antiqua" pitchFamily="18" charset="0"/>
              </a:rPr>
              <a:t>For any </a:t>
            </a:r>
          </a:p>
        </p:txBody>
      </p:sp>
      <p:sp>
        <p:nvSpPr>
          <p:cNvPr id="8" name="TextBox 7"/>
          <p:cNvSpPr txBox="1"/>
          <p:nvPr/>
        </p:nvSpPr>
        <p:spPr>
          <a:xfrm>
            <a:off x="4038600" y="3276600"/>
            <a:ext cx="4572000" cy="1323975"/>
          </a:xfrm>
          <a:prstGeom prst="rect">
            <a:avLst/>
          </a:prstGeom>
          <a:noFill/>
        </p:spPr>
        <p:txBody>
          <a:bodyPr>
            <a:spAutoFit/>
          </a:bodyPr>
          <a:lstStyle/>
          <a:p>
            <a:pPr>
              <a:defRPr/>
            </a:pPr>
            <a:r>
              <a:rPr lang="en-IN" sz="4000" dirty="0">
                <a:latin typeface="Book Antiqua" pitchFamily="18" charset="0"/>
              </a:rPr>
              <a:t>Visit </a:t>
            </a:r>
          </a:p>
          <a:p>
            <a:pPr>
              <a:defRPr/>
            </a:pPr>
            <a:r>
              <a:rPr lang="en-IN" sz="4000" dirty="0">
                <a:latin typeface="Book Antiqua" pitchFamily="18" charset="0"/>
              </a:rPr>
              <a:t>www. caluniv.ac.in</a:t>
            </a:r>
          </a:p>
        </p:txBody>
      </p:sp>
      <p:sp>
        <p:nvSpPr>
          <p:cNvPr id="6" name="Date Placeholder 5"/>
          <p:cNvSpPr>
            <a:spLocks noGrp="1"/>
          </p:cNvSpPr>
          <p:nvPr>
            <p:ph type="dt" sz="half" idx="10"/>
          </p:nvPr>
        </p:nvSpPr>
        <p:spPr/>
        <p:txBody>
          <a:bodyPr/>
          <a:lstStyle/>
          <a:p>
            <a:r>
              <a:rPr lang="en-US" smtClean="0"/>
              <a:t>Ph.D Course work on Research Methodology</a:t>
            </a:r>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24</a:t>
            </a:fld>
            <a:endParaRPr lang="en-US"/>
          </a:p>
        </p:txBody>
      </p:sp>
      <p:sp>
        <p:nvSpPr>
          <p:cNvPr id="10" name="Footer Placeholder 9"/>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68610" name="TextBox 1"/>
          <p:cNvSpPr txBox="1">
            <a:spLocks noChangeArrowheads="1"/>
          </p:cNvSpPr>
          <p:nvPr/>
        </p:nvSpPr>
        <p:spPr bwMode="auto">
          <a:xfrm>
            <a:off x="533400" y="1143000"/>
            <a:ext cx="8001000" cy="2062163"/>
          </a:xfrm>
          <a:prstGeom prst="rect">
            <a:avLst/>
          </a:prstGeom>
          <a:noFill/>
          <a:ln w="9525">
            <a:noFill/>
            <a:miter lim="800000"/>
            <a:headEnd/>
            <a:tailEnd/>
          </a:ln>
        </p:spPr>
        <p:txBody>
          <a:bodyPr>
            <a:spAutoFit/>
          </a:bodyPr>
          <a:lstStyle/>
          <a:p>
            <a:pPr>
              <a:defRPr/>
            </a:pPr>
            <a:r>
              <a:rPr lang="en-IN" sz="3200" dirty="0">
                <a:latin typeface="Book Antiqua" pitchFamily="18" charset="0"/>
              </a:rPr>
              <a:t>Research is a journey ; </a:t>
            </a:r>
          </a:p>
          <a:p>
            <a:pPr algn="just">
              <a:defRPr/>
            </a:pPr>
            <a:r>
              <a:rPr lang="en-IN" sz="3200" dirty="0">
                <a:latin typeface="Book Antiqua" pitchFamily="18" charset="0"/>
              </a:rPr>
              <a:t>It has pleasure and pain,  since it is a journey to the unknown and through an uncharted path</a:t>
            </a:r>
          </a:p>
        </p:txBody>
      </p:sp>
      <p:sp>
        <p:nvSpPr>
          <p:cNvPr id="3" name="Date Placeholder 2"/>
          <p:cNvSpPr>
            <a:spLocks noGrp="1"/>
          </p:cNvSpPr>
          <p:nvPr>
            <p:ph type="dt" sz="half" idx="10"/>
          </p:nvPr>
        </p:nvSpPr>
        <p:spPr/>
        <p:txBody>
          <a:bodyPr/>
          <a:lstStyle/>
          <a:p>
            <a:r>
              <a:rPr lang="en-US" smtClean="0"/>
              <a:t>Ph.D Course work on Research Methodology</a:t>
            </a:r>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25</a:t>
            </a:fld>
            <a:endParaRPr lang="en-US"/>
          </a:p>
        </p:txBody>
      </p:sp>
      <p:sp>
        <p:nvSpPr>
          <p:cNvPr id="5" name="Footer Placeholder 4"/>
          <p:cNvSpPr>
            <a:spLocks noGrp="1"/>
          </p:cNvSpPr>
          <p:nvPr>
            <p:ph type="ftr" sz="quarter" idx="11"/>
          </p:nvPr>
        </p:nvSpPr>
        <p:spPr/>
        <p:txBody>
          <a:bodyPr/>
          <a:lstStyle/>
          <a:p>
            <a:r>
              <a:rPr lang="en-IN" smtClean="0"/>
              <a:t>Prof. A. K. Datta  University of Calcutta </a:t>
            </a:r>
            <a:endParaRPr lang="en-US"/>
          </a:p>
        </p:txBody>
      </p:sp>
    </p:spTree>
  </p:cSld>
  <p:clrMapOvr>
    <a:masterClrMapping/>
  </p:clrMapOvr>
  <p:transition spd="med"/>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144</TotalTime>
  <Words>2126</Words>
  <Application>Microsoft Office PowerPoint</Application>
  <PresentationFormat>On-screen Show (4:3)</PresentationFormat>
  <Paragraphs>221</Paragraphs>
  <Slides>25</Slides>
  <Notes>4</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25</vt:i4>
      </vt:variant>
    </vt:vector>
  </HeadingPairs>
  <TitlesOfParts>
    <vt:vector size="27" baseType="lpstr">
      <vt:lpstr>Office Theme</vt:lpstr>
      <vt:lpstr>Document</vt:lpstr>
      <vt:lpstr>THESIS  WRITING</vt:lpstr>
      <vt:lpstr>RESEARCH REPORT</vt:lpstr>
      <vt:lpstr>Slide 3</vt:lpstr>
      <vt:lpstr>Slide 4</vt:lpstr>
      <vt:lpstr>Slide 5</vt:lpstr>
      <vt:lpstr>Slide 6</vt:lpstr>
      <vt:lpstr>CHAPTER SEQUENCE</vt:lpstr>
      <vt:lpstr>CONTENTS OF RESEARCH REPORT</vt:lpstr>
      <vt:lpstr> Styles of the thesis</vt:lpstr>
      <vt:lpstr>3. Use of images/visuals</vt:lpstr>
      <vt:lpstr>4. Language</vt:lpstr>
      <vt:lpstr>4. Editing</vt:lpstr>
      <vt:lpstr>10 point  Thesis  Writing Process</vt:lpstr>
      <vt:lpstr>Slide 14</vt:lpstr>
      <vt:lpstr>Tools and Useful Links</vt:lpstr>
      <vt:lpstr>   ETHICAL ISSUES IN  RESEARCH</vt:lpstr>
      <vt:lpstr>Plagiarism</vt:lpstr>
      <vt:lpstr>Slide 18</vt:lpstr>
      <vt:lpstr>Slide 19</vt:lpstr>
      <vt:lpstr>Slide 20</vt:lpstr>
      <vt:lpstr>Slide 21</vt:lpstr>
      <vt:lpstr>Slide 22</vt:lpstr>
      <vt:lpstr>Slide 23</vt:lpstr>
      <vt:lpstr>Slide 24</vt:lpstr>
      <vt:lpstr>Slide 25</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Proposal Project Writing</dc:title>
  <dc:creator>AKDatta</dc:creator>
  <cp:lastModifiedBy>Asit Datta</cp:lastModifiedBy>
  <cp:revision>28</cp:revision>
  <dcterms:created xsi:type="dcterms:W3CDTF">2006-08-16T00:00:00Z</dcterms:created>
  <dcterms:modified xsi:type="dcterms:W3CDTF">2023-12-26T04:57:54Z</dcterms:modified>
</cp:coreProperties>
</file>