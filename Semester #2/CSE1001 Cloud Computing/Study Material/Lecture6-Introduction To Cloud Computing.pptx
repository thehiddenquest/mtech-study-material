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5" r:id="rId2"/>
    <p:sldId id="508" r:id="rId3"/>
    <p:sldId id="513" r:id="rId4"/>
    <p:sldId id="514" r:id="rId5"/>
    <p:sldId id="515" r:id="rId6"/>
    <p:sldId id="51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79589" autoAdjust="0"/>
  </p:normalViewPr>
  <p:slideViewPr>
    <p:cSldViewPr>
      <p:cViewPr varScale="1">
        <p:scale>
          <a:sx n="66" d="100"/>
          <a:sy n="66" d="100"/>
        </p:scale>
        <p:origin x="48" y="18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3/6/2026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3/6/2026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77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49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18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4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261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3/6/2026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77478"/>
            <a:ext cx="119142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Introduction to Cloud Computing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is Cloud Computing?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90" y="783018"/>
            <a:ext cx="11929218" cy="581153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According to NIST (National Institute of Standards and Technology)</a:t>
            </a:r>
          </a:p>
          <a:p>
            <a:pPr algn="just"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a model for enabling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convenient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on-demand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access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shared pool of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computing resources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rapidly provisioned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released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management effort or service provider interaction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None/>
            </a:pPr>
            <a:endParaRPr lang="en-US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None/>
            </a:pP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None/>
            </a:pPr>
            <a:endParaRPr lang="en-US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None/>
            </a:pP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Definition in AWS Academy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on-demand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delivery of compute power, database, storage, application, and other IT resources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the internet 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pay-as-you-go</a:t>
            </a:r>
            <a:r>
              <a:rPr lang="en-US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pricing.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N" dirty="0" smtClean="0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504" y="2339132"/>
            <a:ext cx="383063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167829" y="2053382"/>
            <a:ext cx="6072187" cy="2671762"/>
            <a:chOff x="585" y="1710"/>
            <a:chExt cx="4542" cy="2313"/>
          </a:xfrm>
        </p:grpSpPr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1710"/>
              <a:ext cx="42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1800"/>
              <a:ext cx="37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" y="3510"/>
              <a:ext cx="294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" y="3645"/>
              <a:ext cx="52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5" y="2565"/>
              <a:ext cx="40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1" name="Straight Arrow Connector 20"/>
            <p:cNvCxnSpPr/>
            <p:nvPr/>
          </p:nvCxnSpPr>
          <p:spPr>
            <a:xfrm>
              <a:off x="1080" y="2159"/>
              <a:ext cx="360" cy="224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10800000" flipV="1">
              <a:off x="4005" y="2070"/>
              <a:ext cx="360" cy="31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10800000">
              <a:off x="4095" y="2656"/>
              <a:ext cx="629" cy="89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879" y="3374"/>
              <a:ext cx="469" cy="30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10800000">
              <a:off x="4005" y="3510"/>
              <a:ext cx="405" cy="323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6456040" y="2060848"/>
            <a:ext cx="5472608" cy="3456384"/>
            <a:chOff x="6456040" y="2060848"/>
            <a:chExt cx="5472608" cy="3456384"/>
          </a:xfrm>
        </p:grpSpPr>
        <p:sp>
          <p:nvSpPr>
            <p:cNvPr id="2" name="Rounded Rectangle 1"/>
            <p:cNvSpPr/>
            <p:nvPr/>
          </p:nvSpPr>
          <p:spPr>
            <a:xfrm>
              <a:off x="6456040" y="2060848"/>
              <a:ext cx="5472608" cy="345638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 2"/>
            <p:cNvSpPr/>
            <p:nvPr/>
          </p:nvSpPr>
          <p:spPr>
            <a:xfrm>
              <a:off x="7104112" y="2132856"/>
              <a:ext cx="40879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Infrastructure as </a:t>
              </a:r>
              <a:r>
                <a:rPr lang="en-US" b="1" dirty="0" smtClean="0">
                  <a:solidFill>
                    <a:srgbClr val="FF0000"/>
                  </a:solidFill>
                </a:rPr>
                <a:t>Hardware (traditional)</a:t>
              </a:r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589353" y="2516703"/>
              <a:ext cx="519527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Require space, staff, physical security, </a:t>
              </a:r>
              <a:r>
                <a:rPr lang="en-US" dirty="0" smtClean="0"/>
                <a:t>high </a:t>
              </a:r>
              <a:r>
                <a:rPr lang="en-US" dirty="0" smtClean="0"/>
                <a:t>capital expenditure (CAPEX</a:t>
              </a:r>
              <a:r>
                <a:rPr lang="en-US" dirty="0" smtClean="0"/>
                <a:t>) and low operational expenditure (OPEX)</a:t>
              </a:r>
              <a:endParaRPr lang="en-US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Need </a:t>
              </a:r>
              <a:r>
                <a:rPr lang="en-US" dirty="0" smtClean="0"/>
                <a:t>capacity </a:t>
              </a:r>
              <a:r>
                <a:rPr lang="en-US" dirty="0"/>
                <a:t>g</a:t>
              </a:r>
              <a:r>
                <a:rPr lang="en-US" dirty="0" smtClean="0"/>
                <a:t>uessing</a:t>
              </a:r>
              <a:endParaRPr lang="en-IN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89353" y="4233862"/>
              <a:ext cx="519527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Easy and </a:t>
              </a:r>
              <a:r>
                <a:rPr lang="en-US" dirty="0" smtClean="0"/>
                <a:t>Flexible without capacity guessing</a:t>
              </a:r>
              <a:endParaRPr lang="en-US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Can be changed quickly in a cost effective way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 smtClean="0"/>
                <a:t>Eg</a:t>
              </a:r>
              <a:r>
                <a:rPr lang="en-US" dirty="0" smtClean="0"/>
                <a:t>. – </a:t>
              </a:r>
              <a:r>
                <a:rPr lang="en-US" dirty="0" err="1" smtClean="0"/>
                <a:t>Terraform</a:t>
              </a:r>
              <a:r>
                <a:rPr lang="en-US" dirty="0" smtClean="0"/>
                <a:t> Infrastructure as a Code (</a:t>
              </a:r>
              <a:r>
                <a:rPr lang="en-US" dirty="0" err="1" smtClean="0"/>
                <a:t>IaC</a:t>
              </a:r>
              <a:r>
                <a:rPr lang="en-US" dirty="0" smtClean="0"/>
                <a:t>)</a:t>
              </a:r>
              <a:endParaRPr lang="en-IN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20136" y="3861048"/>
              <a:ext cx="35314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Infrastructure as </a:t>
              </a:r>
              <a:r>
                <a:rPr lang="en-US" b="1" dirty="0" smtClean="0">
                  <a:solidFill>
                    <a:srgbClr val="FF0000"/>
                  </a:solidFill>
                </a:rPr>
                <a:t>Software (Cloud)</a:t>
              </a:r>
              <a:endParaRPr lang="en-IN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664507" y="4859868"/>
            <a:ext cx="5071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0070C0"/>
                </a:solidFill>
              </a:rPr>
              <a:t>Note: The term Cloud is a metaphor for the Internet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8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Characteristics of Cloud Computing</a:t>
            </a:r>
            <a:endParaRPr lang="en-US" dirty="0"/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627164"/>
            <a:ext cx="383063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22"/>
          <p:cNvGrpSpPr>
            <a:grpSpLocks/>
          </p:cNvGrpSpPr>
          <p:nvPr/>
        </p:nvGrpSpPr>
        <p:grpSpPr bwMode="auto">
          <a:xfrm>
            <a:off x="152400" y="2341414"/>
            <a:ext cx="6072187" cy="2671762"/>
            <a:chOff x="585" y="1710"/>
            <a:chExt cx="4542" cy="2313"/>
          </a:xfrm>
        </p:grpSpPr>
        <p:pic>
          <p:nvPicPr>
            <p:cNvPr id="31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1710"/>
              <a:ext cx="42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1800"/>
              <a:ext cx="37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" y="3510"/>
              <a:ext cx="294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" y="3645"/>
              <a:ext cx="52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5" y="2565"/>
              <a:ext cx="40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6" name="Straight Arrow Connector 35"/>
            <p:cNvCxnSpPr/>
            <p:nvPr/>
          </p:nvCxnSpPr>
          <p:spPr>
            <a:xfrm>
              <a:off x="1080" y="2159"/>
              <a:ext cx="360" cy="224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10800000" flipV="1">
              <a:off x="4005" y="2070"/>
              <a:ext cx="360" cy="31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10800000">
              <a:off x="4095" y="2656"/>
              <a:ext cx="629" cy="89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879" y="3374"/>
              <a:ext cx="469" cy="30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0800000">
              <a:off x="4005" y="3510"/>
              <a:ext cx="405" cy="323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1"/>
          <p:cNvSpPr txBox="1">
            <a:spLocks noChangeArrowheads="1"/>
          </p:cNvSpPr>
          <p:nvPr/>
        </p:nvSpPr>
        <p:spPr bwMode="auto">
          <a:xfrm>
            <a:off x="8135044" y="1397620"/>
            <a:ext cx="2786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On-demand Self Service</a:t>
            </a:r>
          </a:p>
        </p:txBody>
      </p:sp>
      <p:sp>
        <p:nvSpPr>
          <p:cNvPr id="42" name="TextBox 54"/>
          <p:cNvSpPr txBox="1">
            <a:spLocks noChangeArrowheads="1"/>
          </p:cNvSpPr>
          <p:nvPr/>
        </p:nvSpPr>
        <p:spPr bwMode="auto">
          <a:xfrm>
            <a:off x="8135044" y="2067545"/>
            <a:ext cx="2786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Network Access</a:t>
            </a:r>
          </a:p>
        </p:txBody>
      </p:sp>
      <p:sp>
        <p:nvSpPr>
          <p:cNvPr id="43" name="TextBox 55"/>
          <p:cNvSpPr txBox="1">
            <a:spLocks noChangeArrowheads="1"/>
          </p:cNvSpPr>
          <p:nvPr/>
        </p:nvSpPr>
        <p:spPr bwMode="auto">
          <a:xfrm>
            <a:off x="8135044" y="2781920"/>
            <a:ext cx="2786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</a:t>
            </a:r>
          </a:p>
        </p:txBody>
      </p:sp>
      <p:sp>
        <p:nvSpPr>
          <p:cNvPr id="44" name="TextBox 56"/>
          <p:cNvSpPr txBox="1">
            <a:spLocks noChangeArrowheads="1"/>
          </p:cNvSpPr>
          <p:nvPr/>
        </p:nvSpPr>
        <p:spPr bwMode="auto">
          <a:xfrm>
            <a:off x="8135044" y="3496295"/>
            <a:ext cx="2786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</a:p>
        </p:txBody>
      </p:sp>
      <p:sp>
        <p:nvSpPr>
          <p:cNvPr id="45" name="TextBox 57"/>
          <p:cNvSpPr txBox="1">
            <a:spLocks noChangeArrowheads="1"/>
          </p:cNvSpPr>
          <p:nvPr/>
        </p:nvSpPr>
        <p:spPr bwMode="auto">
          <a:xfrm>
            <a:off x="8135044" y="4139233"/>
            <a:ext cx="2786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Service</a:t>
            </a:r>
          </a:p>
        </p:txBody>
      </p:sp>
      <p:sp>
        <p:nvSpPr>
          <p:cNvPr id="46" name="TextBox 58"/>
          <p:cNvSpPr txBox="1">
            <a:spLocks noChangeArrowheads="1"/>
          </p:cNvSpPr>
          <p:nvPr/>
        </p:nvSpPr>
        <p:spPr bwMode="auto">
          <a:xfrm>
            <a:off x="6992044" y="897558"/>
            <a:ext cx="4000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Cloud Computing:</a:t>
            </a:r>
          </a:p>
        </p:txBody>
      </p:sp>
      <p:sp>
        <p:nvSpPr>
          <p:cNvPr id="47" name="TextBox 59"/>
          <p:cNvSpPr txBox="1">
            <a:spLocks noChangeArrowheads="1"/>
          </p:cNvSpPr>
          <p:nvPr/>
        </p:nvSpPr>
        <p:spPr bwMode="auto">
          <a:xfrm>
            <a:off x="6960096" y="4783104"/>
            <a:ext cx="4000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of Cloud Computing:</a:t>
            </a:r>
          </a:p>
        </p:txBody>
      </p:sp>
      <p:sp>
        <p:nvSpPr>
          <p:cNvPr id="48" name="TextBox 60"/>
          <p:cNvSpPr txBox="1">
            <a:spLocks noChangeArrowheads="1"/>
          </p:cNvSpPr>
          <p:nvPr/>
        </p:nvSpPr>
        <p:spPr bwMode="auto">
          <a:xfrm>
            <a:off x="8062465" y="5165692"/>
            <a:ext cx="2786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Inherent Latency</a:t>
            </a:r>
          </a:p>
        </p:txBody>
      </p:sp>
      <p:sp>
        <p:nvSpPr>
          <p:cNvPr id="49" name="TextBox 61"/>
          <p:cNvSpPr txBox="1">
            <a:spLocks noChangeArrowheads="1"/>
          </p:cNvSpPr>
          <p:nvPr/>
        </p:nvSpPr>
        <p:spPr bwMode="auto">
          <a:xfrm>
            <a:off x="8062465" y="5694002"/>
            <a:ext cx="1785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61"/>
          <p:cNvSpPr txBox="1">
            <a:spLocks noChangeArrowheads="1"/>
          </p:cNvSpPr>
          <p:nvPr/>
        </p:nvSpPr>
        <p:spPr bwMode="auto">
          <a:xfrm>
            <a:off x="8054478" y="6165304"/>
            <a:ext cx="1785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Lock in</a:t>
            </a:r>
          </a:p>
        </p:txBody>
      </p:sp>
    </p:spTree>
    <p:extLst>
      <p:ext uri="{BB962C8B-B14F-4D97-AF65-F5344CB8AC3E}">
        <p14:creationId xmlns:p14="http://schemas.microsoft.com/office/powerpoint/2010/main" val="83004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Cloud Service Models</a:t>
            </a:r>
            <a:endParaRPr lang="en-US" dirty="0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8344" y="1340197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48344" y="895697"/>
            <a:ext cx="9144000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Infrastructure as a Service (</a:t>
            </a:r>
            <a:r>
              <a:rPr lang="en-US" dirty="0" err="1">
                <a:solidFill>
                  <a:schemeClr val="tx2"/>
                </a:solidFill>
              </a:rPr>
              <a:t>IaaS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</a:rPr>
              <a:t>Computing, Storage, Network, OS and other infrastructures.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</a:rPr>
              <a:t>Example – </a:t>
            </a:r>
            <a:r>
              <a:rPr lang="en-US" sz="1600" i="1" dirty="0">
                <a:solidFill>
                  <a:srgbClr val="000000"/>
                </a:solidFill>
              </a:rPr>
              <a:t>Amazon </a:t>
            </a:r>
            <a:r>
              <a:rPr lang="en-US" sz="1600" i="1" dirty="0" smtClean="0">
                <a:solidFill>
                  <a:srgbClr val="000000"/>
                </a:solidFill>
              </a:rPr>
              <a:t>EC2 (Elastic Compute Cloud)</a:t>
            </a:r>
            <a:endParaRPr lang="en-US" sz="1600" i="1" dirty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sz="900" dirty="0">
              <a:solidFill>
                <a:schemeClr val="tx2"/>
              </a:solidFill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sz="900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Platform as a Service (</a:t>
            </a:r>
            <a:r>
              <a:rPr lang="en-US" dirty="0" err="1">
                <a:solidFill>
                  <a:schemeClr val="tx2"/>
                </a:solidFill>
              </a:rPr>
              <a:t>PaaS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</a:rPr>
              <a:t>Application development tools and </a:t>
            </a:r>
            <a:r>
              <a:rPr lang="en-US" sz="1600" dirty="0" err="1">
                <a:solidFill>
                  <a:srgbClr val="000000"/>
                </a:solidFill>
              </a:rPr>
              <a:t>middlewares</a:t>
            </a:r>
            <a:endParaRPr lang="en-US" sz="1600" dirty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</a:rPr>
              <a:t>Example – </a:t>
            </a:r>
            <a:r>
              <a:rPr lang="en-US" sz="1600" i="1" dirty="0">
                <a:solidFill>
                  <a:srgbClr val="000000"/>
                </a:solidFill>
              </a:rPr>
              <a:t>Google </a:t>
            </a:r>
            <a:r>
              <a:rPr lang="en-US" sz="1600" i="1" dirty="0" err="1">
                <a:solidFill>
                  <a:srgbClr val="000000"/>
                </a:solidFill>
              </a:rPr>
              <a:t>AppEngine</a:t>
            </a:r>
            <a:endParaRPr lang="en-US" sz="1600" i="1" dirty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sz="900" dirty="0">
              <a:solidFill>
                <a:schemeClr val="tx2"/>
              </a:solidFill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sz="900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Software as a Service (</a:t>
            </a:r>
            <a:r>
              <a:rPr lang="en-US" dirty="0" err="1">
                <a:solidFill>
                  <a:schemeClr val="tx2"/>
                </a:solidFill>
              </a:rPr>
              <a:t>SaaS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</a:rPr>
              <a:t>Configurable Applications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</a:rPr>
              <a:t>Example – </a:t>
            </a:r>
            <a:r>
              <a:rPr lang="en-US" sz="1600" i="1" dirty="0">
                <a:solidFill>
                  <a:srgbClr val="000000"/>
                </a:solidFill>
              </a:rPr>
              <a:t>Salesforce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sz="1600" i="1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8" name="Group 53"/>
          <p:cNvGrpSpPr>
            <a:grpSpLocks/>
          </p:cNvGrpSpPr>
          <p:nvPr/>
        </p:nvGrpSpPr>
        <p:grpSpPr bwMode="auto">
          <a:xfrm>
            <a:off x="7536929" y="1897484"/>
            <a:ext cx="4103687" cy="2401887"/>
            <a:chOff x="2699" y="1781"/>
            <a:chExt cx="2585" cy="1513"/>
          </a:xfrm>
        </p:grpSpPr>
        <p:grpSp>
          <p:nvGrpSpPr>
            <p:cNvPr id="51" name="Group 25"/>
            <p:cNvGrpSpPr>
              <a:grpSpLocks/>
            </p:cNvGrpSpPr>
            <p:nvPr/>
          </p:nvGrpSpPr>
          <p:grpSpPr bwMode="auto">
            <a:xfrm>
              <a:off x="3688" y="1781"/>
              <a:ext cx="726" cy="408"/>
              <a:chOff x="3696" y="1797"/>
              <a:chExt cx="726" cy="408"/>
            </a:xfrm>
          </p:grpSpPr>
          <p:sp>
            <p:nvSpPr>
              <p:cNvPr id="78" name="Oval 23"/>
              <p:cNvSpPr>
                <a:spLocks noChangeArrowheads="1"/>
              </p:cNvSpPr>
              <p:nvPr/>
            </p:nvSpPr>
            <p:spPr bwMode="auto">
              <a:xfrm>
                <a:off x="3696" y="1797"/>
                <a:ext cx="726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Text Box 24"/>
              <p:cNvSpPr txBox="1">
                <a:spLocks noChangeArrowheads="1"/>
              </p:cNvSpPr>
              <p:nvPr/>
            </p:nvSpPr>
            <p:spPr bwMode="auto">
              <a:xfrm>
                <a:off x="3801" y="1850"/>
                <a:ext cx="49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200" b="1" dirty="0" err="1">
                    <a:solidFill>
                      <a:schemeClr val="tx1"/>
                    </a:solidFill>
                  </a:rPr>
                  <a:t>SaaS</a:t>
                </a:r>
                <a:r>
                  <a:rPr lang="en-US" sz="1200" b="1" dirty="0">
                    <a:solidFill>
                      <a:schemeClr val="tx1"/>
                    </a:solidFill>
                  </a:rPr>
                  <a:t> Product</a:t>
                </a:r>
              </a:p>
            </p:txBody>
          </p:sp>
        </p:grpSp>
        <p:grpSp>
          <p:nvGrpSpPr>
            <p:cNvPr id="52" name="Group 28"/>
            <p:cNvGrpSpPr>
              <a:grpSpLocks/>
            </p:cNvGrpSpPr>
            <p:nvPr/>
          </p:nvGrpSpPr>
          <p:grpSpPr bwMode="auto">
            <a:xfrm>
              <a:off x="2699" y="1842"/>
              <a:ext cx="816" cy="409"/>
              <a:chOff x="2683" y="2069"/>
              <a:chExt cx="816" cy="409"/>
            </a:xfrm>
          </p:grpSpPr>
          <p:sp>
            <p:nvSpPr>
              <p:cNvPr id="76" name="AutoShape 26"/>
              <p:cNvSpPr>
                <a:spLocks noChangeArrowheads="1"/>
              </p:cNvSpPr>
              <p:nvPr/>
            </p:nvSpPr>
            <p:spPr bwMode="auto">
              <a:xfrm>
                <a:off x="2744" y="2069"/>
                <a:ext cx="680" cy="409"/>
              </a:xfrm>
              <a:prstGeom prst="flowChartDocumen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Text Box 27"/>
              <p:cNvSpPr txBox="1">
                <a:spLocks noChangeArrowheads="1"/>
              </p:cNvSpPr>
              <p:nvPr/>
            </p:nvSpPr>
            <p:spPr bwMode="auto">
              <a:xfrm>
                <a:off x="2683" y="2115"/>
                <a:ext cx="8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900">
                    <a:solidFill>
                      <a:schemeClr val="tx1"/>
                    </a:solidFill>
                  </a:rPr>
                  <a:t> 001001110110101</a:t>
                </a:r>
              </a:p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000" b="1">
                    <a:solidFill>
                      <a:schemeClr val="tx1"/>
                    </a:solidFill>
                  </a:rPr>
                  <a:t>Single Code base</a:t>
                </a:r>
              </a:p>
            </p:txBody>
          </p:sp>
        </p:grpSp>
        <p:grpSp>
          <p:nvGrpSpPr>
            <p:cNvPr id="53" name="Group 37"/>
            <p:cNvGrpSpPr>
              <a:grpSpLocks/>
            </p:cNvGrpSpPr>
            <p:nvPr/>
          </p:nvGrpSpPr>
          <p:grpSpPr bwMode="auto">
            <a:xfrm>
              <a:off x="2747" y="2614"/>
              <a:ext cx="1086" cy="635"/>
              <a:chOff x="2437" y="2614"/>
              <a:chExt cx="1086" cy="635"/>
            </a:xfrm>
          </p:grpSpPr>
          <p:sp>
            <p:nvSpPr>
              <p:cNvPr id="68" name="Rectangle 29"/>
              <p:cNvSpPr>
                <a:spLocks noChangeArrowheads="1"/>
              </p:cNvSpPr>
              <p:nvPr/>
            </p:nvSpPr>
            <p:spPr bwMode="auto">
              <a:xfrm>
                <a:off x="2472" y="2614"/>
                <a:ext cx="1043" cy="6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9" name="Group 32"/>
              <p:cNvGrpSpPr>
                <a:grpSpLocks/>
              </p:cNvGrpSpPr>
              <p:nvPr/>
            </p:nvGrpSpPr>
            <p:grpSpPr bwMode="auto">
              <a:xfrm>
                <a:off x="2469" y="2931"/>
                <a:ext cx="544" cy="293"/>
                <a:chOff x="2469" y="2931"/>
                <a:chExt cx="544" cy="293"/>
              </a:xfrm>
            </p:grpSpPr>
            <p:sp>
              <p:nvSpPr>
                <p:cNvPr id="74" name="AutoShape 30"/>
                <p:cNvSpPr>
                  <a:spLocks noChangeArrowheads="1"/>
                </p:cNvSpPr>
                <p:nvPr/>
              </p:nvSpPr>
              <p:spPr bwMode="auto">
                <a:xfrm>
                  <a:off x="2517" y="2931"/>
                  <a:ext cx="454" cy="272"/>
                </a:xfrm>
                <a:prstGeom prst="can">
                  <a:avLst>
                    <a:gd name="adj" fmla="val 25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IN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469" y="2974"/>
                  <a:ext cx="54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000">
                      <a:solidFill>
                        <a:schemeClr val="tx1"/>
                      </a:solidFill>
                    </a:rPr>
                    <a:t>Application Data</a:t>
                  </a:r>
                </a:p>
              </p:txBody>
            </p:sp>
          </p:grpSp>
          <p:grpSp>
            <p:nvGrpSpPr>
              <p:cNvPr id="70" name="Group 33"/>
              <p:cNvGrpSpPr>
                <a:grpSpLocks/>
              </p:cNvGrpSpPr>
              <p:nvPr/>
            </p:nvGrpSpPr>
            <p:grpSpPr bwMode="auto">
              <a:xfrm>
                <a:off x="2934" y="2659"/>
                <a:ext cx="589" cy="293"/>
                <a:chOff x="2469" y="2931"/>
                <a:chExt cx="544" cy="293"/>
              </a:xfrm>
            </p:grpSpPr>
            <p:sp>
              <p:nvSpPr>
                <p:cNvPr id="72" name="AutoShape 34"/>
                <p:cNvSpPr>
                  <a:spLocks noChangeArrowheads="1"/>
                </p:cNvSpPr>
                <p:nvPr/>
              </p:nvSpPr>
              <p:spPr bwMode="auto">
                <a:xfrm>
                  <a:off x="2517" y="2931"/>
                  <a:ext cx="454" cy="272"/>
                </a:xfrm>
                <a:prstGeom prst="can">
                  <a:avLst>
                    <a:gd name="adj" fmla="val 25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IN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469" y="2974"/>
                  <a:ext cx="54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000">
                      <a:solidFill>
                        <a:schemeClr val="tx1"/>
                      </a:solidFill>
                    </a:rPr>
                    <a:t>Configuration Data</a:t>
                  </a:r>
                </a:p>
              </p:txBody>
            </p:sp>
          </p:grpSp>
          <p:sp>
            <p:nvSpPr>
              <p:cNvPr id="71" name="Text Box 36"/>
              <p:cNvSpPr txBox="1">
                <a:spLocks noChangeArrowheads="1"/>
              </p:cNvSpPr>
              <p:nvPr/>
            </p:nvSpPr>
            <p:spPr bwMode="auto">
              <a:xfrm>
                <a:off x="2437" y="2699"/>
                <a:ext cx="57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000" b="1">
                    <a:solidFill>
                      <a:srgbClr val="FF0000"/>
                    </a:solidFill>
                  </a:rPr>
                  <a:t>Customer A</a:t>
                </a:r>
              </a:p>
            </p:txBody>
          </p:sp>
        </p:grpSp>
        <p:grpSp>
          <p:nvGrpSpPr>
            <p:cNvPr id="54" name="Group 38"/>
            <p:cNvGrpSpPr>
              <a:grpSpLocks/>
            </p:cNvGrpSpPr>
            <p:nvPr/>
          </p:nvGrpSpPr>
          <p:grpSpPr bwMode="auto">
            <a:xfrm>
              <a:off x="4150" y="2614"/>
              <a:ext cx="1086" cy="635"/>
              <a:chOff x="2437" y="2614"/>
              <a:chExt cx="1086" cy="635"/>
            </a:xfrm>
          </p:grpSpPr>
          <p:sp>
            <p:nvSpPr>
              <p:cNvPr id="60" name="Rectangle 39"/>
              <p:cNvSpPr>
                <a:spLocks noChangeArrowheads="1"/>
              </p:cNvSpPr>
              <p:nvPr/>
            </p:nvSpPr>
            <p:spPr bwMode="auto">
              <a:xfrm>
                <a:off x="2472" y="2614"/>
                <a:ext cx="1043" cy="6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1" name="Group 40"/>
              <p:cNvGrpSpPr>
                <a:grpSpLocks/>
              </p:cNvGrpSpPr>
              <p:nvPr/>
            </p:nvGrpSpPr>
            <p:grpSpPr bwMode="auto">
              <a:xfrm>
                <a:off x="2469" y="2931"/>
                <a:ext cx="544" cy="293"/>
                <a:chOff x="2469" y="2931"/>
                <a:chExt cx="544" cy="293"/>
              </a:xfrm>
            </p:grpSpPr>
            <p:sp>
              <p:nvSpPr>
                <p:cNvPr id="66" name="AutoShape 41"/>
                <p:cNvSpPr>
                  <a:spLocks noChangeArrowheads="1"/>
                </p:cNvSpPr>
                <p:nvPr/>
              </p:nvSpPr>
              <p:spPr bwMode="auto">
                <a:xfrm>
                  <a:off x="2517" y="2931"/>
                  <a:ext cx="454" cy="272"/>
                </a:xfrm>
                <a:prstGeom prst="can">
                  <a:avLst>
                    <a:gd name="adj" fmla="val 25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IN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469" y="2974"/>
                  <a:ext cx="54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000">
                      <a:solidFill>
                        <a:schemeClr val="tx1"/>
                      </a:solidFill>
                    </a:rPr>
                    <a:t>Application Data</a:t>
                  </a:r>
                </a:p>
              </p:txBody>
            </p:sp>
          </p:grpSp>
          <p:grpSp>
            <p:nvGrpSpPr>
              <p:cNvPr id="62" name="Group 43"/>
              <p:cNvGrpSpPr>
                <a:grpSpLocks/>
              </p:cNvGrpSpPr>
              <p:nvPr/>
            </p:nvGrpSpPr>
            <p:grpSpPr bwMode="auto">
              <a:xfrm>
                <a:off x="2934" y="2659"/>
                <a:ext cx="589" cy="293"/>
                <a:chOff x="2469" y="2931"/>
                <a:chExt cx="544" cy="293"/>
              </a:xfrm>
            </p:grpSpPr>
            <p:sp>
              <p:nvSpPr>
                <p:cNvPr id="64" name="AutoShape 44"/>
                <p:cNvSpPr>
                  <a:spLocks noChangeArrowheads="1"/>
                </p:cNvSpPr>
                <p:nvPr/>
              </p:nvSpPr>
              <p:spPr bwMode="auto">
                <a:xfrm>
                  <a:off x="2517" y="2931"/>
                  <a:ext cx="454" cy="272"/>
                </a:xfrm>
                <a:prstGeom prst="can">
                  <a:avLst>
                    <a:gd name="adj" fmla="val 25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en-IN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469" y="2974"/>
                  <a:ext cx="54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000">
                      <a:solidFill>
                        <a:schemeClr val="tx1"/>
                      </a:solidFill>
                    </a:rPr>
                    <a:t>Configuration Data</a:t>
                  </a:r>
                </a:p>
              </p:txBody>
            </p:sp>
          </p:grpSp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2437" y="2699"/>
                <a:ext cx="579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000" b="1">
                    <a:solidFill>
                      <a:srgbClr val="FF0000"/>
                    </a:solidFill>
                  </a:rPr>
                  <a:t>Customer B</a:t>
                </a:r>
              </a:p>
            </p:txBody>
          </p:sp>
        </p:grp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2744" y="2568"/>
              <a:ext cx="2540" cy="7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IN" sz="1800">
                <a:solidFill>
                  <a:schemeClr val="tx1"/>
                </a:solidFill>
              </a:endParaRPr>
            </a:p>
          </p:txBody>
        </p:sp>
        <p:sp>
          <p:nvSpPr>
            <p:cNvPr id="56" name="Line 48"/>
            <p:cNvSpPr>
              <a:spLocks noChangeShapeType="1"/>
            </p:cNvSpPr>
            <p:nvPr/>
          </p:nvSpPr>
          <p:spPr bwMode="auto">
            <a:xfrm>
              <a:off x="3424" y="1979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Line 49"/>
            <p:cNvSpPr>
              <a:spLocks noChangeShapeType="1"/>
            </p:cNvSpPr>
            <p:nvPr/>
          </p:nvSpPr>
          <p:spPr bwMode="auto">
            <a:xfrm flipH="1" flipV="1">
              <a:off x="4332" y="2115"/>
              <a:ext cx="589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>
              <a:off x="4195" y="2160"/>
              <a:ext cx="227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 flipH="1">
              <a:off x="3651" y="2160"/>
              <a:ext cx="227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0" name="Text Box 52"/>
          <p:cNvSpPr txBox="1">
            <a:spLocks noChangeArrowheads="1"/>
          </p:cNvSpPr>
          <p:nvPr/>
        </p:nvSpPr>
        <p:spPr bwMode="auto">
          <a:xfrm>
            <a:off x="7608366" y="4443834"/>
            <a:ext cx="381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i="1">
                <a:solidFill>
                  <a:schemeClr val="tx1"/>
                </a:solidFill>
                <a:latin typeface="Times New Roman" panose="02020603050405020304" pitchFamily="18" charset="0"/>
              </a:rPr>
              <a:t> Configurable Computing Resources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i="1">
                <a:solidFill>
                  <a:schemeClr val="tx1"/>
                </a:solidFill>
                <a:latin typeface="Times New Roman" panose="02020603050405020304" pitchFamily="18" charset="0"/>
              </a:rPr>
              <a:t> Multi-tenancy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" y="4149080"/>
            <a:ext cx="6801799" cy="218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Cloud Deployment Models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17"/>
          <p:cNvSpPr>
            <a:spLocks noChangeArrowheads="1"/>
          </p:cNvSpPr>
          <p:nvPr/>
        </p:nvSpPr>
        <p:spPr bwMode="auto">
          <a:xfrm>
            <a:off x="192360" y="10715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Public Cloud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Private Cloud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800" i="1" dirty="0">
              <a:solidFill>
                <a:schemeClr val="tx2"/>
              </a:solidFill>
            </a:endParaRPr>
          </a:p>
          <a:p>
            <a:pPr lvl="1"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0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Community Cloud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8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Hybrid Cloud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8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Tx/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523" y="1289050"/>
            <a:ext cx="5221287" cy="4227513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Group 11"/>
          <p:cNvGrpSpPr>
            <a:grpSpLocks/>
          </p:cNvGrpSpPr>
          <p:nvPr/>
        </p:nvGrpSpPr>
        <p:grpSpPr bwMode="auto">
          <a:xfrm>
            <a:off x="3772173" y="1311275"/>
            <a:ext cx="5227637" cy="4210050"/>
            <a:chOff x="2633663" y="1619250"/>
            <a:chExt cx="3876675" cy="3619500"/>
          </a:xfrm>
        </p:grpSpPr>
        <p:pic>
          <p:nvPicPr>
            <p:cNvPr id="4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3663" y="1619250"/>
              <a:ext cx="3876675" cy="3619500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Freeform 42"/>
            <p:cNvSpPr/>
            <p:nvPr/>
          </p:nvSpPr>
          <p:spPr>
            <a:xfrm>
              <a:off x="4228833" y="2286647"/>
              <a:ext cx="971229" cy="761569"/>
            </a:xfrm>
            <a:custGeom>
              <a:avLst/>
              <a:gdLst>
                <a:gd name="connsiteX0" fmla="*/ 971550 w 971550"/>
                <a:gd name="connsiteY0" fmla="*/ 762000 h 762000"/>
                <a:gd name="connsiteX1" fmla="*/ 781050 w 971550"/>
                <a:gd name="connsiteY1" fmla="*/ 152400 h 762000"/>
                <a:gd name="connsiteX2" fmla="*/ 0 w 971550"/>
                <a:gd name="connsiteY2" fmla="*/ 0 h 762000"/>
                <a:gd name="connsiteX3" fmla="*/ 0 w 97155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1550" h="762000">
                  <a:moveTo>
                    <a:pt x="971550" y="762000"/>
                  </a:moveTo>
                  <a:cubicBezTo>
                    <a:pt x="957262" y="520700"/>
                    <a:pt x="942975" y="279400"/>
                    <a:pt x="781050" y="152400"/>
                  </a:cubicBezTo>
                  <a:cubicBezTo>
                    <a:pt x="619125" y="25400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ln>
              <a:solidFill>
                <a:schemeClr val="tx2"/>
              </a:solidFill>
              <a:prstDash val="dash"/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N"/>
            </a:p>
          </p:txBody>
        </p:sp>
      </p:grpSp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173" y="1311275"/>
            <a:ext cx="5227637" cy="4205288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Oval 44"/>
          <p:cNvSpPr/>
          <p:nvPr/>
        </p:nvSpPr>
        <p:spPr>
          <a:xfrm>
            <a:off x="3815035" y="1042988"/>
            <a:ext cx="2665413" cy="2532062"/>
          </a:xfrm>
          <a:prstGeom prst="ellipse">
            <a:avLst/>
          </a:prstGeom>
          <a:solidFill>
            <a:srgbClr val="FF0080">
              <a:alpha val="2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9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500" fill="hold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500" fill="hold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Accessing Cloud Resources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63352" y="828377"/>
            <a:ext cx="8111540" cy="5696967"/>
            <a:chOff x="1733754" y="836712"/>
            <a:chExt cx="8111540" cy="5696967"/>
          </a:xfrm>
        </p:grpSpPr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8900" y="836712"/>
              <a:ext cx="927100" cy="903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grpSp>
          <p:nvGrpSpPr>
            <p:cNvPr id="13" name="Group 62"/>
            <p:cNvGrpSpPr>
              <a:grpSpLocks/>
            </p:cNvGrpSpPr>
            <p:nvPr/>
          </p:nvGrpSpPr>
          <p:grpSpPr bwMode="auto">
            <a:xfrm>
              <a:off x="2330152" y="2966840"/>
              <a:ext cx="1524000" cy="838200"/>
              <a:chOff x="1066800" y="3200400"/>
              <a:chExt cx="1524000" cy="838200"/>
            </a:xfrm>
          </p:grpSpPr>
          <p:sp>
            <p:nvSpPr>
              <p:cNvPr id="14" name="Oval 59"/>
              <p:cNvSpPr>
                <a:spLocks noChangeArrowheads="1"/>
              </p:cNvSpPr>
              <p:nvPr/>
            </p:nvSpPr>
            <p:spPr bwMode="auto">
              <a:xfrm>
                <a:off x="1066800" y="3200400"/>
                <a:ext cx="1524000" cy="838200"/>
              </a:xfrm>
              <a:prstGeom prst="ellipse">
                <a:avLst/>
              </a:prstGeom>
              <a:solidFill>
                <a:srgbClr val="00B8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TextBox 60"/>
              <p:cNvSpPr txBox="1">
                <a:spLocks noChangeArrowheads="1"/>
              </p:cNvSpPr>
              <p:nvPr/>
            </p:nvSpPr>
            <p:spPr bwMode="auto">
              <a:xfrm>
                <a:off x="1371600" y="3429000"/>
                <a:ext cx="9906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 b="1">
                    <a:solidFill>
                      <a:schemeClr val="tx1"/>
                    </a:solidFill>
                  </a:rPr>
                  <a:t>CLI</a:t>
                </a:r>
              </a:p>
            </p:txBody>
          </p:sp>
        </p:grpSp>
        <p:grpSp>
          <p:nvGrpSpPr>
            <p:cNvPr id="17" name="Group 63"/>
            <p:cNvGrpSpPr>
              <a:grpSpLocks/>
            </p:cNvGrpSpPr>
            <p:nvPr/>
          </p:nvGrpSpPr>
          <p:grpSpPr bwMode="auto">
            <a:xfrm>
              <a:off x="4997152" y="2966840"/>
              <a:ext cx="1524000" cy="838200"/>
              <a:chOff x="1066800" y="3200400"/>
              <a:chExt cx="1524000" cy="838200"/>
            </a:xfrm>
          </p:grpSpPr>
          <p:sp>
            <p:nvSpPr>
              <p:cNvPr id="18" name="Oval 64"/>
              <p:cNvSpPr>
                <a:spLocks noChangeArrowheads="1"/>
              </p:cNvSpPr>
              <p:nvPr/>
            </p:nvSpPr>
            <p:spPr bwMode="auto">
              <a:xfrm>
                <a:off x="1066800" y="3200400"/>
                <a:ext cx="1524000" cy="838200"/>
              </a:xfrm>
              <a:prstGeom prst="ellipse">
                <a:avLst/>
              </a:prstGeom>
              <a:solidFill>
                <a:srgbClr val="00B8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65"/>
              <p:cNvSpPr txBox="1">
                <a:spLocks noChangeArrowheads="1"/>
              </p:cNvSpPr>
              <p:nvPr/>
            </p:nvSpPr>
            <p:spPr bwMode="auto">
              <a:xfrm>
                <a:off x="1371600" y="3429000"/>
                <a:ext cx="9906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 b="1">
                    <a:solidFill>
                      <a:schemeClr val="tx1"/>
                    </a:solidFill>
                  </a:rPr>
                  <a:t>SDK</a:t>
                </a:r>
              </a:p>
            </p:txBody>
          </p:sp>
        </p:grpSp>
        <p:grpSp>
          <p:nvGrpSpPr>
            <p:cNvPr id="21" name="Group 66"/>
            <p:cNvGrpSpPr>
              <a:grpSpLocks/>
            </p:cNvGrpSpPr>
            <p:nvPr/>
          </p:nvGrpSpPr>
          <p:grpSpPr bwMode="auto">
            <a:xfrm>
              <a:off x="7664152" y="2966840"/>
              <a:ext cx="1524000" cy="838200"/>
              <a:chOff x="1066800" y="3200400"/>
              <a:chExt cx="1524000" cy="838200"/>
            </a:xfrm>
          </p:grpSpPr>
          <p:sp>
            <p:nvSpPr>
              <p:cNvPr id="22" name="Oval 67"/>
              <p:cNvSpPr>
                <a:spLocks noChangeArrowheads="1"/>
              </p:cNvSpPr>
              <p:nvPr/>
            </p:nvSpPr>
            <p:spPr bwMode="auto">
              <a:xfrm>
                <a:off x="1066800" y="3200400"/>
                <a:ext cx="1524000" cy="838200"/>
              </a:xfrm>
              <a:prstGeom prst="ellipse">
                <a:avLst/>
              </a:prstGeom>
              <a:solidFill>
                <a:srgbClr val="00B8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TextBox 68"/>
              <p:cNvSpPr txBox="1">
                <a:spLocks noChangeArrowheads="1"/>
              </p:cNvSpPr>
              <p:nvPr/>
            </p:nvSpPr>
            <p:spPr bwMode="auto">
              <a:xfrm>
                <a:off x="1371600" y="3429000"/>
                <a:ext cx="9906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 b="1">
                    <a:solidFill>
                      <a:schemeClr val="tx1"/>
                    </a:solidFill>
                  </a:rPr>
                  <a:t>Web</a:t>
                </a:r>
              </a:p>
            </p:txBody>
          </p:sp>
        </p:grpSp>
        <p:cxnSp>
          <p:nvCxnSpPr>
            <p:cNvPr id="24" name="Straight Arrow Connector 70"/>
            <p:cNvCxnSpPr>
              <a:cxnSpLocks noChangeShapeType="1"/>
            </p:cNvCxnSpPr>
            <p:nvPr/>
          </p:nvCxnSpPr>
          <p:spPr bwMode="auto">
            <a:xfrm>
              <a:off x="5635327" y="1676378"/>
              <a:ext cx="0" cy="124760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72"/>
            <p:cNvCxnSpPr>
              <a:cxnSpLocks noChangeShapeType="1"/>
            </p:cNvCxnSpPr>
            <p:nvPr/>
          </p:nvCxnSpPr>
          <p:spPr bwMode="auto">
            <a:xfrm flipH="1">
              <a:off x="3320752" y="1676376"/>
              <a:ext cx="1828800" cy="1290464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74"/>
            <p:cNvCxnSpPr>
              <a:cxnSpLocks noChangeShapeType="1"/>
            </p:cNvCxnSpPr>
            <p:nvPr/>
          </p:nvCxnSpPr>
          <p:spPr bwMode="auto">
            <a:xfrm>
              <a:off x="6076652" y="1676376"/>
              <a:ext cx="1968500" cy="1290464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7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5882" y="4346104"/>
              <a:ext cx="5760640" cy="218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1733754" y="3848974"/>
              <a:ext cx="26340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Command Line Interface</a:t>
              </a:r>
              <a:endParaRPr lang="en-IN" b="1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50853" y="3861048"/>
              <a:ext cx="28412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Software Development Kit</a:t>
              </a:r>
              <a:endParaRPr lang="en-IN" b="1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494394" y="3861048"/>
              <a:ext cx="23509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Management Console</a:t>
              </a:r>
              <a:endParaRPr lang="en-IN" b="1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755324" y="1586560"/>
            <a:ext cx="3143272" cy="4362720"/>
            <a:chOff x="8755324" y="1307820"/>
            <a:chExt cx="3143272" cy="4362720"/>
          </a:xfrm>
        </p:grpSpPr>
        <p:pic>
          <p:nvPicPr>
            <p:cNvPr id="33" name="Picture 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755324" y="1307820"/>
              <a:ext cx="3143272" cy="39290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4" name="Rectangle 33"/>
            <p:cNvSpPr/>
            <p:nvPr/>
          </p:nvSpPr>
          <p:spPr>
            <a:xfrm>
              <a:off x="9696400" y="5301208"/>
              <a:ext cx="15125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CU Cloud Lab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7648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29848</TotalTime>
  <Words>339</Words>
  <Application>Microsoft Office PowerPoint</Application>
  <PresentationFormat>Widescreen</PresentationFormat>
  <Paragraphs>96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Corbel</vt:lpstr>
      <vt:lpstr>Euphemia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393</cp:revision>
  <dcterms:created xsi:type="dcterms:W3CDTF">2018-05-13T16:49:43Z</dcterms:created>
  <dcterms:modified xsi:type="dcterms:W3CDTF">2026-03-06T05:10:21Z</dcterms:modified>
</cp:coreProperties>
</file>