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9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48"/>
  </p:notesMasterIdLst>
  <p:sldIdLst>
    <p:sldId id="257" r:id="rId2"/>
    <p:sldId id="443" r:id="rId3"/>
    <p:sldId id="705" r:id="rId4"/>
    <p:sldId id="706" r:id="rId5"/>
    <p:sldId id="707" r:id="rId6"/>
    <p:sldId id="708" r:id="rId7"/>
    <p:sldId id="710" r:id="rId8"/>
    <p:sldId id="711" r:id="rId9"/>
    <p:sldId id="709" r:id="rId10"/>
    <p:sldId id="575" r:id="rId11"/>
    <p:sldId id="712" r:id="rId12"/>
    <p:sldId id="713" r:id="rId13"/>
    <p:sldId id="714" r:id="rId14"/>
    <p:sldId id="684" r:id="rId15"/>
    <p:sldId id="685" r:id="rId16"/>
    <p:sldId id="652" r:id="rId17"/>
    <p:sldId id="716" r:id="rId18"/>
    <p:sldId id="687" r:id="rId19"/>
    <p:sldId id="628" r:id="rId20"/>
    <p:sldId id="582" r:id="rId21"/>
    <p:sldId id="692" r:id="rId22"/>
    <p:sldId id="538" r:id="rId23"/>
    <p:sldId id="638" r:id="rId24"/>
    <p:sldId id="639" r:id="rId25"/>
    <p:sldId id="640" r:id="rId26"/>
    <p:sldId id="641" r:id="rId27"/>
    <p:sldId id="642" r:id="rId28"/>
    <p:sldId id="643" r:id="rId29"/>
    <p:sldId id="644" r:id="rId30"/>
    <p:sldId id="645" r:id="rId31"/>
    <p:sldId id="647" r:id="rId32"/>
    <p:sldId id="648" r:id="rId33"/>
    <p:sldId id="649" r:id="rId34"/>
    <p:sldId id="650" r:id="rId35"/>
    <p:sldId id="718" r:id="rId36"/>
    <p:sldId id="719" r:id="rId37"/>
    <p:sldId id="720" r:id="rId38"/>
    <p:sldId id="721" r:id="rId39"/>
    <p:sldId id="722" r:id="rId40"/>
    <p:sldId id="655" r:id="rId41"/>
    <p:sldId id="734" r:id="rId42"/>
    <p:sldId id="735" r:id="rId43"/>
    <p:sldId id="697" r:id="rId44"/>
    <p:sldId id="752" r:id="rId45"/>
    <p:sldId id="753" r:id="rId46"/>
    <p:sldId id="754" r:id="rId47"/>
    <p:sldId id="755" r:id="rId48"/>
    <p:sldId id="756" r:id="rId49"/>
    <p:sldId id="757" r:id="rId50"/>
    <p:sldId id="758" r:id="rId51"/>
    <p:sldId id="759" r:id="rId52"/>
    <p:sldId id="760" r:id="rId53"/>
    <p:sldId id="761" r:id="rId54"/>
    <p:sldId id="762" r:id="rId55"/>
    <p:sldId id="763" r:id="rId56"/>
    <p:sldId id="764" r:id="rId57"/>
    <p:sldId id="736" r:id="rId58"/>
    <p:sldId id="737" r:id="rId59"/>
    <p:sldId id="809" r:id="rId60"/>
    <p:sldId id="811" r:id="rId61"/>
    <p:sldId id="812" r:id="rId62"/>
    <p:sldId id="813" r:id="rId63"/>
    <p:sldId id="776" r:id="rId64"/>
    <p:sldId id="777" r:id="rId65"/>
    <p:sldId id="778" r:id="rId66"/>
    <p:sldId id="779" r:id="rId67"/>
    <p:sldId id="780" r:id="rId68"/>
    <p:sldId id="723" r:id="rId69"/>
    <p:sldId id="724" r:id="rId70"/>
    <p:sldId id="725" r:id="rId71"/>
    <p:sldId id="726" r:id="rId72"/>
    <p:sldId id="727" r:id="rId73"/>
    <p:sldId id="738" r:id="rId74"/>
    <p:sldId id="728" r:id="rId75"/>
    <p:sldId id="739" r:id="rId76"/>
    <p:sldId id="781" r:id="rId77"/>
    <p:sldId id="740" r:id="rId78"/>
    <p:sldId id="731" r:id="rId79"/>
    <p:sldId id="732" r:id="rId80"/>
    <p:sldId id="733" r:id="rId81"/>
    <p:sldId id="729" r:id="rId82"/>
    <p:sldId id="782" r:id="rId83"/>
    <p:sldId id="784" r:id="rId84"/>
    <p:sldId id="741" r:id="rId85"/>
    <p:sldId id="662" r:id="rId86"/>
    <p:sldId id="663" r:id="rId87"/>
    <p:sldId id="664" r:id="rId88"/>
    <p:sldId id="665" r:id="rId89"/>
    <p:sldId id="742" r:id="rId90"/>
    <p:sldId id="743" r:id="rId91"/>
    <p:sldId id="744" r:id="rId92"/>
    <p:sldId id="750" r:id="rId93"/>
    <p:sldId id="745" r:id="rId94"/>
    <p:sldId id="746" r:id="rId95"/>
    <p:sldId id="747" r:id="rId96"/>
    <p:sldId id="748" r:id="rId97"/>
    <p:sldId id="785" r:id="rId98"/>
    <p:sldId id="749" r:id="rId99"/>
    <p:sldId id="751" r:id="rId100"/>
    <p:sldId id="765" r:id="rId101"/>
    <p:sldId id="766" r:id="rId102"/>
    <p:sldId id="767" r:id="rId103"/>
    <p:sldId id="769" r:id="rId104"/>
    <p:sldId id="770" r:id="rId105"/>
    <p:sldId id="690" r:id="rId106"/>
    <p:sldId id="772" r:id="rId107"/>
    <p:sldId id="771" r:id="rId108"/>
    <p:sldId id="774" r:id="rId109"/>
    <p:sldId id="775" r:id="rId110"/>
    <p:sldId id="773" r:id="rId111"/>
    <p:sldId id="675" r:id="rId112"/>
    <p:sldId id="676" r:id="rId113"/>
    <p:sldId id="677" r:id="rId114"/>
    <p:sldId id="678" r:id="rId115"/>
    <p:sldId id="679" r:id="rId116"/>
    <p:sldId id="680" r:id="rId117"/>
    <p:sldId id="681" r:id="rId118"/>
    <p:sldId id="768" r:id="rId119"/>
    <p:sldId id="682" r:id="rId120"/>
    <p:sldId id="693" r:id="rId121"/>
    <p:sldId id="694" r:id="rId122"/>
    <p:sldId id="695" r:id="rId123"/>
    <p:sldId id="787" r:id="rId124"/>
    <p:sldId id="786" r:id="rId125"/>
    <p:sldId id="790" r:id="rId126"/>
    <p:sldId id="788" r:id="rId127"/>
    <p:sldId id="789" r:id="rId128"/>
    <p:sldId id="791" r:id="rId129"/>
    <p:sldId id="792" r:id="rId130"/>
    <p:sldId id="793" r:id="rId131"/>
    <p:sldId id="794" r:id="rId132"/>
    <p:sldId id="804" r:id="rId133"/>
    <p:sldId id="805" r:id="rId134"/>
    <p:sldId id="806" r:id="rId135"/>
    <p:sldId id="807" r:id="rId136"/>
    <p:sldId id="808" r:id="rId137"/>
    <p:sldId id="795" r:id="rId138"/>
    <p:sldId id="798" r:id="rId139"/>
    <p:sldId id="796" r:id="rId140"/>
    <p:sldId id="797" r:id="rId141"/>
    <p:sldId id="800" r:id="rId142"/>
    <p:sldId id="799" r:id="rId143"/>
    <p:sldId id="801" r:id="rId144"/>
    <p:sldId id="802" r:id="rId145"/>
    <p:sldId id="803" r:id="rId146"/>
    <p:sldId id="704" r:id="rId1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D56B13"/>
    <a:srgbClr val="DDEC20"/>
    <a:srgbClr val="D5D551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3" autoAdjust="0"/>
    <p:restoredTop sz="94723" autoAdjust="0"/>
  </p:normalViewPr>
  <p:slideViewPr>
    <p:cSldViewPr>
      <p:cViewPr>
        <p:scale>
          <a:sx n="50" d="100"/>
          <a:sy n="50" d="100"/>
        </p:scale>
        <p:origin x="-1728" y="-3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0816"/>
    </p:cViewPr>
  </p:sorterViewPr>
  <p:notesViewPr>
    <p:cSldViewPr>
      <p:cViewPr varScale="1">
        <p:scale>
          <a:sx n="61" d="100"/>
          <a:sy n="61" d="100"/>
        </p:scale>
        <p:origin x="-2432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notesMaster" Target="notesMasters/notesMaster1.xml"/><Relationship Id="rId15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1E266-DB8F-4522-88A4-CB3C1D7F0665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0DCAE-88AA-4B98-837B-4F5E23EE3B7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3986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 smtClean="0"/>
              <a:t>This template can be used as a starter file for presenting training materials in a group setting.</a:t>
            </a:r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Sections</a:t>
            </a:r>
            <a:endParaRPr lang="en-US" dirty="0" smtClean="0"/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Right-click on a slide to add sections. Sections can help to organize your slides or facilitate collaboration between multiple authors.</a:t>
            </a:r>
          </a:p>
          <a:p>
            <a:pPr eaLnBrk="1" hangingPunct="1">
              <a:spcBef>
                <a:spcPct val="0"/>
              </a:spcBef>
            </a:pPr>
            <a:endParaRPr lang="en-US" b="1" dirty="0" smtClean="0"/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Notes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Use the Notes section for delivery notes or to provide additional details for the audience. View these notes in Presentation View during your presentation. 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Keep in mind the font size (important for accessibility, visibility, videotaping, and online production)</a:t>
            </a:r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Coordinated colors 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Pay particular attention to the graphs, charts, and text boxes. 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Consider that attendees will print in black and white or </a:t>
            </a:r>
            <a:r>
              <a:rPr lang="en-US" dirty="0" err="1" smtClean="0"/>
              <a:t>grayscale</a:t>
            </a:r>
            <a:r>
              <a:rPr lang="en-US" dirty="0" smtClean="0"/>
              <a:t>. Run a test print to make sure your colors work when printed in pure black and white and </a:t>
            </a:r>
            <a:r>
              <a:rPr lang="en-US" dirty="0" err="1" smtClean="0"/>
              <a:t>grayscale</a:t>
            </a:r>
            <a:r>
              <a:rPr lang="en-US" dirty="0" smtClean="0"/>
              <a:t>.</a:t>
            </a:r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Graphics, tables, and graphs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Keep it simple: If possible, use consistent, non-distracting styles and colors.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Label all graphs and tables.</a:t>
            </a:r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315811-922C-4A7C-AB6E-C5B5D7CB7B7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0DCAE-88AA-4B98-837B-4F5E23EE3B74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0DCAE-88AA-4B98-837B-4F5E23EE3B74}" type="slidenum">
              <a:rPr lang="en-IN" smtClean="0"/>
              <a:pPr/>
              <a:t>59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D8472B-4E76-4D55-8206-16F0363149B0}" type="slidenum">
              <a:rPr lang="en-US"/>
              <a:pPr/>
              <a:t>135</a:t>
            </a:fld>
            <a:endParaRPr lang="en-US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Cluster heads die fast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1B7368-0495-4337-957C-34CD899A759E}" type="slidenum">
              <a:rPr lang="en-US"/>
              <a:pPr/>
              <a:t>138</a:t>
            </a:fld>
            <a:endParaRPr lang="en-US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Receiving a message is not cheap</a:t>
            </a:r>
          </a:p>
          <a:p>
            <a:r>
              <a:rPr lang="en-US"/>
              <a:t>Eb/N0 is a kind of bit-level signal-to-noise ratio. Generally determined against a desired BER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0"/>
            <a:ext cx="9101137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37211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0800" y="2286000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858000" y="5105400"/>
            <a:ext cx="1828800" cy="99060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249963325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40386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4038600" cy="2324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4038600" cy="2324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4038600" y="6467475"/>
            <a:ext cx="51054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229600" y="6019800"/>
            <a:ext cx="914400" cy="228600"/>
          </a:xfrm>
        </p:spPr>
        <p:txBody>
          <a:bodyPr/>
          <a:lstStyle>
            <a:lvl1pPr>
              <a:defRPr/>
            </a:lvl1pPr>
          </a:lstStyle>
          <a:p>
            <a:fld id="{6BD644B5-0BCE-45EF-BADC-4D14E92939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4038600" cy="2324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4038600" cy="2324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771900"/>
            <a:ext cx="4038600" cy="2324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4038600" cy="2324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4038600" y="6467475"/>
            <a:ext cx="51054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229600" y="6019800"/>
            <a:ext cx="914400" cy="228600"/>
          </a:xfrm>
        </p:spPr>
        <p:txBody>
          <a:bodyPr/>
          <a:lstStyle>
            <a:lvl1pPr>
              <a:defRPr/>
            </a:lvl1pPr>
          </a:lstStyle>
          <a:p>
            <a:fld id="{00A65C79-3B0C-4699-90AC-6F14851FC2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40386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038600" y="6467475"/>
            <a:ext cx="51054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229600" y="6019800"/>
            <a:ext cx="914400" cy="228600"/>
          </a:xfrm>
        </p:spPr>
        <p:txBody>
          <a:bodyPr/>
          <a:lstStyle>
            <a:lvl1pPr>
              <a:defRPr/>
            </a:lvl1pPr>
          </a:lstStyle>
          <a:p>
            <a:fld id="{10FC65BF-E0DD-4358-9734-77361D4D62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0F12703-370D-458E-B9E1-F03FFC60C68F}" type="datetimeFigureOut">
              <a:rPr lang="en-IN" smtClean="0"/>
              <a:pPr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929E9122-5E84-4626-8C43-F2AA394C630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17.wmf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15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590800" y="2286000"/>
            <a:ext cx="6180138" cy="1905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Routing protocols for wireless ad hoc Networks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7171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962400" y="4343400"/>
            <a:ext cx="4772025" cy="16764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400" dirty="0" err="1" smtClean="0">
                <a:latin typeface="Comic Sans MS" pitchFamily="66" charset="0"/>
              </a:rPr>
              <a:t>Sankhayan</a:t>
            </a:r>
            <a:r>
              <a:rPr lang="en-US" sz="2400" dirty="0" smtClean="0">
                <a:latin typeface="Comic Sans MS" pitchFamily="66" charset="0"/>
              </a:rPr>
              <a:t> </a:t>
            </a:r>
            <a:r>
              <a:rPr lang="en-US" sz="2400" dirty="0" err="1" smtClean="0">
                <a:latin typeface="Comic Sans MS" pitchFamily="66" charset="0"/>
              </a:rPr>
              <a:t>Choudhury</a:t>
            </a:r>
            <a:endParaRPr lang="en-US" sz="2400" dirty="0" smtClean="0">
              <a:latin typeface="Comic Sans MS" pitchFamily="66" charset="0"/>
            </a:endParaRPr>
          </a:p>
          <a:p>
            <a:pPr algn="ctr" eaLnBrk="1" hangingPunct="1"/>
            <a:r>
              <a:rPr lang="en-US" sz="2400" dirty="0" smtClean="0">
                <a:latin typeface="Comic Sans MS" pitchFamily="66" charset="0"/>
              </a:rPr>
              <a:t>University of Calcutta</a:t>
            </a: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24709873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4283" y="1500174"/>
            <a:ext cx="8066118" cy="4625989"/>
          </a:xfrm>
        </p:spPr>
        <p:txBody>
          <a:bodyPr>
            <a:noAutofit/>
          </a:bodyPr>
          <a:lstStyle/>
          <a:p>
            <a:endParaRPr lang="en-US" sz="2000" dirty="0" smtClean="0"/>
          </a:p>
          <a:p>
            <a:r>
              <a:rPr lang="en-US" sz="2600" dirty="0" smtClean="0"/>
              <a:t>Wireless Networks: Classifications</a:t>
            </a:r>
          </a:p>
          <a:p>
            <a:r>
              <a:rPr lang="en-US" sz="2600" dirty="0" smtClean="0">
                <a:solidFill>
                  <a:srgbClr val="FF0000"/>
                </a:solidFill>
              </a:rPr>
              <a:t>Challenges:  Ad-hoc Network &amp; Design issues</a:t>
            </a:r>
          </a:p>
          <a:p>
            <a:r>
              <a:rPr lang="en-US" sz="2600" dirty="0" err="1" smtClean="0"/>
              <a:t>Adhoc</a:t>
            </a:r>
            <a:r>
              <a:rPr lang="en-US" sz="2600" dirty="0" smtClean="0"/>
              <a:t> Routing: Requirements</a:t>
            </a:r>
          </a:p>
          <a:p>
            <a:r>
              <a:rPr lang="en-US" sz="2600" dirty="0" err="1" smtClean="0">
                <a:solidFill>
                  <a:srgbClr val="FF0000"/>
                </a:solidFill>
              </a:rPr>
              <a:t>Adhoc</a:t>
            </a:r>
            <a:r>
              <a:rPr lang="en-US" sz="2600" dirty="0" smtClean="0">
                <a:solidFill>
                  <a:srgbClr val="FF0000"/>
                </a:solidFill>
              </a:rPr>
              <a:t> Routing: Classification </a:t>
            </a:r>
          </a:p>
          <a:p>
            <a:r>
              <a:rPr lang="en-US" sz="2600" dirty="0" smtClean="0"/>
              <a:t> Reactive </a:t>
            </a:r>
            <a:r>
              <a:rPr lang="en-US" sz="2600" dirty="0" err="1" smtClean="0"/>
              <a:t>Roting</a:t>
            </a:r>
            <a:endParaRPr lang="en-US" sz="2600" dirty="0" smtClean="0"/>
          </a:p>
          <a:p>
            <a:r>
              <a:rPr lang="en-US" sz="2600" dirty="0" smtClean="0">
                <a:solidFill>
                  <a:srgbClr val="FF0000"/>
                </a:solidFill>
              </a:rPr>
              <a:t>Pro-active Routing</a:t>
            </a:r>
          </a:p>
          <a:p>
            <a:r>
              <a:rPr lang="en-US" sz="2600" dirty="0" smtClean="0"/>
              <a:t>Hybrid Routing</a:t>
            </a:r>
          </a:p>
          <a:p>
            <a:endParaRPr lang="en-US" sz="20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96965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04656"/>
          </a:xfrm>
        </p:spPr>
        <p:txBody>
          <a:bodyPr/>
          <a:lstStyle/>
          <a:p>
            <a:pPr algn="l"/>
            <a:r>
              <a:rPr lang="en-IN" dirty="0" smtClean="0">
                <a:solidFill>
                  <a:srgbClr val="C00000"/>
                </a:solidFill>
              </a:rPr>
              <a:t>Wireless Networks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>
          <a:xfrm>
            <a:off x="285720" y="1214422"/>
            <a:ext cx="8501121" cy="4911741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Need:</a:t>
            </a:r>
            <a:r>
              <a:rPr lang="en-US" dirty="0" smtClean="0"/>
              <a:t> Access computing and communication services, </a:t>
            </a:r>
            <a:r>
              <a:rPr lang="en-US" dirty="0" smtClean="0">
                <a:solidFill>
                  <a:srgbClr val="990000"/>
                </a:solidFill>
              </a:rPr>
              <a:t>on the move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200" dirty="0" smtClean="0"/>
              <a:t>Infrastructure-based Networks</a:t>
            </a:r>
          </a:p>
          <a:p>
            <a:pPr lvl="1" algn="just"/>
            <a:r>
              <a:rPr lang="en-US" dirty="0" smtClean="0"/>
              <a:t>traditional cellular systems (base station infrastructure)</a:t>
            </a:r>
          </a:p>
          <a:p>
            <a:pPr algn="just"/>
            <a:endParaRPr lang="en-US" sz="2200" dirty="0" smtClean="0"/>
          </a:p>
          <a:p>
            <a:pPr algn="just"/>
            <a:r>
              <a:rPr lang="en-US" sz="2200" dirty="0" smtClean="0"/>
              <a:t>Wireless LANs</a:t>
            </a:r>
          </a:p>
          <a:p>
            <a:pPr lvl="1" algn="just"/>
            <a:r>
              <a:rPr lang="en-US" dirty="0" smtClean="0"/>
              <a:t> Infrared (IrDA) or radio links (</a:t>
            </a:r>
            <a:r>
              <a:rPr lang="en-US" dirty="0" err="1" smtClean="0"/>
              <a:t>Wavelan</a:t>
            </a:r>
            <a:r>
              <a:rPr lang="en-US" dirty="0" smtClean="0"/>
              <a:t>)</a:t>
            </a:r>
          </a:p>
          <a:p>
            <a:pPr lvl="1" algn="just"/>
            <a:r>
              <a:rPr lang="en-US" dirty="0" smtClean="0"/>
              <a:t>very flexible within the reception area; ad-hoc networks possible</a:t>
            </a:r>
          </a:p>
          <a:p>
            <a:pPr lvl="1" algn="just"/>
            <a:r>
              <a:rPr lang="en-US" dirty="0" smtClean="0"/>
              <a:t>low bandwidth compared to wired networks (1-10 </a:t>
            </a:r>
            <a:r>
              <a:rPr lang="en-US" dirty="0" err="1" smtClean="0"/>
              <a:t>Mbit</a:t>
            </a:r>
            <a:r>
              <a:rPr lang="en-US" dirty="0" smtClean="0"/>
              <a:t>/s)</a:t>
            </a:r>
          </a:p>
          <a:p>
            <a:pPr algn="just"/>
            <a:endParaRPr lang="en-US" sz="2200" dirty="0" smtClean="0"/>
          </a:p>
          <a:p>
            <a:pPr algn="just"/>
            <a:r>
              <a:rPr lang="en-US" sz="2200" dirty="0" smtClean="0"/>
              <a:t>Ad hoc Networks</a:t>
            </a:r>
          </a:p>
          <a:p>
            <a:pPr lvl="1" algn="just"/>
            <a:r>
              <a:rPr lang="en-US" dirty="0" smtClean="0"/>
              <a:t>useful when infrastructure not available, impractical, or expensive</a:t>
            </a:r>
          </a:p>
          <a:p>
            <a:pPr lvl="1" algn="just"/>
            <a:r>
              <a:rPr lang="en-US" dirty="0" smtClean="0"/>
              <a:t>military applications, rescue, home networking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76094"/>
          </a:xfrm>
        </p:spPr>
        <p:txBody>
          <a:bodyPr/>
          <a:lstStyle/>
          <a:p>
            <a:pPr algn="l"/>
            <a:r>
              <a:rPr lang="en-IN" dirty="0" smtClean="0">
                <a:solidFill>
                  <a:srgbClr val="C00000"/>
                </a:solidFill>
              </a:rPr>
              <a:t>Cellular Networks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872067" y="1785926"/>
            <a:ext cx="7408333" cy="4340237"/>
          </a:xfrm>
        </p:spPr>
        <p:txBody>
          <a:bodyPr/>
          <a:lstStyle/>
          <a:p>
            <a:pPr eaLnBrk="1" hangingPunct="1"/>
            <a:r>
              <a:rPr lang="en-US" dirty="0" smtClean="0"/>
              <a:t>Single hop wireless connectivity to the wired world</a:t>
            </a:r>
          </a:p>
          <a:p>
            <a:pPr lvl="1" eaLnBrk="1" hangingPunct="1"/>
            <a:r>
              <a:rPr lang="en-US" dirty="0" smtClean="0"/>
              <a:t>Space divided into </a:t>
            </a:r>
            <a:r>
              <a:rPr lang="en-US" dirty="0" smtClean="0">
                <a:solidFill>
                  <a:srgbClr val="FF0000"/>
                </a:solidFill>
              </a:rPr>
              <a:t>cells</a:t>
            </a:r>
          </a:p>
          <a:p>
            <a:pPr lvl="1" eaLnBrk="1" hangingPunct="1"/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base station</a:t>
            </a:r>
            <a:r>
              <a:rPr lang="en-US" dirty="0" smtClean="0"/>
              <a:t> is responsible to communicate with hosts in its cell</a:t>
            </a:r>
          </a:p>
          <a:p>
            <a:pPr lvl="1" eaLnBrk="1" hangingPunct="1"/>
            <a:r>
              <a:rPr lang="en-US" dirty="0" smtClean="0"/>
              <a:t>Mobile hosts can change cells while communicating</a:t>
            </a: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Hand-off</a:t>
            </a:r>
            <a:r>
              <a:rPr lang="en-US" dirty="0" smtClean="0"/>
              <a:t> occurs when a mobile host starts communicating via a new base station</a:t>
            </a:r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2057400" y="4643446"/>
            <a:ext cx="5300682" cy="2000264"/>
            <a:chOff x="1296" y="2976"/>
            <a:chExt cx="2352" cy="1344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1296" y="2976"/>
              <a:ext cx="1392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2256" y="2976"/>
              <a:ext cx="1392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1920" y="360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2928" y="360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2784" y="3936"/>
            <a:ext cx="528" cy="138"/>
          </p:xfrm>
          <a:graphic>
            <a:graphicData uri="http://schemas.openxmlformats.org/presentationml/2006/ole">
              <p:oleObj spid="_x0000_s64514" name="Clip" r:id="rId3" imgW="6545263" imgH="1706563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 smtClean="0">
                <a:solidFill>
                  <a:srgbClr val="C00000"/>
                </a:solidFill>
              </a:rPr>
              <a:t>Multi-hop Wireless</a:t>
            </a:r>
            <a:endParaRPr lang="en-IN" dirty="0">
              <a:solidFill>
                <a:srgbClr val="C00000"/>
              </a:solidFill>
            </a:endParaRPr>
          </a:p>
        </p:txBody>
      </p:sp>
      <p:grpSp>
        <p:nvGrpSpPr>
          <p:cNvPr id="4" name="Group 19"/>
          <p:cNvGrpSpPr>
            <a:grpSpLocks noGrp="1"/>
          </p:cNvGrpSpPr>
          <p:nvPr>
            <p:ph idx="1"/>
          </p:nvPr>
        </p:nvGrpSpPr>
        <p:grpSpPr bwMode="auto">
          <a:xfrm>
            <a:off x="871538" y="2928934"/>
            <a:ext cx="7408862" cy="3197229"/>
            <a:chOff x="1296" y="1680"/>
            <a:chExt cx="4272" cy="1968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1296" y="1680"/>
              <a:ext cx="1392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776" y="2016"/>
              <a:ext cx="1392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920" y="23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2400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2928" y="24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2304" y="1872"/>
              <a:ext cx="1392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128" y="240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4608" y="26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513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4224" y="2496"/>
              <a:ext cx="384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704" y="2640"/>
              <a:ext cx="432" cy="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2640" y="2304"/>
              <a:ext cx="1392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3312" y="29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5472" y="28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5232" y="2688"/>
              <a:ext cx="288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428596" y="1785926"/>
            <a:ext cx="8143932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May need to traverse multiple links to reach destination</a:t>
            </a:r>
          </a:p>
          <a:p>
            <a:pPr>
              <a:lnSpc>
                <a:spcPct val="90000"/>
              </a:lnSpc>
            </a:pP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en-US" sz="2400" dirty="0" smtClean="0"/>
              <a:t>Mobility causes route 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>
                <a:solidFill>
                  <a:srgbClr val="FF0000"/>
                </a:solidFill>
              </a:rPr>
              <a:t>Ad-hoc Networks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872067" y="1643050"/>
            <a:ext cx="7408333" cy="448311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Host movement frequent</a:t>
            </a:r>
          </a:p>
          <a:p>
            <a:pPr eaLnBrk="1" hangingPunct="1"/>
            <a:r>
              <a:rPr lang="en-US" dirty="0" smtClean="0"/>
              <a:t>Topology change frequent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No cellular infrastructure.  Multi-hop wireless links. </a:t>
            </a:r>
          </a:p>
          <a:p>
            <a:pPr eaLnBrk="1" hangingPunct="1"/>
            <a:r>
              <a:rPr lang="en-US" dirty="0" smtClean="0"/>
              <a:t>Data must be routed via intermediate nodes.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714348" y="2928934"/>
            <a:ext cx="7715304" cy="1714512"/>
            <a:chOff x="1104" y="2352"/>
            <a:chExt cx="3792" cy="864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104" y="254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/>
                <a:t>A</a:t>
              </a:r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584" y="235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1536" y="288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2064" y="264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/>
                <a:t>B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1392" y="2544"/>
              <a:ext cx="192" cy="96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1680" y="264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1824" y="2832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3120" y="259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/>
                <a:t>A</a:t>
              </a:r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4608" y="24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/>
                <a:t>B</a:t>
              </a: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3552" y="292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4080" y="268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n-IN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3840" y="2880"/>
              <a:ext cx="240" cy="144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V="1">
              <a:off x="4368" y="2640"/>
              <a:ext cx="240" cy="144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344" y="278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3360" y="2832"/>
              <a:ext cx="192" cy="192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2496" y="2784"/>
              <a:ext cx="480" cy="0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1824" y="2592"/>
              <a:ext cx="240" cy="144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5720" y="1571612"/>
            <a:ext cx="8572559" cy="4554551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Setting up of fixed access points and backbone infrastructure is not always viable</a:t>
            </a:r>
          </a:p>
          <a:p>
            <a:pPr lvl="1"/>
            <a:r>
              <a:rPr lang="en-US" sz="2400" dirty="0" smtClean="0"/>
              <a:t>Infrastructure may not be present in a disaster area or war zone</a:t>
            </a:r>
          </a:p>
          <a:p>
            <a:pPr lvl="1"/>
            <a:r>
              <a:rPr lang="en-US" sz="2400" dirty="0" smtClean="0"/>
              <a:t>Infrastructure may not be practical for short-range radios; Bluetooth (range ~ 10m)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r>
              <a:rPr lang="en-US" dirty="0" smtClean="0"/>
              <a:t>Ad hoc networks:</a:t>
            </a:r>
          </a:p>
          <a:p>
            <a:pPr lvl="1"/>
            <a:r>
              <a:rPr lang="en-US" sz="2400" dirty="0" smtClean="0"/>
              <a:t>Do not need backbone infrastructure support</a:t>
            </a:r>
          </a:p>
          <a:p>
            <a:pPr lvl="1"/>
            <a:r>
              <a:rPr lang="en-US" sz="2400" dirty="0" smtClean="0"/>
              <a:t>Easy to deploy</a:t>
            </a:r>
          </a:p>
          <a:p>
            <a:pPr lvl="1"/>
            <a:r>
              <a:rPr lang="en-US" sz="2400" dirty="0" smtClean="0"/>
              <a:t>Useful when infrastructure is absent, destroyed or impractical</a:t>
            </a:r>
          </a:p>
          <a:p>
            <a:pPr lvl="1"/>
            <a:endParaRPr lang="en-US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C00000"/>
                </a:solidFill>
              </a:rPr>
              <a:t>Why Ad Hoc Networks ?</a:t>
            </a: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643050"/>
            <a:ext cx="7408333" cy="48577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Personal area networking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cell phone, laptop, ear phone, wrist watch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Military environments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soldiers, tanks, planes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Civilian environments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taxi cab network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meeting rooms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sports stadiums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boats, small aircraft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Emergency operations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search-and-rescue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policing and fire fighting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 smtClean="0">
                <a:solidFill>
                  <a:srgbClr val="C00000"/>
                </a:solidFill>
              </a:rPr>
              <a:t>Applications</a:t>
            </a: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714488"/>
            <a:ext cx="8429683" cy="44116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Symbol" pitchFamily="18" charset="2"/>
              <a:buChar char="·"/>
            </a:pPr>
            <a:r>
              <a:rPr lang="en-US" sz="2000" dirty="0" smtClean="0">
                <a:solidFill>
                  <a:srgbClr val="990000"/>
                </a:solidFill>
              </a:rPr>
              <a:t>Limitations of the Wireless Network</a:t>
            </a:r>
          </a:p>
          <a:p>
            <a:pPr lvl="1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packet loss due to transmission errors</a:t>
            </a:r>
          </a:p>
          <a:p>
            <a:pPr lvl="1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variable capacity links</a:t>
            </a:r>
          </a:p>
          <a:p>
            <a:pPr lvl="1" algn="just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frequent disconnections/partitions</a:t>
            </a:r>
          </a:p>
          <a:p>
            <a:pPr lvl="1" algn="just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limited communication bandwidth </a:t>
            </a:r>
          </a:p>
          <a:p>
            <a:pPr lvl="1" algn="just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Broadcast nature of the communications</a:t>
            </a:r>
          </a:p>
          <a:p>
            <a:pPr lvl="1" algn="just">
              <a:lnSpc>
                <a:spcPct val="90000"/>
              </a:lnSpc>
              <a:buFont typeface="Symbol" pitchFamily="18" charset="2"/>
              <a:buChar char="·"/>
            </a:pPr>
            <a:endParaRPr lang="en-US" sz="1800" dirty="0" smtClean="0"/>
          </a:p>
          <a:p>
            <a:pPr>
              <a:lnSpc>
                <a:spcPct val="90000"/>
              </a:lnSpc>
              <a:buFont typeface="Symbol" pitchFamily="18" charset="2"/>
              <a:buChar char="·"/>
            </a:pPr>
            <a:r>
              <a:rPr lang="en-US" sz="2000" dirty="0" smtClean="0">
                <a:solidFill>
                  <a:srgbClr val="990000"/>
                </a:solidFill>
              </a:rPr>
              <a:t>Limitations Imposed by Mobility</a:t>
            </a:r>
          </a:p>
          <a:p>
            <a:pPr lvl="1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dynamically changing topologies/routes</a:t>
            </a:r>
          </a:p>
          <a:p>
            <a:pPr lvl="1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lack of mobility awareness by system/applications </a:t>
            </a:r>
          </a:p>
          <a:p>
            <a:pPr>
              <a:lnSpc>
                <a:spcPct val="90000"/>
              </a:lnSpc>
              <a:buFont typeface="Symbol" pitchFamily="18" charset="2"/>
              <a:buChar char="·"/>
            </a:pPr>
            <a:endParaRPr lang="en-US" sz="2000" dirty="0" smtClean="0"/>
          </a:p>
          <a:p>
            <a:pPr>
              <a:lnSpc>
                <a:spcPct val="90000"/>
              </a:lnSpc>
              <a:buFont typeface="Symbol" pitchFamily="18" charset="2"/>
              <a:buChar char="·"/>
            </a:pPr>
            <a:r>
              <a:rPr lang="en-US" sz="2000" dirty="0" smtClean="0">
                <a:solidFill>
                  <a:srgbClr val="990000"/>
                </a:solidFill>
              </a:rPr>
              <a:t>Limitations of the Mobile Computer</a:t>
            </a:r>
          </a:p>
          <a:p>
            <a:pPr lvl="1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short battery lifetime</a:t>
            </a:r>
          </a:p>
          <a:p>
            <a:pPr lvl="1">
              <a:lnSpc>
                <a:spcPct val="90000"/>
              </a:lnSpc>
              <a:buFont typeface="Symbol" pitchFamily="18" charset="2"/>
              <a:buChar char="·"/>
            </a:pPr>
            <a:r>
              <a:rPr lang="en-US" sz="1800" dirty="0" smtClean="0"/>
              <a:t>limited capacities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04656"/>
          </a:xfrm>
        </p:spPr>
        <p:txBody>
          <a:bodyPr/>
          <a:lstStyle/>
          <a:p>
            <a:pPr algn="l"/>
            <a:r>
              <a:rPr lang="en-IN" dirty="0" smtClean="0">
                <a:solidFill>
                  <a:srgbClr val="C00000"/>
                </a:solidFill>
              </a:rPr>
              <a:t>Challenges</a:t>
            </a: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Adhoc</a:t>
            </a:r>
            <a:r>
              <a:rPr lang="en-IN" dirty="0" smtClean="0"/>
              <a:t> Routing: Requirements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143000" y="2136339"/>
            <a:ext cx="693420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600" dirty="0" smtClean="0"/>
              <a:t> Fully distributed, no critical nodes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 smtClean="0"/>
              <a:t> Allow for random node events (e.g. entering, leaving, neighbor changes)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 smtClean="0"/>
              <a:t> Minimum delay to determine path (at transmission time)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 smtClean="0"/>
              <a:t> Minimize storage requirements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 smtClean="0"/>
              <a:t>Must remove (or not propagate) invalid paths</a:t>
            </a:r>
          </a:p>
        </p:txBody>
      </p:sp>
    </p:spTree>
    <p:extLst>
      <p:ext uri="{BB962C8B-B14F-4D97-AF65-F5344CB8AC3E}">
        <p14:creationId xmlns="" xmlns:p14="http://schemas.microsoft.com/office/powerpoint/2010/main" val="122917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857364"/>
            <a:ext cx="7408333" cy="4268799"/>
          </a:xfrm>
        </p:spPr>
        <p:txBody>
          <a:bodyPr/>
          <a:lstStyle/>
          <a:p>
            <a:r>
              <a:rPr lang="en-US" dirty="0" smtClean="0"/>
              <a:t>Many protocols have been proposed</a:t>
            </a:r>
          </a:p>
          <a:p>
            <a:endParaRPr lang="en-US" dirty="0" smtClean="0"/>
          </a:p>
          <a:p>
            <a:r>
              <a:rPr lang="en-US" dirty="0" smtClean="0"/>
              <a:t>Some specifically invented for MANET</a:t>
            </a:r>
          </a:p>
          <a:p>
            <a:r>
              <a:rPr lang="en-US" dirty="0" smtClean="0"/>
              <a:t>Others adapted from protocols for wired networks</a:t>
            </a:r>
          </a:p>
          <a:p>
            <a:endParaRPr lang="en-US" dirty="0" smtClean="0"/>
          </a:p>
          <a:p>
            <a:r>
              <a:rPr lang="en-US" dirty="0" smtClean="0"/>
              <a:t>No single protocol works well in all environments</a:t>
            </a:r>
          </a:p>
          <a:p>
            <a:pPr lvl="1"/>
            <a:r>
              <a:rPr lang="en-US" dirty="0" smtClean="0"/>
              <a:t>some attempts made to develop adaptive/hybrid protocols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Unicast</a:t>
            </a:r>
            <a:r>
              <a:rPr lang="en-IN" dirty="0" smtClean="0"/>
              <a:t> Routing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643050"/>
            <a:ext cx="8429683" cy="448311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Proactive protocols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Traditional distributed shortest-path protocols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Maintain routes between every host pair at all times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Based on periodic updates; High routing overhead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Example: DSDV (</a:t>
            </a:r>
            <a:r>
              <a:rPr lang="en-US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estination 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equenced </a:t>
            </a:r>
            <a:r>
              <a:rPr lang="en-US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istance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en-US" dirty="0" smtClean="0"/>
              <a:t>ector)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Reactive protocols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Determine route if and when needed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Source initiates route discovery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Example: DSR (Dynamic Source Routing)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Hybrid protocols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Adaptive; Combination of proactive and reactive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Example : ZRP </a:t>
            </a:r>
            <a:r>
              <a:rPr lang="en-US" dirty="0" smtClean="0">
                <a:solidFill>
                  <a:srgbClr val="FF0000"/>
                </a:solidFill>
              </a:rPr>
              <a:t>(Z</a:t>
            </a:r>
            <a:r>
              <a:rPr lang="en-US" dirty="0" smtClean="0"/>
              <a:t>one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outing </a:t>
            </a:r>
            <a:r>
              <a:rPr lang="en-US" dirty="0" smtClean="0">
                <a:solidFill>
                  <a:srgbClr val="FF0000"/>
                </a:solidFill>
              </a:rPr>
              <a:t>P</a:t>
            </a:r>
            <a:r>
              <a:rPr lang="en-US" dirty="0" smtClean="0"/>
              <a:t>rotocol)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04656"/>
          </a:xfrm>
        </p:spPr>
        <p:txBody>
          <a:bodyPr/>
          <a:lstStyle/>
          <a:p>
            <a:r>
              <a:rPr lang="en-IN" dirty="0" smtClean="0"/>
              <a:t>Classifications: Routing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785926"/>
            <a:ext cx="7408333" cy="434023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000" dirty="0" smtClean="0">
                <a:solidFill>
                  <a:srgbClr val="990000"/>
                </a:solidFill>
              </a:rPr>
              <a:t>Proactive protocols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Always maintain routes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Little or no delay for route determination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Consume bandwidth to keep routes up-to-date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Maintain routes which may never be used</a:t>
            </a:r>
          </a:p>
          <a:p>
            <a:pPr>
              <a:lnSpc>
                <a:spcPct val="90000"/>
              </a:lnSpc>
            </a:pP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2000" dirty="0" smtClean="0">
                <a:solidFill>
                  <a:srgbClr val="990000"/>
                </a:solidFill>
              </a:rPr>
              <a:t>Reactive protocols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Lower overhead since routes are determined on demand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Significant delay in route determination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Employ flooding (global search)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Control traffic may be </a:t>
            </a:r>
            <a:r>
              <a:rPr lang="en-US" sz="1800" dirty="0" err="1" smtClean="0"/>
              <a:t>bursty</a:t>
            </a:r>
            <a:r>
              <a:rPr lang="en-US" sz="1800" dirty="0" smtClean="0"/>
              <a:t> </a:t>
            </a:r>
          </a:p>
          <a:p>
            <a:pPr>
              <a:lnSpc>
                <a:spcPct val="90000"/>
              </a:lnSpc>
            </a:pP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2000" dirty="0" smtClean="0">
                <a:solidFill>
                  <a:srgbClr val="C00000"/>
                </a:solidFill>
              </a:rPr>
              <a:t>Which approach achieves a better trade-off?</a:t>
            </a:r>
          </a:p>
          <a:p>
            <a:pPr lvl="1">
              <a:lnSpc>
                <a:spcPct val="90000"/>
              </a:lnSpc>
            </a:pPr>
            <a:r>
              <a:rPr lang="en-US" sz="1800" dirty="0" smtClean="0"/>
              <a:t>It depends on the traffic and mobility patterns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Routing: Features</a:t>
            </a:r>
            <a:br>
              <a:rPr lang="en-IN" dirty="0" smtClean="0"/>
            </a:b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3578B-D11C-4C92-A6C1-BC96437A2C41}" type="slidenum">
              <a:rPr lang="en-US"/>
              <a:pPr/>
              <a:t>14</a:t>
            </a:fld>
            <a:endParaRPr lang="en-US"/>
          </a:p>
        </p:txBody>
      </p:sp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Ad hoc routing protocols – classification  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i="1" dirty="0" smtClean="0"/>
              <a:t>When</a:t>
            </a:r>
            <a:r>
              <a:rPr lang="en-US" dirty="0" smtClean="0"/>
              <a:t>? </a:t>
            </a:r>
            <a:endParaRPr lang="en-US" dirty="0"/>
          </a:p>
          <a:p>
            <a:endParaRPr lang="en-US" dirty="0"/>
          </a:p>
          <a:p>
            <a:r>
              <a:rPr lang="en-US" dirty="0"/>
              <a:t>Option 1: Routing protocol </a:t>
            </a:r>
            <a:r>
              <a:rPr lang="en-US" b="1" i="1" dirty="0"/>
              <a:t>always </a:t>
            </a:r>
            <a:r>
              <a:rPr lang="en-US" dirty="0"/>
              <a:t>tries to keep its routing data up-to-date</a:t>
            </a:r>
          </a:p>
          <a:p>
            <a:pPr lvl="1"/>
            <a:r>
              <a:rPr lang="en-US" dirty="0"/>
              <a:t>Protocol is </a:t>
            </a:r>
            <a:r>
              <a:rPr lang="en-US" b="1" i="1" dirty="0"/>
              <a:t>proactive </a:t>
            </a:r>
            <a:r>
              <a:rPr lang="en-US" dirty="0"/>
              <a:t>(active before tables are actually needed) or </a:t>
            </a:r>
            <a:r>
              <a:rPr lang="en-US" b="1" i="1" dirty="0"/>
              <a:t>table-driven</a:t>
            </a:r>
          </a:p>
          <a:p>
            <a:pPr lvl="1"/>
            <a:endParaRPr lang="en-US" dirty="0"/>
          </a:p>
          <a:p>
            <a:r>
              <a:rPr lang="en-US" dirty="0"/>
              <a:t>Option 2: Route is only determined when actually needed</a:t>
            </a:r>
          </a:p>
          <a:p>
            <a:pPr lvl="1"/>
            <a:r>
              <a:rPr lang="en-US" dirty="0"/>
              <a:t>Protocol operates</a:t>
            </a:r>
            <a:r>
              <a:rPr lang="en-US" b="1" i="1" dirty="0"/>
              <a:t> on demand</a:t>
            </a:r>
          </a:p>
          <a:p>
            <a:pPr lvl="1"/>
            <a:endParaRPr lang="en-US" b="1" i="1" dirty="0"/>
          </a:p>
          <a:p>
            <a:r>
              <a:rPr lang="en-US" dirty="0"/>
              <a:t>Option 3: Combine these behaviors</a:t>
            </a:r>
          </a:p>
          <a:p>
            <a:pPr lvl="1"/>
            <a:r>
              <a:rPr lang="en-US" b="1" i="1" dirty="0"/>
              <a:t>Hybrid </a:t>
            </a:r>
            <a:r>
              <a:rPr lang="en-US" dirty="0"/>
              <a:t>protocols</a:t>
            </a:r>
            <a:endParaRPr 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Ad hoc routing protocols – classification </a:t>
            </a:r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686800" cy="4343400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rgbClr val="C00000"/>
                </a:solidFill>
              </a:rPr>
              <a:t>Network Structure : flat </a:t>
            </a:r>
            <a:r>
              <a:rPr lang="en-US" sz="2000" dirty="0">
                <a:solidFill>
                  <a:srgbClr val="C00000"/>
                </a:solidFill>
              </a:rPr>
              <a:t>or hierarchical</a:t>
            </a:r>
            <a:r>
              <a:rPr lang="en-US" sz="2000" dirty="0" smtClean="0">
                <a:solidFill>
                  <a:srgbClr val="C00000"/>
                </a:solidFill>
              </a:rPr>
              <a:t>?</a:t>
            </a:r>
          </a:p>
          <a:p>
            <a:r>
              <a:rPr lang="en-US" sz="2000" dirty="0" smtClean="0"/>
              <a:t>– Flat addressing scheme similar to IEEE 802.3 LANs</a:t>
            </a:r>
          </a:p>
          <a:p>
            <a:r>
              <a:rPr lang="en-US" sz="2000" dirty="0" smtClean="0"/>
              <a:t>– Globally unique addressing mechanism for nodes</a:t>
            </a:r>
            <a:endParaRPr lang="en-US" sz="2000" dirty="0"/>
          </a:p>
          <a:p>
            <a:pPr lvl="1"/>
            <a:r>
              <a:rPr lang="en-US" sz="2000" dirty="0"/>
              <a:t>Compare topology control, traditional routing</a:t>
            </a:r>
          </a:p>
          <a:p>
            <a:r>
              <a:rPr lang="en-US" sz="2000" dirty="0" smtClean="0">
                <a:solidFill>
                  <a:srgbClr val="C00000"/>
                </a:solidFill>
              </a:rPr>
              <a:t>Which </a:t>
            </a:r>
            <a:r>
              <a:rPr lang="en-US" sz="2000" dirty="0">
                <a:solidFill>
                  <a:srgbClr val="C00000"/>
                </a:solidFill>
              </a:rPr>
              <a:t>data is used to identify nodes?</a:t>
            </a:r>
          </a:p>
          <a:p>
            <a:pPr lvl="1"/>
            <a:r>
              <a:rPr lang="en-US" sz="2000" dirty="0"/>
              <a:t>An arbitrary identifier?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The </a:t>
            </a:r>
            <a:r>
              <a:rPr lang="en-US" sz="2000" b="1" i="1" dirty="0">
                <a:solidFill>
                  <a:srgbClr val="C00000"/>
                </a:solidFill>
              </a:rPr>
              <a:t>position</a:t>
            </a:r>
            <a:r>
              <a:rPr lang="en-US" sz="2000" dirty="0">
                <a:solidFill>
                  <a:srgbClr val="C00000"/>
                </a:solidFill>
              </a:rPr>
              <a:t> of a node?</a:t>
            </a:r>
          </a:p>
          <a:p>
            <a:pPr lvl="2"/>
            <a:r>
              <a:rPr lang="en-US" b="1" i="1" dirty="0" smtClean="0"/>
              <a:t>geographic </a:t>
            </a:r>
            <a:r>
              <a:rPr lang="en-US" dirty="0"/>
              <a:t>routing protocols because choice of next hop neighbor can be computed based on destination address </a:t>
            </a:r>
          </a:p>
          <a:p>
            <a:pPr lvl="1"/>
            <a:r>
              <a:rPr lang="en-US" sz="2000" dirty="0"/>
              <a:t>Identifiers that are not arbitrary, but carry some structure?</a:t>
            </a:r>
          </a:p>
          <a:p>
            <a:pPr lvl="2"/>
            <a:r>
              <a:rPr lang="en-US" dirty="0"/>
              <a:t>As in traditional routing</a:t>
            </a:r>
          </a:p>
          <a:p>
            <a:pPr lvl="2"/>
            <a:r>
              <a:rPr lang="en-US" dirty="0"/>
              <a:t>Structure akin to position, on a logical level?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 (cont.)</a:t>
            </a: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2044700" y="1633538"/>
            <a:ext cx="426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Ad Hoc Routing Protocols</a:t>
            </a:r>
            <a:endParaRPr lang="en-US" altLang="ko-KR" sz="2400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673100" y="2700338"/>
            <a:ext cx="2743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Table driven</a:t>
            </a:r>
          </a:p>
        </p:txBody>
      </p:sp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5397500" y="2624138"/>
            <a:ext cx="32766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Source-initiated</a:t>
            </a:r>
          </a:p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on-demand </a:t>
            </a:r>
          </a:p>
        </p:txBody>
      </p:sp>
      <p:sp>
        <p:nvSpPr>
          <p:cNvPr id="57352" name="Line 8"/>
          <p:cNvSpPr>
            <a:spLocks noChangeShapeType="1"/>
          </p:cNvSpPr>
          <p:nvPr/>
        </p:nvSpPr>
        <p:spPr bwMode="auto">
          <a:xfrm>
            <a:off x="5291138" y="2106613"/>
            <a:ext cx="1447800" cy="50482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107950" y="3714750"/>
            <a:ext cx="118745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DSDV</a:t>
            </a:r>
          </a:p>
        </p:txBody>
      </p:sp>
      <p:sp>
        <p:nvSpPr>
          <p:cNvPr id="57354" name="Rectangle 10"/>
          <p:cNvSpPr>
            <a:spLocks noChangeArrowheads="1"/>
          </p:cNvSpPr>
          <p:nvPr/>
        </p:nvSpPr>
        <p:spPr bwMode="auto">
          <a:xfrm>
            <a:off x="2541588" y="3695700"/>
            <a:ext cx="107315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WRP</a:t>
            </a:r>
          </a:p>
        </p:txBody>
      </p:sp>
      <p:sp>
        <p:nvSpPr>
          <p:cNvPr id="57355" name="Rectangle 11"/>
          <p:cNvSpPr>
            <a:spLocks noChangeArrowheads="1"/>
          </p:cNvSpPr>
          <p:nvPr/>
        </p:nvSpPr>
        <p:spPr bwMode="auto">
          <a:xfrm>
            <a:off x="3263900" y="4910138"/>
            <a:ext cx="1371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AODV</a:t>
            </a:r>
          </a:p>
        </p:txBody>
      </p:sp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4775200" y="4892675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DSR</a:t>
            </a:r>
          </a:p>
        </p:txBody>
      </p:sp>
      <p:sp>
        <p:nvSpPr>
          <p:cNvPr id="57357" name="Rectangle 13"/>
          <p:cNvSpPr>
            <a:spLocks noChangeArrowheads="1"/>
          </p:cNvSpPr>
          <p:nvPr/>
        </p:nvSpPr>
        <p:spPr bwMode="auto">
          <a:xfrm>
            <a:off x="6235700" y="4910138"/>
            <a:ext cx="1371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TORA</a:t>
            </a:r>
          </a:p>
        </p:txBody>
      </p:sp>
      <p:sp>
        <p:nvSpPr>
          <p:cNvPr id="57358" name="Rectangle 14"/>
          <p:cNvSpPr>
            <a:spLocks noChangeArrowheads="1"/>
          </p:cNvSpPr>
          <p:nvPr/>
        </p:nvSpPr>
        <p:spPr bwMode="auto">
          <a:xfrm>
            <a:off x="7835900" y="4910138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ABR</a:t>
            </a:r>
          </a:p>
        </p:txBody>
      </p:sp>
      <p:sp>
        <p:nvSpPr>
          <p:cNvPr id="57359" name="Line 15"/>
          <p:cNvSpPr>
            <a:spLocks noChangeShapeType="1"/>
          </p:cNvSpPr>
          <p:nvPr/>
        </p:nvSpPr>
        <p:spPr bwMode="auto">
          <a:xfrm flipH="1">
            <a:off x="4102100" y="3462338"/>
            <a:ext cx="2057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60" name="Line 16"/>
          <p:cNvSpPr>
            <a:spLocks noChangeShapeType="1"/>
          </p:cNvSpPr>
          <p:nvPr/>
        </p:nvSpPr>
        <p:spPr bwMode="auto">
          <a:xfrm flipH="1">
            <a:off x="5473700" y="3462338"/>
            <a:ext cx="10668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61" name="Line 17"/>
          <p:cNvSpPr>
            <a:spLocks noChangeShapeType="1"/>
          </p:cNvSpPr>
          <p:nvPr/>
        </p:nvSpPr>
        <p:spPr bwMode="auto">
          <a:xfrm flipH="1">
            <a:off x="6921500" y="3462338"/>
            <a:ext cx="76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62" name="Line 18"/>
          <p:cNvSpPr>
            <a:spLocks noChangeShapeType="1"/>
          </p:cNvSpPr>
          <p:nvPr/>
        </p:nvSpPr>
        <p:spPr bwMode="auto">
          <a:xfrm>
            <a:off x="7607300" y="3462338"/>
            <a:ext cx="838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63" name="Line 19"/>
          <p:cNvSpPr>
            <a:spLocks noChangeShapeType="1"/>
          </p:cNvSpPr>
          <p:nvPr/>
        </p:nvSpPr>
        <p:spPr bwMode="auto">
          <a:xfrm flipH="1">
            <a:off x="2425700" y="2090738"/>
            <a:ext cx="1143000" cy="609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64" name="Line 20"/>
          <p:cNvSpPr>
            <a:spLocks noChangeShapeType="1"/>
          </p:cNvSpPr>
          <p:nvPr/>
        </p:nvSpPr>
        <p:spPr bwMode="auto">
          <a:xfrm flipH="1">
            <a:off x="901700" y="3081338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65" name="Line 21"/>
          <p:cNvSpPr>
            <a:spLocks noChangeShapeType="1"/>
          </p:cNvSpPr>
          <p:nvPr/>
        </p:nvSpPr>
        <p:spPr bwMode="auto">
          <a:xfrm>
            <a:off x="2557463" y="3078163"/>
            <a:ext cx="696912" cy="630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66" name="Rectangle 22"/>
          <p:cNvSpPr>
            <a:spLocks noChangeArrowheads="1"/>
          </p:cNvSpPr>
          <p:nvPr/>
        </p:nvSpPr>
        <p:spPr bwMode="auto">
          <a:xfrm>
            <a:off x="7835900" y="5824538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SSR</a:t>
            </a:r>
          </a:p>
        </p:txBody>
      </p:sp>
      <p:sp>
        <p:nvSpPr>
          <p:cNvPr id="57367" name="Line 23"/>
          <p:cNvSpPr>
            <a:spLocks noChangeShapeType="1"/>
          </p:cNvSpPr>
          <p:nvPr/>
        </p:nvSpPr>
        <p:spPr bwMode="auto">
          <a:xfrm>
            <a:off x="8369300" y="52911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68" name="Text Box 24"/>
          <p:cNvSpPr txBox="1">
            <a:spLocks noChangeArrowheads="1"/>
          </p:cNvSpPr>
          <p:nvPr/>
        </p:nvSpPr>
        <p:spPr bwMode="auto">
          <a:xfrm>
            <a:off x="6484938" y="2146300"/>
            <a:ext cx="1622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400">
                <a:solidFill>
                  <a:srgbClr val="CC0000"/>
                </a:solidFill>
                <a:latin typeface="Times New Roman" pitchFamily="18" charset="0"/>
                <a:ea typeface="Gulim" pitchFamily="34" charset="-127"/>
              </a:rPr>
              <a:t>Reactive</a:t>
            </a:r>
          </a:p>
        </p:txBody>
      </p:sp>
      <p:sp>
        <p:nvSpPr>
          <p:cNvPr id="57369" name="Text Box 25"/>
          <p:cNvSpPr txBox="1">
            <a:spLocks noChangeArrowheads="1"/>
          </p:cNvSpPr>
          <p:nvPr/>
        </p:nvSpPr>
        <p:spPr bwMode="auto">
          <a:xfrm>
            <a:off x="674688" y="2263775"/>
            <a:ext cx="1622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400">
                <a:solidFill>
                  <a:srgbClr val="CC0000"/>
                </a:solidFill>
                <a:latin typeface="Times New Roman" pitchFamily="18" charset="0"/>
                <a:ea typeface="Gulim" pitchFamily="34" charset="-127"/>
              </a:rPr>
              <a:t>Proactive</a:t>
            </a:r>
          </a:p>
        </p:txBody>
      </p:sp>
      <p:sp>
        <p:nvSpPr>
          <p:cNvPr id="57370" name="Rectangle 26"/>
          <p:cNvSpPr>
            <a:spLocks noChangeArrowheads="1"/>
          </p:cNvSpPr>
          <p:nvPr/>
        </p:nvSpPr>
        <p:spPr bwMode="auto">
          <a:xfrm>
            <a:off x="3597275" y="2722563"/>
            <a:ext cx="1600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Hybrid</a:t>
            </a:r>
          </a:p>
        </p:txBody>
      </p:sp>
      <p:sp>
        <p:nvSpPr>
          <p:cNvPr id="57371" name="Rectangle 27"/>
          <p:cNvSpPr>
            <a:spLocks noChangeArrowheads="1"/>
          </p:cNvSpPr>
          <p:nvPr/>
        </p:nvSpPr>
        <p:spPr bwMode="auto">
          <a:xfrm>
            <a:off x="3700463" y="3690938"/>
            <a:ext cx="13081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ZRP</a:t>
            </a:r>
          </a:p>
        </p:txBody>
      </p:sp>
      <p:sp>
        <p:nvSpPr>
          <p:cNvPr id="57372" name="Line 28"/>
          <p:cNvSpPr>
            <a:spLocks noChangeShapeType="1"/>
          </p:cNvSpPr>
          <p:nvPr/>
        </p:nvSpPr>
        <p:spPr bwMode="auto">
          <a:xfrm>
            <a:off x="4303713" y="2109788"/>
            <a:ext cx="0" cy="620712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Line 29"/>
          <p:cNvSpPr>
            <a:spLocks noChangeShapeType="1"/>
          </p:cNvSpPr>
          <p:nvPr/>
        </p:nvSpPr>
        <p:spPr bwMode="auto">
          <a:xfrm>
            <a:off x="4327525" y="3121025"/>
            <a:ext cx="0" cy="585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3870325" y="2212975"/>
            <a:ext cx="1779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400">
                <a:solidFill>
                  <a:srgbClr val="CC0000"/>
                </a:solidFill>
                <a:latin typeface="Times New Roman" pitchFamily="18" charset="0"/>
                <a:ea typeface="Gulim" pitchFamily="34" charset="-127"/>
              </a:rPr>
              <a:t>Hybrid</a:t>
            </a:r>
          </a:p>
        </p:txBody>
      </p:sp>
      <p:sp>
        <p:nvSpPr>
          <p:cNvPr id="57375" name="Line 31"/>
          <p:cNvSpPr>
            <a:spLocks noChangeShapeType="1"/>
          </p:cNvSpPr>
          <p:nvPr/>
        </p:nvSpPr>
        <p:spPr bwMode="auto">
          <a:xfrm>
            <a:off x="1892300" y="3028950"/>
            <a:ext cx="65088" cy="58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6" name="Rectangle 32"/>
          <p:cNvSpPr>
            <a:spLocks noChangeArrowheads="1"/>
          </p:cNvSpPr>
          <p:nvPr/>
        </p:nvSpPr>
        <p:spPr bwMode="auto">
          <a:xfrm>
            <a:off x="1379538" y="3697288"/>
            <a:ext cx="1038225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OSLR</a:t>
            </a:r>
          </a:p>
        </p:txBody>
      </p:sp>
      <p:sp>
        <p:nvSpPr>
          <p:cNvPr id="57377" name="Line 33"/>
          <p:cNvSpPr>
            <a:spLocks noChangeShapeType="1"/>
          </p:cNvSpPr>
          <p:nvPr/>
        </p:nvSpPr>
        <p:spPr bwMode="auto">
          <a:xfrm flipH="1">
            <a:off x="685800" y="4114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8" name="Rectangle 34"/>
          <p:cNvSpPr>
            <a:spLocks noChangeArrowheads="1"/>
          </p:cNvSpPr>
          <p:nvPr/>
        </p:nvSpPr>
        <p:spPr bwMode="auto">
          <a:xfrm>
            <a:off x="152400" y="4876800"/>
            <a:ext cx="118745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ko-KR" sz="3200">
                <a:latin typeface="Times New Roman" pitchFamily="18" charset="0"/>
                <a:ea typeface="Gulim" pitchFamily="34" charset="-127"/>
              </a:rPr>
              <a:t>CGSR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Dynamic Source Routing (DSR)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Cooperative nodes</a:t>
            </a:r>
          </a:p>
          <a:p>
            <a:pPr eaLnBrk="1" hangingPunct="1"/>
            <a:r>
              <a:rPr lang="en-US" sz="2800" smtClean="0"/>
              <a:t>Relatively small network diameter (5-10 hops)</a:t>
            </a:r>
          </a:p>
          <a:p>
            <a:pPr eaLnBrk="1" hangingPunct="1"/>
            <a:r>
              <a:rPr lang="en-US" sz="2800" smtClean="0"/>
              <a:t>Detectable packet error</a:t>
            </a:r>
          </a:p>
          <a:p>
            <a:pPr eaLnBrk="1" hangingPunct="1"/>
            <a:r>
              <a:rPr lang="en-US" sz="2800" smtClean="0"/>
              <a:t>Unidirectional or bidirectional link</a:t>
            </a:r>
          </a:p>
          <a:p>
            <a:pPr eaLnBrk="1" hangingPunct="1"/>
            <a:r>
              <a:rPr lang="en-US" sz="2800" smtClean="0"/>
              <a:t>Promiscuous mode (optional) </a:t>
            </a:r>
          </a:p>
        </p:txBody>
      </p:sp>
    </p:spTree>
  </p:cSld>
  <p:clrMapOvr>
    <a:masterClrMapping/>
  </p:clrMapOvr>
  <p:transition advTm="62224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In a reactive protocol, how to forward a packet to destination?</a:t>
            </a:r>
          </a:p>
          <a:p>
            <a:pPr lvl="1"/>
            <a:r>
              <a:rPr lang="en-US" dirty="0" smtClean="0"/>
              <a:t>Initially, no information about next hop is available at all </a:t>
            </a:r>
          </a:p>
          <a:p>
            <a:pPr lvl="1"/>
            <a:r>
              <a:rPr lang="en-US" dirty="0" smtClean="0"/>
              <a:t>One (only?) possible recourse: Send packet to </a:t>
            </a:r>
            <a:r>
              <a:rPr lang="en-US" b="1" i="1" dirty="0" smtClean="0"/>
              <a:t>all </a:t>
            </a:r>
            <a:r>
              <a:rPr lang="en-US" dirty="0" smtClean="0"/>
              <a:t>neighbors – flood the network</a:t>
            </a:r>
          </a:p>
          <a:p>
            <a:pPr lvl="1"/>
            <a:r>
              <a:rPr lang="en-US" dirty="0" smtClean="0"/>
              <a:t>Hope: At some point, packet will reach destination and an answer is sent back – use this answer for </a:t>
            </a:r>
            <a:r>
              <a:rPr lang="en-US" b="1" i="1" dirty="0" smtClean="0"/>
              <a:t>backward learning</a:t>
            </a:r>
            <a:r>
              <a:rPr lang="en-US" dirty="0" smtClean="0"/>
              <a:t> the route from destination to source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Practically:  </a:t>
            </a:r>
            <a:r>
              <a:rPr lang="en-US" b="1" i="1" dirty="0" smtClean="0"/>
              <a:t>Dynamic Source Routing (DSR)</a:t>
            </a:r>
            <a:endParaRPr lang="en-US" dirty="0" smtClean="0"/>
          </a:p>
          <a:p>
            <a:pPr lvl="1"/>
            <a:r>
              <a:rPr lang="en-US" dirty="0" smtClean="0"/>
              <a:t>Use separate </a:t>
            </a:r>
            <a:r>
              <a:rPr lang="en-US" b="1" i="1" dirty="0" smtClean="0"/>
              <a:t>route request/route reply </a:t>
            </a:r>
            <a:r>
              <a:rPr lang="en-US" dirty="0" smtClean="0"/>
              <a:t>packets to discover route</a:t>
            </a:r>
          </a:p>
          <a:p>
            <a:pPr lvl="2"/>
            <a:r>
              <a:rPr lang="en-US" dirty="0" smtClean="0"/>
              <a:t>Data packets only sent once route has been established</a:t>
            </a:r>
          </a:p>
          <a:p>
            <a:pPr lvl="2"/>
            <a:r>
              <a:rPr lang="en-US" dirty="0" smtClean="0"/>
              <a:t>Discovery packets smaller than data packets</a:t>
            </a:r>
          </a:p>
          <a:p>
            <a:pPr lvl="1"/>
            <a:r>
              <a:rPr lang="en-US" dirty="0" smtClean="0"/>
              <a:t>Store routing information in the discovery packets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DSR : Reactive Protocol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959504"/>
            <a:ext cx="7408333" cy="3450696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 smtClean="0">
                <a:latin typeface="Times New Roman" pitchFamily="18" charset="0"/>
              </a:rPr>
              <a:t>Route discovery 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 smtClean="0"/>
              <a:t>When node S wants to send a packet to node D, but does not know a route to D, node S initiates a </a:t>
            </a:r>
            <a:r>
              <a:rPr lang="en-US" dirty="0" smtClean="0">
                <a:solidFill>
                  <a:srgbClr val="FF0000"/>
                </a:solidFill>
              </a:rPr>
              <a:t>route discovery</a:t>
            </a:r>
          </a:p>
          <a:p>
            <a:pPr>
              <a:lnSpc>
                <a:spcPct val="90000"/>
              </a:lnSpc>
              <a:defRPr/>
            </a:pPr>
            <a:endParaRPr lang="en-US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</a:rPr>
              <a:t>Route maintenance</a:t>
            </a:r>
          </a:p>
          <a:p>
            <a:pPr>
              <a:lnSpc>
                <a:spcPct val="90000"/>
              </a:lnSpc>
              <a:defRPr/>
            </a:pPr>
            <a:r>
              <a:rPr lang="en-US" dirty="0" smtClean="0">
                <a:latin typeface="Times New Roman" pitchFamily="18" charset="0"/>
              </a:rPr>
              <a:t>Mechanisms “on-demand”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>
                <a:latin typeface="Times New Roman" pitchFamily="18" charset="0"/>
              </a:rPr>
              <a:t>No periodic routing advertisement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>
                <a:latin typeface="Times New Roman" pitchFamily="18" charset="0"/>
              </a:rPr>
              <a:t>No link status sensing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smtClean="0">
                <a:latin typeface="Times New Roman" pitchFamily="18" charset="0"/>
              </a:rPr>
              <a:t>No neighbor detection packets</a:t>
            </a:r>
          </a:p>
          <a:p>
            <a:pPr>
              <a:lnSpc>
                <a:spcPct val="90000"/>
              </a:lnSpc>
              <a:defRPr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</a:rPr>
              <a:t>Routes caching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Source node S floods </a:t>
            </a:r>
            <a:r>
              <a:rPr lang="en-US" dirty="0" smtClean="0">
                <a:solidFill>
                  <a:srgbClr val="A50021"/>
                </a:solidFill>
              </a:rPr>
              <a:t>Route Request (RREQ) to its’ neighbors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Each node </a:t>
            </a:r>
            <a:r>
              <a:rPr lang="en-US" i="1" dirty="0" smtClean="0"/>
              <a:t>appends own identifier in the header</a:t>
            </a:r>
            <a:r>
              <a:rPr lang="en-US" dirty="0" smtClean="0"/>
              <a:t> when forwarding RREQ and floods the message</a:t>
            </a:r>
          </a:p>
          <a:p>
            <a:pPr algn="just"/>
            <a:r>
              <a:rPr lang="en-US" dirty="0" smtClean="0"/>
              <a:t> The destination responds with a Route Reply message containing the path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DSR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6616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BC08858-1124-4EF4-ACC3-D26C0151756D}" type="slidenum">
              <a:rPr lang="en-US"/>
              <a:pPr/>
              <a:t>21</a:t>
            </a:fld>
            <a:endParaRPr lang="en-US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Dynamic Source Routing (DSR)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endParaRPr lang="en-US" sz="2000" dirty="0" smtClean="0"/>
          </a:p>
          <a:p>
            <a:pPr algn="just" eaLnBrk="1" hangingPunct="1"/>
            <a:r>
              <a:rPr lang="en-US" dirty="0" smtClean="0"/>
              <a:t>Node S on receiving RREP, caches the route included in the RREP</a:t>
            </a:r>
          </a:p>
          <a:p>
            <a:pPr algn="just" eaLnBrk="1" hangingPunct="1"/>
            <a:endParaRPr lang="en-US" dirty="0" smtClean="0"/>
          </a:p>
          <a:p>
            <a:pPr algn="just" eaLnBrk="1" hangingPunct="1"/>
            <a:r>
              <a:rPr lang="en-US" dirty="0" smtClean="0"/>
              <a:t>When node S sends a data packet to D, the entire route is included in the packet header</a:t>
            </a:r>
          </a:p>
          <a:p>
            <a:pPr lvl="1" algn="just" eaLnBrk="1" hangingPunct="1"/>
            <a:r>
              <a:rPr lang="en-US" dirty="0" smtClean="0"/>
              <a:t>hence the name </a:t>
            </a:r>
            <a:r>
              <a:rPr lang="en-US" dirty="0" smtClean="0">
                <a:solidFill>
                  <a:srgbClr val="990000"/>
                </a:solidFill>
              </a:rPr>
              <a:t>source routing</a:t>
            </a:r>
          </a:p>
          <a:p>
            <a:pPr lvl="1" algn="just" eaLnBrk="1" hangingPunct="1"/>
            <a:endParaRPr lang="en-US" dirty="0" smtClean="0">
              <a:solidFill>
                <a:srgbClr val="339933"/>
              </a:solidFill>
            </a:endParaRPr>
          </a:p>
          <a:p>
            <a:pPr algn="just" eaLnBrk="1" hangingPunct="1"/>
            <a:r>
              <a:rPr lang="en-US" dirty="0" smtClean="0"/>
              <a:t>Intermediate nodes use the </a:t>
            </a:r>
            <a:r>
              <a:rPr lang="en-US" dirty="0" smtClean="0">
                <a:solidFill>
                  <a:srgbClr val="990000"/>
                </a:solidFill>
              </a:rPr>
              <a:t>source route</a:t>
            </a:r>
            <a:r>
              <a:rPr lang="en-US" dirty="0" smtClean="0"/>
              <a:t> included in a packet to determine to whom a packet should be forwarded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A </a:t>
            </a:r>
            <a:r>
              <a:rPr lang="en-US" sz="2600" dirty="0" smtClean="0"/>
              <a:t>node can only flood the </a:t>
            </a:r>
            <a:r>
              <a:rPr lang="en-US" sz="2600" dirty="0" err="1" smtClean="0"/>
              <a:t>RouteRequestpacket</a:t>
            </a:r>
            <a:r>
              <a:rPr lang="en-US" sz="2600" dirty="0" smtClean="0"/>
              <a:t> if it has not already flooded it</a:t>
            </a:r>
          </a:p>
          <a:p>
            <a:r>
              <a:rPr lang="en-US" sz="2600" dirty="0" smtClean="0"/>
              <a:t>On link failure:</a:t>
            </a:r>
          </a:p>
          <a:p>
            <a:pPr lvl="1"/>
            <a:r>
              <a:rPr lang="en-US" sz="2600" dirty="0" smtClean="0"/>
              <a:t>Adjacent node sends a </a:t>
            </a:r>
            <a:r>
              <a:rPr lang="en-US" sz="2600" dirty="0" err="1" smtClean="0"/>
              <a:t>RouteErrormessage</a:t>
            </a:r>
            <a:r>
              <a:rPr lang="en-US" sz="2600" dirty="0" smtClean="0"/>
              <a:t> to the source</a:t>
            </a:r>
          </a:p>
          <a:p>
            <a:pPr lvl="1"/>
            <a:r>
              <a:rPr lang="en-US" sz="2600" dirty="0" smtClean="0"/>
              <a:t>The source will remove the route from its route entry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DSR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71024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90BDDEB-4C90-4031-BC7F-CDBF0E82BFAA}" type="slidenum">
              <a:rPr lang="en-US"/>
              <a:pPr/>
              <a:t>23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Discovery in DSR</a:t>
            </a:r>
          </a:p>
        </p:txBody>
      </p:sp>
      <p:sp>
        <p:nvSpPr>
          <p:cNvPr id="33796" name="Oval 3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</a:t>
            </a:r>
          </a:p>
        </p:txBody>
      </p:sp>
      <p:sp>
        <p:nvSpPr>
          <p:cNvPr id="33797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A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E</a:t>
            </a: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F</a:t>
            </a:r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H</a:t>
            </a:r>
          </a:p>
        </p:txBody>
      </p:sp>
      <p:sp>
        <p:nvSpPr>
          <p:cNvPr id="33801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J</a:t>
            </a:r>
          </a:p>
        </p:txBody>
      </p:sp>
      <p:sp>
        <p:nvSpPr>
          <p:cNvPr id="33802" name="Oval 10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D</a:t>
            </a:r>
          </a:p>
        </p:txBody>
      </p:sp>
      <p:sp>
        <p:nvSpPr>
          <p:cNvPr id="33803" name="Oval 11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C</a:t>
            </a:r>
          </a:p>
        </p:txBody>
      </p:sp>
      <p:sp>
        <p:nvSpPr>
          <p:cNvPr id="33804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G</a:t>
            </a:r>
          </a:p>
        </p:txBody>
      </p:sp>
      <p:sp>
        <p:nvSpPr>
          <p:cNvPr id="33805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I</a:t>
            </a:r>
          </a:p>
        </p:txBody>
      </p:sp>
      <p:sp>
        <p:nvSpPr>
          <p:cNvPr id="33806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K</a:t>
            </a:r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1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2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7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8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9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0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1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2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3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4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Z</a:t>
            </a:r>
          </a:p>
        </p:txBody>
      </p:sp>
      <p:sp>
        <p:nvSpPr>
          <p:cNvPr id="33825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Y</a:t>
            </a:r>
          </a:p>
        </p:txBody>
      </p:sp>
      <p:sp>
        <p:nvSpPr>
          <p:cNvPr id="33826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7" name="Oval 35" descr="Water droplets"/>
          <p:cNvSpPr>
            <a:spLocks noChangeArrowheads="1"/>
          </p:cNvSpPr>
          <p:nvPr/>
        </p:nvSpPr>
        <p:spPr bwMode="auto">
          <a:xfrm>
            <a:off x="609600" y="5562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2000" b="1">
              <a:latin typeface="Arial" pitchFamily="34" charset="0"/>
            </a:endParaRPr>
          </a:p>
        </p:txBody>
      </p:sp>
      <p:sp>
        <p:nvSpPr>
          <p:cNvPr id="33828" name="Text Box 36"/>
          <p:cNvSpPr txBox="1">
            <a:spLocks noChangeArrowheads="1"/>
          </p:cNvSpPr>
          <p:nvPr/>
        </p:nvSpPr>
        <p:spPr bwMode="auto">
          <a:xfrm>
            <a:off x="1447800" y="5715000"/>
            <a:ext cx="694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Arial" pitchFamily="34" charset="0"/>
              </a:rPr>
              <a:t>Represents a node that has received RREQ for D from S</a:t>
            </a:r>
          </a:p>
        </p:txBody>
      </p:sp>
      <p:sp>
        <p:nvSpPr>
          <p:cNvPr id="33829" name="Oval 37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M</a:t>
            </a:r>
          </a:p>
        </p:txBody>
      </p:sp>
      <p:sp>
        <p:nvSpPr>
          <p:cNvPr id="33830" name="Line 38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1" name="Oval 39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N</a:t>
            </a:r>
          </a:p>
        </p:txBody>
      </p:sp>
      <p:sp>
        <p:nvSpPr>
          <p:cNvPr id="33832" name="Line 40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3" name="Oval 41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L</a:t>
            </a:r>
          </a:p>
        </p:txBody>
      </p:sp>
      <p:sp>
        <p:nvSpPr>
          <p:cNvPr id="33834" name="Line 42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5" name="Oval 43" descr="Water droplets"/>
          <p:cNvSpPr>
            <a:spLocks noChangeArrowheads="1"/>
          </p:cNvSpPr>
          <p:nvPr/>
        </p:nvSpPr>
        <p:spPr bwMode="auto">
          <a:xfrm>
            <a:off x="31242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2D89D89-C743-48F0-AA7B-4CFC03E8EA52}" type="slidenum">
              <a:rPr lang="en-US"/>
              <a:pPr/>
              <a:t>24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Discovery in DSR</a:t>
            </a:r>
          </a:p>
        </p:txBody>
      </p:sp>
      <p:sp>
        <p:nvSpPr>
          <p:cNvPr id="34820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</a:t>
            </a:r>
          </a:p>
        </p:txBody>
      </p:sp>
      <p:sp>
        <p:nvSpPr>
          <p:cNvPr id="34821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A</a:t>
            </a:r>
          </a:p>
        </p:txBody>
      </p:sp>
      <p:sp>
        <p:nvSpPr>
          <p:cNvPr id="34822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E</a:t>
            </a:r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F</a:t>
            </a:r>
          </a:p>
        </p:txBody>
      </p:sp>
      <p:sp>
        <p:nvSpPr>
          <p:cNvPr id="34824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H</a:t>
            </a:r>
          </a:p>
        </p:txBody>
      </p:sp>
      <p:sp>
        <p:nvSpPr>
          <p:cNvPr id="34825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J</a:t>
            </a:r>
          </a:p>
        </p:txBody>
      </p:sp>
      <p:sp>
        <p:nvSpPr>
          <p:cNvPr id="34826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C</a:t>
            </a:r>
          </a:p>
        </p:txBody>
      </p:sp>
      <p:sp>
        <p:nvSpPr>
          <p:cNvPr id="34827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G</a:t>
            </a:r>
          </a:p>
        </p:txBody>
      </p:sp>
      <p:sp>
        <p:nvSpPr>
          <p:cNvPr id="34828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I</a:t>
            </a:r>
          </a:p>
        </p:txBody>
      </p:sp>
      <p:sp>
        <p:nvSpPr>
          <p:cNvPr id="34829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K</a:t>
            </a:r>
          </a:p>
        </p:txBody>
      </p:sp>
      <p:sp>
        <p:nvSpPr>
          <p:cNvPr id="34830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1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2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3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4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5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6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7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8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39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0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1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2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3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4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5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6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7" name="Line 32"/>
          <p:cNvSpPr>
            <a:spLocks noChangeShapeType="1"/>
          </p:cNvSpPr>
          <p:nvPr/>
        </p:nvSpPr>
        <p:spPr bwMode="auto">
          <a:xfrm>
            <a:off x="990600" y="57150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48" name="Text Box 33"/>
          <p:cNvSpPr txBox="1">
            <a:spLocks noChangeArrowheads="1"/>
          </p:cNvSpPr>
          <p:nvPr/>
        </p:nvSpPr>
        <p:spPr bwMode="auto">
          <a:xfrm>
            <a:off x="1752600" y="5486400"/>
            <a:ext cx="4332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Arial" pitchFamily="34" charset="0"/>
              </a:rPr>
              <a:t>Represents transmission of RREQ</a:t>
            </a:r>
          </a:p>
        </p:txBody>
      </p:sp>
      <p:sp>
        <p:nvSpPr>
          <p:cNvPr id="34849" name="Oval 34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Z</a:t>
            </a:r>
          </a:p>
        </p:txBody>
      </p:sp>
      <p:sp>
        <p:nvSpPr>
          <p:cNvPr id="34850" name="Oval 35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Y</a:t>
            </a:r>
          </a:p>
        </p:txBody>
      </p:sp>
      <p:sp>
        <p:nvSpPr>
          <p:cNvPr id="34851" name="Line 36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52" name="Text Box 37"/>
          <p:cNvSpPr txBox="1">
            <a:spLocks noChangeArrowheads="1"/>
          </p:cNvSpPr>
          <p:nvPr/>
        </p:nvSpPr>
        <p:spPr bwMode="auto">
          <a:xfrm>
            <a:off x="0" y="1447800"/>
            <a:ext cx="307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Broadcast transmission</a:t>
            </a:r>
          </a:p>
        </p:txBody>
      </p:sp>
      <p:sp>
        <p:nvSpPr>
          <p:cNvPr id="34853" name="Freeform 38"/>
          <p:cNvSpPr>
            <a:spLocks/>
          </p:cNvSpPr>
          <p:nvPr/>
        </p:nvSpPr>
        <p:spPr bwMode="auto">
          <a:xfrm>
            <a:off x="1143000" y="1828800"/>
            <a:ext cx="1676400" cy="762000"/>
          </a:xfrm>
          <a:custGeom>
            <a:avLst/>
            <a:gdLst>
              <a:gd name="T0" fmla="*/ 0 w 1056"/>
              <a:gd name="T1" fmla="*/ 0 h 480"/>
              <a:gd name="T2" fmla="*/ 1066800 w 1056"/>
              <a:gd name="T3" fmla="*/ 304800 h 480"/>
              <a:gd name="T4" fmla="*/ 1676400 w 1056"/>
              <a:gd name="T5" fmla="*/ 76200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6" h="480">
                <a:moveTo>
                  <a:pt x="0" y="0"/>
                </a:moveTo>
                <a:cubicBezTo>
                  <a:pt x="248" y="56"/>
                  <a:pt x="496" y="112"/>
                  <a:pt x="672" y="192"/>
                </a:cubicBezTo>
                <a:cubicBezTo>
                  <a:pt x="848" y="272"/>
                  <a:pt x="984" y="424"/>
                  <a:pt x="1056" y="4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54" name="Oval 39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M</a:t>
            </a:r>
          </a:p>
        </p:txBody>
      </p:sp>
      <p:sp>
        <p:nvSpPr>
          <p:cNvPr id="34855" name="Line 40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56" name="Oval 41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N</a:t>
            </a:r>
          </a:p>
        </p:txBody>
      </p:sp>
      <p:sp>
        <p:nvSpPr>
          <p:cNvPr id="34857" name="Line 42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58" name="Oval 43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L</a:t>
            </a:r>
          </a:p>
        </p:txBody>
      </p:sp>
      <p:sp>
        <p:nvSpPr>
          <p:cNvPr id="34859" name="Line 44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60" name="Text Box 45"/>
          <p:cNvSpPr txBox="1">
            <a:spLocks noChangeArrowheads="1"/>
          </p:cNvSpPr>
          <p:nvPr/>
        </p:nvSpPr>
        <p:spPr bwMode="auto">
          <a:xfrm>
            <a:off x="4251325" y="19351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endParaRPr lang="en-US" sz="2000" b="1">
              <a:latin typeface="Arial" pitchFamily="34" charset="0"/>
            </a:endParaRPr>
          </a:p>
        </p:txBody>
      </p:sp>
      <p:sp>
        <p:nvSpPr>
          <p:cNvPr id="34861" name="Text Box 46"/>
          <p:cNvSpPr txBox="1">
            <a:spLocks noChangeArrowheads="1"/>
          </p:cNvSpPr>
          <p:nvPr/>
        </p:nvSpPr>
        <p:spPr bwMode="auto">
          <a:xfrm>
            <a:off x="3657600" y="1981200"/>
            <a:ext cx="522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[S]</a:t>
            </a:r>
          </a:p>
        </p:txBody>
      </p:sp>
      <p:sp>
        <p:nvSpPr>
          <p:cNvPr id="34862" name="Text Box 47"/>
          <p:cNvSpPr txBox="1">
            <a:spLocks noChangeArrowheads="1"/>
          </p:cNvSpPr>
          <p:nvPr/>
        </p:nvSpPr>
        <p:spPr bwMode="auto">
          <a:xfrm>
            <a:off x="838200" y="6172200"/>
            <a:ext cx="69072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solidFill>
                  <a:srgbClr val="0000FF"/>
                </a:solidFill>
                <a:latin typeface="Arial" pitchFamily="34" charset="0"/>
              </a:rPr>
              <a:t>[X,Y]     Represents list of identifiers appended to RREQ</a:t>
            </a:r>
          </a:p>
        </p:txBody>
      </p:sp>
      <p:sp>
        <p:nvSpPr>
          <p:cNvPr id="34863" name="Oval 48" descr="Water droplets"/>
          <p:cNvSpPr>
            <a:spLocks noChangeArrowheads="1"/>
          </p:cNvSpPr>
          <p:nvPr/>
        </p:nvSpPr>
        <p:spPr bwMode="auto">
          <a:xfrm>
            <a:off x="31242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S</a:t>
            </a:r>
          </a:p>
        </p:txBody>
      </p:sp>
      <p:sp>
        <p:nvSpPr>
          <p:cNvPr id="34864" name="Oval 49"/>
          <p:cNvSpPr>
            <a:spLocks noChangeArrowheads="1"/>
          </p:cNvSpPr>
          <p:nvPr/>
        </p:nvSpPr>
        <p:spPr bwMode="auto">
          <a:xfrm>
            <a:off x="6705600" y="3867150"/>
            <a:ext cx="609600" cy="609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B76C69A-C430-4D02-AD86-3C4E625BE5EE}" type="slidenum">
              <a:rPr lang="en-US"/>
              <a:pPr/>
              <a:t>25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Discovery in DSR</a:t>
            </a:r>
          </a:p>
        </p:txBody>
      </p:sp>
      <p:sp>
        <p:nvSpPr>
          <p:cNvPr id="35844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</a:t>
            </a:r>
          </a:p>
        </p:txBody>
      </p:sp>
      <p:sp>
        <p:nvSpPr>
          <p:cNvPr id="35845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A</a:t>
            </a:r>
          </a:p>
        </p:txBody>
      </p:sp>
      <p:sp>
        <p:nvSpPr>
          <p:cNvPr id="35846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E</a:t>
            </a:r>
          </a:p>
        </p:txBody>
      </p:sp>
      <p:sp>
        <p:nvSpPr>
          <p:cNvPr id="35847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F</a:t>
            </a:r>
          </a:p>
        </p:txBody>
      </p:sp>
      <p:sp>
        <p:nvSpPr>
          <p:cNvPr id="35848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H</a:t>
            </a:r>
          </a:p>
        </p:txBody>
      </p:sp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J</a:t>
            </a:r>
          </a:p>
        </p:txBody>
      </p:sp>
      <p:sp>
        <p:nvSpPr>
          <p:cNvPr id="35850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C</a:t>
            </a:r>
          </a:p>
        </p:txBody>
      </p:sp>
      <p:sp>
        <p:nvSpPr>
          <p:cNvPr id="35851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G</a:t>
            </a:r>
          </a:p>
        </p:txBody>
      </p:sp>
      <p:sp>
        <p:nvSpPr>
          <p:cNvPr id="35852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I</a:t>
            </a:r>
          </a:p>
        </p:txBody>
      </p:sp>
      <p:sp>
        <p:nvSpPr>
          <p:cNvPr id="35853" name="Oval 14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K</a:t>
            </a:r>
          </a:p>
        </p:txBody>
      </p:sp>
      <p:sp>
        <p:nvSpPr>
          <p:cNvPr id="35854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7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8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1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2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3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4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5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6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7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8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9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Line 32"/>
          <p:cNvSpPr>
            <a:spLocks noChangeShapeType="1"/>
          </p:cNvSpPr>
          <p:nvPr/>
        </p:nvSpPr>
        <p:spPr bwMode="auto">
          <a:xfrm flipH="1">
            <a:off x="4114800" y="2971800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Text Box 33"/>
          <p:cNvSpPr txBox="1">
            <a:spLocks noChangeArrowheads="1"/>
          </p:cNvSpPr>
          <p:nvPr/>
        </p:nvSpPr>
        <p:spPr bwMode="auto">
          <a:xfrm>
            <a:off x="1203325" y="5516563"/>
            <a:ext cx="65214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en-US" sz="2000" b="1">
                <a:latin typeface="Arial" pitchFamily="34" charset="0"/>
              </a:rPr>
              <a:t> Node H receives packet RREQ from two neighbors:</a:t>
            </a:r>
          </a:p>
          <a:p>
            <a:pPr eaLnBrk="0" hangingPunct="0"/>
            <a:r>
              <a:rPr lang="en-US" sz="2000" b="1">
                <a:latin typeface="Arial" pitchFamily="34" charset="0"/>
              </a:rPr>
              <a:t>   </a:t>
            </a:r>
            <a:r>
              <a:rPr lang="en-US" sz="2000" b="1">
                <a:solidFill>
                  <a:srgbClr val="A50021"/>
                </a:solidFill>
                <a:latin typeface="Arial" pitchFamily="34" charset="0"/>
              </a:rPr>
              <a:t>potential for collision</a:t>
            </a:r>
            <a:endParaRPr lang="en-US" sz="2000" b="1">
              <a:latin typeface="Arial" pitchFamily="34" charset="0"/>
            </a:endParaRPr>
          </a:p>
        </p:txBody>
      </p:sp>
      <p:sp>
        <p:nvSpPr>
          <p:cNvPr id="35873" name="Oval 34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Z</a:t>
            </a:r>
          </a:p>
        </p:txBody>
      </p:sp>
      <p:sp>
        <p:nvSpPr>
          <p:cNvPr id="35874" name="Oval 35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Y</a:t>
            </a:r>
          </a:p>
        </p:txBody>
      </p:sp>
      <p:sp>
        <p:nvSpPr>
          <p:cNvPr id="35875" name="Line 36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6" name="Oval 37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M</a:t>
            </a:r>
          </a:p>
        </p:txBody>
      </p:sp>
      <p:sp>
        <p:nvSpPr>
          <p:cNvPr id="35877" name="Line 38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8" name="Oval 39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N</a:t>
            </a:r>
          </a:p>
        </p:txBody>
      </p:sp>
      <p:sp>
        <p:nvSpPr>
          <p:cNvPr id="35879" name="Line 40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0" name="Oval 41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L</a:t>
            </a:r>
          </a:p>
        </p:txBody>
      </p:sp>
      <p:sp>
        <p:nvSpPr>
          <p:cNvPr id="35881" name="Line 42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2" name="Text Box 43"/>
          <p:cNvSpPr txBox="1">
            <a:spLocks noChangeArrowheads="1"/>
          </p:cNvSpPr>
          <p:nvPr/>
        </p:nvSpPr>
        <p:spPr bwMode="auto">
          <a:xfrm>
            <a:off x="4724400" y="2286000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[S,E]</a:t>
            </a:r>
          </a:p>
        </p:txBody>
      </p:sp>
      <p:sp>
        <p:nvSpPr>
          <p:cNvPr id="35883" name="Text Box 44"/>
          <p:cNvSpPr txBox="1">
            <a:spLocks noChangeArrowheads="1"/>
          </p:cNvSpPr>
          <p:nvPr/>
        </p:nvSpPr>
        <p:spPr bwMode="auto">
          <a:xfrm>
            <a:off x="3652838" y="3687763"/>
            <a:ext cx="776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[S,C]</a:t>
            </a:r>
          </a:p>
        </p:txBody>
      </p:sp>
      <p:sp>
        <p:nvSpPr>
          <p:cNvPr id="35884" name="Oval 45" descr="Water droplets"/>
          <p:cNvSpPr>
            <a:spLocks noChangeArrowheads="1"/>
          </p:cNvSpPr>
          <p:nvPr/>
        </p:nvSpPr>
        <p:spPr bwMode="auto">
          <a:xfrm>
            <a:off x="31242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S</a:t>
            </a:r>
          </a:p>
        </p:txBody>
      </p:sp>
      <p:sp>
        <p:nvSpPr>
          <p:cNvPr id="35885" name="Oval 46"/>
          <p:cNvSpPr>
            <a:spLocks noChangeArrowheads="1"/>
          </p:cNvSpPr>
          <p:nvPr/>
        </p:nvSpPr>
        <p:spPr bwMode="auto">
          <a:xfrm>
            <a:off x="6705600" y="3867150"/>
            <a:ext cx="609600" cy="609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76C813B-A029-4644-B9F4-89F78C105216}" type="slidenum">
              <a:rPr lang="en-US"/>
              <a:pPr/>
              <a:t>26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Discovery in DSR</a:t>
            </a:r>
          </a:p>
        </p:txBody>
      </p:sp>
      <p:sp>
        <p:nvSpPr>
          <p:cNvPr id="36868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</a:t>
            </a:r>
          </a:p>
        </p:txBody>
      </p:sp>
      <p:sp>
        <p:nvSpPr>
          <p:cNvPr id="36869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A</a:t>
            </a:r>
          </a:p>
        </p:txBody>
      </p:sp>
      <p:sp>
        <p:nvSpPr>
          <p:cNvPr id="36870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E</a:t>
            </a:r>
          </a:p>
        </p:txBody>
      </p:sp>
      <p:sp>
        <p:nvSpPr>
          <p:cNvPr id="36871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F</a:t>
            </a:r>
          </a:p>
        </p:txBody>
      </p:sp>
      <p:sp>
        <p:nvSpPr>
          <p:cNvPr id="36872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H</a:t>
            </a:r>
          </a:p>
        </p:txBody>
      </p:sp>
      <p:sp>
        <p:nvSpPr>
          <p:cNvPr id="36873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J</a:t>
            </a:r>
          </a:p>
        </p:txBody>
      </p:sp>
      <p:sp>
        <p:nvSpPr>
          <p:cNvPr id="36874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C</a:t>
            </a:r>
          </a:p>
        </p:txBody>
      </p:sp>
      <p:sp>
        <p:nvSpPr>
          <p:cNvPr id="36875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G</a:t>
            </a:r>
          </a:p>
        </p:txBody>
      </p:sp>
      <p:sp>
        <p:nvSpPr>
          <p:cNvPr id="36876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I</a:t>
            </a:r>
          </a:p>
        </p:txBody>
      </p:sp>
      <p:sp>
        <p:nvSpPr>
          <p:cNvPr id="36877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K</a:t>
            </a:r>
          </a:p>
        </p:txBody>
      </p:sp>
      <p:sp>
        <p:nvSpPr>
          <p:cNvPr id="36878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1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2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3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4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5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8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89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0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1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2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3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4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5" name="Line 32"/>
          <p:cNvSpPr>
            <a:spLocks noChangeShapeType="1"/>
          </p:cNvSpPr>
          <p:nvPr/>
        </p:nvSpPr>
        <p:spPr bwMode="auto">
          <a:xfrm>
            <a:off x="1981200" y="4114800"/>
            <a:ext cx="6858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6" name="Line 33"/>
          <p:cNvSpPr>
            <a:spLocks noChangeShapeType="1"/>
          </p:cNvSpPr>
          <p:nvPr/>
        </p:nvSpPr>
        <p:spPr bwMode="auto">
          <a:xfrm flipH="1">
            <a:off x="5105400" y="33528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97" name="Text Box 34"/>
          <p:cNvSpPr txBox="1">
            <a:spLocks noChangeArrowheads="1"/>
          </p:cNvSpPr>
          <p:nvPr/>
        </p:nvSpPr>
        <p:spPr bwMode="auto">
          <a:xfrm>
            <a:off x="762000" y="5410200"/>
            <a:ext cx="76025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en-US" sz="2000" b="1">
                <a:latin typeface="Arial" pitchFamily="34" charset="0"/>
              </a:rPr>
              <a:t> Node C receives RREQ from G and H, but does not forward</a:t>
            </a:r>
          </a:p>
          <a:p>
            <a:pPr eaLnBrk="0" hangingPunct="0"/>
            <a:r>
              <a:rPr lang="en-US" sz="2000" b="1">
                <a:latin typeface="Arial" pitchFamily="34" charset="0"/>
              </a:rPr>
              <a:t>   it again, because node C has </a:t>
            </a:r>
            <a:r>
              <a:rPr lang="en-US" sz="2000" b="1">
                <a:solidFill>
                  <a:srgbClr val="990000"/>
                </a:solidFill>
                <a:latin typeface="Arial" pitchFamily="34" charset="0"/>
              </a:rPr>
              <a:t>already forwarded RREQ</a:t>
            </a:r>
            <a:r>
              <a:rPr lang="en-US" sz="2000" b="1">
                <a:latin typeface="Arial" pitchFamily="34" charset="0"/>
              </a:rPr>
              <a:t> once</a:t>
            </a:r>
          </a:p>
        </p:txBody>
      </p:sp>
      <p:sp>
        <p:nvSpPr>
          <p:cNvPr id="36898" name="Oval 35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Z</a:t>
            </a:r>
          </a:p>
        </p:txBody>
      </p:sp>
      <p:sp>
        <p:nvSpPr>
          <p:cNvPr id="36899" name="Oval 36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Y</a:t>
            </a:r>
          </a:p>
        </p:txBody>
      </p:sp>
      <p:sp>
        <p:nvSpPr>
          <p:cNvPr id="36900" name="Line 37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1" name="Oval 38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M</a:t>
            </a:r>
          </a:p>
        </p:txBody>
      </p:sp>
      <p:sp>
        <p:nvSpPr>
          <p:cNvPr id="36902" name="Line 39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3" name="Oval 40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N</a:t>
            </a:r>
          </a:p>
        </p:txBody>
      </p:sp>
      <p:sp>
        <p:nvSpPr>
          <p:cNvPr id="36904" name="Line 41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5" name="Oval 42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L</a:t>
            </a:r>
          </a:p>
        </p:txBody>
      </p:sp>
      <p:sp>
        <p:nvSpPr>
          <p:cNvPr id="36906" name="Line 43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907" name="Text Box 44"/>
          <p:cNvSpPr txBox="1">
            <a:spLocks noChangeArrowheads="1"/>
          </p:cNvSpPr>
          <p:nvPr/>
        </p:nvSpPr>
        <p:spPr bwMode="auto">
          <a:xfrm>
            <a:off x="4495800" y="4343400"/>
            <a:ext cx="1042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Arial" pitchFamily="34" charset="0"/>
              </a:rPr>
              <a:t>[S,C,G]</a:t>
            </a:r>
          </a:p>
        </p:txBody>
      </p:sp>
      <p:sp>
        <p:nvSpPr>
          <p:cNvPr id="36908" name="Text Box 45"/>
          <p:cNvSpPr txBox="1">
            <a:spLocks noChangeArrowheads="1"/>
          </p:cNvSpPr>
          <p:nvPr/>
        </p:nvSpPr>
        <p:spPr bwMode="auto">
          <a:xfrm>
            <a:off x="5699125" y="2849563"/>
            <a:ext cx="987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Arial" pitchFamily="34" charset="0"/>
              </a:rPr>
              <a:t>[S,E,F]</a:t>
            </a:r>
          </a:p>
        </p:txBody>
      </p:sp>
      <p:sp>
        <p:nvSpPr>
          <p:cNvPr id="36909" name="Oval 46" descr="Water droplets"/>
          <p:cNvSpPr>
            <a:spLocks noChangeArrowheads="1"/>
          </p:cNvSpPr>
          <p:nvPr/>
        </p:nvSpPr>
        <p:spPr bwMode="auto">
          <a:xfrm>
            <a:off x="31242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S</a:t>
            </a:r>
          </a:p>
        </p:txBody>
      </p:sp>
      <p:sp>
        <p:nvSpPr>
          <p:cNvPr id="36910" name="Oval 47"/>
          <p:cNvSpPr>
            <a:spLocks noChangeArrowheads="1"/>
          </p:cNvSpPr>
          <p:nvPr/>
        </p:nvSpPr>
        <p:spPr bwMode="auto">
          <a:xfrm>
            <a:off x="6705600" y="3867150"/>
            <a:ext cx="609600" cy="609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F41F394-5B45-43E0-BC93-83896FCC0420}" type="slidenum">
              <a:rPr lang="en-US"/>
              <a:pPr/>
              <a:t>27</a:t>
            </a:fld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Discovery in DSR</a:t>
            </a:r>
          </a:p>
        </p:txBody>
      </p:sp>
      <p:sp>
        <p:nvSpPr>
          <p:cNvPr id="37892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</a:t>
            </a:r>
          </a:p>
        </p:txBody>
      </p:sp>
      <p:sp>
        <p:nvSpPr>
          <p:cNvPr id="37893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A</a:t>
            </a:r>
          </a:p>
        </p:txBody>
      </p:sp>
      <p:sp>
        <p:nvSpPr>
          <p:cNvPr id="37894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E</a:t>
            </a:r>
          </a:p>
        </p:txBody>
      </p:sp>
      <p:sp>
        <p:nvSpPr>
          <p:cNvPr id="37895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F</a:t>
            </a:r>
          </a:p>
        </p:txBody>
      </p:sp>
      <p:sp>
        <p:nvSpPr>
          <p:cNvPr id="37896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H</a:t>
            </a:r>
          </a:p>
        </p:txBody>
      </p:sp>
      <p:sp>
        <p:nvSpPr>
          <p:cNvPr id="37897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J</a:t>
            </a:r>
          </a:p>
        </p:txBody>
      </p:sp>
      <p:sp>
        <p:nvSpPr>
          <p:cNvPr id="37898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C</a:t>
            </a:r>
          </a:p>
        </p:txBody>
      </p:sp>
      <p:sp>
        <p:nvSpPr>
          <p:cNvPr id="37899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G</a:t>
            </a:r>
          </a:p>
        </p:txBody>
      </p:sp>
      <p:sp>
        <p:nvSpPr>
          <p:cNvPr id="37900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I</a:t>
            </a:r>
          </a:p>
        </p:txBody>
      </p:sp>
      <p:sp>
        <p:nvSpPr>
          <p:cNvPr id="37901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K</a:t>
            </a:r>
          </a:p>
        </p:txBody>
      </p:sp>
      <p:sp>
        <p:nvSpPr>
          <p:cNvPr id="37902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5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6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8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09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0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1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2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3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4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5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6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7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8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19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Z</a:t>
            </a:r>
          </a:p>
        </p:txBody>
      </p:sp>
      <p:sp>
        <p:nvSpPr>
          <p:cNvPr id="37920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Y</a:t>
            </a:r>
          </a:p>
        </p:txBody>
      </p:sp>
      <p:sp>
        <p:nvSpPr>
          <p:cNvPr id="37921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2" name="Oval 35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M</a:t>
            </a:r>
          </a:p>
        </p:txBody>
      </p:sp>
      <p:sp>
        <p:nvSpPr>
          <p:cNvPr id="37923" name="Line 36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4" name="Text Box 37"/>
          <p:cNvSpPr txBox="1">
            <a:spLocks noChangeArrowheads="1"/>
          </p:cNvSpPr>
          <p:nvPr/>
        </p:nvSpPr>
        <p:spPr bwMode="auto">
          <a:xfrm>
            <a:off x="685800" y="5562600"/>
            <a:ext cx="6858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en-US" sz="2000" b="1">
                <a:latin typeface="Arial" pitchFamily="34" charset="0"/>
              </a:rPr>
              <a:t> Nodes J and K both broadcast RREQ to node D</a:t>
            </a:r>
          </a:p>
          <a:p>
            <a:pPr eaLnBrk="0" hangingPunct="0">
              <a:buFontTx/>
              <a:buChar char="•"/>
            </a:pPr>
            <a:r>
              <a:rPr lang="en-US" sz="2000" b="1">
                <a:latin typeface="Arial" pitchFamily="34" charset="0"/>
              </a:rPr>
              <a:t> Since nodes J and K are </a:t>
            </a:r>
            <a:r>
              <a:rPr lang="en-US" sz="2000" b="1">
                <a:solidFill>
                  <a:srgbClr val="0000FF"/>
                </a:solidFill>
                <a:latin typeface="Arial" pitchFamily="34" charset="0"/>
              </a:rPr>
              <a:t>hidden </a:t>
            </a:r>
            <a:r>
              <a:rPr lang="en-US" sz="2000" b="1">
                <a:latin typeface="Arial" pitchFamily="34" charset="0"/>
              </a:rPr>
              <a:t>from each other, their</a:t>
            </a:r>
          </a:p>
          <a:p>
            <a:pPr eaLnBrk="0" hangingPunct="0"/>
            <a:r>
              <a:rPr lang="en-US" sz="2000" b="1">
                <a:latin typeface="Arial" pitchFamily="34" charset="0"/>
              </a:rPr>
              <a:t>   </a:t>
            </a:r>
            <a:r>
              <a:rPr lang="en-US" sz="2000" b="1">
                <a:solidFill>
                  <a:srgbClr val="A50021"/>
                </a:solidFill>
                <a:latin typeface="Arial" pitchFamily="34" charset="0"/>
              </a:rPr>
              <a:t>transmissions may collide</a:t>
            </a:r>
            <a:r>
              <a:rPr lang="en-US" sz="2000" b="1">
                <a:latin typeface="Arial" pitchFamily="34" charset="0"/>
              </a:rPr>
              <a:t> </a:t>
            </a:r>
            <a:endParaRPr lang="en-US" sz="2000" b="1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7925" name="Oval 3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N</a:t>
            </a:r>
          </a:p>
        </p:txBody>
      </p:sp>
      <p:sp>
        <p:nvSpPr>
          <p:cNvPr id="37926" name="Line 3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7" name="Oval 40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L</a:t>
            </a:r>
          </a:p>
        </p:txBody>
      </p:sp>
      <p:sp>
        <p:nvSpPr>
          <p:cNvPr id="37928" name="Line 41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929" name="Text Box 42"/>
          <p:cNvSpPr txBox="1">
            <a:spLocks noChangeArrowheads="1"/>
          </p:cNvSpPr>
          <p:nvPr/>
        </p:nvSpPr>
        <p:spPr bwMode="auto">
          <a:xfrm>
            <a:off x="6019800" y="4495800"/>
            <a:ext cx="1296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Arial" pitchFamily="34" charset="0"/>
              </a:rPr>
              <a:t>[S,C,G,K]</a:t>
            </a:r>
          </a:p>
        </p:txBody>
      </p:sp>
      <p:sp>
        <p:nvSpPr>
          <p:cNvPr id="37930" name="Text Box 43"/>
          <p:cNvSpPr txBox="1">
            <a:spLocks noChangeArrowheads="1"/>
          </p:cNvSpPr>
          <p:nvPr/>
        </p:nvSpPr>
        <p:spPr bwMode="auto">
          <a:xfrm>
            <a:off x="5867400" y="2819400"/>
            <a:ext cx="1198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[S,E,F,J]</a:t>
            </a:r>
          </a:p>
        </p:txBody>
      </p:sp>
      <p:sp>
        <p:nvSpPr>
          <p:cNvPr id="37931" name="Oval 44" descr="Water droplets"/>
          <p:cNvSpPr>
            <a:spLocks noChangeArrowheads="1"/>
          </p:cNvSpPr>
          <p:nvPr/>
        </p:nvSpPr>
        <p:spPr bwMode="auto">
          <a:xfrm>
            <a:off x="31242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S</a:t>
            </a:r>
          </a:p>
        </p:txBody>
      </p:sp>
      <p:sp>
        <p:nvSpPr>
          <p:cNvPr id="37932" name="Oval 45" descr="Water droplets"/>
          <p:cNvSpPr>
            <a:spLocks noChangeArrowheads="1"/>
          </p:cNvSpPr>
          <p:nvPr/>
        </p:nvSpPr>
        <p:spPr bwMode="auto">
          <a:xfrm>
            <a:off x="6705600" y="386715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9F0CE09-9B11-41AF-A1ED-3FFBCEA3DF2D}" type="slidenum">
              <a:rPr lang="en-US"/>
              <a:pPr/>
              <a:t>28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Discovery in DSR</a:t>
            </a:r>
          </a:p>
        </p:txBody>
      </p:sp>
      <p:sp>
        <p:nvSpPr>
          <p:cNvPr id="38916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</a:t>
            </a:r>
          </a:p>
        </p:txBody>
      </p:sp>
      <p:sp>
        <p:nvSpPr>
          <p:cNvPr id="38917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A</a:t>
            </a:r>
          </a:p>
        </p:txBody>
      </p:sp>
      <p:sp>
        <p:nvSpPr>
          <p:cNvPr id="38918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E</a:t>
            </a:r>
          </a:p>
        </p:txBody>
      </p:sp>
      <p:sp>
        <p:nvSpPr>
          <p:cNvPr id="38919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F</a:t>
            </a:r>
          </a:p>
        </p:txBody>
      </p:sp>
      <p:sp>
        <p:nvSpPr>
          <p:cNvPr id="38920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H</a:t>
            </a:r>
          </a:p>
        </p:txBody>
      </p:sp>
      <p:sp>
        <p:nvSpPr>
          <p:cNvPr id="38921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J</a:t>
            </a:r>
          </a:p>
        </p:txBody>
      </p:sp>
      <p:sp>
        <p:nvSpPr>
          <p:cNvPr id="38922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C</a:t>
            </a:r>
          </a:p>
        </p:txBody>
      </p:sp>
      <p:sp>
        <p:nvSpPr>
          <p:cNvPr id="38923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G</a:t>
            </a:r>
          </a:p>
        </p:txBody>
      </p:sp>
      <p:sp>
        <p:nvSpPr>
          <p:cNvPr id="38924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I</a:t>
            </a:r>
          </a:p>
        </p:txBody>
      </p:sp>
      <p:sp>
        <p:nvSpPr>
          <p:cNvPr id="38925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K</a:t>
            </a:r>
          </a:p>
        </p:txBody>
      </p:sp>
      <p:sp>
        <p:nvSpPr>
          <p:cNvPr id="38926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27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28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29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0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1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2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3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4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5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6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7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8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39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0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1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2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3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Z</a:t>
            </a:r>
          </a:p>
        </p:txBody>
      </p:sp>
      <p:sp>
        <p:nvSpPr>
          <p:cNvPr id="38944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Y</a:t>
            </a:r>
          </a:p>
        </p:txBody>
      </p:sp>
      <p:sp>
        <p:nvSpPr>
          <p:cNvPr id="38945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6" name="Text Box 35"/>
          <p:cNvSpPr txBox="1">
            <a:spLocks noChangeArrowheads="1"/>
          </p:cNvSpPr>
          <p:nvPr/>
        </p:nvSpPr>
        <p:spPr bwMode="auto">
          <a:xfrm>
            <a:off x="1066800" y="5715000"/>
            <a:ext cx="62563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en-US" sz="2000" b="1">
                <a:latin typeface="Arial" pitchFamily="34" charset="0"/>
              </a:rPr>
              <a:t> Node D </a:t>
            </a:r>
            <a:r>
              <a:rPr lang="en-US" sz="2000" b="1">
                <a:solidFill>
                  <a:srgbClr val="A50021"/>
                </a:solidFill>
                <a:latin typeface="Arial" pitchFamily="34" charset="0"/>
              </a:rPr>
              <a:t>does not forward</a:t>
            </a:r>
            <a:r>
              <a:rPr lang="en-US" sz="2000" b="1">
                <a:latin typeface="Arial" pitchFamily="34" charset="0"/>
              </a:rPr>
              <a:t> RREQ, because node D</a:t>
            </a:r>
          </a:p>
          <a:p>
            <a:pPr eaLnBrk="0" hangingPunct="0"/>
            <a:r>
              <a:rPr lang="en-US" sz="2000" b="1">
                <a:latin typeface="Arial" pitchFamily="34" charset="0"/>
              </a:rPr>
              <a:t>   is the </a:t>
            </a:r>
            <a:r>
              <a:rPr lang="en-US" sz="2000" b="1">
                <a:solidFill>
                  <a:srgbClr val="990000"/>
                </a:solidFill>
                <a:latin typeface="Arial" pitchFamily="34" charset="0"/>
              </a:rPr>
              <a:t>intended target</a:t>
            </a:r>
            <a:r>
              <a:rPr lang="en-US" sz="2000" b="1">
                <a:solidFill>
                  <a:schemeClr val="accent1"/>
                </a:solidFill>
                <a:latin typeface="Arial" pitchFamily="34" charset="0"/>
              </a:rPr>
              <a:t> </a:t>
            </a:r>
            <a:r>
              <a:rPr lang="en-US" sz="2000" b="1">
                <a:latin typeface="Arial" pitchFamily="34" charset="0"/>
              </a:rPr>
              <a:t>of the route discovery</a:t>
            </a:r>
          </a:p>
        </p:txBody>
      </p:sp>
      <p:sp>
        <p:nvSpPr>
          <p:cNvPr id="38947" name="Oval 36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M</a:t>
            </a:r>
          </a:p>
        </p:txBody>
      </p:sp>
      <p:sp>
        <p:nvSpPr>
          <p:cNvPr id="38948" name="Line 37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49" name="Oval 3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N</a:t>
            </a:r>
          </a:p>
        </p:txBody>
      </p:sp>
      <p:sp>
        <p:nvSpPr>
          <p:cNvPr id="38950" name="Line 3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51" name="Oval 40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L</a:t>
            </a:r>
          </a:p>
        </p:txBody>
      </p:sp>
      <p:sp>
        <p:nvSpPr>
          <p:cNvPr id="38952" name="Line 41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953" name="Text Box 42"/>
          <p:cNvSpPr txBox="1">
            <a:spLocks noChangeArrowheads="1"/>
          </p:cNvSpPr>
          <p:nvPr/>
        </p:nvSpPr>
        <p:spPr bwMode="auto">
          <a:xfrm>
            <a:off x="6705600" y="2667000"/>
            <a:ext cx="1479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[S,E,F,J,M]</a:t>
            </a:r>
          </a:p>
        </p:txBody>
      </p:sp>
      <p:sp>
        <p:nvSpPr>
          <p:cNvPr id="38954" name="Oval 43" descr="Water droplets"/>
          <p:cNvSpPr>
            <a:spLocks noChangeArrowheads="1"/>
          </p:cNvSpPr>
          <p:nvPr/>
        </p:nvSpPr>
        <p:spPr bwMode="auto">
          <a:xfrm>
            <a:off x="31242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S</a:t>
            </a:r>
          </a:p>
        </p:txBody>
      </p:sp>
      <p:sp>
        <p:nvSpPr>
          <p:cNvPr id="38955" name="Oval 44" descr="Water droplets"/>
          <p:cNvSpPr>
            <a:spLocks noChangeArrowheads="1"/>
          </p:cNvSpPr>
          <p:nvPr/>
        </p:nvSpPr>
        <p:spPr bwMode="auto">
          <a:xfrm>
            <a:off x="6705600" y="386715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304D6C9-ED66-49F0-8380-6CCDC27CF3D4}" type="slidenum">
              <a:rPr lang="en-US"/>
              <a:pPr/>
              <a:t>29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Discovery in DSR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Destination D on receiving the first RREQ, sends a </a:t>
            </a:r>
            <a:r>
              <a:rPr lang="en-US" smtClean="0">
                <a:solidFill>
                  <a:srgbClr val="990000"/>
                </a:solidFill>
              </a:rPr>
              <a:t>Route Reply (RREP)</a:t>
            </a:r>
          </a:p>
          <a:p>
            <a:pPr eaLnBrk="1" hangingPunct="1"/>
            <a:endParaRPr lang="en-US" smtClean="0">
              <a:solidFill>
                <a:srgbClr val="990000"/>
              </a:solidFill>
            </a:endParaRPr>
          </a:p>
          <a:p>
            <a:pPr eaLnBrk="1" hangingPunct="1"/>
            <a:r>
              <a:rPr lang="en-US" smtClean="0"/>
              <a:t>RREP is sent on a route obtained by </a:t>
            </a:r>
            <a:r>
              <a:rPr lang="en-US" smtClean="0">
                <a:solidFill>
                  <a:srgbClr val="FF0000"/>
                </a:solidFill>
              </a:rPr>
              <a:t>reversing</a:t>
            </a:r>
            <a:r>
              <a:rPr lang="en-US" smtClean="0"/>
              <a:t> the route appended to received RREQ</a:t>
            </a:r>
          </a:p>
          <a:p>
            <a:pPr lvl="1" eaLnBrk="1" hangingPunct="1"/>
            <a:endParaRPr lang="en-US" smtClean="0">
              <a:solidFill>
                <a:srgbClr val="0000FF"/>
              </a:solidFill>
            </a:endParaRPr>
          </a:p>
          <a:p>
            <a:pPr eaLnBrk="1" hangingPunct="1"/>
            <a:r>
              <a:rPr lang="en-US" smtClean="0"/>
              <a:t>RREP </a:t>
            </a:r>
            <a:r>
              <a:rPr lang="en-US" smtClean="0">
                <a:solidFill>
                  <a:srgbClr val="990000"/>
                </a:solidFill>
              </a:rPr>
              <a:t>includes the route</a:t>
            </a:r>
            <a:r>
              <a:rPr lang="en-US" smtClean="0"/>
              <a:t> from S to D on which RREQ was received by node D</a:t>
            </a:r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1B2D3D9-7041-4CBE-A301-64D5A4D6C9B0}" type="slidenum">
              <a:rPr lang="en-US"/>
              <a:pPr/>
              <a:t>30</a:t>
            </a:fld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Reply in DSR</a:t>
            </a:r>
          </a:p>
        </p:txBody>
      </p:sp>
      <p:sp>
        <p:nvSpPr>
          <p:cNvPr id="40964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</a:t>
            </a:r>
          </a:p>
        </p:txBody>
      </p:sp>
      <p:sp>
        <p:nvSpPr>
          <p:cNvPr id="40965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A</a:t>
            </a:r>
          </a:p>
        </p:txBody>
      </p:sp>
      <p:sp>
        <p:nvSpPr>
          <p:cNvPr id="40966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E</a:t>
            </a:r>
          </a:p>
        </p:txBody>
      </p:sp>
      <p:sp>
        <p:nvSpPr>
          <p:cNvPr id="40967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F</a:t>
            </a:r>
          </a:p>
        </p:txBody>
      </p:sp>
      <p:sp>
        <p:nvSpPr>
          <p:cNvPr id="40968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H</a:t>
            </a:r>
          </a:p>
        </p:txBody>
      </p:sp>
      <p:sp>
        <p:nvSpPr>
          <p:cNvPr id="40969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J</a:t>
            </a:r>
          </a:p>
        </p:txBody>
      </p:sp>
      <p:sp>
        <p:nvSpPr>
          <p:cNvPr id="40970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C</a:t>
            </a:r>
          </a:p>
        </p:txBody>
      </p:sp>
      <p:sp>
        <p:nvSpPr>
          <p:cNvPr id="40971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G</a:t>
            </a:r>
          </a:p>
        </p:txBody>
      </p:sp>
      <p:sp>
        <p:nvSpPr>
          <p:cNvPr id="40972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I</a:t>
            </a:r>
          </a:p>
        </p:txBody>
      </p:sp>
      <p:sp>
        <p:nvSpPr>
          <p:cNvPr id="40973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K</a:t>
            </a:r>
          </a:p>
        </p:txBody>
      </p:sp>
      <p:sp>
        <p:nvSpPr>
          <p:cNvPr id="40974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75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76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77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78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79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0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1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2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3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4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5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6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7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8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9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0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1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Z</a:t>
            </a:r>
          </a:p>
        </p:txBody>
      </p:sp>
      <p:sp>
        <p:nvSpPr>
          <p:cNvPr id="40992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Y</a:t>
            </a:r>
          </a:p>
        </p:txBody>
      </p:sp>
      <p:sp>
        <p:nvSpPr>
          <p:cNvPr id="40993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4" name="Oval 35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M</a:t>
            </a:r>
          </a:p>
        </p:txBody>
      </p:sp>
      <p:sp>
        <p:nvSpPr>
          <p:cNvPr id="40995" name="Oval 36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N</a:t>
            </a:r>
          </a:p>
        </p:txBody>
      </p:sp>
      <p:sp>
        <p:nvSpPr>
          <p:cNvPr id="40996" name="Line 37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7" name="Oval 38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L</a:t>
            </a:r>
          </a:p>
        </p:txBody>
      </p:sp>
      <p:sp>
        <p:nvSpPr>
          <p:cNvPr id="40998" name="Line 39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9" name="Line 40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00" name="Text Box 41"/>
          <p:cNvSpPr txBox="1">
            <a:spLocks noChangeArrowheads="1"/>
          </p:cNvSpPr>
          <p:nvPr/>
        </p:nvSpPr>
        <p:spPr bwMode="auto">
          <a:xfrm>
            <a:off x="4800600" y="2286000"/>
            <a:ext cx="2230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>
                <a:solidFill>
                  <a:srgbClr val="A50021"/>
                </a:solidFill>
                <a:latin typeface="Arial" pitchFamily="34" charset="0"/>
              </a:rPr>
              <a:t>RREP [S,E,F,J,D]</a:t>
            </a:r>
            <a:endParaRPr lang="en-US" sz="2000" b="1">
              <a:latin typeface="Arial" pitchFamily="34" charset="0"/>
            </a:endParaRPr>
          </a:p>
        </p:txBody>
      </p:sp>
      <p:sp>
        <p:nvSpPr>
          <p:cNvPr id="41001" name="Line 42"/>
          <p:cNvSpPr>
            <a:spLocks noChangeShapeType="1"/>
          </p:cNvSpPr>
          <p:nvPr/>
        </p:nvSpPr>
        <p:spPr bwMode="auto">
          <a:xfrm flipH="1">
            <a:off x="1143000" y="6248400"/>
            <a:ext cx="3810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02" name="Text Box 43"/>
          <p:cNvSpPr txBox="1">
            <a:spLocks noChangeArrowheads="1"/>
          </p:cNvSpPr>
          <p:nvPr/>
        </p:nvSpPr>
        <p:spPr bwMode="auto">
          <a:xfrm>
            <a:off x="1676400" y="6019800"/>
            <a:ext cx="44338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Arial" pitchFamily="34" charset="0"/>
              </a:rPr>
              <a:t>Represents RREP control message</a:t>
            </a:r>
          </a:p>
        </p:txBody>
      </p:sp>
      <p:sp>
        <p:nvSpPr>
          <p:cNvPr id="41003" name="Oval 44" descr="Water droplets"/>
          <p:cNvSpPr>
            <a:spLocks noChangeArrowheads="1"/>
          </p:cNvSpPr>
          <p:nvPr/>
        </p:nvSpPr>
        <p:spPr bwMode="auto">
          <a:xfrm>
            <a:off x="31242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S</a:t>
            </a:r>
          </a:p>
        </p:txBody>
      </p:sp>
      <p:sp>
        <p:nvSpPr>
          <p:cNvPr id="41004" name="Oval 45" descr="Water droplets"/>
          <p:cNvSpPr>
            <a:spLocks noChangeArrowheads="1"/>
          </p:cNvSpPr>
          <p:nvPr/>
        </p:nvSpPr>
        <p:spPr bwMode="auto">
          <a:xfrm>
            <a:off x="6705600" y="386715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985C353-6DAA-49A0-BEAB-4F54E23534C7}" type="slidenum">
              <a:rPr lang="en-US"/>
              <a:pPr/>
              <a:t>31</a:t>
            </a:fld>
            <a:endParaRPr 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Delivery in DSR</a:t>
            </a:r>
          </a:p>
        </p:txBody>
      </p:sp>
      <p:sp>
        <p:nvSpPr>
          <p:cNvPr id="43012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B</a:t>
            </a:r>
          </a:p>
        </p:txBody>
      </p:sp>
      <p:sp>
        <p:nvSpPr>
          <p:cNvPr id="43013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A</a:t>
            </a:r>
          </a:p>
        </p:txBody>
      </p:sp>
      <p:sp>
        <p:nvSpPr>
          <p:cNvPr id="43014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E</a:t>
            </a:r>
          </a:p>
        </p:txBody>
      </p:sp>
      <p:sp>
        <p:nvSpPr>
          <p:cNvPr id="43015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F</a:t>
            </a:r>
          </a:p>
        </p:txBody>
      </p:sp>
      <p:sp>
        <p:nvSpPr>
          <p:cNvPr id="43016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H</a:t>
            </a:r>
          </a:p>
        </p:txBody>
      </p:sp>
      <p:sp>
        <p:nvSpPr>
          <p:cNvPr id="43017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J</a:t>
            </a:r>
          </a:p>
        </p:txBody>
      </p:sp>
      <p:sp>
        <p:nvSpPr>
          <p:cNvPr id="43018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C</a:t>
            </a:r>
          </a:p>
        </p:txBody>
      </p:sp>
      <p:sp>
        <p:nvSpPr>
          <p:cNvPr id="43019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G</a:t>
            </a:r>
          </a:p>
        </p:txBody>
      </p:sp>
      <p:sp>
        <p:nvSpPr>
          <p:cNvPr id="43020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I</a:t>
            </a:r>
          </a:p>
        </p:txBody>
      </p:sp>
      <p:sp>
        <p:nvSpPr>
          <p:cNvPr id="43021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K</a:t>
            </a:r>
          </a:p>
        </p:txBody>
      </p:sp>
      <p:sp>
        <p:nvSpPr>
          <p:cNvPr id="43022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3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4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5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6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7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8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29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0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1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2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3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4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5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6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7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8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39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Z</a:t>
            </a:r>
          </a:p>
        </p:txBody>
      </p:sp>
      <p:sp>
        <p:nvSpPr>
          <p:cNvPr id="43040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Y</a:t>
            </a:r>
          </a:p>
        </p:txBody>
      </p:sp>
      <p:sp>
        <p:nvSpPr>
          <p:cNvPr id="43041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2" name="Oval 35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M</a:t>
            </a:r>
          </a:p>
        </p:txBody>
      </p:sp>
      <p:sp>
        <p:nvSpPr>
          <p:cNvPr id="43043" name="Line 36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4" name="Oval 37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N</a:t>
            </a:r>
          </a:p>
        </p:txBody>
      </p:sp>
      <p:sp>
        <p:nvSpPr>
          <p:cNvPr id="43045" name="Line 38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6" name="Oval 39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L</a:t>
            </a:r>
          </a:p>
        </p:txBody>
      </p:sp>
      <p:sp>
        <p:nvSpPr>
          <p:cNvPr id="43047" name="Line 40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048" name="Text Box 41"/>
          <p:cNvSpPr txBox="1">
            <a:spLocks noChangeArrowheads="1"/>
          </p:cNvSpPr>
          <p:nvPr/>
        </p:nvSpPr>
        <p:spPr bwMode="auto">
          <a:xfrm>
            <a:off x="3641725" y="2011363"/>
            <a:ext cx="2230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solidFill>
                  <a:schemeClr val="accent1"/>
                </a:solidFill>
                <a:latin typeface="Arial" pitchFamily="34" charset="0"/>
              </a:rPr>
              <a:t>DATA [S,E,F,J,D]</a:t>
            </a:r>
          </a:p>
        </p:txBody>
      </p:sp>
      <p:sp>
        <p:nvSpPr>
          <p:cNvPr id="43049" name="Text Box 42"/>
          <p:cNvSpPr txBox="1">
            <a:spLocks noChangeArrowheads="1"/>
          </p:cNvSpPr>
          <p:nvPr/>
        </p:nvSpPr>
        <p:spPr bwMode="auto">
          <a:xfrm>
            <a:off x="822325" y="5897563"/>
            <a:ext cx="5386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>
                <a:latin typeface="Arial" pitchFamily="34" charset="0"/>
              </a:rPr>
              <a:t>Packet header size grows with route length</a:t>
            </a:r>
          </a:p>
        </p:txBody>
      </p:sp>
      <p:sp>
        <p:nvSpPr>
          <p:cNvPr id="43050" name="Oval 43" descr="Water droplets"/>
          <p:cNvSpPr>
            <a:spLocks noChangeArrowheads="1"/>
          </p:cNvSpPr>
          <p:nvPr/>
        </p:nvSpPr>
        <p:spPr bwMode="auto">
          <a:xfrm>
            <a:off x="31242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S</a:t>
            </a:r>
          </a:p>
        </p:txBody>
      </p:sp>
      <p:sp>
        <p:nvSpPr>
          <p:cNvPr id="43051" name="Oval 44" descr="Water droplets"/>
          <p:cNvSpPr>
            <a:spLocks noChangeArrowheads="1"/>
          </p:cNvSpPr>
          <p:nvPr/>
        </p:nvSpPr>
        <p:spPr bwMode="auto">
          <a:xfrm>
            <a:off x="6705600" y="386715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>
                <a:latin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D8A2CC9-9F44-489A-93D7-B698A4603AAD}" type="slidenum">
              <a:rPr lang="en-US"/>
              <a:pPr/>
              <a:t>32</a:t>
            </a:fld>
            <a:endParaRPr 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DSR Optimization: </a:t>
            </a:r>
            <a:r>
              <a:rPr lang="en-US" smtClean="0">
                <a:solidFill>
                  <a:srgbClr val="FF0000"/>
                </a:solidFill>
              </a:rPr>
              <a:t>Route Caching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smtClean="0"/>
              <a:t>Each node caches a new route it learns by </a:t>
            </a:r>
            <a:r>
              <a:rPr lang="en-US" i="1" smtClean="0"/>
              <a:t>any means</a:t>
            </a:r>
          </a:p>
          <a:p>
            <a:pPr eaLnBrk="1" hangingPunct="1"/>
            <a:r>
              <a:rPr lang="en-US" smtClean="0"/>
              <a:t>When node S finds </a:t>
            </a:r>
            <a:r>
              <a:rPr lang="en-US" smtClean="0">
                <a:solidFill>
                  <a:schemeClr val="accent2"/>
                </a:solidFill>
              </a:rPr>
              <a:t>route [S,E,F,J,D]</a:t>
            </a:r>
            <a:r>
              <a:rPr lang="en-US" smtClean="0"/>
              <a:t> to node D, node S also learns route [S,E,F] to node F</a:t>
            </a:r>
          </a:p>
          <a:p>
            <a:pPr eaLnBrk="1" hangingPunct="1"/>
            <a:r>
              <a:rPr lang="en-US" smtClean="0"/>
              <a:t>When node K receives </a:t>
            </a:r>
            <a:r>
              <a:rPr lang="en-US" smtClean="0">
                <a:solidFill>
                  <a:srgbClr val="A50021"/>
                </a:solidFill>
              </a:rPr>
              <a:t>Route Request [S,C,G] </a:t>
            </a:r>
            <a:r>
              <a:rPr lang="en-US" smtClean="0"/>
              <a:t>destined for node, node K learns route [K,G,C,S] to node S</a:t>
            </a:r>
          </a:p>
          <a:p>
            <a:pPr eaLnBrk="1" hangingPunct="1"/>
            <a:r>
              <a:rPr lang="en-US" smtClean="0"/>
              <a:t>When node F forwards </a:t>
            </a:r>
            <a:r>
              <a:rPr lang="en-US" smtClean="0">
                <a:solidFill>
                  <a:srgbClr val="FF0000"/>
                </a:solidFill>
              </a:rPr>
              <a:t>Route Reply RREP</a:t>
            </a: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[S,E,F,J,D],</a:t>
            </a:r>
            <a:r>
              <a:rPr lang="en-US" smtClean="0"/>
              <a:t> node F learns route [F,J,D] to node D</a:t>
            </a:r>
          </a:p>
          <a:p>
            <a:pPr eaLnBrk="1" hangingPunct="1"/>
            <a:r>
              <a:rPr lang="en-US" smtClean="0"/>
              <a:t>When node E forwards </a:t>
            </a:r>
            <a:r>
              <a:rPr lang="en-US" smtClean="0">
                <a:solidFill>
                  <a:schemeClr val="accent2"/>
                </a:solidFill>
              </a:rPr>
              <a:t>Data [S,E,F,J,D]</a:t>
            </a:r>
            <a:r>
              <a:rPr lang="en-US" smtClean="0"/>
              <a:t> it learns route [E,F,J,D] to node D</a:t>
            </a:r>
          </a:p>
          <a:p>
            <a:pPr eaLnBrk="1" hangingPunct="1"/>
            <a:r>
              <a:rPr lang="en-US" smtClean="0"/>
              <a:t>A node may also learn a route when it overhears Data</a:t>
            </a:r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Problem:</a:t>
            </a:r>
            <a:r>
              <a:rPr lang="en-US" smtClean="0"/>
              <a:t> Stale caches may increase overheads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975CC4F-04D4-4ED1-B210-04395BAFCC4F}" type="slidenum">
              <a:rPr lang="en-US"/>
              <a:pPr/>
              <a:t>33</a:t>
            </a:fld>
            <a:endParaRPr lang="en-US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Dynamic Source Routing: Advantages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endParaRPr lang="en-US" dirty="0" smtClean="0"/>
          </a:p>
          <a:p>
            <a:pPr algn="just" eaLnBrk="1" hangingPunct="1"/>
            <a:r>
              <a:rPr lang="en-US" dirty="0" smtClean="0"/>
              <a:t>Routes maintained only between nodes who need to communicate</a:t>
            </a:r>
          </a:p>
          <a:p>
            <a:pPr lvl="1" algn="just" eaLnBrk="1" hangingPunct="1"/>
            <a:r>
              <a:rPr lang="en-US" dirty="0" smtClean="0"/>
              <a:t>reduces overhead of route maintenance</a:t>
            </a:r>
          </a:p>
          <a:p>
            <a:pPr lvl="1" algn="just" eaLnBrk="1" hangingPunct="1"/>
            <a:endParaRPr lang="en-US" dirty="0" smtClean="0"/>
          </a:p>
          <a:p>
            <a:pPr algn="just" eaLnBrk="1" hangingPunct="1"/>
            <a:r>
              <a:rPr lang="en-US" dirty="0" smtClean="0">
                <a:solidFill>
                  <a:srgbClr val="FF0000"/>
                </a:solidFill>
              </a:rPr>
              <a:t>Route caching can further reduce route discovery overhead</a:t>
            </a:r>
          </a:p>
          <a:p>
            <a:pPr lvl="1" algn="just" eaLnBrk="1" hangingPunct="1"/>
            <a:endParaRPr lang="en-US" sz="2400" dirty="0" smtClean="0"/>
          </a:p>
          <a:p>
            <a:pPr algn="just" eaLnBrk="1" hangingPunct="1"/>
            <a:r>
              <a:rPr lang="en-US" dirty="0" smtClean="0"/>
              <a:t>A single route discovery may yield many routes to the destination, due to intermediate nodes replying from local caches</a:t>
            </a:r>
          </a:p>
          <a:p>
            <a:pPr lvl="1"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838200"/>
            <a:ext cx="7772400" cy="4191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Dynamic Source Routing: Disadvantages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133600"/>
            <a:ext cx="7772400" cy="44958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Packet header size grows with route length due to source routing</a:t>
            </a:r>
          </a:p>
          <a:p>
            <a:pPr algn="just" eaLnBrk="1" hangingPunct="1">
              <a:lnSpc>
                <a:spcPct val="90000"/>
              </a:lnSpc>
            </a:pPr>
            <a:endParaRPr 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Flood of route requests may potentially reach all nodes in the network</a:t>
            </a:r>
          </a:p>
          <a:p>
            <a:pPr algn="just" eaLnBrk="1" hangingPunct="1">
              <a:lnSpc>
                <a:spcPct val="90000"/>
              </a:lnSpc>
            </a:pPr>
            <a:endParaRPr 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Potential collisions between route requests propagated by neighboring nodes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insertion of random delays before forwarding RREQ</a:t>
            </a:r>
          </a:p>
          <a:p>
            <a:pPr lvl="1" algn="just" eaLnBrk="1" hangingPunct="1">
              <a:lnSpc>
                <a:spcPct val="90000"/>
              </a:lnSpc>
            </a:pPr>
            <a:endParaRPr 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Increased contention if too many route replies come back due to nodes replying using their local cache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Route Reply </a:t>
            </a:r>
            <a:r>
              <a:rPr lang="en-US" i="1" dirty="0" smtClean="0">
                <a:solidFill>
                  <a:srgbClr val="FF0000"/>
                </a:solidFill>
              </a:rPr>
              <a:t>Storm</a:t>
            </a:r>
            <a:r>
              <a:rPr lang="en-US" dirty="0" smtClean="0">
                <a:solidFill>
                  <a:srgbClr val="FF0000"/>
                </a:solidFill>
              </a:rPr>
              <a:t> problem</a:t>
            </a:r>
          </a:p>
          <a:p>
            <a:pPr algn="just" eaLnBrk="1" hangingPunct="1">
              <a:lnSpc>
                <a:spcPct val="90000"/>
              </a:lnSpc>
            </a:pPr>
            <a:endParaRPr 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Stale caches will lead to increased overhead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4403725" y="2743200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en-US" sz="4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-66675" y="5842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-3810000" y="4013200"/>
            <a:ext cx="2119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4" eaLnBrk="1" hangingPunct="1">
              <a:buFontTx/>
              <a:buChar char="•"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838200" y="29718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A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2209800" y="1371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B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1828800" y="46482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C</a:t>
            </a: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352800" y="38100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E</a:t>
            </a: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657600" y="22860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D</a:t>
            </a: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5486400" y="1752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G</a:t>
            </a:r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5715000" y="37338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H</a:t>
            </a:r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4267200" y="50292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F</a:t>
            </a:r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 flipV="1">
            <a:off x="1143000" y="1676400"/>
            <a:ext cx="1066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2819400" y="1676400"/>
            <a:ext cx="838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 flipH="1">
            <a:off x="3657600" y="2819400"/>
            <a:ext cx="304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>
            <a:off x="1143000" y="3505200"/>
            <a:ext cx="6858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2438400" y="43434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3657600" y="43434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 flipV="1">
            <a:off x="4267200" y="2057400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6" name="Line 20"/>
          <p:cNvSpPr>
            <a:spLocks noChangeShapeType="1"/>
          </p:cNvSpPr>
          <p:nvPr/>
        </p:nvSpPr>
        <p:spPr bwMode="auto">
          <a:xfrm>
            <a:off x="5791200" y="22860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 flipV="1">
            <a:off x="4876800" y="4267200"/>
            <a:ext cx="1143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58" name="Line 22"/>
          <p:cNvSpPr>
            <a:spLocks noChangeShapeType="1"/>
          </p:cNvSpPr>
          <p:nvPr/>
        </p:nvSpPr>
        <p:spPr bwMode="auto">
          <a:xfrm flipV="1">
            <a:off x="3962400" y="40386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295400" y="1981200"/>
            <a:ext cx="838200" cy="2590800"/>
            <a:chOff x="1392" y="1488"/>
            <a:chExt cx="528" cy="1632"/>
          </a:xfrm>
        </p:grpSpPr>
        <p:sp>
          <p:nvSpPr>
            <p:cNvPr id="14398" name="Line 24"/>
            <p:cNvSpPr>
              <a:spLocks noChangeShapeType="1"/>
            </p:cNvSpPr>
            <p:nvPr/>
          </p:nvSpPr>
          <p:spPr bwMode="auto">
            <a:xfrm>
              <a:off x="1392" y="2496"/>
              <a:ext cx="288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1440" y="1488"/>
              <a:ext cx="480" cy="1383"/>
              <a:chOff x="1440" y="1488"/>
              <a:chExt cx="480" cy="1383"/>
            </a:xfrm>
          </p:grpSpPr>
          <p:sp>
            <p:nvSpPr>
              <p:cNvPr id="14400" name="Line 26"/>
              <p:cNvSpPr>
                <a:spLocks noChangeShapeType="1"/>
              </p:cNvSpPr>
              <p:nvPr/>
            </p:nvSpPr>
            <p:spPr bwMode="auto">
              <a:xfrm flipV="1">
                <a:off x="1440" y="1488"/>
                <a:ext cx="48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401" name="Text Box 27"/>
              <p:cNvSpPr txBox="1">
                <a:spLocks noChangeArrowheads="1"/>
              </p:cNvSpPr>
              <p:nvPr/>
            </p:nvSpPr>
            <p:spPr bwMode="auto">
              <a:xfrm>
                <a:off x="1622" y="1703"/>
                <a:ext cx="2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 i="1">
                    <a:solidFill>
                      <a:srgbClr val="CC0000"/>
                    </a:solidFill>
                    <a:latin typeface="Arial" charset="0"/>
                  </a:rPr>
                  <a:t>A</a:t>
                </a:r>
              </a:p>
            </p:txBody>
          </p:sp>
          <p:sp>
            <p:nvSpPr>
              <p:cNvPr id="14402" name="Text Box 28"/>
              <p:cNvSpPr txBox="1">
                <a:spLocks noChangeArrowheads="1"/>
              </p:cNvSpPr>
              <p:nvPr/>
            </p:nvSpPr>
            <p:spPr bwMode="auto">
              <a:xfrm>
                <a:off x="1488" y="2640"/>
                <a:ext cx="2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 i="1">
                    <a:solidFill>
                      <a:srgbClr val="CC0000"/>
                    </a:solidFill>
                    <a:latin typeface="Arial" charset="0"/>
                  </a:rPr>
                  <a:t>A</a:t>
                </a:r>
              </a:p>
            </p:txBody>
          </p:sp>
        </p:grp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2743200" y="1905000"/>
            <a:ext cx="838200" cy="762000"/>
            <a:chOff x="2304" y="1440"/>
            <a:chExt cx="528" cy="480"/>
          </a:xfrm>
        </p:grpSpPr>
        <p:sp>
          <p:nvSpPr>
            <p:cNvPr id="14396" name="Line 30"/>
            <p:cNvSpPr>
              <a:spLocks noChangeShapeType="1"/>
            </p:cNvSpPr>
            <p:nvPr/>
          </p:nvSpPr>
          <p:spPr bwMode="auto">
            <a:xfrm>
              <a:off x="2400" y="1440"/>
              <a:ext cx="43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97" name="Text Box 31"/>
            <p:cNvSpPr txBox="1">
              <a:spLocks noChangeArrowheads="1"/>
            </p:cNvSpPr>
            <p:nvPr/>
          </p:nvSpPr>
          <p:spPr bwMode="auto">
            <a:xfrm>
              <a:off x="2304" y="1632"/>
              <a:ext cx="3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CC0000"/>
                  </a:solidFill>
                  <a:latin typeface="Arial" charset="0"/>
                </a:rPr>
                <a:t>A-B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2514600" y="4495800"/>
            <a:ext cx="1066800" cy="595313"/>
            <a:chOff x="2160" y="3072"/>
            <a:chExt cx="672" cy="375"/>
          </a:xfrm>
        </p:grpSpPr>
        <p:sp>
          <p:nvSpPr>
            <p:cNvPr id="14394" name="Line 33"/>
            <p:cNvSpPr>
              <a:spLocks noChangeShapeType="1"/>
            </p:cNvSpPr>
            <p:nvPr/>
          </p:nvSpPr>
          <p:spPr bwMode="auto">
            <a:xfrm flipV="1">
              <a:off x="2160" y="3072"/>
              <a:ext cx="672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95" name="Text Box 34"/>
            <p:cNvSpPr txBox="1">
              <a:spLocks noChangeArrowheads="1"/>
            </p:cNvSpPr>
            <p:nvPr/>
          </p:nvSpPr>
          <p:spPr bwMode="auto">
            <a:xfrm>
              <a:off x="2352" y="3216"/>
              <a:ext cx="3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CC0000"/>
                  </a:solidFill>
                  <a:latin typeface="Arial" charset="0"/>
                </a:rPr>
                <a:t>A-C</a:t>
              </a:r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3810000" y="2895600"/>
            <a:ext cx="1828800" cy="2133600"/>
            <a:chOff x="2976" y="2064"/>
            <a:chExt cx="1152" cy="1344"/>
          </a:xfrm>
        </p:grpSpPr>
        <p:sp>
          <p:nvSpPr>
            <p:cNvPr id="14388" name="Line 36"/>
            <p:cNvSpPr>
              <a:spLocks noChangeShapeType="1"/>
            </p:cNvSpPr>
            <p:nvPr/>
          </p:nvSpPr>
          <p:spPr bwMode="auto">
            <a:xfrm>
              <a:off x="2976" y="3024"/>
              <a:ext cx="24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89" name="Line 37"/>
            <p:cNvSpPr>
              <a:spLocks noChangeShapeType="1"/>
            </p:cNvSpPr>
            <p:nvPr/>
          </p:nvSpPr>
          <p:spPr bwMode="auto">
            <a:xfrm flipV="1">
              <a:off x="3120" y="2832"/>
              <a:ext cx="1008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90" name="Line 38"/>
            <p:cNvSpPr>
              <a:spLocks noChangeShapeType="1"/>
            </p:cNvSpPr>
            <p:nvPr/>
          </p:nvSpPr>
          <p:spPr bwMode="auto">
            <a:xfrm flipV="1">
              <a:off x="2976" y="2064"/>
              <a:ext cx="144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91" name="Text Box 39"/>
            <p:cNvSpPr txBox="1">
              <a:spLocks noChangeArrowheads="1"/>
            </p:cNvSpPr>
            <p:nvPr/>
          </p:nvSpPr>
          <p:spPr bwMode="auto">
            <a:xfrm>
              <a:off x="2976" y="2256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CC0000"/>
                  </a:solidFill>
                  <a:latin typeface="Arial" charset="0"/>
                </a:rPr>
                <a:t>A-C-E</a:t>
              </a:r>
            </a:p>
          </p:txBody>
        </p:sp>
        <p:sp>
          <p:nvSpPr>
            <p:cNvPr id="14392" name="Text Box 40"/>
            <p:cNvSpPr txBox="1">
              <a:spLocks noChangeArrowheads="1"/>
            </p:cNvSpPr>
            <p:nvPr/>
          </p:nvSpPr>
          <p:spPr bwMode="auto">
            <a:xfrm>
              <a:off x="3360" y="2832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CC0000"/>
                  </a:solidFill>
                  <a:latin typeface="Arial" charset="0"/>
                </a:rPr>
                <a:t>A-C-E</a:t>
              </a:r>
            </a:p>
          </p:txBody>
        </p:sp>
        <p:sp>
          <p:nvSpPr>
            <p:cNvPr id="14393" name="Text Box 41"/>
            <p:cNvSpPr txBox="1">
              <a:spLocks noChangeArrowheads="1"/>
            </p:cNvSpPr>
            <p:nvPr/>
          </p:nvSpPr>
          <p:spPr bwMode="auto">
            <a:xfrm>
              <a:off x="3072" y="3072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CC0000"/>
                  </a:solidFill>
                  <a:latin typeface="Arial" charset="0"/>
                </a:rPr>
                <a:t>A-C-E</a:t>
              </a:r>
            </a:p>
          </p:txBody>
        </p:sp>
      </p:grp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4343400" y="2209800"/>
            <a:ext cx="1066800" cy="519113"/>
            <a:chOff x="3312" y="1632"/>
            <a:chExt cx="672" cy="327"/>
          </a:xfrm>
        </p:grpSpPr>
        <p:sp>
          <p:nvSpPr>
            <p:cNvPr id="14386" name="Line 43"/>
            <p:cNvSpPr>
              <a:spLocks noChangeShapeType="1"/>
            </p:cNvSpPr>
            <p:nvPr/>
          </p:nvSpPr>
          <p:spPr bwMode="auto">
            <a:xfrm flipV="1">
              <a:off x="3312" y="1632"/>
              <a:ext cx="67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87" name="Text Box 44"/>
            <p:cNvSpPr txBox="1">
              <a:spLocks noChangeArrowheads="1"/>
            </p:cNvSpPr>
            <p:nvPr/>
          </p:nvSpPr>
          <p:spPr bwMode="auto">
            <a:xfrm>
              <a:off x="3408" y="1728"/>
              <a:ext cx="5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CC0000"/>
                  </a:solidFill>
                  <a:latin typeface="Arial" charset="0"/>
                </a:rPr>
                <a:t>A-B-D</a:t>
              </a:r>
            </a:p>
          </p:txBody>
        </p:sp>
      </p:grpSp>
      <p:sp>
        <p:nvSpPr>
          <p:cNvPr id="14364" name="Line 45"/>
          <p:cNvSpPr>
            <a:spLocks noChangeShapeType="1"/>
          </p:cNvSpPr>
          <p:nvPr/>
        </p:nvSpPr>
        <p:spPr bwMode="auto">
          <a:xfrm>
            <a:off x="5410200" y="1905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685800" y="1600200"/>
            <a:ext cx="4724400" cy="1295400"/>
            <a:chOff x="1008" y="1248"/>
            <a:chExt cx="2976" cy="816"/>
          </a:xfrm>
        </p:grpSpPr>
        <p:sp>
          <p:nvSpPr>
            <p:cNvPr id="14380" name="Line 47"/>
            <p:cNvSpPr>
              <a:spLocks noChangeShapeType="1"/>
            </p:cNvSpPr>
            <p:nvPr/>
          </p:nvSpPr>
          <p:spPr bwMode="auto">
            <a:xfrm flipH="1">
              <a:off x="3312" y="1488"/>
              <a:ext cx="672" cy="24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81" name="Line 48"/>
            <p:cNvSpPr>
              <a:spLocks noChangeShapeType="1"/>
            </p:cNvSpPr>
            <p:nvPr/>
          </p:nvSpPr>
          <p:spPr bwMode="auto">
            <a:xfrm flipH="1" flipV="1">
              <a:off x="2400" y="1248"/>
              <a:ext cx="432" cy="48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82" name="Line 49"/>
            <p:cNvSpPr>
              <a:spLocks noChangeShapeType="1"/>
            </p:cNvSpPr>
            <p:nvPr/>
          </p:nvSpPr>
          <p:spPr bwMode="auto">
            <a:xfrm flipH="1">
              <a:off x="1248" y="1248"/>
              <a:ext cx="672" cy="81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383" name="Text Box 50"/>
            <p:cNvSpPr txBox="1">
              <a:spLocks noChangeArrowheads="1"/>
            </p:cNvSpPr>
            <p:nvPr/>
          </p:nvSpPr>
          <p:spPr bwMode="auto">
            <a:xfrm>
              <a:off x="3264" y="1344"/>
              <a:ext cx="6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008000"/>
                  </a:solidFill>
                  <a:latin typeface="Arial" charset="0"/>
                </a:rPr>
                <a:t>A-B-D-G</a:t>
              </a:r>
            </a:p>
          </p:txBody>
        </p:sp>
        <p:sp>
          <p:nvSpPr>
            <p:cNvPr id="14384" name="Text Box 51"/>
            <p:cNvSpPr txBox="1">
              <a:spLocks noChangeArrowheads="1"/>
            </p:cNvSpPr>
            <p:nvPr/>
          </p:nvSpPr>
          <p:spPr bwMode="auto">
            <a:xfrm>
              <a:off x="2448" y="1248"/>
              <a:ext cx="6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008000"/>
                  </a:solidFill>
                  <a:latin typeface="Arial" charset="0"/>
                </a:rPr>
                <a:t>A-B-D-G</a:t>
              </a:r>
            </a:p>
          </p:txBody>
        </p:sp>
        <p:sp>
          <p:nvSpPr>
            <p:cNvPr id="14385" name="Text Box 52"/>
            <p:cNvSpPr txBox="1">
              <a:spLocks noChangeArrowheads="1"/>
            </p:cNvSpPr>
            <p:nvPr/>
          </p:nvSpPr>
          <p:spPr bwMode="auto">
            <a:xfrm>
              <a:off x="1008" y="1440"/>
              <a:ext cx="6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008000"/>
                  </a:solidFill>
                  <a:latin typeface="Arial" charset="0"/>
                </a:rPr>
                <a:t>A-B-D-G</a:t>
              </a:r>
            </a:p>
          </p:txBody>
        </p:sp>
      </p:grpSp>
      <p:sp>
        <p:nvSpPr>
          <p:cNvPr id="14366" name="Text Box 53"/>
          <p:cNvSpPr txBox="1">
            <a:spLocks noChangeArrowheads="1"/>
          </p:cNvSpPr>
          <p:nvPr/>
        </p:nvSpPr>
        <p:spPr bwMode="auto">
          <a:xfrm>
            <a:off x="762000" y="304800"/>
            <a:ext cx="678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4367" name="Rectangle 54"/>
          <p:cNvSpPr>
            <a:spLocks noChangeArrowheads="1"/>
          </p:cNvSpPr>
          <p:nvPr/>
        </p:nvSpPr>
        <p:spPr bwMode="auto">
          <a:xfrm>
            <a:off x="304800" y="5334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sz="3200"/>
              <a:t>Route Discovery</a:t>
            </a:r>
          </a:p>
        </p:txBody>
      </p:sp>
      <p:sp>
        <p:nvSpPr>
          <p:cNvPr id="14368" name="Line 55"/>
          <p:cNvSpPr>
            <a:spLocks noChangeShapeType="1"/>
          </p:cNvSpPr>
          <p:nvPr/>
        </p:nvSpPr>
        <p:spPr bwMode="auto">
          <a:xfrm>
            <a:off x="6629400" y="42672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69" name="Text Box 56"/>
          <p:cNvSpPr txBox="1">
            <a:spLocks noChangeArrowheads="1"/>
          </p:cNvSpPr>
          <p:nvPr/>
        </p:nvSpPr>
        <p:spPr bwMode="auto">
          <a:xfrm>
            <a:off x="6858000" y="3886200"/>
            <a:ext cx="831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CC0000"/>
                </a:solidFill>
                <a:latin typeface="Arial" charset="0"/>
              </a:rPr>
              <a:t>A-B-C</a:t>
            </a:r>
          </a:p>
        </p:txBody>
      </p:sp>
      <p:sp>
        <p:nvSpPr>
          <p:cNvPr id="14370" name="Line 57"/>
          <p:cNvSpPr>
            <a:spLocks noChangeShapeType="1"/>
          </p:cNvSpPr>
          <p:nvPr/>
        </p:nvSpPr>
        <p:spPr bwMode="auto">
          <a:xfrm>
            <a:off x="6705600" y="5105400"/>
            <a:ext cx="1371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4371" name="Text Box 58"/>
          <p:cNvSpPr txBox="1">
            <a:spLocks noChangeArrowheads="1"/>
          </p:cNvSpPr>
          <p:nvPr/>
        </p:nvSpPr>
        <p:spPr bwMode="auto">
          <a:xfrm>
            <a:off x="6934200" y="4724400"/>
            <a:ext cx="831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008000"/>
                </a:solidFill>
                <a:latin typeface="Arial" charset="0"/>
              </a:rPr>
              <a:t>A-B-C</a:t>
            </a:r>
          </a:p>
        </p:txBody>
      </p:sp>
      <p:sp>
        <p:nvSpPr>
          <p:cNvPr id="14372" name="Text Box 59"/>
          <p:cNvSpPr txBox="1">
            <a:spLocks noChangeArrowheads="1"/>
          </p:cNvSpPr>
          <p:nvPr/>
        </p:nvSpPr>
        <p:spPr bwMode="auto">
          <a:xfrm>
            <a:off x="6400800" y="4343400"/>
            <a:ext cx="2438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 i="1">
                <a:latin typeface="Arial" charset="0"/>
              </a:rPr>
              <a:t>Route Request (RREQ)</a:t>
            </a:r>
          </a:p>
        </p:txBody>
      </p:sp>
      <p:sp>
        <p:nvSpPr>
          <p:cNvPr id="14373" name="Text Box 60"/>
          <p:cNvSpPr txBox="1">
            <a:spLocks noChangeArrowheads="1"/>
          </p:cNvSpPr>
          <p:nvPr/>
        </p:nvSpPr>
        <p:spPr bwMode="auto">
          <a:xfrm>
            <a:off x="6324600" y="5181600"/>
            <a:ext cx="2514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 i="1">
                <a:latin typeface="Arial" charset="0"/>
              </a:rPr>
              <a:t>Route Reply (RREP)</a:t>
            </a:r>
          </a:p>
        </p:txBody>
      </p:sp>
      <p:sp>
        <p:nvSpPr>
          <p:cNvPr id="59453" name="Text Box 61"/>
          <p:cNvSpPr txBox="1">
            <a:spLocks noChangeArrowheads="1"/>
          </p:cNvSpPr>
          <p:nvPr/>
        </p:nvSpPr>
        <p:spPr bwMode="auto">
          <a:xfrm>
            <a:off x="533400" y="5791200"/>
            <a:ext cx="7772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i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Route Discovery is issued with exponential back-off intervals.</a:t>
            </a:r>
          </a:p>
        </p:txBody>
      </p:sp>
      <p:sp>
        <p:nvSpPr>
          <p:cNvPr id="14375" name="Rectangle 62"/>
          <p:cNvSpPr>
            <a:spLocks noChangeArrowheads="1"/>
          </p:cNvSpPr>
          <p:nvPr/>
        </p:nvSpPr>
        <p:spPr bwMode="auto">
          <a:xfrm>
            <a:off x="6934200" y="13716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1600" b="1">
                <a:latin typeface="Arial" charset="0"/>
              </a:rPr>
              <a:t>Initiator ID</a:t>
            </a:r>
          </a:p>
        </p:txBody>
      </p:sp>
      <p:sp>
        <p:nvSpPr>
          <p:cNvPr id="14376" name="Rectangle 63"/>
          <p:cNvSpPr>
            <a:spLocks noChangeArrowheads="1"/>
          </p:cNvSpPr>
          <p:nvPr/>
        </p:nvSpPr>
        <p:spPr bwMode="auto">
          <a:xfrm>
            <a:off x="6934200" y="17526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1600" b="1">
                <a:latin typeface="Arial" charset="0"/>
              </a:rPr>
              <a:t>Initiator seq#</a:t>
            </a:r>
          </a:p>
        </p:txBody>
      </p:sp>
      <p:sp>
        <p:nvSpPr>
          <p:cNvPr id="14377" name="Rectangle 64"/>
          <p:cNvSpPr>
            <a:spLocks noChangeArrowheads="1"/>
          </p:cNvSpPr>
          <p:nvPr/>
        </p:nvSpPr>
        <p:spPr bwMode="auto">
          <a:xfrm>
            <a:off x="6934200" y="21336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1600" b="1">
                <a:latin typeface="Arial" charset="0"/>
              </a:rPr>
              <a:t>Target ID</a:t>
            </a:r>
            <a:endParaRPr lang="en-US" b="1">
              <a:latin typeface="Arial" charset="0"/>
            </a:endParaRPr>
          </a:p>
        </p:txBody>
      </p:sp>
      <p:sp>
        <p:nvSpPr>
          <p:cNvPr id="14378" name="Rectangle 65"/>
          <p:cNvSpPr>
            <a:spLocks noChangeArrowheads="1"/>
          </p:cNvSpPr>
          <p:nvPr/>
        </p:nvSpPr>
        <p:spPr bwMode="auto">
          <a:xfrm>
            <a:off x="6934200" y="25146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1600" b="1">
                <a:latin typeface="Arial" charset="0"/>
              </a:rPr>
              <a:t>Partial route</a:t>
            </a:r>
          </a:p>
        </p:txBody>
      </p:sp>
      <p:sp>
        <p:nvSpPr>
          <p:cNvPr id="59458" name="Text Box 66"/>
          <p:cNvSpPr txBox="1">
            <a:spLocks noChangeArrowheads="1"/>
          </p:cNvSpPr>
          <p:nvPr/>
        </p:nvSpPr>
        <p:spPr bwMode="auto">
          <a:xfrm>
            <a:off x="5638800" y="838200"/>
            <a:ext cx="2976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r>
              <a:rPr lang="en-US" sz="2000" i="1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RREQ FORMAT</a:t>
            </a:r>
          </a:p>
        </p:txBody>
      </p:sp>
    </p:spTree>
    <p:custDataLst>
      <p:tags r:id="rId1"/>
    </p:custDataLst>
  </p:cSld>
  <p:clrMapOvr>
    <a:masterClrMapping/>
  </p:clrMapOvr>
  <p:transition advTm="2821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5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8600" y="471488"/>
            <a:ext cx="7467600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>
            <a:spAutoFit/>
          </a:bodyPr>
          <a:lstStyle/>
          <a:p>
            <a:pPr eaLnBrk="1" hangingPunct="1"/>
            <a:r>
              <a:rPr lang="en-US" sz="3800">
                <a:solidFill>
                  <a:schemeClr val="tx2"/>
                </a:solidFill>
              </a:rPr>
              <a:t>Route Discovery: at source A</a:t>
            </a:r>
            <a:endParaRPr lang="en-GB" sz="3800">
              <a:solidFill>
                <a:schemeClr val="tx2"/>
              </a:solidFill>
            </a:endParaRP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4343400" y="1295400"/>
            <a:ext cx="2438400" cy="457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/>
              <a:t>A need to send to G</a:t>
            </a:r>
            <a:endParaRPr lang="en-GB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81400" y="1752600"/>
            <a:ext cx="3916363" cy="833438"/>
            <a:chOff x="2256" y="1104"/>
            <a:chExt cx="2467" cy="525"/>
          </a:xfrm>
        </p:grpSpPr>
        <p:sp>
          <p:nvSpPr>
            <p:cNvPr id="15404" name="Text Box 5"/>
            <p:cNvSpPr txBox="1">
              <a:spLocks noChangeArrowheads="1"/>
            </p:cNvSpPr>
            <p:nvPr/>
          </p:nvSpPr>
          <p:spPr bwMode="auto">
            <a:xfrm>
              <a:off x="2256" y="1152"/>
              <a:ext cx="9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endParaRPr lang="en-US">
                <a:latin typeface="Times New Roman" pitchFamily="18" charset="0"/>
              </a:endParaRPr>
            </a:p>
          </p:txBody>
        </p:sp>
        <p:sp>
          <p:nvSpPr>
            <p:cNvPr id="15405" name="Line 6"/>
            <p:cNvSpPr>
              <a:spLocks noChangeShapeType="1"/>
            </p:cNvSpPr>
            <p:nvPr/>
          </p:nvSpPr>
          <p:spPr bwMode="auto">
            <a:xfrm>
              <a:off x="3504" y="11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06" name="Text Box 7"/>
            <p:cNvSpPr txBox="1">
              <a:spLocks noChangeArrowheads="1"/>
            </p:cNvSpPr>
            <p:nvPr/>
          </p:nvSpPr>
          <p:spPr bwMode="auto">
            <a:xfrm>
              <a:off x="2784" y="1368"/>
              <a:ext cx="14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endParaRPr lang="en-US">
                <a:latin typeface="Times New Roman" pitchFamily="18" charset="0"/>
              </a:endParaRPr>
            </a:p>
          </p:txBody>
        </p:sp>
        <p:sp>
          <p:nvSpPr>
            <p:cNvPr id="15407" name="Text Box 8"/>
            <p:cNvSpPr txBox="1">
              <a:spLocks noChangeArrowheads="1"/>
            </p:cNvSpPr>
            <p:nvPr/>
          </p:nvSpPr>
          <p:spPr bwMode="auto">
            <a:xfrm>
              <a:off x="2493" y="1392"/>
              <a:ext cx="2230" cy="23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/>
                <a:t>Lookup Cache for route A to G</a:t>
              </a:r>
              <a:endParaRPr lang="en-GB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800600" y="2590800"/>
            <a:ext cx="1595438" cy="1519238"/>
            <a:chOff x="3024" y="1632"/>
            <a:chExt cx="1005" cy="957"/>
          </a:xfrm>
        </p:grpSpPr>
        <p:sp>
          <p:nvSpPr>
            <p:cNvPr id="15402" name="Line 10"/>
            <p:cNvSpPr>
              <a:spLocks noChangeShapeType="1"/>
            </p:cNvSpPr>
            <p:nvPr/>
          </p:nvSpPr>
          <p:spPr bwMode="auto">
            <a:xfrm>
              <a:off x="3504" y="16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03" name="AutoShape 11"/>
            <p:cNvSpPr>
              <a:spLocks noChangeArrowheads="1"/>
            </p:cNvSpPr>
            <p:nvPr/>
          </p:nvSpPr>
          <p:spPr bwMode="auto">
            <a:xfrm>
              <a:off x="3024" y="1824"/>
              <a:ext cx="1005" cy="765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600" b="1"/>
                <a:t>Route found?</a:t>
              </a:r>
              <a:endParaRPr lang="en-GB" sz="1600" b="1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838200" y="3048000"/>
            <a:ext cx="2057400" cy="914400"/>
            <a:chOff x="528" y="1920"/>
            <a:chExt cx="1296" cy="576"/>
          </a:xfrm>
        </p:grpSpPr>
        <p:sp>
          <p:nvSpPr>
            <p:cNvPr id="15400" name="Line 13"/>
            <p:cNvSpPr>
              <a:spLocks noChangeShapeType="1"/>
            </p:cNvSpPr>
            <p:nvPr/>
          </p:nvSpPr>
          <p:spPr bwMode="auto">
            <a:xfrm flipH="1">
              <a:off x="148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401" name="Rectangle 14"/>
            <p:cNvSpPr>
              <a:spLocks noChangeArrowheads="1"/>
            </p:cNvSpPr>
            <p:nvPr/>
          </p:nvSpPr>
          <p:spPr bwMode="auto">
            <a:xfrm>
              <a:off x="528" y="1920"/>
              <a:ext cx="960" cy="57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/>
                <a:t>Start Route Discovery Protocol</a:t>
              </a:r>
              <a:endParaRPr lang="en-GB"/>
            </a:p>
          </p:txBody>
        </p:sp>
      </p:grpSp>
      <p:sp>
        <p:nvSpPr>
          <p:cNvPr id="60431" name="Line 15"/>
          <p:cNvSpPr>
            <a:spLocks noChangeShapeType="1"/>
          </p:cNvSpPr>
          <p:nvPr/>
        </p:nvSpPr>
        <p:spPr bwMode="auto">
          <a:xfrm>
            <a:off x="1524000" y="3962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914400" y="4114800"/>
            <a:ext cx="2895600" cy="2209800"/>
            <a:chOff x="576" y="2592"/>
            <a:chExt cx="1824" cy="1392"/>
          </a:xfrm>
        </p:grpSpPr>
        <p:sp>
          <p:nvSpPr>
            <p:cNvPr id="15394" name="Line 17"/>
            <p:cNvSpPr>
              <a:spLocks noChangeShapeType="1"/>
            </p:cNvSpPr>
            <p:nvPr/>
          </p:nvSpPr>
          <p:spPr bwMode="auto">
            <a:xfrm>
              <a:off x="864" y="26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5" name="Line 18"/>
            <p:cNvSpPr>
              <a:spLocks noChangeShapeType="1"/>
            </p:cNvSpPr>
            <p:nvPr/>
          </p:nvSpPr>
          <p:spPr bwMode="auto">
            <a:xfrm>
              <a:off x="864" y="264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6" name="Line 19"/>
            <p:cNvSpPr>
              <a:spLocks noChangeShapeType="1"/>
            </p:cNvSpPr>
            <p:nvPr/>
          </p:nvSpPr>
          <p:spPr bwMode="auto">
            <a:xfrm>
              <a:off x="1104" y="2640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7" name="Rectangle 20"/>
            <p:cNvSpPr>
              <a:spLocks noChangeArrowheads="1"/>
            </p:cNvSpPr>
            <p:nvPr/>
          </p:nvSpPr>
          <p:spPr bwMode="auto">
            <a:xfrm>
              <a:off x="1584" y="2592"/>
              <a:ext cx="816" cy="57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700" b="1"/>
                <a:t>Continue normal processing</a:t>
              </a:r>
              <a:endParaRPr lang="en-GB" sz="1700" b="1"/>
            </a:p>
          </p:txBody>
        </p:sp>
        <p:sp>
          <p:nvSpPr>
            <p:cNvPr id="15398" name="Rectangle 21"/>
            <p:cNvSpPr>
              <a:spLocks noChangeArrowheads="1"/>
            </p:cNvSpPr>
            <p:nvPr/>
          </p:nvSpPr>
          <p:spPr bwMode="auto">
            <a:xfrm>
              <a:off x="576" y="3408"/>
              <a:ext cx="1008" cy="57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/>
                <a:t>Route Discovery finished</a:t>
              </a:r>
              <a:endParaRPr lang="en-GB"/>
            </a:p>
          </p:txBody>
        </p:sp>
        <p:sp>
          <p:nvSpPr>
            <p:cNvPr id="15399" name="Line 22"/>
            <p:cNvSpPr>
              <a:spLocks noChangeShapeType="1"/>
            </p:cNvSpPr>
            <p:nvPr/>
          </p:nvSpPr>
          <p:spPr bwMode="auto">
            <a:xfrm flipH="1">
              <a:off x="1152" y="2976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514600" y="5257800"/>
            <a:ext cx="2286000" cy="1066800"/>
            <a:chOff x="1584" y="3312"/>
            <a:chExt cx="1440" cy="672"/>
          </a:xfrm>
        </p:grpSpPr>
        <p:sp>
          <p:nvSpPr>
            <p:cNvPr id="15392" name="Line 24"/>
            <p:cNvSpPr>
              <a:spLocks noChangeShapeType="1"/>
            </p:cNvSpPr>
            <p:nvPr/>
          </p:nvSpPr>
          <p:spPr bwMode="auto">
            <a:xfrm>
              <a:off x="1584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3" name="AutoShape 25"/>
            <p:cNvSpPr>
              <a:spLocks noChangeArrowheads="1"/>
            </p:cNvSpPr>
            <p:nvPr/>
          </p:nvSpPr>
          <p:spPr bwMode="auto">
            <a:xfrm>
              <a:off x="1920" y="3312"/>
              <a:ext cx="1104" cy="67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500" b="1"/>
                <a:t>Packet in buffer?</a:t>
              </a:r>
              <a:endParaRPr lang="en-GB" sz="1500" b="1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5562600" y="5181600"/>
            <a:ext cx="1447800" cy="1447800"/>
            <a:chOff x="3504" y="3264"/>
            <a:chExt cx="912" cy="912"/>
          </a:xfrm>
        </p:grpSpPr>
        <p:sp>
          <p:nvSpPr>
            <p:cNvPr id="15390" name="Rectangle 27"/>
            <p:cNvSpPr>
              <a:spLocks noChangeArrowheads="1"/>
            </p:cNvSpPr>
            <p:nvPr/>
          </p:nvSpPr>
          <p:spPr bwMode="auto">
            <a:xfrm>
              <a:off x="3504" y="3600"/>
              <a:ext cx="912" cy="57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/>
                <a:t>Send packet to next-hop</a:t>
              </a:r>
              <a:endParaRPr lang="en-GB"/>
            </a:p>
          </p:txBody>
        </p:sp>
        <p:sp>
          <p:nvSpPr>
            <p:cNvPr id="15391" name="Line 28"/>
            <p:cNvSpPr>
              <a:spLocks noChangeShapeType="1"/>
            </p:cNvSpPr>
            <p:nvPr/>
          </p:nvSpPr>
          <p:spPr bwMode="auto">
            <a:xfrm>
              <a:off x="3696" y="32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4267200" y="6248400"/>
            <a:ext cx="1295400" cy="381000"/>
            <a:chOff x="2688" y="3936"/>
            <a:chExt cx="816" cy="240"/>
          </a:xfrm>
        </p:grpSpPr>
        <p:sp>
          <p:nvSpPr>
            <p:cNvPr id="15388" name="Oval 30"/>
            <p:cNvSpPr>
              <a:spLocks noChangeArrowheads="1"/>
            </p:cNvSpPr>
            <p:nvPr/>
          </p:nvSpPr>
          <p:spPr bwMode="auto">
            <a:xfrm>
              <a:off x="2688" y="3936"/>
              <a:ext cx="576" cy="240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/>
                <a:t>done</a:t>
              </a:r>
              <a:endParaRPr lang="en-GB"/>
            </a:p>
          </p:txBody>
        </p:sp>
        <p:sp>
          <p:nvSpPr>
            <p:cNvPr id="15389" name="Line 31"/>
            <p:cNvSpPr>
              <a:spLocks noChangeShapeType="1"/>
            </p:cNvSpPr>
            <p:nvPr/>
          </p:nvSpPr>
          <p:spPr bwMode="auto">
            <a:xfrm flipH="1">
              <a:off x="3264" y="40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2895600" y="3089275"/>
            <a:ext cx="1905000" cy="796925"/>
            <a:chOff x="1824" y="1946"/>
            <a:chExt cx="1200" cy="502"/>
          </a:xfrm>
        </p:grpSpPr>
        <p:sp>
          <p:nvSpPr>
            <p:cNvPr id="15385" name="Line 33"/>
            <p:cNvSpPr>
              <a:spLocks noChangeShapeType="1"/>
            </p:cNvSpPr>
            <p:nvPr/>
          </p:nvSpPr>
          <p:spPr bwMode="auto">
            <a:xfrm flipH="1">
              <a:off x="2400" y="220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6" name="Rectangle 34"/>
            <p:cNvSpPr>
              <a:spLocks noChangeArrowheads="1"/>
            </p:cNvSpPr>
            <p:nvPr/>
          </p:nvSpPr>
          <p:spPr bwMode="auto">
            <a:xfrm>
              <a:off x="1824" y="2016"/>
              <a:ext cx="576" cy="43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700" b="1"/>
                <a:t>Buffer packet</a:t>
              </a:r>
              <a:endParaRPr lang="en-GB" sz="1700" b="1"/>
            </a:p>
          </p:txBody>
        </p:sp>
        <p:sp>
          <p:nvSpPr>
            <p:cNvPr id="15387" name="Text Box 35"/>
            <p:cNvSpPr txBox="1">
              <a:spLocks noChangeArrowheads="1"/>
            </p:cNvSpPr>
            <p:nvPr/>
          </p:nvSpPr>
          <p:spPr bwMode="auto">
            <a:xfrm>
              <a:off x="2651" y="1946"/>
              <a:ext cx="26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no</a:t>
              </a:r>
              <a:endParaRPr lang="en-GB"/>
            </a:p>
          </p:txBody>
        </p:sp>
      </p:grp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4495800" y="4003675"/>
            <a:ext cx="2133600" cy="1177925"/>
            <a:chOff x="2832" y="2522"/>
            <a:chExt cx="1344" cy="742"/>
          </a:xfrm>
        </p:grpSpPr>
        <p:sp>
          <p:nvSpPr>
            <p:cNvPr id="15382" name="Line 37"/>
            <p:cNvSpPr>
              <a:spLocks noChangeShapeType="1"/>
            </p:cNvSpPr>
            <p:nvPr/>
          </p:nvSpPr>
          <p:spPr bwMode="auto">
            <a:xfrm flipH="1">
              <a:off x="3504" y="25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3" name="Rectangle 38"/>
            <p:cNvSpPr>
              <a:spLocks noChangeArrowheads="1"/>
            </p:cNvSpPr>
            <p:nvPr/>
          </p:nvSpPr>
          <p:spPr bwMode="auto">
            <a:xfrm>
              <a:off x="2832" y="2880"/>
              <a:ext cx="1344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/>
                <a:t>Write route in </a:t>
              </a:r>
              <a:br>
                <a:rPr lang="en-US"/>
              </a:br>
              <a:r>
                <a:rPr lang="en-US"/>
                <a:t>packet header</a:t>
              </a:r>
              <a:endParaRPr lang="en-GB"/>
            </a:p>
          </p:txBody>
        </p:sp>
        <p:sp>
          <p:nvSpPr>
            <p:cNvPr id="15384" name="Text Box 39"/>
            <p:cNvSpPr txBox="1">
              <a:spLocks noChangeArrowheads="1"/>
            </p:cNvSpPr>
            <p:nvPr/>
          </p:nvSpPr>
          <p:spPr bwMode="auto">
            <a:xfrm>
              <a:off x="3526" y="2522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yes</a:t>
              </a:r>
              <a:endParaRPr lang="en-GB"/>
            </a:p>
          </p:txBody>
        </p:sp>
      </p:grpSp>
      <p:grpSp>
        <p:nvGrpSpPr>
          <p:cNvPr id="11" name="Group 40"/>
          <p:cNvGrpSpPr>
            <a:grpSpLocks/>
          </p:cNvGrpSpPr>
          <p:nvPr/>
        </p:nvGrpSpPr>
        <p:grpSpPr bwMode="auto">
          <a:xfrm>
            <a:off x="3937000" y="4498975"/>
            <a:ext cx="558800" cy="911225"/>
            <a:chOff x="2480" y="2834"/>
            <a:chExt cx="352" cy="574"/>
          </a:xfrm>
        </p:grpSpPr>
        <p:sp>
          <p:nvSpPr>
            <p:cNvPr id="15379" name="Line 41"/>
            <p:cNvSpPr>
              <a:spLocks noChangeShapeType="1"/>
            </p:cNvSpPr>
            <p:nvPr/>
          </p:nvSpPr>
          <p:spPr bwMode="auto">
            <a:xfrm flipV="1">
              <a:off x="2592" y="30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0" name="Line 42"/>
            <p:cNvSpPr>
              <a:spLocks noChangeShapeType="1"/>
            </p:cNvSpPr>
            <p:nvPr/>
          </p:nvSpPr>
          <p:spPr bwMode="auto">
            <a:xfrm>
              <a:off x="2592" y="307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81" name="Text Box 43"/>
            <p:cNvSpPr txBox="1">
              <a:spLocks noChangeArrowheads="1"/>
            </p:cNvSpPr>
            <p:nvPr/>
          </p:nvSpPr>
          <p:spPr bwMode="auto">
            <a:xfrm>
              <a:off x="2480" y="2834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yes</a:t>
              </a:r>
              <a:endParaRPr lang="en-GB"/>
            </a:p>
          </p:txBody>
        </p:sp>
      </p:grpSp>
      <p:grpSp>
        <p:nvGrpSpPr>
          <p:cNvPr id="12" name="Group 44"/>
          <p:cNvGrpSpPr>
            <a:grpSpLocks/>
          </p:cNvGrpSpPr>
          <p:nvPr/>
        </p:nvGrpSpPr>
        <p:grpSpPr bwMode="auto">
          <a:xfrm>
            <a:off x="4567238" y="5870575"/>
            <a:ext cx="423862" cy="377825"/>
            <a:chOff x="2877" y="3698"/>
            <a:chExt cx="267" cy="238"/>
          </a:xfrm>
        </p:grpSpPr>
        <p:sp>
          <p:nvSpPr>
            <p:cNvPr id="15377" name="Line 45"/>
            <p:cNvSpPr>
              <a:spLocks noChangeShapeType="1"/>
            </p:cNvSpPr>
            <p:nvPr/>
          </p:nvSpPr>
          <p:spPr bwMode="auto">
            <a:xfrm>
              <a:off x="2880" y="3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8" name="Text Box 46"/>
            <p:cNvSpPr txBox="1">
              <a:spLocks noChangeArrowheads="1"/>
            </p:cNvSpPr>
            <p:nvPr/>
          </p:nvSpPr>
          <p:spPr bwMode="auto">
            <a:xfrm>
              <a:off x="2877" y="3698"/>
              <a:ext cx="26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no</a:t>
              </a:r>
              <a:endParaRPr lang="en-GB"/>
            </a:p>
          </p:txBody>
        </p:sp>
      </p:grpSp>
      <p:sp>
        <p:nvSpPr>
          <p:cNvPr id="60463" name="Text Box 47"/>
          <p:cNvSpPr txBox="1">
            <a:spLocks noChangeArrowheads="1"/>
          </p:cNvSpPr>
          <p:nvPr/>
        </p:nvSpPr>
        <p:spPr bwMode="auto">
          <a:xfrm>
            <a:off x="1292225" y="4470400"/>
            <a:ext cx="458788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>
            <a:spAutoFit/>
          </a:bodyPr>
          <a:lstStyle/>
          <a:p>
            <a:pPr algn="ctr" eaLnBrk="1" hangingPunct="1"/>
            <a:r>
              <a:rPr lang="en-US"/>
              <a:t>wait</a:t>
            </a:r>
            <a:endParaRPr lang="en-GB"/>
          </a:p>
        </p:txBody>
      </p:sp>
    </p:spTree>
    <p:custDataLst>
      <p:tags r:id="rId1"/>
    </p:custDataLst>
  </p:cSld>
  <p:clrMapOvr>
    <a:masterClrMapping/>
  </p:clrMapOvr>
  <p:transition advTm="10129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animBg="1" autoUpdateAnimBg="0"/>
      <p:bldP spid="60431" grpId="0" animBg="1"/>
      <p:bldP spid="6046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990600" y="228600"/>
            <a:ext cx="746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>
            <a:spAutoFit/>
          </a:bodyPr>
          <a:lstStyle/>
          <a:p>
            <a:pPr eaLnBrk="1" hangingPunct="1"/>
            <a:r>
              <a:rPr lang="en-US" sz="2800">
                <a:solidFill>
                  <a:schemeClr val="tx2"/>
                </a:solidFill>
              </a:rPr>
              <a:t>Route Discovery: At an intermediate node</a:t>
            </a:r>
            <a:endParaRPr lang="en-GB" sz="2800">
              <a:solidFill>
                <a:schemeClr val="tx2"/>
              </a:solidFill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90600" y="1128713"/>
            <a:ext cx="2514600" cy="914400"/>
            <a:chOff x="144" y="720"/>
            <a:chExt cx="1584" cy="576"/>
          </a:xfrm>
        </p:grpSpPr>
        <p:sp>
          <p:nvSpPr>
            <p:cNvPr id="16424" name="Rectangle 4"/>
            <p:cNvSpPr>
              <a:spLocks noChangeArrowheads="1"/>
            </p:cNvSpPr>
            <p:nvPr/>
          </p:nvSpPr>
          <p:spPr bwMode="auto">
            <a:xfrm>
              <a:off x="144" y="720"/>
              <a:ext cx="912" cy="57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500" b="1"/>
                <a:t>Accept route request packet</a:t>
              </a:r>
              <a:endParaRPr lang="en-GB" sz="1500" b="1"/>
            </a:p>
          </p:txBody>
        </p:sp>
        <p:sp>
          <p:nvSpPr>
            <p:cNvPr id="16425" name="Line 5"/>
            <p:cNvSpPr>
              <a:spLocks noChangeShapeType="1"/>
            </p:cNvSpPr>
            <p:nvPr/>
          </p:nvSpPr>
          <p:spPr bwMode="auto">
            <a:xfrm>
              <a:off x="1056" y="100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61446" name="AutoShape 6"/>
          <p:cNvSpPr>
            <a:spLocks noChangeArrowheads="1"/>
          </p:cNvSpPr>
          <p:nvPr/>
        </p:nvSpPr>
        <p:spPr bwMode="auto">
          <a:xfrm>
            <a:off x="3505200" y="900113"/>
            <a:ext cx="2514600" cy="14478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1400" b="1"/>
              <a:t>&lt;src,id&gt; in recently seen requests list?</a:t>
            </a:r>
            <a:endParaRPr lang="en-GB" sz="1400" b="1"/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019800" y="1128713"/>
            <a:ext cx="2057400" cy="990600"/>
            <a:chOff x="3312" y="720"/>
            <a:chExt cx="1296" cy="624"/>
          </a:xfrm>
        </p:grpSpPr>
        <p:sp>
          <p:nvSpPr>
            <p:cNvPr id="16421" name="Line 8"/>
            <p:cNvSpPr>
              <a:spLocks noChangeShapeType="1"/>
            </p:cNvSpPr>
            <p:nvPr/>
          </p:nvSpPr>
          <p:spPr bwMode="auto">
            <a:xfrm>
              <a:off x="3312" y="10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22" name="Oval 9"/>
            <p:cNvSpPr>
              <a:spLocks noChangeArrowheads="1"/>
            </p:cNvSpPr>
            <p:nvPr/>
          </p:nvSpPr>
          <p:spPr bwMode="auto">
            <a:xfrm>
              <a:off x="3840" y="720"/>
              <a:ext cx="768" cy="624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400" b="1"/>
                <a:t>Discard route request</a:t>
              </a:r>
              <a:endParaRPr lang="en-GB" sz="1400" b="1"/>
            </a:p>
          </p:txBody>
        </p:sp>
        <p:sp>
          <p:nvSpPr>
            <p:cNvPr id="16423" name="Text Box 10"/>
            <p:cNvSpPr txBox="1">
              <a:spLocks noChangeArrowheads="1"/>
            </p:cNvSpPr>
            <p:nvPr/>
          </p:nvSpPr>
          <p:spPr bwMode="auto">
            <a:xfrm>
              <a:off x="3392" y="818"/>
              <a:ext cx="34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yes</a:t>
              </a:r>
            </a:p>
            <a:p>
              <a:pPr algn="ctr" eaLnBrk="1" hangingPunct="1"/>
              <a:endParaRPr lang="en-GB">
                <a:latin typeface="Times New Roman" pitchFamily="18" charset="0"/>
              </a:endParaRP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505200" y="2347913"/>
            <a:ext cx="2514600" cy="1828800"/>
            <a:chOff x="1728" y="1488"/>
            <a:chExt cx="1584" cy="1152"/>
          </a:xfrm>
        </p:grpSpPr>
        <p:sp>
          <p:nvSpPr>
            <p:cNvPr id="16418" name="Line 12"/>
            <p:cNvSpPr>
              <a:spLocks noChangeShapeType="1"/>
            </p:cNvSpPr>
            <p:nvPr/>
          </p:nvSpPr>
          <p:spPr bwMode="auto">
            <a:xfrm flipH="1">
              <a:off x="2544" y="14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19" name="Text Box 13"/>
            <p:cNvSpPr txBox="1">
              <a:spLocks noChangeArrowheads="1"/>
            </p:cNvSpPr>
            <p:nvPr/>
          </p:nvSpPr>
          <p:spPr bwMode="auto">
            <a:xfrm>
              <a:off x="2589" y="1538"/>
              <a:ext cx="26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no</a:t>
              </a:r>
              <a:endParaRPr lang="en-GB"/>
            </a:p>
          </p:txBody>
        </p:sp>
        <p:sp>
          <p:nvSpPr>
            <p:cNvPr id="16420" name="AutoShape 14"/>
            <p:cNvSpPr>
              <a:spLocks noChangeArrowheads="1"/>
            </p:cNvSpPr>
            <p:nvPr/>
          </p:nvSpPr>
          <p:spPr bwMode="auto">
            <a:xfrm>
              <a:off x="1728" y="1728"/>
              <a:ext cx="1584" cy="9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600" b="1"/>
                <a:t>Host’s address already in patrial route</a:t>
              </a:r>
              <a:endParaRPr lang="en-GB" sz="1600" b="1"/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6019800" y="2957513"/>
            <a:ext cx="2209800" cy="990600"/>
            <a:chOff x="3312" y="1872"/>
            <a:chExt cx="1392" cy="624"/>
          </a:xfrm>
        </p:grpSpPr>
        <p:sp>
          <p:nvSpPr>
            <p:cNvPr id="16415" name="Line 16"/>
            <p:cNvSpPr>
              <a:spLocks noChangeShapeType="1"/>
            </p:cNvSpPr>
            <p:nvPr/>
          </p:nvSpPr>
          <p:spPr bwMode="auto">
            <a:xfrm flipV="1">
              <a:off x="3312" y="220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16" name="Oval 17"/>
            <p:cNvSpPr>
              <a:spLocks noChangeArrowheads="1"/>
            </p:cNvSpPr>
            <p:nvPr/>
          </p:nvSpPr>
          <p:spPr bwMode="auto">
            <a:xfrm>
              <a:off x="3936" y="1872"/>
              <a:ext cx="768" cy="624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400" b="1"/>
                <a:t>Discard route request</a:t>
              </a:r>
              <a:endParaRPr lang="en-GB" sz="1400" b="1"/>
            </a:p>
          </p:txBody>
        </p:sp>
        <p:sp>
          <p:nvSpPr>
            <p:cNvPr id="16417" name="Text Box 18"/>
            <p:cNvSpPr txBox="1">
              <a:spLocks noChangeArrowheads="1"/>
            </p:cNvSpPr>
            <p:nvPr/>
          </p:nvSpPr>
          <p:spPr bwMode="auto">
            <a:xfrm>
              <a:off x="3392" y="1874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yes</a:t>
              </a:r>
              <a:endParaRPr lang="en-GB"/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990600" y="4938713"/>
            <a:ext cx="1828800" cy="838200"/>
            <a:chOff x="144" y="3120"/>
            <a:chExt cx="1152" cy="528"/>
          </a:xfrm>
        </p:grpSpPr>
        <p:sp>
          <p:nvSpPr>
            <p:cNvPr id="16413" name="Line 20"/>
            <p:cNvSpPr>
              <a:spLocks noChangeShapeType="1"/>
            </p:cNvSpPr>
            <p:nvPr/>
          </p:nvSpPr>
          <p:spPr bwMode="auto">
            <a:xfrm>
              <a:off x="720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14" name="Rectangle 21"/>
            <p:cNvSpPr>
              <a:spLocks noChangeArrowheads="1"/>
            </p:cNvSpPr>
            <p:nvPr/>
          </p:nvSpPr>
          <p:spPr bwMode="auto">
            <a:xfrm>
              <a:off x="144" y="3264"/>
              <a:ext cx="1152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600" b="1"/>
                <a:t>Store &lt;src,id&gt; in list</a:t>
              </a:r>
              <a:endParaRPr lang="en-GB" sz="1600" b="1"/>
            </a:p>
          </p:txBody>
        </p: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990600" y="5776913"/>
            <a:ext cx="1752600" cy="762000"/>
            <a:chOff x="144" y="3648"/>
            <a:chExt cx="1104" cy="480"/>
          </a:xfrm>
        </p:grpSpPr>
        <p:sp>
          <p:nvSpPr>
            <p:cNvPr id="16411" name="Line 23"/>
            <p:cNvSpPr>
              <a:spLocks noChangeShapeType="1"/>
            </p:cNvSpPr>
            <p:nvPr/>
          </p:nvSpPr>
          <p:spPr bwMode="auto">
            <a:xfrm flipH="1">
              <a:off x="720" y="36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12" name="Rectangle 24"/>
            <p:cNvSpPr>
              <a:spLocks noChangeArrowheads="1"/>
            </p:cNvSpPr>
            <p:nvPr/>
          </p:nvSpPr>
          <p:spPr bwMode="auto">
            <a:xfrm>
              <a:off x="144" y="3840"/>
              <a:ext cx="1104" cy="2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400" b="1"/>
                <a:t>Broadcast packet</a:t>
              </a:r>
              <a:endParaRPr lang="en-GB" sz="1400" b="1"/>
            </a:p>
          </p:txBody>
        </p:sp>
      </p:grpSp>
      <p:grpSp>
        <p:nvGrpSpPr>
          <p:cNvPr id="8" name="Group 25"/>
          <p:cNvGrpSpPr>
            <a:grpSpLocks/>
          </p:cNvGrpSpPr>
          <p:nvPr/>
        </p:nvGrpSpPr>
        <p:grpSpPr bwMode="auto">
          <a:xfrm>
            <a:off x="4191000" y="5167313"/>
            <a:ext cx="1219200" cy="838200"/>
            <a:chOff x="2160" y="3264"/>
            <a:chExt cx="768" cy="528"/>
          </a:xfrm>
        </p:grpSpPr>
        <p:sp>
          <p:nvSpPr>
            <p:cNvPr id="16409" name="Line 26"/>
            <p:cNvSpPr>
              <a:spLocks noChangeShapeType="1"/>
            </p:cNvSpPr>
            <p:nvPr/>
          </p:nvSpPr>
          <p:spPr bwMode="auto">
            <a:xfrm>
              <a:off x="2544" y="326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10" name="Rectangle 27"/>
            <p:cNvSpPr>
              <a:spLocks noChangeArrowheads="1"/>
            </p:cNvSpPr>
            <p:nvPr/>
          </p:nvSpPr>
          <p:spPr bwMode="auto">
            <a:xfrm>
              <a:off x="2160" y="3408"/>
              <a:ext cx="768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300" b="1"/>
                <a:t>Send route reply packet</a:t>
              </a:r>
              <a:endParaRPr lang="en-GB" sz="1300" b="1"/>
            </a:p>
          </p:txBody>
        </p:sp>
      </p:grpSp>
      <p:sp>
        <p:nvSpPr>
          <p:cNvPr id="61468" name="Line 28"/>
          <p:cNvSpPr>
            <a:spLocks noChangeShapeType="1"/>
          </p:cNvSpPr>
          <p:nvPr/>
        </p:nvSpPr>
        <p:spPr bwMode="auto">
          <a:xfrm>
            <a:off x="2743200" y="6310313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3962400" y="6005513"/>
            <a:ext cx="1447800" cy="685800"/>
            <a:chOff x="2016" y="3792"/>
            <a:chExt cx="912" cy="432"/>
          </a:xfrm>
        </p:grpSpPr>
        <p:sp>
          <p:nvSpPr>
            <p:cNvPr id="16407" name="Oval 30"/>
            <p:cNvSpPr>
              <a:spLocks noChangeArrowheads="1"/>
            </p:cNvSpPr>
            <p:nvPr/>
          </p:nvSpPr>
          <p:spPr bwMode="auto">
            <a:xfrm>
              <a:off x="2016" y="3936"/>
              <a:ext cx="912" cy="288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/>
                <a:t>done</a:t>
              </a:r>
              <a:endParaRPr lang="en-GB"/>
            </a:p>
          </p:txBody>
        </p:sp>
        <p:sp>
          <p:nvSpPr>
            <p:cNvPr id="16408" name="Line 31"/>
            <p:cNvSpPr>
              <a:spLocks noChangeShapeType="1"/>
            </p:cNvSpPr>
            <p:nvPr/>
          </p:nvSpPr>
          <p:spPr bwMode="auto">
            <a:xfrm>
              <a:off x="2544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3962400" y="4065588"/>
            <a:ext cx="1600200" cy="1101725"/>
            <a:chOff x="2016" y="2570"/>
            <a:chExt cx="1008" cy="694"/>
          </a:xfrm>
        </p:grpSpPr>
        <p:sp>
          <p:nvSpPr>
            <p:cNvPr id="16404" name="Line 33"/>
            <p:cNvSpPr>
              <a:spLocks noChangeShapeType="1"/>
            </p:cNvSpPr>
            <p:nvPr/>
          </p:nvSpPr>
          <p:spPr bwMode="auto">
            <a:xfrm>
              <a:off x="2544" y="26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05" name="AutoShape 34"/>
            <p:cNvSpPr>
              <a:spLocks noChangeArrowheads="1"/>
            </p:cNvSpPr>
            <p:nvPr/>
          </p:nvSpPr>
          <p:spPr bwMode="auto">
            <a:xfrm>
              <a:off x="2016" y="2832"/>
              <a:ext cx="1008" cy="43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400" b="1"/>
                <a:t>myAddr=target</a:t>
              </a:r>
              <a:endParaRPr lang="en-GB" sz="1400" b="1"/>
            </a:p>
          </p:txBody>
        </p:sp>
        <p:sp>
          <p:nvSpPr>
            <p:cNvPr id="16406" name="Text Box 35"/>
            <p:cNvSpPr txBox="1">
              <a:spLocks noChangeArrowheads="1"/>
            </p:cNvSpPr>
            <p:nvPr/>
          </p:nvSpPr>
          <p:spPr bwMode="auto">
            <a:xfrm>
              <a:off x="2555" y="2570"/>
              <a:ext cx="26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no</a:t>
              </a:r>
              <a:endParaRPr lang="en-GB"/>
            </a:p>
          </p:txBody>
        </p:sp>
      </p:grp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1295400" y="4024313"/>
            <a:ext cx="2667000" cy="914400"/>
            <a:chOff x="336" y="2544"/>
            <a:chExt cx="1680" cy="576"/>
          </a:xfrm>
        </p:grpSpPr>
        <p:sp>
          <p:nvSpPr>
            <p:cNvPr id="16401" name="Line 37"/>
            <p:cNvSpPr>
              <a:spLocks noChangeShapeType="1"/>
            </p:cNvSpPr>
            <p:nvPr/>
          </p:nvSpPr>
          <p:spPr bwMode="auto">
            <a:xfrm flipH="1" flipV="1">
              <a:off x="1200" y="2832"/>
              <a:ext cx="81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02" name="Rectangle 38"/>
            <p:cNvSpPr>
              <a:spLocks noChangeArrowheads="1"/>
            </p:cNvSpPr>
            <p:nvPr/>
          </p:nvSpPr>
          <p:spPr bwMode="auto">
            <a:xfrm>
              <a:off x="336" y="2544"/>
              <a:ext cx="864" cy="57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hangingPunct="1"/>
              <a:r>
                <a:rPr lang="en-US" sz="1400" b="1"/>
                <a:t>Append myAddr to partial route</a:t>
              </a:r>
              <a:endParaRPr lang="en-GB" sz="1400" b="1"/>
            </a:p>
          </p:txBody>
        </p:sp>
        <p:sp>
          <p:nvSpPr>
            <p:cNvPr id="16403" name="Text Box 39"/>
            <p:cNvSpPr txBox="1">
              <a:spLocks noChangeArrowheads="1"/>
            </p:cNvSpPr>
            <p:nvPr/>
          </p:nvSpPr>
          <p:spPr bwMode="auto">
            <a:xfrm>
              <a:off x="1499" y="2714"/>
              <a:ext cx="26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/>
                <a:t>no</a:t>
              </a:r>
              <a:endParaRPr lang="en-GB"/>
            </a:p>
          </p:txBody>
        </p:sp>
      </p:grpSp>
      <p:sp>
        <p:nvSpPr>
          <p:cNvPr id="61480" name="Text Box 40"/>
          <p:cNvSpPr txBox="1">
            <a:spLocks noChangeArrowheads="1"/>
          </p:cNvSpPr>
          <p:nvPr/>
        </p:nvSpPr>
        <p:spPr bwMode="auto">
          <a:xfrm>
            <a:off x="4789488" y="5041900"/>
            <a:ext cx="5095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600" b="1"/>
              <a:t>yes</a:t>
            </a:r>
            <a:endParaRPr lang="en-GB" sz="1600" b="1"/>
          </a:p>
        </p:txBody>
      </p:sp>
      <p:sp>
        <p:nvSpPr>
          <p:cNvPr id="61481" name="Text Box 41"/>
          <p:cNvSpPr txBox="1">
            <a:spLocks noChangeArrowheads="1"/>
          </p:cNvSpPr>
          <p:nvPr/>
        </p:nvSpPr>
        <p:spPr bwMode="auto">
          <a:xfrm>
            <a:off x="7070725" y="5434013"/>
            <a:ext cx="13874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endParaRPr lang="en-US"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advTm="956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6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6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6" grpId="0" animBg="1" autoUpdateAnimBg="0"/>
      <p:bldP spid="61468" grpId="0" animBg="1"/>
      <p:bldP spid="61480" grpId="0" autoUpdateAnimBg="0"/>
      <p:bldP spid="6148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Maintenance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2067" y="1928802"/>
            <a:ext cx="7408333" cy="4197361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Route maintenance performed only while route is in use</a:t>
            </a:r>
          </a:p>
          <a:p>
            <a:pPr eaLnBrk="1" hangingPunct="1">
              <a:defRPr/>
            </a:pPr>
            <a:r>
              <a:rPr lang="en-US" sz="2400" dirty="0" smtClean="0"/>
              <a:t>Error detection:</a:t>
            </a:r>
          </a:p>
          <a:p>
            <a:pPr lvl="1" eaLnBrk="1" hangingPunct="1">
              <a:defRPr/>
            </a:pPr>
            <a:r>
              <a:rPr lang="en-US" sz="2100" dirty="0" smtClean="0"/>
              <a:t>Monitors the validity of existing routes by </a:t>
            </a:r>
            <a:r>
              <a:rPr lang="en-US" sz="2100" i="1" dirty="0" smtClean="0"/>
              <a:t>passively</a:t>
            </a:r>
            <a:r>
              <a:rPr lang="en-US" sz="2100" dirty="0" smtClean="0"/>
              <a:t> listening to data packets transmitted at neighboring nodes</a:t>
            </a:r>
          </a:p>
          <a:p>
            <a:pPr lvl="1" eaLnBrk="1" hangingPunct="1">
              <a:defRPr/>
            </a:pPr>
            <a:r>
              <a:rPr lang="en-US" sz="2100" dirty="0" smtClean="0"/>
              <a:t>Lower level acknowledgements</a:t>
            </a:r>
          </a:p>
          <a:p>
            <a:pPr eaLnBrk="1" hangingPunct="1">
              <a:defRPr/>
            </a:pPr>
            <a:r>
              <a:rPr lang="en-US" sz="2400" dirty="0" smtClean="0"/>
              <a:t>When problem detected, send </a:t>
            </a:r>
            <a:r>
              <a:rPr lang="en-US" sz="24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Route Error</a:t>
            </a:r>
            <a:r>
              <a:rPr lang="en-US" sz="2400" dirty="0" smtClean="0"/>
              <a:t> packet to original sender to perform new route discovery</a:t>
            </a:r>
          </a:p>
          <a:p>
            <a:pPr lvl="1" eaLnBrk="1" hangingPunct="1">
              <a:defRPr/>
            </a:pPr>
            <a:r>
              <a:rPr lang="en-US" sz="2300" dirty="0" smtClean="0"/>
              <a:t>Host detects the error and the host it was attempting;</a:t>
            </a:r>
          </a:p>
          <a:p>
            <a:pPr lvl="1" eaLnBrk="1" hangingPunct="1">
              <a:defRPr/>
            </a:pPr>
            <a:r>
              <a:rPr lang="en-US" sz="21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Route Error </a:t>
            </a:r>
            <a:r>
              <a:rPr lang="en-US" sz="2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is sent back to the sender the packet – original </a:t>
            </a:r>
            <a:r>
              <a:rPr lang="en-US" sz="2100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src</a:t>
            </a:r>
            <a:endParaRPr lang="en-US" sz="2300" dirty="0" smtClean="0"/>
          </a:p>
          <a:p>
            <a:pPr eaLnBrk="1" hangingPunct="1">
              <a:defRPr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5013325" y="2971800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en-US" sz="440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-3810000" y="4013200"/>
            <a:ext cx="2119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4" eaLnBrk="1" hangingPunct="1">
              <a:buFontTx/>
              <a:buChar char="•"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1447800" y="32004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A</a:t>
            </a:r>
          </a:p>
        </p:txBody>
      </p:sp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2819400" y="16002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B</a:t>
            </a:r>
          </a:p>
        </p:txBody>
      </p:sp>
      <p:sp>
        <p:nvSpPr>
          <p:cNvPr id="19462" name="Rectangle 7"/>
          <p:cNvSpPr>
            <a:spLocks noChangeArrowheads="1"/>
          </p:cNvSpPr>
          <p:nvPr/>
        </p:nvSpPr>
        <p:spPr bwMode="auto">
          <a:xfrm>
            <a:off x="2438400" y="48768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C</a:t>
            </a:r>
          </a:p>
        </p:txBody>
      </p:sp>
      <p:sp>
        <p:nvSpPr>
          <p:cNvPr id="19463" name="Rectangle 8"/>
          <p:cNvSpPr>
            <a:spLocks noChangeArrowheads="1"/>
          </p:cNvSpPr>
          <p:nvPr/>
        </p:nvSpPr>
        <p:spPr bwMode="auto">
          <a:xfrm>
            <a:off x="3962400" y="4038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E</a:t>
            </a:r>
          </a:p>
        </p:txBody>
      </p:sp>
      <p:sp>
        <p:nvSpPr>
          <p:cNvPr id="19464" name="Rectangle 9"/>
          <p:cNvSpPr>
            <a:spLocks noChangeArrowheads="1"/>
          </p:cNvSpPr>
          <p:nvPr/>
        </p:nvSpPr>
        <p:spPr bwMode="auto">
          <a:xfrm>
            <a:off x="4267200" y="25146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D</a:t>
            </a:r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6096000" y="19812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G</a:t>
            </a:r>
          </a:p>
        </p:txBody>
      </p:sp>
      <p:sp>
        <p:nvSpPr>
          <p:cNvPr id="19466" name="Rectangle 11"/>
          <p:cNvSpPr>
            <a:spLocks noChangeArrowheads="1"/>
          </p:cNvSpPr>
          <p:nvPr/>
        </p:nvSpPr>
        <p:spPr bwMode="auto">
          <a:xfrm>
            <a:off x="6324600" y="39624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H</a:t>
            </a:r>
          </a:p>
        </p:txBody>
      </p:sp>
      <p:sp>
        <p:nvSpPr>
          <p:cNvPr id="19467" name="Rectangle 12"/>
          <p:cNvSpPr>
            <a:spLocks noChangeArrowheads="1"/>
          </p:cNvSpPr>
          <p:nvPr/>
        </p:nvSpPr>
        <p:spPr bwMode="auto">
          <a:xfrm>
            <a:off x="4876800" y="52578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F</a:t>
            </a:r>
          </a:p>
        </p:txBody>
      </p:sp>
      <p:sp>
        <p:nvSpPr>
          <p:cNvPr id="19468" name="Line 13"/>
          <p:cNvSpPr>
            <a:spLocks noChangeShapeType="1"/>
          </p:cNvSpPr>
          <p:nvPr/>
        </p:nvSpPr>
        <p:spPr bwMode="auto">
          <a:xfrm flipV="1">
            <a:off x="1752600" y="1905000"/>
            <a:ext cx="1066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69" name="Line 14"/>
          <p:cNvSpPr>
            <a:spLocks noChangeShapeType="1"/>
          </p:cNvSpPr>
          <p:nvPr/>
        </p:nvSpPr>
        <p:spPr bwMode="auto">
          <a:xfrm>
            <a:off x="3429000" y="1905000"/>
            <a:ext cx="838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70" name="Line 15"/>
          <p:cNvSpPr>
            <a:spLocks noChangeShapeType="1"/>
          </p:cNvSpPr>
          <p:nvPr/>
        </p:nvSpPr>
        <p:spPr bwMode="auto">
          <a:xfrm flipH="1">
            <a:off x="4267200" y="3048000"/>
            <a:ext cx="304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71" name="Line 16"/>
          <p:cNvSpPr>
            <a:spLocks noChangeShapeType="1"/>
          </p:cNvSpPr>
          <p:nvPr/>
        </p:nvSpPr>
        <p:spPr bwMode="auto">
          <a:xfrm>
            <a:off x="1752600" y="3733800"/>
            <a:ext cx="6858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72" name="Line 17"/>
          <p:cNvSpPr>
            <a:spLocks noChangeShapeType="1"/>
          </p:cNvSpPr>
          <p:nvPr/>
        </p:nvSpPr>
        <p:spPr bwMode="auto">
          <a:xfrm>
            <a:off x="4267200" y="45720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2482" name="Line 18"/>
          <p:cNvSpPr>
            <a:spLocks noChangeShapeType="1"/>
          </p:cNvSpPr>
          <p:nvPr/>
        </p:nvSpPr>
        <p:spPr bwMode="auto">
          <a:xfrm flipV="1">
            <a:off x="4876800" y="2286000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2483" name="Line 19"/>
          <p:cNvSpPr>
            <a:spLocks noChangeShapeType="1"/>
          </p:cNvSpPr>
          <p:nvPr/>
        </p:nvSpPr>
        <p:spPr bwMode="auto">
          <a:xfrm>
            <a:off x="6400800" y="25146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75" name="Line 20"/>
          <p:cNvSpPr>
            <a:spLocks noChangeShapeType="1"/>
          </p:cNvSpPr>
          <p:nvPr/>
        </p:nvSpPr>
        <p:spPr bwMode="auto">
          <a:xfrm flipV="1">
            <a:off x="5486400" y="4495800"/>
            <a:ext cx="1143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76" name="Line 21"/>
          <p:cNvSpPr>
            <a:spLocks noChangeShapeType="1"/>
          </p:cNvSpPr>
          <p:nvPr/>
        </p:nvSpPr>
        <p:spPr bwMode="auto">
          <a:xfrm flipV="1">
            <a:off x="4572000" y="42672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77" name="Line 22"/>
          <p:cNvSpPr>
            <a:spLocks noChangeShapeType="1"/>
          </p:cNvSpPr>
          <p:nvPr/>
        </p:nvSpPr>
        <p:spPr bwMode="auto">
          <a:xfrm>
            <a:off x="6019800" y="21336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78" name="Text Box 23"/>
          <p:cNvSpPr txBox="1">
            <a:spLocks noChangeArrowheads="1"/>
          </p:cNvSpPr>
          <p:nvPr/>
        </p:nvSpPr>
        <p:spPr bwMode="auto">
          <a:xfrm>
            <a:off x="1371600" y="533400"/>
            <a:ext cx="678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latin typeface="Arial" charset="0"/>
            </a:endParaRPr>
          </a:p>
        </p:txBody>
      </p:sp>
      <p:sp>
        <p:nvSpPr>
          <p:cNvPr id="19479" name="Line 25"/>
          <p:cNvSpPr>
            <a:spLocks noChangeShapeType="1"/>
          </p:cNvSpPr>
          <p:nvPr/>
        </p:nvSpPr>
        <p:spPr bwMode="auto">
          <a:xfrm flipV="1">
            <a:off x="3048000" y="4343400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2490" name="Rectangle 26"/>
          <p:cNvSpPr>
            <a:spLocks noChangeArrowheads="1"/>
          </p:cNvSpPr>
          <p:nvPr/>
        </p:nvSpPr>
        <p:spPr bwMode="auto">
          <a:xfrm>
            <a:off x="7543800" y="2743200"/>
            <a:ext cx="609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b="1">
                <a:latin typeface="Arial" charset="0"/>
              </a:rPr>
              <a:t>G</a:t>
            </a:r>
          </a:p>
        </p:txBody>
      </p:sp>
      <p:sp>
        <p:nvSpPr>
          <p:cNvPr id="62491" name="Line 27"/>
          <p:cNvSpPr>
            <a:spLocks noChangeShapeType="1"/>
          </p:cNvSpPr>
          <p:nvPr/>
        </p:nvSpPr>
        <p:spPr bwMode="auto">
          <a:xfrm flipV="1">
            <a:off x="6934200" y="32766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981200" y="2133600"/>
            <a:ext cx="4038600" cy="914400"/>
            <a:chOff x="1056" y="1440"/>
            <a:chExt cx="2544" cy="576"/>
          </a:xfrm>
        </p:grpSpPr>
        <p:sp>
          <p:nvSpPr>
            <p:cNvPr id="19494" name="Line 29"/>
            <p:cNvSpPr>
              <a:spLocks noChangeShapeType="1"/>
            </p:cNvSpPr>
            <p:nvPr/>
          </p:nvSpPr>
          <p:spPr bwMode="auto">
            <a:xfrm flipV="1">
              <a:off x="1056" y="1440"/>
              <a:ext cx="480" cy="57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9495" name="Line 30"/>
            <p:cNvSpPr>
              <a:spLocks noChangeShapeType="1"/>
            </p:cNvSpPr>
            <p:nvPr/>
          </p:nvSpPr>
          <p:spPr bwMode="auto">
            <a:xfrm>
              <a:off x="2016" y="1440"/>
              <a:ext cx="384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9496" name="Line 31"/>
            <p:cNvSpPr>
              <a:spLocks noChangeShapeType="1"/>
            </p:cNvSpPr>
            <p:nvPr/>
          </p:nvSpPr>
          <p:spPr bwMode="auto">
            <a:xfrm flipV="1">
              <a:off x="2928" y="1632"/>
              <a:ext cx="672" cy="24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410200" y="2438400"/>
            <a:ext cx="228600" cy="381000"/>
            <a:chOff x="3216" y="1632"/>
            <a:chExt cx="144" cy="240"/>
          </a:xfrm>
        </p:grpSpPr>
        <p:sp>
          <p:nvSpPr>
            <p:cNvPr id="19492" name="Line 33"/>
            <p:cNvSpPr>
              <a:spLocks noChangeShapeType="1"/>
            </p:cNvSpPr>
            <p:nvPr/>
          </p:nvSpPr>
          <p:spPr bwMode="auto">
            <a:xfrm>
              <a:off x="3216" y="1680"/>
              <a:ext cx="144" cy="192"/>
            </a:xfrm>
            <a:prstGeom prst="line">
              <a:avLst/>
            </a:prstGeom>
            <a:noFill/>
            <a:ln w="28575">
              <a:solidFill>
                <a:srgbClr val="F63E6A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9493" name="Line 34"/>
            <p:cNvSpPr>
              <a:spLocks noChangeShapeType="1"/>
            </p:cNvSpPr>
            <p:nvPr/>
          </p:nvSpPr>
          <p:spPr bwMode="auto">
            <a:xfrm flipH="1">
              <a:off x="3264" y="1632"/>
              <a:ext cx="48" cy="240"/>
            </a:xfrm>
            <a:prstGeom prst="line">
              <a:avLst/>
            </a:prstGeom>
            <a:noFill/>
            <a:ln w="28575">
              <a:solidFill>
                <a:srgbClr val="F63E6A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1600200" y="1828800"/>
            <a:ext cx="2889250" cy="1295400"/>
            <a:chOff x="816" y="1248"/>
            <a:chExt cx="1820" cy="816"/>
          </a:xfrm>
        </p:grpSpPr>
        <p:sp>
          <p:nvSpPr>
            <p:cNvPr id="19488" name="Line 36"/>
            <p:cNvSpPr>
              <a:spLocks noChangeShapeType="1"/>
            </p:cNvSpPr>
            <p:nvPr/>
          </p:nvSpPr>
          <p:spPr bwMode="auto">
            <a:xfrm flipH="1" flipV="1">
              <a:off x="2016" y="1248"/>
              <a:ext cx="432" cy="480"/>
            </a:xfrm>
            <a:prstGeom prst="line">
              <a:avLst/>
            </a:prstGeom>
            <a:noFill/>
            <a:ln w="38100">
              <a:solidFill>
                <a:srgbClr val="F63E6A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9489" name="Line 37"/>
            <p:cNvSpPr>
              <a:spLocks noChangeShapeType="1"/>
            </p:cNvSpPr>
            <p:nvPr/>
          </p:nvSpPr>
          <p:spPr bwMode="auto">
            <a:xfrm flipH="1">
              <a:off x="864" y="1248"/>
              <a:ext cx="672" cy="816"/>
            </a:xfrm>
            <a:prstGeom prst="line">
              <a:avLst/>
            </a:prstGeom>
            <a:noFill/>
            <a:ln w="38100">
              <a:solidFill>
                <a:srgbClr val="F63E6A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9490" name="Text Box 38"/>
            <p:cNvSpPr txBox="1">
              <a:spLocks noChangeArrowheads="1"/>
            </p:cNvSpPr>
            <p:nvPr/>
          </p:nvSpPr>
          <p:spPr bwMode="auto">
            <a:xfrm>
              <a:off x="2112" y="1296"/>
              <a:ext cx="5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CC0000"/>
                  </a:solidFill>
                  <a:latin typeface="Arial" charset="0"/>
                </a:rPr>
                <a:t>RERR</a:t>
              </a:r>
            </a:p>
          </p:txBody>
        </p:sp>
        <p:sp>
          <p:nvSpPr>
            <p:cNvPr id="19491" name="Text Box 39"/>
            <p:cNvSpPr txBox="1">
              <a:spLocks noChangeArrowheads="1"/>
            </p:cNvSpPr>
            <p:nvPr/>
          </p:nvSpPr>
          <p:spPr bwMode="auto">
            <a:xfrm>
              <a:off x="816" y="1392"/>
              <a:ext cx="5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CC0000"/>
                  </a:solidFill>
                  <a:latin typeface="Arial" charset="0"/>
                </a:rPr>
                <a:t>RERR</a:t>
              </a:r>
            </a:p>
          </p:txBody>
        </p:sp>
      </p:grpSp>
      <p:sp>
        <p:nvSpPr>
          <p:cNvPr id="62504" name="Text Box 40"/>
          <p:cNvSpPr txBox="1">
            <a:spLocks noChangeArrowheads="1"/>
          </p:cNvSpPr>
          <p:nvPr/>
        </p:nvSpPr>
        <p:spPr bwMode="auto">
          <a:xfrm>
            <a:off x="304800" y="3810000"/>
            <a:ext cx="1752600" cy="1165225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de-CH" sz="1400" b="1"/>
              <a:t>Route Cache (A)</a:t>
            </a:r>
            <a:br>
              <a:rPr lang="de-CH" sz="1400" b="1"/>
            </a:br>
            <a:r>
              <a:rPr lang="de-CH" sz="1400" b="1">
                <a:solidFill>
                  <a:srgbClr val="CC0000"/>
                </a:solidFill>
              </a:rPr>
              <a:t>G:</a:t>
            </a:r>
            <a:r>
              <a:rPr lang="de-CH" sz="1400" b="1"/>
              <a:t> A, B, D, G  </a:t>
            </a:r>
            <a:r>
              <a:rPr lang="de-CH" sz="1400" b="1">
                <a:solidFill>
                  <a:srgbClr val="CC0000"/>
                </a:solidFill>
              </a:rPr>
              <a:t>G:</a:t>
            </a:r>
            <a:r>
              <a:rPr lang="de-CH" sz="1400" b="1"/>
              <a:t> A, C, E, H, G</a:t>
            </a:r>
            <a:br>
              <a:rPr lang="de-CH" sz="1400" b="1"/>
            </a:br>
            <a:r>
              <a:rPr lang="de-CH" sz="1400" b="1">
                <a:solidFill>
                  <a:srgbClr val="CC0000"/>
                </a:solidFill>
              </a:rPr>
              <a:t>F:</a:t>
            </a:r>
            <a:r>
              <a:rPr lang="de-CH" sz="1400" b="1"/>
              <a:t> B, C, F</a:t>
            </a:r>
            <a:br>
              <a:rPr lang="de-CH" sz="1400" b="1"/>
            </a:br>
            <a:endParaRPr lang="de-CH" sz="1400" b="1">
              <a:solidFill>
                <a:srgbClr val="FF0000"/>
              </a:solidFill>
            </a:endParaRPr>
          </a:p>
        </p:txBody>
      </p:sp>
      <p:sp>
        <p:nvSpPr>
          <p:cNvPr id="62505" name="Line 41"/>
          <p:cNvSpPr>
            <a:spLocks noChangeShapeType="1"/>
          </p:cNvSpPr>
          <p:nvPr/>
        </p:nvSpPr>
        <p:spPr bwMode="auto">
          <a:xfrm>
            <a:off x="304800" y="4191000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487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Route Maintenance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4" grpId="0" animBg="1"/>
      <p:bldP spid="62482" grpId="0" animBg="1"/>
      <p:bldP spid="62483" grpId="0" animBg="1"/>
      <p:bldP spid="62490" grpId="0" animBg="1"/>
      <p:bldP spid="62491" grpId="0" animBg="1"/>
      <p:bldP spid="62504" grpId="0" animBg="1"/>
      <p:bldP spid="6250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Destination Sequenced Distance Vector (DSDV)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Based </a:t>
            </a:r>
            <a:r>
              <a:rPr lang="en-US" dirty="0"/>
              <a:t>on Bellman-Ford algorithm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</a:rPr>
              <a:t>Enhanced with sequence number to avoid loops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</a:rPr>
              <a:t>Fresher routes have higher sequence numbers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</a:rPr>
              <a:t>Optimizations</a:t>
            </a:r>
            <a:r>
              <a:rPr lang="en-US" dirty="0"/>
              <a:t> added to reduce routing overheads – incremental data exchange, delayed exchange of updates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947532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sz="3400" dirty="0" smtClean="0">
                <a:solidFill>
                  <a:srgbClr val="C00000"/>
                </a:solidFill>
              </a:rPr>
              <a:t>Destination-Sequenced Distance-Vector (DSDV)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2067" y="1357298"/>
            <a:ext cx="7408333" cy="521497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Each node maintains a routing table that stores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next hop, cost metric towards each destination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a sequence number that is created by the destination itself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Each node </a:t>
            </a:r>
            <a:r>
              <a:rPr lang="en-US" sz="2200" dirty="0" smtClean="0">
                <a:solidFill>
                  <a:srgbClr val="C00000"/>
                </a:solidFill>
              </a:rPr>
              <a:t>periodically forwards </a:t>
            </a:r>
            <a:r>
              <a:rPr lang="en-US" sz="2200" dirty="0" smtClean="0"/>
              <a:t>routing table to neighbors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Each node </a:t>
            </a:r>
            <a:r>
              <a:rPr lang="en-US" dirty="0" smtClean="0">
                <a:solidFill>
                  <a:srgbClr val="FF0000"/>
                </a:solidFill>
              </a:rPr>
              <a:t>increments and appends its sequence number</a:t>
            </a:r>
            <a:r>
              <a:rPr lang="en-US" dirty="0" smtClean="0"/>
              <a:t> when sending its local routing table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Each route is tagged with a sequence number; routes with greater sequence numbers are preferred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 smtClean="0"/>
              <a:t>Each node advertises a </a:t>
            </a:r>
            <a:r>
              <a:rPr lang="en-US" sz="2200" dirty="0" smtClean="0">
                <a:solidFill>
                  <a:srgbClr val="C00000"/>
                </a:solidFill>
              </a:rPr>
              <a:t>monotonically increasing even sequence number</a:t>
            </a:r>
            <a:r>
              <a:rPr lang="en-US" sz="2200" dirty="0" smtClean="0"/>
              <a:t> for itself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Traffic overhead even if there is no change in network topology</a:t>
            </a:r>
            <a:endParaRPr lang="en-US" altLang="zh-CN" dirty="0" smtClean="0">
              <a:ea typeface="PMingLiU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Maintains routes which are never used</a:t>
            </a:r>
            <a:endParaRPr lang="zh-TW" altLang="en-US" dirty="0" smtClean="0">
              <a:ea typeface="PMingLiU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400" dirty="0" smtClean="0"/>
              <a:t>Destination-Sequenced Distance-Vector 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2067" y="3214685"/>
            <a:ext cx="7408333" cy="2911477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en-US" dirty="0" smtClean="0"/>
              <a:t>When X receives information from Y about a route to Z</a:t>
            </a:r>
          </a:p>
          <a:p>
            <a:pPr lvl="1" eaLnBrk="1" hangingPunct="1"/>
            <a:r>
              <a:rPr lang="en-US" dirty="0" smtClean="0"/>
              <a:t>Let destination sequence number for Z at X be S(X), S(Y) is sent from Y</a:t>
            </a:r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 smtClean="0"/>
          </a:p>
          <a:p>
            <a:pPr lvl="1" eaLnBrk="1" hangingPunct="1"/>
            <a:r>
              <a:rPr lang="en-US" dirty="0" smtClean="0"/>
              <a:t>If  S(X) &gt; S(Y), then X ignores the routing information received from Y </a:t>
            </a:r>
          </a:p>
          <a:p>
            <a:pPr lvl="1" eaLnBrk="1" hangingPunct="1"/>
            <a:r>
              <a:rPr lang="en-US" dirty="0" smtClean="0"/>
              <a:t>If S(X) = S(Y), and cost of going through Y is smaller than the route known to X, then X sets Y as the next hop to Z</a:t>
            </a:r>
          </a:p>
          <a:p>
            <a:pPr lvl="1" eaLnBrk="1" hangingPunct="1"/>
            <a:r>
              <a:rPr lang="en-US" dirty="0" smtClean="0"/>
              <a:t>If S(X) &lt; S(Y), then X sets Y as the next hop to Z, and S(X) is updated to equal S(Y)</a:t>
            </a:r>
          </a:p>
        </p:txBody>
      </p:sp>
      <p:sp>
        <p:nvSpPr>
          <p:cNvPr id="90116" name="Oval 4"/>
          <p:cNvSpPr>
            <a:spLocks noChangeArrowheads="1"/>
          </p:cNvSpPr>
          <p:nvPr/>
        </p:nvSpPr>
        <p:spPr bwMode="auto">
          <a:xfrm>
            <a:off x="3067050" y="2476500"/>
            <a:ext cx="609600" cy="609600"/>
          </a:xfrm>
          <a:prstGeom prst="ellipse">
            <a:avLst/>
          </a:prstGeom>
          <a:solidFill>
            <a:srgbClr val="FFFF66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pitchFamily="34" charset="0"/>
              </a:rPr>
              <a:t>X</a:t>
            </a:r>
          </a:p>
        </p:txBody>
      </p:sp>
      <p:sp>
        <p:nvSpPr>
          <p:cNvPr id="90117" name="Oval 5"/>
          <p:cNvSpPr>
            <a:spLocks noChangeArrowheads="1"/>
          </p:cNvSpPr>
          <p:nvPr/>
        </p:nvSpPr>
        <p:spPr bwMode="auto">
          <a:xfrm>
            <a:off x="4476750" y="2476500"/>
            <a:ext cx="609600" cy="609600"/>
          </a:xfrm>
          <a:prstGeom prst="ellipse">
            <a:avLst/>
          </a:prstGeom>
          <a:solidFill>
            <a:srgbClr val="FFFF66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dirty="0">
                <a:latin typeface="Arial" pitchFamily="34" charset="0"/>
              </a:rPr>
              <a:t>Y</a:t>
            </a:r>
          </a:p>
        </p:txBody>
      </p:sp>
      <p:sp>
        <p:nvSpPr>
          <p:cNvPr id="90118" name="Line 6"/>
          <p:cNvSpPr>
            <a:spLocks noChangeShapeType="1"/>
          </p:cNvSpPr>
          <p:nvPr/>
        </p:nvSpPr>
        <p:spPr bwMode="auto">
          <a:xfrm flipH="1" flipV="1">
            <a:off x="3714750" y="2781300"/>
            <a:ext cx="742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0119" name="Oval 7"/>
          <p:cNvSpPr>
            <a:spLocks noChangeArrowheads="1"/>
          </p:cNvSpPr>
          <p:nvPr/>
        </p:nvSpPr>
        <p:spPr bwMode="auto">
          <a:xfrm>
            <a:off x="6286500" y="2457450"/>
            <a:ext cx="609600" cy="609600"/>
          </a:xfrm>
          <a:prstGeom prst="ellipse">
            <a:avLst/>
          </a:prstGeom>
          <a:solidFill>
            <a:srgbClr val="FFFF66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pitchFamily="34" charset="0"/>
              </a:rPr>
              <a:t>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848600" cy="1447800"/>
          </a:xfrm>
        </p:spPr>
        <p:txBody>
          <a:bodyPr/>
          <a:lstStyle/>
          <a:p>
            <a:r>
              <a:rPr lang="en-US" sz="3200" b="1"/>
              <a:t>Protocol Overview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357298"/>
            <a:ext cx="8572560" cy="5072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r>
              <a:rPr lang="en-US" sz="2600" dirty="0" smtClean="0"/>
              <a:t>Updates are transmitted periodically and when there is any </a:t>
            </a:r>
            <a:r>
              <a:rPr lang="en-US" sz="2600" dirty="0" smtClean="0">
                <a:solidFill>
                  <a:srgbClr val="C00000"/>
                </a:solidFill>
              </a:rPr>
              <a:t>significant topology change</a:t>
            </a:r>
          </a:p>
          <a:p>
            <a:pPr lvl="1"/>
            <a:r>
              <a:rPr lang="en-US" sz="2600" dirty="0" smtClean="0"/>
              <a:t>Make immediate route advertisement on significant changes in routing table</a:t>
            </a:r>
          </a:p>
          <a:p>
            <a:pPr lvl="1"/>
            <a:r>
              <a:rPr lang="en-US" sz="2600" dirty="0" smtClean="0"/>
              <a:t>but wait with advertising of unstable routes</a:t>
            </a:r>
            <a:br>
              <a:rPr lang="en-US" sz="2600" dirty="0" smtClean="0"/>
            </a:br>
            <a:r>
              <a:rPr lang="en-US" sz="2600" dirty="0" smtClean="0"/>
              <a:t>(damping fluctuations)</a:t>
            </a:r>
            <a:endParaRPr lang="en-GB" altLang="zh-TW" sz="2600" dirty="0" smtClean="0">
              <a:ea typeface="PMingLiU" pitchFamily="18" charset="-120"/>
            </a:endParaRPr>
          </a:p>
          <a:p>
            <a:pPr algn="just">
              <a:lnSpc>
                <a:spcPct val="90000"/>
              </a:lnSpc>
            </a:pPr>
            <a:r>
              <a:rPr lang="en-US" sz="2600" dirty="0" smtClean="0"/>
              <a:t> In case of </a:t>
            </a:r>
            <a:r>
              <a:rPr lang="en-US" sz="2600" dirty="0" smtClean="0">
                <a:solidFill>
                  <a:srgbClr val="990000"/>
                </a:solidFill>
              </a:rPr>
              <a:t>broken edge</a:t>
            </a:r>
            <a:r>
              <a:rPr lang="en-US" sz="2600" dirty="0" smtClean="0"/>
              <a:t>, </a:t>
            </a:r>
            <a:r>
              <a:rPr lang="en-US" sz="2600" dirty="0" smtClean="0">
                <a:solidFill>
                  <a:srgbClr val="C00000"/>
                </a:solidFill>
              </a:rPr>
              <a:t>it increments the sequence number of the route and advertises it with infinite metric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357166"/>
            <a:ext cx="8477280" cy="100013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</a:t>
            </a:r>
            <a:r>
              <a:rPr lang="en-US" sz="40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(Table Entries)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3733800"/>
            <a:ext cx="7086600" cy="2667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sz="2000" b="1"/>
              <a:t>Sequence number</a:t>
            </a:r>
            <a:r>
              <a:rPr lang="en-US" sz="2000"/>
              <a:t> originated from destination. Ensures</a:t>
            </a:r>
            <a:br>
              <a:rPr lang="en-US" sz="2000"/>
            </a:br>
            <a:r>
              <a:rPr lang="en-US" sz="2000"/>
              <a:t>loop freeness.</a:t>
            </a:r>
          </a:p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sz="2000" b="1"/>
              <a:t>Install Time</a:t>
            </a:r>
            <a:r>
              <a:rPr lang="en-US" sz="2000"/>
              <a:t> when entry was made (used to delete stale entries from table)</a:t>
            </a:r>
          </a:p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sz="2000" b="1"/>
              <a:t>Stable Data</a:t>
            </a:r>
            <a:r>
              <a:rPr lang="en-US" sz="2000"/>
              <a:t> Pointer to a table holding information on how stable a route is. Used to damp fluctuations in network.</a:t>
            </a:r>
            <a:endParaRPr lang="en-GB" altLang="zh-TW" sz="2400">
              <a:ea typeface="PMingLiU" pitchFamily="18" charset="-120"/>
            </a:endParaRPr>
          </a:p>
        </p:txBody>
      </p:sp>
      <p:graphicFrame>
        <p:nvGraphicFramePr>
          <p:cNvPr id="73857" name="Group 129"/>
          <p:cNvGraphicFramePr>
            <a:graphicFrameLocks noGrp="1"/>
          </p:cNvGraphicFramePr>
          <p:nvPr/>
        </p:nvGraphicFramePr>
        <p:xfrm>
          <a:off x="1371600" y="2362200"/>
          <a:ext cx="5715000" cy="1104900"/>
        </p:xfrm>
        <a:graphic>
          <a:graphicData uri="http://schemas.openxmlformats.org/drawingml/2006/table">
            <a:tbl>
              <a:tblPr/>
              <a:tblGrid>
                <a:gridCol w="1066800"/>
                <a:gridCol w="609600"/>
                <a:gridCol w="762000"/>
                <a:gridCol w="914400"/>
                <a:gridCol w="1066800"/>
                <a:gridCol w="1295400"/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Destination</a:t>
                      </a:r>
                      <a:endParaRPr kumimoji="0" lang="en-GB" altLang="zh-TW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 Nr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Install Time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Stable Data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001000</a:t>
                      </a:r>
                      <a:endParaRPr kumimoji="0" lang="zh-TW" altLang="en-GB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Ptr_A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B-102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001200</a:t>
                      </a:r>
                      <a:endParaRPr kumimoji="0" lang="zh-TW" altLang="en-GB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Ptr_B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zh-TW" altLang="en-GB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C-588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001200</a:t>
                      </a:r>
                      <a:endParaRPr kumimoji="0" lang="zh-TW" altLang="en-GB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Ptr_C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  <a:endParaRPr kumimoji="0" lang="zh-TW" altLang="en-GB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D-312</a:t>
                      </a:r>
                      <a:endParaRPr kumimoji="0" lang="en-GB" altLang="zh-TW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001200</a:t>
                      </a:r>
                      <a:endParaRPr kumimoji="0" lang="zh-TW" altLang="en-GB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Ptr_D</a:t>
                      </a:r>
                      <a:endParaRPr kumimoji="0" lang="en-GB" altLang="zh-TW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357166"/>
            <a:ext cx="8477280" cy="100013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 </a:t>
            </a:r>
            <a:r>
              <a:rPr lang="en-US" sz="2400" dirty="0">
                <a:solidFill>
                  <a:srgbClr val="C00000"/>
                </a:solidFill>
              </a:rPr>
              <a:t>(Route Advertisements)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571612"/>
            <a:ext cx="8410604" cy="4829188"/>
          </a:xfrm>
        </p:spPr>
        <p:txBody>
          <a:bodyPr>
            <a:normAutofit/>
          </a:bodyPr>
          <a:lstStyle/>
          <a:p>
            <a:r>
              <a:rPr lang="en-US" sz="2600" dirty="0"/>
              <a:t>Advertise to each neighbor own routing information</a:t>
            </a:r>
          </a:p>
          <a:p>
            <a:pPr lvl="1"/>
            <a:r>
              <a:rPr lang="en-US" sz="2600" dirty="0"/>
              <a:t>Destination Address</a:t>
            </a:r>
          </a:p>
          <a:p>
            <a:pPr lvl="1"/>
            <a:r>
              <a:rPr lang="en-US" sz="2600" dirty="0"/>
              <a:t>Metric = Number of Hops to Destination</a:t>
            </a:r>
          </a:p>
          <a:p>
            <a:pPr lvl="1"/>
            <a:r>
              <a:rPr lang="en-US" sz="2600" dirty="0"/>
              <a:t>Destination Sequence Number</a:t>
            </a:r>
          </a:p>
          <a:p>
            <a:r>
              <a:rPr lang="en-US" sz="2600" dirty="0"/>
              <a:t>Rules to set sequence number information</a:t>
            </a:r>
          </a:p>
          <a:p>
            <a:pPr lvl="1"/>
            <a:r>
              <a:rPr lang="en-US" sz="2600" dirty="0"/>
              <a:t>On each advertisement increase own destination sequence number (use only even numbers)</a:t>
            </a:r>
          </a:p>
          <a:p>
            <a:pPr lvl="1"/>
            <a:r>
              <a:rPr lang="en-US" sz="2600" dirty="0"/>
              <a:t>If a node is no more reachable (timeout) increase sequence number of this node by 1 (odd sequence number) and set metric = </a:t>
            </a:r>
            <a:r>
              <a:rPr lang="en-US" sz="2600" b="1" dirty="0">
                <a:sym typeface="Symbol" pitchFamily="18" charset="2"/>
              </a:rPr>
              <a:t></a:t>
            </a:r>
            <a:endParaRPr lang="en-US" sz="2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500042"/>
            <a:ext cx="8477280" cy="85725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 </a:t>
            </a:r>
            <a:r>
              <a:rPr lang="en-US" sz="2400" dirty="0">
                <a:solidFill>
                  <a:srgbClr val="C00000"/>
                </a:solidFill>
              </a:rPr>
              <a:t>(Route Selection)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2362200"/>
            <a:ext cx="7239000" cy="4038600"/>
          </a:xfrm>
        </p:spPr>
        <p:txBody>
          <a:bodyPr/>
          <a:lstStyle/>
          <a:p>
            <a:r>
              <a:rPr lang="en-GB" altLang="zh-TW" sz="2600" dirty="0">
                <a:ea typeface="PMingLiU" pitchFamily="18" charset="-120"/>
              </a:rPr>
              <a:t>Update information is compared to own routing table</a:t>
            </a:r>
          </a:p>
          <a:p>
            <a:pPr lvl="1"/>
            <a:r>
              <a:rPr lang="en-GB" altLang="zh-TW" sz="2600" dirty="0">
                <a:ea typeface="PMingLiU" pitchFamily="18" charset="-120"/>
              </a:rPr>
              <a:t>1. Select route with higher destination sequence number (This ensure to use always newest information from destination)</a:t>
            </a:r>
          </a:p>
          <a:p>
            <a:pPr lvl="1"/>
            <a:r>
              <a:rPr lang="en-GB" altLang="zh-TW" sz="2600" dirty="0">
                <a:ea typeface="PMingLiU" pitchFamily="18" charset="-120"/>
              </a:rPr>
              <a:t>2. Select the route with better metric when sequence numbers are equal.</a:t>
            </a:r>
          </a:p>
          <a:p>
            <a:endParaRPr lang="en-GB" altLang="zh-TW" sz="2000" dirty="0">
              <a:ea typeface="PMingLiU" pitchFamily="18" charset="-120"/>
            </a:endParaRPr>
          </a:p>
          <a:p>
            <a:pPr lvl="1">
              <a:buFont typeface="Wingdings" pitchFamily="2" charset="2"/>
              <a:buNone/>
            </a:pPr>
            <a:endParaRPr lang="en-GB" altLang="zh-TW" sz="1800" dirty="0">
              <a:ea typeface="PMingLiU" pitchFamily="18" charset="-120"/>
            </a:endParaRPr>
          </a:p>
          <a:p>
            <a:pPr lvl="1">
              <a:buFont typeface="Wingdings" pitchFamily="2" charset="2"/>
              <a:buNone/>
            </a:pPr>
            <a:endParaRPr lang="zh-TW" altLang="en-GB" sz="1800" dirty="0">
              <a:ea typeface="PMingLiU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428604"/>
            <a:ext cx="8477280" cy="57150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 </a:t>
            </a:r>
            <a:r>
              <a:rPr lang="en-US" sz="2400" dirty="0">
                <a:solidFill>
                  <a:srgbClr val="C00000"/>
                </a:solidFill>
              </a:rPr>
              <a:t>(Tables)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75781" name="Line 5"/>
          <p:cNvSpPr>
            <a:spLocks noChangeShapeType="1"/>
          </p:cNvSpPr>
          <p:nvPr/>
        </p:nvSpPr>
        <p:spPr bwMode="auto">
          <a:xfrm>
            <a:off x="4038600" y="4621213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 flipV="1">
            <a:off x="6096000" y="4545013"/>
            <a:ext cx="193675" cy="1936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6019800" y="47117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C</a:t>
            </a:r>
            <a:endParaRPr lang="en-GB" altLang="zh-TW" sz="1800">
              <a:solidFill>
                <a:schemeClr val="tx2"/>
              </a:solidFill>
              <a:ea typeface="PMingLiU" pitchFamily="18" charset="-120"/>
            </a:endParaRPr>
          </a:p>
        </p:txBody>
      </p:sp>
      <p:graphicFrame>
        <p:nvGraphicFramePr>
          <p:cNvPr id="75886" name="Group 110"/>
          <p:cNvGraphicFramePr>
            <a:graphicFrameLocks noGrp="1"/>
          </p:cNvGraphicFramePr>
          <p:nvPr/>
        </p:nvGraphicFramePr>
        <p:xfrm>
          <a:off x="3200400" y="5105400"/>
          <a:ext cx="1981200" cy="85725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C-588</a:t>
                      </a:r>
                      <a:endParaRPr kumimoji="0" lang="en-GB" altLang="zh-TW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5981" name="Group 205"/>
          <p:cNvGraphicFramePr>
            <a:graphicFrameLocks noGrp="1"/>
          </p:cNvGraphicFramePr>
          <p:nvPr/>
        </p:nvGraphicFramePr>
        <p:xfrm>
          <a:off x="914400" y="5105400"/>
          <a:ext cx="1981200" cy="85725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PMingLiU" pitchFamily="18" charset="-120"/>
                        </a:rPr>
                        <a:t>3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C-586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5887" name="Group 111"/>
          <p:cNvGraphicFramePr>
            <a:graphicFrameLocks noGrp="1"/>
          </p:cNvGraphicFramePr>
          <p:nvPr/>
        </p:nvGraphicFramePr>
        <p:xfrm>
          <a:off x="5410200" y="5105400"/>
          <a:ext cx="2057400" cy="857250"/>
        </p:xfrm>
        <a:graphic>
          <a:graphicData uri="http://schemas.openxmlformats.org/drawingml/2006/table">
            <a:tbl>
              <a:tblPr/>
              <a:tblGrid>
                <a:gridCol w="476250"/>
                <a:gridCol w="474663"/>
                <a:gridCol w="554037"/>
                <a:gridCol w="55245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.</a:t>
                      </a:r>
                      <a:endParaRPr kumimoji="0" lang="en-GB" altLang="zh-TW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zh-TW" altLang="en-GB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C-588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867" name="Line 91"/>
          <p:cNvSpPr>
            <a:spLocks noChangeShapeType="1"/>
          </p:cNvSpPr>
          <p:nvPr/>
        </p:nvSpPr>
        <p:spPr bwMode="auto">
          <a:xfrm>
            <a:off x="1828800" y="4621213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5868" name="Text Box 92"/>
          <p:cNvSpPr txBox="1">
            <a:spLocks noChangeArrowheads="1"/>
          </p:cNvSpPr>
          <p:nvPr/>
        </p:nvSpPr>
        <p:spPr bwMode="auto">
          <a:xfrm>
            <a:off x="3810000" y="47117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2"/>
                </a:solidFill>
              </a:rPr>
              <a:t>B</a:t>
            </a:r>
            <a:endParaRPr lang="en-GB" altLang="zh-TW" sz="18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75869" name="Oval 93"/>
          <p:cNvSpPr>
            <a:spLocks noChangeArrowheads="1"/>
          </p:cNvSpPr>
          <p:nvPr/>
        </p:nvSpPr>
        <p:spPr bwMode="auto">
          <a:xfrm flipV="1">
            <a:off x="3886200" y="4545013"/>
            <a:ext cx="203200" cy="203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5870" name="Oval 94"/>
          <p:cNvSpPr>
            <a:spLocks noChangeArrowheads="1"/>
          </p:cNvSpPr>
          <p:nvPr/>
        </p:nvSpPr>
        <p:spPr bwMode="auto">
          <a:xfrm flipV="1">
            <a:off x="1676400" y="4545013"/>
            <a:ext cx="200025" cy="2000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5871" name="Text Box 95"/>
          <p:cNvSpPr txBox="1">
            <a:spLocks noChangeArrowheads="1"/>
          </p:cNvSpPr>
          <p:nvPr/>
        </p:nvSpPr>
        <p:spPr bwMode="auto">
          <a:xfrm>
            <a:off x="1600200" y="47117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A</a:t>
            </a:r>
            <a:endParaRPr lang="en-GB" altLang="zh-TW" sz="1800">
              <a:solidFill>
                <a:schemeClr val="accent2"/>
              </a:solidFill>
              <a:ea typeface="PMingLiU" pitchFamily="18" charset="-120"/>
            </a:endParaRPr>
          </a:p>
        </p:txBody>
      </p:sp>
      <p:sp>
        <p:nvSpPr>
          <p:cNvPr id="75982" name="Text Box 206"/>
          <p:cNvSpPr txBox="1">
            <a:spLocks noChangeArrowheads="1"/>
          </p:cNvSpPr>
          <p:nvPr/>
        </p:nvSpPr>
        <p:spPr bwMode="auto">
          <a:xfrm>
            <a:off x="2725738" y="4652963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  <a:endParaRPr lang="zh-TW" altLang="en-GB" sz="1600">
              <a:ea typeface="PMingLiU" pitchFamily="18" charset="-120"/>
            </a:endParaRPr>
          </a:p>
        </p:txBody>
      </p:sp>
      <p:sp>
        <p:nvSpPr>
          <p:cNvPr id="75983" name="Text Box 207"/>
          <p:cNvSpPr txBox="1">
            <a:spLocks noChangeArrowheads="1"/>
          </p:cNvSpPr>
          <p:nvPr/>
        </p:nvSpPr>
        <p:spPr bwMode="auto">
          <a:xfrm>
            <a:off x="4859338" y="4652963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2</a:t>
            </a:r>
            <a:endParaRPr lang="zh-TW" altLang="en-GB" sz="1600">
              <a:ea typeface="PMingLiU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0" name="Text Box 1118"/>
          <p:cNvSpPr txBox="1">
            <a:spLocks noChangeArrowheads="1"/>
          </p:cNvSpPr>
          <p:nvPr/>
        </p:nvSpPr>
        <p:spPr bwMode="auto">
          <a:xfrm>
            <a:off x="2362200" y="3657600"/>
            <a:ext cx="1083951" cy="7386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(A, 1, </a:t>
            </a:r>
            <a:r>
              <a:rPr lang="en-US" sz="1400" dirty="0" smtClean="0">
                <a:solidFill>
                  <a:srgbClr val="C00000"/>
                </a:solidFill>
              </a:rPr>
              <a:t>A-550</a:t>
            </a:r>
            <a:r>
              <a:rPr lang="en-US" sz="1400" dirty="0">
                <a:solidFill>
                  <a:srgbClr val="C00000"/>
                </a:solidFill>
              </a:rPr>
              <a:t>)</a:t>
            </a:r>
          </a:p>
          <a:p>
            <a:r>
              <a:rPr lang="en-US" sz="1400" dirty="0">
                <a:solidFill>
                  <a:srgbClr val="C00000"/>
                </a:solidFill>
              </a:rPr>
              <a:t>(B, 0, B-102)</a:t>
            </a:r>
          </a:p>
          <a:p>
            <a:r>
              <a:rPr lang="en-US" sz="1400" dirty="0">
                <a:solidFill>
                  <a:srgbClr val="C00000"/>
                </a:solidFill>
              </a:rPr>
              <a:t>(C, 1, C-588)</a:t>
            </a:r>
            <a:endParaRPr lang="en-GB" altLang="zh-TW" sz="1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86111" name="Text Box 1119"/>
          <p:cNvSpPr txBox="1">
            <a:spLocks noChangeArrowheads="1"/>
          </p:cNvSpPr>
          <p:nvPr/>
        </p:nvSpPr>
        <p:spPr bwMode="auto">
          <a:xfrm>
            <a:off x="4419600" y="3657600"/>
            <a:ext cx="108395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(A, 1, </a:t>
            </a:r>
            <a:r>
              <a:rPr lang="en-US" sz="1400" dirty="0" smtClean="0">
                <a:solidFill>
                  <a:srgbClr val="C00000"/>
                </a:solidFill>
              </a:rPr>
              <a:t>A-550</a:t>
            </a:r>
            <a:r>
              <a:rPr lang="en-US" sz="1400" dirty="0">
                <a:solidFill>
                  <a:srgbClr val="C00000"/>
                </a:solidFill>
              </a:rPr>
              <a:t>)</a:t>
            </a:r>
          </a:p>
          <a:p>
            <a:r>
              <a:rPr lang="en-US" sz="1400" dirty="0">
                <a:solidFill>
                  <a:srgbClr val="C00000"/>
                </a:solidFill>
              </a:rPr>
              <a:t>(B, 0, B-102)</a:t>
            </a:r>
          </a:p>
          <a:p>
            <a:r>
              <a:rPr lang="en-US" sz="1400" dirty="0">
                <a:solidFill>
                  <a:srgbClr val="C00000"/>
                </a:solidFill>
              </a:rPr>
              <a:t>(C, 1, C-588)</a:t>
            </a:r>
            <a:endParaRPr lang="en-GB" altLang="zh-TW" sz="1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860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8477280" cy="92869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 </a:t>
            </a:r>
            <a:r>
              <a:rPr lang="en-US" sz="2400" dirty="0">
                <a:solidFill>
                  <a:srgbClr val="C00000"/>
                </a:solidFill>
              </a:rPr>
              <a:t>(Route Advertisement)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86019" name="Line 1027"/>
          <p:cNvSpPr>
            <a:spLocks noChangeShapeType="1"/>
          </p:cNvSpPr>
          <p:nvPr/>
        </p:nvSpPr>
        <p:spPr bwMode="auto">
          <a:xfrm>
            <a:off x="4038600" y="4621213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6020" name="Oval 1028"/>
          <p:cNvSpPr>
            <a:spLocks noChangeArrowheads="1"/>
          </p:cNvSpPr>
          <p:nvPr/>
        </p:nvSpPr>
        <p:spPr bwMode="auto">
          <a:xfrm flipV="1">
            <a:off x="6096000" y="4545013"/>
            <a:ext cx="193675" cy="1936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6021" name="Text Box 1029"/>
          <p:cNvSpPr txBox="1">
            <a:spLocks noChangeArrowheads="1"/>
          </p:cNvSpPr>
          <p:nvPr/>
        </p:nvSpPr>
        <p:spPr bwMode="auto">
          <a:xfrm>
            <a:off x="6019800" y="47117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C</a:t>
            </a:r>
            <a:endParaRPr lang="en-GB" altLang="zh-TW" sz="18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86105" name="Line 1113"/>
          <p:cNvSpPr>
            <a:spLocks noChangeShapeType="1"/>
          </p:cNvSpPr>
          <p:nvPr/>
        </p:nvSpPr>
        <p:spPr bwMode="auto">
          <a:xfrm>
            <a:off x="1828800" y="4621213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6106" name="Text Box 1114"/>
          <p:cNvSpPr txBox="1">
            <a:spLocks noChangeArrowheads="1"/>
          </p:cNvSpPr>
          <p:nvPr/>
        </p:nvSpPr>
        <p:spPr bwMode="auto">
          <a:xfrm>
            <a:off x="3810000" y="47117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2"/>
                </a:solidFill>
              </a:rPr>
              <a:t>B</a:t>
            </a:r>
            <a:endParaRPr lang="en-GB" altLang="zh-TW" sz="18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86107" name="Oval 1115"/>
          <p:cNvSpPr>
            <a:spLocks noChangeArrowheads="1"/>
          </p:cNvSpPr>
          <p:nvPr/>
        </p:nvSpPr>
        <p:spPr bwMode="auto">
          <a:xfrm flipV="1">
            <a:off x="3886200" y="4545013"/>
            <a:ext cx="203200" cy="203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6108" name="Oval 1116"/>
          <p:cNvSpPr>
            <a:spLocks noChangeArrowheads="1"/>
          </p:cNvSpPr>
          <p:nvPr/>
        </p:nvSpPr>
        <p:spPr bwMode="auto">
          <a:xfrm flipV="1">
            <a:off x="1676400" y="4545013"/>
            <a:ext cx="200025" cy="2000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6109" name="Text Box 1117"/>
          <p:cNvSpPr txBox="1">
            <a:spLocks noChangeArrowheads="1"/>
          </p:cNvSpPr>
          <p:nvPr/>
        </p:nvSpPr>
        <p:spPr bwMode="auto">
          <a:xfrm>
            <a:off x="1600200" y="47117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A</a:t>
            </a:r>
            <a:endParaRPr lang="en-GB" altLang="zh-TW" sz="1800">
              <a:solidFill>
                <a:schemeClr val="accent2"/>
              </a:solidFill>
              <a:ea typeface="PMingLiU" pitchFamily="18" charset="-120"/>
            </a:endParaRPr>
          </a:p>
        </p:txBody>
      </p:sp>
      <p:sp>
        <p:nvSpPr>
          <p:cNvPr id="86112" name="Line 1120"/>
          <p:cNvSpPr>
            <a:spLocks noChangeShapeType="1"/>
          </p:cNvSpPr>
          <p:nvPr/>
        </p:nvSpPr>
        <p:spPr bwMode="auto">
          <a:xfrm flipH="1">
            <a:off x="1981200" y="4392613"/>
            <a:ext cx="1828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6113" name="Line 1121"/>
          <p:cNvSpPr>
            <a:spLocks noChangeShapeType="1"/>
          </p:cNvSpPr>
          <p:nvPr/>
        </p:nvSpPr>
        <p:spPr bwMode="auto">
          <a:xfrm flipH="1">
            <a:off x="4191000" y="4392613"/>
            <a:ext cx="1828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6114" name="Line 1122"/>
          <p:cNvSpPr>
            <a:spLocks noChangeShapeType="1"/>
          </p:cNvSpPr>
          <p:nvPr/>
        </p:nvSpPr>
        <p:spPr bwMode="auto">
          <a:xfrm flipV="1">
            <a:off x="3048000" y="2971800"/>
            <a:ext cx="1905000" cy="685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6115" name="Line 1123"/>
          <p:cNvSpPr>
            <a:spLocks noChangeShapeType="1"/>
          </p:cNvSpPr>
          <p:nvPr/>
        </p:nvSpPr>
        <p:spPr bwMode="auto">
          <a:xfrm flipH="1" flipV="1">
            <a:off x="4953000" y="2971800"/>
            <a:ext cx="152400" cy="685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6116" name="Text Box 1124"/>
          <p:cNvSpPr txBox="1">
            <a:spLocks noChangeArrowheads="1"/>
          </p:cNvSpPr>
          <p:nvPr/>
        </p:nvSpPr>
        <p:spPr bwMode="auto">
          <a:xfrm>
            <a:off x="5029200" y="2286000"/>
            <a:ext cx="3124200" cy="95410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B increases </a:t>
            </a:r>
            <a:r>
              <a:rPr lang="en-US" sz="1400" dirty="0" err="1">
                <a:solidFill>
                  <a:srgbClr val="C00000"/>
                </a:solidFill>
              </a:rPr>
              <a:t>Seq.Nr</a:t>
            </a:r>
            <a:r>
              <a:rPr lang="en-US" sz="1400" dirty="0">
                <a:solidFill>
                  <a:srgbClr val="C00000"/>
                </a:solidFill>
              </a:rPr>
              <a:t> from 100 -&gt; 102</a:t>
            </a:r>
          </a:p>
          <a:p>
            <a:r>
              <a:rPr lang="en-US" sz="1400" dirty="0">
                <a:solidFill>
                  <a:srgbClr val="C00000"/>
                </a:solidFill>
              </a:rPr>
              <a:t>B broadcasts routing information </a:t>
            </a:r>
            <a:br>
              <a:rPr lang="en-US" sz="1400" dirty="0">
                <a:solidFill>
                  <a:srgbClr val="C00000"/>
                </a:solidFill>
              </a:rPr>
            </a:br>
            <a:r>
              <a:rPr lang="en-US" sz="1400" dirty="0">
                <a:solidFill>
                  <a:srgbClr val="C00000"/>
                </a:solidFill>
              </a:rPr>
              <a:t>to Neighbors A, C including destination sequence numbers</a:t>
            </a:r>
            <a:endParaRPr lang="en-GB" altLang="zh-TW" sz="1400" dirty="0">
              <a:solidFill>
                <a:srgbClr val="C00000"/>
              </a:solidFill>
              <a:ea typeface="PMingLiU" pitchFamily="18" charset="-120"/>
            </a:endParaRPr>
          </a:p>
        </p:txBody>
      </p:sp>
      <p:graphicFrame>
        <p:nvGraphicFramePr>
          <p:cNvPr id="86198" name="Group 1206"/>
          <p:cNvGraphicFramePr>
            <a:graphicFrameLocks noGrp="1"/>
          </p:cNvGraphicFramePr>
          <p:nvPr/>
        </p:nvGraphicFramePr>
        <p:xfrm>
          <a:off x="914400" y="5105400"/>
          <a:ext cx="1981200" cy="849313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01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B-102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PMingLiU" pitchFamily="18" charset="-120"/>
                        </a:rPr>
                        <a:t>2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C-588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144" name="Group 1152"/>
          <p:cNvGraphicFramePr>
            <a:graphicFrameLocks noGrp="1"/>
          </p:cNvGraphicFramePr>
          <p:nvPr/>
        </p:nvGraphicFramePr>
        <p:xfrm>
          <a:off x="3200400" y="5105400"/>
          <a:ext cx="1981200" cy="85725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B-102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C-588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171" name="Group 1179"/>
          <p:cNvGraphicFramePr>
            <a:graphicFrameLocks noGrp="1"/>
          </p:cNvGraphicFramePr>
          <p:nvPr/>
        </p:nvGraphicFramePr>
        <p:xfrm>
          <a:off x="5410200" y="5105400"/>
          <a:ext cx="2057400" cy="857250"/>
        </p:xfrm>
        <a:graphic>
          <a:graphicData uri="http://schemas.openxmlformats.org/drawingml/2006/table">
            <a:tbl>
              <a:tblPr/>
              <a:tblGrid>
                <a:gridCol w="476250"/>
                <a:gridCol w="474663"/>
                <a:gridCol w="554037"/>
                <a:gridCol w="55245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B-102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C-588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6199" name="Text Box 1207"/>
          <p:cNvSpPr txBox="1">
            <a:spLocks noChangeArrowheads="1"/>
          </p:cNvSpPr>
          <p:nvPr/>
        </p:nvSpPr>
        <p:spPr bwMode="auto">
          <a:xfrm>
            <a:off x="2725738" y="4652963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  <a:endParaRPr lang="zh-TW" altLang="en-GB" sz="1600">
              <a:ea typeface="PMingLiU" pitchFamily="18" charset="-120"/>
            </a:endParaRPr>
          </a:p>
        </p:txBody>
      </p:sp>
      <p:sp>
        <p:nvSpPr>
          <p:cNvPr id="86200" name="Text Box 1208"/>
          <p:cNvSpPr txBox="1">
            <a:spLocks noChangeArrowheads="1"/>
          </p:cNvSpPr>
          <p:nvPr/>
        </p:nvSpPr>
        <p:spPr bwMode="auto">
          <a:xfrm>
            <a:off x="4859338" y="4652963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>
                <a:ea typeface="PMingLiU" pitchFamily="18" charset="-120"/>
              </a:rPr>
              <a:t>1</a:t>
            </a:r>
            <a:endParaRPr lang="en-GB" altLang="zh-TW" sz="1600">
              <a:ea typeface="PMingLiU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428604"/>
            <a:ext cx="8477280" cy="64294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 </a:t>
            </a:r>
            <a:r>
              <a:rPr lang="en-US" sz="2400" dirty="0">
                <a:solidFill>
                  <a:srgbClr val="C00000"/>
                </a:solidFill>
              </a:rPr>
              <a:t>(Respond to Topology Changes)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571612"/>
            <a:ext cx="8248680" cy="4829188"/>
          </a:xfrm>
        </p:spPr>
        <p:txBody>
          <a:bodyPr>
            <a:normAutofit/>
          </a:bodyPr>
          <a:lstStyle/>
          <a:p>
            <a:r>
              <a:rPr lang="en-US" dirty="0"/>
              <a:t>Immediate advertisements</a:t>
            </a:r>
          </a:p>
          <a:p>
            <a:pPr lvl="1"/>
            <a:r>
              <a:rPr lang="en-US" sz="2400" dirty="0"/>
              <a:t>Information on new Routes, broken Links, metric change is immediately propagated to neighbors.</a:t>
            </a:r>
          </a:p>
          <a:p>
            <a:endParaRPr lang="en-US" dirty="0"/>
          </a:p>
          <a:p>
            <a:r>
              <a:rPr lang="en-US" dirty="0"/>
              <a:t>Full/Incremental Update:</a:t>
            </a:r>
          </a:p>
          <a:p>
            <a:pPr lvl="1"/>
            <a:r>
              <a:rPr lang="en-US" sz="2400" dirty="0"/>
              <a:t>Full Update: Send all routing information from own table.	</a:t>
            </a:r>
          </a:p>
          <a:p>
            <a:pPr lvl="1"/>
            <a:r>
              <a:rPr lang="en-US" sz="2400" dirty="0"/>
              <a:t>Incremental Update: Send only entries that has changed. (Make it fit into one single packet)</a:t>
            </a:r>
            <a:endParaRPr lang="en-GB" altLang="zh-TW" sz="2400" dirty="0">
              <a:ea typeface="PMingLiU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77" name="Text Box 97"/>
          <p:cNvSpPr txBox="1">
            <a:spLocks noChangeArrowheads="1"/>
          </p:cNvSpPr>
          <p:nvPr/>
        </p:nvSpPr>
        <p:spPr bwMode="auto">
          <a:xfrm>
            <a:off x="7010400" y="4267200"/>
            <a:ext cx="120808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accent1"/>
                </a:solidFill>
              </a:rPr>
              <a:t>(D, 0, D-000)</a:t>
            </a:r>
            <a:endParaRPr lang="en-GB" altLang="zh-TW" sz="14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DSDV </a:t>
            </a:r>
            <a:r>
              <a:rPr lang="en-US" sz="2400"/>
              <a:t>(New Node)</a:t>
            </a:r>
            <a:endParaRPr lang="en-GB" altLang="zh-TW" sz="2400">
              <a:ea typeface="PMingLiU" pitchFamily="18" charset="-120"/>
            </a:endParaRPr>
          </a:p>
        </p:txBody>
      </p:sp>
      <p:sp>
        <p:nvSpPr>
          <p:cNvPr id="97283" name="Line 3"/>
          <p:cNvSpPr>
            <a:spLocks noChangeShapeType="1"/>
          </p:cNvSpPr>
          <p:nvPr/>
        </p:nvSpPr>
        <p:spPr bwMode="auto">
          <a:xfrm>
            <a:off x="39624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5943600" y="5029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C</a:t>
            </a:r>
            <a:endParaRPr lang="en-GB" altLang="zh-TW" sz="18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97366" name="Line 86"/>
          <p:cNvSpPr>
            <a:spLocks noChangeShapeType="1"/>
          </p:cNvSpPr>
          <p:nvPr/>
        </p:nvSpPr>
        <p:spPr bwMode="auto">
          <a:xfrm>
            <a:off x="17526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7367" name="Text Box 87"/>
          <p:cNvSpPr txBox="1">
            <a:spLocks noChangeArrowheads="1"/>
          </p:cNvSpPr>
          <p:nvPr/>
        </p:nvSpPr>
        <p:spPr bwMode="auto">
          <a:xfrm>
            <a:off x="3733800" y="50292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2"/>
                </a:solidFill>
              </a:rPr>
              <a:t>B</a:t>
            </a:r>
            <a:endParaRPr lang="en-GB" altLang="zh-TW" sz="18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97368" name="Oval 88"/>
          <p:cNvSpPr>
            <a:spLocks noChangeArrowheads="1"/>
          </p:cNvSpPr>
          <p:nvPr/>
        </p:nvSpPr>
        <p:spPr bwMode="auto">
          <a:xfrm flipV="1">
            <a:off x="3810000" y="4827588"/>
            <a:ext cx="203200" cy="203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7369" name="Oval 89"/>
          <p:cNvSpPr>
            <a:spLocks noChangeArrowheads="1"/>
          </p:cNvSpPr>
          <p:nvPr/>
        </p:nvSpPr>
        <p:spPr bwMode="auto">
          <a:xfrm flipV="1">
            <a:off x="1600200" y="4827588"/>
            <a:ext cx="200025" cy="2000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7370" name="Text Box 90"/>
          <p:cNvSpPr txBox="1">
            <a:spLocks noChangeArrowheads="1"/>
          </p:cNvSpPr>
          <p:nvPr/>
        </p:nvSpPr>
        <p:spPr bwMode="auto">
          <a:xfrm>
            <a:off x="1524000" y="50292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A</a:t>
            </a:r>
            <a:endParaRPr lang="en-GB" altLang="zh-TW" sz="1800">
              <a:solidFill>
                <a:schemeClr val="accent2"/>
              </a:solidFill>
              <a:ea typeface="PMingLiU" pitchFamily="18" charset="-120"/>
            </a:endParaRPr>
          </a:p>
        </p:txBody>
      </p:sp>
      <p:sp>
        <p:nvSpPr>
          <p:cNvPr id="97371" name="Text Box 91"/>
          <p:cNvSpPr txBox="1">
            <a:spLocks noChangeArrowheads="1"/>
          </p:cNvSpPr>
          <p:nvPr/>
        </p:nvSpPr>
        <p:spPr bwMode="auto">
          <a:xfrm>
            <a:off x="8153400" y="5029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1"/>
                </a:solidFill>
              </a:rPr>
              <a:t>D</a:t>
            </a:r>
            <a:endParaRPr lang="en-GB" altLang="zh-TW" sz="18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97372" name="Line 92"/>
          <p:cNvSpPr>
            <a:spLocks noChangeShapeType="1"/>
          </p:cNvSpPr>
          <p:nvPr/>
        </p:nvSpPr>
        <p:spPr bwMode="auto">
          <a:xfrm>
            <a:off x="61722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7373" name="Oval 93"/>
          <p:cNvSpPr>
            <a:spLocks noChangeArrowheads="1"/>
          </p:cNvSpPr>
          <p:nvPr/>
        </p:nvSpPr>
        <p:spPr bwMode="auto">
          <a:xfrm flipV="1">
            <a:off x="8229600" y="4827588"/>
            <a:ext cx="193675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7378" name="Line 98"/>
          <p:cNvSpPr>
            <a:spLocks noChangeShapeType="1"/>
          </p:cNvSpPr>
          <p:nvPr/>
        </p:nvSpPr>
        <p:spPr bwMode="auto">
          <a:xfrm flipH="1">
            <a:off x="6324600" y="4598988"/>
            <a:ext cx="18288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graphicFrame>
        <p:nvGraphicFramePr>
          <p:cNvPr id="97443" name="Group 163"/>
          <p:cNvGraphicFramePr>
            <a:graphicFrameLocks noGrp="1"/>
          </p:cNvGraphicFramePr>
          <p:nvPr/>
        </p:nvGraphicFramePr>
        <p:xfrm>
          <a:off x="838200" y="5410200"/>
          <a:ext cx="2057400" cy="1066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609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B-104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C-590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7483" name="Oval 203"/>
          <p:cNvSpPr>
            <a:spLocks noChangeArrowheads="1"/>
          </p:cNvSpPr>
          <p:nvPr/>
        </p:nvSpPr>
        <p:spPr bwMode="auto">
          <a:xfrm flipV="1">
            <a:off x="6019800" y="4827588"/>
            <a:ext cx="193675" cy="1936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97516" name="Group 236"/>
          <p:cNvGraphicFramePr>
            <a:graphicFrameLocks noGrp="1"/>
          </p:cNvGraphicFramePr>
          <p:nvPr/>
        </p:nvGraphicFramePr>
        <p:xfrm>
          <a:off x="3124200" y="5410200"/>
          <a:ext cx="1981200" cy="1066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B-104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C-590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548" name="Group 268"/>
          <p:cNvGraphicFramePr>
            <a:graphicFrameLocks noGrp="1"/>
          </p:cNvGraphicFramePr>
          <p:nvPr/>
        </p:nvGraphicFramePr>
        <p:xfrm>
          <a:off x="5334000" y="5410200"/>
          <a:ext cx="2057400" cy="1066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609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B-104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C-590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D-000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7581" name="Text Box 301"/>
          <p:cNvSpPr txBox="1">
            <a:spLocks noChangeArrowheads="1"/>
          </p:cNvSpPr>
          <p:nvPr/>
        </p:nvSpPr>
        <p:spPr bwMode="auto">
          <a:xfrm>
            <a:off x="6019800" y="3276600"/>
            <a:ext cx="2819400" cy="5461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1. D broadcast for first time</a:t>
            </a:r>
            <a:br>
              <a:rPr lang="en-US" sz="1400"/>
            </a:br>
            <a:r>
              <a:rPr lang="en-US" sz="1400"/>
              <a:t>Send Sequence number D-000</a:t>
            </a:r>
            <a:endParaRPr lang="en-GB" altLang="zh-TW" sz="1400">
              <a:ea typeface="PMingLiU" pitchFamily="18" charset="-120"/>
            </a:endParaRPr>
          </a:p>
        </p:txBody>
      </p:sp>
      <p:sp>
        <p:nvSpPr>
          <p:cNvPr id="97582" name="Text Box 302"/>
          <p:cNvSpPr txBox="1">
            <a:spLocks noChangeArrowheads="1"/>
          </p:cNvSpPr>
          <p:nvPr/>
        </p:nvSpPr>
        <p:spPr bwMode="auto">
          <a:xfrm>
            <a:off x="2895600" y="2590800"/>
            <a:ext cx="2819400" cy="97155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2. Insert entry for D with sequence number D-000</a:t>
            </a:r>
            <a:br>
              <a:rPr lang="en-US" sz="1400"/>
            </a:br>
            <a:r>
              <a:rPr lang="en-US" sz="1400"/>
              <a:t>Then immediately broadcast own table</a:t>
            </a:r>
            <a:endParaRPr lang="en-GB" altLang="zh-TW" sz="1400">
              <a:ea typeface="PMingLiU" pitchFamily="18" charset="-120"/>
            </a:endParaRPr>
          </a:p>
        </p:txBody>
      </p:sp>
      <p:sp>
        <p:nvSpPr>
          <p:cNvPr id="97583" name="Line 303"/>
          <p:cNvSpPr>
            <a:spLocks noChangeShapeType="1"/>
          </p:cNvSpPr>
          <p:nvPr/>
        </p:nvSpPr>
        <p:spPr bwMode="auto">
          <a:xfrm>
            <a:off x="4800600" y="3581400"/>
            <a:ext cx="990600" cy="1676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7584" name="Line 304"/>
          <p:cNvSpPr>
            <a:spLocks noChangeShapeType="1"/>
          </p:cNvSpPr>
          <p:nvPr/>
        </p:nvSpPr>
        <p:spPr bwMode="auto">
          <a:xfrm flipH="1">
            <a:off x="7543800" y="3810000"/>
            <a:ext cx="2286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3" name="Text Box 199"/>
          <p:cNvSpPr txBox="1">
            <a:spLocks noChangeArrowheads="1"/>
          </p:cNvSpPr>
          <p:nvPr/>
        </p:nvSpPr>
        <p:spPr bwMode="auto">
          <a:xfrm>
            <a:off x="4648200" y="3657600"/>
            <a:ext cx="1208088" cy="942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(A, 2, A-550)</a:t>
            </a:r>
          </a:p>
          <a:p>
            <a:r>
              <a:rPr lang="en-US" sz="1400">
                <a:solidFill>
                  <a:schemeClr val="tx2"/>
                </a:solidFill>
              </a:rPr>
              <a:t>(B, 1, B-102)</a:t>
            </a:r>
          </a:p>
          <a:p>
            <a:r>
              <a:rPr lang="en-US" sz="1400">
                <a:solidFill>
                  <a:schemeClr val="tx2"/>
                </a:solidFill>
              </a:rPr>
              <a:t>(C, 0, C-592)</a:t>
            </a:r>
          </a:p>
          <a:p>
            <a:r>
              <a:rPr lang="en-US" sz="1400">
                <a:solidFill>
                  <a:schemeClr val="tx2"/>
                </a:solidFill>
              </a:rPr>
              <a:t>(D, 1, D-000)</a:t>
            </a:r>
            <a:endParaRPr lang="en-GB" altLang="zh-TW" sz="14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78140" name="Text Box 316"/>
          <p:cNvSpPr txBox="1">
            <a:spLocks noChangeArrowheads="1"/>
          </p:cNvSpPr>
          <p:nvPr/>
        </p:nvSpPr>
        <p:spPr bwMode="auto">
          <a:xfrm>
            <a:off x="6324600" y="3657600"/>
            <a:ext cx="1208088" cy="942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(A, 2, A-550)</a:t>
            </a:r>
          </a:p>
          <a:p>
            <a:r>
              <a:rPr lang="en-US" sz="1400">
                <a:solidFill>
                  <a:schemeClr val="tx2"/>
                </a:solidFill>
              </a:rPr>
              <a:t>(B, 1, B-102)</a:t>
            </a:r>
          </a:p>
          <a:p>
            <a:r>
              <a:rPr lang="en-US" sz="1400">
                <a:solidFill>
                  <a:schemeClr val="tx2"/>
                </a:solidFill>
              </a:rPr>
              <a:t>(C, 0, C-592)</a:t>
            </a:r>
          </a:p>
          <a:p>
            <a:r>
              <a:rPr lang="en-US" sz="1400">
                <a:solidFill>
                  <a:schemeClr val="tx2"/>
                </a:solidFill>
              </a:rPr>
              <a:t>(D, 1, D-000)</a:t>
            </a:r>
            <a:endParaRPr lang="en-GB" altLang="zh-TW" sz="14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DSDV </a:t>
            </a:r>
            <a:r>
              <a:rPr lang="en-US" sz="2400"/>
              <a:t>(New Node cont.)</a:t>
            </a:r>
            <a:endParaRPr lang="en-GB" altLang="zh-TW" sz="2400">
              <a:ea typeface="PMingLiU" pitchFamily="18" charset="-120"/>
            </a:endParaRPr>
          </a:p>
        </p:txBody>
      </p:sp>
      <p:sp>
        <p:nvSpPr>
          <p:cNvPr id="77827" name="Line 3"/>
          <p:cNvSpPr>
            <a:spLocks noChangeShapeType="1"/>
          </p:cNvSpPr>
          <p:nvPr/>
        </p:nvSpPr>
        <p:spPr bwMode="auto">
          <a:xfrm>
            <a:off x="39624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5943600" y="5029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C</a:t>
            </a:r>
            <a:endParaRPr lang="en-GB" altLang="zh-TW" sz="18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77912" name="Line 88"/>
          <p:cNvSpPr>
            <a:spLocks noChangeShapeType="1"/>
          </p:cNvSpPr>
          <p:nvPr/>
        </p:nvSpPr>
        <p:spPr bwMode="auto">
          <a:xfrm>
            <a:off x="17526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7913" name="Text Box 89"/>
          <p:cNvSpPr txBox="1">
            <a:spLocks noChangeArrowheads="1"/>
          </p:cNvSpPr>
          <p:nvPr/>
        </p:nvSpPr>
        <p:spPr bwMode="auto">
          <a:xfrm>
            <a:off x="3733800" y="50292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2"/>
                </a:solidFill>
              </a:rPr>
              <a:t>B</a:t>
            </a:r>
            <a:endParaRPr lang="en-GB" altLang="zh-TW" sz="18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77914" name="Oval 90"/>
          <p:cNvSpPr>
            <a:spLocks noChangeArrowheads="1"/>
          </p:cNvSpPr>
          <p:nvPr/>
        </p:nvSpPr>
        <p:spPr bwMode="auto">
          <a:xfrm flipV="1">
            <a:off x="3810000" y="4827588"/>
            <a:ext cx="203200" cy="203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7915" name="Oval 91"/>
          <p:cNvSpPr>
            <a:spLocks noChangeArrowheads="1"/>
          </p:cNvSpPr>
          <p:nvPr/>
        </p:nvSpPr>
        <p:spPr bwMode="auto">
          <a:xfrm flipV="1">
            <a:off x="1600200" y="4827588"/>
            <a:ext cx="200025" cy="2000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7916" name="Text Box 92"/>
          <p:cNvSpPr txBox="1">
            <a:spLocks noChangeArrowheads="1"/>
          </p:cNvSpPr>
          <p:nvPr/>
        </p:nvSpPr>
        <p:spPr bwMode="auto">
          <a:xfrm>
            <a:off x="1524000" y="50292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A</a:t>
            </a:r>
            <a:endParaRPr lang="en-GB" altLang="zh-TW" sz="1800">
              <a:solidFill>
                <a:schemeClr val="accent2"/>
              </a:solidFill>
              <a:ea typeface="PMingLiU" pitchFamily="18" charset="-120"/>
            </a:endParaRPr>
          </a:p>
        </p:txBody>
      </p:sp>
      <p:sp>
        <p:nvSpPr>
          <p:cNvPr id="77917" name="Text Box 93"/>
          <p:cNvSpPr txBox="1">
            <a:spLocks noChangeArrowheads="1"/>
          </p:cNvSpPr>
          <p:nvPr/>
        </p:nvSpPr>
        <p:spPr bwMode="auto">
          <a:xfrm>
            <a:off x="8153400" y="5029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1"/>
                </a:solidFill>
              </a:rPr>
              <a:t>D</a:t>
            </a:r>
            <a:endParaRPr lang="en-GB" altLang="zh-TW" sz="18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77919" name="Line 95"/>
          <p:cNvSpPr>
            <a:spLocks noChangeShapeType="1"/>
          </p:cNvSpPr>
          <p:nvPr/>
        </p:nvSpPr>
        <p:spPr bwMode="auto">
          <a:xfrm>
            <a:off x="61722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7920" name="Oval 96"/>
          <p:cNvSpPr>
            <a:spLocks noChangeArrowheads="1"/>
          </p:cNvSpPr>
          <p:nvPr/>
        </p:nvSpPr>
        <p:spPr bwMode="auto">
          <a:xfrm flipV="1">
            <a:off x="8229600" y="4827588"/>
            <a:ext cx="193675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8041" name="Group 217"/>
          <p:cNvGraphicFramePr>
            <a:graphicFrameLocks noGrp="1"/>
          </p:cNvGraphicFramePr>
          <p:nvPr/>
        </p:nvGraphicFramePr>
        <p:xfrm>
          <a:off x="3124200" y="5410200"/>
          <a:ext cx="1981200" cy="1066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B-102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C-592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D-000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038" name="Group 214"/>
          <p:cNvGraphicFramePr>
            <a:graphicFrameLocks noGrp="1"/>
          </p:cNvGraphicFramePr>
          <p:nvPr/>
        </p:nvGraphicFramePr>
        <p:xfrm>
          <a:off x="838200" y="5410200"/>
          <a:ext cx="2057400" cy="1066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609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B-104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C-590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8024" name="Line 200"/>
          <p:cNvSpPr>
            <a:spLocks noChangeShapeType="1"/>
          </p:cNvSpPr>
          <p:nvPr/>
        </p:nvSpPr>
        <p:spPr bwMode="auto">
          <a:xfrm flipH="1">
            <a:off x="4038600" y="4648200"/>
            <a:ext cx="18288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8030" name="Oval 206"/>
          <p:cNvSpPr>
            <a:spLocks noChangeArrowheads="1"/>
          </p:cNvSpPr>
          <p:nvPr/>
        </p:nvSpPr>
        <p:spPr bwMode="auto">
          <a:xfrm flipV="1">
            <a:off x="6019800" y="4827588"/>
            <a:ext cx="193675" cy="1936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8107" name="Group 283"/>
          <p:cNvGraphicFramePr>
            <a:graphicFrameLocks noGrp="1"/>
          </p:cNvGraphicFramePr>
          <p:nvPr/>
        </p:nvGraphicFramePr>
        <p:xfrm>
          <a:off x="5334000" y="5410200"/>
          <a:ext cx="2057400" cy="1081106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609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A-550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B-102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C-592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D-000</a:t>
                      </a:r>
                      <a:endParaRPr kumimoji="0" lang="en-GB" altLang="zh-TW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8141" name="Line 317"/>
          <p:cNvSpPr>
            <a:spLocks noChangeShapeType="1"/>
          </p:cNvSpPr>
          <p:nvPr/>
        </p:nvSpPr>
        <p:spPr bwMode="auto">
          <a:xfrm flipH="1">
            <a:off x="6248400" y="4648200"/>
            <a:ext cx="18288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8144" name="Line 320"/>
          <p:cNvSpPr>
            <a:spLocks noChangeShapeType="1"/>
          </p:cNvSpPr>
          <p:nvPr/>
        </p:nvSpPr>
        <p:spPr bwMode="auto">
          <a:xfrm flipH="1">
            <a:off x="1828800" y="4648200"/>
            <a:ext cx="1828800" cy="0"/>
          </a:xfrm>
          <a:prstGeom prst="line">
            <a:avLst/>
          </a:prstGeom>
          <a:noFill/>
          <a:ln w="28575">
            <a:solidFill>
              <a:srgbClr val="FFCCCC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8145" name="Text Box 321"/>
          <p:cNvSpPr txBox="1">
            <a:spLocks noChangeArrowheads="1"/>
          </p:cNvSpPr>
          <p:nvPr/>
        </p:nvSpPr>
        <p:spPr bwMode="auto">
          <a:xfrm>
            <a:off x="2895600" y="4038600"/>
            <a:ext cx="717550" cy="5175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</a:rPr>
              <a:t>………</a:t>
            </a:r>
          </a:p>
          <a:p>
            <a:r>
              <a:rPr lang="en-US" sz="1400">
                <a:solidFill>
                  <a:schemeClr val="bg2"/>
                </a:solidFill>
              </a:rPr>
              <a:t>………</a:t>
            </a:r>
            <a:endParaRPr lang="zh-TW" altLang="en-GB" sz="14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78146" name="Text Box 322"/>
          <p:cNvSpPr txBox="1">
            <a:spLocks noChangeArrowheads="1"/>
          </p:cNvSpPr>
          <p:nvPr/>
        </p:nvSpPr>
        <p:spPr bwMode="auto">
          <a:xfrm>
            <a:off x="6019800" y="2133600"/>
            <a:ext cx="2819400" cy="75882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3. C increases its sequence number to C-592 then broadcasts its new table.</a:t>
            </a:r>
            <a:endParaRPr lang="en-GB" altLang="zh-TW" sz="1400">
              <a:ea typeface="PMingLiU" pitchFamily="18" charset="-120"/>
            </a:endParaRPr>
          </a:p>
        </p:txBody>
      </p:sp>
      <p:sp>
        <p:nvSpPr>
          <p:cNvPr id="78147" name="Line 323"/>
          <p:cNvSpPr>
            <a:spLocks noChangeShapeType="1"/>
          </p:cNvSpPr>
          <p:nvPr/>
        </p:nvSpPr>
        <p:spPr bwMode="auto">
          <a:xfrm flipH="1">
            <a:off x="6172200" y="2895600"/>
            <a:ext cx="685800" cy="990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8148" name="Text Box 324"/>
          <p:cNvSpPr txBox="1">
            <a:spLocks noChangeArrowheads="1"/>
          </p:cNvSpPr>
          <p:nvPr/>
        </p:nvSpPr>
        <p:spPr bwMode="auto">
          <a:xfrm>
            <a:off x="2209800" y="2590800"/>
            <a:ext cx="2819400" cy="5461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4. B gets this new information and updates its table…….</a:t>
            </a:r>
            <a:endParaRPr lang="en-GB" altLang="zh-TW" sz="1400">
              <a:ea typeface="PMingLiU" pitchFamily="18" charset="-120"/>
            </a:endParaRPr>
          </a:p>
        </p:txBody>
      </p:sp>
      <p:sp>
        <p:nvSpPr>
          <p:cNvPr id="78149" name="Line 325"/>
          <p:cNvSpPr>
            <a:spLocks noChangeShapeType="1"/>
          </p:cNvSpPr>
          <p:nvPr/>
        </p:nvSpPr>
        <p:spPr bwMode="auto">
          <a:xfrm>
            <a:off x="3048000" y="3124200"/>
            <a:ext cx="609600" cy="1981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37" name="Text Box 89"/>
          <p:cNvSpPr txBox="1">
            <a:spLocks noChangeArrowheads="1"/>
          </p:cNvSpPr>
          <p:nvPr/>
        </p:nvSpPr>
        <p:spPr bwMode="auto">
          <a:xfrm>
            <a:off x="4191000" y="4343400"/>
            <a:ext cx="120808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</a:rPr>
              <a:t>(D, 2, D-100)</a:t>
            </a:r>
            <a:endParaRPr lang="en-GB" altLang="zh-TW" sz="14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78940" name="Text Box 92"/>
          <p:cNvSpPr txBox="1">
            <a:spLocks noChangeArrowheads="1"/>
          </p:cNvSpPr>
          <p:nvPr/>
        </p:nvSpPr>
        <p:spPr bwMode="auto">
          <a:xfrm>
            <a:off x="2514600" y="4343400"/>
            <a:ext cx="120808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2"/>
                </a:solidFill>
              </a:rPr>
              <a:t>(D, 2, D-100)</a:t>
            </a:r>
            <a:endParaRPr lang="en-GB" altLang="zh-TW" sz="14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357166"/>
            <a:ext cx="8477280" cy="78581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 </a:t>
            </a:r>
            <a:r>
              <a:rPr lang="en-US" sz="2400" dirty="0">
                <a:solidFill>
                  <a:srgbClr val="C00000"/>
                </a:solidFill>
              </a:rPr>
              <a:t>(no loops, no count to infinity)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78851" name="Line 3"/>
          <p:cNvSpPr>
            <a:spLocks noChangeShapeType="1"/>
          </p:cNvSpPr>
          <p:nvPr/>
        </p:nvSpPr>
        <p:spPr bwMode="auto">
          <a:xfrm>
            <a:off x="39624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5943600" y="50561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C</a:t>
            </a:r>
            <a:endParaRPr lang="en-GB" altLang="zh-TW" sz="18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17526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3733800" y="50561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2"/>
                </a:solidFill>
              </a:rPr>
              <a:t>B</a:t>
            </a:r>
            <a:endParaRPr lang="en-GB" altLang="zh-TW" sz="18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78857" name="Oval 9"/>
          <p:cNvSpPr>
            <a:spLocks noChangeArrowheads="1"/>
          </p:cNvSpPr>
          <p:nvPr/>
        </p:nvSpPr>
        <p:spPr bwMode="auto">
          <a:xfrm flipV="1">
            <a:off x="3810000" y="4827588"/>
            <a:ext cx="203200" cy="203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8858" name="Oval 10"/>
          <p:cNvSpPr>
            <a:spLocks noChangeArrowheads="1"/>
          </p:cNvSpPr>
          <p:nvPr/>
        </p:nvSpPr>
        <p:spPr bwMode="auto">
          <a:xfrm flipV="1">
            <a:off x="1600200" y="4827588"/>
            <a:ext cx="200025" cy="2000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1524000" y="50561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A</a:t>
            </a:r>
            <a:endParaRPr lang="en-GB" altLang="zh-TW" sz="1800">
              <a:solidFill>
                <a:schemeClr val="accent2"/>
              </a:solidFill>
              <a:ea typeface="PMingLiU" pitchFamily="18" charset="-120"/>
            </a:endParaRP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8153400" y="49799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1"/>
                </a:solidFill>
              </a:rPr>
              <a:t>D</a:t>
            </a:r>
            <a:endParaRPr lang="en-GB" altLang="zh-TW" sz="18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78862" name="Line 14"/>
          <p:cNvSpPr>
            <a:spLocks noChangeShapeType="1"/>
          </p:cNvSpPr>
          <p:nvPr/>
        </p:nvSpPr>
        <p:spPr bwMode="auto">
          <a:xfrm>
            <a:off x="6172200" y="4903788"/>
            <a:ext cx="2133600" cy="0"/>
          </a:xfrm>
          <a:prstGeom prst="lin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8863" name="Oval 15"/>
          <p:cNvSpPr>
            <a:spLocks noChangeArrowheads="1"/>
          </p:cNvSpPr>
          <p:nvPr/>
        </p:nvSpPr>
        <p:spPr bwMode="auto">
          <a:xfrm flipV="1">
            <a:off x="8229600" y="4827588"/>
            <a:ext cx="193675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79025" name="Group 177"/>
          <p:cNvGraphicFramePr>
            <a:graphicFrameLocks noGrp="1"/>
          </p:cNvGraphicFramePr>
          <p:nvPr/>
        </p:nvGraphicFramePr>
        <p:xfrm>
          <a:off x="3200400" y="5410200"/>
          <a:ext cx="1981200" cy="685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027" name="Group 179"/>
          <p:cNvGraphicFramePr>
            <a:graphicFrameLocks noGrp="1"/>
          </p:cNvGraphicFramePr>
          <p:nvPr/>
        </p:nvGraphicFramePr>
        <p:xfrm>
          <a:off x="838200" y="5410200"/>
          <a:ext cx="1981200" cy="685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8909" name="Oval 61"/>
          <p:cNvSpPr>
            <a:spLocks noChangeArrowheads="1"/>
          </p:cNvSpPr>
          <p:nvPr/>
        </p:nvSpPr>
        <p:spPr bwMode="auto">
          <a:xfrm flipV="1">
            <a:off x="6019800" y="4827588"/>
            <a:ext cx="193675" cy="1936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78938" name="Line 90"/>
          <p:cNvSpPr>
            <a:spLocks noChangeShapeType="1"/>
          </p:cNvSpPr>
          <p:nvPr/>
        </p:nvSpPr>
        <p:spPr bwMode="auto">
          <a:xfrm flipH="1">
            <a:off x="4114800" y="4648200"/>
            <a:ext cx="1828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8941" name="Line 93"/>
          <p:cNvSpPr>
            <a:spLocks noChangeShapeType="1"/>
          </p:cNvSpPr>
          <p:nvPr/>
        </p:nvSpPr>
        <p:spPr bwMode="auto">
          <a:xfrm flipH="1">
            <a:off x="1905000" y="4648200"/>
            <a:ext cx="1828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graphicFrame>
        <p:nvGraphicFramePr>
          <p:cNvPr id="79026" name="Group 178"/>
          <p:cNvGraphicFramePr>
            <a:graphicFrameLocks noGrp="1"/>
          </p:cNvGraphicFramePr>
          <p:nvPr/>
        </p:nvGraphicFramePr>
        <p:xfrm>
          <a:off x="5562600" y="5410200"/>
          <a:ext cx="1981200" cy="685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endParaRPr kumimoji="0" lang="zh-TW" alt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sym typeface="Symbol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D-101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9020" name="Text Box 172"/>
          <p:cNvSpPr txBox="1">
            <a:spLocks noChangeArrowheads="1"/>
          </p:cNvSpPr>
          <p:nvPr/>
        </p:nvSpPr>
        <p:spPr bwMode="auto">
          <a:xfrm>
            <a:off x="6172200" y="3352800"/>
            <a:ext cx="2667000" cy="1093788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1. Node C detects broken Link:</a:t>
            </a:r>
            <a:br>
              <a:rPr lang="en-US" sz="1400"/>
            </a:br>
            <a:r>
              <a:rPr lang="en-US" sz="1400"/>
              <a:t>-&gt; Increase Seq. Nr. by 1</a:t>
            </a:r>
            <a:br>
              <a:rPr lang="en-US" sz="1400"/>
            </a:br>
            <a:r>
              <a:rPr lang="en-US" sz="1200"/>
              <a:t>(only case where not the destination sets the sequence number -&gt; odd number)</a:t>
            </a:r>
            <a:endParaRPr lang="en-GB" altLang="zh-TW" sz="1200">
              <a:ea typeface="PMingLiU" pitchFamily="18" charset="-120"/>
            </a:endParaRPr>
          </a:p>
        </p:txBody>
      </p:sp>
      <p:sp>
        <p:nvSpPr>
          <p:cNvPr id="79024" name="Text Box 176"/>
          <p:cNvSpPr txBox="1">
            <a:spLocks noChangeArrowheads="1"/>
          </p:cNvSpPr>
          <p:nvPr/>
        </p:nvSpPr>
        <p:spPr bwMode="auto">
          <a:xfrm>
            <a:off x="2819400" y="2590800"/>
            <a:ext cx="2819400" cy="112395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2. B does its broadcast</a:t>
            </a:r>
            <a:br>
              <a:rPr lang="en-US" sz="1400"/>
            </a:br>
            <a:r>
              <a:rPr lang="en-US" sz="1400"/>
              <a:t>-&gt; no affect on C  </a:t>
            </a:r>
            <a:r>
              <a:rPr lang="en-US" sz="1200"/>
              <a:t>(C knows that B has stale information because C has higher seq. number for destination D)</a:t>
            </a:r>
            <a:br>
              <a:rPr lang="en-US" sz="1200"/>
            </a:br>
            <a:r>
              <a:rPr lang="en-US" sz="1200"/>
              <a:t> </a:t>
            </a:r>
            <a:r>
              <a:rPr lang="en-US" sz="1400"/>
              <a:t>-&gt; no loop -&gt; no count to infinity</a:t>
            </a:r>
            <a:endParaRPr lang="en-GB" altLang="zh-TW" sz="1400">
              <a:ea typeface="PMingLiU" pitchFamily="18" charset="-120"/>
            </a:endParaRPr>
          </a:p>
        </p:txBody>
      </p:sp>
      <p:grpSp>
        <p:nvGrpSpPr>
          <p:cNvPr id="2" name="Group 180"/>
          <p:cNvGrpSpPr>
            <a:grpSpLocks/>
          </p:cNvGrpSpPr>
          <p:nvPr/>
        </p:nvGrpSpPr>
        <p:grpSpPr bwMode="auto">
          <a:xfrm>
            <a:off x="7380288" y="4581525"/>
            <a:ext cx="433387" cy="719138"/>
            <a:chOff x="1791" y="1888"/>
            <a:chExt cx="273" cy="453"/>
          </a:xfrm>
        </p:grpSpPr>
        <p:sp>
          <p:nvSpPr>
            <p:cNvPr id="79029" name="Line 181"/>
            <p:cNvSpPr>
              <a:spLocks noChangeShapeType="1"/>
            </p:cNvSpPr>
            <p:nvPr/>
          </p:nvSpPr>
          <p:spPr bwMode="auto">
            <a:xfrm>
              <a:off x="1791" y="1933"/>
              <a:ext cx="273" cy="36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79030" name="Line 182"/>
            <p:cNvSpPr>
              <a:spLocks noChangeShapeType="1"/>
            </p:cNvSpPr>
            <p:nvPr/>
          </p:nvSpPr>
          <p:spPr bwMode="auto">
            <a:xfrm flipH="1">
              <a:off x="1791" y="1888"/>
              <a:ext cx="227" cy="45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37" grpId="0" animBg="1" autoUpdateAnimBg="0"/>
      <p:bldP spid="78940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24" name="Text Box 128"/>
          <p:cNvSpPr txBox="1">
            <a:spLocks noChangeArrowheads="1"/>
          </p:cNvSpPr>
          <p:nvPr/>
        </p:nvSpPr>
        <p:spPr bwMode="auto">
          <a:xfrm>
            <a:off x="4572000" y="4340225"/>
            <a:ext cx="123666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(D, </a:t>
            </a:r>
            <a:r>
              <a:rPr lang="en-US" sz="1400" b="1">
                <a:solidFill>
                  <a:schemeClr val="tx2"/>
                </a:solidFill>
                <a:sym typeface="Symbol" pitchFamily="18" charset="2"/>
              </a:rPr>
              <a:t></a:t>
            </a:r>
            <a:r>
              <a:rPr lang="en-US" sz="1400">
                <a:solidFill>
                  <a:schemeClr val="tx2"/>
                </a:solidFill>
              </a:rPr>
              <a:t>, D-101)</a:t>
            </a:r>
            <a:endParaRPr lang="en-GB" altLang="zh-TW" sz="14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81026" name="Text Box 130"/>
          <p:cNvSpPr txBox="1">
            <a:spLocks noChangeArrowheads="1"/>
          </p:cNvSpPr>
          <p:nvPr/>
        </p:nvSpPr>
        <p:spPr bwMode="auto">
          <a:xfrm>
            <a:off x="2514600" y="4340225"/>
            <a:ext cx="1107996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C00000"/>
                </a:solidFill>
              </a:rPr>
              <a:t>(D, </a:t>
            </a:r>
            <a:r>
              <a:rPr lang="en-US" sz="1400" b="1">
                <a:solidFill>
                  <a:srgbClr val="C00000"/>
                </a:solidFill>
                <a:sym typeface="Symbol" pitchFamily="18" charset="2"/>
              </a:rPr>
              <a:t></a:t>
            </a:r>
            <a:r>
              <a:rPr lang="en-US" sz="1400">
                <a:solidFill>
                  <a:srgbClr val="C00000"/>
                </a:solidFill>
              </a:rPr>
              <a:t>, D-101)</a:t>
            </a:r>
            <a:endParaRPr lang="en-GB" altLang="zh-TW" sz="140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428604"/>
            <a:ext cx="8324880" cy="57150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 </a:t>
            </a:r>
            <a:r>
              <a:rPr lang="en-US" sz="2400" dirty="0">
                <a:solidFill>
                  <a:srgbClr val="C00000"/>
                </a:solidFill>
              </a:rPr>
              <a:t>(Immediate Advertisement)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80899" name="Line 3"/>
          <p:cNvSpPr>
            <a:spLocks noChangeShapeType="1"/>
          </p:cNvSpPr>
          <p:nvPr/>
        </p:nvSpPr>
        <p:spPr bwMode="auto">
          <a:xfrm>
            <a:off x="39624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5943600" y="50561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C</a:t>
            </a:r>
            <a:endParaRPr lang="en-GB" altLang="zh-TW" sz="1800">
              <a:solidFill>
                <a:schemeClr val="tx2"/>
              </a:solidFill>
              <a:ea typeface="PMingLiU" pitchFamily="18" charset="-120"/>
            </a:endParaRPr>
          </a:p>
        </p:txBody>
      </p:sp>
      <p:sp>
        <p:nvSpPr>
          <p:cNvPr id="80903" name="Line 7"/>
          <p:cNvSpPr>
            <a:spLocks noChangeShapeType="1"/>
          </p:cNvSpPr>
          <p:nvPr/>
        </p:nvSpPr>
        <p:spPr bwMode="auto">
          <a:xfrm>
            <a:off x="1752600" y="4903788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3733800" y="50561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2"/>
                </a:solidFill>
              </a:rPr>
              <a:t>B</a:t>
            </a:r>
            <a:endParaRPr lang="en-GB" altLang="zh-TW" sz="1800">
              <a:solidFill>
                <a:schemeClr val="bg2"/>
              </a:solidFill>
              <a:ea typeface="PMingLiU" pitchFamily="18" charset="-120"/>
            </a:endParaRPr>
          </a:p>
        </p:txBody>
      </p:sp>
      <p:sp>
        <p:nvSpPr>
          <p:cNvPr id="80905" name="Oval 9"/>
          <p:cNvSpPr>
            <a:spLocks noChangeArrowheads="1"/>
          </p:cNvSpPr>
          <p:nvPr/>
        </p:nvSpPr>
        <p:spPr bwMode="auto">
          <a:xfrm flipV="1">
            <a:off x="3810000" y="4827588"/>
            <a:ext cx="203200" cy="203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0906" name="Oval 10"/>
          <p:cNvSpPr>
            <a:spLocks noChangeArrowheads="1"/>
          </p:cNvSpPr>
          <p:nvPr/>
        </p:nvSpPr>
        <p:spPr bwMode="auto">
          <a:xfrm flipV="1">
            <a:off x="1600200" y="4827588"/>
            <a:ext cx="200025" cy="2000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1524000" y="5056188"/>
            <a:ext cx="336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A</a:t>
            </a:r>
            <a:endParaRPr lang="en-GB" altLang="zh-TW" sz="1800">
              <a:solidFill>
                <a:schemeClr val="accent2"/>
              </a:solidFill>
              <a:ea typeface="PMingLiU" pitchFamily="18" charset="-120"/>
            </a:endParaRPr>
          </a:p>
        </p:txBody>
      </p:sp>
      <p:sp>
        <p:nvSpPr>
          <p:cNvPr id="80908" name="Text Box 12"/>
          <p:cNvSpPr txBox="1">
            <a:spLocks noChangeArrowheads="1"/>
          </p:cNvSpPr>
          <p:nvPr/>
        </p:nvSpPr>
        <p:spPr bwMode="auto">
          <a:xfrm>
            <a:off x="8153400" y="497998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accent1"/>
                </a:solidFill>
              </a:rPr>
              <a:t>D</a:t>
            </a:r>
            <a:endParaRPr lang="en-GB" altLang="zh-TW" sz="18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80910" name="Line 14"/>
          <p:cNvSpPr>
            <a:spLocks noChangeShapeType="1"/>
          </p:cNvSpPr>
          <p:nvPr/>
        </p:nvSpPr>
        <p:spPr bwMode="auto">
          <a:xfrm>
            <a:off x="6172200" y="4903788"/>
            <a:ext cx="2133600" cy="0"/>
          </a:xfrm>
          <a:prstGeom prst="lin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0911" name="Oval 15"/>
          <p:cNvSpPr>
            <a:spLocks noChangeArrowheads="1"/>
          </p:cNvSpPr>
          <p:nvPr/>
        </p:nvSpPr>
        <p:spPr bwMode="auto">
          <a:xfrm flipV="1">
            <a:off x="8229600" y="4827588"/>
            <a:ext cx="193675" cy="193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0912" name="Group 16"/>
          <p:cNvGraphicFramePr>
            <a:graphicFrameLocks noGrp="1"/>
          </p:cNvGraphicFramePr>
          <p:nvPr/>
        </p:nvGraphicFramePr>
        <p:xfrm>
          <a:off x="3200400" y="5410200"/>
          <a:ext cx="1981200" cy="6858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934" name="Group 38"/>
          <p:cNvGraphicFramePr>
            <a:graphicFrameLocks noGrp="1"/>
          </p:cNvGraphicFramePr>
          <p:nvPr/>
        </p:nvGraphicFramePr>
        <p:xfrm>
          <a:off x="838200" y="5410200"/>
          <a:ext cx="1981200" cy="6477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0956" name="Oval 60"/>
          <p:cNvSpPr>
            <a:spLocks noChangeArrowheads="1"/>
          </p:cNvSpPr>
          <p:nvPr/>
        </p:nvSpPr>
        <p:spPr bwMode="auto">
          <a:xfrm flipV="1">
            <a:off x="6019800" y="4827588"/>
            <a:ext cx="193675" cy="1936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80964" name="Group 68"/>
          <p:cNvGraphicFramePr>
            <a:graphicFrameLocks noGrp="1"/>
          </p:cNvGraphicFramePr>
          <p:nvPr/>
        </p:nvGraphicFramePr>
        <p:xfrm>
          <a:off x="5562600" y="5410200"/>
          <a:ext cx="1981200" cy="6477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sym typeface="Symbol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165" name="Group 269"/>
          <p:cNvGraphicFramePr>
            <a:graphicFrameLocks noGrp="1"/>
          </p:cNvGraphicFramePr>
          <p:nvPr/>
        </p:nvGraphicFramePr>
        <p:xfrm>
          <a:off x="5562600" y="5410200"/>
          <a:ext cx="1981200" cy="93345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de-CH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1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sym typeface="Symbol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PMingLiU" pitchFamily="18" charset="-12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PMingLiU" pitchFamily="18" charset="-12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endParaRPr kumimoji="0" lang="zh-TW" alt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sym typeface="Symbol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D-101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81010" name="Text Box 114"/>
          <p:cNvSpPr txBox="1">
            <a:spLocks noChangeArrowheads="1"/>
          </p:cNvSpPr>
          <p:nvPr/>
        </p:nvSpPr>
        <p:spPr bwMode="auto">
          <a:xfrm>
            <a:off x="6248400" y="3352800"/>
            <a:ext cx="2667000" cy="1093788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1. Node C detects broken Link:</a:t>
            </a:r>
            <a:br>
              <a:rPr lang="en-US" sz="1400"/>
            </a:br>
            <a:r>
              <a:rPr lang="en-US" sz="1400"/>
              <a:t>-&gt; Increase Seq. Nr. by 1</a:t>
            </a:r>
            <a:br>
              <a:rPr lang="en-US" sz="1400"/>
            </a:br>
            <a:r>
              <a:rPr lang="en-US" sz="1200"/>
              <a:t>(only case where not the destination sets the sequence number -&gt; odd number)</a:t>
            </a:r>
            <a:endParaRPr lang="en-GB" altLang="zh-TW" sz="1200">
              <a:ea typeface="PMingLiU" pitchFamily="18" charset="-120"/>
            </a:endParaRPr>
          </a:p>
        </p:txBody>
      </p:sp>
      <p:sp>
        <p:nvSpPr>
          <p:cNvPr id="81027" name="Line 131"/>
          <p:cNvSpPr>
            <a:spLocks noChangeShapeType="1"/>
          </p:cNvSpPr>
          <p:nvPr/>
        </p:nvSpPr>
        <p:spPr bwMode="auto">
          <a:xfrm flipH="1">
            <a:off x="1905000" y="4648200"/>
            <a:ext cx="1828800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1018" name="Text Box 122"/>
          <p:cNvSpPr txBox="1">
            <a:spLocks noChangeArrowheads="1"/>
          </p:cNvSpPr>
          <p:nvPr/>
        </p:nvSpPr>
        <p:spPr bwMode="auto">
          <a:xfrm>
            <a:off x="1219200" y="2590800"/>
            <a:ext cx="2362200" cy="9112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3. Immediate propagation </a:t>
            </a:r>
            <a:br>
              <a:rPr lang="en-US" sz="1400"/>
            </a:br>
            <a:r>
              <a:rPr lang="en-US" sz="1400"/>
              <a:t>B to A:</a:t>
            </a:r>
            <a:br>
              <a:rPr lang="en-US" sz="1400"/>
            </a:br>
            <a:r>
              <a:rPr lang="en-US" sz="1200"/>
              <a:t>(update information has higher Seq. Nr. -&gt; replace table entry)</a:t>
            </a:r>
            <a:endParaRPr lang="en-GB" altLang="zh-TW" sz="1200">
              <a:ea typeface="PMingLiU" pitchFamily="18" charset="-120"/>
            </a:endParaRPr>
          </a:p>
        </p:txBody>
      </p:sp>
      <p:sp>
        <p:nvSpPr>
          <p:cNvPr id="81030" name="Line 134"/>
          <p:cNvSpPr>
            <a:spLocks noChangeShapeType="1"/>
          </p:cNvSpPr>
          <p:nvPr/>
        </p:nvSpPr>
        <p:spPr bwMode="auto">
          <a:xfrm>
            <a:off x="2514600" y="3505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1025" name="Line 129"/>
          <p:cNvSpPr>
            <a:spLocks noChangeShapeType="1"/>
          </p:cNvSpPr>
          <p:nvPr/>
        </p:nvSpPr>
        <p:spPr bwMode="auto">
          <a:xfrm flipH="1">
            <a:off x="3962400" y="4648200"/>
            <a:ext cx="18288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1014" name="Text Box 118"/>
          <p:cNvSpPr txBox="1">
            <a:spLocks noChangeArrowheads="1"/>
          </p:cNvSpPr>
          <p:nvPr/>
        </p:nvSpPr>
        <p:spPr bwMode="auto">
          <a:xfrm>
            <a:off x="3733800" y="2590800"/>
            <a:ext cx="2362200" cy="9112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2. Immediate propagation</a:t>
            </a:r>
            <a:br>
              <a:rPr lang="en-US" sz="1400"/>
            </a:br>
            <a:r>
              <a:rPr lang="en-US" sz="1400"/>
              <a:t>C to B:</a:t>
            </a:r>
            <a:br>
              <a:rPr lang="en-US" sz="1400"/>
            </a:br>
            <a:r>
              <a:rPr lang="en-US" sz="1200"/>
              <a:t>(update information has higher Seq. Nr. -&gt; replace table entry)</a:t>
            </a:r>
            <a:endParaRPr lang="en-GB" altLang="zh-TW" sz="1200">
              <a:ea typeface="PMingLiU" pitchFamily="18" charset="-120"/>
            </a:endParaRPr>
          </a:p>
        </p:txBody>
      </p:sp>
      <p:sp>
        <p:nvSpPr>
          <p:cNvPr id="81031" name="Line 135"/>
          <p:cNvSpPr>
            <a:spLocks noChangeShapeType="1"/>
          </p:cNvSpPr>
          <p:nvPr/>
        </p:nvSpPr>
        <p:spPr bwMode="auto">
          <a:xfrm>
            <a:off x="4724400" y="3505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graphicFrame>
        <p:nvGraphicFramePr>
          <p:cNvPr id="81151" name="Group 255"/>
          <p:cNvGraphicFramePr>
            <a:graphicFrameLocks noGrp="1"/>
          </p:cNvGraphicFramePr>
          <p:nvPr/>
        </p:nvGraphicFramePr>
        <p:xfrm>
          <a:off x="3200400" y="5410200"/>
          <a:ext cx="1981200" cy="93345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CH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...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2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sym typeface="Symbol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endParaRPr kumimoji="0" lang="zh-TW" alt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sym typeface="Symbol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D-101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150" name="Group 254"/>
          <p:cNvGraphicFramePr>
            <a:graphicFrameLocks noGrp="1"/>
          </p:cNvGraphicFramePr>
          <p:nvPr/>
        </p:nvGraphicFramePr>
        <p:xfrm>
          <a:off x="838200" y="5410200"/>
          <a:ext cx="1981200" cy="93345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533400"/>
                <a:gridCol w="5334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Dest.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Next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Metric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</a:rPr>
                        <a:t>Seq.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  <a:endParaRPr kumimoji="0" lang="zh-TW" altLang="en-GB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de-CH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...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PMingLiU" pitchFamily="18" charset="-120"/>
                          <a:sym typeface="Symbol" pitchFamily="18" charset="2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D-100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endParaRPr kumimoji="0" lang="zh-TW" altLang="en-GB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PMingLiU" pitchFamily="18" charset="-120"/>
                        <a:sym typeface="Symbol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D-101</a:t>
                      </a:r>
                      <a:endParaRPr kumimoji="0" lang="en-GB" altLang="zh-TW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PMingLiU" pitchFamily="18" charset="-12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81152" name="Line 256"/>
          <p:cNvSpPr>
            <a:spLocks noChangeShapeType="1"/>
          </p:cNvSpPr>
          <p:nvPr/>
        </p:nvSpPr>
        <p:spPr bwMode="auto">
          <a:xfrm>
            <a:off x="762000" y="5943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1153" name="Line 257"/>
          <p:cNvSpPr>
            <a:spLocks noChangeShapeType="1"/>
          </p:cNvSpPr>
          <p:nvPr/>
        </p:nvSpPr>
        <p:spPr bwMode="auto">
          <a:xfrm>
            <a:off x="3124200" y="5943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1166" name="Line 270"/>
          <p:cNvSpPr>
            <a:spLocks noChangeShapeType="1"/>
          </p:cNvSpPr>
          <p:nvPr/>
        </p:nvSpPr>
        <p:spPr bwMode="auto">
          <a:xfrm>
            <a:off x="5486400" y="5943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grpSp>
        <p:nvGrpSpPr>
          <p:cNvPr id="2" name="Group 271"/>
          <p:cNvGrpSpPr>
            <a:grpSpLocks/>
          </p:cNvGrpSpPr>
          <p:nvPr/>
        </p:nvGrpSpPr>
        <p:grpSpPr bwMode="auto">
          <a:xfrm>
            <a:off x="7380288" y="4581525"/>
            <a:ext cx="433387" cy="719138"/>
            <a:chOff x="1791" y="1888"/>
            <a:chExt cx="273" cy="453"/>
          </a:xfrm>
        </p:grpSpPr>
        <p:sp>
          <p:nvSpPr>
            <p:cNvPr id="81168" name="Line 272"/>
            <p:cNvSpPr>
              <a:spLocks noChangeShapeType="1"/>
            </p:cNvSpPr>
            <p:nvPr/>
          </p:nvSpPr>
          <p:spPr bwMode="auto">
            <a:xfrm>
              <a:off x="1791" y="1933"/>
              <a:ext cx="273" cy="36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81169" name="Line 273"/>
            <p:cNvSpPr>
              <a:spLocks noChangeShapeType="1"/>
            </p:cNvSpPr>
            <p:nvPr/>
          </p:nvSpPr>
          <p:spPr bwMode="auto">
            <a:xfrm flipH="1">
              <a:off x="1791" y="1888"/>
              <a:ext cx="227" cy="45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85" name="Line 73"/>
          <p:cNvSpPr>
            <a:spLocks noChangeShapeType="1"/>
          </p:cNvSpPr>
          <p:nvPr/>
        </p:nvSpPr>
        <p:spPr bwMode="auto">
          <a:xfrm>
            <a:off x="762000" y="4343400"/>
            <a:ext cx="609600" cy="963613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0183" name="Line 71"/>
          <p:cNvSpPr>
            <a:spLocks noChangeShapeType="1"/>
          </p:cNvSpPr>
          <p:nvPr/>
        </p:nvSpPr>
        <p:spPr bwMode="auto">
          <a:xfrm flipH="1">
            <a:off x="609600" y="3200400"/>
            <a:ext cx="152400" cy="7620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428604"/>
            <a:ext cx="8548718" cy="64294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</a:t>
            </a:r>
            <a:r>
              <a:rPr lang="en-US" sz="40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(Problem of Fluctuations)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90142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2895600" y="1142984"/>
            <a:ext cx="5638800" cy="5410216"/>
          </a:xfrm>
          <a:noFill/>
          <a:ln/>
        </p:spPr>
        <p:txBody>
          <a:bodyPr>
            <a:noAutofit/>
          </a:bodyPr>
          <a:lstStyle/>
          <a:p>
            <a:pPr>
              <a:buFont typeface="Wingdings" pitchFamily="2" charset="2"/>
              <a:buNone/>
            </a:pPr>
            <a:r>
              <a:rPr lang="en-US" sz="2000" dirty="0"/>
              <a:t>What are Fluctuations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Entry for D in A: [D</a:t>
            </a:r>
            <a:r>
              <a:rPr lang="en-US" sz="2000" dirty="0">
                <a:solidFill>
                  <a:schemeClr val="tx1"/>
                </a:solidFill>
              </a:rPr>
              <a:t>, Q</a:t>
            </a:r>
            <a:r>
              <a:rPr lang="en-US" sz="2000" dirty="0"/>
              <a:t>, 14, D-100]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D makes Broadcast with Seq. Nr. D-102</a:t>
            </a:r>
          </a:p>
          <a:p>
            <a:pPr lvl="1"/>
            <a:r>
              <a:rPr lang="en-US" sz="2000" dirty="0"/>
              <a:t>A receives from P Update (D, 15, D-102)</a:t>
            </a:r>
            <a:br>
              <a:rPr lang="en-US" sz="2000" dirty="0"/>
            </a:br>
            <a:r>
              <a:rPr lang="en-US" sz="2000" dirty="0"/>
              <a:t>-&gt; Entry for D in A: [D, </a:t>
            </a:r>
            <a:r>
              <a:rPr lang="en-US" sz="2000" dirty="0">
                <a:solidFill>
                  <a:schemeClr val="tx2"/>
                </a:solidFill>
              </a:rPr>
              <a:t>P</a:t>
            </a:r>
            <a:r>
              <a:rPr lang="en-US" sz="2000" dirty="0"/>
              <a:t>, 15, D-102] </a:t>
            </a:r>
            <a:br>
              <a:rPr lang="en-US" sz="2000" dirty="0"/>
            </a:br>
            <a:r>
              <a:rPr lang="en-US" sz="2000" dirty="0"/>
              <a:t>A must propagate this route immediately.</a:t>
            </a:r>
          </a:p>
          <a:p>
            <a:pPr lvl="1"/>
            <a:r>
              <a:rPr lang="en-US" sz="2000" dirty="0"/>
              <a:t>A receives from Q Update (D, 14, D-102)</a:t>
            </a:r>
            <a:br>
              <a:rPr lang="en-US" sz="2000" dirty="0"/>
            </a:br>
            <a:r>
              <a:rPr lang="en-US" sz="2000" dirty="0"/>
              <a:t>-&gt; Entry for D in A: [D, </a:t>
            </a:r>
            <a:r>
              <a:rPr lang="en-US" sz="2000" dirty="0">
                <a:solidFill>
                  <a:schemeClr val="tx1"/>
                </a:solidFill>
              </a:rPr>
              <a:t>Q,</a:t>
            </a:r>
            <a:r>
              <a:rPr lang="en-US" sz="2000" dirty="0"/>
              <a:t> 14, D-102]</a:t>
            </a:r>
            <a:br>
              <a:rPr lang="en-US" sz="2000" dirty="0"/>
            </a:br>
            <a:r>
              <a:rPr lang="en-US" sz="2000" dirty="0"/>
              <a:t>A must propagate this route immediately.</a:t>
            </a:r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>
              <a:buFont typeface="Wingdings" pitchFamily="2" charset="2"/>
              <a:buNone/>
            </a:pPr>
            <a:r>
              <a:rPr lang="en-US" sz="2000" dirty="0"/>
              <a:t>	This can happen every time D or any other node does its broadcast and lead to unnecessary route advertisements in the network, so called fluctuations. </a:t>
            </a:r>
          </a:p>
        </p:txBody>
      </p:sp>
      <p:sp>
        <p:nvSpPr>
          <p:cNvPr id="90143" name="Line 31"/>
          <p:cNvSpPr>
            <a:spLocks noChangeShapeType="1"/>
          </p:cNvSpPr>
          <p:nvPr/>
        </p:nvSpPr>
        <p:spPr bwMode="auto">
          <a:xfrm flipH="1" flipV="1">
            <a:off x="1497013" y="2679700"/>
            <a:ext cx="681037" cy="417513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0146" name="Oval 34"/>
          <p:cNvSpPr>
            <a:spLocks noChangeArrowheads="1"/>
          </p:cNvSpPr>
          <p:nvPr/>
        </p:nvSpPr>
        <p:spPr bwMode="auto">
          <a:xfrm flipH="1" flipV="1">
            <a:off x="2133600" y="2971800"/>
            <a:ext cx="152400" cy="1603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0152" name="Line 40"/>
          <p:cNvSpPr>
            <a:spLocks noChangeShapeType="1"/>
          </p:cNvSpPr>
          <p:nvPr/>
        </p:nvSpPr>
        <p:spPr bwMode="auto">
          <a:xfrm flipH="1">
            <a:off x="762000" y="2743200"/>
            <a:ext cx="695325" cy="382588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0153" name="Oval 41"/>
          <p:cNvSpPr>
            <a:spLocks noChangeArrowheads="1"/>
          </p:cNvSpPr>
          <p:nvPr/>
        </p:nvSpPr>
        <p:spPr bwMode="auto">
          <a:xfrm flipH="1" flipV="1">
            <a:off x="700088" y="3062288"/>
            <a:ext cx="138112" cy="1381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0160" name="Oval 48"/>
          <p:cNvSpPr>
            <a:spLocks noChangeArrowheads="1"/>
          </p:cNvSpPr>
          <p:nvPr/>
        </p:nvSpPr>
        <p:spPr bwMode="auto">
          <a:xfrm flipH="1" flipV="1">
            <a:off x="1295400" y="518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0161" name="Line 49"/>
          <p:cNvSpPr>
            <a:spLocks noChangeShapeType="1"/>
          </p:cNvSpPr>
          <p:nvPr/>
        </p:nvSpPr>
        <p:spPr bwMode="auto">
          <a:xfrm flipH="1">
            <a:off x="1371600" y="4495800"/>
            <a:ext cx="1143000" cy="76200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0162" name="Line 50"/>
          <p:cNvSpPr>
            <a:spLocks noChangeShapeType="1"/>
          </p:cNvSpPr>
          <p:nvPr/>
        </p:nvSpPr>
        <p:spPr bwMode="auto">
          <a:xfrm flipH="1" flipV="1">
            <a:off x="1371600" y="5334000"/>
            <a:ext cx="0" cy="7905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0163" name="Oval 51"/>
          <p:cNvSpPr>
            <a:spLocks noChangeArrowheads="1"/>
          </p:cNvSpPr>
          <p:nvPr/>
        </p:nvSpPr>
        <p:spPr bwMode="auto">
          <a:xfrm flipH="1" flipV="1">
            <a:off x="1436688" y="2590800"/>
            <a:ext cx="163512" cy="1603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0165" name="Oval 53"/>
          <p:cNvSpPr>
            <a:spLocks noChangeArrowheads="1"/>
          </p:cNvSpPr>
          <p:nvPr/>
        </p:nvSpPr>
        <p:spPr bwMode="auto">
          <a:xfrm flipH="1" flipV="1">
            <a:off x="1309688" y="6122988"/>
            <a:ext cx="123825" cy="127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rot="10800000" wrap="none" anchor="ctr"/>
          <a:lstStyle/>
          <a:p>
            <a:pPr algn="ctr"/>
            <a:endParaRPr lang="de-CH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90167" name="Text Box 55"/>
          <p:cNvSpPr txBox="1">
            <a:spLocks noChangeArrowheads="1"/>
          </p:cNvSpPr>
          <p:nvPr/>
        </p:nvSpPr>
        <p:spPr bwMode="auto">
          <a:xfrm>
            <a:off x="1524000" y="2362200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>
                <a:solidFill>
                  <a:schemeClr val="accent2"/>
                </a:solidFill>
                <a:latin typeface="Tahoma" pitchFamily="34" charset="0"/>
              </a:rPr>
              <a:t>A</a:t>
            </a:r>
          </a:p>
        </p:txBody>
      </p:sp>
      <p:sp>
        <p:nvSpPr>
          <p:cNvPr id="90169" name="Text Box 57"/>
          <p:cNvSpPr txBox="1">
            <a:spLocks noChangeArrowheads="1"/>
          </p:cNvSpPr>
          <p:nvPr/>
        </p:nvSpPr>
        <p:spPr bwMode="auto">
          <a:xfrm>
            <a:off x="1371600" y="57912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>
                <a:solidFill>
                  <a:schemeClr val="accent1"/>
                </a:solidFill>
                <a:latin typeface="Tahoma" pitchFamily="34" charset="0"/>
              </a:rPr>
              <a:t>D</a:t>
            </a:r>
            <a:endParaRPr lang="de-CH" sz="1600">
              <a:solidFill>
                <a:schemeClr val="accent1"/>
              </a:solidFill>
              <a:latin typeface="Tahoma" pitchFamily="34" charset="0"/>
            </a:endParaRPr>
          </a:p>
        </p:txBody>
      </p:sp>
      <p:sp>
        <p:nvSpPr>
          <p:cNvPr id="90170" name="Text Box 58"/>
          <p:cNvSpPr txBox="1">
            <a:spLocks noChangeArrowheads="1"/>
          </p:cNvSpPr>
          <p:nvPr/>
        </p:nvSpPr>
        <p:spPr bwMode="auto">
          <a:xfrm>
            <a:off x="2209800" y="2743200"/>
            <a:ext cx="412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 dirty="0">
                <a:solidFill>
                  <a:srgbClr val="C00000"/>
                </a:solidFill>
                <a:latin typeface="Tahoma" pitchFamily="34" charset="0"/>
              </a:rPr>
              <a:t>Q</a:t>
            </a:r>
          </a:p>
        </p:txBody>
      </p:sp>
      <p:sp>
        <p:nvSpPr>
          <p:cNvPr id="90172" name="Text Box 60"/>
          <p:cNvSpPr txBox="1">
            <a:spLocks noChangeArrowheads="1"/>
          </p:cNvSpPr>
          <p:nvPr/>
        </p:nvSpPr>
        <p:spPr bwMode="auto">
          <a:xfrm>
            <a:off x="609600" y="26670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>
                <a:solidFill>
                  <a:schemeClr val="tx2"/>
                </a:solidFill>
                <a:latin typeface="Tahoma" pitchFamily="34" charset="0"/>
              </a:rPr>
              <a:t>P</a:t>
            </a:r>
          </a:p>
        </p:txBody>
      </p:sp>
      <p:sp>
        <p:nvSpPr>
          <p:cNvPr id="90179" name="Freeform 67"/>
          <p:cNvSpPr>
            <a:spLocks/>
          </p:cNvSpPr>
          <p:nvPr/>
        </p:nvSpPr>
        <p:spPr bwMode="auto">
          <a:xfrm>
            <a:off x="152400" y="3657600"/>
            <a:ext cx="1346200" cy="1003300"/>
          </a:xfrm>
          <a:custGeom>
            <a:avLst/>
            <a:gdLst/>
            <a:ahLst/>
            <a:cxnLst>
              <a:cxn ang="0">
                <a:pos x="144" y="120"/>
              </a:cxn>
              <a:cxn ang="0">
                <a:pos x="192" y="32"/>
              </a:cxn>
              <a:cxn ang="0">
                <a:pos x="240" y="0"/>
              </a:cxn>
              <a:cxn ang="0">
                <a:pos x="424" y="72"/>
              </a:cxn>
              <a:cxn ang="0">
                <a:pos x="520" y="24"/>
              </a:cxn>
              <a:cxn ang="0">
                <a:pos x="672" y="120"/>
              </a:cxn>
              <a:cxn ang="0">
                <a:pos x="728" y="176"/>
              </a:cxn>
              <a:cxn ang="0">
                <a:pos x="784" y="216"/>
              </a:cxn>
              <a:cxn ang="0">
                <a:pos x="848" y="280"/>
              </a:cxn>
              <a:cxn ang="0">
                <a:pos x="832" y="336"/>
              </a:cxn>
              <a:cxn ang="0">
                <a:pos x="784" y="352"/>
              </a:cxn>
              <a:cxn ang="0">
                <a:pos x="760" y="360"/>
              </a:cxn>
              <a:cxn ang="0">
                <a:pos x="728" y="528"/>
              </a:cxn>
              <a:cxn ang="0">
                <a:pos x="648" y="568"/>
              </a:cxn>
              <a:cxn ang="0">
                <a:pos x="568" y="560"/>
              </a:cxn>
              <a:cxn ang="0">
                <a:pos x="544" y="544"/>
              </a:cxn>
              <a:cxn ang="0">
                <a:pos x="528" y="640"/>
              </a:cxn>
              <a:cxn ang="0">
                <a:pos x="440" y="664"/>
              </a:cxn>
              <a:cxn ang="0">
                <a:pos x="248" y="576"/>
              </a:cxn>
              <a:cxn ang="0">
                <a:pos x="128" y="576"/>
              </a:cxn>
              <a:cxn ang="0">
                <a:pos x="80" y="528"/>
              </a:cxn>
              <a:cxn ang="0">
                <a:pos x="72" y="408"/>
              </a:cxn>
              <a:cxn ang="0">
                <a:pos x="0" y="344"/>
              </a:cxn>
              <a:cxn ang="0">
                <a:pos x="8" y="240"/>
              </a:cxn>
              <a:cxn ang="0">
                <a:pos x="144" y="120"/>
              </a:cxn>
            </a:cxnLst>
            <a:rect l="0" t="0" r="r" b="b"/>
            <a:pathLst>
              <a:path w="848" h="680">
                <a:moveTo>
                  <a:pt x="144" y="120"/>
                </a:moveTo>
                <a:cubicBezTo>
                  <a:pt x="154" y="89"/>
                  <a:pt x="167" y="54"/>
                  <a:pt x="192" y="32"/>
                </a:cubicBezTo>
                <a:cubicBezTo>
                  <a:pt x="206" y="19"/>
                  <a:pt x="240" y="0"/>
                  <a:pt x="240" y="0"/>
                </a:cubicBezTo>
                <a:cubicBezTo>
                  <a:pt x="315" y="9"/>
                  <a:pt x="371" y="19"/>
                  <a:pt x="424" y="72"/>
                </a:cubicBezTo>
                <a:cubicBezTo>
                  <a:pt x="458" y="55"/>
                  <a:pt x="482" y="33"/>
                  <a:pt x="520" y="24"/>
                </a:cubicBezTo>
                <a:cubicBezTo>
                  <a:pt x="606" y="46"/>
                  <a:pt x="617" y="47"/>
                  <a:pt x="672" y="120"/>
                </a:cubicBezTo>
                <a:cubicBezTo>
                  <a:pt x="660" y="182"/>
                  <a:pt x="669" y="164"/>
                  <a:pt x="728" y="176"/>
                </a:cubicBezTo>
                <a:cubicBezTo>
                  <a:pt x="744" y="187"/>
                  <a:pt x="771" y="204"/>
                  <a:pt x="784" y="216"/>
                </a:cubicBezTo>
                <a:cubicBezTo>
                  <a:pt x="806" y="236"/>
                  <a:pt x="848" y="280"/>
                  <a:pt x="848" y="280"/>
                </a:cubicBezTo>
                <a:cubicBezTo>
                  <a:pt x="843" y="299"/>
                  <a:pt x="845" y="321"/>
                  <a:pt x="832" y="336"/>
                </a:cubicBezTo>
                <a:cubicBezTo>
                  <a:pt x="821" y="349"/>
                  <a:pt x="800" y="347"/>
                  <a:pt x="784" y="352"/>
                </a:cubicBezTo>
                <a:cubicBezTo>
                  <a:pt x="776" y="355"/>
                  <a:pt x="760" y="360"/>
                  <a:pt x="760" y="360"/>
                </a:cubicBezTo>
                <a:cubicBezTo>
                  <a:pt x="727" y="410"/>
                  <a:pt x="767" y="489"/>
                  <a:pt x="728" y="528"/>
                </a:cubicBezTo>
                <a:cubicBezTo>
                  <a:pt x="711" y="545"/>
                  <a:pt x="670" y="559"/>
                  <a:pt x="648" y="568"/>
                </a:cubicBezTo>
                <a:cubicBezTo>
                  <a:pt x="621" y="565"/>
                  <a:pt x="594" y="566"/>
                  <a:pt x="568" y="560"/>
                </a:cubicBezTo>
                <a:cubicBezTo>
                  <a:pt x="559" y="558"/>
                  <a:pt x="548" y="535"/>
                  <a:pt x="544" y="544"/>
                </a:cubicBezTo>
                <a:cubicBezTo>
                  <a:pt x="529" y="573"/>
                  <a:pt x="544" y="612"/>
                  <a:pt x="528" y="640"/>
                </a:cubicBezTo>
                <a:cubicBezTo>
                  <a:pt x="523" y="649"/>
                  <a:pt x="452" y="662"/>
                  <a:pt x="440" y="664"/>
                </a:cubicBezTo>
                <a:cubicBezTo>
                  <a:pt x="269" y="654"/>
                  <a:pt x="317" y="680"/>
                  <a:pt x="248" y="576"/>
                </a:cubicBezTo>
                <a:cubicBezTo>
                  <a:pt x="205" y="590"/>
                  <a:pt x="188" y="599"/>
                  <a:pt x="128" y="576"/>
                </a:cubicBezTo>
                <a:cubicBezTo>
                  <a:pt x="107" y="568"/>
                  <a:pt x="80" y="528"/>
                  <a:pt x="80" y="528"/>
                </a:cubicBezTo>
                <a:cubicBezTo>
                  <a:pt x="65" y="482"/>
                  <a:pt x="65" y="457"/>
                  <a:pt x="72" y="408"/>
                </a:cubicBezTo>
                <a:cubicBezTo>
                  <a:pt x="29" y="397"/>
                  <a:pt x="20" y="383"/>
                  <a:pt x="0" y="344"/>
                </a:cubicBezTo>
                <a:cubicBezTo>
                  <a:pt x="3" y="309"/>
                  <a:pt x="2" y="274"/>
                  <a:pt x="8" y="240"/>
                </a:cubicBezTo>
                <a:cubicBezTo>
                  <a:pt x="21" y="167"/>
                  <a:pt x="84" y="146"/>
                  <a:pt x="144" y="120"/>
                </a:cubicBezTo>
                <a:close/>
              </a:path>
            </a:pathLst>
          </a:custGeom>
          <a:solidFill>
            <a:schemeClr val="bg1"/>
          </a:solidFill>
          <a:ln w="19050" cmpd="sng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0184" name="Line 72"/>
          <p:cNvSpPr>
            <a:spLocks noChangeShapeType="1"/>
          </p:cNvSpPr>
          <p:nvPr/>
        </p:nvSpPr>
        <p:spPr bwMode="auto">
          <a:xfrm>
            <a:off x="2209800" y="3124200"/>
            <a:ext cx="228600" cy="68580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0180" name="Freeform 68"/>
          <p:cNvSpPr>
            <a:spLocks/>
          </p:cNvSpPr>
          <p:nvPr/>
        </p:nvSpPr>
        <p:spPr bwMode="auto">
          <a:xfrm flipH="1" flipV="1">
            <a:off x="1752600" y="3733800"/>
            <a:ext cx="1270000" cy="927100"/>
          </a:xfrm>
          <a:custGeom>
            <a:avLst/>
            <a:gdLst/>
            <a:ahLst/>
            <a:cxnLst>
              <a:cxn ang="0">
                <a:pos x="144" y="120"/>
              </a:cxn>
              <a:cxn ang="0">
                <a:pos x="192" y="32"/>
              </a:cxn>
              <a:cxn ang="0">
                <a:pos x="240" y="0"/>
              </a:cxn>
              <a:cxn ang="0">
                <a:pos x="424" y="72"/>
              </a:cxn>
              <a:cxn ang="0">
                <a:pos x="520" y="24"/>
              </a:cxn>
              <a:cxn ang="0">
                <a:pos x="672" y="120"/>
              </a:cxn>
              <a:cxn ang="0">
                <a:pos x="728" y="176"/>
              </a:cxn>
              <a:cxn ang="0">
                <a:pos x="784" y="216"/>
              </a:cxn>
              <a:cxn ang="0">
                <a:pos x="848" y="280"/>
              </a:cxn>
              <a:cxn ang="0">
                <a:pos x="832" y="336"/>
              </a:cxn>
              <a:cxn ang="0">
                <a:pos x="784" y="352"/>
              </a:cxn>
              <a:cxn ang="0">
                <a:pos x="760" y="360"/>
              </a:cxn>
              <a:cxn ang="0">
                <a:pos x="728" y="528"/>
              </a:cxn>
              <a:cxn ang="0">
                <a:pos x="648" y="568"/>
              </a:cxn>
              <a:cxn ang="0">
                <a:pos x="568" y="560"/>
              </a:cxn>
              <a:cxn ang="0">
                <a:pos x="544" y="544"/>
              </a:cxn>
              <a:cxn ang="0">
                <a:pos x="528" y="640"/>
              </a:cxn>
              <a:cxn ang="0">
                <a:pos x="440" y="664"/>
              </a:cxn>
              <a:cxn ang="0">
                <a:pos x="248" y="576"/>
              </a:cxn>
              <a:cxn ang="0">
                <a:pos x="128" y="576"/>
              </a:cxn>
              <a:cxn ang="0">
                <a:pos x="80" y="528"/>
              </a:cxn>
              <a:cxn ang="0">
                <a:pos x="72" y="408"/>
              </a:cxn>
              <a:cxn ang="0">
                <a:pos x="0" y="344"/>
              </a:cxn>
              <a:cxn ang="0">
                <a:pos x="8" y="240"/>
              </a:cxn>
              <a:cxn ang="0">
                <a:pos x="144" y="120"/>
              </a:cxn>
            </a:cxnLst>
            <a:rect l="0" t="0" r="r" b="b"/>
            <a:pathLst>
              <a:path w="848" h="680">
                <a:moveTo>
                  <a:pt x="144" y="120"/>
                </a:moveTo>
                <a:cubicBezTo>
                  <a:pt x="154" y="89"/>
                  <a:pt x="167" y="54"/>
                  <a:pt x="192" y="32"/>
                </a:cubicBezTo>
                <a:cubicBezTo>
                  <a:pt x="206" y="19"/>
                  <a:pt x="240" y="0"/>
                  <a:pt x="240" y="0"/>
                </a:cubicBezTo>
                <a:cubicBezTo>
                  <a:pt x="315" y="9"/>
                  <a:pt x="371" y="19"/>
                  <a:pt x="424" y="72"/>
                </a:cubicBezTo>
                <a:cubicBezTo>
                  <a:pt x="458" y="55"/>
                  <a:pt x="482" y="33"/>
                  <a:pt x="520" y="24"/>
                </a:cubicBezTo>
                <a:cubicBezTo>
                  <a:pt x="606" y="46"/>
                  <a:pt x="617" y="47"/>
                  <a:pt x="672" y="120"/>
                </a:cubicBezTo>
                <a:cubicBezTo>
                  <a:pt x="660" y="182"/>
                  <a:pt x="669" y="164"/>
                  <a:pt x="728" y="176"/>
                </a:cubicBezTo>
                <a:cubicBezTo>
                  <a:pt x="744" y="187"/>
                  <a:pt x="771" y="204"/>
                  <a:pt x="784" y="216"/>
                </a:cubicBezTo>
                <a:cubicBezTo>
                  <a:pt x="806" y="236"/>
                  <a:pt x="848" y="280"/>
                  <a:pt x="848" y="280"/>
                </a:cubicBezTo>
                <a:cubicBezTo>
                  <a:pt x="843" y="299"/>
                  <a:pt x="845" y="321"/>
                  <a:pt x="832" y="336"/>
                </a:cubicBezTo>
                <a:cubicBezTo>
                  <a:pt x="821" y="349"/>
                  <a:pt x="800" y="347"/>
                  <a:pt x="784" y="352"/>
                </a:cubicBezTo>
                <a:cubicBezTo>
                  <a:pt x="776" y="355"/>
                  <a:pt x="760" y="360"/>
                  <a:pt x="760" y="360"/>
                </a:cubicBezTo>
                <a:cubicBezTo>
                  <a:pt x="727" y="410"/>
                  <a:pt x="767" y="489"/>
                  <a:pt x="728" y="528"/>
                </a:cubicBezTo>
                <a:cubicBezTo>
                  <a:pt x="711" y="545"/>
                  <a:pt x="670" y="559"/>
                  <a:pt x="648" y="568"/>
                </a:cubicBezTo>
                <a:cubicBezTo>
                  <a:pt x="621" y="565"/>
                  <a:pt x="594" y="566"/>
                  <a:pt x="568" y="560"/>
                </a:cubicBezTo>
                <a:cubicBezTo>
                  <a:pt x="559" y="558"/>
                  <a:pt x="548" y="535"/>
                  <a:pt x="544" y="544"/>
                </a:cubicBezTo>
                <a:cubicBezTo>
                  <a:pt x="529" y="573"/>
                  <a:pt x="544" y="612"/>
                  <a:pt x="528" y="640"/>
                </a:cubicBezTo>
                <a:cubicBezTo>
                  <a:pt x="523" y="649"/>
                  <a:pt x="452" y="662"/>
                  <a:pt x="440" y="664"/>
                </a:cubicBezTo>
                <a:cubicBezTo>
                  <a:pt x="269" y="654"/>
                  <a:pt x="317" y="680"/>
                  <a:pt x="248" y="576"/>
                </a:cubicBezTo>
                <a:cubicBezTo>
                  <a:pt x="205" y="590"/>
                  <a:pt x="188" y="599"/>
                  <a:pt x="128" y="576"/>
                </a:cubicBezTo>
                <a:cubicBezTo>
                  <a:pt x="107" y="568"/>
                  <a:pt x="80" y="528"/>
                  <a:pt x="80" y="528"/>
                </a:cubicBezTo>
                <a:cubicBezTo>
                  <a:pt x="65" y="482"/>
                  <a:pt x="65" y="457"/>
                  <a:pt x="72" y="408"/>
                </a:cubicBezTo>
                <a:cubicBezTo>
                  <a:pt x="29" y="397"/>
                  <a:pt x="20" y="383"/>
                  <a:pt x="0" y="344"/>
                </a:cubicBezTo>
                <a:cubicBezTo>
                  <a:pt x="3" y="309"/>
                  <a:pt x="2" y="274"/>
                  <a:pt x="8" y="240"/>
                </a:cubicBezTo>
                <a:cubicBezTo>
                  <a:pt x="21" y="167"/>
                  <a:pt x="84" y="146"/>
                  <a:pt x="144" y="120"/>
                </a:cubicBezTo>
                <a:close/>
              </a:path>
            </a:pathLst>
          </a:custGeom>
          <a:solidFill>
            <a:schemeClr val="bg1"/>
          </a:solidFill>
          <a:ln w="19050" cmpd="sng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90186" name="Text Box 74"/>
          <p:cNvSpPr txBox="1">
            <a:spLocks noChangeArrowheads="1"/>
          </p:cNvSpPr>
          <p:nvPr/>
        </p:nvSpPr>
        <p:spPr bwMode="auto">
          <a:xfrm>
            <a:off x="1981200" y="3962400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 sz="1600" dirty="0">
                <a:solidFill>
                  <a:srgbClr val="C00000"/>
                </a:solidFill>
                <a:latin typeface="Tahoma" pitchFamily="34" charset="0"/>
              </a:rPr>
              <a:t>10 Hops</a:t>
            </a:r>
          </a:p>
        </p:txBody>
      </p:sp>
      <p:sp>
        <p:nvSpPr>
          <p:cNvPr id="90188" name="Text Box 76"/>
          <p:cNvSpPr txBox="1">
            <a:spLocks noChangeArrowheads="1"/>
          </p:cNvSpPr>
          <p:nvPr/>
        </p:nvSpPr>
        <p:spPr bwMode="auto">
          <a:xfrm>
            <a:off x="304800" y="3962400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 sz="1600">
                <a:solidFill>
                  <a:schemeClr val="tx2"/>
                </a:solidFill>
                <a:latin typeface="Tahoma" pitchFamily="34" charset="0"/>
              </a:rPr>
              <a:t>11 Hops</a:t>
            </a:r>
          </a:p>
        </p:txBody>
      </p:sp>
      <p:sp>
        <p:nvSpPr>
          <p:cNvPr id="90189" name="Text Box 77"/>
          <p:cNvSpPr txBox="1">
            <a:spLocks noChangeArrowheads="1"/>
          </p:cNvSpPr>
          <p:nvPr/>
        </p:nvSpPr>
        <p:spPr bwMode="auto">
          <a:xfrm>
            <a:off x="838200" y="5410200"/>
            <a:ext cx="1463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 sz="1600">
                <a:solidFill>
                  <a:schemeClr val="accent1"/>
                </a:solidFill>
                <a:latin typeface="Tahoma" pitchFamily="34" charset="0"/>
              </a:rPr>
              <a:t>(D,0,D-102)</a:t>
            </a:r>
          </a:p>
          <a:p>
            <a:endParaRPr lang="zh-TW" altLang="en-GB">
              <a:ea typeface="PMingLiU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357166"/>
            <a:ext cx="8548718" cy="85725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DSDV</a:t>
            </a:r>
            <a:r>
              <a:rPr lang="en-US" sz="40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(Damping Fluctuations)</a:t>
            </a:r>
            <a:endParaRPr lang="en-GB" altLang="zh-TW" sz="2400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91167" name="Line 31"/>
          <p:cNvSpPr>
            <a:spLocks noChangeShapeType="1"/>
          </p:cNvSpPr>
          <p:nvPr/>
        </p:nvSpPr>
        <p:spPr bwMode="auto">
          <a:xfrm>
            <a:off x="762000" y="4343400"/>
            <a:ext cx="609600" cy="963613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68" name="Line 32"/>
          <p:cNvSpPr>
            <a:spLocks noChangeShapeType="1"/>
          </p:cNvSpPr>
          <p:nvPr/>
        </p:nvSpPr>
        <p:spPr bwMode="auto">
          <a:xfrm flipH="1">
            <a:off x="609600" y="3200400"/>
            <a:ext cx="152400" cy="7620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70" name="Line 34"/>
          <p:cNvSpPr>
            <a:spLocks noChangeShapeType="1"/>
          </p:cNvSpPr>
          <p:nvPr/>
        </p:nvSpPr>
        <p:spPr bwMode="auto">
          <a:xfrm flipH="1" flipV="1">
            <a:off x="1497013" y="2679700"/>
            <a:ext cx="681037" cy="417513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71" name="Oval 35"/>
          <p:cNvSpPr>
            <a:spLocks noChangeArrowheads="1"/>
          </p:cNvSpPr>
          <p:nvPr/>
        </p:nvSpPr>
        <p:spPr bwMode="auto">
          <a:xfrm flipH="1" flipV="1">
            <a:off x="2133600" y="2971800"/>
            <a:ext cx="152400" cy="160338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1172" name="Line 36"/>
          <p:cNvSpPr>
            <a:spLocks noChangeShapeType="1"/>
          </p:cNvSpPr>
          <p:nvPr/>
        </p:nvSpPr>
        <p:spPr bwMode="auto">
          <a:xfrm flipH="1">
            <a:off x="762000" y="2743200"/>
            <a:ext cx="695325" cy="382588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73" name="Oval 37"/>
          <p:cNvSpPr>
            <a:spLocks noChangeArrowheads="1"/>
          </p:cNvSpPr>
          <p:nvPr/>
        </p:nvSpPr>
        <p:spPr bwMode="auto">
          <a:xfrm flipH="1" flipV="1">
            <a:off x="700088" y="3062288"/>
            <a:ext cx="138112" cy="1381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1174" name="Oval 38"/>
          <p:cNvSpPr>
            <a:spLocks noChangeArrowheads="1"/>
          </p:cNvSpPr>
          <p:nvPr/>
        </p:nvSpPr>
        <p:spPr bwMode="auto">
          <a:xfrm flipH="1" flipV="1">
            <a:off x="1295400" y="5181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1175" name="Line 39"/>
          <p:cNvSpPr>
            <a:spLocks noChangeShapeType="1"/>
          </p:cNvSpPr>
          <p:nvPr/>
        </p:nvSpPr>
        <p:spPr bwMode="auto">
          <a:xfrm flipH="1">
            <a:off x="1371600" y="4495800"/>
            <a:ext cx="1143000" cy="76200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76" name="Line 40"/>
          <p:cNvSpPr>
            <a:spLocks noChangeShapeType="1"/>
          </p:cNvSpPr>
          <p:nvPr/>
        </p:nvSpPr>
        <p:spPr bwMode="auto">
          <a:xfrm flipH="1" flipV="1">
            <a:off x="1371600" y="5257800"/>
            <a:ext cx="0" cy="6381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77" name="Oval 41"/>
          <p:cNvSpPr>
            <a:spLocks noChangeArrowheads="1"/>
          </p:cNvSpPr>
          <p:nvPr/>
        </p:nvSpPr>
        <p:spPr bwMode="auto">
          <a:xfrm flipH="1" flipV="1">
            <a:off x="1436688" y="2590800"/>
            <a:ext cx="163512" cy="1603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1178" name="Oval 42"/>
          <p:cNvSpPr>
            <a:spLocks noChangeArrowheads="1"/>
          </p:cNvSpPr>
          <p:nvPr/>
        </p:nvSpPr>
        <p:spPr bwMode="auto">
          <a:xfrm flipH="1" flipV="1">
            <a:off x="1309688" y="5894388"/>
            <a:ext cx="123825" cy="127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rot="10800000" wrap="none" anchor="ctr"/>
          <a:lstStyle/>
          <a:p>
            <a:pPr algn="ctr"/>
            <a:endParaRPr lang="de-CH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91179" name="Text Box 43"/>
          <p:cNvSpPr txBox="1">
            <a:spLocks noChangeArrowheads="1"/>
          </p:cNvSpPr>
          <p:nvPr/>
        </p:nvSpPr>
        <p:spPr bwMode="auto">
          <a:xfrm>
            <a:off x="1524000" y="2362200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>
                <a:solidFill>
                  <a:schemeClr val="accent2"/>
                </a:solidFill>
                <a:latin typeface="Tahoma" pitchFamily="34" charset="0"/>
              </a:rPr>
              <a:t>A</a:t>
            </a:r>
          </a:p>
        </p:txBody>
      </p:sp>
      <p:sp>
        <p:nvSpPr>
          <p:cNvPr id="91180" name="Text Box 44"/>
          <p:cNvSpPr txBox="1">
            <a:spLocks noChangeArrowheads="1"/>
          </p:cNvSpPr>
          <p:nvPr/>
        </p:nvSpPr>
        <p:spPr bwMode="auto">
          <a:xfrm>
            <a:off x="1371600" y="5638800"/>
            <a:ext cx="36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>
                <a:solidFill>
                  <a:schemeClr val="accent1"/>
                </a:solidFill>
                <a:latin typeface="Tahoma" pitchFamily="34" charset="0"/>
              </a:rPr>
              <a:t>D</a:t>
            </a:r>
          </a:p>
        </p:txBody>
      </p:sp>
      <p:sp>
        <p:nvSpPr>
          <p:cNvPr id="91181" name="Text Box 45"/>
          <p:cNvSpPr txBox="1">
            <a:spLocks noChangeArrowheads="1"/>
          </p:cNvSpPr>
          <p:nvPr/>
        </p:nvSpPr>
        <p:spPr bwMode="auto">
          <a:xfrm>
            <a:off x="2209800" y="2743200"/>
            <a:ext cx="412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 dirty="0">
                <a:solidFill>
                  <a:srgbClr val="C00000"/>
                </a:solidFill>
                <a:latin typeface="Tahoma" pitchFamily="34" charset="0"/>
              </a:rPr>
              <a:t>Q</a:t>
            </a:r>
          </a:p>
        </p:txBody>
      </p:sp>
      <p:sp>
        <p:nvSpPr>
          <p:cNvPr id="91182" name="Text Box 46"/>
          <p:cNvSpPr txBox="1">
            <a:spLocks noChangeArrowheads="1"/>
          </p:cNvSpPr>
          <p:nvPr/>
        </p:nvSpPr>
        <p:spPr bwMode="auto">
          <a:xfrm>
            <a:off x="609600" y="26670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>
                <a:solidFill>
                  <a:schemeClr val="tx2"/>
                </a:solidFill>
                <a:latin typeface="Tahoma" pitchFamily="34" charset="0"/>
              </a:rPr>
              <a:t>P</a:t>
            </a:r>
          </a:p>
        </p:txBody>
      </p:sp>
      <p:sp>
        <p:nvSpPr>
          <p:cNvPr id="91183" name="Freeform 47"/>
          <p:cNvSpPr>
            <a:spLocks/>
          </p:cNvSpPr>
          <p:nvPr/>
        </p:nvSpPr>
        <p:spPr bwMode="auto">
          <a:xfrm>
            <a:off x="152400" y="3657600"/>
            <a:ext cx="1346200" cy="1003300"/>
          </a:xfrm>
          <a:custGeom>
            <a:avLst/>
            <a:gdLst/>
            <a:ahLst/>
            <a:cxnLst>
              <a:cxn ang="0">
                <a:pos x="144" y="120"/>
              </a:cxn>
              <a:cxn ang="0">
                <a:pos x="192" y="32"/>
              </a:cxn>
              <a:cxn ang="0">
                <a:pos x="240" y="0"/>
              </a:cxn>
              <a:cxn ang="0">
                <a:pos x="424" y="72"/>
              </a:cxn>
              <a:cxn ang="0">
                <a:pos x="520" y="24"/>
              </a:cxn>
              <a:cxn ang="0">
                <a:pos x="672" y="120"/>
              </a:cxn>
              <a:cxn ang="0">
                <a:pos x="728" y="176"/>
              </a:cxn>
              <a:cxn ang="0">
                <a:pos x="784" y="216"/>
              </a:cxn>
              <a:cxn ang="0">
                <a:pos x="848" y="280"/>
              </a:cxn>
              <a:cxn ang="0">
                <a:pos x="832" y="336"/>
              </a:cxn>
              <a:cxn ang="0">
                <a:pos x="784" y="352"/>
              </a:cxn>
              <a:cxn ang="0">
                <a:pos x="760" y="360"/>
              </a:cxn>
              <a:cxn ang="0">
                <a:pos x="728" y="528"/>
              </a:cxn>
              <a:cxn ang="0">
                <a:pos x="648" y="568"/>
              </a:cxn>
              <a:cxn ang="0">
                <a:pos x="568" y="560"/>
              </a:cxn>
              <a:cxn ang="0">
                <a:pos x="544" y="544"/>
              </a:cxn>
              <a:cxn ang="0">
                <a:pos x="528" y="640"/>
              </a:cxn>
              <a:cxn ang="0">
                <a:pos x="440" y="664"/>
              </a:cxn>
              <a:cxn ang="0">
                <a:pos x="248" y="576"/>
              </a:cxn>
              <a:cxn ang="0">
                <a:pos x="128" y="576"/>
              </a:cxn>
              <a:cxn ang="0">
                <a:pos x="80" y="528"/>
              </a:cxn>
              <a:cxn ang="0">
                <a:pos x="72" y="408"/>
              </a:cxn>
              <a:cxn ang="0">
                <a:pos x="0" y="344"/>
              </a:cxn>
              <a:cxn ang="0">
                <a:pos x="8" y="240"/>
              </a:cxn>
              <a:cxn ang="0">
                <a:pos x="144" y="120"/>
              </a:cxn>
            </a:cxnLst>
            <a:rect l="0" t="0" r="r" b="b"/>
            <a:pathLst>
              <a:path w="848" h="680">
                <a:moveTo>
                  <a:pt x="144" y="120"/>
                </a:moveTo>
                <a:cubicBezTo>
                  <a:pt x="154" y="89"/>
                  <a:pt x="167" y="54"/>
                  <a:pt x="192" y="32"/>
                </a:cubicBezTo>
                <a:cubicBezTo>
                  <a:pt x="206" y="19"/>
                  <a:pt x="240" y="0"/>
                  <a:pt x="240" y="0"/>
                </a:cubicBezTo>
                <a:cubicBezTo>
                  <a:pt x="315" y="9"/>
                  <a:pt x="371" y="19"/>
                  <a:pt x="424" y="72"/>
                </a:cubicBezTo>
                <a:cubicBezTo>
                  <a:pt x="458" y="55"/>
                  <a:pt x="482" y="33"/>
                  <a:pt x="520" y="24"/>
                </a:cubicBezTo>
                <a:cubicBezTo>
                  <a:pt x="606" y="46"/>
                  <a:pt x="617" y="47"/>
                  <a:pt x="672" y="120"/>
                </a:cubicBezTo>
                <a:cubicBezTo>
                  <a:pt x="660" y="182"/>
                  <a:pt x="669" y="164"/>
                  <a:pt x="728" y="176"/>
                </a:cubicBezTo>
                <a:cubicBezTo>
                  <a:pt x="744" y="187"/>
                  <a:pt x="771" y="204"/>
                  <a:pt x="784" y="216"/>
                </a:cubicBezTo>
                <a:cubicBezTo>
                  <a:pt x="806" y="236"/>
                  <a:pt x="848" y="280"/>
                  <a:pt x="848" y="280"/>
                </a:cubicBezTo>
                <a:cubicBezTo>
                  <a:pt x="843" y="299"/>
                  <a:pt x="845" y="321"/>
                  <a:pt x="832" y="336"/>
                </a:cubicBezTo>
                <a:cubicBezTo>
                  <a:pt x="821" y="349"/>
                  <a:pt x="800" y="347"/>
                  <a:pt x="784" y="352"/>
                </a:cubicBezTo>
                <a:cubicBezTo>
                  <a:pt x="776" y="355"/>
                  <a:pt x="760" y="360"/>
                  <a:pt x="760" y="360"/>
                </a:cubicBezTo>
                <a:cubicBezTo>
                  <a:pt x="727" y="410"/>
                  <a:pt x="767" y="489"/>
                  <a:pt x="728" y="528"/>
                </a:cubicBezTo>
                <a:cubicBezTo>
                  <a:pt x="711" y="545"/>
                  <a:pt x="670" y="559"/>
                  <a:pt x="648" y="568"/>
                </a:cubicBezTo>
                <a:cubicBezTo>
                  <a:pt x="621" y="565"/>
                  <a:pt x="594" y="566"/>
                  <a:pt x="568" y="560"/>
                </a:cubicBezTo>
                <a:cubicBezTo>
                  <a:pt x="559" y="558"/>
                  <a:pt x="548" y="535"/>
                  <a:pt x="544" y="544"/>
                </a:cubicBezTo>
                <a:cubicBezTo>
                  <a:pt x="529" y="573"/>
                  <a:pt x="544" y="612"/>
                  <a:pt x="528" y="640"/>
                </a:cubicBezTo>
                <a:cubicBezTo>
                  <a:pt x="523" y="649"/>
                  <a:pt x="452" y="662"/>
                  <a:pt x="440" y="664"/>
                </a:cubicBezTo>
                <a:cubicBezTo>
                  <a:pt x="269" y="654"/>
                  <a:pt x="317" y="680"/>
                  <a:pt x="248" y="576"/>
                </a:cubicBezTo>
                <a:cubicBezTo>
                  <a:pt x="205" y="590"/>
                  <a:pt x="188" y="599"/>
                  <a:pt x="128" y="576"/>
                </a:cubicBezTo>
                <a:cubicBezTo>
                  <a:pt x="107" y="568"/>
                  <a:pt x="80" y="528"/>
                  <a:pt x="80" y="528"/>
                </a:cubicBezTo>
                <a:cubicBezTo>
                  <a:pt x="65" y="482"/>
                  <a:pt x="65" y="457"/>
                  <a:pt x="72" y="408"/>
                </a:cubicBezTo>
                <a:cubicBezTo>
                  <a:pt x="29" y="397"/>
                  <a:pt x="20" y="383"/>
                  <a:pt x="0" y="344"/>
                </a:cubicBezTo>
                <a:cubicBezTo>
                  <a:pt x="3" y="309"/>
                  <a:pt x="2" y="274"/>
                  <a:pt x="8" y="240"/>
                </a:cubicBezTo>
                <a:cubicBezTo>
                  <a:pt x="21" y="167"/>
                  <a:pt x="84" y="146"/>
                  <a:pt x="144" y="120"/>
                </a:cubicBezTo>
                <a:close/>
              </a:path>
            </a:pathLst>
          </a:custGeom>
          <a:solidFill>
            <a:schemeClr val="bg1"/>
          </a:solidFill>
          <a:ln w="19050" cmpd="sng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84" name="Line 48"/>
          <p:cNvSpPr>
            <a:spLocks noChangeShapeType="1"/>
          </p:cNvSpPr>
          <p:nvPr/>
        </p:nvSpPr>
        <p:spPr bwMode="auto">
          <a:xfrm>
            <a:off x="2209800" y="3124200"/>
            <a:ext cx="228600" cy="68580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85" name="Freeform 49"/>
          <p:cNvSpPr>
            <a:spLocks/>
          </p:cNvSpPr>
          <p:nvPr/>
        </p:nvSpPr>
        <p:spPr bwMode="auto">
          <a:xfrm flipH="1" flipV="1">
            <a:off x="1752600" y="3733800"/>
            <a:ext cx="1270000" cy="927100"/>
          </a:xfrm>
          <a:custGeom>
            <a:avLst/>
            <a:gdLst/>
            <a:ahLst/>
            <a:cxnLst>
              <a:cxn ang="0">
                <a:pos x="144" y="120"/>
              </a:cxn>
              <a:cxn ang="0">
                <a:pos x="192" y="32"/>
              </a:cxn>
              <a:cxn ang="0">
                <a:pos x="240" y="0"/>
              </a:cxn>
              <a:cxn ang="0">
                <a:pos x="424" y="72"/>
              </a:cxn>
              <a:cxn ang="0">
                <a:pos x="520" y="24"/>
              </a:cxn>
              <a:cxn ang="0">
                <a:pos x="672" y="120"/>
              </a:cxn>
              <a:cxn ang="0">
                <a:pos x="728" y="176"/>
              </a:cxn>
              <a:cxn ang="0">
                <a:pos x="784" y="216"/>
              </a:cxn>
              <a:cxn ang="0">
                <a:pos x="848" y="280"/>
              </a:cxn>
              <a:cxn ang="0">
                <a:pos x="832" y="336"/>
              </a:cxn>
              <a:cxn ang="0">
                <a:pos x="784" y="352"/>
              </a:cxn>
              <a:cxn ang="0">
                <a:pos x="760" y="360"/>
              </a:cxn>
              <a:cxn ang="0">
                <a:pos x="728" y="528"/>
              </a:cxn>
              <a:cxn ang="0">
                <a:pos x="648" y="568"/>
              </a:cxn>
              <a:cxn ang="0">
                <a:pos x="568" y="560"/>
              </a:cxn>
              <a:cxn ang="0">
                <a:pos x="544" y="544"/>
              </a:cxn>
              <a:cxn ang="0">
                <a:pos x="528" y="640"/>
              </a:cxn>
              <a:cxn ang="0">
                <a:pos x="440" y="664"/>
              </a:cxn>
              <a:cxn ang="0">
                <a:pos x="248" y="576"/>
              </a:cxn>
              <a:cxn ang="0">
                <a:pos x="128" y="576"/>
              </a:cxn>
              <a:cxn ang="0">
                <a:pos x="80" y="528"/>
              </a:cxn>
              <a:cxn ang="0">
                <a:pos x="72" y="408"/>
              </a:cxn>
              <a:cxn ang="0">
                <a:pos x="0" y="344"/>
              </a:cxn>
              <a:cxn ang="0">
                <a:pos x="8" y="240"/>
              </a:cxn>
              <a:cxn ang="0">
                <a:pos x="144" y="120"/>
              </a:cxn>
            </a:cxnLst>
            <a:rect l="0" t="0" r="r" b="b"/>
            <a:pathLst>
              <a:path w="848" h="680">
                <a:moveTo>
                  <a:pt x="144" y="120"/>
                </a:moveTo>
                <a:cubicBezTo>
                  <a:pt x="154" y="89"/>
                  <a:pt x="167" y="54"/>
                  <a:pt x="192" y="32"/>
                </a:cubicBezTo>
                <a:cubicBezTo>
                  <a:pt x="206" y="19"/>
                  <a:pt x="240" y="0"/>
                  <a:pt x="240" y="0"/>
                </a:cubicBezTo>
                <a:cubicBezTo>
                  <a:pt x="315" y="9"/>
                  <a:pt x="371" y="19"/>
                  <a:pt x="424" y="72"/>
                </a:cubicBezTo>
                <a:cubicBezTo>
                  <a:pt x="458" y="55"/>
                  <a:pt x="482" y="33"/>
                  <a:pt x="520" y="24"/>
                </a:cubicBezTo>
                <a:cubicBezTo>
                  <a:pt x="606" y="46"/>
                  <a:pt x="617" y="47"/>
                  <a:pt x="672" y="120"/>
                </a:cubicBezTo>
                <a:cubicBezTo>
                  <a:pt x="660" y="182"/>
                  <a:pt x="669" y="164"/>
                  <a:pt x="728" y="176"/>
                </a:cubicBezTo>
                <a:cubicBezTo>
                  <a:pt x="744" y="187"/>
                  <a:pt x="771" y="204"/>
                  <a:pt x="784" y="216"/>
                </a:cubicBezTo>
                <a:cubicBezTo>
                  <a:pt x="806" y="236"/>
                  <a:pt x="848" y="280"/>
                  <a:pt x="848" y="280"/>
                </a:cubicBezTo>
                <a:cubicBezTo>
                  <a:pt x="843" y="299"/>
                  <a:pt x="845" y="321"/>
                  <a:pt x="832" y="336"/>
                </a:cubicBezTo>
                <a:cubicBezTo>
                  <a:pt x="821" y="349"/>
                  <a:pt x="800" y="347"/>
                  <a:pt x="784" y="352"/>
                </a:cubicBezTo>
                <a:cubicBezTo>
                  <a:pt x="776" y="355"/>
                  <a:pt x="760" y="360"/>
                  <a:pt x="760" y="360"/>
                </a:cubicBezTo>
                <a:cubicBezTo>
                  <a:pt x="727" y="410"/>
                  <a:pt x="767" y="489"/>
                  <a:pt x="728" y="528"/>
                </a:cubicBezTo>
                <a:cubicBezTo>
                  <a:pt x="711" y="545"/>
                  <a:pt x="670" y="559"/>
                  <a:pt x="648" y="568"/>
                </a:cubicBezTo>
                <a:cubicBezTo>
                  <a:pt x="621" y="565"/>
                  <a:pt x="594" y="566"/>
                  <a:pt x="568" y="560"/>
                </a:cubicBezTo>
                <a:cubicBezTo>
                  <a:pt x="559" y="558"/>
                  <a:pt x="548" y="535"/>
                  <a:pt x="544" y="544"/>
                </a:cubicBezTo>
                <a:cubicBezTo>
                  <a:pt x="529" y="573"/>
                  <a:pt x="544" y="612"/>
                  <a:pt x="528" y="640"/>
                </a:cubicBezTo>
                <a:cubicBezTo>
                  <a:pt x="523" y="649"/>
                  <a:pt x="452" y="662"/>
                  <a:pt x="440" y="664"/>
                </a:cubicBezTo>
                <a:cubicBezTo>
                  <a:pt x="269" y="654"/>
                  <a:pt x="317" y="680"/>
                  <a:pt x="248" y="576"/>
                </a:cubicBezTo>
                <a:cubicBezTo>
                  <a:pt x="205" y="590"/>
                  <a:pt x="188" y="599"/>
                  <a:pt x="128" y="576"/>
                </a:cubicBezTo>
                <a:cubicBezTo>
                  <a:pt x="107" y="568"/>
                  <a:pt x="80" y="528"/>
                  <a:pt x="80" y="528"/>
                </a:cubicBezTo>
                <a:cubicBezTo>
                  <a:pt x="65" y="482"/>
                  <a:pt x="65" y="457"/>
                  <a:pt x="72" y="408"/>
                </a:cubicBezTo>
                <a:cubicBezTo>
                  <a:pt x="29" y="397"/>
                  <a:pt x="20" y="383"/>
                  <a:pt x="0" y="344"/>
                </a:cubicBezTo>
                <a:cubicBezTo>
                  <a:pt x="3" y="309"/>
                  <a:pt x="2" y="274"/>
                  <a:pt x="8" y="240"/>
                </a:cubicBezTo>
                <a:cubicBezTo>
                  <a:pt x="21" y="167"/>
                  <a:pt x="84" y="146"/>
                  <a:pt x="144" y="120"/>
                </a:cubicBezTo>
                <a:close/>
              </a:path>
            </a:pathLst>
          </a:custGeom>
          <a:solidFill>
            <a:schemeClr val="bg1"/>
          </a:solidFill>
          <a:ln w="19050" cmpd="sng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186" name="Text Box 50"/>
          <p:cNvSpPr txBox="1">
            <a:spLocks noChangeArrowheads="1"/>
          </p:cNvSpPr>
          <p:nvPr/>
        </p:nvSpPr>
        <p:spPr bwMode="auto">
          <a:xfrm>
            <a:off x="1981200" y="3962400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 sz="1600" dirty="0">
                <a:solidFill>
                  <a:srgbClr val="C00000"/>
                </a:solidFill>
                <a:latin typeface="Tahoma" pitchFamily="34" charset="0"/>
              </a:rPr>
              <a:t>10 Hops</a:t>
            </a:r>
          </a:p>
        </p:txBody>
      </p:sp>
      <p:sp>
        <p:nvSpPr>
          <p:cNvPr id="91187" name="Text Box 51"/>
          <p:cNvSpPr txBox="1">
            <a:spLocks noChangeArrowheads="1"/>
          </p:cNvSpPr>
          <p:nvPr/>
        </p:nvSpPr>
        <p:spPr bwMode="auto">
          <a:xfrm>
            <a:off x="304800" y="3962400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de-CH" sz="1600">
                <a:solidFill>
                  <a:schemeClr val="tx2"/>
                </a:solidFill>
                <a:latin typeface="Tahoma" pitchFamily="34" charset="0"/>
              </a:rPr>
              <a:t>11 Hops</a:t>
            </a:r>
          </a:p>
        </p:txBody>
      </p:sp>
      <p:sp>
        <p:nvSpPr>
          <p:cNvPr id="91189" name="Rectangle 53"/>
          <p:cNvSpPr>
            <a:spLocks noGrp="1" noChangeArrowheads="1"/>
          </p:cNvSpPr>
          <p:nvPr>
            <p:ph type="body" idx="1"/>
          </p:nvPr>
        </p:nvSpPr>
        <p:spPr>
          <a:xfrm>
            <a:off x="2895600" y="1285860"/>
            <a:ext cx="5638800" cy="5267340"/>
          </a:xfrm>
          <a:noFill/>
          <a:ln/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000" dirty="0"/>
              <a:t>How to damp fluctuations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Record last and avg. Settling Time of every Route in a separate table. (Stable Data)</a:t>
            </a:r>
            <a:br>
              <a:rPr lang="en-US" sz="2000" dirty="0"/>
            </a:br>
            <a:r>
              <a:rPr lang="en-US" sz="2000" dirty="0"/>
              <a:t>Settling Time = Time between arrival of first route and the best route with a given seq. nr.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A still must update his routing table on the first arrival of a route with a newer seq. nr., but he can wait to advertising it. Time to wait is proposed to be 2*(avg. Settling Time).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Like this fluctuations in larger networks can be damped to avoid </a:t>
            </a:r>
            <a:r>
              <a:rPr lang="en-US" sz="2000" dirty="0" smtClean="0"/>
              <a:t>unnecessary advertisement, </a:t>
            </a:r>
            <a:r>
              <a:rPr lang="en-US" sz="2000" dirty="0"/>
              <a:t>thus saving </a:t>
            </a:r>
            <a:r>
              <a:rPr lang="en-US" sz="2000" dirty="0" smtClean="0"/>
              <a:t>bandwidth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66178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C00000"/>
                </a:solidFill>
              </a:rPr>
              <a:t>Summary</a:t>
            </a:r>
            <a:endParaRPr lang="en-GB" altLang="zh-TW" dirty="0">
              <a:solidFill>
                <a:srgbClr val="C00000"/>
              </a:solidFill>
              <a:ea typeface="PMingLiU" pitchFamily="18" charset="-12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874845"/>
            <a:ext cx="8572559" cy="426879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600" dirty="0"/>
              <a:t>Advantages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Simple (almost like Distance Vector)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Loop free through destination seq. numbers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No latency caused by route discovery</a:t>
            </a:r>
            <a:br>
              <a:rPr lang="en-US" sz="2600" dirty="0"/>
            </a:br>
            <a:endParaRPr lang="en-US" sz="2600" dirty="0"/>
          </a:p>
          <a:p>
            <a:pPr>
              <a:lnSpc>
                <a:spcPct val="90000"/>
              </a:lnSpc>
            </a:pPr>
            <a:r>
              <a:rPr lang="en-US" sz="2600" dirty="0"/>
              <a:t>Disadvantages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No sleeping nodes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Overhead: most routing information never use</a:t>
            </a:r>
            <a:r>
              <a:rPr lang="en-US" altLang="zh-TW" sz="2600" dirty="0">
                <a:ea typeface="PMingLiU" pitchFamily="18" charset="-120"/>
              </a:rPr>
              <a:t>d</a:t>
            </a:r>
            <a:endParaRPr lang="en-US" sz="2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4282" y="1214422"/>
            <a:ext cx="8715435" cy="4911741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Proactive, Table driven, based on Link State approach</a:t>
            </a:r>
          </a:p>
          <a:p>
            <a:pPr algn="just"/>
            <a:r>
              <a:rPr lang="en-IN" dirty="0" smtClean="0"/>
              <a:t>Motivation: To reduce traffic through selective Flooding</a:t>
            </a:r>
          </a:p>
          <a:p>
            <a:pPr algn="just"/>
            <a:r>
              <a:rPr lang="en-IN" dirty="0" smtClean="0"/>
              <a:t>Process:</a:t>
            </a:r>
          </a:p>
          <a:p>
            <a:pPr lvl="1" algn="just"/>
            <a:r>
              <a:rPr lang="en-IN" dirty="0" smtClean="0">
                <a:solidFill>
                  <a:srgbClr val="FF0000"/>
                </a:solidFill>
              </a:rPr>
              <a:t>Reduces the size of the control </a:t>
            </a:r>
            <a:r>
              <a:rPr lang="en-IN" dirty="0" err="1" smtClean="0">
                <a:solidFill>
                  <a:srgbClr val="FF0000"/>
                </a:solidFill>
              </a:rPr>
              <a:t>pkts</a:t>
            </a:r>
            <a:r>
              <a:rPr lang="en-IN" dirty="0" smtClean="0">
                <a:solidFill>
                  <a:srgbClr val="FF0000"/>
                </a:solidFill>
              </a:rPr>
              <a:t>;  as it includes a subset of links with its neighbours who are it’s multi-point relay (MPR) selectors.</a:t>
            </a:r>
          </a:p>
          <a:p>
            <a:pPr lvl="1" algn="just"/>
            <a:r>
              <a:rPr lang="en-IN" dirty="0" smtClean="0">
                <a:solidFill>
                  <a:srgbClr val="FF0000"/>
                </a:solidFill>
              </a:rPr>
              <a:t>Only MPRs are participating in flooding [Selective Flooding]</a:t>
            </a:r>
          </a:p>
          <a:p>
            <a:pPr lvl="1" algn="just"/>
            <a:r>
              <a:rPr lang="en-US" dirty="0" smtClean="0"/>
              <a:t>Multipoint relays of A are its neighbors such that each two-hop neighbor of A is a one-hop neighbor of one multipoint relay of A.  The multi point relay set of node N, such that each node in two hop neighborhood of N must have bidirectional links towards the members of MPR (N). </a:t>
            </a:r>
          </a:p>
          <a:p>
            <a:pPr lvl="1" algn="just"/>
            <a:r>
              <a:rPr lang="en-US" dirty="0" smtClean="0"/>
              <a:t>MPRs are selected in a way such that it covers all 2-hop away nodes</a:t>
            </a:r>
            <a:r>
              <a:rPr lang="en-US" dirty="0" smtClean="0">
                <a:solidFill>
                  <a:srgbClr val="FF0000"/>
                </a:solidFill>
              </a:rPr>
              <a:t>.  Reduces duplicate transmission within same range.</a:t>
            </a:r>
          </a:p>
          <a:p>
            <a:pPr lvl="1"/>
            <a:endParaRPr lang="en-IN" dirty="0" smtClean="0">
              <a:solidFill>
                <a:srgbClr val="FF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66178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Optimized Link State Routing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29600" cy="66673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nb-NO" dirty="0" smtClean="0"/>
              <a:t>Optimized link source routing </a:t>
            </a:r>
            <a:endParaRPr lang="en-US" sz="2800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-457200"/>
            <a:ext cx="8229600" cy="174306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nb-NO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57158" y="1501775"/>
            <a:ext cx="8786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nb-NO" sz="2800" dirty="0"/>
              <a:t>Type:  </a:t>
            </a:r>
            <a:r>
              <a:rPr lang="nb-NO" sz="2800" dirty="0" smtClean="0"/>
              <a:t>Proactive; </a:t>
            </a:r>
            <a:r>
              <a:rPr lang="nb-NO" sz="2800" dirty="0" smtClean="0">
                <a:solidFill>
                  <a:srgbClr val="FF0000"/>
                </a:solidFill>
              </a:rPr>
              <a:t>suitable for large &amp; dense network for better optimization compared to traditional Link-State</a:t>
            </a:r>
            <a:r>
              <a:rPr lang="nb-NO" sz="2800" dirty="0">
                <a:solidFill>
                  <a:srgbClr val="FF0000"/>
                </a:solidFill>
              </a:rPr>
              <a:t>	</a:t>
            </a:r>
            <a:endParaRPr lang="en-US" sz="2800" dirty="0">
              <a:solidFill>
                <a:srgbClr val="FF0000"/>
              </a:solidFill>
            </a:endParaRP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444500" y="3146425"/>
            <a:ext cx="8062913" cy="3508375"/>
            <a:chOff x="280" y="1982"/>
            <a:chExt cx="5079" cy="2210"/>
          </a:xfrm>
        </p:grpSpPr>
        <p:sp>
          <p:nvSpPr>
            <p:cNvPr id="17414" name="Oval 26"/>
            <p:cNvSpPr>
              <a:spLocks noChangeArrowheads="1"/>
            </p:cNvSpPr>
            <p:nvPr/>
          </p:nvSpPr>
          <p:spPr bwMode="auto">
            <a:xfrm>
              <a:off x="2235" y="3050"/>
              <a:ext cx="181" cy="181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15" name="Oval 27"/>
            <p:cNvSpPr>
              <a:spLocks noChangeArrowheads="1"/>
            </p:cNvSpPr>
            <p:nvPr/>
          </p:nvSpPr>
          <p:spPr bwMode="auto">
            <a:xfrm>
              <a:off x="2190" y="3549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16" name="Oval 28"/>
            <p:cNvSpPr>
              <a:spLocks noChangeArrowheads="1"/>
            </p:cNvSpPr>
            <p:nvPr/>
          </p:nvSpPr>
          <p:spPr bwMode="auto">
            <a:xfrm>
              <a:off x="2190" y="4011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17" name="Oval 29"/>
            <p:cNvSpPr>
              <a:spLocks noChangeArrowheads="1"/>
            </p:cNvSpPr>
            <p:nvPr/>
          </p:nvSpPr>
          <p:spPr bwMode="auto">
            <a:xfrm>
              <a:off x="2734" y="3050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18" name="Oval 30"/>
            <p:cNvSpPr>
              <a:spLocks noChangeArrowheads="1"/>
            </p:cNvSpPr>
            <p:nvPr/>
          </p:nvSpPr>
          <p:spPr bwMode="auto">
            <a:xfrm>
              <a:off x="3234" y="3050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19" name="Oval 31"/>
            <p:cNvSpPr>
              <a:spLocks noChangeArrowheads="1"/>
            </p:cNvSpPr>
            <p:nvPr/>
          </p:nvSpPr>
          <p:spPr bwMode="auto">
            <a:xfrm>
              <a:off x="2644" y="3458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0" name="Oval 32"/>
            <p:cNvSpPr>
              <a:spLocks noChangeArrowheads="1"/>
            </p:cNvSpPr>
            <p:nvPr/>
          </p:nvSpPr>
          <p:spPr bwMode="auto">
            <a:xfrm>
              <a:off x="3053" y="3504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1" name="Oval 33"/>
            <p:cNvSpPr>
              <a:spLocks noChangeArrowheads="1"/>
            </p:cNvSpPr>
            <p:nvPr/>
          </p:nvSpPr>
          <p:spPr bwMode="auto">
            <a:xfrm>
              <a:off x="2644" y="3867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2" name="Oval 34"/>
            <p:cNvSpPr>
              <a:spLocks noChangeArrowheads="1"/>
            </p:cNvSpPr>
            <p:nvPr/>
          </p:nvSpPr>
          <p:spPr bwMode="auto">
            <a:xfrm rot="5400000">
              <a:off x="1691" y="3004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3" name="Oval 35"/>
            <p:cNvSpPr>
              <a:spLocks noChangeArrowheads="1"/>
            </p:cNvSpPr>
            <p:nvPr/>
          </p:nvSpPr>
          <p:spPr bwMode="auto">
            <a:xfrm rot="5400000">
              <a:off x="1192" y="3004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4" name="Oval 36"/>
            <p:cNvSpPr>
              <a:spLocks noChangeArrowheads="1"/>
            </p:cNvSpPr>
            <p:nvPr/>
          </p:nvSpPr>
          <p:spPr bwMode="auto">
            <a:xfrm rot="5400000">
              <a:off x="1782" y="3458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5" name="Oval 37"/>
            <p:cNvSpPr>
              <a:spLocks noChangeArrowheads="1"/>
            </p:cNvSpPr>
            <p:nvPr/>
          </p:nvSpPr>
          <p:spPr bwMode="auto">
            <a:xfrm rot="5400000">
              <a:off x="1736" y="3867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6" name="Oval 38"/>
            <p:cNvSpPr>
              <a:spLocks noChangeArrowheads="1"/>
            </p:cNvSpPr>
            <p:nvPr/>
          </p:nvSpPr>
          <p:spPr bwMode="auto">
            <a:xfrm rot="5400000">
              <a:off x="1373" y="3458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7" name="Oval 39"/>
            <p:cNvSpPr>
              <a:spLocks noChangeArrowheads="1"/>
            </p:cNvSpPr>
            <p:nvPr/>
          </p:nvSpPr>
          <p:spPr bwMode="auto">
            <a:xfrm rot="-5400000">
              <a:off x="2235" y="2482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8" name="Oval 40"/>
            <p:cNvSpPr>
              <a:spLocks noChangeArrowheads="1"/>
            </p:cNvSpPr>
            <p:nvPr/>
          </p:nvSpPr>
          <p:spPr bwMode="auto">
            <a:xfrm rot="-5400000">
              <a:off x="2235" y="1982"/>
              <a:ext cx="181" cy="181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9" name="Oval 41"/>
            <p:cNvSpPr>
              <a:spLocks noChangeArrowheads="1"/>
            </p:cNvSpPr>
            <p:nvPr/>
          </p:nvSpPr>
          <p:spPr bwMode="auto">
            <a:xfrm rot="-5400000">
              <a:off x="2643" y="2572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0" name="Oval 42"/>
            <p:cNvSpPr>
              <a:spLocks noChangeArrowheads="1"/>
            </p:cNvSpPr>
            <p:nvPr/>
          </p:nvSpPr>
          <p:spPr bwMode="auto">
            <a:xfrm rot="-5400000">
              <a:off x="2689" y="2163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1" name="Oval 43"/>
            <p:cNvSpPr>
              <a:spLocks noChangeArrowheads="1"/>
            </p:cNvSpPr>
            <p:nvPr/>
          </p:nvSpPr>
          <p:spPr bwMode="auto">
            <a:xfrm rot="-5400000">
              <a:off x="3052" y="2572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2" name="Oval 44"/>
            <p:cNvSpPr>
              <a:spLocks noChangeArrowheads="1"/>
            </p:cNvSpPr>
            <p:nvPr/>
          </p:nvSpPr>
          <p:spPr bwMode="auto">
            <a:xfrm rot="10800000">
              <a:off x="1691" y="3004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3" name="Oval 45"/>
            <p:cNvSpPr>
              <a:spLocks noChangeArrowheads="1"/>
            </p:cNvSpPr>
            <p:nvPr/>
          </p:nvSpPr>
          <p:spPr bwMode="auto">
            <a:xfrm rot="10800000">
              <a:off x="1191" y="3004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4" name="Oval 46"/>
            <p:cNvSpPr>
              <a:spLocks noChangeArrowheads="1"/>
            </p:cNvSpPr>
            <p:nvPr/>
          </p:nvSpPr>
          <p:spPr bwMode="auto">
            <a:xfrm rot="10800000">
              <a:off x="1782" y="2596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5" name="Oval 47"/>
            <p:cNvSpPr>
              <a:spLocks noChangeArrowheads="1"/>
            </p:cNvSpPr>
            <p:nvPr/>
          </p:nvSpPr>
          <p:spPr bwMode="auto">
            <a:xfrm rot="10800000">
              <a:off x="1372" y="2550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6" name="Oval 48"/>
            <p:cNvSpPr>
              <a:spLocks noChangeArrowheads="1"/>
            </p:cNvSpPr>
            <p:nvPr/>
          </p:nvSpPr>
          <p:spPr bwMode="auto">
            <a:xfrm rot="10800000">
              <a:off x="1782" y="2187"/>
              <a:ext cx="181" cy="18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7" name="Line 49"/>
            <p:cNvSpPr>
              <a:spLocks noChangeShapeType="1"/>
            </p:cNvSpPr>
            <p:nvPr/>
          </p:nvSpPr>
          <p:spPr bwMode="auto">
            <a:xfrm flipV="1">
              <a:off x="2321" y="2704"/>
              <a:ext cx="0" cy="2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38" name="Line 50"/>
            <p:cNvSpPr>
              <a:spLocks noChangeShapeType="1"/>
            </p:cNvSpPr>
            <p:nvPr/>
          </p:nvSpPr>
          <p:spPr bwMode="auto">
            <a:xfrm>
              <a:off x="2292" y="3263"/>
              <a:ext cx="1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39" name="Line 51"/>
            <p:cNvSpPr>
              <a:spLocks noChangeShapeType="1"/>
            </p:cNvSpPr>
            <p:nvPr/>
          </p:nvSpPr>
          <p:spPr bwMode="auto">
            <a:xfrm flipH="1" flipV="1">
              <a:off x="1918" y="3100"/>
              <a:ext cx="288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0" name="Line 52"/>
            <p:cNvSpPr>
              <a:spLocks noChangeShapeType="1"/>
            </p:cNvSpPr>
            <p:nvPr/>
          </p:nvSpPr>
          <p:spPr bwMode="auto">
            <a:xfrm flipV="1">
              <a:off x="2473" y="3112"/>
              <a:ext cx="261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1" name="Line 53"/>
            <p:cNvSpPr>
              <a:spLocks noChangeShapeType="1"/>
            </p:cNvSpPr>
            <p:nvPr/>
          </p:nvSpPr>
          <p:spPr bwMode="auto">
            <a:xfrm flipV="1">
              <a:off x="2314" y="2178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2" name="Line 54"/>
            <p:cNvSpPr>
              <a:spLocks noChangeShapeType="1"/>
            </p:cNvSpPr>
            <p:nvPr/>
          </p:nvSpPr>
          <p:spPr bwMode="auto">
            <a:xfrm flipV="1">
              <a:off x="2425" y="2750"/>
              <a:ext cx="214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3" name="Line 55"/>
            <p:cNvSpPr>
              <a:spLocks noChangeShapeType="1"/>
            </p:cNvSpPr>
            <p:nvPr/>
          </p:nvSpPr>
          <p:spPr bwMode="auto">
            <a:xfrm flipH="1">
              <a:off x="1952" y="3211"/>
              <a:ext cx="271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4" name="Line 56"/>
            <p:cNvSpPr>
              <a:spLocks noChangeShapeType="1"/>
            </p:cNvSpPr>
            <p:nvPr/>
          </p:nvSpPr>
          <p:spPr bwMode="auto">
            <a:xfrm>
              <a:off x="2384" y="3726"/>
              <a:ext cx="255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5" name="Line 57"/>
            <p:cNvSpPr>
              <a:spLocks noChangeShapeType="1"/>
            </p:cNvSpPr>
            <p:nvPr/>
          </p:nvSpPr>
          <p:spPr bwMode="auto">
            <a:xfrm>
              <a:off x="2405" y="3211"/>
              <a:ext cx="206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6" name="Line 58"/>
            <p:cNvSpPr>
              <a:spLocks noChangeShapeType="1"/>
            </p:cNvSpPr>
            <p:nvPr/>
          </p:nvSpPr>
          <p:spPr bwMode="auto">
            <a:xfrm flipH="1" flipV="1">
              <a:off x="1966" y="2768"/>
              <a:ext cx="271" cy="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7" name="Line 59"/>
            <p:cNvSpPr>
              <a:spLocks noChangeShapeType="1"/>
            </p:cNvSpPr>
            <p:nvPr/>
          </p:nvSpPr>
          <p:spPr bwMode="auto">
            <a:xfrm>
              <a:off x="2274" y="3763"/>
              <a:ext cx="8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8" name="Line 60"/>
            <p:cNvSpPr>
              <a:spLocks noChangeShapeType="1"/>
            </p:cNvSpPr>
            <p:nvPr/>
          </p:nvSpPr>
          <p:spPr bwMode="auto">
            <a:xfrm flipV="1">
              <a:off x="2862" y="2768"/>
              <a:ext cx="156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49" name="Line 61"/>
            <p:cNvSpPr>
              <a:spLocks noChangeShapeType="1"/>
            </p:cNvSpPr>
            <p:nvPr/>
          </p:nvSpPr>
          <p:spPr bwMode="auto">
            <a:xfrm flipV="1">
              <a:off x="2963" y="3124"/>
              <a:ext cx="223" cy="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0" name="Line 62"/>
            <p:cNvSpPr>
              <a:spLocks noChangeShapeType="1"/>
            </p:cNvSpPr>
            <p:nvPr/>
          </p:nvSpPr>
          <p:spPr bwMode="auto">
            <a:xfrm>
              <a:off x="2903" y="3224"/>
              <a:ext cx="14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1" name="Line 63"/>
            <p:cNvSpPr>
              <a:spLocks noChangeShapeType="1"/>
            </p:cNvSpPr>
            <p:nvPr/>
          </p:nvSpPr>
          <p:spPr bwMode="auto">
            <a:xfrm flipH="1">
              <a:off x="1912" y="3696"/>
              <a:ext cx="271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2" name="Line 64"/>
            <p:cNvSpPr>
              <a:spLocks noChangeShapeType="1"/>
            </p:cNvSpPr>
            <p:nvPr/>
          </p:nvSpPr>
          <p:spPr bwMode="auto">
            <a:xfrm flipH="1" flipV="1">
              <a:off x="1504" y="2718"/>
              <a:ext cx="206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3" name="Line 65"/>
            <p:cNvSpPr>
              <a:spLocks noChangeShapeType="1"/>
            </p:cNvSpPr>
            <p:nvPr/>
          </p:nvSpPr>
          <p:spPr bwMode="auto">
            <a:xfrm flipH="1">
              <a:off x="1505" y="3182"/>
              <a:ext cx="197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4" name="Line 66"/>
            <p:cNvSpPr>
              <a:spLocks noChangeShapeType="1"/>
            </p:cNvSpPr>
            <p:nvPr/>
          </p:nvSpPr>
          <p:spPr bwMode="auto">
            <a:xfrm flipH="1" flipV="1">
              <a:off x="1396" y="3087"/>
              <a:ext cx="263" cy="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5" name="Line 67"/>
            <p:cNvSpPr>
              <a:spLocks noChangeShapeType="1"/>
            </p:cNvSpPr>
            <p:nvPr/>
          </p:nvSpPr>
          <p:spPr bwMode="auto">
            <a:xfrm flipV="1">
              <a:off x="2409" y="2331"/>
              <a:ext cx="214" cy="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6" name="Line 68"/>
            <p:cNvSpPr>
              <a:spLocks noChangeShapeType="1"/>
            </p:cNvSpPr>
            <p:nvPr/>
          </p:nvSpPr>
          <p:spPr bwMode="auto">
            <a:xfrm flipH="1" flipV="1">
              <a:off x="1973" y="2331"/>
              <a:ext cx="247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57" name="Oval 69"/>
            <p:cNvSpPr>
              <a:spLocks noChangeArrowheads="1"/>
            </p:cNvSpPr>
            <p:nvPr/>
          </p:nvSpPr>
          <p:spPr bwMode="auto">
            <a:xfrm rot="-5400000">
              <a:off x="3880" y="3056"/>
              <a:ext cx="181" cy="181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58" name="Oval 70"/>
            <p:cNvSpPr>
              <a:spLocks noChangeArrowheads="1"/>
            </p:cNvSpPr>
            <p:nvPr/>
          </p:nvSpPr>
          <p:spPr bwMode="auto">
            <a:xfrm rot="-5400000">
              <a:off x="3886" y="3436"/>
              <a:ext cx="181" cy="18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59" name="Oval 71"/>
            <p:cNvSpPr>
              <a:spLocks noChangeArrowheads="1"/>
            </p:cNvSpPr>
            <p:nvPr/>
          </p:nvSpPr>
          <p:spPr bwMode="auto">
            <a:xfrm>
              <a:off x="3894" y="3777"/>
              <a:ext cx="181" cy="18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60" name="Text Box 72"/>
            <p:cNvSpPr txBox="1">
              <a:spLocks noChangeArrowheads="1"/>
            </p:cNvSpPr>
            <p:nvPr/>
          </p:nvSpPr>
          <p:spPr bwMode="auto">
            <a:xfrm>
              <a:off x="4147" y="2995"/>
              <a:ext cx="10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/>
                <a:t>Two-hop node</a:t>
              </a:r>
              <a:endParaRPr lang="en-US"/>
            </a:p>
          </p:txBody>
        </p:sp>
        <p:sp>
          <p:nvSpPr>
            <p:cNvPr id="17461" name="Text Box 73"/>
            <p:cNvSpPr txBox="1">
              <a:spLocks noChangeArrowheads="1"/>
            </p:cNvSpPr>
            <p:nvPr/>
          </p:nvSpPr>
          <p:spPr bwMode="auto">
            <a:xfrm>
              <a:off x="4156" y="3405"/>
              <a:ext cx="10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/>
                <a:t>One-hop node</a:t>
              </a:r>
              <a:endParaRPr lang="en-US"/>
            </a:p>
          </p:txBody>
        </p:sp>
        <p:sp>
          <p:nvSpPr>
            <p:cNvPr id="17462" name="Text Box 74"/>
            <p:cNvSpPr txBox="1">
              <a:spLocks noChangeArrowheads="1"/>
            </p:cNvSpPr>
            <p:nvPr/>
          </p:nvSpPr>
          <p:spPr bwMode="auto">
            <a:xfrm>
              <a:off x="4156" y="3761"/>
              <a:ext cx="7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/>
                <a:t>MPR node</a:t>
              </a:r>
              <a:endParaRPr lang="en-US"/>
            </a:p>
          </p:txBody>
        </p:sp>
        <p:sp>
          <p:nvSpPr>
            <p:cNvPr id="17463" name="Oval 75"/>
            <p:cNvSpPr>
              <a:spLocks noChangeArrowheads="1"/>
            </p:cNvSpPr>
            <p:nvPr/>
          </p:nvSpPr>
          <p:spPr bwMode="auto">
            <a:xfrm>
              <a:off x="3880" y="2656"/>
              <a:ext cx="181" cy="181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64" name="Text Box 76"/>
            <p:cNvSpPr txBox="1">
              <a:spLocks noChangeArrowheads="1"/>
            </p:cNvSpPr>
            <p:nvPr/>
          </p:nvSpPr>
          <p:spPr bwMode="auto">
            <a:xfrm>
              <a:off x="4219" y="2619"/>
              <a:ext cx="11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/>
                <a:t>originating node</a:t>
              </a:r>
              <a:endParaRPr lang="en-US"/>
            </a:p>
          </p:txBody>
        </p:sp>
        <p:sp>
          <p:nvSpPr>
            <p:cNvPr id="17465" name="Text Box 77"/>
            <p:cNvSpPr txBox="1">
              <a:spLocks noChangeArrowheads="1"/>
            </p:cNvSpPr>
            <p:nvPr/>
          </p:nvSpPr>
          <p:spPr bwMode="auto">
            <a:xfrm>
              <a:off x="2319" y="2844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 sz="1400" b="1"/>
                <a:t>1</a:t>
              </a:r>
              <a:endParaRPr lang="en-US" sz="1400" b="1"/>
            </a:p>
          </p:txBody>
        </p:sp>
        <p:sp>
          <p:nvSpPr>
            <p:cNvPr id="17466" name="Rectangle 78"/>
            <p:cNvSpPr>
              <a:spLocks noChangeArrowheads="1"/>
            </p:cNvSpPr>
            <p:nvPr/>
          </p:nvSpPr>
          <p:spPr bwMode="auto">
            <a:xfrm>
              <a:off x="2049" y="245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 b="1"/>
                <a:t>2</a:t>
              </a:r>
              <a:endParaRPr lang="en-US" b="1"/>
            </a:p>
          </p:txBody>
        </p:sp>
        <p:sp>
          <p:nvSpPr>
            <p:cNvPr id="17467" name="Rectangle 79"/>
            <p:cNvSpPr>
              <a:spLocks noChangeArrowheads="1"/>
            </p:cNvSpPr>
            <p:nvPr/>
          </p:nvSpPr>
          <p:spPr bwMode="auto">
            <a:xfrm>
              <a:off x="2653" y="2839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 b="1"/>
                <a:t>3</a:t>
              </a:r>
              <a:endParaRPr lang="en-US" b="1"/>
            </a:p>
          </p:txBody>
        </p:sp>
        <p:sp>
          <p:nvSpPr>
            <p:cNvPr id="17468" name="Rectangle 80"/>
            <p:cNvSpPr>
              <a:spLocks noChangeArrowheads="1"/>
            </p:cNvSpPr>
            <p:nvPr/>
          </p:nvSpPr>
          <p:spPr bwMode="auto">
            <a:xfrm>
              <a:off x="1774" y="3122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 b="1"/>
                <a:t>5</a:t>
              </a:r>
              <a:endParaRPr lang="en-US" b="1"/>
            </a:p>
          </p:txBody>
        </p:sp>
        <p:sp>
          <p:nvSpPr>
            <p:cNvPr id="17469" name="Rectangle 81"/>
            <p:cNvSpPr>
              <a:spLocks noChangeArrowheads="1"/>
            </p:cNvSpPr>
            <p:nvPr/>
          </p:nvSpPr>
          <p:spPr bwMode="auto">
            <a:xfrm>
              <a:off x="2333" y="33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 b="1"/>
                <a:t>4</a:t>
              </a:r>
              <a:endParaRPr lang="en-US" b="1"/>
            </a:p>
          </p:txBody>
        </p:sp>
        <p:sp>
          <p:nvSpPr>
            <p:cNvPr id="17470" name="Text Box 82"/>
            <p:cNvSpPr txBox="1">
              <a:spLocks noChangeArrowheads="1"/>
            </p:cNvSpPr>
            <p:nvPr/>
          </p:nvSpPr>
          <p:spPr bwMode="auto">
            <a:xfrm>
              <a:off x="280" y="3899"/>
              <a:ext cx="1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nb-NO"/>
                <a:t>MPR(1)={2,3,4,5}</a:t>
              </a: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947532"/>
          </a:xfrm>
        </p:spPr>
        <p:txBody>
          <a:bodyPr/>
          <a:lstStyle/>
          <a:p>
            <a:r>
              <a:rPr lang="en-IN" dirty="0" smtClean="0"/>
              <a:t>Optimized Link State Routing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0034" y="1500174"/>
            <a:ext cx="8215369" cy="4625989"/>
          </a:xfrm>
        </p:spPr>
        <p:txBody>
          <a:bodyPr>
            <a:normAutofit/>
          </a:bodyPr>
          <a:lstStyle/>
          <a:p>
            <a:pPr algn="just"/>
            <a:r>
              <a:rPr lang="en-IN" sz="2800" dirty="0" smtClean="0"/>
              <a:t>Generates normal periodic messages; no extra messages for route error etc</a:t>
            </a:r>
          </a:p>
          <a:p>
            <a:pPr algn="just"/>
            <a:r>
              <a:rPr lang="en-IN" sz="2800" dirty="0" smtClean="0"/>
              <a:t>Keeps routes for all destinations; performs better when significant data exchange takes place and the (source, destination) pair changes with time.</a:t>
            </a:r>
          </a:p>
          <a:p>
            <a:pPr algn="just"/>
            <a:r>
              <a:rPr lang="en-IN" sz="2800" dirty="0" smtClean="0"/>
              <a:t>Suitable for large and dense networks; more optimization is achieved with greater density</a:t>
            </a:r>
          </a:p>
          <a:p>
            <a:pPr algn="just"/>
            <a:r>
              <a:rPr lang="en-IN" sz="2800" dirty="0" smtClean="0"/>
              <a:t>Does not require a reliable transmission; does not need an in-order delivery as the control </a:t>
            </a:r>
            <a:r>
              <a:rPr lang="en-IN" sz="2800" dirty="0" err="1" smtClean="0"/>
              <a:t>pkts</a:t>
            </a:r>
            <a:r>
              <a:rPr lang="en-IN" sz="2800" dirty="0" smtClean="0"/>
              <a:t> are time-stamped with </a:t>
            </a:r>
            <a:r>
              <a:rPr lang="en-IN" sz="2800" dirty="0" err="1" smtClean="0"/>
              <a:t>seq</a:t>
            </a:r>
            <a:r>
              <a:rPr lang="en-IN" sz="2800" dirty="0" smtClean="0"/>
              <a:t> no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4282" y="1428736"/>
            <a:ext cx="8643997" cy="4697427"/>
          </a:xfrm>
        </p:spPr>
        <p:txBody>
          <a:bodyPr>
            <a:normAutofit/>
          </a:bodyPr>
          <a:lstStyle/>
          <a:p>
            <a:r>
              <a:rPr lang="en-IN" sz="2800" dirty="0" smtClean="0"/>
              <a:t>Mobility ?</a:t>
            </a:r>
          </a:p>
          <a:p>
            <a:pPr algn="just"/>
            <a:r>
              <a:rPr lang="en-IN" sz="2800" dirty="0" smtClean="0"/>
              <a:t>In case of nodes mobility, packet can be successfully delivered if its speed is such that it’s movement could be followed by the neighbourhood, at least. It supports mobility </a:t>
            </a:r>
            <a:r>
              <a:rPr lang="en-IN" sz="2800" dirty="0" err="1" smtClean="0"/>
              <a:t>iff</a:t>
            </a:r>
            <a:r>
              <a:rPr lang="en-IN" sz="2800" dirty="0" smtClean="0"/>
              <a:t> the mobility can be traced by the local control message i.e. The frequency of the message.</a:t>
            </a:r>
            <a:endParaRPr lang="en-IN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590342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 smtClean="0"/>
              <a:t>OLSR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7" y="1285860"/>
            <a:ext cx="8429684" cy="4840303"/>
          </a:xfrm>
        </p:spPr>
        <p:txBody>
          <a:bodyPr/>
          <a:lstStyle/>
          <a:p>
            <a:pPr algn="just"/>
            <a:r>
              <a:rPr lang="en-IN" dirty="0" smtClean="0"/>
              <a:t>Each node finds neighbour nodes with which it has a direct &amp; bidirectional link </a:t>
            </a:r>
          </a:p>
          <a:p>
            <a:pPr algn="just"/>
            <a:r>
              <a:rPr lang="en-IN" dirty="0" smtClean="0"/>
              <a:t>Hello messages broadcast periodically</a:t>
            </a:r>
          </a:p>
          <a:p>
            <a:pPr lvl="1" algn="just"/>
            <a:r>
              <a:rPr lang="en-IN" dirty="0" smtClean="0"/>
              <a:t>List of address of neighbours having bi-directional link</a:t>
            </a:r>
          </a:p>
          <a:p>
            <a:pPr lvl="1" algn="just"/>
            <a:r>
              <a:rPr lang="en-IN" dirty="0" smtClean="0"/>
              <a:t>List of address of the neighbours which are heard by this node</a:t>
            </a:r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Hello </a:t>
            </a:r>
            <a:r>
              <a:rPr lang="en-IN" dirty="0" err="1" smtClean="0"/>
              <a:t>msg</a:t>
            </a:r>
            <a:r>
              <a:rPr lang="en-IN" dirty="0" smtClean="0"/>
              <a:t> permits each node to learn the knowledge up to 2 –hop neighbours. Each node selects MPRs. Includes the information in Hello message.</a:t>
            </a:r>
          </a:p>
          <a:p>
            <a:pPr lvl="1" algn="just"/>
            <a:r>
              <a:rPr lang="en-IN" dirty="0" smtClean="0"/>
              <a:t>Creates a neighbour table : 1 hop neighbours, Status, list of 2-hop neighbours reachable by this 1 –hop neighbour, holding time (validity), Sequence no for identifying the most recent MPR set</a:t>
            </a:r>
          </a:p>
          <a:p>
            <a:pPr lvl="1" algn="just"/>
            <a:endParaRPr lang="en-IN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OLSR: Neighbour Sensing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4283" y="1285860"/>
            <a:ext cx="8572560" cy="4840303"/>
          </a:xfrm>
        </p:spPr>
        <p:txBody>
          <a:bodyPr/>
          <a:lstStyle/>
          <a:p>
            <a:r>
              <a:rPr lang="en-IN" dirty="0" smtClean="0"/>
              <a:t>Multipoint Relay Sets are recalculated </a:t>
            </a:r>
          </a:p>
          <a:p>
            <a:pPr lvl="1" algn="just"/>
            <a:r>
              <a:rPr lang="en-IN" dirty="0" smtClean="0"/>
              <a:t>A change in the neighbourhood is detected when a bidirectional link with a neighbour is failed/ a new link appears with bi-directional status/ Change in the 2-hop neighbour set with bi-directional link</a:t>
            </a:r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TC message declared by each node that contains the MPR set of that node</a:t>
            </a:r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Topology table (Add of a potential destination i.e. an MPR selector in the received TC </a:t>
            </a:r>
            <a:r>
              <a:rPr lang="en-IN" dirty="0" err="1" smtClean="0"/>
              <a:t>msg</a:t>
            </a:r>
            <a:r>
              <a:rPr lang="en-IN" dirty="0" smtClean="0"/>
              <a:t>, Add of last hop i.e. Originator of TC msg. Sequence No, Holding time)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OLSR: Topology Control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571612"/>
            <a:ext cx="7408333" cy="4554551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An </a:t>
            </a:r>
            <a:r>
              <a:rPr lang="en-IN" dirty="0" err="1" smtClean="0"/>
              <a:t>Adhoc</a:t>
            </a:r>
            <a:r>
              <a:rPr lang="en-IN" dirty="0" smtClean="0"/>
              <a:t> Network that can be rapidly deployed without relying on a pre-existing fixed network.</a:t>
            </a:r>
          </a:p>
          <a:p>
            <a:pPr algn="just"/>
            <a:r>
              <a:rPr lang="en-IN" dirty="0" smtClean="0"/>
              <a:t>The nodes can join/leave frequently without any disruption of other node’s communication.</a:t>
            </a:r>
          </a:p>
          <a:p>
            <a:pPr algn="just"/>
            <a:r>
              <a:rPr lang="en-IN" dirty="0" smtClean="0"/>
              <a:t>Nodes are highly mobile; rapidly change the node constellation and the presence/ </a:t>
            </a:r>
            <a:r>
              <a:rPr lang="en-IN" dirty="0" err="1" smtClean="0"/>
              <a:t>absense</a:t>
            </a:r>
            <a:r>
              <a:rPr lang="en-IN" dirty="0" smtClean="0"/>
              <a:t> of links</a:t>
            </a:r>
          </a:p>
          <a:p>
            <a:pPr algn="just"/>
            <a:r>
              <a:rPr lang="en-IN" dirty="0" smtClean="0"/>
              <a:t>Large networks (hundreds to thousand nodes); Significant variations in nodal speed, direction of movement;  restrictions on paths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9475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Reconfigurable Wireless Network (RWN)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357298"/>
            <a:ext cx="7408333" cy="4768865"/>
          </a:xfrm>
        </p:spPr>
        <p:txBody>
          <a:bodyPr/>
          <a:lstStyle/>
          <a:p>
            <a:pPr algn="just"/>
            <a:r>
              <a:rPr lang="en-IN" sz="2600" dirty="0" smtClean="0"/>
              <a:t>RWN s are distinguished from other ad-hoc by rapidly changing topologies, influenced by network size &amp; node mobility.</a:t>
            </a:r>
          </a:p>
          <a:p>
            <a:pPr algn="just"/>
            <a:r>
              <a:rPr lang="en-IN" sz="2600" dirty="0" smtClean="0"/>
              <a:t>Typical applications like Rescue Mission; Tactical operation, Education</a:t>
            </a:r>
          </a:p>
          <a:p>
            <a:pPr algn="just"/>
            <a:r>
              <a:rPr lang="en-IN" sz="2600" dirty="0" smtClean="0"/>
              <a:t>In spite of such volatility, RWN is expected to deliver diverse traffic types ranging from pure voice to integrated voice, image and even possibly some limited video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590342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 smtClean="0"/>
              <a:t>RWN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7158" y="1428736"/>
            <a:ext cx="8572559" cy="4697427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endParaRPr lang="en-IN" dirty="0" smtClean="0"/>
          </a:p>
          <a:p>
            <a:pPr algn="just"/>
            <a:r>
              <a:rPr lang="en-IN" sz="2600" dirty="0" smtClean="0"/>
              <a:t>Nodes are equipped with communication devices; powered by limited batteries......results in restrict transmission range, communication activity etc.</a:t>
            </a:r>
          </a:p>
          <a:p>
            <a:pPr algn="just"/>
            <a:r>
              <a:rPr lang="en-IN" sz="2600" dirty="0" smtClean="0"/>
              <a:t>Connectivity between nodes is not a transitive relation</a:t>
            </a:r>
          </a:p>
          <a:p>
            <a:pPr algn="just"/>
            <a:r>
              <a:rPr lang="en-IN" sz="2600" dirty="0" smtClean="0"/>
              <a:t>A hierarchy may improve routing/ mobility management in terms of latency but vulnerable to topological reconfigurations.</a:t>
            </a:r>
          </a:p>
          <a:p>
            <a:pPr algn="just"/>
            <a:r>
              <a:rPr lang="en-IN" sz="2600" dirty="0" smtClean="0"/>
              <a:t>Nodes have fixed Ids and have equal capabilities.</a:t>
            </a:r>
          </a:p>
          <a:p>
            <a:pPr algn="just"/>
            <a:r>
              <a:rPr lang="en-IN" sz="2600" dirty="0" smtClean="0"/>
              <a:t>It should allow communication between any two nodes; but it is envisioned that a large traffic will be between the nodes those are geographically closed.</a:t>
            </a:r>
          </a:p>
          <a:p>
            <a:pPr algn="just"/>
            <a:endParaRPr lang="en-IN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RWN: Communication Model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7158" y="1428736"/>
            <a:ext cx="8501121" cy="4697427"/>
          </a:xfrm>
        </p:spPr>
        <p:txBody>
          <a:bodyPr/>
          <a:lstStyle/>
          <a:p>
            <a:pPr algn="just">
              <a:buNone/>
            </a:pPr>
            <a:r>
              <a:rPr lang="en-IN" dirty="0" smtClean="0"/>
              <a:t>	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/>
              <a:t>Robust routing &amp; Mobility Management to increase the reliability and availability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/>
              <a:t>Adaptive algorithms to adjust frequently changing radio propagation, network and traffic conditions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/>
              <a:t>Low overhead algorithms to preserve radio communication resource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/>
              <a:t>Multiple routes maintenance between a pair of nodes to avoid congestion.....increases reliability and survivability</a:t>
            </a:r>
          </a:p>
          <a:p>
            <a:pPr algn="just">
              <a:buFont typeface="Wingdings" pitchFamily="2" charset="2"/>
              <a:buChar char="v"/>
            </a:pPr>
            <a:endParaRPr lang="en-IN" dirty="0" smtClean="0"/>
          </a:p>
          <a:p>
            <a:pPr algn="just">
              <a:buFont typeface="Wingdings" pitchFamily="2" charset="2"/>
              <a:buChar char="v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RWN: Routing Features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7158" y="1428736"/>
            <a:ext cx="8501121" cy="4697427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dirty="0" smtClean="0"/>
              <a:t>	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/>
              <a:t>RWN.....</a:t>
            </a:r>
            <a:r>
              <a:rPr lang="en-IN" sz="2600" dirty="0" smtClean="0">
                <a:solidFill>
                  <a:srgbClr val="FF0000"/>
                </a:solidFill>
              </a:rPr>
              <a:t>large geographical network size, large no. of  nodes, fast &amp; varying nodal movement, frequent topological changes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>
                <a:solidFill>
                  <a:schemeClr val="tx1"/>
                </a:solidFill>
              </a:rPr>
              <a:t>Require multiple, loop free routes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/>
              <a:t>Flat routing 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/>
              <a:t>Optimal routes to be discovered</a:t>
            </a:r>
          </a:p>
          <a:p>
            <a:pPr algn="just">
              <a:buFont typeface="Wingdings" pitchFamily="2" charset="2"/>
              <a:buChar char="v"/>
            </a:pPr>
            <a:r>
              <a:rPr lang="en-IN" sz="2600" dirty="0" smtClean="0"/>
              <a:t>Reduces the threat of network congestion</a:t>
            </a:r>
          </a:p>
          <a:p>
            <a:pPr algn="just">
              <a:buFont typeface="Wingdings" pitchFamily="2" charset="2"/>
              <a:buChar char="v"/>
            </a:pPr>
            <a:endParaRPr lang="en-IN" dirty="0" smtClean="0"/>
          </a:p>
          <a:p>
            <a:pPr algn="just">
              <a:buFont typeface="Wingdings" pitchFamily="2" charset="2"/>
              <a:buChar char="v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RWN: Routing Features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039813"/>
            <a:ext cx="7878763" cy="5603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smtClean="0">
                <a:solidFill>
                  <a:schemeClr val="tx1"/>
                </a:solidFill>
              </a:rPr>
              <a:t>Traditional</a:t>
            </a:r>
            <a:r>
              <a:rPr lang="en-US" sz="2800" smtClean="0">
                <a:solidFill>
                  <a:schemeClr val="tx1"/>
                </a:solidFill>
              </a:rPr>
              <a:t> </a:t>
            </a:r>
            <a:r>
              <a:rPr lang="en-US" sz="4000" smtClean="0">
                <a:solidFill>
                  <a:schemeClr val="tx1"/>
                </a:solidFill>
              </a:rPr>
              <a:t>Routing Schemes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219200" y="1795241"/>
            <a:ext cx="7086600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800" dirty="0">
              <a:latin typeface="Arial" pitchFamily="34" charset="0"/>
            </a:endParaRPr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en-US" sz="2000" dirty="0" smtClean="0">
                <a:latin typeface="Arial" pitchFamily="34" charset="0"/>
              </a:rPr>
              <a:t>As seen, the amount of update traffic is quite high in proactive  routing.</a:t>
            </a:r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en-US" sz="2000" dirty="0" smtClean="0">
                <a:latin typeface="Arial" pitchFamily="34" charset="0"/>
              </a:rPr>
              <a:t>In reactive routing, route query is delayed because route information may not be available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dirty="0" smtClean="0">
                <a:latin typeface="Arial" pitchFamily="34" charset="0"/>
              </a:rPr>
              <a:t>	</a:t>
            </a:r>
            <a:r>
              <a:rPr lang="en-US" sz="2000" b="1" dirty="0" smtClean="0">
                <a:latin typeface="Arial" pitchFamily="34" charset="0"/>
              </a:rPr>
              <a:t>ZRP</a:t>
            </a:r>
            <a:r>
              <a:rPr lang="en-US" sz="2000" dirty="0" smtClean="0">
                <a:latin typeface="Arial" pitchFamily="34" charset="0"/>
              </a:rPr>
              <a:t> aims to address the problems by combining the best properties of both approaches.</a:t>
            </a:r>
          </a:p>
          <a:p>
            <a:pPr>
              <a:spcBef>
                <a:spcPct val="50000"/>
              </a:spcBef>
            </a:pPr>
            <a:endParaRPr lang="en-US" sz="2000" dirty="0">
              <a:latin typeface="Arial" pitchFamily="34" charset="0"/>
            </a:endParaRPr>
          </a:p>
          <a:p>
            <a:pPr lvl="1">
              <a:spcBef>
                <a:spcPct val="50000"/>
              </a:spcBef>
            </a:pPr>
            <a:r>
              <a:rPr lang="en-US" sz="2000" dirty="0" smtClean="0">
                <a:latin typeface="Arial" pitchFamily="34" charset="0"/>
              </a:rPr>
              <a:t>•</a:t>
            </a:r>
            <a:endParaRPr lang="en-US" sz="2000" dirty="0">
              <a:latin typeface="Arial" pitchFamily="34" charset="0"/>
            </a:endParaRPr>
          </a:p>
          <a:p>
            <a:pPr>
              <a:spcBef>
                <a:spcPct val="50000"/>
              </a:spcBef>
            </a:pPr>
            <a:endParaRPr lang="en-US" sz="2000" b="1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ZRP: Motivation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295400" y="1428736"/>
            <a:ext cx="6553200" cy="510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sz="2000" dirty="0" smtClean="0">
                <a:latin typeface="Arial" pitchFamily="34" charset="0"/>
              </a:rPr>
              <a:t>.</a:t>
            </a:r>
            <a:endParaRPr lang="en-US" sz="2000" dirty="0">
              <a:latin typeface="Arial" pitchFamily="34" charset="0"/>
            </a:endParaRPr>
          </a:p>
          <a:p>
            <a:pPr marL="457200" indent="-457200" algn="just">
              <a:spcBef>
                <a:spcPct val="50000"/>
              </a:spcBef>
              <a:buFontTx/>
              <a:buChar char="•"/>
            </a:pPr>
            <a:r>
              <a:rPr lang="en-US" sz="2400" dirty="0" smtClean="0">
                <a:latin typeface="Arial" pitchFamily="34" charset="0"/>
              </a:rPr>
              <a:t>ZRP limits the scope of Proactive routing  to the nodes local neighborhood.</a:t>
            </a:r>
          </a:p>
          <a:p>
            <a:pPr marL="914400" lvl="1" indent="-457200" algn="just">
              <a:spcBef>
                <a:spcPct val="50000"/>
              </a:spcBef>
              <a:buFontTx/>
              <a:buChar char="•"/>
            </a:pP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</a:rPr>
              <a:t>Creation of a new link at one end of the network is an important local event; may not be a significant for all the nodes. Thus Instead of informing all, inform only the local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</a:rPr>
              <a:t>neighborhoods;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</a:rPr>
              <a:t>cost will be less.</a:t>
            </a:r>
          </a:p>
          <a:p>
            <a:pPr marL="457200" indent="-457200" algn="just">
              <a:spcBef>
                <a:spcPct val="50000"/>
              </a:spcBef>
              <a:buFontTx/>
              <a:buChar char="•"/>
            </a:pPr>
            <a:r>
              <a:rPr lang="en-US" sz="2400" dirty="0" smtClean="0">
                <a:latin typeface="Arial" pitchFamily="34" charset="0"/>
              </a:rPr>
              <a:t>Search can be global and that could be done by querying only a subset of nodes.</a:t>
            </a:r>
          </a:p>
          <a:p>
            <a:pPr marL="457200" indent="-457200" algn="just">
              <a:spcBef>
                <a:spcPct val="50000"/>
              </a:spcBef>
              <a:buFontTx/>
              <a:buChar char="•"/>
            </a:pPr>
            <a:endParaRPr lang="en-US" sz="2000" dirty="0" smtClean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772400" cy="519113"/>
          </a:xfrm>
        </p:spPr>
        <p:txBody>
          <a:bodyPr/>
          <a:lstStyle/>
          <a:p>
            <a:pPr eaLnBrk="1" hangingPunct="1"/>
            <a:r>
              <a:rPr lang="en-US" sz="2800" b="1" smtClean="0">
                <a:solidFill>
                  <a:schemeClr val="tx1"/>
                </a:solidFill>
                <a:latin typeface="Arial" pitchFamily="34" charset="0"/>
              </a:rPr>
              <a:t>The Zone Routing Protocol</a:t>
            </a:r>
            <a:endParaRPr lang="en-US" sz="2800" smtClean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990600" y="1143000"/>
            <a:ext cx="5715000" cy="57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pitchFamily="34" charset="0"/>
              </a:rPr>
              <a:t>Based on the concept of zones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Arial" pitchFamily="34" charset="0"/>
              </a:rPr>
              <a:t> A zone is defined </a:t>
            </a:r>
            <a:r>
              <a:rPr lang="en-US" sz="2000" dirty="0" smtClean="0">
                <a:latin typeface="Arial" pitchFamily="34" charset="0"/>
              </a:rPr>
              <a:t>(how?) for </a:t>
            </a:r>
            <a:r>
              <a:rPr lang="en-US" sz="2000" dirty="0">
                <a:latin typeface="Arial" pitchFamily="34" charset="0"/>
              </a:rPr>
              <a:t>each node separately</a:t>
            </a:r>
          </a:p>
          <a:p>
            <a:pPr lvl="1">
              <a:spcBef>
                <a:spcPct val="50000"/>
              </a:spcBef>
            </a:pPr>
            <a:r>
              <a:rPr lang="en-US" sz="2000" dirty="0">
                <a:latin typeface="Arial" pitchFamily="34" charset="0"/>
              </a:rPr>
              <a:t>• Zone radius </a:t>
            </a:r>
            <a:r>
              <a:rPr lang="en-US" sz="2000" i="1" dirty="0">
                <a:latin typeface="Symbol,Italic" charset="0"/>
              </a:rPr>
              <a:t>r </a:t>
            </a:r>
            <a:r>
              <a:rPr lang="en-US" sz="2000" dirty="0">
                <a:latin typeface="Arial" pitchFamily="34" charset="0"/>
              </a:rPr>
              <a:t>given as number of hops</a:t>
            </a:r>
          </a:p>
          <a:p>
            <a:pPr lvl="1">
              <a:spcBef>
                <a:spcPct val="50000"/>
              </a:spcBef>
            </a:pPr>
            <a:r>
              <a:rPr lang="en-US" sz="2000" dirty="0">
                <a:latin typeface="Arial" pitchFamily="34" charset="0"/>
              </a:rPr>
              <a:t>• The zones overlap</a:t>
            </a:r>
          </a:p>
          <a:p>
            <a:pPr lvl="1">
              <a:spcBef>
                <a:spcPct val="50000"/>
              </a:spcBef>
            </a:pPr>
            <a:endParaRPr lang="en-US" sz="2000" dirty="0">
              <a:latin typeface="Arial" pitchFamily="34" charset="0"/>
            </a:endParaRP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sz="2000" dirty="0"/>
              <a:t> Peripheral nodes</a:t>
            </a:r>
          </a:p>
          <a:p>
            <a:pPr lvl="1">
              <a:spcBef>
                <a:spcPct val="50000"/>
              </a:spcBef>
            </a:pPr>
            <a:r>
              <a:rPr lang="en-US" sz="2000" dirty="0"/>
              <a:t>  G, H, J, and I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sz="2000" dirty="0"/>
              <a:t> Neighbor nodes</a:t>
            </a:r>
          </a:p>
          <a:p>
            <a:pPr lvl="1">
              <a:spcBef>
                <a:spcPct val="50000"/>
              </a:spcBef>
            </a:pPr>
            <a:r>
              <a:rPr lang="en-US" sz="2000" dirty="0"/>
              <a:t>  B, C, ….</a:t>
            </a:r>
          </a:p>
          <a:p>
            <a:pPr lvl="1">
              <a:spcBef>
                <a:spcPct val="50000"/>
              </a:spcBef>
            </a:pPr>
            <a:endParaRPr lang="en-US" sz="2000" dirty="0"/>
          </a:p>
          <a:p>
            <a:pPr lvl="1">
              <a:spcBef>
                <a:spcPct val="50000"/>
              </a:spcBef>
            </a:pPr>
            <a:endParaRPr lang="en-US" sz="2000" dirty="0"/>
          </a:p>
          <a:p>
            <a:pPr lvl="1">
              <a:spcBef>
                <a:spcPct val="50000"/>
              </a:spcBef>
            </a:pPr>
            <a:r>
              <a:rPr lang="en-US" sz="2000" dirty="0"/>
              <a:t>We depict zones as circles, but they are not.</a:t>
            </a:r>
            <a:endParaRPr lang="en-US" sz="1600" dirty="0">
              <a:latin typeface="Arial" pitchFamily="34" charset="0"/>
            </a:endParaRPr>
          </a:p>
        </p:txBody>
      </p:sp>
      <p:pic>
        <p:nvPicPr>
          <p:cNvPr id="13316" name="Picture 2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2347913"/>
            <a:ext cx="4191000" cy="334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7" name="Text Box 21"/>
          <p:cNvSpPr txBox="1">
            <a:spLocks noChangeArrowheads="1"/>
          </p:cNvSpPr>
          <p:nvPr/>
        </p:nvSpPr>
        <p:spPr bwMode="auto">
          <a:xfrm>
            <a:off x="5105400" y="57150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 = 2 (hops)</a:t>
            </a:r>
          </a:p>
        </p:txBody>
      </p:sp>
      <p:sp>
        <p:nvSpPr>
          <p:cNvPr id="13318" name="Text Box 29"/>
          <p:cNvSpPr txBox="1">
            <a:spLocks noChangeArrowheads="1"/>
          </p:cNvSpPr>
          <p:nvPr/>
        </p:nvSpPr>
        <p:spPr bwMode="auto">
          <a:xfrm>
            <a:off x="7391400" y="3429000"/>
            <a:ext cx="15636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Center of S-zone</a:t>
            </a:r>
          </a:p>
        </p:txBody>
      </p:sp>
      <p:sp>
        <p:nvSpPr>
          <p:cNvPr id="13319" name="Freeform 30"/>
          <p:cNvSpPr>
            <a:spLocks/>
          </p:cNvSpPr>
          <p:nvPr/>
        </p:nvSpPr>
        <p:spPr bwMode="auto">
          <a:xfrm>
            <a:off x="6477000" y="3695700"/>
            <a:ext cx="1546225" cy="641350"/>
          </a:xfrm>
          <a:custGeom>
            <a:avLst/>
            <a:gdLst>
              <a:gd name="T0" fmla="*/ 1546225 w 974"/>
              <a:gd name="T1" fmla="*/ 0 h 404"/>
              <a:gd name="T2" fmla="*/ 990600 w 974"/>
              <a:gd name="T3" fmla="*/ 571500 h 404"/>
              <a:gd name="T4" fmla="*/ 0 w 974"/>
              <a:gd name="T5" fmla="*/ 419100 h 404"/>
              <a:gd name="T6" fmla="*/ 0 60000 65536"/>
              <a:gd name="T7" fmla="*/ 0 60000 65536"/>
              <a:gd name="T8" fmla="*/ 0 60000 65536"/>
              <a:gd name="T9" fmla="*/ 0 w 974"/>
              <a:gd name="T10" fmla="*/ 0 h 404"/>
              <a:gd name="T11" fmla="*/ 974 w 974"/>
              <a:gd name="T12" fmla="*/ 404 h 4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4" h="404">
                <a:moveTo>
                  <a:pt x="974" y="0"/>
                </a:moveTo>
                <a:cubicBezTo>
                  <a:pt x="916" y="59"/>
                  <a:pt x="786" y="316"/>
                  <a:pt x="624" y="360"/>
                </a:cubicBezTo>
                <a:cubicBezTo>
                  <a:pt x="462" y="404"/>
                  <a:pt x="228" y="320"/>
                  <a:pt x="0" y="264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772400" cy="519113"/>
          </a:xfrm>
        </p:spPr>
        <p:txBody>
          <a:bodyPr/>
          <a:lstStyle/>
          <a:p>
            <a:pPr eaLnBrk="1" hangingPunct="1"/>
            <a:r>
              <a:rPr lang="en-US" sz="2800" b="1" smtClean="0">
                <a:solidFill>
                  <a:schemeClr val="tx1"/>
                </a:solidFill>
                <a:latin typeface="Arial" pitchFamily="34" charset="0"/>
              </a:rPr>
              <a:t>The Zone Routing Protocol</a:t>
            </a:r>
            <a:endParaRPr lang="en-US" sz="2800" smtClean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990600" y="1143000"/>
            <a:ext cx="57150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Arial" pitchFamily="34" charset="0"/>
              </a:rPr>
              <a:t>Based on the concept of zones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sz="2000">
                <a:latin typeface="Arial" pitchFamily="34" charset="0"/>
              </a:rPr>
              <a:t> A zone is defined for each node separately</a:t>
            </a:r>
          </a:p>
          <a:p>
            <a:pPr lvl="1">
              <a:spcBef>
                <a:spcPct val="50000"/>
              </a:spcBef>
            </a:pPr>
            <a:r>
              <a:rPr lang="en-US" sz="2000">
                <a:latin typeface="Arial" pitchFamily="34" charset="0"/>
              </a:rPr>
              <a:t>• Zone radius </a:t>
            </a:r>
            <a:r>
              <a:rPr lang="en-US" sz="2000" i="1">
                <a:latin typeface="Symbol,Italic" charset="0"/>
              </a:rPr>
              <a:t>r </a:t>
            </a:r>
            <a:r>
              <a:rPr lang="en-US" sz="2000">
                <a:latin typeface="Arial" pitchFamily="34" charset="0"/>
              </a:rPr>
              <a:t>given as number of hops</a:t>
            </a:r>
          </a:p>
          <a:p>
            <a:pPr lvl="1">
              <a:spcBef>
                <a:spcPct val="50000"/>
              </a:spcBef>
            </a:pPr>
            <a:r>
              <a:rPr lang="en-US" sz="2000">
                <a:latin typeface="Arial" pitchFamily="34" charset="0"/>
              </a:rPr>
              <a:t>• The zones overlap</a:t>
            </a:r>
          </a:p>
          <a:p>
            <a:pPr lvl="1">
              <a:spcBef>
                <a:spcPct val="50000"/>
              </a:spcBef>
            </a:pPr>
            <a:endParaRPr lang="en-US" sz="2000">
              <a:latin typeface="Arial" pitchFamily="34" charset="0"/>
            </a:endParaRP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sz="2000"/>
              <a:t> Peripheral nodes</a:t>
            </a:r>
          </a:p>
          <a:p>
            <a:pPr lvl="1">
              <a:spcBef>
                <a:spcPct val="50000"/>
              </a:spcBef>
            </a:pPr>
            <a:r>
              <a:rPr lang="en-US" sz="2000"/>
              <a:t>  G, H, J, and I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sz="2000"/>
              <a:t> Neighbor nodes</a:t>
            </a:r>
          </a:p>
          <a:p>
            <a:pPr lvl="1">
              <a:spcBef>
                <a:spcPct val="50000"/>
              </a:spcBef>
            </a:pPr>
            <a:r>
              <a:rPr lang="en-US" sz="2000"/>
              <a:t>  B, C, ….</a:t>
            </a:r>
          </a:p>
          <a:p>
            <a:pPr lvl="1">
              <a:spcBef>
                <a:spcPct val="50000"/>
              </a:spcBef>
            </a:pPr>
            <a:endParaRPr lang="en-US" sz="2000"/>
          </a:p>
          <a:p>
            <a:pPr lvl="1">
              <a:spcBef>
                <a:spcPct val="50000"/>
              </a:spcBef>
            </a:pPr>
            <a:endParaRPr lang="en-US" sz="2000"/>
          </a:p>
          <a:p>
            <a:pPr lvl="1">
              <a:spcBef>
                <a:spcPct val="50000"/>
              </a:spcBef>
            </a:pPr>
            <a:r>
              <a:rPr lang="en-US" sz="2000"/>
              <a:t>We depict zones as circles, but they are not.</a:t>
            </a:r>
            <a:endParaRPr lang="en-US" sz="1600">
              <a:latin typeface="Arial" pitchFamily="34" charset="0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2438400"/>
            <a:ext cx="4191000" cy="334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105400" y="57150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 = 2 (hops)</a:t>
            </a:r>
          </a:p>
        </p:txBody>
      </p:sp>
      <p:sp>
        <p:nvSpPr>
          <p:cNvPr id="14342" name="Freeform 6"/>
          <p:cNvSpPr>
            <a:spLocks/>
          </p:cNvSpPr>
          <p:nvPr/>
        </p:nvSpPr>
        <p:spPr bwMode="auto">
          <a:xfrm>
            <a:off x="4876800" y="3048000"/>
            <a:ext cx="3657600" cy="2514600"/>
          </a:xfrm>
          <a:custGeom>
            <a:avLst/>
            <a:gdLst>
              <a:gd name="T0" fmla="*/ 2209800 w 2304"/>
              <a:gd name="T1" fmla="*/ 76200 h 1584"/>
              <a:gd name="T2" fmla="*/ 1371600 w 2304"/>
              <a:gd name="T3" fmla="*/ 0 h 1584"/>
              <a:gd name="T4" fmla="*/ 685800 w 2304"/>
              <a:gd name="T5" fmla="*/ 457200 h 1584"/>
              <a:gd name="T6" fmla="*/ 228600 w 2304"/>
              <a:gd name="T7" fmla="*/ 1066800 h 1584"/>
              <a:gd name="T8" fmla="*/ 0 w 2304"/>
              <a:gd name="T9" fmla="*/ 2133600 h 1584"/>
              <a:gd name="T10" fmla="*/ 457200 w 2304"/>
              <a:gd name="T11" fmla="*/ 2514600 h 1584"/>
              <a:gd name="T12" fmla="*/ 1371600 w 2304"/>
              <a:gd name="T13" fmla="*/ 2057400 h 1584"/>
              <a:gd name="T14" fmla="*/ 2286000 w 2304"/>
              <a:gd name="T15" fmla="*/ 1981200 h 1584"/>
              <a:gd name="T16" fmla="*/ 3657600 w 2304"/>
              <a:gd name="T17" fmla="*/ 1981200 h 1584"/>
              <a:gd name="T18" fmla="*/ 3657600 w 2304"/>
              <a:gd name="T19" fmla="*/ 1295400 h 1584"/>
              <a:gd name="T20" fmla="*/ 2590800 w 2304"/>
              <a:gd name="T21" fmla="*/ 914400 h 1584"/>
              <a:gd name="T22" fmla="*/ 2209800 w 2304"/>
              <a:gd name="T23" fmla="*/ 76200 h 158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304"/>
              <a:gd name="T37" fmla="*/ 0 h 1584"/>
              <a:gd name="T38" fmla="*/ 2304 w 2304"/>
              <a:gd name="T39" fmla="*/ 1584 h 158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304" h="1584">
                <a:moveTo>
                  <a:pt x="1392" y="48"/>
                </a:moveTo>
                <a:lnTo>
                  <a:pt x="864" y="0"/>
                </a:lnTo>
                <a:lnTo>
                  <a:pt x="432" y="288"/>
                </a:lnTo>
                <a:lnTo>
                  <a:pt x="144" y="672"/>
                </a:lnTo>
                <a:lnTo>
                  <a:pt x="0" y="1344"/>
                </a:lnTo>
                <a:lnTo>
                  <a:pt x="288" y="1584"/>
                </a:lnTo>
                <a:lnTo>
                  <a:pt x="864" y="1296"/>
                </a:lnTo>
                <a:lnTo>
                  <a:pt x="1440" y="1248"/>
                </a:lnTo>
                <a:lnTo>
                  <a:pt x="2304" y="1248"/>
                </a:lnTo>
                <a:lnTo>
                  <a:pt x="2304" y="816"/>
                </a:lnTo>
                <a:lnTo>
                  <a:pt x="1632" y="576"/>
                </a:lnTo>
                <a:lnTo>
                  <a:pt x="1392" y="48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IN"/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7070725" y="5243513"/>
            <a:ext cx="157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Center of E-zone</a:t>
            </a:r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 flipH="1" flipV="1">
            <a:off x="6705600" y="4876800"/>
            <a:ext cx="4572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132638" cy="6080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Proactive Intra-zone Routing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28596" y="1357298"/>
            <a:ext cx="848680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pitchFamily="34" charset="0"/>
              </a:rPr>
              <a:t>ZRP refers to the locally proactive routing component as </a:t>
            </a:r>
            <a:r>
              <a:rPr lang="en-US" sz="2000" b="1" dirty="0">
                <a:latin typeface="Arial" pitchFamily="34" charset="0"/>
              </a:rPr>
              <a:t>IARP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latin typeface="Arial" pitchFamily="34" charset="0"/>
              </a:rPr>
              <a:t>IARP is not a specific routing protocols. Instead, IARP is a family of proactive routing protocols.  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2735284"/>
            <a:ext cx="4724400" cy="376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1295400" y="44958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000"/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571472" y="2714620"/>
            <a:ext cx="2933728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200" dirty="0">
                <a:latin typeface="Arial" pitchFamily="34" charset="0"/>
              </a:rPr>
              <a:t>Each node maintains the routing info to all nodes in its zone</a:t>
            </a:r>
          </a:p>
          <a:p>
            <a:pPr algn="just">
              <a:spcBef>
                <a:spcPct val="50000"/>
              </a:spcBef>
            </a:pPr>
            <a:r>
              <a:rPr lang="en-US" sz="2200" dirty="0">
                <a:latin typeface="Arial" pitchFamily="34" charset="0"/>
              </a:rPr>
              <a:t>The updates are only local in the zone. </a:t>
            </a:r>
          </a:p>
          <a:p>
            <a:pPr>
              <a:spcBef>
                <a:spcPct val="50000"/>
              </a:spcBef>
            </a:pPr>
            <a:r>
              <a:rPr lang="en-US" sz="2200" dirty="0" smtClean="0">
                <a:latin typeface="Arial" pitchFamily="34" charset="0"/>
              </a:rPr>
              <a:t>Reduces the  </a:t>
            </a:r>
            <a:r>
              <a:rPr lang="en-US" sz="2200" dirty="0">
                <a:latin typeface="Arial" pitchFamily="34" charset="0"/>
              </a:rPr>
              <a:t>maintenance costs to a limited zone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143000" y="304800"/>
            <a:ext cx="72390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 How does </a:t>
            </a:r>
            <a:r>
              <a:rPr lang="en-US" sz="3600" dirty="0" smtClean="0">
                <a:solidFill>
                  <a:schemeClr val="tx2"/>
                </a:solidFill>
              </a:rPr>
              <a:t>Intra Zone </a:t>
            </a:r>
            <a:r>
              <a:rPr lang="en-US" sz="3600" dirty="0">
                <a:solidFill>
                  <a:schemeClr val="tx2"/>
                </a:solidFill>
              </a:rPr>
              <a:t>work ?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7171" name="Oval 4"/>
          <p:cNvSpPr>
            <a:spLocks noChangeArrowheads="1"/>
          </p:cNvSpPr>
          <p:nvPr/>
        </p:nvSpPr>
        <p:spPr bwMode="auto">
          <a:xfrm>
            <a:off x="1790700" y="2286000"/>
            <a:ext cx="381000" cy="304800"/>
          </a:xfrm>
          <a:prstGeom prst="ellipse">
            <a:avLst/>
          </a:prstGeom>
          <a:solidFill>
            <a:srgbClr val="CC66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7172" name="Oval 5"/>
          <p:cNvSpPr>
            <a:spLocks noChangeArrowheads="1"/>
          </p:cNvSpPr>
          <p:nvPr/>
        </p:nvSpPr>
        <p:spPr bwMode="auto">
          <a:xfrm>
            <a:off x="1333500" y="26670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7173" name="Oval 6"/>
          <p:cNvSpPr>
            <a:spLocks noChangeArrowheads="1"/>
          </p:cNvSpPr>
          <p:nvPr/>
        </p:nvSpPr>
        <p:spPr bwMode="auto">
          <a:xfrm>
            <a:off x="1866900" y="12954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7174" name="Oval 7"/>
          <p:cNvSpPr>
            <a:spLocks noChangeArrowheads="1"/>
          </p:cNvSpPr>
          <p:nvPr/>
        </p:nvSpPr>
        <p:spPr bwMode="auto">
          <a:xfrm>
            <a:off x="1257300" y="35052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7175" name="Oval 8"/>
          <p:cNvSpPr>
            <a:spLocks noChangeArrowheads="1"/>
          </p:cNvSpPr>
          <p:nvPr/>
        </p:nvSpPr>
        <p:spPr bwMode="auto">
          <a:xfrm>
            <a:off x="876300" y="19050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7176" name="Oval 9"/>
          <p:cNvSpPr>
            <a:spLocks noChangeArrowheads="1"/>
          </p:cNvSpPr>
          <p:nvPr/>
        </p:nvSpPr>
        <p:spPr bwMode="auto">
          <a:xfrm>
            <a:off x="2857500" y="20574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7177" name="Oval 10"/>
          <p:cNvSpPr>
            <a:spLocks noChangeArrowheads="1"/>
          </p:cNvSpPr>
          <p:nvPr/>
        </p:nvSpPr>
        <p:spPr bwMode="auto">
          <a:xfrm>
            <a:off x="2705100" y="14478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7178" name="Oval 11"/>
          <p:cNvSpPr>
            <a:spLocks noChangeArrowheads="1"/>
          </p:cNvSpPr>
          <p:nvPr/>
        </p:nvSpPr>
        <p:spPr bwMode="auto">
          <a:xfrm>
            <a:off x="2476500" y="2590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7179" name="Oval 12"/>
          <p:cNvSpPr>
            <a:spLocks noChangeArrowheads="1"/>
          </p:cNvSpPr>
          <p:nvPr/>
        </p:nvSpPr>
        <p:spPr bwMode="auto">
          <a:xfrm>
            <a:off x="3390900" y="27432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J</a:t>
            </a:r>
          </a:p>
        </p:txBody>
      </p:sp>
      <p:sp>
        <p:nvSpPr>
          <p:cNvPr id="7180" name="Oval 13"/>
          <p:cNvSpPr>
            <a:spLocks noChangeArrowheads="1"/>
          </p:cNvSpPr>
          <p:nvPr/>
        </p:nvSpPr>
        <p:spPr bwMode="auto">
          <a:xfrm>
            <a:off x="2019300" y="33528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7181" name="Oval 14"/>
          <p:cNvSpPr>
            <a:spLocks noChangeArrowheads="1"/>
          </p:cNvSpPr>
          <p:nvPr/>
        </p:nvSpPr>
        <p:spPr bwMode="auto">
          <a:xfrm>
            <a:off x="4457700" y="35814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L</a:t>
            </a:r>
          </a:p>
        </p:txBody>
      </p:sp>
      <p:sp>
        <p:nvSpPr>
          <p:cNvPr id="7182" name="Oval 15"/>
          <p:cNvSpPr>
            <a:spLocks noChangeArrowheads="1"/>
          </p:cNvSpPr>
          <p:nvPr/>
        </p:nvSpPr>
        <p:spPr bwMode="auto">
          <a:xfrm>
            <a:off x="3771900" y="3733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K</a:t>
            </a:r>
          </a:p>
        </p:txBody>
      </p:sp>
      <p:sp>
        <p:nvSpPr>
          <p:cNvPr id="7183" name="Oval 16"/>
          <p:cNvSpPr>
            <a:spLocks noChangeArrowheads="1"/>
          </p:cNvSpPr>
          <p:nvPr/>
        </p:nvSpPr>
        <p:spPr bwMode="auto">
          <a:xfrm>
            <a:off x="4610100" y="2971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7184" name="Oval 17"/>
          <p:cNvSpPr>
            <a:spLocks noChangeArrowheads="1"/>
          </p:cNvSpPr>
          <p:nvPr/>
        </p:nvSpPr>
        <p:spPr bwMode="auto">
          <a:xfrm>
            <a:off x="4000500" y="4419600"/>
            <a:ext cx="381000" cy="3048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7185" name="Oval 18"/>
          <p:cNvSpPr>
            <a:spLocks noChangeArrowheads="1"/>
          </p:cNvSpPr>
          <p:nvPr/>
        </p:nvSpPr>
        <p:spPr bwMode="auto">
          <a:xfrm>
            <a:off x="4152900" y="5257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O</a:t>
            </a:r>
          </a:p>
        </p:txBody>
      </p:sp>
      <p:sp>
        <p:nvSpPr>
          <p:cNvPr id="7186" name="Oval 19"/>
          <p:cNvSpPr>
            <a:spLocks noChangeArrowheads="1"/>
          </p:cNvSpPr>
          <p:nvPr/>
        </p:nvSpPr>
        <p:spPr bwMode="auto">
          <a:xfrm>
            <a:off x="5676900" y="3657600"/>
            <a:ext cx="381000" cy="3048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R</a:t>
            </a:r>
          </a:p>
        </p:txBody>
      </p:sp>
      <p:sp>
        <p:nvSpPr>
          <p:cNvPr id="7187" name="Oval 20"/>
          <p:cNvSpPr>
            <a:spLocks noChangeArrowheads="1"/>
          </p:cNvSpPr>
          <p:nvPr/>
        </p:nvSpPr>
        <p:spPr bwMode="auto">
          <a:xfrm>
            <a:off x="7810500" y="34290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X</a:t>
            </a:r>
          </a:p>
        </p:txBody>
      </p:sp>
      <p:sp>
        <p:nvSpPr>
          <p:cNvPr id="7188" name="Oval 21"/>
          <p:cNvSpPr>
            <a:spLocks noChangeArrowheads="1"/>
          </p:cNvSpPr>
          <p:nvPr/>
        </p:nvSpPr>
        <p:spPr bwMode="auto">
          <a:xfrm>
            <a:off x="4991100" y="4495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Q</a:t>
            </a:r>
          </a:p>
        </p:txBody>
      </p:sp>
      <p:sp>
        <p:nvSpPr>
          <p:cNvPr id="7189" name="Oval 22"/>
          <p:cNvSpPr>
            <a:spLocks noChangeArrowheads="1"/>
          </p:cNvSpPr>
          <p:nvPr/>
        </p:nvSpPr>
        <p:spPr bwMode="auto">
          <a:xfrm>
            <a:off x="6362700" y="31242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S</a:t>
            </a:r>
          </a:p>
        </p:txBody>
      </p:sp>
      <p:sp>
        <p:nvSpPr>
          <p:cNvPr id="7190" name="Oval 23"/>
          <p:cNvSpPr>
            <a:spLocks noChangeArrowheads="1"/>
          </p:cNvSpPr>
          <p:nvPr/>
        </p:nvSpPr>
        <p:spPr bwMode="auto">
          <a:xfrm>
            <a:off x="6896100" y="2667000"/>
            <a:ext cx="381000" cy="304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T</a:t>
            </a:r>
          </a:p>
        </p:txBody>
      </p:sp>
      <p:sp>
        <p:nvSpPr>
          <p:cNvPr id="7191" name="Oval 24"/>
          <p:cNvSpPr>
            <a:spLocks noChangeArrowheads="1"/>
          </p:cNvSpPr>
          <p:nvPr/>
        </p:nvSpPr>
        <p:spPr bwMode="auto">
          <a:xfrm>
            <a:off x="7124700" y="3352800"/>
            <a:ext cx="381000" cy="304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W</a:t>
            </a:r>
          </a:p>
        </p:txBody>
      </p:sp>
      <p:sp>
        <p:nvSpPr>
          <p:cNvPr id="7192" name="Oval 25"/>
          <p:cNvSpPr>
            <a:spLocks noChangeArrowheads="1"/>
          </p:cNvSpPr>
          <p:nvPr/>
        </p:nvSpPr>
        <p:spPr bwMode="auto">
          <a:xfrm>
            <a:off x="4610100" y="50292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7193" name="Oval 26"/>
          <p:cNvSpPr>
            <a:spLocks noChangeArrowheads="1"/>
          </p:cNvSpPr>
          <p:nvPr/>
        </p:nvSpPr>
        <p:spPr bwMode="auto">
          <a:xfrm>
            <a:off x="6438900" y="42672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V</a:t>
            </a:r>
          </a:p>
        </p:txBody>
      </p:sp>
      <p:sp>
        <p:nvSpPr>
          <p:cNvPr id="7194" name="Oval 27"/>
          <p:cNvSpPr>
            <a:spLocks noChangeArrowheads="1"/>
          </p:cNvSpPr>
          <p:nvPr/>
        </p:nvSpPr>
        <p:spPr bwMode="auto">
          <a:xfrm>
            <a:off x="6591300" y="35814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U</a:t>
            </a:r>
          </a:p>
        </p:txBody>
      </p:sp>
      <p:sp>
        <p:nvSpPr>
          <p:cNvPr id="7195" name="Line 28"/>
          <p:cNvSpPr>
            <a:spLocks noChangeShapeType="1"/>
          </p:cNvSpPr>
          <p:nvPr/>
        </p:nvSpPr>
        <p:spPr bwMode="auto">
          <a:xfrm flipV="1">
            <a:off x="1638300" y="2514600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196" name="Line 29"/>
          <p:cNvSpPr>
            <a:spLocks noChangeShapeType="1"/>
          </p:cNvSpPr>
          <p:nvPr/>
        </p:nvSpPr>
        <p:spPr bwMode="auto">
          <a:xfrm flipV="1">
            <a:off x="2019300" y="1600200"/>
            <a:ext cx="76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197" name="Line 30"/>
          <p:cNvSpPr>
            <a:spLocks noChangeShapeType="1"/>
          </p:cNvSpPr>
          <p:nvPr/>
        </p:nvSpPr>
        <p:spPr bwMode="auto">
          <a:xfrm flipH="1" flipV="1">
            <a:off x="1181100" y="2133600"/>
            <a:ext cx="228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198" name="Line 31"/>
          <p:cNvSpPr>
            <a:spLocks noChangeShapeType="1"/>
          </p:cNvSpPr>
          <p:nvPr/>
        </p:nvSpPr>
        <p:spPr bwMode="auto">
          <a:xfrm flipV="1">
            <a:off x="1409700" y="2971800"/>
            <a:ext cx="76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199" name="Line 32"/>
          <p:cNvSpPr>
            <a:spLocks noChangeShapeType="1"/>
          </p:cNvSpPr>
          <p:nvPr/>
        </p:nvSpPr>
        <p:spPr bwMode="auto">
          <a:xfrm>
            <a:off x="1638300" y="2895600"/>
            <a:ext cx="457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0" name="Line 33"/>
          <p:cNvSpPr>
            <a:spLocks noChangeShapeType="1"/>
          </p:cNvSpPr>
          <p:nvPr/>
        </p:nvSpPr>
        <p:spPr bwMode="auto">
          <a:xfrm>
            <a:off x="2019300" y="2514600"/>
            <a:ext cx="533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1" name="Line 34"/>
          <p:cNvSpPr>
            <a:spLocks noChangeShapeType="1"/>
          </p:cNvSpPr>
          <p:nvPr/>
        </p:nvSpPr>
        <p:spPr bwMode="auto">
          <a:xfrm flipV="1">
            <a:off x="2781300" y="228600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2" name="Line 35"/>
          <p:cNvSpPr>
            <a:spLocks noChangeShapeType="1"/>
          </p:cNvSpPr>
          <p:nvPr/>
        </p:nvSpPr>
        <p:spPr bwMode="auto">
          <a:xfrm flipH="1" flipV="1">
            <a:off x="2933700" y="1752600"/>
            <a:ext cx="76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3" name="Line 36"/>
          <p:cNvSpPr>
            <a:spLocks noChangeShapeType="1"/>
          </p:cNvSpPr>
          <p:nvPr/>
        </p:nvSpPr>
        <p:spPr bwMode="auto">
          <a:xfrm>
            <a:off x="2247900" y="1447800"/>
            <a:ext cx="533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4" name="Line 37"/>
          <p:cNvSpPr>
            <a:spLocks noChangeShapeType="1"/>
          </p:cNvSpPr>
          <p:nvPr/>
        </p:nvSpPr>
        <p:spPr bwMode="auto">
          <a:xfrm>
            <a:off x="2781300" y="28194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5" name="Line 38"/>
          <p:cNvSpPr>
            <a:spLocks noChangeShapeType="1"/>
          </p:cNvSpPr>
          <p:nvPr/>
        </p:nvSpPr>
        <p:spPr bwMode="auto">
          <a:xfrm>
            <a:off x="3162300" y="2286000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6" name="Line 39"/>
          <p:cNvSpPr>
            <a:spLocks noChangeShapeType="1"/>
          </p:cNvSpPr>
          <p:nvPr/>
        </p:nvSpPr>
        <p:spPr bwMode="auto">
          <a:xfrm>
            <a:off x="3619500" y="3048000"/>
            <a:ext cx="3048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7" name="Line 40"/>
          <p:cNvSpPr>
            <a:spLocks noChangeShapeType="1"/>
          </p:cNvSpPr>
          <p:nvPr/>
        </p:nvSpPr>
        <p:spPr bwMode="auto">
          <a:xfrm>
            <a:off x="3771900" y="2971800"/>
            <a:ext cx="762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8" name="Line 41"/>
          <p:cNvSpPr>
            <a:spLocks noChangeShapeType="1"/>
          </p:cNvSpPr>
          <p:nvPr/>
        </p:nvSpPr>
        <p:spPr bwMode="auto">
          <a:xfrm>
            <a:off x="3771900" y="2819400"/>
            <a:ext cx="914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09" name="Line 42"/>
          <p:cNvSpPr>
            <a:spLocks noChangeShapeType="1"/>
          </p:cNvSpPr>
          <p:nvPr/>
        </p:nvSpPr>
        <p:spPr bwMode="auto">
          <a:xfrm flipV="1">
            <a:off x="4152900" y="3733800"/>
            <a:ext cx="3048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0" name="Line 43"/>
          <p:cNvSpPr>
            <a:spLocks noChangeShapeType="1"/>
          </p:cNvSpPr>
          <p:nvPr/>
        </p:nvSpPr>
        <p:spPr bwMode="auto">
          <a:xfrm flipV="1">
            <a:off x="4686300" y="3276600"/>
            <a:ext cx="76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1" name="Line 44"/>
          <p:cNvSpPr>
            <a:spLocks noChangeShapeType="1"/>
          </p:cNvSpPr>
          <p:nvPr/>
        </p:nvSpPr>
        <p:spPr bwMode="auto">
          <a:xfrm>
            <a:off x="4000500" y="403860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2" name="Line 45"/>
          <p:cNvSpPr>
            <a:spLocks noChangeShapeType="1"/>
          </p:cNvSpPr>
          <p:nvPr/>
        </p:nvSpPr>
        <p:spPr bwMode="auto">
          <a:xfrm>
            <a:off x="4229100" y="4724400"/>
            <a:ext cx="76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3" name="Line 46"/>
          <p:cNvSpPr>
            <a:spLocks noChangeShapeType="1"/>
          </p:cNvSpPr>
          <p:nvPr/>
        </p:nvSpPr>
        <p:spPr bwMode="auto">
          <a:xfrm>
            <a:off x="4305300" y="46482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4" name="Line 47"/>
          <p:cNvSpPr>
            <a:spLocks noChangeShapeType="1"/>
          </p:cNvSpPr>
          <p:nvPr/>
        </p:nvSpPr>
        <p:spPr bwMode="auto">
          <a:xfrm>
            <a:off x="4381500" y="44958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5" name="Line 48"/>
          <p:cNvSpPr>
            <a:spLocks noChangeShapeType="1"/>
          </p:cNvSpPr>
          <p:nvPr/>
        </p:nvSpPr>
        <p:spPr bwMode="auto">
          <a:xfrm flipV="1">
            <a:off x="4533900" y="5257800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6" name="Line 49"/>
          <p:cNvSpPr>
            <a:spLocks noChangeShapeType="1"/>
          </p:cNvSpPr>
          <p:nvPr/>
        </p:nvSpPr>
        <p:spPr bwMode="auto">
          <a:xfrm flipV="1">
            <a:off x="4914900" y="4800600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7" name="Line 50"/>
          <p:cNvSpPr>
            <a:spLocks noChangeShapeType="1"/>
          </p:cNvSpPr>
          <p:nvPr/>
        </p:nvSpPr>
        <p:spPr bwMode="auto">
          <a:xfrm>
            <a:off x="4838700" y="37338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8" name="Line 51"/>
          <p:cNvSpPr>
            <a:spLocks noChangeShapeType="1"/>
          </p:cNvSpPr>
          <p:nvPr/>
        </p:nvSpPr>
        <p:spPr bwMode="auto">
          <a:xfrm flipV="1">
            <a:off x="5372100" y="3962400"/>
            <a:ext cx="457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19" name="Line 52"/>
          <p:cNvSpPr>
            <a:spLocks noChangeShapeType="1"/>
          </p:cNvSpPr>
          <p:nvPr/>
        </p:nvSpPr>
        <p:spPr bwMode="auto">
          <a:xfrm flipV="1">
            <a:off x="6057900" y="3352800"/>
            <a:ext cx="381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0" name="Line 53"/>
          <p:cNvSpPr>
            <a:spLocks noChangeShapeType="1"/>
          </p:cNvSpPr>
          <p:nvPr/>
        </p:nvSpPr>
        <p:spPr bwMode="auto">
          <a:xfrm flipV="1">
            <a:off x="6057900" y="3733800"/>
            <a:ext cx="533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1" name="Line 54"/>
          <p:cNvSpPr>
            <a:spLocks noChangeShapeType="1"/>
          </p:cNvSpPr>
          <p:nvPr/>
        </p:nvSpPr>
        <p:spPr bwMode="auto">
          <a:xfrm>
            <a:off x="5981700" y="3886200"/>
            <a:ext cx="533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2" name="Line 55"/>
          <p:cNvSpPr>
            <a:spLocks noChangeShapeType="1"/>
          </p:cNvSpPr>
          <p:nvPr/>
        </p:nvSpPr>
        <p:spPr bwMode="auto">
          <a:xfrm>
            <a:off x="6667500" y="335280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3" name="Line 56"/>
          <p:cNvSpPr>
            <a:spLocks noChangeShapeType="1"/>
          </p:cNvSpPr>
          <p:nvPr/>
        </p:nvSpPr>
        <p:spPr bwMode="auto">
          <a:xfrm flipV="1">
            <a:off x="6743700" y="3886200"/>
            <a:ext cx="76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4" name="Line 57"/>
          <p:cNvSpPr>
            <a:spLocks noChangeShapeType="1"/>
          </p:cNvSpPr>
          <p:nvPr/>
        </p:nvSpPr>
        <p:spPr bwMode="auto">
          <a:xfrm flipV="1">
            <a:off x="6667500" y="28956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5" name="Line 58"/>
          <p:cNvSpPr>
            <a:spLocks noChangeShapeType="1"/>
          </p:cNvSpPr>
          <p:nvPr/>
        </p:nvSpPr>
        <p:spPr bwMode="auto">
          <a:xfrm flipV="1">
            <a:off x="6972300" y="3581400"/>
            <a:ext cx="152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6" name="Line 59"/>
          <p:cNvSpPr>
            <a:spLocks noChangeShapeType="1"/>
          </p:cNvSpPr>
          <p:nvPr/>
        </p:nvSpPr>
        <p:spPr bwMode="auto">
          <a:xfrm>
            <a:off x="7200900" y="297180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7" name="Line 60"/>
          <p:cNvSpPr>
            <a:spLocks noChangeShapeType="1"/>
          </p:cNvSpPr>
          <p:nvPr/>
        </p:nvSpPr>
        <p:spPr bwMode="auto">
          <a:xfrm>
            <a:off x="7505700" y="3505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28" name="Oval 61"/>
          <p:cNvSpPr>
            <a:spLocks noChangeArrowheads="1"/>
          </p:cNvSpPr>
          <p:nvPr/>
        </p:nvSpPr>
        <p:spPr bwMode="auto">
          <a:xfrm>
            <a:off x="7048500" y="4572000"/>
            <a:ext cx="381000" cy="304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Z</a:t>
            </a:r>
          </a:p>
        </p:txBody>
      </p:sp>
      <p:sp>
        <p:nvSpPr>
          <p:cNvPr id="7229" name="Oval 62"/>
          <p:cNvSpPr>
            <a:spLocks noChangeArrowheads="1"/>
          </p:cNvSpPr>
          <p:nvPr/>
        </p:nvSpPr>
        <p:spPr bwMode="auto">
          <a:xfrm>
            <a:off x="7886700" y="4191000"/>
            <a:ext cx="3810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Y</a:t>
            </a:r>
          </a:p>
        </p:txBody>
      </p:sp>
      <p:sp>
        <p:nvSpPr>
          <p:cNvPr id="7230" name="Line 63"/>
          <p:cNvSpPr>
            <a:spLocks noChangeShapeType="1"/>
          </p:cNvSpPr>
          <p:nvPr/>
        </p:nvSpPr>
        <p:spPr bwMode="auto">
          <a:xfrm>
            <a:off x="6743700" y="4495800"/>
            <a:ext cx="304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31" name="Line 64"/>
          <p:cNvSpPr>
            <a:spLocks noChangeShapeType="1"/>
          </p:cNvSpPr>
          <p:nvPr/>
        </p:nvSpPr>
        <p:spPr bwMode="auto">
          <a:xfrm flipV="1">
            <a:off x="7353300" y="44196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32" name="Line 65"/>
          <p:cNvSpPr>
            <a:spLocks noChangeShapeType="1"/>
          </p:cNvSpPr>
          <p:nvPr/>
        </p:nvSpPr>
        <p:spPr bwMode="auto">
          <a:xfrm>
            <a:off x="8039100" y="3733800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33" name="Oval 66"/>
          <p:cNvSpPr>
            <a:spLocks noChangeArrowheads="1"/>
          </p:cNvSpPr>
          <p:nvPr/>
        </p:nvSpPr>
        <p:spPr bwMode="auto">
          <a:xfrm>
            <a:off x="876300" y="1219200"/>
            <a:ext cx="2819400" cy="2743200"/>
          </a:xfrm>
          <a:prstGeom prst="ellips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34" name="Text Box 67"/>
          <p:cNvSpPr txBox="1">
            <a:spLocks noChangeArrowheads="1"/>
          </p:cNvSpPr>
          <p:nvPr/>
        </p:nvSpPr>
        <p:spPr bwMode="auto">
          <a:xfrm>
            <a:off x="3619500" y="1219200"/>
            <a:ext cx="2057400" cy="37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0">
                <a:solidFill>
                  <a:schemeClr val="tx1"/>
                </a:solidFill>
              </a:rPr>
              <a:t>Node D’s Zone</a:t>
            </a:r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7235" name="Freeform 68"/>
          <p:cNvSpPr>
            <a:spLocks/>
          </p:cNvSpPr>
          <p:nvPr/>
        </p:nvSpPr>
        <p:spPr bwMode="auto">
          <a:xfrm>
            <a:off x="3467100" y="1524000"/>
            <a:ext cx="698500" cy="469900"/>
          </a:xfrm>
          <a:custGeom>
            <a:avLst/>
            <a:gdLst>
              <a:gd name="T0" fmla="*/ 336 w 440"/>
              <a:gd name="T1" fmla="*/ 0 h 296"/>
              <a:gd name="T2" fmla="*/ 432 w 440"/>
              <a:gd name="T3" fmla="*/ 144 h 296"/>
              <a:gd name="T4" fmla="*/ 288 w 440"/>
              <a:gd name="T5" fmla="*/ 192 h 296"/>
              <a:gd name="T6" fmla="*/ 192 w 440"/>
              <a:gd name="T7" fmla="*/ 288 h 296"/>
              <a:gd name="T8" fmla="*/ 0 w 440"/>
              <a:gd name="T9" fmla="*/ 240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40"/>
              <a:gd name="T16" fmla="*/ 0 h 296"/>
              <a:gd name="T17" fmla="*/ 440 w 440"/>
              <a:gd name="T18" fmla="*/ 296 h 2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40" h="296">
                <a:moveTo>
                  <a:pt x="336" y="0"/>
                </a:moveTo>
                <a:cubicBezTo>
                  <a:pt x="388" y="56"/>
                  <a:pt x="440" y="112"/>
                  <a:pt x="432" y="144"/>
                </a:cubicBezTo>
                <a:cubicBezTo>
                  <a:pt x="424" y="176"/>
                  <a:pt x="328" y="168"/>
                  <a:pt x="288" y="192"/>
                </a:cubicBezTo>
                <a:cubicBezTo>
                  <a:pt x="248" y="216"/>
                  <a:pt x="240" y="280"/>
                  <a:pt x="192" y="288"/>
                </a:cubicBezTo>
                <a:cubicBezTo>
                  <a:pt x="144" y="296"/>
                  <a:pt x="72" y="268"/>
                  <a:pt x="0" y="24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36" name="Text Box 69"/>
          <p:cNvSpPr txBox="1">
            <a:spLocks noChangeArrowheads="1"/>
          </p:cNvSpPr>
          <p:nvPr/>
        </p:nvSpPr>
        <p:spPr bwMode="auto">
          <a:xfrm>
            <a:off x="419100" y="3962400"/>
            <a:ext cx="2133600" cy="657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0">
                <a:solidFill>
                  <a:schemeClr val="tx1"/>
                </a:solidFill>
              </a:rPr>
              <a:t>Border Nodes as seen by Node D</a:t>
            </a:r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7237" name="Freeform 70"/>
          <p:cNvSpPr>
            <a:spLocks/>
          </p:cNvSpPr>
          <p:nvPr/>
        </p:nvSpPr>
        <p:spPr bwMode="auto">
          <a:xfrm>
            <a:off x="558800" y="2006600"/>
            <a:ext cx="317500" cy="1803400"/>
          </a:xfrm>
          <a:custGeom>
            <a:avLst/>
            <a:gdLst>
              <a:gd name="T0" fmla="*/ 104 w 200"/>
              <a:gd name="T1" fmla="*/ 1136 h 1136"/>
              <a:gd name="T2" fmla="*/ 56 w 200"/>
              <a:gd name="T3" fmla="*/ 848 h 1136"/>
              <a:gd name="T4" fmla="*/ 152 w 200"/>
              <a:gd name="T5" fmla="*/ 800 h 1136"/>
              <a:gd name="T6" fmla="*/ 8 w 200"/>
              <a:gd name="T7" fmla="*/ 128 h 1136"/>
              <a:gd name="T8" fmla="*/ 200 w 200"/>
              <a:gd name="T9" fmla="*/ 32 h 1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"/>
              <a:gd name="T16" fmla="*/ 0 h 1136"/>
              <a:gd name="T17" fmla="*/ 200 w 200"/>
              <a:gd name="T18" fmla="*/ 1136 h 1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" h="1136">
                <a:moveTo>
                  <a:pt x="104" y="1136"/>
                </a:moveTo>
                <a:cubicBezTo>
                  <a:pt x="76" y="1020"/>
                  <a:pt x="48" y="904"/>
                  <a:pt x="56" y="848"/>
                </a:cubicBezTo>
                <a:cubicBezTo>
                  <a:pt x="64" y="792"/>
                  <a:pt x="160" y="920"/>
                  <a:pt x="152" y="800"/>
                </a:cubicBezTo>
                <a:cubicBezTo>
                  <a:pt x="144" y="680"/>
                  <a:pt x="0" y="256"/>
                  <a:pt x="8" y="128"/>
                </a:cubicBezTo>
                <a:cubicBezTo>
                  <a:pt x="16" y="0"/>
                  <a:pt x="108" y="16"/>
                  <a:pt x="200" y="3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38" name="Freeform 71"/>
          <p:cNvSpPr>
            <a:spLocks/>
          </p:cNvSpPr>
          <p:nvPr/>
        </p:nvSpPr>
        <p:spPr bwMode="auto">
          <a:xfrm>
            <a:off x="2324100" y="3657600"/>
            <a:ext cx="165100" cy="457200"/>
          </a:xfrm>
          <a:custGeom>
            <a:avLst/>
            <a:gdLst>
              <a:gd name="T0" fmla="*/ 48 w 104"/>
              <a:gd name="T1" fmla="*/ 288 h 288"/>
              <a:gd name="T2" fmla="*/ 96 w 104"/>
              <a:gd name="T3" fmla="*/ 144 h 288"/>
              <a:gd name="T4" fmla="*/ 0 w 104"/>
              <a:gd name="T5" fmla="*/ 0 h 288"/>
              <a:gd name="T6" fmla="*/ 0 60000 65536"/>
              <a:gd name="T7" fmla="*/ 0 60000 65536"/>
              <a:gd name="T8" fmla="*/ 0 60000 65536"/>
              <a:gd name="T9" fmla="*/ 0 w 104"/>
              <a:gd name="T10" fmla="*/ 0 h 288"/>
              <a:gd name="T11" fmla="*/ 104 w 104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" h="288">
                <a:moveTo>
                  <a:pt x="48" y="288"/>
                </a:moveTo>
                <a:cubicBezTo>
                  <a:pt x="76" y="240"/>
                  <a:pt x="104" y="192"/>
                  <a:pt x="96" y="144"/>
                </a:cubicBezTo>
                <a:cubicBezTo>
                  <a:pt x="88" y="96"/>
                  <a:pt x="44" y="48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39" name="Freeform 72"/>
          <p:cNvSpPr>
            <a:spLocks/>
          </p:cNvSpPr>
          <p:nvPr/>
        </p:nvSpPr>
        <p:spPr bwMode="auto">
          <a:xfrm>
            <a:off x="2476500" y="2971800"/>
            <a:ext cx="914400" cy="1143000"/>
          </a:xfrm>
          <a:custGeom>
            <a:avLst/>
            <a:gdLst>
              <a:gd name="T0" fmla="*/ 0 w 576"/>
              <a:gd name="T1" fmla="*/ 720 h 720"/>
              <a:gd name="T2" fmla="*/ 192 w 576"/>
              <a:gd name="T3" fmla="*/ 576 h 720"/>
              <a:gd name="T4" fmla="*/ 144 w 576"/>
              <a:gd name="T5" fmla="*/ 384 h 720"/>
              <a:gd name="T6" fmla="*/ 576 w 576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720"/>
              <a:gd name="T14" fmla="*/ 576 w 576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720">
                <a:moveTo>
                  <a:pt x="0" y="720"/>
                </a:moveTo>
                <a:cubicBezTo>
                  <a:pt x="84" y="676"/>
                  <a:pt x="168" y="632"/>
                  <a:pt x="192" y="576"/>
                </a:cubicBezTo>
                <a:cubicBezTo>
                  <a:pt x="216" y="520"/>
                  <a:pt x="80" y="480"/>
                  <a:pt x="144" y="384"/>
                </a:cubicBezTo>
                <a:cubicBezTo>
                  <a:pt x="208" y="288"/>
                  <a:pt x="392" y="144"/>
                  <a:pt x="576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40" name="Text Box 73"/>
          <p:cNvSpPr txBox="1">
            <a:spLocks noChangeArrowheads="1"/>
          </p:cNvSpPr>
          <p:nvPr/>
        </p:nvSpPr>
        <p:spPr bwMode="auto">
          <a:xfrm>
            <a:off x="5295900" y="1066800"/>
            <a:ext cx="3581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241" name="Rectangle 74"/>
          <p:cNvSpPr>
            <a:spLocks noChangeArrowheads="1"/>
          </p:cNvSpPr>
          <p:nvPr/>
        </p:nvSpPr>
        <p:spPr bwMode="auto">
          <a:xfrm>
            <a:off x="152400" y="5105400"/>
            <a:ext cx="4038600" cy="16002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42" name="Oval 75"/>
          <p:cNvSpPr>
            <a:spLocks noChangeArrowheads="1"/>
          </p:cNvSpPr>
          <p:nvPr/>
        </p:nvSpPr>
        <p:spPr bwMode="auto">
          <a:xfrm>
            <a:off x="3390900" y="2133600"/>
            <a:ext cx="2667000" cy="2590800"/>
          </a:xfrm>
          <a:prstGeom prst="ellips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243" name="Text Box 76"/>
          <p:cNvSpPr txBox="1">
            <a:spLocks noChangeArrowheads="1"/>
          </p:cNvSpPr>
          <p:nvPr/>
        </p:nvSpPr>
        <p:spPr bwMode="auto">
          <a:xfrm>
            <a:off x="304800" y="5105400"/>
            <a:ext cx="3733800" cy="161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400">
                <a:solidFill>
                  <a:schemeClr val="tx1"/>
                </a:solidFill>
              </a:rPr>
              <a:t>Zone Radius is 2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1400">
                <a:solidFill>
                  <a:schemeClr val="tx1"/>
                </a:solidFill>
              </a:rPr>
              <a:t> D maintains Routes for nodes in zone --IARP  e.g. D knows route to G.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1400">
                <a:solidFill>
                  <a:schemeClr val="tx1"/>
                </a:solidFill>
              </a:rPr>
              <a:t> If node not found, resort to Inter zone search.</a:t>
            </a:r>
          </a:p>
        </p:txBody>
      </p:sp>
      <p:sp>
        <p:nvSpPr>
          <p:cNvPr id="7244" name="Oval 77"/>
          <p:cNvSpPr>
            <a:spLocks noChangeArrowheads="1"/>
          </p:cNvSpPr>
          <p:nvPr/>
        </p:nvSpPr>
        <p:spPr bwMode="auto">
          <a:xfrm>
            <a:off x="5981700" y="2819400"/>
            <a:ext cx="1676400" cy="1981200"/>
          </a:xfrm>
          <a:prstGeom prst="ellips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Reactive Inter-zone Routing</a:t>
            </a:r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500034" y="1600200"/>
            <a:ext cx="8286808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The globally reactive routing component is named </a:t>
            </a:r>
            <a:r>
              <a:rPr lang="en-US" sz="2400" b="1" dirty="0">
                <a:solidFill>
                  <a:srgbClr val="FF0000"/>
                </a:solidFill>
              </a:rPr>
              <a:t>IERP. IERP</a:t>
            </a:r>
            <a:r>
              <a:rPr lang="en-US" sz="2400" dirty="0">
                <a:solidFill>
                  <a:srgbClr val="FF0000"/>
                </a:solidFill>
              </a:rPr>
              <a:t> is responsible for </a:t>
            </a:r>
            <a:r>
              <a:rPr lang="en-US" sz="2400" b="1" dirty="0">
                <a:solidFill>
                  <a:srgbClr val="FF0000"/>
                </a:solidFill>
              </a:rPr>
              <a:t>discovering routes to destinations </a:t>
            </a:r>
            <a:r>
              <a:rPr lang="en-US" sz="2400" dirty="0">
                <a:solidFill>
                  <a:srgbClr val="FF0000"/>
                </a:solidFill>
              </a:rPr>
              <a:t>beyond a node’s routing zone.</a:t>
            </a:r>
          </a:p>
          <a:p>
            <a:pPr>
              <a:spcBef>
                <a:spcPct val="50000"/>
              </a:spcBef>
            </a:pPr>
            <a:endParaRPr lang="en-US" sz="2000" dirty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267200" y="2928938"/>
          <a:ext cx="4876800" cy="3217862"/>
        </p:xfrm>
        <a:graphic>
          <a:graphicData uri="http://schemas.openxmlformats.org/presentationml/2006/ole">
            <p:oleObj spid="_x0000_s128002" name="Bitmap Image" r:id="rId3" imgW="4133333" imgH="3153215" progId="PBrush">
              <p:embed/>
            </p:oleObj>
          </a:graphicData>
        </a:graphic>
      </p:graphicFrame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500034" y="3571876"/>
            <a:ext cx="3386166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For example, when S has a packet to send to x, IERP is responsible for discovering this route.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How does IERP work?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214282" y="457200"/>
            <a:ext cx="70247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</a:rPr>
              <a:t>Bordercasting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28600" y="1785926"/>
            <a:ext cx="86106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2600" dirty="0"/>
              <a:t> </a:t>
            </a:r>
            <a:r>
              <a:rPr lang="en-US" sz="2600" dirty="0" smtClean="0">
                <a:solidFill>
                  <a:srgbClr val="C00000"/>
                </a:solidFill>
              </a:rPr>
              <a:t>Knowledge  of  local routing zone topology can be exploited to relay a query through the network. [Multicasting]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2600" dirty="0" smtClean="0"/>
              <a:t>The </a:t>
            </a:r>
            <a:r>
              <a:rPr lang="en-US" sz="2600" dirty="0"/>
              <a:t>node would direct the </a:t>
            </a:r>
            <a:r>
              <a:rPr lang="en-US" sz="2600" dirty="0">
                <a:solidFill>
                  <a:srgbClr val="C00000"/>
                </a:solidFill>
              </a:rPr>
              <a:t>query message </a:t>
            </a:r>
            <a:r>
              <a:rPr lang="en-US" sz="2600" dirty="0"/>
              <a:t>out only to its </a:t>
            </a:r>
            <a:r>
              <a:rPr lang="en-US" sz="2600" dirty="0">
                <a:solidFill>
                  <a:srgbClr val="C00000"/>
                </a:solidFill>
              </a:rPr>
              <a:t>peripheral nodes</a:t>
            </a:r>
            <a:r>
              <a:rPr lang="en-US" sz="2600" dirty="0" smtClean="0"/>
              <a:t>. [based on routing table]</a:t>
            </a:r>
            <a:endParaRPr lang="en-US" sz="2600" dirty="0"/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2600" dirty="0"/>
              <a:t> </a:t>
            </a:r>
            <a:r>
              <a:rPr lang="en-US" sz="2600" dirty="0" smtClean="0"/>
              <a:t>Compute a border-cast (multicast) tree and append the corresponding packet forwarding Instructions to the </a:t>
            </a:r>
            <a:r>
              <a:rPr lang="en-US" sz="2600" dirty="0" err="1" smtClean="0"/>
              <a:t>bordercast</a:t>
            </a:r>
            <a:r>
              <a:rPr lang="en-US" sz="2600" dirty="0" smtClean="0"/>
              <a:t> packet.</a:t>
            </a:r>
            <a:endParaRPr lang="en-US" sz="2600" dirty="0">
              <a:solidFill>
                <a:srgbClr val="66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214282" y="457200"/>
            <a:ext cx="70247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solidFill>
                  <a:srgbClr val="C00000"/>
                </a:solidFill>
              </a:rPr>
              <a:t>Bordercasting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85720" y="1857364"/>
            <a:ext cx="8610600" cy="389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FontTx/>
              <a:buChar char="•"/>
            </a:pPr>
            <a:r>
              <a:rPr lang="en-US" sz="2600" dirty="0" err="1" smtClean="0"/>
              <a:t>Bordercast</a:t>
            </a:r>
            <a:r>
              <a:rPr lang="en-US" sz="2600" dirty="0" smtClean="0"/>
              <a:t> </a:t>
            </a:r>
            <a:r>
              <a:rPr lang="en-US" sz="2600" dirty="0"/>
              <a:t>nodes would execute the same algorithm that the primary node executed which is: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sz="2600" dirty="0">
                <a:solidFill>
                  <a:srgbClr val="669900"/>
                </a:solidFill>
              </a:rPr>
              <a:t> Check to see if the destination can be found within its zone. (How ?).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sz="2600" dirty="0">
                <a:solidFill>
                  <a:srgbClr val="669900"/>
                </a:solidFill>
              </a:rPr>
              <a:t> If yes, </a:t>
            </a:r>
            <a:r>
              <a:rPr lang="en-US" sz="2600" dirty="0">
                <a:solidFill>
                  <a:srgbClr val="C00000"/>
                </a:solidFill>
              </a:rPr>
              <a:t>send a route-reply back to the source, </a:t>
            </a:r>
            <a:r>
              <a:rPr lang="en-US" sz="2600" dirty="0">
                <a:solidFill>
                  <a:srgbClr val="669900"/>
                </a:solidFill>
              </a:rPr>
              <a:t>indicating the route to the destination.</a:t>
            </a:r>
          </a:p>
          <a:p>
            <a:pPr lvl="1" algn="just">
              <a:spcBef>
                <a:spcPct val="50000"/>
              </a:spcBef>
              <a:buFontTx/>
              <a:buChar char="•"/>
            </a:pPr>
            <a:r>
              <a:rPr lang="en-US" sz="2600" dirty="0">
                <a:solidFill>
                  <a:srgbClr val="669900"/>
                </a:solidFill>
              </a:rPr>
              <a:t> If not, </a:t>
            </a:r>
            <a:r>
              <a:rPr lang="en-US" sz="2600" dirty="0">
                <a:solidFill>
                  <a:srgbClr val="C00000"/>
                </a:solidFill>
              </a:rPr>
              <a:t>forward the route-request to its peripheral nodes </a:t>
            </a:r>
            <a:r>
              <a:rPr lang="en-US" sz="2600" dirty="0">
                <a:solidFill>
                  <a:srgbClr val="669900"/>
                </a:solidFill>
              </a:rPr>
              <a:t>which </a:t>
            </a:r>
            <a:r>
              <a:rPr lang="en-US" sz="2600" dirty="0" smtClean="0">
                <a:solidFill>
                  <a:srgbClr val="669900"/>
                </a:solidFill>
              </a:rPr>
              <a:t>executes </a:t>
            </a:r>
            <a:r>
              <a:rPr lang="en-US" sz="2600" dirty="0">
                <a:solidFill>
                  <a:srgbClr val="669900"/>
                </a:solidFill>
              </a:rPr>
              <a:t>the same procedure.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Oval 2"/>
          <p:cNvSpPr>
            <a:spLocks noChangeArrowheads="1"/>
          </p:cNvSpPr>
          <p:nvPr/>
        </p:nvSpPr>
        <p:spPr bwMode="auto">
          <a:xfrm>
            <a:off x="1790700" y="2286000"/>
            <a:ext cx="381000" cy="304800"/>
          </a:xfrm>
          <a:prstGeom prst="ellipse">
            <a:avLst/>
          </a:prstGeom>
          <a:solidFill>
            <a:srgbClr val="CC66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11267" name="Oval 3"/>
          <p:cNvSpPr>
            <a:spLocks noChangeArrowheads="1"/>
          </p:cNvSpPr>
          <p:nvPr/>
        </p:nvSpPr>
        <p:spPr bwMode="auto">
          <a:xfrm>
            <a:off x="1333500" y="26670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1866900" y="12954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1269" name="Oval 5"/>
          <p:cNvSpPr>
            <a:spLocks noChangeArrowheads="1"/>
          </p:cNvSpPr>
          <p:nvPr/>
        </p:nvSpPr>
        <p:spPr bwMode="auto">
          <a:xfrm>
            <a:off x="1257300" y="35052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1270" name="Oval 6"/>
          <p:cNvSpPr>
            <a:spLocks noChangeArrowheads="1"/>
          </p:cNvSpPr>
          <p:nvPr/>
        </p:nvSpPr>
        <p:spPr bwMode="auto">
          <a:xfrm>
            <a:off x="876300" y="19050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271" name="Oval 7"/>
          <p:cNvSpPr>
            <a:spLocks noChangeArrowheads="1"/>
          </p:cNvSpPr>
          <p:nvPr/>
        </p:nvSpPr>
        <p:spPr bwMode="auto">
          <a:xfrm>
            <a:off x="2857500" y="20574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I</a:t>
            </a:r>
          </a:p>
        </p:txBody>
      </p:sp>
      <p:sp>
        <p:nvSpPr>
          <p:cNvPr id="11272" name="Oval 8"/>
          <p:cNvSpPr>
            <a:spLocks noChangeArrowheads="1"/>
          </p:cNvSpPr>
          <p:nvPr/>
        </p:nvSpPr>
        <p:spPr bwMode="auto">
          <a:xfrm>
            <a:off x="2705100" y="14478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C</a:t>
            </a:r>
          </a:p>
        </p:txBody>
      </p:sp>
      <p:sp>
        <p:nvSpPr>
          <p:cNvPr id="11273" name="Oval 9"/>
          <p:cNvSpPr>
            <a:spLocks noChangeArrowheads="1"/>
          </p:cNvSpPr>
          <p:nvPr/>
        </p:nvSpPr>
        <p:spPr bwMode="auto">
          <a:xfrm>
            <a:off x="2476500" y="2590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1274" name="Oval 10"/>
          <p:cNvSpPr>
            <a:spLocks noChangeArrowheads="1"/>
          </p:cNvSpPr>
          <p:nvPr/>
        </p:nvSpPr>
        <p:spPr bwMode="auto">
          <a:xfrm>
            <a:off x="3390900" y="27432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J</a:t>
            </a:r>
          </a:p>
        </p:txBody>
      </p:sp>
      <p:sp>
        <p:nvSpPr>
          <p:cNvPr id="11275" name="Oval 11"/>
          <p:cNvSpPr>
            <a:spLocks noChangeArrowheads="1"/>
          </p:cNvSpPr>
          <p:nvPr/>
        </p:nvSpPr>
        <p:spPr bwMode="auto">
          <a:xfrm>
            <a:off x="2019300" y="3352800"/>
            <a:ext cx="381000" cy="304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G</a:t>
            </a:r>
          </a:p>
        </p:txBody>
      </p:sp>
      <p:sp>
        <p:nvSpPr>
          <p:cNvPr id="11276" name="Oval 12"/>
          <p:cNvSpPr>
            <a:spLocks noChangeArrowheads="1"/>
          </p:cNvSpPr>
          <p:nvPr/>
        </p:nvSpPr>
        <p:spPr bwMode="auto">
          <a:xfrm>
            <a:off x="4457700" y="35814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L</a:t>
            </a:r>
          </a:p>
        </p:txBody>
      </p:sp>
      <p:sp>
        <p:nvSpPr>
          <p:cNvPr id="11277" name="Oval 13"/>
          <p:cNvSpPr>
            <a:spLocks noChangeArrowheads="1"/>
          </p:cNvSpPr>
          <p:nvPr/>
        </p:nvSpPr>
        <p:spPr bwMode="auto">
          <a:xfrm>
            <a:off x="3771900" y="3733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K</a:t>
            </a:r>
          </a:p>
        </p:txBody>
      </p:sp>
      <p:sp>
        <p:nvSpPr>
          <p:cNvPr id="11278" name="Oval 14"/>
          <p:cNvSpPr>
            <a:spLocks noChangeArrowheads="1"/>
          </p:cNvSpPr>
          <p:nvPr/>
        </p:nvSpPr>
        <p:spPr bwMode="auto">
          <a:xfrm>
            <a:off x="4610100" y="2971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11279" name="Oval 15"/>
          <p:cNvSpPr>
            <a:spLocks noChangeArrowheads="1"/>
          </p:cNvSpPr>
          <p:nvPr/>
        </p:nvSpPr>
        <p:spPr bwMode="auto">
          <a:xfrm>
            <a:off x="4000500" y="4419600"/>
            <a:ext cx="381000" cy="3048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11280" name="Oval 16"/>
          <p:cNvSpPr>
            <a:spLocks noChangeArrowheads="1"/>
          </p:cNvSpPr>
          <p:nvPr/>
        </p:nvSpPr>
        <p:spPr bwMode="auto">
          <a:xfrm>
            <a:off x="4152900" y="5257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O</a:t>
            </a:r>
          </a:p>
        </p:txBody>
      </p:sp>
      <p:sp>
        <p:nvSpPr>
          <p:cNvPr id="11281" name="Oval 17"/>
          <p:cNvSpPr>
            <a:spLocks noChangeArrowheads="1"/>
          </p:cNvSpPr>
          <p:nvPr/>
        </p:nvSpPr>
        <p:spPr bwMode="auto">
          <a:xfrm>
            <a:off x="5676900" y="3657600"/>
            <a:ext cx="381000" cy="3048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R</a:t>
            </a:r>
          </a:p>
        </p:txBody>
      </p:sp>
      <p:sp>
        <p:nvSpPr>
          <p:cNvPr id="11282" name="Oval 18"/>
          <p:cNvSpPr>
            <a:spLocks noChangeArrowheads="1"/>
          </p:cNvSpPr>
          <p:nvPr/>
        </p:nvSpPr>
        <p:spPr bwMode="auto">
          <a:xfrm>
            <a:off x="7810500" y="34290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X</a:t>
            </a:r>
          </a:p>
        </p:txBody>
      </p:sp>
      <p:sp>
        <p:nvSpPr>
          <p:cNvPr id="11283" name="Oval 19"/>
          <p:cNvSpPr>
            <a:spLocks noChangeArrowheads="1"/>
          </p:cNvSpPr>
          <p:nvPr/>
        </p:nvSpPr>
        <p:spPr bwMode="auto">
          <a:xfrm>
            <a:off x="4991100" y="44958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Q</a:t>
            </a:r>
          </a:p>
        </p:txBody>
      </p:sp>
      <p:sp>
        <p:nvSpPr>
          <p:cNvPr id="11284" name="Oval 20"/>
          <p:cNvSpPr>
            <a:spLocks noChangeArrowheads="1"/>
          </p:cNvSpPr>
          <p:nvPr/>
        </p:nvSpPr>
        <p:spPr bwMode="auto">
          <a:xfrm>
            <a:off x="6362700" y="31242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S</a:t>
            </a:r>
          </a:p>
        </p:txBody>
      </p:sp>
      <p:sp>
        <p:nvSpPr>
          <p:cNvPr id="11285" name="Oval 21"/>
          <p:cNvSpPr>
            <a:spLocks noChangeArrowheads="1"/>
          </p:cNvSpPr>
          <p:nvPr/>
        </p:nvSpPr>
        <p:spPr bwMode="auto">
          <a:xfrm>
            <a:off x="6896100" y="2667000"/>
            <a:ext cx="381000" cy="304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T</a:t>
            </a:r>
          </a:p>
        </p:txBody>
      </p:sp>
      <p:sp>
        <p:nvSpPr>
          <p:cNvPr id="11286" name="Oval 22"/>
          <p:cNvSpPr>
            <a:spLocks noChangeArrowheads="1"/>
          </p:cNvSpPr>
          <p:nvPr/>
        </p:nvSpPr>
        <p:spPr bwMode="auto">
          <a:xfrm>
            <a:off x="7124700" y="3352800"/>
            <a:ext cx="381000" cy="304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W</a:t>
            </a:r>
          </a:p>
        </p:txBody>
      </p:sp>
      <p:sp>
        <p:nvSpPr>
          <p:cNvPr id="11287" name="Oval 23"/>
          <p:cNvSpPr>
            <a:spLocks noChangeArrowheads="1"/>
          </p:cNvSpPr>
          <p:nvPr/>
        </p:nvSpPr>
        <p:spPr bwMode="auto">
          <a:xfrm>
            <a:off x="4610100" y="50292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11288" name="Oval 24"/>
          <p:cNvSpPr>
            <a:spLocks noChangeArrowheads="1"/>
          </p:cNvSpPr>
          <p:nvPr/>
        </p:nvSpPr>
        <p:spPr bwMode="auto">
          <a:xfrm>
            <a:off x="6438900" y="42672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V</a:t>
            </a:r>
          </a:p>
        </p:txBody>
      </p:sp>
      <p:sp>
        <p:nvSpPr>
          <p:cNvPr id="11289" name="Oval 25"/>
          <p:cNvSpPr>
            <a:spLocks noChangeArrowheads="1"/>
          </p:cNvSpPr>
          <p:nvPr/>
        </p:nvSpPr>
        <p:spPr bwMode="auto">
          <a:xfrm>
            <a:off x="6591300" y="3581400"/>
            <a:ext cx="381000" cy="304800"/>
          </a:xfrm>
          <a:prstGeom prst="ellipse">
            <a:avLst/>
          </a:prstGeom>
          <a:solidFill>
            <a:srgbClr val="AD6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U</a:t>
            </a:r>
          </a:p>
        </p:txBody>
      </p:sp>
      <p:sp>
        <p:nvSpPr>
          <p:cNvPr id="11290" name="Line 26"/>
          <p:cNvSpPr>
            <a:spLocks noChangeShapeType="1"/>
          </p:cNvSpPr>
          <p:nvPr/>
        </p:nvSpPr>
        <p:spPr bwMode="auto">
          <a:xfrm flipV="1">
            <a:off x="1638300" y="2514600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1" name="Line 27"/>
          <p:cNvSpPr>
            <a:spLocks noChangeShapeType="1"/>
          </p:cNvSpPr>
          <p:nvPr/>
        </p:nvSpPr>
        <p:spPr bwMode="auto">
          <a:xfrm flipV="1">
            <a:off x="2019300" y="1600200"/>
            <a:ext cx="762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2" name="Line 28"/>
          <p:cNvSpPr>
            <a:spLocks noChangeShapeType="1"/>
          </p:cNvSpPr>
          <p:nvPr/>
        </p:nvSpPr>
        <p:spPr bwMode="auto">
          <a:xfrm flipH="1" flipV="1">
            <a:off x="1181100" y="2133600"/>
            <a:ext cx="228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3" name="Line 29"/>
          <p:cNvSpPr>
            <a:spLocks noChangeShapeType="1"/>
          </p:cNvSpPr>
          <p:nvPr/>
        </p:nvSpPr>
        <p:spPr bwMode="auto">
          <a:xfrm flipV="1">
            <a:off x="1409700" y="2971800"/>
            <a:ext cx="76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4" name="Line 30"/>
          <p:cNvSpPr>
            <a:spLocks noChangeShapeType="1"/>
          </p:cNvSpPr>
          <p:nvPr/>
        </p:nvSpPr>
        <p:spPr bwMode="auto">
          <a:xfrm>
            <a:off x="1638300" y="2895600"/>
            <a:ext cx="457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5" name="Line 31"/>
          <p:cNvSpPr>
            <a:spLocks noChangeShapeType="1"/>
          </p:cNvSpPr>
          <p:nvPr/>
        </p:nvSpPr>
        <p:spPr bwMode="auto">
          <a:xfrm>
            <a:off x="2019300" y="2514600"/>
            <a:ext cx="533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6" name="Line 32"/>
          <p:cNvSpPr>
            <a:spLocks noChangeShapeType="1"/>
          </p:cNvSpPr>
          <p:nvPr/>
        </p:nvSpPr>
        <p:spPr bwMode="auto">
          <a:xfrm flipV="1">
            <a:off x="2781300" y="2286000"/>
            <a:ext cx="228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7" name="Line 33"/>
          <p:cNvSpPr>
            <a:spLocks noChangeShapeType="1"/>
          </p:cNvSpPr>
          <p:nvPr/>
        </p:nvSpPr>
        <p:spPr bwMode="auto">
          <a:xfrm flipH="1" flipV="1">
            <a:off x="2933700" y="1752600"/>
            <a:ext cx="76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8" name="Line 34"/>
          <p:cNvSpPr>
            <a:spLocks noChangeShapeType="1"/>
          </p:cNvSpPr>
          <p:nvPr/>
        </p:nvSpPr>
        <p:spPr bwMode="auto">
          <a:xfrm>
            <a:off x="2247900" y="1447800"/>
            <a:ext cx="533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299" name="Line 35"/>
          <p:cNvSpPr>
            <a:spLocks noChangeShapeType="1"/>
          </p:cNvSpPr>
          <p:nvPr/>
        </p:nvSpPr>
        <p:spPr bwMode="auto">
          <a:xfrm>
            <a:off x="2781300" y="28194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0" name="Line 36"/>
          <p:cNvSpPr>
            <a:spLocks noChangeShapeType="1"/>
          </p:cNvSpPr>
          <p:nvPr/>
        </p:nvSpPr>
        <p:spPr bwMode="auto">
          <a:xfrm>
            <a:off x="3162300" y="2286000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1" name="Line 37"/>
          <p:cNvSpPr>
            <a:spLocks noChangeShapeType="1"/>
          </p:cNvSpPr>
          <p:nvPr/>
        </p:nvSpPr>
        <p:spPr bwMode="auto">
          <a:xfrm>
            <a:off x="3619500" y="3048000"/>
            <a:ext cx="3048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2" name="Line 38"/>
          <p:cNvSpPr>
            <a:spLocks noChangeShapeType="1"/>
          </p:cNvSpPr>
          <p:nvPr/>
        </p:nvSpPr>
        <p:spPr bwMode="auto">
          <a:xfrm>
            <a:off x="3771900" y="2971800"/>
            <a:ext cx="762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3" name="Line 39"/>
          <p:cNvSpPr>
            <a:spLocks noChangeShapeType="1"/>
          </p:cNvSpPr>
          <p:nvPr/>
        </p:nvSpPr>
        <p:spPr bwMode="auto">
          <a:xfrm>
            <a:off x="3771900" y="2819400"/>
            <a:ext cx="914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4" name="Line 40"/>
          <p:cNvSpPr>
            <a:spLocks noChangeShapeType="1"/>
          </p:cNvSpPr>
          <p:nvPr/>
        </p:nvSpPr>
        <p:spPr bwMode="auto">
          <a:xfrm flipV="1">
            <a:off x="4152900" y="3733800"/>
            <a:ext cx="3048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5" name="Line 41"/>
          <p:cNvSpPr>
            <a:spLocks noChangeShapeType="1"/>
          </p:cNvSpPr>
          <p:nvPr/>
        </p:nvSpPr>
        <p:spPr bwMode="auto">
          <a:xfrm flipV="1">
            <a:off x="4686300" y="3276600"/>
            <a:ext cx="76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6" name="Line 42"/>
          <p:cNvSpPr>
            <a:spLocks noChangeShapeType="1"/>
          </p:cNvSpPr>
          <p:nvPr/>
        </p:nvSpPr>
        <p:spPr bwMode="auto">
          <a:xfrm>
            <a:off x="4000500" y="403860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7" name="Line 43"/>
          <p:cNvSpPr>
            <a:spLocks noChangeShapeType="1"/>
          </p:cNvSpPr>
          <p:nvPr/>
        </p:nvSpPr>
        <p:spPr bwMode="auto">
          <a:xfrm>
            <a:off x="4229100" y="4724400"/>
            <a:ext cx="76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8" name="Line 44"/>
          <p:cNvSpPr>
            <a:spLocks noChangeShapeType="1"/>
          </p:cNvSpPr>
          <p:nvPr/>
        </p:nvSpPr>
        <p:spPr bwMode="auto">
          <a:xfrm>
            <a:off x="4305300" y="4648200"/>
            <a:ext cx="457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09" name="Line 45"/>
          <p:cNvSpPr>
            <a:spLocks noChangeShapeType="1"/>
          </p:cNvSpPr>
          <p:nvPr/>
        </p:nvSpPr>
        <p:spPr bwMode="auto">
          <a:xfrm>
            <a:off x="4381500" y="44958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0" name="Line 46"/>
          <p:cNvSpPr>
            <a:spLocks noChangeShapeType="1"/>
          </p:cNvSpPr>
          <p:nvPr/>
        </p:nvSpPr>
        <p:spPr bwMode="auto">
          <a:xfrm flipV="1">
            <a:off x="4533900" y="5257800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1" name="Line 47"/>
          <p:cNvSpPr>
            <a:spLocks noChangeShapeType="1"/>
          </p:cNvSpPr>
          <p:nvPr/>
        </p:nvSpPr>
        <p:spPr bwMode="auto">
          <a:xfrm flipV="1">
            <a:off x="4914900" y="4800600"/>
            <a:ext cx="152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2" name="Line 48"/>
          <p:cNvSpPr>
            <a:spLocks noChangeShapeType="1"/>
          </p:cNvSpPr>
          <p:nvPr/>
        </p:nvSpPr>
        <p:spPr bwMode="auto">
          <a:xfrm>
            <a:off x="4838700" y="37338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3" name="Line 49"/>
          <p:cNvSpPr>
            <a:spLocks noChangeShapeType="1"/>
          </p:cNvSpPr>
          <p:nvPr/>
        </p:nvSpPr>
        <p:spPr bwMode="auto">
          <a:xfrm flipV="1">
            <a:off x="5372100" y="3962400"/>
            <a:ext cx="457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4" name="Line 50"/>
          <p:cNvSpPr>
            <a:spLocks noChangeShapeType="1"/>
          </p:cNvSpPr>
          <p:nvPr/>
        </p:nvSpPr>
        <p:spPr bwMode="auto">
          <a:xfrm flipV="1">
            <a:off x="6057900" y="3352800"/>
            <a:ext cx="381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5" name="Line 51"/>
          <p:cNvSpPr>
            <a:spLocks noChangeShapeType="1"/>
          </p:cNvSpPr>
          <p:nvPr/>
        </p:nvSpPr>
        <p:spPr bwMode="auto">
          <a:xfrm flipV="1">
            <a:off x="6057900" y="3733800"/>
            <a:ext cx="533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6" name="Line 52"/>
          <p:cNvSpPr>
            <a:spLocks noChangeShapeType="1"/>
          </p:cNvSpPr>
          <p:nvPr/>
        </p:nvSpPr>
        <p:spPr bwMode="auto">
          <a:xfrm>
            <a:off x="5981700" y="3886200"/>
            <a:ext cx="533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7" name="Line 53"/>
          <p:cNvSpPr>
            <a:spLocks noChangeShapeType="1"/>
          </p:cNvSpPr>
          <p:nvPr/>
        </p:nvSpPr>
        <p:spPr bwMode="auto">
          <a:xfrm>
            <a:off x="6667500" y="335280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8" name="Line 54"/>
          <p:cNvSpPr>
            <a:spLocks noChangeShapeType="1"/>
          </p:cNvSpPr>
          <p:nvPr/>
        </p:nvSpPr>
        <p:spPr bwMode="auto">
          <a:xfrm flipV="1">
            <a:off x="6743700" y="3886200"/>
            <a:ext cx="76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19" name="Line 55"/>
          <p:cNvSpPr>
            <a:spLocks noChangeShapeType="1"/>
          </p:cNvSpPr>
          <p:nvPr/>
        </p:nvSpPr>
        <p:spPr bwMode="auto">
          <a:xfrm flipV="1">
            <a:off x="6667500" y="2895600"/>
            <a:ext cx="3048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20" name="Line 56"/>
          <p:cNvSpPr>
            <a:spLocks noChangeShapeType="1"/>
          </p:cNvSpPr>
          <p:nvPr/>
        </p:nvSpPr>
        <p:spPr bwMode="auto">
          <a:xfrm flipV="1">
            <a:off x="6972300" y="3581400"/>
            <a:ext cx="1524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21" name="Line 57"/>
          <p:cNvSpPr>
            <a:spLocks noChangeShapeType="1"/>
          </p:cNvSpPr>
          <p:nvPr/>
        </p:nvSpPr>
        <p:spPr bwMode="auto">
          <a:xfrm>
            <a:off x="7200900" y="2971800"/>
            <a:ext cx="152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22" name="Line 58"/>
          <p:cNvSpPr>
            <a:spLocks noChangeShapeType="1"/>
          </p:cNvSpPr>
          <p:nvPr/>
        </p:nvSpPr>
        <p:spPr bwMode="auto">
          <a:xfrm>
            <a:off x="7505700" y="3505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23" name="Oval 59"/>
          <p:cNvSpPr>
            <a:spLocks noChangeArrowheads="1"/>
          </p:cNvSpPr>
          <p:nvPr/>
        </p:nvSpPr>
        <p:spPr bwMode="auto">
          <a:xfrm>
            <a:off x="7048500" y="4572000"/>
            <a:ext cx="381000" cy="304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Z</a:t>
            </a:r>
          </a:p>
        </p:txBody>
      </p:sp>
      <p:sp>
        <p:nvSpPr>
          <p:cNvPr id="11324" name="Oval 60"/>
          <p:cNvSpPr>
            <a:spLocks noChangeArrowheads="1"/>
          </p:cNvSpPr>
          <p:nvPr/>
        </p:nvSpPr>
        <p:spPr bwMode="auto">
          <a:xfrm>
            <a:off x="7886700" y="4191000"/>
            <a:ext cx="381000" cy="304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>
                <a:solidFill>
                  <a:srgbClr val="FAFD00"/>
                </a:solidFill>
                <a:latin typeface="Times New Roman" pitchFamily="18" charset="0"/>
              </a:rPr>
              <a:t>Y</a:t>
            </a:r>
          </a:p>
        </p:txBody>
      </p:sp>
      <p:sp>
        <p:nvSpPr>
          <p:cNvPr id="11325" name="Line 61"/>
          <p:cNvSpPr>
            <a:spLocks noChangeShapeType="1"/>
          </p:cNvSpPr>
          <p:nvPr/>
        </p:nvSpPr>
        <p:spPr bwMode="auto">
          <a:xfrm>
            <a:off x="6743700" y="4495800"/>
            <a:ext cx="304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26" name="Line 62"/>
          <p:cNvSpPr>
            <a:spLocks noChangeShapeType="1"/>
          </p:cNvSpPr>
          <p:nvPr/>
        </p:nvSpPr>
        <p:spPr bwMode="auto">
          <a:xfrm flipV="1">
            <a:off x="7353300" y="44196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27" name="Line 63"/>
          <p:cNvSpPr>
            <a:spLocks noChangeShapeType="1"/>
          </p:cNvSpPr>
          <p:nvPr/>
        </p:nvSpPr>
        <p:spPr bwMode="auto">
          <a:xfrm>
            <a:off x="8039100" y="3733800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28" name="Oval 64"/>
          <p:cNvSpPr>
            <a:spLocks noChangeArrowheads="1"/>
          </p:cNvSpPr>
          <p:nvPr/>
        </p:nvSpPr>
        <p:spPr bwMode="auto">
          <a:xfrm>
            <a:off x="876300" y="1219200"/>
            <a:ext cx="2819400" cy="2743200"/>
          </a:xfrm>
          <a:prstGeom prst="ellips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29" name="Text Box 65"/>
          <p:cNvSpPr txBox="1">
            <a:spLocks noChangeArrowheads="1"/>
          </p:cNvSpPr>
          <p:nvPr/>
        </p:nvSpPr>
        <p:spPr bwMode="auto">
          <a:xfrm>
            <a:off x="3619500" y="1219200"/>
            <a:ext cx="2057400" cy="37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0">
                <a:solidFill>
                  <a:schemeClr val="tx1"/>
                </a:solidFill>
              </a:rPr>
              <a:t>Node D’s Zone</a:t>
            </a:r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11330" name="Freeform 66"/>
          <p:cNvSpPr>
            <a:spLocks/>
          </p:cNvSpPr>
          <p:nvPr/>
        </p:nvSpPr>
        <p:spPr bwMode="auto">
          <a:xfrm>
            <a:off x="3467100" y="1524000"/>
            <a:ext cx="698500" cy="469900"/>
          </a:xfrm>
          <a:custGeom>
            <a:avLst/>
            <a:gdLst>
              <a:gd name="T0" fmla="*/ 336 w 440"/>
              <a:gd name="T1" fmla="*/ 0 h 296"/>
              <a:gd name="T2" fmla="*/ 432 w 440"/>
              <a:gd name="T3" fmla="*/ 144 h 296"/>
              <a:gd name="T4" fmla="*/ 288 w 440"/>
              <a:gd name="T5" fmla="*/ 192 h 296"/>
              <a:gd name="T6" fmla="*/ 192 w 440"/>
              <a:gd name="T7" fmla="*/ 288 h 296"/>
              <a:gd name="T8" fmla="*/ 0 w 440"/>
              <a:gd name="T9" fmla="*/ 240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40"/>
              <a:gd name="T16" fmla="*/ 0 h 296"/>
              <a:gd name="T17" fmla="*/ 440 w 440"/>
              <a:gd name="T18" fmla="*/ 296 h 2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40" h="296">
                <a:moveTo>
                  <a:pt x="336" y="0"/>
                </a:moveTo>
                <a:cubicBezTo>
                  <a:pt x="388" y="56"/>
                  <a:pt x="440" y="112"/>
                  <a:pt x="432" y="144"/>
                </a:cubicBezTo>
                <a:cubicBezTo>
                  <a:pt x="424" y="176"/>
                  <a:pt x="328" y="168"/>
                  <a:pt x="288" y="192"/>
                </a:cubicBezTo>
                <a:cubicBezTo>
                  <a:pt x="248" y="216"/>
                  <a:pt x="240" y="280"/>
                  <a:pt x="192" y="288"/>
                </a:cubicBezTo>
                <a:cubicBezTo>
                  <a:pt x="144" y="296"/>
                  <a:pt x="72" y="268"/>
                  <a:pt x="0" y="24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31" name="Text Box 67"/>
          <p:cNvSpPr txBox="1">
            <a:spLocks noChangeArrowheads="1"/>
          </p:cNvSpPr>
          <p:nvPr/>
        </p:nvSpPr>
        <p:spPr bwMode="auto">
          <a:xfrm>
            <a:off x="457200" y="381000"/>
            <a:ext cx="2133600" cy="657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0">
                <a:solidFill>
                  <a:schemeClr val="tx1"/>
                </a:solidFill>
              </a:rPr>
              <a:t>Border Nodes as seen by Node D</a:t>
            </a:r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11332" name="Text Box 71"/>
          <p:cNvSpPr txBox="1">
            <a:spLocks noChangeArrowheads="1"/>
          </p:cNvSpPr>
          <p:nvPr/>
        </p:nvSpPr>
        <p:spPr bwMode="auto">
          <a:xfrm>
            <a:off x="5295900" y="1066800"/>
            <a:ext cx="35814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333" name="Oval 73"/>
          <p:cNvSpPr>
            <a:spLocks noChangeArrowheads="1"/>
          </p:cNvSpPr>
          <p:nvPr/>
        </p:nvSpPr>
        <p:spPr bwMode="auto">
          <a:xfrm>
            <a:off x="3390900" y="2133600"/>
            <a:ext cx="2667000" cy="2590800"/>
          </a:xfrm>
          <a:prstGeom prst="ellips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34" name="Oval 75"/>
          <p:cNvSpPr>
            <a:spLocks noChangeArrowheads="1"/>
          </p:cNvSpPr>
          <p:nvPr/>
        </p:nvSpPr>
        <p:spPr bwMode="auto">
          <a:xfrm>
            <a:off x="5981700" y="2819400"/>
            <a:ext cx="1676400" cy="1981200"/>
          </a:xfrm>
          <a:prstGeom prst="ellips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335" name="Text Box 77"/>
          <p:cNvSpPr txBox="1">
            <a:spLocks noChangeArrowheads="1"/>
          </p:cNvSpPr>
          <p:nvPr/>
        </p:nvSpPr>
        <p:spPr bwMode="auto">
          <a:xfrm>
            <a:off x="76200" y="4267200"/>
            <a:ext cx="3581400" cy="2397125"/>
          </a:xfrm>
          <a:prstGeom prst="rect">
            <a:avLst/>
          </a:prstGeom>
          <a:solidFill>
            <a:srgbClr val="AD6900"/>
          </a:solidFill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1300">
                <a:solidFill>
                  <a:srgbClr val="FDE3BA"/>
                </a:solidFill>
              </a:rPr>
              <a:t> To illustrate IERP let destination be Y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1300">
                <a:solidFill>
                  <a:srgbClr val="FDE3BA"/>
                </a:solidFill>
              </a:rPr>
              <a:t> D bordercasts query to its border nodes.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1300">
                <a:solidFill>
                  <a:srgbClr val="FDE3BA"/>
                </a:solidFill>
              </a:rPr>
              <a:t> J is a border node which bordercasts  again -- to its border nodes N and R.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1300">
                <a:solidFill>
                  <a:srgbClr val="FDE3BA"/>
                </a:solidFill>
              </a:rPr>
              <a:t> R bordercasts  to its border nodes W,T and Z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en-US" sz="1300">
                <a:solidFill>
                  <a:srgbClr val="FDE3BA"/>
                </a:solidFill>
              </a:rPr>
              <a:t> Y is found</a:t>
            </a:r>
            <a:r>
              <a:rPr lang="en-US" sz="1300" b="0">
                <a:solidFill>
                  <a:srgbClr val="FDE3BA"/>
                </a:solidFill>
              </a:rPr>
              <a:t>.</a:t>
            </a:r>
            <a:r>
              <a:rPr lang="en-US" sz="1400" b="0">
                <a:solidFill>
                  <a:srgbClr val="FDE3BA"/>
                </a:solidFill>
              </a:rPr>
              <a:t> </a:t>
            </a:r>
          </a:p>
        </p:txBody>
      </p:sp>
      <p:sp>
        <p:nvSpPr>
          <p:cNvPr id="11336" name="Text Box 78"/>
          <p:cNvSpPr txBox="1">
            <a:spLocks noChangeArrowheads="1"/>
          </p:cNvSpPr>
          <p:nvPr/>
        </p:nvSpPr>
        <p:spPr bwMode="auto">
          <a:xfrm>
            <a:off x="1905000" y="304800"/>
            <a:ext cx="586740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400" dirty="0">
                <a:solidFill>
                  <a:srgbClr val="C00000"/>
                </a:solidFill>
              </a:rPr>
              <a:t>How does IERP work ?</a:t>
            </a:r>
          </a:p>
        </p:txBody>
      </p:sp>
      <p:sp>
        <p:nvSpPr>
          <p:cNvPr id="11337" name="Freeform 79"/>
          <p:cNvSpPr>
            <a:spLocks/>
          </p:cNvSpPr>
          <p:nvPr/>
        </p:nvSpPr>
        <p:spPr bwMode="auto">
          <a:xfrm>
            <a:off x="635000" y="990600"/>
            <a:ext cx="596900" cy="914400"/>
          </a:xfrm>
          <a:custGeom>
            <a:avLst/>
            <a:gdLst>
              <a:gd name="T0" fmla="*/ 224 w 376"/>
              <a:gd name="T1" fmla="*/ 0 h 576"/>
              <a:gd name="T2" fmla="*/ 80 w 376"/>
              <a:gd name="T3" fmla="*/ 48 h 576"/>
              <a:gd name="T4" fmla="*/ 368 w 376"/>
              <a:gd name="T5" fmla="*/ 240 h 576"/>
              <a:gd name="T6" fmla="*/ 32 w 376"/>
              <a:gd name="T7" fmla="*/ 432 h 576"/>
              <a:gd name="T8" fmla="*/ 176 w 376"/>
              <a:gd name="T9" fmla="*/ 576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6"/>
              <a:gd name="T16" fmla="*/ 0 h 576"/>
              <a:gd name="T17" fmla="*/ 376 w 376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6" h="576">
                <a:moveTo>
                  <a:pt x="224" y="0"/>
                </a:moveTo>
                <a:cubicBezTo>
                  <a:pt x="140" y="4"/>
                  <a:pt x="56" y="8"/>
                  <a:pt x="80" y="48"/>
                </a:cubicBezTo>
                <a:cubicBezTo>
                  <a:pt x="104" y="88"/>
                  <a:pt x="376" y="176"/>
                  <a:pt x="368" y="240"/>
                </a:cubicBezTo>
                <a:cubicBezTo>
                  <a:pt x="360" y="304"/>
                  <a:pt x="64" y="376"/>
                  <a:pt x="32" y="432"/>
                </a:cubicBezTo>
                <a:cubicBezTo>
                  <a:pt x="0" y="488"/>
                  <a:pt x="88" y="532"/>
                  <a:pt x="176" y="5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38" name="Freeform 80"/>
          <p:cNvSpPr>
            <a:spLocks/>
          </p:cNvSpPr>
          <p:nvPr/>
        </p:nvSpPr>
        <p:spPr bwMode="auto">
          <a:xfrm>
            <a:off x="2133600" y="825500"/>
            <a:ext cx="850900" cy="622300"/>
          </a:xfrm>
          <a:custGeom>
            <a:avLst/>
            <a:gdLst>
              <a:gd name="T0" fmla="*/ 0 w 536"/>
              <a:gd name="T1" fmla="*/ 8 h 392"/>
              <a:gd name="T2" fmla="*/ 192 w 536"/>
              <a:gd name="T3" fmla="*/ 8 h 392"/>
              <a:gd name="T4" fmla="*/ 144 w 536"/>
              <a:gd name="T5" fmla="*/ 56 h 392"/>
              <a:gd name="T6" fmla="*/ 480 w 536"/>
              <a:gd name="T7" fmla="*/ 152 h 392"/>
              <a:gd name="T8" fmla="*/ 480 w 536"/>
              <a:gd name="T9" fmla="*/ 392 h 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392"/>
              <a:gd name="T17" fmla="*/ 536 w 536"/>
              <a:gd name="T18" fmla="*/ 392 h 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392">
                <a:moveTo>
                  <a:pt x="0" y="8"/>
                </a:moveTo>
                <a:cubicBezTo>
                  <a:pt x="84" y="4"/>
                  <a:pt x="168" y="0"/>
                  <a:pt x="192" y="8"/>
                </a:cubicBezTo>
                <a:cubicBezTo>
                  <a:pt x="216" y="16"/>
                  <a:pt x="96" y="32"/>
                  <a:pt x="144" y="56"/>
                </a:cubicBezTo>
                <a:cubicBezTo>
                  <a:pt x="192" y="80"/>
                  <a:pt x="424" y="96"/>
                  <a:pt x="480" y="152"/>
                </a:cubicBezTo>
                <a:cubicBezTo>
                  <a:pt x="536" y="208"/>
                  <a:pt x="508" y="300"/>
                  <a:pt x="480" y="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143000" y="1905000"/>
          <a:ext cx="4343400" cy="3311525"/>
        </p:xfrm>
        <a:graphic>
          <a:graphicData uri="http://schemas.openxmlformats.org/presentationml/2006/ole">
            <p:oleObj spid="_x0000_s129026" name="Bitmap Image" r:id="rId3" imgW="4133333" imgH="3153215" progId="PBrush">
              <p:embed/>
            </p:oleObj>
          </a:graphicData>
        </a:graphic>
      </p:graphicFrame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295400" y="838200"/>
            <a:ext cx="396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00000"/>
                </a:solidFill>
              </a:rPr>
              <a:t>S has a packet to send to x</a:t>
            </a:r>
          </a:p>
        </p:txBody>
      </p:sp>
      <p:sp>
        <p:nvSpPr>
          <p:cNvPr id="2052" name="Rectangle 8"/>
          <p:cNvSpPr>
            <a:spLocks noGrp="1" noChangeArrowheads="1"/>
          </p:cNvSpPr>
          <p:nvPr>
            <p:ph type="title"/>
          </p:nvPr>
        </p:nvSpPr>
        <p:spPr>
          <a:xfrm>
            <a:off x="1143000" y="152400"/>
            <a:ext cx="6477000" cy="609600"/>
          </a:xfrm>
        </p:spPr>
        <p:txBody>
          <a:bodyPr/>
          <a:lstStyle/>
          <a:p>
            <a:pPr eaLnBrk="1" hangingPunct="1"/>
            <a:r>
              <a:rPr lang="en-US" sz="2800" smtClean="0">
                <a:solidFill>
                  <a:srgbClr val="C00000"/>
                </a:solidFill>
              </a:rPr>
              <a:t>A Concrete Example of How IERP works.</a:t>
            </a:r>
          </a:p>
        </p:txBody>
      </p:sp>
      <p:sp>
        <p:nvSpPr>
          <p:cNvPr id="2053" name="Text Box 9"/>
          <p:cNvSpPr txBox="1">
            <a:spLocks noChangeArrowheads="1"/>
          </p:cNvSpPr>
          <p:nvPr/>
        </p:nvSpPr>
        <p:spPr bwMode="auto">
          <a:xfrm>
            <a:off x="5486400" y="1905000"/>
            <a:ext cx="3505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X is not in S’s routing zone. S issues a route request using IERP. The request is bordercasted to the peripheral nodes (the gray ones).  These gray nodes search their routing table for the destination</a:t>
            </a:r>
            <a:r>
              <a:rPr lang="en-US"/>
              <a:t>. </a:t>
            </a:r>
            <a:r>
              <a:rPr lang="en-US" sz="2000"/>
              <a:t>They don’t see the destination.  So the border-casting process continues (at node I, J, G , and H).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An Example (cont.)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990600" y="1371600"/>
          <a:ext cx="4800600" cy="3854450"/>
        </p:xfrm>
        <a:graphic>
          <a:graphicData uri="http://schemas.openxmlformats.org/presentationml/2006/ole">
            <p:oleObj spid="_x0000_s130050" name="Bitmap Image" r:id="rId3" imgW="3333333" imgH="2676899" progId="PBrush">
              <p:embed/>
            </p:oleObj>
          </a:graphicData>
        </a:graphic>
      </p:graphicFrame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943600" y="1447800"/>
            <a:ext cx="304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000"/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5638800" y="2362200"/>
            <a:ext cx="33528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Node I bordercasts the request to its peripheral nodes (gray ones).  </a:t>
            </a:r>
            <a:r>
              <a:rPr lang="en-US" sz="2000">
                <a:solidFill>
                  <a:srgbClr val="C00000"/>
                </a:solidFill>
              </a:rPr>
              <a:t>Due to query control mechanisms, the request is not passed back to nodes D, F, and S.</a:t>
            </a:r>
            <a:r>
              <a:rPr lang="en-US" sz="20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52400"/>
            <a:ext cx="6142038" cy="990600"/>
          </a:xfrm>
        </p:spPr>
        <p:txBody>
          <a:bodyPr/>
          <a:lstStyle/>
          <a:p>
            <a:pPr eaLnBrk="1" hangingPunct="1"/>
            <a:r>
              <a:rPr lang="en-US" smtClean="0"/>
              <a:t>An Example (cont.)</a:t>
            </a: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914400" y="1295400"/>
          <a:ext cx="4724400" cy="3687763"/>
        </p:xfrm>
        <a:graphic>
          <a:graphicData uri="http://schemas.openxmlformats.org/presentationml/2006/ole">
            <p:oleObj spid="_x0000_s131074" name="Bitmap Image" r:id="rId3" imgW="3343742" imgH="2610214" progId="PBrush">
              <p:embed/>
            </p:oleObj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5867400" y="1295400"/>
            <a:ext cx="29718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Finally, the route request is received by node T, which can find the destination in its routing zone. A rout reply is sent back to node 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dirty="0" smtClean="0"/>
              <a:t>Discussion: ZRP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500034" y="1214422"/>
            <a:ext cx="821537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dirty="0" smtClean="0"/>
              <a:t>Single route query can return multiple route replies; the </a:t>
            </a:r>
            <a:r>
              <a:rPr lang="en-US" sz="2400" dirty="0" smtClean="0">
                <a:solidFill>
                  <a:srgbClr val="FF0000"/>
                </a:solidFill>
              </a:rPr>
              <a:t>best route will be selected</a:t>
            </a:r>
            <a:r>
              <a:rPr lang="en-US" sz="2400" dirty="0" smtClean="0"/>
              <a:t> based on selected metric.</a:t>
            </a:r>
          </a:p>
          <a:p>
            <a:pPr algn="just">
              <a:spcBef>
                <a:spcPct val="50000"/>
              </a:spcBef>
            </a:pPr>
            <a:r>
              <a:rPr lang="en-US" sz="2400" dirty="0" smtClean="0"/>
              <a:t>Given sufficient storage, nodes may remove the routing information accumulated in route request packet and store it in a temp route query cache. It reduces the length of query packet, </a:t>
            </a:r>
            <a:r>
              <a:rPr lang="en-US" sz="2400" dirty="0" smtClean="0">
                <a:solidFill>
                  <a:srgbClr val="FF0000"/>
                </a:solidFill>
              </a:rPr>
              <a:t>decreases the query response time</a:t>
            </a:r>
            <a:r>
              <a:rPr lang="en-US" sz="2400" dirty="0" smtClean="0"/>
              <a:t>.</a:t>
            </a:r>
          </a:p>
          <a:p>
            <a:pPr algn="just">
              <a:spcBef>
                <a:spcPct val="50000"/>
              </a:spcBef>
            </a:pPr>
            <a:r>
              <a:rPr lang="en-US" sz="2400" dirty="0" smtClean="0"/>
              <a:t>Initiate a global route search only when there is a substantial change for </a:t>
            </a:r>
            <a:r>
              <a:rPr lang="en-US" sz="2400" dirty="0" smtClean="0">
                <a:solidFill>
                  <a:srgbClr val="FF0000"/>
                </a:solidFill>
              </a:rPr>
              <a:t>reducing the cost of route discovery</a:t>
            </a:r>
            <a:r>
              <a:rPr lang="en-US" sz="2400" dirty="0" smtClean="0"/>
              <a:t>.  A broken link within an active path  may be the cause.  </a:t>
            </a:r>
            <a:r>
              <a:rPr lang="en-US" sz="2400" dirty="0" smtClean="0">
                <a:solidFill>
                  <a:srgbClr val="FF0000"/>
                </a:solidFill>
              </a:rPr>
              <a:t>Local Path repair procedure </a:t>
            </a:r>
            <a:r>
              <a:rPr lang="en-US" sz="2400" dirty="0" smtClean="0"/>
              <a:t>is initiated. It replaces a broken link with a </a:t>
            </a:r>
            <a:r>
              <a:rPr lang="en-US" sz="2400" dirty="0" err="1" smtClean="0"/>
              <a:t>minipath</a:t>
            </a:r>
            <a:r>
              <a:rPr lang="en-US" sz="2400" dirty="0" smtClean="0"/>
              <a:t> between the link ends. A path update is generated and sent to the path’s endpoints. It may not be the shortest one. After some repairs, the path endpoints initiate a new route discovery for optimal path.</a:t>
            </a:r>
          </a:p>
          <a:p>
            <a:pPr>
              <a:spcBef>
                <a:spcPct val="50000"/>
              </a:spcBef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dirty="0" smtClean="0"/>
              <a:t>Discussion: ZRP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500034" y="1524000"/>
            <a:ext cx="8215370" cy="581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dirty="0" smtClean="0"/>
              <a:t>Neighboring routing zones heavily overlap, each node may forward a route request multiple times, more control traffic than flooding.  The challenge is to steer the query outward from the original routing zone. It depends on routing zone architecture.</a:t>
            </a:r>
          </a:p>
          <a:p>
            <a:pPr algn="just">
              <a:spcBef>
                <a:spcPct val="50000"/>
              </a:spcBef>
            </a:pPr>
            <a:r>
              <a:rPr lang="en-US" sz="2400" dirty="0" smtClean="0"/>
              <a:t>Redundant querying occurs when a route request arrives in a previously queried routing zone.  Thus the nodes will be capable to detect their early visited zone. </a:t>
            </a:r>
          </a:p>
          <a:p>
            <a:pPr algn="just">
              <a:spcBef>
                <a:spcPct val="50000"/>
              </a:spcBef>
            </a:pPr>
            <a:r>
              <a:rPr lang="en-US" sz="2400" dirty="0" smtClean="0"/>
              <a:t>A node will not relay a query packet to a target </a:t>
            </a:r>
            <a:r>
              <a:rPr lang="en-US" sz="2400" dirty="0" err="1" smtClean="0"/>
              <a:t>bordercast</a:t>
            </a:r>
            <a:r>
              <a:rPr lang="en-US" sz="2400" dirty="0" smtClean="0"/>
              <a:t> recipient either if that recipient lies inside the routing zone of a previously </a:t>
            </a:r>
            <a:r>
              <a:rPr lang="en-US" sz="2400" dirty="0" err="1" smtClean="0"/>
              <a:t>bordercast</a:t>
            </a:r>
            <a:r>
              <a:rPr lang="en-US" sz="2400" dirty="0" smtClean="0"/>
              <a:t> node or if this node has already relayed the query to this recipient. (Early Termination)</a:t>
            </a:r>
          </a:p>
          <a:p>
            <a:pPr algn="just">
              <a:spcBef>
                <a:spcPct val="50000"/>
              </a:spcBef>
            </a:pPr>
            <a:endParaRPr lang="en-US" sz="2000" dirty="0" smtClean="0"/>
          </a:p>
          <a:p>
            <a:pPr>
              <a:spcBef>
                <a:spcPct val="50000"/>
              </a:spcBef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7158" y="1285860"/>
            <a:ext cx="8643997" cy="4840303"/>
          </a:xfrm>
        </p:spPr>
        <p:txBody>
          <a:bodyPr/>
          <a:lstStyle/>
          <a:p>
            <a:endParaRPr lang="en-IN" dirty="0" smtClean="0"/>
          </a:p>
          <a:p>
            <a:r>
              <a:rPr lang="en-IN" dirty="0" smtClean="0"/>
              <a:t>Ad-hoc On demand Distance Vector Routing</a:t>
            </a:r>
          </a:p>
          <a:p>
            <a:r>
              <a:rPr lang="en-IN" dirty="0" smtClean="0"/>
              <a:t>Objective: Minimalist  features:  Minimal Control Overhead; Minimal route acquisition latency</a:t>
            </a:r>
          </a:p>
          <a:p>
            <a:r>
              <a:rPr lang="en-IN" dirty="0" smtClean="0"/>
              <a:t>Goal is to reduce the system wise broadcasts (as much as possible) compared to DSDV</a:t>
            </a:r>
          </a:p>
          <a:p>
            <a:r>
              <a:rPr lang="en-IN" dirty="0" smtClean="0"/>
              <a:t>No broadcast ; if the link status does not affect the ongoing communication.</a:t>
            </a:r>
          </a:p>
          <a:p>
            <a:r>
              <a:rPr lang="en-IN" dirty="0" smtClean="0"/>
              <a:t>In DSDV, local movements have global effects. Triggered broadcast is replaced by careful bookkeeping.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04656"/>
          </a:xfrm>
        </p:spPr>
        <p:txBody>
          <a:bodyPr/>
          <a:lstStyle/>
          <a:p>
            <a:r>
              <a:rPr lang="en-IN" dirty="0" smtClean="0"/>
              <a:t>AODV: Motivation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AODV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3" y="1428736"/>
            <a:ext cx="8066118" cy="4697427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990000"/>
                </a:solidFill>
              </a:rPr>
              <a:t>Route Requests (RREQ)</a:t>
            </a:r>
            <a:r>
              <a:rPr lang="en-US" dirty="0" smtClean="0"/>
              <a:t> are forwarded in a manner similar to DSR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It does not add any overhead to the packets carrying data.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C00000"/>
                </a:solidFill>
              </a:rPr>
              <a:t>When </a:t>
            </a:r>
            <a:r>
              <a:rPr lang="en-US" dirty="0" smtClean="0">
                <a:solidFill>
                  <a:srgbClr val="C00000"/>
                </a:solidFill>
              </a:rPr>
              <a:t>a node re-broadcasts a Route Request [</a:t>
            </a:r>
            <a:r>
              <a:rPr lang="en-US" b="1" dirty="0" smtClean="0">
                <a:solidFill>
                  <a:schemeClr val="tx1"/>
                </a:solidFill>
              </a:rPr>
              <a:t>source IP, Broadcast ID, </a:t>
            </a:r>
            <a:r>
              <a:rPr lang="en-US" dirty="0" smtClean="0">
                <a:solidFill>
                  <a:srgbClr val="C00000"/>
                </a:solidFill>
              </a:rPr>
              <a:t>current </a:t>
            </a:r>
            <a:r>
              <a:rPr lang="en-US" dirty="0" err="1" smtClean="0">
                <a:solidFill>
                  <a:srgbClr val="C00000"/>
                </a:solidFill>
              </a:rPr>
              <a:t>Seq</a:t>
            </a:r>
            <a:r>
              <a:rPr lang="en-US" dirty="0" smtClean="0">
                <a:solidFill>
                  <a:srgbClr val="C00000"/>
                </a:solidFill>
              </a:rPr>
              <a:t> no, Destination node IP, last known sequence no] &amp;  sets up a reverse path pointing towards the source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C00000"/>
                </a:solidFill>
              </a:rPr>
              <a:t>AODV assumes symmetric (bi-directional) links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When </a:t>
            </a:r>
            <a:r>
              <a:rPr lang="en-US" dirty="0" smtClean="0"/>
              <a:t>the intended destination receives a Route Request, it replies by sending a </a:t>
            </a:r>
            <a:r>
              <a:rPr lang="en-US" dirty="0" smtClean="0">
                <a:solidFill>
                  <a:srgbClr val="990000"/>
                </a:solidFill>
              </a:rPr>
              <a:t>Route Reply (RREP)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Route </a:t>
            </a:r>
            <a:r>
              <a:rPr lang="en-US" dirty="0" smtClean="0"/>
              <a:t>Reply travels along the reverse path set-up when Route Request is forwarded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Requests in AODV</a:t>
            </a:r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16389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S</a:t>
            </a:r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16391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H</a:t>
            </a:r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16396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16397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I</a:t>
            </a: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5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8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09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15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19" name="Oval 35" descr="Water droplets"/>
          <p:cNvSpPr>
            <a:spLocks noChangeArrowheads="1"/>
          </p:cNvSpPr>
          <p:nvPr/>
        </p:nvSpPr>
        <p:spPr bwMode="auto">
          <a:xfrm>
            <a:off x="609600" y="5562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2000" b="1"/>
          </a:p>
        </p:txBody>
      </p:sp>
      <p:sp>
        <p:nvSpPr>
          <p:cNvPr id="16420" name="Text Box 36"/>
          <p:cNvSpPr txBox="1">
            <a:spLocks noChangeArrowheads="1"/>
          </p:cNvSpPr>
          <p:nvPr/>
        </p:nvSpPr>
        <p:spPr bwMode="auto">
          <a:xfrm>
            <a:off x="1447800" y="5715000"/>
            <a:ext cx="694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Represents a node that has received RREQ for D from S</a:t>
            </a:r>
          </a:p>
        </p:txBody>
      </p:sp>
      <p:sp>
        <p:nvSpPr>
          <p:cNvPr id="16427" name="Oval 43"/>
          <p:cNvSpPr>
            <a:spLocks noChangeArrowheads="1"/>
          </p:cNvSpPr>
          <p:nvPr/>
        </p:nvSpPr>
        <p:spPr bwMode="auto">
          <a:xfrm>
            <a:off x="5943600" y="3429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16428" name="Line 44"/>
          <p:cNvSpPr>
            <a:spLocks noChangeShapeType="1"/>
          </p:cNvSpPr>
          <p:nvPr/>
        </p:nvSpPr>
        <p:spPr bwMode="auto">
          <a:xfrm>
            <a:off x="5638800" y="32004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29" name="Line 45"/>
          <p:cNvSpPr>
            <a:spLocks noChangeShapeType="1"/>
          </p:cNvSpPr>
          <p:nvPr/>
        </p:nvSpPr>
        <p:spPr bwMode="auto">
          <a:xfrm flipH="1">
            <a:off x="5181600" y="38100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Requests in AODV</a:t>
            </a:r>
          </a:p>
        </p:txBody>
      </p:sp>
      <p:sp>
        <p:nvSpPr>
          <p:cNvPr id="17411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17413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S</a:t>
            </a:r>
          </a:p>
        </p:txBody>
      </p:sp>
      <p:sp>
        <p:nvSpPr>
          <p:cNvPr id="17414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H</a:t>
            </a:r>
          </a:p>
        </p:txBody>
      </p:sp>
      <p:sp>
        <p:nvSpPr>
          <p:cNvPr id="17419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17421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I</a:t>
            </a:r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28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29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38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39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40" name="Line 32"/>
          <p:cNvSpPr>
            <a:spLocks noChangeShapeType="1"/>
          </p:cNvSpPr>
          <p:nvPr/>
        </p:nvSpPr>
        <p:spPr bwMode="auto">
          <a:xfrm>
            <a:off x="990600" y="57150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41" name="Text Box 33"/>
          <p:cNvSpPr txBox="1">
            <a:spLocks noChangeArrowheads="1"/>
          </p:cNvSpPr>
          <p:nvPr/>
        </p:nvSpPr>
        <p:spPr bwMode="auto">
          <a:xfrm>
            <a:off x="1" y="5486401"/>
            <a:ext cx="885828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000" b="1" dirty="0" smtClean="0"/>
              <a:t>		Represents </a:t>
            </a:r>
            <a:r>
              <a:rPr lang="en-US" sz="2000" b="1" dirty="0"/>
              <a:t>transmission of </a:t>
            </a:r>
            <a:r>
              <a:rPr lang="en-US" sz="2000" b="1" dirty="0" smtClean="0"/>
              <a:t>RREQ</a:t>
            </a:r>
          </a:p>
          <a:p>
            <a:pPr eaLnBrk="0" hangingPunct="0"/>
            <a:r>
              <a:rPr lang="en-US" sz="2000" dirty="0" smtClean="0">
                <a:solidFill>
                  <a:srgbClr val="C00000"/>
                </a:solidFill>
              </a:rPr>
              <a:t> A  node re-broadcasts a Route Request [</a:t>
            </a:r>
            <a:r>
              <a:rPr lang="en-US" sz="2000" b="1" dirty="0" smtClean="0"/>
              <a:t>source IP, Broadcast ID, </a:t>
            </a:r>
            <a:r>
              <a:rPr lang="en-US" sz="2000" dirty="0" smtClean="0">
                <a:solidFill>
                  <a:srgbClr val="C00000"/>
                </a:solidFill>
              </a:rPr>
              <a:t>current </a:t>
            </a:r>
            <a:r>
              <a:rPr lang="en-US" sz="2000" dirty="0" err="1" smtClean="0">
                <a:solidFill>
                  <a:srgbClr val="C00000"/>
                </a:solidFill>
              </a:rPr>
              <a:t>Seq</a:t>
            </a:r>
            <a:r>
              <a:rPr lang="en-US" sz="2000" dirty="0" smtClean="0">
                <a:solidFill>
                  <a:srgbClr val="C00000"/>
                </a:solidFill>
              </a:rPr>
              <a:t> no,</a:t>
            </a:r>
          </a:p>
          <a:p>
            <a:pPr eaLnBrk="0" hangingPunct="0"/>
            <a:r>
              <a:rPr lang="en-US" sz="2000" dirty="0" smtClean="0">
                <a:solidFill>
                  <a:srgbClr val="C00000"/>
                </a:solidFill>
              </a:rPr>
              <a:t> Destination node IP, last known sequence no]</a:t>
            </a:r>
            <a:endParaRPr lang="en-US" sz="2000" b="1" dirty="0" smtClean="0"/>
          </a:p>
          <a:p>
            <a:pPr eaLnBrk="0" hangingPunct="0"/>
            <a:endParaRPr lang="en-US" sz="2000" b="1" dirty="0"/>
          </a:p>
        </p:txBody>
      </p:sp>
      <p:sp>
        <p:nvSpPr>
          <p:cNvPr id="17445" name="Text Box 37"/>
          <p:cNvSpPr txBox="1">
            <a:spLocks noChangeArrowheads="1"/>
          </p:cNvSpPr>
          <p:nvPr/>
        </p:nvSpPr>
        <p:spPr bwMode="auto">
          <a:xfrm>
            <a:off x="0" y="1447800"/>
            <a:ext cx="307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000" b="1"/>
              <a:t>Broadcast transmission</a:t>
            </a:r>
          </a:p>
        </p:txBody>
      </p:sp>
      <p:sp>
        <p:nvSpPr>
          <p:cNvPr id="17446" name="Freeform 38"/>
          <p:cNvSpPr>
            <a:spLocks/>
          </p:cNvSpPr>
          <p:nvPr/>
        </p:nvSpPr>
        <p:spPr bwMode="auto">
          <a:xfrm>
            <a:off x="1143000" y="1828800"/>
            <a:ext cx="1676400" cy="762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72" y="192"/>
              </a:cxn>
              <a:cxn ang="0">
                <a:pos x="1056" y="480"/>
              </a:cxn>
            </a:cxnLst>
            <a:rect l="0" t="0" r="r" b="b"/>
            <a:pathLst>
              <a:path w="1056" h="480">
                <a:moveTo>
                  <a:pt x="0" y="0"/>
                </a:moveTo>
                <a:cubicBezTo>
                  <a:pt x="248" y="56"/>
                  <a:pt x="496" y="112"/>
                  <a:pt x="672" y="192"/>
                </a:cubicBezTo>
                <a:cubicBezTo>
                  <a:pt x="848" y="272"/>
                  <a:pt x="984" y="424"/>
                  <a:pt x="1056" y="4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53" name="Text Box 45"/>
          <p:cNvSpPr txBox="1">
            <a:spLocks noChangeArrowheads="1"/>
          </p:cNvSpPr>
          <p:nvPr/>
        </p:nvSpPr>
        <p:spPr bwMode="auto">
          <a:xfrm>
            <a:off x="4251325" y="19351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endParaRPr lang="en-US" sz="2000" b="1"/>
          </a:p>
        </p:txBody>
      </p:sp>
      <p:sp>
        <p:nvSpPr>
          <p:cNvPr id="17455" name="Oval 47"/>
          <p:cNvSpPr>
            <a:spLocks noChangeArrowheads="1"/>
          </p:cNvSpPr>
          <p:nvPr/>
        </p:nvSpPr>
        <p:spPr bwMode="auto">
          <a:xfrm>
            <a:off x="5943600" y="3429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17456" name="Line 48"/>
          <p:cNvSpPr>
            <a:spLocks noChangeShapeType="1"/>
          </p:cNvSpPr>
          <p:nvPr/>
        </p:nvSpPr>
        <p:spPr bwMode="auto">
          <a:xfrm>
            <a:off x="56388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457" name="Line 49"/>
          <p:cNvSpPr>
            <a:spLocks noChangeShapeType="1"/>
          </p:cNvSpPr>
          <p:nvPr/>
        </p:nvSpPr>
        <p:spPr bwMode="auto">
          <a:xfrm flipH="1">
            <a:off x="5181600" y="38100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Requests in AODV</a:t>
            </a:r>
          </a:p>
        </p:txBody>
      </p:sp>
      <p:sp>
        <p:nvSpPr>
          <p:cNvPr id="18435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18436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18437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S</a:t>
            </a:r>
          </a:p>
        </p:txBody>
      </p:sp>
      <p:sp>
        <p:nvSpPr>
          <p:cNvPr id="18438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18439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18440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H</a:t>
            </a:r>
          </a:p>
        </p:txBody>
      </p:sp>
      <p:sp>
        <p:nvSpPr>
          <p:cNvPr id="18443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18444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18445" name="Oval 13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I</a:t>
            </a:r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3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4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6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57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62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63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Line 32"/>
          <p:cNvSpPr>
            <a:spLocks noChangeShapeType="1"/>
          </p:cNvSpPr>
          <p:nvPr/>
        </p:nvSpPr>
        <p:spPr bwMode="auto">
          <a:xfrm flipH="1">
            <a:off x="4114800" y="2971800"/>
            <a:ext cx="2286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0" y="5072074"/>
            <a:ext cx="1650929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000" b="1" dirty="0"/>
              <a:t> Represents links on Reverse </a:t>
            </a:r>
            <a:r>
              <a:rPr lang="en-US" sz="2000" b="1" dirty="0" smtClean="0"/>
              <a:t>Path</a:t>
            </a:r>
          </a:p>
          <a:p>
            <a:pPr eaLnBrk="0" hangingPunct="0"/>
            <a:r>
              <a:rPr lang="en-US" sz="2000" b="1" dirty="0" smtClean="0"/>
              <a:t>Before re-broadcasting, [source IP, Broadcast ID] will be checked for avoid </a:t>
            </a:r>
          </a:p>
          <a:p>
            <a:pPr eaLnBrk="0" hangingPunct="0"/>
            <a:r>
              <a:rPr lang="en-US" sz="2000" b="1" dirty="0" smtClean="0"/>
              <a:t>Duplication; otherwise process it</a:t>
            </a:r>
          </a:p>
        </p:txBody>
      </p:sp>
      <p:sp>
        <p:nvSpPr>
          <p:cNvPr id="18475" name="Line 43"/>
          <p:cNvSpPr>
            <a:spLocks noChangeShapeType="1"/>
          </p:cNvSpPr>
          <p:nvPr/>
        </p:nvSpPr>
        <p:spPr bwMode="auto">
          <a:xfrm flipH="1">
            <a:off x="3657600" y="24384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76" name="Line 44"/>
          <p:cNvSpPr>
            <a:spLocks noChangeShapeType="1"/>
          </p:cNvSpPr>
          <p:nvPr/>
        </p:nvSpPr>
        <p:spPr bwMode="auto">
          <a:xfrm flipH="1">
            <a:off x="4000496" y="5286388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77" name="Line 45"/>
          <p:cNvSpPr>
            <a:spLocks noChangeShapeType="1"/>
          </p:cNvSpPr>
          <p:nvPr/>
        </p:nvSpPr>
        <p:spPr bwMode="auto">
          <a:xfrm>
            <a:off x="3657600" y="2819400"/>
            <a:ext cx="1524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78" name="Line 46"/>
          <p:cNvSpPr>
            <a:spLocks noChangeShapeType="1"/>
          </p:cNvSpPr>
          <p:nvPr/>
        </p:nvSpPr>
        <p:spPr bwMode="auto">
          <a:xfrm flipV="1">
            <a:off x="2743200" y="2895600"/>
            <a:ext cx="4572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79" name="Oval 47"/>
          <p:cNvSpPr>
            <a:spLocks noChangeArrowheads="1"/>
          </p:cNvSpPr>
          <p:nvPr/>
        </p:nvSpPr>
        <p:spPr bwMode="auto">
          <a:xfrm>
            <a:off x="5943600" y="3429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18480" name="Line 48"/>
          <p:cNvSpPr>
            <a:spLocks noChangeShapeType="1"/>
          </p:cNvSpPr>
          <p:nvPr/>
        </p:nvSpPr>
        <p:spPr bwMode="auto">
          <a:xfrm>
            <a:off x="5638800" y="3200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81" name="Line 49"/>
          <p:cNvSpPr>
            <a:spLocks noChangeShapeType="1"/>
          </p:cNvSpPr>
          <p:nvPr/>
        </p:nvSpPr>
        <p:spPr bwMode="auto">
          <a:xfrm flipH="1">
            <a:off x="5181600" y="38100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Reverse Path Setup in AODV</a:t>
            </a:r>
          </a:p>
        </p:txBody>
      </p:sp>
      <p:sp>
        <p:nvSpPr>
          <p:cNvPr id="19459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19460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19461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S</a:t>
            </a:r>
          </a:p>
        </p:txBody>
      </p:sp>
      <p:sp>
        <p:nvSpPr>
          <p:cNvPr id="19462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19463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19464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H</a:t>
            </a:r>
          </a:p>
        </p:txBody>
      </p:sp>
      <p:sp>
        <p:nvSpPr>
          <p:cNvPr id="19465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19467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19468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19469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I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8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9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0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1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2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3" name="Line 27"/>
          <p:cNvSpPr>
            <a:spLocks noChangeShapeType="1"/>
          </p:cNvSpPr>
          <p:nvPr/>
        </p:nvSpPr>
        <p:spPr bwMode="auto">
          <a:xfrm flipV="1">
            <a:off x="5105400" y="3733800"/>
            <a:ext cx="914400" cy="1524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6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7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8" name="Line 32"/>
          <p:cNvSpPr>
            <a:spLocks noChangeShapeType="1"/>
          </p:cNvSpPr>
          <p:nvPr/>
        </p:nvSpPr>
        <p:spPr bwMode="auto">
          <a:xfrm>
            <a:off x="1981200" y="4114800"/>
            <a:ext cx="6858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9" name="Line 33"/>
          <p:cNvSpPr>
            <a:spLocks noChangeShapeType="1"/>
          </p:cNvSpPr>
          <p:nvPr/>
        </p:nvSpPr>
        <p:spPr bwMode="auto">
          <a:xfrm flipH="1">
            <a:off x="5105400" y="3352800"/>
            <a:ext cx="22860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90" name="Text Box 34"/>
          <p:cNvSpPr txBox="1">
            <a:spLocks noChangeArrowheads="1"/>
          </p:cNvSpPr>
          <p:nvPr/>
        </p:nvSpPr>
        <p:spPr bwMode="auto">
          <a:xfrm>
            <a:off x="762000" y="5410200"/>
            <a:ext cx="8452955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en-US" sz="2000" b="1" dirty="0"/>
              <a:t> </a:t>
            </a:r>
            <a:r>
              <a:rPr lang="en-US" sz="2000" b="1" dirty="0" smtClean="0"/>
              <a:t>To process the RREQ, the node sets up a reverse route entry for the</a:t>
            </a:r>
          </a:p>
          <a:p>
            <a:pPr eaLnBrk="0" hangingPunct="0"/>
            <a:r>
              <a:rPr lang="en-US" sz="2000" b="1" dirty="0" smtClean="0"/>
              <a:t>    source node in the route table</a:t>
            </a:r>
            <a:r>
              <a:rPr lang="en-US" sz="2000" b="1" dirty="0" smtClean="0">
                <a:solidFill>
                  <a:srgbClr val="FF0000"/>
                </a:solidFill>
              </a:rPr>
              <a:t>. Reverse route entry must have a lifetime</a:t>
            </a:r>
          </a:p>
          <a:p>
            <a:pPr eaLnBrk="0" hangingPunct="0"/>
            <a:r>
              <a:rPr lang="en-US" sz="2000" b="1" dirty="0" smtClean="0"/>
              <a:t>    For processing the route request; the node have an </a:t>
            </a:r>
            <a:r>
              <a:rPr lang="en-US" sz="2000" b="1" dirty="0" smtClean="0">
                <a:solidFill>
                  <a:srgbClr val="FF0000"/>
                </a:solidFill>
              </a:rPr>
              <a:t>un-expired entry </a:t>
            </a:r>
            <a:r>
              <a:rPr lang="en-US" sz="2000" b="1" dirty="0" smtClean="0"/>
              <a:t>&amp; an</a:t>
            </a:r>
          </a:p>
          <a:p>
            <a:pPr eaLnBrk="0" hangingPunct="0"/>
            <a:r>
              <a:rPr lang="en-US" sz="2000" b="1" dirty="0" smtClean="0"/>
              <a:t>    entry within routing table for </a:t>
            </a:r>
            <a:r>
              <a:rPr lang="en-US" sz="2000" b="1" dirty="0" smtClean="0">
                <a:solidFill>
                  <a:srgbClr val="FF0000"/>
                </a:solidFill>
              </a:rPr>
              <a:t>that </a:t>
            </a:r>
            <a:r>
              <a:rPr lang="en-US" sz="2000" b="1" dirty="0" err="1" smtClean="0">
                <a:solidFill>
                  <a:srgbClr val="FF0000"/>
                </a:solidFill>
              </a:rPr>
              <a:t>dest</a:t>
            </a:r>
            <a:r>
              <a:rPr lang="en-US" sz="2000" b="1" dirty="0" smtClean="0">
                <a:solidFill>
                  <a:srgbClr val="FF0000"/>
                </a:solidFill>
              </a:rPr>
              <a:t> with equal or greater </a:t>
            </a:r>
            <a:r>
              <a:rPr lang="en-US" sz="2000" b="1" dirty="0" err="1" smtClean="0">
                <a:solidFill>
                  <a:srgbClr val="FF0000"/>
                </a:solidFill>
              </a:rPr>
              <a:t>seq</a:t>
            </a:r>
            <a:r>
              <a:rPr lang="en-US" sz="2000" b="1" dirty="0" smtClean="0">
                <a:solidFill>
                  <a:srgbClr val="FF0000"/>
                </a:solidFill>
              </a:rPr>
              <a:t> no </a:t>
            </a:r>
          </a:p>
          <a:p>
            <a:pPr eaLnBrk="0" hangingPunct="0"/>
            <a:r>
              <a:rPr lang="en-US" sz="2000" b="1" dirty="0" smtClean="0"/>
              <a:t>    </a:t>
            </a:r>
            <a:endParaRPr lang="en-US" sz="2000" b="1" dirty="0"/>
          </a:p>
        </p:txBody>
      </p:sp>
      <p:sp>
        <p:nvSpPr>
          <p:cNvPr id="19500" name="Line 44"/>
          <p:cNvSpPr>
            <a:spLocks noChangeShapeType="1"/>
          </p:cNvSpPr>
          <p:nvPr/>
        </p:nvSpPr>
        <p:spPr bwMode="auto">
          <a:xfrm flipV="1">
            <a:off x="2133600" y="3505200"/>
            <a:ext cx="3048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501" name="Line 45"/>
          <p:cNvSpPr>
            <a:spLocks noChangeShapeType="1"/>
          </p:cNvSpPr>
          <p:nvPr/>
        </p:nvSpPr>
        <p:spPr bwMode="auto">
          <a:xfrm flipH="1">
            <a:off x="3200400" y="3657600"/>
            <a:ext cx="533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502" name="Line 46"/>
          <p:cNvSpPr>
            <a:spLocks noChangeShapeType="1"/>
          </p:cNvSpPr>
          <p:nvPr/>
        </p:nvSpPr>
        <p:spPr bwMode="auto">
          <a:xfrm>
            <a:off x="4038600" y="3657600"/>
            <a:ext cx="4572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503" name="Line 47"/>
          <p:cNvSpPr>
            <a:spLocks noChangeShapeType="1"/>
          </p:cNvSpPr>
          <p:nvPr/>
        </p:nvSpPr>
        <p:spPr bwMode="auto">
          <a:xfrm>
            <a:off x="4572000" y="2895600"/>
            <a:ext cx="4572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Reverse Path Setup in AODV</a:t>
            </a:r>
          </a:p>
        </p:txBody>
      </p:sp>
      <p:sp>
        <p:nvSpPr>
          <p:cNvPr id="63491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B</a:t>
            </a:r>
          </a:p>
        </p:txBody>
      </p:sp>
      <p:sp>
        <p:nvSpPr>
          <p:cNvPr id="63492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A</a:t>
            </a:r>
          </a:p>
        </p:txBody>
      </p:sp>
      <p:sp>
        <p:nvSpPr>
          <p:cNvPr id="63493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S</a:t>
            </a:r>
          </a:p>
        </p:txBody>
      </p:sp>
      <p:sp>
        <p:nvSpPr>
          <p:cNvPr id="63494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E</a:t>
            </a:r>
          </a:p>
        </p:txBody>
      </p:sp>
      <p:sp>
        <p:nvSpPr>
          <p:cNvPr id="63495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F</a:t>
            </a:r>
          </a:p>
        </p:txBody>
      </p:sp>
      <p:sp>
        <p:nvSpPr>
          <p:cNvPr id="63496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H</a:t>
            </a:r>
          </a:p>
        </p:txBody>
      </p:sp>
      <p:sp>
        <p:nvSpPr>
          <p:cNvPr id="63497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J</a:t>
            </a:r>
          </a:p>
        </p:txBody>
      </p:sp>
      <p:sp>
        <p:nvSpPr>
          <p:cNvPr id="63498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D</a:t>
            </a:r>
          </a:p>
        </p:txBody>
      </p:sp>
      <p:sp>
        <p:nvSpPr>
          <p:cNvPr id="63499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C</a:t>
            </a:r>
          </a:p>
        </p:txBody>
      </p:sp>
      <p:sp>
        <p:nvSpPr>
          <p:cNvPr id="63500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G</a:t>
            </a:r>
          </a:p>
        </p:txBody>
      </p:sp>
      <p:sp>
        <p:nvSpPr>
          <p:cNvPr id="63501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I</a:t>
            </a:r>
          </a:p>
        </p:txBody>
      </p:sp>
      <p:sp>
        <p:nvSpPr>
          <p:cNvPr id="63502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K</a:t>
            </a:r>
          </a:p>
        </p:txBody>
      </p:sp>
      <p:sp>
        <p:nvSpPr>
          <p:cNvPr id="63503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04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05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06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07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08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09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0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1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2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3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4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5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6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7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8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19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20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Z</a:t>
            </a:r>
          </a:p>
        </p:txBody>
      </p:sp>
      <p:sp>
        <p:nvSpPr>
          <p:cNvPr id="63521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Y</a:t>
            </a:r>
          </a:p>
        </p:txBody>
      </p:sp>
      <p:sp>
        <p:nvSpPr>
          <p:cNvPr id="63522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23" name="Text Box 35"/>
          <p:cNvSpPr txBox="1">
            <a:spLocks noChangeArrowheads="1"/>
          </p:cNvSpPr>
          <p:nvPr/>
        </p:nvSpPr>
        <p:spPr bwMode="auto">
          <a:xfrm>
            <a:off x="1066800" y="5715000"/>
            <a:ext cx="62563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Tx/>
              <a:buChar char="•"/>
            </a:pPr>
            <a:r>
              <a:rPr lang="en-US" sz="2000" b="1" dirty="0">
                <a:latin typeface="Arial" charset="0"/>
              </a:rPr>
              <a:t> </a:t>
            </a:r>
            <a:r>
              <a:rPr lang="en-US" sz="2000" b="1" dirty="0" smtClean="0">
                <a:latin typeface="Arial" charset="0"/>
              </a:rPr>
              <a:t>Node D </a:t>
            </a:r>
            <a:r>
              <a:rPr lang="en-US" sz="2000" b="1" dirty="0" smtClean="0">
                <a:solidFill>
                  <a:srgbClr val="A50021"/>
                </a:solidFill>
                <a:latin typeface="Arial" charset="0"/>
              </a:rPr>
              <a:t>does not forward</a:t>
            </a:r>
            <a:r>
              <a:rPr lang="en-US" sz="2000" b="1" dirty="0" smtClean="0">
                <a:latin typeface="Arial" charset="0"/>
              </a:rPr>
              <a:t> RREQ, because node D</a:t>
            </a:r>
          </a:p>
          <a:p>
            <a:r>
              <a:rPr lang="en-US" sz="2000" b="1" dirty="0" smtClean="0">
                <a:latin typeface="Arial" charset="0"/>
              </a:rPr>
              <a:t>   is the </a:t>
            </a:r>
            <a:r>
              <a:rPr lang="en-US" sz="2000" b="1" dirty="0" smtClean="0">
                <a:solidFill>
                  <a:srgbClr val="990000"/>
                </a:solidFill>
                <a:latin typeface="Arial" charset="0"/>
              </a:rPr>
              <a:t>intended target</a:t>
            </a:r>
            <a:r>
              <a:rPr lang="en-US" sz="2000" b="1" dirty="0" smtClean="0">
                <a:solidFill>
                  <a:schemeClr val="accent1"/>
                </a:solidFill>
                <a:latin typeface="Arial" charset="0"/>
              </a:rPr>
              <a:t> </a:t>
            </a:r>
            <a:r>
              <a:rPr lang="en-US" sz="2000" b="1" dirty="0" smtClean="0">
                <a:latin typeface="Arial" charset="0"/>
              </a:rPr>
              <a:t>of the RREQ</a:t>
            </a:r>
            <a:endParaRPr lang="en-US" sz="2000" b="1" dirty="0">
              <a:latin typeface="Arial" charset="0"/>
            </a:endParaRPr>
          </a:p>
        </p:txBody>
      </p:sp>
      <p:sp>
        <p:nvSpPr>
          <p:cNvPr id="63524" name="Oval 36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M</a:t>
            </a:r>
          </a:p>
        </p:txBody>
      </p:sp>
      <p:sp>
        <p:nvSpPr>
          <p:cNvPr id="63525" name="Line 37"/>
          <p:cNvSpPr>
            <a:spLocks noChangeShapeType="1"/>
          </p:cNvSpPr>
          <p:nvPr/>
        </p:nvSpPr>
        <p:spPr bwMode="auto">
          <a:xfrm flipV="1">
            <a:off x="6553200" y="3352800"/>
            <a:ext cx="381000" cy="76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26" name="Oval 38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N</a:t>
            </a:r>
          </a:p>
        </p:txBody>
      </p:sp>
      <p:sp>
        <p:nvSpPr>
          <p:cNvPr id="63527" name="Line 39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28" name="Oval 40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L</a:t>
            </a:r>
          </a:p>
        </p:txBody>
      </p:sp>
      <p:sp>
        <p:nvSpPr>
          <p:cNvPr id="63529" name="Line 41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3530" name="Line 42"/>
          <p:cNvSpPr>
            <a:spLocks noChangeShapeType="1"/>
          </p:cNvSpPr>
          <p:nvPr/>
        </p:nvSpPr>
        <p:spPr bwMode="auto">
          <a:xfrm flipV="1">
            <a:off x="6553200" y="3505200"/>
            <a:ext cx="3810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Forward Path Setup in AODV</a:t>
            </a:r>
          </a:p>
        </p:txBody>
      </p:sp>
      <p:sp>
        <p:nvSpPr>
          <p:cNvPr id="64515" name="Oval 3" descr="Water droplets"/>
          <p:cNvSpPr>
            <a:spLocks noChangeArrowheads="1"/>
          </p:cNvSpPr>
          <p:nvPr/>
        </p:nvSpPr>
        <p:spPr bwMode="auto">
          <a:xfrm>
            <a:off x="2209800" y="2895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B</a:t>
            </a:r>
          </a:p>
        </p:txBody>
      </p:sp>
      <p:sp>
        <p:nvSpPr>
          <p:cNvPr id="64516" name="Oval 4" descr="Water droplets"/>
          <p:cNvSpPr>
            <a:spLocks noChangeArrowheads="1"/>
          </p:cNvSpPr>
          <p:nvPr/>
        </p:nvSpPr>
        <p:spPr bwMode="auto">
          <a:xfrm>
            <a:off x="14478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A</a:t>
            </a:r>
          </a:p>
        </p:txBody>
      </p:sp>
      <p:sp>
        <p:nvSpPr>
          <p:cNvPr id="64517" name="Oval 5" descr="Water droplets"/>
          <p:cNvSpPr>
            <a:spLocks noChangeArrowheads="1"/>
          </p:cNvSpPr>
          <p:nvPr/>
        </p:nvSpPr>
        <p:spPr bwMode="auto">
          <a:xfrm>
            <a:off x="3124200" y="2286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S</a:t>
            </a:r>
          </a:p>
        </p:txBody>
      </p:sp>
      <p:sp>
        <p:nvSpPr>
          <p:cNvPr id="64518" name="Oval 6" descr="Water droplets"/>
          <p:cNvSpPr>
            <a:spLocks noChangeArrowheads="1"/>
          </p:cNvSpPr>
          <p:nvPr/>
        </p:nvSpPr>
        <p:spPr bwMode="auto">
          <a:xfrm>
            <a:off x="4114800" y="2362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E</a:t>
            </a:r>
          </a:p>
        </p:txBody>
      </p:sp>
      <p:sp>
        <p:nvSpPr>
          <p:cNvPr id="64519" name="Oval 7" descr="Water droplets"/>
          <p:cNvSpPr>
            <a:spLocks noChangeArrowheads="1"/>
          </p:cNvSpPr>
          <p:nvPr/>
        </p:nvSpPr>
        <p:spPr bwMode="auto">
          <a:xfrm>
            <a:off x="5105400" y="2743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F</a:t>
            </a:r>
          </a:p>
        </p:txBody>
      </p:sp>
      <p:sp>
        <p:nvSpPr>
          <p:cNvPr id="64520" name="Oval 8" descr="Water droplets"/>
          <p:cNvSpPr>
            <a:spLocks noChangeArrowheads="1"/>
          </p:cNvSpPr>
          <p:nvPr/>
        </p:nvSpPr>
        <p:spPr bwMode="auto">
          <a:xfrm>
            <a:off x="26670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H</a:t>
            </a:r>
          </a:p>
        </p:txBody>
      </p:sp>
      <p:sp>
        <p:nvSpPr>
          <p:cNvPr id="64521" name="Oval 9" descr="Water droplets"/>
          <p:cNvSpPr>
            <a:spLocks noChangeArrowheads="1"/>
          </p:cNvSpPr>
          <p:nvPr/>
        </p:nvSpPr>
        <p:spPr bwMode="auto">
          <a:xfrm>
            <a:off x="5943600" y="3276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J</a:t>
            </a:r>
          </a:p>
        </p:txBody>
      </p:sp>
      <p:sp>
        <p:nvSpPr>
          <p:cNvPr id="64522" name="Oval 10" descr="Water droplets"/>
          <p:cNvSpPr>
            <a:spLocks noChangeArrowheads="1"/>
          </p:cNvSpPr>
          <p:nvPr/>
        </p:nvSpPr>
        <p:spPr bwMode="auto">
          <a:xfrm>
            <a:off x="6705600" y="38862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D</a:t>
            </a:r>
          </a:p>
        </p:txBody>
      </p:sp>
      <p:sp>
        <p:nvSpPr>
          <p:cNvPr id="64523" name="Oval 11" descr="Water droplets"/>
          <p:cNvSpPr>
            <a:spLocks noChangeArrowheads="1"/>
          </p:cNvSpPr>
          <p:nvPr/>
        </p:nvSpPr>
        <p:spPr bwMode="auto">
          <a:xfrm>
            <a:off x="3505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C</a:t>
            </a:r>
          </a:p>
        </p:txBody>
      </p:sp>
      <p:sp>
        <p:nvSpPr>
          <p:cNvPr id="64524" name="Oval 12" descr="Water droplets"/>
          <p:cNvSpPr>
            <a:spLocks noChangeArrowheads="1"/>
          </p:cNvSpPr>
          <p:nvPr/>
        </p:nvSpPr>
        <p:spPr bwMode="auto">
          <a:xfrm>
            <a:off x="4572000" y="35814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G</a:t>
            </a:r>
          </a:p>
        </p:txBody>
      </p:sp>
      <p:sp>
        <p:nvSpPr>
          <p:cNvPr id="64525" name="Oval 13" descr="Water droplets"/>
          <p:cNvSpPr>
            <a:spLocks noChangeArrowheads="1"/>
          </p:cNvSpPr>
          <p:nvPr/>
        </p:nvSpPr>
        <p:spPr bwMode="auto">
          <a:xfrm>
            <a:off x="3733800" y="44196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I</a:t>
            </a:r>
          </a:p>
        </p:txBody>
      </p:sp>
      <p:sp>
        <p:nvSpPr>
          <p:cNvPr id="64526" name="Oval 14" descr="Water droplets"/>
          <p:cNvSpPr>
            <a:spLocks noChangeArrowheads="1"/>
          </p:cNvSpPr>
          <p:nvPr/>
        </p:nvSpPr>
        <p:spPr bwMode="auto">
          <a:xfrm>
            <a:off x="5486400" y="41148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K</a:t>
            </a:r>
          </a:p>
        </p:txBody>
      </p:sp>
      <p:sp>
        <p:nvSpPr>
          <p:cNvPr id="64527" name="Line 15"/>
          <p:cNvSpPr>
            <a:spLocks noChangeShapeType="1"/>
          </p:cNvSpPr>
          <p:nvPr/>
        </p:nvSpPr>
        <p:spPr bwMode="auto">
          <a:xfrm flipV="1">
            <a:off x="1981200" y="3352800"/>
            <a:ext cx="3048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28" name="Line 16"/>
          <p:cNvSpPr>
            <a:spLocks noChangeShapeType="1"/>
          </p:cNvSpPr>
          <p:nvPr/>
        </p:nvSpPr>
        <p:spPr bwMode="auto">
          <a:xfrm flipV="1">
            <a:off x="2743200" y="2743200"/>
            <a:ext cx="4572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29" name="Line 17"/>
          <p:cNvSpPr>
            <a:spLocks noChangeShapeType="1"/>
          </p:cNvSpPr>
          <p:nvPr/>
        </p:nvSpPr>
        <p:spPr bwMode="auto">
          <a:xfrm>
            <a:off x="2057400" y="39624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0" name="Line 18"/>
          <p:cNvSpPr>
            <a:spLocks noChangeShapeType="1"/>
          </p:cNvSpPr>
          <p:nvPr/>
        </p:nvSpPr>
        <p:spPr bwMode="auto">
          <a:xfrm>
            <a:off x="2667000" y="3429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1" name="Line 19"/>
          <p:cNvSpPr>
            <a:spLocks noChangeShapeType="1"/>
          </p:cNvSpPr>
          <p:nvPr/>
        </p:nvSpPr>
        <p:spPr bwMode="auto">
          <a:xfrm flipH="1">
            <a:off x="3124200" y="3581400"/>
            <a:ext cx="533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2" name="Line 20"/>
          <p:cNvSpPr>
            <a:spLocks noChangeShapeType="1"/>
          </p:cNvSpPr>
          <p:nvPr/>
        </p:nvSpPr>
        <p:spPr bwMode="auto">
          <a:xfrm flipH="1">
            <a:off x="3962400" y="2895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3" name="Line 21"/>
          <p:cNvSpPr>
            <a:spLocks noChangeShapeType="1"/>
          </p:cNvSpPr>
          <p:nvPr/>
        </p:nvSpPr>
        <p:spPr bwMode="auto">
          <a:xfrm>
            <a:off x="4724400" y="2743200"/>
            <a:ext cx="457200" cy="152400"/>
          </a:xfrm>
          <a:prstGeom prst="line">
            <a:avLst/>
          </a:prstGeom>
          <a:noFill/>
          <a:ln w="38100">
            <a:pattFill prst="dkUpDiag">
              <a:fgClr>
                <a:srgbClr val="A50021"/>
              </a:fgClr>
              <a:bgClr>
                <a:srgbClr val="FFFFFF"/>
              </a:bgClr>
            </a:pattFill>
            <a:prstDash val="lg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4" name="Line 22"/>
          <p:cNvSpPr>
            <a:spLocks noChangeShapeType="1"/>
          </p:cNvSpPr>
          <p:nvPr/>
        </p:nvSpPr>
        <p:spPr bwMode="auto">
          <a:xfrm flipH="1">
            <a:off x="50292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5" name="Line 23"/>
          <p:cNvSpPr>
            <a:spLocks noChangeShapeType="1"/>
          </p:cNvSpPr>
          <p:nvPr/>
        </p:nvSpPr>
        <p:spPr bwMode="auto">
          <a:xfrm flipH="1">
            <a:off x="4191000" y="4114800"/>
            <a:ext cx="4572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6" name="Line 24"/>
          <p:cNvSpPr>
            <a:spLocks noChangeShapeType="1"/>
          </p:cNvSpPr>
          <p:nvPr/>
        </p:nvSpPr>
        <p:spPr bwMode="auto">
          <a:xfrm>
            <a:off x="4114800" y="3505200"/>
            <a:ext cx="4572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7" name="Line 25"/>
          <p:cNvSpPr>
            <a:spLocks noChangeShapeType="1"/>
          </p:cNvSpPr>
          <p:nvPr/>
        </p:nvSpPr>
        <p:spPr bwMode="auto">
          <a:xfrm>
            <a:off x="3200400" y="4343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8" name="Line 26"/>
          <p:cNvSpPr>
            <a:spLocks noChangeShapeType="1"/>
          </p:cNvSpPr>
          <p:nvPr/>
        </p:nvSpPr>
        <p:spPr bwMode="auto">
          <a:xfrm>
            <a:off x="5638800" y="3200400"/>
            <a:ext cx="381000" cy="152400"/>
          </a:xfrm>
          <a:prstGeom prst="line">
            <a:avLst/>
          </a:prstGeom>
          <a:noFill/>
          <a:ln w="38100">
            <a:pattFill prst="dkUpDiag">
              <a:fgClr>
                <a:srgbClr val="A50021"/>
              </a:fgClr>
              <a:bgClr>
                <a:srgbClr val="FFFFFF"/>
              </a:bgClr>
            </a:pattFill>
            <a:prstDash val="lg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39" name="Line 27"/>
          <p:cNvSpPr>
            <a:spLocks noChangeShapeType="1"/>
          </p:cNvSpPr>
          <p:nvPr/>
        </p:nvSpPr>
        <p:spPr bwMode="auto">
          <a:xfrm>
            <a:off x="5105400" y="4114800"/>
            <a:ext cx="3810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40" name="Line 28"/>
          <p:cNvSpPr>
            <a:spLocks noChangeShapeType="1"/>
          </p:cNvSpPr>
          <p:nvPr/>
        </p:nvSpPr>
        <p:spPr bwMode="auto">
          <a:xfrm>
            <a:off x="6477000" y="3733800"/>
            <a:ext cx="304800" cy="228600"/>
          </a:xfrm>
          <a:prstGeom prst="line">
            <a:avLst/>
          </a:prstGeom>
          <a:noFill/>
          <a:ln w="38100">
            <a:pattFill prst="dkUpDiag">
              <a:fgClr>
                <a:srgbClr val="A50021"/>
              </a:fgClr>
              <a:bgClr>
                <a:srgbClr val="FFFFFF"/>
              </a:bgClr>
            </a:pattFill>
            <a:prstDash val="lg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41" name="Line 29"/>
          <p:cNvSpPr>
            <a:spLocks noChangeShapeType="1"/>
          </p:cNvSpPr>
          <p:nvPr/>
        </p:nvSpPr>
        <p:spPr bwMode="auto">
          <a:xfrm flipH="1">
            <a:off x="6096000" y="4267200"/>
            <a:ext cx="609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42" name="Line 30"/>
          <p:cNvSpPr>
            <a:spLocks noChangeShapeType="1"/>
          </p:cNvSpPr>
          <p:nvPr/>
        </p:nvSpPr>
        <p:spPr bwMode="auto">
          <a:xfrm flipH="1">
            <a:off x="3733800" y="2590800"/>
            <a:ext cx="381000" cy="0"/>
          </a:xfrm>
          <a:prstGeom prst="line">
            <a:avLst/>
          </a:prstGeom>
          <a:noFill/>
          <a:ln w="38100">
            <a:pattFill prst="dkUpDiag">
              <a:fgClr>
                <a:srgbClr val="A50021"/>
              </a:fgClr>
              <a:bgClr>
                <a:srgbClr val="FFFFFF"/>
              </a:bgClr>
            </a:pattFill>
            <a:prstDash val="lg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43" name="Line 31"/>
          <p:cNvSpPr>
            <a:spLocks noChangeShapeType="1"/>
          </p:cNvSpPr>
          <p:nvPr/>
        </p:nvSpPr>
        <p:spPr bwMode="auto">
          <a:xfrm>
            <a:off x="3505200" y="2895600"/>
            <a:ext cx="1524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44" name="Oval 32"/>
          <p:cNvSpPr>
            <a:spLocks noChangeArrowheads="1"/>
          </p:cNvSpPr>
          <p:nvPr/>
        </p:nvSpPr>
        <p:spPr bwMode="auto">
          <a:xfrm>
            <a:off x="7162800" y="1905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Z</a:t>
            </a:r>
          </a:p>
        </p:txBody>
      </p:sp>
      <p:sp>
        <p:nvSpPr>
          <p:cNvPr id="64545" name="Oval 33"/>
          <p:cNvSpPr>
            <a:spLocks noChangeArrowheads="1"/>
          </p:cNvSpPr>
          <p:nvPr/>
        </p:nvSpPr>
        <p:spPr bwMode="auto">
          <a:xfrm>
            <a:off x="7467600" y="11430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Y</a:t>
            </a:r>
          </a:p>
        </p:txBody>
      </p:sp>
      <p:sp>
        <p:nvSpPr>
          <p:cNvPr id="64546" name="Line 34"/>
          <p:cNvSpPr>
            <a:spLocks noChangeShapeType="1"/>
          </p:cNvSpPr>
          <p:nvPr/>
        </p:nvSpPr>
        <p:spPr bwMode="auto">
          <a:xfrm flipH="1">
            <a:off x="7543800" y="1752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47" name="Oval 35" descr="Water droplets"/>
          <p:cNvSpPr>
            <a:spLocks noChangeArrowheads="1"/>
          </p:cNvSpPr>
          <p:nvPr/>
        </p:nvSpPr>
        <p:spPr bwMode="auto">
          <a:xfrm>
            <a:off x="69342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M</a:t>
            </a:r>
          </a:p>
        </p:txBody>
      </p:sp>
      <p:sp>
        <p:nvSpPr>
          <p:cNvPr id="64548" name="Oval 36"/>
          <p:cNvSpPr>
            <a:spLocks noChangeArrowheads="1"/>
          </p:cNvSpPr>
          <p:nvPr/>
        </p:nvSpPr>
        <p:spPr bwMode="auto">
          <a:xfrm>
            <a:off x="7391400" y="4419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N</a:t>
            </a:r>
          </a:p>
        </p:txBody>
      </p:sp>
      <p:sp>
        <p:nvSpPr>
          <p:cNvPr id="64549" name="Line 37"/>
          <p:cNvSpPr>
            <a:spLocks noChangeShapeType="1"/>
          </p:cNvSpPr>
          <p:nvPr/>
        </p:nvSpPr>
        <p:spPr bwMode="auto">
          <a:xfrm>
            <a:off x="72390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50" name="Oval 38" descr="Water droplets"/>
          <p:cNvSpPr>
            <a:spLocks noChangeArrowheads="1"/>
          </p:cNvSpPr>
          <p:nvPr/>
        </p:nvSpPr>
        <p:spPr bwMode="auto">
          <a:xfrm>
            <a:off x="7848600" y="3048000"/>
            <a:ext cx="609600" cy="6096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L</a:t>
            </a:r>
          </a:p>
        </p:txBody>
      </p:sp>
      <p:sp>
        <p:nvSpPr>
          <p:cNvPr id="64551" name="Line 39"/>
          <p:cNvSpPr>
            <a:spLocks noChangeShapeType="1"/>
          </p:cNvSpPr>
          <p:nvPr/>
        </p:nvSpPr>
        <p:spPr bwMode="auto">
          <a:xfrm>
            <a:off x="7543800" y="3352800"/>
            <a:ext cx="30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52" name="Line 40"/>
          <p:cNvSpPr>
            <a:spLocks noChangeShapeType="1"/>
          </p:cNvSpPr>
          <p:nvPr/>
        </p:nvSpPr>
        <p:spPr bwMode="auto">
          <a:xfrm flipV="1">
            <a:off x="6553200" y="3429000"/>
            <a:ext cx="3810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53" name="Freeform 41"/>
          <p:cNvSpPr>
            <a:spLocks/>
          </p:cNvSpPr>
          <p:nvPr/>
        </p:nvSpPr>
        <p:spPr bwMode="auto">
          <a:xfrm>
            <a:off x="3657600" y="2133600"/>
            <a:ext cx="609600" cy="228600"/>
          </a:xfrm>
          <a:custGeom>
            <a:avLst/>
            <a:gdLst>
              <a:gd name="T0" fmla="*/ 0 w 384"/>
              <a:gd name="T1" fmla="*/ 228600 h 144"/>
              <a:gd name="T2" fmla="*/ 228600 w 384"/>
              <a:gd name="T3" fmla="*/ 0 h 144"/>
              <a:gd name="T4" fmla="*/ 609600 w 384"/>
              <a:gd name="T5" fmla="*/ 22860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144">
                <a:moveTo>
                  <a:pt x="0" y="144"/>
                </a:moveTo>
                <a:cubicBezTo>
                  <a:pt x="40" y="72"/>
                  <a:pt x="80" y="0"/>
                  <a:pt x="144" y="0"/>
                </a:cubicBezTo>
                <a:cubicBezTo>
                  <a:pt x="208" y="0"/>
                  <a:pt x="344" y="120"/>
                  <a:pt x="384" y="14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54" name="Freeform 42"/>
          <p:cNvSpPr>
            <a:spLocks/>
          </p:cNvSpPr>
          <p:nvPr/>
        </p:nvSpPr>
        <p:spPr bwMode="auto">
          <a:xfrm>
            <a:off x="4648200" y="2235200"/>
            <a:ext cx="609600" cy="508000"/>
          </a:xfrm>
          <a:custGeom>
            <a:avLst/>
            <a:gdLst>
              <a:gd name="T0" fmla="*/ 0 w 384"/>
              <a:gd name="T1" fmla="*/ 203200 h 320"/>
              <a:gd name="T2" fmla="*/ 381000 w 384"/>
              <a:gd name="T3" fmla="*/ 50800 h 320"/>
              <a:gd name="T4" fmla="*/ 609600 w 384"/>
              <a:gd name="T5" fmla="*/ 508000 h 3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320">
                <a:moveTo>
                  <a:pt x="0" y="128"/>
                </a:moveTo>
                <a:cubicBezTo>
                  <a:pt x="88" y="64"/>
                  <a:pt x="176" y="0"/>
                  <a:pt x="240" y="32"/>
                </a:cubicBezTo>
                <a:cubicBezTo>
                  <a:pt x="304" y="64"/>
                  <a:pt x="360" y="272"/>
                  <a:pt x="384" y="32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55" name="Freeform 43"/>
          <p:cNvSpPr>
            <a:spLocks/>
          </p:cNvSpPr>
          <p:nvPr/>
        </p:nvSpPr>
        <p:spPr bwMode="auto">
          <a:xfrm>
            <a:off x="5562600" y="2590800"/>
            <a:ext cx="685800" cy="685800"/>
          </a:xfrm>
          <a:custGeom>
            <a:avLst/>
            <a:gdLst>
              <a:gd name="T0" fmla="*/ 0 w 432"/>
              <a:gd name="T1" fmla="*/ 228600 h 432"/>
              <a:gd name="T2" fmla="*/ 381000 w 432"/>
              <a:gd name="T3" fmla="*/ 76200 h 432"/>
              <a:gd name="T4" fmla="*/ 685800 w 432"/>
              <a:gd name="T5" fmla="*/ 68580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432">
                <a:moveTo>
                  <a:pt x="0" y="144"/>
                </a:moveTo>
                <a:cubicBezTo>
                  <a:pt x="84" y="72"/>
                  <a:pt x="168" y="0"/>
                  <a:pt x="240" y="48"/>
                </a:cubicBezTo>
                <a:cubicBezTo>
                  <a:pt x="312" y="96"/>
                  <a:pt x="372" y="264"/>
                  <a:pt x="432" y="4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56" name="Freeform 44"/>
          <p:cNvSpPr>
            <a:spLocks/>
          </p:cNvSpPr>
          <p:nvPr/>
        </p:nvSpPr>
        <p:spPr bwMode="auto">
          <a:xfrm>
            <a:off x="6553200" y="3581400"/>
            <a:ext cx="457200" cy="304800"/>
          </a:xfrm>
          <a:custGeom>
            <a:avLst/>
            <a:gdLst>
              <a:gd name="T0" fmla="*/ 0 w 288"/>
              <a:gd name="T1" fmla="*/ 0 h 192"/>
              <a:gd name="T2" fmla="*/ 381000 w 288"/>
              <a:gd name="T3" fmla="*/ 76200 h 192"/>
              <a:gd name="T4" fmla="*/ 457200 w 288"/>
              <a:gd name="T5" fmla="*/ 3048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192">
                <a:moveTo>
                  <a:pt x="0" y="0"/>
                </a:moveTo>
                <a:cubicBezTo>
                  <a:pt x="96" y="8"/>
                  <a:pt x="192" y="16"/>
                  <a:pt x="240" y="48"/>
                </a:cubicBezTo>
                <a:cubicBezTo>
                  <a:pt x="288" y="80"/>
                  <a:pt x="288" y="136"/>
                  <a:pt x="288" y="19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57" name="Freeform 45"/>
          <p:cNvSpPr>
            <a:spLocks/>
          </p:cNvSpPr>
          <p:nvPr/>
        </p:nvSpPr>
        <p:spPr bwMode="auto">
          <a:xfrm>
            <a:off x="1600200" y="6248400"/>
            <a:ext cx="609600" cy="228600"/>
          </a:xfrm>
          <a:custGeom>
            <a:avLst/>
            <a:gdLst>
              <a:gd name="T0" fmla="*/ 0 w 384"/>
              <a:gd name="T1" fmla="*/ 228600 h 144"/>
              <a:gd name="T2" fmla="*/ 228600 w 384"/>
              <a:gd name="T3" fmla="*/ 0 h 144"/>
              <a:gd name="T4" fmla="*/ 609600 w 384"/>
              <a:gd name="T5" fmla="*/ 22860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144">
                <a:moveTo>
                  <a:pt x="0" y="144"/>
                </a:moveTo>
                <a:cubicBezTo>
                  <a:pt x="40" y="72"/>
                  <a:pt x="80" y="0"/>
                  <a:pt x="144" y="0"/>
                </a:cubicBezTo>
                <a:cubicBezTo>
                  <a:pt x="208" y="0"/>
                  <a:pt x="344" y="120"/>
                  <a:pt x="384" y="14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64558" name="Text Box 46"/>
          <p:cNvSpPr txBox="1">
            <a:spLocks noChangeArrowheads="1"/>
          </p:cNvSpPr>
          <p:nvPr/>
        </p:nvSpPr>
        <p:spPr bwMode="auto">
          <a:xfrm>
            <a:off x="2362200" y="5257800"/>
            <a:ext cx="6164263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000" b="1">
                <a:latin typeface="Arial" charset="0"/>
              </a:rPr>
              <a:t>Forward links are setup when RREP travels along</a:t>
            </a:r>
          </a:p>
          <a:p>
            <a:r>
              <a:rPr lang="en-US" sz="2000" b="1">
                <a:latin typeface="Arial" charset="0"/>
              </a:rPr>
              <a:t>the reverse path</a:t>
            </a:r>
          </a:p>
          <a:p>
            <a:endParaRPr lang="en-US" sz="2000" b="1">
              <a:latin typeface="Arial" charset="0"/>
            </a:endParaRPr>
          </a:p>
          <a:p>
            <a:r>
              <a:rPr lang="en-US" sz="2000" b="1">
                <a:latin typeface="Arial" charset="0"/>
              </a:rPr>
              <a:t>Represents a link on the forward path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AODV – Optimization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71612"/>
            <a:ext cx="8229600" cy="455931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800" dirty="0" smtClean="0">
                <a:solidFill>
                  <a:srgbClr val="FF0000"/>
                </a:solidFill>
              </a:rPr>
              <a:t>Useful optimization:</a:t>
            </a:r>
            <a:r>
              <a:rPr lang="en-US" sz="2800" dirty="0" smtClean="0"/>
              <a:t> An intermediate node with a route to D can reply to route request.</a:t>
            </a:r>
          </a:p>
          <a:p>
            <a:pPr lvl="1" eaLnBrk="1" hangingPunct="1"/>
            <a:r>
              <a:rPr lang="en-US" sz="2300" b="1" dirty="0" smtClean="0">
                <a:solidFill>
                  <a:schemeClr val="tx1"/>
                </a:solidFill>
              </a:rPr>
              <a:t>Faster operation.</a:t>
            </a:r>
          </a:p>
          <a:p>
            <a:pPr lvl="1" eaLnBrk="1" hangingPunct="1"/>
            <a:r>
              <a:rPr lang="en-US" sz="2300" b="1" dirty="0" smtClean="0">
                <a:solidFill>
                  <a:srgbClr val="C00000"/>
                </a:solidFill>
              </a:rPr>
              <a:t>Multiple routes to be used after discovering .</a:t>
            </a:r>
          </a:p>
          <a:p>
            <a:pPr lvl="1" eaLnBrk="1" hangingPunct="1"/>
            <a:r>
              <a:rPr lang="en-US" sz="2300" b="1" dirty="0" smtClean="0">
                <a:solidFill>
                  <a:schemeClr val="tx1"/>
                </a:solidFill>
              </a:rPr>
              <a:t>Expanding ring search technique.</a:t>
            </a:r>
          </a:p>
          <a:p>
            <a:pPr lvl="1" eaLnBrk="1" hangingPunct="1"/>
            <a:r>
              <a:rPr lang="en-US" sz="2300" b="1" dirty="0" smtClean="0">
                <a:solidFill>
                  <a:schemeClr val="tx1"/>
                </a:solidFill>
              </a:rPr>
              <a:t>Unused routes are expired (through a concept of Aging) and consequently discarded ……route maintenance will be easier.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300" dirty="0" smtClean="0"/>
          </a:p>
          <a:p>
            <a:pPr eaLnBrk="1" hangingPunct="1"/>
            <a:r>
              <a:rPr lang="en-US" sz="2800" dirty="0" smtClean="0"/>
              <a:t>Above optimization </a:t>
            </a:r>
            <a:r>
              <a:rPr lang="en-US" sz="2800" dirty="0" smtClean="0">
                <a:solidFill>
                  <a:srgbClr val="C00000"/>
                </a:solidFill>
              </a:rPr>
              <a:t>can cause loops </a:t>
            </a:r>
            <a:r>
              <a:rPr lang="en-US" sz="2800" dirty="0" smtClean="0"/>
              <a:t>in presence of link failures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Link Failure 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643050"/>
            <a:ext cx="8643997" cy="4483113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 smtClean="0"/>
              <a:t>A neighbor of node X is considered</a:t>
            </a:r>
            <a:r>
              <a:rPr lang="en-US" dirty="0" smtClean="0">
                <a:solidFill>
                  <a:srgbClr val="FF0000"/>
                </a:solidFill>
              </a:rPr>
              <a:t> active</a:t>
            </a:r>
            <a:r>
              <a:rPr lang="en-US" dirty="0" smtClean="0"/>
              <a:t> for a routing table entry if the neighbor sent a packet within </a:t>
            </a:r>
            <a:r>
              <a:rPr lang="en-US" i="1" dirty="0" err="1" smtClean="0">
                <a:solidFill>
                  <a:srgbClr val="FF0000"/>
                </a:solidFill>
              </a:rPr>
              <a:t>active_route_timeout</a:t>
            </a:r>
            <a:r>
              <a:rPr lang="en-US" dirty="0" smtClean="0"/>
              <a:t> interval which was forwarded using that entry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Neighboring nodes periodically exchange</a:t>
            </a:r>
            <a:r>
              <a:rPr lang="en-US" dirty="0" smtClean="0">
                <a:solidFill>
                  <a:srgbClr val="FF0000"/>
                </a:solidFill>
              </a:rPr>
              <a:t> hello</a:t>
            </a:r>
            <a:r>
              <a:rPr lang="en-US" dirty="0" smtClean="0"/>
              <a:t> message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When the next hop link in a routing table entry breaks, all </a:t>
            </a:r>
            <a:r>
              <a:rPr lang="en-US" dirty="0" smtClean="0">
                <a:solidFill>
                  <a:srgbClr val="FF0000"/>
                </a:solidFill>
              </a:rPr>
              <a:t>active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smtClean="0"/>
              <a:t>neighbors are informed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Link failures are propagated by means of </a:t>
            </a:r>
            <a:r>
              <a:rPr lang="en-US" dirty="0" smtClean="0">
                <a:solidFill>
                  <a:srgbClr val="990000"/>
                </a:solidFill>
              </a:rPr>
              <a:t>Route Error (RERR)</a:t>
            </a:r>
            <a:r>
              <a:rPr lang="en-US" dirty="0" smtClean="0"/>
              <a:t> messages, which also update destination sequence numbers</a:t>
            </a:r>
            <a:endParaRPr lang="en-US" i="1" dirty="0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AODV: Routing Loops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3182938"/>
            <a:ext cx="8004175" cy="27114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Assume, link C-D fails, and node A does not know about it (route error packet from C is lost).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C performs a route discovery for D.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Node A receives the route request (via path C-E-A)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Node A replies, since A knows a route to D via node B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C00000"/>
                </a:solidFill>
              </a:rPr>
              <a:t>Results in a loop: C-E-A-B-C</a:t>
            </a: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1990725" y="1649413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A</a:t>
            </a:r>
          </a:p>
        </p:txBody>
      </p:sp>
      <p:sp>
        <p:nvSpPr>
          <p:cNvPr id="29701" name="Oval 5"/>
          <p:cNvSpPr>
            <a:spLocks noChangeArrowheads="1"/>
          </p:cNvSpPr>
          <p:nvPr/>
        </p:nvSpPr>
        <p:spPr bwMode="auto">
          <a:xfrm>
            <a:off x="3209925" y="1649413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B</a:t>
            </a:r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4619625" y="1649413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C</a:t>
            </a:r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6124575" y="1649413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D</a:t>
            </a:r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2600325" y="1954213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3819525" y="1954213"/>
            <a:ext cx="800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>
            <a:off x="5229225" y="1954213"/>
            <a:ext cx="895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>
            <a:off x="5553075" y="1649413"/>
            <a:ext cx="304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 flipH="1">
            <a:off x="5553075" y="1649413"/>
            <a:ext cx="304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9709" name="Oval 13"/>
          <p:cNvSpPr>
            <a:spLocks noChangeArrowheads="1"/>
          </p:cNvSpPr>
          <p:nvPr/>
        </p:nvSpPr>
        <p:spPr bwMode="auto">
          <a:xfrm>
            <a:off x="3209925" y="2392363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E</a:t>
            </a:r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>
            <a:off x="2505075" y="2201863"/>
            <a:ext cx="685800" cy="425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9711" name="Line 15"/>
          <p:cNvSpPr>
            <a:spLocks noChangeShapeType="1"/>
          </p:cNvSpPr>
          <p:nvPr/>
        </p:nvSpPr>
        <p:spPr bwMode="auto">
          <a:xfrm flipV="1">
            <a:off x="3800475" y="2201863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AODV: Use Sequence Numbers</a:t>
            </a:r>
          </a:p>
        </p:txBody>
      </p:sp>
      <p:sp>
        <p:nvSpPr>
          <p:cNvPr id="3174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57159" y="1785926"/>
            <a:ext cx="7923242" cy="4340237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sz="2800" dirty="0" smtClean="0"/>
              <a:t>Each node X maintains a sequence number</a:t>
            </a:r>
          </a:p>
          <a:p>
            <a:pPr lvl="1" algn="just" eaLnBrk="1" hangingPunct="1"/>
            <a:r>
              <a:rPr lang="en-US" sz="2300" dirty="0" smtClean="0">
                <a:solidFill>
                  <a:srgbClr val="C00000"/>
                </a:solidFill>
              </a:rPr>
              <a:t>acts as a time stamp</a:t>
            </a:r>
          </a:p>
          <a:p>
            <a:pPr lvl="1" algn="just" eaLnBrk="1" hangingPunct="1"/>
            <a:r>
              <a:rPr lang="en-US" sz="2300" dirty="0" smtClean="0">
                <a:solidFill>
                  <a:srgbClr val="C00000"/>
                </a:solidFill>
              </a:rPr>
              <a:t>incremented every time X sends any message</a:t>
            </a:r>
          </a:p>
          <a:p>
            <a:pPr algn="just" eaLnBrk="1" hangingPunct="1"/>
            <a:r>
              <a:rPr lang="en-US" sz="2800" dirty="0" smtClean="0"/>
              <a:t>Each route to X (at any node Y) also has X’s sequence number associated with it, which is Y’s latest knowledge of X’s sequence number.</a:t>
            </a:r>
          </a:p>
          <a:p>
            <a:pPr algn="just" eaLnBrk="1" hangingPunct="1"/>
            <a:r>
              <a:rPr lang="en-US" sz="2800" dirty="0" smtClean="0">
                <a:solidFill>
                  <a:srgbClr val="C00000"/>
                </a:solidFill>
              </a:rPr>
              <a:t>Sequence number signifies ‘freshness’ of the route </a:t>
            </a:r>
            <a:r>
              <a:rPr lang="en-US" sz="2800" dirty="0" smtClean="0"/>
              <a:t>– higher the number, more up to date is the route.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Use of Sequence Numbers in AODV</a:t>
            </a:r>
          </a:p>
        </p:txBody>
      </p:sp>
      <p:sp>
        <p:nvSpPr>
          <p:cNvPr id="32771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457200" y="3733800"/>
            <a:ext cx="8229600" cy="2397125"/>
          </a:xfrm>
        </p:spPr>
        <p:txBody>
          <a:bodyPr/>
          <a:lstStyle/>
          <a:p>
            <a:pPr algn="just" eaLnBrk="1" hangingPunct="1"/>
            <a:r>
              <a:rPr lang="en-US" sz="2800" dirty="0" smtClean="0">
                <a:solidFill>
                  <a:srgbClr val="C00000"/>
                </a:solidFill>
              </a:rPr>
              <a:t>Loop freedom</a:t>
            </a:r>
            <a:r>
              <a:rPr lang="en-US" sz="2800" dirty="0" smtClean="0"/>
              <a:t>: Intermediate node replies with a route (instead of forwarding request) only if it has a route with a higher associated sequence number.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2066925" y="1693863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latin typeface="Arial" charset="0"/>
              </a:rPr>
              <a:t>S</a:t>
            </a:r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3949700" y="167005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latin typeface="Arial" charset="0"/>
              </a:rPr>
              <a:t>Y</a:t>
            </a: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7099300" y="1735138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latin typeface="Arial" charset="0"/>
              </a:rPr>
              <a:t>D</a:t>
            </a:r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2687638" y="1971675"/>
            <a:ext cx="12446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4560888" y="1993900"/>
            <a:ext cx="25003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5432425" y="1800225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latin typeface="Arial" charset="0"/>
              </a:rPr>
              <a:t>?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1357313" y="2289175"/>
            <a:ext cx="1841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Arial" charset="0"/>
              </a:rPr>
              <a:t>Dest seq. no. = 10</a:t>
            </a: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3802063" y="2246313"/>
            <a:ext cx="17224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Arial" charset="0"/>
              </a:rPr>
              <a:t>Has a route to D </a:t>
            </a:r>
          </a:p>
          <a:p>
            <a:pPr algn="ctr"/>
            <a:r>
              <a:rPr lang="en-US" sz="1600">
                <a:latin typeface="Arial" charset="0"/>
              </a:rPr>
              <a:t>with seq. no = 7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6751638" y="2427288"/>
            <a:ext cx="14001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Arial" charset="0"/>
              </a:rPr>
              <a:t>Seq. no. = 15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1427163" y="3071813"/>
            <a:ext cx="1719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rgbClr val="FF0000"/>
                </a:solidFill>
                <a:latin typeface="Arial" charset="0"/>
              </a:rPr>
              <a:t>RREQ carries 10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3679825" y="2974975"/>
            <a:ext cx="21066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Arial" charset="0"/>
              </a:rPr>
              <a:t>Y does not reply, but </a:t>
            </a:r>
          </a:p>
          <a:p>
            <a:r>
              <a:rPr lang="en-US" sz="1600">
                <a:solidFill>
                  <a:srgbClr val="FF0000"/>
                </a:solidFill>
                <a:latin typeface="Arial" charset="0"/>
              </a:rPr>
              <a:t>forwards the RREQ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3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804656"/>
          </a:xfrm>
        </p:spPr>
        <p:txBody>
          <a:bodyPr/>
          <a:lstStyle/>
          <a:p>
            <a:pPr algn="l" eaLnBrk="1" hangingPunct="1"/>
            <a:r>
              <a:rPr lang="en-US" dirty="0" smtClean="0">
                <a:solidFill>
                  <a:srgbClr val="C00000"/>
                </a:solidFill>
              </a:rPr>
              <a:t>Avoidance of Loop</a:t>
            </a:r>
          </a:p>
        </p:txBody>
      </p:sp>
      <p:sp>
        <p:nvSpPr>
          <p:cNvPr id="33795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457200" y="4343400"/>
            <a:ext cx="8229600" cy="1787525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sz="2400" smtClean="0"/>
              <a:t>Link failure increments the DSN at C (now is 10).</a:t>
            </a:r>
          </a:p>
          <a:p>
            <a:pPr eaLnBrk="1" hangingPunct="1">
              <a:lnSpc>
                <a:spcPct val="100000"/>
              </a:lnSpc>
            </a:pPr>
            <a:r>
              <a:rPr lang="en-US" sz="2400" smtClean="0"/>
              <a:t>If C needs route to D, RREQ carries the DSN (10).</a:t>
            </a:r>
          </a:p>
          <a:p>
            <a:pPr eaLnBrk="1" hangingPunct="1">
              <a:lnSpc>
                <a:spcPct val="100000"/>
              </a:lnSpc>
            </a:pPr>
            <a:r>
              <a:rPr lang="en-US" sz="2400" smtClean="0"/>
              <a:t>A does not reply as its own DSN is less than 10.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1855788" y="225425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A</a:t>
            </a: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3074988" y="225425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B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4484688" y="225425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C</a:t>
            </a: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5989638" y="225425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D</a:t>
            </a:r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2465388" y="255905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>
            <a:off x="3684588" y="2559050"/>
            <a:ext cx="800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5094288" y="2559050"/>
            <a:ext cx="895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>
            <a:off x="5418138" y="2254250"/>
            <a:ext cx="304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 flipH="1">
            <a:off x="5418138" y="2254250"/>
            <a:ext cx="304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3805" name="Oval 13"/>
          <p:cNvSpPr>
            <a:spLocks noChangeArrowheads="1"/>
          </p:cNvSpPr>
          <p:nvPr/>
        </p:nvSpPr>
        <p:spPr bwMode="auto">
          <a:xfrm>
            <a:off x="3074988" y="29972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latin typeface="Arial" charset="0"/>
              </a:rPr>
              <a:t>E</a:t>
            </a:r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>
            <a:off x="2370138" y="2806700"/>
            <a:ext cx="685800" cy="425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 flipV="1">
            <a:off x="3665538" y="28067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6345238" y="2728913"/>
            <a:ext cx="466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Arial" charset="0"/>
              </a:rPr>
              <a:t>10</a:t>
            </a:r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4924425" y="274955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Arial" charset="0"/>
              </a:rPr>
              <a:t>9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3652838" y="2117725"/>
            <a:ext cx="325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Arial" charset="0"/>
              </a:rPr>
              <a:t>9</a:t>
            </a:r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1817688" y="2806700"/>
            <a:ext cx="325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Arial" charset="0"/>
              </a:rPr>
              <a:t>7</a:t>
            </a: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3644900" y="3297238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Arial" charset="0"/>
              </a:rPr>
              <a:t>5</a:t>
            </a:r>
          </a:p>
        </p:txBody>
      </p:sp>
      <p:sp>
        <p:nvSpPr>
          <p:cNvPr id="33813" name="Text Box 21"/>
          <p:cNvSpPr txBox="1">
            <a:spLocks noChangeArrowheads="1"/>
          </p:cNvSpPr>
          <p:nvPr/>
        </p:nvSpPr>
        <p:spPr bwMode="auto">
          <a:xfrm>
            <a:off x="4960938" y="3467100"/>
            <a:ext cx="24530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" charset="0"/>
              </a:rPr>
              <a:t>All </a:t>
            </a:r>
            <a:r>
              <a:rPr lang="en-US" sz="2000" b="1" dirty="0" smtClean="0">
                <a:latin typeface="Arial" charset="0"/>
              </a:rPr>
              <a:t>DSN’s </a:t>
            </a:r>
            <a:r>
              <a:rPr lang="en-US" sz="2000" b="1" dirty="0">
                <a:latin typeface="Arial" charset="0"/>
              </a:rPr>
              <a:t>are for D</a:t>
            </a:r>
          </a:p>
        </p:txBody>
      </p:sp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649288" y="1376363"/>
            <a:ext cx="6164262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sz="2400">
                <a:latin typeface="Arial" charset="0"/>
              </a:rPr>
              <a:t>DSN = Destination Sequence Number.</a:t>
            </a:r>
          </a:p>
          <a:p>
            <a:pPr algn="ctr"/>
            <a:endParaRPr lang="en-US" sz="2000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7" y="1714488"/>
            <a:ext cx="7851804" cy="4411675"/>
          </a:xfrm>
        </p:spPr>
        <p:txBody>
          <a:bodyPr/>
          <a:lstStyle/>
          <a:p>
            <a:pPr algn="just"/>
            <a:r>
              <a:rPr lang="en-IN" dirty="0" smtClean="0"/>
              <a:t>Movement of nodes within the ad-hoc network affects only the routes containing those nodes; such a path is called Active Path. </a:t>
            </a:r>
          </a:p>
          <a:p>
            <a:pPr algn="just"/>
            <a:r>
              <a:rPr lang="en-IN" dirty="0" smtClean="0"/>
              <a:t>Route maintenance will be triggered only for active session.</a:t>
            </a:r>
          </a:p>
          <a:p>
            <a:pPr algn="just"/>
            <a:r>
              <a:rPr lang="en-IN" dirty="0" smtClean="0"/>
              <a:t>Route entries with an infinity metric  are not immediately deleted as they contain useful current routing information.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76094"/>
          </a:xfrm>
        </p:spPr>
        <p:txBody>
          <a:bodyPr/>
          <a:lstStyle/>
          <a:p>
            <a:r>
              <a:rPr lang="en-IN" dirty="0" smtClean="0"/>
              <a:t>Route Maintenance</a:t>
            </a:r>
            <a:endParaRPr lang="en-IN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>
                <a:solidFill>
                  <a:srgbClr val="C00000"/>
                </a:solidFill>
              </a:rPr>
              <a:t>Path Maintenance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609600" y="3200400"/>
            <a:ext cx="82677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</a:pPr>
            <a:r>
              <a:rPr lang="en-US" sz="2400"/>
              <a:t>Movement not along active path triggers no action</a:t>
            </a:r>
          </a:p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</a:pPr>
            <a:r>
              <a:rPr lang="en-US" sz="2400"/>
              <a:t>If source moves, reinitiate route discovery</a:t>
            </a: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</a:pPr>
            <a:r>
              <a:rPr lang="en-US" sz="2400"/>
              <a:t>When destination or intermediate node moves</a:t>
            </a:r>
          </a:p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</a:pPr>
            <a:r>
              <a:rPr lang="en-US" sz="2000"/>
              <a:t>upstream node of break broadcasts </a:t>
            </a:r>
            <a:r>
              <a:rPr lang="en-US" sz="2000" i="1"/>
              <a:t>Route Error</a:t>
            </a:r>
            <a:r>
              <a:rPr lang="en-US" sz="2000"/>
              <a:t> (RERR)</a:t>
            </a:r>
          </a:p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</a:pPr>
            <a:r>
              <a:rPr lang="en-US" sz="2000"/>
              <a:t>RERR contains list of all destinations no longer reachable due to link break</a:t>
            </a:r>
          </a:p>
          <a:p>
            <a:pPr marL="742950" lvl="1" indent="-28575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</a:pPr>
            <a:r>
              <a:rPr lang="en-US" sz="2000"/>
              <a:t>RERR propagated until node with no precursors for destination is reached</a:t>
            </a: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1944688" y="1720850"/>
            <a:ext cx="266700" cy="285750"/>
          </a:xfrm>
          <a:prstGeom prst="ellipse">
            <a:avLst/>
          </a:prstGeom>
          <a:solidFill>
            <a:srgbClr val="B2B2B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1741488" y="2736850"/>
            <a:ext cx="266700" cy="285750"/>
          </a:xfrm>
          <a:prstGeom prst="ellipse">
            <a:avLst/>
          </a:prstGeom>
          <a:solidFill>
            <a:srgbClr val="B2B2B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2719388" y="2609850"/>
            <a:ext cx="266700" cy="285750"/>
          </a:xfrm>
          <a:prstGeom prst="ellipse">
            <a:avLst/>
          </a:prstGeom>
          <a:solidFill>
            <a:srgbClr val="B2B2B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1582738" y="2101850"/>
            <a:ext cx="266700" cy="287338"/>
          </a:xfrm>
          <a:prstGeom prst="ellipse">
            <a:avLst/>
          </a:prstGeom>
          <a:solidFill>
            <a:srgbClr val="0099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24" name="Oval 8"/>
          <p:cNvSpPr>
            <a:spLocks noChangeArrowheads="1"/>
          </p:cNvSpPr>
          <p:nvPr/>
        </p:nvSpPr>
        <p:spPr bwMode="auto">
          <a:xfrm>
            <a:off x="2598738" y="1987550"/>
            <a:ext cx="266700" cy="287338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25" name="Oval 9"/>
          <p:cNvSpPr>
            <a:spLocks noChangeArrowheads="1"/>
          </p:cNvSpPr>
          <p:nvPr/>
        </p:nvSpPr>
        <p:spPr bwMode="auto">
          <a:xfrm>
            <a:off x="2103438" y="2393950"/>
            <a:ext cx="266700" cy="287338"/>
          </a:xfrm>
          <a:prstGeom prst="ellipse">
            <a:avLst/>
          </a:prstGeom>
          <a:solidFill>
            <a:srgbClr val="0099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539750" y="2773363"/>
            <a:ext cx="819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Source</a:t>
            </a: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3333750" y="2024063"/>
            <a:ext cx="1238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Destination</a:t>
            </a:r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 flipV="1">
            <a:off x="1349375" y="2352675"/>
            <a:ext cx="260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>
            <a:off x="1838325" y="2320925"/>
            <a:ext cx="26670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flipV="1">
            <a:off x="2352675" y="2232025"/>
            <a:ext cx="2730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>
            <a:off x="2860675" y="2200275"/>
            <a:ext cx="3492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 flipV="1">
            <a:off x="2835275" y="1787525"/>
            <a:ext cx="323850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1435100" y="1855788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1</a:t>
            </a:r>
          </a:p>
        </p:txBody>
      </p:sp>
      <p:sp>
        <p:nvSpPr>
          <p:cNvPr id="34834" name="Rectangle 18"/>
          <p:cNvSpPr>
            <a:spLocks noChangeArrowheads="1"/>
          </p:cNvSpPr>
          <p:nvPr/>
        </p:nvSpPr>
        <p:spPr bwMode="auto">
          <a:xfrm>
            <a:off x="2092325" y="2655888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2</a:t>
            </a:r>
          </a:p>
        </p:txBody>
      </p:sp>
      <p:sp>
        <p:nvSpPr>
          <p:cNvPr id="34835" name="Rectangle 19"/>
          <p:cNvSpPr>
            <a:spLocks noChangeArrowheads="1"/>
          </p:cNvSpPr>
          <p:nvPr/>
        </p:nvSpPr>
        <p:spPr bwMode="auto">
          <a:xfrm>
            <a:off x="2397125" y="1789113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3</a:t>
            </a:r>
          </a:p>
        </p:txBody>
      </p:sp>
      <p:sp>
        <p:nvSpPr>
          <p:cNvPr id="34836" name="Rectangle 20"/>
          <p:cNvSpPr>
            <a:spLocks noChangeArrowheads="1"/>
          </p:cNvSpPr>
          <p:nvPr/>
        </p:nvSpPr>
        <p:spPr bwMode="auto">
          <a:xfrm>
            <a:off x="2892425" y="2798763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4</a:t>
            </a:r>
          </a:p>
        </p:txBody>
      </p:sp>
      <p:sp>
        <p:nvSpPr>
          <p:cNvPr id="34837" name="Rectangle 21"/>
          <p:cNvSpPr>
            <a:spLocks noChangeArrowheads="1"/>
          </p:cNvSpPr>
          <p:nvPr/>
        </p:nvSpPr>
        <p:spPr bwMode="auto">
          <a:xfrm>
            <a:off x="3355975" y="1398588"/>
            <a:ext cx="3540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3’</a:t>
            </a:r>
          </a:p>
        </p:txBody>
      </p:sp>
      <p:sp>
        <p:nvSpPr>
          <p:cNvPr id="34838" name="Oval 22"/>
          <p:cNvSpPr>
            <a:spLocks noChangeArrowheads="1"/>
          </p:cNvSpPr>
          <p:nvPr/>
        </p:nvSpPr>
        <p:spPr bwMode="auto">
          <a:xfrm>
            <a:off x="5640388" y="1720850"/>
            <a:ext cx="266700" cy="285750"/>
          </a:xfrm>
          <a:prstGeom prst="ellipse">
            <a:avLst/>
          </a:prstGeom>
          <a:solidFill>
            <a:srgbClr val="B2B2B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39" name="Oval 23"/>
          <p:cNvSpPr>
            <a:spLocks noChangeArrowheads="1"/>
          </p:cNvSpPr>
          <p:nvPr/>
        </p:nvSpPr>
        <p:spPr bwMode="auto">
          <a:xfrm>
            <a:off x="5437188" y="2736850"/>
            <a:ext cx="266700" cy="285750"/>
          </a:xfrm>
          <a:prstGeom prst="ellipse">
            <a:avLst/>
          </a:prstGeom>
          <a:solidFill>
            <a:srgbClr val="B2B2B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40" name="Oval 24"/>
          <p:cNvSpPr>
            <a:spLocks noChangeArrowheads="1"/>
          </p:cNvSpPr>
          <p:nvPr/>
        </p:nvSpPr>
        <p:spPr bwMode="auto">
          <a:xfrm>
            <a:off x="6821488" y="1543050"/>
            <a:ext cx="266700" cy="285750"/>
          </a:xfrm>
          <a:prstGeom prst="ellipse">
            <a:avLst/>
          </a:prstGeom>
          <a:solidFill>
            <a:srgbClr val="B2B2B2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41" name="Oval 25"/>
          <p:cNvSpPr>
            <a:spLocks noChangeArrowheads="1"/>
          </p:cNvSpPr>
          <p:nvPr/>
        </p:nvSpPr>
        <p:spPr bwMode="auto">
          <a:xfrm>
            <a:off x="5278438" y="2101850"/>
            <a:ext cx="266700" cy="287338"/>
          </a:xfrm>
          <a:prstGeom prst="ellipse">
            <a:avLst/>
          </a:prstGeom>
          <a:solidFill>
            <a:srgbClr val="0099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42" name="Oval 26"/>
          <p:cNvSpPr>
            <a:spLocks noChangeArrowheads="1"/>
          </p:cNvSpPr>
          <p:nvPr/>
        </p:nvSpPr>
        <p:spPr bwMode="auto">
          <a:xfrm>
            <a:off x="5799138" y="2393950"/>
            <a:ext cx="266700" cy="287338"/>
          </a:xfrm>
          <a:prstGeom prst="ellipse">
            <a:avLst/>
          </a:prstGeom>
          <a:solidFill>
            <a:srgbClr val="0099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43" name="Rectangle 27"/>
          <p:cNvSpPr>
            <a:spLocks noChangeArrowheads="1"/>
          </p:cNvSpPr>
          <p:nvPr/>
        </p:nvSpPr>
        <p:spPr bwMode="auto">
          <a:xfrm>
            <a:off x="4235450" y="2773363"/>
            <a:ext cx="819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Source</a:t>
            </a:r>
          </a:p>
        </p:txBody>
      </p:sp>
      <p:sp>
        <p:nvSpPr>
          <p:cNvPr id="34844" name="Rectangle 28"/>
          <p:cNvSpPr>
            <a:spLocks noChangeArrowheads="1"/>
          </p:cNvSpPr>
          <p:nvPr/>
        </p:nvSpPr>
        <p:spPr bwMode="auto">
          <a:xfrm>
            <a:off x="7029450" y="2024063"/>
            <a:ext cx="1238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>
                <a:latin typeface="Times New Roman" pitchFamily="18" charset="0"/>
              </a:rPr>
              <a:t>Destination</a:t>
            </a:r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 flipV="1">
            <a:off x="5045075" y="2352675"/>
            <a:ext cx="260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5534025" y="2320925"/>
            <a:ext cx="26670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47" name="Rectangle 31"/>
          <p:cNvSpPr>
            <a:spLocks noChangeArrowheads="1"/>
          </p:cNvSpPr>
          <p:nvPr/>
        </p:nvSpPr>
        <p:spPr bwMode="auto">
          <a:xfrm>
            <a:off x="5130800" y="1855788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1</a:t>
            </a:r>
          </a:p>
        </p:txBody>
      </p:sp>
      <p:sp>
        <p:nvSpPr>
          <p:cNvPr id="34848" name="Rectangle 32"/>
          <p:cNvSpPr>
            <a:spLocks noChangeArrowheads="1"/>
          </p:cNvSpPr>
          <p:nvPr/>
        </p:nvSpPr>
        <p:spPr bwMode="auto">
          <a:xfrm>
            <a:off x="5788025" y="2655888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2</a:t>
            </a:r>
          </a:p>
        </p:txBody>
      </p:sp>
      <p:sp>
        <p:nvSpPr>
          <p:cNvPr id="34849" name="Rectangle 33"/>
          <p:cNvSpPr>
            <a:spLocks noChangeArrowheads="1"/>
          </p:cNvSpPr>
          <p:nvPr/>
        </p:nvSpPr>
        <p:spPr bwMode="auto">
          <a:xfrm>
            <a:off x="6588125" y="2798763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4</a:t>
            </a:r>
          </a:p>
        </p:txBody>
      </p:sp>
      <p:sp>
        <p:nvSpPr>
          <p:cNvPr id="34850" name="Oval 34"/>
          <p:cNvSpPr>
            <a:spLocks noChangeArrowheads="1"/>
          </p:cNvSpPr>
          <p:nvPr/>
        </p:nvSpPr>
        <p:spPr bwMode="auto">
          <a:xfrm>
            <a:off x="6421438" y="2609850"/>
            <a:ext cx="266700" cy="287338"/>
          </a:xfrm>
          <a:prstGeom prst="ellipse">
            <a:avLst/>
          </a:prstGeom>
          <a:solidFill>
            <a:srgbClr val="0099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51" name="Rectangle 35"/>
          <p:cNvSpPr>
            <a:spLocks noChangeArrowheads="1"/>
          </p:cNvSpPr>
          <p:nvPr/>
        </p:nvSpPr>
        <p:spPr bwMode="auto">
          <a:xfrm>
            <a:off x="7064375" y="1411288"/>
            <a:ext cx="3540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3’</a:t>
            </a:r>
          </a:p>
        </p:txBody>
      </p:sp>
      <p:sp>
        <p:nvSpPr>
          <p:cNvPr id="34852" name="Line 36"/>
          <p:cNvSpPr>
            <a:spLocks noChangeShapeType="1"/>
          </p:cNvSpPr>
          <p:nvPr/>
        </p:nvSpPr>
        <p:spPr bwMode="auto">
          <a:xfrm>
            <a:off x="6061075" y="2613025"/>
            <a:ext cx="355600" cy="146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53" name="Line 37"/>
          <p:cNvSpPr>
            <a:spLocks noChangeShapeType="1"/>
          </p:cNvSpPr>
          <p:nvPr/>
        </p:nvSpPr>
        <p:spPr bwMode="auto">
          <a:xfrm flipV="1">
            <a:off x="6689725" y="2555875"/>
            <a:ext cx="23495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4854" name="Oval 38"/>
          <p:cNvSpPr>
            <a:spLocks noChangeArrowheads="1"/>
          </p:cNvSpPr>
          <p:nvPr/>
        </p:nvSpPr>
        <p:spPr bwMode="auto">
          <a:xfrm>
            <a:off x="3132138" y="1543050"/>
            <a:ext cx="266700" cy="287338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55" name="Oval 39"/>
          <p:cNvSpPr>
            <a:spLocks noChangeArrowheads="1"/>
          </p:cNvSpPr>
          <p:nvPr/>
        </p:nvSpPr>
        <p:spPr bwMode="auto">
          <a:xfrm>
            <a:off x="4818063" y="2541588"/>
            <a:ext cx="271462" cy="287337"/>
          </a:xfrm>
          <a:prstGeom prst="ellipse">
            <a:avLst/>
          </a:prstGeom>
          <a:gradFill rotWithShape="0">
            <a:gsLst>
              <a:gs pos="0">
                <a:srgbClr val="B2E0B2"/>
              </a:gs>
              <a:gs pos="100000">
                <a:srgbClr val="0099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56" name="Oval 40"/>
          <p:cNvSpPr>
            <a:spLocks noChangeArrowheads="1"/>
          </p:cNvSpPr>
          <p:nvPr/>
        </p:nvSpPr>
        <p:spPr bwMode="auto">
          <a:xfrm>
            <a:off x="6900863" y="2371725"/>
            <a:ext cx="271462" cy="287338"/>
          </a:xfrm>
          <a:prstGeom prst="ellipse">
            <a:avLst/>
          </a:prstGeom>
          <a:gradFill rotWithShape="0">
            <a:gsLst>
              <a:gs pos="0">
                <a:srgbClr val="B2E0B2"/>
              </a:gs>
              <a:gs pos="100000">
                <a:srgbClr val="0099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57" name="Oval 41"/>
          <p:cNvSpPr>
            <a:spLocks noChangeArrowheads="1"/>
          </p:cNvSpPr>
          <p:nvPr/>
        </p:nvSpPr>
        <p:spPr bwMode="auto">
          <a:xfrm>
            <a:off x="3162300" y="2359025"/>
            <a:ext cx="271463" cy="287338"/>
          </a:xfrm>
          <a:prstGeom prst="ellipse">
            <a:avLst/>
          </a:prstGeom>
          <a:gradFill rotWithShape="0">
            <a:gsLst>
              <a:gs pos="0">
                <a:srgbClr val="B2E0B2"/>
              </a:gs>
              <a:gs pos="100000">
                <a:srgbClr val="0099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34858" name="Oval 42"/>
          <p:cNvSpPr>
            <a:spLocks noChangeArrowheads="1"/>
          </p:cNvSpPr>
          <p:nvPr/>
        </p:nvSpPr>
        <p:spPr bwMode="auto">
          <a:xfrm>
            <a:off x="1120775" y="2543175"/>
            <a:ext cx="271463" cy="287338"/>
          </a:xfrm>
          <a:prstGeom prst="ellipse">
            <a:avLst/>
          </a:prstGeom>
          <a:gradFill rotWithShape="0">
            <a:gsLst>
              <a:gs pos="0">
                <a:srgbClr val="B2E0B2"/>
              </a:gs>
              <a:gs pos="100000">
                <a:srgbClr val="009900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804656"/>
          </a:xfrm>
        </p:spPr>
        <p:txBody>
          <a:bodyPr/>
          <a:lstStyle/>
          <a:p>
            <a:pPr algn="l" eaLnBrk="1" hangingPunct="1"/>
            <a:r>
              <a:rPr lang="en-US" dirty="0" smtClean="0">
                <a:solidFill>
                  <a:srgbClr val="C00000"/>
                </a:solidFill>
              </a:rPr>
              <a:t>AODV: Summary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500174"/>
            <a:ext cx="8643997" cy="462598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Routes need not be included in packet headers</a:t>
            </a:r>
          </a:p>
          <a:p>
            <a:pPr algn="just" eaLnBrk="1" hangingPunct="1">
              <a:lnSpc>
                <a:spcPct val="90000"/>
              </a:lnSpc>
            </a:pPr>
            <a:endParaRPr 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Nodes maintain routing tables containing entries only for routes that are in active use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At most one next-hop per destination maintained at each node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 smtClean="0"/>
              <a:t>DSR may maintain several routes for a single destination</a:t>
            </a:r>
          </a:p>
          <a:p>
            <a:pPr algn="just" eaLnBrk="1" hangingPunct="1">
              <a:lnSpc>
                <a:spcPct val="90000"/>
              </a:lnSpc>
            </a:pPr>
            <a:endParaRPr 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Sequence numbers are used to avoid old/broken routes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Sequence numbers prevent formation of routing loops</a:t>
            </a:r>
          </a:p>
          <a:p>
            <a:pPr algn="just" eaLnBrk="1" hangingPunct="1">
              <a:lnSpc>
                <a:spcPct val="90000"/>
              </a:lnSpc>
            </a:pPr>
            <a:endParaRPr 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dirty="0" smtClean="0"/>
              <a:t>Unused routes expire even if topology does not 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Location-Aided Routing (LAR</a:t>
            </a:r>
            <a:r>
              <a:rPr lang="en-US" dirty="0" smtClean="0"/>
              <a:t>)</a:t>
            </a:r>
            <a:endParaRPr lang="en-US" dirty="0" smtClean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714488"/>
            <a:ext cx="8358245" cy="4786346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dirty="0" smtClean="0"/>
              <a:t>Exploits location information to limit scope of route request flooding</a:t>
            </a:r>
          </a:p>
          <a:p>
            <a:pPr lvl="1" algn="just" eaLnBrk="1" hangingPunct="1"/>
            <a:r>
              <a:rPr lang="en-US" sz="2400" dirty="0" smtClean="0">
                <a:solidFill>
                  <a:srgbClr val="C00000"/>
                </a:solidFill>
              </a:rPr>
              <a:t>Location information may be obtained using GPS</a:t>
            </a:r>
          </a:p>
          <a:p>
            <a:pPr lvl="1" algn="just" eaLnBrk="1" hangingPunct="1"/>
            <a:endParaRPr lang="en-US" sz="2400" dirty="0" smtClean="0"/>
          </a:p>
          <a:p>
            <a:pPr algn="just" eaLnBrk="1" hangingPunct="1"/>
            <a:r>
              <a:rPr lang="en-US" i="1" dirty="0" smtClean="0">
                <a:solidFill>
                  <a:srgbClr val="FF0000"/>
                </a:solidFill>
              </a:rPr>
              <a:t>Expected Zone</a:t>
            </a:r>
            <a:r>
              <a:rPr lang="en-US" dirty="0" smtClean="0"/>
              <a:t> is determined as a region that is expected to hold the current location of the destination</a:t>
            </a:r>
          </a:p>
          <a:p>
            <a:pPr lvl="1" algn="just" eaLnBrk="1" hangingPunct="1"/>
            <a:r>
              <a:rPr lang="en-US" sz="2400" dirty="0" smtClean="0"/>
              <a:t>Expected region determined based on potentially old location information, and knowledge of the destination’s speed</a:t>
            </a:r>
          </a:p>
          <a:p>
            <a:pPr algn="just" eaLnBrk="1" hangingPunct="1"/>
            <a:r>
              <a:rPr lang="en-US" dirty="0" smtClean="0"/>
              <a:t>Route </a:t>
            </a:r>
            <a:r>
              <a:rPr lang="en-US" dirty="0" smtClean="0"/>
              <a:t>requests limited to a </a:t>
            </a:r>
            <a:r>
              <a:rPr lang="en-US" i="1" dirty="0" smtClean="0">
                <a:solidFill>
                  <a:srgbClr val="990000"/>
                </a:solidFill>
              </a:rPr>
              <a:t>Request Zone</a:t>
            </a:r>
            <a:r>
              <a:rPr lang="en-US" dirty="0" smtClean="0">
                <a:solidFill>
                  <a:srgbClr val="339933"/>
                </a:solidFill>
              </a:rPr>
              <a:t> </a:t>
            </a:r>
            <a:r>
              <a:rPr lang="en-US" dirty="0" smtClean="0"/>
              <a:t>that contains the Expected Zone and location of the sender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590342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>
                <a:solidFill>
                  <a:srgbClr val="C00000"/>
                </a:solidFill>
              </a:rPr>
              <a:t>Request Zone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7772400" cy="4114800"/>
          </a:xfrm>
        </p:spPr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Define a </a:t>
            </a:r>
            <a:r>
              <a:rPr lang="en-US" dirty="0" smtClean="0">
                <a:solidFill>
                  <a:srgbClr val="FF0000"/>
                </a:solidFill>
              </a:rPr>
              <a:t>Request Zone</a:t>
            </a:r>
            <a:endParaRPr lang="en-US" dirty="0" smtClean="0">
              <a:solidFill>
                <a:schemeClr val="accent1"/>
              </a:solidFill>
            </a:endParaRPr>
          </a:p>
          <a:p>
            <a:pPr eaLnBrk="1" hangingPunct="1"/>
            <a:r>
              <a:rPr lang="en-US" dirty="0" smtClean="0"/>
              <a:t>LAR is same as flooding, except that only nodes in request zone forward route request</a:t>
            </a:r>
          </a:p>
          <a:p>
            <a:pPr eaLnBrk="1" hangingPunct="1"/>
            <a:r>
              <a:rPr lang="en-US" dirty="0" smtClean="0"/>
              <a:t>Smallest rectangle including S and expected zone for D</a:t>
            </a:r>
          </a:p>
        </p:txBody>
      </p:sp>
      <p:sp>
        <p:nvSpPr>
          <p:cNvPr id="54276" name="Oval 4"/>
          <p:cNvSpPr>
            <a:spLocks noChangeArrowheads="1"/>
          </p:cNvSpPr>
          <p:nvPr/>
        </p:nvSpPr>
        <p:spPr bwMode="auto">
          <a:xfrm>
            <a:off x="1981200" y="59436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1524000" y="57150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</a:t>
            </a: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1981200" y="3429000"/>
            <a:ext cx="5638800" cy="281940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2362200" y="3352800"/>
            <a:ext cx="19018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0066FF"/>
                </a:solidFill>
              </a:rPr>
              <a:t>Request Zone</a:t>
            </a:r>
            <a:endParaRPr lang="en-US"/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6477000" y="4267200"/>
            <a:ext cx="228600" cy="228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54281" name="Oval 9"/>
          <p:cNvSpPr>
            <a:spLocks noChangeArrowheads="1"/>
          </p:cNvSpPr>
          <p:nvPr/>
        </p:nvSpPr>
        <p:spPr bwMode="auto">
          <a:xfrm>
            <a:off x="5562600" y="3429000"/>
            <a:ext cx="2057400" cy="19812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6705600" y="44196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6477000" y="3581400"/>
            <a:ext cx="4048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6019800" y="4572000"/>
            <a:ext cx="1431925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600" b="1" i="1">
                <a:solidFill>
                  <a:schemeClr val="accent1"/>
                </a:solidFill>
              </a:rPr>
              <a:t>Expected Zone</a:t>
            </a:r>
            <a:endParaRPr lang="en-US"/>
          </a:p>
        </p:txBody>
      </p:sp>
      <p:sp>
        <p:nvSpPr>
          <p:cNvPr id="54285" name="Oval 13"/>
          <p:cNvSpPr>
            <a:spLocks noChangeArrowheads="1"/>
          </p:cNvSpPr>
          <p:nvPr/>
        </p:nvSpPr>
        <p:spPr bwMode="auto">
          <a:xfrm flipV="1">
            <a:off x="2514600" y="54864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54286" name="Oval 14"/>
          <p:cNvSpPr>
            <a:spLocks noChangeArrowheads="1"/>
          </p:cNvSpPr>
          <p:nvPr/>
        </p:nvSpPr>
        <p:spPr bwMode="auto">
          <a:xfrm flipV="1">
            <a:off x="1524000" y="53340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54287" name="Oval 15"/>
          <p:cNvSpPr>
            <a:spLocks noChangeArrowheads="1"/>
          </p:cNvSpPr>
          <p:nvPr/>
        </p:nvSpPr>
        <p:spPr bwMode="auto">
          <a:xfrm flipV="1">
            <a:off x="1676400" y="48768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54288" name="Line 16"/>
          <p:cNvSpPr>
            <a:spLocks noChangeShapeType="1"/>
          </p:cNvSpPr>
          <p:nvPr/>
        </p:nvSpPr>
        <p:spPr bwMode="auto">
          <a:xfrm flipH="1" flipV="1">
            <a:off x="1600200" y="54864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4289" name="Line 17"/>
          <p:cNvSpPr>
            <a:spLocks noChangeShapeType="1"/>
          </p:cNvSpPr>
          <p:nvPr/>
        </p:nvSpPr>
        <p:spPr bwMode="auto">
          <a:xfrm flipV="1">
            <a:off x="2209800" y="55626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4290" name="Oval 18"/>
          <p:cNvSpPr>
            <a:spLocks noChangeArrowheads="1"/>
          </p:cNvSpPr>
          <p:nvPr/>
        </p:nvSpPr>
        <p:spPr bwMode="auto">
          <a:xfrm flipV="1">
            <a:off x="3276600" y="52578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/>
            <a:endParaRPr lang="en-IN"/>
          </a:p>
        </p:txBody>
      </p:sp>
      <p:sp>
        <p:nvSpPr>
          <p:cNvPr id="54291" name="Line 19"/>
          <p:cNvSpPr>
            <a:spLocks noChangeShapeType="1"/>
          </p:cNvSpPr>
          <p:nvPr/>
        </p:nvSpPr>
        <p:spPr bwMode="auto">
          <a:xfrm flipV="1">
            <a:off x="2667000" y="5334000"/>
            <a:ext cx="609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1219200" y="5029200"/>
            <a:ext cx="3365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54293" name="Text Box 21"/>
          <p:cNvSpPr txBox="1">
            <a:spLocks noChangeArrowheads="1"/>
          </p:cNvSpPr>
          <p:nvPr/>
        </p:nvSpPr>
        <p:spPr bwMode="auto">
          <a:xfrm>
            <a:off x="2667000" y="5486400"/>
            <a:ext cx="4048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Location Aided Routing (LAR)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Advantages</a:t>
            </a:r>
          </a:p>
          <a:p>
            <a:pPr lvl="1" eaLnBrk="1" hangingPunct="1"/>
            <a:r>
              <a:rPr lang="en-US" dirty="0" smtClean="0"/>
              <a:t>reduces the scope of route request flood</a:t>
            </a:r>
          </a:p>
          <a:p>
            <a:pPr lvl="1" eaLnBrk="1" hangingPunct="1"/>
            <a:r>
              <a:rPr lang="en-US" dirty="0" smtClean="0"/>
              <a:t>reduces overhead of route discovery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Disadvantages</a:t>
            </a:r>
          </a:p>
          <a:p>
            <a:pPr lvl="1" eaLnBrk="1" hangingPunct="1"/>
            <a:r>
              <a:rPr lang="en-US" dirty="0" smtClean="0"/>
              <a:t>Nodes need to know their physical locations</a:t>
            </a:r>
          </a:p>
          <a:p>
            <a:pPr lvl="1" eaLnBrk="1" hangingPunct="1"/>
            <a:r>
              <a:rPr lang="en-US" dirty="0" smtClean="0"/>
              <a:t>Does not take into account possible existence of obstructions for radio transmissions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7" y="1714488"/>
            <a:ext cx="7851804" cy="4411675"/>
          </a:xfrm>
        </p:spPr>
        <p:txBody>
          <a:bodyPr/>
          <a:lstStyle/>
          <a:p>
            <a:pPr lvl="1"/>
            <a:r>
              <a:rPr lang="de-CH" sz="3000" dirty="0" smtClean="0"/>
              <a:t>Executes distributedly</a:t>
            </a:r>
          </a:p>
          <a:p>
            <a:pPr lvl="1"/>
            <a:r>
              <a:rPr lang="de-CH" sz="3000" dirty="0" smtClean="0"/>
              <a:t>provides loop-free routes</a:t>
            </a:r>
          </a:p>
          <a:p>
            <a:pPr lvl="1"/>
            <a:r>
              <a:rPr lang="de-CH" sz="3000" dirty="0" smtClean="0"/>
              <a:t>provides multiple routes</a:t>
            </a:r>
          </a:p>
          <a:p>
            <a:pPr lvl="1"/>
            <a:r>
              <a:rPr lang="de-CH" sz="3000" dirty="0" smtClean="0"/>
              <a:t>Establishes routes quickly</a:t>
            </a:r>
          </a:p>
          <a:p>
            <a:pPr lvl="1"/>
            <a:r>
              <a:rPr lang="de-CH" sz="3000" dirty="0" smtClean="0"/>
              <a:t>Minimizes communication overhead</a:t>
            </a:r>
          </a:p>
          <a:p>
            <a:pPr lvl="1"/>
            <a:r>
              <a:rPr lang="de-CH" sz="3000" dirty="0" smtClean="0"/>
              <a:t>Selects </a:t>
            </a:r>
            <a:r>
              <a:rPr lang="en-US" sz="3000" dirty="0" smtClean="0"/>
              <a:t>optimal path</a:t>
            </a:r>
            <a:endParaRPr lang="de-CH" sz="3000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85720" y="142852"/>
            <a:ext cx="8358246" cy="1538480"/>
          </a:xfrm>
        </p:spPr>
        <p:txBody>
          <a:bodyPr>
            <a:normAutofit/>
          </a:bodyPr>
          <a:lstStyle/>
          <a:p>
            <a:pPr algn="l"/>
            <a:r>
              <a:rPr lang="de-CH" sz="3800" dirty="0" smtClean="0"/>
              <a:t>Desirable Attributes:  Routing Algorithm</a:t>
            </a:r>
            <a:r>
              <a:rPr lang="de-CH" dirty="0" smtClean="0"/>
              <a:t/>
            </a:r>
            <a:br>
              <a:rPr lang="de-CH" dirty="0" smtClean="0"/>
            </a:b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7" y="1571612"/>
            <a:ext cx="7851804" cy="4554551"/>
          </a:xfrm>
        </p:spPr>
        <p:txBody>
          <a:bodyPr/>
          <a:lstStyle/>
          <a:p>
            <a:pPr lvl="1"/>
            <a:r>
              <a:rPr lang="de-CH" sz="3000" dirty="0" smtClean="0"/>
              <a:t>On demand source initiated routing</a:t>
            </a:r>
          </a:p>
          <a:p>
            <a:pPr lvl="1"/>
            <a:r>
              <a:rPr lang="de-CH" sz="3000" dirty="0" smtClean="0"/>
              <a:t>Nodes only maintain information about adjacent nodes (distributed)</a:t>
            </a:r>
          </a:p>
          <a:p>
            <a:pPr lvl="1"/>
            <a:r>
              <a:rPr lang="de-CH" sz="3000" dirty="0" smtClean="0"/>
              <a:t>Provides multiple routes</a:t>
            </a:r>
          </a:p>
          <a:p>
            <a:pPr lvl="1"/>
            <a:r>
              <a:rPr lang="de-CH" sz="3000" dirty="0" smtClean="0"/>
              <a:t>Creates loop-free routes</a:t>
            </a:r>
          </a:p>
          <a:p>
            <a:pPr lvl="1"/>
            <a:r>
              <a:rPr lang="de-CH" sz="3000" dirty="0" smtClean="0"/>
              <a:t>Handles partitions by erasing routes</a:t>
            </a:r>
            <a:endParaRPr lang="de-DE" sz="3000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785818"/>
          </a:xfrm>
        </p:spPr>
        <p:txBody>
          <a:bodyPr>
            <a:normAutofit fontScale="90000"/>
          </a:bodyPr>
          <a:lstStyle/>
          <a:p>
            <a:pPr algn="l"/>
            <a:r>
              <a:rPr lang="de-CH" dirty="0" smtClean="0"/>
              <a:t>Tora Attributes</a:t>
            </a:r>
            <a:br>
              <a:rPr lang="de-CH" dirty="0" smtClean="0"/>
            </a:b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0E98-973E-4BD7-8E65-B605A6D00B18}" type="slidenum">
              <a:rPr lang="en-US"/>
              <a:pPr/>
              <a:t>105</a:t>
            </a:fld>
            <a:endParaRPr lang="en-US"/>
          </a:p>
        </p:txBody>
      </p:sp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Motivation:  </a:t>
            </a:r>
            <a:r>
              <a:rPr lang="en-US" dirty="0"/>
              <a:t>TORA 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2067" y="1571612"/>
            <a:ext cx="7408333" cy="455455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</a:rPr>
              <a:t>Observation: In hilly terrain, routing to a river’s mouth is easy – just go downhill</a:t>
            </a:r>
          </a:p>
          <a:p>
            <a:pPr algn="just"/>
            <a:r>
              <a:rPr lang="en-US" dirty="0"/>
              <a:t>Idea: Turn network into hilly terrain</a:t>
            </a:r>
          </a:p>
          <a:p>
            <a:pPr lvl="1" algn="just"/>
            <a:r>
              <a:rPr lang="en-US" dirty="0"/>
              <a:t>Different “landscape” for each destination</a:t>
            </a:r>
          </a:p>
          <a:p>
            <a:pPr lvl="1" algn="just"/>
            <a:r>
              <a:rPr lang="en-US" dirty="0">
                <a:solidFill>
                  <a:srgbClr val="C00000"/>
                </a:solidFill>
              </a:rPr>
              <a:t>Assign “heights” to nodes such that when going downhill, destination is reached – in effect: orient edges between neighbors</a:t>
            </a:r>
          </a:p>
          <a:p>
            <a:pPr lvl="1" algn="just"/>
            <a:r>
              <a:rPr lang="en-US" b="1" dirty="0"/>
              <a:t>Necessary: resulting directed graph has to be cycle </a:t>
            </a:r>
            <a:r>
              <a:rPr lang="en-US" b="1" dirty="0" smtClean="0"/>
              <a:t>free</a:t>
            </a:r>
          </a:p>
          <a:p>
            <a:pPr lvl="1" algn="just"/>
            <a:r>
              <a:rPr lang="de-CH" sz="2400" b="1" dirty="0" smtClean="0"/>
              <a:t>Route Creation</a:t>
            </a:r>
            <a:r>
              <a:rPr lang="de-CH" sz="2400" dirty="0" smtClean="0"/>
              <a:t>: establish sequence of directed links from source to destination. this is done by forming destination oriented directed acyclic graph (DAG)</a:t>
            </a:r>
          </a:p>
          <a:p>
            <a:pPr lvl="1" algn="just"/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35" y="1214422"/>
            <a:ext cx="8215370" cy="4911741"/>
          </a:xfrm>
        </p:spPr>
        <p:txBody>
          <a:bodyPr>
            <a:normAutofit/>
          </a:bodyPr>
          <a:lstStyle/>
          <a:p>
            <a:pPr algn="just"/>
            <a:r>
              <a:rPr lang="en-IN" sz="2600" b="1" dirty="0" smtClean="0"/>
              <a:t>A graph G(V,E) is a directed graph with V nodes and E edges if every edge in the graph has an associated direction.</a:t>
            </a:r>
          </a:p>
          <a:p>
            <a:pPr algn="just"/>
            <a:r>
              <a:rPr lang="en-IN" sz="2600" b="1" dirty="0" smtClean="0"/>
              <a:t>A directed graph with no cycles is a DAG.</a:t>
            </a:r>
          </a:p>
          <a:p>
            <a:pPr algn="just"/>
            <a:r>
              <a:rPr lang="en-IN" sz="2600" b="1" dirty="0" smtClean="0"/>
              <a:t>A DAG is rooted at the destination if the destination is the only node with no downstream nodes, i.e., no links lead out of the destination. Such a DAG is often called a </a:t>
            </a:r>
            <a:r>
              <a:rPr lang="en-IN" sz="2600" b="1" dirty="0" smtClean="0">
                <a:solidFill>
                  <a:srgbClr val="FF0000"/>
                </a:solidFill>
              </a:rPr>
              <a:t>Destination oriented DAG.</a:t>
            </a:r>
          </a:p>
          <a:p>
            <a:pPr algn="just"/>
            <a:r>
              <a:rPr lang="en-IN" sz="2600" b="1" dirty="0" smtClean="0"/>
              <a:t>Creation of such a DAG from a source to a destination would contain </a:t>
            </a:r>
            <a:r>
              <a:rPr lang="en-IN" sz="2600" b="1" dirty="0" smtClean="0">
                <a:solidFill>
                  <a:srgbClr val="FF0000"/>
                </a:solidFill>
              </a:rPr>
              <a:t>multiple routes </a:t>
            </a:r>
            <a:r>
              <a:rPr lang="en-IN" sz="2600" b="1" dirty="0" smtClean="0"/>
              <a:t>to the destination.</a:t>
            </a:r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04656"/>
          </a:xfrm>
        </p:spPr>
        <p:txBody>
          <a:bodyPr/>
          <a:lstStyle/>
          <a:p>
            <a:pPr algn="l"/>
            <a:r>
              <a:rPr lang="en-IN" dirty="0" smtClean="0"/>
              <a:t>Directed Acyclic Graph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7" y="1285860"/>
            <a:ext cx="7851804" cy="4840303"/>
          </a:xfrm>
        </p:spPr>
        <p:txBody>
          <a:bodyPr>
            <a:normAutofit fontScale="77500" lnSpcReduction="20000"/>
          </a:bodyPr>
          <a:lstStyle/>
          <a:p>
            <a:pPr lvl="1" algn="just"/>
            <a:endParaRPr lang="en-US" sz="3100" b="1" dirty="0" smtClean="0"/>
          </a:p>
          <a:p>
            <a:pPr lvl="1" algn="just"/>
            <a:r>
              <a:rPr lang="de-CH" sz="3200" b="1" dirty="0" smtClean="0">
                <a:solidFill>
                  <a:srgbClr val="C00000"/>
                </a:solidFill>
              </a:rPr>
              <a:t>Route Maintenance</a:t>
            </a:r>
            <a:r>
              <a:rPr lang="de-CH" sz="3200" dirty="0" smtClean="0">
                <a:solidFill>
                  <a:srgbClr val="C00000"/>
                </a:solidFill>
              </a:rPr>
              <a:t>: Reaction to topology changes in order to reestablish routes</a:t>
            </a:r>
          </a:p>
          <a:p>
            <a:pPr lvl="2" algn="just"/>
            <a:r>
              <a:rPr lang="en-US" sz="2900" b="1" dirty="0" smtClean="0"/>
              <a:t>When link is removed that was the last “outlet” of a node, reverse direction of all its other links (increase height!)</a:t>
            </a:r>
          </a:p>
          <a:p>
            <a:pPr lvl="2" algn="just"/>
            <a:r>
              <a:rPr lang="en-US" sz="2900" b="1" dirty="0" smtClean="0"/>
              <a:t>Reapply continuously, until each node except destination has at least a single outlet – will succeed in a connected graph!</a:t>
            </a:r>
          </a:p>
          <a:p>
            <a:pPr lvl="1" algn="just"/>
            <a:endParaRPr lang="de-CH" sz="3000" dirty="0" smtClean="0"/>
          </a:p>
          <a:p>
            <a:pPr lvl="1" algn="just"/>
            <a:r>
              <a:rPr lang="de-CH" sz="3000" b="1" dirty="0" smtClean="0"/>
              <a:t>Route Erasure</a:t>
            </a:r>
            <a:r>
              <a:rPr lang="de-CH" sz="3000" dirty="0" smtClean="0"/>
              <a:t>: When a partition is detected in the network, all invalid routes must be removed from the network. This is done by making directed routes undirected (erasing routes).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pPr lvl="1" algn="l" rtl="0">
              <a:spcBef>
                <a:spcPct val="0"/>
              </a:spcBef>
            </a:pPr>
            <a:r>
              <a:rPr lang="en-US" sz="3100" b="1" dirty="0" smtClean="0">
                <a:solidFill>
                  <a:srgbClr val="C00000"/>
                </a:solidFill>
              </a:rPr>
              <a:t>Reaction to topology changes</a:t>
            </a:r>
            <a:br>
              <a:rPr lang="en-US" sz="3100" b="1" dirty="0" smtClean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de-DE"/>
              <a:t>7.05.02</a:t>
            </a: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de-DE"/>
              <a:t>Adhoc Networking Seminar, ETH Zürich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605A7C-9929-4AF7-B162-3E65493ABD75}" type="slidenum">
              <a:rPr lang="de-DE"/>
              <a:pPr/>
              <a:t>108</a:t>
            </a:fld>
            <a:endParaRPr lang="de-DE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CH" dirty="0" smtClean="0"/>
              <a:t> TORA Specification</a:t>
            </a:r>
            <a:endParaRPr lang="de-DE" dirty="0" smtClean="0"/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2067" y="1785926"/>
            <a:ext cx="7408333" cy="43402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de-CH" dirty="0" smtClean="0"/>
              <a:t> </a:t>
            </a:r>
            <a:r>
              <a:rPr lang="de-CH" dirty="0" smtClean="0">
                <a:solidFill>
                  <a:srgbClr val="C00000"/>
                </a:solidFill>
              </a:rPr>
              <a:t>Node Height in TORA</a:t>
            </a:r>
          </a:p>
          <a:p>
            <a:pPr lvl="1" algn="just" eaLnBrk="1" hangingPunct="1"/>
            <a:r>
              <a:rPr lang="de-CH" sz="2400" dirty="0" smtClean="0"/>
              <a:t>In TORA the height assigned to every node i is represented by a quintuple: </a:t>
            </a:r>
            <a:r>
              <a:rPr lang="de-CH" sz="2400" b="1" dirty="0" smtClean="0"/>
              <a:t>H[i] = </a:t>
            </a:r>
            <a:r>
              <a:rPr lang="en-US" sz="2400" b="1" dirty="0" smtClean="0"/>
              <a:t>(</a:t>
            </a:r>
            <a:r>
              <a:rPr lang="en-US" sz="2400" b="1" dirty="0" smtClean="0">
                <a:sym typeface="Symbol" pitchFamily="18" charset="2"/>
              </a:rPr>
              <a:t>, </a:t>
            </a:r>
            <a:r>
              <a:rPr lang="en-US" sz="2400" b="1" dirty="0" err="1" smtClean="0">
                <a:sym typeface="Symbol" pitchFamily="18" charset="2"/>
              </a:rPr>
              <a:t>oid</a:t>
            </a:r>
            <a:r>
              <a:rPr lang="en-US" sz="2400" b="1" dirty="0" smtClean="0">
                <a:sym typeface="Symbol" pitchFamily="18" charset="2"/>
              </a:rPr>
              <a:t>, r, , </a:t>
            </a:r>
            <a:r>
              <a:rPr lang="en-US" sz="2400" b="1" dirty="0" err="1" smtClean="0">
                <a:sym typeface="Symbol" pitchFamily="18" charset="2"/>
              </a:rPr>
              <a:t>i</a:t>
            </a:r>
            <a:r>
              <a:rPr lang="en-US" sz="2400" b="1" dirty="0" smtClean="0">
                <a:sym typeface="Symbol" pitchFamily="18" charset="2"/>
              </a:rPr>
              <a:t>)</a:t>
            </a:r>
          </a:p>
          <a:p>
            <a:pPr lvl="1" algn="just" eaLnBrk="1" hangingPunct="1"/>
            <a:r>
              <a:rPr lang="en-US" sz="2400" dirty="0" smtClean="0">
                <a:sym typeface="Symbol" pitchFamily="18" charset="2"/>
              </a:rPr>
              <a:t>The first three fields represent the reference level. </a:t>
            </a:r>
          </a:p>
          <a:p>
            <a:pPr lvl="2" algn="just" eaLnBrk="1" hangingPunct="1"/>
            <a:r>
              <a:rPr lang="en-US" sz="2400" dirty="0" smtClean="0">
                <a:sym typeface="Symbol" pitchFamily="18" charset="2"/>
              </a:rPr>
              <a:t>: a time tag indicating the “time” of link failure. </a:t>
            </a:r>
          </a:p>
          <a:p>
            <a:pPr lvl="2" algn="just" eaLnBrk="1" hangingPunct="1"/>
            <a:r>
              <a:rPr lang="de-CH" sz="2400" dirty="0" smtClean="0">
                <a:sym typeface="Symbol" pitchFamily="18" charset="2"/>
              </a:rPr>
              <a:t>oid: originator-id – unique id of the node that defined the new reference level.</a:t>
            </a:r>
          </a:p>
          <a:p>
            <a:pPr lvl="2" algn="just" eaLnBrk="1" hangingPunct="1"/>
            <a:r>
              <a:rPr lang="de-CH" sz="2400" dirty="0" smtClean="0">
                <a:sym typeface="Symbol" pitchFamily="18" charset="2"/>
              </a:rPr>
              <a:t>r: reflection bit – used to divide each reference level into 2 sub-levels</a:t>
            </a:r>
            <a:endParaRPr lang="de-DE" sz="2400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de-DE"/>
              <a:t>7.05.02</a:t>
            </a: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de-DE"/>
              <a:t>Adhoc Networking Seminar, ETH Zürich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84E648A-9353-4E8C-A7A2-C39EF10DA12D}" type="slidenum">
              <a:rPr lang="de-DE"/>
              <a:pPr/>
              <a:t>109</a:t>
            </a:fld>
            <a:endParaRPr lang="de-DE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CH" dirty="0" smtClean="0"/>
              <a:t> TORA Specification</a:t>
            </a:r>
            <a:endParaRPr lang="de-DE" dirty="0" smtClean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00174"/>
            <a:ext cx="8643997" cy="4625989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de-CH" sz="2600" dirty="0" smtClean="0">
                <a:solidFill>
                  <a:srgbClr val="FF0000"/>
                </a:solidFill>
              </a:rPr>
              <a:t>Node Height in TORA </a:t>
            </a:r>
          </a:p>
          <a:p>
            <a:pPr lvl="2" eaLnBrk="1" hangingPunct="1"/>
            <a:r>
              <a:rPr lang="en-US" sz="2600" dirty="0" smtClean="0">
                <a:sym typeface="Symbol" pitchFamily="18" charset="2"/>
              </a:rPr>
              <a:t>: integer used to order nodes with respect to unique reference level</a:t>
            </a:r>
          </a:p>
          <a:p>
            <a:pPr lvl="2" eaLnBrk="1" hangingPunct="1"/>
            <a:r>
              <a:rPr lang="en-US" sz="2600" dirty="0" err="1" smtClean="0">
                <a:sym typeface="Symbol" pitchFamily="18" charset="2"/>
              </a:rPr>
              <a:t>i</a:t>
            </a:r>
            <a:r>
              <a:rPr lang="en-US" sz="2600" dirty="0" smtClean="0">
                <a:sym typeface="Symbol" pitchFamily="18" charset="2"/>
              </a:rPr>
              <a:t>: unique identifier of the node</a:t>
            </a:r>
          </a:p>
          <a:p>
            <a:pPr lvl="1" eaLnBrk="1" hangingPunct="1"/>
            <a:r>
              <a:rPr lang="de-CH" sz="2600" dirty="0" smtClean="0"/>
              <a:t>height of each node (except for the destination) is initially set to NULL: H[i] = ( -, -, -, -, i)</a:t>
            </a:r>
          </a:p>
          <a:p>
            <a:pPr lvl="1" eaLnBrk="1" hangingPunct="1"/>
            <a:r>
              <a:rPr lang="de-CH" sz="2600" dirty="0" smtClean="0"/>
              <a:t>height of destination node d is initially set to ZERO:  H[d] = (0, 0, 0, 0, d) </a:t>
            </a:r>
          </a:p>
          <a:p>
            <a:pPr lvl="1" eaLnBrk="1" hangingPunct="1"/>
            <a:r>
              <a:rPr lang="de-CH" sz="2600" dirty="0" smtClean="0"/>
              <a:t>each node maintains a height array containing the heights of neighbours: H[i][k]</a:t>
            </a:r>
          </a:p>
          <a:p>
            <a:pPr lvl="1"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24581" name="Rectangle 58"/>
          <p:cNvSpPr>
            <a:spLocks noChangeArrowheads="1"/>
          </p:cNvSpPr>
          <p:nvPr/>
        </p:nvSpPr>
        <p:spPr bwMode="auto">
          <a:xfrm>
            <a:off x="971550" y="3068638"/>
            <a:ext cx="7561263" cy="273685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de-DE"/>
          </a:p>
        </p:txBody>
      </p:sp>
      <p:sp>
        <p:nvSpPr>
          <p:cNvPr id="245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8328"/>
            <a:ext cx="8229600" cy="876094"/>
          </a:xfrm>
        </p:spPr>
        <p:txBody>
          <a:bodyPr/>
          <a:lstStyle/>
          <a:p>
            <a:pPr algn="l" eaLnBrk="1" hangingPunct="1"/>
            <a:r>
              <a:rPr lang="de-CH" dirty="0" smtClean="0"/>
              <a:t> </a:t>
            </a:r>
            <a:r>
              <a:rPr lang="de-CH" dirty="0" smtClean="0">
                <a:solidFill>
                  <a:srgbClr val="FF0000"/>
                </a:solidFill>
                <a:latin typeface="Garamond" pitchFamily="18" charset="0"/>
              </a:rPr>
              <a:t>Route Creation</a:t>
            </a:r>
            <a:endParaRPr lang="de-DE" dirty="0" smtClean="0">
              <a:solidFill>
                <a:srgbClr val="FF0000"/>
              </a:solidFill>
              <a:latin typeface="Garamond" pitchFamily="18" charset="0"/>
            </a:endParaRPr>
          </a:p>
        </p:txBody>
      </p:sp>
      <p:sp>
        <p:nvSpPr>
          <p:cNvPr id="245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643050"/>
            <a:ext cx="8572559" cy="4483113"/>
          </a:xfrm>
        </p:spPr>
        <p:txBody>
          <a:bodyPr/>
          <a:lstStyle/>
          <a:p>
            <a:pPr marL="533400" indent="-533400" eaLnBrk="1" hangingPunct="1">
              <a:buFont typeface="Wingdings" pitchFamily="2" charset="2"/>
              <a:buNone/>
            </a:pPr>
            <a:endParaRPr lang="de-CH" dirty="0" smtClean="0"/>
          </a:p>
          <a:p>
            <a:pPr marL="906463" lvl="1" indent="-457200" eaLnBrk="1" hangingPunct="1"/>
            <a:r>
              <a:rPr lang="de-CH" dirty="0" smtClean="0"/>
              <a:t>node C requires route to F and broadcasts QRY packet</a:t>
            </a:r>
            <a:endParaRPr lang="de-DE" dirty="0" smtClean="0"/>
          </a:p>
        </p:txBody>
      </p:sp>
      <p:grpSp>
        <p:nvGrpSpPr>
          <p:cNvPr id="2" name="Group 30"/>
          <p:cNvGrpSpPr>
            <a:grpSpLocks noChangeAspect="1"/>
          </p:cNvGrpSpPr>
          <p:nvPr/>
        </p:nvGrpSpPr>
        <p:grpSpPr bwMode="auto">
          <a:xfrm>
            <a:off x="2484438" y="3213100"/>
            <a:ext cx="4503737" cy="2433638"/>
            <a:chOff x="2198" y="2835"/>
            <a:chExt cx="9384" cy="5073"/>
          </a:xfrm>
        </p:grpSpPr>
        <p:sp>
          <p:nvSpPr>
            <p:cNvPr id="24592" name="AutoShape 31"/>
            <p:cNvSpPr>
              <a:spLocks noChangeAspect="1" noChangeArrowheads="1"/>
            </p:cNvSpPr>
            <p:nvPr/>
          </p:nvSpPr>
          <p:spPr bwMode="auto">
            <a:xfrm>
              <a:off x="2198" y="2835"/>
              <a:ext cx="9384" cy="5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593" name="Oval 32"/>
            <p:cNvSpPr>
              <a:spLocks noChangeArrowheads="1"/>
            </p:cNvSpPr>
            <p:nvPr/>
          </p:nvSpPr>
          <p:spPr bwMode="auto">
            <a:xfrm>
              <a:off x="5558" y="3603"/>
              <a:ext cx="288" cy="384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594" name="Oval 33"/>
            <p:cNvSpPr>
              <a:spLocks noChangeArrowheads="1"/>
            </p:cNvSpPr>
            <p:nvPr/>
          </p:nvSpPr>
          <p:spPr bwMode="auto">
            <a:xfrm>
              <a:off x="7766" y="3411"/>
              <a:ext cx="288" cy="384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595" name="Oval 34"/>
            <p:cNvSpPr>
              <a:spLocks noChangeArrowheads="1"/>
            </p:cNvSpPr>
            <p:nvPr/>
          </p:nvSpPr>
          <p:spPr bwMode="auto">
            <a:xfrm>
              <a:off x="4022" y="4947"/>
              <a:ext cx="288" cy="384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596" name="Oval 35"/>
            <p:cNvSpPr>
              <a:spLocks noChangeArrowheads="1"/>
            </p:cNvSpPr>
            <p:nvPr/>
          </p:nvSpPr>
          <p:spPr bwMode="auto">
            <a:xfrm>
              <a:off x="10070" y="4563"/>
              <a:ext cx="288" cy="384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597" name="Oval 36"/>
            <p:cNvSpPr>
              <a:spLocks noChangeArrowheads="1"/>
            </p:cNvSpPr>
            <p:nvPr/>
          </p:nvSpPr>
          <p:spPr bwMode="auto">
            <a:xfrm>
              <a:off x="6998" y="4851"/>
              <a:ext cx="288" cy="384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598" name="Oval 37"/>
            <p:cNvSpPr>
              <a:spLocks noChangeArrowheads="1"/>
            </p:cNvSpPr>
            <p:nvPr/>
          </p:nvSpPr>
          <p:spPr bwMode="auto">
            <a:xfrm>
              <a:off x="5558" y="6771"/>
              <a:ext cx="288" cy="384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599" name="Oval 38"/>
            <p:cNvSpPr>
              <a:spLocks noChangeArrowheads="1"/>
            </p:cNvSpPr>
            <p:nvPr/>
          </p:nvSpPr>
          <p:spPr bwMode="auto">
            <a:xfrm>
              <a:off x="8054" y="6771"/>
              <a:ext cx="288" cy="384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600" name="Oval 39"/>
            <p:cNvSpPr>
              <a:spLocks noChangeArrowheads="1"/>
            </p:cNvSpPr>
            <p:nvPr/>
          </p:nvSpPr>
          <p:spPr bwMode="auto">
            <a:xfrm>
              <a:off x="10646" y="6195"/>
              <a:ext cx="288" cy="384"/>
            </a:xfrm>
            <a:prstGeom prst="ellipse">
              <a:avLst/>
            </a:prstGeom>
            <a:solidFill>
              <a:srgbClr val="CC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601" name="Line 40"/>
            <p:cNvSpPr>
              <a:spLocks noChangeShapeType="1"/>
            </p:cNvSpPr>
            <p:nvPr/>
          </p:nvSpPr>
          <p:spPr bwMode="auto">
            <a:xfrm flipV="1">
              <a:off x="4214" y="3891"/>
              <a:ext cx="1344" cy="10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02" name="Line 41"/>
            <p:cNvSpPr>
              <a:spLocks noChangeShapeType="1"/>
            </p:cNvSpPr>
            <p:nvPr/>
          </p:nvSpPr>
          <p:spPr bwMode="auto">
            <a:xfrm flipV="1">
              <a:off x="5846" y="3603"/>
              <a:ext cx="182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03" name="Line 42"/>
            <p:cNvSpPr>
              <a:spLocks noChangeShapeType="1"/>
            </p:cNvSpPr>
            <p:nvPr/>
          </p:nvSpPr>
          <p:spPr bwMode="auto">
            <a:xfrm>
              <a:off x="8054" y="3603"/>
              <a:ext cx="2016" cy="9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04" name="Line 43"/>
            <p:cNvSpPr>
              <a:spLocks noChangeShapeType="1"/>
            </p:cNvSpPr>
            <p:nvPr/>
          </p:nvSpPr>
          <p:spPr bwMode="auto">
            <a:xfrm>
              <a:off x="4214" y="5331"/>
              <a:ext cx="1344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05" name="Line 44"/>
            <p:cNvSpPr>
              <a:spLocks noChangeShapeType="1"/>
            </p:cNvSpPr>
            <p:nvPr/>
          </p:nvSpPr>
          <p:spPr bwMode="auto">
            <a:xfrm>
              <a:off x="5846" y="3987"/>
              <a:ext cx="1056" cy="9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06" name="Line 45"/>
            <p:cNvSpPr>
              <a:spLocks noChangeShapeType="1"/>
            </p:cNvSpPr>
            <p:nvPr/>
          </p:nvSpPr>
          <p:spPr bwMode="auto">
            <a:xfrm flipH="1">
              <a:off x="7286" y="3795"/>
              <a:ext cx="576" cy="10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07" name="Line 46"/>
            <p:cNvSpPr>
              <a:spLocks noChangeShapeType="1"/>
            </p:cNvSpPr>
            <p:nvPr/>
          </p:nvSpPr>
          <p:spPr bwMode="auto">
            <a:xfrm>
              <a:off x="5846" y="7059"/>
              <a:ext cx="2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08" name="Line 47"/>
            <p:cNvSpPr>
              <a:spLocks noChangeShapeType="1"/>
            </p:cNvSpPr>
            <p:nvPr/>
          </p:nvSpPr>
          <p:spPr bwMode="auto">
            <a:xfrm>
              <a:off x="7190" y="5235"/>
              <a:ext cx="96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09" name="Line 48"/>
            <p:cNvSpPr>
              <a:spLocks noChangeShapeType="1"/>
            </p:cNvSpPr>
            <p:nvPr/>
          </p:nvSpPr>
          <p:spPr bwMode="auto">
            <a:xfrm flipV="1">
              <a:off x="8342" y="6483"/>
              <a:ext cx="2304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10" name="Line 49"/>
            <p:cNvSpPr>
              <a:spLocks noChangeShapeType="1"/>
            </p:cNvSpPr>
            <p:nvPr/>
          </p:nvSpPr>
          <p:spPr bwMode="auto">
            <a:xfrm>
              <a:off x="10262" y="4947"/>
              <a:ext cx="480" cy="1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611" name="Text Box 50"/>
            <p:cNvSpPr txBox="1">
              <a:spLocks noChangeArrowheads="1"/>
            </p:cNvSpPr>
            <p:nvPr/>
          </p:nvSpPr>
          <p:spPr bwMode="auto">
            <a:xfrm>
              <a:off x="4116" y="2931"/>
              <a:ext cx="1515" cy="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130" tIns="27565" rIns="55130" bIns="27565">
              <a:spAutoFit/>
            </a:bodyPr>
            <a:lstStyle/>
            <a:p>
              <a:r>
                <a:rPr lang="de-DE" sz="1100" b="1">
                  <a:solidFill>
                    <a:srgbClr val="000000"/>
                  </a:solidFill>
                  <a:latin typeface="Arial" charset="0"/>
                </a:rPr>
                <a:t>(-,-,-,-,A)</a:t>
              </a:r>
              <a:endParaRPr lang="de-DE" sz="1800">
                <a:latin typeface="Arial" charset="0"/>
              </a:endParaRPr>
            </a:p>
          </p:txBody>
        </p:sp>
        <p:sp>
          <p:nvSpPr>
            <p:cNvPr id="24612" name="Text Box 51"/>
            <p:cNvSpPr txBox="1">
              <a:spLocks noChangeArrowheads="1"/>
            </p:cNvSpPr>
            <p:nvPr/>
          </p:nvSpPr>
          <p:spPr bwMode="auto">
            <a:xfrm>
              <a:off x="6998" y="2835"/>
              <a:ext cx="1511" cy="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130" tIns="27565" rIns="55130" bIns="27565">
              <a:spAutoFit/>
            </a:bodyPr>
            <a:lstStyle/>
            <a:p>
              <a:r>
                <a:rPr lang="de-DE" sz="1100" b="1">
                  <a:solidFill>
                    <a:srgbClr val="000000"/>
                  </a:solidFill>
                  <a:latin typeface="Arial" charset="0"/>
                </a:rPr>
                <a:t>(-,-,-,-,D)</a:t>
              </a:r>
              <a:endParaRPr lang="de-DE" sz="1800">
                <a:latin typeface="Arial" charset="0"/>
              </a:endParaRPr>
            </a:p>
          </p:txBody>
        </p:sp>
        <p:sp>
          <p:nvSpPr>
            <p:cNvPr id="24613" name="Text Box 52"/>
            <p:cNvSpPr txBox="1">
              <a:spLocks noChangeArrowheads="1"/>
            </p:cNvSpPr>
            <p:nvPr/>
          </p:nvSpPr>
          <p:spPr bwMode="auto">
            <a:xfrm>
              <a:off x="10070" y="3891"/>
              <a:ext cx="1512" cy="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130" tIns="27565" rIns="55130" bIns="27565">
              <a:spAutoFit/>
            </a:bodyPr>
            <a:lstStyle/>
            <a:p>
              <a:r>
                <a:rPr lang="de-DE" sz="1100" b="1">
                  <a:solidFill>
                    <a:srgbClr val="000000"/>
                  </a:solidFill>
                  <a:latin typeface="Arial" charset="0"/>
                </a:rPr>
                <a:t>(-,-,-,-,E)</a:t>
              </a:r>
              <a:endParaRPr lang="de-DE" sz="1800">
                <a:latin typeface="Arial" charset="0"/>
              </a:endParaRPr>
            </a:p>
          </p:txBody>
        </p:sp>
        <p:sp>
          <p:nvSpPr>
            <p:cNvPr id="24614" name="Text Box 53"/>
            <p:cNvSpPr txBox="1">
              <a:spLocks noChangeArrowheads="1"/>
            </p:cNvSpPr>
            <p:nvPr/>
          </p:nvSpPr>
          <p:spPr bwMode="auto">
            <a:xfrm>
              <a:off x="2198" y="4850"/>
              <a:ext cx="1512" cy="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130" tIns="27565" rIns="55130" bIns="27565">
              <a:spAutoFit/>
            </a:bodyPr>
            <a:lstStyle/>
            <a:p>
              <a:r>
                <a:rPr lang="de-DE" sz="1100" b="1">
                  <a:solidFill>
                    <a:srgbClr val="000000"/>
                  </a:solidFill>
                  <a:latin typeface="Arial" charset="0"/>
                </a:rPr>
                <a:t>(-,-,-,-,C)</a:t>
              </a:r>
              <a:endParaRPr lang="de-DE" sz="1800">
                <a:latin typeface="Arial" charset="0"/>
              </a:endParaRPr>
            </a:p>
          </p:txBody>
        </p:sp>
        <p:sp>
          <p:nvSpPr>
            <p:cNvPr id="24615" name="Text Box 54"/>
            <p:cNvSpPr txBox="1">
              <a:spLocks noChangeArrowheads="1"/>
            </p:cNvSpPr>
            <p:nvPr/>
          </p:nvSpPr>
          <p:spPr bwMode="auto">
            <a:xfrm>
              <a:off x="4116" y="7345"/>
              <a:ext cx="1515" cy="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130" tIns="27565" rIns="55130" bIns="27565">
              <a:spAutoFit/>
            </a:bodyPr>
            <a:lstStyle/>
            <a:p>
              <a:r>
                <a:rPr lang="de-DE" sz="1100" b="1">
                  <a:solidFill>
                    <a:srgbClr val="000000"/>
                  </a:solidFill>
                  <a:latin typeface="Arial" charset="0"/>
                </a:rPr>
                <a:t>(-,-,-,-,G)</a:t>
              </a:r>
              <a:endParaRPr lang="de-DE" sz="1800">
                <a:latin typeface="Arial" charset="0"/>
              </a:endParaRPr>
            </a:p>
          </p:txBody>
        </p:sp>
        <p:sp>
          <p:nvSpPr>
            <p:cNvPr id="24616" name="Text Box 55"/>
            <p:cNvSpPr txBox="1">
              <a:spLocks noChangeArrowheads="1"/>
            </p:cNvSpPr>
            <p:nvPr/>
          </p:nvSpPr>
          <p:spPr bwMode="auto">
            <a:xfrm>
              <a:off x="7189" y="7444"/>
              <a:ext cx="1512" cy="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130" tIns="27565" rIns="55130" bIns="27565">
              <a:spAutoFit/>
            </a:bodyPr>
            <a:lstStyle/>
            <a:p>
              <a:r>
                <a:rPr lang="de-DE" sz="1100" b="1">
                  <a:solidFill>
                    <a:srgbClr val="000000"/>
                  </a:solidFill>
                  <a:latin typeface="Arial" charset="0"/>
                </a:rPr>
                <a:t>(-,-,-,-,H)</a:t>
              </a:r>
              <a:endParaRPr lang="de-DE" sz="1800">
                <a:latin typeface="Arial" charset="0"/>
              </a:endParaRPr>
            </a:p>
          </p:txBody>
        </p:sp>
        <p:sp>
          <p:nvSpPr>
            <p:cNvPr id="24617" name="Text Box 56"/>
            <p:cNvSpPr txBox="1">
              <a:spLocks noChangeArrowheads="1"/>
            </p:cNvSpPr>
            <p:nvPr/>
          </p:nvSpPr>
          <p:spPr bwMode="auto">
            <a:xfrm>
              <a:off x="7573" y="4754"/>
              <a:ext cx="1512" cy="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130" tIns="27565" rIns="55130" bIns="27565">
              <a:spAutoFit/>
            </a:bodyPr>
            <a:lstStyle/>
            <a:p>
              <a:r>
                <a:rPr lang="de-DE" sz="1100" b="1">
                  <a:solidFill>
                    <a:srgbClr val="000000"/>
                  </a:solidFill>
                  <a:latin typeface="Arial" charset="0"/>
                </a:rPr>
                <a:t>(-,-,-,-,B)</a:t>
              </a:r>
              <a:endParaRPr lang="de-DE" sz="1800">
                <a:latin typeface="Arial" charset="0"/>
              </a:endParaRPr>
            </a:p>
          </p:txBody>
        </p:sp>
        <p:sp>
          <p:nvSpPr>
            <p:cNvPr id="24618" name="Text Box 57"/>
            <p:cNvSpPr txBox="1">
              <a:spLocks noChangeArrowheads="1"/>
            </p:cNvSpPr>
            <p:nvPr/>
          </p:nvSpPr>
          <p:spPr bwMode="auto">
            <a:xfrm>
              <a:off x="2965" y="4275"/>
              <a:ext cx="960" cy="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130" tIns="27565" rIns="55130" bIns="27565">
              <a:spAutoFit/>
            </a:bodyPr>
            <a:lstStyle/>
            <a:p>
              <a:endParaRPr lang="de-DE" sz="1800">
                <a:latin typeface="Arial" charset="0"/>
              </a:endParaRPr>
            </a:p>
          </p:txBody>
        </p:sp>
      </p:grpSp>
      <p:sp>
        <p:nvSpPr>
          <p:cNvPr id="24585" name="Rectangle 60"/>
          <p:cNvSpPr>
            <a:spLocks noChangeArrowheads="1"/>
          </p:cNvSpPr>
          <p:nvPr/>
        </p:nvSpPr>
        <p:spPr bwMode="auto">
          <a:xfrm>
            <a:off x="3265488" y="4149725"/>
            <a:ext cx="358775" cy="358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4586" name="Rectangle 63"/>
          <p:cNvSpPr>
            <a:spLocks noChangeArrowheads="1"/>
          </p:cNvSpPr>
          <p:nvPr/>
        </p:nvSpPr>
        <p:spPr bwMode="auto">
          <a:xfrm>
            <a:off x="1042988" y="5373688"/>
            <a:ext cx="358775" cy="358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4587" name="Oval 120"/>
          <p:cNvSpPr>
            <a:spLocks noChangeArrowheads="1"/>
          </p:cNvSpPr>
          <p:nvPr/>
        </p:nvSpPr>
        <p:spPr bwMode="auto">
          <a:xfrm>
            <a:off x="1147763" y="5459413"/>
            <a:ext cx="136525" cy="184150"/>
          </a:xfrm>
          <a:prstGeom prst="ellipse">
            <a:avLst/>
          </a:prstGeom>
          <a:solidFill>
            <a:srgbClr val="CC99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4588" name="Text Box 121"/>
          <p:cNvSpPr txBox="1">
            <a:spLocks noChangeArrowheads="1"/>
          </p:cNvSpPr>
          <p:nvPr/>
        </p:nvSpPr>
        <p:spPr bwMode="auto">
          <a:xfrm>
            <a:off x="5003800" y="1557338"/>
            <a:ext cx="1655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 sz="1800"/>
          </a:p>
        </p:txBody>
      </p:sp>
      <p:sp>
        <p:nvSpPr>
          <p:cNvPr id="24589" name="Text Box 122"/>
          <p:cNvSpPr txBox="1">
            <a:spLocks noChangeArrowheads="1"/>
          </p:cNvSpPr>
          <p:nvPr/>
        </p:nvSpPr>
        <p:spPr bwMode="auto">
          <a:xfrm>
            <a:off x="1403350" y="5445125"/>
            <a:ext cx="1368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CH" sz="1400" b="1"/>
              <a:t>: RT_REQ set</a:t>
            </a:r>
            <a:endParaRPr lang="de-DE" sz="1400" b="1"/>
          </a:p>
        </p:txBody>
      </p:sp>
      <p:sp>
        <p:nvSpPr>
          <p:cNvPr id="24590" name="Text Box 123"/>
          <p:cNvSpPr txBox="1">
            <a:spLocks noChangeArrowheads="1"/>
          </p:cNvSpPr>
          <p:nvPr/>
        </p:nvSpPr>
        <p:spPr bwMode="auto">
          <a:xfrm>
            <a:off x="3203575" y="4221163"/>
            <a:ext cx="549275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5837" tIns="32918" rIns="65837" bIns="32918">
            <a:spAutoFit/>
          </a:bodyPr>
          <a:lstStyle/>
          <a:p>
            <a:r>
              <a:rPr lang="de-DE" sz="1100" b="1">
                <a:solidFill>
                  <a:srgbClr val="000000"/>
                </a:solidFill>
                <a:latin typeface="Arial" charset="0"/>
              </a:rPr>
              <a:t>QRY</a:t>
            </a:r>
            <a:endParaRPr lang="de-DE" sz="1100"/>
          </a:p>
        </p:txBody>
      </p:sp>
      <p:sp>
        <p:nvSpPr>
          <p:cNvPr id="24591" name="Text Box 125"/>
          <p:cNvSpPr txBox="1">
            <a:spLocks noChangeArrowheads="1"/>
          </p:cNvSpPr>
          <p:nvPr/>
        </p:nvSpPr>
        <p:spPr bwMode="auto">
          <a:xfrm>
            <a:off x="6659563" y="4941888"/>
            <a:ext cx="936625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5837" tIns="32918" rIns="65837" bIns="32918">
            <a:spAutoFit/>
          </a:bodyPr>
          <a:lstStyle/>
          <a:p>
            <a:r>
              <a:rPr lang="de-DE" sz="1100" b="1">
                <a:solidFill>
                  <a:srgbClr val="000000"/>
                </a:solidFill>
                <a:latin typeface="Arial" charset="0"/>
              </a:rPr>
              <a:t>(0,0,0,0,F)</a:t>
            </a:r>
            <a:endParaRPr lang="de-DE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610600" cy="1143000"/>
          </a:xfrm>
        </p:spPr>
        <p:txBody>
          <a:bodyPr/>
          <a:lstStyle/>
          <a:p>
            <a:r>
              <a:rPr lang="en-US" sz="3600"/>
              <a:t>Temporally Ordered Routing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/>
              <a:t>Directed Acyclic Graph (DAG) rooted at destination is used to route packets</a:t>
            </a:r>
          </a:p>
          <a:p>
            <a:r>
              <a:rPr lang="en-US"/>
              <a:t>Link Reversal algorithm used to update DAG (along with notion of “height”)</a:t>
            </a:r>
          </a:p>
          <a:p>
            <a:r>
              <a:rPr lang="en-US"/>
              <a:t>Algorithm is distributed and loop-free</a:t>
            </a:r>
          </a:p>
          <a:p>
            <a:r>
              <a:rPr lang="en-US"/>
              <a:t>Recent result - Link reversal takes O(n</a:t>
            </a:r>
            <a:r>
              <a:rPr lang="en-US" baseline="30000"/>
              <a:t>2</a:t>
            </a:r>
            <a:r>
              <a:rPr lang="en-US"/>
              <a:t>) time and message complexity to stabilize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TORA Example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4343400" y="4191000"/>
            <a:ext cx="21574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Link (G,D) broke</a:t>
            </a:r>
          </a:p>
        </p:txBody>
      </p:sp>
      <p:sp>
        <p:nvSpPr>
          <p:cNvPr id="49156" name="Oval 4"/>
          <p:cNvSpPr>
            <a:spLocks noChangeArrowheads="1"/>
          </p:cNvSpPr>
          <p:nvPr/>
        </p:nvSpPr>
        <p:spPr bwMode="auto">
          <a:xfrm>
            <a:off x="762000" y="1828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49157" name="Oval 5"/>
          <p:cNvSpPr>
            <a:spLocks noChangeArrowheads="1"/>
          </p:cNvSpPr>
          <p:nvPr/>
        </p:nvSpPr>
        <p:spPr bwMode="auto">
          <a:xfrm>
            <a:off x="4572000" y="1828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auto">
          <a:xfrm>
            <a:off x="2590800" y="1828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auto">
          <a:xfrm>
            <a:off x="7620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auto">
          <a:xfrm>
            <a:off x="25908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49161" name="Oval 9"/>
          <p:cNvSpPr>
            <a:spLocks noChangeArrowheads="1"/>
          </p:cNvSpPr>
          <p:nvPr/>
        </p:nvSpPr>
        <p:spPr bwMode="auto">
          <a:xfrm>
            <a:off x="4572000" y="3276600"/>
            <a:ext cx="609600" cy="6096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49162" name="Oval 10"/>
          <p:cNvSpPr>
            <a:spLocks noChangeArrowheads="1"/>
          </p:cNvSpPr>
          <p:nvPr/>
        </p:nvSpPr>
        <p:spPr bwMode="auto">
          <a:xfrm>
            <a:off x="2667000" y="4876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49163" name="Line 11"/>
          <p:cNvSpPr>
            <a:spLocks noChangeShapeType="1"/>
          </p:cNvSpPr>
          <p:nvPr/>
        </p:nvSpPr>
        <p:spPr bwMode="auto">
          <a:xfrm>
            <a:off x="106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4" name="Line 12"/>
          <p:cNvSpPr>
            <a:spLocks noChangeShapeType="1"/>
          </p:cNvSpPr>
          <p:nvPr/>
        </p:nvSpPr>
        <p:spPr bwMode="auto">
          <a:xfrm>
            <a:off x="28956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>
            <a:off x="487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6" name="Line 14"/>
          <p:cNvSpPr>
            <a:spLocks noChangeShapeType="1"/>
          </p:cNvSpPr>
          <p:nvPr/>
        </p:nvSpPr>
        <p:spPr bwMode="auto">
          <a:xfrm>
            <a:off x="1371600" y="21336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>
            <a:off x="3200400" y="2133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8" name="Line 16"/>
          <p:cNvSpPr>
            <a:spLocks noChangeShapeType="1"/>
          </p:cNvSpPr>
          <p:nvPr/>
        </p:nvSpPr>
        <p:spPr bwMode="auto">
          <a:xfrm>
            <a:off x="1371600" y="3581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69" name="Line 17"/>
          <p:cNvSpPr>
            <a:spLocks noChangeShapeType="1"/>
          </p:cNvSpPr>
          <p:nvPr/>
        </p:nvSpPr>
        <p:spPr bwMode="auto">
          <a:xfrm>
            <a:off x="3200400" y="35814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70" name="Line 18"/>
          <p:cNvSpPr>
            <a:spLocks noChangeShapeType="1"/>
          </p:cNvSpPr>
          <p:nvPr/>
        </p:nvSpPr>
        <p:spPr bwMode="auto">
          <a:xfrm>
            <a:off x="1143000" y="3886200"/>
            <a:ext cx="1600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Text Box 19"/>
          <p:cNvSpPr txBox="1">
            <a:spLocks noChangeArrowheads="1"/>
          </p:cNvSpPr>
          <p:nvPr/>
        </p:nvSpPr>
        <p:spPr bwMode="auto">
          <a:xfrm>
            <a:off x="1981200" y="5943600"/>
            <a:ext cx="3781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Node G has no outgoing links</a:t>
            </a:r>
          </a:p>
        </p:txBody>
      </p:sp>
      <p:sp>
        <p:nvSpPr>
          <p:cNvPr id="49172" name="Line 20"/>
          <p:cNvSpPr>
            <a:spLocks noChangeShapeType="1"/>
          </p:cNvSpPr>
          <p:nvPr/>
        </p:nvSpPr>
        <p:spPr bwMode="auto">
          <a:xfrm flipH="1">
            <a:off x="3276600" y="3886200"/>
            <a:ext cx="1447800" cy="114300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TORA Example</a:t>
            </a:r>
            <a:endParaRPr lang="en-US"/>
          </a:p>
        </p:txBody>
      </p:sp>
      <p:sp>
        <p:nvSpPr>
          <p:cNvPr id="50179" name="Oval 3"/>
          <p:cNvSpPr>
            <a:spLocks noChangeArrowheads="1"/>
          </p:cNvSpPr>
          <p:nvPr/>
        </p:nvSpPr>
        <p:spPr bwMode="auto">
          <a:xfrm>
            <a:off x="762000" y="1828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50180" name="Oval 4"/>
          <p:cNvSpPr>
            <a:spLocks noChangeArrowheads="1"/>
          </p:cNvSpPr>
          <p:nvPr/>
        </p:nvSpPr>
        <p:spPr bwMode="auto">
          <a:xfrm>
            <a:off x="4572000" y="1828800"/>
            <a:ext cx="609600" cy="6096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2590800" y="1828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7620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2590800" y="3276600"/>
            <a:ext cx="609600" cy="6096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45720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2667000" y="4876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106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Line 11"/>
          <p:cNvSpPr>
            <a:spLocks noChangeShapeType="1"/>
          </p:cNvSpPr>
          <p:nvPr/>
        </p:nvSpPr>
        <p:spPr bwMode="auto">
          <a:xfrm>
            <a:off x="28956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>
            <a:off x="4876800" y="2438400"/>
            <a:ext cx="0" cy="838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>
            <a:off x="1371600" y="21336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90" name="Line 14"/>
          <p:cNvSpPr>
            <a:spLocks noChangeShapeType="1"/>
          </p:cNvSpPr>
          <p:nvPr/>
        </p:nvSpPr>
        <p:spPr bwMode="auto">
          <a:xfrm>
            <a:off x="3200400" y="2133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>
            <a:off x="1371600" y="3581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>
            <a:off x="3200400" y="3581400"/>
            <a:ext cx="13716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93" name="Line 17"/>
          <p:cNvSpPr>
            <a:spLocks noChangeShapeType="1"/>
          </p:cNvSpPr>
          <p:nvPr/>
        </p:nvSpPr>
        <p:spPr bwMode="auto">
          <a:xfrm>
            <a:off x="1143000" y="3886200"/>
            <a:ext cx="1600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94" name="Text Box 18"/>
          <p:cNvSpPr txBox="1">
            <a:spLocks noChangeArrowheads="1"/>
          </p:cNvSpPr>
          <p:nvPr/>
        </p:nvSpPr>
        <p:spPr bwMode="auto">
          <a:xfrm>
            <a:off x="898525" y="5897563"/>
            <a:ext cx="5362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Now nodes E and F have no outgoing links</a:t>
            </a:r>
          </a:p>
        </p:txBody>
      </p:sp>
      <p:sp>
        <p:nvSpPr>
          <p:cNvPr id="50195" name="Line 19"/>
          <p:cNvSpPr>
            <a:spLocks noChangeShapeType="1"/>
          </p:cNvSpPr>
          <p:nvPr/>
        </p:nvSpPr>
        <p:spPr bwMode="auto">
          <a:xfrm>
            <a:off x="6019800" y="4038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96" name="Text Box 20"/>
          <p:cNvSpPr txBox="1">
            <a:spLocks noChangeArrowheads="1"/>
          </p:cNvSpPr>
          <p:nvPr/>
        </p:nvSpPr>
        <p:spPr bwMode="auto">
          <a:xfrm>
            <a:off x="6629400" y="3352800"/>
            <a:ext cx="228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Represents a</a:t>
            </a:r>
          </a:p>
          <a:p>
            <a:pPr eaLnBrk="0" hangingPunct="0"/>
            <a:r>
              <a:rPr lang="en-US" sz="2000" b="1"/>
              <a:t>link that was</a:t>
            </a:r>
          </a:p>
          <a:p>
            <a:pPr eaLnBrk="0" hangingPunct="0"/>
            <a:r>
              <a:rPr lang="en-US" sz="2000" b="1"/>
              <a:t>reversed recently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TORA Example</a:t>
            </a:r>
          </a:p>
        </p:txBody>
      </p:sp>
      <p:sp>
        <p:nvSpPr>
          <p:cNvPr id="51203" name="Oval 3"/>
          <p:cNvSpPr>
            <a:spLocks noChangeArrowheads="1"/>
          </p:cNvSpPr>
          <p:nvPr/>
        </p:nvSpPr>
        <p:spPr bwMode="auto">
          <a:xfrm>
            <a:off x="762000" y="1828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51204" name="Oval 4"/>
          <p:cNvSpPr>
            <a:spLocks noChangeArrowheads="1"/>
          </p:cNvSpPr>
          <p:nvPr/>
        </p:nvSpPr>
        <p:spPr bwMode="auto">
          <a:xfrm>
            <a:off x="45720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51205" name="Oval 5"/>
          <p:cNvSpPr>
            <a:spLocks noChangeArrowheads="1"/>
          </p:cNvSpPr>
          <p:nvPr/>
        </p:nvSpPr>
        <p:spPr bwMode="auto">
          <a:xfrm>
            <a:off x="2590800" y="1828800"/>
            <a:ext cx="609600" cy="6096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51206" name="Oval 6"/>
          <p:cNvSpPr>
            <a:spLocks noChangeArrowheads="1"/>
          </p:cNvSpPr>
          <p:nvPr/>
        </p:nvSpPr>
        <p:spPr bwMode="auto">
          <a:xfrm>
            <a:off x="7620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51207" name="Oval 7"/>
          <p:cNvSpPr>
            <a:spLocks noChangeArrowheads="1"/>
          </p:cNvSpPr>
          <p:nvPr/>
        </p:nvSpPr>
        <p:spPr bwMode="auto">
          <a:xfrm>
            <a:off x="25908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51208" name="Oval 8"/>
          <p:cNvSpPr>
            <a:spLocks noChangeArrowheads="1"/>
          </p:cNvSpPr>
          <p:nvPr/>
        </p:nvSpPr>
        <p:spPr bwMode="auto">
          <a:xfrm>
            <a:off x="45720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51209" name="Oval 9"/>
          <p:cNvSpPr>
            <a:spLocks noChangeArrowheads="1"/>
          </p:cNvSpPr>
          <p:nvPr/>
        </p:nvSpPr>
        <p:spPr bwMode="auto">
          <a:xfrm>
            <a:off x="2667000" y="4876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106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2895600" y="2438400"/>
            <a:ext cx="0" cy="838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487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1371600" y="21336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>
            <a:off x="3200400" y="2133600"/>
            <a:ext cx="13716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5" name="Line 15"/>
          <p:cNvSpPr>
            <a:spLocks noChangeShapeType="1"/>
          </p:cNvSpPr>
          <p:nvPr/>
        </p:nvSpPr>
        <p:spPr bwMode="auto">
          <a:xfrm>
            <a:off x="1371600" y="35814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>
            <a:off x="3200400" y="35814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>
            <a:off x="1143000" y="3886200"/>
            <a:ext cx="1600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Text Box 18"/>
          <p:cNvSpPr txBox="1">
            <a:spLocks noChangeArrowheads="1"/>
          </p:cNvSpPr>
          <p:nvPr/>
        </p:nvSpPr>
        <p:spPr bwMode="auto">
          <a:xfrm>
            <a:off x="898525" y="5592763"/>
            <a:ext cx="5994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Nodes E and F </a:t>
            </a:r>
            <a:r>
              <a:rPr lang="en-US" sz="2000" b="1" i="1">
                <a:solidFill>
                  <a:srgbClr val="FF0000"/>
                </a:solidFill>
              </a:rPr>
              <a:t>do not</a:t>
            </a:r>
            <a:r>
              <a:rPr lang="en-US" sz="2000" b="1"/>
              <a:t> reverse links from node G</a:t>
            </a:r>
          </a:p>
          <a:p>
            <a:pPr eaLnBrk="0" hangingPunct="0"/>
            <a:endParaRPr lang="en-US" sz="2000" b="1"/>
          </a:p>
          <a:p>
            <a:pPr eaLnBrk="0" hangingPunct="0"/>
            <a:r>
              <a:rPr lang="en-US" sz="2000" b="1"/>
              <a:t>Now node B has no outgoing links</a:t>
            </a:r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>
            <a:off x="6705600" y="32004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20" name="Text Box 20"/>
          <p:cNvSpPr txBox="1">
            <a:spLocks noChangeArrowheads="1"/>
          </p:cNvSpPr>
          <p:nvPr/>
        </p:nvSpPr>
        <p:spPr bwMode="auto">
          <a:xfrm>
            <a:off x="6629400" y="3352800"/>
            <a:ext cx="228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Represents a</a:t>
            </a:r>
          </a:p>
          <a:p>
            <a:pPr eaLnBrk="0" hangingPunct="0"/>
            <a:r>
              <a:rPr lang="en-US" sz="2000" b="1"/>
              <a:t>link that was</a:t>
            </a:r>
          </a:p>
          <a:p>
            <a:pPr eaLnBrk="0" hangingPunct="0"/>
            <a:r>
              <a:rPr lang="en-US" sz="2000" b="1"/>
              <a:t>reversed recently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TORA Example</a:t>
            </a:r>
          </a:p>
        </p:txBody>
      </p:sp>
      <p:sp>
        <p:nvSpPr>
          <p:cNvPr id="52227" name="Oval 3"/>
          <p:cNvSpPr>
            <a:spLocks noChangeArrowheads="1"/>
          </p:cNvSpPr>
          <p:nvPr/>
        </p:nvSpPr>
        <p:spPr bwMode="auto">
          <a:xfrm>
            <a:off x="762000" y="1828800"/>
            <a:ext cx="609600" cy="6096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52228" name="Oval 4"/>
          <p:cNvSpPr>
            <a:spLocks noChangeArrowheads="1"/>
          </p:cNvSpPr>
          <p:nvPr/>
        </p:nvSpPr>
        <p:spPr bwMode="auto">
          <a:xfrm>
            <a:off x="45720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25908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7620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5908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45720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2667000" y="4876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106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28956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487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1371600" y="2133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3200400" y="2133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>
            <a:off x="1371600" y="3581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Line 16"/>
          <p:cNvSpPr>
            <a:spLocks noChangeShapeType="1"/>
          </p:cNvSpPr>
          <p:nvPr/>
        </p:nvSpPr>
        <p:spPr bwMode="auto">
          <a:xfrm>
            <a:off x="3200400" y="35814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Line 17"/>
          <p:cNvSpPr>
            <a:spLocks noChangeShapeType="1"/>
          </p:cNvSpPr>
          <p:nvPr/>
        </p:nvSpPr>
        <p:spPr bwMode="auto">
          <a:xfrm>
            <a:off x="1143000" y="3886200"/>
            <a:ext cx="1600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2" name="Text Box 18"/>
          <p:cNvSpPr txBox="1">
            <a:spLocks noChangeArrowheads="1"/>
          </p:cNvSpPr>
          <p:nvPr/>
        </p:nvSpPr>
        <p:spPr bwMode="auto">
          <a:xfrm>
            <a:off x="898525" y="5897563"/>
            <a:ext cx="434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Now node A has no outgoing links</a:t>
            </a:r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6705600" y="32004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4" name="Text Box 20"/>
          <p:cNvSpPr txBox="1">
            <a:spLocks noChangeArrowheads="1"/>
          </p:cNvSpPr>
          <p:nvPr/>
        </p:nvSpPr>
        <p:spPr bwMode="auto">
          <a:xfrm>
            <a:off x="6629400" y="3352800"/>
            <a:ext cx="228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Represents a</a:t>
            </a:r>
          </a:p>
          <a:p>
            <a:pPr eaLnBrk="0" hangingPunct="0"/>
            <a:r>
              <a:rPr lang="en-US" sz="2000" b="1"/>
              <a:t>link that was</a:t>
            </a:r>
          </a:p>
          <a:p>
            <a:pPr eaLnBrk="0" hangingPunct="0"/>
            <a:r>
              <a:rPr lang="en-US" sz="2000" b="1"/>
              <a:t>reversed recently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TORA Example</a:t>
            </a:r>
          </a:p>
        </p:txBody>
      </p:sp>
      <p:sp>
        <p:nvSpPr>
          <p:cNvPr id="53251" name="Oval 3"/>
          <p:cNvSpPr>
            <a:spLocks noChangeArrowheads="1"/>
          </p:cNvSpPr>
          <p:nvPr/>
        </p:nvSpPr>
        <p:spPr bwMode="auto">
          <a:xfrm>
            <a:off x="7620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53252" name="Oval 4"/>
          <p:cNvSpPr>
            <a:spLocks noChangeArrowheads="1"/>
          </p:cNvSpPr>
          <p:nvPr/>
        </p:nvSpPr>
        <p:spPr bwMode="auto">
          <a:xfrm>
            <a:off x="45720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53253" name="Oval 5"/>
          <p:cNvSpPr>
            <a:spLocks noChangeArrowheads="1"/>
          </p:cNvSpPr>
          <p:nvPr/>
        </p:nvSpPr>
        <p:spPr bwMode="auto">
          <a:xfrm>
            <a:off x="25908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53254" name="Oval 6"/>
          <p:cNvSpPr>
            <a:spLocks noChangeArrowheads="1"/>
          </p:cNvSpPr>
          <p:nvPr/>
        </p:nvSpPr>
        <p:spPr bwMode="auto">
          <a:xfrm>
            <a:off x="7620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25908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45720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53257" name="Oval 9"/>
          <p:cNvSpPr>
            <a:spLocks noChangeArrowheads="1"/>
          </p:cNvSpPr>
          <p:nvPr/>
        </p:nvSpPr>
        <p:spPr bwMode="auto">
          <a:xfrm>
            <a:off x="2667000" y="4876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1066800" y="2438400"/>
            <a:ext cx="0" cy="838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28956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>
            <a:off x="487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Line 13"/>
          <p:cNvSpPr>
            <a:spLocks noChangeShapeType="1"/>
          </p:cNvSpPr>
          <p:nvPr/>
        </p:nvSpPr>
        <p:spPr bwMode="auto">
          <a:xfrm>
            <a:off x="1371600" y="21336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>
            <a:off x="3200400" y="2133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>
            <a:off x="1371600" y="3581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>
            <a:off x="3200400" y="35814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5" name="Line 17"/>
          <p:cNvSpPr>
            <a:spLocks noChangeShapeType="1"/>
          </p:cNvSpPr>
          <p:nvPr/>
        </p:nvSpPr>
        <p:spPr bwMode="auto">
          <a:xfrm>
            <a:off x="1143000" y="3886200"/>
            <a:ext cx="1600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898525" y="5897563"/>
            <a:ext cx="70659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Now all nodes (except destination D) have outgoing links</a:t>
            </a:r>
          </a:p>
        </p:txBody>
      </p:sp>
      <p:sp>
        <p:nvSpPr>
          <p:cNvPr id="53267" name="Line 19"/>
          <p:cNvSpPr>
            <a:spLocks noChangeShapeType="1"/>
          </p:cNvSpPr>
          <p:nvPr/>
        </p:nvSpPr>
        <p:spPr bwMode="auto">
          <a:xfrm>
            <a:off x="6705600" y="32004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68" name="Text Box 20"/>
          <p:cNvSpPr txBox="1">
            <a:spLocks noChangeArrowheads="1"/>
          </p:cNvSpPr>
          <p:nvPr/>
        </p:nvSpPr>
        <p:spPr bwMode="auto">
          <a:xfrm>
            <a:off x="6629400" y="3352800"/>
            <a:ext cx="228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Represents a</a:t>
            </a:r>
          </a:p>
          <a:p>
            <a:pPr eaLnBrk="0" hangingPunct="0"/>
            <a:r>
              <a:rPr lang="en-US" sz="2000" b="1"/>
              <a:t>link that was</a:t>
            </a:r>
          </a:p>
          <a:p>
            <a:pPr eaLnBrk="0" hangingPunct="0"/>
            <a:r>
              <a:rPr lang="en-US" sz="2000" b="1"/>
              <a:t>reversed recently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TORA Example</a:t>
            </a:r>
          </a:p>
        </p:txBody>
      </p:sp>
      <p:sp>
        <p:nvSpPr>
          <p:cNvPr id="54275" name="Oval 3"/>
          <p:cNvSpPr>
            <a:spLocks noChangeArrowheads="1"/>
          </p:cNvSpPr>
          <p:nvPr/>
        </p:nvSpPr>
        <p:spPr bwMode="auto">
          <a:xfrm>
            <a:off x="7620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A</a:t>
            </a:r>
          </a:p>
        </p:txBody>
      </p:sp>
      <p:sp>
        <p:nvSpPr>
          <p:cNvPr id="54276" name="Oval 4"/>
          <p:cNvSpPr>
            <a:spLocks noChangeArrowheads="1"/>
          </p:cNvSpPr>
          <p:nvPr/>
        </p:nvSpPr>
        <p:spPr bwMode="auto">
          <a:xfrm>
            <a:off x="45720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F</a:t>
            </a:r>
          </a:p>
        </p:txBody>
      </p:sp>
      <p:sp>
        <p:nvSpPr>
          <p:cNvPr id="54277" name="Oval 5"/>
          <p:cNvSpPr>
            <a:spLocks noChangeArrowheads="1"/>
          </p:cNvSpPr>
          <p:nvPr/>
        </p:nvSpPr>
        <p:spPr bwMode="auto">
          <a:xfrm>
            <a:off x="2590800" y="18288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B</a:t>
            </a:r>
          </a:p>
        </p:txBody>
      </p:sp>
      <p:sp>
        <p:nvSpPr>
          <p:cNvPr id="54278" name="Oval 6"/>
          <p:cNvSpPr>
            <a:spLocks noChangeArrowheads="1"/>
          </p:cNvSpPr>
          <p:nvPr/>
        </p:nvSpPr>
        <p:spPr bwMode="auto">
          <a:xfrm>
            <a:off x="762000" y="32766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C</a:t>
            </a:r>
          </a:p>
        </p:txBody>
      </p:sp>
      <p:sp>
        <p:nvSpPr>
          <p:cNvPr id="54279" name="Oval 7"/>
          <p:cNvSpPr>
            <a:spLocks noChangeArrowheads="1"/>
          </p:cNvSpPr>
          <p:nvPr/>
        </p:nvSpPr>
        <p:spPr bwMode="auto">
          <a:xfrm>
            <a:off x="25908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E</a:t>
            </a:r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4572000" y="3276600"/>
            <a:ext cx="609600" cy="609600"/>
          </a:xfrm>
          <a:prstGeom prst="ellipse">
            <a:avLst/>
          </a:prstGeom>
          <a:solidFill>
            <a:srgbClr val="FFFF66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G</a:t>
            </a:r>
          </a:p>
        </p:txBody>
      </p:sp>
      <p:sp>
        <p:nvSpPr>
          <p:cNvPr id="54281" name="Oval 9"/>
          <p:cNvSpPr>
            <a:spLocks noChangeArrowheads="1"/>
          </p:cNvSpPr>
          <p:nvPr/>
        </p:nvSpPr>
        <p:spPr bwMode="auto">
          <a:xfrm>
            <a:off x="2667000" y="4876800"/>
            <a:ext cx="609600" cy="6096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/>
              <a:t>D</a:t>
            </a:r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106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28956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4876800" y="24384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>
            <a:off x="1371600" y="21336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3200400" y="21336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>
            <a:off x="1371600" y="3581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8" name="Line 16"/>
          <p:cNvSpPr>
            <a:spLocks noChangeShapeType="1"/>
          </p:cNvSpPr>
          <p:nvPr/>
        </p:nvSpPr>
        <p:spPr bwMode="auto">
          <a:xfrm>
            <a:off x="3200400" y="35814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9" name="Line 17"/>
          <p:cNvSpPr>
            <a:spLocks noChangeShapeType="1"/>
          </p:cNvSpPr>
          <p:nvPr/>
        </p:nvSpPr>
        <p:spPr bwMode="auto">
          <a:xfrm>
            <a:off x="1143000" y="3886200"/>
            <a:ext cx="1600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898525" y="5897563"/>
            <a:ext cx="71913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000" b="1"/>
              <a:t>DAG has been restored with only the destination as a sink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66178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TORA: Example</a:t>
            </a:r>
            <a:endParaRPr lang="en-IN" dirty="0"/>
          </a:p>
        </p:txBody>
      </p:sp>
      <p:pic>
        <p:nvPicPr>
          <p:cNvPr id="156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29544"/>
            <a:ext cx="4714908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572132" y="1305342"/>
            <a:ext cx="32861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• </a:t>
            </a:r>
            <a:r>
              <a:rPr lang="en-IN" sz="2400" b="1" dirty="0" smtClean="0"/>
              <a:t>The destination is X.</a:t>
            </a:r>
          </a:p>
          <a:p>
            <a:r>
              <a:rPr lang="en-IN" sz="2400" dirty="0" smtClean="0"/>
              <a:t>• </a:t>
            </a:r>
            <a:r>
              <a:rPr lang="en-IN" sz="2400" b="1" dirty="0" smtClean="0"/>
              <a:t>A needs to find a route to X.</a:t>
            </a:r>
          </a:p>
          <a:p>
            <a:r>
              <a:rPr lang="en-IN" sz="2400" dirty="0" smtClean="0"/>
              <a:t>• </a:t>
            </a:r>
            <a:r>
              <a:rPr lang="en-IN" sz="2400" b="1" dirty="0" smtClean="0"/>
              <a:t>A sends a QRY packet to C.</a:t>
            </a:r>
          </a:p>
          <a:p>
            <a:r>
              <a:rPr lang="en-IN" sz="2400" dirty="0" smtClean="0"/>
              <a:t>• </a:t>
            </a:r>
            <a:r>
              <a:rPr lang="en-IN" sz="2400" b="1" dirty="0" smtClean="0"/>
              <a:t>C and B broadcast this  message.</a:t>
            </a:r>
          </a:p>
          <a:p>
            <a:r>
              <a:rPr lang="en-IN" sz="2400" dirty="0" smtClean="0"/>
              <a:t>•</a:t>
            </a:r>
            <a:r>
              <a:rPr lang="en-IN" sz="2400" b="1" dirty="0" smtClean="0"/>
              <a:t>E knows that X is one hop away.</a:t>
            </a:r>
          </a:p>
          <a:p>
            <a:r>
              <a:rPr lang="en-IN" sz="2400" dirty="0" smtClean="0"/>
              <a:t>• </a:t>
            </a:r>
            <a:r>
              <a:rPr lang="en-IN" sz="2400" b="1" dirty="0" smtClean="0"/>
              <a:t>D broadcasts QRY message (contains height which is</a:t>
            </a:r>
          </a:p>
          <a:p>
            <a:r>
              <a:rPr lang="en-IN" sz="2400" b="1" dirty="0" smtClean="0"/>
              <a:t>currently NULL).</a:t>
            </a:r>
          </a:p>
          <a:p>
            <a:r>
              <a:rPr lang="en-IN" sz="2400" dirty="0" smtClean="0"/>
              <a:t>• </a:t>
            </a:r>
            <a:r>
              <a:rPr lang="en-IN" sz="2400" b="1" dirty="0" smtClean="0"/>
              <a:t>What does E do ?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routing protocols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Geographic Routing Protocols</a:t>
            </a:r>
          </a:p>
          <a:p>
            <a:pPr lvl="1"/>
            <a:r>
              <a:rPr lang="en-US"/>
              <a:t>Location Aided Routing (LAR)</a:t>
            </a:r>
          </a:p>
          <a:p>
            <a:pPr lvl="1"/>
            <a:r>
              <a:rPr lang="en-US"/>
              <a:t>Distance Routing Effect Algorithm for Mobility (DREAM)</a:t>
            </a:r>
          </a:p>
          <a:p>
            <a:pPr lvl="1"/>
            <a:r>
              <a:rPr lang="en-US"/>
              <a:t>Greedy Perimeter Stateless Routing (GPSR)</a:t>
            </a:r>
          </a:p>
          <a:p>
            <a:pPr lvl="1"/>
            <a:endParaRPr lang="en-US"/>
          </a:p>
          <a:p>
            <a:r>
              <a:rPr lang="en-US"/>
              <a:t>Hybrid Routing Protocols</a:t>
            </a:r>
          </a:p>
          <a:p>
            <a:pPr lvl="1"/>
            <a:r>
              <a:rPr lang="en-US"/>
              <a:t>Zone Routing Protocol (ZRP)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Clusterhead Gateway Switch Routing (CGSR)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Nodes organized into hierarchy of clusters.</a:t>
            </a:r>
          </a:p>
          <a:p>
            <a:r>
              <a:rPr lang="en-US"/>
              <a:t>Each node has a clusterhead, selected using an election.</a:t>
            </a:r>
          </a:p>
          <a:p>
            <a:r>
              <a:rPr lang="en-US"/>
              <a:t>Nodes send packet through clusterheads.</a:t>
            </a:r>
          </a:p>
          <a:p>
            <a:r>
              <a:rPr lang="en-US"/>
              <a:t>Clusterheads communicate amongst themselves using DSDV.</a:t>
            </a:r>
          </a:p>
          <a:p>
            <a:pPr lvl="1"/>
            <a:r>
              <a:rPr lang="en-US"/>
              <a:t>Two clusters are connected through a gateway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Wireless Routing Protocol (WRP)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Maintains multiple tables</a:t>
            </a:r>
          </a:p>
          <a:p>
            <a:pPr lvl="1"/>
            <a:r>
              <a:rPr lang="en-US"/>
              <a:t>Distance, routing, link-cost, etc.</a:t>
            </a:r>
          </a:p>
          <a:p>
            <a:pPr lvl="1"/>
            <a:endParaRPr lang="en-US"/>
          </a:p>
          <a:p>
            <a:r>
              <a:rPr lang="en-US"/>
              <a:t>Link change messages exchanged only between neighbors</a:t>
            </a:r>
          </a:p>
          <a:p>
            <a:endParaRPr lang="en-US"/>
          </a:p>
          <a:p>
            <a:r>
              <a:rPr lang="en-US"/>
              <a:t>Loop freedom using novel algorithm</a:t>
            </a:r>
          </a:p>
          <a:p>
            <a:pPr lvl="1"/>
            <a:r>
              <a:rPr lang="en-US"/>
              <a:t>Uses predecessor hop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Table-Driven Protocols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/>
              <a:t>Optimized Link State Routing Protocol (OLSR) – RFC 3626</a:t>
            </a:r>
          </a:p>
          <a:p>
            <a:pPr lvl="1"/>
            <a:r>
              <a:rPr lang="en-US"/>
              <a:t>Optimization of link-state routing to wireless</a:t>
            </a:r>
          </a:p>
          <a:p>
            <a:pPr lvl="1"/>
            <a:endParaRPr lang="en-US"/>
          </a:p>
          <a:p>
            <a:r>
              <a:rPr lang="en-US"/>
              <a:t>Topology Dissemination Based on Reverse Path Forwarding (TBRPF)  - RFC 3684</a:t>
            </a:r>
          </a:p>
          <a:p>
            <a:pPr lvl="1"/>
            <a:r>
              <a:rPr lang="en-US"/>
              <a:t>Also based on link-state routing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5720" y="1357298"/>
            <a:ext cx="8501121" cy="4768865"/>
          </a:xfrm>
        </p:spPr>
        <p:txBody>
          <a:bodyPr>
            <a:normAutofit fontScale="92500"/>
          </a:bodyPr>
          <a:lstStyle/>
          <a:p>
            <a:pPr algn="just"/>
            <a:endParaRPr lang="en-IN" sz="2600" dirty="0" smtClean="0"/>
          </a:p>
          <a:p>
            <a:pPr algn="just"/>
            <a:r>
              <a:rPr lang="en-IN" sz="2600" dirty="0" smtClean="0">
                <a:solidFill>
                  <a:srgbClr val="FF0000"/>
                </a:solidFill>
              </a:rPr>
              <a:t>Scalability &amp; Efficiency</a:t>
            </a:r>
          </a:p>
          <a:p>
            <a:pPr algn="just"/>
            <a:r>
              <a:rPr lang="en-IN" sz="2600" dirty="0" smtClean="0"/>
              <a:t>Hierarchical solutions may reduce collisions in the wireless medium and facilitate the duty cycling of sensor nodes for increased energy efficiency. </a:t>
            </a:r>
          </a:p>
          <a:p>
            <a:pPr algn="just"/>
            <a:r>
              <a:rPr lang="en-IN" sz="2600" dirty="0" smtClean="0"/>
              <a:t>Clustering may also facilitate the routing process, but may lead to longer routes than many flat routing protocols. </a:t>
            </a:r>
          </a:p>
          <a:p>
            <a:pPr algn="just"/>
            <a:r>
              <a:rPr lang="en-IN" sz="2600" dirty="0" smtClean="0"/>
              <a:t>Clustering also facilitates in-network aggregation of sensor data, because data coming from co-located sensors (which may monitor overlapping regions of the environment) are likely to pass through the same cluster head.</a:t>
            </a:r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76094"/>
          </a:xfr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170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357298"/>
            <a:ext cx="8429684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The Problem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57158" y="1500174"/>
            <a:ext cx="8572559" cy="4625989"/>
          </a:xfrm>
        </p:spPr>
        <p:txBody>
          <a:bodyPr>
            <a:normAutofit/>
          </a:bodyPr>
          <a:lstStyle/>
          <a:p>
            <a:pPr algn="just"/>
            <a:r>
              <a:rPr lang="en-US" sz="2600" dirty="0" smtClean="0"/>
              <a:t>The reason we need network protocol such as LEACH is due to the fact that a node in the network is no longer useful when its battery dies.</a:t>
            </a:r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This protocol allows us to space out the lifespan of the nodes, allowing it to do only the minimum work it needs to transmit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4625989"/>
          </a:xfrm>
        </p:spPr>
        <p:txBody>
          <a:bodyPr>
            <a:noAutofit/>
          </a:bodyPr>
          <a:lstStyle/>
          <a:p>
            <a:pPr algn="just"/>
            <a:r>
              <a:rPr lang="en-IN" sz="2600" dirty="0" smtClean="0"/>
              <a:t>Hierarchical clustering algorithm is the Low-Energy Adaptive Clustering Hierarchy that combines a clustering approach with MAC-layer techniques. </a:t>
            </a:r>
          </a:p>
          <a:p>
            <a:pPr algn="just"/>
            <a:endParaRPr lang="en-IN" sz="2600" dirty="0" smtClean="0"/>
          </a:p>
          <a:p>
            <a:pPr algn="just"/>
            <a:r>
              <a:rPr lang="en-IN" sz="2600" dirty="0" smtClean="0"/>
              <a:t>LEACH assumes that every cluster head can directly communicate with the base station.</a:t>
            </a:r>
          </a:p>
          <a:p>
            <a:pPr algn="just"/>
            <a:r>
              <a:rPr lang="en-IN" sz="2600" dirty="0" smtClean="0"/>
              <a:t>Cluster heads are responsible for all communication between their cluster members and a base station and the aggregation of data coming from its cluster members in order to eliminate redundancies.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04656"/>
          </a:xfrm>
        </p:spPr>
        <p:txBody>
          <a:bodyPr/>
          <a:lstStyle/>
          <a:p>
            <a:r>
              <a:rPr lang="en-IN" dirty="0" smtClean="0"/>
              <a:t>LEACH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35" y="1785926"/>
            <a:ext cx="7780366" cy="4340237"/>
          </a:xfrm>
        </p:spPr>
        <p:txBody>
          <a:bodyPr/>
          <a:lstStyle/>
          <a:p>
            <a:pPr algn="just"/>
            <a:r>
              <a:rPr lang="en-IN" dirty="0" smtClean="0"/>
              <a:t>LEACH can achieve significant energy savings (depending on how much redundancy can be removed) and sensor nodes (apart from the cluster heads) are not responsible for forwarding other nodes’ data.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3321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LEACH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LEACH’s Two Phases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LEACH network has two phases: the set-up phase and the steady-state</a:t>
            </a:r>
          </a:p>
          <a:p>
            <a:pPr>
              <a:buFont typeface="Wingdings 2" pitchFamily="18" charset="2"/>
              <a:buNone/>
            </a:pPr>
            <a:endParaRPr lang="en-US" sz="1800" smtClean="0"/>
          </a:p>
          <a:p>
            <a:pPr lvl="1"/>
            <a:r>
              <a:rPr lang="en-US" smtClean="0"/>
              <a:t>The Set-Up Phase</a:t>
            </a:r>
          </a:p>
          <a:p>
            <a:pPr lvl="2"/>
            <a:r>
              <a:rPr lang="en-US" smtClean="0"/>
              <a:t>Where cluster-heads are chosen</a:t>
            </a:r>
          </a:p>
          <a:p>
            <a:pPr lvl="1"/>
            <a:r>
              <a:rPr lang="en-US" smtClean="0"/>
              <a:t>The Steady-State</a:t>
            </a:r>
          </a:p>
          <a:p>
            <a:pPr lvl="2"/>
            <a:r>
              <a:rPr lang="en-US" smtClean="0"/>
              <a:t>The cluster-head is maintained</a:t>
            </a:r>
          </a:p>
          <a:p>
            <a:pPr lvl="2"/>
            <a:r>
              <a:rPr lang="en-US" smtClean="0"/>
              <a:t>When data is transmitted between nodes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Stochastic Threshold Algorithm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4825"/>
            <a:ext cx="8229600" cy="4854575"/>
          </a:xfrm>
        </p:spPr>
        <p:txBody>
          <a:bodyPr rtlCol="0">
            <a:normAutofit/>
          </a:bodyPr>
          <a:lstStyle/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en-US" dirty="0" smtClean="0"/>
              <a:t>Cluster-heads can be chosen </a:t>
            </a:r>
            <a:r>
              <a:rPr lang="en-US" i="1" dirty="0" smtClean="0"/>
              <a:t>stochastically</a:t>
            </a:r>
            <a:r>
              <a:rPr lang="en-US" dirty="0" smtClean="0"/>
              <a:t> (randomly based) on this algorithm: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en-US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en-US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endParaRPr lang="en-US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en-US" dirty="0" smtClean="0"/>
              <a:t>If n &lt; T(n), then that node becomes a cluster-head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Font typeface="Wingdings 2"/>
              <a:buChar char=""/>
              <a:defRPr/>
            </a:pPr>
            <a:r>
              <a:rPr lang="en-US" dirty="0" smtClean="0"/>
              <a:t>The algorithm is designed so that each node becomes a cluster-head at least once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819400"/>
            <a:ext cx="8215370" cy="21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Deterministic Threshold Algorithm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72067" y="1571612"/>
            <a:ext cx="7408333" cy="4554551"/>
          </a:xfrm>
        </p:spPr>
        <p:txBody>
          <a:bodyPr/>
          <a:lstStyle/>
          <a:p>
            <a:r>
              <a:rPr lang="en-US" dirty="0" smtClean="0"/>
              <a:t>A modified version of this protocol is known as LEACH-C (or LEACH Centralized)</a:t>
            </a:r>
          </a:p>
          <a:p>
            <a:r>
              <a:rPr lang="en-US" dirty="0" smtClean="0"/>
              <a:t>This version has a </a:t>
            </a:r>
            <a:r>
              <a:rPr lang="en-US" i="1" dirty="0" smtClean="0"/>
              <a:t>deterministic</a:t>
            </a:r>
            <a:r>
              <a:rPr lang="en-US" dirty="0" smtClean="0"/>
              <a:t> threshold algorithm, which takes into account the amount of energy in the node…</a:t>
            </a:r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571876"/>
            <a:ext cx="7210425" cy="2809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Deterministic Threshold Algorithm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…and/or whether or not the node was recently a cluster-head</a:t>
            </a:r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124200"/>
            <a:ext cx="71913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91CD1C-6B62-4079-8C8C-530724F0EE59}" type="slidenum">
              <a:rPr lang="en-US"/>
              <a:pPr/>
              <a:t>132</a:t>
            </a:fld>
            <a:endParaRPr 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LEACH: Operation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Periodic process</a:t>
            </a:r>
          </a:p>
          <a:p>
            <a:r>
              <a:rPr lang="en-US"/>
              <a:t>Three phases per round:</a:t>
            </a:r>
          </a:p>
          <a:p>
            <a:pPr lvl="1"/>
            <a:r>
              <a:rPr lang="en-US"/>
              <a:t>Advertisement</a:t>
            </a:r>
          </a:p>
          <a:p>
            <a:pPr lvl="2"/>
            <a:r>
              <a:rPr lang="en-US"/>
              <a:t>Election and membership</a:t>
            </a:r>
          </a:p>
          <a:p>
            <a:pPr lvl="1"/>
            <a:r>
              <a:rPr lang="en-US"/>
              <a:t>Setup</a:t>
            </a:r>
          </a:p>
          <a:p>
            <a:pPr lvl="2"/>
            <a:r>
              <a:rPr lang="en-US"/>
              <a:t>Schedule creation</a:t>
            </a:r>
          </a:p>
          <a:p>
            <a:pPr lvl="1"/>
            <a:r>
              <a:rPr lang="en-US"/>
              <a:t>Steady-State</a:t>
            </a:r>
          </a:p>
          <a:p>
            <a:pPr lvl="2"/>
            <a:r>
              <a:rPr lang="en-US"/>
              <a:t>Data transmission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61E4C7-3D3C-418D-A7D6-B0F34F8D3975}" type="slidenum">
              <a:rPr lang="en-US"/>
              <a:pPr/>
              <a:t>133</a:t>
            </a:fld>
            <a:endParaRPr 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LEACH: Advertisement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Cluster head self-election</a:t>
            </a:r>
          </a:p>
          <a:p>
            <a:pPr lvl="1"/>
            <a:r>
              <a:rPr lang="en-US"/>
              <a:t>Status advertised broadcast to nearby nodes</a:t>
            </a:r>
          </a:p>
          <a:p>
            <a:r>
              <a:rPr lang="en-US"/>
              <a:t>Non-cluster heads must listen to the medium</a:t>
            </a:r>
          </a:p>
          <a:p>
            <a:pPr lvl="1"/>
            <a:r>
              <a:rPr lang="en-US"/>
              <a:t>Choose membership based on signal strength</a:t>
            </a:r>
          </a:p>
          <a:p>
            <a:pPr lvl="2"/>
            <a:r>
              <a:rPr lang="en-US"/>
              <a:t>RSSI</a:t>
            </a:r>
          </a:p>
          <a:p>
            <a:pPr lvl="2"/>
            <a:r>
              <a:rPr lang="en-US"/>
              <a:t>E</a:t>
            </a:r>
            <a:r>
              <a:rPr lang="en-US" baseline="-25000"/>
              <a:t>b</a:t>
            </a:r>
            <a:r>
              <a:rPr lang="en-US"/>
              <a:t>/N</a:t>
            </a:r>
            <a:r>
              <a:rPr lang="en-US" baseline="-25000"/>
              <a:t>0</a:t>
            </a:r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94FF53-91F6-469F-9EE6-55C30243D051}" type="slidenum">
              <a:rPr lang="en-US"/>
              <a:pPr/>
              <a:t>134</a:t>
            </a:fld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LEACH: Setup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Nodes broadcast membership status</a:t>
            </a:r>
          </a:p>
          <a:p>
            <a:pPr lvl="1"/>
            <a:r>
              <a:rPr lang="en-US"/>
              <a:t>CSMA</a:t>
            </a:r>
          </a:p>
          <a:p>
            <a:r>
              <a:rPr lang="en-US"/>
              <a:t>Cluster heads must listen to the medium</a:t>
            </a:r>
          </a:p>
          <a:p>
            <a:r>
              <a:rPr lang="en-US"/>
              <a:t>TDMA schedule created</a:t>
            </a:r>
          </a:p>
          <a:p>
            <a:pPr lvl="1"/>
            <a:r>
              <a:rPr lang="en-US"/>
              <a:t>Dynamic number of time slices</a:t>
            </a:r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86D7B8-0508-490B-BBBE-4AAF0DB1AC2C}" type="slidenum">
              <a:rPr lang="en-US"/>
              <a:pPr/>
              <a:t>135</a:t>
            </a:fld>
            <a:endParaRPr 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LEACH: Data Transmission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Nodes sleep until time slice</a:t>
            </a:r>
          </a:p>
          <a:p>
            <a:r>
              <a:rPr lang="en-US"/>
              <a:t>Cluster heads must listen to each slice</a:t>
            </a:r>
          </a:p>
          <a:p>
            <a:r>
              <a:rPr lang="en-US"/>
              <a:t>Cluster heads aggregate/compress and transmit once per cycle</a:t>
            </a:r>
          </a:p>
          <a:p>
            <a:r>
              <a:rPr lang="en-US"/>
              <a:t>Phase continues until the end of the round</a:t>
            </a:r>
          </a:p>
          <a:p>
            <a:pPr lvl="1"/>
            <a:r>
              <a:rPr lang="en-US"/>
              <a:t>Time determined </a:t>
            </a:r>
            <a:r>
              <a:rPr lang="en-US" i="1"/>
              <a:t>a priori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58B052-C67F-46C0-AC85-FC5C4E44145E}" type="slidenum">
              <a:rPr lang="en-US"/>
              <a:pPr/>
              <a:t>136</a:t>
            </a:fld>
            <a:endParaRPr 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LEACH: Interference Avoidance</a:t>
            </a: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900"/>
              <a:t>TDMA intra-cluster</a:t>
            </a:r>
          </a:p>
          <a:p>
            <a:r>
              <a:rPr lang="en-US" sz="2900"/>
              <a:t>CDMA inter-cluster</a:t>
            </a:r>
          </a:p>
          <a:p>
            <a:pPr lvl="1"/>
            <a:r>
              <a:rPr lang="en-US" sz="2400"/>
              <a:t>Spreading codes determined randomly</a:t>
            </a:r>
          </a:p>
          <a:p>
            <a:pPr lvl="2"/>
            <a:r>
              <a:rPr lang="en-US" sz="2000"/>
              <a:t>Non-overlapping modulation may be NP-Complete</a:t>
            </a:r>
          </a:p>
          <a:p>
            <a:pPr lvl="1"/>
            <a:r>
              <a:rPr lang="en-US" sz="2400"/>
              <a:t>Broadcast during advertisement phase</a:t>
            </a:r>
          </a:p>
          <a:p>
            <a:endParaRPr lang="en-US" sz="2900"/>
          </a:p>
        </p:txBody>
      </p:sp>
      <p:pic>
        <p:nvPicPr>
          <p:cNvPr id="99334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962525" y="1600200"/>
            <a:ext cx="3784600" cy="38100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What’s the Difference?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REMEMBER: The goal of these protocol is to increase the life of the network</a:t>
            </a:r>
          </a:p>
          <a:p>
            <a:endParaRPr lang="en-US" smtClean="0"/>
          </a:p>
          <a:p>
            <a:r>
              <a:rPr lang="en-US" smtClean="0"/>
              <a:t>The changes between the LEACH stochastic algorithm and the LEACH-C deterministic algorithm alone is proven to increase the FND (First Node Dies) lifetime by 30% and the HND (Half Node Dies) lifetime by 20%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D5A264-6D42-41F5-8BCB-79175E1DD632}" type="slidenum">
              <a:rPr lang="en-US"/>
              <a:pPr/>
              <a:t>138</a:t>
            </a:fld>
            <a:endParaRPr lang="en-US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Radio Model</a:t>
            </a: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43050"/>
            <a:ext cx="4038600" cy="4452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900" b="0" dirty="0"/>
              <a:t>Designed around acceptable </a:t>
            </a:r>
            <a:r>
              <a:rPr lang="en-US" sz="2900" b="0" dirty="0" err="1"/>
              <a:t>E</a:t>
            </a:r>
            <a:r>
              <a:rPr lang="en-US" sz="2900" b="0" baseline="-25000" dirty="0" err="1"/>
              <a:t>b</a:t>
            </a:r>
            <a:r>
              <a:rPr lang="en-US" sz="2900" b="0" dirty="0"/>
              <a:t>/N</a:t>
            </a:r>
            <a:r>
              <a:rPr lang="en-US" sz="2900" b="0" baseline="-25000" dirty="0"/>
              <a:t>0</a:t>
            </a:r>
          </a:p>
          <a:p>
            <a:pPr>
              <a:lnSpc>
                <a:spcPct val="90000"/>
              </a:lnSpc>
            </a:pPr>
            <a:r>
              <a:rPr lang="en-US" sz="2900" b="0" i="1" dirty="0" err="1"/>
              <a:t>E</a:t>
            </a:r>
            <a:r>
              <a:rPr lang="en-US" sz="2900" b="0" i="1" baseline="-25000" dirty="0" err="1"/>
              <a:t>elec</a:t>
            </a:r>
            <a:r>
              <a:rPr lang="en-US" sz="2900" b="0" i="1" baseline="-25000" dirty="0"/>
              <a:t> </a:t>
            </a:r>
            <a:r>
              <a:rPr lang="en-US" sz="2900" dirty="0"/>
              <a:t>= 50nJ/bit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Energy dissipation for transmit and receive</a:t>
            </a:r>
          </a:p>
          <a:p>
            <a:pPr>
              <a:lnSpc>
                <a:spcPct val="90000"/>
              </a:lnSpc>
            </a:pPr>
            <a:r>
              <a:rPr lang="el-GR" sz="2900" b="0" i="1" dirty="0">
                <a:cs typeface="Arial" charset="0"/>
              </a:rPr>
              <a:t>ε</a:t>
            </a:r>
            <a:r>
              <a:rPr lang="en-US" sz="2900" b="0" i="1" baseline="-25000" dirty="0">
                <a:cs typeface="Arial" charset="0"/>
              </a:rPr>
              <a:t>amp </a:t>
            </a:r>
            <a:r>
              <a:rPr lang="en-US" sz="2900" dirty="0">
                <a:cs typeface="Arial" charset="0"/>
              </a:rPr>
              <a:t>= 100pJ/bit/m</a:t>
            </a:r>
            <a:r>
              <a:rPr lang="en-US" sz="2900" baseline="30000" dirty="0">
                <a:cs typeface="Arial" charset="0"/>
              </a:rPr>
              <a:t>2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cs typeface="Arial" charset="0"/>
              </a:rPr>
              <a:t>Energy dissipation for transmit amplifier</a:t>
            </a:r>
          </a:p>
          <a:p>
            <a:pPr>
              <a:lnSpc>
                <a:spcPct val="90000"/>
              </a:lnSpc>
            </a:pPr>
            <a:r>
              <a:rPr lang="en-US" sz="2900" b="0" i="1" dirty="0">
                <a:cs typeface="Arial" charset="0"/>
              </a:rPr>
              <a:t>k = </a:t>
            </a:r>
            <a:r>
              <a:rPr lang="en-US" sz="2900" b="0" dirty="0">
                <a:cs typeface="Arial" charset="0"/>
              </a:rPr>
              <a:t>Packet size</a:t>
            </a:r>
          </a:p>
          <a:p>
            <a:pPr>
              <a:lnSpc>
                <a:spcPct val="90000"/>
              </a:lnSpc>
            </a:pPr>
            <a:r>
              <a:rPr lang="en-US" sz="2900" b="0" i="1" dirty="0">
                <a:cs typeface="Arial" charset="0"/>
              </a:rPr>
              <a:t>d</a:t>
            </a:r>
            <a:r>
              <a:rPr lang="en-US" sz="2900" b="0" dirty="0">
                <a:cs typeface="Arial" charset="0"/>
              </a:rPr>
              <a:t> = Distance</a:t>
            </a:r>
          </a:p>
          <a:p>
            <a:pPr>
              <a:lnSpc>
                <a:spcPct val="90000"/>
              </a:lnSpc>
            </a:pPr>
            <a:endParaRPr lang="el-GR" sz="2900" b="0" dirty="0">
              <a:cs typeface="Arial" charset="0"/>
            </a:endParaRPr>
          </a:p>
        </p:txBody>
      </p:sp>
      <p:pic>
        <p:nvPicPr>
          <p:cNvPr id="54278" name="Picture 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5049838" y="1295400"/>
            <a:ext cx="3233737" cy="2324100"/>
          </a:xfrm>
          <a:noFill/>
          <a:ln/>
        </p:spPr>
      </p:pic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5638800" y="3886200"/>
            <a:ext cx="2438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graphicFrame>
        <p:nvGraphicFramePr>
          <p:cNvPr id="54282" name="Object 10"/>
          <p:cNvGraphicFramePr>
            <a:graphicFrameLocks noChangeAspect="1"/>
          </p:cNvGraphicFramePr>
          <p:nvPr>
            <p:ph sz="quarter" idx="3"/>
          </p:nvPr>
        </p:nvGraphicFramePr>
        <p:xfrm>
          <a:off x="4800600" y="3733800"/>
          <a:ext cx="4038600" cy="871538"/>
        </p:xfrm>
        <a:graphic>
          <a:graphicData uri="http://schemas.openxmlformats.org/presentationml/2006/ole">
            <p:oleObj spid="_x0000_s218114" r:id="rId5" imgW="2234880" imgH="482400" progId="Equation.3">
              <p:embed/>
            </p:oleObj>
          </a:graphicData>
        </a:graphic>
      </p:graphicFrame>
      <p:sp>
        <p:nvSpPr>
          <p:cNvPr id="54283" name="Rectangle 11"/>
          <p:cNvSpPr>
            <a:spLocks noChangeArrowheads="1"/>
          </p:cNvSpPr>
          <p:nvPr/>
        </p:nvSpPr>
        <p:spPr bwMode="auto">
          <a:xfrm>
            <a:off x="5867400" y="167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54284" name="Rectangle 12"/>
          <p:cNvSpPr>
            <a:spLocks noChangeArrowheads="1"/>
          </p:cNvSpPr>
          <p:nvPr/>
        </p:nvSpPr>
        <p:spPr bwMode="auto">
          <a:xfrm>
            <a:off x="5867400" y="1676400"/>
            <a:ext cx="838200" cy="457200"/>
          </a:xfrm>
          <a:prstGeom prst="rect">
            <a:avLst/>
          </a:prstGeom>
          <a:solidFill>
            <a:srgbClr val="3366FF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54286" name="Rectangle 14"/>
          <p:cNvSpPr>
            <a:spLocks noChangeArrowheads="1"/>
          </p:cNvSpPr>
          <p:nvPr/>
        </p:nvSpPr>
        <p:spPr bwMode="auto">
          <a:xfrm>
            <a:off x="6096000" y="3810000"/>
            <a:ext cx="990600" cy="304800"/>
          </a:xfrm>
          <a:prstGeom prst="rect">
            <a:avLst/>
          </a:prstGeom>
          <a:solidFill>
            <a:srgbClr val="3366FF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IN"/>
          </a:p>
        </p:txBody>
      </p:sp>
      <p:cxnSp>
        <p:nvCxnSpPr>
          <p:cNvPr id="54287" name="AutoShape 15"/>
          <p:cNvCxnSpPr>
            <a:cxnSpLocks noChangeShapeType="1"/>
            <a:stCxn id="54283" idx="1"/>
            <a:endCxn id="54286" idx="0"/>
          </p:cNvCxnSpPr>
          <p:nvPr/>
        </p:nvCxnSpPr>
        <p:spPr bwMode="auto">
          <a:xfrm rot="10800000" flipH="1" flipV="1">
            <a:off x="5867400" y="1905000"/>
            <a:ext cx="723900" cy="1905000"/>
          </a:xfrm>
          <a:prstGeom prst="bentConnector4">
            <a:avLst>
              <a:gd name="adj1" fmla="val -31579"/>
              <a:gd name="adj2" fmla="val 8025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</p:spPr>
      </p:cxnSp>
      <p:sp>
        <p:nvSpPr>
          <p:cNvPr id="54288" name="Rectangle 16"/>
          <p:cNvSpPr>
            <a:spLocks noChangeArrowheads="1"/>
          </p:cNvSpPr>
          <p:nvPr/>
        </p:nvSpPr>
        <p:spPr bwMode="auto">
          <a:xfrm>
            <a:off x="6858000" y="1676400"/>
            <a:ext cx="838200" cy="4572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54289" name="Rectangle 17"/>
          <p:cNvSpPr>
            <a:spLocks noChangeArrowheads="1"/>
          </p:cNvSpPr>
          <p:nvPr/>
        </p:nvSpPr>
        <p:spPr bwMode="auto">
          <a:xfrm>
            <a:off x="7315200" y="3810000"/>
            <a:ext cx="1524000" cy="3048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IN"/>
          </a:p>
        </p:txBody>
      </p:sp>
      <p:cxnSp>
        <p:nvCxnSpPr>
          <p:cNvPr id="54290" name="AutoShape 18"/>
          <p:cNvCxnSpPr>
            <a:cxnSpLocks noChangeShapeType="1"/>
            <a:stCxn id="54288" idx="3"/>
            <a:endCxn id="54289" idx="0"/>
          </p:cNvCxnSpPr>
          <p:nvPr/>
        </p:nvCxnSpPr>
        <p:spPr bwMode="auto">
          <a:xfrm>
            <a:off x="7696200" y="1905000"/>
            <a:ext cx="381000" cy="1905000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cxnSp>
      <p:sp>
        <p:nvSpPr>
          <p:cNvPr id="54291" name="Rectangle 19"/>
          <p:cNvSpPr>
            <a:spLocks noChangeArrowheads="1"/>
          </p:cNvSpPr>
          <p:nvPr/>
        </p:nvSpPr>
        <p:spPr bwMode="auto">
          <a:xfrm>
            <a:off x="6781800" y="2895600"/>
            <a:ext cx="862013" cy="4572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54292" name="Rectangle 20"/>
          <p:cNvSpPr>
            <a:spLocks noChangeArrowheads="1"/>
          </p:cNvSpPr>
          <p:nvPr/>
        </p:nvSpPr>
        <p:spPr bwMode="auto">
          <a:xfrm>
            <a:off x="5867400" y="4267200"/>
            <a:ext cx="838200" cy="3048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IN"/>
          </a:p>
        </p:txBody>
      </p:sp>
      <p:cxnSp>
        <p:nvCxnSpPr>
          <p:cNvPr id="54293" name="AutoShape 21"/>
          <p:cNvCxnSpPr>
            <a:cxnSpLocks noChangeShapeType="1"/>
            <a:stCxn id="54291" idx="2"/>
            <a:endCxn id="54292" idx="3"/>
          </p:cNvCxnSpPr>
          <p:nvPr/>
        </p:nvCxnSpPr>
        <p:spPr bwMode="auto">
          <a:xfrm rot="5400000">
            <a:off x="6426200" y="3632200"/>
            <a:ext cx="1066800" cy="508000"/>
          </a:xfrm>
          <a:prstGeom prst="bentConnector2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Direct v. Minimum Transmission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1773238"/>
            <a:ext cx="4038600" cy="4624387"/>
          </a:xfrm>
          <a:prstGeom prst="rect">
            <a:avLst/>
          </a:prstGeom>
          <a:noFill/>
        </p:spPr>
      </p:pic>
      <p:sp>
        <p:nvSpPr>
          <p:cNvPr id="12292" name="Content Placeholder 4"/>
          <p:cNvSpPr>
            <a:spLocks noGrp="1"/>
          </p:cNvSpPr>
          <p:nvPr>
            <p:ph sz="half" idx="4294967295"/>
          </p:nvPr>
        </p:nvSpPr>
        <p:spPr>
          <a:xfrm>
            <a:off x="4648200" y="1773238"/>
            <a:ext cx="4038600" cy="462438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The amount of energy used in figure (a) can be modeled by this formula:</a:t>
            </a:r>
          </a:p>
          <a:p>
            <a:pPr lvl="1"/>
            <a:r>
              <a:rPr lang="en-US" smtClean="0">
                <a:latin typeface="Symbol" pitchFamily="18" charset="2"/>
              </a:rPr>
              <a:t>e</a:t>
            </a:r>
            <a:r>
              <a:rPr lang="en-US" sz="1400" smtClean="0"/>
              <a:t>amp</a:t>
            </a:r>
            <a:r>
              <a:rPr lang="en-US" smtClean="0"/>
              <a:t>k(3d</a:t>
            </a:r>
            <a:r>
              <a:rPr lang="en-US" sz="1400" smtClean="0"/>
              <a:t>1</a:t>
            </a:r>
            <a:r>
              <a:rPr lang="en-US" smtClean="0"/>
              <a:t> + d</a:t>
            </a:r>
            <a:r>
              <a:rPr lang="en-US" sz="1400" smtClean="0"/>
              <a:t>2</a:t>
            </a:r>
            <a:r>
              <a:rPr lang="en-US" smtClean="0"/>
              <a:t>)</a:t>
            </a:r>
            <a:r>
              <a:rPr lang="en-US" baseline="36000" smtClean="0"/>
              <a:t>2</a:t>
            </a:r>
          </a:p>
          <a:p>
            <a:pPr lvl="1">
              <a:buFont typeface="Wingdings" pitchFamily="2" charset="2"/>
              <a:buNone/>
            </a:pPr>
            <a:endParaRPr lang="en-US" baseline="30000" smtClean="0"/>
          </a:p>
          <a:p>
            <a:r>
              <a:rPr lang="en-US" smtClean="0"/>
              <a:t>Whereas the amount of energy used in figure (b) uses this formula:</a:t>
            </a:r>
          </a:p>
          <a:p>
            <a:pPr lvl="1"/>
            <a:r>
              <a:rPr lang="en-US" smtClean="0">
                <a:latin typeface="Symbol" pitchFamily="18" charset="2"/>
              </a:rPr>
              <a:t>e</a:t>
            </a:r>
            <a:r>
              <a:rPr lang="en-US" sz="1400" smtClean="0"/>
              <a:t>amp</a:t>
            </a:r>
            <a:r>
              <a:rPr lang="en-US" smtClean="0"/>
              <a:t>k(3d</a:t>
            </a:r>
            <a:r>
              <a:rPr lang="en-US" sz="1400" smtClean="0"/>
              <a:t>1</a:t>
            </a:r>
            <a:r>
              <a:rPr lang="en-US" baseline="36000" smtClean="0"/>
              <a:t>2</a:t>
            </a:r>
            <a:r>
              <a:rPr lang="en-US" smtClean="0"/>
              <a:t> + d</a:t>
            </a:r>
            <a:r>
              <a:rPr lang="en-US" sz="1400" smtClean="0"/>
              <a:t>2</a:t>
            </a:r>
            <a:r>
              <a:rPr lang="en-US" baseline="36000" smtClean="0"/>
              <a:t>2</a:t>
            </a:r>
            <a:r>
              <a:rPr lang="en-US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C00000"/>
                </a:solidFill>
              </a:rPr>
              <a:t>The Amount of Energy Depletion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2067" y="1428736"/>
            <a:ext cx="7408333" cy="4697427"/>
          </a:xfrm>
        </p:spPr>
        <p:txBody>
          <a:bodyPr/>
          <a:lstStyle/>
          <a:p>
            <a:r>
              <a:rPr lang="en-US" dirty="0" smtClean="0"/>
              <a:t>This is the formula for the amount of energy depletion by data transfer:</a:t>
            </a:r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571744"/>
            <a:ext cx="7869238" cy="3438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6B06AC-6649-4999-80B5-31B79369792A}" type="slidenum">
              <a:rPr lang="en-US"/>
              <a:pPr/>
              <a:t>141</a:t>
            </a:fld>
            <a:endParaRPr 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/>
              <a:t>MTE vs Direct-Transmission</a:t>
            </a:r>
          </a:p>
        </p:txBody>
      </p:sp>
      <p:pic>
        <p:nvPicPr>
          <p:cNvPr id="63494" name="Picture 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23888" y="1766888"/>
            <a:ext cx="3703637" cy="1381125"/>
          </a:xfrm>
          <a:noFill/>
          <a:ln/>
        </p:spPr>
      </p:pic>
      <p:graphicFrame>
        <p:nvGraphicFramePr>
          <p:cNvPr id="63497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9600" y="3048000"/>
          <a:ext cx="3581400" cy="963613"/>
        </p:xfrm>
        <a:graphic>
          <a:graphicData uri="http://schemas.openxmlformats.org/presentationml/2006/ole">
            <p:oleObj spid="_x0000_s219138" r:id="rId4" imgW="1981080" imgH="533160" progId="Equation.3">
              <p:embed/>
            </p:oleObj>
          </a:graphicData>
        </a:graphic>
      </p:graphicFrame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441325" y="1157288"/>
            <a:ext cx="3905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When is Direct-Transmission Better?</a:t>
            </a:r>
          </a:p>
        </p:txBody>
      </p: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381000" y="4189413"/>
            <a:ext cx="38258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For MTE, a node at distance </a:t>
            </a:r>
            <a:r>
              <a:rPr lang="en-US" i="1"/>
              <a:t>nr</a:t>
            </a:r>
            <a:r>
              <a:rPr lang="en-US"/>
              <a:t> requires </a:t>
            </a:r>
            <a:r>
              <a:rPr lang="en-US" i="1"/>
              <a:t>n</a:t>
            </a:r>
            <a:r>
              <a:rPr lang="en-US"/>
              <a:t> transmits of distance </a:t>
            </a:r>
            <a:r>
              <a:rPr lang="en-US" i="1"/>
              <a:t>r</a:t>
            </a:r>
            <a:r>
              <a:rPr lang="en-US"/>
              <a:t>, and </a:t>
            </a:r>
            <a:r>
              <a:rPr lang="en-US" i="1"/>
              <a:t>n</a:t>
            </a:r>
            <a:r>
              <a:rPr lang="en-US"/>
              <a:t>-1 receives</a:t>
            </a:r>
          </a:p>
        </p:txBody>
      </p:sp>
      <p:graphicFrame>
        <p:nvGraphicFramePr>
          <p:cNvPr id="63506" name="Object 18"/>
          <p:cNvGraphicFramePr>
            <a:graphicFrameLocks noChangeAspect="1"/>
          </p:cNvGraphicFramePr>
          <p:nvPr>
            <p:ph sz="quarter" idx="4"/>
          </p:nvPr>
        </p:nvGraphicFramePr>
        <p:xfrm>
          <a:off x="5410200" y="1712913"/>
          <a:ext cx="1905000" cy="1258887"/>
        </p:xfrm>
        <a:graphic>
          <a:graphicData uri="http://schemas.openxmlformats.org/presentationml/2006/ole">
            <p:oleObj spid="_x0000_s219139" r:id="rId5" imgW="711000" imgH="469800" progId="Equation.3">
              <p:embed/>
            </p:oleObj>
          </a:graphicData>
        </a:graphic>
      </p:graphicFrame>
      <p:graphicFrame>
        <p:nvGraphicFramePr>
          <p:cNvPr id="63511" name="Object 2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257800" y="1143000"/>
          <a:ext cx="2209800" cy="622300"/>
        </p:xfrm>
        <a:graphic>
          <a:graphicData uri="http://schemas.openxmlformats.org/presentationml/2006/ole">
            <p:oleObj spid="_x0000_s219140" r:id="rId6" imgW="812520" imgH="228600" progId="Equation.3">
              <p:embed/>
            </p:oleObj>
          </a:graphicData>
        </a:graphic>
      </p:graphicFrame>
      <p:sp>
        <p:nvSpPr>
          <p:cNvPr id="63512" name="Text Box 24"/>
          <p:cNvSpPr txBox="1">
            <a:spLocks noChangeArrowheads="1"/>
          </p:cNvSpPr>
          <p:nvPr/>
        </p:nvSpPr>
        <p:spPr bwMode="auto">
          <a:xfrm>
            <a:off x="7467600" y="1295400"/>
            <a:ext cx="1387475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200"/>
              <a:t>when:</a:t>
            </a:r>
          </a:p>
        </p:txBody>
      </p:sp>
      <p:sp>
        <p:nvSpPr>
          <p:cNvPr id="63513" name="Text Box 25"/>
          <p:cNvSpPr txBox="1">
            <a:spLocks noChangeArrowheads="1"/>
          </p:cNvSpPr>
          <p:nvPr/>
        </p:nvSpPr>
        <p:spPr bwMode="auto">
          <a:xfrm>
            <a:off x="5334000" y="3276600"/>
            <a:ext cx="2971800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19063" indent="-119063">
              <a:spcBef>
                <a:spcPct val="50000"/>
              </a:spcBef>
              <a:buFontTx/>
              <a:buChar char="•"/>
            </a:pPr>
            <a:r>
              <a:rPr lang="en-US"/>
              <a:t>High radio operation costs favor direct-transmission</a:t>
            </a:r>
          </a:p>
          <a:p>
            <a:pPr marL="119063" indent="-119063">
              <a:spcBef>
                <a:spcPct val="50000"/>
              </a:spcBef>
              <a:buFontTx/>
              <a:buChar char="•"/>
            </a:pPr>
            <a:r>
              <a:rPr lang="en-US"/>
              <a:t>Low transmit amplifier costs (i.e. distance to the sink) favor direct transmission</a:t>
            </a:r>
          </a:p>
          <a:p>
            <a:pPr marL="119063" indent="-119063">
              <a:spcBef>
                <a:spcPct val="50000"/>
              </a:spcBef>
              <a:buFontTx/>
              <a:buChar char="•"/>
            </a:pPr>
            <a:r>
              <a:rPr lang="en-US"/>
              <a:t> Small inter-node distances favor MTE</a:t>
            </a:r>
          </a:p>
          <a:p>
            <a:pPr marL="119063" indent="-119063">
              <a:spcBef>
                <a:spcPct val="50000"/>
              </a:spcBef>
              <a:buFontTx/>
              <a:buChar char="•"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F78BA2-1811-4ACB-AA91-D5AE467487A8}" type="slidenum">
              <a:rPr lang="en-US"/>
              <a:pPr/>
              <a:t>142</a:t>
            </a:fld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Existing Routing Protocols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LEACH is compared against three other routing protocols:</a:t>
            </a:r>
          </a:p>
          <a:p>
            <a:pPr lvl="1"/>
            <a:r>
              <a:rPr lang="en-US"/>
              <a:t>Direct-Transmission</a:t>
            </a:r>
          </a:p>
          <a:p>
            <a:pPr lvl="2"/>
            <a:r>
              <a:rPr lang="en-US"/>
              <a:t>Single-hop</a:t>
            </a:r>
          </a:p>
          <a:p>
            <a:pPr lvl="1"/>
            <a:r>
              <a:rPr lang="en-US"/>
              <a:t>Minimum-Transmission Energy</a:t>
            </a:r>
          </a:p>
          <a:p>
            <a:pPr lvl="2"/>
            <a:r>
              <a:rPr lang="en-US"/>
              <a:t>Multi-hop</a:t>
            </a:r>
          </a:p>
          <a:p>
            <a:pPr lvl="1"/>
            <a:r>
              <a:rPr lang="en-US"/>
              <a:t>Static Clustering</a:t>
            </a:r>
          </a:p>
          <a:p>
            <a:pPr lvl="2"/>
            <a:r>
              <a:rPr lang="en-US"/>
              <a:t>Multi-hop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084AA6-D9C4-4B8A-ACE4-BC276F09EA96}" type="slidenum">
              <a:rPr lang="en-US"/>
              <a:pPr/>
              <a:t>143</a:t>
            </a:fld>
            <a:endParaRPr 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Performance: Parameters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900"/>
              <a:t>MATLAB Simulator</a:t>
            </a:r>
          </a:p>
          <a:p>
            <a:r>
              <a:rPr lang="en-US" sz="2900"/>
              <a:t>100-node random network</a:t>
            </a:r>
          </a:p>
          <a:p>
            <a:r>
              <a:rPr lang="en-US" sz="2900" i="1"/>
              <a:t>E</a:t>
            </a:r>
            <a:r>
              <a:rPr lang="en-US" sz="2900" i="1" baseline="-25000"/>
              <a:t>elec</a:t>
            </a:r>
            <a:r>
              <a:rPr lang="en-US" sz="2900"/>
              <a:t> = 50nj/bit</a:t>
            </a:r>
          </a:p>
          <a:p>
            <a:r>
              <a:rPr lang="el-GR" sz="2900" i="1"/>
              <a:t>ε</a:t>
            </a:r>
            <a:r>
              <a:rPr lang="en-US" sz="2900" i="1" baseline="-25000"/>
              <a:t>amp</a:t>
            </a:r>
            <a:r>
              <a:rPr lang="en-US" sz="2900" i="1"/>
              <a:t> </a:t>
            </a:r>
            <a:r>
              <a:rPr lang="en-US" sz="2900"/>
              <a:t>= 100pJ/bit/m2</a:t>
            </a:r>
          </a:p>
          <a:p>
            <a:r>
              <a:rPr lang="en-US" sz="2900" i="1"/>
              <a:t>k = </a:t>
            </a:r>
            <a:r>
              <a:rPr lang="en-US" sz="2900"/>
              <a:t>2000 bits</a:t>
            </a:r>
          </a:p>
          <a:p>
            <a:endParaRPr lang="en-US" sz="2900"/>
          </a:p>
          <a:p>
            <a:endParaRPr lang="en-US" sz="2900"/>
          </a:p>
        </p:txBody>
      </p:sp>
      <p:pic>
        <p:nvPicPr>
          <p:cNvPr id="77830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908550" y="2286000"/>
            <a:ext cx="3517900" cy="2817813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AB76B3-7D68-416B-ACDB-969EE9B603A0}" type="slidenum">
              <a:rPr lang="en-US"/>
              <a:pPr/>
              <a:t>144</a:t>
            </a:fld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Performance: System Lifetime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900"/>
              <a:t>Experiments repeated for different maximum energy levels</a:t>
            </a:r>
          </a:p>
          <a:p>
            <a:r>
              <a:rPr lang="en-US" sz="2900"/>
              <a:t>LEACH gains:</a:t>
            </a:r>
          </a:p>
          <a:p>
            <a:pPr lvl="1"/>
            <a:r>
              <a:rPr lang="en-US" sz="2400"/>
              <a:t>8x life expectancy for first node</a:t>
            </a:r>
          </a:p>
          <a:p>
            <a:pPr lvl="1"/>
            <a:r>
              <a:rPr lang="en-US" sz="2400"/>
              <a:t>3x life expectancy for last node</a:t>
            </a:r>
          </a:p>
          <a:p>
            <a:endParaRPr lang="en-US" sz="2900"/>
          </a:p>
        </p:txBody>
      </p:sp>
      <p:pic>
        <p:nvPicPr>
          <p:cNvPr id="8909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495800" y="1884363"/>
            <a:ext cx="4572000" cy="3341687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A4EE57-8771-4F43-AEF0-EA7F1006A494}" type="slidenum">
              <a:rPr lang="en-US"/>
              <a:pPr/>
              <a:t>145</a:t>
            </a:fld>
            <a:endParaRPr lang="en-U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71612"/>
            <a:ext cx="8715435" cy="4554551"/>
          </a:xfrm>
        </p:spPr>
        <p:txBody>
          <a:bodyPr>
            <a:normAutofit/>
          </a:bodyPr>
          <a:lstStyle/>
          <a:p>
            <a:r>
              <a:rPr lang="en-US" sz="2800" dirty="0"/>
              <a:t>LEACH is completely distributed</a:t>
            </a:r>
          </a:p>
          <a:p>
            <a:pPr lvl="1"/>
            <a:r>
              <a:rPr lang="en-US" sz="2400" dirty="0"/>
              <a:t>No centralized control system</a:t>
            </a:r>
          </a:p>
          <a:p>
            <a:r>
              <a:rPr lang="en-US" sz="2800" dirty="0"/>
              <a:t>LEACH outperforms:</a:t>
            </a:r>
          </a:p>
          <a:p>
            <a:pPr lvl="1"/>
            <a:r>
              <a:rPr lang="en-US" sz="2400" dirty="0"/>
              <a:t>Direct-Transmission in most cases</a:t>
            </a:r>
          </a:p>
          <a:p>
            <a:pPr lvl="1"/>
            <a:r>
              <a:rPr lang="en-US" sz="2400" dirty="0"/>
              <a:t>MTE in many cases</a:t>
            </a:r>
          </a:p>
          <a:p>
            <a:pPr lvl="1"/>
            <a:r>
              <a:rPr lang="en-US" sz="2400" dirty="0"/>
              <a:t>Static clustering in effectively all cases</a:t>
            </a:r>
          </a:p>
          <a:p>
            <a:r>
              <a:rPr lang="en-US" sz="2800" dirty="0"/>
              <a:t>LEACH can reduce communication costs by up to 8x</a:t>
            </a:r>
          </a:p>
          <a:p>
            <a:r>
              <a:rPr lang="en-US" sz="2800" dirty="0"/>
              <a:t>LEACH keeps the first node alive for up to 8x longer and the last node by up to 3x longer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DSC_221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6.1|69.2|27.5|6.7|0.9|31.1|0.4|18.1|0.3|13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2.1|10.6|2.|4.6|2.4|1.5|4.2|3.8|1.4|8.9|1.3|33.4|3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14.9|14.8|5.2|13.2|8.5|13.2|0.8|2.2|1.1|5.5|8.5|1.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4882</TotalTime>
  <Words>8228</Words>
  <Application>Microsoft Office PowerPoint</Application>
  <PresentationFormat>On-screen Show (4:3)</PresentationFormat>
  <Paragraphs>1828</Paragraphs>
  <Slides>146</Slides>
  <Notes>5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146</vt:i4>
      </vt:variant>
    </vt:vector>
  </HeadingPairs>
  <TitlesOfParts>
    <vt:vector size="150" baseType="lpstr">
      <vt:lpstr>Waveform</vt:lpstr>
      <vt:lpstr>Clip</vt:lpstr>
      <vt:lpstr>Bitmap Image</vt:lpstr>
      <vt:lpstr>Microsoft Equation 3.0</vt:lpstr>
      <vt:lpstr>Routing protocols for wireless ad hoc Networks</vt:lpstr>
      <vt:lpstr>Outline</vt:lpstr>
      <vt:lpstr>Wireless Networks</vt:lpstr>
      <vt:lpstr>Cellular Networks</vt:lpstr>
      <vt:lpstr>Multi-hop Wireless</vt:lpstr>
      <vt:lpstr>Ad-hoc Networks</vt:lpstr>
      <vt:lpstr>Why Ad Hoc Networks ?</vt:lpstr>
      <vt:lpstr>Applications</vt:lpstr>
      <vt:lpstr>Challenges</vt:lpstr>
      <vt:lpstr>Adhoc Routing: Requirements</vt:lpstr>
      <vt:lpstr>Unicast Routing </vt:lpstr>
      <vt:lpstr>Classifications: Routing</vt:lpstr>
      <vt:lpstr>Routing: Features </vt:lpstr>
      <vt:lpstr>Ad hoc routing protocols – classification  </vt:lpstr>
      <vt:lpstr>Ad hoc routing protocols – classification </vt:lpstr>
      <vt:lpstr>Classification (cont.)</vt:lpstr>
      <vt:lpstr>Dynamic Source Routing (DSR)</vt:lpstr>
      <vt:lpstr>DSR : Reactive Protocol</vt:lpstr>
      <vt:lpstr>Phases</vt:lpstr>
      <vt:lpstr>DSR</vt:lpstr>
      <vt:lpstr>Dynamic Source Routing (DSR)</vt:lpstr>
      <vt:lpstr>DSR</vt:lpstr>
      <vt:lpstr>Route Discovery in DSR</vt:lpstr>
      <vt:lpstr>Route Discovery in DSR</vt:lpstr>
      <vt:lpstr>Route Discovery in DSR</vt:lpstr>
      <vt:lpstr>Route Discovery in DSR</vt:lpstr>
      <vt:lpstr>Route Discovery in DSR</vt:lpstr>
      <vt:lpstr>Route Discovery in DSR</vt:lpstr>
      <vt:lpstr>Route Discovery in DSR</vt:lpstr>
      <vt:lpstr>Route Reply in DSR</vt:lpstr>
      <vt:lpstr>Data Delivery in DSR</vt:lpstr>
      <vt:lpstr>DSR Optimization: Route Caching</vt:lpstr>
      <vt:lpstr>Dynamic Source Routing: Advantages</vt:lpstr>
      <vt:lpstr>Dynamic Source Routing: Disadvantages</vt:lpstr>
      <vt:lpstr>Slide 35</vt:lpstr>
      <vt:lpstr>Slide 36</vt:lpstr>
      <vt:lpstr>Slide 37</vt:lpstr>
      <vt:lpstr>Route Maintenance</vt:lpstr>
      <vt:lpstr>Route Maintenance</vt:lpstr>
      <vt:lpstr>Destination Sequenced Distance Vector (DSDV)</vt:lpstr>
      <vt:lpstr>Destination-Sequenced Distance-Vector (DSDV)</vt:lpstr>
      <vt:lpstr>Destination-Sequenced Distance-Vector </vt:lpstr>
      <vt:lpstr>Protocol Overview</vt:lpstr>
      <vt:lpstr>DSDV (Table Entries)</vt:lpstr>
      <vt:lpstr>DSDV (Route Advertisements)</vt:lpstr>
      <vt:lpstr>DSDV (Route Selection)</vt:lpstr>
      <vt:lpstr>DSDV (Tables)</vt:lpstr>
      <vt:lpstr>DSDV (Route Advertisement)</vt:lpstr>
      <vt:lpstr>DSDV (Respond to Topology Changes)</vt:lpstr>
      <vt:lpstr>DSDV (New Node)</vt:lpstr>
      <vt:lpstr>DSDV (New Node cont.)</vt:lpstr>
      <vt:lpstr>DSDV (no loops, no count to infinity)</vt:lpstr>
      <vt:lpstr>DSDV (Immediate Advertisement)</vt:lpstr>
      <vt:lpstr>DSDV (Problem of Fluctuations)</vt:lpstr>
      <vt:lpstr>DSDV (Damping Fluctuations)</vt:lpstr>
      <vt:lpstr>Summary</vt:lpstr>
      <vt:lpstr>Optimized Link State Routing</vt:lpstr>
      <vt:lpstr>Optimized link source routing </vt:lpstr>
      <vt:lpstr>Optimized Link State Routing</vt:lpstr>
      <vt:lpstr>OLSR</vt:lpstr>
      <vt:lpstr>OLSR: Neighbour Sensing</vt:lpstr>
      <vt:lpstr>OLSR: Topology Control</vt:lpstr>
      <vt:lpstr>Reconfigurable Wireless Network (RWN)</vt:lpstr>
      <vt:lpstr>RWN</vt:lpstr>
      <vt:lpstr>RWN: Communication Model</vt:lpstr>
      <vt:lpstr>RWN: Routing Features</vt:lpstr>
      <vt:lpstr>RWN: Routing Features</vt:lpstr>
      <vt:lpstr>Traditional Routing Schemes</vt:lpstr>
      <vt:lpstr>ZRP: Motivation</vt:lpstr>
      <vt:lpstr>The Zone Routing Protocol</vt:lpstr>
      <vt:lpstr>The Zone Routing Protocol</vt:lpstr>
      <vt:lpstr>Proactive Intra-zone Routing</vt:lpstr>
      <vt:lpstr>Slide 73</vt:lpstr>
      <vt:lpstr>Reactive Inter-zone Routing</vt:lpstr>
      <vt:lpstr>Slide 75</vt:lpstr>
      <vt:lpstr>Slide 76</vt:lpstr>
      <vt:lpstr>Slide 77</vt:lpstr>
      <vt:lpstr>A Concrete Example of How IERP works.</vt:lpstr>
      <vt:lpstr>An Example (cont.)</vt:lpstr>
      <vt:lpstr>An Example (cont.)</vt:lpstr>
      <vt:lpstr>Discussion: ZRP</vt:lpstr>
      <vt:lpstr>Discussion: ZRP</vt:lpstr>
      <vt:lpstr>AODV: Motivation</vt:lpstr>
      <vt:lpstr>AODV</vt:lpstr>
      <vt:lpstr>Route Requests in AODV</vt:lpstr>
      <vt:lpstr>Route Requests in AODV</vt:lpstr>
      <vt:lpstr>Route Requests in AODV</vt:lpstr>
      <vt:lpstr>Reverse Path Setup in AODV</vt:lpstr>
      <vt:lpstr>Reverse Path Setup in AODV</vt:lpstr>
      <vt:lpstr>Forward Path Setup in AODV</vt:lpstr>
      <vt:lpstr>AODV – Optimization</vt:lpstr>
      <vt:lpstr>Link Failure </vt:lpstr>
      <vt:lpstr>AODV: Routing Loops</vt:lpstr>
      <vt:lpstr>AODV: Use Sequence Numbers</vt:lpstr>
      <vt:lpstr>Use of Sequence Numbers in AODV</vt:lpstr>
      <vt:lpstr>Avoidance of Loop</vt:lpstr>
      <vt:lpstr>Route Maintenance</vt:lpstr>
      <vt:lpstr>Path Maintenance</vt:lpstr>
      <vt:lpstr>AODV: Summary</vt:lpstr>
      <vt:lpstr>Location-Aided Routing (LAR)</vt:lpstr>
      <vt:lpstr>Request Zone</vt:lpstr>
      <vt:lpstr>Location Aided Routing (LAR)</vt:lpstr>
      <vt:lpstr>Desirable Attributes:  Routing Algorithm </vt:lpstr>
      <vt:lpstr>Tora Attributes </vt:lpstr>
      <vt:lpstr>Motivation:  TORA </vt:lpstr>
      <vt:lpstr>Directed Acyclic Graph</vt:lpstr>
      <vt:lpstr>Reaction to topology changes </vt:lpstr>
      <vt:lpstr> TORA Specification</vt:lpstr>
      <vt:lpstr> TORA Specification</vt:lpstr>
      <vt:lpstr> Route Creation</vt:lpstr>
      <vt:lpstr>Temporally Ordered Routing Algorithm</vt:lpstr>
      <vt:lpstr>TORA Example</vt:lpstr>
      <vt:lpstr>TORA Example</vt:lpstr>
      <vt:lpstr>TORA Example</vt:lpstr>
      <vt:lpstr>TORA Example</vt:lpstr>
      <vt:lpstr>TORA Example</vt:lpstr>
      <vt:lpstr>TORA Example</vt:lpstr>
      <vt:lpstr>TORA: Example</vt:lpstr>
      <vt:lpstr>Other routing protocols</vt:lpstr>
      <vt:lpstr>Clusterhead Gateway Switch Routing (CGSR)</vt:lpstr>
      <vt:lpstr>Wireless Routing Protocol (WRP)</vt:lpstr>
      <vt:lpstr>Other Table-Driven Protocols</vt:lpstr>
      <vt:lpstr>Slide 123</vt:lpstr>
      <vt:lpstr>Slide 124</vt:lpstr>
      <vt:lpstr>The Problem</vt:lpstr>
      <vt:lpstr>LEACH</vt:lpstr>
      <vt:lpstr>LEACH</vt:lpstr>
      <vt:lpstr>LEACH’s Two Phases</vt:lpstr>
      <vt:lpstr>Stochastic Threshold Algorithm</vt:lpstr>
      <vt:lpstr>Deterministic Threshold Algorithm</vt:lpstr>
      <vt:lpstr>Deterministic Threshold Algorithm</vt:lpstr>
      <vt:lpstr>LEACH: Operation</vt:lpstr>
      <vt:lpstr>LEACH: Advertisement</vt:lpstr>
      <vt:lpstr>LEACH: Setup</vt:lpstr>
      <vt:lpstr>LEACH: Data Transmission</vt:lpstr>
      <vt:lpstr>LEACH: Interference Avoidance</vt:lpstr>
      <vt:lpstr>What’s the Difference?</vt:lpstr>
      <vt:lpstr>Radio Model</vt:lpstr>
      <vt:lpstr>Direct v. Minimum Transmission</vt:lpstr>
      <vt:lpstr>The Amount of Energy Depletion</vt:lpstr>
      <vt:lpstr>MTE vs Direct-Transmission</vt:lpstr>
      <vt:lpstr>Existing Routing Protocols</vt:lpstr>
      <vt:lpstr>Performance: Parameters</vt:lpstr>
      <vt:lpstr>Performance: System Lifetime</vt:lpstr>
      <vt:lpstr>Conclusions</vt:lpstr>
      <vt:lpstr>Slide 146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Networks fundamentals</dc:title>
  <dc:creator>Central</dc:creator>
  <cp:lastModifiedBy>HP</cp:lastModifiedBy>
  <cp:revision>174</cp:revision>
  <dcterms:created xsi:type="dcterms:W3CDTF">2013-10-03T05:14:41Z</dcterms:created>
  <dcterms:modified xsi:type="dcterms:W3CDTF">2023-03-27T03:47:48Z</dcterms:modified>
</cp:coreProperties>
</file>